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slides/slide449.xml" ContentType="application/vnd.openxmlformats-officedocument.presentationml.slide+xml"/>
  <Override PartName="/ppt/slides/slide450.xml" ContentType="application/vnd.openxmlformats-officedocument.presentationml.slide+xml"/>
  <Override PartName="/ppt/slides/slide451.xml" ContentType="application/vnd.openxmlformats-officedocument.presentationml.slide+xml"/>
</Types>
</file>

<file path=_rels/.rels>&#65279;<?xml version="1.0" encoding="utf-8"?><Relationships xmlns="http://schemas.openxmlformats.org/package/2006/relationships"><Relationship Type="http://schemas.openxmlformats.org/package/2006/relationships/metadata/core-properties" Target="/docProps/core.xml" Id="R2b90f6766e5543f6" /><Relationship Type="http://schemas.openxmlformats.org/officeDocument/2006/relationships/extended-properties" Target="/docProps/app.xml" Id="R243e8da8a5294670" /><Relationship Type="http://schemas.openxmlformats.org/officeDocument/2006/relationships/officeDocument" Target="/ppt/presentation.xml" Id="R7ec0053dbfa847f2" /></Relationships>
</file>

<file path=ppt/presentation.xml><?xml version="1.0" encoding="utf-8"?>
<p:presentation xmlns:p="http://schemas.openxmlformats.org/presentationml/2006/main">
  <p:sldMasterIdLst>
    <p:sldMasterId xmlns:r="http://schemas.openxmlformats.org/officeDocument/2006/relationships" id="2147483648" r:id="R7e79068233ca40e1"/>
  </p:sldMasterIdLst>
  <p:sldIdLst>
    <p:sldId xmlns:r="http://schemas.openxmlformats.org/officeDocument/2006/relationships" id="256" r:id="R39e656aa47af459c"/>
    <p:sldId xmlns:r="http://schemas.openxmlformats.org/officeDocument/2006/relationships" id="257" r:id="R36bd0927c1274d28"/>
    <p:sldId xmlns:r="http://schemas.openxmlformats.org/officeDocument/2006/relationships" id="258" r:id="Ra8e4024c802243d6"/>
    <p:sldId xmlns:r="http://schemas.openxmlformats.org/officeDocument/2006/relationships" id="259" r:id="Rfc39f13639104c1f"/>
    <p:sldId xmlns:r="http://schemas.openxmlformats.org/officeDocument/2006/relationships" id="260" r:id="Rca9f78924840435e"/>
    <p:sldId xmlns:r="http://schemas.openxmlformats.org/officeDocument/2006/relationships" id="261" r:id="R486cdd2ffd0b4a9e"/>
    <p:sldId xmlns:r="http://schemas.openxmlformats.org/officeDocument/2006/relationships" id="262" r:id="Ra555a1e3acb943e4"/>
    <p:sldId xmlns:r="http://schemas.openxmlformats.org/officeDocument/2006/relationships" id="263" r:id="R23b704ff6a9041fb"/>
    <p:sldId xmlns:r="http://schemas.openxmlformats.org/officeDocument/2006/relationships" id="264" r:id="R8f77acc16d4f46a2"/>
    <p:sldId xmlns:r="http://schemas.openxmlformats.org/officeDocument/2006/relationships" id="265" r:id="Rcb7bd44a2aad4735"/>
    <p:sldId xmlns:r="http://schemas.openxmlformats.org/officeDocument/2006/relationships" id="266" r:id="R5d181ad5a434435c"/>
    <p:sldId xmlns:r="http://schemas.openxmlformats.org/officeDocument/2006/relationships" id="267" r:id="Rb716b8252ce84c38"/>
    <p:sldId xmlns:r="http://schemas.openxmlformats.org/officeDocument/2006/relationships" id="268" r:id="R3c267432762e488a"/>
    <p:sldId xmlns:r="http://schemas.openxmlformats.org/officeDocument/2006/relationships" id="269" r:id="Rc2125f651bb24979"/>
    <p:sldId xmlns:r="http://schemas.openxmlformats.org/officeDocument/2006/relationships" id="270" r:id="Re702d7f47ea34621"/>
    <p:sldId xmlns:r="http://schemas.openxmlformats.org/officeDocument/2006/relationships" id="271" r:id="R0ca19a942f3142ab"/>
    <p:sldId xmlns:r="http://schemas.openxmlformats.org/officeDocument/2006/relationships" id="272" r:id="R77bd6bdc17db4cfe"/>
    <p:sldId xmlns:r="http://schemas.openxmlformats.org/officeDocument/2006/relationships" id="273" r:id="R89b34dccd65d4aa7"/>
    <p:sldId xmlns:r="http://schemas.openxmlformats.org/officeDocument/2006/relationships" id="274" r:id="R80c57700f1bc4f9d"/>
    <p:sldId xmlns:r="http://schemas.openxmlformats.org/officeDocument/2006/relationships" id="275" r:id="Re7683befdf4a43e6"/>
    <p:sldId xmlns:r="http://schemas.openxmlformats.org/officeDocument/2006/relationships" id="276" r:id="R43c3c0b4dc784fd2"/>
    <p:sldId xmlns:r="http://schemas.openxmlformats.org/officeDocument/2006/relationships" id="277" r:id="R8174cdf9a9d14909"/>
    <p:sldId xmlns:r="http://schemas.openxmlformats.org/officeDocument/2006/relationships" id="278" r:id="Rf538da5504104b8c"/>
    <p:sldId xmlns:r="http://schemas.openxmlformats.org/officeDocument/2006/relationships" id="279" r:id="R493decada7fc40f7"/>
    <p:sldId xmlns:r="http://schemas.openxmlformats.org/officeDocument/2006/relationships" id="280" r:id="R3fdfc5205f714acf"/>
    <p:sldId xmlns:r="http://schemas.openxmlformats.org/officeDocument/2006/relationships" id="281" r:id="R1d3375f3db76496e"/>
    <p:sldId xmlns:r="http://schemas.openxmlformats.org/officeDocument/2006/relationships" id="282" r:id="R9fcec4d256c34b7e"/>
    <p:sldId xmlns:r="http://schemas.openxmlformats.org/officeDocument/2006/relationships" id="283" r:id="R4f87de209b5844b9"/>
    <p:sldId xmlns:r="http://schemas.openxmlformats.org/officeDocument/2006/relationships" id="284" r:id="Re0dd484785c342fa"/>
    <p:sldId xmlns:r="http://schemas.openxmlformats.org/officeDocument/2006/relationships" id="285" r:id="R54010b9e99a04f36"/>
    <p:sldId xmlns:r="http://schemas.openxmlformats.org/officeDocument/2006/relationships" id="286" r:id="R53479aee7abf41a7"/>
    <p:sldId xmlns:r="http://schemas.openxmlformats.org/officeDocument/2006/relationships" id="287" r:id="R3c5ae1a637c24179"/>
    <p:sldId xmlns:r="http://schemas.openxmlformats.org/officeDocument/2006/relationships" id="288" r:id="R8d7479e3d1b9402b"/>
    <p:sldId xmlns:r="http://schemas.openxmlformats.org/officeDocument/2006/relationships" id="289" r:id="R5ead960d74af4dff"/>
    <p:sldId xmlns:r="http://schemas.openxmlformats.org/officeDocument/2006/relationships" id="290" r:id="R40e0d5eb77c146f9"/>
    <p:sldId xmlns:r="http://schemas.openxmlformats.org/officeDocument/2006/relationships" id="291" r:id="R913f3af935374be5"/>
    <p:sldId xmlns:r="http://schemas.openxmlformats.org/officeDocument/2006/relationships" id="292" r:id="R6fa723ca43124fc1"/>
    <p:sldId xmlns:r="http://schemas.openxmlformats.org/officeDocument/2006/relationships" id="293" r:id="Re75b98d47c734d7b"/>
    <p:sldId xmlns:r="http://schemas.openxmlformats.org/officeDocument/2006/relationships" id="294" r:id="R0dab41c95f30445e"/>
    <p:sldId xmlns:r="http://schemas.openxmlformats.org/officeDocument/2006/relationships" id="295" r:id="R489ab8d16286430b"/>
    <p:sldId xmlns:r="http://schemas.openxmlformats.org/officeDocument/2006/relationships" id="296" r:id="Rc845c382aaa84d18"/>
    <p:sldId xmlns:r="http://schemas.openxmlformats.org/officeDocument/2006/relationships" id="297" r:id="Rfac1bb924eaa44c2"/>
    <p:sldId xmlns:r="http://schemas.openxmlformats.org/officeDocument/2006/relationships" id="298" r:id="R0c1f54c2c08744ee"/>
    <p:sldId xmlns:r="http://schemas.openxmlformats.org/officeDocument/2006/relationships" id="299" r:id="R58591b68f3e44220"/>
    <p:sldId xmlns:r="http://schemas.openxmlformats.org/officeDocument/2006/relationships" id="300" r:id="R1f6798aee4174287"/>
    <p:sldId xmlns:r="http://schemas.openxmlformats.org/officeDocument/2006/relationships" id="301" r:id="R6705b828291248dc"/>
    <p:sldId xmlns:r="http://schemas.openxmlformats.org/officeDocument/2006/relationships" id="302" r:id="Rd1b8cb10dffe441b"/>
    <p:sldId xmlns:r="http://schemas.openxmlformats.org/officeDocument/2006/relationships" id="303" r:id="R2b49865578b643bb"/>
    <p:sldId xmlns:r="http://schemas.openxmlformats.org/officeDocument/2006/relationships" id="304" r:id="R900cad95f1314454"/>
    <p:sldId xmlns:r="http://schemas.openxmlformats.org/officeDocument/2006/relationships" id="305" r:id="R747c3eb351844d67"/>
    <p:sldId xmlns:r="http://schemas.openxmlformats.org/officeDocument/2006/relationships" id="306" r:id="R9f65d12dfc26482e"/>
    <p:sldId xmlns:r="http://schemas.openxmlformats.org/officeDocument/2006/relationships" id="307" r:id="R233ccd0170da474f"/>
    <p:sldId xmlns:r="http://schemas.openxmlformats.org/officeDocument/2006/relationships" id="308" r:id="R38001c163366422e"/>
    <p:sldId xmlns:r="http://schemas.openxmlformats.org/officeDocument/2006/relationships" id="309" r:id="R6d70e14e24d440eb"/>
    <p:sldId xmlns:r="http://schemas.openxmlformats.org/officeDocument/2006/relationships" id="310" r:id="Rd20533a88ba54d1f"/>
    <p:sldId xmlns:r="http://schemas.openxmlformats.org/officeDocument/2006/relationships" id="311" r:id="R09b34eb1c98c4287"/>
    <p:sldId xmlns:r="http://schemas.openxmlformats.org/officeDocument/2006/relationships" id="312" r:id="R9673cea55e044d53"/>
    <p:sldId xmlns:r="http://schemas.openxmlformats.org/officeDocument/2006/relationships" id="313" r:id="Rb9a371391dc14dc5"/>
    <p:sldId xmlns:r="http://schemas.openxmlformats.org/officeDocument/2006/relationships" id="314" r:id="R12475652793e44ed"/>
    <p:sldId xmlns:r="http://schemas.openxmlformats.org/officeDocument/2006/relationships" id="315" r:id="Rb200abe6cf95472f"/>
    <p:sldId xmlns:r="http://schemas.openxmlformats.org/officeDocument/2006/relationships" id="316" r:id="R6d184a7a64bf4e06"/>
    <p:sldId xmlns:r="http://schemas.openxmlformats.org/officeDocument/2006/relationships" id="317" r:id="Reb1ce4a2decb4edc"/>
    <p:sldId xmlns:r="http://schemas.openxmlformats.org/officeDocument/2006/relationships" id="318" r:id="R047fdf70876949e8"/>
    <p:sldId xmlns:r="http://schemas.openxmlformats.org/officeDocument/2006/relationships" id="319" r:id="Rd7918a133d5f4efa"/>
    <p:sldId xmlns:r="http://schemas.openxmlformats.org/officeDocument/2006/relationships" id="320" r:id="R14fc966620e84174"/>
    <p:sldId xmlns:r="http://schemas.openxmlformats.org/officeDocument/2006/relationships" id="321" r:id="R3a61bc387290441c"/>
    <p:sldId xmlns:r="http://schemas.openxmlformats.org/officeDocument/2006/relationships" id="322" r:id="R3d68a76779e043aa"/>
    <p:sldId xmlns:r="http://schemas.openxmlformats.org/officeDocument/2006/relationships" id="323" r:id="R6460029c2a394b2a"/>
    <p:sldId xmlns:r="http://schemas.openxmlformats.org/officeDocument/2006/relationships" id="324" r:id="Rb63ee4c8088e44e9"/>
    <p:sldId xmlns:r="http://schemas.openxmlformats.org/officeDocument/2006/relationships" id="325" r:id="Rdd05268e7fc34509"/>
    <p:sldId xmlns:r="http://schemas.openxmlformats.org/officeDocument/2006/relationships" id="326" r:id="Rcecd8ce1703e460f"/>
    <p:sldId xmlns:r="http://schemas.openxmlformats.org/officeDocument/2006/relationships" id="327" r:id="Rfbf68165819d4c32"/>
    <p:sldId xmlns:r="http://schemas.openxmlformats.org/officeDocument/2006/relationships" id="328" r:id="R4be982c2f2974e74"/>
    <p:sldId xmlns:r="http://schemas.openxmlformats.org/officeDocument/2006/relationships" id="329" r:id="R64c1a015fdfd4c5f"/>
    <p:sldId xmlns:r="http://schemas.openxmlformats.org/officeDocument/2006/relationships" id="330" r:id="R98b1ffb79c6c4afa"/>
    <p:sldId xmlns:r="http://schemas.openxmlformats.org/officeDocument/2006/relationships" id="331" r:id="R3f44a47ee5a0406a"/>
    <p:sldId xmlns:r="http://schemas.openxmlformats.org/officeDocument/2006/relationships" id="332" r:id="R75508d4cd75d4290"/>
    <p:sldId xmlns:r="http://schemas.openxmlformats.org/officeDocument/2006/relationships" id="333" r:id="Rcac9a29808fd44f7"/>
    <p:sldId xmlns:r="http://schemas.openxmlformats.org/officeDocument/2006/relationships" id="334" r:id="Ra8586622fed54d92"/>
    <p:sldId xmlns:r="http://schemas.openxmlformats.org/officeDocument/2006/relationships" id="335" r:id="R55d4dfaf996f4703"/>
    <p:sldId xmlns:r="http://schemas.openxmlformats.org/officeDocument/2006/relationships" id="336" r:id="R3575d0c15d094f3a"/>
    <p:sldId xmlns:r="http://schemas.openxmlformats.org/officeDocument/2006/relationships" id="337" r:id="R03f18f4a40f7406b"/>
    <p:sldId xmlns:r="http://schemas.openxmlformats.org/officeDocument/2006/relationships" id="338" r:id="Rbf17e7f864594d24"/>
    <p:sldId xmlns:r="http://schemas.openxmlformats.org/officeDocument/2006/relationships" id="339" r:id="R5bfededb52a04828"/>
    <p:sldId xmlns:r="http://schemas.openxmlformats.org/officeDocument/2006/relationships" id="340" r:id="R464babf700254fab"/>
    <p:sldId xmlns:r="http://schemas.openxmlformats.org/officeDocument/2006/relationships" id="341" r:id="R8a48b57edf22444e"/>
    <p:sldId xmlns:r="http://schemas.openxmlformats.org/officeDocument/2006/relationships" id="342" r:id="R9ed01856bce444c8"/>
    <p:sldId xmlns:r="http://schemas.openxmlformats.org/officeDocument/2006/relationships" id="343" r:id="Rbea5250a0e5945a8"/>
    <p:sldId xmlns:r="http://schemas.openxmlformats.org/officeDocument/2006/relationships" id="344" r:id="Rcb63777c91174d55"/>
    <p:sldId xmlns:r="http://schemas.openxmlformats.org/officeDocument/2006/relationships" id="345" r:id="R5bedd9b2fa4840f0"/>
    <p:sldId xmlns:r="http://schemas.openxmlformats.org/officeDocument/2006/relationships" id="346" r:id="Re991baa74db047f3"/>
    <p:sldId xmlns:r="http://schemas.openxmlformats.org/officeDocument/2006/relationships" id="347" r:id="R27273836e55e46e4"/>
    <p:sldId xmlns:r="http://schemas.openxmlformats.org/officeDocument/2006/relationships" id="348" r:id="R1c4eed6cb287498d"/>
    <p:sldId xmlns:r="http://schemas.openxmlformats.org/officeDocument/2006/relationships" id="349" r:id="R644dedd6976248d2"/>
    <p:sldId xmlns:r="http://schemas.openxmlformats.org/officeDocument/2006/relationships" id="350" r:id="R873f7062666949f2"/>
    <p:sldId xmlns:r="http://schemas.openxmlformats.org/officeDocument/2006/relationships" id="351" r:id="R66c9235b06014f9a"/>
    <p:sldId xmlns:r="http://schemas.openxmlformats.org/officeDocument/2006/relationships" id="352" r:id="R75189aabd3a747eb"/>
    <p:sldId xmlns:r="http://schemas.openxmlformats.org/officeDocument/2006/relationships" id="353" r:id="Re2e7e3da35a947e6"/>
    <p:sldId xmlns:r="http://schemas.openxmlformats.org/officeDocument/2006/relationships" id="354" r:id="R2f8667fc4606403b"/>
    <p:sldId xmlns:r="http://schemas.openxmlformats.org/officeDocument/2006/relationships" id="355" r:id="R8311b9c54a0b4dbe"/>
    <p:sldId xmlns:r="http://schemas.openxmlformats.org/officeDocument/2006/relationships" id="356" r:id="R4bd2e721bfb64a36"/>
    <p:sldId xmlns:r="http://schemas.openxmlformats.org/officeDocument/2006/relationships" id="357" r:id="R18b237c841b3485f"/>
    <p:sldId xmlns:r="http://schemas.openxmlformats.org/officeDocument/2006/relationships" id="358" r:id="R3ea334b9e5694d57"/>
    <p:sldId xmlns:r="http://schemas.openxmlformats.org/officeDocument/2006/relationships" id="359" r:id="R657bb582dd2c4ef1"/>
    <p:sldId xmlns:r="http://schemas.openxmlformats.org/officeDocument/2006/relationships" id="360" r:id="R2f40751f5193439d"/>
    <p:sldId xmlns:r="http://schemas.openxmlformats.org/officeDocument/2006/relationships" id="361" r:id="Rdbfaa49afb644ed0"/>
    <p:sldId xmlns:r="http://schemas.openxmlformats.org/officeDocument/2006/relationships" id="362" r:id="R4a45027c66cb444b"/>
    <p:sldId xmlns:r="http://schemas.openxmlformats.org/officeDocument/2006/relationships" id="363" r:id="R7a9fd7c9455347c7"/>
    <p:sldId xmlns:r="http://schemas.openxmlformats.org/officeDocument/2006/relationships" id="364" r:id="Rde0434b82b9b4543"/>
    <p:sldId xmlns:r="http://schemas.openxmlformats.org/officeDocument/2006/relationships" id="365" r:id="R10459cfe253a403e"/>
    <p:sldId xmlns:r="http://schemas.openxmlformats.org/officeDocument/2006/relationships" id="366" r:id="Rab9cabe0e11f4fce"/>
    <p:sldId xmlns:r="http://schemas.openxmlformats.org/officeDocument/2006/relationships" id="367" r:id="Ra8daad55c44f468b"/>
    <p:sldId xmlns:r="http://schemas.openxmlformats.org/officeDocument/2006/relationships" id="368" r:id="Rf85899a9c9ce438b"/>
    <p:sldId xmlns:r="http://schemas.openxmlformats.org/officeDocument/2006/relationships" id="369" r:id="R2fca2d2d8d934883"/>
    <p:sldId xmlns:r="http://schemas.openxmlformats.org/officeDocument/2006/relationships" id="370" r:id="R5019ddeae62e40df"/>
    <p:sldId xmlns:r="http://schemas.openxmlformats.org/officeDocument/2006/relationships" id="371" r:id="R713508866d9c4b26"/>
    <p:sldId xmlns:r="http://schemas.openxmlformats.org/officeDocument/2006/relationships" id="372" r:id="R5a322da013894e63"/>
    <p:sldId xmlns:r="http://schemas.openxmlformats.org/officeDocument/2006/relationships" id="373" r:id="R6ae3d2bbe25445c9"/>
    <p:sldId xmlns:r="http://schemas.openxmlformats.org/officeDocument/2006/relationships" id="374" r:id="R823976b5c4cb4176"/>
    <p:sldId xmlns:r="http://schemas.openxmlformats.org/officeDocument/2006/relationships" id="375" r:id="Rad56593a7e6b4056"/>
    <p:sldId xmlns:r="http://schemas.openxmlformats.org/officeDocument/2006/relationships" id="376" r:id="R2017ed11d78944ff"/>
    <p:sldId xmlns:r="http://schemas.openxmlformats.org/officeDocument/2006/relationships" id="377" r:id="R91e98b52e6de4351"/>
    <p:sldId xmlns:r="http://schemas.openxmlformats.org/officeDocument/2006/relationships" id="378" r:id="Rbdd206506e4d4890"/>
    <p:sldId xmlns:r="http://schemas.openxmlformats.org/officeDocument/2006/relationships" id="379" r:id="R5bb678ded8e64f4f"/>
    <p:sldId xmlns:r="http://schemas.openxmlformats.org/officeDocument/2006/relationships" id="380" r:id="R645c93980df2479e"/>
    <p:sldId xmlns:r="http://schemas.openxmlformats.org/officeDocument/2006/relationships" id="381" r:id="R7f3e53b7ff424e74"/>
    <p:sldId xmlns:r="http://schemas.openxmlformats.org/officeDocument/2006/relationships" id="382" r:id="Rb0208b7e3820484f"/>
    <p:sldId xmlns:r="http://schemas.openxmlformats.org/officeDocument/2006/relationships" id="383" r:id="R55b79ad9e1a94249"/>
    <p:sldId xmlns:r="http://schemas.openxmlformats.org/officeDocument/2006/relationships" id="384" r:id="R900d24e2cb6a449a"/>
    <p:sldId xmlns:r="http://schemas.openxmlformats.org/officeDocument/2006/relationships" id="385" r:id="Ref3b80bdd94c4ee9"/>
    <p:sldId xmlns:r="http://schemas.openxmlformats.org/officeDocument/2006/relationships" id="386" r:id="R7534b7dc3a74487e"/>
    <p:sldId xmlns:r="http://schemas.openxmlformats.org/officeDocument/2006/relationships" id="387" r:id="R4c5a70a51ea24b07"/>
    <p:sldId xmlns:r="http://schemas.openxmlformats.org/officeDocument/2006/relationships" id="388" r:id="Rd6f5a8945620440a"/>
    <p:sldId xmlns:r="http://schemas.openxmlformats.org/officeDocument/2006/relationships" id="389" r:id="Rcba7ca01d4784645"/>
    <p:sldId xmlns:r="http://schemas.openxmlformats.org/officeDocument/2006/relationships" id="390" r:id="R472b64d793d34f18"/>
    <p:sldId xmlns:r="http://schemas.openxmlformats.org/officeDocument/2006/relationships" id="391" r:id="Rda42b2962b8f4da6"/>
    <p:sldId xmlns:r="http://schemas.openxmlformats.org/officeDocument/2006/relationships" id="392" r:id="R9d5c85478a8f41c7"/>
    <p:sldId xmlns:r="http://schemas.openxmlformats.org/officeDocument/2006/relationships" id="393" r:id="Re51f3289b1b547d7"/>
    <p:sldId xmlns:r="http://schemas.openxmlformats.org/officeDocument/2006/relationships" id="394" r:id="Rd89fa6ca1c7c4cad"/>
    <p:sldId xmlns:r="http://schemas.openxmlformats.org/officeDocument/2006/relationships" id="395" r:id="R0e223d1c0b044c40"/>
    <p:sldId xmlns:r="http://schemas.openxmlformats.org/officeDocument/2006/relationships" id="396" r:id="R7f5e596615854a43"/>
    <p:sldId xmlns:r="http://schemas.openxmlformats.org/officeDocument/2006/relationships" id="397" r:id="R8e929c8eaa404e12"/>
    <p:sldId xmlns:r="http://schemas.openxmlformats.org/officeDocument/2006/relationships" id="398" r:id="Rba94a430903d44ac"/>
    <p:sldId xmlns:r="http://schemas.openxmlformats.org/officeDocument/2006/relationships" id="399" r:id="Rccbaf363d3784da8"/>
    <p:sldId xmlns:r="http://schemas.openxmlformats.org/officeDocument/2006/relationships" id="400" r:id="R768a012bad1f4fd0"/>
    <p:sldId xmlns:r="http://schemas.openxmlformats.org/officeDocument/2006/relationships" id="401" r:id="R481d930c0ebd4d53"/>
    <p:sldId xmlns:r="http://schemas.openxmlformats.org/officeDocument/2006/relationships" id="402" r:id="R9528b1b944234dd2"/>
    <p:sldId xmlns:r="http://schemas.openxmlformats.org/officeDocument/2006/relationships" id="403" r:id="R570d8f2717464bf7"/>
    <p:sldId xmlns:r="http://schemas.openxmlformats.org/officeDocument/2006/relationships" id="404" r:id="R14a7efc9775a43a6"/>
    <p:sldId xmlns:r="http://schemas.openxmlformats.org/officeDocument/2006/relationships" id="405" r:id="R1ef2e8e6d234448d"/>
    <p:sldId xmlns:r="http://schemas.openxmlformats.org/officeDocument/2006/relationships" id="406" r:id="R4104f90034094096"/>
    <p:sldId xmlns:r="http://schemas.openxmlformats.org/officeDocument/2006/relationships" id="407" r:id="R27c14e85c7d54522"/>
    <p:sldId xmlns:r="http://schemas.openxmlformats.org/officeDocument/2006/relationships" id="408" r:id="R60c1c874523849cf"/>
    <p:sldId xmlns:r="http://schemas.openxmlformats.org/officeDocument/2006/relationships" id="409" r:id="R8fbbef106a304179"/>
    <p:sldId xmlns:r="http://schemas.openxmlformats.org/officeDocument/2006/relationships" id="410" r:id="R2ab230c809204ee7"/>
    <p:sldId xmlns:r="http://schemas.openxmlformats.org/officeDocument/2006/relationships" id="411" r:id="R36c65fc0cac64284"/>
    <p:sldId xmlns:r="http://schemas.openxmlformats.org/officeDocument/2006/relationships" id="412" r:id="R2eddb3b4aae94cbb"/>
    <p:sldId xmlns:r="http://schemas.openxmlformats.org/officeDocument/2006/relationships" id="413" r:id="R04721f2197e5412e"/>
    <p:sldId xmlns:r="http://schemas.openxmlformats.org/officeDocument/2006/relationships" id="414" r:id="Ra586e10d2e0e49e3"/>
    <p:sldId xmlns:r="http://schemas.openxmlformats.org/officeDocument/2006/relationships" id="415" r:id="Rde78a7e5b5624faa"/>
    <p:sldId xmlns:r="http://schemas.openxmlformats.org/officeDocument/2006/relationships" id="416" r:id="R2a75de356eb74f2a"/>
    <p:sldId xmlns:r="http://schemas.openxmlformats.org/officeDocument/2006/relationships" id="417" r:id="R60b700236b6f4dfb"/>
    <p:sldId xmlns:r="http://schemas.openxmlformats.org/officeDocument/2006/relationships" id="418" r:id="R23034dab47d54f3b"/>
    <p:sldId xmlns:r="http://schemas.openxmlformats.org/officeDocument/2006/relationships" id="419" r:id="R4679a26528de4f2c"/>
    <p:sldId xmlns:r="http://schemas.openxmlformats.org/officeDocument/2006/relationships" id="420" r:id="R6f2e9050ef184d08"/>
    <p:sldId xmlns:r="http://schemas.openxmlformats.org/officeDocument/2006/relationships" id="421" r:id="R71e2b1a331ac46fa"/>
    <p:sldId xmlns:r="http://schemas.openxmlformats.org/officeDocument/2006/relationships" id="422" r:id="Rf7e1d0c02372420b"/>
    <p:sldId xmlns:r="http://schemas.openxmlformats.org/officeDocument/2006/relationships" id="423" r:id="R946bf6767234430f"/>
    <p:sldId xmlns:r="http://schemas.openxmlformats.org/officeDocument/2006/relationships" id="424" r:id="Rb1cc199411114d3e"/>
    <p:sldId xmlns:r="http://schemas.openxmlformats.org/officeDocument/2006/relationships" id="425" r:id="Rae720d201ecd4786"/>
    <p:sldId xmlns:r="http://schemas.openxmlformats.org/officeDocument/2006/relationships" id="426" r:id="R884a9981cfd94f0f"/>
    <p:sldId xmlns:r="http://schemas.openxmlformats.org/officeDocument/2006/relationships" id="427" r:id="R3bf53d5e47b047dd"/>
    <p:sldId xmlns:r="http://schemas.openxmlformats.org/officeDocument/2006/relationships" id="428" r:id="R32955c6db7a14898"/>
    <p:sldId xmlns:r="http://schemas.openxmlformats.org/officeDocument/2006/relationships" id="429" r:id="Reded3a30cf574817"/>
    <p:sldId xmlns:r="http://schemas.openxmlformats.org/officeDocument/2006/relationships" id="430" r:id="R95de62d1714f46b0"/>
    <p:sldId xmlns:r="http://schemas.openxmlformats.org/officeDocument/2006/relationships" id="431" r:id="Rc135da292a4545eb"/>
    <p:sldId xmlns:r="http://schemas.openxmlformats.org/officeDocument/2006/relationships" id="432" r:id="R91af10a6b4af4e5c"/>
    <p:sldId xmlns:r="http://schemas.openxmlformats.org/officeDocument/2006/relationships" id="433" r:id="R4bd8286762554265"/>
    <p:sldId xmlns:r="http://schemas.openxmlformats.org/officeDocument/2006/relationships" id="434" r:id="R907a90da35894303"/>
    <p:sldId xmlns:r="http://schemas.openxmlformats.org/officeDocument/2006/relationships" id="435" r:id="R081d1cebae224ab5"/>
    <p:sldId xmlns:r="http://schemas.openxmlformats.org/officeDocument/2006/relationships" id="436" r:id="R382bb0a38a52461c"/>
    <p:sldId xmlns:r="http://schemas.openxmlformats.org/officeDocument/2006/relationships" id="437" r:id="R955d2a317721437d"/>
    <p:sldId xmlns:r="http://schemas.openxmlformats.org/officeDocument/2006/relationships" id="438" r:id="R6bd8928bff894333"/>
    <p:sldId xmlns:r="http://schemas.openxmlformats.org/officeDocument/2006/relationships" id="439" r:id="R236a324df4764460"/>
    <p:sldId xmlns:r="http://schemas.openxmlformats.org/officeDocument/2006/relationships" id="440" r:id="R453ec45dceb84193"/>
    <p:sldId xmlns:r="http://schemas.openxmlformats.org/officeDocument/2006/relationships" id="441" r:id="R6747545c99244499"/>
    <p:sldId xmlns:r="http://schemas.openxmlformats.org/officeDocument/2006/relationships" id="442" r:id="R37c8ceb6f9ec407a"/>
    <p:sldId xmlns:r="http://schemas.openxmlformats.org/officeDocument/2006/relationships" id="443" r:id="R2a70bab0a3774fbb"/>
    <p:sldId xmlns:r="http://schemas.openxmlformats.org/officeDocument/2006/relationships" id="444" r:id="R5ef6be7721a0443a"/>
    <p:sldId xmlns:r="http://schemas.openxmlformats.org/officeDocument/2006/relationships" id="445" r:id="R7ad24a9bd2a24986"/>
    <p:sldId xmlns:r="http://schemas.openxmlformats.org/officeDocument/2006/relationships" id="446" r:id="R4ef436ec50b441db"/>
    <p:sldId xmlns:r="http://schemas.openxmlformats.org/officeDocument/2006/relationships" id="447" r:id="R7031cede58934259"/>
    <p:sldId xmlns:r="http://schemas.openxmlformats.org/officeDocument/2006/relationships" id="448" r:id="R8abeae2030174c2e"/>
    <p:sldId xmlns:r="http://schemas.openxmlformats.org/officeDocument/2006/relationships" id="449" r:id="R77c882a9106948b3"/>
    <p:sldId xmlns:r="http://schemas.openxmlformats.org/officeDocument/2006/relationships" id="450" r:id="R528ba38ce16e46c5"/>
    <p:sldId xmlns:r="http://schemas.openxmlformats.org/officeDocument/2006/relationships" id="451" r:id="R97ea81a6473c42f5"/>
    <p:sldId xmlns:r="http://schemas.openxmlformats.org/officeDocument/2006/relationships" id="452" r:id="R5ffb7895389e4906"/>
    <p:sldId xmlns:r="http://schemas.openxmlformats.org/officeDocument/2006/relationships" id="453" r:id="R41454bf4741c427b"/>
    <p:sldId xmlns:r="http://schemas.openxmlformats.org/officeDocument/2006/relationships" id="454" r:id="R5ea4e1cac22340ba"/>
    <p:sldId xmlns:r="http://schemas.openxmlformats.org/officeDocument/2006/relationships" id="455" r:id="Red1e4e675cbb43a6"/>
    <p:sldId xmlns:r="http://schemas.openxmlformats.org/officeDocument/2006/relationships" id="456" r:id="Reb1f8cee5c7a4956"/>
    <p:sldId xmlns:r="http://schemas.openxmlformats.org/officeDocument/2006/relationships" id="457" r:id="R874ea995661a4ab3"/>
    <p:sldId xmlns:r="http://schemas.openxmlformats.org/officeDocument/2006/relationships" id="458" r:id="Rab32ac620acd4c22"/>
    <p:sldId xmlns:r="http://schemas.openxmlformats.org/officeDocument/2006/relationships" id="459" r:id="Rcfd362180a7d4e98"/>
    <p:sldId xmlns:r="http://schemas.openxmlformats.org/officeDocument/2006/relationships" id="460" r:id="R450abbefd18646f3"/>
    <p:sldId xmlns:r="http://schemas.openxmlformats.org/officeDocument/2006/relationships" id="461" r:id="R370971f86c384740"/>
    <p:sldId xmlns:r="http://schemas.openxmlformats.org/officeDocument/2006/relationships" id="462" r:id="R84ed86002d4a43a8"/>
    <p:sldId xmlns:r="http://schemas.openxmlformats.org/officeDocument/2006/relationships" id="463" r:id="R6659778d6c9143d8"/>
    <p:sldId xmlns:r="http://schemas.openxmlformats.org/officeDocument/2006/relationships" id="464" r:id="Rfd45cab7adb24999"/>
    <p:sldId xmlns:r="http://schemas.openxmlformats.org/officeDocument/2006/relationships" id="465" r:id="R26bf4b6a33cf41c3"/>
    <p:sldId xmlns:r="http://schemas.openxmlformats.org/officeDocument/2006/relationships" id="466" r:id="R37fdf8c12ac64884"/>
    <p:sldId xmlns:r="http://schemas.openxmlformats.org/officeDocument/2006/relationships" id="467" r:id="R0aab601672034354"/>
    <p:sldId xmlns:r="http://schemas.openxmlformats.org/officeDocument/2006/relationships" id="468" r:id="R633316042a6e4331"/>
    <p:sldId xmlns:r="http://schemas.openxmlformats.org/officeDocument/2006/relationships" id="469" r:id="R2f8d6f3a84764cc2"/>
    <p:sldId xmlns:r="http://schemas.openxmlformats.org/officeDocument/2006/relationships" id="470" r:id="Ra6fc74b864d94ddc"/>
    <p:sldId xmlns:r="http://schemas.openxmlformats.org/officeDocument/2006/relationships" id="471" r:id="R3683bb86861949fb"/>
    <p:sldId xmlns:r="http://schemas.openxmlformats.org/officeDocument/2006/relationships" id="472" r:id="Rc01cb595e8844727"/>
    <p:sldId xmlns:r="http://schemas.openxmlformats.org/officeDocument/2006/relationships" id="473" r:id="R0fd3a56138cd42ec"/>
    <p:sldId xmlns:r="http://schemas.openxmlformats.org/officeDocument/2006/relationships" id="474" r:id="Rcf246f88237e4856"/>
    <p:sldId xmlns:r="http://schemas.openxmlformats.org/officeDocument/2006/relationships" id="475" r:id="R142cad8b93424005"/>
    <p:sldId xmlns:r="http://schemas.openxmlformats.org/officeDocument/2006/relationships" id="476" r:id="Rc0e17b24b33d4fc3"/>
    <p:sldId xmlns:r="http://schemas.openxmlformats.org/officeDocument/2006/relationships" id="477" r:id="R1c9437a05e044f76"/>
    <p:sldId xmlns:r="http://schemas.openxmlformats.org/officeDocument/2006/relationships" id="478" r:id="Rff1bfc7b97b94c09"/>
    <p:sldId xmlns:r="http://schemas.openxmlformats.org/officeDocument/2006/relationships" id="479" r:id="Ra0b008ef4b7f4c42"/>
    <p:sldId xmlns:r="http://schemas.openxmlformats.org/officeDocument/2006/relationships" id="480" r:id="R8c9f8494e6f64a0f"/>
    <p:sldId xmlns:r="http://schemas.openxmlformats.org/officeDocument/2006/relationships" id="481" r:id="Rd7e13cb133e0475a"/>
    <p:sldId xmlns:r="http://schemas.openxmlformats.org/officeDocument/2006/relationships" id="482" r:id="Rca39228bfa2a47ba"/>
    <p:sldId xmlns:r="http://schemas.openxmlformats.org/officeDocument/2006/relationships" id="483" r:id="Re4f1b58f96244f9f"/>
    <p:sldId xmlns:r="http://schemas.openxmlformats.org/officeDocument/2006/relationships" id="484" r:id="Rb8032a0429cf456b"/>
    <p:sldId xmlns:r="http://schemas.openxmlformats.org/officeDocument/2006/relationships" id="485" r:id="R3ebf2d02e5154cba"/>
    <p:sldId xmlns:r="http://schemas.openxmlformats.org/officeDocument/2006/relationships" id="486" r:id="Rc48793610263434f"/>
    <p:sldId xmlns:r="http://schemas.openxmlformats.org/officeDocument/2006/relationships" id="487" r:id="Rf0f2f9c7b2574274"/>
    <p:sldId xmlns:r="http://schemas.openxmlformats.org/officeDocument/2006/relationships" id="488" r:id="Rf58816427e1f4a8a"/>
    <p:sldId xmlns:r="http://schemas.openxmlformats.org/officeDocument/2006/relationships" id="489" r:id="R5bb40c6ef3f947d4"/>
    <p:sldId xmlns:r="http://schemas.openxmlformats.org/officeDocument/2006/relationships" id="490" r:id="R155d5998ff4d45df"/>
    <p:sldId xmlns:r="http://schemas.openxmlformats.org/officeDocument/2006/relationships" id="491" r:id="Re5f3f2a0c46d441d"/>
    <p:sldId xmlns:r="http://schemas.openxmlformats.org/officeDocument/2006/relationships" id="492" r:id="Reaffdc2fdce04759"/>
    <p:sldId xmlns:r="http://schemas.openxmlformats.org/officeDocument/2006/relationships" id="493" r:id="R9127bcfddb4d496f"/>
    <p:sldId xmlns:r="http://schemas.openxmlformats.org/officeDocument/2006/relationships" id="494" r:id="Ra563f20a36f240af"/>
    <p:sldId xmlns:r="http://schemas.openxmlformats.org/officeDocument/2006/relationships" id="495" r:id="R60122f5920ff4016"/>
    <p:sldId xmlns:r="http://schemas.openxmlformats.org/officeDocument/2006/relationships" id="496" r:id="R3aeb8362666948da"/>
    <p:sldId xmlns:r="http://schemas.openxmlformats.org/officeDocument/2006/relationships" id="497" r:id="Rf5799349750e42bf"/>
    <p:sldId xmlns:r="http://schemas.openxmlformats.org/officeDocument/2006/relationships" id="498" r:id="R41eb7e717aff41c3"/>
    <p:sldId xmlns:r="http://schemas.openxmlformats.org/officeDocument/2006/relationships" id="499" r:id="Re70034b33fbe456c"/>
    <p:sldId xmlns:r="http://schemas.openxmlformats.org/officeDocument/2006/relationships" id="500" r:id="Rca7141b91e81496f"/>
    <p:sldId xmlns:r="http://schemas.openxmlformats.org/officeDocument/2006/relationships" id="501" r:id="Rc8591f72c2e64be5"/>
    <p:sldId xmlns:r="http://schemas.openxmlformats.org/officeDocument/2006/relationships" id="502" r:id="Rd5dc6be99d3d45e1"/>
    <p:sldId xmlns:r="http://schemas.openxmlformats.org/officeDocument/2006/relationships" id="503" r:id="Re1dfdabc83674453"/>
    <p:sldId xmlns:r="http://schemas.openxmlformats.org/officeDocument/2006/relationships" id="504" r:id="Reb183e94bf744bf2"/>
    <p:sldId xmlns:r="http://schemas.openxmlformats.org/officeDocument/2006/relationships" id="505" r:id="Rd097340bd62249b9"/>
    <p:sldId xmlns:r="http://schemas.openxmlformats.org/officeDocument/2006/relationships" id="506" r:id="Rd50fbb980dfb42d5"/>
    <p:sldId xmlns:r="http://schemas.openxmlformats.org/officeDocument/2006/relationships" id="507" r:id="R036b21e4cad243dd"/>
    <p:sldId xmlns:r="http://schemas.openxmlformats.org/officeDocument/2006/relationships" id="508" r:id="Rb8594e866ec8460c"/>
    <p:sldId xmlns:r="http://schemas.openxmlformats.org/officeDocument/2006/relationships" id="509" r:id="R4f4d997451404837"/>
    <p:sldId xmlns:r="http://schemas.openxmlformats.org/officeDocument/2006/relationships" id="510" r:id="R3084a755283e487a"/>
    <p:sldId xmlns:r="http://schemas.openxmlformats.org/officeDocument/2006/relationships" id="511" r:id="Rdf3bbc735d8d42ea"/>
    <p:sldId xmlns:r="http://schemas.openxmlformats.org/officeDocument/2006/relationships" id="512" r:id="R03284d3c4cb64d17"/>
    <p:sldId xmlns:r="http://schemas.openxmlformats.org/officeDocument/2006/relationships" id="513" r:id="Rbb03278eef534811"/>
    <p:sldId xmlns:r="http://schemas.openxmlformats.org/officeDocument/2006/relationships" id="514" r:id="Rdd6baccc785a4ab4"/>
    <p:sldId xmlns:r="http://schemas.openxmlformats.org/officeDocument/2006/relationships" id="515" r:id="R85ab864c33ac4309"/>
    <p:sldId xmlns:r="http://schemas.openxmlformats.org/officeDocument/2006/relationships" id="516" r:id="R924dbc21fa3b4ad8"/>
    <p:sldId xmlns:r="http://schemas.openxmlformats.org/officeDocument/2006/relationships" id="517" r:id="R4685b5c095ec4c42"/>
    <p:sldId xmlns:r="http://schemas.openxmlformats.org/officeDocument/2006/relationships" id="518" r:id="Rc097db476f0044fd"/>
    <p:sldId xmlns:r="http://schemas.openxmlformats.org/officeDocument/2006/relationships" id="519" r:id="R254fc0a329424866"/>
    <p:sldId xmlns:r="http://schemas.openxmlformats.org/officeDocument/2006/relationships" id="520" r:id="Rf11d96cc5d454cd2"/>
    <p:sldId xmlns:r="http://schemas.openxmlformats.org/officeDocument/2006/relationships" id="521" r:id="R2e260b1badff418f"/>
    <p:sldId xmlns:r="http://schemas.openxmlformats.org/officeDocument/2006/relationships" id="522" r:id="Rfb5b2616743d4e39"/>
    <p:sldId xmlns:r="http://schemas.openxmlformats.org/officeDocument/2006/relationships" id="523" r:id="R77a8071909a047b7"/>
    <p:sldId xmlns:r="http://schemas.openxmlformats.org/officeDocument/2006/relationships" id="524" r:id="R523303c69b8d42f8"/>
    <p:sldId xmlns:r="http://schemas.openxmlformats.org/officeDocument/2006/relationships" id="525" r:id="Rd31f5fe8121d4121"/>
    <p:sldId xmlns:r="http://schemas.openxmlformats.org/officeDocument/2006/relationships" id="526" r:id="Rb887726552ca4471"/>
    <p:sldId xmlns:r="http://schemas.openxmlformats.org/officeDocument/2006/relationships" id="527" r:id="R178e18ac38b64c0f"/>
    <p:sldId xmlns:r="http://schemas.openxmlformats.org/officeDocument/2006/relationships" id="528" r:id="R47d0f21503ae4393"/>
    <p:sldId xmlns:r="http://schemas.openxmlformats.org/officeDocument/2006/relationships" id="529" r:id="Rb66c0e841e814de8"/>
    <p:sldId xmlns:r="http://schemas.openxmlformats.org/officeDocument/2006/relationships" id="530" r:id="Rf0a890f64ce548c0"/>
    <p:sldId xmlns:r="http://schemas.openxmlformats.org/officeDocument/2006/relationships" id="531" r:id="R62fa62a41eb84645"/>
    <p:sldId xmlns:r="http://schemas.openxmlformats.org/officeDocument/2006/relationships" id="532" r:id="R96e703ec97f64bb3"/>
    <p:sldId xmlns:r="http://schemas.openxmlformats.org/officeDocument/2006/relationships" id="533" r:id="R37cb3031a574482e"/>
    <p:sldId xmlns:r="http://schemas.openxmlformats.org/officeDocument/2006/relationships" id="534" r:id="Rff77ac81808d4d17"/>
    <p:sldId xmlns:r="http://schemas.openxmlformats.org/officeDocument/2006/relationships" id="535" r:id="Rac30523166434008"/>
    <p:sldId xmlns:r="http://schemas.openxmlformats.org/officeDocument/2006/relationships" id="536" r:id="R9a7ea24a70f64e3e"/>
    <p:sldId xmlns:r="http://schemas.openxmlformats.org/officeDocument/2006/relationships" id="537" r:id="Rb2086efe51614c6f"/>
    <p:sldId xmlns:r="http://schemas.openxmlformats.org/officeDocument/2006/relationships" id="538" r:id="R949ba95c96e84a8a"/>
    <p:sldId xmlns:r="http://schemas.openxmlformats.org/officeDocument/2006/relationships" id="539" r:id="R3e5cb212fdaa4682"/>
    <p:sldId xmlns:r="http://schemas.openxmlformats.org/officeDocument/2006/relationships" id="540" r:id="Ra9d46bb0a1ba4cc2"/>
    <p:sldId xmlns:r="http://schemas.openxmlformats.org/officeDocument/2006/relationships" id="541" r:id="Rea8c7b550be04d57"/>
    <p:sldId xmlns:r="http://schemas.openxmlformats.org/officeDocument/2006/relationships" id="542" r:id="Rbcdd70e2bc784ce5"/>
    <p:sldId xmlns:r="http://schemas.openxmlformats.org/officeDocument/2006/relationships" id="543" r:id="Ra57f0b04126d47c0"/>
    <p:sldId xmlns:r="http://schemas.openxmlformats.org/officeDocument/2006/relationships" id="544" r:id="R9a34e7b70b8944cc"/>
    <p:sldId xmlns:r="http://schemas.openxmlformats.org/officeDocument/2006/relationships" id="545" r:id="Rea1855d394d749f5"/>
    <p:sldId xmlns:r="http://schemas.openxmlformats.org/officeDocument/2006/relationships" id="546" r:id="Rbfae869507d54b14"/>
    <p:sldId xmlns:r="http://schemas.openxmlformats.org/officeDocument/2006/relationships" id="547" r:id="Rd547f1fb516e4454"/>
    <p:sldId xmlns:r="http://schemas.openxmlformats.org/officeDocument/2006/relationships" id="548" r:id="R815da8c3c13a43f4"/>
    <p:sldId xmlns:r="http://schemas.openxmlformats.org/officeDocument/2006/relationships" id="549" r:id="Rcbe37dcaa2c4416e"/>
    <p:sldId xmlns:r="http://schemas.openxmlformats.org/officeDocument/2006/relationships" id="550" r:id="R42f2c4800dbb46bb"/>
    <p:sldId xmlns:r="http://schemas.openxmlformats.org/officeDocument/2006/relationships" id="551" r:id="R6571bcbf0f324ab5"/>
    <p:sldId xmlns:r="http://schemas.openxmlformats.org/officeDocument/2006/relationships" id="552" r:id="R1c4ec0a252924de3"/>
    <p:sldId xmlns:r="http://schemas.openxmlformats.org/officeDocument/2006/relationships" id="553" r:id="R9c67bfb36fd14956"/>
    <p:sldId xmlns:r="http://schemas.openxmlformats.org/officeDocument/2006/relationships" id="554" r:id="Rc0ce81119f5d4ddf"/>
    <p:sldId xmlns:r="http://schemas.openxmlformats.org/officeDocument/2006/relationships" id="555" r:id="R7c4e76e2233d41e2"/>
    <p:sldId xmlns:r="http://schemas.openxmlformats.org/officeDocument/2006/relationships" id="556" r:id="Re601765bad074542"/>
    <p:sldId xmlns:r="http://schemas.openxmlformats.org/officeDocument/2006/relationships" id="557" r:id="Rcc255a1b2e9842d1"/>
    <p:sldId xmlns:r="http://schemas.openxmlformats.org/officeDocument/2006/relationships" id="558" r:id="Rbacd3edafa0a474b"/>
    <p:sldId xmlns:r="http://schemas.openxmlformats.org/officeDocument/2006/relationships" id="559" r:id="Rbd8b4b5110e84324"/>
    <p:sldId xmlns:r="http://schemas.openxmlformats.org/officeDocument/2006/relationships" id="560" r:id="Rc2963a61acf442a8"/>
    <p:sldId xmlns:r="http://schemas.openxmlformats.org/officeDocument/2006/relationships" id="561" r:id="Re2b4d86e430d4781"/>
    <p:sldId xmlns:r="http://schemas.openxmlformats.org/officeDocument/2006/relationships" id="562" r:id="R0ab544b287744249"/>
    <p:sldId xmlns:r="http://schemas.openxmlformats.org/officeDocument/2006/relationships" id="563" r:id="R08dfcf7aa1694471"/>
    <p:sldId xmlns:r="http://schemas.openxmlformats.org/officeDocument/2006/relationships" id="564" r:id="R47c6534905a7448e"/>
    <p:sldId xmlns:r="http://schemas.openxmlformats.org/officeDocument/2006/relationships" id="565" r:id="R67efcc3e078d4caa"/>
    <p:sldId xmlns:r="http://schemas.openxmlformats.org/officeDocument/2006/relationships" id="566" r:id="R8b910fb09ca54f26"/>
    <p:sldId xmlns:r="http://schemas.openxmlformats.org/officeDocument/2006/relationships" id="567" r:id="R5fdf63e250214139"/>
    <p:sldId xmlns:r="http://schemas.openxmlformats.org/officeDocument/2006/relationships" id="568" r:id="R3394653579ae4004"/>
    <p:sldId xmlns:r="http://schemas.openxmlformats.org/officeDocument/2006/relationships" id="569" r:id="R7ca0ce085ddd443c"/>
    <p:sldId xmlns:r="http://schemas.openxmlformats.org/officeDocument/2006/relationships" id="570" r:id="R85c8a3676cc74650"/>
    <p:sldId xmlns:r="http://schemas.openxmlformats.org/officeDocument/2006/relationships" id="571" r:id="R0b88714754fd47a3"/>
    <p:sldId xmlns:r="http://schemas.openxmlformats.org/officeDocument/2006/relationships" id="572" r:id="Re62b0c4a33404401"/>
    <p:sldId xmlns:r="http://schemas.openxmlformats.org/officeDocument/2006/relationships" id="573" r:id="R191a125363654999"/>
    <p:sldId xmlns:r="http://schemas.openxmlformats.org/officeDocument/2006/relationships" id="574" r:id="Rdcc7163224174cf6"/>
    <p:sldId xmlns:r="http://schemas.openxmlformats.org/officeDocument/2006/relationships" id="575" r:id="R635b6d6a2ce24cf9"/>
    <p:sldId xmlns:r="http://schemas.openxmlformats.org/officeDocument/2006/relationships" id="576" r:id="Re87521065b744bb2"/>
    <p:sldId xmlns:r="http://schemas.openxmlformats.org/officeDocument/2006/relationships" id="577" r:id="R38f455b510eb4492"/>
    <p:sldId xmlns:r="http://schemas.openxmlformats.org/officeDocument/2006/relationships" id="578" r:id="Rae867495cc664fec"/>
    <p:sldId xmlns:r="http://schemas.openxmlformats.org/officeDocument/2006/relationships" id="579" r:id="R47efe5477d9b40d2"/>
    <p:sldId xmlns:r="http://schemas.openxmlformats.org/officeDocument/2006/relationships" id="580" r:id="R44771147fada4541"/>
    <p:sldId xmlns:r="http://schemas.openxmlformats.org/officeDocument/2006/relationships" id="581" r:id="R462c6fbaecf5414a"/>
    <p:sldId xmlns:r="http://schemas.openxmlformats.org/officeDocument/2006/relationships" id="582" r:id="R44f9c176c04343bc"/>
    <p:sldId xmlns:r="http://schemas.openxmlformats.org/officeDocument/2006/relationships" id="583" r:id="Rf356606901574151"/>
    <p:sldId xmlns:r="http://schemas.openxmlformats.org/officeDocument/2006/relationships" id="584" r:id="R5f01cac6f81445f1"/>
    <p:sldId xmlns:r="http://schemas.openxmlformats.org/officeDocument/2006/relationships" id="585" r:id="R5bddd67d34b04fab"/>
    <p:sldId xmlns:r="http://schemas.openxmlformats.org/officeDocument/2006/relationships" id="586" r:id="R2a24b25953d24236"/>
    <p:sldId xmlns:r="http://schemas.openxmlformats.org/officeDocument/2006/relationships" id="587" r:id="R77751303210347c5"/>
    <p:sldId xmlns:r="http://schemas.openxmlformats.org/officeDocument/2006/relationships" id="588" r:id="R2729ea861bea4aca"/>
    <p:sldId xmlns:r="http://schemas.openxmlformats.org/officeDocument/2006/relationships" id="589" r:id="R9e906a59e51f46c3"/>
    <p:sldId xmlns:r="http://schemas.openxmlformats.org/officeDocument/2006/relationships" id="590" r:id="R590bd8e68aa5499f"/>
    <p:sldId xmlns:r="http://schemas.openxmlformats.org/officeDocument/2006/relationships" id="591" r:id="R18380de6962a45b8"/>
    <p:sldId xmlns:r="http://schemas.openxmlformats.org/officeDocument/2006/relationships" id="592" r:id="Rebe9540718774af7"/>
    <p:sldId xmlns:r="http://schemas.openxmlformats.org/officeDocument/2006/relationships" id="593" r:id="Reabeff5bdb044184"/>
    <p:sldId xmlns:r="http://schemas.openxmlformats.org/officeDocument/2006/relationships" id="594" r:id="R3a23d38f8ee14877"/>
    <p:sldId xmlns:r="http://schemas.openxmlformats.org/officeDocument/2006/relationships" id="595" r:id="Ra2c8832d7f3a4409"/>
    <p:sldId xmlns:r="http://schemas.openxmlformats.org/officeDocument/2006/relationships" id="596" r:id="R465a4d53f7cd4281"/>
    <p:sldId xmlns:r="http://schemas.openxmlformats.org/officeDocument/2006/relationships" id="597" r:id="Rd77f6a00dc2544fe"/>
    <p:sldId xmlns:r="http://schemas.openxmlformats.org/officeDocument/2006/relationships" id="598" r:id="R7b55c374c52c45cb"/>
    <p:sldId xmlns:r="http://schemas.openxmlformats.org/officeDocument/2006/relationships" id="599" r:id="Rf539e2208e654628"/>
    <p:sldId xmlns:r="http://schemas.openxmlformats.org/officeDocument/2006/relationships" id="600" r:id="R651e4e3407a54d43"/>
    <p:sldId xmlns:r="http://schemas.openxmlformats.org/officeDocument/2006/relationships" id="601" r:id="Re09c47515744425a"/>
    <p:sldId xmlns:r="http://schemas.openxmlformats.org/officeDocument/2006/relationships" id="602" r:id="Rc4dba3915f7549e2"/>
    <p:sldId xmlns:r="http://schemas.openxmlformats.org/officeDocument/2006/relationships" id="603" r:id="Rb56e1a8b5ce942f1"/>
    <p:sldId xmlns:r="http://schemas.openxmlformats.org/officeDocument/2006/relationships" id="604" r:id="R384d4abd1f594c4a"/>
    <p:sldId xmlns:r="http://schemas.openxmlformats.org/officeDocument/2006/relationships" id="605" r:id="R43891ccb99024b3a"/>
    <p:sldId xmlns:r="http://schemas.openxmlformats.org/officeDocument/2006/relationships" id="606" r:id="Rbec6f8e753be4fd6"/>
    <p:sldId xmlns:r="http://schemas.openxmlformats.org/officeDocument/2006/relationships" id="607" r:id="Rea7029b5e8f44e5b"/>
    <p:sldId xmlns:r="http://schemas.openxmlformats.org/officeDocument/2006/relationships" id="608" r:id="Rbf79235917314e37"/>
    <p:sldId xmlns:r="http://schemas.openxmlformats.org/officeDocument/2006/relationships" id="609" r:id="Rdeb9ea10d9584cba"/>
    <p:sldId xmlns:r="http://schemas.openxmlformats.org/officeDocument/2006/relationships" id="610" r:id="R5cb316c3bebc40ff"/>
    <p:sldId xmlns:r="http://schemas.openxmlformats.org/officeDocument/2006/relationships" id="611" r:id="Rcad07e6dce5f45b0"/>
    <p:sldId xmlns:r="http://schemas.openxmlformats.org/officeDocument/2006/relationships" id="612" r:id="Re327925197974eb2"/>
    <p:sldId xmlns:r="http://schemas.openxmlformats.org/officeDocument/2006/relationships" id="613" r:id="Re3853bba7d7347f9"/>
    <p:sldId xmlns:r="http://schemas.openxmlformats.org/officeDocument/2006/relationships" id="614" r:id="R82e39f2c85254574"/>
    <p:sldId xmlns:r="http://schemas.openxmlformats.org/officeDocument/2006/relationships" id="615" r:id="R393522ef327e4347"/>
    <p:sldId xmlns:r="http://schemas.openxmlformats.org/officeDocument/2006/relationships" id="616" r:id="Re0f92970db9b4721"/>
    <p:sldId xmlns:r="http://schemas.openxmlformats.org/officeDocument/2006/relationships" id="617" r:id="R0e9cc3f663d147a1"/>
    <p:sldId xmlns:r="http://schemas.openxmlformats.org/officeDocument/2006/relationships" id="618" r:id="R66ad91c045b540f6"/>
    <p:sldId xmlns:r="http://schemas.openxmlformats.org/officeDocument/2006/relationships" id="619" r:id="R072dfe106bba444f"/>
    <p:sldId xmlns:r="http://schemas.openxmlformats.org/officeDocument/2006/relationships" id="620" r:id="R2d5c515296194723"/>
    <p:sldId xmlns:r="http://schemas.openxmlformats.org/officeDocument/2006/relationships" id="621" r:id="R41b45dce30dd41ca"/>
    <p:sldId xmlns:r="http://schemas.openxmlformats.org/officeDocument/2006/relationships" id="622" r:id="Rb4e6605dc7224aac"/>
    <p:sldId xmlns:r="http://schemas.openxmlformats.org/officeDocument/2006/relationships" id="623" r:id="R0900aa195b8d49f9"/>
    <p:sldId xmlns:r="http://schemas.openxmlformats.org/officeDocument/2006/relationships" id="624" r:id="Rf984e43a7a9b42d5"/>
    <p:sldId xmlns:r="http://schemas.openxmlformats.org/officeDocument/2006/relationships" id="625" r:id="Rdf502385b1ce4e4d"/>
    <p:sldId xmlns:r="http://schemas.openxmlformats.org/officeDocument/2006/relationships" id="626" r:id="R99e121c7219e4a35"/>
    <p:sldId xmlns:r="http://schemas.openxmlformats.org/officeDocument/2006/relationships" id="627" r:id="Radb05895c2dd4549"/>
    <p:sldId xmlns:r="http://schemas.openxmlformats.org/officeDocument/2006/relationships" id="628" r:id="Rbaeeff1b12054a24"/>
    <p:sldId xmlns:r="http://schemas.openxmlformats.org/officeDocument/2006/relationships" id="629" r:id="Rc33bffb6153b47c2"/>
    <p:sldId xmlns:r="http://schemas.openxmlformats.org/officeDocument/2006/relationships" id="630" r:id="R7cd58112955540df"/>
    <p:sldId xmlns:r="http://schemas.openxmlformats.org/officeDocument/2006/relationships" id="631" r:id="R7b93cf4186b54fbf"/>
    <p:sldId xmlns:r="http://schemas.openxmlformats.org/officeDocument/2006/relationships" id="632" r:id="Ra66aa8b18d8e4b73"/>
    <p:sldId xmlns:r="http://schemas.openxmlformats.org/officeDocument/2006/relationships" id="633" r:id="Ra1d8f0516ee248a9"/>
    <p:sldId xmlns:r="http://schemas.openxmlformats.org/officeDocument/2006/relationships" id="634" r:id="R20306c39b2ef4592"/>
    <p:sldId xmlns:r="http://schemas.openxmlformats.org/officeDocument/2006/relationships" id="635" r:id="R704c5111b32a4d15"/>
    <p:sldId xmlns:r="http://schemas.openxmlformats.org/officeDocument/2006/relationships" id="636" r:id="Rbe87d0aa9c7f4271"/>
    <p:sldId xmlns:r="http://schemas.openxmlformats.org/officeDocument/2006/relationships" id="637" r:id="Rd397bb03e1da4173"/>
    <p:sldId xmlns:r="http://schemas.openxmlformats.org/officeDocument/2006/relationships" id="638" r:id="R86fd7de3969f42e9"/>
    <p:sldId xmlns:r="http://schemas.openxmlformats.org/officeDocument/2006/relationships" id="639" r:id="Rf26110a926a045c8"/>
    <p:sldId xmlns:r="http://schemas.openxmlformats.org/officeDocument/2006/relationships" id="640" r:id="R8bb1032eac2f4e6d"/>
    <p:sldId xmlns:r="http://schemas.openxmlformats.org/officeDocument/2006/relationships" id="641" r:id="Rf549400897374233"/>
    <p:sldId xmlns:r="http://schemas.openxmlformats.org/officeDocument/2006/relationships" id="642" r:id="R38cb4db41269434b"/>
    <p:sldId xmlns:r="http://schemas.openxmlformats.org/officeDocument/2006/relationships" id="643" r:id="R8a3646f2498d4834"/>
    <p:sldId xmlns:r="http://schemas.openxmlformats.org/officeDocument/2006/relationships" id="644" r:id="Rffd032dd0d3346ed"/>
    <p:sldId xmlns:r="http://schemas.openxmlformats.org/officeDocument/2006/relationships" id="645" r:id="R8b6036db7fba43ea"/>
    <p:sldId xmlns:r="http://schemas.openxmlformats.org/officeDocument/2006/relationships" id="646" r:id="Rde89cefd64f84007"/>
    <p:sldId xmlns:r="http://schemas.openxmlformats.org/officeDocument/2006/relationships" id="647" r:id="Rf2848d945eda45de"/>
    <p:sldId xmlns:r="http://schemas.openxmlformats.org/officeDocument/2006/relationships" id="648" r:id="Rf4f03a6a535841d3"/>
    <p:sldId xmlns:r="http://schemas.openxmlformats.org/officeDocument/2006/relationships" id="649" r:id="R2b03eeccb93b4282"/>
    <p:sldId xmlns:r="http://schemas.openxmlformats.org/officeDocument/2006/relationships" id="650" r:id="R70c516616ba94546"/>
    <p:sldId xmlns:r="http://schemas.openxmlformats.org/officeDocument/2006/relationships" id="651" r:id="Rc4f13fc597c64b09"/>
    <p:sldId xmlns:r="http://schemas.openxmlformats.org/officeDocument/2006/relationships" id="652" r:id="R2e8cd82dd73e4e00"/>
    <p:sldId xmlns:r="http://schemas.openxmlformats.org/officeDocument/2006/relationships" id="653" r:id="R9b9ecf54b955421a"/>
    <p:sldId xmlns:r="http://schemas.openxmlformats.org/officeDocument/2006/relationships" id="654" r:id="R2815bd5b43a14634"/>
    <p:sldId xmlns:r="http://schemas.openxmlformats.org/officeDocument/2006/relationships" id="655" r:id="R47c4438d29814d6d"/>
    <p:sldId xmlns:r="http://schemas.openxmlformats.org/officeDocument/2006/relationships" id="656" r:id="Rd15f11c88c4046a0"/>
    <p:sldId xmlns:r="http://schemas.openxmlformats.org/officeDocument/2006/relationships" id="657" r:id="R1654b5113cdb4e69"/>
    <p:sldId xmlns:r="http://schemas.openxmlformats.org/officeDocument/2006/relationships" id="658" r:id="R5a5812628365430f"/>
    <p:sldId xmlns:r="http://schemas.openxmlformats.org/officeDocument/2006/relationships" id="659" r:id="Reebc6bbfb8e240b3"/>
    <p:sldId xmlns:r="http://schemas.openxmlformats.org/officeDocument/2006/relationships" id="660" r:id="Redd1a16426d24567"/>
    <p:sldId xmlns:r="http://schemas.openxmlformats.org/officeDocument/2006/relationships" id="661" r:id="R83eac51c3bb64a18"/>
    <p:sldId xmlns:r="http://schemas.openxmlformats.org/officeDocument/2006/relationships" id="662" r:id="Rb9e53a0885374948"/>
    <p:sldId xmlns:r="http://schemas.openxmlformats.org/officeDocument/2006/relationships" id="663" r:id="Rca5eb421af374b5c"/>
    <p:sldId xmlns:r="http://schemas.openxmlformats.org/officeDocument/2006/relationships" id="664" r:id="R91c87765552d42e2"/>
    <p:sldId xmlns:r="http://schemas.openxmlformats.org/officeDocument/2006/relationships" id="665" r:id="R952f351d7e4e43e9"/>
    <p:sldId xmlns:r="http://schemas.openxmlformats.org/officeDocument/2006/relationships" id="666" r:id="R4a87810574024015"/>
    <p:sldId xmlns:r="http://schemas.openxmlformats.org/officeDocument/2006/relationships" id="667" r:id="Rc984e2a00afc45c9"/>
    <p:sldId xmlns:r="http://schemas.openxmlformats.org/officeDocument/2006/relationships" id="668" r:id="R7796e7fb43404b1f"/>
    <p:sldId xmlns:r="http://schemas.openxmlformats.org/officeDocument/2006/relationships" id="669" r:id="R11fa87f1203f48e5"/>
    <p:sldId xmlns:r="http://schemas.openxmlformats.org/officeDocument/2006/relationships" id="670" r:id="R15b56df2e15e4ca3"/>
    <p:sldId xmlns:r="http://schemas.openxmlformats.org/officeDocument/2006/relationships" id="671" r:id="R3006fa84c1c14afa"/>
    <p:sldId xmlns:r="http://schemas.openxmlformats.org/officeDocument/2006/relationships" id="672" r:id="Ref54974bbc0940d5"/>
    <p:sldId xmlns:r="http://schemas.openxmlformats.org/officeDocument/2006/relationships" id="673" r:id="R19e09b641b734175"/>
    <p:sldId xmlns:r="http://schemas.openxmlformats.org/officeDocument/2006/relationships" id="674" r:id="R9e2e644951bb4fb6"/>
    <p:sldId xmlns:r="http://schemas.openxmlformats.org/officeDocument/2006/relationships" id="675" r:id="Rc63613cf803540be"/>
    <p:sldId xmlns:r="http://schemas.openxmlformats.org/officeDocument/2006/relationships" id="676" r:id="Rc8cf693cfca346d8"/>
    <p:sldId xmlns:r="http://schemas.openxmlformats.org/officeDocument/2006/relationships" id="677" r:id="R73b498558dfa440d"/>
    <p:sldId xmlns:r="http://schemas.openxmlformats.org/officeDocument/2006/relationships" id="678" r:id="R5569f8337a1e4890"/>
    <p:sldId xmlns:r="http://schemas.openxmlformats.org/officeDocument/2006/relationships" id="679" r:id="R153f92813ba94483"/>
    <p:sldId xmlns:r="http://schemas.openxmlformats.org/officeDocument/2006/relationships" id="680" r:id="Rdf4801fcf1e44466"/>
    <p:sldId xmlns:r="http://schemas.openxmlformats.org/officeDocument/2006/relationships" id="681" r:id="Reac84642516544f6"/>
    <p:sldId xmlns:r="http://schemas.openxmlformats.org/officeDocument/2006/relationships" id="682" r:id="Rc0f5933db2e6454a"/>
    <p:sldId xmlns:r="http://schemas.openxmlformats.org/officeDocument/2006/relationships" id="683" r:id="Ra05e004490354ef9"/>
    <p:sldId xmlns:r="http://schemas.openxmlformats.org/officeDocument/2006/relationships" id="684" r:id="R9d931f1ac4694dc1"/>
    <p:sldId xmlns:r="http://schemas.openxmlformats.org/officeDocument/2006/relationships" id="685" r:id="Raaee4f4e81974345"/>
    <p:sldId xmlns:r="http://schemas.openxmlformats.org/officeDocument/2006/relationships" id="686" r:id="R2e38a089c0b14ab9"/>
    <p:sldId xmlns:r="http://schemas.openxmlformats.org/officeDocument/2006/relationships" id="687" r:id="R5b22febe45c14593"/>
    <p:sldId xmlns:r="http://schemas.openxmlformats.org/officeDocument/2006/relationships" id="688" r:id="R2113d3fe73334fd6"/>
    <p:sldId xmlns:r="http://schemas.openxmlformats.org/officeDocument/2006/relationships" id="689" r:id="Rda45806e38c146da"/>
    <p:sldId xmlns:r="http://schemas.openxmlformats.org/officeDocument/2006/relationships" id="690" r:id="R74f2cae7ff114a02"/>
    <p:sldId xmlns:r="http://schemas.openxmlformats.org/officeDocument/2006/relationships" id="691" r:id="R2b1d570e115f4401"/>
    <p:sldId xmlns:r="http://schemas.openxmlformats.org/officeDocument/2006/relationships" id="692" r:id="R983c9d90af5e403f"/>
    <p:sldId xmlns:r="http://schemas.openxmlformats.org/officeDocument/2006/relationships" id="693" r:id="R76f62b05140c43fe"/>
    <p:sldId xmlns:r="http://schemas.openxmlformats.org/officeDocument/2006/relationships" id="694" r:id="Rd597eaa5fb894313"/>
    <p:sldId xmlns:r="http://schemas.openxmlformats.org/officeDocument/2006/relationships" id="695" r:id="Rb9df4290d57f41c4"/>
    <p:sldId xmlns:r="http://schemas.openxmlformats.org/officeDocument/2006/relationships" id="696" r:id="R8e3d6760b78f4fa7"/>
    <p:sldId xmlns:r="http://schemas.openxmlformats.org/officeDocument/2006/relationships" id="697" r:id="Rdbe08e7dd8b448b3"/>
    <p:sldId xmlns:r="http://schemas.openxmlformats.org/officeDocument/2006/relationships" id="698" r:id="R1d57b824951b4773"/>
    <p:sldId xmlns:r="http://schemas.openxmlformats.org/officeDocument/2006/relationships" id="699" r:id="R4b24e90a58eb4387"/>
    <p:sldId xmlns:r="http://schemas.openxmlformats.org/officeDocument/2006/relationships" id="700" r:id="Rcf105489210e4c22"/>
    <p:sldId xmlns:r="http://schemas.openxmlformats.org/officeDocument/2006/relationships" id="701" r:id="R568d03f571054643"/>
    <p:sldId xmlns:r="http://schemas.openxmlformats.org/officeDocument/2006/relationships" id="702" r:id="R33a481c57a9847fb"/>
    <p:sldId xmlns:r="http://schemas.openxmlformats.org/officeDocument/2006/relationships" id="703" r:id="R9f575e07d0dd4448"/>
    <p:sldId xmlns:r="http://schemas.openxmlformats.org/officeDocument/2006/relationships" id="704" r:id="R9c83b5fe7f434206"/>
    <p:sldId xmlns:r="http://schemas.openxmlformats.org/officeDocument/2006/relationships" id="705" r:id="Rc598850b38334578"/>
    <p:sldId xmlns:r="http://schemas.openxmlformats.org/officeDocument/2006/relationships" id="706" r:id="R40409bd9577b497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0E3FDE45-AF77-4B5C-9715-49D594BDF05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Helle Formatvorlage 1 - Akz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p="http://schemas.openxmlformats.org/presentationml/2006/main">
  <p:slideViewPr>
    <p:cSldViewPr showGuides="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a129ba7d060b4f25" /><Relationship Type="http://schemas.openxmlformats.org/officeDocument/2006/relationships/slideMaster" Target="/ppt/slideMasters/slideMaster1.xml" Id="R7e79068233ca40e1" /><Relationship Type="http://schemas.openxmlformats.org/officeDocument/2006/relationships/presProps" Target="/ppt/presProps.xml" Id="Rf13d77e822c642f6" /><Relationship Type="http://schemas.openxmlformats.org/officeDocument/2006/relationships/viewProps" Target="/ppt/viewProps.xml" Id="R06f4d9566c534142" /><Relationship Type="http://schemas.openxmlformats.org/officeDocument/2006/relationships/tableStyles" Target="/ppt/tableStyles.xml" Id="R96e72f2171984953" /><Relationship Type="http://schemas.openxmlformats.org/officeDocument/2006/relationships/slide" Target="/ppt/slides/slide1.xml" Id="R39e656aa47af459c" /><Relationship Type="http://schemas.openxmlformats.org/officeDocument/2006/relationships/slide" Target="/ppt/slides/slide2.xml" Id="R36bd0927c1274d28" /><Relationship Type="http://schemas.openxmlformats.org/officeDocument/2006/relationships/slide" Target="/ppt/slides/slide3.xml" Id="Ra8e4024c802243d6" /><Relationship Type="http://schemas.openxmlformats.org/officeDocument/2006/relationships/slide" Target="/ppt/slides/slide4.xml" Id="Rfc39f13639104c1f" /><Relationship Type="http://schemas.openxmlformats.org/officeDocument/2006/relationships/slide" Target="/ppt/slides/slide5.xml" Id="Rca9f78924840435e" /><Relationship Type="http://schemas.openxmlformats.org/officeDocument/2006/relationships/slide" Target="/ppt/slides/slide6.xml" Id="R486cdd2ffd0b4a9e" /><Relationship Type="http://schemas.openxmlformats.org/officeDocument/2006/relationships/slide" Target="/ppt/slides/slide7.xml" Id="Ra555a1e3acb943e4" /><Relationship Type="http://schemas.openxmlformats.org/officeDocument/2006/relationships/slide" Target="/ppt/slides/slide8.xml" Id="R23b704ff6a9041fb" /><Relationship Type="http://schemas.openxmlformats.org/officeDocument/2006/relationships/slide" Target="/ppt/slides/slide9.xml" Id="R8f77acc16d4f46a2" /><Relationship Type="http://schemas.openxmlformats.org/officeDocument/2006/relationships/slide" Target="/ppt/slides/slide10.xml" Id="Rcb7bd44a2aad4735" /><Relationship Type="http://schemas.openxmlformats.org/officeDocument/2006/relationships/slide" Target="/ppt/slides/slide11.xml" Id="R5d181ad5a434435c" /><Relationship Type="http://schemas.openxmlformats.org/officeDocument/2006/relationships/slide" Target="/ppt/slides/slide12.xml" Id="Rb716b8252ce84c38" /><Relationship Type="http://schemas.openxmlformats.org/officeDocument/2006/relationships/slide" Target="/ppt/slides/slide13.xml" Id="R3c267432762e488a" /><Relationship Type="http://schemas.openxmlformats.org/officeDocument/2006/relationships/slide" Target="/ppt/slides/slide14.xml" Id="Rc2125f651bb24979" /><Relationship Type="http://schemas.openxmlformats.org/officeDocument/2006/relationships/slide" Target="/ppt/slides/slide15.xml" Id="Re702d7f47ea34621" /><Relationship Type="http://schemas.openxmlformats.org/officeDocument/2006/relationships/slide" Target="/ppt/slides/slide16.xml" Id="R0ca19a942f3142ab" /><Relationship Type="http://schemas.openxmlformats.org/officeDocument/2006/relationships/slide" Target="/ppt/slides/slide17.xml" Id="R77bd6bdc17db4cfe" /><Relationship Type="http://schemas.openxmlformats.org/officeDocument/2006/relationships/slide" Target="/ppt/slides/slide18.xml" Id="R89b34dccd65d4aa7" /><Relationship Type="http://schemas.openxmlformats.org/officeDocument/2006/relationships/slide" Target="/ppt/slides/slide19.xml" Id="R80c57700f1bc4f9d" /><Relationship Type="http://schemas.openxmlformats.org/officeDocument/2006/relationships/slide" Target="/ppt/slides/slide20.xml" Id="Re7683befdf4a43e6" /><Relationship Type="http://schemas.openxmlformats.org/officeDocument/2006/relationships/slide" Target="/ppt/slides/slide21.xml" Id="R43c3c0b4dc784fd2" /><Relationship Type="http://schemas.openxmlformats.org/officeDocument/2006/relationships/slide" Target="/ppt/slides/slide22.xml" Id="R8174cdf9a9d14909" /><Relationship Type="http://schemas.openxmlformats.org/officeDocument/2006/relationships/slide" Target="/ppt/slides/slide23.xml" Id="Rf538da5504104b8c" /><Relationship Type="http://schemas.openxmlformats.org/officeDocument/2006/relationships/slide" Target="/ppt/slides/slide24.xml" Id="R493decada7fc40f7" /><Relationship Type="http://schemas.openxmlformats.org/officeDocument/2006/relationships/slide" Target="/ppt/slides/slide25.xml" Id="R3fdfc5205f714acf" /><Relationship Type="http://schemas.openxmlformats.org/officeDocument/2006/relationships/slide" Target="/ppt/slides/slide26.xml" Id="R1d3375f3db76496e" /><Relationship Type="http://schemas.openxmlformats.org/officeDocument/2006/relationships/slide" Target="/ppt/slides/slide27.xml" Id="R9fcec4d256c34b7e" /><Relationship Type="http://schemas.openxmlformats.org/officeDocument/2006/relationships/slide" Target="/ppt/slides/slide28.xml" Id="R4f87de209b5844b9" /><Relationship Type="http://schemas.openxmlformats.org/officeDocument/2006/relationships/slide" Target="/ppt/slides/slide29.xml" Id="Re0dd484785c342fa" /><Relationship Type="http://schemas.openxmlformats.org/officeDocument/2006/relationships/slide" Target="/ppt/slides/slide30.xml" Id="R54010b9e99a04f36" /><Relationship Type="http://schemas.openxmlformats.org/officeDocument/2006/relationships/slide" Target="/ppt/slides/slide31.xml" Id="R53479aee7abf41a7" /><Relationship Type="http://schemas.openxmlformats.org/officeDocument/2006/relationships/slide" Target="/ppt/slides/slide32.xml" Id="R3c5ae1a637c24179" /><Relationship Type="http://schemas.openxmlformats.org/officeDocument/2006/relationships/slide" Target="/ppt/slides/slide33.xml" Id="R8d7479e3d1b9402b" /><Relationship Type="http://schemas.openxmlformats.org/officeDocument/2006/relationships/slide" Target="/ppt/slides/slide34.xml" Id="R5ead960d74af4dff" /><Relationship Type="http://schemas.openxmlformats.org/officeDocument/2006/relationships/slide" Target="/ppt/slides/slide35.xml" Id="R40e0d5eb77c146f9" /><Relationship Type="http://schemas.openxmlformats.org/officeDocument/2006/relationships/slide" Target="/ppt/slides/slide36.xml" Id="R913f3af935374be5" /><Relationship Type="http://schemas.openxmlformats.org/officeDocument/2006/relationships/slide" Target="/ppt/slides/slide37.xml" Id="R6fa723ca43124fc1" /><Relationship Type="http://schemas.openxmlformats.org/officeDocument/2006/relationships/slide" Target="/ppt/slides/slide38.xml" Id="Re75b98d47c734d7b" /><Relationship Type="http://schemas.openxmlformats.org/officeDocument/2006/relationships/slide" Target="/ppt/slides/slide39.xml" Id="R0dab41c95f30445e" /><Relationship Type="http://schemas.openxmlformats.org/officeDocument/2006/relationships/slide" Target="/ppt/slides/slide40.xml" Id="R489ab8d16286430b" /><Relationship Type="http://schemas.openxmlformats.org/officeDocument/2006/relationships/slide" Target="/ppt/slides/slide41.xml" Id="Rc845c382aaa84d18" /><Relationship Type="http://schemas.openxmlformats.org/officeDocument/2006/relationships/slide" Target="/ppt/slides/slide42.xml" Id="Rfac1bb924eaa44c2" /><Relationship Type="http://schemas.openxmlformats.org/officeDocument/2006/relationships/slide" Target="/ppt/slides/slide43.xml" Id="R0c1f54c2c08744ee" /><Relationship Type="http://schemas.openxmlformats.org/officeDocument/2006/relationships/slide" Target="/ppt/slides/slide44.xml" Id="R58591b68f3e44220" /><Relationship Type="http://schemas.openxmlformats.org/officeDocument/2006/relationships/slide" Target="/ppt/slides/slide45.xml" Id="R1f6798aee4174287" /><Relationship Type="http://schemas.openxmlformats.org/officeDocument/2006/relationships/slide" Target="/ppt/slides/slide46.xml" Id="R6705b828291248dc" /><Relationship Type="http://schemas.openxmlformats.org/officeDocument/2006/relationships/slide" Target="/ppt/slides/slide47.xml" Id="Rd1b8cb10dffe441b" /><Relationship Type="http://schemas.openxmlformats.org/officeDocument/2006/relationships/slide" Target="/ppt/slides/slide48.xml" Id="R2b49865578b643bb" /><Relationship Type="http://schemas.openxmlformats.org/officeDocument/2006/relationships/slide" Target="/ppt/slides/slide49.xml" Id="R900cad95f1314454" /><Relationship Type="http://schemas.openxmlformats.org/officeDocument/2006/relationships/slide" Target="/ppt/slides/slide50.xml" Id="R747c3eb351844d67" /><Relationship Type="http://schemas.openxmlformats.org/officeDocument/2006/relationships/slide" Target="/ppt/slides/slide51.xml" Id="R9f65d12dfc26482e" /><Relationship Type="http://schemas.openxmlformats.org/officeDocument/2006/relationships/slide" Target="/ppt/slides/slide52.xml" Id="R233ccd0170da474f" /><Relationship Type="http://schemas.openxmlformats.org/officeDocument/2006/relationships/slide" Target="/ppt/slides/slide53.xml" Id="R38001c163366422e" /><Relationship Type="http://schemas.openxmlformats.org/officeDocument/2006/relationships/slide" Target="/ppt/slides/slide54.xml" Id="R6d70e14e24d440eb" /><Relationship Type="http://schemas.openxmlformats.org/officeDocument/2006/relationships/slide" Target="/ppt/slides/slide55.xml" Id="Rd20533a88ba54d1f" /><Relationship Type="http://schemas.openxmlformats.org/officeDocument/2006/relationships/slide" Target="/ppt/slides/slide56.xml" Id="R09b34eb1c98c4287" /><Relationship Type="http://schemas.openxmlformats.org/officeDocument/2006/relationships/slide" Target="/ppt/slides/slide57.xml" Id="R9673cea55e044d53" /><Relationship Type="http://schemas.openxmlformats.org/officeDocument/2006/relationships/slide" Target="/ppt/slides/slide58.xml" Id="Rb9a371391dc14dc5" /><Relationship Type="http://schemas.openxmlformats.org/officeDocument/2006/relationships/slide" Target="/ppt/slides/slide59.xml" Id="R12475652793e44ed" /><Relationship Type="http://schemas.openxmlformats.org/officeDocument/2006/relationships/slide" Target="/ppt/slides/slide60.xml" Id="Rb200abe6cf95472f" /><Relationship Type="http://schemas.openxmlformats.org/officeDocument/2006/relationships/slide" Target="/ppt/slides/slide61.xml" Id="R6d184a7a64bf4e06" /><Relationship Type="http://schemas.openxmlformats.org/officeDocument/2006/relationships/slide" Target="/ppt/slides/slide62.xml" Id="Reb1ce4a2decb4edc" /><Relationship Type="http://schemas.openxmlformats.org/officeDocument/2006/relationships/slide" Target="/ppt/slides/slide63.xml" Id="R047fdf70876949e8" /><Relationship Type="http://schemas.openxmlformats.org/officeDocument/2006/relationships/slide" Target="/ppt/slides/slide64.xml" Id="Rd7918a133d5f4efa" /><Relationship Type="http://schemas.openxmlformats.org/officeDocument/2006/relationships/slide" Target="/ppt/slides/slide65.xml" Id="R14fc966620e84174" /><Relationship Type="http://schemas.openxmlformats.org/officeDocument/2006/relationships/slide" Target="/ppt/slides/slide66.xml" Id="R3a61bc387290441c" /><Relationship Type="http://schemas.openxmlformats.org/officeDocument/2006/relationships/slide" Target="/ppt/slides/slide67.xml" Id="R3d68a76779e043aa" /><Relationship Type="http://schemas.openxmlformats.org/officeDocument/2006/relationships/slide" Target="/ppt/slides/slide68.xml" Id="R6460029c2a394b2a" /><Relationship Type="http://schemas.openxmlformats.org/officeDocument/2006/relationships/slide" Target="/ppt/slides/slide69.xml" Id="Rb63ee4c8088e44e9" /><Relationship Type="http://schemas.openxmlformats.org/officeDocument/2006/relationships/slide" Target="/ppt/slides/slide70.xml" Id="Rdd05268e7fc34509" /><Relationship Type="http://schemas.openxmlformats.org/officeDocument/2006/relationships/slide" Target="/ppt/slides/slide71.xml" Id="Rcecd8ce1703e460f" /><Relationship Type="http://schemas.openxmlformats.org/officeDocument/2006/relationships/slide" Target="/ppt/slides/slide72.xml" Id="Rfbf68165819d4c32" /><Relationship Type="http://schemas.openxmlformats.org/officeDocument/2006/relationships/slide" Target="/ppt/slides/slide73.xml" Id="R4be982c2f2974e74" /><Relationship Type="http://schemas.openxmlformats.org/officeDocument/2006/relationships/slide" Target="/ppt/slides/slide74.xml" Id="R64c1a015fdfd4c5f" /><Relationship Type="http://schemas.openxmlformats.org/officeDocument/2006/relationships/slide" Target="/ppt/slides/slide75.xml" Id="R98b1ffb79c6c4afa" /><Relationship Type="http://schemas.openxmlformats.org/officeDocument/2006/relationships/slide" Target="/ppt/slides/slide76.xml" Id="R3f44a47ee5a0406a" /><Relationship Type="http://schemas.openxmlformats.org/officeDocument/2006/relationships/slide" Target="/ppt/slides/slide77.xml" Id="R75508d4cd75d4290" /><Relationship Type="http://schemas.openxmlformats.org/officeDocument/2006/relationships/slide" Target="/ppt/slides/slide78.xml" Id="Rcac9a29808fd44f7" /><Relationship Type="http://schemas.openxmlformats.org/officeDocument/2006/relationships/slide" Target="/ppt/slides/slide79.xml" Id="Ra8586622fed54d92" /><Relationship Type="http://schemas.openxmlformats.org/officeDocument/2006/relationships/slide" Target="/ppt/slides/slide80.xml" Id="R55d4dfaf996f4703" /><Relationship Type="http://schemas.openxmlformats.org/officeDocument/2006/relationships/slide" Target="/ppt/slides/slide81.xml" Id="R3575d0c15d094f3a" /><Relationship Type="http://schemas.openxmlformats.org/officeDocument/2006/relationships/slide" Target="/ppt/slides/slide82.xml" Id="R03f18f4a40f7406b" /><Relationship Type="http://schemas.openxmlformats.org/officeDocument/2006/relationships/slide" Target="/ppt/slides/slide83.xml" Id="Rbf17e7f864594d24" /><Relationship Type="http://schemas.openxmlformats.org/officeDocument/2006/relationships/slide" Target="/ppt/slides/slide84.xml" Id="R5bfededb52a04828" /><Relationship Type="http://schemas.openxmlformats.org/officeDocument/2006/relationships/slide" Target="/ppt/slides/slide85.xml" Id="R464babf700254fab" /><Relationship Type="http://schemas.openxmlformats.org/officeDocument/2006/relationships/slide" Target="/ppt/slides/slide86.xml" Id="R8a48b57edf22444e" /><Relationship Type="http://schemas.openxmlformats.org/officeDocument/2006/relationships/slide" Target="/ppt/slides/slide87.xml" Id="R9ed01856bce444c8" /><Relationship Type="http://schemas.openxmlformats.org/officeDocument/2006/relationships/slide" Target="/ppt/slides/slide88.xml" Id="Rbea5250a0e5945a8" /><Relationship Type="http://schemas.openxmlformats.org/officeDocument/2006/relationships/slide" Target="/ppt/slides/slide89.xml" Id="Rcb63777c91174d55" /><Relationship Type="http://schemas.openxmlformats.org/officeDocument/2006/relationships/slide" Target="/ppt/slides/slide90.xml" Id="R5bedd9b2fa4840f0" /><Relationship Type="http://schemas.openxmlformats.org/officeDocument/2006/relationships/slide" Target="/ppt/slides/slide91.xml" Id="Re991baa74db047f3" /><Relationship Type="http://schemas.openxmlformats.org/officeDocument/2006/relationships/slide" Target="/ppt/slides/slide92.xml" Id="R27273836e55e46e4" /><Relationship Type="http://schemas.openxmlformats.org/officeDocument/2006/relationships/slide" Target="/ppt/slides/slide93.xml" Id="R1c4eed6cb287498d" /><Relationship Type="http://schemas.openxmlformats.org/officeDocument/2006/relationships/slide" Target="/ppt/slides/slide94.xml" Id="R644dedd6976248d2" /><Relationship Type="http://schemas.openxmlformats.org/officeDocument/2006/relationships/slide" Target="/ppt/slides/slide95.xml" Id="R873f7062666949f2" /><Relationship Type="http://schemas.openxmlformats.org/officeDocument/2006/relationships/slide" Target="/ppt/slides/slide96.xml" Id="R66c9235b06014f9a" /><Relationship Type="http://schemas.openxmlformats.org/officeDocument/2006/relationships/slide" Target="/ppt/slides/slide97.xml" Id="R75189aabd3a747eb" /><Relationship Type="http://schemas.openxmlformats.org/officeDocument/2006/relationships/slide" Target="/ppt/slides/slide98.xml" Id="Re2e7e3da35a947e6" /><Relationship Type="http://schemas.openxmlformats.org/officeDocument/2006/relationships/slide" Target="/ppt/slides/slide99.xml" Id="R2f8667fc4606403b" /><Relationship Type="http://schemas.openxmlformats.org/officeDocument/2006/relationships/slide" Target="/ppt/slides/slide100.xml" Id="R8311b9c54a0b4dbe" /><Relationship Type="http://schemas.openxmlformats.org/officeDocument/2006/relationships/slide" Target="/ppt/slides/slide101.xml" Id="R4bd2e721bfb64a36" /><Relationship Type="http://schemas.openxmlformats.org/officeDocument/2006/relationships/slide" Target="/ppt/slides/slide102.xml" Id="R18b237c841b3485f" /><Relationship Type="http://schemas.openxmlformats.org/officeDocument/2006/relationships/slide" Target="/ppt/slides/slide103.xml" Id="R3ea334b9e5694d57" /><Relationship Type="http://schemas.openxmlformats.org/officeDocument/2006/relationships/slide" Target="/ppt/slides/slide104.xml" Id="R657bb582dd2c4ef1" /><Relationship Type="http://schemas.openxmlformats.org/officeDocument/2006/relationships/slide" Target="/ppt/slides/slide105.xml" Id="R2f40751f5193439d" /><Relationship Type="http://schemas.openxmlformats.org/officeDocument/2006/relationships/slide" Target="/ppt/slides/slide106.xml" Id="Rdbfaa49afb644ed0" /><Relationship Type="http://schemas.openxmlformats.org/officeDocument/2006/relationships/slide" Target="/ppt/slides/slide107.xml" Id="R4a45027c66cb444b" /><Relationship Type="http://schemas.openxmlformats.org/officeDocument/2006/relationships/slide" Target="/ppt/slides/slide108.xml" Id="R7a9fd7c9455347c7" /><Relationship Type="http://schemas.openxmlformats.org/officeDocument/2006/relationships/slide" Target="/ppt/slides/slide109.xml" Id="Rde0434b82b9b4543" /><Relationship Type="http://schemas.openxmlformats.org/officeDocument/2006/relationships/slide" Target="/ppt/slides/slide110.xml" Id="R10459cfe253a403e" /><Relationship Type="http://schemas.openxmlformats.org/officeDocument/2006/relationships/slide" Target="/ppt/slides/slide111.xml" Id="Rab9cabe0e11f4fce" /><Relationship Type="http://schemas.openxmlformats.org/officeDocument/2006/relationships/slide" Target="/ppt/slides/slide112.xml" Id="Ra8daad55c44f468b" /><Relationship Type="http://schemas.openxmlformats.org/officeDocument/2006/relationships/slide" Target="/ppt/slides/slide113.xml" Id="Rf85899a9c9ce438b" /><Relationship Type="http://schemas.openxmlformats.org/officeDocument/2006/relationships/slide" Target="/ppt/slides/slide114.xml" Id="R2fca2d2d8d934883" /><Relationship Type="http://schemas.openxmlformats.org/officeDocument/2006/relationships/slide" Target="/ppt/slides/slide115.xml" Id="R5019ddeae62e40df" /><Relationship Type="http://schemas.openxmlformats.org/officeDocument/2006/relationships/slide" Target="/ppt/slides/slide116.xml" Id="R713508866d9c4b26" /><Relationship Type="http://schemas.openxmlformats.org/officeDocument/2006/relationships/slide" Target="/ppt/slides/slide117.xml" Id="R5a322da013894e63" /><Relationship Type="http://schemas.openxmlformats.org/officeDocument/2006/relationships/slide" Target="/ppt/slides/slide118.xml" Id="R6ae3d2bbe25445c9" /><Relationship Type="http://schemas.openxmlformats.org/officeDocument/2006/relationships/slide" Target="/ppt/slides/slide119.xml" Id="R823976b5c4cb4176" /><Relationship Type="http://schemas.openxmlformats.org/officeDocument/2006/relationships/slide" Target="/ppt/slides/slide120.xml" Id="Rad56593a7e6b4056" /><Relationship Type="http://schemas.openxmlformats.org/officeDocument/2006/relationships/slide" Target="/ppt/slides/slide121.xml" Id="R2017ed11d78944ff" /><Relationship Type="http://schemas.openxmlformats.org/officeDocument/2006/relationships/slide" Target="/ppt/slides/slide122.xml" Id="R91e98b52e6de4351" /><Relationship Type="http://schemas.openxmlformats.org/officeDocument/2006/relationships/slide" Target="/ppt/slides/slide123.xml" Id="Rbdd206506e4d4890" /><Relationship Type="http://schemas.openxmlformats.org/officeDocument/2006/relationships/slide" Target="/ppt/slides/slide124.xml" Id="R5bb678ded8e64f4f" /><Relationship Type="http://schemas.openxmlformats.org/officeDocument/2006/relationships/slide" Target="/ppt/slides/slide125.xml" Id="R645c93980df2479e" /><Relationship Type="http://schemas.openxmlformats.org/officeDocument/2006/relationships/slide" Target="/ppt/slides/slide126.xml" Id="R7f3e53b7ff424e74" /><Relationship Type="http://schemas.openxmlformats.org/officeDocument/2006/relationships/slide" Target="/ppt/slides/slide127.xml" Id="Rb0208b7e3820484f" /><Relationship Type="http://schemas.openxmlformats.org/officeDocument/2006/relationships/slide" Target="/ppt/slides/slide128.xml" Id="R55b79ad9e1a94249" /><Relationship Type="http://schemas.openxmlformats.org/officeDocument/2006/relationships/slide" Target="/ppt/slides/slide129.xml" Id="R900d24e2cb6a449a" /><Relationship Type="http://schemas.openxmlformats.org/officeDocument/2006/relationships/slide" Target="/ppt/slides/slide130.xml" Id="Ref3b80bdd94c4ee9" /><Relationship Type="http://schemas.openxmlformats.org/officeDocument/2006/relationships/slide" Target="/ppt/slides/slide131.xml" Id="R7534b7dc3a74487e" /><Relationship Type="http://schemas.openxmlformats.org/officeDocument/2006/relationships/slide" Target="/ppt/slides/slide132.xml" Id="R4c5a70a51ea24b07" /><Relationship Type="http://schemas.openxmlformats.org/officeDocument/2006/relationships/slide" Target="/ppt/slides/slide133.xml" Id="Rd6f5a8945620440a" /><Relationship Type="http://schemas.openxmlformats.org/officeDocument/2006/relationships/slide" Target="/ppt/slides/slide134.xml" Id="Rcba7ca01d4784645" /><Relationship Type="http://schemas.openxmlformats.org/officeDocument/2006/relationships/slide" Target="/ppt/slides/slide135.xml" Id="R472b64d793d34f18" /><Relationship Type="http://schemas.openxmlformats.org/officeDocument/2006/relationships/slide" Target="/ppt/slides/slide136.xml" Id="Rda42b2962b8f4da6" /><Relationship Type="http://schemas.openxmlformats.org/officeDocument/2006/relationships/slide" Target="/ppt/slides/slide137.xml" Id="R9d5c85478a8f41c7" /><Relationship Type="http://schemas.openxmlformats.org/officeDocument/2006/relationships/slide" Target="/ppt/slides/slide138.xml" Id="Re51f3289b1b547d7" /><Relationship Type="http://schemas.openxmlformats.org/officeDocument/2006/relationships/slide" Target="/ppt/slides/slide139.xml" Id="Rd89fa6ca1c7c4cad" /><Relationship Type="http://schemas.openxmlformats.org/officeDocument/2006/relationships/slide" Target="/ppt/slides/slide140.xml" Id="R0e223d1c0b044c40" /><Relationship Type="http://schemas.openxmlformats.org/officeDocument/2006/relationships/slide" Target="/ppt/slides/slide141.xml" Id="R7f5e596615854a43" /><Relationship Type="http://schemas.openxmlformats.org/officeDocument/2006/relationships/slide" Target="/ppt/slides/slide142.xml" Id="R8e929c8eaa404e12" /><Relationship Type="http://schemas.openxmlformats.org/officeDocument/2006/relationships/slide" Target="/ppt/slides/slide143.xml" Id="Rba94a430903d44ac" /><Relationship Type="http://schemas.openxmlformats.org/officeDocument/2006/relationships/slide" Target="/ppt/slides/slide144.xml" Id="Rccbaf363d3784da8" /><Relationship Type="http://schemas.openxmlformats.org/officeDocument/2006/relationships/slide" Target="/ppt/slides/slide145.xml" Id="R768a012bad1f4fd0" /><Relationship Type="http://schemas.openxmlformats.org/officeDocument/2006/relationships/slide" Target="/ppt/slides/slide146.xml" Id="R481d930c0ebd4d53" /><Relationship Type="http://schemas.openxmlformats.org/officeDocument/2006/relationships/slide" Target="/ppt/slides/slide147.xml" Id="R9528b1b944234dd2" /><Relationship Type="http://schemas.openxmlformats.org/officeDocument/2006/relationships/slide" Target="/ppt/slides/slide148.xml" Id="R570d8f2717464bf7" /><Relationship Type="http://schemas.openxmlformats.org/officeDocument/2006/relationships/slide" Target="/ppt/slides/slide149.xml" Id="R14a7efc9775a43a6" /><Relationship Type="http://schemas.openxmlformats.org/officeDocument/2006/relationships/slide" Target="/ppt/slides/slide150.xml" Id="R1ef2e8e6d234448d" /><Relationship Type="http://schemas.openxmlformats.org/officeDocument/2006/relationships/slide" Target="/ppt/slides/slide151.xml" Id="R4104f90034094096" /><Relationship Type="http://schemas.openxmlformats.org/officeDocument/2006/relationships/slide" Target="/ppt/slides/slide152.xml" Id="R27c14e85c7d54522" /><Relationship Type="http://schemas.openxmlformats.org/officeDocument/2006/relationships/slide" Target="/ppt/slides/slide153.xml" Id="R60c1c874523849cf" /><Relationship Type="http://schemas.openxmlformats.org/officeDocument/2006/relationships/slide" Target="/ppt/slides/slide154.xml" Id="R8fbbef106a304179" /><Relationship Type="http://schemas.openxmlformats.org/officeDocument/2006/relationships/slide" Target="/ppt/slides/slide155.xml" Id="R2ab230c809204ee7" /><Relationship Type="http://schemas.openxmlformats.org/officeDocument/2006/relationships/slide" Target="/ppt/slides/slide156.xml" Id="R36c65fc0cac64284" /><Relationship Type="http://schemas.openxmlformats.org/officeDocument/2006/relationships/slide" Target="/ppt/slides/slide157.xml" Id="R2eddb3b4aae94cbb" /><Relationship Type="http://schemas.openxmlformats.org/officeDocument/2006/relationships/slide" Target="/ppt/slides/slide158.xml" Id="R04721f2197e5412e" /><Relationship Type="http://schemas.openxmlformats.org/officeDocument/2006/relationships/slide" Target="/ppt/slides/slide159.xml" Id="Ra586e10d2e0e49e3" /><Relationship Type="http://schemas.openxmlformats.org/officeDocument/2006/relationships/slide" Target="/ppt/slides/slide160.xml" Id="Rde78a7e5b5624faa" /><Relationship Type="http://schemas.openxmlformats.org/officeDocument/2006/relationships/slide" Target="/ppt/slides/slide161.xml" Id="R2a75de356eb74f2a" /><Relationship Type="http://schemas.openxmlformats.org/officeDocument/2006/relationships/slide" Target="/ppt/slides/slide162.xml" Id="R60b700236b6f4dfb" /><Relationship Type="http://schemas.openxmlformats.org/officeDocument/2006/relationships/slide" Target="/ppt/slides/slide163.xml" Id="R23034dab47d54f3b" /><Relationship Type="http://schemas.openxmlformats.org/officeDocument/2006/relationships/slide" Target="/ppt/slides/slide164.xml" Id="R4679a26528de4f2c" /><Relationship Type="http://schemas.openxmlformats.org/officeDocument/2006/relationships/slide" Target="/ppt/slides/slide165.xml" Id="R6f2e9050ef184d08" /><Relationship Type="http://schemas.openxmlformats.org/officeDocument/2006/relationships/slide" Target="/ppt/slides/slide166.xml" Id="R71e2b1a331ac46fa" /><Relationship Type="http://schemas.openxmlformats.org/officeDocument/2006/relationships/slide" Target="/ppt/slides/slide167.xml" Id="Rf7e1d0c02372420b" /><Relationship Type="http://schemas.openxmlformats.org/officeDocument/2006/relationships/slide" Target="/ppt/slides/slide168.xml" Id="R946bf6767234430f" /><Relationship Type="http://schemas.openxmlformats.org/officeDocument/2006/relationships/slide" Target="/ppt/slides/slide169.xml" Id="Rb1cc199411114d3e" /><Relationship Type="http://schemas.openxmlformats.org/officeDocument/2006/relationships/slide" Target="/ppt/slides/slide170.xml" Id="Rae720d201ecd4786" /><Relationship Type="http://schemas.openxmlformats.org/officeDocument/2006/relationships/slide" Target="/ppt/slides/slide171.xml" Id="R884a9981cfd94f0f" /><Relationship Type="http://schemas.openxmlformats.org/officeDocument/2006/relationships/slide" Target="/ppt/slides/slide172.xml" Id="R3bf53d5e47b047dd" /><Relationship Type="http://schemas.openxmlformats.org/officeDocument/2006/relationships/slide" Target="/ppt/slides/slide173.xml" Id="R32955c6db7a14898" /><Relationship Type="http://schemas.openxmlformats.org/officeDocument/2006/relationships/slide" Target="/ppt/slides/slide174.xml" Id="Reded3a30cf574817" /><Relationship Type="http://schemas.openxmlformats.org/officeDocument/2006/relationships/slide" Target="/ppt/slides/slide175.xml" Id="R95de62d1714f46b0" /><Relationship Type="http://schemas.openxmlformats.org/officeDocument/2006/relationships/slide" Target="/ppt/slides/slide176.xml" Id="Rc135da292a4545eb" /><Relationship Type="http://schemas.openxmlformats.org/officeDocument/2006/relationships/slide" Target="/ppt/slides/slide177.xml" Id="R91af10a6b4af4e5c" /><Relationship Type="http://schemas.openxmlformats.org/officeDocument/2006/relationships/slide" Target="/ppt/slides/slide178.xml" Id="R4bd8286762554265" /><Relationship Type="http://schemas.openxmlformats.org/officeDocument/2006/relationships/slide" Target="/ppt/slides/slide179.xml" Id="R907a90da35894303" /><Relationship Type="http://schemas.openxmlformats.org/officeDocument/2006/relationships/slide" Target="/ppt/slides/slide180.xml" Id="R081d1cebae224ab5" /><Relationship Type="http://schemas.openxmlformats.org/officeDocument/2006/relationships/slide" Target="/ppt/slides/slide181.xml" Id="R382bb0a38a52461c" /><Relationship Type="http://schemas.openxmlformats.org/officeDocument/2006/relationships/slide" Target="/ppt/slides/slide182.xml" Id="R955d2a317721437d" /><Relationship Type="http://schemas.openxmlformats.org/officeDocument/2006/relationships/slide" Target="/ppt/slides/slide183.xml" Id="R6bd8928bff894333" /><Relationship Type="http://schemas.openxmlformats.org/officeDocument/2006/relationships/slide" Target="/ppt/slides/slide184.xml" Id="R236a324df4764460" /><Relationship Type="http://schemas.openxmlformats.org/officeDocument/2006/relationships/slide" Target="/ppt/slides/slide185.xml" Id="R453ec45dceb84193" /><Relationship Type="http://schemas.openxmlformats.org/officeDocument/2006/relationships/slide" Target="/ppt/slides/slide186.xml" Id="R6747545c99244499" /><Relationship Type="http://schemas.openxmlformats.org/officeDocument/2006/relationships/slide" Target="/ppt/slides/slide187.xml" Id="R37c8ceb6f9ec407a" /><Relationship Type="http://schemas.openxmlformats.org/officeDocument/2006/relationships/slide" Target="/ppt/slides/slide188.xml" Id="R2a70bab0a3774fbb" /><Relationship Type="http://schemas.openxmlformats.org/officeDocument/2006/relationships/slide" Target="/ppt/slides/slide189.xml" Id="R5ef6be7721a0443a" /><Relationship Type="http://schemas.openxmlformats.org/officeDocument/2006/relationships/slide" Target="/ppt/slides/slide190.xml" Id="R7ad24a9bd2a24986" /><Relationship Type="http://schemas.openxmlformats.org/officeDocument/2006/relationships/slide" Target="/ppt/slides/slide191.xml" Id="R4ef436ec50b441db" /><Relationship Type="http://schemas.openxmlformats.org/officeDocument/2006/relationships/slide" Target="/ppt/slides/slide192.xml" Id="R7031cede58934259" /><Relationship Type="http://schemas.openxmlformats.org/officeDocument/2006/relationships/slide" Target="/ppt/slides/slide193.xml" Id="R8abeae2030174c2e" /><Relationship Type="http://schemas.openxmlformats.org/officeDocument/2006/relationships/slide" Target="/ppt/slides/slide194.xml" Id="R77c882a9106948b3" /><Relationship Type="http://schemas.openxmlformats.org/officeDocument/2006/relationships/slide" Target="/ppt/slides/slide195.xml" Id="R528ba38ce16e46c5" /><Relationship Type="http://schemas.openxmlformats.org/officeDocument/2006/relationships/slide" Target="/ppt/slides/slide196.xml" Id="R97ea81a6473c42f5" /><Relationship Type="http://schemas.openxmlformats.org/officeDocument/2006/relationships/slide" Target="/ppt/slides/slide197.xml" Id="R5ffb7895389e4906" /><Relationship Type="http://schemas.openxmlformats.org/officeDocument/2006/relationships/slide" Target="/ppt/slides/slide198.xml" Id="R41454bf4741c427b" /><Relationship Type="http://schemas.openxmlformats.org/officeDocument/2006/relationships/slide" Target="/ppt/slides/slide199.xml" Id="R5ea4e1cac22340ba" /><Relationship Type="http://schemas.openxmlformats.org/officeDocument/2006/relationships/slide" Target="/ppt/slides/slide200.xml" Id="Red1e4e675cbb43a6" /><Relationship Type="http://schemas.openxmlformats.org/officeDocument/2006/relationships/slide" Target="/ppt/slides/slide201.xml" Id="Reb1f8cee5c7a4956" /><Relationship Type="http://schemas.openxmlformats.org/officeDocument/2006/relationships/slide" Target="/ppt/slides/slide202.xml" Id="R874ea995661a4ab3" /><Relationship Type="http://schemas.openxmlformats.org/officeDocument/2006/relationships/slide" Target="/ppt/slides/slide203.xml" Id="Rab32ac620acd4c22" /><Relationship Type="http://schemas.openxmlformats.org/officeDocument/2006/relationships/slide" Target="/ppt/slides/slide204.xml" Id="Rcfd362180a7d4e98" /><Relationship Type="http://schemas.openxmlformats.org/officeDocument/2006/relationships/slide" Target="/ppt/slides/slide205.xml" Id="R450abbefd18646f3" /><Relationship Type="http://schemas.openxmlformats.org/officeDocument/2006/relationships/slide" Target="/ppt/slides/slide206.xml" Id="R370971f86c384740" /><Relationship Type="http://schemas.openxmlformats.org/officeDocument/2006/relationships/slide" Target="/ppt/slides/slide207.xml" Id="R84ed86002d4a43a8" /><Relationship Type="http://schemas.openxmlformats.org/officeDocument/2006/relationships/slide" Target="/ppt/slides/slide208.xml" Id="R6659778d6c9143d8" /><Relationship Type="http://schemas.openxmlformats.org/officeDocument/2006/relationships/slide" Target="/ppt/slides/slide209.xml" Id="Rfd45cab7adb24999" /><Relationship Type="http://schemas.openxmlformats.org/officeDocument/2006/relationships/slide" Target="/ppt/slides/slide210.xml" Id="R26bf4b6a33cf41c3" /><Relationship Type="http://schemas.openxmlformats.org/officeDocument/2006/relationships/slide" Target="/ppt/slides/slide211.xml" Id="R37fdf8c12ac64884" /><Relationship Type="http://schemas.openxmlformats.org/officeDocument/2006/relationships/slide" Target="/ppt/slides/slide212.xml" Id="R0aab601672034354" /><Relationship Type="http://schemas.openxmlformats.org/officeDocument/2006/relationships/slide" Target="/ppt/slides/slide213.xml" Id="R633316042a6e4331" /><Relationship Type="http://schemas.openxmlformats.org/officeDocument/2006/relationships/slide" Target="/ppt/slides/slide214.xml" Id="R2f8d6f3a84764cc2" /><Relationship Type="http://schemas.openxmlformats.org/officeDocument/2006/relationships/slide" Target="/ppt/slides/slide215.xml" Id="Ra6fc74b864d94ddc" /><Relationship Type="http://schemas.openxmlformats.org/officeDocument/2006/relationships/slide" Target="/ppt/slides/slide216.xml" Id="R3683bb86861949fb" /><Relationship Type="http://schemas.openxmlformats.org/officeDocument/2006/relationships/slide" Target="/ppt/slides/slide217.xml" Id="Rc01cb595e8844727" /><Relationship Type="http://schemas.openxmlformats.org/officeDocument/2006/relationships/slide" Target="/ppt/slides/slide218.xml" Id="R0fd3a56138cd42ec" /><Relationship Type="http://schemas.openxmlformats.org/officeDocument/2006/relationships/slide" Target="/ppt/slides/slide219.xml" Id="Rcf246f88237e4856" /><Relationship Type="http://schemas.openxmlformats.org/officeDocument/2006/relationships/slide" Target="/ppt/slides/slide220.xml" Id="R142cad8b93424005" /><Relationship Type="http://schemas.openxmlformats.org/officeDocument/2006/relationships/slide" Target="/ppt/slides/slide221.xml" Id="Rc0e17b24b33d4fc3" /><Relationship Type="http://schemas.openxmlformats.org/officeDocument/2006/relationships/slide" Target="/ppt/slides/slide222.xml" Id="R1c9437a05e044f76" /><Relationship Type="http://schemas.openxmlformats.org/officeDocument/2006/relationships/slide" Target="/ppt/slides/slide223.xml" Id="Rff1bfc7b97b94c09" /><Relationship Type="http://schemas.openxmlformats.org/officeDocument/2006/relationships/slide" Target="/ppt/slides/slide224.xml" Id="Ra0b008ef4b7f4c42" /><Relationship Type="http://schemas.openxmlformats.org/officeDocument/2006/relationships/slide" Target="/ppt/slides/slide225.xml" Id="R8c9f8494e6f64a0f" /><Relationship Type="http://schemas.openxmlformats.org/officeDocument/2006/relationships/slide" Target="/ppt/slides/slide226.xml" Id="Rd7e13cb133e0475a" /><Relationship Type="http://schemas.openxmlformats.org/officeDocument/2006/relationships/slide" Target="/ppt/slides/slide227.xml" Id="Rca39228bfa2a47ba" /><Relationship Type="http://schemas.openxmlformats.org/officeDocument/2006/relationships/slide" Target="/ppt/slides/slide228.xml" Id="Re4f1b58f96244f9f" /><Relationship Type="http://schemas.openxmlformats.org/officeDocument/2006/relationships/slide" Target="/ppt/slides/slide229.xml" Id="Rb8032a0429cf456b" /><Relationship Type="http://schemas.openxmlformats.org/officeDocument/2006/relationships/slide" Target="/ppt/slides/slide230.xml" Id="R3ebf2d02e5154cba" /><Relationship Type="http://schemas.openxmlformats.org/officeDocument/2006/relationships/slide" Target="/ppt/slides/slide231.xml" Id="Rc48793610263434f" /><Relationship Type="http://schemas.openxmlformats.org/officeDocument/2006/relationships/slide" Target="/ppt/slides/slide232.xml" Id="Rf0f2f9c7b2574274" /><Relationship Type="http://schemas.openxmlformats.org/officeDocument/2006/relationships/slide" Target="/ppt/slides/slide233.xml" Id="Rf58816427e1f4a8a" /><Relationship Type="http://schemas.openxmlformats.org/officeDocument/2006/relationships/slide" Target="/ppt/slides/slide234.xml" Id="R5bb40c6ef3f947d4" /><Relationship Type="http://schemas.openxmlformats.org/officeDocument/2006/relationships/slide" Target="/ppt/slides/slide235.xml" Id="R155d5998ff4d45df" /><Relationship Type="http://schemas.openxmlformats.org/officeDocument/2006/relationships/slide" Target="/ppt/slides/slide236.xml" Id="Re5f3f2a0c46d441d" /><Relationship Type="http://schemas.openxmlformats.org/officeDocument/2006/relationships/slide" Target="/ppt/slides/slide237.xml" Id="Reaffdc2fdce04759" /><Relationship Type="http://schemas.openxmlformats.org/officeDocument/2006/relationships/slide" Target="/ppt/slides/slide238.xml" Id="R9127bcfddb4d496f" /><Relationship Type="http://schemas.openxmlformats.org/officeDocument/2006/relationships/slide" Target="/ppt/slides/slide239.xml" Id="Ra563f20a36f240af" /><Relationship Type="http://schemas.openxmlformats.org/officeDocument/2006/relationships/slide" Target="/ppt/slides/slide240.xml" Id="R60122f5920ff4016" /><Relationship Type="http://schemas.openxmlformats.org/officeDocument/2006/relationships/slide" Target="/ppt/slides/slide241.xml" Id="R3aeb8362666948da" /><Relationship Type="http://schemas.openxmlformats.org/officeDocument/2006/relationships/slide" Target="/ppt/slides/slide242.xml" Id="Rf5799349750e42bf" /><Relationship Type="http://schemas.openxmlformats.org/officeDocument/2006/relationships/slide" Target="/ppt/slides/slide243.xml" Id="R41eb7e717aff41c3" /><Relationship Type="http://schemas.openxmlformats.org/officeDocument/2006/relationships/slide" Target="/ppt/slides/slide244.xml" Id="Re70034b33fbe456c" /><Relationship Type="http://schemas.openxmlformats.org/officeDocument/2006/relationships/slide" Target="/ppt/slides/slide245.xml" Id="Rca7141b91e81496f" /><Relationship Type="http://schemas.openxmlformats.org/officeDocument/2006/relationships/slide" Target="/ppt/slides/slide246.xml" Id="Rc8591f72c2e64be5" /><Relationship Type="http://schemas.openxmlformats.org/officeDocument/2006/relationships/slide" Target="/ppt/slides/slide247.xml" Id="Rd5dc6be99d3d45e1" /><Relationship Type="http://schemas.openxmlformats.org/officeDocument/2006/relationships/slide" Target="/ppt/slides/slide248.xml" Id="Re1dfdabc83674453" /><Relationship Type="http://schemas.openxmlformats.org/officeDocument/2006/relationships/slide" Target="/ppt/slides/slide249.xml" Id="Reb183e94bf744bf2" /><Relationship Type="http://schemas.openxmlformats.org/officeDocument/2006/relationships/slide" Target="/ppt/slides/slide250.xml" Id="Rd097340bd62249b9" /><Relationship Type="http://schemas.openxmlformats.org/officeDocument/2006/relationships/slide" Target="/ppt/slides/slide251.xml" Id="Rd50fbb980dfb42d5" /><Relationship Type="http://schemas.openxmlformats.org/officeDocument/2006/relationships/slide" Target="/ppt/slides/slide252.xml" Id="R036b21e4cad243dd" /><Relationship Type="http://schemas.openxmlformats.org/officeDocument/2006/relationships/slide" Target="/ppt/slides/slide253.xml" Id="Rb8594e866ec8460c" /><Relationship Type="http://schemas.openxmlformats.org/officeDocument/2006/relationships/slide" Target="/ppt/slides/slide254.xml" Id="R4f4d997451404837" /><Relationship Type="http://schemas.openxmlformats.org/officeDocument/2006/relationships/slide" Target="/ppt/slides/slide255.xml" Id="R3084a755283e487a" /><Relationship Type="http://schemas.openxmlformats.org/officeDocument/2006/relationships/slide" Target="/ppt/slides/slide256.xml" Id="Rdf3bbc735d8d42ea" /><Relationship Type="http://schemas.openxmlformats.org/officeDocument/2006/relationships/slide" Target="/ppt/slides/slide257.xml" Id="R03284d3c4cb64d17" /><Relationship Type="http://schemas.openxmlformats.org/officeDocument/2006/relationships/slide" Target="/ppt/slides/slide258.xml" Id="Rbb03278eef534811" /><Relationship Type="http://schemas.openxmlformats.org/officeDocument/2006/relationships/slide" Target="/ppt/slides/slide259.xml" Id="Rdd6baccc785a4ab4" /><Relationship Type="http://schemas.openxmlformats.org/officeDocument/2006/relationships/slide" Target="/ppt/slides/slide260.xml" Id="R85ab864c33ac4309" /><Relationship Type="http://schemas.openxmlformats.org/officeDocument/2006/relationships/slide" Target="/ppt/slides/slide261.xml" Id="R924dbc21fa3b4ad8" /><Relationship Type="http://schemas.openxmlformats.org/officeDocument/2006/relationships/slide" Target="/ppt/slides/slide262.xml" Id="R4685b5c095ec4c42" /><Relationship Type="http://schemas.openxmlformats.org/officeDocument/2006/relationships/slide" Target="/ppt/slides/slide263.xml" Id="Rc097db476f0044fd" /><Relationship Type="http://schemas.openxmlformats.org/officeDocument/2006/relationships/slide" Target="/ppt/slides/slide264.xml" Id="R254fc0a329424866" /><Relationship Type="http://schemas.openxmlformats.org/officeDocument/2006/relationships/slide" Target="/ppt/slides/slide265.xml" Id="Rf11d96cc5d454cd2" /><Relationship Type="http://schemas.openxmlformats.org/officeDocument/2006/relationships/slide" Target="/ppt/slides/slide266.xml" Id="R2e260b1badff418f" /><Relationship Type="http://schemas.openxmlformats.org/officeDocument/2006/relationships/slide" Target="/ppt/slides/slide267.xml" Id="Rfb5b2616743d4e39" /><Relationship Type="http://schemas.openxmlformats.org/officeDocument/2006/relationships/slide" Target="/ppt/slides/slide268.xml" Id="R77a8071909a047b7" /><Relationship Type="http://schemas.openxmlformats.org/officeDocument/2006/relationships/slide" Target="/ppt/slides/slide269.xml" Id="R523303c69b8d42f8" /><Relationship Type="http://schemas.openxmlformats.org/officeDocument/2006/relationships/slide" Target="/ppt/slides/slide270.xml" Id="Rd31f5fe8121d4121" /><Relationship Type="http://schemas.openxmlformats.org/officeDocument/2006/relationships/slide" Target="/ppt/slides/slide271.xml" Id="Rb887726552ca4471" /><Relationship Type="http://schemas.openxmlformats.org/officeDocument/2006/relationships/slide" Target="/ppt/slides/slide272.xml" Id="R178e18ac38b64c0f" /><Relationship Type="http://schemas.openxmlformats.org/officeDocument/2006/relationships/slide" Target="/ppt/slides/slide273.xml" Id="R47d0f21503ae4393" /><Relationship Type="http://schemas.openxmlformats.org/officeDocument/2006/relationships/slide" Target="/ppt/slides/slide274.xml" Id="Rb66c0e841e814de8" /><Relationship Type="http://schemas.openxmlformats.org/officeDocument/2006/relationships/slide" Target="/ppt/slides/slide275.xml" Id="Rf0a890f64ce548c0" /><Relationship Type="http://schemas.openxmlformats.org/officeDocument/2006/relationships/slide" Target="/ppt/slides/slide276.xml" Id="R62fa62a41eb84645" /><Relationship Type="http://schemas.openxmlformats.org/officeDocument/2006/relationships/slide" Target="/ppt/slides/slide277.xml" Id="R96e703ec97f64bb3" /><Relationship Type="http://schemas.openxmlformats.org/officeDocument/2006/relationships/slide" Target="/ppt/slides/slide278.xml" Id="R37cb3031a574482e" /><Relationship Type="http://schemas.openxmlformats.org/officeDocument/2006/relationships/slide" Target="/ppt/slides/slide279.xml" Id="Rff77ac81808d4d17" /><Relationship Type="http://schemas.openxmlformats.org/officeDocument/2006/relationships/slide" Target="/ppt/slides/slide280.xml" Id="Rac30523166434008" /><Relationship Type="http://schemas.openxmlformats.org/officeDocument/2006/relationships/slide" Target="/ppt/slides/slide281.xml" Id="R9a7ea24a70f64e3e" /><Relationship Type="http://schemas.openxmlformats.org/officeDocument/2006/relationships/slide" Target="/ppt/slides/slide282.xml" Id="Rb2086efe51614c6f" /><Relationship Type="http://schemas.openxmlformats.org/officeDocument/2006/relationships/slide" Target="/ppt/slides/slide283.xml" Id="R949ba95c96e84a8a" /><Relationship Type="http://schemas.openxmlformats.org/officeDocument/2006/relationships/slide" Target="/ppt/slides/slide284.xml" Id="R3e5cb212fdaa4682" /><Relationship Type="http://schemas.openxmlformats.org/officeDocument/2006/relationships/slide" Target="/ppt/slides/slide285.xml" Id="Ra9d46bb0a1ba4cc2" /><Relationship Type="http://schemas.openxmlformats.org/officeDocument/2006/relationships/slide" Target="/ppt/slides/slide286.xml" Id="Rea8c7b550be04d57" /><Relationship Type="http://schemas.openxmlformats.org/officeDocument/2006/relationships/slide" Target="/ppt/slides/slide287.xml" Id="Rbcdd70e2bc784ce5" /><Relationship Type="http://schemas.openxmlformats.org/officeDocument/2006/relationships/slide" Target="/ppt/slides/slide288.xml" Id="Ra57f0b04126d47c0" /><Relationship Type="http://schemas.openxmlformats.org/officeDocument/2006/relationships/slide" Target="/ppt/slides/slide289.xml" Id="R9a34e7b70b8944cc" /><Relationship Type="http://schemas.openxmlformats.org/officeDocument/2006/relationships/slide" Target="/ppt/slides/slide290.xml" Id="Rea1855d394d749f5" /><Relationship Type="http://schemas.openxmlformats.org/officeDocument/2006/relationships/slide" Target="/ppt/slides/slide291.xml" Id="Rbfae869507d54b14" /><Relationship Type="http://schemas.openxmlformats.org/officeDocument/2006/relationships/slide" Target="/ppt/slides/slide292.xml" Id="Rd547f1fb516e4454" /><Relationship Type="http://schemas.openxmlformats.org/officeDocument/2006/relationships/slide" Target="/ppt/slides/slide293.xml" Id="R815da8c3c13a43f4" /><Relationship Type="http://schemas.openxmlformats.org/officeDocument/2006/relationships/slide" Target="/ppt/slides/slide294.xml" Id="Rcbe37dcaa2c4416e" /><Relationship Type="http://schemas.openxmlformats.org/officeDocument/2006/relationships/slide" Target="/ppt/slides/slide295.xml" Id="R42f2c4800dbb46bb" /><Relationship Type="http://schemas.openxmlformats.org/officeDocument/2006/relationships/slide" Target="/ppt/slides/slide296.xml" Id="R6571bcbf0f324ab5" /><Relationship Type="http://schemas.openxmlformats.org/officeDocument/2006/relationships/slide" Target="/ppt/slides/slide297.xml" Id="R1c4ec0a252924de3" /><Relationship Type="http://schemas.openxmlformats.org/officeDocument/2006/relationships/slide" Target="/ppt/slides/slide298.xml" Id="R9c67bfb36fd14956" /><Relationship Type="http://schemas.openxmlformats.org/officeDocument/2006/relationships/slide" Target="/ppt/slides/slide299.xml" Id="Rc0ce81119f5d4ddf" /><Relationship Type="http://schemas.openxmlformats.org/officeDocument/2006/relationships/slide" Target="/ppt/slides/slide300.xml" Id="R7c4e76e2233d41e2" /><Relationship Type="http://schemas.openxmlformats.org/officeDocument/2006/relationships/slide" Target="/ppt/slides/slide301.xml" Id="Re601765bad074542" /><Relationship Type="http://schemas.openxmlformats.org/officeDocument/2006/relationships/slide" Target="/ppt/slides/slide302.xml" Id="Rcc255a1b2e9842d1" /><Relationship Type="http://schemas.openxmlformats.org/officeDocument/2006/relationships/slide" Target="/ppt/slides/slide303.xml" Id="Rbacd3edafa0a474b" /><Relationship Type="http://schemas.openxmlformats.org/officeDocument/2006/relationships/slide" Target="/ppt/slides/slide304.xml" Id="Rbd8b4b5110e84324" /><Relationship Type="http://schemas.openxmlformats.org/officeDocument/2006/relationships/slide" Target="/ppt/slides/slide305.xml" Id="Rc2963a61acf442a8" /><Relationship Type="http://schemas.openxmlformats.org/officeDocument/2006/relationships/slide" Target="/ppt/slides/slide306.xml" Id="Re2b4d86e430d4781" /><Relationship Type="http://schemas.openxmlformats.org/officeDocument/2006/relationships/slide" Target="/ppt/slides/slide307.xml" Id="R0ab544b287744249" /><Relationship Type="http://schemas.openxmlformats.org/officeDocument/2006/relationships/slide" Target="/ppt/slides/slide308.xml" Id="R08dfcf7aa1694471" /><Relationship Type="http://schemas.openxmlformats.org/officeDocument/2006/relationships/slide" Target="/ppt/slides/slide309.xml" Id="R47c6534905a7448e" /><Relationship Type="http://schemas.openxmlformats.org/officeDocument/2006/relationships/slide" Target="/ppt/slides/slide310.xml" Id="R67efcc3e078d4caa" /><Relationship Type="http://schemas.openxmlformats.org/officeDocument/2006/relationships/slide" Target="/ppt/slides/slide311.xml" Id="R8b910fb09ca54f26" /><Relationship Type="http://schemas.openxmlformats.org/officeDocument/2006/relationships/slide" Target="/ppt/slides/slide312.xml" Id="R5fdf63e250214139" /><Relationship Type="http://schemas.openxmlformats.org/officeDocument/2006/relationships/slide" Target="/ppt/slides/slide313.xml" Id="R3394653579ae4004" /><Relationship Type="http://schemas.openxmlformats.org/officeDocument/2006/relationships/slide" Target="/ppt/slides/slide314.xml" Id="R7ca0ce085ddd443c" /><Relationship Type="http://schemas.openxmlformats.org/officeDocument/2006/relationships/slide" Target="/ppt/slides/slide315.xml" Id="R85c8a3676cc74650" /><Relationship Type="http://schemas.openxmlformats.org/officeDocument/2006/relationships/slide" Target="/ppt/slides/slide316.xml" Id="R0b88714754fd47a3" /><Relationship Type="http://schemas.openxmlformats.org/officeDocument/2006/relationships/slide" Target="/ppt/slides/slide317.xml" Id="Re62b0c4a33404401" /><Relationship Type="http://schemas.openxmlformats.org/officeDocument/2006/relationships/slide" Target="/ppt/slides/slide318.xml" Id="R191a125363654999" /><Relationship Type="http://schemas.openxmlformats.org/officeDocument/2006/relationships/slide" Target="/ppt/slides/slide319.xml" Id="Rdcc7163224174cf6" /><Relationship Type="http://schemas.openxmlformats.org/officeDocument/2006/relationships/slide" Target="/ppt/slides/slide320.xml" Id="R635b6d6a2ce24cf9" /><Relationship Type="http://schemas.openxmlformats.org/officeDocument/2006/relationships/slide" Target="/ppt/slides/slide321.xml" Id="Re87521065b744bb2" /><Relationship Type="http://schemas.openxmlformats.org/officeDocument/2006/relationships/slide" Target="/ppt/slides/slide322.xml" Id="R38f455b510eb4492" /><Relationship Type="http://schemas.openxmlformats.org/officeDocument/2006/relationships/slide" Target="/ppt/slides/slide323.xml" Id="Rae867495cc664fec" /><Relationship Type="http://schemas.openxmlformats.org/officeDocument/2006/relationships/slide" Target="/ppt/slides/slide324.xml" Id="R47efe5477d9b40d2" /><Relationship Type="http://schemas.openxmlformats.org/officeDocument/2006/relationships/slide" Target="/ppt/slides/slide325.xml" Id="R44771147fada4541" /><Relationship Type="http://schemas.openxmlformats.org/officeDocument/2006/relationships/slide" Target="/ppt/slides/slide326.xml" Id="R462c6fbaecf5414a" /><Relationship Type="http://schemas.openxmlformats.org/officeDocument/2006/relationships/slide" Target="/ppt/slides/slide327.xml" Id="R44f9c176c04343bc" /><Relationship Type="http://schemas.openxmlformats.org/officeDocument/2006/relationships/slide" Target="/ppt/slides/slide328.xml" Id="Rf356606901574151" /><Relationship Type="http://schemas.openxmlformats.org/officeDocument/2006/relationships/slide" Target="/ppt/slides/slide329.xml" Id="R5f01cac6f81445f1" /><Relationship Type="http://schemas.openxmlformats.org/officeDocument/2006/relationships/slide" Target="/ppt/slides/slide330.xml" Id="R5bddd67d34b04fab" /><Relationship Type="http://schemas.openxmlformats.org/officeDocument/2006/relationships/slide" Target="/ppt/slides/slide331.xml" Id="R2a24b25953d24236" /><Relationship Type="http://schemas.openxmlformats.org/officeDocument/2006/relationships/slide" Target="/ppt/slides/slide332.xml" Id="R77751303210347c5" /><Relationship Type="http://schemas.openxmlformats.org/officeDocument/2006/relationships/slide" Target="/ppt/slides/slide333.xml" Id="R2729ea861bea4aca" /><Relationship Type="http://schemas.openxmlformats.org/officeDocument/2006/relationships/slide" Target="/ppt/slides/slide334.xml" Id="R9e906a59e51f46c3" /><Relationship Type="http://schemas.openxmlformats.org/officeDocument/2006/relationships/slide" Target="/ppt/slides/slide335.xml" Id="R590bd8e68aa5499f" /><Relationship Type="http://schemas.openxmlformats.org/officeDocument/2006/relationships/slide" Target="/ppt/slides/slide336.xml" Id="R18380de6962a45b8" /><Relationship Type="http://schemas.openxmlformats.org/officeDocument/2006/relationships/slide" Target="/ppt/slides/slide337.xml" Id="Rebe9540718774af7" /><Relationship Type="http://schemas.openxmlformats.org/officeDocument/2006/relationships/slide" Target="/ppt/slides/slide338.xml" Id="Reabeff5bdb044184" /><Relationship Type="http://schemas.openxmlformats.org/officeDocument/2006/relationships/slide" Target="/ppt/slides/slide339.xml" Id="R3a23d38f8ee14877" /><Relationship Type="http://schemas.openxmlformats.org/officeDocument/2006/relationships/slide" Target="/ppt/slides/slide340.xml" Id="Ra2c8832d7f3a4409" /><Relationship Type="http://schemas.openxmlformats.org/officeDocument/2006/relationships/slide" Target="/ppt/slides/slide341.xml" Id="R465a4d53f7cd4281" /><Relationship Type="http://schemas.openxmlformats.org/officeDocument/2006/relationships/slide" Target="/ppt/slides/slide342.xml" Id="Rd77f6a00dc2544fe" /><Relationship Type="http://schemas.openxmlformats.org/officeDocument/2006/relationships/slide" Target="/ppt/slides/slide343.xml" Id="R7b55c374c52c45cb" /><Relationship Type="http://schemas.openxmlformats.org/officeDocument/2006/relationships/slide" Target="/ppt/slides/slide344.xml" Id="Rf539e2208e654628" /><Relationship Type="http://schemas.openxmlformats.org/officeDocument/2006/relationships/slide" Target="/ppt/slides/slide345.xml" Id="R651e4e3407a54d43" /><Relationship Type="http://schemas.openxmlformats.org/officeDocument/2006/relationships/slide" Target="/ppt/slides/slide346.xml" Id="Re09c47515744425a" /><Relationship Type="http://schemas.openxmlformats.org/officeDocument/2006/relationships/slide" Target="/ppt/slides/slide347.xml" Id="Rc4dba3915f7549e2" /><Relationship Type="http://schemas.openxmlformats.org/officeDocument/2006/relationships/slide" Target="/ppt/slides/slide348.xml" Id="Rb56e1a8b5ce942f1" /><Relationship Type="http://schemas.openxmlformats.org/officeDocument/2006/relationships/slide" Target="/ppt/slides/slide349.xml" Id="R384d4abd1f594c4a" /><Relationship Type="http://schemas.openxmlformats.org/officeDocument/2006/relationships/slide" Target="/ppt/slides/slide350.xml" Id="R43891ccb99024b3a" /><Relationship Type="http://schemas.openxmlformats.org/officeDocument/2006/relationships/slide" Target="/ppt/slides/slide351.xml" Id="Rbec6f8e753be4fd6" /><Relationship Type="http://schemas.openxmlformats.org/officeDocument/2006/relationships/slide" Target="/ppt/slides/slide352.xml" Id="Rea7029b5e8f44e5b" /><Relationship Type="http://schemas.openxmlformats.org/officeDocument/2006/relationships/slide" Target="/ppt/slides/slide353.xml" Id="Rbf79235917314e37" /><Relationship Type="http://schemas.openxmlformats.org/officeDocument/2006/relationships/slide" Target="/ppt/slides/slide354.xml" Id="Rdeb9ea10d9584cba" /><Relationship Type="http://schemas.openxmlformats.org/officeDocument/2006/relationships/slide" Target="/ppt/slides/slide355.xml" Id="R5cb316c3bebc40ff" /><Relationship Type="http://schemas.openxmlformats.org/officeDocument/2006/relationships/slide" Target="/ppt/slides/slide356.xml" Id="Rcad07e6dce5f45b0" /><Relationship Type="http://schemas.openxmlformats.org/officeDocument/2006/relationships/slide" Target="/ppt/slides/slide357.xml" Id="Re327925197974eb2" /><Relationship Type="http://schemas.openxmlformats.org/officeDocument/2006/relationships/slide" Target="/ppt/slides/slide358.xml" Id="Re3853bba7d7347f9" /><Relationship Type="http://schemas.openxmlformats.org/officeDocument/2006/relationships/slide" Target="/ppt/slides/slide359.xml" Id="R82e39f2c85254574" /><Relationship Type="http://schemas.openxmlformats.org/officeDocument/2006/relationships/slide" Target="/ppt/slides/slide360.xml" Id="R393522ef327e4347" /><Relationship Type="http://schemas.openxmlformats.org/officeDocument/2006/relationships/slide" Target="/ppt/slides/slide361.xml" Id="Re0f92970db9b4721" /><Relationship Type="http://schemas.openxmlformats.org/officeDocument/2006/relationships/slide" Target="/ppt/slides/slide362.xml" Id="R0e9cc3f663d147a1" /><Relationship Type="http://schemas.openxmlformats.org/officeDocument/2006/relationships/slide" Target="/ppt/slides/slide363.xml" Id="R66ad91c045b540f6" /><Relationship Type="http://schemas.openxmlformats.org/officeDocument/2006/relationships/slide" Target="/ppt/slides/slide364.xml" Id="R072dfe106bba444f" /><Relationship Type="http://schemas.openxmlformats.org/officeDocument/2006/relationships/slide" Target="/ppt/slides/slide365.xml" Id="R2d5c515296194723" /><Relationship Type="http://schemas.openxmlformats.org/officeDocument/2006/relationships/slide" Target="/ppt/slides/slide366.xml" Id="R41b45dce30dd41ca" /><Relationship Type="http://schemas.openxmlformats.org/officeDocument/2006/relationships/slide" Target="/ppt/slides/slide367.xml" Id="Rb4e6605dc7224aac" /><Relationship Type="http://schemas.openxmlformats.org/officeDocument/2006/relationships/slide" Target="/ppt/slides/slide368.xml" Id="R0900aa195b8d49f9" /><Relationship Type="http://schemas.openxmlformats.org/officeDocument/2006/relationships/slide" Target="/ppt/slides/slide369.xml" Id="Rf984e43a7a9b42d5" /><Relationship Type="http://schemas.openxmlformats.org/officeDocument/2006/relationships/slide" Target="/ppt/slides/slide370.xml" Id="Rdf502385b1ce4e4d" /><Relationship Type="http://schemas.openxmlformats.org/officeDocument/2006/relationships/slide" Target="/ppt/slides/slide371.xml" Id="R99e121c7219e4a35" /><Relationship Type="http://schemas.openxmlformats.org/officeDocument/2006/relationships/slide" Target="/ppt/slides/slide372.xml" Id="Radb05895c2dd4549" /><Relationship Type="http://schemas.openxmlformats.org/officeDocument/2006/relationships/slide" Target="/ppt/slides/slide373.xml" Id="Rbaeeff1b12054a24" /><Relationship Type="http://schemas.openxmlformats.org/officeDocument/2006/relationships/slide" Target="/ppt/slides/slide374.xml" Id="Rc33bffb6153b47c2" /><Relationship Type="http://schemas.openxmlformats.org/officeDocument/2006/relationships/slide" Target="/ppt/slides/slide375.xml" Id="R7cd58112955540df" /><Relationship Type="http://schemas.openxmlformats.org/officeDocument/2006/relationships/slide" Target="/ppt/slides/slide376.xml" Id="R7b93cf4186b54fbf" /><Relationship Type="http://schemas.openxmlformats.org/officeDocument/2006/relationships/slide" Target="/ppt/slides/slide377.xml" Id="Ra66aa8b18d8e4b73" /><Relationship Type="http://schemas.openxmlformats.org/officeDocument/2006/relationships/slide" Target="/ppt/slides/slide378.xml" Id="Ra1d8f0516ee248a9" /><Relationship Type="http://schemas.openxmlformats.org/officeDocument/2006/relationships/slide" Target="/ppt/slides/slide379.xml" Id="R20306c39b2ef4592" /><Relationship Type="http://schemas.openxmlformats.org/officeDocument/2006/relationships/slide" Target="/ppt/slides/slide380.xml" Id="R704c5111b32a4d15" /><Relationship Type="http://schemas.openxmlformats.org/officeDocument/2006/relationships/slide" Target="/ppt/slides/slide381.xml" Id="Rbe87d0aa9c7f4271" /><Relationship Type="http://schemas.openxmlformats.org/officeDocument/2006/relationships/slide" Target="/ppt/slides/slide382.xml" Id="Rd397bb03e1da4173" /><Relationship Type="http://schemas.openxmlformats.org/officeDocument/2006/relationships/slide" Target="/ppt/slides/slide383.xml" Id="R86fd7de3969f42e9" /><Relationship Type="http://schemas.openxmlformats.org/officeDocument/2006/relationships/slide" Target="/ppt/slides/slide384.xml" Id="Rf26110a926a045c8" /><Relationship Type="http://schemas.openxmlformats.org/officeDocument/2006/relationships/slide" Target="/ppt/slides/slide385.xml" Id="R8bb1032eac2f4e6d" /><Relationship Type="http://schemas.openxmlformats.org/officeDocument/2006/relationships/slide" Target="/ppt/slides/slide386.xml" Id="Rf549400897374233" /><Relationship Type="http://schemas.openxmlformats.org/officeDocument/2006/relationships/slide" Target="/ppt/slides/slide387.xml" Id="R38cb4db41269434b" /><Relationship Type="http://schemas.openxmlformats.org/officeDocument/2006/relationships/slide" Target="/ppt/slides/slide388.xml" Id="R8a3646f2498d4834" /><Relationship Type="http://schemas.openxmlformats.org/officeDocument/2006/relationships/slide" Target="/ppt/slides/slide389.xml" Id="Rffd032dd0d3346ed" /><Relationship Type="http://schemas.openxmlformats.org/officeDocument/2006/relationships/slide" Target="/ppt/slides/slide390.xml" Id="R8b6036db7fba43ea" /><Relationship Type="http://schemas.openxmlformats.org/officeDocument/2006/relationships/slide" Target="/ppt/slides/slide391.xml" Id="Rde89cefd64f84007" /><Relationship Type="http://schemas.openxmlformats.org/officeDocument/2006/relationships/slide" Target="/ppt/slides/slide392.xml" Id="Rf2848d945eda45de" /><Relationship Type="http://schemas.openxmlformats.org/officeDocument/2006/relationships/slide" Target="/ppt/slides/slide393.xml" Id="Rf4f03a6a535841d3" /><Relationship Type="http://schemas.openxmlformats.org/officeDocument/2006/relationships/slide" Target="/ppt/slides/slide394.xml" Id="R2b03eeccb93b4282" /><Relationship Type="http://schemas.openxmlformats.org/officeDocument/2006/relationships/slide" Target="/ppt/slides/slide395.xml" Id="R70c516616ba94546" /><Relationship Type="http://schemas.openxmlformats.org/officeDocument/2006/relationships/slide" Target="/ppt/slides/slide396.xml" Id="Rc4f13fc597c64b09" /><Relationship Type="http://schemas.openxmlformats.org/officeDocument/2006/relationships/slide" Target="/ppt/slides/slide397.xml" Id="R2e8cd82dd73e4e00" /><Relationship Type="http://schemas.openxmlformats.org/officeDocument/2006/relationships/slide" Target="/ppt/slides/slide398.xml" Id="R9b9ecf54b955421a" /><Relationship Type="http://schemas.openxmlformats.org/officeDocument/2006/relationships/slide" Target="/ppt/slides/slide399.xml" Id="R2815bd5b43a14634" /><Relationship Type="http://schemas.openxmlformats.org/officeDocument/2006/relationships/slide" Target="/ppt/slides/slide400.xml" Id="R47c4438d29814d6d" /><Relationship Type="http://schemas.openxmlformats.org/officeDocument/2006/relationships/slide" Target="/ppt/slides/slide401.xml" Id="Rd15f11c88c4046a0" /><Relationship Type="http://schemas.openxmlformats.org/officeDocument/2006/relationships/slide" Target="/ppt/slides/slide402.xml" Id="R1654b5113cdb4e69" /><Relationship Type="http://schemas.openxmlformats.org/officeDocument/2006/relationships/slide" Target="/ppt/slides/slide403.xml" Id="R5a5812628365430f" /><Relationship Type="http://schemas.openxmlformats.org/officeDocument/2006/relationships/slide" Target="/ppt/slides/slide404.xml" Id="Reebc6bbfb8e240b3" /><Relationship Type="http://schemas.openxmlformats.org/officeDocument/2006/relationships/slide" Target="/ppt/slides/slide405.xml" Id="Redd1a16426d24567" /><Relationship Type="http://schemas.openxmlformats.org/officeDocument/2006/relationships/slide" Target="/ppt/slides/slide406.xml" Id="R83eac51c3bb64a18" /><Relationship Type="http://schemas.openxmlformats.org/officeDocument/2006/relationships/slide" Target="/ppt/slides/slide407.xml" Id="Rb9e53a0885374948" /><Relationship Type="http://schemas.openxmlformats.org/officeDocument/2006/relationships/slide" Target="/ppt/slides/slide408.xml" Id="Rca5eb421af374b5c" /><Relationship Type="http://schemas.openxmlformats.org/officeDocument/2006/relationships/slide" Target="/ppt/slides/slide409.xml" Id="R91c87765552d42e2" /><Relationship Type="http://schemas.openxmlformats.org/officeDocument/2006/relationships/slide" Target="/ppt/slides/slide410.xml" Id="R952f351d7e4e43e9" /><Relationship Type="http://schemas.openxmlformats.org/officeDocument/2006/relationships/slide" Target="/ppt/slides/slide411.xml" Id="R4a87810574024015" /><Relationship Type="http://schemas.openxmlformats.org/officeDocument/2006/relationships/slide" Target="/ppt/slides/slide412.xml" Id="Rc984e2a00afc45c9" /><Relationship Type="http://schemas.openxmlformats.org/officeDocument/2006/relationships/slide" Target="/ppt/slides/slide413.xml" Id="R7796e7fb43404b1f" /><Relationship Type="http://schemas.openxmlformats.org/officeDocument/2006/relationships/slide" Target="/ppt/slides/slide414.xml" Id="R11fa87f1203f48e5" /><Relationship Type="http://schemas.openxmlformats.org/officeDocument/2006/relationships/slide" Target="/ppt/slides/slide415.xml" Id="R15b56df2e15e4ca3" /><Relationship Type="http://schemas.openxmlformats.org/officeDocument/2006/relationships/slide" Target="/ppt/slides/slide416.xml" Id="R3006fa84c1c14afa" /><Relationship Type="http://schemas.openxmlformats.org/officeDocument/2006/relationships/slide" Target="/ppt/slides/slide417.xml" Id="Ref54974bbc0940d5" /><Relationship Type="http://schemas.openxmlformats.org/officeDocument/2006/relationships/slide" Target="/ppt/slides/slide418.xml" Id="R19e09b641b734175" /><Relationship Type="http://schemas.openxmlformats.org/officeDocument/2006/relationships/slide" Target="/ppt/slides/slide419.xml" Id="R9e2e644951bb4fb6" /><Relationship Type="http://schemas.openxmlformats.org/officeDocument/2006/relationships/slide" Target="/ppt/slides/slide420.xml" Id="Rc63613cf803540be" /><Relationship Type="http://schemas.openxmlformats.org/officeDocument/2006/relationships/slide" Target="/ppt/slides/slide421.xml" Id="Rc8cf693cfca346d8" /><Relationship Type="http://schemas.openxmlformats.org/officeDocument/2006/relationships/slide" Target="/ppt/slides/slide422.xml" Id="R73b498558dfa440d" /><Relationship Type="http://schemas.openxmlformats.org/officeDocument/2006/relationships/slide" Target="/ppt/slides/slide423.xml" Id="R5569f8337a1e4890" /><Relationship Type="http://schemas.openxmlformats.org/officeDocument/2006/relationships/slide" Target="/ppt/slides/slide424.xml" Id="R153f92813ba94483" /><Relationship Type="http://schemas.openxmlformats.org/officeDocument/2006/relationships/slide" Target="/ppt/slides/slide425.xml" Id="Rdf4801fcf1e44466" /><Relationship Type="http://schemas.openxmlformats.org/officeDocument/2006/relationships/slide" Target="/ppt/slides/slide426.xml" Id="Reac84642516544f6" /><Relationship Type="http://schemas.openxmlformats.org/officeDocument/2006/relationships/slide" Target="/ppt/slides/slide427.xml" Id="Rc0f5933db2e6454a" /><Relationship Type="http://schemas.openxmlformats.org/officeDocument/2006/relationships/slide" Target="/ppt/slides/slide428.xml" Id="Ra05e004490354ef9" /><Relationship Type="http://schemas.openxmlformats.org/officeDocument/2006/relationships/slide" Target="/ppt/slides/slide429.xml" Id="R9d931f1ac4694dc1" /><Relationship Type="http://schemas.openxmlformats.org/officeDocument/2006/relationships/slide" Target="/ppt/slides/slide430.xml" Id="Raaee4f4e81974345" /><Relationship Type="http://schemas.openxmlformats.org/officeDocument/2006/relationships/slide" Target="/ppt/slides/slide431.xml" Id="R2e38a089c0b14ab9" /><Relationship Type="http://schemas.openxmlformats.org/officeDocument/2006/relationships/slide" Target="/ppt/slides/slide432.xml" Id="R5b22febe45c14593" /><Relationship Type="http://schemas.openxmlformats.org/officeDocument/2006/relationships/slide" Target="/ppt/slides/slide433.xml" Id="R2113d3fe73334fd6" /><Relationship Type="http://schemas.openxmlformats.org/officeDocument/2006/relationships/slide" Target="/ppt/slides/slide434.xml" Id="Rda45806e38c146da" /><Relationship Type="http://schemas.openxmlformats.org/officeDocument/2006/relationships/slide" Target="/ppt/slides/slide435.xml" Id="R74f2cae7ff114a02" /><Relationship Type="http://schemas.openxmlformats.org/officeDocument/2006/relationships/slide" Target="/ppt/slides/slide436.xml" Id="R2b1d570e115f4401" /><Relationship Type="http://schemas.openxmlformats.org/officeDocument/2006/relationships/slide" Target="/ppt/slides/slide437.xml" Id="R983c9d90af5e403f" /><Relationship Type="http://schemas.openxmlformats.org/officeDocument/2006/relationships/slide" Target="/ppt/slides/slide438.xml" Id="R76f62b05140c43fe" /><Relationship Type="http://schemas.openxmlformats.org/officeDocument/2006/relationships/slide" Target="/ppt/slides/slide439.xml" Id="Rd597eaa5fb894313" /><Relationship Type="http://schemas.openxmlformats.org/officeDocument/2006/relationships/slide" Target="/ppt/slides/slide440.xml" Id="Rb9df4290d57f41c4" /><Relationship Type="http://schemas.openxmlformats.org/officeDocument/2006/relationships/slide" Target="/ppt/slides/slide441.xml" Id="R8e3d6760b78f4fa7" /><Relationship Type="http://schemas.openxmlformats.org/officeDocument/2006/relationships/slide" Target="/ppt/slides/slide442.xml" Id="Rdbe08e7dd8b448b3" /><Relationship Type="http://schemas.openxmlformats.org/officeDocument/2006/relationships/slide" Target="/ppt/slides/slide443.xml" Id="R1d57b824951b4773" /><Relationship Type="http://schemas.openxmlformats.org/officeDocument/2006/relationships/slide" Target="/ppt/slides/slide444.xml" Id="R4b24e90a58eb4387" /><Relationship Type="http://schemas.openxmlformats.org/officeDocument/2006/relationships/slide" Target="/ppt/slides/slide445.xml" Id="Rcf105489210e4c22" /><Relationship Type="http://schemas.openxmlformats.org/officeDocument/2006/relationships/slide" Target="/ppt/slides/slide446.xml" Id="R568d03f571054643" /><Relationship Type="http://schemas.openxmlformats.org/officeDocument/2006/relationships/slide" Target="/ppt/slides/slide447.xml" Id="R33a481c57a9847fb" /><Relationship Type="http://schemas.openxmlformats.org/officeDocument/2006/relationships/slide" Target="/ppt/slides/slide448.xml" Id="R9f575e07d0dd4448" /><Relationship Type="http://schemas.openxmlformats.org/officeDocument/2006/relationships/slide" Target="/ppt/slides/slide449.xml" Id="R9c83b5fe7f434206" /><Relationship Type="http://schemas.openxmlformats.org/officeDocument/2006/relationships/slide" Target="/ppt/slides/slide450.xml" Id="Rc598850b38334578" /><Relationship Type="http://schemas.openxmlformats.org/officeDocument/2006/relationships/slide" Target="/ppt/slides/slide451.xml" Id="R40409bd9577b4973" /></Relationship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1c230b4b7154d6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562ee07bf0d434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4971ab5538c43b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6066bae0dd5496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5d1dbf12c624e8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50c3374d23643f8"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68053b28d17b4b14"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913614e704c84e87"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bd4073f813294851" /><Relationship Type="http://schemas.openxmlformats.org/officeDocument/2006/relationships/image" Target="/ppt/media/image2.png" Id="R3e3ad2d6fe1f4a4b" /><Relationship Type="http://schemas.openxmlformats.org/officeDocument/2006/relationships/image" Target="/ppt/media/image2.svg" Id="R06ea85309c2347e9" /></Relationships>
</file>

<file path=ppt/slideLayouts/slideLayout1.xml><?xml version="1.0" encoding="utf-8"?>
<p:sldLayout xmlns:p="http://schemas.openxmlformats.org/presentationml/2006/main" preserve="1" userDrawn="1">
  <p:cSld name="Kapiteltrenn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9E2D730-CFF2-4C9B-A269-A7E2C9B35CBD}"/>
              </a:ext>
            </a:extLst>
          </p:cNvPr>
          <p:cNvSpPr>
            <a:spLocks xmlns:a="http://schemas.openxmlformats.org/drawingml/2006/main" noGrp="1"/>
          </p:cNvSpPr>
          <p:nvPr>
            <p:ph type="title" idx="0"/>
          </p:nvPr>
        </p:nvSpPr>
        <p:spPr>
          <a:xfrm xmlns:a="http://schemas.openxmlformats.org/drawingml/2006/main">
            <a:off x="2063750" y="1268760"/>
            <a:ext cx="8604250" cy="1476164"/>
          </a:xfrm>
        </p:spPr>
        <p:txBody>
          <a:bodyPr xmlns:a="http://schemas.openxmlformats.org/drawingml/2006/main"/>
          <a:lstStyle xmlns:a="http://schemas.openxmlformats.org/drawingml/2006/main">
            <a:lvl1pPr>
              <a:buNone/>
              <a:defRPr sz="4400" spc="80" baseline="0"/>
            </a:lvl1pPr>
          </a:lstStyle>
          <a:p xmlns:a="http://schemas.openxmlformats.org/drawingml/2006/main">
            <a:r>
              <a:t>Mastertitelformat bearbeiten</a:t>
            </a:r>
            <a:endParaRPr/>
          </a:p>
        </p:txBody>
      </p:sp>
      <p:sp>
        <p:nvSpPr>
          <p:cNvPr id="7" name="Textplatzhalter 6">
            <a:extLst xmlns:a="http://schemas.openxmlformats.org/drawingml/2006/main">
              <a:ext uri="{FF2B5EF4-FFF2-40B4-BE49-F238E27FC236}">
                <a16:creationId xmlns:a16="http://schemas.microsoft.com/office/drawing/2014/main" id="{660CC760-EBF5-4E69-B01B-A0CE7B6B933B}"/>
              </a:ext>
            </a:extLst>
          </p:cNvPr>
          <p:cNvSpPr>
            <a:spLocks xmlns:a="http://schemas.openxmlformats.org/drawingml/2006/main" noGrp="1"/>
          </p:cNvSpPr>
          <p:nvPr>
            <p:ph type="body" idx="11"/>
          </p:nvPr>
        </p:nvSpPr>
        <p:spPr>
          <a:xfrm xmlns:a="http://schemas.openxmlformats.org/drawingml/2006/main">
            <a:off x="2063750" y="2881610"/>
            <a:ext cx="8604250" cy="1231466"/>
          </a:xfrm>
        </p:spPr>
        <p:txBody>
          <a:bodyPr xmlns:a="http://schemas.openxmlformats.org/drawingml/2006/main"/>
          <a:lstStyle xmlns:a="http://schemas.openxmlformats.org/drawingml/2006/main">
            <a:lvl1pPr marL="0" indent="0">
              <a:spcAft>
                <a:spcPts val="0"/>
              </a:spcAft>
              <a:buNone/>
              <a:defRPr sz="2400">
                <a:solidFill>
                  <a:schemeClr val="tx2"/>
                </a:solidFill>
              </a:defRPr>
            </a:lvl1pPr>
          </a:lstStyle>
          <a:p xmlns:a="http://schemas.openxmlformats.org/drawingml/2006/main">
            <a:pPr lvl="0">
              <a:buNone/>
            </a:pPr>
            <a:r>
              <a:t>Mastertextformat bearbeiten</a:t>
            </a:r>
          </a:p>
        </p:txBody>
      </p:sp>
    </p:spTree>
  </p:cSld>
</p:sldLayout>
</file>

<file path=ppt/slideLayouts/slideLayout2.xml><?xml version="1.0" encoding="utf-8"?>
<p:sldLayout xmlns:p="http://schemas.openxmlformats.org/presentationml/2006/main" preserve="1" userDrawn="1">
  <p:cSld name="Kapiteltrenner mit Bi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B739D91-541E-4ECE-BD34-FEB97169C3DD}"/>
              </a:ext>
            </a:extLst>
          </p:cNvPr>
          <p:cNvSpPr>
            <a:spLocks xmlns:a="http://schemas.openxmlformats.org/drawingml/2006/main" noGrp="1"/>
          </p:cNvSpPr>
          <p:nvPr>
            <p:ph type="title" idx="0"/>
          </p:nvPr>
        </p:nvSpPr>
        <p:spPr>
          <a:xfrm xmlns:a="http://schemas.openxmlformats.org/drawingml/2006/main">
            <a:off x="2063751" y="812824"/>
            <a:ext cx="8604250" cy="558010"/>
          </a:xfrm>
        </p:spPr>
        <p:txBody>
          <a:bodyPr xmlns:a="http://schemas.openxmlformats.org/drawingml/2006/main"/>
          <a:lstStyle xmlns:a="http://schemas.openxmlformats.org/drawingml/2006/main">
            <a:lvl1pPr>
              <a:buNone/>
              <a:defRPr sz="3400"/>
            </a:lvl1pPr>
          </a:lstStyle>
          <a:p xmlns:a="http://schemas.openxmlformats.org/drawingml/2006/main">
            <a:r>
              <a:t>Mastertitelformat bearbeiten</a:t>
            </a:r>
            <a:endParaRPr/>
          </a:p>
        </p:txBody>
      </p:sp>
      <p:sp>
        <p:nvSpPr>
          <p:cNvPr id="5" name="Bildplatzhalter 7">
            <a:extLst xmlns:a="http://schemas.openxmlformats.org/drawingml/2006/main">
              <a:ext uri="{FF2B5EF4-FFF2-40B4-BE49-F238E27FC236}">
                <a16:creationId xmlns:a16="http://schemas.microsoft.com/office/drawing/2014/main" id="{AAA3DF5A-AAAE-4747-B95D-44DDC7CBEB39}"/>
              </a:ext>
            </a:extLst>
          </p:cNvPr>
          <p:cNvSpPr>
            <a:spLocks xmlns:a="http://schemas.openxmlformats.org/drawingml/2006/main" noGrp="1"/>
          </p:cNvSpPr>
          <p:nvPr>
            <p:ph type="pic" idx="11"/>
          </p:nvPr>
        </p:nvSpPr>
        <p:spPr>
          <a:xfrm xmlns:a="http://schemas.openxmlformats.org/drawingml/2006/main">
            <a:off x="2063750" y="1484784"/>
            <a:ext cx="10128251" cy="4176464"/>
          </a:xfrm>
          <a:prstGeom xmlns:a="http://schemas.openxmlformats.org/drawingml/2006/main" prst="rect">
            <a:avLst/>
          </a:prstGeom>
          <a:solidFill xmlns:a="http://schemas.openxmlformats.org/drawingml/2006/main">
            <a:schemeClr val="bg1">
              <a:lumMod val="85000"/>
            </a:schemeClr>
          </a:solidFill>
        </p:spPr>
        <p:txBody>
          <a:bodyPr xmlns:a="http://schemas.openxmlformats.org/drawingml/2006/main" anchor="ctr"/>
          <a:lstStyle xmlns:a="http://schemas.openxmlformats.org/drawingml/2006/main">
            <a:lvl1pPr marL="0" indent="0" algn="ctr">
              <a:buNone/>
              <a:defRPr/>
            </a:lvl1pPr>
          </a:lstStyle>
          <a:p xmlns:a="http://schemas.openxmlformats.org/drawingml/2006/main">
            <a:r>
              <a:t>Bild durch Klicken auf Symbol hinzufügen</a:t>
            </a:r>
          </a:p>
        </p:txBody>
      </p:sp>
    </p:spTree>
  </p:cSld>
</p:sldLayout>
</file>

<file path=ppt/slideLayouts/slideLayout3.xml><?xml version="1.0" encoding="utf-8"?>
<p:sldLayout xmlns:p="http://schemas.openxmlformats.org/presentationml/2006/main" type="obj" preserve="1">
  <p:cSld name="Titel und Inhal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3571294-D9A9-400A-9860-ACFA5879027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sz="2400"/>
            </a:lvl1pPr>
          </a:lstStyle>
          <a:p xmlns:a="http://schemas.openxmlformats.org/drawingml/2006/main">
            <a:r>
              <a:t>Mastertitelformat bearbeiten</a:t>
            </a:r>
            <a:endParaRPr/>
          </a:p>
        </p:txBody>
      </p:sp>
      <p:sp>
        <p:nvSpPr>
          <p:cNvPr id="3" name="Content Placeholder 2">
            <a:extLst xmlns:a="http://schemas.openxmlformats.org/drawingml/2006/main">
              <a:ext uri="{FF2B5EF4-FFF2-40B4-BE49-F238E27FC236}">
                <a16:creationId xmlns:a16="http://schemas.microsoft.com/office/drawing/2014/main" id="{AA62707B-F382-4272-90DE-0EA352E18F18}"/>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endParaRPr/>
          </a:p>
        </p:txBody>
      </p:sp>
    </p:spTree>
  </p:cSld>
</p:sldLayout>
</file>

<file path=ppt/slideLayouts/slideLayout4.xml><?xml version="1.0" encoding="utf-8"?>
<p:sldLayout xmlns:p="http://schemas.openxmlformats.org/presentationml/2006/main" type="twoObj" preserve="1">
  <p:cSld name="Zwei Inhalt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9F56C0C-C261-49F3-AFF0-A006027A406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sz="2400"/>
            </a:lvl1pPr>
          </a:lstStyle>
          <a:p xmlns:a="http://schemas.openxmlformats.org/drawingml/2006/main">
            <a:r>
              <a:t>Mastertitelformat bearbeiten</a:t>
            </a:r>
            <a:endParaRPr/>
          </a:p>
        </p:txBody>
      </p:sp>
      <p:sp>
        <p:nvSpPr>
          <p:cNvPr id="3" name="Content Placeholder 2">
            <a:extLst xmlns:a="http://schemas.openxmlformats.org/drawingml/2006/main">
              <a:ext uri="{FF2B5EF4-FFF2-40B4-BE49-F238E27FC236}">
                <a16:creationId xmlns:a16="http://schemas.microsoft.com/office/drawing/2014/main" id="{52E284E7-0668-424C-801E-FE2E5F95646A}"/>
              </a:ext>
            </a:extLst>
          </p:cNvPr>
          <p:cNvSpPr>
            <a:spLocks xmlns:a="http://schemas.openxmlformats.org/drawingml/2006/main" noGrp="1"/>
          </p:cNvSpPr>
          <p:nvPr>
            <p:ph idx="1"/>
          </p:nvPr>
        </p:nvSpPr>
        <p:spPr>
          <a:xfrm xmlns:a="http://schemas.openxmlformats.org/drawingml/2006/main">
            <a:off x="2063750" y="1557338"/>
            <a:ext cx="4104000" cy="4608513"/>
          </a:xfrm>
        </p:spPr>
        <p:txBody>
          <a:bodyPr xmlns:a="http://schemas.openxmlformats.org/drawingml/2006/main"/>
          <a:lstStyle xmlns:a="http://schemas.openxmlformats.org/drawingml/2006/main"/>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endParaRPr/>
          </a:p>
        </p:txBody>
      </p:sp>
      <p:sp>
        <p:nvSpPr>
          <p:cNvPr id="4" name="Content Placeholder 3">
            <a:extLst xmlns:a="http://schemas.openxmlformats.org/drawingml/2006/main">
              <a:ext uri="{FF2B5EF4-FFF2-40B4-BE49-F238E27FC236}">
                <a16:creationId xmlns:a16="http://schemas.microsoft.com/office/drawing/2014/main" id="{58661330-5542-4253-AAE4-6DF760EE133F}"/>
              </a:ext>
            </a:extLst>
          </p:cNvPr>
          <p:cNvSpPr>
            <a:spLocks xmlns:a="http://schemas.openxmlformats.org/drawingml/2006/main" noGrp="1"/>
          </p:cNvSpPr>
          <p:nvPr>
            <p:ph idx="2"/>
          </p:nvPr>
        </p:nvSpPr>
        <p:spPr>
          <a:xfrm xmlns:a="http://schemas.openxmlformats.org/drawingml/2006/main">
            <a:off x="6564052" y="1557338"/>
            <a:ext cx="4103949" cy="4608513"/>
          </a:xfrm>
        </p:spPr>
        <p:txBody>
          <a:bodyPr xmlns:a="http://schemas.openxmlformats.org/drawingml/2006/main"/>
          <a:lstStyle xmlns:a="http://schemas.openxmlformats.org/drawingml/2006/main">
            <a:lvl1pPr>
              <a:buNone/>
              <a:defRPr spc="30" baseline="0"/>
            </a:lvl1pPr>
            <a:lvl2pPr>
              <a:buNone/>
              <a:defRPr spc="30" baseline="0"/>
            </a:lvl2pPr>
            <a:lvl3pPr>
              <a:buNone/>
              <a:defRPr spc="30" baseline="0"/>
            </a:lvl3pPr>
            <a:lvl4pPr>
              <a:buNone/>
              <a:defRPr spc="30" baseline="0"/>
            </a:lvl4pPr>
            <a:lvl5pPr>
              <a:buNone/>
              <a:defRPr spc="30" baseline="0"/>
            </a:lvl5pPr>
          </a:lstStyle>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endParaRPr/>
          </a:p>
        </p:txBody>
      </p:sp>
    </p:spTree>
  </p:cSld>
</p:sldLayout>
</file>

<file path=ppt/slideLayouts/slideLayout5.xml><?xml version="1.0" encoding="utf-8"?>
<p:sldLayout xmlns:p="http://schemas.openxmlformats.org/presentationml/2006/main" preserve="1" userDrawn="1">
  <p:cSld name="Titel, Inhalt und Bild (brei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49110ED-2551-4A2F-8941-309D075849E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sz="2400"/>
            </a:lvl1pPr>
          </a:lstStyle>
          <a:p xmlns:a="http://schemas.openxmlformats.org/drawingml/2006/main">
            <a:r>
              <a:t>Mastertitelformat bearbeiten</a:t>
            </a:r>
            <a:endParaRPr/>
          </a:p>
        </p:txBody>
      </p:sp>
      <p:sp>
        <p:nvSpPr>
          <p:cNvPr id="3" name="Content Placeholder 2">
            <a:extLst xmlns:a="http://schemas.openxmlformats.org/drawingml/2006/main">
              <a:ext uri="{FF2B5EF4-FFF2-40B4-BE49-F238E27FC236}">
                <a16:creationId xmlns:a16="http://schemas.microsoft.com/office/drawing/2014/main" id="{FF0C6B3B-77DE-47C1-9E97-3DDC348B1DA0}"/>
              </a:ext>
            </a:extLst>
          </p:cNvPr>
          <p:cNvSpPr>
            <a:spLocks xmlns:a="http://schemas.openxmlformats.org/drawingml/2006/main" noGrp="1"/>
          </p:cNvSpPr>
          <p:nvPr>
            <p:ph idx="1"/>
          </p:nvPr>
        </p:nvSpPr>
        <p:spPr>
          <a:xfrm xmlns:a="http://schemas.openxmlformats.org/drawingml/2006/main">
            <a:off x="2063750" y="1557338"/>
            <a:ext cx="4284278" cy="4608513"/>
          </a:xfrm>
        </p:spPr>
        <p:txBody>
          <a:bodyPr xmlns:a="http://schemas.openxmlformats.org/drawingml/2006/main"/>
          <a:lstStyle xmlns:a="http://schemas.openxmlformats.org/drawingml/2006/main"/>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endParaRPr/>
          </a:p>
        </p:txBody>
      </p:sp>
      <p:sp>
        <p:nvSpPr>
          <p:cNvPr id="7" name="Bildplatzhalter 7">
            <a:extLst xmlns:a="http://schemas.openxmlformats.org/drawingml/2006/main">
              <a:ext uri="{FF2B5EF4-FFF2-40B4-BE49-F238E27FC236}">
                <a16:creationId xmlns:a16="http://schemas.microsoft.com/office/drawing/2014/main" id="{5CA90898-2F68-4C13-9E2E-E02AF4DD76F4}"/>
              </a:ext>
            </a:extLst>
          </p:cNvPr>
          <p:cNvSpPr>
            <a:spLocks xmlns:a="http://schemas.openxmlformats.org/drawingml/2006/main" noGrp="1"/>
          </p:cNvSpPr>
          <p:nvPr>
            <p:ph type="pic" idx="11"/>
          </p:nvPr>
        </p:nvSpPr>
        <p:spPr>
          <a:xfrm xmlns:a="http://schemas.openxmlformats.org/drawingml/2006/main">
            <a:off x="6600057" y="1557336"/>
            <a:ext cx="5591944" cy="3707868"/>
          </a:xfrm>
          <a:prstGeom xmlns:a="http://schemas.openxmlformats.org/drawingml/2006/main" prst="rect">
            <a:avLst/>
          </a:prstGeom>
          <a:solidFill xmlns:a="http://schemas.openxmlformats.org/drawingml/2006/main">
            <a:schemeClr val="bg1">
              <a:lumMod val="85000"/>
            </a:schemeClr>
          </a:solidFill>
        </p:spPr>
        <p:txBody>
          <a:bodyPr xmlns:a="http://schemas.openxmlformats.org/drawingml/2006/main" anchor="ctr"/>
          <a:lstStyle xmlns:a="http://schemas.openxmlformats.org/drawingml/2006/main">
            <a:lvl1pPr marL="0" indent="0" algn="ctr">
              <a:buNone/>
              <a:defRPr/>
            </a:lvl1pPr>
          </a:lstStyle>
          <a:p xmlns:a="http://schemas.openxmlformats.org/drawingml/2006/main">
            <a:r>
              <a:t>Bild durch Klicken auf Symbol hinzufügen</a:t>
            </a:r>
          </a:p>
        </p:txBody>
      </p:sp>
    </p:spTree>
  </p:cSld>
</p:sldLayout>
</file>

<file path=ppt/slideLayouts/slideLayout6.xml><?xml version="1.0" encoding="utf-8"?>
<p:sldLayout xmlns:p="http://schemas.openxmlformats.org/presentationml/2006/main" preserve="1" userDrawn="1">
  <p:cSld name="Titel, Inhalt und Bild">
    <p:spTree>
      <p:nvGrpSpPr>
        <p:cNvPr id="1" name=""/>
        <p:cNvGrpSpPr/>
        <p:nvPr/>
      </p:nvGrpSpPr>
      <p:grpSpPr>
        <a:xfrm xmlns:a="http://schemas.openxmlformats.org/drawingml/2006/main"/>
      </p:grpSpPr>
      <p:sp>
        <p:nvSpPr>
          <p:cNvPr id="3" name="Content Placeholder 2">
            <a:extLst xmlns:a="http://schemas.openxmlformats.org/drawingml/2006/main">
              <a:ext uri="{FF2B5EF4-FFF2-40B4-BE49-F238E27FC236}">
                <a16:creationId xmlns:a16="http://schemas.microsoft.com/office/drawing/2014/main" id="{4AB1C26B-F343-42AA-8E00-02DFABBA9104}"/>
              </a:ext>
            </a:extLst>
          </p:cNvPr>
          <p:cNvSpPr>
            <a:spLocks xmlns:a="http://schemas.openxmlformats.org/drawingml/2006/main" noGrp="1"/>
          </p:cNvSpPr>
          <p:nvPr>
            <p:ph idx="1"/>
          </p:nvPr>
        </p:nvSpPr>
        <p:spPr>
          <a:xfrm xmlns:a="http://schemas.openxmlformats.org/drawingml/2006/main">
            <a:off x="2063750" y="1557338"/>
            <a:ext cx="5832450" cy="4608513"/>
          </a:xfrm>
        </p:spPr>
        <p:txBody>
          <a:bodyPr xmlns:a="http://schemas.openxmlformats.org/drawingml/2006/main"/>
          <a:lstStyle xmlns:a="http://schemas.openxmlformats.org/drawingml/2006/main"/>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endParaRPr/>
          </a:p>
        </p:txBody>
      </p:sp>
      <p:sp>
        <p:nvSpPr>
          <p:cNvPr id="8" name="Bildplatzhalter 7">
            <a:extLst xmlns:a="http://schemas.openxmlformats.org/drawingml/2006/main">
              <a:ext uri="{FF2B5EF4-FFF2-40B4-BE49-F238E27FC236}">
                <a16:creationId xmlns:a16="http://schemas.microsoft.com/office/drawing/2014/main" id="{8448A72F-7758-4846-BF2E-9F2F2C0FDEAA}"/>
              </a:ext>
            </a:extLst>
          </p:cNvPr>
          <p:cNvSpPr>
            <a:spLocks xmlns:a="http://schemas.openxmlformats.org/drawingml/2006/main" noGrp="1"/>
          </p:cNvSpPr>
          <p:nvPr>
            <p:ph type="pic" idx="11"/>
          </p:nvPr>
        </p:nvSpPr>
        <p:spPr>
          <a:xfrm xmlns:a="http://schemas.openxmlformats.org/drawingml/2006/main">
            <a:off x="8220236" y="0"/>
            <a:ext cx="3971764" cy="6021288"/>
          </a:xfrm>
          <a:prstGeom xmlns:a="http://schemas.openxmlformats.org/drawingml/2006/main" prst="rect">
            <a:avLst/>
          </a:prstGeom>
          <a:solidFill xmlns:a="http://schemas.openxmlformats.org/drawingml/2006/main">
            <a:schemeClr val="bg1">
              <a:lumMod val="85000"/>
            </a:schemeClr>
          </a:solidFill>
        </p:spPr>
        <p:txBody>
          <a:bodyPr xmlns:a="http://schemas.openxmlformats.org/drawingml/2006/main" anchor="ctr"/>
          <a:lstStyle xmlns:a="http://schemas.openxmlformats.org/drawingml/2006/main">
            <a:lvl1pPr marL="0" indent="0" algn="ctr">
              <a:buNone/>
              <a:defRPr/>
            </a:lvl1pPr>
          </a:lstStyle>
          <a:p xmlns:a="http://schemas.openxmlformats.org/drawingml/2006/main">
            <a:r>
              <a:t>Bild durch Klicken auf Symbol hinzufügen</a:t>
            </a:r>
          </a:p>
        </p:txBody>
      </p:sp>
      <p:sp>
        <p:nvSpPr>
          <p:cNvPr id="4" name="Titel 3">
            <a:extLst xmlns:a="http://schemas.openxmlformats.org/drawingml/2006/main">
              <a:ext uri="{FF2B5EF4-FFF2-40B4-BE49-F238E27FC236}">
                <a16:creationId xmlns:a16="http://schemas.microsoft.com/office/drawing/2014/main" id="{FBB88B8F-7465-465A-92A9-85A1AB072D62}"/>
              </a:ext>
            </a:extLst>
          </p:cNvPr>
          <p:cNvSpPr>
            <a:spLocks xmlns:a="http://schemas.openxmlformats.org/drawingml/2006/main" noGrp="1"/>
          </p:cNvSpPr>
          <p:nvPr>
            <p:ph type="title" idx="0"/>
          </p:nvPr>
        </p:nvSpPr>
        <p:spPr>
          <a:xfrm xmlns:a="http://schemas.openxmlformats.org/drawingml/2006/main">
            <a:off x="2062921" y="938374"/>
            <a:ext cx="5832450" cy="438398"/>
          </a:xfrm>
        </p:spPr>
        <p:txBody>
          <a:bodyPr xmlns:a="http://schemas.openxmlformats.org/drawingml/2006/main"/>
          <a:lstStyle xmlns:a="http://schemas.openxmlformats.org/drawingml/2006/main">
            <a:lvl1pPr>
              <a:buNone/>
              <a:defRPr sz="2400"/>
            </a:lvl1pPr>
          </a:lstStyle>
          <a:p xmlns:a="http://schemas.openxmlformats.org/drawingml/2006/main">
            <a:r>
              <a:t>Mastertitelformat bearbeiten</a:t>
            </a:r>
            <a:endParaRPr/>
          </a:p>
        </p:txBody>
      </p:sp>
    </p:spTree>
  </p:cSld>
</p:sldLayout>
</file>

<file path=ppt/slideLayouts/slideLayout7.xml><?xml version="1.0" encoding="utf-8"?>
<p:sldLayout xmlns:p="http://schemas.openxmlformats.org/presentationml/2006/main" type="titleOnly" preserve="1">
  <p:cSld name="Nur Titel">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3AFEB11-7D0A-417A-8B5C-C32B9EBB112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Mastertitelformat bearbeiten</a:t>
            </a:r>
            <a:endParaRPr/>
          </a:p>
        </p:txBody>
      </p:sp>
    </p:spTree>
  </p:cSld>
</p:sldLayout>
</file>

<file path=ppt/slideLayouts/slideLayout8.xml><?xml version="1.0" encoding="utf-8"?>
<p:sldLayout xmlns:p="http://schemas.openxmlformats.org/presentationml/2006/main" preserve="1" userDrawn="1">
  <p:cSld name="1_Nur Titel">
    <p:spTree>
      <p:nvGrpSpPr>
        <p:cNvPr id="1" name=""/>
        <p:cNvGrpSpPr/>
        <p:nvPr/>
      </p:nvGrpSpPr>
      <p:grpSpPr>
        <a:xfrm xmlns:a="http://schemas.openxmlformats.org/drawingml/2006/main"/>
      </p:grpSpPr>
      <p:sp>
        <p:nvSpPr>
          <p:cNvPr id="3" name="Rechteck 2">
            <a:extLst xmlns:a="http://schemas.openxmlformats.org/drawingml/2006/main">
              <a:ext uri="{FF2B5EF4-FFF2-40B4-BE49-F238E27FC236}">
                <a16:creationId xmlns:a16="http://schemas.microsoft.com/office/drawing/2014/main" id="{65E44762-2C54-472E-9872-5F8A3D7FF65E}"/>
              </a:ext>
            </a:extLst>
          </p:cNvPr>
          <p:cNvSpPr>
            <a:spLocks xmlns:a="http://schemas.openxmlformats.org/drawingml/2006/main" noGrp="1"/>
          </p:cNvSpPr>
          <p:nvPr/>
        </p:nvSpPr>
        <p:spPr>
          <a:xfrm xmlns:a="http://schemas.openxmlformats.org/drawingml/2006/main">
            <a:off x="1811524" y="6093296"/>
            <a:ext cx="5004556" cy="648072"/>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lnSpc>
                <a:spcPct val="110000"/>
              </a:lnSpc>
              <a:buNone/>
            </a:pPr>
            <a:endParaRPr spc="30"/>
          </a:p>
        </p:txBody>
      </p:sp>
    </p:spTree>
  </p:cSld>
</p:sldLayout>
</file>

<file path=ppt/slideLayouts/slideLayout9.xml><?xml version="1.0" encoding="utf-8"?>
<p:sldLayout xmlns:p="http://schemas.openxmlformats.org/presentationml/2006/main" userDrawn="1">
  <p:cSld name="1_Leer">
    <p:spTree>
      <p:nvGrpSpPr>
        <p:cNvPr id="1" name=""/>
        <p:cNvGrpSpPr/>
        <p:nvPr/>
      </p:nvGrpSpPr>
      <p:grpSpPr>
        <a:xfrm xmlns:a="http://schemas.openxmlformats.org/drawingml/2006/main"/>
      </p:grpSpPr>
      <p:sp>
        <p:nvSpPr>
          <p:cNvPr id="3" name="Rechteck 2">
            <a:extLst xmlns:a="http://schemas.openxmlformats.org/drawingml/2006/main">
              <a:ext uri="{FF2B5EF4-FFF2-40B4-BE49-F238E27FC236}">
                <a16:creationId xmlns:a16="http://schemas.microsoft.com/office/drawing/2014/main" id="{FD2CC9EC-FEA9-4493-B51F-559B6F224890}"/>
              </a:ext>
            </a:extLst>
          </p:cNvPr>
          <p:cNvSpPr>
            <a:spLocks xmlns:a="http://schemas.openxmlformats.org/drawingml/2006/main" noGrp="1"/>
          </p:cNvSpPr>
          <p:nvPr/>
        </p:nvSpPr>
        <p:spPr>
          <a:xfrm xmlns:a="http://schemas.openxmlformats.org/drawingml/2006/main">
            <a:off x="227348" y="6165304"/>
            <a:ext cx="756084" cy="504056"/>
          </a:xfrm>
          <a:prstGeom xmlns:a="http://schemas.openxmlformats.org/drawingml/2006/main" prst="rect">
            <a:avLst/>
          </a:prstGeom>
          <a:solidFill xmlns:a="http://schemas.openxmlformats.org/drawingml/2006/main">
            <a:srgbClr val="009BAB"/>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lnSpc>
                <a:spcPct val="110000"/>
              </a:lnSpc>
              <a:buNone/>
            </a:pPr>
            <a:endParaRPr spc="30"/>
          </a:p>
        </p:txBody>
      </p:sp>
      <p:sp>
        <p:nvSpPr>
          <p:cNvPr id="12" name="Rechteck 11">
            <a:extLst xmlns:a="http://schemas.openxmlformats.org/drawingml/2006/main">
              <a:ext uri="{FF2B5EF4-FFF2-40B4-BE49-F238E27FC236}">
                <a16:creationId xmlns:a16="http://schemas.microsoft.com/office/drawing/2014/main" id="{8475D694-E139-473E-A65A-ED39B0EADF09}"/>
              </a:ext>
            </a:extLst>
          </p:cNvPr>
          <p:cNvSpPr>
            <a:spLocks xmlns:a="http://schemas.openxmlformats.org/drawingml/2006/main" noGrp="1"/>
          </p:cNvSpPr>
          <p:nvPr/>
        </p:nvSpPr>
        <p:spPr>
          <a:xfrm xmlns:a="http://schemas.openxmlformats.org/drawingml/2006/main">
            <a:off x="0" y="1"/>
            <a:ext cx="12192000" cy="6858000"/>
          </a:xfrm>
          <a:prstGeom xmlns:a="http://schemas.openxmlformats.org/drawingml/2006/main" prst="rect">
            <a:avLst/>
          </a:prstGeom>
          <a:solidFill xmlns:a="http://schemas.openxmlformats.org/drawingml/2006/main">
            <a:srgbClr val="003F6B"/>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lnSpc>
                <a:spcPct val="110000"/>
              </a:lnSpc>
              <a:buNone/>
            </a:pPr>
            <a:endParaRPr spc="30"/>
          </a:p>
        </p:txBody>
      </p:sp>
      <p:sp>
        <p:nvSpPr>
          <p:cNvPr id="11" name="Freihandform: Form 10">
            <a:extLst xmlns:a="http://schemas.openxmlformats.org/drawingml/2006/main">
              <a:ext uri="{FF2B5EF4-FFF2-40B4-BE49-F238E27FC236}">
                <a16:creationId xmlns:a16="http://schemas.microsoft.com/office/drawing/2014/main" id="{0795CB2B-3815-4771-AFAB-2DBF3B34D291}"/>
              </a:ext>
            </a:extLst>
          </p:cNvPr>
          <p:cNvSpPr>
            <a:spLocks xmlns:a="http://schemas.openxmlformats.org/drawingml/2006/main" noGrp="1"/>
          </p:cNvSpPr>
          <p:nvPr/>
        </p:nvSpPr>
        <p:spPr>
          <a:xfrm xmlns:a="http://schemas.openxmlformats.org/drawingml/2006/main">
            <a:off x="4770534" y="2024845"/>
            <a:ext cx="7421467" cy="4833157"/>
          </a:xfrm>
          <a:custGeom xmlns:a="http://schemas.openxmlformats.org/drawingml/2006/main">
            <a:gdLst>
              <a:gd name="connsiteX0" fmla="*/ 7411942 w 7421467"/>
              <a:gd name="connsiteY0" fmla="*/ 0 h 4833157"/>
              <a:gd name="connsiteX1" fmla="*/ 7421467 w 7421467"/>
              <a:gd name="connsiteY1" fmla="*/ 241 h 4833157"/>
              <a:gd name="connsiteX2" fmla="*/ 7421467 w 7421467"/>
              <a:gd name="connsiteY2" fmla="*/ 4833157 h 4833157"/>
              <a:gd name="connsiteX3" fmla="*/ 0 w 7421467"/>
              <a:gd name="connsiteY3" fmla="*/ 4833157 h 4833157"/>
              <a:gd name="connsiteX4" fmla="*/ 110690 w 7421467"/>
              <a:gd name="connsiteY4" fmla="*/ 4588316 h 4833157"/>
              <a:gd name="connsiteX5" fmla="*/ 7411942 w 7421467"/>
              <a:gd name="connsiteY5" fmla="*/ 0 h 4833157"/>
            </a:gdLst>
            <a:rect l="l" t="t" r="r" b="b"/>
            <a:pathLst>
              <a:path w="7421467" h="4833157">
                <a:moveTo>
                  <a:pt x="7411942" y="0"/>
                </a:moveTo>
                <a:lnTo>
                  <a:pt x="7421467" y="241"/>
                </a:lnTo>
                <a:lnTo>
                  <a:pt x="7421467" y="4833157"/>
                </a:lnTo>
                <a:lnTo>
                  <a:pt x="0" y="4833157"/>
                </a:lnTo>
                <a:lnTo>
                  <a:pt x="110690" y="4588316"/>
                </a:lnTo>
                <a:cubicBezTo>
                  <a:pt x="1418845" y="1873453"/>
                  <a:pt x="4196610" y="0"/>
                  <a:pt x="7411942" y="0"/>
                </a:cubicBezTo>
                <a:close/>
              </a:path>
            </a:pathLst>
          </a:custGeom>
          <a:solidFill xmlns:a="http://schemas.openxmlformats.org/drawingml/2006/main">
            <a:srgbClr val="009BAB"/>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10000"/>
              </a:lnSpc>
              <a:buNone/>
            </a:pPr>
            <a:endParaRPr sz="1700" spc="30"/>
          </a:p>
        </p:txBody>
      </p:sp>
      <p:sp>
        <p:nvSpPr>
          <p:cNvPr id="13" name="Title 1">
            <a:extLst xmlns:a="http://schemas.openxmlformats.org/drawingml/2006/main">
              <a:ext uri="{FF2B5EF4-FFF2-40B4-BE49-F238E27FC236}">
                <a16:creationId xmlns:a16="http://schemas.microsoft.com/office/drawing/2014/main" id="{9228B1B6-1F1E-4553-B37F-768CBDE133DD}"/>
              </a:ext>
            </a:extLst>
          </p:cNvPr>
          <p:cNvSpPr>
            <a:spLocks xmlns:a="http://schemas.openxmlformats.org/drawingml/2006/main" noGrp="1"/>
          </p:cNvSpPr>
          <p:nvPr>
            <p:ph type="ctrTitle" idx="0"/>
          </p:nvPr>
        </p:nvSpPr>
        <p:spPr>
          <a:xfrm xmlns:a="http://schemas.openxmlformats.org/drawingml/2006/main">
            <a:off x="443373" y="2295098"/>
            <a:ext cx="7992888" cy="1469814"/>
          </a:xfrm>
        </p:spPr>
        <p:txBody>
          <a:bodyPr xmlns:a="http://schemas.openxmlformats.org/drawingml/2006/main" anchor="t"/>
          <a:lstStyle xmlns:a="http://schemas.openxmlformats.org/drawingml/2006/main">
            <a:lvl1pPr algn="l">
              <a:spcBef>
                <a:spcPts val="0"/>
              </a:spcBef>
              <a:spcAft>
                <a:spcPts val="0"/>
              </a:spcAft>
              <a:buNone/>
              <a:defRPr sz="4400" spc="80" baseline="0">
                <a:solidFill>
                  <a:schemeClr val="bg1"/>
                </a:solidFill>
              </a:defRPr>
            </a:lvl1pPr>
          </a:lstStyle>
          <a:p xmlns:a="http://schemas.openxmlformats.org/drawingml/2006/main">
            <a:r>
              <a:t>Mastertitelformat bearbeiten</a:t>
            </a:r>
            <a:endParaRPr/>
          </a:p>
        </p:txBody>
      </p:sp>
      <p:sp>
        <p:nvSpPr>
          <p:cNvPr id="14" name="Subtitle 2">
            <a:extLst xmlns:a="http://schemas.openxmlformats.org/drawingml/2006/main">
              <a:ext uri="{FF2B5EF4-FFF2-40B4-BE49-F238E27FC236}">
                <a16:creationId xmlns:a16="http://schemas.microsoft.com/office/drawing/2014/main" id="{6FE7CD72-973C-4CD8-849D-BA66990BDD75}"/>
              </a:ext>
            </a:extLst>
          </p:cNvPr>
          <p:cNvSpPr>
            <a:spLocks xmlns:a="http://schemas.openxmlformats.org/drawingml/2006/main" noGrp="1"/>
          </p:cNvSpPr>
          <p:nvPr>
            <p:ph type="subTitle" idx="1"/>
          </p:nvPr>
        </p:nvSpPr>
        <p:spPr>
          <a:xfrm xmlns:a="http://schemas.openxmlformats.org/drawingml/2006/main">
            <a:off x="443373" y="3915278"/>
            <a:ext cx="6433129" cy="929754"/>
          </a:xfrm>
        </p:spPr>
        <p:txBody>
          <a:bodyPr xmlns:a="http://schemas.openxmlformats.org/drawingml/2006/main"/>
          <a:lstStyle xmlns:a="http://schemas.openxmlformats.org/drawingml/2006/main">
            <a:lvl1pPr marL="0" indent="0" algn="l">
              <a:spcBef>
                <a:spcPts val="0"/>
              </a:spcBef>
              <a:spcAft>
                <a:spcPts val="0"/>
              </a:spcAft>
              <a:buNone/>
              <a:defRPr sz="2400" spc="5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Master-Untertitelformat bearbeiten</a:t>
            </a:r>
            <a:endParaRPr/>
          </a:p>
        </p:txBody>
      </p:sp>
      <p:sp>
        <p:nvSpPr>
          <p:cNvPr id="15" name="Textplatzhalter 8">
            <a:extLst xmlns:a="http://schemas.openxmlformats.org/drawingml/2006/main">
              <a:ext uri="{FF2B5EF4-FFF2-40B4-BE49-F238E27FC236}">
                <a16:creationId xmlns:a16="http://schemas.microsoft.com/office/drawing/2014/main" id="{2EC1C921-08C2-47E1-B34B-BEC790E897DA}"/>
              </a:ext>
            </a:extLst>
          </p:cNvPr>
          <p:cNvSpPr>
            <a:spLocks xmlns:a="http://schemas.openxmlformats.org/drawingml/2006/main" noGrp="1"/>
          </p:cNvSpPr>
          <p:nvPr>
            <p:ph type="body" idx="10"/>
          </p:nvPr>
        </p:nvSpPr>
        <p:spPr>
          <a:xfrm xmlns:a="http://schemas.openxmlformats.org/drawingml/2006/main">
            <a:off x="443374" y="5013177"/>
            <a:ext cx="4968550" cy="1152674"/>
          </a:xfrm>
        </p:spPr>
        <p:txBody>
          <a:bodyPr xmlns:a="http://schemas.openxmlformats.org/drawingml/2006/main"/>
          <a:lstStyle xmlns:a="http://schemas.openxmlformats.org/drawingml/2006/main">
            <a:lvl1pPr marL="0" indent="0">
              <a:spcBef>
                <a:spcPts val="0"/>
              </a:spcBef>
              <a:spcAft>
                <a:spcPts val="0"/>
              </a:spcAft>
              <a:buNone/>
              <a:defRPr>
                <a:solidFill>
                  <a:schemeClr val="bg1"/>
                </a:solidFill>
              </a:defRPr>
            </a:lvl1pPr>
          </a:lstStyle>
          <a:p xmlns:a="http://schemas.openxmlformats.org/drawingml/2006/main">
            <a:pPr lvl="0">
              <a:buNone/>
            </a:pPr>
            <a:r>
              <a:t>Mastertextformat bearbeiten</a:t>
            </a:r>
          </a:p>
        </p:txBody>
      </p:sp>
      <p:pic>
        <p:nvPicPr>
          <p:cNvPr id="24" name="Grafik 15"/>
          <p:cNvPicPr>
            <a:picLocks xmlns:a="http://schemas.openxmlformats.org/drawingml/2006/main" noChangeAspect="1"/>
          </p:cNvPicPr>
          <p:nvPr/>
        </p:nvPicPr>
        <p:blipFill>
          <a:blip xmlns:r="http://schemas.openxmlformats.org/officeDocument/2006/relationships" xmlns:a="http://schemas.openxmlformats.org/drawingml/2006/main" r:embed="R3e3ad2d6fe1f4a4b"/>
          <a:srcRect xmlns:a="http://schemas.openxmlformats.org/drawingml/2006/main" l="0" t="0" r="0" b="0"/>
          <a:stretch xmlns:a="http://schemas.openxmlformats.org/drawingml/2006/main"/>
        </p:blipFill>
        <p:spPr>
          <a:xfrm xmlns:a="http://schemas.openxmlformats.org/drawingml/2006/main">
            <a:off x="443372" y="466757"/>
            <a:ext cx="1437334" cy="1150111"/>
          </a:xfrm>
          <a:prstGeom xmlns:a="http://schemas.openxmlformats.org/drawingml/2006/main" prst="rect">
            <a:avLst/>
          </a:prstGeom>
        </p:spPr>
      </p:pic>
      <p:pic>
        <p:nvPicPr>
          <p:cNvPr id="25" name="Grafik 4"/>
          <p:cNvPicPr>
            <a:picLocks xmlns:a="http://schemas.openxmlformats.org/drawingml/2006/main" noChangeAspect="1"/>
          </p:cNvPicPr>
          <p:nvPr/>
        </p:nvPicPr>
        <p:blipFill>
          <a:blip xmlns:r="http://schemas.openxmlformats.org/officeDocument/2006/relationships" xmlns:a="http://schemas.openxmlformats.org/drawingml/2006/main" r:embed="R3e3ad2d6fe1f4a4b">
            <a:extLst>
              <a:ext uri="{96DAC541-7B7A-43D3-8B79-37D633B846F1}">
                <asvg:svgBlip xmlns:asvg="http://schemas.microsoft.com/office/drawing/2016/SVG/main" r:embed="R06ea85309c2347e9"/>
              </a:ext>
            </a:extLst>
          </a:blip>
          <a:stretch xmlns:a="http://schemas.openxmlformats.org/drawingml/2006/main">
            <a:fillRect l="0" t="0" r="0" b="0"/>
          </a:stretch>
        </p:blipFill>
        <p:spPr>
          <a:xfrm xmlns:a="http://schemas.openxmlformats.org/drawingml/2006/main">
            <a:off x="6059994" y="5661248"/>
            <a:ext cx="5688632" cy="621708"/>
          </a:xfrm>
          <a:prstGeom xmlns:a="http://schemas.openxmlformats.org/drawingml/2006/main" prst="rect">
            <a:avLst/>
          </a:prstGeom>
        </p:spPr>
      </p:pic>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160415ee42d74881" /><Relationship Type="http://schemas.openxmlformats.org/officeDocument/2006/relationships/image" Target="/ppt/media/image.svg" Id="R2162b135d52e46fe" /><Relationship Type="http://schemas.openxmlformats.org/officeDocument/2006/relationships/theme" Target="/ppt/slideMasters/theme/theme2.xml" Id="R844dddb738f64dcd" /><Relationship Type="http://schemas.openxmlformats.org/officeDocument/2006/relationships/slideLayout" Target="/ppt/slideLayouts/slideLayout1.xml" Id="Ra49abbbee5c746d7" /><Relationship Type="http://schemas.openxmlformats.org/officeDocument/2006/relationships/slideLayout" Target="/ppt/slideLayouts/slideLayout2.xml" Id="Rabb988d86cca4a02" /><Relationship Type="http://schemas.openxmlformats.org/officeDocument/2006/relationships/slideLayout" Target="/ppt/slideLayouts/slideLayout3.xml" Id="Rd9445c18b3bc4888" /><Relationship Type="http://schemas.openxmlformats.org/officeDocument/2006/relationships/slideLayout" Target="/ppt/slideLayouts/slideLayout4.xml" Id="Rcbfaf72318924545" /><Relationship Type="http://schemas.openxmlformats.org/officeDocument/2006/relationships/slideLayout" Target="/ppt/slideLayouts/slideLayout5.xml" Id="Rded09f58af224acb" /><Relationship Type="http://schemas.openxmlformats.org/officeDocument/2006/relationships/slideLayout" Target="/ppt/slideLayouts/slideLayout6.xml" Id="R7a785c35eff0412b" /><Relationship Type="http://schemas.openxmlformats.org/officeDocument/2006/relationships/slideLayout" Target="/ppt/slideLayouts/slideLayout7.xml" Id="Ra136a6da0fbc4817" /><Relationship Type="http://schemas.openxmlformats.org/officeDocument/2006/relationships/slideLayout" Target="/ppt/slideLayouts/slideLayout8.xml" Id="Rea0e038666a744d3" /><Relationship Type="http://schemas.openxmlformats.org/officeDocument/2006/relationships/slideLayout" Target="/ppt/slideLayouts/slideLayout9.xml" Id="Rf2b2d7287a9e418a"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5" name="Rechteck 4">
            <a:extLst xmlns:a="http://schemas.openxmlformats.org/drawingml/2006/main">
              <a:ext uri="{FF2B5EF4-FFF2-40B4-BE49-F238E27FC236}">
                <a16:creationId xmlns:a16="http://schemas.microsoft.com/office/drawing/2014/main" id="{C9E07F4F-6376-4EE4-AB3E-76EA17C18ECD}"/>
              </a:ext>
            </a:extLst>
          </p:cNvPr>
          <p:cNvSpPr>
            <a:spLocks xmlns:a="http://schemas.openxmlformats.org/drawingml/2006/main" noGrp="1"/>
          </p:cNvSpPr>
          <p:nvPr/>
        </p:nvSpPr>
        <p:spPr>
          <a:xfrm xmlns:a="http://schemas.openxmlformats.org/drawingml/2006/main">
            <a:off x="-1" y="0"/>
            <a:ext cx="1450975" cy="6858000"/>
          </a:xfrm>
          <a:prstGeom xmlns:a="http://schemas.openxmlformats.org/drawingml/2006/main" prst="rect">
            <a:avLst/>
          </a:prstGeom>
          <a:solidFill xmlns:a="http://schemas.openxmlformats.org/drawingml/2006/main">
            <a:schemeClr val="tx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lnSpc>
                <a:spcPct val="110000"/>
              </a:lnSpc>
              <a:buNone/>
            </a:pPr>
            <a:endParaRPr sz="1700" spc="30"/>
          </a:p>
        </p:txBody>
      </p:sp>
      <p:sp>
        <p:nvSpPr>
          <p:cNvPr id="15" name="Freihandform: Form 14">
            <a:extLst xmlns:a="http://schemas.openxmlformats.org/drawingml/2006/main">
              <a:ext uri="{FF2B5EF4-FFF2-40B4-BE49-F238E27FC236}">
                <a16:creationId xmlns:a16="http://schemas.microsoft.com/office/drawing/2014/main" id="{172AF8F0-8DAD-4538-BC1D-E3B87187CF41}"/>
              </a:ext>
            </a:extLst>
          </p:cNvPr>
          <p:cNvSpPr>
            <a:spLocks xmlns:a="http://schemas.openxmlformats.org/drawingml/2006/main" noGrp="1"/>
          </p:cNvSpPr>
          <p:nvPr/>
        </p:nvSpPr>
        <p:spPr>
          <a:xfrm xmlns:a="http://schemas.openxmlformats.org/drawingml/2006/main">
            <a:off x="0" y="2977768"/>
            <a:ext cx="1450975" cy="3880232"/>
          </a:xfrm>
          <a:custGeom xmlns:a="http://schemas.openxmlformats.org/drawingml/2006/main">
            <a:gdLst>
              <a:gd name="connsiteX0" fmla="*/ 1450975 w 1450975"/>
              <a:gd name="connsiteY0" fmla="*/ 0 h 3880232"/>
              <a:gd name="connsiteX1" fmla="*/ 1450975 w 1450975"/>
              <a:gd name="connsiteY1" fmla="*/ 3880232 h 3880232"/>
              <a:gd name="connsiteX2" fmla="*/ 0 w 1450975"/>
              <a:gd name="connsiteY2" fmla="*/ 3880232 h 3880232"/>
              <a:gd name="connsiteX3" fmla="*/ 0 w 1450975"/>
              <a:gd name="connsiteY3" fmla="*/ 982332 h 3880232"/>
              <a:gd name="connsiteX4" fmla="*/ 80748 w 1450975"/>
              <a:gd name="connsiteY4" fmla="*/ 912387 h 3880232"/>
              <a:gd name="connsiteX5" fmla="*/ 1372159 w 1450975"/>
              <a:gd name="connsiteY5" fmla="*/ 40367 h 3880232"/>
            </a:gdLst>
            <a:rect l="l" t="t" r="r" b="b"/>
            <a:pathLst>
              <a:path w="1450975" h="3880232">
                <a:moveTo>
                  <a:pt x="1450975" y="0"/>
                </a:moveTo>
                <a:lnTo>
                  <a:pt x="1450975" y="3880232"/>
                </a:lnTo>
                <a:lnTo>
                  <a:pt x="0" y="3880232"/>
                </a:lnTo>
                <a:lnTo>
                  <a:pt x="0" y="982332"/>
                </a:lnTo>
                <a:lnTo>
                  <a:pt x="80748" y="912387"/>
                </a:lnTo>
                <a:cubicBezTo>
                  <a:pt x="480793" y="582240"/>
                  <a:pt x="913073" y="289757"/>
                  <a:pt x="1372159" y="40367"/>
                </a:cubicBezTo>
                <a:close/>
              </a:path>
            </a:pathLst>
          </a:custGeom>
          <a:solidFill xmlns:a="http://schemas.openxmlformats.org/drawingml/2006/main">
            <a:srgbClr val="009BAB"/>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lnSpc>
                <a:spcPct val="110000"/>
              </a:lnSpc>
              <a:buNone/>
            </a:pPr>
            <a:endParaRPr sz="1700" spc="30"/>
          </a:p>
        </p:txBody>
      </p:sp>
      <p:sp>
        <p:nvSpPr>
          <p:cNvPr id="2" name="Title Placeholder 1">
            <a:extLst xmlns:a="http://schemas.openxmlformats.org/drawingml/2006/main">
              <a:ext uri="{FF2B5EF4-FFF2-40B4-BE49-F238E27FC236}">
                <a16:creationId xmlns:a16="http://schemas.microsoft.com/office/drawing/2014/main" id="{29EA2721-BBFD-4DEE-A37E-5FCE93F6D193}"/>
              </a:ext>
            </a:extLst>
          </p:cNvPr>
          <p:cNvSpPr>
            <a:spLocks xmlns:a="http://schemas.openxmlformats.org/drawingml/2006/main" noGrp="1"/>
          </p:cNvSpPr>
          <p:nvPr>
            <p:ph type="title" idx="0"/>
          </p:nvPr>
        </p:nvSpPr>
        <p:spPr>
          <a:xfrm xmlns:a="http://schemas.openxmlformats.org/drawingml/2006/main">
            <a:off x="2062921" y="938374"/>
            <a:ext cx="8605080" cy="438398"/>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p xmlns:a="http://schemas.openxmlformats.org/drawingml/2006/main">
            <a:r>
              <a:t>Mastertitelformat bearbeiten</a:t>
            </a:r>
            <a:endParaRPr/>
          </a:p>
        </p:txBody>
      </p:sp>
      <p:sp>
        <p:nvSpPr>
          <p:cNvPr id="3" name="Text Placeholder 2">
            <a:extLst xmlns:a="http://schemas.openxmlformats.org/drawingml/2006/main">
              <a:ext uri="{FF2B5EF4-FFF2-40B4-BE49-F238E27FC236}">
                <a16:creationId xmlns:a16="http://schemas.microsoft.com/office/drawing/2014/main" id="{E21278A7-1E72-4B93-8C7E-272D834AEF07}"/>
              </a:ext>
            </a:extLst>
          </p:cNvPr>
          <p:cNvSpPr>
            <a:spLocks xmlns:a="http://schemas.openxmlformats.org/drawingml/2006/main" noGrp="1"/>
          </p:cNvSpPr>
          <p:nvPr>
            <p:ph type="body" idx="1"/>
          </p:nvPr>
        </p:nvSpPr>
        <p:spPr>
          <a:xfrm xmlns:a="http://schemas.openxmlformats.org/drawingml/2006/main">
            <a:off x="2063750" y="1557338"/>
            <a:ext cx="8604251" cy="4608512"/>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endParaRPr/>
          </a:p>
        </p:txBody>
      </p:sp>
      <p:sp>
        <p:nvSpPr>
          <p:cNvPr id="10" name="Rechteck 9">
            <a:extLst xmlns:a="http://schemas.openxmlformats.org/drawingml/2006/main">
              <a:ext uri="{FF2B5EF4-FFF2-40B4-BE49-F238E27FC236}">
                <a16:creationId xmlns:a16="http://schemas.microsoft.com/office/drawing/2014/main" id="{5D872A42-BB1C-49BB-A53E-DC69F0F431DE}"/>
              </a:ext>
            </a:extLst>
          </p:cNvPr>
          <p:cNvSpPr>
            <a:spLocks xmlns:a="http://schemas.openxmlformats.org/drawingml/2006/main" noGrp="1"/>
          </p:cNvSpPr>
          <p:nvPr/>
        </p:nvSpPr>
        <p:spPr>
          <a:xfrm xmlns:a="http://schemas.openxmlformats.org/drawingml/2006/main">
            <a:off x="299357" y="6302177"/>
            <a:ext cx="1044116" cy="151159"/>
          </a:xfrm>
          <a:prstGeom xmlns:a="http://schemas.openxmlformats.org/drawingml/2006/main" prst="rect">
            <a:avLst/>
          </a:prstGeom>
        </p:spPr>
        <p:txBody>
          <a:bodyPr xmlns:a="http://schemas.openxmlformats.org/drawingml/2006/main" wrap="none" lIns="0" tIns="0" rIns="0" bIns="0">
            <a:noAutofit/>
          </a:bodyPr>
          <a:lstStyle xmlns:a="http://schemas.openxmlformats.org/drawingml/2006/main"/>
          <a:p xmlns:a="http://schemas.openxmlformats.org/drawingml/2006/main">
            <a:pPr>
              <a:lnSpc>
                <a:spcPts val="1200"/>
              </a:lnSpc>
              <a:buNone/>
            </a:pPr>
            <a:r>
              <a:rPr sz="900" b="1" spc="20">
                <a:solidFill>
                  <a:schemeClr val="bg1"/>
                </a:solidFill>
              </a:rPr>
              <a:t>Seite </a:t>
            </a:r>
            <a:fld id="{B68CA67E-C928-4610-8613-D29F25DDB709}" type="slidenum">
              <a:rPr sz="900" b="1" spc="20">
                <a:solidFill>
                  <a:schemeClr val="bg1"/>
                </a:solidFill>
              </a:rPr>
              <a:t>‹Nr.›</a:t>
            </a:fld>
            <a:r>
              <a:rPr sz="900" b="1" spc="20">
                <a:solidFill>
                  <a:schemeClr val="bg1"/>
                </a:solidFill>
              </a:rPr>
              <a:t> </a:t>
            </a:r>
          </a:p>
        </p:txBody>
      </p:sp>
      <p:sp>
        <p:nvSpPr>
          <p:cNvPr id="14" name="Rechteck 13">
            <a:extLst xmlns:a="http://schemas.openxmlformats.org/drawingml/2006/main">
              <a:ext uri="{FF2B5EF4-FFF2-40B4-BE49-F238E27FC236}">
                <a16:creationId xmlns:a16="http://schemas.microsoft.com/office/drawing/2014/main" id="{4ACEC744-5975-4C66-8B94-18F60448BD0F}"/>
              </a:ext>
            </a:extLst>
          </p:cNvPr>
          <p:cNvSpPr>
            <a:spLocks xmlns:a="http://schemas.openxmlformats.org/drawingml/2006/main" noGrp="1"/>
          </p:cNvSpPr>
          <p:nvPr/>
        </p:nvSpPr>
        <p:spPr>
          <a:xfrm xmlns:a="http://schemas.openxmlformats.org/drawingml/2006/main">
            <a:off x="299357" y="6459686"/>
            <a:ext cx="900411" cy="207615"/>
          </a:xfrm>
          <a:prstGeom xmlns:a="http://schemas.openxmlformats.org/drawingml/2006/main" prst="rect">
            <a:avLst/>
          </a:prstGeom>
        </p:spPr>
        <p:txBody>
          <a:bodyPr xmlns:a="http://schemas.openxmlformats.org/drawingml/2006/main" wrap="none" lIns="0" tIns="0" rIns="0" bIns="0">
            <a:noAutofit/>
          </a:bodyPr>
          <a:lstStyle xmlns:a="http://schemas.openxmlformats.org/drawingml/2006/main"/>
          <a:p xmlns:a="http://schemas.openxmlformats.org/drawingml/2006/main">
            <a:pPr>
              <a:lnSpc>
                <a:spcPts val="1200"/>
              </a:lnSpc>
              <a:buNone/>
            </a:pPr>
            <a:fld id="{D6224CB6-2811-31E8-40C9-E543863A6743}" type="datetime1">
              <a:rPr sz="900" b="0" spc="20">
                <a:solidFill>
                  <a:schemeClr val="bg1"/>
                </a:solidFill>
              </a:rPr>
              <a:t>WS 2026/27</a:t>
            </a:fld>
            <a:endParaRPr sz="900" b="0" spc="20" baseline="0">
              <a:solidFill>
                <a:schemeClr val="bg1"/>
              </a:solidFill>
            </a:endParaRPr>
          </a:p>
        </p:txBody>
      </p:sp>
      <p:pic>
        <p:nvPicPr>
          <p:cNvPr id="23" name="Grafik 15"/>
          <p:cNvPicPr>
            <a:picLocks xmlns:a="http://schemas.openxmlformats.org/drawingml/2006/main" noChangeAspect="1"/>
          </p:cNvPicPr>
          <p:nvPr/>
        </p:nvPicPr>
        <p:blipFill>
          <a:blip xmlns:r="http://schemas.openxmlformats.org/officeDocument/2006/relationships" xmlns:a="http://schemas.openxmlformats.org/drawingml/2006/main" r:embed="R160415ee42d74881">
            <a:extLst>
              <a:ext uri="{96DAC541-7B7A-43D3-8B79-37D633B846F1}">
                <asvg:svgBlip xmlns:asvg="http://schemas.microsoft.com/office/drawing/2016/SVG/main" r:embed="R2162b135d52e46fe"/>
              </a:ext>
            </a:extLst>
          </a:blip>
          <a:stretch xmlns:a="http://schemas.openxmlformats.org/drawingml/2006/main">
            <a:fillRect l="0" t="0" r="0" b="0"/>
          </a:stretch>
        </p:blipFill>
        <p:spPr>
          <a:xfrm xmlns:a="http://schemas.openxmlformats.org/drawingml/2006/main">
            <a:off x="172865" y="296652"/>
            <a:ext cx="1081073" cy="864097"/>
          </a:xfrm>
          <a:prstGeom xmlns:a="http://schemas.openxmlformats.org/drawingml/2006/main" prst="rect">
            <a:avLst/>
          </a:prstGeom>
        </p:spPr>
      </p:pic>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49abbbee5c746d7"/>
    <p:sldLayoutId xmlns:r="http://schemas.openxmlformats.org/officeDocument/2006/relationships" id="2147483650" r:id="Rabb988d86cca4a02"/>
    <p:sldLayoutId xmlns:r="http://schemas.openxmlformats.org/officeDocument/2006/relationships" id="2147483651" r:id="Rd9445c18b3bc4888"/>
    <p:sldLayoutId xmlns:r="http://schemas.openxmlformats.org/officeDocument/2006/relationships" id="2147483652" r:id="Rcbfaf72318924545"/>
    <p:sldLayoutId xmlns:r="http://schemas.openxmlformats.org/officeDocument/2006/relationships" id="2147483653" r:id="Rded09f58af224acb"/>
    <p:sldLayoutId xmlns:r="http://schemas.openxmlformats.org/officeDocument/2006/relationships" id="2147483654" r:id="R7a785c35eff0412b"/>
    <p:sldLayoutId xmlns:r="http://schemas.openxmlformats.org/officeDocument/2006/relationships" id="2147483655" r:id="Ra136a6da0fbc4817"/>
    <p:sldLayoutId xmlns:r="http://schemas.openxmlformats.org/officeDocument/2006/relationships" id="2147483656" r:id="Rea0e038666a744d3"/>
    <p:sldLayoutId xmlns:r="http://schemas.openxmlformats.org/officeDocument/2006/relationships" id="2147483657" r:id="Rf2b2d7287a9e418a"/>
  </p:sldLayoutIdLst>
  <p:hf sldNum="0" hdr="0" ftr="0" dt="0"/>
  <p:txStyles>
    <p:titleStyle>
      <a:lvl1pPr xmlns:a="http://schemas.openxmlformats.org/drawingml/2006/main" algn="l" defTabSz="914400">
        <a:lnSpc>
          <a:spcPct val="90000"/>
        </a:lnSpc>
        <a:spcBef>
          <a:spcPct val="0"/>
        </a:spcBef>
        <a:buNone/>
        <a:defRPr sz="2400" kern="1200" spc="50" baseline="0">
          <a:solidFill>
            <a:schemeClr val="tx2"/>
          </a:solidFill>
          <a:latin typeface="+mj-lt"/>
          <a:ea typeface="+mj-lt"/>
          <a:cs typeface="+mj-lt"/>
        </a:defRPr>
      </a:lvl1pPr>
    </p:titleStyle>
    <p:bodyStyle>
      <a:lvl1pPr xmlns:a="http://schemas.openxmlformats.org/drawingml/2006/main" marL="225425" indent="-225425" algn="l" defTabSz="914400">
        <a:lnSpc>
          <a:spcPct val="110000"/>
        </a:lnSpc>
        <a:spcBef>
          <a:spcPts val="0"/>
        </a:spcBef>
        <a:spcAft>
          <a:spcPts val="1800"/>
        </a:spcAft>
        <a:buFont typeface="Arial"/>
        <a:buChar char="‒"/>
        <a:defRPr sz="1800" kern="1200" spc="30" baseline="0">
          <a:solidFill>
            <a:schemeClr val="tx1"/>
          </a:solidFill>
          <a:latin typeface="+mn-lt"/>
          <a:ea typeface="+mn-lt"/>
          <a:cs typeface="+mn-lt"/>
        </a:defRPr>
      </a:lvl1pPr>
      <a:lvl2pPr xmlns:a="http://schemas.openxmlformats.org/drawingml/2006/main" marL="628650" indent="-177800" algn="l" defTabSz="914400">
        <a:lnSpc>
          <a:spcPct val="110000"/>
        </a:lnSpc>
        <a:spcBef>
          <a:spcPts val="0"/>
        </a:spcBef>
        <a:spcAft>
          <a:spcPts val="1800"/>
        </a:spcAft>
        <a:buFont typeface="Arial"/>
        <a:buChar char="‒"/>
        <a:defRPr sz="1800" kern="1200" spc="30" baseline="0">
          <a:solidFill>
            <a:schemeClr val="tx1"/>
          </a:solidFill>
          <a:latin typeface="+mn-lt"/>
          <a:ea typeface="+mn-lt"/>
          <a:cs typeface="+mn-lt"/>
        </a:defRPr>
      </a:lvl2pPr>
      <a:lvl3pPr xmlns:a="http://schemas.openxmlformats.org/drawingml/2006/main" marL="1079500" indent="-184150" algn="l" defTabSz="914400">
        <a:lnSpc>
          <a:spcPct val="110000"/>
        </a:lnSpc>
        <a:spcBef>
          <a:spcPts val="0"/>
        </a:spcBef>
        <a:spcAft>
          <a:spcPts val="1800"/>
        </a:spcAft>
        <a:buFont typeface="Arial"/>
        <a:buChar char="‒"/>
        <a:defRPr sz="1800" kern="1200" spc="30" baseline="0">
          <a:solidFill>
            <a:schemeClr val="tx1"/>
          </a:solidFill>
          <a:latin typeface="+mn-lt"/>
          <a:ea typeface="+mn-lt"/>
          <a:cs typeface="+mn-lt"/>
        </a:defRPr>
      </a:lvl3pPr>
      <a:lvl4pPr xmlns:a="http://schemas.openxmlformats.org/drawingml/2006/main" marL="1524000" indent="-177800" algn="l" defTabSz="914400">
        <a:lnSpc>
          <a:spcPct val="110000"/>
        </a:lnSpc>
        <a:spcBef>
          <a:spcPts val="0"/>
        </a:spcBef>
        <a:spcAft>
          <a:spcPts val="1800"/>
        </a:spcAft>
        <a:buFont typeface="Arial"/>
        <a:buChar char="‒"/>
        <a:defRPr sz="1800" kern="1200" spc="30" baseline="0">
          <a:solidFill>
            <a:schemeClr val="tx1"/>
          </a:solidFill>
          <a:latin typeface="+mn-lt"/>
          <a:ea typeface="+mn-lt"/>
          <a:cs typeface="+mn-lt"/>
        </a:defRPr>
      </a:lvl4pPr>
      <a:lvl5pPr xmlns:a="http://schemas.openxmlformats.org/drawingml/2006/main" marL="1974850" indent="-177800" algn="l" defTabSz="628650">
        <a:lnSpc>
          <a:spcPct val="110000"/>
        </a:lnSpc>
        <a:spcBef>
          <a:spcPts val="0"/>
        </a:spcBef>
        <a:spcAft>
          <a:spcPts val="1800"/>
        </a:spcAft>
        <a:buFont typeface="Arial"/>
        <a:buChar char="‒"/>
        <a:defRPr sz="1800" kern="1200" spc="30" baseline="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pos="1300" userDrawn="1">
          <p15:clr>
            <a:srgbClr xmlns:a="http://schemas.openxmlformats.org/drawingml/2006/main" val="F26B43"/>
          </p15:clr>
        </p15:guide>
        <p15:guide id="2" pos="6720" userDrawn="1">
          <p15:clr>
            <a:srgbClr xmlns:a="http://schemas.openxmlformats.org/drawingml/2006/main" val="F26B43"/>
          </p15:clr>
        </p15:guide>
        <p15:guide id="3" orient="horz" pos="981" userDrawn="1">
          <p15:clr>
            <a:srgbClr xmlns:a="http://schemas.openxmlformats.org/drawingml/2006/main" val="F26B43"/>
          </p15:clr>
        </p15:guide>
        <p15:guide id="4" orient="horz" pos="3884" userDrawn="1">
          <p15:clr>
            <a:srgbClr xmlns:a="http://schemas.openxmlformats.org/drawingml/2006/main" val="F26B43"/>
          </p15:clr>
        </p15:guide>
        <p15:guide id="5" pos="914" userDrawn="1">
          <p15:clr>
            <a:srgbClr xmlns:a="http://schemas.openxmlformats.org/drawingml/2006/main" val="F26B43"/>
          </p15:clr>
        </p15:guide>
      </p15:sldGuideLst>
    </p:ext>
  </p:extLst>
</p:sldMaster>
</file>

<file path=ppt/slideMasters/theme/theme2.xml><?xml version="1.0" encoding="utf-8"?>
<a:theme xmlns:a="http://schemas.openxmlformats.org/drawingml/2006/main" name="UOL">
  <a:themeElements>
    <a:clrScheme name="Benutzerdefiniert 6">
      <a:dk1>
        <a:sysClr val="windowText" lastClr="000000"/>
      </a:dk1>
      <a:lt1>
        <a:sysClr val="window" lastClr="FFFFFF"/>
      </a:lt1>
      <a:dk2>
        <a:srgbClr val="003F6B"/>
      </a:dk2>
      <a:lt2>
        <a:srgbClr val="A5A5A5"/>
      </a:lt2>
      <a:accent1>
        <a:srgbClr val="004F9F"/>
      </a:accent1>
      <a:accent2>
        <a:srgbClr val="00ABDA"/>
      </a:accent2>
      <a:accent3>
        <a:srgbClr val="5BC5F2"/>
      </a:accent3>
      <a:accent4>
        <a:srgbClr val="A1DAF8"/>
      </a:accent4>
      <a:accent5>
        <a:srgbClr val="00786B"/>
      </a:accent5>
      <a:accent6>
        <a:srgbClr val="D53D0E"/>
      </a:accent6>
      <a:hlink>
        <a:srgbClr val="000000"/>
      </a:hlink>
      <a:folHlink>
        <a:srgbClr val="00000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nutzerdefiniert 6">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9.xml" Id="R7c2af011c5c449c0"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272203b6d3344441"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8c664659b62e455f" /><Relationship Type="http://schemas.openxmlformats.org/officeDocument/2006/relationships/image" Target="/ppt/media/image3.png" Id="R82c1ae961e364303"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f82d55505f0f4e26"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3e0b5e90c2e44774"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b44d47c6c7404532"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1f39596fd5a540cd"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51aa926f24dc4a4b"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175fb97411ec4b2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a14df249842540b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5386fecf08c6438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3c66dea986f6432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3.xml" Id="R4c76b05c1da84d3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3.xml" Id="R9ead91b2cbc7481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3.xml" Id="Rcde5edb1977d484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3.xml" Id="R97b2722753f34f1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3.xml" Id="R6d677bd60b86498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3.xml" Id="R7127cf7fd0164da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3.xml" Id="Ra9eb99121c69482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3.xml" Id="R0c047c6c587148f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3.xml" Id="Rdad267f99d9a4f9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3.xml" Id="Rbf512caa8e914b3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3.xml" Id="Rc370b0c241394ff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3.xml" Id="R2c35da7f2695425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3.xml" Id="R2c077d051e8643e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3.xml" Id="R739089cb4eac4a2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3.xml" Id="R31aa121f2f2b4d7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3.xml" Id="R0a9c4d576a174cc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3.xml" Id="R713e8df994ac4c14" /></Relationships>
</file>

<file path=ppt/slides/_rels/slide30.xml.rels>&#65279;<?xml version="1.0" encoding="utf-8"?><Relationships xmlns="http://schemas.openxmlformats.org/package/2006/relationships"><Relationship Type="http://schemas.openxmlformats.org/officeDocument/2006/relationships/slideLayout" Target="/ppt/slideLayouts/slideLayout3.xml" Id="Re7de8c8e87344835" /></Relationships>
</file>

<file path=ppt/slides/_rels/slide31.xml.rels>&#65279;<?xml version="1.0" encoding="utf-8"?><Relationships xmlns="http://schemas.openxmlformats.org/package/2006/relationships"><Relationship Type="http://schemas.openxmlformats.org/officeDocument/2006/relationships/slideLayout" Target="/ppt/slideLayouts/slideLayout3.xml" Id="R312589ff7d574520" /></Relationships>
</file>

<file path=ppt/slides/_rels/slide32.xml.rels>&#65279;<?xml version="1.0" encoding="utf-8"?><Relationships xmlns="http://schemas.openxmlformats.org/package/2006/relationships"><Relationship Type="http://schemas.openxmlformats.org/officeDocument/2006/relationships/slideLayout" Target="/ppt/slideLayouts/slideLayout3.xml" Id="Rd4da578a26d8410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3.xml" Id="R46b44f1b83e64c2d" /></Relationships>
</file>

<file path=ppt/slides/_rels/slide34.xml.rels>&#65279;<?xml version="1.0" encoding="utf-8"?><Relationships xmlns="http://schemas.openxmlformats.org/package/2006/relationships"><Relationship Type="http://schemas.openxmlformats.org/officeDocument/2006/relationships/slideLayout" Target="/ppt/slideLayouts/slideLayout3.xml" Id="Rd3c79f5d1a1641cd" /></Relationships>
</file>

<file path=ppt/slides/_rels/slide35.xml.rels>&#65279;<?xml version="1.0" encoding="utf-8"?><Relationships xmlns="http://schemas.openxmlformats.org/package/2006/relationships"><Relationship Type="http://schemas.openxmlformats.org/officeDocument/2006/relationships/slideLayout" Target="/ppt/slideLayouts/slideLayout3.xml" Id="Rf3db453dccf24023" /></Relationships>
</file>

<file path=ppt/slides/_rels/slide36.xml.rels>&#65279;<?xml version="1.0" encoding="utf-8"?><Relationships xmlns="http://schemas.openxmlformats.org/package/2006/relationships"><Relationship Type="http://schemas.openxmlformats.org/officeDocument/2006/relationships/slideLayout" Target="/ppt/slideLayouts/slideLayout3.xml" Id="R8ab1f61a1dae4b43" /></Relationships>
</file>

<file path=ppt/slides/_rels/slide37.xml.rels>&#65279;<?xml version="1.0" encoding="utf-8"?><Relationships xmlns="http://schemas.openxmlformats.org/package/2006/relationships"><Relationship Type="http://schemas.openxmlformats.org/officeDocument/2006/relationships/slideLayout" Target="/ppt/slideLayouts/slideLayout3.xml" Id="Rebf3a04507eb49b8" /></Relationships>
</file>

<file path=ppt/slides/_rels/slide38.xml.rels>&#65279;<?xml version="1.0" encoding="utf-8"?><Relationships xmlns="http://schemas.openxmlformats.org/package/2006/relationships"><Relationship Type="http://schemas.openxmlformats.org/officeDocument/2006/relationships/slideLayout" Target="/ppt/slideLayouts/slideLayout3.xml" Id="Re2a610d3eff24aa3" /></Relationships>
</file>

<file path=ppt/slides/_rels/slide39.xml.rels>&#65279;<?xml version="1.0" encoding="utf-8"?><Relationships xmlns="http://schemas.openxmlformats.org/package/2006/relationships"><Relationship Type="http://schemas.openxmlformats.org/officeDocument/2006/relationships/slideLayout" Target="/ppt/slideLayouts/slideLayout3.xml" Id="R9c8122c261b04897" /></Relationships>
</file>

<file path=ppt/slides/_rels/slide40.xml.rels>&#65279;<?xml version="1.0" encoding="utf-8"?><Relationships xmlns="http://schemas.openxmlformats.org/package/2006/relationships"><Relationship Type="http://schemas.openxmlformats.org/officeDocument/2006/relationships/slideLayout" Target="/ppt/slideLayouts/slideLayout3.xml" Id="Rd28d5e419b734424" /></Relationships>
</file>

<file path=ppt/slides/_rels/slide41.xml.rels>&#65279;<?xml version="1.0" encoding="utf-8"?><Relationships xmlns="http://schemas.openxmlformats.org/package/2006/relationships"><Relationship Type="http://schemas.openxmlformats.org/officeDocument/2006/relationships/slideLayout" Target="/ppt/slideLayouts/slideLayout3.xml" Id="R26adc9df96d24195" /></Relationships>
</file>

<file path=ppt/slides/_rels/slide42.xml.rels>&#65279;<?xml version="1.0" encoding="utf-8"?><Relationships xmlns="http://schemas.openxmlformats.org/package/2006/relationships"><Relationship Type="http://schemas.openxmlformats.org/officeDocument/2006/relationships/slideLayout" Target="/ppt/slideLayouts/slideLayout3.xml" Id="R1a3afc41a85f443b" /></Relationships>
</file>

<file path=ppt/slides/_rels/slide43.xml.rels>&#65279;<?xml version="1.0" encoding="utf-8"?><Relationships xmlns="http://schemas.openxmlformats.org/package/2006/relationships"><Relationship Type="http://schemas.openxmlformats.org/officeDocument/2006/relationships/slideLayout" Target="/ppt/slideLayouts/slideLayout3.xml" Id="R8fb3c2d62f9445c6" /></Relationships>
</file>

<file path=ppt/slides/_rels/slide44.xml.rels>&#65279;<?xml version="1.0" encoding="utf-8"?><Relationships xmlns="http://schemas.openxmlformats.org/package/2006/relationships"><Relationship Type="http://schemas.openxmlformats.org/officeDocument/2006/relationships/slideLayout" Target="/ppt/slideLayouts/slideLayout3.xml" Id="R77cf4b2655e04a3a" /></Relationships>
</file>

<file path=ppt/slides/_rels/slide45.xml.rels>&#65279;<?xml version="1.0" encoding="utf-8"?><Relationships xmlns="http://schemas.openxmlformats.org/package/2006/relationships"><Relationship Type="http://schemas.openxmlformats.org/officeDocument/2006/relationships/slideLayout" Target="/ppt/slideLayouts/slideLayout3.xml" Id="R3fe08681c5d248e9" /></Relationships>
</file>

<file path=ppt/slides/_rels/slide46.xml.rels>&#65279;<?xml version="1.0" encoding="utf-8"?><Relationships xmlns="http://schemas.openxmlformats.org/package/2006/relationships"><Relationship Type="http://schemas.openxmlformats.org/officeDocument/2006/relationships/slideLayout" Target="/ppt/slideLayouts/slideLayout3.xml" Id="Rbaf41cd9f4ce4ae6" /></Relationships>
</file>

<file path=ppt/slides/_rels/slide47.xml.rels>&#65279;<?xml version="1.0" encoding="utf-8"?><Relationships xmlns="http://schemas.openxmlformats.org/package/2006/relationships"><Relationship Type="http://schemas.openxmlformats.org/officeDocument/2006/relationships/slideLayout" Target="/ppt/slideLayouts/slideLayout3.xml" Id="R0bdae08024844522" /></Relationships>
</file>

<file path=ppt/slides/_rels/slide48.xml.rels>&#65279;<?xml version="1.0" encoding="utf-8"?><Relationships xmlns="http://schemas.openxmlformats.org/package/2006/relationships"><Relationship Type="http://schemas.openxmlformats.org/officeDocument/2006/relationships/slideLayout" Target="/ppt/slideLayouts/slideLayout3.xml" Id="R9b95260530d14893" /></Relationships>
</file>

<file path=ppt/slides/_rels/slide49.xml.rels>&#65279;<?xml version="1.0" encoding="utf-8"?><Relationships xmlns="http://schemas.openxmlformats.org/package/2006/relationships"><Relationship Type="http://schemas.openxmlformats.org/officeDocument/2006/relationships/slideLayout" Target="/ppt/slideLayouts/slideLayout3.xml" Id="Rd3fda8074e7c41d3" /></Relationships>
</file>

<file path=ppt/slides/_rels/slide50.xml.rels>&#65279;<?xml version="1.0" encoding="utf-8"?><Relationships xmlns="http://schemas.openxmlformats.org/package/2006/relationships"><Relationship Type="http://schemas.openxmlformats.org/officeDocument/2006/relationships/slideLayout" Target="/ppt/slideLayouts/slideLayout3.xml" Id="R04368d5068c64e1e" /></Relationships>
</file>

<file path=ppt/slides/_rels/slide51.xml.rels>&#65279;<?xml version="1.0" encoding="utf-8"?><Relationships xmlns="http://schemas.openxmlformats.org/package/2006/relationships"><Relationship Type="http://schemas.openxmlformats.org/officeDocument/2006/relationships/slideLayout" Target="/ppt/slideLayouts/slideLayout3.xml" Id="Rba803631955f40a4" /></Relationships>
</file>

<file path=ppt/slides/_rels/slide52.xml.rels>&#65279;<?xml version="1.0" encoding="utf-8"?><Relationships xmlns="http://schemas.openxmlformats.org/package/2006/relationships"><Relationship Type="http://schemas.openxmlformats.org/officeDocument/2006/relationships/slideLayout" Target="/ppt/slideLayouts/slideLayout3.xml" Id="Rd7d1827461dc4ad9" /></Relationships>
</file>

<file path=ppt/slides/_rels/slide53.xml.rels>&#65279;<?xml version="1.0" encoding="utf-8"?><Relationships xmlns="http://schemas.openxmlformats.org/package/2006/relationships"><Relationship Type="http://schemas.openxmlformats.org/officeDocument/2006/relationships/slideLayout" Target="/ppt/slideLayouts/slideLayout3.xml" Id="Rc9fb4e5d57954768" /></Relationships>
</file>

<file path=ppt/slides/_rels/slide54.xml.rels>&#65279;<?xml version="1.0" encoding="utf-8"?><Relationships xmlns="http://schemas.openxmlformats.org/package/2006/relationships"><Relationship Type="http://schemas.openxmlformats.org/officeDocument/2006/relationships/slideLayout" Target="/ppt/slideLayouts/slideLayout3.xml" Id="R7680ae20f8d7480f" /></Relationships>
</file>

<file path=ppt/slides/_rels/slide55.xml.rels>&#65279;<?xml version="1.0" encoding="utf-8"?><Relationships xmlns="http://schemas.openxmlformats.org/package/2006/relationships"><Relationship Type="http://schemas.openxmlformats.org/officeDocument/2006/relationships/slideLayout" Target="/ppt/slideLayouts/slideLayout3.xml" Id="Rab395a4bdf3d4578" /></Relationships>
</file>

<file path=ppt/slides/_rels/slide56.xml.rels>&#65279;<?xml version="1.0" encoding="utf-8"?><Relationships xmlns="http://schemas.openxmlformats.org/package/2006/relationships"><Relationship Type="http://schemas.openxmlformats.org/officeDocument/2006/relationships/slideLayout" Target="/ppt/slideLayouts/slideLayout3.xml" Id="Rcd767f8d512443ab" /></Relationships>
</file>

<file path=ppt/slides/_rels/slide57.xml.rels>&#65279;<?xml version="1.0" encoding="utf-8"?><Relationships xmlns="http://schemas.openxmlformats.org/package/2006/relationships"><Relationship Type="http://schemas.openxmlformats.org/officeDocument/2006/relationships/slideLayout" Target="/ppt/slideLayouts/slideLayout3.xml" Id="R56827c7c61684116" /></Relationships>
</file>

<file path=ppt/slides/_rels/slide58.xml.rels>&#65279;<?xml version="1.0" encoding="utf-8"?><Relationships xmlns="http://schemas.openxmlformats.org/package/2006/relationships"><Relationship Type="http://schemas.openxmlformats.org/officeDocument/2006/relationships/slideLayout" Target="/ppt/slideLayouts/slideLayout3.xml" Id="R0478ba829caf467c" /></Relationships>
</file>

<file path=ppt/slides/_rels/slide59.xml.rels>&#65279;<?xml version="1.0" encoding="utf-8"?><Relationships xmlns="http://schemas.openxmlformats.org/package/2006/relationships"><Relationship Type="http://schemas.openxmlformats.org/officeDocument/2006/relationships/slideLayout" Target="/ppt/slideLayouts/slideLayout3.xml" Id="R1ece5c1e62b84647" /></Relationships>
</file>

<file path=ppt/slides/_rels/slide60.xml.rels>&#65279;<?xml version="1.0" encoding="utf-8"?><Relationships xmlns="http://schemas.openxmlformats.org/package/2006/relationships"><Relationship Type="http://schemas.openxmlformats.org/officeDocument/2006/relationships/slideLayout" Target="/ppt/slideLayouts/slideLayout3.xml" Id="R4e0181ccb5534b2d" /></Relationships>
</file>

<file path=ppt/slides/_rels/slide61.xml.rels>&#65279;<?xml version="1.0" encoding="utf-8"?><Relationships xmlns="http://schemas.openxmlformats.org/package/2006/relationships"><Relationship Type="http://schemas.openxmlformats.org/officeDocument/2006/relationships/slideLayout" Target="/ppt/slideLayouts/slideLayout3.xml" Id="Rf2404d591a5441f2" /></Relationships>
</file>

<file path=ppt/slides/_rels/slide62.xml.rels>&#65279;<?xml version="1.0" encoding="utf-8"?><Relationships xmlns="http://schemas.openxmlformats.org/package/2006/relationships"><Relationship Type="http://schemas.openxmlformats.org/officeDocument/2006/relationships/slideLayout" Target="/ppt/slideLayouts/slideLayout3.xml" Id="R64fa18c116184fd6" /></Relationships>
</file>

<file path=ppt/slides/_rels/slide63.xml.rels>&#65279;<?xml version="1.0" encoding="utf-8"?><Relationships xmlns="http://schemas.openxmlformats.org/package/2006/relationships"><Relationship Type="http://schemas.openxmlformats.org/officeDocument/2006/relationships/slideLayout" Target="/ppt/slideLayouts/slideLayout3.xml" Id="R560b933e8c324167" /></Relationships>
</file>

<file path=ppt/slides/_rels/slide64.xml.rels>&#65279;<?xml version="1.0" encoding="utf-8"?><Relationships xmlns="http://schemas.openxmlformats.org/package/2006/relationships"><Relationship Type="http://schemas.openxmlformats.org/officeDocument/2006/relationships/slideLayout" Target="/ppt/slideLayouts/slideLayout3.xml" Id="R0b8042d18f894527" /></Relationships>
</file>

<file path=ppt/slides/_rels/slide65.xml.rels>&#65279;<?xml version="1.0" encoding="utf-8"?><Relationships xmlns="http://schemas.openxmlformats.org/package/2006/relationships"><Relationship Type="http://schemas.openxmlformats.org/officeDocument/2006/relationships/slideLayout" Target="/ppt/slideLayouts/slideLayout3.xml" Id="Rcc5fa88513d842f8" /></Relationships>
</file>

<file path=ppt/slides/_rels/slide66.xml.rels>&#65279;<?xml version="1.0" encoding="utf-8"?><Relationships xmlns="http://schemas.openxmlformats.org/package/2006/relationships"><Relationship Type="http://schemas.openxmlformats.org/officeDocument/2006/relationships/slideLayout" Target="/ppt/slideLayouts/slideLayout3.xml" Id="R3278ec78fc3240ad" /></Relationships>
</file>

<file path=ppt/slides/_rels/slide67.xml.rels>&#65279;<?xml version="1.0" encoding="utf-8"?><Relationships xmlns="http://schemas.openxmlformats.org/package/2006/relationships"><Relationship Type="http://schemas.openxmlformats.org/officeDocument/2006/relationships/slideLayout" Target="/ppt/slideLayouts/slideLayout3.xml" Id="R520be23f1fda4bbf" /></Relationships>
</file>

<file path=ppt/slides/_rels/slide68.xml.rels>&#65279;<?xml version="1.0" encoding="utf-8"?><Relationships xmlns="http://schemas.openxmlformats.org/package/2006/relationships"><Relationship Type="http://schemas.openxmlformats.org/officeDocument/2006/relationships/slideLayout" Target="/ppt/slideLayouts/slideLayout3.xml" Id="R63e0d2f60087446e" /></Relationships>
</file>

<file path=ppt/slides/_rels/slide69.xml.rels>&#65279;<?xml version="1.0" encoding="utf-8"?><Relationships xmlns="http://schemas.openxmlformats.org/package/2006/relationships"><Relationship Type="http://schemas.openxmlformats.org/officeDocument/2006/relationships/slideLayout" Target="/ppt/slideLayouts/slideLayout3.xml" Id="R0128921d7910462a" /></Relationships>
</file>

<file path=ppt/slides/_rels/slide70.xml.rels>&#65279;<?xml version="1.0" encoding="utf-8"?><Relationships xmlns="http://schemas.openxmlformats.org/package/2006/relationships"><Relationship Type="http://schemas.openxmlformats.org/officeDocument/2006/relationships/slideLayout" Target="/ppt/slideLayouts/slideLayout3.xml" Id="R5b31c4a56123402a" /></Relationships>
</file>

<file path=ppt/slides/_rels/slide71.xml.rels>&#65279;<?xml version="1.0" encoding="utf-8"?><Relationships xmlns="http://schemas.openxmlformats.org/package/2006/relationships"><Relationship Type="http://schemas.openxmlformats.org/officeDocument/2006/relationships/slideLayout" Target="/ppt/slideLayouts/slideLayout3.xml" Id="R74e1b7f9c5a145a1" /></Relationships>
</file>

<file path=ppt/slides/_rels/slide72.xml.rels>&#65279;<?xml version="1.0" encoding="utf-8"?><Relationships xmlns="http://schemas.openxmlformats.org/package/2006/relationships"><Relationship Type="http://schemas.openxmlformats.org/officeDocument/2006/relationships/slideLayout" Target="/ppt/slideLayouts/slideLayout3.xml" Id="Rc35f3292a0024061" /></Relationships>
</file>

<file path=ppt/slides/_rels/slide73.xml.rels>&#65279;<?xml version="1.0" encoding="utf-8"?><Relationships xmlns="http://schemas.openxmlformats.org/package/2006/relationships"><Relationship Type="http://schemas.openxmlformats.org/officeDocument/2006/relationships/slideLayout" Target="/ppt/slideLayouts/slideLayout3.xml" Id="R00050f1e0a224b56" /></Relationships>
</file>

<file path=ppt/slides/_rels/slide74.xml.rels>&#65279;<?xml version="1.0" encoding="utf-8"?><Relationships xmlns="http://schemas.openxmlformats.org/package/2006/relationships"><Relationship Type="http://schemas.openxmlformats.org/officeDocument/2006/relationships/slideLayout" Target="/ppt/slideLayouts/slideLayout3.xml" Id="R8625b9889c4b4f1d" /></Relationships>
</file>

<file path=ppt/slides/_rels/slide75.xml.rels>&#65279;<?xml version="1.0" encoding="utf-8"?><Relationships xmlns="http://schemas.openxmlformats.org/package/2006/relationships"><Relationship Type="http://schemas.openxmlformats.org/officeDocument/2006/relationships/slideLayout" Target="/ppt/slideLayouts/slideLayout3.xml" Id="Rd8e181e471564267" /></Relationships>
</file>

<file path=ppt/slides/_rels/slide76.xml.rels>&#65279;<?xml version="1.0" encoding="utf-8"?><Relationships xmlns="http://schemas.openxmlformats.org/package/2006/relationships"><Relationship Type="http://schemas.openxmlformats.org/officeDocument/2006/relationships/slideLayout" Target="/ppt/slideLayouts/slideLayout3.xml" Id="Rec291b01c75f488b" /></Relationships>
</file>

<file path=ppt/slides/_rels/slide77.xml.rels>&#65279;<?xml version="1.0" encoding="utf-8"?><Relationships xmlns="http://schemas.openxmlformats.org/package/2006/relationships"><Relationship Type="http://schemas.openxmlformats.org/officeDocument/2006/relationships/slideLayout" Target="/ppt/slideLayouts/slideLayout3.xml" Id="R5bb339bcceea4e76" /></Relationships>
</file>

<file path=ppt/slides/_rels/slide78.xml.rels>&#65279;<?xml version="1.0" encoding="utf-8"?><Relationships xmlns="http://schemas.openxmlformats.org/package/2006/relationships"><Relationship Type="http://schemas.openxmlformats.org/officeDocument/2006/relationships/slideLayout" Target="/ppt/slideLayouts/slideLayout3.xml" Id="R0fddbe60bdff4430" /></Relationships>
</file>

<file path=ppt/slides/_rels/slide79.xml.rels>&#65279;<?xml version="1.0" encoding="utf-8"?><Relationships xmlns="http://schemas.openxmlformats.org/package/2006/relationships"><Relationship Type="http://schemas.openxmlformats.org/officeDocument/2006/relationships/slideLayout" Target="/ppt/slideLayouts/slideLayout3.xml" Id="R98a0e3d2231f4da1" /></Relationships>
</file>

<file path=ppt/slides/_rels/slide80.xml.rels>&#65279;<?xml version="1.0" encoding="utf-8"?><Relationships xmlns="http://schemas.openxmlformats.org/package/2006/relationships"><Relationship Type="http://schemas.openxmlformats.org/officeDocument/2006/relationships/slideLayout" Target="/ppt/slideLayouts/slideLayout3.xml" Id="R983e3eac78274613" /></Relationships>
</file>

<file path=ppt/slides/_rels/slide81.xml.rels>&#65279;<?xml version="1.0" encoding="utf-8"?><Relationships xmlns="http://schemas.openxmlformats.org/package/2006/relationships"><Relationship Type="http://schemas.openxmlformats.org/officeDocument/2006/relationships/slideLayout" Target="/ppt/slideLayouts/slideLayout3.xml" Id="Rf5d91544f39649b3" /></Relationships>
</file>

<file path=ppt/slides/_rels/slide82.xml.rels>&#65279;<?xml version="1.0" encoding="utf-8"?><Relationships xmlns="http://schemas.openxmlformats.org/package/2006/relationships"><Relationship Type="http://schemas.openxmlformats.org/officeDocument/2006/relationships/slideLayout" Target="/ppt/slideLayouts/slideLayout3.xml" Id="R7c2ece65196d49f9" /></Relationships>
</file>

<file path=ppt/slides/_rels/slide83.xml.rels>&#65279;<?xml version="1.0" encoding="utf-8"?><Relationships xmlns="http://schemas.openxmlformats.org/package/2006/relationships"><Relationship Type="http://schemas.openxmlformats.org/officeDocument/2006/relationships/slideLayout" Target="/ppt/slideLayouts/slideLayout3.xml" Id="R0d8508baa3fb4efd" /></Relationships>
</file>

<file path=ppt/slides/_rels/slide84.xml.rels>&#65279;<?xml version="1.0" encoding="utf-8"?><Relationships xmlns="http://schemas.openxmlformats.org/package/2006/relationships"><Relationship Type="http://schemas.openxmlformats.org/officeDocument/2006/relationships/slideLayout" Target="/ppt/slideLayouts/slideLayout3.xml" Id="R35e0286eb6fc4859" /></Relationships>
</file>

<file path=ppt/slides/_rels/slide85.xml.rels>&#65279;<?xml version="1.0" encoding="utf-8"?><Relationships xmlns="http://schemas.openxmlformats.org/package/2006/relationships"><Relationship Type="http://schemas.openxmlformats.org/officeDocument/2006/relationships/slideLayout" Target="/ppt/slideLayouts/slideLayout3.xml" Id="R10f4a82e4b554851" /></Relationships>
</file>

<file path=ppt/slides/_rels/slide86.xml.rels>&#65279;<?xml version="1.0" encoding="utf-8"?><Relationships xmlns="http://schemas.openxmlformats.org/package/2006/relationships"><Relationship Type="http://schemas.openxmlformats.org/officeDocument/2006/relationships/slideLayout" Target="/ppt/slideLayouts/slideLayout3.xml" Id="R7356d29e209f4e73" /></Relationships>
</file>

<file path=ppt/slides/_rels/slide87.xml.rels>&#65279;<?xml version="1.0" encoding="utf-8"?><Relationships xmlns="http://schemas.openxmlformats.org/package/2006/relationships"><Relationship Type="http://schemas.openxmlformats.org/officeDocument/2006/relationships/slideLayout" Target="/ppt/slideLayouts/slideLayout3.xml" Id="Readf2ea1eccb406a" /></Relationships>
</file>

<file path=ppt/slides/_rels/slide88.xml.rels>&#65279;<?xml version="1.0" encoding="utf-8"?><Relationships xmlns="http://schemas.openxmlformats.org/package/2006/relationships"><Relationship Type="http://schemas.openxmlformats.org/officeDocument/2006/relationships/slideLayout" Target="/ppt/slideLayouts/slideLayout3.xml" Id="R4f97fe1c02024260" /></Relationships>
</file>

<file path=ppt/slides/_rels/slide89.xml.rels>&#65279;<?xml version="1.0" encoding="utf-8"?><Relationships xmlns="http://schemas.openxmlformats.org/package/2006/relationships"><Relationship Type="http://schemas.openxmlformats.org/officeDocument/2006/relationships/slideLayout" Target="/ppt/slideLayouts/slideLayout3.xml" Id="Ra6f244b32f984892" /></Relationships>
</file>

<file path=ppt/slides/_rels/slide90.xml.rels>&#65279;<?xml version="1.0" encoding="utf-8"?><Relationships xmlns="http://schemas.openxmlformats.org/package/2006/relationships"><Relationship Type="http://schemas.openxmlformats.org/officeDocument/2006/relationships/slideLayout" Target="/ppt/slideLayouts/slideLayout3.xml" Id="Ra31c935e757a465a" /></Relationships>
</file>

<file path=ppt/slides/_rels/slide91.xml.rels>&#65279;<?xml version="1.0" encoding="utf-8"?><Relationships xmlns="http://schemas.openxmlformats.org/package/2006/relationships"><Relationship Type="http://schemas.openxmlformats.org/officeDocument/2006/relationships/slideLayout" Target="/ppt/slideLayouts/slideLayout3.xml" Id="Rcf410ed7a51748ee" /></Relationships>
</file>

<file path=ppt/slides/_rels/slide92.xml.rels>&#65279;<?xml version="1.0" encoding="utf-8"?><Relationships xmlns="http://schemas.openxmlformats.org/package/2006/relationships"><Relationship Type="http://schemas.openxmlformats.org/officeDocument/2006/relationships/slideLayout" Target="/ppt/slideLayouts/slideLayout3.xml" Id="R9209ff71fb094e6b" /></Relationships>
</file>

<file path=ppt/slides/_rels/slide93.xml.rels>&#65279;<?xml version="1.0" encoding="utf-8"?><Relationships xmlns="http://schemas.openxmlformats.org/package/2006/relationships"><Relationship Type="http://schemas.openxmlformats.org/officeDocument/2006/relationships/slideLayout" Target="/ppt/slideLayouts/slideLayout3.xml" Id="R9c87ea7f2be04f4e" /></Relationships>
</file>

<file path=ppt/slides/_rels/slide94.xml.rels>&#65279;<?xml version="1.0" encoding="utf-8"?><Relationships xmlns="http://schemas.openxmlformats.org/package/2006/relationships"><Relationship Type="http://schemas.openxmlformats.org/officeDocument/2006/relationships/slideLayout" Target="/ppt/slideLayouts/slideLayout3.xml" Id="R13fa5b886f304f50" /></Relationships>
</file>

<file path=ppt/slides/_rels/slide95.xml.rels>&#65279;<?xml version="1.0" encoding="utf-8"?><Relationships xmlns="http://schemas.openxmlformats.org/package/2006/relationships"><Relationship Type="http://schemas.openxmlformats.org/officeDocument/2006/relationships/slideLayout" Target="/ppt/slideLayouts/slideLayout3.xml" Id="R31b9e0a7d71245b9" /></Relationships>
</file>

<file path=ppt/slides/_rels/slide96.xml.rels>&#65279;<?xml version="1.0" encoding="utf-8"?><Relationships xmlns="http://schemas.openxmlformats.org/package/2006/relationships"><Relationship Type="http://schemas.openxmlformats.org/officeDocument/2006/relationships/slideLayout" Target="/ppt/slideLayouts/slideLayout3.xml" Id="R099bdd524dc743b9" /></Relationships>
</file>

<file path=ppt/slides/_rels/slide97.xml.rels>&#65279;<?xml version="1.0" encoding="utf-8"?><Relationships xmlns="http://schemas.openxmlformats.org/package/2006/relationships"><Relationship Type="http://schemas.openxmlformats.org/officeDocument/2006/relationships/slideLayout" Target="/ppt/slideLayouts/slideLayout3.xml" Id="R222ecae108d74277" /></Relationships>
</file>

<file path=ppt/slides/_rels/slide98.xml.rels>&#65279;<?xml version="1.0" encoding="utf-8"?><Relationships xmlns="http://schemas.openxmlformats.org/package/2006/relationships"><Relationship Type="http://schemas.openxmlformats.org/officeDocument/2006/relationships/slideLayout" Target="/ppt/slideLayouts/slideLayout3.xml" Id="Rfb58fe87ee2b4f7c" /></Relationships>
</file>

<file path=ppt/slides/_rels/slide99.xml.rels>&#65279;<?xml version="1.0" encoding="utf-8"?><Relationships xmlns="http://schemas.openxmlformats.org/package/2006/relationships"><Relationship Type="http://schemas.openxmlformats.org/officeDocument/2006/relationships/slideLayout" Target="/ppt/slideLayouts/slideLayout3.xml" Id="Rb5a5fa417d5e4ba9" /></Relationships>
</file>

<file path=ppt/slides/_rels/slide100.xml.rels>&#65279;<?xml version="1.0" encoding="utf-8"?><Relationships xmlns="http://schemas.openxmlformats.org/package/2006/relationships"><Relationship Type="http://schemas.openxmlformats.org/officeDocument/2006/relationships/slideLayout" Target="/ppt/slideLayouts/slideLayout3.xml" Id="Ra05ec8a2f72d473e" /></Relationships>
</file>

<file path=ppt/slides/_rels/slide101.xml.rels>&#65279;<?xml version="1.0" encoding="utf-8"?><Relationships xmlns="http://schemas.openxmlformats.org/package/2006/relationships"><Relationship Type="http://schemas.openxmlformats.org/officeDocument/2006/relationships/slideLayout" Target="/ppt/slideLayouts/slideLayout3.xml" Id="R2d68d845d9cb4936" /></Relationships>
</file>

<file path=ppt/slides/_rels/slide102.xml.rels>&#65279;<?xml version="1.0" encoding="utf-8"?><Relationships xmlns="http://schemas.openxmlformats.org/package/2006/relationships"><Relationship Type="http://schemas.openxmlformats.org/officeDocument/2006/relationships/slideLayout" Target="/ppt/slideLayouts/slideLayout3.xml" Id="R27aaa92d3b114434" /></Relationships>
</file>

<file path=ppt/slides/_rels/slide103.xml.rels>&#65279;<?xml version="1.0" encoding="utf-8"?><Relationships xmlns="http://schemas.openxmlformats.org/package/2006/relationships"><Relationship Type="http://schemas.openxmlformats.org/officeDocument/2006/relationships/slideLayout" Target="/ppt/slideLayouts/slideLayout3.xml" Id="R81d1181a896f4cee" /></Relationships>
</file>

<file path=ppt/slides/_rels/slide104.xml.rels>&#65279;<?xml version="1.0" encoding="utf-8"?><Relationships xmlns="http://schemas.openxmlformats.org/package/2006/relationships"><Relationship Type="http://schemas.openxmlformats.org/officeDocument/2006/relationships/slideLayout" Target="/ppt/slideLayouts/slideLayout3.xml" Id="R0ef356b022814348" /></Relationships>
</file>

<file path=ppt/slides/_rels/slide105.xml.rels>&#65279;<?xml version="1.0" encoding="utf-8"?><Relationships xmlns="http://schemas.openxmlformats.org/package/2006/relationships"><Relationship Type="http://schemas.openxmlformats.org/officeDocument/2006/relationships/slideLayout" Target="/ppt/slideLayouts/slideLayout3.xml" Id="Rf86b5e1d53344f40" /></Relationships>
</file>

<file path=ppt/slides/_rels/slide106.xml.rels>&#65279;<?xml version="1.0" encoding="utf-8"?><Relationships xmlns="http://schemas.openxmlformats.org/package/2006/relationships"><Relationship Type="http://schemas.openxmlformats.org/officeDocument/2006/relationships/slideLayout" Target="/ppt/slideLayouts/slideLayout3.xml" Id="R641f8be11b9b4f3d" /></Relationships>
</file>

<file path=ppt/slides/_rels/slide107.xml.rels>&#65279;<?xml version="1.0" encoding="utf-8"?><Relationships xmlns="http://schemas.openxmlformats.org/package/2006/relationships"><Relationship Type="http://schemas.openxmlformats.org/officeDocument/2006/relationships/slideLayout" Target="/ppt/slideLayouts/slideLayout3.xml" Id="Rd1c30e891b1444a9" /></Relationships>
</file>

<file path=ppt/slides/_rels/slide108.xml.rels>&#65279;<?xml version="1.0" encoding="utf-8"?><Relationships xmlns="http://schemas.openxmlformats.org/package/2006/relationships"><Relationship Type="http://schemas.openxmlformats.org/officeDocument/2006/relationships/slideLayout" Target="/ppt/slideLayouts/slideLayout3.xml" Id="R65630ca2edf04597" /></Relationships>
</file>

<file path=ppt/slides/_rels/slide109.xml.rels>&#65279;<?xml version="1.0" encoding="utf-8"?><Relationships xmlns="http://schemas.openxmlformats.org/package/2006/relationships"><Relationship Type="http://schemas.openxmlformats.org/officeDocument/2006/relationships/slideLayout" Target="/ppt/slideLayouts/slideLayout3.xml" Id="Rdf2e58330af34c2f" /></Relationships>
</file>

<file path=ppt/slides/_rels/slide110.xml.rels>&#65279;<?xml version="1.0" encoding="utf-8"?><Relationships xmlns="http://schemas.openxmlformats.org/package/2006/relationships"><Relationship Type="http://schemas.openxmlformats.org/officeDocument/2006/relationships/slideLayout" Target="/ppt/slideLayouts/slideLayout3.xml" Id="Rc290b3c4eef74d5f" /></Relationships>
</file>

<file path=ppt/slides/_rels/slide111.xml.rels>&#65279;<?xml version="1.0" encoding="utf-8"?><Relationships xmlns="http://schemas.openxmlformats.org/package/2006/relationships"><Relationship Type="http://schemas.openxmlformats.org/officeDocument/2006/relationships/slideLayout" Target="/ppt/slideLayouts/slideLayout3.xml" Id="R1b607d02ee474d5a" /></Relationships>
</file>

<file path=ppt/slides/_rels/slide112.xml.rels>&#65279;<?xml version="1.0" encoding="utf-8"?><Relationships xmlns="http://schemas.openxmlformats.org/package/2006/relationships"><Relationship Type="http://schemas.openxmlformats.org/officeDocument/2006/relationships/slideLayout" Target="/ppt/slideLayouts/slideLayout3.xml" Id="Rf7d9b2bf56b04fbb" /></Relationships>
</file>

<file path=ppt/slides/_rels/slide113.xml.rels>&#65279;<?xml version="1.0" encoding="utf-8"?><Relationships xmlns="http://schemas.openxmlformats.org/package/2006/relationships"><Relationship Type="http://schemas.openxmlformats.org/officeDocument/2006/relationships/slideLayout" Target="/ppt/slideLayouts/slideLayout3.xml" Id="R118ed3665f894994" /></Relationships>
</file>

<file path=ppt/slides/_rels/slide114.xml.rels>&#65279;<?xml version="1.0" encoding="utf-8"?><Relationships xmlns="http://schemas.openxmlformats.org/package/2006/relationships"><Relationship Type="http://schemas.openxmlformats.org/officeDocument/2006/relationships/slideLayout" Target="/ppt/slideLayouts/slideLayout3.xml" Id="R548ca82abedf4f73" /></Relationships>
</file>

<file path=ppt/slides/_rels/slide115.xml.rels>&#65279;<?xml version="1.0" encoding="utf-8"?><Relationships xmlns="http://schemas.openxmlformats.org/package/2006/relationships"><Relationship Type="http://schemas.openxmlformats.org/officeDocument/2006/relationships/slideLayout" Target="/ppt/slideLayouts/slideLayout3.xml" Id="R69788773567a42ae" /></Relationships>
</file>

<file path=ppt/slides/_rels/slide116.xml.rels>&#65279;<?xml version="1.0" encoding="utf-8"?><Relationships xmlns="http://schemas.openxmlformats.org/package/2006/relationships"><Relationship Type="http://schemas.openxmlformats.org/officeDocument/2006/relationships/slideLayout" Target="/ppt/slideLayouts/slideLayout3.xml" Id="R861bed91072645e4" /></Relationships>
</file>

<file path=ppt/slides/_rels/slide117.xml.rels>&#65279;<?xml version="1.0" encoding="utf-8"?><Relationships xmlns="http://schemas.openxmlformats.org/package/2006/relationships"><Relationship Type="http://schemas.openxmlformats.org/officeDocument/2006/relationships/slideLayout" Target="/ppt/slideLayouts/slideLayout3.xml" Id="R017f036833f74bd3" /></Relationships>
</file>

<file path=ppt/slides/_rels/slide118.xml.rels>&#65279;<?xml version="1.0" encoding="utf-8"?><Relationships xmlns="http://schemas.openxmlformats.org/package/2006/relationships"><Relationship Type="http://schemas.openxmlformats.org/officeDocument/2006/relationships/slideLayout" Target="/ppt/slideLayouts/slideLayout3.xml" Id="Rf3bba98b7c3c48f0" /></Relationships>
</file>

<file path=ppt/slides/_rels/slide119.xml.rels>&#65279;<?xml version="1.0" encoding="utf-8"?><Relationships xmlns="http://schemas.openxmlformats.org/package/2006/relationships"><Relationship Type="http://schemas.openxmlformats.org/officeDocument/2006/relationships/slideLayout" Target="/ppt/slideLayouts/slideLayout3.xml" Id="R35662ce26e164fa6" /></Relationships>
</file>

<file path=ppt/slides/_rels/slide120.xml.rels>&#65279;<?xml version="1.0" encoding="utf-8"?><Relationships xmlns="http://schemas.openxmlformats.org/package/2006/relationships"><Relationship Type="http://schemas.openxmlformats.org/officeDocument/2006/relationships/slideLayout" Target="/ppt/slideLayouts/slideLayout3.xml" Id="Rd48b4eb9f1794d21" /></Relationships>
</file>

<file path=ppt/slides/_rels/slide121.xml.rels>&#65279;<?xml version="1.0" encoding="utf-8"?><Relationships xmlns="http://schemas.openxmlformats.org/package/2006/relationships"><Relationship Type="http://schemas.openxmlformats.org/officeDocument/2006/relationships/slideLayout" Target="/ppt/slideLayouts/slideLayout3.xml" Id="Rf50f7ddfbbdf4c79" /></Relationships>
</file>

<file path=ppt/slides/_rels/slide122.xml.rels>&#65279;<?xml version="1.0" encoding="utf-8"?><Relationships xmlns="http://schemas.openxmlformats.org/package/2006/relationships"><Relationship Type="http://schemas.openxmlformats.org/officeDocument/2006/relationships/slideLayout" Target="/ppt/slideLayouts/slideLayout3.xml" Id="Red04facfff1841bc" /></Relationships>
</file>

<file path=ppt/slides/_rels/slide123.xml.rels>&#65279;<?xml version="1.0" encoding="utf-8"?><Relationships xmlns="http://schemas.openxmlformats.org/package/2006/relationships"><Relationship Type="http://schemas.openxmlformats.org/officeDocument/2006/relationships/slideLayout" Target="/ppt/slideLayouts/slideLayout3.xml" Id="Rb46f6179f7ec4d7d" /></Relationships>
</file>

<file path=ppt/slides/_rels/slide124.xml.rels>&#65279;<?xml version="1.0" encoding="utf-8"?><Relationships xmlns="http://schemas.openxmlformats.org/package/2006/relationships"><Relationship Type="http://schemas.openxmlformats.org/officeDocument/2006/relationships/slideLayout" Target="/ppt/slideLayouts/slideLayout3.xml" Id="R3d6f0be55447482d" /></Relationships>
</file>

<file path=ppt/slides/_rels/slide125.xml.rels>&#65279;<?xml version="1.0" encoding="utf-8"?><Relationships xmlns="http://schemas.openxmlformats.org/package/2006/relationships"><Relationship Type="http://schemas.openxmlformats.org/officeDocument/2006/relationships/slideLayout" Target="/ppt/slideLayouts/slideLayout3.xml" Id="R39b3968bc46e42f5" /></Relationships>
</file>

<file path=ppt/slides/_rels/slide126.xml.rels>&#65279;<?xml version="1.0" encoding="utf-8"?><Relationships xmlns="http://schemas.openxmlformats.org/package/2006/relationships"><Relationship Type="http://schemas.openxmlformats.org/officeDocument/2006/relationships/slideLayout" Target="/ppt/slideLayouts/slideLayout3.xml" Id="Rfc6a220703864a1c" /></Relationships>
</file>

<file path=ppt/slides/_rels/slide127.xml.rels>&#65279;<?xml version="1.0" encoding="utf-8"?><Relationships xmlns="http://schemas.openxmlformats.org/package/2006/relationships"><Relationship Type="http://schemas.openxmlformats.org/officeDocument/2006/relationships/slideLayout" Target="/ppt/slideLayouts/slideLayout3.xml" Id="Rf0838a9aec4e4df6" /></Relationships>
</file>

<file path=ppt/slides/_rels/slide128.xml.rels>&#65279;<?xml version="1.0" encoding="utf-8"?><Relationships xmlns="http://schemas.openxmlformats.org/package/2006/relationships"><Relationship Type="http://schemas.openxmlformats.org/officeDocument/2006/relationships/slideLayout" Target="/ppt/slideLayouts/slideLayout3.xml" Id="Rb062bf3879a24290" /></Relationships>
</file>

<file path=ppt/slides/_rels/slide129.xml.rels>&#65279;<?xml version="1.0" encoding="utf-8"?><Relationships xmlns="http://schemas.openxmlformats.org/package/2006/relationships"><Relationship Type="http://schemas.openxmlformats.org/officeDocument/2006/relationships/slideLayout" Target="/ppt/slideLayouts/slideLayout3.xml" Id="Rc1209505cc214be8" /></Relationships>
</file>

<file path=ppt/slides/_rels/slide130.xml.rels>&#65279;<?xml version="1.0" encoding="utf-8"?><Relationships xmlns="http://schemas.openxmlformats.org/package/2006/relationships"><Relationship Type="http://schemas.openxmlformats.org/officeDocument/2006/relationships/slideLayout" Target="/ppt/slideLayouts/slideLayout3.xml" Id="R4fded4770b8d4afd" /></Relationships>
</file>

<file path=ppt/slides/_rels/slide131.xml.rels>&#65279;<?xml version="1.0" encoding="utf-8"?><Relationships xmlns="http://schemas.openxmlformats.org/package/2006/relationships"><Relationship Type="http://schemas.openxmlformats.org/officeDocument/2006/relationships/slideLayout" Target="/ppt/slideLayouts/slideLayout3.xml" Id="R634a9f0ddffe4f0a" /></Relationships>
</file>

<file path=ppt/slides/_rels/slide132.xml.rels>&#65279;<?xml version="1.0" encoding="utf-8"?><Relationships xmlns="http://schemas.openxmlformats.org/package/2006/relationships"><Relationship Type="http://schemas.openxmlformats.org/officeDocument/2006/relationships/slideLayout" Target="/ppt/slideLayouts/slideLayout3.xml" Id="Rb6219cc989ba4344" /></Relationships>
</file>

<file path=ppt/slides/_rels/slide133.xml.rels>&#65279;<?xml version="1.0" encoding="utf-8"?><Relationships xmlns="http://schemas.openxmlformats.org/package/2006/relationships"><Relationship Type="http://schemas.openxmlformats.org/officeDocument/2006/relationships/slideLayout" Target="/ppt/slideLayouts/slideLayout3.xml" Id="Re1b527c7d82342ff" /></Relationships>
</file>

<file path=ppt/slides/_rels/slide134.xml.rels>&#65279;<?xml version="1.0" encoding="utf-8"?><Relationships xmlns="http://schemas.openxmlformats.org/package/2006/relationships"><Relationship Type="http://schemas.openxmlformats.org/officeDocument/2006/relationships/slideLayout" Target="/ppt/slideLayouts/slideLayout3.xml" Id="R0b7673ddadcf48b2" /></Relationships>
</file>

<file path=ppt/slides/_rels/slide135.xml.rels>&#65279;<?xml version="1.0" encoding="utf-8"?><Relationships xmlns="http://schemas.openxmlformats.org/package/2006/relationships"><Relationship Type="http://schemas.openxmlformats.org/officeDocument/2006/relationships/slideLayout" Target="/ppt/slideLayouts/slideLayout3.xml" Id="R7161187a97e2434a" /></Relationships>
</file>

<file path=ppt/slides/_rels/slide136.xml.rels>&#65279;<?xml version="1.0" encoding="utf-8"?><Relationships xmlns="http://schemas.openxmlformats.org/package/2006/relationships"><Relationship Type="http://schemas.openxmlformats.org/officeDocument/2006/relationships/slideLayout" Target="/ppt/slideLayouts/slideLayout3.xml" Id="R78ac44ca332a4554" /></Relationships>
</file>

<file path=ppt/slides/_rels/slide137.xml.rels>&#65279;<?xml version="1.0" encoding="utf-8"?><Relationships xmlns="http://schemas.openxmlformats.org/package/2006/relationships"><Relationship Type="http://schemas.openxmlformats.org/officeDocument/2006/relationships/slideLayout" Target="/ppt/slideLayouts/slideLayout3.xml" Id="R0caf2c57387d42c7" /></Relationships>
</file>

<file path=ppt/slides/_rels/slide138.xml.rels>&#65279;<?xml version="1.0" encoding="utf-8"?><Relationships xmlns="http://schemas.openxmlformats.org/package/2006/relationships"><Relationship Type="http://schemas.openxmlformats.org/officeDocument/2006/relationships/slideLayout" Target="/ppt/slideLayouts/slideLayout3.xml" Id="R68e833cef7354ccc" /></Relationships>
</file>

<file path=ppt/slides/_rels/slide139.xml.rels>&#65279;<?xml version="1.0" encoding="utf-8"?><Relationships xmlns="http://schemas.openxmlformats.org/package/2006/relationships"><Relationship Type="http://schemas.openxmlformats.org/officeDocument/2006/relationships/slideLayout" Target="/ppt/slideLayouts/slideLayout3.xml" Id="R08d19e0005c14e59" /></Relationships>
</file>

<file path=ppt/slides/_rels/slide140.xml.rels>&#65279;<?xml version="1.0" encoding="utf-8"?><Relationships xmlns="http://schemas.openxmlformats.org/package/2006/relationships"><Relationship Type="http://schemas.openxmlformats.org/officeDocument/2006/relationships/slideLayout" Target="/ppt/slideLayouts/slideLayout3.xml" Id="Rbc54c79cae3f42de" /></Relationships>
</file>

<file path=ppt/slides/_rels/slide141.xml.rels>&#65279;<?xml version="1.0" encoding="utf-8"?><Relationships xmlns="http://schemas.openxmlformats.org/package/2006/relationships"><Relationship Type="http://schemas.openxmlformats.org/officeDocument/2006/relationships/slideLayout" Target="/ppt/slideLayouts/slideLayout3.xml" Id="R00a768e61ce14847" /></Relationships>
</file>

<file path=ppt/slides/_rels/slide142.xml.rels>&#65279;<?xml version="1.0" encoding="utf-8"?><Relationships xmlns="http://schemas.openxmlformats.org/package/2006/relationships"><Relationship Type="http://schemas.openxmlformats.org/officeDocument/2006/relationships/slideLayout" Target="/ppt/slideLayouts/slideLayout3.xml" Id="Rcd085c3fa34542d1" /></Relationships>
</file>

<file path=ppt/slides/_rels/slide143.xml.rels>&#65279;<?xml version="1.0" encoding="utf-8"?><Relationships xmlns="http://schemas.openxmlformats.org/package/2006/relationships"><Relationship Type="http://schemas.openxmlformats.org/officeDocument/2006/relationships/slideLayout" Target="/ppt/slideLayouts/slideLayout3.xml" Id="Reaf044c845ec4b96" /></Relationships>
</file>

<file path=ppt/slides/_rels/slide144.xml.rels>&#65279;<?xml version="1.0" encoding="utf-8"?><Relationships xmlns="http://schemas.openxmlformats.org/package/2006/relationships"><Relationship Type="http://schemas.openxmlformats.org/officeDocument/2006/relationships/slideLayout" Target="/ppt/slideLayouts/slideLayout3.xml" Id="Rc3bc3e0d9f58495f" /></Relationships>
</file>

<file path=ppt/slides/_rels/slide145.xml.rels>&#65279;<?xml version="1.0" encoding="utf-8"?><Relationships xmlns="http://schemas.openxmlformats.org/package/2006/relationships"><Relationship Type="http://schemas.openxmlformats.org/officeDocument/2006/relationships/slideLayout" Target="/ppt/slideLayouts/slideLayout3.xml" Id="R52b1ce2e63004229" /></Relationships>
</file>

<file path=ppt/slides/_rels/slide146.xml.rels>&#65279;<?xml version="1.0" encoding="utf-8"?><Relationships xmlns="http://schemas.openxmlformats.org/package/2006/relationships"><Relationship Type="http://schemas.openxmlformats.org/officeDocument/2006/relationships/slideLayout" Target="/ppt/slideLayouts/slideLayout3.xml" Id="R538cdc0e2d944a1a" /></Relationships>
</file>

<file path=ppt/slides/_rels/slide147.xml.rels>&#65279;<?xml version="1.0" encoding="utf-8"?><Relationships xmlns="http://schemas.openxmlformats.org/package/2006/relationships"><Relationship Type="http://schemas.openxmlformats.org/officeDocument/2006/relationships/slideLayout" Target="/ppt/slideLayouts/slideLayout3.xml" Id="R74827a7b92654e06" /></Relationships>
</file>

<file path=ppt/slides/_rels/slide148.xml.rels>&#65279;<?xml version="1.0" encoding="utf-8"?><Relationships xmlns="http://schemas.openxmlformats.org/package/2006/relationships"><Relationship Type="http://schemas.openxmlformats.org/officeDocument/2006/relationships/slideLayout" Target="/ppt/slideLayouts/slideLayout3.xml" Id="Rdb21e29a55bf4db3" /></Relationships>
</file>

<file path=ppt/slides/_rels/slide149.xml.rels>&#65279;<?xml version="1.0" encoding="utf-8"?><Relationships xmlns="http://schemas.openxmlformats.org/package/2006/relationships"><Relationship Type="http://schemas.openxmlformats.org/officeDocument/2006/relationships/slideLayout" Target="/ppt/slideLayouts/slideLayout3.xml" Id="R95bb6803da3a4ee6" /></Relationships>
</file>

<file path=ppt/slides/_rels/slide150.xml.rels>&#65279;<?xml version="1.0" encoding="utf-8"?><Relationships xmlns="http://schemas.openxmlformats.org/package/2006/relationships"><Relationship Type="http://schemas.openxmlformats.org/officeDocument/2006/relationships/slideLayout" Target="/ppt/slideLayouts/slideLayout3.xml" Id="Rc249aa7cf0a54a79" /></Relationships>
</file>

<file path=ppt/slides/_rels/slide151.xml.rels>&#65279;<?xml version="1.0" encoding="utf-8"?><Relationships xmlns="http://schemas.openxmlformats.org/package/2006/relationships"><Relationship Type="http://schemas.openxmlformats.org/officeDocument/2006/relationships/slideLayout" Target="/ppt/slideLayouts/slideLayout3.xml" Id="R09f3a07bc9294910" /></Relationships>
</file>

<file path=ppt/slides/_rels/slide152.xml.rels>&#65279;<?xml version="1.0" encoding="utf-8"?><Relationships xmlns="http://schemas.openxmlformats.org/package/2006/relationships"><Relationship Type="http://schemas.openxmlformats.org/officeDocument/2006/relationships/slideLayout" Target="/ppt/slideLayouts/slideLayout3.xml" Id="Rfc05f2e31fc440cc" /></Relationships>
</file>

<file path=ppt/slides/_rels/slide153.xml.rels>&#65279;<?xml version="1.0" encoding="utf-8"?><Relationships xmlns="http://schemas.openxmlformats.org/package/2006/relationships"><Relationship Type="http://schemas.openxmlformats.org/officeDocument/2006/relationships/slideLayout" Target="/ppt/slideLayouts/slideLayout3.xml" Id="R17710c4eedb743ab" /></Relationships>
</file>

<file path=ppt/slides/_rels/slide154.xml.rels>&#65279;<?xml version="1.0" encoding="utf-8"?><Relationships xmlns="http://schemas.openxmlformats.org/package/2006/relationships"><Relationship Type="http://schemas.openxmlformats.org/officeDocument/2006/relationships/slideLayout" Target="/ppt/slideLayouts/slideLayout3.xml" Id="Rea181826e8f14eb1" /></Relationships>
</file>

<file path=ppt/slides/_rels/slide155.xml.rels>&#65279;<?xml version="1.0" encoding="utf-8"?><Relationships xmlns="http://schemas.openxmlformats.org/package/2006/relationships"><Relationship Type="http://schemas.openxmlformats.org/officeDocument/2006/relationships/slideLayout" Target="/ppt/slideLayouts/slideLayout3.xml" Id="R0d8e9167be1c4327" /></Relationships>
</file>

<file path=ppt/slides/_rels/slide156.xml.rels>&#65279;<?xml version="1.0" encoding="utf-8"?><Relationships xmlns="http://schemas.openxmlformats.org/package/2006/relationships"><Relationship Type="http://schemas.openxmlformats.org/officeDocument/2006/relationships/slideLayout" Target="/ppt/slideLayouts/slideLayout3.xml" Id="Rffdb48ec05614f9b" /></Relationships>
</file>

<file path=ppt/slides/_rels/slide157.xml.rels>&#65279;<?xml version="1.0" encoding="utf-8"?><Relationships xmlns="http://schemas.openxmlformats.org/package/2006/relationships"><Relationship Type="http://schemas.openxmlformats.org/officeDocument/2006/relationships/slideLayout" Target="/ppt/slideLayouts/slideLayout3.xml" Id="R890dfd74a4314158" /></Relationships>
</file>

<file path=ppt/slides/_rels/slide158.xml.rels>&#65279;<?xml version="1.0" encoding="utf-8"?><Relationships xmlns="http://schemas.openxmlformats.org/package/2006/relationships"><Relationship Type="http://schemas.openxmlformats.org/officeDocument/2006/relationships/slideLayout" Target="/ppt/slideLayouts/slideLayout3.xml" Id="R0bf086adfcbe4f4d" /></Relationships>
</file>

<file path=ppt/slides/_rels/slide159.xml.rels>&#65279;<?xml version="1.0" encoding="utf-8"?><Relationships xmlns="http://schemas.openxmlformats.org/package/2006/relationships"><Relationship Type="http://schemas.openxmlformats.org/officeDocument/2006/relationships/slideLayout" Target="/ppt/slideLayouts/slideLayout3.xml" Id="R2a695b5fe4e741f9" /></Relationships>
</file>

<file path=ppt/slides/_rels/slide160.xml.rels>&#65279;<?xml version="1.0" encoding="utf-8"?><Relationships xmlns="http://schemas.openxmlformats.org/package/2006/relationships"><Relationship Type="http://schemas.openxmlformats.org/officeDocument/2006/relationships/slideLayout" Target="/ppt/slideLayouts/slideLayout3.xml" Id="R2f461bbdcfbc47fa" /></Relationships>
</file>

<file path=ppt/slides/_rels/slide161.xml.rels>&#65279;<?xml version="1.0" encoding="utf-8"?><Relationships xmlns="http://schemas.openxmlformats.org/package/2006/relationships"><Relationship Type="http://schemas.openxmlformats.org/officeDocument/2006/relationships/slideLayout" Target="/ppt/slideLayouts/slideLayout3.xml" Id="Rba6f06a02fc34924" /></Relationships>
</file>

<file path=ppt/slides/_rels/slide162.xml.rels>&#65279;<?xml version="1.0" encoding="utf-8"?><Relationships xmlns="http://schemas.openxmlformats.org/package/2006/relationships"><Relationship Type="http://schemas.openxmlformats.org/officeDocument/2006/relationships/slideLayout" Target="/ppt/slideLayouts/slideLayout3.xml" Id="Rc71e69d0ff6f49be" /></Relationships>
</file>

<file path=ppt/slides/_rels/slide163.xml.rels>&#65279;<?xml version="1.0" encoding="utf-8"?><Relationships xmlns="http://schemas.openxmlformats.org/package/2006/relationships"><Relationship Type="http://schemas.openxmlformats.org/officeDocument/2006/relationships/slideLayout" Target="/ppt/slideLayouts/slideLayout3.xml" Id="R5513087171d140ec" /></Relationships>
</file>

<file path=ppt/slides/_rels/slide164.xml.rels>&#65279;<?xml version="1.0" encoding="utf-8"?><Relationships xmlns="http://schemas.openxmlformats.org/package/2006/relationships"><Relationship Type="http://schemas.openxmlformats.org/officeDocument/2006/relationships/slideLayout" Target="/ppt/slideLayouts/slideLayout3.xml" Id="Reaf99d765c3642fc" /></Relationships>
</file>

<file path=ppt/slides/_rels/slide165.xml.rels>&#65279;<?xml version="1.0" encoding="utf-8"?><Relationships xmlns="http://schemas.openxmlformats.org/package/2006/relationships"><Relationship Type="http://schemas.openxmlformats.org/officeDocument/2006/relationships/slideLayout" Target="/ppt/slideLayouts/slideLayout3.xml" Id="Rdfa426d4a3a145e9" /></Relationships>
</file>

<file path=ppt/slides/_rels/slide166.xml.rels>&#65279;<?xml version="1.0" encoding="utf-8"?><Relationships xmlns="http://schemas.openxmlformats.org/package/2006/relationships"><Relationship Type="http://schemas.openxmlformats.org/officeDocument/2006/relationships/slideLayout" Target="/ppt/slideLayouts/slideLayout3.xml" Id="R0dcb55c4a02c4d8e" /></Relationships>
</file>

<file path=ppt/slides/_rels/slide167.xml.rels>&#65279;<?xml version="1.0" encoding="utf-8"?><Relationships xmlns="http://schemas.openxmlformats.org/package/2006/relationships"><Relationship Type="http://schemas.openxmlformats.org/officeDocument/2006/relationships/slideLayout" Target="/ppt/slideLayouts/slideLayout3.xml" Id="Ra88351434c1148f5" /></Relationships>
</file>

<file path=ppt/slides/_rels/slide168.xml.rels>&#65279;<?xml version="1.0" encoding="utf-8"?><Relationships xmlns="http://schemas.openxmlformats.org/package/2006/relationships"><Relationship Type="http://schemas.openxmlformats.org/officeDocument/2006/relationships/slideLayout" Target="/ppt/slideLayouts/slideLayout3.xml" Id="Rb07470f3c28c43bc" /></Relationships>
</file>

<file path=ppt/slides/_rels/slide169.xml.rels>&#65279;<?xml version="1.0" encoding="utf-8"?><Relationships xmlns="http://schemas.openxmlformats.org/package/2006/relationships"><Relationship Type="http://schemas.openxmlformats.org/officeDocument/2006/relationships/slideLayout" Target="/ppt/slideLayouts/slideLayout3.xml" Id="R6dc5e22056ab4408" /></Relationships>
</file>

<file path=ppt/slides/_rels/slide170.xml.rels>&#65279;<?xml version="1.0" encoding="utf-8"?><Relationships xmlns="http://schemas.openxmlformats.org/package/2006/relationships"><Relationship Type="http://schemas.openxmlformats.org/officeDocument/2006/relationships/slideLayout" Target="/ppt/slideLayouts/slideLayout3.xml" Id="Rfc99d67244bc4fbf" /></Relationships>
</file>

<file path=ppt/slides/_rels/slide171.xml.rels>&#65279;<?xml version="1.0" encoding="utf-8"?><Relationships xmlns="http://schemas.openxmlformats.org/package/2006/relationships"><Relationship Type="http://schemas.openxmlformats.org/officeDocument/2006/relationships/slideLayout" Target="/ppt/slideLayouts/slideLayout3.xml" Id="Rd4fde826e2aa48c1" /></Relationships>
</file>

<file path=ppt/slides/_rels/slide172.xml.rels>&#65279;<?xml version="1.0" encoding="utf-8"?><Relationships xmlns="http://schemas.openxmlformats.org/package/2006/relationships"><Relationship Type="http://schemas.openxmlformats.org/officeDocument/2006/relationships/slideLayout" Target="/ppt/slideLayouts/slideLayout3.xml" Id="R16fb027da1d34bd2" /></Relationships>
</file>

<file path=ppt/slides/_rels/slide173.xml.rels>&#65279;<?xml version="1.0" encoding="utf-8"?><Relationships xmlns="http://schemas.openxmlformats.org/package/2006/relationships"><Relationship Type="http://schemas.openxmlformats.org/officeDocument/2006/relationships/slideLayout" Target="/ppt/slideLayouts/slideLayout3.xml" Id="Rf2beef34b08141f2" /></Relationships>
</file>

<file path=ppt/slides/_rels/slide174.xml.rels>&#65279;<?xml version="1.0" encoding="utf-8"?><Relationships xmlns="http://schemas.openxmlformats.org/package/2006/relationships"><Relationship Type="http://schemas.openxmlformats.org/officeDocument/2006/relationships/slideLayout" Target="/ppt/slideLayouts/slideLayout3.xml" Id="R8a405937b71b4a96" /></Relationships>
</file>

<file path=ppt/slides/_rels/slide175.xml.rels>&#65279;<?xml version="1.0" encoding="utf-8"?><Relationships xmlns="http://schemas.openxmlformats.org/package/2006/relationships"><Relationship Type="http://schemas.openxmlformats.org/officeDocument/2006/relationships/slideLayout" Target="/ppt/slideLayouts/slideLayout3.xml" Id="Ra73aefddf17d4125" /></Relationships>
</file>

<file path=ppt/slides/_rels/slide176.xml.rels>&#65279;<?xml version="1.0" encoding="utf-8"?><Relationships xmlns="http://schemas.openxmlformats.org/package/2006/relationships"><Relationship Type="http://schemas.openxmlformats.org/officeDocument/2006/relationships/slideLayout" Target="/ppt/slideLayouts/slideLayout3.xml" Id="R94346b62cc8142aa" /></Relationships>
</file>

<file path=ppt/slides/_rels/slide177.xml.rels>&#65279;<?xml version="1.0" encoding="utf-8"?><Relationships xmlns="http://schemas.openxmlformats.org/package/2006/relationships"><Relationship Type="http://schemas.openxmlformats.org/officeDocument/2006/relationships/slideLayout" Target="/ppt/slideLayouts/slideLayout3.xml" Id="R83c6aa73652d4dba" /></Relationships>
</file>

<file path=ppt/slides/_rels/slide178.xml.rels>&#65279;<?xml version="1.0" encoding="utf-8"?><Relationships xmlns="http://schemas.openxmlformats.org/package/2006/relationships"><Relationship Type="http://schemas.openxmlformats.org/officeDocument/2006/relationships/slideLayout" Target="/ppt/slideLayouts/slideLayout3.xml" Id="Rceb8e36809694081" /></Relationships>
</file>

<file path=ppt/slides/_rels/slide179.xml.rels>&#65279;<?xml version="1.0" encoding="utf-8"?><Relationships xmlns="http://schemas.openxmlformats.org/package/2006/relationships"><Relationship Type="http://schemas.openxmlformats.org/officeDocument/2006/relationships/slideLayout" Target="/ppt/slideLayouts/slideLayout3.xml" Id="R5ec825d7c0ea42d0" /></Relationships>
</file>

<file path=ppt/slides/_rels/slide180.xml.rels>&#65279;<?xml version="1.0" encoding="utf-8"?><Relationships xmlns="http://schemas.openxmlformats.org/package/2006/relationships"><Relationship Type="http://schemas.openxmlformats.org/officeDocument/2006/relationships/slideLayout" Target="/ppt/slideLayouts/slideLayout3.xml" Id="Ref371b7e8ab34753" /></Relationships>
</file>

<file path=ppt/slides/_rels/slide181.xml.rels>&#65279;<?xml version="1.0" encoding="utf-8"?><Relationships xmlns="http://schemas.openxmlformats.org/package/2006/relationships"><Relationship Type="http://schemas.openxmlformats.org/officeDocument/2006/relationships/slideLayout" Target="/ppt/slideLayouts/slideLayout3.xml" Id="R98dd7a1c6bdb4cb5" /></Relationships>
</file>

<file path=ppt/slides/_rels/slide182.xml.rels>&#65279;<?xml version="1.0" encoding="utf-8"?><Relationships xmlns="http://schemas.openxmlformats.org/package/2006/relationships"><Relationship Type="http://schemas.openxmlformats.org/officeDocument/2006/relationships/slideLayout" Target="/ppt/slideLayouts/slideLayout3.xml" Id="Re73e82aa75a14941" /></Relationships>
</file>

<file path=ppt/slides/_rels/slide183.xml.rels>&#65279;<?xml version="1.0" encoding="utf-8"?><Relationships xmlns="http://schemas.openxmlformats.org/package/2006/relationships"><Relationship Type="http://schemas.openxmlformats.org/officeDocument/2006/relationships/slideLayout" Target="/ppt/slideLayouts/slideLayout3.xml" Id="R25c4724958e74f7a" /></Relationships>
</file>

<file path=ppt/slides/_rels/slide184.xml.rels>&#65279;<?xml version="1.0" encoding="utf-8"?><Relationships xmlns="http://schemas.openxmlformats.org/package/2006/relationships"><Relationship Type="http://schemas.openxmlformats.org/officeDocument/2006/relationships/slideLayout" Target="/ppt/slideLayouts/slideLayout3.xml" Id="Recc2d27339434be8" /></Relationships>
</file>

<file path=ppt/slides/_rels/slide185.xml.rels>&#65279;<?xml version="1.0" encoding="utf-8"?><Relationships xmlns="http://schemas.openxmlformats.org/package/2006/relationships"><Relationship Type="http://schemas.openxmlformats.org/officeDocument/2006/relationships/slideLayout" Target="/ppt/slideLayouts/slideLayout3.xml" Id="Rdca246b9732549a0" /></Relationships>
</file>

<file path=ppt/slides/_rels/slide186.xml.rels>&#65279;<?xml version="1.0" encoding="utf-8"?><Relationships xmlns="http://schemas.openxmlformats.org/package/2006/relationships"><Relationship Type="http://schemas.openxmlformats.org/officeDocument/2006/relationships/slideLayout" Target="/ppt/slideLayouts/slideLayout3.xml" Id="R52ab031110ae4009" /></Relationships>
</file>

<file path=ppt/slides/_rels/slide187.xml.rels>&#65279;<?xml version="1.0" encoding="utf-8"?><Relationships xmlns="http://schemas.openxmlformats.org/package/2006/relationships"><Relationship Type="http://schemas.openxmlformats.org/officeDocument/2006/relationships/slideLayout" Target="/ppt/slideLayouts/slideLayout3.xml" Id="R858358417d594475" /></Relationships>
</file>

<file path=ppt/slides/_rels/slide188.xml.rels>&#65279;<?xml version="1.0" encoding="utf-8"?><Relationships xmlns="http://schemas.openxmlformats.org/package/2006/relationships"><Relationship Type="http://schemas.openxmlformats.org/officeDocument/2006/relationships/slideLayout" Target="/ppt/slideLayouts/slideLayout3.xml" Id="Rfa6094ef52124372" /></Relationships>
</file>

<file path=ppt/slides/_rels/slide189.xml.rels>&#65279;<?xml version="1.0" encoding="utf-8"?><Relationships xmlns="http://schemas.openxmlformats.org/package/2006/relationships"><Relationship Type="http://schemas.openxmlformats.org/officeDocument/2006/relationships/slideLayout" Target="/ppt/slideLayouts/slideLayout3.xml" Id="Reb19d442fe024b64" /></Relationships>
</file>

<file path=ppt/slides/_rels/slide190.xml.rels>&#65279;<?xml version="1.0" encoding="utf-8"?><Relationships xmlns="http://schemas.openxmlformats.org/package/2006/relationships"><Relationship Type="http://schemas.openxmlformats.org/officeDocument/2006/relationships/slideLayout" Target="/ppt/slideLayouts/slideLayout3.xml" Id="Rf13496dc67c348a0" /></Relationships>
</file>

<file path=ppt/slides/_rels/slide191.xml.rels>&#65279;<?xml version="1.0" encoding="utf-8"?><Relationships xmlns="http://schemas.openxmlformats.org/package/2006/relationships"><Relationship Type="http://schemas.openxmlformats.org/officeDocument/2006/relationships/slideLayout" Target="/ppt/slideLayouts/slideLayout3.xml" Id="R5f30f0a33d0b435b" /></Relationships>
</file>

<file path=ppt/slides/_rels/slide192.xml.rels>&#65279;<?xml version="1.0" encoding="utf-8"?><Relationships xmlns="http://schemas.openxmlformats.org/package/2006/relationships"><Relationship Type="http://schemas.openxmlformats.org/officeDocument/2006/relationships/slideLayout" Target="/ppt/slideLayouts/slideLayout3.xml" Id="Rc0c2e72503754c70" /></Relationships>
</file>

<file path=ppt/slides/_rels/slide193.xml.rels>&#65279;<?xml version="1.0" encoding="utf-8"?><Relationships xmlns="http://schemas.openxmlformats.org/package/2006/relationships"><Relationship Type="http://schemas.openxmlformats.org/officeDocument/2006/relationships/slideLayout" Target="/ppt/slideLayouts/slideLayout3.xml" Id="R4045e405846d4dd2" /></Relationships>
</file>

<file path=ppt/slides/_rels/slide194.xml.rels>&#65279;<?xml version="1.0" encoding="utf-8"?><Relationships xmlns="http://schemas.openxmlformats.org/package/2006/relationships"><Relationship Type="http://schemas.openxmlformats.org/officeDocument/2006/relationships/slideLayout" Target="/ppt/slideLayouts/slideLayout3.xml" Id="Rf6837d7ad7604453" /></Relationships>
</file>

<file path=ppt/slides/_rels/slide195.xml.rels>&#65279;<?xml version="1.0" encoding="utf-8"?><Relationships xmlns="http://schemas.openxmlformats.org/package/2006/relationships"><Relationship Type="http://schemas.openxmlformats.org/officeDocument/2006/relationships/slideLayout" Target="/ppt/slideLayouts/slideLayout3.xml" Id="R854a35857c4a4a44" /></Relationships>
</file>

<file path=ppt/slides/_rels/slide196.xml.rels>&#65279;<?xml version="1.0" encoding="utf-8"?><Relationships xmlns="http://schemas.openxmlformats.org/package/2006/relationships"><Relationship Type="http://schemas.openxmlformats.org/officeDocument/2006/relationships/slideLayout" Target="/ppt/slideLayouts/slideLayout3.xml" Id="R1b146fe929524feb" /></Relationships>
</file>

<file path=ppt/slides/_rels/slide197.xml.rels>&#65279;<?xml version="1.0" encoding="utf-8"?><Relationships xmlns="http://schemas.openxmlformats.org/package/2006/relationships"><Relationship Type="http://schemas.openxmlformats.org/officeDocument/2006/relationships/slideLayout" Target="/ppt/slideLayouts/slideLayout3.xml" Id="R5d69e158c9724c69" /></Relationships>
</file>

<file path=ppt/slides/_rels/slide198.xml.rels>&#65279;<?xml version="1.0" encoding="utf-8"?><Relationships xmlns="http://schemas.openxmlformats.org/package/2006/relationships"><Relationship Type="http://schemas.openxmlformats.org/officeDocument/2006/relationships/slideLayout" Target="/ppt/slideLayouts/slideLayout3.xml" Id="R34cc21bc27ce4f3b" /></Relationships>
</file>

<file path=ppt/slides/_rels/slide199.xml.rels>&#65279;<?xml version="1.0" encoding="utf-8"?><Relationships xmlns="http://schemas.openxmlformats.org/package/2006/relationships"><Relationship Type="http://schemas.openxmlformats.org/officeDocument/2006/relationships/slideLayout" Target="/ppt/slideLayouts/slideLayout3.xml" Id="R9a0562e9a5eb4b1b" /></Relationships>
</file>

<file path=ppt/slides/_rels/slide200.xml.rels>&#65279;<?xml version="1.0" encoding="utf-8"?><Relationships xmlns="http://schemas.openxmlformats.org/package/2006/relationships"><Relationship Type="http://schemas.openxmlformats.org/officeDocument/2006/relationships/slideLayout" Target="/ppt/slideLayouts/slideLayout3.xml" Id="Rd8695cb622f244cf" /></Relationships>
</file>

<file path=ppt/slides/_rels/slide201.xml.rels>&#65279;<?xml version="1.0" encoding="utf-8"?><Relationships xmlns="http://schemas.openxmlformats.org/package/2006/relationships"><Relationship Type="http://schemas.openxmlformats.org/officeDocument/2006/relationships/slideLayout" Target="/ppt/slideLayouts/slideLayout3.xml" Id="Rff3f88e14caa469f" /></Relationships>
</file>

<file path=ppt/slides/_rels/slide202.xml.rels>&#65279;<?xml version="1.0" encoding="utf-8"?><Relationships xmlns="http://schemas.openxmlformats.org/package/2006/relationships"><Relationship Type="http://schemas.openxmlformats.org/officeDocument/2006/relationships/slideLayout" Target="/ppt/slideLayouts/slideLayout3.xml" Id="R113ad64a5c674928" /></Relationships>
</file>

<file path=ppt/slides/_rels/slide203.xml.rels>&#65279;<?xml version="1.0" encoding="utf-8"?><Relationships xmlns="http://schemas.openxmlformats.org/package/2006/relationships"><Relationship Type="http://schemas.openxmlformats.org/officeDocument/2006/relationships/slideLayout" Target="/ppt/slideLayouts/slideLayout3.xml" Id="R5dfa8c8b6cf7434d" /></Relationships>
</file>

<file path=ppt/slides/_rels/slide204.xml.rels>&#65279;<?xml version="1.0" encoding="utf-8"?><Relationships xmlns="http://schemas.openxmlformats.org/package/2006/relationships"><Relationship Type="http://schemas.openxmlformats.org/officeDocument/2006/relationships/slideLayout" Target="/ppt/slideLayouts/slideLayout3.xml" Id="Ref707f1cd8c54aba" /></Relationships>
</file>

<file path=ppt/slides/_rels/slide205.xml.rels>&#65279;<?xml version="1.0" encoding="utf-8"?><Relationships xmlns="http://schemas.openxmlformats.org/package/2006/relationships"><Relationship Type="http://schemas.openxmlformats.org/officeDocument/2006/relationships/slideLayout" Target="/ppt/slideLayouts/slideLayout3.xml" Id="Rb0ae432188ee4cb5" /></Relationships>
</file>

<file path=ppt/slides/_rels/slide206.xml.rels>&#65279;<?xml version="1.0" encoding="utf-8"?><Relationships xmlns="http://schemas.openxmlformats.org/package/2006/relationships"><Relationship Type="http://schemas.openxmlformats.org/officeDocument/2006/relationships/slideLayout" Target="/ppt/slideLayouts/slideLayout3.xml" Id="R1f427238aed04a2e" /></Relationships>
</file>

<file path=ppt/slides/_rels/slide207.xml.rels>&#65279;<?xml version="1.0" encoding="utf-8"?><Relationships xmlns="http://schemas.openxmlformats.org/package/2006/relationships"><Relationship Type="http://schemas.openxmlformats.org/officeDocument/2006/relationships/slideLayout" Target="/ppt/slideLayouts/slideLayout3.xml" Id="Ra314119587b34756" /></Relationships>
</file>

<file path=ppt/slides/_rels/slide208.xml.rels>&#65279;<?xml version="1.0" encoding="utf-8"?><Relationships xmlns="http://schemas.openxmlformats.org/package/2006/relationships"><Relationship Type="http://schemas.openxmlformats.org/officeDocument/2006/relationships/slideLayout" Target="/ppt/slideLayouts/slideLayout3.xml" Id="R6ffc90f8d15f4946" /></Relationships>
</file>

<file path=ppt/slides/_rels/slide209.xml.rels>&#65279;<?xml version="1.0" encoding="utf-8"?><Relationships xmlns="http://schemas.openxmlformats.org/package/2006/relationships"><Relationship Type="http://schemas.openxmlformats.org/officeDocument/2006/relationships/slideLayout" Target="/ppt/slideLayouts/slideLayout3.xml" Id="R4897ffa0fb4e45c3" /></Relationships>
</file>

<file path=ppt/slides/_rels/slide210.xml.rels>&#65279;<?xml version="1.0" encoding="utf-8"?><Relationships xmlns="http://schemas.openxmlformats.org/package/2006/relationships"><Relationship Type="http://schemas.openxmlformats.org/officeDocument/2006/relationships/slideLayout" Target="/ppt/slideLayouts/slideLayout3.xml" Id="R94b6fc62bc6b4653" /></Relationships>
</file>

<file path=ppt/slides/_rels/slide211.xml.rels>&#65279;<?xml version="1.0" encoding="utf-8"?><Relationships xmlns="http://schemas.openxmlformats.org/package/2006/relationships"><Relationship Type="http://schemas.openxmlformats.org/officeDocument/2006/relationships/slideLayout" Target="/ppt/slideLayouts/slideLayout3.xml" Id="R193d68aaf3164a89" /></Relationships>
</file>

<file path=ppt/slides/_rels/slide212.xml.rels>&#65279;<?xml version="1.0" encoding="utf-8"?><Relationships xmlns="http://schemas.openxmlformats.org/package/2006/relationships"><Relationship Type="http://schemas.openxmlformats.org/officeDocument/2006/relationships/slideLayout" Target="/ppt/slideLayouts/slideLayout3.xml" Id="R4846a65d21aa4db9" /></Relationships>
</file>

<file path=ppt/slides/_rels/slide213.xml.rels>&#65279;<?xml version="1.0" encoding="utf-8"?><Relationships xmlns="http://schemas.openxmlformats.org/package/2006/relationships"><Relationship Type="http://schemas.openxmlformats.org/officeDocument/2006/relationships/slideLayout" Target="/ppt/slideLayouts/slideLayout3.xml" Id="Rd4a18d310084443b" /></Relationships>
</file>

<file path=ppt/slides/_rels/slide214.xml.rels>&#65279;<?xml version="1.0" encoding="utf-8"?><Relationships xmlns="http://schemas.openxmlformats.org/package/2006/relationships"><Relationship Type="http://schemas.openxmlformats.org/officeDocument/2006/relationships/slideLayout" Target="/ppt/slideLayouts/slideLayout3.xml" Id="R0869a3162b0943b1" /></Relationships>
</file>

<file path=ppt/slides/_rels/slide215.xml.rels>&#65279;<?xml version="1.0" encoding="utf-8"?><Relationships xmlns="http://schemas.openxmlformats.org/package/2006/relationships"><Relationship Type="http://schemas.openxmlformats.org/officeDocument/2006/relationships/slideLayout" Target="/ppt/slideLayouts/slideLayout3.xml" Id="R3091621212f6424b" /></Relationships>
</file>

<file path=ppt/slides/_rels/slide216.xml.rels>&#65279;<?xml version="1.0" encoding="utf-8"?><Relationships xmlns="http://schemas.openxmlformats.org/package/2006/relationships"><Relationship Type="http://schemas.openxmlformats.org/officeDocument/2006/relationships/slideLayout" Target="/ppt/slideLayouts/slideLayout3.xml" Id="Rc8053c2d56654876" /></Relationships>
</file>

<file path=ppt/slides/_rels/slide217.xml.rels>&#65279;<?xml version="1.0" encoding="utf-8"?><Relationships xmlns="http://schemas.openxmlformats.org/package/2006/relationships"><Relationship Type="http://schemas.openxmlformats.org/officeDocument/2006/relationships/slideLayout" Target="/ppt/slideLayouts/slideLayout3.xml" Id="R1ebe40bf66d546d5" /></Relationships>
</file>

<file path=ppt/slides/_rels/slide218.xml.rels>&#65279;<?xml version="1.0" encoding="utf-8"?><Relationships xmlns="http://schemas.openxmlformats.org/package/2006/relationships"><Relationship Type="http://schemas.openxmlformats.org/officeDocument/2006/relationships/slideLayout" Target="/ppt/slideLayouts/slideLayout3.xml" Id="Rdbf638d51c94436c" /></Relationships>
</file>

<file path=ppt/slides/_rels/slide219.xml.rels>&#65279;<?xml version="1.0" encoding="utf-8"?><Relationships xmlns="http://schemas.openxmlformats.org/package/2006/relationships"><Relationship Type="http://schemas.openxmlformats.org/officeDocument/2006/relationships/slideLayout" Target="/ppt/slideLayouts/slideLayout3.xml" Id="Ra3920fd96e864262" /></Relationships>
</file>

<file path=ppt/slides/_rels/slide220.xml.rels>&#65279;<?xml version="1.0" encoding="utf-8"?><Relationships xmlns="http://schemas.openxmlformats.org/package/2006/relationships"><Relationship Type="http://schemas.openxmlformats.org/officeDocument/2006/relationships/slideLayout" Target="/ppt/slideLayouts/slideLayout3.xml" Id="R84b5f206b94b4d67" /></Relationships>
</file>

<file path=ppt/slides/_rels/slide221.xml.rels>&#65279;<?xml version="1.0" encoding="utf-8"?><Relationships xmlns="http://schemas.openxmlformats.org/package/2006/relationships"><Relationship Type="http://schemas.openxmlformats.org/officeDocument/2006/relationships/slideLayout" Target="/ppt/slideLayouts/slideLayout3.xml" Id="R1c587092b0ba4048" /></Relationships>
</file>

<file path=ppt/slides/_rels/slide222.xml.rels>&#65279;<?xml version="1.0" encoding="utf-8"?><Relationships xmlns="http://schemas.openxmlformats.org/package/2006/relationships"><Relationship Type="http://schemas.openxmlformats.org/officeDocument/2006/relationships/slideLayout" Target="/ppt/slideLayouts/slideLayout3.xml" Id="R8105ad047f3441e7" /></Relationships>
</file>

<file path=ppt/slides/_rels/slide223.xml.rels>&#65279;<?xml version="1.0" encoding="utf-8"?><Relationships xmlns="http://schemas.openxmlformats.org/package/2006/relationships"><Relationship Type="http://schemas.openxmlformats.org/officeDocument/2006/relationships/slideLayout" Target="/ppt/slideLayouts/slideLayout3.xml" Id="R5fcb7bd476a34407" /></Relationships>
</file>

<file path=ppt/slides/_rels/slide224.xml.rels>&#65279;<?xml version="1.0" encoding="utf-8"?><Relationships xmlns="http://schemas.openxmlformats.org/package/2006/relationships"><Relationship Type="http://schemas.openxmlformats.org/officeDocument/2006/relationships/slideLayout" Target="/ppt/slideLayouts/slideLayout3.xml" Id="Ra082d9e8acfb4e35" /></Relationships>
</file>

<file path=ppt/slides/_rels/slide225.xml.rels>&#65279;<?xml version="1.0" encoding="utf-8"?><Relationships xmlns="http://schemas.openxmlformats.org/package/2006/relationships"><Relationship Type="http://schemas.openxmlformats.org/officeDocument/2006/relationships/slideLayout" Target="/ppt/slideLayouts/slideLayout3.xml" Id="R957040dcb9d442d8" /></Relationships>
</file>

<file path=ppt/slides/_rels/slide226.xml.rels>&#65279;<?xml version="1.0" encoding="utf-8"?><Relationships xmlns="http://schemas.openxmlformats.org/package/2006/relationships"><Relationship Type="http://schemas.openxmlformats.org/officeDocument/2006/relationships/slideLayout" Target="/ppt/slideLayouts/slideLayout3.xml" Id="R775bda08e3974a89" /></Relationships>
</file>

<file path=ppt/slides/_rels/slide227.xml.rels>&#65279;<?xml version="1.0" encoding="utf-8"?><Relationships xmlns="http://schemas.openxmlformats.org/package/2006/relationships"><Relationship Type="http://schemas.openxmlformats.org/officeDocument/2006/relationships/slideLayout" Target="/ppt/slideLayouts/slideLayout3.xml" Id="Rb2c6663275a44eb0" /></Relationships>
</file>

<file path=ppt/slides/_rels/slide228.xml.rels>&#65279;<?xml version="1.0" encoding="utf-8"?><Relationships xmlns="http://schemas.openxmlformats.org/package/2006/relationships"><Relationship Type="http://schemas.openxmlformats.org/officeDocument/2006/relationships/slideLayout" Target="/ppt/slideLayouts/slideLayout3.xml" Id="R9e4444dae60a4aa1" /></Relationships>
</file>

<file path=ppt/slides/_rels/slide229.xml.rels>&#65279;<?xml version="1.0" encoding="utf-8"?><Relationships xmlns="http://schemas.openxmlformats.org/package/2006/relationships"><Relationship Type="http://schemas.openxmlformats.org/officeDocument/2006/relationships/slideLayout" Target="/ppt/slideLayouts/slideLayout3.xml" Id="R079d7fe1a3b34d84" /></Relationships>
</file>

<file path=ppt/slides/_rels/slide230.xml.rels>&#65279;<?xml version="1.0" encoding="utf-8"?><Relationships xmlns="http://schemas.openxmlformats.org/package/2006/relationships"><Relationship Type="http://schemas.openxmlformats.org/officeDocument/2006/relationships/slideLayout" Target="/ppt/slideLayouts/slideLayout3.xml" Id="R8ce77231861a4212" /></Relationships>
</file>

<file path=ppt/slides/_rels/slide231.xml.rels>&#65279;<?xml version="1.0" encoding="utf-8"?><Relationships xmlns="http://schemas.openxmlformats.org/package/2006/relationships"><Relationship Type="http://schemas.openxmlformats.org/officeDocument/2006/relationships/slideLayout" Target="/ppt/slideLayouts/slideLayout3.xml" Id="Rb5082077b1c946bf" /></Relationships>
</file>

<file path=ppt/slides/_rels/slide232.xml.rels>&#65279;<?xml version="1.0" encoding="utf-8"?><Relationships xmlns="http://schemas.openxmlformats.org/package/2006/relationships"><Relationship Type="http://schemas.openxmlformats.org/officeDocument/2006/relationships/slideLayout" Target="/ppt/slideLayouts/slideLayout3.xml" Id="Ra7539e95da51454d" /></Relationships>
</file>

<file path=ppt/slides/_rels/slide233.xml.rels>&#65279;<?xml version="1.0" encoding="utf-8"?><Relationships xmlns="http://schemas.openxmlformats.org/package/2006/relationships"><Relationship Type="http://schemas.openxmlformats.org/officeDocument/2006/relationships/slideLayout" Target="/ppt/slideLayouts/slideLayout3.xml" Id="Ra4ea11b80a614480" /></Relationships>
</file>

<file path=ppt/slides/_rels/slide234.xml.rels>&#65279;<?xml version="1.0" encoding="utf-8"?><Relationships xmlns="http://schemas.openxmlformats.org/package/2006/relationships"><Relationship Type="http://schemas.openxmlformats.org/officeDocument/2006/relationships/slideLayout" Target="/ppt/slideLayouts/slideLayout3.xml" Id="Re5ad5e38403b4856" /></Relationships>
</file>

<file path=ppt/slides/_rels/slide235.xml.rels>&#65279;<?xml version="1.0" encoding="utf-8"?><Relationships xmlns="http://schemas.openxmlformats.org/package/2006/relationships"><Relationship Type="http://schemas.openxmlformats.org/officeDocument/2006/relationships/slideLayout" Target="/ppt/slideLayouts/slideLayout3.xml" Id="Rb2366062eafa4828" /></Relationships>
</file>

<file path=ppt/slides/_rels/slide236.xml.rels>&#65279;<?xml version="1.0" encoding="utf-8"?><Relationships xmlns="http://schemas.openxmlformats.org/package/2006/relationships"><Relationship Type="http://schemas.openxmlformats.org/officeDocument/2006/relationships/slideLayout" Target="/ppt/slideLayouts/slideLayout3.xml" Id="R75f766e7d5304095" /></Relationships>
</file>

<file path=ppt/slides/_rels/slide237.xml.rels>&#65279;<?xml version="1.0" encoding="utf-8"?><Relationships xmlns="http://schemas.openxmlformats.org/package/2006/relationships"><Relationship Type="http://schemas.openxmlformats.org/officeDocument/2006/relationships/slideLayout" Target="/ppt/slideLayouts/slideLayout3.xml" Id="Ra97f6df8c1164744" /></Relationships>
</file>

<file path=ppt/slides/_rels/slide238.xml.rels>&#65279;<?xml version="1.0" encoding="utf-8"?><Relationships xmlns="http://schemas.openxmlformats.org/package/2006/relationships"><Relationship Type="http://schemas.openxmlformats.org/officeDocument/2006/relationships/slideLayout" Target="/ppt/slideLayouts/slideLayout3.xml" Id="R05376e7748c84c02" /></Relationships>
</file>

<file path=ppt/slides/_rels/slide239.xml.rels>&#65279;<?xml version="1.0" encoding="utf-8"?><Relationships xmlns="http://schemas.openxmlformats.org/package/2006/relationships"><Relationship Type="http://schemas.openxmlformats.org/officeDocument/2006/relationships/slideLayout" Target="/ppt/slideLayouts/slideLayout3.xml" Id="R22d904fd34fa48cd" /></Relationships>
</file>

<file path=ppt/slides/_rels/slide240.xml.rels>&#65279;<?xml version="1.0" encoding="utf-8"?><Relationships xmlns="http://schemas.openxmlformats.org/package/2006/relationships"><Relationship Type="http://schemas.openxmlformats.org/officeDocument/2006/relationships/slideLayout" Target="/ppt/slideLayouts/slideLayout3.xml" Id="R35d65f4a31ee407a" /></Relationships>
</file>

<file path=ppt/slides/_rels/slide241.xml.rels>&#65279;<?xml version="1.0" encoding="utf-8"?><Relationships xmlns="http://schemas.openxmlformats.org/package/2006/relationships"><Relationship Type="http://schemas.openxmlformats.org/officeDocument/2006/relationships/slideLayout" Target="/ppt/slideLayouts/slideLayout3.xml" Id="R29ca42fe2c594c58" /></Relationships>
</file>

<file path=ppt/slides/_rels/slide242.xml.rels>&#65279;<?xml version="1.0" encoding="utf-8"?><Relationships xmlns="http://schemas.openxmlformats.org/package/2006/relationships"><Relationship Type="http://schemas.openxmlformats.org/officeDocument/2006/relationships/slideLayout" Target="/ppt/slideLayouts/slideLayout3.xml" Id="Rec9fdbfc6af74231" /></Relationships>
</file>

<file path=ppt/slides/_rels/slide243.xml.rels>&#65279;<?xml version="1.0" encoding="utf-8"?><Relationships xmlns="http://schemas.openxmlformats.org/package/2006/relationships"><Relationship Type="http://schemas.openxmlformats.org/officeDocument/2006/relationships/slideLayout" Target="/ppt/slideLayouts/slideLayout3.xml" Id="Refb2ba0141194a88" /></Relationships>
</file>

<file path=ppt/slides/_rels/slide244.xml.rels>&#65279;<?xml version="1.0" encoding="utf-8"?><Relationships xmlns="http://schemas.openxmlformats.org/package/2006/relationships"><Relationship Type="http://schemas.openxmlformats.org/officeDocument/2006/relationships/slideLayout" Target="/ppt/slideLayouts/slideLayout3.xml" Id="R85eb4828849449a8" /></Relationships>
</file>

<file path=ppt/slides/_rels/slide245.xml.rels>&#65279;<?xml version="1.0" encoding="utf-8"?><Relationships xmlns="http://schemas.openxmlformats.org/package/2006/relationships"><Relationship Type="http://schemas.openxmlformats.org/officeDocument/2006/relationships/slideLayout" Target="/ppt/slideLayouts/slideLayout3.xml" Id="Ref12bde3fb244173" /></Relationships>
</file>

<file path=ppt/slides/_rels/slide246.xml.rels>&#65279;<?xml version="1.0" encoding="utf-8"?><Relationships xmlns="http://schemas.openxmlformats.org/package/2006/relationships"><Relationship Type="http://schemas.openxmlformats.org/officeDocument/2006/relationships/slideLayout" Target="/ppt/slideLayouts/slideLayout3.xml" Id="R95f509f1be9d4d37" /></Relationships>
</file>

<file path=ppt/slides/_rels/slide247.xml.rels>&#65279;<?xml version="1.0" encoding="utf-8"?><Relationships xmlns="http://schemas.openxmlformats.org/package/2006/relationships"><Relationship Type="http://schemas.openxmlformats.org/officeDocument/2006/relationships/slideLayout" Target="/ppt/slideLayouts/slideLayout3.xml" Id="R4b796ec9caf14dab" /></Relationships>
</file>

<file path=ppt/slides/_rels/slide248.xml.rels>&#65279;<?xml version="1.0" encoding="utf-8"?><Relationships xmlns="http://schemas.openxmlformats.org/package/2006/relationships"><Relationship Type="http://schemas.openxmlformats.org/officeDocument/2006/relationships/slideLayout" Target="/ppt/slideLayouts/slideLayout3.xml" Id="Ra686c412297c4fc0" /></Relationships>
</file>

<file path=ppt/slides/_rels/slide249.xml.rels>&#65279;<?xml version="1.0" encoding="utf-8"?><Relationships xmlns="http://schemas.openxmlformats.org/package/2006/relationships"><Relationship Type="http://schemas.openxmlformats.org/officeDocument/2006/relationships/slideLayout" Target="/ppt/slideLayouts/slideLayout3.xml" Id="R38649bfb82be4b04" /></Relationships>
</file>

<file path=ppt/slides/_rels/slide250.xml.rels>&#65279;<?xml version="1.0" encoding="utf-8"?><Relationships xmlns="http://schemas.openxmlformats.org/package/2006/relationships"><Relationship Type="http://schemas.openxmlformats.org/officeDocument/2006/relationships/slideLayout" Target="/ppt/slideLayouts/slideLayout3.xml" Id="Rfc68aea23b7b45b9" /></Relationships>
</file>

<file path=ppt/slides/_rels/slide251.xml.rels>&#65279;<?xml version="1.0" encoding="utf-8"?><Relationships xmlns="http://schemas.openxmlformats.org/package/2006/relationships"><Relationship Type="http://schemas.openxmlformats.org/officeDocument/2006/relationships/slideLayout" Target="/ppt/slideLayouts/slideLayout3.xml" Id="Rbeff41c437434991" /></Relationships>
</file>

<file path=ppt/slides/_rels/slide252.xml.rels>&#65279;<?xml version="1.0" encoding="utf-8"?><Relationships xmlns="http://schemas.openxmlformats.org/package/2006/relationships"><Relationship Type="http://schemas.openxmlformats.org/officeDocument/2006/relationships/slideLayout" Target="/ppt/slideLayouts/slideLayout3.xml" Id="Rbe88d25dc4bc41fc" /></Relationships>
</file>

<file path=ppt/slides/_rels/slide253.xml.rels>&#65279;<?xml version="1.0" encoding="utf-8"?><Relationships xmlns="http://schemas.openxmlformats.org/package/2006/relationships"><Relationship Type="http://schemas.openxmlformats.org/officeDocument/2006/relationships/slideLayout" Target="/ppt/slideLayouts/slideLayout3.xml" Id="R515f298df2184fd5" /></Relationships>
</file>

<file path=ppt/slides/_rels/slide254.xml.rels>&#65279;<?xml version="1.0" encoding="utf-8"?><Relationships xmlns="http://schemas.openxmlformats.org/package/2006/relationships"><Relationship Type="http://schemas.openxmlformats.org/officeDocument/2006/relationships/slideLayout" Target="/ppt/slideLayouts/slideLayout3.xml" Id="Ra638d8d6db354f8f" /></Relationships>
</file>

<file path=ppt/slides/_rels/slide255.xml.rels>&#65279;<?xml version="1.0" encoding="utf-8"?><Relationships xmlns="http://schemas.openxmlformats.org/package/2006/relationships"><Relationship Type="http://schemas.openxmlformats.org/officeDocument/2006/relationships/slideLayout" Target="/ppt/slideLayouts/slideLayout3.xml" Id="R400d79b529084114" /></Relationships>
</file>

<file path=ppt/slides/_rels/slide256.xml.rels>&#65279;<?xml version="1.0" encoding="utf-8"?><Relationships xmlns="http://schemas.openxmlformats.org/package/2006/relationships"><Relationship Type="http://schemas.openxmlformats.org/officeDocument/2006/relationships/slideLayout" Target="/ppt/slideLayouts/slideLayout3.xml" Id="Rdc2dd891c2f94ba7" /></Relationships>
</file>

<file path=ppt/slides/_rels/slide257.xml.rels>&#65279;<?xml version="1.0" encoding="utf-8"?><Relationships xmlns="http://schemas.openxmlformats.org/package/2006/relationships"><Relationship Type="http://schemas.openxmlformats.org/officeDocument/2006/relationships/slideLayout" Target="/ppt/slideLayouts/slideLayout3.xml" Id="R2f2f5d4ca7e140d6" /></Relationships>
</file>

<file path=ppt/slides/_rels/slide258.xml.rels>&#65279;<?xml version="1.0" encoding="utf-8"?><Relationships xmlns="http://schemas.openxmlformats.org/package/2006/relationships"><Relationship Type="http://schemas.openxmlformats.org/officeDocument/2006/relationships/slideLayout" Target="/ppt/slideLayouts/slideLayout3.xml" Id="R94f9268db4c54ccc" /></Relationships>
</file>

<file path=ppt/slides/_rels/slide259.xml.rels>&#65279;<?xml version="1.0" encoding="utf-8"?><Relationships xmlns="http://schemas.openxmlformats.org/package/2006/relationships"><Relationship Type="http://schemas.openxmlformats.org/officeDocument/2006/relationships/slideLayout" Target="/ppt/slideLayouts/slideLayout3.xml" Id="R505728fbd9a74151" /></Relationships>
</file>

<file path=ppt/slides/_rels/slide260.xml.rels>&#65279;<?xml version="1.0" encoding="utf-8"?><Relationships xmlns="http://schemas.openxmlformats.org/package/2006/relationships"><Relationship Type="http://schemas.openxmlformats.org/officeDocument/2006/relationships/slideLayout" Target="/ppt/slideLayouts/slideLayout3.xml" Id="R3b597f4ddfd3482b" /></Relationships>
</file>

<file path=ppt/slides/_rels/slide261.xml.rels>&#65279;<?xml version="1.0" encoding="utf-8"?><Relationships xmlns="http://schemas.openxmlformats.org/package/2006/relationships"><Relationship Type="http://schemas.openxmlformats.org/officeDocument/2006/relationships/slideLayout" Target="/ppt/slideLayouts/slideLayout3.xml" Id="R820f96573f3b4f42" /></Relationships>
</file>

<file path=ppt/slides/_rels/slide262.xml.rels>&#65279;<?xml version="1.0" encoding="utf-8"?><Relationships xmlns="http://schemas.openxmlformats.org/package/2006/relationships"><Relationship Type="http://schemas.openxmlformats.org/officeDocument/2006/relationships/slideLayout" Target="/ppt/slideLayouts/slideLayout3.xml" Id="Rcd982d5ef39244cf" /></Relationships>
</file>

<file path=ppt/slides/_rels/slide263.xml.rels>&#65279;<?xml version="1.0" encoding="utf-8"?><Relationships xmlns="http://schemas.openxmlformats.org/package/2006/relationships"><Relationship Type="http://schemas.openxmlformats.org/officeDocument/2006/relationships/slideLayout" Target="/ppt/slideLayouts/slideLayout3.xml" Id="R30780347489b45ae" /></Relationships>
</file>

<file path=ppt/slides/_rels/slide264.xml.rels>&#65279;<?xml version="1.0" encoding="utf-8"?><Relationships xmlns="http://schemas.openxmlformats.org/package/2006/relationships"><Relationship Type="http://schemas.openxmlformats.org/officeDocument/2006/relationships/slideLayout" Target="/ppt/slideLayouts/slideLayout3.xml" Id="R15e9978209b143a0" /></Relationships>
</file>

<file path=ppt/slides/_rels/slide265.xml.rels>&#65279;<?xml version="1.0" encoding="utf-8"?><Relationships xmlns="http://schemas.openxmlformats.org/package/2006/relationships"><Relationship Type="http://schemas.openxmlformats.org/officeDocument/2006/relationships/slideLayout" Target="/ppt/slideLayouts/slideLayout3.xml" Id="R7dc2520ab8074b91" /></Relationships>
</file>

<file path=ppt/slides/_rels/slide266.xml.rels>&#65279;<?xml version="1.0" encoding="utf-8"?><Relationships xmlns="http://schemas.openxmlformats.org/package/2006/relationships"><Relationship Type="http://schemas.openxmlformats.org/officeDocument/2006/relationships/slideLayout" Target="/ppt/slideLayouts/slideLayout3.xml" Id="R33da795ad5494edb" /></Relationships>
</file>

<file path=ppt/slides/_rels/slide267.xml.rels>&#65279;<?xml version="1.0" encoding="utf-8"?><Relationships xmlns="http://schemas.openxmlformats.org/package/2006/relationships"><Relationship Type="http://schemas.openxmlformats.org/officeDocument/2006/relationships/slideLayout" Target="/ppt/slideLayouts/slideLayout3.xml" Id="R9440addcfc75400d" /></Relationships>
</file>

<file path=ppt/slides/_rels/slide268.xml.rels>&#65279;<?xml version="1.0" encoding="utf-8"?><Relationships xmlns="http://schemas.openxmlformats.org/package/2006/relationships"><Relationship Type="http://schemas.openxmlformats.org/officeDocument/2006/relationships/slideLayout" Target="/ppt/slideLayouts/slideLayout3.xml" Id="R6111ad310bb74588" /></Relationships>
</file>

<file path=ppt/slides/_rels/slide269.xml.rels>&#65279;<?xml version="1.0" encoding="utf-8"?><Relationships xmlns="http://schemas.openxmlformats.org/package/2006/relationships"><Relationship Type="http://schemas.openxmlformats.org/officeDocument/2006/relationships/slideLayout" Target="/ppt/slideLayouts/slideLayout3.xml" Id="Rcf6961408383467a" /></Relationships>
</file>

<file path=ppt/slides/_rels/slide270.xml.rels>&#65279;<?xml version="1.0" encoding="utf-8"?><Relationships xmlns="http://schemas.openxmlformats.org/package/2006/relationships"><Relationship Type="http://schemas.openxmlformats.org/officeDocument/2006/relationships/slideLayout" Target="/ppt/slideLayouts/slideLayout3.xml" Id="R8beb5028c9274e4f" /></Relationships>
</file>

<file path=ppt/slides/_rels/slide271.xml.rels>&#65279;<?xml version="1.0" encoding="utf-8"?><Relationships xmlns="http://schemas.openxmlformats.org/package/2006/relationships"><Relationship Type="http://schemas.openxmlformats.org/officeDocument/2006/relationships/slideLayout" Target="/ppt/slideLayouts/slideLayout3.xml" Id="Ra85af44b19674bfc" /></Relationships>
</file>

<file path=ppt/slides/_rels/slide272.xml.rels>&#65279;<?xml version="1.0" encoding="utf-8"?><Relationships xmlns="http://schemas.openxmlformats.org/package/2006/relationships"><Relationship Type="http://schemas.openxmlformats.org/officeDocument/2006/relationships/slideLayout" Target="/ppt/slideLayouts/slideLayout3.xml" Id="R7de8a3e49c764b91" /></Relationships>
</file>

<file path=ppt/slides/_rels/slide273.xml.rels>&#65279;<?xml version="1.0" encoding="utf-8"?><Relationships xmlns="http://schemas.openxmlformats.org/package/2006/relationships"><Relationship Type="http://schemas.openxmlformats.org/officeDocument/2006/relationships/slideLayout" Target="/ppt/slideLayouts/slideLayout3.xml" Id="Rd600a3d7510e462e" /></Relationships>
</file>

<file path=ppt/slides/_rels/slide274.xml.rels>&#65279;<?xml version="1.0" encoding="utf-8"?><Relationships xmlns="http://schemas.openxmlformats.org/package/2006/relationships"><Relationship Type="http://schemas.openxmlformats.org/officeDocument/2006/relationships/slideLayout" Target="/ppt/slideLayouts/slideLayout3.xml" Id="Ra7a78aa6927347a7" /></Relationships>
</file>

<file path=ppt/slides/_rels/slide275.xml.rels>&#65279;<?xml version="1.0" encoding="utf-8"?><Relationships xmlns="http://schemas.openxmlformats.org/package/2006/relationships"><Relationship Type="http://schemas.openxmlformats.org/officeDocument/2006/relationships/slideLayout" Target="/ppt/slideLayouts/slideLayout3.xml" Id="R687e0b29c41647bb" /></Relationships>
</file>

<file path=ppt/slides/_rels/slide276.xml.rels>&#65279;<?xml version="1.0" encoding="utf-8"?><Relationships xmlns="http://schemas.openxmlformats.org/package/2006/relationships"><Relationship Type="http://schemas.openxmlformats.org/officeDocument/2006/relationships/slideLayout" Target="/ppt/slideLayouts/slideLayout3.xml" Id="R4bf43b65b67c4475" /></Relationships>
</file>

<file path=ppt/slides/_rels/slide277.xml.rels>&#65279;<?xml version="1.0" encoding="utf-8"?><Relationships xmlns="http://schemas.openxmlformats.org/package/2006/relationships"><Relationship Type="http://schemas.openxmlformats.org/officeDocument/2006/relationships/slideLayout" Target="/ppt/slideLayouts/slideLayout3.xml" Id="Rbbc6fa8132d44050" /></Relationships>
</file>

<file path=ppt/slides/_rels/slide278.xml.rels>&#65279;<?xml version="1.0" encoding="utf-8"?><Relationships xmlns="http://schemas.openxmlformats.org/package/2006/relationships"><Relationship Type="http://schemas.openxmlformats.org/officeDocument/2006/relationships/slideLayout" Target="/ppt/slideLayouts/slideLayout3.xml" Id="R34d2152c46d94563" /></Relationships>
</file>

<file path=ppt/slides/_rels/slide279.xml.rels>&#65279;<?xml version="1.0" encoding="utf-8"?><Relationships xmlns="http://schemas.openxmlformats.org/package/2006/relationships"><Relationship Type="http://schemas.openxmlformats.org/officeDocument/2006/relationships/slideLayout" Target="/ppt/slideLayouts/slideLayout3.xml" Id="R64dc68a4217948a2" /></Relationships>
</file>

<file path=ppt/slides/_rels/slide280.xml.rels>&#65279;<?xml version="1.0" encoding="utf-8"?><Relationships xmlns="http://schemas.openxmlformats.org/package/2006/relationships"><Relationship Type="http://schemas.openxmlformats.org/officeDocument/2006/relationships/slideLayout" Target="/ppt/slideLayouts/slideLayout3.xml" Id="Rc7e1803979224865" /></Relationships>
</file>

<file path=ppt/slides/_rels/slide281.xml.rels>&#65279;<?xml version="1.0" encoding="utf-8"?><Relationships xmlns="http://schemas.openxmlformats.org/package/2006/relationships"><Relationship Type="http://schemas.openxmlformats.org/officeDocument/2006/relationships/slideLayout" Target="/ppt/slideLayouts/slideLayout3.xml" Id="Rdddbaf0a7ae54d2f" /></Relationships>
</file>

<file path=ppt/slides/_rels/slide282.xml.rels>&#65279;<?xml version="1.0" encoding="utf-8"?><Relationships xmlns="http://schemas.openxmlformats.org/package/2006/relationships"><Relationship Type="http://schemas.openxmlformats.org/officeDocument/2006/relationships/slideLayout" Target="/ppt/slideLayouts/slideLayout3.xml" Id="Rf5f1bbc6e15b47bf" /></Relationships>
</file>

<file path=ppt/slides/_rels/slide283.xml.rels>&#65279;<?xml version="1.0" encoding="utf-8"?><Relationships xmlns="http://schemas.openxmlformats.org/package/2006/relationships"><Relationship Type="http://schemas.openxmlformats.org/officeDocument/2006/relationships/slideLayout" Target="/ppt/slideLayouts/slideLayout3.xml" Id="R45818e646e264482" /></Relationships>
</file>

<file path=ppt/slides/_rels/slide284.xml.rels>&#65279;<?xml version="1.0" encoding="utf-8"?><Relationships xmlns="http://schemas.openxmlformats.org/package/2006/relationships"><Relationship Type="http://schemas.openxmlformats.org/officeDocument/2006/relationships/slideLayout" Target="/ppt/slideLayouts/slideLayout3.xml" Id="R08ee85f25a324af6" /></Relationships>
</file>

<file path=ppt/slides/_rels/slide285.xml.rels>&#65279;<?xml version="1.0" encoding="utf-8"?><Relationships xmlns="http://schemas.openxmlformats.org/package/2006/relationships"><Relationship Type="http://schemas.openxmlformats.org/officeDocument/2006/relationships/slideLayout" Target="/ppt/slideLayouts/slideLayout3.xml" Id="R76cb783185fa47b7" /></Relationships>
</file>

<file path=ppt/slides/_rels/slide286.xml.rels>&#65279;<?xml version="1.0" encoding="utf-8"?><Relationships xmlns="http://schemas.openxmlformats.org/package/2006/relationships"><Relationship Type="http://schemas.openxmlformats.org/officeDocument/2006/relationships/slideLayout" Target="/ppt/slideLayouts/slideLayout3.xml" Id="Rf1b18ab3d5664c3d" /></Relationships>
</file>

<file path=ppt/slides/_rels/slide287.xml.rels>&#65279;<?xml version="1.0" encoding="utf-8"?><Relationships xmlns="http://schemas.openxmlformats.org/package/2006/relationships"><Relationship Type="http://schemas.openxmlformats.org/officeDocument/2006/relationships/slideLayout" Target="/ppt/slideLayouts/slideLayout3.xml" Id="Rb05f4b7bc8444a5b" /></Relationships>
</file>

<file path=ppt/slides/_rels/slide288.xml.rels>&#65279;<?xml version="1.0" encoding="utf-8"?><Relationships xmlns="http://schemas.openxmlformats.org/package/2006/relationships"><Relationship Type="http://schemas.openxmlformats.org/officeDocument/2006/relationships/slideLayout" Target="/ppt/slideLayouts/slideLayout3.xml" Id="R48218d0a0e2e4f67" /></Relationships>
</file>

<file path=ppt/slides/_rels/slide289.xml.rels>&#65279;<?xml version="1.0" encoding="utf-8"?><Relationships xmlns="http://schemas.openxmlformats.org/package/2006/relationships"><Relationship Type="http://schemas.openxmlformats.org/officeDocument/2006/relationships/slideLayout" Target="/ppt/slideLayouts/slideLayout3.xml" Id="R9885889b6e704fd3" /></Relationships>
</file>

<file path=ppt/slides/_rels/slide290.xml.rels>&#65279;<?xml version="1.0" encoding="utf-8"?><Relationships xmlns="http://schemas.openxmlformats.org/package/2006/relationships"><Relationship Type="http://schemas.openxmlformats.org/officeDocument/2006/relationships/slideLayout" Target="/ppt/slideLayouts/slideLayout3.xml" Id="R0f60954a35854034" /></Relationships>
</file>

<file path=ppt/slides/_rels/slide291.xml.rels>&#65279;<?xml version="1.0" encoding="utf-8"?><Relationships xmlns="http://schemas.openxmlformats.org/package/2006/relationships"><Relationship Type="http://schemas.openxmlformats.org/officeDocument/2006/relationships/slideLayout" Target="/ppt/slideLayouts/slideLayout3.xml" Id="R3067a3d5273d438c" /></Relationships>
</file>

<file path=ppt/slides/_rels/slide292.xml.rels>&#65279;<?xml version="1.0" encoding="utf-8"?><Relationships xmlns="http://schemas.openxmlformats.org/package/2006/relationships"><Relationship Type="http://schemas.openxmlformats.org/officeDocument/2006/relationships/slideLayout" Target="/ppt/slideLayouts/slideLayout3.xml" Id="R2765c7a53ead4f87" /></Relationships>
</file>

<file path=ppt/slides/_rels/slide293.xml.rels>&#65279;<?xml version="1.0" encoding="utf-8"?><Relationships xmlns="http://schemas.openxmlformats.org/package/2006/relationships"><Relationship Type="http://schemas.openxmlformats.org/officeDocument/2006/relationships/slideLayout" Target="/ppt/slideLayouts/slideLayout3.xml" Id="Rf90123404c21415a" /></Relationships>
</file>

<file path=ppt/slides/_rels/slide294.xml.rels>&#65279;<?xml version="1.0" encoding="utf-8"?><Relationships xmlns="http://schemas.openxmlformats.org/package/2006/relationships"><Relationship Type="http://schemas.openxmlformats.org/officeDocument/2006/relationships/slideLayout" Target="/ppt/slideLayouts/slideLayout3.xml" Id="Rdf9a8495b03c46cc" /></Relationships>
</file>

<file path=ppt/slides/_rels/slide295.xml.rels>&#65279;<?xml version="1.0" encoding="utf-8"?><Relationships xmlns="http://schemas.openxmlformats.org/package/2006/relationships"><Relationship Type="http://schemas.openxmlformats.org/officeDocument/2006/relationships/slideLayout" Target="/ppt/slideLayouts/slideLayout3.xml" Id="R6cf20bf853ce448a" /></Relationships>
</file>

<file path=ppt/slides/_rels/slide296.xml.rels>&#65279;<?xml version="1.0" encoding="utf-8"?><Relationships xmlns="http://schemas.openxmlformats.org/package/2006/relationships"><Relationship Type="http://schemas.openxmlformats.org/officeDocument/2006/relationships/slideLayout" Target="/ppt/slideLayouts/slideLayout3.xml" Id="Rc0018f4ede1441b9" /></Relationships>
</file>

<file path=ppt/slides/_rels/slide297.xml.rels>&#65279;<?xml version="1.0" encoding="utf-8"?><Relationships xmlns="http://schemas.openxmlformats.org/package/2006/relationships"><Relationship Type="http://schemas.openxmlformats.org/officeDocument/2006/relationships/slideLayout" Target="/ppt/slideLayouts/slideLayout3.xml" Id="R5f9c882f23ff4344" /></Relationships>
</file>

<file path=ppt/slides/_rels/slide298.xml.rels>&#65279;<?xml version="1.0" encoding="utf-8"?><Relationships xmlns="http://schemas.openxmlformats.org/package/2006/relationships"><Relationship Type="http://schemas.openxmlformats.org/officeDocument/2006/relationships/slideLayout" Target="/ppt/slideLayouts/slideLayout3.xml" Id="R1154da0920c246cf" /></Relationships>
</file>

<file path=ppt/slides/_rels/slide299.xml.rels>&#65279;<?xml version="1.0" encoding="utf-8"?><Relationships xmlns="http://schemas.openxmlformats.org/package/2006/relationships"><Relationship Type="http://schemas.openxmlformats.org/officeDocument/2006/relationships/slideLayout" Target="/ppt/slideLayouts/slideLayout3.xml" Id="R33fbca8201954bc6" /></Relationships>
</file>

<file path=ppt/slides/_rels/slide300.xml.rels>&#65279;<?xml version="1.0" encoding="utf-8"?><Relationships xmlns="http://schemas.openxmlformats.org/package/2006/relationships"><Relationship Type="http://schemas.openxmlformats.org/officeDocument/2006/relationships/slideLayout" Target="/ppt/slideLayouts/slideLayout3.xml" Id="R1f8482ff81124cc7" /></Relationships>
</file>

<file path=ppt/slides/_rels/slide301.xml.rels>&#65279;<?xml version="1.0" encoding="utf-8"?><Relationships xmlns="http://schemas.openxmlformats.org/package/2006/relationships"><Relationship Type="http://schemas.openxmlformats.org/officeDocument/2006/relationships/slideLayout" Target="/ppt/slideLayouts/slideLayout3.xml" Id="R83361f1ad7e94772" /></Relationships>
</file>

<file path=ppt/slides/_rels/slide302.xml.rels>&#65279;<?xml version="1.0" encoding="utf-8"?><Relationships xmlns="http://schemas.openxmlformats.org/package/2006/relationships"><Relationship Type="http://schemas.openxmlformats.org/officeDocument/2006/relationships/slideLayout" Target="/ppt/slideLayouts/slideLayout3.xml" Id="R04dce9ecd2424d31" /></Relationships>
</file>

<file path=ppt/slides/_rels/slide303.xml.rels>&#65279;<?xml version="1.0" encoding="utf-8"?><Relationships xmlns="http://schemas.openxmlformats.org/package/2006/relationships"><Relationship Type="http://schemas.openxmlformats.org/officeDocument/2006/relationships/slideLayout" Target="/ppt/slideLayouts/slideLayout3.xml" Id="R867f04ed3e5b48c9" /></Relationships>
</file>

<file path=ppt/slides/_rels/slide304.xml.rels>&#65279;<?xml version="1.0" encoding="utf-8"?><Relationships xmlns="http://schemas.openxmlformats.org/package/2006/relationships"><Relationship Type="http://schemas.openxmlformats.org/officeDocument/2006/relationships/slideLayout" Target="/ppt/slideLayouts/slideLayout3.xml" Id="R943d5e973cda42c2" /></Relationships>
</file>

<file path=ppt/slides/_rels/slide305.xml.rels>&#65279;<?xml version="1.0" encoding="utf-8"?><Relationships xmlns="http://schemas.openxmlformats.org/package/2006/relationships"><Relationship Type="http://schemas.openxmlformats.org/officeDocument/2006/relationships/slideLayout" Target="/ppt/slideLayouts/slideLayout3.xml" Id="Rad2e216013b042b5" /></Relationships>
</file>

<file path=ppt/slides/_rels/slide306.xml.rels>&#65279;<?xml version="1.0" encoding="utf-8"?><Relationships xmlns="http://schemas.openxmlformats.org/package/2006/relationships"><Relationship Type="http://schemas.openxmlformats.org/officeDocument/2006/relationships/slideLayout" Target="/ppt/slideLayouts/slideLayout3.xml" Id="Re46b1873733542ea" /></Relationships>
</file>

<file path=ppt/slides/_rels/slide307.xml.rels>&#65279;<?xml version="1.0" encoding="utf-8"?><Relationships xmlns="http://schemas.openxmlformats.org/package/2006/relationships"><Relationship Type="http://schemas.openxmlformats.org/officeDocument/2006/relationships/slideLayout" Target="/ppt/slideLayouts/slideLayout3.xml" Id="Rec78f0ea4a5241c1" /></Relationships>
</file>

<file path=ppt/slides/_rels/slide308.xml.rels>&#65279;<?xml version="1.0" encoding="utf-8"?><Relationships xmlns="http://schemas.openxmlformats.org/package/2006/relationships"><Relationship Type="http://schemas.openxmlformats.org/officeDocument/2006/relationships/slideLayout" Target="/ppt/slideLayouts/slideLayout3.xml" Id="Rff66f45019584563" /></Relationships>
</file>

<file path=ppt/slides/_rels/slide309.xml.rels>&#65279;<?xml version="1.0" encoding="utf-8"?><Relationships xmlns="http://schemas.openxmlformats.org/package/2006/relationships"><Relationship Type="http://schemas.openxmlformats.org/officeDocument/2006/relationships/slideLayout" Target="/ppt/slideLayouts/slideLayout3.xml" Id="Ra36a24d00e824590" /></Relationships>
</file>

<file path=ppt/slides/_rels/slide310.xml.rels>&#65279;<?xml version="1.0" encoding="utf-8"?><Relationships xmlns="http://schemas.openxmlformats.org/package/2006/relationships"><Relationship Type="http://schemas.openxmlformats.org/officeDocument/2006/relationships/slideLayout" Target="/ppt/slideLayouts/slideLayout3.xml" Id="R8885e7b80a514f95" /></Relationships>
</file>

<file path=ppt/slides/_rels/slide311.xml.rels>&#65279;<?xml version="1.0" encoding="utf-8"?><Relationships xmlns="http://schemas.openxmlformats.org/package/2006/relationships"><Relationship Type="http://schemas.openxmlformats.org/officeDocument/2006/relationships/slideLayout" Target="/ppt/slideLayouts/slideLayout3.xml" Id="R4202aed556dc498e" /></Relationships>
</file>

<file path=ppt/slides/_rels/slide312.xml.rels>&#65279;<?xml version="1.0" encoding="utf-8"?><Relationships xmlns="http://schemas.openxmlformats.org/package/2006/relationships"><Relationship Type="http://schemas.openxmlformats.org/officeDocument/2006/relationships/slideLayout" Target="/ppt/slideLayouts/slideLayout3.xml" Id="Recfb48e23cb1412e" /></Relationships>
</file>

<file path=ppt/slides/_rels/slide313.xml.rels>&#65279;<?xml version="1.0" encoding="utf-8"?><Relationships xmlns="http://schemas.openxmlformats.org/package/2006/relationships"><Relationship Type="http://schemas.openxmlformats.org/officeDocument/2006/relationships/slideLayout" Target="/ppt/slideLayouts/slideLayout3.xml" Id="R92c1450ef49f4e45" /></Relationships>
</file>

<file path=ppt/slides/_rels/slide314.xml.rels>&#65279;<?xml version="1.0" encoding="utf-8"?><Relationships xmlns="http://schemas.openxmlformats.org/package/2006/relationships"><Relationship Type="http://schemas.openxmlformats.org/officeDocument/2006/relationships/slideLayout" Target="/ppt/slideLayouts/slideLayout3.xml" Id="R544650886ea142fd" /></Relationships>
</file>

<file path=ppt/slides/_rels/slide315.xml.rels>&#65279;<?xml version="1.0" encoding="utf-8"?><Relationships xmlns="http://schemas.openxmlformats.org/package/2006/relationships"><Relationship Type="http://schemas.openxmlformats.org/officeDocument/2006/relationships/slideLayout" Target="/ppt/slideLayouts/slideLayout3.xml" Id="Re2094335f47c4814" /></Relationships>
</file>

<file path=ppt/slides/_rels/slide316.xml.rels>&#65279;<?xml version="1.0" encoding="utf-8"?><Relationships xmlns="http://schemas.openxmlformats.org/package/2006/relationships"><Relationship Type="http://schemas.openxmlformats.org/officeDocument/2006/relationships/slideLayout" Target="/ppt/slideLayouts/slideLayout3.xml" Id="R52d9b84c8dc04344" /></Relationships>
</file>

<file path=ppt/slides/_rels/slide317.xml.rels>&#65279;<?xml version="1.0" encoding="utf-8"?><Relationships xmlns="http://schemas.openxmlformats.org/package/2006/relationships"><Relationship Type="http://schemas.openxmlformats.org/officeDocument/2006/relationships/slideLayout" Target="/ppt/slideLayouts/slideLayout3.xml" Id="R6e92097725b1493a" /></Relationships>
</file>

<file path=ppt/slides/_rels/slide318.xml.rels>&#65279;<?xml version="1.0" encoding="utf-8"?><Relationships xmlns="http://schemas.openxmlformats.org/package/2006/relationships"><Relationship Type="http://schemas.openxmlformats.org/officeDocument/2006/relationships/slideLayout" Target="/ppt/slideLayouts/slideLayout3.xml" Id="R7a9645d61e2349f6" /></Relationships>
</file>

<file path=ppt/slides/_rels/slide319.xml.rels>&#65279;<?xml version="1.0" encoding="utf-8"?><Relationships xmlns="http://schemas.openxmlformats.org/package/2006/relationships"><Relationship Type="http://schemas.openxmlformats.org/officeDocument/2006/relationships/slideLayout" Target="/ppt/slideLayouts/slideLayout3.xml" Id="R3c62f9adf27c4cc2" /></Relationships>
</file>

<file path=ppt/slides/_rels/slide320.xml.rels>&#65279;<?xml version="1.0" encoding="utf-8"?><Relationships xmlns="http://schemas.openxmlformats.org/package/2006/relationships"><Relationship Type="http://schemas.openxmlformats.org/officeDocument/2006/relationships/slideLayout" Target="/ppt/slideLayouts/slideLayout3.xml" Id="Rf258d5dcc8e94c02" /></Relationships>
</file>

<file path=ppt/slides/_rels/slide321.xml.rels>&#65279;<?xml version="1.0" encoding="utf-8"?><Relationships xmlns="http://schemas.openxmlformats.org/package/2006/relationships"><Relationship Type="http://schemas.openxmlformats.org/officeDocument/2006/relationships/slideLayout" Target="/ppt/slideLayouts/slideLayout3.xml" Id="R54dee15a3e794d87" /></Relationships>
</file>

<file path=ppt/slides/_rels/slide322.xml.rels>&#65279;<?xml version="1.0" encoding="utf-8"?><Relationships xmlns="http://schemas.openxmlformats.org/package/2006/relationships"><Relationship Type="http://schemas.openxmlformats.org/officeDocument/2006/relationships/slideLayout" Target="/ppt/slideLayouts/slideLayout3.xml" Id="R3685b55a9d654025" /></Relationships>
</file>

<file path=ppt/slides/_rels/slide323.xml.rels>&#65279;<?xml version="1.0" encoding="utf-8"?><Relationships xmlns="http://schemas.openxmlformats.org/package/2006/relationships"><Relationship Type="http://schemas.openxmlformats.org/officeDocument/2006/relationships/slideLayout" Target="/ppt/slideLayouts/slideLayout3.xml" Id="Rc0d749920e274a3f" /></Relationships>
</file>

<file path=ppt/slides/_rels/slide324.xml.rels>&#65279;<?xml version="1.0" encoding="utf-8"?><Relationships xmlns="http://schemas.openxmlformats.org/package/2006/relationships"><Relationship Type="http://schemas.openxmlformats.org/officeDocument/2006/relationships/slideLayout" Target="/ppt/slideLayouts/slideLayout3.xml" Id="R0225d3da9d534073" /></Relationships>
</file>

<file path=ppt/slides/_rels/slide325.xml.rels>&#65279;<?xml version="1.0" encoding="utf-8"?><Relationships xmlns="http://schemas.openxmlformats.org/package/2006/relationships"><Relationship Type="http://schemas.openxmlformats.org/officeDocument/2006/relationships/slideLayout" Target="/ppt/slideLayouts/slideLayout3.xml" Id="R660ddf37a32e48f2" /></Relationships>
</file>

<file path=ppt/slides/_rels/slide326.xml.rels>&#65279;<?xml version="1.0" encoding="utf-8"?><Relationships xmlns="http://schemas.openxmlformats.org/package/2006/relationships"><Relationship Type="http://schemas.openxmlformats.org/officeDocument/2006/relationships/slideLayout" Target="/ppt/slideLayouts/slideLayout3.xml" Id="R7436aecb5926415d" /></Relationships>
</file>

<file path=ppt/slides/_rels/slide327.xml.rels>&#65279;<?xml version="1.0" encoding="utf-8"?><Relationships xmlns="http://schemas.openxmlformats.org/package/2006/relationships"><Relationship Type="http://schemas.openxmlformats.org/officeDocument/2006/relationships/slideLayout" Target="/ppt/slideLayouts/slideLayout3.xml" Id="R9ee4c41cdab94e73" /></Relationships>
</file>

<file path=ppt/slides/_rels/slide328.xml.rels>&#65279;<?xml version="1.0" encoding="utf-8"?><Relationships xmlns="http://schemas.openxmlformats.org/package/2006/relationships"><Relationship Type="http://schemas.openxmlformats.org/officeDocument/2006/relationships/slideLayout" Target="/ppt/slideLayouts/slideLayout3.xml" Id="Ra26ebed1f5024e47" /></Relationships>
</file>

<file path=ppt/slides/_rels/slide329.xml.rels>&#65279;<?xml version="1.0" encoding="utf-8"?><Relationships xmlns="http://schemas.openxmlformats.org/package/2006/relationships"><Relationship Type="http://schemas.openxmlformats.org/officeDocument/2006/relationships/slideLayout" Target="/ppt/slideLayouts/slideLayout3.xml" Id="R910f9e6c7ae44361" /></Relationships>
</file>

<file path=ppt/slides/_rels/slide330.xml.rels>&#65279;<?xml version="1.0" encoding="utf-8"?><Relationships xmlns="http://schemas.openxmlformats.org/package/2006/relationships"><Relationship Type="http://schemas.openxmlformats.org/officeDocument/2006/relationships/slideLayout" Target="/ppt/slideLayouts/slideLayout3.xml" Id="R2de6a2c69ff14071" /></Relationships>
</file>

<file path=ppt/slides/_rels/slide331.xml.rels>&#65279;<?xml version="1.0" encoding="utf-8"?><Relationships xmlns="http://schemas.openxmlformats.org/package/2006/relationships"><Relationship Type="http://schemas.openxmlformats.org/officeDocument/2006/relationships/slideLayout" Target="/ppt/slideLayouts/slideLayout3.xml" Id="R223351acce8c4669" /></Relationships>
</file>

<file path=ppt/slides/_rels/slide332.xml.rels>&#65279;<?xml version="1.0" encoding="utf-8"?><Relationships xmlns="http://schemas.openxmlformats.org/package/2006/relationships"><Relationship Type="http://schemas.openxmlformats.org/officeDocument/2006/relationships/slideLayout" Target="/ppt/slideLayouts/slideLayout3.xml" Id="R66826809197b42dd" /></Relationships>
</file>

<file path=ppt/slides/_rels/slide333.xml.rels>&#65279;<?xml version="1.0" encoding="utf-8"?><Relationships xmlns="http://schemas.openxmlformats.org/package/2006/relationships"><Relationship Type="http://schemas.openxmlformats.org/officeDocument/2006/relationships/slideLayout" Target="/ppt/slideLayouts/slideLayout3.xml" Id="Ra9512419a8424350" /></Relationships>
</file>

<file path=ppt/slides/_rels/slide334.xml.rels>&#65279;<?xml version="1.0" encoding="utf-8"?><Relationships xmlns="http://schemas.openxmlformats.org/package/2006/relationships"><Relationship Type="http://schemas.openxmlformats.org/officeDocument/2006/relationships/slideLayout" Target="/ppt/slideLayouts/slideLayout3.xml" Id="Re65a0224cf64416b" /></Relationships>
</file>

<file path=ppt/slides/_rels/slide335.xml.rels>&#65279;<?xml version="1.0" encoding="utf-8"?><Relationships xmlns="http://schemas.openxmlformats.org/package/2006/relationships"><Relationship Type="http://schemas.openxmlformats.org/officeDocument/2006/relationships/slideLayout" Target="/ppt/slideLayouts/slideLayout3.xml" Id="R5d596db94f234337" /></Relationships>
</file>

<file path=ppt/slides/_rels/slide336.xml.rels>&#65279;<?xml version="1.0" encoding="utf-8"?><Relationships xmlns="http://schemas.openxmlformats.org/package/2006/relationships"><Relationship Type="http://schemas.openxmlformats.org/officeDocument/2006/relationships/slideLayout" Target="/ppt/slideLayouts/slideLayout3.xml" Id="Rd90d07501322426a" /></Relationships>
</file>

<file path=ppt/slides/_rels/slide337.xml.rels>&#65279;<?xml version="1.0" encoding="utf-8"?><Relationships xmlns="http://schemas.openxmlformats.org/package/2006/relationships"><Relationship Type="http://schemas.openxmlformats.org/officeDocument/2006/relationships/slideLayout" Target="/ppt/slideLayouts/slideLayout3.xml" Id="R89650e5068694334" /></Relationships>
</file>

<file path=ppt/slides/_rels/slide338.xml.rels>&#65279;<?xml version="1.0" encoding="utf-8"?><Relationships xmlns="http://schemas.openxmlformats.org/package/2006/relationships"><Relationship Type="http://schemas.openxmlformats.org/officeDocument/2006/relationships/slideLayout" Target="/ppt/slideLayouts/slideLayout3.xml" Id="R85633fbe33504bd2" /></Relationships>
</file>

<file path=ppt/slides/_rels/slide339.xml.rels>&#65279;<?xml version="1.0" encoding="utf-8"?><Relationships xmlns="http://schemas.openxmlformats.org/package/2006/relationships"><Relationship Type="http://schemas.openxmlformats.org/officeDocument/2006/relationships/slideLayout" Target="/ppt/slideLayouts/slideLayout3.xml" Id="R2003ecd919d64b66" /></Relationships>
</file>

<file path=ppt/slides/_rels/slide340.xml.rels>&#65279;<?xml version="1.0" encoding="utf-8"?><Relationships xmlns="http://schemas.openxmlformats.org/package/2006/relationships"><Relationship Type="http://schemas.openxmlformats.org/officeDocument/2006/relationships/slideLayout" Target="/ppt/slideLayouts/slideLayout3.xml" Id="Ra9e9795af0a6479f" /></Relationships>
</file>

<file path=ppt/slides/_rels/slide341.xml.rels>&#65279;<?xml version="1.0" encoding="utf-8"?><Relationships xmlns="http://schemas.openxmlformats.org/package/2006/relationships"><Relationship Type="http://schemas.openxmlformats.org/officeDocument/2006/relationships/slideLayout" Target="/ppt/slideLayouts/slideLayout3.xml" Id="R0c10b8f340f8409c" /></Relationships>
</file>

<file path=ppt/slides/_rels/slide342.xml.rels>&#65279;<?xml version="1.0" encoding="utf-8"?><Relationships xmlns="http://schemas.openxmlformats.org/package/2006/relationships"><Relationship Type="http://schemas.openxmlformats.org/officeDocument/2006/relationships/slideLayout" Target="/ppt/slideLayouts/slideLayout3.xml" Id="R1ef5edc834194a3e" /></Relationships>
</file>

<file path=ppt/slides/_rels/slide343.xml.rels>&#65279;<?xml version="1.0" encoding="utf-8"?><Relationships xmlns="http://schemas.openxmlformats.org/package/2006/relationships"><Relationship Type="http://schemas.openxmlformats.org/officeDocument/2006/relationships/slideLayout" Target="/ppt/slideLayouts/slideLayout3.xml" Id="Re2aa0970892c4e4c" /></Relationships>
</file>

<file path=ppt/slides/_rels/slide344.xml.rels>&#65279;<?xml version="1.0" encoding="utf-8"?><Relationships xmlns="http://schemas.openxmlformats.org/package/2006/relationships"><Relationship Type="http://schemas.openxmlformats.org/officeDocument/2006/relationships/slideLayout" Target="/ppt/slideLayouts/slideLayout3.xml" Id="R5e8b324c4a724f16" /></Relationships>
</file>

<file path=ppt/slides/_rels/slide345.xml.rels>&#65279;<?xml version="1.0" encoding="utf-8"?><Relationships xmlns="http://schemas.openxmlformats.org/package/2006/relationships"><Relationship Type="http://schemas.openxmlformats.org/officeDocument/2006/relationships/slideLayout" Target="/ppt/slideLayouts/slideLayout3.xml" Id="R6939589b1a7745cf" /></Relationships>
</file>

<file path=ppt/slides/_rels/slide346.xml.rels>&#65279;<?xml version="1.0" encoding="utf-8"?><Relationships xmlns="http://schemas.openxmlformats.org/package/2006/relationships"><Relationship Type="http://schemas.openxmlformats.org/officeDocument/2006/relationships/slideLayout" Target="/ppt/slideLayouts/slideLayout3.xml" Id="Rc2f35fac71884b28" /></Relationships>
</file>

<file path=ppt/slides/_rels/slide347.xml.rels>&#65279;<?xml version="1.0" encoding="utf-8"?><Relationships xmlns="http://schemas.openxmlformats.org/package/2006/relationships"><Relationship Type="http://schemas.openxmlformats.org/officeDocument/2006/relationships/slideLayout" Target="/ppt/slideLayouts/slideLayout3.xml" Id="R04d932e5232e489d" /></Relationships>
</file>

<file path=ppt/slides/_rels/slide348.xml.rels>&#65279;<?xml version="1.0" encoding="utf-8"?><Relationships xmlns="http://schemas.openxmlformats.org/package/2006/relationships"><Relationship Type="http://schemas.openxmlformats.org/officeDocument/2006/relationships/slideLayout" Target="/ppt/slideLayouts/slideLayout3.xml" Id="R0d70d55ee8364d79" /></Relationships>
</file>

<file path=ppt/slides/_rels/slide349.xml.rels>&#65279;<?xml version="1.0" encoding="utf-8"?><Relationships xmlns="http://schemas.openxmlformats.org/package/2006/relationships"><Relationship Type="http://schemas.openxmlformats.org/officeDocument/2006/relationships/slideLayout" Target="/ppt/slideLayouts/slideLayout3.xml" Id="R59eabd1ad6764176" /></Relationships>
</file>

<file path=ppt/slides/_rels/slide350.xml.rels>&#65279;<?xml version="1.0" encoding="utf-8"?><Relationships xmlns="http://schemas.openxmlformats.org/package/2006/relationships"><Relationship Type="http://schemas.openxmlformats.org/officeDocument/2006/relationships/slideLayout" Target="/ppt/slideLayouts/slideLayout3.xml" Id="Ra2d7d58b34f9478b" /></Relationships>
</file>

<file path=ppt/slides/_rels/slide351.xml.rels>&#65279;<?xml version="1.0" encoding="utf-8"?><Relationships xmlns="http://schemas.openxmlformats.org/package/2006/relationships"><Relationship Type="http://schemas.openxmlformats.org/officeDocument/2006/relationships/slideLayout" Target="/ppt/slideLayouts/slideLayout3.xml" Id="Ra085f84a60174385" /></Relationships>
</file>

<file path=ppt/slides/_rels/slide352.xml.rels>&#65279;<?xml version="1.0" encoding="utf-8"?><Relationships xmlns="http://schemas.openxmlformats.org/package/2006/relationships"><Relationship Type="http://schemas.openxmlformats.org/officeDocument/2006/relationships/slideLayout" Target="/ppt/slideLayouts/slideLayout3.xml" Id="R25b274abe3d449f6" /></Relationships>
</file>

<file path=ppt/slides/_rels/slide353.xml.rels>&#65279;<?xml version="1.0" encoding="utf-8"?><Relationships xmlns="http://schemas.openxmlformats.org/package/2006/relationships"><Relationship Type="http://schemas.openxmlformats.org/officeDocument/2006/relationships/slideLayout" Target="/ppt/slideLayouts/slideLayout3.xml" Id="Racc3daa0af724fda" /></Relationships>
</file>

<file path=ppt/slides/_rels/slide354.xml.rels>&#65279;<?xml version="1.0" encoding="utf-8"?><Relationships xmlns="http://schemas.openxmlformats.org/package/2006/relationships"><Relationship Type="http://schemas.openxmlformats.org/officeDocument/2006/relationships/slideLayout" Target="/ppt/slideLayouts/slideLayout3.xml" Id="Rf042e189a87a4946" /></Relationships>
</file>

<file path=ppt/slides/_rels/slide355.xml.rels>&#65279;<?xml version="1.0" encoding="utf-8"?><Relationships xmlns="http://schemas.openxmlformats.org/package/2006/relationships"><Relationship Type="http://schemas.openxmlformats.org/officeDocument/2006/relationships/slideLayout" Target="/ppt/slideLayouts/slideLayout3.xml" Id="Rd3f06747f2374f37" /></Relationships>
</file>

<file path=ppt/slides/_rels/slide356.xml.rels>&#65279;<?xml version="1.0" encoding="utf-8"?><Relationships xmlns="http://schemas.openxmlformats.org/package/2006/relationships"><Relationship Type="http://schemas.openxmlformats.org/officeDocument/2006/relationships/slideLayout" Target="/ppt/slideLayouts/slideLayout3.xml" Id="R2574d236da544566" /></Relationships>
</file>

<file path=ppt/slides/_rels/slide357.xml.rels>&#65279;<?xml version="1.0" encoding="utf-8"?><Relationships xmlns="http://schemas.openxmlformats.org/package/2006/relationships"><Relationship Type="http://schemas.openxmlformats.org/officeDocument/2006/relationships/slideLayout" Target="/ppt/slideLayouts/slideLayout3.xml" Id="R1666752250a941e4" /></Relationships>
</file>

<file path=ppt/slides/_rels/slide358.xml.rels>&#65279;<?xml version="1.0" encoding="utf-8"?><Relationships xmlns="http://schemas.openxmlformats.org/package/2006/relationships"><Relationship Type="http://schemas.openxmlformats.org/officeDocument/2006/relationships/slideLayout" Target="/ppt/slideLayouts/slideLayout3.xml" Id="Rd7623103b05e4c3d" /></Relationships>
</file>

<file path=ppt/slides/_rels/slide359.xml.rels>&#65279;<?xml version="1.0" encoding="utf-8"?><Relationships xmlns="http://schemas.openxmlformats.org/package/2006/relationships"><Relationship Type="http://schemas.openxmlformats.org/officeDocument/2006/relationships/slideLayout" Target="/ppt/slideLayouts/slideLayout3.xml" Id="R03475456e0e24c11" /></Relationships>
</file>

<file path=ppt/slides/_rels/slide360.xml.rels>&#65279;<?xml version="1.0" encoding="utf-8"?><Relationships xmlns="http://schemas.openxmlformats.org/package/2006/relationships"><Relationship Type="http://schemas.openxmlformats.org/officeDocument/2006/relationships/slideLayout" Target="/ppt/slideLayouts/slideLayout3.xml" Id="Rb60df0782e1b48b2" /></Relationships>
</file>

<file path=ppt/slides/_rels/slide361.xml.rels>&#65279;<?xml version="1.0" encoding="utf-8"?><Relationships xmlns="http://schemas.openxmlformats.org/package/2006/relationships"><Relationship Type="http://schemas.openxmlformats.org/officeDocument/2006/relationships/slideLayout" Target="/ppt/slideLayouts/slideLayout3.xml" Id="R2b7b63309c844977" /></Relationships>
</file>

<file path=ppt/slides/_rels/slide362.xml.rels>&#65279;<?xml version="1.0" encoding="utf-8"?><Relationships xmlns="http://schemas.openxmlformats.org/package/2006/relationships"><Relationship Type="http://schemas.openxmlformats.org/officeDocument/2006/relationships/slideLayout" Target="/ppt/slideLayouts/slideLayout3.xml" Id="R978b9f9af43f403b" /></Relationships>
</file>

<file path=ppt/slides/_rels/slide363.xml.rels>&#65279;<?xml version="1.0" encoding="utf-8"?><Relationships xmlns="http://schemas.openxmlformats.org/package/2006/relationships"><Relationship Type="http://schemas.openxmlformats.org/officeDocument/2006/relationships/slideLayout" Target="/ppt/slideLayouts/slideLayout3.xml" Id="Ra1ddcf087a644317" /></Relationships>
</file>

<file path=ppt/slides/_rels/slide364.xml.rels>&#65279;<?xml version="1.0" encoding="utf-8"?><Relationships xmlns="http://schemas.openxmlformats.org/package/2006/relationships"><Relationship Type="http://schemas.openxmlformats.org/officeDocument/2006/relationships/slideLayout" Target="/ppt/slideLayouts/slideLayout3.xml" Id="R3b151eb6a1444b12" /></Relationships>
</file>

<file path=ppt/slides/_rels/slide365.xml.rels>&#65279;<?xml version="1.0" encoding="utf-8"?><Relationships xmlns="http://schemas.openxmlformats.org/package/2006/relationships"><Relationship Type="http://schemas.openxmlformats.org/officeDocument/2006/relationships/slideLayout" Target="/ppt/slideLayouts/slideLayout3.xml" Id="Ref00cb40b56140ff" /></Relationships>
</file>

<file path=ppt/slides/_rels/slide366.xml.rels>&#65279;<?xml version="1.0" encoding="utf-8"?><Relationships xmlns="http://schemas.openxmlformats.org/package/2006/relationships"><Relationship Type="http://schemas.openxmlformats.org/officeDocument/2006/relationships/slideLayout" Target="/ppt/slideLayouts/slideLayout3.xml" Id="R3bfb7c44f1b34ea7" /></Relationships>
</file>

<file path=ppt/slides/_rels/slide367.xml.rels>&#65279;<?xml version="1.0" encoding="utf-8"?><Relationships xmlns="http://schemas.openxmlformats.org/package/2006/relationships"><Relationship Type="http://schemas.openxmlformats.org/officeDocument/2006/relationships/slideLayout" Target="/ppt/slideLayouts/slideLayout3.xml" Id="R4827342945ee4eb4" /></Relationships>
</file>

<file path=ppt/slides/_rels/slide368.xml.rels>&#65279;<?xml version="1.0" encoding="utf-8"?><Relationships xmlns="http://schemas.openxmlformats.org/package/2006/relationships"><Relationship Type="http://schemas.openxmlformats.org/officeDocument/2006/relationships/slideLayout" Target="/ppt/slideLayouts/slideLayout3.xml" Id="R95447e676e5c4814" /></Relationships>
</file>

<file path=ppt/slides/_rels/slide369.xml.rels>&#65279;<?xml version="1.0" encoding="utf-8"?><Relationships xmlns="http://schemas.openxmlformats.org/package/2006/relationships"><Relationship Type="http://schemas.openxmlformats.org/officeDocument/2006/relationships/slideLayout" Target="/ppt/slideLayouts/slideLayout3.xml" Id="Rd453b04a0daa49cd" /></Relationships>
</file>

<file path=ppt/slides/_rels/slide370.xml.rels>&#65279;<?xml version="1.0" encoding="utf-8"?><Relationships xmlns="http://schemas.openxmlformats.org/package/2006/relationships"><Relationship Type="http://schemas.openxmlformats.org/officeDocument/2006/relationships/slideLayout" Target="/ppt/slideLayouts/slideLayout3.xml" Id="Rbd719a5f57874d40" /></Relationships>
</file>

<file path=ppt/slides/_rels/slide371.xml.rels>&#65279;<?xml version="1.0" encoding="utf-8"?><Relationships xmlns="http://schemas.openxmlformats.org/package/2006/relationships"><Relationship Type="http://schemas.openxmlformats.org/officeDocument/2006/relationships/slideLayout" Target="/ppt/slideLayouts/slideLayout3.xml" Id="R474a18475f5d4a53" /></Relationships>
</file>

<file path=ppt/slides/_rels/slide372.xml.rels>&#65279;<?xml version="1.0" encoding="utf-8"?><Relationships xmlns="http://schemas.openxmlformats.org/package/2006/relationships"><Relationship Type="http://schemas.openxmlformats.org/officeDocument/2006/relationships/slideLayout" Target="/ppt/slideLayouts/slideLayout3.xml" Id="Rdd4a7c320d66499b" /></Relationships>
</file>

<file path=ppt/slides/_rels/slide373.xml.rels>&#65279;<?xml version="1.0" encoding="utf-8"?><Relationships xmlns="http://schemas.openxmlformats.org/package/2006/relationships"><Relationship Type="http://schemas.openxmlformats.org/officeDocument/2006/relationships/slideLayout" Target="/ppt/slideLayouts/slideLayout3.xml" Id="R55b9d0e85b864ba1" /></Relationships>
</file>

<file path=ppt/slides/_rels/slide374.xml.rels>&#65279;<?xml version="1.0" encoding="utf-8"?><Relationships xmlns="http://schemas.openxmlformats.org/package/2006/relationships"><Relationship Type="http://schemas.openxmlformats.org/officeDocument/2006/relationships/slideLayout" Target="/ppt/slideLayouts/slideLayout3.xml" Id="Re5e0f7d1e4634bca" /></Relationships>
</file>

<file path=ppt/slides/_rels/slide375.xml.rels>&#65279;<?xml version="1.0" encoding="utf-8"?><Relationships xmlns="http://schemas.openxmlformats.org/package/2006/relationships"><Relationship Type="http://schemas.openxmlformats.org/officeDocument/2006/relationships/slideLayout" Target="/ppt/slideLayouts/slideLayout3.xml" Id="R5482c4bdd32845c7" /></Relationships>
</file>

<file path=ppt/slides/_rels/slide376.xml.rels>&#65279;<?xml version="1.0" encoding="utf-8"?><Relationships xmlns="http://schemas.openxmlformats.org/package/2006/relationships"><Relationship Type="http://schemas.openxmlformats.org/officeDocument/2006/relationships/slideLayout" Target="/ppt/slideLayouts/slideLayout3.xml" Id="R8faf181f71054a0c" /></Relationships>
</file>

<file path=ppt/slides/_rels/slide377.xml.rels>&#65279;<?xml version="1.0" encoding="utf-8"?><Relationships xmlns="http://schemas.openxmlformats.org/package/2006/relationships"><Relationship Type="http://schemas.openxmlformats.org/officeDocument/2006/relationships/slideLayout" Target="/ppt/slideLayouts/slideLayout3.xml" Id="R912960e5df16417b" /></Relationships>
</file>

<file path=ppt/slides/_rels/slide378.xml.rels>&#65279;<?xml version="1.0" encoding="utf-8"?><Relationships xmlns="http://schemas.openxmlformats.org/package/2006/relationships"><Relationship Type="http://schemas.openxmlformats.org/officeDocument/2006/relationships/slideLayout" Target="/ppt/slideLayouts/slideLayout3.xml" Id="R3045d4b6109c4c82" /></Relationships>
</file>

<file path=ppt/slides/_rels/slide379.xml.rels>&#65279;<?xml version="1.0" encoding="utf-8"?><Relationships xmlns="http://schemas.openxmlformats.org/package/2006/relationships"><Relationship Type="http://schemas.openxmlformats.org/officeDocument/2006/relationships/slideLayout" Target="/ppt/slideLayouts/slideLayout3.xml" Id="R7c0d3621056349e3" /></Relationships>
</file>

<file path=ppt/slides/_rels/slide380.xml.rels>&#65279;<?xml version="1.0" encoding="utf-8"?><Relationships xmlns="http://schemas.openxmlformats.org/package/2006/relationships"><Relationship Type="http://schemas.openxmlformats.org/officeDocument/2006/relationships/slideLayout" Target="/ppt/slideLayouts/slideLayout3.xml" Id="Ra796a3bb6daa4880" /></Relationships>
</file>

<file path=ppt/slides/_rels/slide381.xml.rels>&#65279;<?xml version="1.0" encoding="utf-8"?><Relationships xmlns="http://schemas.openxmlformats.org/package/2006/relationships"><Relationship Type="http://schemas.openxmlformats.org/officeDocument/2006/relationships/slideLayout" Target="/ppt/slideLayouts/slideLayout3.xml" Id="R744d3326d23a490b" /></Relationships>
</file>

<file path=ppt/slides/_rels/slide382.xml.rels>&#65279;<?xml version="1.0" encoding="utf-8"?><Relationships xmlns="http://schemas.openxmlformats.org/package/2006/relationships"><Relationship Type="http://schemas.openxmlformats.org/officeDocument/2006/relationships/slideLayout" Target="/ppt/slideLayouts/slideLayout3.xml" Id="R8106a3f9ed0d47af" /></Relationships>
</file>

<file path=ppt/slides/_rels/slide383.xml.rels>&#65279;<?xml version="1.0" encoding="utf-8"?><Relationships xmlns="http://schemas.openxmlformats.org/package/2006/relationships"><Relationship Type="http://schemas.openxmlformats.org/officeDocument/2006/relationships/slideLayout" Target="/ppt/slideLayouts/slideLayout3.xml" Id="Rc89a28b684424c3d" /></Relationships>
</file>

<file path=ppt/slides/_rels/slide384.xml.rels>&#65279;<?xml version="1.0" encoding="utf-8"?><Relationships xmlns="http://schemas.openxmlformats.org/package/2006/relationships"><Relationship Type="http://schemas.openxmlformats.org/officeDocument/2006/relationships/slideLayout" Target="/ppt/slideLayouts/slideLayout3.xml" Id="R7d4ccc4c72854eab" /></Relationships>
</file>

<file path=ppt/slides/_rels/slide385.xml.rels>&#65279;<?xml version="1.0" encoding="utf-8"?><Relationships xmlns="http://schemas.openxmlformats.org/package/2006/relationships"><Relationship Type="http://schemas.openxmlformats.org/officeDocument/2006/relationships/slideLayout" Target="/ppt/slideLayouts/slideLayout3.xml" Id="R5eff86d55c4a452e" /></Relationships>
</file>

<file path=ppt/slides/_rels/slide386.xml.rels>&#65279;<?xml version="1.0" encoding="utf-8"?><Relationships xmlns="http://schemas.openxmlformats.org/package/2006/relationships"><Relationship Type="http://schemas.openxmlformats.org/officeDocument/2006/relationships/slideLayout" Target="/ppt/slideLayouts/slideLayout3.xml" Id="R9ba6f7c4b33149cf" /></Relationships>
</file>

<file path=ppt/slides/_rels/slide387.xml.rels>&#65279;<?xml version="1.0" encoding="utf-8"?><Relationships xmlns="http://schemas.openxmlformats.org/package/2006/relationships"><Relationship Type="http://schemas.openxmlformats.org/officeDocument/2006/relationships/slideLayout" Target="/ppt/slideLayouts/slideLayout3.xml" Id="R82b7229a226d499c" /></Relationships>
</file>

<file path=ppt/slides/_rels/slide388.xml.rels>&#65279;<?xml version="1.0" encoding="utf-8"?><Relationships xmlns="http://schemas.openxmlformats.org/package/2006/relationships"><Relationship Type="http://schemas.openxmlformats.org/officeDocument/2006/relationships/slideLayout" Target="/ppt/slideLayouts/slideLayout3.xml" Id="R2e79240df2c34902" /></Relationships>
</file>

<file path=ppt/slides/_rels/slide389.xml.rels>&#65279;<?xml version="1.0" encoding="utf-8"?><Relationships xmlns="http://schemas.openxmlformats.org/package/2006/relationships"><Relationship Type="http://schemas.openxmlformats.org/officeDocument/2006/relationships/slideLayout" Target="/ppt/slideLayouts/slideLayout3.xml" Id="R424b4686b7d946ac" /></Relationships>
</file>

<file path=ppt/slides/_rels/slide390.xml.rels>&#65279;<?xml version="1.0" encoding="utf-8"?><Relationships xmlns="http://schemas.openxmlformats.org/package/2006/relationships"><Relationship Type="http://schemas.openxmlformats.org/officeDocument/2006/relationships/slideLayout" Target="/ppt/slideLayouts/slideLayout3.xml" Id="R838501de0d814622" /></Relationships>
</file>

<file path=ppt/slides/_rels/slide391.xml.rels>&#65279;<?xml version="1.0" encoding="utf-8"?><Relationships xmlns="http://schemas.openxmlformats.org/package/2006/relationships"><Relationship Type="http://schemas.openxmlformats.org/officeDocument/2006/relationships/slideLayout" Target="/ppt/slideLayouts/slideLayout3.xml" Id="R25e50a3087a5465a" /></Relationships>
</file>

<file path=ppt/slides/_rels/slide392.xml.rels>&#65279;<?xml version="1.0" encoding="utf-8"?><Relationships xmlns="http://schemas.openxmlformats.org/package/2006/relationships"><Relationship Type="http://schemas.openxmlformats.org/officeDocument/2006/relationships/slideLayout" Target="/ppt/slideLayouts/slideLayout3.xml" Id="Rbfd8cff2f91d4cf4" /></Relationships>
</file>

<file path=ppt/slides/_rels/slide393.xml.rels>&#65279;<?xml version="1.0" encoding="utf-8"?><Relationships xmlns="http://schemas.openxmlformats.org/package/2006/relationships"><Relationship Type="http://schemas.openxmlformats.org/officeDocument/2006/relationships/slideLayout" Target="/ppt/slideLayouts/slideLayout3.xml" Id="R1d17a0dea8fc4b73" /></Relationships>
</file>

<file path=ppt/slides/_rels/slide394.xml.rels>&#65279;<?xml version="1.0" encoding="utf-8"?><Relationships xmlns="http://schemas.openxmlformats.org/package/2006/relationships"><Relationship Type="http://schemas.openxmlformats.org/officeDocument/2006/relationships/slideLayout" Target="/ppt/slideLayouts/slideLayout3.xml" Id="R70da0307aece4dba" /></Relationships>
</file>

<file path=ppt/slides/_rels/slide395.xml.rels>&#65279;<?xml version="1.0" encoding="utf-8"?><Relationships xmlns="http://schemas.openxmlformats.org/package/2006/relationships"><Relationship Type="http://schemas.openxmlformats.org/officeDocument/2006/relationships/slideLayout" Target="/ppt/slideLayouts/slideLayout3.xml" Id="R4bd510aa273c4e7a" /></Relationships>
</file>

<file path=ppt/slides/_rels/slide396.xml.rels>&#65279;<?xml version="1.0" encoding="utf-8"?><Relationships xmlns="http://schemas.openxmlformats.org/package/2006/relationships"><Relationship Type="http://schemas.openxmlformats.org/officeDocument/2006/relationships/slideLayout" Target="/ppt/slideLayouts/slideLayout3.xml" Id="Rb63b7b097aca4f9f" /></Relationships>
</file>

<file path=ppt/slides/_rels/slide397.xml.rels>&#65279;<?xml version="1.0" encoding="utf-8"?><Relationships xmlns="http://schemas.openxmlformats.org/package/2006/relationships"><Relationship Type="http://schemas.openxmlformats.org/officeDocument/2006/relationships/slideLayout" Target="/ppt/slideLayouts/slideLayout3.xml" Id="R1cb7a7e17c044f4a" /></Relationships>
</file>

<file path=ppt/slides/_rels/slide398.xml.rels>&#65279;<?xml version="1.0" encoding="utf-8"?><Relationships xmlns="http://schemas.openxmlformats.org/package/2006/relationships"><Relationship Type="http://schemas.openxmlformats.org/officeDocument/2006/relationships/slideLayout" Target="/ppt/slideLayouts/slideLayout3.xml" Id="Rbc6308c70df642db" /></Relationships>
</file>

<file path=ppt/slides/_rels/slide399.xml.rels>&#65279;<?xml version="1.0" encoding="utf-8"?><Relationships xmlns="http://schemas.openxmlformats.org/package/2006/relationships"><Relationship Type="http://schemas.openxmlformats.org/officeDocument/2006/relationships/slideLayout" Target="/ppt/slideLayouts/slideLayout3.xml" Id="R5319b09034b84b6a" /></Relationships>
</file>

<file path=ppt/slides/_rels/slide400.xml.rels>&#65279;<?xml version="1.0" encoding="utf-8"?><Relationships xmlns="http://schemas.openxmlformats.org/package/2006/relationships"><Relationship Type="http://schemas.openxmlformats.org/officeDocument/2006/relationships/slideLayout" Target="/ppt/slideLayouts/slideLayout3.xml" Id="R8b2d2a7cb7524b30" /></Relationships>
</file>

<file path=ppt/slides/_rels/slide401.xml.rels>&#65279;<?xml version="1.0" encoding="utf-8"?><Relationships xmlns="http://schemas.openxmlformats.org/package/2006/relationships"><Relationship Type="http://schemas.openxmlformats.org/officeDocument/2006/relationships/slideLayout" Target="/ppt/slideLayouts/slideLayout3.xml" Id="Rf8e0db722f3e4a70" /></Relationships>
</file>

<file path=ppt/slides/_rels/slide402.xml.rels>&#65279;<?xml version="1.0" encoding="utf-8"?><Relationships xmlns="http://schemas.openxmlformats.org/package/2006/relationships"><Relationship Type="http://schemas.openxmlformats.org/officeDocument/2006/relationships/slideLayout" Target="/ppt/slideLayouts/slideLayout3.xml" Id="R6850d0184bd042e0" /></Relationships>
</file>

<file path=ppt/slides/_rels/slide403.xml.rels>&#65279;<?xml version="1.0" encoding="utf-8"?><Relationships xmlns="http://schemas.openxmlformats.org/package/2006/relationships"><Relationship Type="http://schemas.openxmlformats.org/officeDocument/2006/relationships/slideLayout" Target="/ppt/slideLayouts/slideLayout3.xml" Id="Rb589afc169064ea0" /></Relationships>
</file>

<file path=ppt/slides/_rels/slide404.xml.rels>&#65279;<?xml version="1.0" encoding="utf-8"?><Relationships xmlns="http://schemas.openxmlformats.org/package/2006/relationships"><Relationship Type="http://schemas.openxmlformats.org/officeDocument/2006/relationships/slideLayout" Target="/ppt/slideLayouts/slideLayout3.xml" Id="R8f17b23ee0eb45e2" /></Relationships>
</file>

<file path=ppt/slides/_rels/slide405.xml.rels>&#65279;<?xml version="1.0" encoding="utf-8"?><Relationships xmlns="http://schemas.openxmlformats.org/package/2006/relationships"><Relationship Type="http://schemas.openxmlformats.org/officeDocument/2006/relationships/slideLayout" Target="/ppt/slideLayouts/slideLayout3.xml" Id="R5ae7ac30fce24100" /></Relationships>
</file>

<file path=ppt/slides/_rels/slide406.xml.rels>&#65279;<?xml version="1.0" encoding="utf-8"?><Relationships xmlns="http://schemas.openxmlformats.org/package/2006/relationships"><Relationship Type="http://schemas.openxmlformats.org/officeDocument/2006/relationships/slideLayout" Target="/ppt/slideLayouts/slideLayout3.xml" Id="R2cd201b90ccc42ce" /></Relationships>
</file>

<file path=ppt/slides/_rels/slide407.xml.rels>&#65279;<?xml version="1.0" encoding="utf-8"?><Relationships xmlns="http://schemas.openxmlformats.org/package/2006/relationships"><Relationship Type="http://schemas.openxmlformats.org/officeDocument/2006/relationships/slideLayout" Target="/ppt/slideLayouts/slideLayout3.xml" Id="Ra1d8aef1305644f6" /></Relationships>
</file>

<file path=ppt/slides/_rels/slide408.xml.rels>&#65279;<?xml version="1.0" encoding="utf-8"?><Relationships xmlns="http://schemas.openxmlformats.org/package/2006/relationships"><Relationship Type="http://schemas.openxmlformats.org/officeDocument/2006/relationships/slideLayout" Target="/ppt/slideLayouts/slideLayout3.xml" Id="Rc31656d724a24bdc" /></Relationships>
</file>

<file path=ppt/slides/_rels/slide409.xml.rels>&#65279;<?xml version="1.0" encoding="utf-8"?><Relationships xmlns="http://schemas.openxmlformats.org/package/2006/relationships"><Relationship Type="http://schemas.openxmlformats.org/officeDocument/2006/relationships/slideLayout" Target="/ppt/slideLayouts/slideLayout3.xml" Id="Rc66d6e451bec462b" /></Relationships>
</file>

<file path=ppt/slides/_rels/slide410.xml.rels>&#65279;<?xml version="1.0" encoding="utf-8"?><Relationships xmlns="http://schemas.openxmlformats.org/package/2006/relationships"><Relationship Type="http://schemas.openxmlformats.org/officeDocument/2006/relationships/slideLayout" Target="/ppt/slideLayouts/slideLayout3.xml" Id="R7827a7b43ee74cec" /></Relationships>
</file>

<file path=ppt/slides/_rels/slide411.xml.rels>&#65279;<?xml version="1.0" encoding="utf-8"?><Relationships xmlns="http://schemas.openxmlformats.org/package/2006/relationships"><Relationship Type="http://schemas.openxmlformats.org/officeDocument/2006/relationships/slideLayout" Target="/ppt/slideLayouts/slideLayout3.xml" Id="R210a1fb44e064110" /></Relationships>
</file>

<file path=ppt/slides/_rels/slide412.xml.rels>&#65279;<?xml version="1.0" encoding="utf-8"?><Relationships xmlns="http://schemas.openxmlformats.org/package/2006/relationships"><Relationship Type="http://schemas.openxmlformats.org/officeDocument/2006/relationships/slideLayout" Target="/ppt/slideLayouts/slideLayout3.xml" Id="R312ef481e3c5471c" /></Relationships>
</file>

<file path=ppt/slides/_rels/slide413.xml.rels>&#65279;<?xml version="1.0" encoding="utf-8"?><Relationships xmlns="http://schemas.openxmlformats.org/package/2006/relationships"><Relationship Type="http://schemas.openxmlformats.org/officeDocument/2006/relationships/slideLayout" Target="/ppt/slideLayouts/slideLayout3.xml" Id="Rc3a213e2d7da4519" /></Relationships>
</file>

<file path=ppt/slides/_rels/slide414.xml.rels>&#65279;<?xml version="1.0" encoding="utf-8"?><Relationships xmlns="http://schemas.openxmlformats.org/package/2006/relationships"><Relationship Type="http://schemas.openxmlformats.org/officeDocument/2006/relationships/slideLayout" Target="/ppt/slideLayouts/slideLayout3.xml" Id="Rb47e33b0c30946e0" /></Relationships>
</file>

<file path=ppt/slides/_rels/slide415.xml.rels>&#65279;<?xml version="1.0" encoding="utf-8"?><Relationships xmlns="http://schemas.openxmlformats.org/package/2006/relationships"><Relationship Type="http://schemas.openxmlformats.org/officeDocument/2006/relationships/slideLayout" Target="/ppt/slideLayouts/slideLayout3.xml" Id="R061aed2592c4496e" /></Relationships>
</file>

<file path=ppt/slides/_rels/slide416.xml.rels>&#65279;<?xml version="1.0" encoding="utf-8"?><Relationships xmlns="http://schemas.openxmlformats.org/package/2006/relationships"><Relationship Type="http://schemas.openxmlformats.org/officeDocument/2006/relationships/slideLayout" Target="/ppt/slideLayouts/slideLayout3.xml" Id="Rb6ef68d932b54d8a" /></Relationships>
</file>

<file path=ppt/slides/_rels/slide417.xml.rels>&#65279;<?xml version="1.0" encoding="utf-8"?><Relationships xmlns="http://schemas.openxmlformats.org/package/2006/relationships"><Relationship Type="http://schemas.openxmlformats.org/officeDocument/2006/relationships/slideLayout" Target="/ppt/slideLayouts/slideLayout3.xml" Id="R4e43034b3ef14c2b" /></Relationships>
</file>

<file path=ppt/slides/_rels/slide418.xml.rels>&#65279;<?xml version="1.0" encoding="utf-8"?><Relationships xmlns="http://schemas.openxmlformats.org/package/2006/relationships"><Relationship Type="http://schemas.openxmlformats.org/officeDocument/2006/relationships/slideLayout" Target="/ppt/slideLayouts/slideLayout3.xml" Id="Rc1fe57f6ecdc46ea" /></Relationships>
</file>

<file path=ppt/slides/_rels/slide419.xml.rels>&#65279;<?xml version="1.0" encoding="utf-8"?><Relationships xmlns="http://schemas.openxmlformats.org/package/2006/relationships"><Relationship Type="http://schemas.openxmlformats.org/officeDocument/2006/relationships/slideLayout" Target="/ppt/slideLayouts/slideLayout3.xml" Id="Rcf8855496e1d42a9" /></Relationships>
</file>

<file path=ppt/slides/_rels/slide420.xml.rels>&#65279;<?xml version="1.0" encoding="utf-8"?><Relationships xmlns="http://schemas.openxmlformats.org/package/2006/relationships"><Relationship Type="http://schemas.openxmlformats.org/officeDocument/2006/relationships/slideLayout" Target="/ppt/slideLayouts/slideLayout3.xml" Id="R60e81183b25446b3" /></Relationships>
</file>

<file path=ppt/slides/_rels/slide421.xml.rels>&#65279;<?xml version="1.0" encoding="utf-8"?><Relationships xmlns="http://schemas.openxmlformats.org/package/2006/relationships"><Relationship Type="http://schemas.openxmlformats.org/officeDocument/2006/relationships/slideLayout" Target="/ppt/slideLayouts/slideLayout3.xml" Id="R2779cc5d9810410e" /></Relationships>
</file>

<file path=ppt/slides/_rels/slide422.xml.rels>&#65279;<?xml version="1.0" encoding="utf-8"?><Relationships xmlns="http://schemas.openxmlformats.org/package/2006/relationships"><Relationship Type="http://schemas.openxmlformats.org/officeDocument/2006/relationships/slideLayout" Target="/ppt/slideLayouts/slideLayout3.xml" Id="Rb89a36e8cecf469f" /></Relationships>
</file>

<file path=ppt/slides/_rels/slide423.xml.rels>&#65279;<?xml version="1.0" encoding="utf-8"?><Relationships xmlns="http://schemas.openxmlformats.org/package/2006/relationships"><Relationship Type="http://schemas.openxmlformats.org/officeDocument/2006/relationships/slideLayout" Target="/ppt/slideLayouts/slideLayout3.xml" Id="Rbc8211add1814fca" /></Relationships>
</file>

<file path=ppt/slides/_rels/slide424.xml.rels>&#65279;<?xml version="1.0" encoding="utf-8"?><Relationships xmlns="http://schemas.openxmlformats.org/package/2006/relationships"><Relationship Type="http://schemas.openxmlformats.org/officeDocument/2006/relationships/slideLayout" Target="/ppt/slideLayouts/slideLayout3.xml" Id="Rfbb3ca716e314ebf" /></Relationships>
</file>

<file path=ppt/slides/_rels/slide425.xml.rels>&#65279;<?xml version="1.0" encoding="utf-8"?><Relationships xmlns="http://schemas.openxmlformats.org/package/2006/relationships"><Relationship Type="http://schemas.openxmlformats.org/officeDocument/2006/relationships/slideLayout" Target="/ppt/slideLayouts/slideLayout3.xml" Id="R69449aa283e64693" /></Relationships>
</file>

<file path=ppt/slides/_rels/slide426.xml.rels>&#65279;<?xml version="1.0" encoding="utf-8"?><Relationships xmlns="http://schemas.openxmlformats.org/package/2006/relationships"><Relationship Type="http://schemas.openxmlformats.org/officeDocument/2006/relationships/slideLayout" Target="/ppt/slideLayouts/slideLayout3.xml" Id="Rc8d72161eddd4156" /></Relationships>
</file>

<file path=ppt/slides/_rels/slide427.xml.rels>&#65279;<?xml version="1.0" encoding="utf-8"?><Relationships xmlns="http://schemas.openxmlformats.org/package/2006/relationships"><Relationship Type="http://schemas.openxmlformats.org/officeDocument/2006/relationships/slideLayout" Target="/ppt/slideLayouts/slideLayout3.xml" Id="Ra107f59e307e42cb" /></Relationships>
</file>

<file path=ppt/slides/_rels/slide428.xml.rels>&#65279;<?xml version="1.0" encoding="utf-8"?><Relationships xmlns="http://schemas.openxmlformats.org/package/2006/relationships"><Relationship Type="http://schemas.openxmlformats.org/officeDocument/2006/relationships/slideLayout" Target="/ppt/slideLayouts/slideLayout3.xml" Id="R82c60697aac64801" /></Relationships>
</file>

<file path=ppt/slides/_rels/slide429.xml.rels>&#65279;<?xml version="1.0" encoding="utf-8"?><Relationships xmlns="http://schemas.openxmlformats.org/package/2006/relationships"><Relationship Type="http://schemas.openxmlformats.org/officeDocument/2006/relationships/slideLayout" Target="/ppt/slideLayouts/slideLayout3.xml" Id="R968d04961818494f" /></Relationships>
</file>

<file path=ppt/slides/_rels/slide430.xml.rels>&#65279;<?xml version="1.0" encoding="utf-8"?><Relationships xmlns="http://schemas.openxmlformats.org/package/2006/relationships"><Relationship Type="http://schemas.openxmlformats.org/officeDocument/2006/relationships/slideLayout" Target="/ppt/slideLayouts/slideLayout3.xml" Id="Rf61c3e859f3948d7" /></Relationships>
</file>

<file path=ppt/slides/_rels/slide431.xml.rels>&#65279;<?xml version="1.0" encoding="utf-8"?><Relationships xmlns="http://schemas.openxmlformats.org/package/2006/relationships"><Relationship Type="http://schemas.openxmlformats.org/officeDocument/2006/relationships/slideLayout" Target="/ppt/slideLayouts/slideLayout3.xml" Id="Rd6d63cd390784b76" /></Relationships>
</file>

<file path=ppt/slides/_rels/slide432.xml.rels>&#65279;<?xml version="1.0" encoding="utf-8"?><Relationships xmlns="http://schemas.openxmlformats.org/package/2006/relationships"><Relationship Type="http://schemas.openxmlformats.org/officeDocument/2006/relationships/slideLayout" Target="/ppt/slideLayouts/slideLayout3.xml" Id="R86fbf964c1a941e9" /></Relationships>
</file>

<file path=ppt/slides/_rels/slide433.xml.rels>&#65279;<?xml version="1.0" encoding="utf-8"?><Relationships xmlns="http://schemas.openxmlformats.org/package/2006/relationships"><Relationship Type="http://schemas.openxmlformats.org/officeDocument/2006/relationships/slideLayout" Target="/ppt/slideLayouts/slideLayout3.xml" Id="R8f11b2fd7d424909" /></Relationships>
</file>

<file path=ppt/slides/_rels/slide434.xml.rels>&#65279;<?xml version="1.0" encoding="utf-8"?><Relationships xmlns="http://schemas.openxmlformats.org/package/2006/relationships"><Relationship Type="http://schemas.openxmlformats.org/officeDocument/2006/relationships/slideLayout" Target="/ppt/slideLayouts/slideLayout3.xml" Id="R5a1400c6bcfd4a39" /></Relationships>
</file>

<file path=ppt/slides/_rels/slide435.xml.rels>&#65279;<?xml version="1.0" encoding="utf-8"?><Relationships xmlns="http://schemas.openxmlformats.org/package/2006/relationships"><Relationship Type="http://schemas.openxmlformats.org/officeDocument/2006/relationships/slideLayout" Target="/ppt/slideLayouts/slideLayout3.xml" Id="R2e4aaa225f9f4e56" /></Relationships>
</file>

<file path=ppt/slides/_rels/slide436.xml.rels>&#65279;<?xml version="1.0" encoding="utf-8"?><Relationships xmlns="http://schemas.openxmlformats.org/package/2006/relationships"><Relationship Type="http://schemas.openxmlformats.org/officeDocument/2006/relationships/slideLayout" Target="/ppt/slideLayouts/slideLayout3.xml" Id="R14d01f937b7a43f5" /></Relationships>
</file>

<file path=ppt/slides/_rels/slide437.xml.rels>&#65279;<?xml version="1.0" encoding="utf-8"?><Relationships xmlns="http://schemas.openxmlformats.org/package/2006/relationships"><Relationship Type="http://schemas.openxmlformats.org/officeDocument/2006/relationships/slideLayout" Target="/ppt/slideLayouts/slideLayout3.xml" Id="Rbd14f9ac128247f8" /></Relationships>
</file>

<file path=ppt/slides/_rels/slide438.xml.rels>&#65279;<?xml version="1.0" encoding="utf-8"?><Relationships xmlns="http://schemas.openxmlformats.org/package/2006/relationships"><Relationship Type="http://schemas.openxmlformats.org/officeDocument/2006/relationships/slideLayout" Target="/ppt/slideLayouts/slideLayout3.xml" Id="R937153436ccd43c0" /></Relationships>
</file>

<file path=ppt/slides/_rels/slide439.xml.rels>&#65279;<?xml version="1.0" encoding="utf-8"?><Relationships xmlns="http://schemas.openxmlformats.org/package/2006/relationships"><Relationship Type="http://schemas.openxmlformats.org/officeDocument/2006/relationships/slideLayout" Target="/ppt/slideLayouts/slideLayout3.xml" Id="R296361829fda482c" /></Relationships>
</file>

<file path=ppt/slides/_rels/slide440.xml.rels>&#65279;<?xml version="1.0" encoding="utf-8"?><Relationships xmlns="http://schemas.openxmlformats.org/package/2006/relationships"><Relationship Type="http://schemas.openxmlformats.org/officeDocument/2006/relationships/slideLayout" Target="/ppt/slideLayouts/slideLayout3.xml" Id="Rca2a99b145094864" /></Relationships>
</file>

<file path=ppt/slides/_rels/slide441.xml.rels>&#65279;<?xml version="1.0" encoding="utf-8"?><Relationships xmlns="http://schemas.openxmlformats.org/package/2006/relationships"><Relationship Type="http://schemas.openxmlformats.org/officeDocument/2006/relationships/slideLayout" Target="/ppt/slideLayouts/slideLayout3.xml" Id="R865c69d903df43d2" /></Relationships>
</file>

<file path=ppt/slides/_rels/slide442.xml.rels>&#65279;<?xml version="1.0" encoding="utf-8"?><Relationships xmlns="http://schemas.openxmlformats.org/package/2006/relationships"><Relationship Type="http://schemas.openxmlformats.org/officeDocument/2006/relationships/slideLayout" Target="/ppt/slideLayouts/slideLayout3.xml" Id="Rbe0a5fc9f30f455e" /></Relationships>
</file>

<file path=ppt/slides/_rels/slide443.xml.rels>&#65279;<?xml version="1.0" encoding="utf-8"?><Relationships xmlns="http://schemas.openxmlformats.org/package/2006/relationships"><Relationship Type="http://schemas.openxmlformats.org/officeDocument/2006/relationships/slideLayout" Target="/ppt/slideLayouts/slideLayout3.xml" Id="R21819cf857604420" /></Relationships>
</file>

<file path=ppt/slides/_rels/slide444.xml.rels>&#65279;<?xml version="1.0" encoding="utf-8"?><Relationships xmlns="http://schemas.openxmlformats.org/package/2006/relationships"><Relationship Type="http://schemas.openxmlformats.org/officeDocument/2006/relationships/slideLayout" Target="/ppt/slideLayouts/slideLayout3.xml" Id="R17c2abff9d374a7e" /></Relationships>
</file>

<file path=ppt/slides/_rels/slide445.xml.rels>&#65279;<?xml version="1.0" encoding="utf-8"?><Relationships xmlns="http://schemas.openxmlformats.org/package/2006/relationships"><Relationship Type="http://schemas.openxmlformats.org/officeDocument/2006/relationships/slideLayout" Target="/ppt/slideLayouts/slideLayout3.xml" Id="R92b47410c4384282" /></Relationships>
</file>

<file path=ppt/slides/_rels/slide446.xml.rels>&#65279;<?xml version="1.0" encoding="utf-8"?><Relationships xmlns="http://schemas.openxmlformats.org/package/2006/relationships"><Relationship Type="http://schemas.openxmlformats.org/officeDocument/2006/relationships/slideLayout" Target="/ppt/slideLayouts/slideLayout3.xml" Id="R21042570522d4a43" /></Relationships>
</file>

<file path=ppt/slides/_rels/slide447.xml.rels>&#65279;<?xml version="1.0" encoding="utf-8"?><Relationships xmlns="http://schemas.openxmlformats.org/package/2006/relationships"><Relationship Type="http://schemas.openxmlformats.org/officeDocument/2006/relationships/slideLayout" Target="/ppt/slideLayouts/slideLayout3.xml" Id="Re3d17471074144a4" /></Relationships>
</file>

<file path=ppt/slides/_rels/slide448.xml.rels>&#65279;<?xml version="1.0" encoding="utf-8"?><Relationships xmlns="http://schemas.openxmlformats.org/package/2006/relationships"><Relationship Type="http://schemas.openxmlformats.org/officeDocument/2006/relationships/slideLayout" Target="/ppt/slideLayouts/slideLayout3.xml" Id="Rbeef1b0fd3ea4375" /></Relationships>
</file>

<file path=ppt/slides/_rels/slide449.xml.rels>&#65279;<?xml version="1.0" encoding="utf-8"?><Relationships xmlns="http://schemas.openxmlformats.org/package/2006/relationships"><Relationship Type="http://schemas.openxmlformats.org/officeDocument/2006/relationships/slideLayout" Target="/ppt/slideLayouts/slideLayout3.xml" Id="Rd4b40a72b4fc4d46" /></Relationships>
</file>

<file path=ppt/slides/_rels/slide450.xml.rels>&#65279;<?xml version="1.0" encoding="utf-8"?><Relationships xmlns="http://schemas.openxmlformats.org/package/2006/relationships"><Relationship Type="http://schemas.openxmlformats.org/officeDocument/2006/relationships/slideLayout" Target="/ppt/slideLayouts/slideLayout3.xml" Id="R78d72454b6024869" /></Relationships>
</file>

<file path=ppt/slides/_rels/slide451.xml.rels>&#65279;<?xml version="1.0" encoding="utf-8"?><Relationships xmlns="http://schemas.openxmlformats.org/package/2006/relationships"><Relationship Type="http://schemas.openxmlformats.org/officeDocument/2006/relationships/slideLayout" Target="/ppt/slideLayouts/slideLayout3.xml" Id="Ra077631b680340f5"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9EA63DC4-D20A-484D-BB08-FA440FC34FBC}"/>
              </a:ext>
            </a:extLst>
          </p:cNvPr>
          <p:cNvSpPr>
            <a:spLocks xmlns:a="http://schemas.openxmlformats.org/drawingml/2006/main" noGrp="1"/>
          </p:cNvSpPr>
          <p:nvPr>
            <p:ph type="title" idx="0"/>
          </p:nvPr>
        </p:nvSpPr>
        <p:spPr>
          <a:xfrm xmlns:a="http://schemas.openxmlformats.org/drawingml/2006/main">
            <a:off x="476250" y="2000250"/>
            <a:ext cx="8572500" cy="1762125"/>
          </a:xfrm>
        </p:spPr>
        <p:txBody>
          <a:bodyPr xmlns:a="http://schemas.openxmlformats.org/drawingml/2006/main"/>
          <a:lstStyle xmlns:a="http://schemas.openxmlformats.org/drawingml/2006/main"/>
          <a:p xmlns:a="http://schemas.openxmlformats.org/drawingml/2006/main">
            <a:pPr>
              <a:lnSpc>
                <a:spcPct val="100000"/>
              </a:lnSpc>
              <a:buNone/>
            </a:pPr>
            <a:r>
              <a:rPr sz="4400"/>
              <a:t>Recht haben.</a:t>
            </a:r>
          </a:p>
          <a:p xmlns:a="http://schemas.openxmlformats.org/drawingml/2006/main">
            <a:pPr>
              <a:lnSpc>
                <a:spcPct val="100000"/>
              </a:lnSpc>
              <a:buNone/>
            </a:pPr>
            <a:r>
              <a:rPr sz="4400"/>
              <a:t>Recht bekommen.</a:t>
            </a:r>
          </a:p>
        </p:txBody>
      </p:sp>
      <p:sp>
        <p:nvSpPr>
          <p:cNvPr id="4" name="Textplatzhalter 3">
            <a:extLst xmlns:a="http://schemas.openxmlformats.org/drawingml/2006/main">
              <a:ext uri="{FF2B5EF4-FFF2-40B4-BE49-F238E27FC236}">
                <a16:creationId xmlns:a16="http://schemas.microsoft.com/office/drawing/2014/main" id="{87C8910F-00A7-4EB2-AAFE-A90821B9CCD2}"/>
              </a:ext>
            </a:extLst>
          </p:cNvPr>
          <p:cNvSpPr>
            <a:spLocks xmlns:a="http://schemas.openxmlformats.org/drawingml/2006/main" noGrp="1"/>
          </p:cNvSpPr>
          <p:nvPr>
            <p:ph type="body" idx="4294967295"/>
          </p:nvPr>
        </p:nvSpPr>
        <p:spPr>
          <a:xfrm xmlns:a="http://schemas.openxmlformats.org/drawingml/2006/main">
            <a:off x="476250" y="4238625"/>
            <a:ext cx="5334000" cy="1428750"/>
          </a:xfrm>
        </p:spPr>
        <p:txBody>
          <a:bodyPr xmlns:a="http://schemas.openxmlformats.org/drawingml/2006/main"/>
          <a:lstStyle xmlns:a="http://schemas.openxmlformats.org/drawingml/2006/main"/>
          <a:p xmlns:a="http://schemas.openxmlformats.org/drawingml/2006/main">
            <a:pPr marL="0" indent="0">
              <a:buNone/>
            </a:pPr>
            <a:r>
              <a:rPr sz="2800">
                <a:solidFill>
                  <a:schemeClr val="bg1"/>
                </a:solidFill>
              </a:rPr>
              <a:t>Wahlmodul Medizinrecht · 6.01.4493700b</a:t>
            </a:r>
          </a:p>
          <a:p xmlns:a="http://schemas.openxmlformats.org/drawingml/2006/main">
            <a:pPr marL="0" indent="0">
              <a:buNone/>
            </a:pPr>
            <a:r>
              <a:t>PJ &amp; Assistenzarztzeit · Mi 16:30–17:45 Uhr</a:t>
            </a:r>
            <a:endParaRPr sz="3200">
              <a:solidFill>
                <a:schemeClr val="bg1"/>
              </a:solidFill>
            </a:endParaRPr>
          </a:p>
          <a:p xmlns:a="http://schemas.openxmlformats.org/drawingml/2006/main">
            <a:pPr marL="0" indent="0">
              <a:buNone/>
            </a:pPr>
            <a:r>
              <a:t>Wintersemester 2026/27</a:t>
            </a:r>
            <a:endParaRPr sz="3200">
              <a:solidFill>
                <a:schemeClr val="bg1"/>
              </a:solidFill>
            </a:endParaRPr>
          </a:p>
        </p:txBody>
      </p:sp>
    </p:spTree>
    <p:extLst>
      <p:ext uri="{BB962C8B-B14F-4D97-AF65-F5344CB8AC3E}">
        <p14:creationId xmlns:p14="http://schemas.microsoft.com/office/powerpoint/2010/main" val="212167885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Kurs-Checkliste: Was Sie am Ende können sollen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KOMPETENZZIELE DES GESAMTEN MODULS</a:t>
            </a:r>
            <a:endParaRPr/>
          </a:p>
        </p:txBody>
      </p:sp>
      <p:sp>
        <p:nvSpPr>
          <p:cNvPr id="4" name="">
            <a:extLst xmlns:a="http://schemas.openxmlformats.org/drawingml/2006/main">
              <a:ext uri="{FF2B5EF4-FFF2-40B4-BE49-F238E27FC236}">
                <a16:creationId xmlns:a16="http://schemas.microsoft.com/office/drawing/2014/main" id="{4206A5E0-E460-4486-88CC-4D5605110E96}"/>
              </a:ext>
            </a:extLst>
          </p:cNvPr>
          <p:cNvSpPr>
            <a:spLocks xmlns:a="http://schemas.openxmlformats.org/drawingml/2006/main" noGrp="1"/>
          </p:cNvSpPr>
          <p:nvPr/>
        </p:nvSpPr>
        <p:spPr>
          <a:xfrm xmlns:a="http://schemas.openxmlformats.org/drawingml/2006/main">
            <a:off x="1809750" y="1981200"/>
            <a:ext cx="4638675" cy="776288"/>
          </a:xfrm>
          <a:prstGeom xmlns:a="http://schemas.openxmlformats.org/drawingml/2006/main" prst="roundRect">
            <a:avLst>
              <a:gd name="adj" fmla="val 9816"/>
            </a:avLst>
          </a:prstGeom>
          <a:noFill xmlns:a="http://schemas.openxmlformats.org/drawingml/2006/main"/>
          <a:ln xmlns:a="http://schemas.openxmlformats.org/drawingml/2006/main" w="11430">
            <a:solidFill>
              <a:srgbClr val="00B2BB"/>
            </a:solidFill>
            <a:prstDash val="solid"/>
          </a:ln>
        </p:spPr>
      </p:sp>
      <p:sp>
        <p:nvSpPr>
          <p:cNvPr id="5" name="">
            <a:extLst xmlns:a="http://schemas.openxmlformats.org/drawingml/2006/main">
              <a:ext uri="{FF2B5EF4-FFF2-40B4-BE49-F238E27FC236}">
                <a16:creationId xmlns:a16="http://schemas.microsoft.com/office/drawing/2014/main" id="{B774D08C-EEDA-4405-A68D-19D611EF2506}"/>
              </a:ext>
            </a:extLst>
          </p:cNvPr>
          <p:cNvSpPr>
            <a:spLocks xmlns:a="http://schemas.openxmlformats.org/drawingml/2006/main" noGrp="1"/>
          </p:cNvSpPr>
          <p:nvPr/>
        </p:nvSpPr>
        <p:spPr>
          <a:xfrm xmlns:a="http://schemas.openxmlformats.org/drawingml/2006/main">
            <a:off x="1943100" y="2124075"/>
            <a:ext cx="40005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88723CA6-193B-41E2-8F79-72296D48A514}"/>
              </a:ext>
            </a:extLst>
          </p:cNvPr>
          <p:cNvSpPr>
            <a:spLocks xmlns:a="http://schemas.openxmlformats.org/drawingml/2006/main" noGrp="1"/>
          </p:cNvSpPr>
          <p:nvPr/>
        </p:nvSpPr>
        <p:spPr>
          <a:xfrm xmlns:a="http://schemas.openxmlformats.org/drawingml/2006/main">
            <a:off x="1943100" y="21050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7" name="">
            <a:extLst xmlns:a="http://schemas.openxmlformats.org/drawingml/2006/main">
              <a:ext uri="{FF2B5EF4-FFF2-40B4-BE49-F238E27FC236}">
                <a16:creationId xmlns:a16="http://schemas.microsoft.com/office/drawing/2014/main" id="{D2897B43-F32F-4006-9166-52DBD415C899}"/>
              </a:ext>
            </a:extLst>
          </p:cNvPr>
          <p:cNvSpPr>
            <a:spLocks xmlns:a="http://schemas.openxmlformats.org/drawingml/2006/main" noGrp="1"/>
          </p:cNvSpPr>
          <p:nvPr/>
        </p:nvSpPr>
        <p:spPr>
          <a:xfrm xmlns:a="http://schemas.openxmlformats.org/drawingml/2006/main">
            <a:off x="2476500" y="2076450"/>
            <a:ext cx="3819525" cy="585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095">
                <a:solidFill>
                  <a:srgbClr val="15232B"/>
                </a:solidFill>
              </a:defRPr>
            </a:pPr>
            <a:r>
              <a:rPr sz="1095">
                <a:solidFill>
                  <a:srgbClr val="15232B"/>
                </a:solidFill>
              </a:rPr>
              <a:t>einen medizinrechtlichen Konflikt der richtigen Verfahrensspur zuordnen.</a:t>
            </a:r>
          </a:p>
        </p:txBody>
      </p:sp>
      <p:sp>
        <p:nvSpPr>
          <p:cNvPr id="8" name="">
            <a:extLst xmlns:a="http://schemas.openxmlformats.org/drawingml/2006/main">
              <a:ext uri="{FF2B5EF4-FFF2-40B4-BE49-F238E27FC236}">
                <a16:creationId xmlns:a16="http://schemas.microsoft.com/office/drawing/2014/main" id="{60C8ED4E-686C-492D-832B-02853CE193A2}"/>
              </a:ext>
            </a:extLst>
          </p:cNvPr>
          <p:cNvSpPr>
            <a:spLocks xmlns:a="http://schemas.openxmlformats.org/drawingml/2006/main" noGrp="1"/>
          </p:cNvSpPr>
          <p:nvPr/>
        </p:nvSpPr>
        <p:spPr>
          <a:xfrm xmlns:a="http://schemas.openxmlformats.org/drawingml/2006/main">
            <a:off x="6696075" y="1981200"/>
            <a:ext cx="4638675" cy="776288"/>
          </a:xfrm>
          <a:prstGeom xmlns:a="http://schemas.openxmlformats.org/drawingml/2006/main" prst="roundRect">
            <a:avLst>
              <a:gd name="adj" fmla="val 9816"/>
            </a:avLst>
          </a:prstGeom>
          <a:noFill xmlns:a="http://schemas.openxmlformats.org/drawingml/2006/main"/>
          <a:ln xmlns:a="http://schemas.openxmlformats.org/drawingml/2006/main" w="11430">
            <a:solidFill>
              <a:srgbClr val="003F6B"/>
            </a:solidFill>
            <a:prstDash val="solid"/>
          </a:ln>
        </p:spPr>
      </p:sp>
      <p:sp>
        <p:nvSpPr>
          <p:cNvPr id="9" name="">
            <a:extLst xmlns:a="http://schemas.openxmlformats.org/drawingml/2006/main">
              <a:ext uri="{FF2B5EF4-FFF2-40B4-BE49-F238E27FC236}">
                <a16:creationId xmlns:a16="http://schemas.microsoft.com/office/drawing/2014/main" id="{907C7976-736F-4309-A7C3-FFEA49D334EF}"/>
              </a:ext>
            </a:extLst>
          </p:cNvPr>
          <p:cNvSpPr>
            <a:spLocks xmlns:a="http://schemas.openxmlformats.org/drawingml/2006/main" noGrp="1"/>
          </p:cNvSpPr>
          <p:nvPr/>
        </p:nvSpPr>
        <p:spPr>
          <a:xfrm xmlns:a="http://schemas.openxmlformats.org/drawingml/2006/main">
            <a:off x="6829425" y="2124075"/>
            <a:ext cx="4000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0F3C078C-4C82-40D7-92B1-24968AB2C6DA}"/>
              </a:ext>
            </a:extLst>
          </p:cNvPr>
          <p:cNvSpPr>
            <a:spLocks xmlns:a="http://schemas.openxmlformats.org/drawingml/2006/main" noGrp="1"/>
          </p:cNvSpPr>
          <p:nvPr/>
        </p:nvSpPr>
        <p:spPr>
          <a:xfrm xmlns:a="http://schemas.openxmlformats.org/drawingml/2006/main">
            <a:off x="6829425" y="21050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11" name="">
            <a:extLst xmlns:a="http://schemas.openxmlformats.org/drawingml/2006/main">
              <a:ext uri="{FF2B5EF4-FFF2-40B4-BE49-F238E27FC236}">
                <a16:creationId xmlns:a16="http://schemas.microsoft.com/office/drawing/2014/main" id="{0CD2BE78-3A61-4C20-B878-9904882E144B}"/>
              </a:ext>
            </a:extLst>
          </p:cNvPr>
          <p:cNvSpPr>
            <a:spLocks xmlns:a="http://schemas.openxmlformats.org/drawingml/2006/main" noGrp="1"/>
          </p:cNvSpPr>
          <p:nvPr/>
        </p:nvSpPr>
        <p:spPr>
          <a:xfrm xmlns:a="http://schemas.openxmlformats.org/drawingml/2006/main">
            <a:off x="7362825" y="2076450"/>
            <a:ext cx="3819525" cy="585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095">
                <a:solidFill>
                  <a:srgbClr val="15232B"/>
                </a:solidFill>
              </a:defRPr>
            </a:pPr>
            <a:r>
              <a:rPr sz="1095">
                <a:solidFill>
                  <a:srgbClr val="15232B"/>
                </a:solidFill>
              </a:rPr>
              <a:t>Arzthaftung nach §§ 280, 823 und 630a–630h BGB vollständig prüfen.</a:t>
            </a:r>
          </a:p>
        </p:txBody>
      </p:sp>
      <p:sp>
        <p:nvSpPr>
          <p:cNvPr id="12" name="">
            <a:extLst xmlns:a="http://schemas.openxmlformats.org/drawingml/2006/main">
              <a:ext uri="{FF2B5EF4-FFF2-40B4-BE49-F238E27FC236}">
                <a16:creationId xmlns:a16="http://schemas.microsoft.com/office/drawing/2014/main" id="{E9D4F372-C0D9-4BCF-A838-EBD4DB17E1D7}"/>
              </a:ext>
            </a:extLst>
          </p:cNvPr>
          <p:cNvSpPr>
            <a:spLocks xmlns:a="http://schemas.openxmlformats.org/drawingml/2006/main" noGrp="1"/>
          </p:cNvSpPr>
          <p:nvPr/>
        </p:nvSpPr>
        <p:spPr>
          <a:xfrm xmlns:a="http://schemas.openxmlformats.org/drawingml/2006/main">
            <a:off x="1809750" y="2871788"/>
            <a:ext cx="4638675" cy="776288"/>
          </a:xfrm>
          <a:prstGeom xmlns:a="http://schemas.openxmlformats.org/drawingml/2006/main" prst="roundRect">
            <a:avLst>
              <a:gd name="adj" fmla="val 9816"/>
            </a:avLst>
          </a:prstGeom>
          <a:noFill xmlns:a="http://schemas.openxmlformats.org/drawingml/2006/main"/>
          <a:ln xmlns:a="http://schemas.openxmlformats.org/drawingml/2006/main" w="11430">
            <a:solidFill>
              <a:srgbClr val="00B2BB"/>
            </a:solidFill>
            <a:prstDash val="solid"/>
          </a:ln>
        </p:spPr>
      </p:sp>
      <p:sp>
        <p:nvSpPr>
          <p:cNvPr id="13" name="">
            <a:extLst xmlns:a="http://schemas.openxmlformats.org/drawingml/2006/main">
              <a:ext uri="{FF2B5EF4-FFF2-40B4-BE49-F238E27FC236}">
                <a16:creationId xmlns:a16="http://schemas.microsoft.com/office/drawing/2014/main" id="{D674A49A-D431-4F57-B1D6-A2D41CDE3C9D}"/>
              </a:ext>
            </a:extLst>
          </p:cNvPr>
          <p:cNvSpPr>
            <a:spLocks xmlns:a="http://schemas.openxmlformats.org/drawingml/2006/main" noGrp="1"/>
          </p:cNvSpPr>
          <p:nvPr/>
        </p:nvSpPr>
        <p:spPr>
          <a:xfrm xmlns:a="http://schemas.openxmlformats.org/drawingml/2006/main">
            <a:off x="1943100" y="3014663"/>
            <a:ext cx="40005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7439F0DA-5E2A-49F7-9107-2A7E75C7DA11}"/>
              </a:ext>
            </a:extLst>
          </p:cNvPr>
          <p:cNvSpPr>
            <a:spLocks xmlns:a="http://schemas.openxmlformats.org/drawingml/2006/main" noGrp="1"/>
          </p:cNvSpPr>
          <p:nvPr/>
        </p:nvSpPr>
        <p:spPr>
          <a:xfrm xmlns:a="http://schemas.openxmlformats.org/drawingml/2006/main">
            <a:off x="1943100" y="2995613"/>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15" name="">
            <a:extLst xmlns:a="http://schemas.openxmlformats.org/drawingml/2006/main">
              <a:ext uri="{FF2B5EF4-FFF2-40B4-BE49-F238E27FC236}">
                <a16:creationId xmlns:a16="http://schemas.microsoft.com/office/drawing/2014/main" id="{25DFBAA3-3D20-4B86-8BE5-14F856665814}"/>
              </a:ext>
            </a:extLst>
          </p:cNvPr>
          <p:cNvSpPr>
            <a:spLocks xmlns:a="http://schemas.openxmlformats.org/drawingml/2006/main" noGrp="1"/>
          </p:cNvSpPr>
          <p:nvPr/>
        </p:nvSpPr>
        <p:spPr>
          <a:xfrm xmlns:a="http://schemas.openxmlformats.org/drawingml/2006/main">
            <a:off x="2476500" y="2967038"/>
            <a:ext cx="3819525" cy="585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095">
                <a:solidFill>
                  <a:srgbClr val="15232B"/>
                </a:solidFill>
              </a:defRPr>
            </a:pPr>
            <a:r>
              <a:rPr sz="1095">
                <a:solidFill>
                  <a:srgbClr val="15232B"/>
                </a:solidFill>
              </a:rPr>
              <a:t>Zivilprozessrecht, Strafprozessrecht und Verwaltungsprozessrecht Schritt für Schritt erklären.</a:t>
            </a:r>
          </a:p>
        </p:txBody>
      </p:sp>
      <p:sp>
        <p:nvSpPr>
          <p:cNvPr id="16" name="">
            <a:extLst xmlns:a="http://schemas.openxmlformats.org/drawingml/2006/main">
              <a:ext uri="{FF2B5EF4-FFF2-40B4-BE49-F238E27FC236}">
                <a16:creationId xmlns:a16="http://schemas.microsoft.com/office/drawing/2014/main" id="{E9199F9D-8093-4356-B42C-67AC3ACCC3FC}"/>
              </a:ext>
            </a:extLst>
          </p:cNvPr>
          <p:cNvSpPr>
            <a:spLocks xmlns:a="http://schemas.openxmlformats.org/drawingml/2006/main" noGrp="1"/>
          </p:cNvSpPr>
          <p:nvPr/>
        </p:nvSpPr>
        <p:spPr>
          <a:xfrm xmlns:a="http://schemas.openxmlformats.org/drawingml/2006/main">
            <a:off x="6696075" y="2871788"/>
            <a:ext cx="4638675" cy="776288"/>
          </a:xfrm>
          <a:prstGeom xmlns:a="http://schemas.openxmlformats.org/drawingml/2006/main" prst="roundRect">
            <a:avLst>
              <a:gd name="adj" fmla="val 9816"/>
            </a:avLst>
          </a:prstGeom>
          <a:noFill xmlns:a="http://schemas.openxmlformats.org/drawingml/2006/main"/>
          <a:ln xmlns:a="http://schemas.openxmlformats.org/drawingml/2006/main" w="11430">
            <a:solidFill>
              <a:srgbClr val="003F6B"/>
            </a:solidFill>
            <a:prstDash val="solid"/>
          </a:ln>
        </p:spPr>
      </p:sp>
      <p:sp>
        <p:nvSpPr>
          <p:cNvPr id="17" name="">
            <a:extLst xmlns:a="http://schemas.openxmlformats.org/drawingml/2006/main">
              <a:ext uri="{FF2B5EF4-FFF2-40B4-BE49-F238E27FC236}">
                <a16:creationId xmlns:a16="http://schemas.microsoft.com/office/drawing/2014/main" id="{93AAB80E-117C-443A-BE8A-A8AA049C7F8F}"/>
              </a:ext>
            </a:extLst>
          </p:cNvPr>
          <p:cNvSpPr>
            <a:spLocks xmlns:a="http://schemas.openxmlformats.org/drawingml/2006/main" noGrp="1"/>
          </p:cNvSpPr>
          <p:nvPr/>
        </p:nvSpPr>
        <p:spPr>
          <a:xfrm xmlns:a="http://schemas.openxmlformats.org/drawingml/2006/main">
            <a:off x="6829425" y="3014663"/>
            <a:ext cx="4000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565C9017-5839-4844-BDA8-0D04C0A872CC}"/>
              </a:ext>
            </a:extLst>
          </p:cNvPr>
          <p:cNvSpPr>
            <a:spLocks xmlns:a="http://schemas.openxmlformats.org/drawingml/2006/main" noGrp="1"/>
          </p:cNvSpPr>
          <p:nvPr/>
        </p:nvSpPr>
        <p:spPr>
          <a:xfrm xmlns:a="http://schemas.openxmlformats.org/drawingml/2006/main">
            <a:off x="6829425" y="2995613"/>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19" name="">
            <a:extLst xmlns:a="http://schemas.openxmlformats.org/drawingml/2006/main">
              <a:ext uri="{FF2B5EF4-FFF2-40B4-BE49-F238E27FC236}">
                <a16:creationId xmlns:a16="http://schemas.microsoft.com/office/drawing/2014/main" id="{F171BBAB-3C31-40B1-9799-162BFB3B2104}"/>
              </a:ext>
            </a:extLst>
          </p:cNvPr>
          <p:cNvSpPr>
            <a:spLocks xmlns:a="http://schemas.openxmlformats.org/drawingml/2006/main" noGrp="1"/>
          </p:cNvSpPr>
          <p:nvPr/>
        </p:nvSpPr>
        <p:spPr>
          <a:xfrm xmlns:a="http://schemas.openxmlformats.org/drawingml/2006/main">
            <a:off x="7362825" y="2967038"/>
            <a:ext cx="3819525" cy="585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095">
                <a:solidFill>
                  <a:srgbClr val="15232B"/>
                </a:solidFill>
              </a:defRPr>
            </a:pPr>
            <a:r>
              <a:rPr sz="1095">
                <a:solidFill>
                  <a:srgbClr val="15232B"/>
                </a:solidFill>
              </a:rPr>
              <a:t>Beweislast, Beweismaß und Sachverständigenbeweis praktisch anwenden.</a:t>
            </a:r>
          </a:p>
        </p:txBody>
      </p:sp>
      <p:sp>
        <p:nvSpPr>
          <p:cNvPr id="20" name="">
            <a:extLst xmlns:a="http://schemas.openxmlformats.org/drawingml/2006/main">
              <a:ext uri="{FF2B5EF4-FFF2-40B4-BE49-F238E27FC236}">
                <a16:creationId xmlns:a16="http://schemas.microsoft.com/office/drawing/2014/main" id="{B619E962-56E5-47CE-989E-8E36751FEFC2}"/>
              </a:ext>
            </a:extLst>
          </p:cNvPr>
          <p:cNvSpPr>
            <a:spLocks xmlns:a="http://schemas.openxmlformats.org/drawingml/2006/main" noGrp="1"/>
          </p:cNvSpPr>
          <p:nvPr/>
        </p:nvSpPr>
        <p:spPr>
          <a:xfrm xmlns:a="http://schemas.openxmlformats.org/drawingml/2006/main">
            <a:off x="1809750" y="3762375"/>
            <a:ext cx="4638675" cy="776288"/>
          </a:xfrm>
          <a:prstGeom xmlns:a="http://schemas.openxmlformats.org/drawingml/2006/main" prst="roundRect">
            <a:avLst>
              <a:gd name="adj" fmla="val 9816"/>
            </a:avLst>
          </a:prstGeom>
          <a:noFill xmlns:a="http://schemas.openxmlformats.org/drawingml/2006/main"/>
          <a:ln xmlns:a="http://schemas.openxmlformats.org/drawingml/2006/main" w="11430">
            <a:solidFill>
              <a:srgbClr val="00B2BB"/>
            </a:solidFill>
            <a:prstDash val="solid"/>
          </a:ln>
        </p:spPr>
      </p:sp>
      <p:sp>
        <p:nvSpPr>
          <p:cNvPr id="21" name="">
            <a:extLst xmlns:a="http://schemas.openxmlformats.org/drawingml/2006/main">
              <a:ext uri="{FF2B5EF4-FFF2-40B4-BE49-F238E27FC236}">
                <a16:creationId xmlns:a16="http://schemas.microsoft.com/office/drawing/2014/main" id="{0D4C3B3B-DBE6-4903-AB6D-C7F0B7A7D326}"/>
              </a:ext>
            </a:extLst>
          </p:cNvPr>
          <p:cNvSpPr>
            <a:spLocks xmlns:a="http://schemas.openxmlformats.org/drawingml/2006/main" noGrp="1"/>
          </p:cNvSpPr>
          <p:nvPr/>
        </p:nvSpPr>
        <p:spPr>
          <a:xfrm xmlns:a="http://schemas.openxmlformats.org/drawingml/2006/main">
            <a:off x="1943100" y="3905250"/>
            <a:ext cx="40005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2" name="">
            <a:extLst xmlns:a="http://schemas.openxmlformats.org/drawingml/2006/main">
              <a:ext uri="{FF2B5EF4-FFF2-40B4-BE49-F238E27FC236}">
                <a16:creationId xmlns:a16="http://schemas.microsoft.com/office/drawing/2014/main" id="{A49156D0-EA1B-4E4A-A90C-70A47CC47D09}"/>
              </a:ext>
            </a:extLst>
          </p:cNvPr>
          <p:cNvSpPr>
            <a:spLocks xmlns:a="http://schemas.openxmlformats.org/drawingml/2006/main" noGrp="1"/>
          </p:cNvSpPr>
          <p:nvPr/>
        </p:nvSpPr>
        <p:spPr>
          <a:xfrm xmlns:a="http://schemas.openxmlformats.org/drawingml/2006/main">
            <a:off x="1943100" y="38862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23" name="">
            <a:extLst xmlns:a="http://schemas.openxmlformats.org/drawingml/2006/main">
              <a:ext uri="{FF2B5EF4-FFF2-40B4-BE49-F238E27FC236}">
                <a16:creationId xmlns:a16="http://schemas.microsoft.com/office/drawing/2014/main" id="{8B4B8CF0-533D-4C9A-BA75-97D730F73F9C}"/>
              </a:ext>
            </a:extLst>
          </p:cNvPr>
          <p:cNvSpPr>
            <a:spLocks xmlns:a="http://schemas.openxmlformats.org/drawingml/2006/main" noGrp="1"/>
          </p:cNvSpPr>
          <p:nvPr/>
        </p:nvSpPr>
        <p:spPr>
          <a:xfrm xmlns:a="http://schemas.openxmlformats.org/drawingml/2006/main">
            <a:off x="2476500" y="3857625"/>
            <a:ext cx="3819525" cy="585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095">
                <a:solidFill>
                  <a:srgbClr val="15232B"/>
                </a:solidFill>
              </a:defRPr>
            </a:pPr>
            <a:r>
              <a:rPr sz="1095">
                <a:solidFill>
                  <a:srgbClr val="15232B"/>
                </a:solidFill>
              </a:rPr>
              <a:t>Berufsrecht, Approbationsrecht und Arbeitsrecht als eigenständige Verfahren behandeln.</a:t>
            </a:r>
          </a:p>
        </p:txBody>
      </p:sp>
      <p:sp>
        <p:nvSpPr>
          <p:cNvPr id="24" name="">
            <a:extLst xmlns:a="http://schemas.openxmlformats.org/drawingml/2006/main">
              <a:ext uri="{FF2B5EF4-FFF2-40B4-BE49-F238E27FC236}">
                <a16:creationId xmlns:a16="http://schemas.microsoft.com/office/drawing/2014/main" id="{CF530541-EC80-442A-AF82-6BBF84286978}"/>
              </a:ext>
            </a:extLst>
          </p:cNvPr>
          <p:cNvSpPr>
            <a:spLocks xmlns:a="http://schemas.openxmlformats.org/drawingml/2006/main" noGrp="1"/>
          </p:cNvSpPr>
          <p:nvPr/>
        </p:nvSpPr>
        <p:spPr>
          <a:xfrm xmlns:a="http://schemas.openxmlformats.org/drawingml/2006/main">
            <a:off x="6696075" y="3762375"/>
            <a:ext cx="4638675" cy="776288"/>
          </a:xfrm>
          <a:prstGeom xmlns:a="http://schemas.openxmlformats.org/drawingml/2006/main" prst="roundRect">
            <a:avLst>
              <a:gd name="adj" fmla="val 9816"/>
            </a:avLst>
          </a:prstGeom>
          <a:noFill xmlns:a="http://schemas.openxmlformats.org/drawingml/2006/main"/>
          <a:ln xmlns:a="http://schemas.openxmlformats.org/drawingml/2006/main" w="11430">
            <a:solidFill>
              <a:srgbClr val="003F6B"/>
            </a:solidFill>
            <a:prstDash val="solid"/>
          </a:ln>
        </p:spPr>
      </p:sp>
      <p:sp>
        <p:nvSpPr>
          <p:cNvPr id="25" name="">
            <a:extLst xmlns:a="http://schemas.openxmlformats.org/drawingml/2006/main">
              <a:ext uri="{FF2B5EF4-FFF2-40B4-BE49-F238E27FC236}">
                <a16:creationId xmlns:a16="http://schemas.microsoft.com/office/drawing/2014/main" id="{F837E0A9-3E52-4CFD-ADB9-2D72B827BE53}"/>
              </a:ext>
            </a:extLst>
          </p:cNvPr>
          <p:cNvSpPr>
            <a:spLocks xmlns:a="http://schemas.openxmlformats.org/drawingml/2006/main" noGrp="1"/>
          </p:cNvSpPr>
          <p:nvPr/>
        </p:nvSpPr>
        <p:spPr>
          <a:xfrm xmlns:a="http://schemas.openxmlformats.org/drawingml/2006/main">
            <a:off x="6829425" y="3905250"/>
            <a:ext cx="4000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26" name="">
            <a:extLst xmlns:a="http://schemas.openxmlformats.org/drawingml/2006/main">
              <a:ext uri="{FF2B5EF4-FFF2-40B4-BE49-F238E27FC236}">
                <a16:creationId xmlns:a16="http://schemas.microsoft.com/office/drawing/2014/main" id="{8742778B-34A7-436A-8E3A-2E9D7CA1D558}"/>
              </a:ext>
            </a:extLst>
          </p:cNvPr>
          <p:cNvSpPr>
            <a:spLocks xmlns:a="http://schemas.openxmlformats.org/drawingml/2006/main" noGrp="1"/>
          </p:cNvSpPr>
          <p:nvPr/>
        </p:nvSpPr>
        <p:spPr>
          <a:xfrm xmlns:a="http://schemas.openxmlformats.org/drawingml/2006/main">
            <a:off x="6829425" y="38862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27" name="">
            <a:extLst xmlns:a="http://schemas.openxmlformats.org/drawingml/2006/main">
              <a:ext uri="{FF2B5EF4-FFF2-40B4-BE49-F238E27FC236}">
                <a16:creationId xmlns:a16="http://schemas.microsoft.com/office/drawing/2014/main" id="{5F6BFE10-112F-4CA0-8953-5E593449CA8C}"/>
              </a:ext>
            </a:extLst>
          </p:cNvPr>
          <p:cNvSpPr>
            <a:spLocks xmlns:a="http://schemas.openxmlformats.org/drawingml/2006/main" noGrp="1"/>
          </p:cNvSpPr>
          <p:nvPr/>
        </p:nvSpPr>
        <p:spPr>
          <a:xfrm xmlns:a="http://schemas.openxmlformats.org/drawingml/2006/main">
            <a:off x="7362825" y="3857625"/>
            <a:ext cx="3819525" cy="585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095">
                <a:solidFill>
                  <a:srgbClr val="15232B"/>
                </a:solidFill>
              </a:defRPr>
            </a:pPr>
            <a:r>
              <a:rPr sz="1095">
                <a:solidFill>
                  <a:srgbClr val="15232B"/>
                </a:solidFill>
              </a:rPr>
              <a:t>nach einem Zwischenfall patientensicher, wahr, zeitnah und rollenbewusst handeln.</a:t>
            </a:r>
          </a:p>
        </p:txBody>
      </p:sp>
      <p:sp>
        <p:nvSpPr>
          <p:cNvPr id="28" name="">
            <a:extLst xmlns:a="http://schemas.openxmlformats.org/drawingml/2006/main">
              <a:ext uri="{FF2B5EF4-FFF2-40B4-BE49-F238E27FC236}">
                <a16:creationId xmlns:a16="http://schemas.microsoft.com/office/drawing/2014/main" id="{E85838D4-B525-4ADD-8337-7801570B24BF}"/>
              </a:ext>
            </a:extLst>
          </p:cNvPr>
          <p:cNvSpPr>
            <a:spLocks xmlns:a="http://schemas.openxmlformats.org/drawingml/2006/main" noGrp="1"/>
          </p:cNvSpPr>
          <p:nvPr/>
        </p:nvSpPr>
        <p:spPr>
          <a:xfrm xmlns:a="http://schemas.openxmlformats.org/drawingml/2006/main">
            <a:off x="1809750" y="4652963"/>
            <a:ext cx="4638675" cy="776288"/>
          </a:xfrm>
          <a:prstGeom xmlns:a="http://schemas.openxmlformats.org/drawingml/2006/main" prst="roundRect">
            <a:avLst>
              <a:gd name="adj" fmla="val 9816"/>
            </a:avLst>
          </a:prstGeom>
          <a:noFill xmlns:a="http://schemas.openxmlformats.org/drawingml/2006/main"/>
          <a:ln xmlns:a="http://schemas.openxmlformats.org/drawingml/2006/main" w="11430">
            <a:solidFill>
              <a:srgbClr val="00B2BB"/>
            </a:solidFill>
            <a:prstDash val="solid"/>
          </a:ln>
        </p:spPr>
      </p:sp>
      <p:sp>
        <p:nvSpPr>
          <p:cNvPr id="29" name="">
            <a:extLst xmlns:a="http://schemas.openxmlformats.org/drawingml/2006/main">
              <a:ext uri="{FF2B5EF4-FFF2-40B4-BE49-F238E27FC236}">
                <a16:creationId xmlns:a16="http://schemas.microsoft.com/office/drawing/2014/main" id="{FD4B3680-2885-4730-A1E7-CFEFB750FE14}"/>
              </a:ext>
            </a:extLst>
          </p:cNvPr>
          <p:cNvSpPr>
            <a:spLocks xmlns:a="http://schemas.openxmlformats.org/drawingml/2006/main" noGrp="1"/>
          </p:cNvSpPr>
          <p:nvPr/>
        </p:nvSpPr>
        <p:spPr>
          <a:xfrm xmlns:a="http://schemas.openxmlformats.org/drawingml/2006/main">
            <a:off x="1943100" y="4795838"/>
            <a:ext cx="40005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30" name="">
            <a:extLst xmlns:a="http://schemas.openxmlformats.org/drawingml/2006/main">
              <a:ext uri="{FF2B5EF4-FFF2-40B4-BE49-F238E27FC236}">
                <a16:creationId xmlns:a16="http://schemas.microsoft.com/office/drawing/2014/main" id="{E068E29B-0C69-4C4A-8D3C-AF6D037EF6E9}"/>
              </a:ext>
            </a:extLst>
          </p:cNvPr>
          <p:cNvSpPr>
            <a:spLocks xmlns:a="http://schemas.openxmlformats.org/drawingml/2006/main" noGrp="1"/>
          </p:cNvSpPr>
          <p:nvPr/>
        </p:nvSpPr>
        <p:spPr>
          <a:xfrm xmlns:a="http://schemas.openxmlformats.org/drawingml/2006/main">
            <a:off x="1943100" y="4776788"/>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31" name="">
            <a:extLst xmlns:a="http://schemas.openxmlformats.org/drawingml/2006/main">
              <a:ext uri="{FF2B5EF4-FFF2-40B4-BE49-F238E27FC236}">
                <a16:creationId xmlns:a16="http://schemas.microsoft.com/office/drawing/2014/main" id="{16BD9D22-4D03-4CF8-AC57-CDF3B122D27A}"/>
              </a:ext>
            </a:extLst>
          </p:cNvPr>
          <p:cNvSpPr>
            <a:spLocks xmlns:a="http://schemas.openxmlformats.org/drawingml/2006/main" noGrp="1"/>
          </p:cNvSpPr>
          <p:nvPr/>
        </p:nvSpPr>
        <p:spPr>
          <a:xfrm xmlns:a="http://schemas.openxmlformats.org/drawingml/2006/main">
            <a:off x="2476500" y="4748213"/>
            <a:ext cx="3819525" cy="585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095">
                <a:solidFill>
                  <a:srgbClr val="15232B"/>
                </a:solidFill>
              </a:defRPr>
            </a:pPr>
            <a:r>
              <a:rPr sz="1095">
                <a:solidFill>
                  <a:srgbClr val="15232B"/>
                </a:solidFill>
              </a:rPr>
              <a:t>die Podcastfälle von Aufklärung und Patientenwillen bis KI, ePA und Systemdruck lösen.</a:t>
            </a:r>
          </a:p>
        </p:txBody>
      </p:sp>
      <p:sp>
        <p:nvSpPr>
          <p:cNvPr id="32" name="">
            <a:extLst xmlns:a="http://schemas.openxmlformats.org/drawingml/2006/main">
              <a:ext uri="{FF2B5EF4-FFF2-40B4-BE49-F238E27FC236}">
                <a16:creationId xmlns:a16="http://schemas.microsoft.com/office/drawing/2014/main" id="{B93A765B-34E6-49D1-AFF1-BBAD588EDD3A}"/>
              </a:ext>
            </a:extLst>
          </p:cNvPr>
          <p:cNvSpPr>
            <a:spLocks xmlns:a="http://schemas.openxmlformats.org/drawingml/2006/main" noGrp="1"/>
          </p:cNvSpPr>
          <p:nvPr/>
        </p:nvSpPr>
        <p:spPr>
          <a:xfrm xmlns:a="http://schemas.openxmlformats.org/drawingml/2006/main">
            <a:off x="6696075" y="4652963"/>
            <a:ext cx="4638675" cy="776288"/>
          </a:xfrm>
          <a:prstGeom xmlns:a="http://schemas.openxmlformats.org/drawingml/2006/main" prst="roundRect">
            <a:avLst>
              <a:gd name="adj" fmla="val 9816"/>
            </a:avLst>
          </a:prstGeom>
          <a:noFill xmlns:a="http://schemas.openxmlformats.org/drawingml/2006/main"/>
          <a:ln xmlns:a="http://schemas.openxmlformats.org/drawingml/2006/main" w="11430">
            <a:solidFill>
              <a:srgbClr val="003F6B"/>
            </a:solidFill>
            <a:prstDash val="solid"/>
          </a:ln>
        </p:spPr>
      </p:sp>
      <p:sp>
        <p:nvSpPr>
          <p:cNvPr id="33" name="">
            <a:extLst xmlns:a="http://schemas.openxmlformats.org/drawingml/2006/main">
              <a:ext uri="{FF2B5EF4-FFF2-40B4-BE49-F238E27FC236}">
                <a16:creationId xmlns:a16="http://schemas.microsoft.com/office/drawing/2014/main" id="{35D9C0B3-7E35-4416-8F83-3EAF8F48834A}"/>
              </a:ext>
            </a:extLst>
          </p:cNvPr>
          <p:cNvSpPr>
            <a:spLocks xmlns:a="http://schemas.openxmlformats.org/drawingml/2006/main" noGrp="1"/>
          </p:cNvSpPr>
          <p:nvPr/>
        </p:nvSpPr>
        <p:spPr>
          <a:xfrm xmlns:a="http://schemas.openxmlformats.org/drawingml/2006/main">
            <a:off x="6829425" y="4795838"/>
            <a:ext cx="4000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34" name="">
            <a:extLst xmlns:a="http://schemas.openxmlformats.org/drawingml/2006/main">
              <a:ext uri="{FF2B5EF4-FFF2-40B4-BE49-F238E27FC236}">
                <a16:creationId xmlns:a16="http://schemas.microsoft.com/office/drawing/2014/main" id="{B23D2A48-8C70-4643-A7A3-09D894666DD8}"/>
              </a:ext>
            </a:extLst>
          </p:cNvPr>
          <p:cNvSpPr>
            <a:spLocks xmlns:a="http://schemas.openxmlformats.org/drawingml/2006/main" noGrp="1"/>
          </p:cNvSpPr>
          <p:nvPr/>
        </p:nvSpPr>
        <p:spPr>
          <a:xfrm xmlns:a="http://schemas.openxmlformats.org/drawingml/2006/main">
            <a:off x="6829425" y="4776788"/>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35" name="">
            <a:extLst xmlns:a="http://schemas.openxmlformats.org/drawingml/2006/main">
              <a:ext uri="{FF2B5EF4-FFF2-40B4-BE49-F238E27FC236}">
                <a16:creationId xmlns:a16="http://schemas.microsoft.com/office/drawing/2014/main" id="{44AF2758-2AE2-4CEE-9E27-2FA72CB8466A}"/>
              </a:ext>
            </a:extLst>
          </p:cNvPr>
          <p:cNvSpPr>
            <a:spLocks xmlns:a="http://schemas.openxmlformats.org/drawingml/2006/main" noGrp="1"/>
          </p:cNvSpPr>
          <p:nvPr/>
        </p:nvSpPr>
        <p:spPr>
          <a:xfrm xmlns:a="http://schemas.openxmlformats.org/drawingml/2006/main">
            <a:off x="7362825" y="4748213"/>
            <a:ext cx="3819525" cy="5857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095">
                <a:solidFill>
                  <a:srgbClr val="15232B"/>
                </a:solidFill>
              </a:defRPr>
            </a:pPr>
            <a:r>
              <a:rPr sz="1095">
                <a:solidFill>
                  <a:srgbClr val="15232B"/>
                </a:solidFill>
              </a:rPr>
              <a:t>defensive Medizin erkennen und patientenzentrierte Entscheidungen rechtlich begründen.</a:t>
            </a:r>
          </a:p>
        </p:txBody>
      </p:sp>
      <p:sp>
        <p:nvSpPr>
          <p:cNvPr id="36" name="">
            <a:extLst xmlns:a="http://schemas.openxmlformats.org/drawingml/2006/main">
              <a:ext uri="{FF2B5EF4-FFF2-40B4-BE49-F238E27FC236}">
                <a16:creationId xmlns:a16="http://schemas.microsoft.com/office/drawing/2014/main" id="{7906212B-3075-4A0B-A9DF-73DE30BF4E83}"/>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638">
                <a:solidFill>
                  <a:srgbClr val="667680"/>
                </a:solidFill>
              </a:defRPr>
            </a:pPr>
            <a:r>
              <a:rPr sz="638">
                <a:solidFill>
                  <a:srgbClr val="667680"/>
                </a:solidFill>
              </a:rPr>
              <a:t>Seminarbeschreibung des Wahlmoduls 6.01.4493700b · Universität Oldenburg · https://elearning.uni-oldenburg.de/dispatch.php/course/details/index/64fffee6d869d134c6683909368deed9?cancel_login=1</a:t>
            </a:r>
          </a:p>
        </p:txBody>
      </p:sp>
    </p:spTree>
    <p:extLst>
      <p:ext uri="{BB962C8B-B14F-4D97-AF65-F5344CB8AC3E}">
        <p14:creationId xmlns:p14="http://schemas.microsoft.com/office/powerpoint/2010/main" val="4363764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Von der Vorlesung in die eigene Entscheidung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LERNAPP · DER INTERAKTIVE ZWEITE KURSRAUM</a:t>
            </a:r>
            <a:endParaRPr/>
          </a:p>
        </p:txBody>
      </p:sp>
      <p:sp>
        <p:nvSpPr>
          <p:cNvPr id="4" name="">
            <a:extLst xmlns:a="http://schemas.openxmlformats.org/drawingml/2006/main">
              <a:ext uri="{FF2B5EF4-FFF2-40B4-BE49-F238E27FC236}">
                <a16:creationId xmlns:a16="http://schemas.microsoft.com/office/drawing/2014/main" id="{6A30E422-5524-4AD1-97F5-E7C432F43BDB}"/>
              </a:ext>
            </a:extLst>
          </p:cNvPr>
          <p:cNvSpPr>
            <a:spLocks xmlns:a="http://schemas.openxmlformats.org/drawingml/2006/main" noGrp="1"/>
          </p:cNvSpPr>
          <p:nvPr/>
        </p:nvSpPr>
        <p:spPr>
          <a:xfrm xmlns:a="http://schemas.openxmlformats.org/drawingml/2006/main">
            <a:off x="1809750" y="2038350"/>
            <a:ext cx="3714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025" b="1">
                <a:solidFill>
                  <a:srgbClr val="003F6B"/>
                </a:solidFill>
              </a:defRPr>
            </a:pPr>
            <a:r>
              <a:rPr sz="2025" b="1">
                <a:solidFill>
                  <a:srgbClr val="003F6B"/>
                </a:solidFill>
              </a:rPr>
              <a:t>Die Präsentation erklärt. Die Lernapp lässt anwenden.</a:t>
            </a:r>
          </a:p>
        </p:txBody>
      </p:sp>
      <p:sp>
        <p:nvSpPr>
          <p:cNvPr id="5" name="">
            <a:extLst xmlns:a="http://schemas.openxmlformats.org/drawingml/2006/main">
              <a:ext uri="{FF2B5EF4-FFF2-40B4-BE49-F238E27FC236}">
                <a16:creationId xmlns:a16="http://schemas.microsoft.com/office/drawing/2014/main" id="{AFC38CFD-1E81-47A2-B1EE-8A5E785298D0}"/>
              </a:ext>
            </a:extLst>
          </p:cNvPr>
          <p:cNvSpPr>
            <a:spLocks xmlns:a="http://schemas.openxmlformats.org/drawingml/2006/main" noGrp="1"/>
          </p:cNvSpPr>
          <p:nvPr/>
        </p:nvSpPr>
        <p:spPr>
          <a:xfrm xmlns:a="http://schemas.openxmlformats.org/drawingml/2006/main">
            <a:off x="1809750" y="3086100"/>
            <a:ext cx="37147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15">
                <a:solidFill>
                  <a:srgbClr val="15232B"/>
                </a:solidFill>
              </a:defRPr>
            </a:pPr>
            <a:r>
              <a:rPr sz="1215">
                <a:solidFill>
                  <a:srgbClr val="15232B"/>
                </a:solidFill>
              </a:rPr>
              <a:t>Jeder Vorlesungstag öffnet unmittelbar seine Normgrundlagen, einen Fall, eine Originalentscheidung, einen Wissenscheck und einen Praxistransfer. Fortschritt entsteht nicht durch bloßes Weiterklicken.</a:t>
            </a:r>
          </a:p>
        </p:txBody>
      </p:sp>
      <p:sp>
        <p:nvSpPr>
          <p:cNvPr id="6" name="">
            <a:extLst xmlns:a="http://schemas.openxmlformats.org/drawingml/2006/main">
              <a:ext uri="{FF2B5EF4-FFF2-40B4-BE49-F238E27FC236}">
                <a16:creationId xmlns:a16="http://schemas.microsoft.com/office/drawing/2014/main" id="{56FA0A0A-BBA2-4BFE-87B7-29CFFEF6EEC3}"/>
              </a:ext>
            </a:extLst>
          </p:cNvPr>
          <p:cNvSpPr>
            <a:spLocks xmlns:a="http://schemas.openxmlformats.org/drawingml/2006/main" noGrp="1"/>
          </p:cNvSpPr>
          <p:nvPr/>
        </p:nvSpPr>
        <p:spPr>
          <a:xfrm xmlns:a="http://schemas.openxmlformats.org/drawingml/2006/main">
            <a:off x="1809750" y="4552950"/>
            <a:ext cx="3714750" cy="723900"/>
          </a:xfrm>
          <a:prstGeom xmlns:a="http://schemas.openxmlformats.org/drawingml/2006/main" prst="roundRect">
            <a:avLst>
              <a:gd name="adj" fmla="val 10526"/>
            </a:avLst>
          </a:prstGeom>
          <a:solidFill xmlns:a="http://schemas.openxmlformats.org/drawingml/2006/main">
            <a:srgbClr val="DDF5F6"/>
          </a:solidFill>
          <a:ln xmlns:a="http://schemas.openxmlformats.org/drawingml/2006/main" w="11430">
            <a:solidFill>
              <a:srgbClr val="00B2BB"/>
            </a:solidFill>
            <a:prstDash val="solid"/>
          </a:ln>
        </p:spPr>
      </p:sp>
      <p:sp>
        <p:nvSpPr>
          <p:cNvPr id="7" name="">
            <a:extLst xmlns:a="http://schemas.openxmlformats.org/drawingml/2006/main">
              <a:ext uri="{FF2B5EF4-FFF2-40B4-BE49-F238E27FC236}">
                <a16:creationId xmlns:a16="http://schemas.microsoft.com/office/drawing/2014/main" id="{265A269D-7F94-4FFB-B064-3E847C97B7B3}"/>
              </a:ext>
            </a:extLst>
          </p:cNvPr>
          <p:cNvSpPr>
            <a:spLocks xmlns:a="http://schemas.openxmlformats.org/drawingml/2006/main" noGrp="1"/>
          </p:cNvSpPr>
          <p:nvPr/>
        </p:nvSpPr>
        <p:spPr>
          <a:xfrm xmlns:a="http://schemas.openxmlformats.org/drawingml/2006/main">
            <a:off x="1981200" y="4648200"/>
            <a:ext cx="33718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003F6B"/>
                </a:solidFill>
              </a:defRPr>
            </a:pPr>
            <a:r>
              <a:rPr sz="1125" b="1">
                <a:solidFill>
                  <a:srgbClr val="003F6B"/>
                </a:solidFill>
              </a:rPr>
              <a:t>15 Tagesmodule · 75 Pflichtaufgaben · druckbares Abschlusszertifikat</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82c1ae961e364303"/>
          <a:stretch xmlns:a="http://schemas.openxmlformats.org/drawingml/2006/main"/>
        </p:blipFill>
        <p:spPr>
          <a:xfrm xmlns:a="http://schemas.openxmlformats.org/drawingml/2006/main">
            <a:off x="5905500" y="2079669"/>
            <a:ext cx="5429250" cy="2851062"/>
          </a:xfrm>
          <a:prstGeom xmlns:a="http://schemas.openxmlformats.org/drawingml/2006/main" prst="roundRect">
            <a:avLst>
              <a:gd name="adj" fmla="val 3704"/>
            </a:avLst>
          </a:prstGeom>
        </p:spPr>
      </p:pic>
      <p:sp>
        <p:nvSpPr>
          <p:cNvPr id="9" name="">
            <a:extLst xmlns:a="http://schemas.openxmlformats.org/drawingml/2006/main">
              <a:ext uri="{FF2B5EF4-FFF2-40B4-BE49-F238E27FC236}">
                <a16:creationId xmlns:a16="http://schemas.microsoft.com/office/drawing/2014/main" id="{ED23B154-8FEC-443F-BCF9-851BE3CBA455}"/>
              </a:ext>
            </a:extLst>
          </p:cNvPr>
          <p:cNvSpPr>
            <a:spLocks xmlns:a="http://schemas.openxmlformats.org/drawingml/2006/main" noGrp="1"/>
          </p:cNvSpPr>
          <p:nvPr/>
        </p:nvSpPr>
        <p:spPr>
          <a:xfrm xmlns:a="http://schemas.openxmlformats.org/drawingml/2006/main">
            <a:off x="6048375" y="5124450"/>
            <a:ext cx="514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60">
                <a:solidFill>
                  <a:srgbClr val="667680"/>
                </a:solidFill>
              </a:defRPr>
            </a:pPr>
            <a:r>
              <a:rPr sz="960">
                <a:solidFill>
                  <a:srgbClr val="667680"/>
                </a:solidFill>
              </a:rPr>
              <a:t>Lokaler Lernfortschritt; Erst- und Schlussabstimmung zum Erlanger-Baby-Fall werden verglichen.</a:t>
            </a:r>
          </a:p>
        </p:txBody>
      </p:sp>
    </p:spTree>
    <p:extLst>
      <p:ext uri="{BB962C8B-B14F-4D97-AF65-F5344CB8AC3E}">
        <p14:creationId xmlns:p14="http://schemas.microsoft.com/office/powerpoint/2010/main" val="4363764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Darf ein Krankenhaus die Körperfunktionen einer hirntoten Schwangeren aufrechterhalten?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COLD OPEN · ERLANGER BABY-FALL 1992</a:t>
            </a:r>
            <a:endParaRPr/>
          </a:p>
        </p:txBody>
      </p:sp>
      <p:sp>
        <p:nvSpPr>
          <p:cNvPr id="4" name="">
            <a:extLst xmlns:a="http://schemas.openxmlformats.org/drawingml/2006/main">
              <a:ext uri="{FF2B5EF4-FFF2-40B4-BE49-F238E27FC236}">
                <a16:creationId xmlns:a16="http://schemas.microsoft.com/office/drawing/2014/main" id="{FD4E79A3-4FEB-4427-A16F-1B13EABAA8B7}"/>
              </a:ext>
            </a:extLst>
          </p:cNvPr>
          <p:cNvSpPr>
            <a:spLocks xmlns:a="http://schemas.openxmlformats.org/drawingml/2006/main" noGrp="1"/>
          </p:cNvSpPr>
          <p:nvPr/>
        </p:nvSpPr>
        <p:spPr>
          <a:xfrm xmlns:a="http://schemas.openxmlformats.org/drawingml/2006/main">
            <a:off x="2000250" y="1952625"/>
            <a:ext cx="9144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400" b="1">
                <a:solidFill>
                  <a:srgbClr val="003F6B"/>
                </a:solidFill>
              </a:defRPr>
            </a:pPr>
            <a:r>
              <a:rPr sz="2400" b="1">
                <a:solidFill>
                  <a:srgbClr val="003F6B"/>
                </a:solidFill>
              </a:rPr>
              <a:t>Darf ein Krankenhaus die Körperfunktionen einer hirntoten Schwangeren aufrechterhalten, um dem ungeborenen Kind eine Überlebenschance zu geben?</a:t>
            </a:r>
          </a:p>
        </p:txBody>
      </p:sp>
      <p:sp>
        <p:nvSpPr>
          <p:cNvPr id="5" name="">
            <a:extLst xmlns:a="http://schemas.openxmlformats.org/drawingml/2006/main">
              <a:ext uri="{FF2B5EF4-FFF2-40B4-BE49-F238E27FC236}">
                <a16:creationId xmlns:a16="http://schemas.microsoft.com/office/drawing/2014/main" id="{159E3B51-3FB9-4DB5-ABF1-01AE272D8301}"/>
              </a:ext>
            </a:extLst>
          </p:cNvPr>
          <p:cNvSpPr>
            <a:spLocks xmlns:a="http://schemas.openxmlformats.org/drawingml/2006/main" noGrp="1"/>
          </p:cNvSpPr>
          <p:nvPr/>
        </p:nvSpPr>
        <p:spPr>
          <a:xfrm xmlns:a="http://schemas.openxmlformats.org/drawingml/2006/main">
            <a:off x="4524375" y="3200400"/>
            <a:ext cx="4095750" cy="0"/>
          </a:xfrm>
          <a:prstGeom xmlns:a="http://schemas.openxmlformats.org/drawingml/2006/main" prst="line">
            <a:avLst/>
          </a:prstGeom>
          <a:noFill xmlns:a="http://schemas.openxmlformats.org/drawingml/2006/main"/>
          <a:ln xmlns:a="http://schemas.openxmlformats.org/drawingml/2006/main" w="47625">
            <a:solidFill>
              <a:srgbClr val="00B2BB"/>
            </a:solidFill>
            <a:prstDash val="solid"/>
          </a:ln>
        </p:spPr>
      </p:sp>
      <p:sp>
        <p:nvSpPr>
          <p:cNvPr id="6" name="">
            <a:extLst xmlns:a="http://schemas.openxmlformats.org/drawingml/2006/main">
              <a:ext uri="{FF2B5EF4-FFF2-40B4-BE49-F238E27FC236}">
                <a16:creationId xmlns:a16="http://schemas.microsoft.com/office/drawing/2014/main" id="{DD6C79EF-B21A-4FC8-85CF-E20C6153FB39}"/>
              </a:ext>
            </a:extLst>
          </p:cNvPr>
          <p:cNvSpPr>
            <a:spLocks xmlns:a="http://schemas.openxmlformats.org/drawingml/2006/main" noGrp="1"/>
          </p:cNvSpPr>
          <p:nvPr/>
        </p:nvSpPr>
        <p:spPr>
          <a:xfrm xmlns:a="http://schemas.openxmlformats.org/drawingml/2006/main">
            <a:off x="1809750" y="3476625"/>
            <a:ext cx="2266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009BAB"/>
                </a:solidFill>
              </a:defRPr>
            </a:pPr>
            <a:r>
              <a:rPr sz="1500" b="1">
                <a:solidFill>
                  <a:srgbClr val="009BAB"/>
                </a:solidFill>
              </a:rPr>
              <a:t>18 Jahre</a:t>
            </a:r>
          </a:p>
        </p:txBody>
      </p:sp>
      <p:sp>
        <p:nvSpPr>
          <p:cNvPr id="7" name="">
            <a:extLst xmlns:a="http://schemas.openxmlformats.org/drawingml/2006/main">
              <a:ext uri="{FF2B5EF4-FFF2-40B4-BE49-F238E27FC236}">
                <a16:creationId xmlns:a16="http://schemas.microsoft.com/office/drawing/2014/main" id="{7DD85AB7-57FD-466C-B57A-7ECA5F74A06B}"/>
              </a:ext>
            </a:extLst>
          </p:cNvPr>
          <p:cNvSpPr>
            <a:spLocks xmlns:a="http://schemas.openxmlformats.org/drawingml/2006/main" noGrp="1"/>
          </p:cNvSpPr>
          <p:nvPr/>
        </p:nvSpPr>
        <p:spPr>
          <a:xfrm xmlns:a="http://schemas.openxmlformats.org/drawingml/2006/main">
            <a:off x="1885950" y="3952875"/>
            <a:ext cx="2114550" cy="1266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65">
                <a:solidFill>
                  <a:srgbClr val="15232B"/>
                </a:solidFill>
              </a:defRPr>
            </a:pPr>
            <a:r>
              <a:rPr sz="1065">
                <a:solidFill>
                  <a:srgbClr val="15232B"/>
                </a:solidFill>
              </a:rPr>
              <a:t>schwangere Patientin nach schwerem Verkehrsunfall</a:t>
            </a:r>
          </a:p>
        </p:txBody>
      </p:sp>
      <p:sp>
        <p:nvSpPr>
          <p:cNvPr id="8" name="">
            <a:extLst xmlns:a="http://schemas.openxmlformats.org/drawingml/2006/main">
              <a:ext uri="{FF2B5EF4-FFF2-40B4-BE49-F238E27FC236}">
                <a16:creationId xmlns:a16="http://schemas.microsoft.com/office/drawing/2014/main" id="{02BDF610-1898-46A5-ABC4-B10AA094DB11}"/>
              </a:ext>
            </a:extLst>
          </p:cNvPr>
          <p:cNvSpPr>
            <a:spLocks xmlns:a="http://schemas.openxmlformats.org/drawingml/2006/main" noGrp="1"/>
          </p:cNvSpPr>
          <p:nvPr/>
        </p:nvSpPr>
        <p:spPr>
          <a:xfrm xmlns:a="http://schemas.openxmlformats.org/drawingml/2006/main">
            <a:off x="4229100" y="3476625"/>
            <a:ext cx="2266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003F6B"/>
                </a:solidFill>
              </a:defRPr>
            </a:pPr>
            <a:r>
              <a:rPr sz="1500" b="1">
                <a:solidFill>
                  <a:srgbClr val="003F6B"/>
                </a:solidFill>
              </a:rPr>
              <a:t>15. SSW</a:t>
            </a:r>
          </a:p>
        </p:txBody>
      </p:sp>
      <p:sp>
        <p:nvSpPr>
          <p:cNvPr id="9" name="">
            <a:extLst xmlns:a="http://schemas.openxmlformats.org/drawingml/2006/main">
              <a:ext uri="{FF2B5EF4-FFF2-40B4-BE49-F238E27FC236}">
                <a16:creationId xmlns:a16="http://schemas.microsoft.com/office/drawing/2014/main" id="{ECA5D3EE-89B5-4826-B4C4-6DDEA3A6A6BD}"/>
              </a:ext>
            </a:extLst>
          </p:cNvPr>
          <p:cNvSpPr>
            <a:spLocks xmlns:a="http://schemas.openxmlformats.org/drawingml/2006/main" noGrp="1"/>
          </p:cNvSpPr>
          <p:nvPr/>
        </p:nvSpPr>
        <p:spPr>
          <a:xfrm xmlns:a="http://schemas.openxmlformats.org/drawingml/2006/main">
            <a:off x="4305300" y="3952875"/>
            <a:ext cx="2114550" cy="1266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65">
                <a:solidFill>
                  <a:srgbClr val="15232B"/>
                </a:solidFill>
              </a:defRPr>
            </a:pPr>
            <a:r>
              <a:rPr sz="1065">
                <a:solidFill>
                  <a:srgbClr val="15232B"/>
                </a:solidFill>
              </a:rPr>
              <a:t>Schwangerschaft erst im Rahmen der Versorgung erkannt</a:t>
            </a:r>
          </a:p>
        </p:txBody>
      </p:sp>
      <p:sp>
        <p:nvSpPr>
          <p:cNvPr id="10" name="">
            <a:extLst xmlns:a="http://schemas.openxmlformats.org/drawingml/2006/main">
              <a:ext uri="{FF2B5EF4-FFF2-40B4-BE49-F238E27FC236}">
                <a16:creationId xmlns:a16="http://schemas.microsoft.com/office/drawing/2014/main" id="{1F03BC0D-2093-4DCD-B992-BB11C40898EB}"/>
              </a:ext>
            </a:extLst>
          </p:cNvPr>
          <p:cNvSpPr>
            <a:spLocks xmlns:a="http://schemas.openxmlformats.org/drawingml/2006/main" noGrp="1"/>
          </p:cNvSpPr>
          <p:nvPr/>
        </p:nvSpPr>
        <p:spPr>
          <a:xfrm xmlns:a="http://schemas.openxmlformats.org/drawingml/2006/main">
            <a:off x="6648450" y="3476625"/>
            <a:ext cx="2266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009BAB"/>
                </a:solidFill>
              </a:defRPr>
            </a:pPr>
            <a:r>
              <a:rPr sz="1500" b="1">
                <a:solidFill>
                  <a:srgbClr val="009BAB"/>
                </a:solidFill>
              </a:rPr>
              <a:t>Hirntod</a:t>
            </a:r>
          </a:p>
        </p:txBody>
      </p:sp>
      <p:sp>
        <p:nvSpPr>
          <p:cNvPr id="11" name="">
            <a:extLst xmlns:a="http://schemas.openxmlformats.org/drawingml/2006/main">
              <a:ext uri="{FF2B5EF4-FFF2-40B4-BE49-F238E27FC236}">
                <a16:creationId xmlns:a16="http://schemas.microsoft.com/office/drawing/2014/main" id="{C016A440-4D3A-4113-891D-5910622972D0}"/>
              </a:ext>
            </a:extLst>
          </p:cNvPr>
          <p:cNvSpPr>
            <a:spLocks xmlns:a="http://schemas.openxmlformats.org/drawingml/2006/main" noGrp="1"/>
          </p:cNvSpPr>
          <p:nvPr/>
        </p:nvSpPr>
        <p:spPr>
          <a:xfrm xmlns:a="http://schemas.openxmlformats.org/drawingml/2006/main">
            <a:off x="6724650" y="3952875"/>
            <a:ext cx="2114550" cy="1266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65">
                <a:solidFill>
                  <a:srgbClr val="15232B"/>
                </a:solidFill>
              </a:defRPr>
            </a:pPr>
            <a:r>
              <a:rPr sz="1065">
                <a:solidFill>
                  <a:srgbClr val="15232B"/>
                </a:solidFill>
              </a:rPr>
              <a:t>irreversibler Ausfall der gesamten Hirnfunktionen festgestellt</a:t>
            </a:r>
          </a:p>
        </p:txBody>
      </p:sp>
      <p:sp>
        <p:nvSpPr>
          <p:cNvPr id="12" name="">
            <a:extLst xmlns:a="http://schemas.openxmlformats.org/drawingml/2006/main">
              <a:ext uri="{FF2B5EF4-FFF2-40B4-BE49-F238E27FC236}">
                <a16:creationId xmlns:a16="http://schemas.microsoft.com/office/drawing/2014/main" id="{048D98DB-6498-4024-859D-53D8ACB76958}"/>
              </a:ext>
            </a:extLst>
          </p:cNvPr>
          <p:cNvSpPr>
            <a:spLocks xmlns:a="http://schemas.openxmlformats.org/drawingml/2006/main" noGrp="1"/>
          </p:cNvSpPr>
          <p:nvPr/>
        </p:nvSpPr>
        <p:spPr>
          <a:xfrm xmlns:a="http://schemas.openxmlformats.org/drawingml/2006/main">
            <a:off x="9067800" y="3476625"/>
            <a:ext cx="2266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003F6B"/>
                </a:solidFill>
              </a:defRPr>
            </a:pPr>
            <a:r>
              <a:rPr sz="1500" b="1">
                <a:solidFill>
                  <a:srgbClr val="003F6B"/>
                </a:solidFill>
              </a:rPr>
              <a:t>Zeitdruck</a:t>
            </a:r>
          </a:p>
        </p:txBody>
      </p:sp>
      <p:sp>
        <p:nvSpPr>
          <p:cNvPr id="13" name="">
            <a:extLst xmlns:a="http://schemas.openxmlformats.org/drawingml/2006/main">
              <a:ext uri="{FF2B5EF4-FFF2-40B4-BE49-F238E27FC236}">
                <a16:creationId xmlns:a16="http://schemas.microsoft.com/office/drawing/2014/main" id="{F03E2480-E652-466E-93D4-005543C7CD2C}"/>
              </a:ext>
            </a:extLst>
          </p:cNvPr>
          <p:cNvSpPr>
            <a:spLocks xmlns:a="http://schemas.openxmlformats.org/drawingml/2006/main" noGrp="1"/>
          </p:cNvSpPr>
          <p:nvPr/>
        </p:nvSpPr>
        <p:spPr>
          <a:xfrm xmlns:a="http://schemas.openxmlformats.org/drawingml/2006/main">
            <a:off x="9144000" y="3952875"/>
            <a:ext cx="2114550" cy="1266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65">
                <a:solidFill>
                  <a:srgbClr val="15232B"/>
                </a:solidFill>
              </a:defRPr>
            </a:pPr>
            <a:r>
              <a:rPr sz="1065">
                <a:solidFill>
                  <a:srgbClr val="15232B"/>
                </a:solidFill>
              </a:rPr>
              <a:t>medizinische, ethische und rechtliche Entscheidung ohne sicheren Ausgang</a:t>
            </a:r>
          </a:p>
        </p:txBody>
      </p:sp>
      <p:sp>
        <p:nvSpPr>
          <p:cNvPr id="14" name="">
            <a:extLst xmlns:a="http://schemas.openxmlformats.org/drawingml/2006/main">
              <a:ext uri="{FF2B5EF4-FFF2-40B4-BE49-F238E27FC236}">
                <a16:creationId xmlns:a16="http://schemas.microsoft.com/office/drawing/2014/main" id="{B7FFA839-D4A9-4449-8966-ABB5B553A1A9}"/>
              </a:ext>
            </a:extLst>
          </p:cNvPr>
          <p:cNvSpPr>
            <a:spLocks xmlns:a="http://schemas.openxmlformats.org/drawingml/2006/main" noGrp="1"/>
          </p:cNvSpPr>
          <p:nvPr/>
        </p:nvSpPr>
        <p:spPr>
          <a:xfrm xmlns:a="http://schemas.openxmlformats.org/drawingml/2006/main">
            <a:off x="4191000" y="5257800"/>
            <a:ext cx="4762500" cy="323850"/>
          </a:xfrm>
          <a:prstGeom xmlns:a="http://schemas.openxmlformats.org/drawingml/2006/main" prst="roundRect">
            <a:avLst>
              <a:gd name="adj" fmla="val 23529"/>
            </a:avLst>
          </a:prstGeom>
          <a:solidFill xmlns:a="http://schemas.openxmlformats.org/drawingml/2006/main">
            <a:srgbClr val="D53D0E"/>
          </a:solidFill>
          <a:ln xmlns:a="http://schemas.openxmlformats.org/drawingml/2006/main" w="0">
            <a:solidFill>
              <a:srgbClr val="D53D0E"/>
            </a:solidFill>
            <a:prstDash val="solid"/>
          </a:ln>
        </p:spPr>
      </p:sp>
      <p:sp>
        <p:nvSpPr>
          <p:cNvPr id="15" name="">
            <a:extLst xmlns:a="http://schemas.openxmlformats.org/drawingml/2006/main">
              <a:ext uri="{FF2B5EF4-FFF2-40B4-BE49-F238E27FC236}">
                <a16:creationId xmlns:a16="http://schemas.microsoft.com/office/drawing/2014/main" id="{4723459D-C81F-42C0-86BA-B4AEFD1AB02B}"/>
              </a:ext>
            </a:extLst>
          </p:cNvPr>
          <p:cNvSpPr>
            <a:spLocks xmlns:a="http://schemas.openxmlformats.org/drawingml/2006/main" noGrp="1"/>
          </p:cNvSpPr>
          <p:nvPr/>
        </p:nvSpPr>
        <p:spPr>
          <a:xfrm xmlns:a="http://schemas.openxmlformats.org/drawingml/2006/main">
            <a:off x="4191000" y="52578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Noch keine Paragrafen: Entscheiden Sie zunächst klinisch und moralisch.</a:t>
            </a:r>
          </a:p>
        </p:txBody>
      </p:sp>
      <p:sp>
        <p:nvSpPr>
          <p:cNvPr id="16" name="">
            <a:extLst xmlns:a="http://schemas.openxmlformats.org/drawingml/2006/main">
              <a:ext uri="{FF2B5EF4-FFF2-40B4-BE49-F238E27FC236}">
                <a16:creationId xmlns:a16="http://schemas.microsoft.com/office/drawing/2014/main" id="{27BD1570-2950-4AE4-8639-C57A0210E724}"/>
              </a:ext>
            </a:extLst>
          </p:cNvPr>
          <p:cNvSpPr>
            <a:spLocks xmlns:a="http://schemas.openxmlformats.org/drawingml/2006/main" noGrp="1"/>
          </p:cNvSpPr>
          <p:nvPr/>
        </p:nvSpPr>
        <p:spPr>
          <a:xfrm xmlns:a="http://schemas.openxmlformats.org/drawingml/2006/main">
            <a:off x="1809750" y="58102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690">
                <a:solidFill>
                  <a:srgbClr val="667680"/>
                </a:solidFill>
              </a:defRPr>
            </a:pPr>
            <a:r>
              <a:rPr sz="690">
                <a:solidFill>
                  <a:srgbClr val="667680"/>
                </a:solidFill>
              </a:rPr>
              <a:t>AG Hersbruck, Beschl. v. 16.10.1992 – XVII 1556/92 A, NJW 1992, 3245 · DER SPIEGEL, Video v. 29.10.2012 · https://dejure.org/1992,4493</a:t>
            </a:r>
          </a:p>
        </p:txBody>
      </p:sp>
    </p:spTree>
    <p:extLst>
      <p:ext uri="{BB962C8B-B14F-4D97-AF65-F5344CB8AC3E}">
        <p14:creationId xmlns:p14="http://schemas.microsoft.com/office/powerpoint/2010/main" val="4363764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Sie haben 60 Sekunden: fortführen, beenden oder vertagen?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POSITIONIERUNG · ERST ENTSCHEIDEN, DANN BEGRÜNDEN</a:t>
            </a:r>
            <a:endParaRPr/>
          </a:p>
        </p:txBody>
      </p:sp>
      <p:sp>
        <p:nvSpPr>
          <p:cNvPr id="4" name="">
            <a:extLst xmlns:a="http://schemas.openxmlformats.org/drawingml/2006/main">
              <a:ext uri="{FF2B5EF4-FFF2-40B4-BE49-F238E27FC236}">
                <a16:creationId xmlns:a16="http://schemas.microsoft.com/office/drawing/2014/main" id="{4D9C94DA-84BE-4A14-9096-F81494CB15C3}"/>
              </a:ext>
            </a:extLst>
          </p:cNvPr>
          <p:cNvSpPr>
            <a:spLocks xmlns:a="http://schemas.openxmlformats.org/drawingml/2006/main" noGrp="1"/>
          </p:cNvSpPr>
          <p:nvPr/>
        </p:nvSpPr>
        <p:spPr>
          <a:xfrm xmlns:a="http://schemas.openxmlformats.org/drawingml/2006/main">
            <a:off x="1809750" y="2114550"/>
            <a:ext cx="3022600" cy="2476500"/>
          </a:xfrm>
          <a:prstGeom xmlns:a="http://schemas.openxmlformats.org/drawingml/2006/main" prst="roundRect">
            <a:avLst>
              <a:gd name="adj" fmla="val 3077"/>
            </a:avLst>
          </a:prstGeom>
          <a:noFill xmlns:a="http://schemas.openxmlformats.org/drawingml/2006/main"/>
          <a:ln xmlns:a="http://schemas.openxmlformats.org/drawingml/2006/main" w="19050">
            <a:solidFill>
              <a:srgbClr val="003F6B"/>
            </a:solidFill>
            <a:prstDash val="solid"/>
          </a:ln>
        </p:spPr>
      </p:sp>
      <p:sp>
        <p:nvSpPr>
          <p:cNvPr id="5" name="">
            <a:extLst xmlns:a="http://schemas.openxmlformats.org/drawingml/2006/main">
              <a:ext uri="{FF2B5EF4-FFF2-40B4-BE49-F238E27FC236}">
                <a16:creationId xmlns:a16="http://schemas.microsoft.com/office/drawing/2014/main" id="{DC9D6529-5C47-49DC-BC64-A856F7523B4C}"/>
              </a:ext>
            </a:extLst>
          </p:cNvPr>
          <p:cNvSpPr>
            <a:spLocks xmlns:a="http://schemas.openxmlformats.org/drawingml/2006/main" noGrp="1"/>
          </p:cNvSpPr>
          <p:nvPr/>
        </p:nvSpPr>
        <p:spPr>
          <a:xfrm xmlns:a="http://schemas.openxmlformats.org/drawingml/2006/main">
            <a:off x="1981200" y="2333625"/>
            <a:ext cx="2679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25" b="1">
                <a:solidFill>
                  <a:srgbClr val="003F6B"/>
                </a:solidFill>
              </a:defRPr>
            </a:pPr>
            <a:r>
              <a:rPr sz="1725" b="1">
                <a:solidFill>
                  <a:srgbClr val="003F6B"/>
                </a:solidFill>
              </a:rPr>
              <a:t>A · Beenden</a:t>
            </a:r>
          </a:p>
        </p:txBody>
      </p:sp>
      <p:sp>
        <p:nvSpPr>
          <p:cNvPr id="6" name="">
            <a:extLst xmlns:a="http://schemas.openxmlformats.org/drawingml/2006/main">
              <a:ext uri="{FF2B5EF4-FFF2-40B4-BE49-F238E27FC236}">
                <a16:creationId xmlns:a16="http://schemas.microsoft.com/office/drawing/2014/main" id="{ED98373A-2A3E-4EE2-A57B-1D9B518ADDAD}"/>
              </a:ext>
            </a:extLst>
          </p:cNvPr>
          <p:cNvSpPr>
            <a:spLocks xmlns:a="http://schemas.openxmlformats.org/drawingml/2006/main" noGrp="1"/>
          </p:cNvSpPr>
          <p:nvPr/>
        </p:nvSpPr>
        <p:spPr>
          <a:xfrm xmlns:a="http://schemas.openxmlformats.org/drawingml/2006/main">
            <a:off x="2019300" y="3124200"/>
            <a:ext cx="26035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88">
                <a:solidFill>
                  <a:srgbClr val="15232B"/>
                </a:solidFill>
              </a:defRPr>
            </a:pPr>
            <a:r>
              <a:rPr sz="1088">
                <a:solidFill>
                  <a:srgbClr val="15232B"/>
                </a:solidFill>
              </a:rPr>
              <a:t>Die Verstorbene darf nicht zum bloßen Mittel gemacht werden; ihre Würde und ihr mutmaßlicher Wille sprechen gegen die Fortführung.</a:t>
            </a:r>
          </a:p>
        </p:txBody>
      </p:sp>
      <p:sp>
        <p:nvSpPr>
          <p:cNvPr id="7" name="">
            <a:extLst xmlns:a="http://schemas.openxmlformats.org/drawingml/2006/main">
              <a:ext uri="{FF2B5EF4-FFF2-40B4-BE49-F238E27FC236}">
                <a16:creationId xmlns:a16="http://schemas.microsoft.com/office/drawing/2014/main" id="{F44D477C-FE59-45DB-B735-DDF194648FAE}"/>
              </a:ext>
            </a:extLst>
          </p:cNvPr>
          <p:cNvSpPr>
            <a:spLocks xmlns:a="http://schemas.openxmlformats.org/drawingml/2006/main" noGrp="1"/>
          </p:cNvSpPr>
          <p:nvPr/>
        </p:nvSpPr>
        <p:spPr>
          <a:xfrm xmlns:a="http://schemas.openxmlformats.org/drawingml/2006/main">
            <a:off x="5060950" y="2114550"/>
            <a:ext cx="3022600" cy="2476500"/>
          </a:xfrm>
          <a:prstGeom xmlns:a="http://schemas.openxmlformats.org/drawingml/2006/main" prst="roundRect">
            <a:avLst>
              <a:gd name="adj" fmla="val 3077"/>
            </a:avLst>
          </a:prstGeom>
          <a:noFill xmlns:a="http://schemas.openxmlformats.org/drawingml/2006/main"/>
          <a:ln xmlns:a="http://schemas.openxmlformats.org/drawingml/2006/main" w="19050">
            <a:solidFill>
              <a:srgbClr val="00B2BB"/>
            </a:solidFill>
            <a:prstDash val="solid"/>
          </a:ln>
        </p:spPr>
      </p:sp>
      <p:sp>
        <p:nvSpPr>
          <p:cNvPr id="8" name="">
            <a:extLst xmlns:a="http://schemas.openxmlformats.org/drawingml/2006/main">
              <a:ext uri="{FF2B5EF4-FFF2-40B4-BE49-F238E27FC236}">
                <a16:creationId xmlns:a16="http://schemas.microsoft.com/office/drawing/2014/main" id="{3EB0F518-8171-449C-8C1C-CD87D2C608D4}"/>
              </a:ext>
            </a:extLst>
          </p:cNvPr>
          <p:cNvSpPr>
            <a:spLocks xmlns:a="http://schemas.openxmlformats.org/drawingml/2006/main" noGrp="1"/>
          </p:cNvSpPr>
          <p:nvPr/>
        </p:nvSpPr>
        <p:spPr>
          <a:xfrm xmlns:a="http://schemas.openxmlformats.org/drawingml/2006/main">
            <a:off x="5232400" y="2333625"/>
            <a:ext cx="2679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25" b="1">
                <a:solidFill>
                  <a:srgbClr val="00B2BB"/>
                </a:solidFill>
              </a:defRPr>
            </a:pPr>
            <a:r>
              <a:rPr sz="1725" b="1">
                <a:solidFill>
                  <a:srgbClr val="00B2BB"/>
                </a:solidFill>
              </a:rPr>
              <a:t>B · Fortführen</a:t>
            </a:r>
          </a:p>
        </p:txBody>
      </p:sp>
      <p:sp>
        <p:nvSpPr>
          <p:cNvPr id="9" name="">
            <a:extLst xmlns:a="http://schemas.openxmlformats.org/drawingml/2006/main">
              <a:ext uri="{FF2B5EF4-FFF2-40B4-BE49-F238E27FC236}">
                <a16:creationId xmlns:a16="http://schemas.microsoft.com/office/drawing/2014/main" id="{29AC4E77-8B7E-4A5E-AB96-33089B7AEAA0}"/>
              </a:ext>
            </a:extLst>
          </p:cNvPr>
          <p:cNvSpPr>
            <a:spLocks xmlns:a="http://schemas.openxmlformats.org/drawingml/2006/main" noGrp="1"/>
          </p:cNvSpPr>
          <p:nvPr/>
        </p:nvSpPr>
        <p:spPr>
          <a:xfrm xmlns:a="http://schemas.openxmlformats.org/drawingml/2006/main">
            <a:off x="5270500" y="3124200"/>
            <a:ext cx="26035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88">
                <a:solidFill>
                  <a:srgbClr val="15232B"/>
                </a:solidFill>
              </a:defRPr>
            </a:pPr>
            <a:r>
              <a:rPr sz="1088">
                <a:solidFill>
                  <a:srgbClr val="15232B"/>
                </a:solidFill>
              </a:rPr>
              <a:t>Das ungeborene Leben erhält eine Chance; die intensivmedizinische Unterstützung wird zeitlich befristet fortgesetzt.</a:t>
            </a:r>
          </a:p>
        </p:txBody>
      </p:sp>
      <p:sp>
        <p:nvSpPr>
          <p:cNvPr id="10" name="">
            <a:extLst xmlns:a="http://schemas.openxmlformats.org/drawingml/2006/main">
              <a:ext uri="{FF2B5EF4-FFF2-40B4-BE49-F238E27FC236}">
                <a16:creationId xmlns:a16="http://schemas.microsoft.com/office/drawing/2014/main" id="{482B7AFF-A6C7-4ED8-834A-BAE66CA43E85}"/>
              </a:ext>
            </a:extLst>
          </p:cNvPr>
          <p:cNvSpPr>
            <a:spLocks xmlns:a="http://schemas.openxmlformats.org/drawingml/2006/main" noGrp="1"/>
          </p:cNvSpPr>
          <p:nvPr/>
        </p:nvSpPr>
        <p:spPr>
          <a:xfrm xmlns:a="http://schemas.openxmlformats.org/drawingml/2006/main">
            <a:off x="8312150" y="2114550"/>
            <a:ext cx="3022600" cy="2476500"/>
          </a:xfrm>
          <a:prstGeom xmlns:a="http://schemas.openxmlformats.org/drawingml/2006/main" prst="roundRect">
            <a:avLst>
              <a:gd name="adj" fmla="val 3077"/>
            </a:avLst>
          </a:prstGeom>
          <a:noFill xmlns:a="http://schemas.openxmlformats.org/drawingml/2006/main"/>
          <a:ln xmlns:a="http://schemas.openxmlformats.org/drawingml/2006/main" w="19050">
            <a:solidFill>
              <a:srgbClr val="D53D0E"/>
            </a:solidFill>
            <a:prstDash val="solid"/>
          </a:ln>
        </p:spPr>
      </p:sp>
      <p:sp>
        <p:nvSpPr>
          <p:cNvPr id="11" name="">
            <a:extLst xmlns:a="http://schemas.openxmlformats.org/drawingml/2006/main">
              <a:ext uri="{FF2B5EF4-FFF2-40B4-BE49-F238E27FC236}">
                <a16:creationId xmlns:a16="http://schemas.microsoft.com/office/drawing/2014/main" id="{8B672FD9-9815-4D8B-B8A7-BDCFB9844DD5}"/>
              </a:ext>
            </a:extLst>
          </p:cNvPr>
          <p:cNvSpPr>
            <a:spLocks xmlns:a="http://schemas.openxmlformats.org/drawingml/2006/main" noGrp="1"/>
          </p:cNvSpPr>
          <p:nvPr/>
        </p:nvSpPr>
        <p:spPr>
          <a:xfrm xmlns:a="http://schemas.openxmlformats.org/drawingml/2006/main">
            <a:off x="8483600" y="2333625"/>
            <a:ext cx="2679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25" b="1">
                <a:solidFill>
                  <a:srgbClr val="D53D0E"/>
                </a:solidFill>
              </a:defRPr>
            </a:pPr>
            <a:r>
              <a:rPr sz="1725" b="1">
                <a:solidFill>
                  <a:srgbClr val="D53D0E"/>
                </a:solidFill>
              </a:rPr>
              <a:t>C · Vertagen</a:t>
            </a:r>
          </a:p>
        </p:txBody>
      </p:sp>
      <p:sp>
        <p:nvSpPr>
          <p:cNvPr id="12" name="">
            <a:extLst xmlns:a="http://schemas.openxmlformats.org/drawingml/2006/main">
              <a:ext uri="{FF2B5EF4-FFF2-40B4-BE49-F238E27FC236}">
                <a16:creationId xmlns:a16="http://schemas.microsoft.com/office/drawing/2014/main" id="{282CDF48-4DDC-4D39-8512-F288A322AE9C}"/>
              </a:ext>
            </a:extLst>
          </p:cNvPr>
          <p:cNvSpPr>
            <a:spLocks xmlns:a="http://schemas.openxmlformats.org/drawingml/2006/main" noGrp="1"/>
          </p:cNvSpPr>
          <p:nvPr/>
        </p:nvSpPr>
        <p:spPr>
          <a:xfrm xmlns:a="http://schemas.openxmlformats.org/drawingml/2006/main">
            <a:off x="8521700" y="3124200"/>
            <a:ext cx="26035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88">
                <a:solidFill>
                  <a:srgbClr val="15232B"/>
                </a:solidFill>
              </a:defRPr>
            </a:pPr>
            <a:r>
              <a:rPr sz="1088">
                <a:solidFill>
                  <a:srgbClr val="15232B"/>
                </a:solidFill>
              </a:rPr>
              <a:t>24 Stunden für Prognose, Willensermittlung, Familie, Ethik und gerichtliche Zuständigkeitsklärung.</a:t>
            </a:r>
          </a:p>
        </p:txBody>
      </p:sp>
      <p:sp>
        <p:nvSpPr>
          <p:cNvPr id="13" name="">
            <a:extLst xmlns:a="http://schemas.openxmlformats.org/drawingml/2006/main">
              <a:ext uri="{FF2B5EF4-FFF2-40B4-BE49-F238E27FC236}">
                <a16:creationId xmlns:a16="http://schemas.microsoft.com/office/drawing/2014/main" id="{0CB0C25F-9DDC-4BDF-A7DF-BA712C3BE8E3}"/>
              </a:ext>
            </a:extLst>
          </p:cNvPr>
          <p:cNvSpPr>
            <a:spLocks xmlns:a="http://schemas.openxmlformats.org/drawingml/2006/main" noGrp="1"/>
          </p:cNvSpPr>
          <p:nvPr/>
        </p:nvSpPr>
        <p:spPr>
          <a:xfrm xmlns:a="http://schemas.openxmlformats.org/drawingml/2006/main">
            <a:off x="2571750" y="4857750"/>
            <a:ext cx="8001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003F6B"/>
                </a:solidFill>
              </a:defRPr>
            </a:pPr>
            <a:r>
              <a:rPr sz="1350" b="1">
                <a:solidFill>
                  <a:srgbClr val="003F6B"/>
                </a:solidFill>
              </a:rPr>
              <a:t>Eckenabstimmung: Wählen Sie A, B oder C und formulieren Sie genau einen tragenden Grund.</a:t>
            </a:r>
          </a:p>
        </p:txBody>
      </p:sp>
      <p:sp>
        <p:nvSpPr>
          <p:cNvPr id="14" name="">
            <a:extLst xmlns:a="http://schemas.openxmlformats.org/drawingml/2006/main">
              <a:ext uri="{FF2B5EF4-FFF2-40B4-BE49-F238E27FC236}">
                <a16:creationId xmlns:a16="http://schemas.microsoft.com/office/drawing/2014/main" id="{F57F8F5A-AC44-486F-9A1B-CA51BCCC5105}"/>
              </a:ext>
            </a:extLst>
          </p:cNvPr>
          <p:cNvSpPr>
            <a:spLocks xmlns:a="http://schemas.openxmlformats.org/drawingml/2006/main" noGrp="1"/>
          </p:cNvSpPr>
          <p:nvPr/>
        </p:nvSpPr>
        <p:spPr>
          <a:xfrm xmlns:a="http://schemas.openxmlformats.org/drawingml/2006/main">
            <a:off x="1809750" y="5381625"/>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690">
                <a:solidFill>
                  <a:srgbClr val="667680"/>
                </a:solidFill>
              </a:defRPr>
            </a:pPr>
            <a:r>
              <a:rPr sz="690">
                <a:solidFill>
                  <a:srgbClr val="667680"/>
                </a:solidFill>
              </a:rPr>
              <a:t>Podcast Recht Medizinisch, Kurzvisite „Der Erlanger Baby-Fall“, 22.06.2026 · https://podcasts.apple.com/us/podcast/recht-medizinisch/id1896818482</a:t>
            </a:r>
          </a:p>
        </p:txBody>
      </p:sp>
    </p:spTree>
    <p:extLst>
      <p:ext uri="{BB962C8B-B14F-4D97-AF65-F5344CB8AC3E}">
        <p14:creationId xmlns:p14="http://schemas.microsoft.com/office/powerpoint/2010/main" val="4363764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Der Konflikt ist größer als „Selbstbestimmung gegen Lebensschutz“</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RECHTSPOSITIONEN UND ENTSCHEIDUNGSVERANTWORTUNG</a:t>
            </a:r>
            <a:endParaRPr/>
          </a:p>
        </p:txBody>
      </p:sp>
      <p:sp>
        <p:nvSpPr>
          <p:cNvPr id="4" name="">
            <a:extLst xmlns:a="http://schemas.openxmlformats.org/drawingml/2006/main">
              <a:ext uri="{FF2B5EF4-FFF2-40B4-BE49-F238E27FC236}">
                <a16:creationId xmlns:a16="http://schemas.microsoft.com/office/drawing/2014/main" id="{6441B36C-38AC-4DAD-A1BF-947C5332FEE6}"/>
              </a:ext>
            </a:extLst>
          </p:cNvPr>
          <p:cNvSpPr>
            <a:spLocks xmlns:a="http://schemas.openxmlformats.org/drawingml/2006/main" noGrp="1"/>
          </p:cNvSpPr>
          <p:nvPr/>
        </p:nvSpPr>
        <p:spPr>
          <a:xfrm xmlns:a="http://schemas.openxmlformats.org/drawingml/2006/main">
            <a:off x="5524500" y="3143250"/>
            <a:ext cx="2095500" cy="990600"/>
          </a:xfrm>
          <a:prstGeom xmlns:a="http://schemas.openxmlformats.org/drawingml/2006/main" prst="ellipse">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6B217843-9628-4FAE-B20F-7A27C5CC1E3E}"/>
              </a:ext>
            </a:extLst>
          </p:cNvPr>
          <p:cNvSpPr>
            <a:spLocks xmlns:a="http://schemas.openxmlformats.org/drawingml/2006/main" noGrp="1"/>
          </p:cNvSpPr>
          <p:nvPr/>
        </p:nvSpPr>
        <p:spPr>
          <a:xfrm xmlns:a="http://schemas.openxmlformats.org/drawingml/2006/main">
            <a:off x="5715000" y="3295650"/>
            <a:ext cx="171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FFFFFF"/>
                </a:solidFill>
              </a:defRPr>
            </a:pPr>
            <a:r>
              <a:rPr sz="1500" b="1">
                <a:solidFill>
                  <a:srgbClr val="FFFFFF"/>
                </a:solidFill>
              </a:rPr>
              <a:t>Welche Interessen tragen welche Entscheidung?</a:t>
            </a:r>
          </a:p>
        </p:txBody>
      </p:sp>
      <p:sp>
        <p:nvSpPr>
          <p:cNvPr id="6" name="">
            <a:extLst xmlns:a="http://schemas.openxmlformats.org/drawingml/2006/main">
              <a:ext uri="{FF2B5EF4-FFF2-40B4-BE49-F238E27FC236}">
                <a16:creationId xmlns:a16="http://schemas.microsoft.com/office/drawing/2014/main" id="{11A36706-1321-488C-840E-D9DCA28CABDE}"/>
              </a:ext>
            </a:extLst>
          </p:cNvPr>
          <p:cNvSpPr>
            <a:spLocks xmlns:a="http://schemas.openxmlformats.org/drawingml/2006/main" noGrp="1"/>
          </p:cNvSpPr>
          <p:nvPr/>
        </p:nvSpPr>
        <p:spPr>
          <a:xfrm xmlns:a="http://schemas.openxmlformats.org/drawingml/2006/main">
            <a:off x="1809750" y="2047875"/>
            <a:ext cx="3429000" cy="1190625"/>
          </a:xfrm>
          <a:prstGeom xmlns:a="http://schemas.openxmlformats.org/drawingml/2006/main" prst="roundRect">
            <a:avLst>
              <a:gd name="adj" fmla="val 6400"/>
            </a:avLst>
          </a:prstGeom>
          <a:noFill xmlns:a="http://schemas.openxmlformats.org/drawingml/2006/main"/>
          <a:ln xmlns:a="http://schemas.openxmlformats.org/drawingml/2006/main" w="13335">
            <a:solidFill>
              <a:srgbClr val="00B2BB"/>
            </a:solidFill>
            <a:prstDash val="solid"/>
          </a:ln>
        </p:spPr>
      </p:sp>
      <p:sp>
        <p:nvSpPr>
          <p:cNvPr id="7" name="">
            <a:extLst xmlns:a="http://schemas.openxmlformats.org/drawingml/2006/main">
              <a:ext uri="{FF2B5EF4-FFF2-40B4-BE49-F238E27FC236}">
                <a16:creationId xmlns:a16="http://schemas.microsoft.com/office/drawing/2014/main" id="{B718F8DD-1D47-4D94-A961-7BB9EEF746AD}"/>
              </a:ext>
            </a:extLst>
          </p:cNvPr>
          <p:cNvSpPr>
            <a:spLocks xmlns:a="http://schemas.openxmlformats.org/drawingml/2006/main" noGrp="1"/>
          </p:cNvSpPr>
          <p:nvPr/>
        </p:nvSpPr>
        <p:spPr>
          <a:xfrm xmlns:a="http://schemas.openxmlformats.org/drawingml/2006/main">
            <a:off x="1943100" y="2162175"/>
            <a:ext cx="3162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1">
                <a:solidFill>
                  <a:srgbClr val="00B2BB"/>
                </a:solidFill>
              </a:defRPr>
            </a:pPr>
            <a:r>
              <a:rPr sz="1275" b="1">
                <a:solidFill>
                  <a:srgbClr val="00B2BB"/>
                </a:solidFill>
              </a:rPr>
              <a:t>Verstorbene Frau</a:t>
            </a:r>
          </a:p>
        </p:txBody>
      </p:sp>
      <p:sp>
        <p:nvSpPr>
          <p:cNvPr id="8" name="">
            <a:extLst xmlns:a="http://schemas.openxmlformats.org/drawingml/2006/main">
              <a:ext uri="{FF2B5EF4-FFF2-40B4-BE49-F238E27FC236}">
                <a16:creationId xmlns:a16="http://schemas.microsoft.com/office/drawing/2014/main" id="{372B6FAF-DF5A-4144-8F26-E2935D7750A0}"/>
              </a:ext>
            </a:extLst>
          </p:cNvPr>
          <p:cNvSpPr>
            <a:spLocks xmlns:a="http://schemas.openxmlformats.org/drawingml/2006/main" noGrp="1"/>
          </p:cNvSpPr>
          <p:nvPr/>
        </p:nvSpPr>
        <p:spPr>
          <a:xfrm xmlns:a="http://schemas.openxmlformats.org/drawingml/2006/main">
            <a:off x="1981200" y="2505075"/>
            <a:ext cx="30861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frühere Wünsche, Menschenwürde und postmortaler Persönlichkeitsschutz; nach Hirntod keine laufende Patienteneinwilligung</a:t>
            </a:r>
          </a:p>
        </p:txBody>
      </p:sp>
      <p:sp>
        <p:nvSpPr>
          <p:cNvPr id="9" name="">
            <a:extLst xmlns:a="http://schemas.openxmlformats.org/drawingml/2006/main">
              <a:ext uri="{FF2B5EF4-FFF2-40B4-BE49-F238E27FC236}">
                <a16:creationId xmlns:a16="http://schemas.microsoft.com/office/drawing/2014/main" id="{08B6EADF-B6B3-459E-94B4-BC867197F861}"/>
              </a:ext>
            </a:extLst>
          </p:cNvPr>
          <p:cNvSpPr>
            <a:spLocks xmlns:a="http://schemas.openxmlformats.org/drawingml/2006/main" noGrp="1"/>
          </p:cNvSpPr>
          <p:nvPr/>
        </p:nvSpPr>
        <p:spPr>
          <a:xfrm xmlns:a="http://schemas.openxmlformats.org/drawingml/2006/main">
            <a:off x="7905750" y="2047875"/>
            <a:ext cx="3429000" cy="1190625"/>
          </a:xfrm>
          <a:prstGeom xmlns:a="http://schemas.openxmlformats.org/drawingml/2006/main" prst="roundRect">
            <a:avLst>
              <a:gd name="adj" fmla="val 6400"/>
            </a:avLst>
          </a:prstGeom>
          <a:noFill xmlns:a="http://schemas.openxmlformats.org/drawingml/2006/main"/>
          <a:ln xmlns:a="http://schemas.openxmlformats.org/drawingml/2006/main" w="13335">
            <a:solidFill>
              <a:srgbClr val="003F6B"/>
            </a:solidFill>
            <a:prstDash val="solid"/>
          </a:ln>
        </p:spPr>
      </p:sp>
      <p:sp>
        <p:nvSpPr>
          <p:cNvPr id="10" name="">
            <a:extLst xmlns:a="http://schemas.openxmlformats.org/drawingml/2006/main">
              <a:ext uri="{FF2B5EF4-FFF2-40B4-BE49-F238E27FC236}">
                <a16:creationId xmlns:a16="http://schemas.microsoft.com/office/drawing/2014/main" id="{FDC3F177-1F19-481C-9622-FDE4CB0D63DD}"/>
              </a:ext>
            </a:extLst>
          </p:cNvPr>
          <p:cNvSpPr>
            <a:spLocks xmlns:a="http://schemas.openxmlformats.org/drawingml/2006/main" noGrp="1"/>
          </p:cNvSpPr>
          <p:nvPr/>
        </p:nvSpPr>
        <p:spPr>
          <a:xfrm xmlns:a="http://schemas.openxmlformats.org/drawingml/2006/main">
            <a:off x="8039100" y="2162175"/>
            <a:ext cx="3162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1">
                <a:solidFill>
                  <a:srgbClr val="003F6B"/>
                </a:solidFill>
              </a:defRPr>
            </a:pPr>
            <a:r>
              <a:rPr sz="1275" b="1">
                <a:solidFill>
                  <a:srgbClr val="003F6B"/>
                </a:solidFill>
              </a:rPr>
              <a:t>Ungeborenes Leben</a:t>
            </a:r>
          </a:p>
        </p:txBody>
      </p:sp>
      <p:sp>
        <p:nvSpPr>
          <p:cNvPr id="11" name="">
            <a:extLst xmlns:a="http://schemas.openxmlformats.org/drawingml/2006/main">
              <a:ext uri="{FF2B5EF4-FFF2-40B4-BE49-F238E27FC236}">
                <a16:creationId xmlns:a16="http://schemas.microsoft.com/office/drawing/2014/main" id="{0B895933-E4E7-419F-991B-5C593730FB0C}"/>
              </a:ext>
            </a:extLst>
          </p:cNvPr>
          <p:cNvSpPr>
            <a:spLocks xmlns:a="http://schemas.openxmlformats.org/drawingml/2006/main" noGrp="1"/>
          </p:cNvSpPr>
          <p:nvPr/>
        </p:nvSpPr>
        <p:spPr>
          <a:xfrm xmlns:a="http://schemas.openxmlformats.org/drawingml/2006/main">
            <a:off x="8077200" y="2505075"/>
            <a:ext cx="30861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staatliche Schutzpflicht aus Art. 1 Abs. 1 i. V. m. Art. 2 Abs. 2 Satz 1 GG; konkrete Prognose und Verhältnismäßigkeit</a:t>
            </a:r>
          </a:p>
        </p:txBody>
      </p:sp>
      <p:sp>
        <p:nvSpPr>
          <p:cNvPr id="12" name="">
            <a:extLst xmlns:a="http://schemas.openxmlformats.org/drawingml/2006/main">
              <a:ext uri="{FF2B5EF4-FFF2-40B4-BE49-F238E27FC236}">
                <a16:creationId xmlns:a16="http://schemas.microsoft.com/office/drawing/2014/main" id="{23383FB2-AAC6-4F25-AF0E-7F5F0FF4F4F1}"/>
              </a:ext>
            </a:extLst>
          </p:cNvPr>
          <p:cNvSpPr>
            <a:spLocks xmlns:a="http://schemas.openxmlformats.org/drawingml/2006/main" noGrp="1"/>
          </p:cNvSpPr>
          <p:nvPr/>
        </p:nvSpPr>
        <p:spPr>
          <a:xfrm xmlns:a="http://schemas.openxmlformats.org/drawingml/2006/main">
            <a:off x="1809750" y="4286250"/>
            <a:ext cx="3429000" cy="1190625"/>
          </a:xfrm>
          <a:prstGeom xmlns:a="http://schemas.openxmlformats.org/drawingml/2006/main" prst="roundRect">
            <a:avLst>
              <a:gd name="adj" fmla="val 6400"/>
            </a:avLst>
          </a:prstGeom>
          <a:noFill xmlns:a="http://schemas.openxmlformats.org/drawingml/2006/main"/>
          <a:ln xmlns:a="http://schemas.openxmlformats.org/drawingml/2006/main" w="13335">
            <a:solidFill>
              <a:srgbClr val="00B2BB"/>
            </a:solidFill>
            <a:prstDash val="solid"/>
          </a:ln>
        </p:spPr>
      </p:sp>
      <p:sp>
        <p:nvSpPr>
          <p:cNvPr id="13" name="">
            <a:extLst xmlns:a="http://schemas.openxmlformats.org/drawingml/2006/main">
              <a:ext uri="{FF2B5EF4-FFF2-40B4-BE49-F238E27FC236}">
                <a16:creationId xmlns:a16="http://schemas.microsoft.com/office/drawing/2014/main" id="{E6C4FF01-4A50-4B79-9FC4-0D814FE45C15}"/>
              </a:ext>
            </a:extLst>
          </p:cNvPr>
          <p:cNvSpPr>
            <a:spLocks xmlns:a="http://schemas.openxmlformats.org/drawingml/2006/main" noGrp="1"/>
          </p:cNvSpPr>
          <p:nvPr/>
        </p:nvSpPr>
        <p:spPr>
          <a:xfrm xmlns:a="http://schemas.openxmlformats.org/drawingml/2006/main">
            <a:off x="1943100" y="4400550"/>
            <a:ext cx="3162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1">
                <a:solidFill>
                  <a:srgbClr val="00B2BB"/>
                </a:solidFill>
              </a:defRPr>
            </a:pPr>
            <a:r>
              <a:rPr sz="1275" b="1">
                <a:solidFill>
                  <a:srgbClr val="00B2BB"/>
                </a:solidFill>
              </a:rPr>
              <a:t>Familie und Totenfürsorge</a:t>
            </a:r>
          </a:p>
        </p:txBody>
      </p:sp>
      <p:sp>
        <p:nvSpPr>
          <p:cNvPr id="14" name="">
            <a:extLst xmlns:a="http://schemas.openxmlformats.org/drawingml/2006/main">
              <a:ext uri="{FF2B5EF4-FFF2-40B4-BE49-F238E27FC236}">
                <a16:creationId xmlns:a16="http://schemas.microsoft.com/office/drawing/2014/main" id="{691ADAFE-994A-48D1-9885-CCE5E35E54D5}"/>
              </a:ext>
            </a:extLst>
          </p:cNvPr>
          <p:cNvSpPr>
            <a:spLocks xmlns:a="http://schemas.openxmlformats.org/drawingml/2006/main" noGrp="1"/>
          </p:cNvSpPr>
          <p:nvPr/>
        </p:nvSpPr>
        <p:spPr>
          <a:xfrm xmlns:a="http://schemas.openxmlformats.org/drawingml/2006/main">
            <a:off x="1981200" y="4743450"/>
            <a:ext cx="30861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wichtige Informationen und eigene Belastung; Angehörige entscheiden nicht automatisch über jede medizinische Maßnahme</a:t>
            </a:r>
          </a:p>
        </p:txBody>
      </p:sp>
      <p:sp>
        <p:nvSpPr>
          <p:cNvPr id="15" name="">
            <a:extLst xmlns:a="http://schemas.openxmlformats.org/drawingml/2006/main">
              <a:ext uri="{FF2B5EF4-FFF2-40B4-BE49-F238E27FC236}">
                <a16:creationId xmlns:a16="http://schemas.microsoft.com/office/drawing/2014/main" id="{D0BF2ED3-3B33-4EA9-8028-F1FAC957B73F}"/>
              </a:ext>
            </a:extLst>
          </p:cNvPr>
          <p:cNvSpPr>
            <a:spLocks xmlns:a="http://schemas.openxmlformats.org/drawingml/2006/main" noGrp="1"/>
          </p:cNvSpPr>
          <p:nvPr/>
        </p:nvSpPr>
        <p:spPr>
          <a:xfrm xmlns:a="http://schemas.openxmlformats.org/drawingml/2006/main">
            <a:off x="7905750" y="4286250"/>
            <a:ext cx="3429000" cy="1190625"/>
          </a:xfrm>
          <a:prstGeom xmlns:a="http://schemas.openxmlformats.org/drawingml/2006/main" prst="roundRect">
            <a:avLst>
              <a:gd name="adj" fmla="val 6400"/>
            </a:avLst>
          </a:prstGeom>
          <a:noFill xmlns:a="http://schemas.openxmlformats.org/drawingml/2006/main"/>
          <a:ln xmlns:a="http://schemas.openxmlformats.org/drawingml/2006/main" w="13335">
            <a:solidFill>
              <a:srgbClr val="003F6B"/>
            </a:solidFill>
            <a:prstDash val="solid"/>
          </a:ln>
        </p:spPr>
      </p:sp>
      <p:sp>
        <p:nvSpPr>
          <p:cNvPr id="16" name="">
            <a:extLst xmlns:a="http://schemas.openxmlformats.org/drawingml/2006/main">
              <a:ext uri="{FF2B5EF4-FFF2-40B4-BE49-F238E27FC236}">
                <a16:creationId xmlns:a16="http://schemas.microsoft.com/office/drawing/2014/main" id="{D0820ABC-8AF1-4252-A493-B08E5C3564E8}"/>
              </a:ext>
            </a:extLst>
          </p:cNvPr>
          <p:cNvSpPr>
            <a:spLocks xmlns:a="http://schemas.openxmlformats.org/drawingml/2006/main" noGrp="1"/>
          </p:cNvSpPr>
          <p:nvPr/>
        </p:nvSpPr>
        <p:spPr>
          <a:xfrm xmlns:a="http://schemas.openxmlformats.org/drawingml/2006/main">
            <a:off x="8039100" y="4400550"/>
            <a:ext cx="3162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1">
                <a:solidFill>
                  <a:srgbClr val="003F6B"/>
                </a:solidFill>
              </a:defRPr>
            </a:pPr>
            <a:r>
              <a:rPr sz="1275" b="1">
                <a:solidFill>
                  <a:srgbClr val="003F6B"/>
                </a:solidFill>
              </a:rPr>
              <a:t>Behandlungsteam</a:t>
            </a:r>
          </a:p>
        </p:txBody>
      </p:sp>
      <p:sp>
        <p:nvSpPr>
          <p:cNvPr id="17" name="">
            <a:extLst xmlns:a="http://schemas.openxmlformats.org/drawingml/2006/main">
              <a:ext uri="{FF2B5EF4-FFF2-40B4-BE49-F238E27FC236}">
                <a16:creationId xmlns:a16="http://schemas.microsoft.com/office/drawing/2014/main" id="{676BFFAD-4CC9-4E54-8920-BA4CF311ECFB}"/>
              </a:ext>
            </a:extLst>
          </p:cNvPr>
          <p:cNvSpPr>
            <a:spLocks xmlns:a="http://schemas.openxmlformats.org/drawingml/2006/main" noGrp="1"/>
          </p:cNvSpPr>
          <p:nvPr/>
        </p:nvSpPr>
        <p:spPr>
          <a:xfrm xmlns:a="http://schemas.openxmlformats.org/drawingml/2006/main">
            <a:off x="8077200" y="4743450"/>
            <a:ext cx="30861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Todesfeststellung, medizinische Indikation, Prognose, Ressourcen, interprofessionelle Beratung und Dokumentation</a:t>
            </a:r>
          </a:p>
        </p:txBody>
      </p:sp>
      <p:sp>
        <p:nvSpPr>
          <p:cNvPr id="18" name="">
            <a:extLst xmlns:a="http://schemas.openxmlformats.org/drawingml/2006/main">
              <a:ext uri="{FF2B5EF4-FFF2-40B4-BE49-F238E27FC236}">
                <a16:creationId xmlns:a16="http://schemas.microsoft.com/office/drawing/2014/main" id="{5D25BEF0-9143-43FC-A528-735055AA8BED}"/>
              </a:ext>
            </a:extLst>
          </p:cNvPr>
          <p:cNvSpPr>
            <a:spLocks xmlns:a="http://schemas.openxmlformats.org/drawingml/2006/main" noGrp="1"/>
          </p:cNvSpPr>
          <p:nvPr/>
        </p:nvSpPr>
        <p:spPr>
          <a:xfrm xmlns:a="http://schemas.openxmlformats.org/drawingml/2006/main">
            <a:off x="1809750" y="581025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690">
                <a:solidFill>
                  <a:srgbClr val="667680"/>
                </a:solidFill>
              </a:defRPr>
            </a:pPr>
            <a:r>
              <a:rPr sz="690">
                <a:solidFill>
                  <a:srgbClr val="667680"/>
                </a:solidFill>
              </a:rPr>
              <a:t>AG Hersbruck, Beschl. v. 16.10.1992 – XVII 1556/92 A, NJW 1992, 3245 · BVerfG, Urt. v. 28.05.1993 – 2 BvF 2/90 · https://dejure.org/1992,4493 · https://www.bundesverfassungsgericht.de</a:t>
            </a:r>
          </a:p>
        </p:txBody>
      </p:sp>
    </p:spTree>
    <p:extLst>
      <p:ext uri="{BB962C8B-B14F-4D97-AF65-F5344CB8AC3E}">
        <p14:creationId xmlns:p14="http://schemas.microsoft.com/office/powerpoint/2010/main" val="4363764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Vor der Rechtsantwort stehen fünf Tatsachenfragen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SPIELREGEL · KEINE NORM OHNE GESICHERTEN SACHVERHALT</a:t>
            </a:r>
            <a:endParaRPr/>
          </a:p>
        </p:txBody>
      </p:sp>
      <p:sp>
        <p:nvSpPr>
          <p:cNvPr id="4" name="">
            <a:extLst xmlns:a="http://schemas.openxmlformats.org/drawingml/2006/main">
              <a:ext uri="{FF2B5EF4-FFF2-40B4-BE49-F238E27FC236}">
                <a16:creationId xmlns:a16="http://schemas.microsoft.com/office/drawing/2014/main" id="{D7D0A67E-0442-44BB-8660-9D8E44BF87D0}"/>
              </a:ext>
            </a:extLst>
          </p:cNvPr>
          <p:cNvSpPr>
            <a:spLocks xmlns:a="http://schemas.openxmlformats.org/drawingml/2006/main" noGrp="1"/>
          </p:cNvSpPr>
          <p:nvPr/>
        </p:nvSpPr>
        <p:spPr>
          <a:xfrm xmlns:a="http://schemas.openxmlformats.org/drawingml/2006/main">
            <a:off x="1809750" y="1952625"/>
            <a:ext cx="400050" cy="64389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ACFA1046-B0E0-4751-99C4-48C7F7A94EFF}"/>
              </a:ext>
            </a:extLst>
          </p:cNvPr>
          <p:cNvSpPr>
            <a:spLocks xmlns:a="http://schemas.openxmlformats.org/drawingml/2006/main" noGrp="1"/>
          </p:cNvSpPr>
          <p:nvPr/>
        </p:nvSpPr>
        <p:spPr>
          <a:xfrm xmlns:a="http://schemas.openxmlformats.org/drawingml/2006/main">
            <a:off x="1809750" y="1952625"/>
            <a:ext cx="400050" cy="6438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6" name="">
            <a:extLst xmlns:a="http://schemas.openxmlformats.org/drawingml/2006/main">
              <a:ext uri="{FF2B5EF4-FFF2-40B4-BE49-F238E27FC236}">
                <a16:creationId xmlns:a16="http://schemas.microsoft.com/office/drawing/2014/main" id="{204F6310-4EF9-4289-8FF5-63170589D39F}"/>
              </a:ext>
            </a:extLst>
          </p:cNvPr>
          <p:cNvSpPr>
            <a:spLocks xmlns:a="http://schemas.openxmlformats.org/drawingml/2006/main" noGrp="1"/>
          </p:cNvSpPr>
          <p:nvPr/>
        </p:nvSpPr>
        <p:spPr>
          <a:xfrm xmlns:a="http://schemas.openxmlformats.org/drawingml/2006/main">
            <a:off x="2324100" y="1962150"/>
            <a:ext cx="2381250" cy="624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Tod feststellen</a:t>
            </a:r>
          </a:p>
        </p:txBody>
      </p:sp>
      <p:sp>
        <p:nvSpPr>
          <p:cNvPr id="7" name="">
            <a:extLst xmlns:a="http://schemas.openxmlformats.org/drawingml/2006/main">
              <a:ext uri="{FF2B5EF4-FFF2-40B4-BE49-F238E27FC236}">
                <a16:creationId xmlns:a16="http://schemas.microsoft.com/office/drawing/2014/main" id="{D0D9703C-B765-4333-A047-BE1D6CCCA5E6}"/>
              </a:ext>
            </a:extLst>
          </p:cNvPr>
          <p:cNvSpPr>
            <a:spLocks xmlns:a="http://schemas.openxmlformats.org/drawingml/2006/main" noGrp="1"/>
          </p:cNvSpPr>
          <p:nvPr/>
        </p:nvSpPr>
        <p:spPr>
          <a:xfrm xmlns:a="http://schemas.openxmlformats.org/drawingml/2006/main">
            <a:off x="4819650" y="1962150"/>
            <a:ext cx="6419850" cy="624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Ist der irreversible Hirnfunktionsausfall nach den maßgeblichen medizinischen Regeln sicher diagnostiziert?</a:t>
            </a:r>
          </a:p>
        </p:txBody>
      </p:sp>
      <p:sp>
        <p:nvSpPr>
          <p:cNvPr id="8" name="">
            <a:extLst xmlns:a="http://schemas.openxmlformats.org/drawingml/2006/main">
              <a:ext uri="{FF2B5EF4-FFF2-40B4-BE49-F238E27FC236}">
                <a16:creationId xmlns:a16="http://schemas.microsoft.com/office/drawing/2014/main" id="{BE22562C-6437-40AC-9DF3-612723F97F76}"/>
              </a:ext>
            </a:extLst>
          </p:cNvPr>
          <p:cNvSpPr>
            <a:spLocks xmlns:a="http://schemas.openxmlformats.org/drawingml/2006/main" noGrp="1"/>
          </p:cNvSpPr>
          <p:nvPr/>
        </p:nvSpPr>
        <p:spPr>
          <a:xfrm xmlns:a="http://schemas.openxmlformats.org/drawingml/2006/main">
            <a:off x="1809750" y="2672715"/>
            <a:ext cx="400050" cy="64389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9" name="">
            <a:extLst xmlns:a="http://schemas.openxmlformats.org/drawingml/2006/main">
              <a:ext uri="{FF2B5EF4-FFF2-40B4-BE49-F238E27FC236}">
                <a16:creationId xmlns:a16="http://schemas.microsoft.com/office/drawing/2014/main" id="{082AE75C-F9D1-418A-8B0E-63D04524EA85}"/>
              </a:ext>
            </a:extLst>
          </p:cNvPr>
          <p:cNvSpPr>
            <a:spLocks xmlns:a="http://schemas.openxmlformats.org/drawingml/2006/main" noGrp="1"/>
          </p:cNvSpPr>
          <p:nvPr/>
        </p:nvSpPr>
        <p:spPr>
          <a:xfrm xmlns:a="http://schemas.openxmlformats.org/drawingml/2006/main">
            <a:off x="1809750" y="2672715"/>
            <a:ext cx="400050" cy="6438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0" name="">
            <a:extLst xmlns:a="http://schemas.openxmlformats.org/drawingml/2006/main">
              <a:ext uri="{FF2B5EF4-FFF2-40B4-BE49-F238E27FC236}">
                <a16:creationId xmlns:a16="http://schemas.microsoft.com/office/drawing/2014/main" id="{36FB898A-21E3-477A-A6F4-C1DFE950AB00}"/>
              </a:ext>
            </a:extLst>
          </p:cNvPr>
          <p:cNvSpPr>
            <a:spLocks xmlns:a="http://schemas.openxmlformats.org/drawingml/2006/main" noGrp="1"/>
          </p:cNvSpPr>
          <p:nvPr/>
        </p:nvSpPr>
        <p:spPr>
          <a:xfrm xmlns:a="http://schemas.openxmlformats.org/drawingml/2006/main">
            <a:off x="2324100" y="2682240"/>
            <a:ext cx="2381250" cy="624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Prognose klären</a:t>
            </a:r>
          </a:p>
        </p:txBody>
      </p:sp>
      <p:sp>
        <p:nvSpPr>
          <p:cNvPr id="11" name="">
            <a:extLst xmlns:a="http://schemas.openxmlformats.org/drawingml/2006/main">
              <a:ext uri="{FF2B5EF4-FFF2-40B4-BE49-F238E27FC236}">
                <a16:creationId xmlns:a16="http://schemas.microsoft.com/office/drawing/2014/main" id="{521B5DAC-AEA0-4238-A87B-D28586812D8B}"/>
              </a:ext>
            </a:extLst>
          </p:cNvPr>
          <p:cNvSpPr>
            <a:spLocks xmlns:a="http://schemas.openxmlformats.org/drawingml/2006/main" noGrp="1"/>
          </p:cNvSpPr>
          <p:nvPr/>
        </p:nvSpPr>
        <p:spPr>
          <a:xfrm xmlns:a="http://schemas.openxmlformats.org/drawingml/2006/main">
            <a:off x="4819650" y="2682240"/>
            <a:ext cx="6419850" cy="624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Welche realistische Überlebenschance hat die Leibesfrucht, mit welcher Belastung und in welchem Zeitraum?</a:t>
            </a:r>
          </a:p>
        </p:txBody>
      </p:sp>
      <p:sp>
        <p:nvSpPr>
          <p:cNvPr id="12" name="">
            <a:extLst xmlns:a="http://schemas.openxmlformats.org/drawingml/2006/main">
              <a:ext uri="{FF2B5EF4-FFF2-40B4-BE49-F238E27FC236}">
                <a16:creationId xmlns:a16="http://schemas.microsoft.com/office/drawing/2014/main" id="{9A093287-BFD4-4067-98BF-8021874FD5CD}"/>
              </a:ext>
            </a:extLst>
          </p:cNvPr>
          <p:cNvSpPr>
            <a:spLocks xmlns:a="http://schemas.openxmlformats.org/drawingml/2006/main" noGrp="1"/>
          </p:cNvSpPr>
          <p:nvPr/>
        </p:nvSpPr>
        <p:spPr>
          <a:xfrm xmlns:a="http://schemas.openxmlformats.org/drawingml/2006/main">
            <a:off x="1809750" y="3392805"/>
            <a:ext cx="400050" cy="64389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3" name="">
            <a:extLst xmlns:a="http://schemas.openxmlformats.org/drawingml/2006/main">
              <a:ext uri="{FF2B5EF4-FFF2-40B4-BE49-F238E27FC236}">
                <a16:creationId xmlns:a16="http://schemas.microsoft.com/office/drawing/2014/main" id="{C380162C-4BAD-47C6-90F3-F64CD5963A60}"/>
              </a:ext>
            </a:extLst>
          </p:cNvPr>
          <p:cNvSpPr>
            <a:spLocks xmlns:a="http://schemas.openxmlformats.org/drawingml/2006/main" noGrp="1"/>
          </p:cNvSpPr>
          <p:nvPr/>
        </p:nvSpPr>
        <p:spPr>
          <a:xfrm xmlns:a="http://schemas.openxmlformats.org/drawingml/2006/main">
            <a:off x="1809750" y="3392805"/>
            <a:ext cx="400050" cy="6438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4" name="">
            <a:extLst xmlns:a="http://schemas.openxmlformats.org/drawingml/2006/main">
              <a:ext uri="{FF2B5EF4-FFF2-40B4-BE49-F238E27FC236}">
                <a16:creationId xmlns:a16="http://schemas.microsoft.com/office/drawing/2014/main" id="{501EA11C-7841-452C-9BE0-FFBC9B0CAFEB}"/>
              </a:ext>
            </a:extLst>
          </p:cNvPr>
          <p:cNvSpPr>
            <a:spLocks xmlns:a="http://schemas.openxmlformats.org/drawingml/2006/main" noGrp="1"/>
          </p:cNvSpPr>
          <p:nvPr/>
        </p:nvSpPr>
        <p:spPr>
          <a:xfrm xmlns:a="http://schemas.openxmlformats.org/drawingml/2006/main">
            <a:off x="2324100" y="3402330"/>
            <a:ext cx="2381250" cy="624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Willen ermitteln</a:t>
            </a:r>
          </a:p>
        </p:txBody>
      </p:sp>
      <p:sp>
        <p:nvSpPr>
          <p:cNvPr id="15" name="">
            <a:extLst xmlns:a="http://schemas.openxmlformats.org/drawingml/2006/main">
              <a:ext uri="{FF2B5EF4-FFF2-40B4-BE49-F238E27FC236}">
                <a16:creationId xmlns:a16="http://schemas.microsoft.com/office/drawing/2014/main" id="{47EC5DB3-AF68-4C92-8F1E-2D98CBA222AE}"/>
              </a:ext>
            </a:extLst>
          </p:cNvPr>
          <p:cNvSpPr>
            <a:spLocks xmlns:a="http://schemas.openxmlformats.org/drawingml/2006/main" noGrp="1"/>
          </p:cNvSpPr>
          <p:nvPr/>
        </p:nvSpPr>
        <p:spPr>
          <a:xfrm xmlns:a="http://schemas.openxmlformats.org/drawingml/2006/main">
            <a:off x="4819650" y="3402330"/>
            <a:ext cx="6419850" cy="624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Gibt es frühere Äußerungen der Frau zur Schwangerschaft, Intensivmedizin, Organspende oder zum Umgang mit ihrem Körper nach dem Tod?</a:t>
            </a:r>
          </a:p>
        </p:txBody>
      </p:sp>
      <p:sp>
        <p:nvSpPr>
          <p:cNvPr id="16" name="">
            <a:extLst xmlns:a="http://schemas.openxmlformats.org/drawingml/2006/main">
              <a:ext uri="{FF2B5EF4-FFF2-40B4-BE49-F238E27FC236}">
                <a16:creationId xmlns:a16="http://schemas.microsoft.com/office/drawing/2014/main" id="{AEE3EA06-F2E6-4D40-944B-FE67179AFD62}"/>
              </a:ext>
            </a:extLst>
          </p:cNvPr>
          <p:cNvSpPr>
            <a:spLocks xmlns:a="http://schemas.openxmlformats.org/drawingml/2006/main" noGrp="1"/>
          </p:cNvSpPr>
          <p:nvPr/>
        </p:nvSpPr>
        <p:spPr>
          <a:xfrm xmlns:a="http://schemas.openxmlformats.org/drawingml/2006/main">
            <a:off x="1809750" y="4112895"/>
            <a:ext cx="400050" cy="64389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7" name="">
            <a:extLst xmlns:a="http://schemas.openxmlformats.org/drawingml/2006/main">
              <a:ext uri="{FF2B5EF4-FFF2-40B4-BE49-F238E27FC236}">
                <a16:creationId xmlns:a16="http://schemas.microsoft.com/office/drawing/2014/main" id="{75D3058C-BF41-46F6-9496-AA824304CEF1}"/>
              </a:ext>
            </a:extLst>
          </p:cNvPr>
          <p:cNvSpPr>
            <a:spLocks xmlns:a="http://schemas.openxmlformats.org/drawingml/2006/main" noGrp="1"/>
          </p:cNvSpPr>
          <p:nvPr/>
        </p:nvSpPr>
        <p:spPr>
          <a:xfrm xmlns:a="http://schemas.openxmlformats.org/drawingml/2006/main">
            <a:off x="1809750" y="4112895"/>
            <a:ext cx="400050" cy="6438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18" name="">
            <a:extLst xmlns:a="http://schemas.openxmlformats.org/drawingml/2006/main">
              <a:ext uri="{FF2B5EF4-FFF2-40B4-BE49-F238E27FC236}">
                <a16:creationId xmlns:a16="http://schemas.microsoft.com/office/drawing/2014/main" id="{107A8952-63FE-4E78-A104-E4E3A2828A8E}"/>
              </a:ext>
            </a:extLst>
          </p:cNvPr>
          <p:cNvSpPr>
            <a:spLocks xmlns:a="http://schemas.openxmlformats.org/drawingml/2006/main" noGrp="1"/>
          </p:cNvSpPr>
          <p:nvPr/>
        </p:nvSpPr>
        <p:spPr>
          <a:xfrm xmlns:a="http://schemas.openxmlformats.org/drawingml/2006/main">
            <a:off x="2324100" y="4122420"/>
            <a:ext cx="2381250" cy="624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Rollen trennen</a:t>
            </a:r>
          </a:p>
        </p:txBody>
      </p:sp>
      <p:sp>
        <p:nvSpPr>
          <p:cNvPr id="19" name="">
            <a:extLst xmlns:a="http://schemas.openxmlformats.org/drawingml/2006/main">
              <a:ext uri="{FF2B5EF4-FFF2-40B4-BE49-F238E27FC236}">
                <a16:creationId xmlns:a16="http://schemas.microsoft.com/office/drawing/2014/main" id="{25968CF7-9B01-4407-B370-678E78C769D9}"/>
              </a:ext>
            </a:extLst>
          </p:cNvPr>
          <p:cNvSpPr>
            <a:spLocks xmlns:a="http://schemas.openxmlformats.org/drawingml/2006/main" noGrp="1"/>
          </p:cNvSpPr>
          <p:nvPr/>
        </p:nvSpPr>
        <p:spPr>
          <a:xfrm xmlns:a="http://schemas.openxmlformats.org/drawingml/2006/main">
            <a:off x="4819650" y="4122420"/>
            <a:ext cx="6419850" cy="624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Wer liefert Tatsachen, wer vertritt wessen Interessen, wer prüft die medizinische Indikation und wer entscheidet rechtlich?</a:t>
            </a:r>
          </a:p>
        </p:txBody>
      </p:sp>
      <p:sp>
        <p:nvSpPr>
          <p:cNvPr id="20" name="">
            <a:extLst xmlns:a="http://schemas.openxmlformats.org/drawingml/2006/main">
              <a:ext uri="{FF2B5EF4-FFF2-40B4-BE49-F238E27FC236}">
                <a16:creationId xmlns:a16="http://schemas.microsoft.com/office/drawing/2014/main" id="{7C4DC638-26DA-4B62-9ACC-7FF6D94296B1}"/>
              </a:ext>
            </a:extLst>
          </p:cNvPr>
          <p:cNvSpPr>
            <a:spLocks xmlns:a="http://schemas.openxmlformats.org/drawingml/2006/main" noGrp="1"/>
          </p:cNvSpPr>
          <p:nvPr/>
        </p:nvSpPr>
        <p:spPr>
          <a:xfrm xmlns:a="http://schemas.openxmlformats.org/drawingml/2006/main">
            <a:off x="1809750" y="4832985"/>
            <a:ext cx="400050" cy="64389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1" name="">
            <a:extLst xmlns:a="http://schemas.openxmlformats.org/drawingml/2006/main">
              <a:ext uri="{FF2B5EF4-FFF2-40B4-BE49-F238E27FC236}">
                <a16:creationId xmlns:a16="http://schemas.microsoft.com/office/drawing/2014/main" id="{78206657-8D58-4FE8-B64F-D9B8D73203EF}"/>
              </a:ext>
            </a:extLst>
          </p:cNvPr>
          <p:cNvSpPr>
            <a:spLocks xmlns:a="http://schemas.openxmlformats.org/drawingml/2006/main" noGrp="1"/>
          </p:cNvSpPr>
          <p:nvPr/>
        </p:nvSpPr>
        <p:spPr>
          <a:xfrm xmlns:a="http://schemas.openxmlformats.org/drawingml/2006/main">
            <a:off x="1809750" y="4832985"/>
            <a:ext cx="400050" cy="6438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5</a:t>
            </a:r>
          </a:p>
        </p:txBody>
      </p:sp>
      <p:sp>
        <p:nvSpPr>
          <p:cNvPr id="22" name="">
            <a:extLst xmlns:a="http://schemas.openxmlformats.org/drawingml/2006/main">
              <a:ext uri="{FF2B5EF4-FFF2-40B4-BE49-F238E27FC236}">
                <a16:creationId xmlns:a16="http://schemas.microsoft.com/office/drawing/2014/main" id="{4206545C-F514-4C7C-8B5E-D09D3A2CD1B4}"/>
              </a:ext>
            </a:extLst>
          </p:cNvPr>
          <p:cNvSpPr>
            <a:spLocks xmlns:a="http://schemas.openxmlformats.org/drawingml/2006/main" noGrp="1"/>
          </p:cNvSpPr>
          <p:nvPr/>
        </p:nvSpPr>
        <p:spPr>
          <a:xfrm xmlns:a="http://schemas.openxmlformats.org/drawingml/2006/main">
            <a:off x="2324100" y="4842510"/>
            <a:ext cx="2381250" cy="624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Prozess sichern</a:t>
            </a:r>
          </a:p>
        </p:txBody>
      </p:sp>
      <p:sp>
        <p:nvSpPr>
          <p:cNvPr id="23" name="">
            <a:extLst xmlns:a="http://schemas.openxmlformats.org/drawingml/2006/main">
              <a:ext uri="{FF2B5EF4-FFF2-40B4-BE49-F238E27FC236}">
                <a16:creationId xmlns:a16="http://schemas.microsoft.com/office/drawing/2014/main" id="{C678294B-C400-4FE8-B5C9-33B9391F5DAA}"/>
              </a:ext>
            </a:extLst>
          </p:cNvPr>
          <p:cNvSpPr>
            <a:spLocks xmlns:a="http://schemas.openxmlformats.org/drawingml/2006/main" noGrp="1"/>
          </p:cNvSpPr>
          <p:nvPr/>
        </p:nvSpPr>
        <p:spPr>
          <a:xfrm xmlns:a="http://schemas.openxmlformats.org/drawingml/2006/main">
            <a:off x="4819650" y="4842510"/>
            <a:ext cx="6419850" cy="624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Zeitfenster, Dissens, Ethikberatung, gerichtliche Kontaktaufnahme und Gründe der Zwischenentscheidung dokumentieren.</a:t>
            </a:r>
          </a:p>
        </p:txBody>
      </p:sp>
      <p:sp>
        <p:nvSpPr>
          <p:cNvPr id="24" name="">
            <a:extLst xmlns:a="http://schemas.openxmlformats.org/drawingml/2006/main">
              <a:ext uri="{FF2B5EF4-FFF2-40B4-BE49-F238E27FC236}">
                <a16:creationId xmlns:a16="http://schemas.microsoft.com/office/drawing/2014/main" id="{8B620F0A-1A93-4C5A-BBED-26018EBC4136}"/>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5" name="">
            <a:extLst xmlns:a="http://schemas.openxmlformats.org/drawingml/2006/main">
              <a:ext uri="{FF2B5EF4-FFF2-40B4-BE49-F238E27FC236}">
                <a16:creationId xmlns:a16="http://schemas.microsoft.com/office/drawing/2014/main" id="{ACC2E7C0-A992-4082-9DE9-A0CB0981EA94}"/>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In Grenzfällen ist ein transparentes, überprüfbares Verfahren oft rechtlich wichtiger als eine scheinbar schnelle Gewissheit.</a:t>
            </a:r>
          </a:p>
        </p:txBody>
      </p:sp>
    </p:spTree>
    <p:extLst>
      <p:ext uri="{BB962C8B-B14F-4D97-AF65-F5344CB8AC3E}">
        <p14:creationId xmlns:p14="http://schemas.microsoft.com/office/powerpoint/2010/main" val="4363764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Das Amtsgericht Hersbruck schuf 1992 eine umstrittene verfahrensrechtliche Zwischenlösung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GERICHTSENTSCHEIDUNG · BESCHLUSS, NICHT URTEIL</a:t>
            </a:r>
            <a:endParaRPr/>
          </a:p>
        </p:txBody>
      </p:sp>
      <p:sp>
        <p:nvSpPr>
          <p:cNvPr id="4" name="">
            <a:extLst xmlns:a="http://schemas.openxmlformats.org/drawingml/2006/main">
              <a:ext uri="{FF2B5EF4-FFF2-40B4-BE49-F238E27FC236}">
                <a16:creationId xmlns:a16="http://schemas.microsoft.com/office/drawing/2014/main" id="{2DB504B9-2683-4370-B34D-AE5D95E24498}"/>
              </a:ext>
            </a:extLst>
          </p:cNvPr>
          <p:cNvSpPr>
            <a:spLocks xmlns:a="http://schemas.openxmlformats.org/drawingml/2006/main" noGrp="1"/>
          </p:cNvSpPr>
          <p:nvPr/>
        </p:nvSpPr>
        <p:spPr>
          <a:xfrm xmlns:a="http://schemas.openxmlformats.org/drawingml/2006/main">
            <a:off x="1809750" y="1943100"/>
            <a:ext cx="11239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95DF32F9-41D9-430F-9C2F-A8F44B5910CB}"/>
              </a:ext>
            </a:extLst>
          </p:cNvPr>
          <p:cNvSpPr>
            <a:spLocks xmlns:a="http://schemas.openxmlformats.org/drawingml/2006/main" noGrp="1"/>
          </p:cNvSpPr>
          <p:nvPr/>
        </p:nvSpPr>
        <p:spPr>
          <a:xfrm xmlns:a="http://schemas.openxmlformats.org/drawingml/2006/main">
            <a:off x="1809750" y="1943100"/>
            <a:ext cx="1123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AG Hersbruck</a:t>
            </a:r>
          </a:p>
        </p:txBody>
      </p:sp>
      <p:sp>
        <p:nvSpPr>
          <p:cNvPr id="6" name="">
            <a:extLst xmlns:a="http://schemas.openxmlformats.org/drawingml/2006/main">
              <a:ext uri="{FF2B5EF4-FFF2-40B4-BE49-F238E27FC236}">
                <a16:creationId xmlns:a16="http://schemas.microsoft.com/office/drawing/2014/main" id="{AFF9A5E3-7A65-4F66-B5BA-9E4951305CE9}"/>
              </a:ext>
            </a:extLst>
          </p:cNvPr>
          <p:cNvSpPr>
            <a:spLocks xmlns:a="http://schemas.openxmlformats.org/drawingml/2006/main" noGrp="1"/>
          </p:cNvSpPr>
          <p:nvPr/>
        </p:nvSpPr>
        <p:spPr>
          <a:xfrm xmlns:a="http://schemas.openxmlformats.org/drawingml/2006/main">
            <a:off x="312420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16.10.1992 · XVII 1556/92 A</a:t>
            </a:r>
          </a:p>
        </p:txBody>
      </p:sp>
      <p:sp>
        <p:nvSpPr>
          <p:cNvPr id="7" name="">
            <a:extLst xmlns:a="http://schemas.openxmlformats.org/drawingml/2006/main">
              <a:ext uri="{FF2B5EF4-FFF2-40B4-BE49-F238E27FC236}">
                <a16:creationId xmlns:a16="http://schemas.microsoft.com/office/drawing/2014/main" id="{0F036E8B-8E6B-4058-B298-3F4AA2560E5D}"/>
              </a:ext>
            </a:extLst>
          </p:cNvPr>
          <p:cNvSpPr>
            <a:spLocks xmlns:a="http://schemas.openxmlformats.org/drawingml/2006/main" noGrp="1"/>
          </p:cNvSpPr>
          <p:nvPr/>
        </p:nvSpPr>
        <p:spPr>
          <a:xfrm xmlns:a="http://schemas.openxmlformats.org/drawingml/2006/main">
            <a:off x="733425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050">
                <a:solidFill>
                  <a:srgbClr val="667680"/>
                </a:solidFill>
              </a:defRPr>
            </a:pPr>
            <a:r>
              <a:rPr sz="1050">
                <a:solidFill>
                  <a:srgbClr val="667680"/>
                </a:solidFill>
              </a:rPr>
              <a:t>NJW 1992, 3245 · FamRZ 1992, 1471</a:t>
            </a:r>
          </a:p>
        </p:txBody>
      </p:sp>
      <p:sp>
        <p:nvSpPr>
          <p:cNvPr id="8" name="">
            <a:extLst xmlns:a="http://schemas.openxmlformats.org/drawingml/2006/main">
              <a:ext uri="{FF2B5EF4-FFF2-40B4-BE49-F238E27FC236}">
                <a16:creationId xmlns:a16="http://schemas.microsoft.com/office/drawing/2014/main" id="{D8BD39A5-C81B-4039-BBEE-A1339C47BC1E}"/>
              </a:ext>
            </a:extLst>
          </p:cNvPr>
          <p:cNvSpPr>
            <a:spLocks xmlns:a="http://schemas.openxmlformats.org/drawingml/2006/main" noGrp="1"/>
          </p:cNvSpPr>
          <p:nvPr/>
        </p:nvSpPr>
        <p:spPr>
          <a:xfrm xmlns:a="http://schemas.openxmlformats.org/drawingml/2006/main">
            <a:off x="1809750" y="2533650"/>
            <a:ext cx="1676400" cy="781050"/>
          </a:xfrm>
          <a:prstGeom xmlns:a="http://schemas.openxmlformats.org/drawingml/2006/main" prst="roundRect">
            <a:avLst>
              <a:gd name="adj" fmla="val 9756"/>
            </a:avLst>
          </a:prstGeom>
          <a:solidFill xmlns:a="http://schemas.openxmlformats.org/drawingml/2006/main">
            <a:srgbClr val="00B2BB"/>
          </a:solidFill>
          <a:ln xmlns:a="http://schemas.openxmlformats.org/drawingml/2006/main" w="0">
            <a:solidFill>
              <a:srgbClr val="00B2BB"/>
            </a:solidFill>
            <a:prstDash val="solid"/>
          </a:ln>
        </p:spPr>
      </p:sp>
      <p:sp>
        <p:nvSpPr>
          <p:cNvPr id="9" name="">
            <a:extLst xmlns:a="http://schemas.openxmlformats.org/drawingml/2006/main">
              <a:ext uri="{FF2B5EF4-FFF2-40B4-BE49-F238E27FC236}">
                <a16:creationId xmlns:a16="http://schemas.microsoft.com/office/drawing/2014/main" id="{812D1792-36BD-4EE3-BED3-92B72DEE147A}"/>
              </a:ext>
            </a:extLst>
          </p:cNvPr>
          <p:cNvSpPr>
            <a:spLocks xmlns:a="http://schemas.openxmlformats.org/drawingml/2006/main" noGrp="1"/>
          </p:cNvSpPr>
          <p:nvPr/>
        </p:nvSpPr>
        <p:spPr>
          <a:xfrm xmlns:a="http://schemas.openxmlformats.org/drawingml/2006/main">
            <a:off x="1924050" y="25336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Ausgangsfall</a:t>
            </a:r>
          </a:p>
        </p:txBody>
      </p:sp>
      <p:sp>
        <p:nvSpPr>
          <p:cNvPr id="10" name="">
            <a:extLst xmlns:a="http://schemas.openxmlformats.org/drawingml/2006/main">
              <a:ext uri="{FF2B5EF4-FFF2-40B4-BE49-F238E27FC236}">
                <a16:creationId xmlns:a16="http://schemas.microsoft.com/office/drawing/2014/main" id="{407FF1F8-FBBD-4548-B0D8-B5C611783863}"/>
              </a:ext>
            </a:extLst>
          </p:cNvPr>
          <p:cNvSpPr>
            <a:spLocks xmlns:a="http://schemas.openxmlformats.org/drawingml/2006/main" noGrp="1"/>
          </p:cNvSpPr>
          <p:nvPr/>
        </p:nvSpPr>
        <p:spPr>
          <a:xfrm xmlns:a="http://schemas.openxmlformats.org/drawingml/2006/main">
            <a:off x="3695700" y="25336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88">
                <a:solidFill>
                  <a:srgbClr val="15232B"/>
                </a:solidFill>
              </a:defRPr>
            </a:pPr>
            <a:r>
              <a:rPr sz="1088">
                <a:solidFill>
                  <a:srgbClr val="15232B"/>
                </a:solidFill>
              </a:rPr>
              <a:t>Für die hirntote Schwangere wurde trotz angenommener rechtlicher Todesfeststellung ein vorläufiger Betreuer bestellt.</a:t>
            </a:r>
          </a:p>
        </p:txBody>
      </p:sp>
      <p:sp>
        <p:nvSpPr>
          <p:cNvPr id="11" name="">
            <a:extLst xmlns:a="http://schemas.openxmlformats.org/drawingml/2006/main">
              <a:ext uri="{FF2B5EF4-FFF2-40B4-BE49-F238E27FC236}">
                <a16:creationId xmlns:a16="http://schemas.microsoft.com/office/drawing/2014/main" id="{47F53F7B-36C4-4534-B980-8D49292ACA12}"/>
              </a:ext>
            </a:extLst>
          </p:cNvPr>
          <p:cNvSpPr>
            <a:spLocks xmlns:a="http://schemas.openxmlformats.org/drawingml/2006/main" noGrp="1"/>
          </p:cNvSpPr>
          <p:nvPr/>
        </p:nvSpPr>
        <p:spPr>
          <a:xfrm xmlns:a="http://schemas.openxmlformats.org/drawingml/2006/main">
            <a:off x="1809750" y="3486150"/>
            <a:ext cx="1676400" cy="781050"/>
          </a:xfrm>
          <a:prstGeom xmlns:a="http://schemas.openxmlformats.org/drawingml/2006/main" prst="roundRect">
            <a:avLst>
              <a:gd name="adj" fmla="val 9756"/>
            </a:avLst>
          </a:prstGeom>
          <a:solidFill xmlns:a="http://schemas.openxmlformats.org/drawingml/2006/main">
            <a:srgbClr val="003F6B"/>
          </a:solidFill>
          <a:ln xmlns:a="http://schemas.openxmlformats.org/drawingml/2006/main" w="0">
            <a:solidFill>
              <a:srgbClr val="003F6B"/>
            </a:solidFill>
            <a:prstDash val="solid"/>
          </a:ln>
        </p:spPr>
      </p:sp>
      <p:sp>
        <p:nvSpPr>
          <p:cNvPr id="12" name="">
            <a:extLst xmlns:a="http://schemas.openxmlformats.org/drawingml/2006/main">
              <a:ext uri="{FF2B5EF4-FFF2-40B4-BE49-F238E27FC236}">
                <a16:creationId xmlns:a16="http://schemas.microsoft.com/office/drawing/2014/main" id="{B92FC87E-B0EC-43C2-850B-C65F2A084B63}"/>
              </a:ext>
            </a:extLst>
          </p:cNvPr>
          <p:cNvSpPr>
            <a:spLocks xmlns:a="http://schemas.openxmlformats.org/drawingml/2006/main" noGrp="1"/>
          </p:cNvSpPr>
          <p:nvPr/>
        </p:nvSpPr>
        <p:spPr>
          <a:xfrm xmlns:a="http://schemas.openxmlformats.org/drawingml/2006/main">
            <a:off x="1924050" y="34861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Kernaussage</a:t>
            </a:r>
          </a:p>
        </p:txBody>
      </p:sp>
      <p:sp>
        <p:nvSpPr>
          <p:cNvPr id="13" name="">
            <a:extLst xmlns:a="http://schemas.openxmlformats.org/drawingml/2006/main">
              <a:ext uri="{FF2B5EF4-FFF2-40B4-BE49-F238E27FC236}">
                <a16:creationId xmlns:a16="http://schemas.microsoft.com/office/drawing/2014/main" id="{295A39C1-4D7E-4E1F-856E-D1A3FF827477}"/>
              </a:ext>
            </a:extLst>
          </p:cNvPr>
          <p:cNvSpPr>
            <a:spLocks xmlns:a="http://schemas.openxmlformats.org/drawingml/2006/main" noGrp="1"/>
          </p:cNvSpPr>
          <p:nvPr/>
        </p:nvSpPr>
        <p:spPr>
          <a:xfrm xmlns:a="http://schemas.openxmlformats.org/drawingml/2006/main">
            <a:off x="3695700" y="34861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88">
                <a:solidFill>
                  <a:srgbClr val="15232B"/>
                </a:solidFill>
              </a:defRPr>
            </a:pPr>
            <a:r>
              <a:rPr sz="1088">
                <a:solidFill>
                  <a:srgbClr val="15232B"/>
                </a:solidFill>
              </a:rPr>
              <a:t>Eine Entscheidung des Betreuers über das Abschalten der funktionserhaltenden Apparate vor Entbindung oder Tod der Leibesfrucht sollte der gerichtlichen Genehmigung bedürfen.</a:t>
            </a:r>
          </a:p>
        </p:txBody>
      </p:sp>
      <p:sp>
        <p:nvSpPr>
          <p:cNvPr id="14" name="">
            <a:extLst xmlns:a="http://schemas.openxmlformats.org/drawingml/2006/main">
              <a:ext uri="{FF2B5EF4-FFF2-40B4-BE49-F238E27FC236}">
                <a16:creationId xmlns:a16="http://schemas.microsoft.com/office/drawing/2014/main" id="{7FC134B1-C4AE-4E06-9166-9C2B909FB46E}"/>
              </a:ext>
            </a:extLst>
          </p:cNvPr>
          <p:cNvSpPr>
            <a:spLocks xmlns:a="http://schemas.openxmlformats.org/drawingml/2006/main" noGrp="1"/>
          </p:cNvSpPr>
          <p:nvPr/>
        </p:nvSpPr>
        <p:spPr>
          <a:xfrm xmlns:a="http://schemas.openxmlformats.org/drawingml/2006/main">
            <a:off x="1809750" y="4438650"/>
            <a:ext cx="1676400" cy="781050"/>
          </a:xfrm>
          <a:prstGeom xmlns:a="http://schemas.openxmlformats.org/drawingml/2006/main" prst="roundRect">
            <a:avLst>
              <a:gd name="adj" fmla="val 9756"/>
            </a:avLst>
          </a:prstGeom>
          <a:solidFill xmlns:a="http://schemas.openxmlformats.org/drawingml/2006/main">
            <a:srgbClr val="00B2BB"/>
          </a:solidFill>
          <a:ln xmlns:a="http://schemas.openxmlformats.org/drawingml/2006/main" w="0">
            <a:solidFill>
              <a:srgbClr val="00B2BB"/>
            </a:solidFill>
            <a:prstDash val="solid"/>
          </a:ln>
        </p:spPr>
      </p:sp>
      <p:sp>
        <p:nvSpPr>
          <p:cNvPr id="15" name="">
            <a:extLst xmlns:a="http://schemas.openxmlformats.org/drawingml/2006/main">
              <a:ext uri="{FF2B5EF4-FFF2-40B4-BE49-F238E27FC236}">
                <a16:creationId xmlns:a16="http://schemas.microsoft.com/office/drawing/2014/main" id="{A8B40E2D-4621-4882-8E1A-9A3975504F85}"/>
              </a:ext>
            </a:extLst>
          </p:cNvPr>
          <p:cNvSpPr>
            <a:spLocks xmlns:a="http://schemas.openxmlformats.org/drawingml/2006/main" noGrp="1"/>
          </p:cNvSpPr>
          <p:nvPr/>
        </p:nvSpPr>
        <p:spPr>
          <a:xfrm xmlns:a="http://schemas.openxmlformats.org/drawingml/2006/main">
            <a:off x="1924050" y="44386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Für die Praxis</a:t>
            </a:r>
          </a:p>
        </p:txBody>
      </p:sp>
      <p:sp>
        <p:nvSpPr>
          <p:cNvPr id="16" name="">
            <a:extLst xmlns:a="http://schemas.openxmlformats.org/drawingml/2006/main">
              <a:ext uri="{FF2B5EF4-FFF2-40B4-BE49-F238E27FC236}">
                <a16:creationId xmlns:a16="http://schemas.microsoft.com/office/drawing/2014/main" id="{18673EB2-E2CA-484B-A8E9-690A8DE5E404}"/>
              </a:ext>
            </a:extLst>
          </p:cNvPr>
          <p:cNvSpPr>
            <a:spLocks xmlns:a="http://schemas.openxmlformats.org/drawingml/2006/main" noGrp="1"/>
          </p:cNvSpPr>
          <p:nvPr/>
        </p:nvSpPr>
        <p:spPr>
          <a:xfrm xmlns:a="http://schemas.openxmlformats.org/drawingml/2006/main">
            <a:off x="3695700" y="44386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88">
                <a:solidFill>
                  <a:srgbClr val="15232B"/>
                </a:solidFill>
              </a:defRPr>
            </a:pPr>
            <a:r>
              <a:rPr sz="1088">
                <a:solidFill>
                  <a:srgbClr val="15232B"/>
                </a:solidFill>
              </a:rPr>
              <a:t>Der Beschluss beantwortete vor allem die damalige Vertretungs- und Genehmigungsfrage. Er ist keine allgemeine höchstrichterliche Pflicht zur Fortführung intensivmedizinischer Maßnahmen.</a:t>
            </a:r>
          </a:p>
        </p:txBody>
      </p:sp>
      <p:sp>
        <p:nvSpPr>
          <p:cNvPr id="17" name="">
            <a:extLst xmlns:a="http://schemas.openxmlformats.org/drawingml/2006/main">
              <a:ext uri="{FF2B5EF4-FFF2-40B4-BE49-F238E27FC236}">
                <a16:creationId xmlns:a16="http://schemas.microsoft.com/office/drawing/2014/main" id="{86886496-DEF3-4D80-9DF9-3A765C0A9A71}"/>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20">
                <a:solidFill>
                  <a:srgbClr val="667680"/>
                </a:solidFill>
              </a:defRPr>
            </a:pPr>
            <a:r>
              <a:rPr sz="720">
                <a:solidFill>
                  <a:srgbClr val="667680"/>
                </a:solidFill>
              </a:rPr>
              <a:t>AG Hersbruck, Beschl. v. 16.10.1992 – XVII 1556/92 A, NJW 1992, 3245 = FamRZ 1992, 1471 · https://dejure.org/1992,4493</a:t>
            </a:r>
          </a:p>
        </p:txBody>
      </p:sp>
      <p:sp>
        <p:nvSpPr>
          <p:cNvPr id="18" name="">
            <a:extLst xmlns:a="http://schemas.openxmlformats.org/drawingml/2006/main">
              <a:ext uri="{FF2B5EF4-FFF2-40B4-BE49-F238E27FC236}">
                <a16:creationId xmlns:a16="http://schemas.microsoft.com/office/drawing/2014/main" id="{4625D174-C6DE-4E32-AE35-ADC7B2569F5A}"/>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19" name="">
            <a:extLst xmlns:a="http://schemas.openxmlformats.org/drawingml/2006/main">
              <a:ext uri="{FF2B5EF4-FFF2-40B4-BE49-F238E27FC236}">
                <a16:creationId xmlns:a16="http://schemas.microsoft.com/office/drawing/2014/main" id="{3D0D99D6-2F7C-45BF-85E5-821EB9F27253}"/>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Die juristisch korrekte Bezeichnung lautet Beschluss; Reichweite und Begründung der Entscheidung sind bis heute umstritten.</a:t>
            </a:r>
          </a:p>
        </p:txBody>
      </p:sp>
    </p:spTree>
    <p:extLst>
      <p:ext uri="{BB962C8B-B14F-4D97-AF65-F5344CB8AC3E}">
        <p14:creationId xmlns:p14="http://schemas.microsoft.com/office/powerpoint/2010/main" val="4363764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Das AG Hersbruck wog nicht nur Zuständigkeiten, sondern kollidierende Interessen ab</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MATERIELLE ABWÄGUNG · WAS TRUG DAS ERGEBNIS?</a:t>
            </a:r>
            <a:endParaRPr/>
          </a:p>
        </p:txBody>
      </p:sp>
      <p:sp>
        <p:nvSpPr>
          <p:cNvPr id="4" name="">
            <a:extLst xmlns:a="http://schemas.openxmlformats.org/drawingml/2006/main">
              <a:ext uri="{FF2B5EF4-FFF2-40B4-BE49-F238E27FC236}">
                <a16:creationId xmlns:a16="http://schemas.microsoft.com/office/drawing/2014/main" id="{5A2654C1-DBB4-45BD-B982-1AAA060E0E6A}"/>
              </a:ext>
            </a:extLst>
          </p:cNvPr>
          <p:cNvSpPr>
            <a:spLocks xmlns:a="http://schemas.openxmlformats.org/drawingml/2006/main" noGrp="1"/>
          </p:cNvSpPr>
          <p:nvPr/>
        </p:nvSpPr>
        <p:spPr>
          <a:xfrm xmlns:a="http://schemas.openxmlformats.org/drawingml/2006/main">
            <a:off x="1809750" y="2000250"/>
            <a:ext cx="4619625" cy="3286125"/>
          </a:xfrm>
          <a:prstGeom xmlns:a="http://schemas.openxmlformats.org/drawingml/2006/main" prst="roundRect">
            <a:avLst>
              <a:gd name="adj" fmla="val 2319"/>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E8A9A58F-9429-492E-A4C4-CCBADB9B08D1}"/>
              </a:ext>
            </a:extLst>
          </p:cNvPr>
          <p:cNvSpPr>
            <a:spLocks xmlns:a="http://schemas.openxmlformats.org/drawingml/2006/main" noGrp="1"/>
          </p:cNvSpPr>
          <p:nvPr/>
        </p:nvSpPr>
        <p:spPr>
          <a:xfrm xmlns:a="http://schemas.openxmlformats.org/drawingml/2006/main">
            <a:off x="1809750" y="2000250"/>
            <a:ext cx="4619625"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4D3A528A-7F49-43C7-A3D5-848BD5046E97}"/>
              </a:ext>
            </a:extLst>
          </p:cNvPr>
          <p:cNvSpPr>
            <a:spLocks xmlns:a="http://schemas.openxmlformats.org/drawingml/2006/main" noGrp="1"/>
          </p:cNvSpPr>
          <p:nvPr/>
        </p:nvSpPr>
        <p:spPr>
          <a:xfrm xmlns:a="http://schemas.openxmlformats.org/drawingml/2006/main">
            <a:off x="1962150" y="2133600"/>
            <a:ext cx="4314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75" b="1">
                <a:solidFill>
                  <a:srgbClr val="003F6B"/>
                </a:solidFill>
              </a:defRPr>
            </a:pPr>
            <a:r>
              <a:rPr sz="1575" b="1">
                <a:solidFill>
                  <a:srgbClr val="003F6B"/>
                </a:solidFill>
              </a:rPr>
              <a:t>Belange der verstorbenen Frau</a:t>
            </a:r>
          </a:p>
        </p:txBody>
      </p:sp>
      <p:sp>
        <p:nvSpPr>
          <p:cNvPr id="7" name="">
            <a:extLst xmlns:a="http://schemas.openxmlformats.org/drawingml/2006/main">
              <a:ext uri="{FF2B5EF4-FFF2-40B4-BE49-F238E27FC236}">
                <a16:creationId xmlns:a16="http://schemas.microsoft.com/office/drawing/2014/main" id="{B14E6855-5C78-40C7-8B42-75AFA2F90A8D}"/>
              </a:ext>
            </a:extLst>
          </p:cNvPr>
          <p:cNvSpPr>
            <a:spLocks xmlns:a="http://schemas.openxmlformats.org/drawingml/2006/main" noGrp="1"/>
          </p:cNvSpPr>
          <p:nvPr/>
        </p:nvSpPr>
        <p:spPr>
          <a:xfrm xmlns:a="http://schemas.openxmlformats.org/drawingml/2006/main">
            <a:off x="1962150" y="2571750"/>
            <a:ext cx="4314825"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15232B"/>
                </a:solidFill>
              </a:defRPr>
            </a:pPr>
            <a:r>
              <a:rPr sz="1200">
                <a:solidFill>
                  <a:srgbClr val="15232B"/>
                </a:solidFill>
              </a:rPr>
              <a:t>• Das Gericht ging vom rechtlichen Tod der Schwangeren aus.</a:t>
            </a:r>
          </a:p>
          <a:p xmlns:a="http://schemas.openxmlformats.org/drawingml/2006/main">
            <a:pPr>
              <a:buNone/>
              <a:defRPr sz="1200">
                <a:solidFill>
                  <a:srgbClr val="15232B"/>
                </a:solidFill>
              </a:defRPr>
            </a:pPr>
            <a:r>
              <a:rPr sz="1200">
                <a:solidFill>
                  <a:srgbClr val="15232B"/>
                </a:solidFill>
              </a:rPr>
              <a:t>• Zu berücksichtigen blieben Menschenwürde, postmortaler Persönlichkeitsschutz, frühere Willensäußerungen und die Totenfürsorge der Angehörigen.</a:t>
            </a:r>
          </a:p>
          <a:p xmlns:a="http://schemas.openxmlformats.org/drawingml/2006/main">
            <a:pPr>
              <a:buNone/>
              <a:defRPr sz="1200">
                <a:solidFill>
                  <a:srgbClr val="15232B"/>
                </a:solidFill>
              </a:defRPr>
            </a:pPr>
            <a:r>
              <a:rPr sz="1200">
                <a:solidFill>
                  <a:srgbClr val="15232B"/>
                </a:solidFill>
              </a:rPr>
              <a:t>• Gegen die Fortführung sprach die Gefahr, den Körper nur noch funktional als Mittel für die Schwangerschaft zu behandeln.</a:t>
            </a:r>
          </a:p>
          <a:p xmlns:a="http://schemas.openxmlformats.org/drawingml/2006/main">
            <a:pPr>
              <a:buNone/>
              <a:defRPr sz="1200">
                <a:solidFill>
                  <a:srgbClr val="15232B"/>
                </a:solidFill>
              </a:defRPr>
            </a:pPr>
            <a:r>
              <a:rPr sz="1200">
                <a:solidFill>
                  <a:srgbClr val="15232B"/>
                </a:solidFill>
              </a:rPr>
              <a:t>• Eine laufende Einwilligung der Patientin konnte nach der angenommenen Todesfeststellung nicht mehr konstruiert werden.</a:t>
            </a:r>
          </a:p>
        </p:txBody>
      </p:sp>
      <p:sp>
        <p:nvSpPr>
          <p:cNvPr id="8" name="">
            <a:extLst xmlns:a="http://schemas.openxmlformats.org/drawingml/2006/main">
              <a:ext uri="{FF2B5EF4-FFF2-40B4-BE49-F238E27FC236}">
                <a16:creationId xmlns:a16="http://schemas.microsoft.com/office/drawing/2014/main" id="{0E8ABB7F-15BA-4FE1-B132-B036019F3CD6}"/>
              </a:ext>
            </a:extLst>
          </p:cNvPr>
          <p:cNvSpPr>
            <a:spLocks xmlns:a="http://schemas.openxmlformats.org/drawingml/2006/main" noGrp="1"/>
          </p:cNvSpPr>
          <p:nvPr/>
        </p:nvSpPr>
        <p:spPr>
          <a:xfrm xmlns:a="http://schemas.openxmlformats.org/drawingml/2006/main">
            <a:off x="6715125" y="2000250"/>
            <a:ext cx="4619625" cy="3286125"/>
          </a:xfrm>
          <a:prstGeom xmlns:a="http://schemas.openxmlformats.org/drawingml/2006/main" prst="roundRect">
            <a:avLst>
              <a:gd name="adj" fmla="val 2319"/>
            </a:avLst>
          </a:prstGeom>
          <a:noFill xmlns:a="http://schemas.openxmlformats.org/drawingml/2006/main"/>
          <a:ln xmlns:a="http://schemas.openxmlformats.org/drawingml/2006/main" w="9525">
            <a:solidFill>
              <a:srgbClr val="B9CAD2"/>
            </a:solidFill>
            <a:prstDash val="solid"/>
          </a:ln>
        </p:spPr>
      </p:sp>
      <p:sp>
        <p:nvSpPr>
          <p:cNvPr id="9" name="">
            <a:extLst xmlns:a="http://schemas.openxmlformats.org/drawingml/2006/main">
              <a:ext uri="{FF2B5EF4-FFF2-40B4-BE49-F238E27FC236}">
                <a16:creationId xmlns:a16="http://schemas.microsoft.com/office/drawing/2014/main" id="{9A46A5F9-CA17-4940-94FF-024E48639EFA}"/>
              </a:ext>
            </a:extLst>
          </p:cNvPr>
          <p:cNvSpPr>
            <a:spLocks xmlns:a="http://schemas.openxmlformats.org/drawingml/2006/main" noGrp="1"/>
          </p:cNvSpPr>
          <p:nvPr/>
        </p:nvSpPr>
        <p:spPr>
          <a:xfrm xmlns:a="http://schemas.openxmlformats.org/drawingml/2006/main">
            <a:off x="6715125" y="2000250"/>
            <a:ext cx="4619625"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EF283362-C7AD-44B7-BE6D-4C4F78BC42F0}"/>
              </a:ext>
            </a:extLst>
          </p:cNvPr>
          <p:cNvSpPr>
            <a:spLocks xmlns:a="http://schemas.openxmlformats.org/drawingml/2006/main" noGrp="1"/>
          </p:cNvSpPr>
          <p:nvPr/>
        </p:nvSpPr>
        <p:spPr>
          <a:xfrm xmlns:a="http://schemas.openxmlformats.org/drawingml/2006/main">
            <a:off x="6867525" y="2133600"/>
            <a:ext cx="4314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75" b="1">
                <a:solidFill>
                  <a:srgbClr val="003F6B"/>
                </a:solidFill>
              </a:defRPr>
            </a:pPr>
            <a:r>
              <a:rPr sz="1575" b="1">
                <a:solidFill>
                  <a:srgbClr val="003F6B"/>
                </a:solidFill>
              </a:rPr>
              <a:t>Lebensinteresse der Leibesfrucht</a:t>
            </a:r>
          </a:p>
        </p:txBody>
      </p:sp>
      <p:sp>
        <p:nvSpPr>
          <p:cNvPr id="11" name="">
            <a:extLst xmlns:a="http://schemas.openxmlformats.org/drawingml/2006/main">
              <a:ext uri="{FF2B5EF4-FFF2-40B4-BE49-F238E27FC236}">
                <a16:creationId xmlns:a16="http://schemas.microsoft.com/office/drawing/2014/main" id="{8E001DD3-248F-40A6-97EE-891A72A04388}"/>
              </a:ext>
            </a:extLst>
          </p:cNvPr>
          <p:cNvSpPr>
            <a:spLocks xmlns:a="http://schemas.openxmlformats.org/drawingml/2006/main" noGrp="1"/>
          </p:cNvSpPr>
          <p:nvPr/>
        </p:nvSpPr>
        <p:spPr>
          <a:xfrm xmlns:a="http://schemas.openxmlformats.org/drawingml/2006/main">
            <a:off x="6867525" y="2571750"/>
            <a:ext cx="4314825"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15232B"/>
                </a:solidFill>
              </a:defRPr>
            </a:pPr>
            <a:r>
              <a:rPr sz="1200">
                <a:solidFill>
                  <a:srgbClr val="15232B"/>
                </a:solidFill>
              </a:rPr>
              <a:t>• Das Gericht erkannte der ungeborenen Leibesfrucht ein eigenständiges, rechtlich schutzwürdiges Lebensinteresse zu.</a:t>
            </a:r>
          </a:p>
          <a:p xmlns:a="http://schemas.openxmlformats.org/drawingml/2006/main">
            <a:pPr>
              <a:buNone/>
              <a:defRPr sz="1200">
                <a:solidFill>
                  <a:srgbClr val="15232B"/>
                </a:solidFill>
              </a:defRPr>
            </a:pPr>
            <a:r>
              <a:rPr sz="1200">
                <a:solidFill>
                  <a:srgbClr val="15232B"/>
                </a:solidFill>
              </a:rPr>
              <a:t>• Entscheidend war die konkrete medizinische Chance, die Schwangerschaft bis zu Geburt oder Lebensfähigkeit fortzuführen.</a:t>
            </a:r>
          </a:p>
          <a:p xmlns:a="http://schemas.openxmlformats.org/drawingml/2006/main">
            <a:pPr>
              <a:buNone/>
              <a:defRPr sz="1200">
                <a:solidFill>
                  <a:srgbClr val="15232B"/>
                </a:solidFill>
              </a:defRPr>
            </a:pPr>
            <a:r>
              <a:rPr sz="1200">
                <a:solidFill>
                  <a:srgbClr val="15232B"/>
                </a:solidFill>
              </a:rPr>
              <a:t>• Solange eine reale Chance bestand, gewichtete das Gericht dieses Lebensinteresse höher als die entgegenstehenden postmortalen Belange.</a:t>
            </a:r>
          </a:p>
          <a:p xmlns:a="http://schemas.openxmlformats.org/drawingml/2006/main">
            <a:pPr>
              <a:buNone/>
              <a:defRPr sz="1200">
                <a:solidFill>
                  <a:srgbClr val="15232B"/>
                </a:solidFill>
              </a:defRPr>
            </a:pPr>
            <a:r>
              <a:rPr sz="1200">
                <a:solidFill>
                  <a:srgbClr val="15232B"/>
                </a:solidFill>
              </a:rPr>
              <a:t>• Deshalb sollte ein vorzeitiges Abschalten nicht allein dem Betreuer überlassen, sondern gerichtlich genehmigt werden.</a:t>
            </a:r>
          </a:p>
        </p:txBody>
      </p:sp>
      <p:sp>
        <p:nvSpPr>
          <p:cNvPr id="12" name="">
            <a:extLst xmlns:a="http://schemas.openxmlformats.org/drawingml/2006/main">
              <a:ext uri="{FF2B5EF4-FFF2-40B4-BE49-F238E27FC236}">
                <a16:creationId xmlns:a16="http://schemas.microsoft.com/office/drawing/2014/main" id="{6F56298C-0006-43A1-9EE4-60F25D2F764E}"/>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638">
                <a:solidFill>
                  <a:srgbClr val="667680"/>
                </a:solidFill>
              </a:defRPr>
            </a:pPr>
            <a:r>
              <a:rPr sz="638">
                <a:solidFill>
                  <a:srgbClr val="667680"/>
                </a:solidFill>
              </a:rPr>
              <a:t>AG Hersbruck, Beschl. v. 16.10.1992 – XVII 1556/92 A · https://dejure.org/1992,4493 · Kritische Einordnung: Neue Kriminalpolitik 1993, 9–11 · https://doi.org/10.5771/0934-9200-1993-1-9</a:t>
            </a:r>
          </a:p>
        </p:txBody>
      </p:sp>
      <p:sp>
        <p:nvSpPr>
          <p:cNvPr id="13" name="">
            <a:extLst xmlns:a="http://schemas.openxmlformats.org/drawingml/2006/main">
              <a:ext uri="{FF2B5EF4-FFF2-40B4-BE49-F238E27FC236}">
                <a16:creationId xmlns:a16="http://schemas.microsoft.com/office/drawing/2014/main" id="{E2D86EDD-0911-402C-8030-D50B59CA7861}"/>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14" name="">
            <a:extLst xmlns:a="http://schemas.openxmlformats.org/drawingml/2006/main">
              <a:ext uri="{FF2B5EF4-FFF2-40B4-BE49-F238E27FC236}">
                <a16:creationId xmlns:a16="http://schemas.microsoft.com/office/drawing/2014/main" id="{EC66387F-2017-49A1-99A6-9EE0DBAA8493}"/>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Die Priorisierung war prognoseabhängig, nicht absolut: Nach Geburt oder Tod der Leibesfrucht sollte die Genehmigungspflicht entfallen. Umstritten bleiben gesetzliche Grundlage und mögliche Instrumentalisierung des weiblichen Körpers.</a:t>
            </a:r>
          </a:p>
        </p:txBody>
      </p:sp>
    </p:spTree>
    <p:extLst>
      <p:ext uri="{BB962C8B-B14F-4D97-AF65-F5344CB8AC3E}">
        <p14:creationId xmlns:p14="http://schemas.microsoft.com/office/powerpoint/2010/main" val="4363764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Die historische Entscheidung lässt sich nicht unverändert auf 2026 übertragen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RECHTSSTAND 2026 · HISTORISCHE ENTSCHEIDUNG EINORDNEN</a:t>
            </a:r>
            <a:endParaRPr/>
          </a:p>
        </p:txBody>
      </p:sp>
      <p:sp>
        <p:nvSpPr>
          <p:cNvPr id="4" name="">
            <a:extLst xmlns:a="http://schemas.openxmlformats.org/drawingml/2006/main">
              <a:ext uri="{FF2B5EF4-FFF2-40B4-BE49-F238E27FC236}">
                <a16:creationId xmlns:a16="http://schemas.microsoft.com/office/drawing/2014/main" id="{488C4CDF-03EF-49BC-B84E-E5AFEAC59EA3}"/>
              </a:ext>
            </a:extLst>
          </p:cNvPr>
          <p:cNvSpPr>
            <a:spLocks xmlns:a="http://schemas.openxmlformats.org/drawingml/2006/main" noGrp="1"/>
          </p:cNvSpPr>
          <p:nvPr/>
        </p:nvSpPr>
        <p:spPr>
          <a:xfrm xmlns:a="http://schemas.openxmlformats.org/drawingml/2006/main">
            <a:off x="1809750" y="2000250"/>
            <a:ext cx="4619625" cy="3286125"/>
          </a:xfrm>
          <a:prstGeom xmlns:a="http://schemas.openxmlformats.org/drawingml/2006/main" prst="roundRect">
            <a:avLst>
              <a:gd name="adj" fmla="val 2319"/>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5E9ECA65-8DD0-4D1E-BFA1-62764ECD8F2B}"/>
              </a:ext>
            </a:extLst>
          </p:cNvPr>
          <p:cNvSpPr>
            <a:spLocks xmlns:a="http://schemas.openxmlformats.org/drawingml/2006/main" noGrp="1"/>
          </p:cNvSpPr>
          <p:nvPr/>
        </p:nvSpPr>
        <p:spPr>
          <a:xfrm xmlns:a="http://schemas.openxmlformats.org/drawingml/2006/main">
            <a:off x="1809750" y="2000250"/>
            <a:ext cx="4619625"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F5795D98-6614-4E5B-98DD-552184952A47}"/>
              </a:ext>
            </a:extLst>
          </p:cNvPr>
          <p:cNvSpPr>
            <a:spLocks xmlns:a="http://schemas.openxmlformats.org/drawingml/2006/main" noGrp="1"/>
          </p:cNvSpPr>
          <p:nvPr/>
        </p:nvSpPr>
        <p:spPr>
          <a:xfrm xmlns:a="http://schemas.openxmlformats.org/drawingml/2006/main">
            <a:off x="1962150" y="2133600"/>
            <a:ext cx="4314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75" b="1">
                <a:solidFill>
                  <a:srgbClr val="003F6B"/>
                </a:solidFill>
              </a:defRPr>
            </a:pPr>
            <a:r>
              <a:rPr sz="1575" b="1">
                <a:solidFill>
                  <a:srgbClr val="003F6B"/>
                </a:solidFill>
              </a:rPr>
              <a:t>Was 1992 entschieden wurde</a:t>
            </a:r>
          </a:p>
        </p:txBody>
      </p:sp>
      <p:sp>
        <p:nvSpPr>
          <p:cNvPr id="7" name="">
            <a:extLst xmlns:a="http://schemas.openxmlformats.org/drawingml/2006/main">
              <a:ext uri="{FF2B5EF4-FFF2-40B4-BE49-F238E27FC236}">
                <a16:creationId xmlns:a16="http://schemas.microsoft.com/office/drawing/2014/main" id="{C53AC910-9366-4C27-9716-ED7AD98946AA}"/>
              </a:ext>
            </a:extLst>
          </p:cNvPr>
          <p:cNvSpPr>
            <a:spLocks xmlns:a="http://schemas.openxmlformats.org/drawingml/2006/main" noGrp="1"/>
          </p:cNvSpPr>
          <p:nvPr/>
        </p:nvSpPr>
        <p:spPr>
          <a:xfrm xmlns:a="http://schemas.openxmlformats.org/drawingml/2006/main">
            <a:off x="1962150" y="2571750"/>
            <a:ext cx="4314825"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15232B"/>
                </a:solidFill>
              </a:defRPr>
            </a:pPr>
            <a:r>
              <a:rPr sz="1200">
                <a:solidFill>
                  <a:srgbClr val="15232B"/>
                </a:solidFill>
              </a:rPr>
              <a:t>• vorläufige Betreuung trotz angenommener rechtlicher Todesfeststellung</a:t>
            </a:r>
          </a:p>
          <a:p xmlns:a="http://schemas.openxmlformats.org/drawingml/2006/main">
            <a:pPr>
              <a:buNone/>
              <a:defRPr sz="1200">
                <a:solidFill>
                  <a:srgbClr val="15232B"/>
                </a:solidFill>
              </a:defRPr>
            </a:pPr>
            <a:r>
              <a:rPr sz="1200">
                <a:solidFill>
                  <a:srgbClr val="15232B"/>
                </a:solidFill>
              </a:rPr>
              <a:t>• gerichtlicher Genehmigungsvorbehalt für ein Abschalten vor Entbindung oder Tod der Leibesfrucht</a:t>
            </a:r>
          </a:p>
          <a:p xmlns:a="http://schemas.openxmlformats.org/drawingml/2006/main">
            <a:pPr>
              <a:buNone/>
              <a:defRPr sz="1200">
                <a:solidFill>
                  <a:srgbClr val="15232B"/>
                </a:solidFill>
              </a:defRPr>
            </a:pPr>
            <a:r>
              <a:rPr sz="1200">
                <a:solidFill>
                  <a:srgbClr val="15232B"/>
                </a:solidFill>
              </a:rPr>
              <a:t>• keine höchstrichterliche abschließende Güterabwägung</a:t>
            </a:r>
          </a:p>
        </p:txBody>
      </p:sp>
      <p:sp>
        <p:nvSpPr>
          <p:cNvPr id="8" name="">
            <a:extLst xmlns:a="http://schemas.openxmlformats.org/drawingml/2006/main">
              <a:ext uri="{FF2B5EF4-FFF2-40B4-BE49-F238E27FC236}">
                <a16:creationId xmlns:a16="http://schemas.microsoft.com/office/drawing/2014/main" id="{65B650D6-AE94-4B4D-AFED-11AA7A2E1886}"/>
              </a:ext>
            </a:extLst>
          </p:cNvPr>
          <p:cNvSpPr>
            <a:spLocks xmlns:a="http://schemas.openxmlformats.org/drawingml/2006/main" noGrp="1"/>
          </p:cNvSpPr>
          <p:nvPr/>
        </p:nvSpPr>
        <p:spPr>
          <a:xfrm xmlns:a="http://schemas.openxmlformats.org/drawingml/2006/main">
            <a:off x="6715125" y="2000250"/>
            <a:ext cx="4619625" cy="3286125"/>
          </a:xfrm>
          <a:prstGeom xmlns:a="http://schemas.openxmlformats.org/drawingml/2006/main" prst="roundRect">
            <a:avLst>
              <a:gd name="adj" fmla="val 2319"/>
            </a:avLst>
          </a:prstGeom>
          <a:noFill xmlns:a="http://schemas.openxmlformats.org/drawingml/2006/main"/>
          <a:ln xmlns:a="http://schemas.openxmlformats.org/drawingml/2006/main" w="9525">
            <a:solidFill>
              <a:srgbClr val="B9CAD2"/>
            </a:solidFill>
            <a:prstDash val="solid"/>
          </a:ln>
        </p:spPr>
      </p:sp>
      <p:sp>
        <p:nvSpPr>
          <p:cNvPr id="9" name="">
            <a:extLst xmlns:a="http://schemas.openxmlformats.org/drawingml/2006/main">
              <a:ext uri="{FF2B5EF4-FFF2-40B4-BE49-F238E27FC236}">
                <a16:creationId xmlns:a16="http://schemas.microsoft.com/office/drawing/2014/main" id="{2623378F-5019-4C15-98F7-008DCE82D015}"/>
              </a:ext>
            </a:extLst>
          </p:cNvPr>
          <p:cNvSpPr>
            <a:spLocks xmlns:a="http://schemas.openxmlformats.org/drawingml/2006/main" noGrp="1"/>
          </p:cNvSpPr>
          <p:nvPr/>
        </p:nvSpPr>
        <p:spPr>
          <a:xfrm xmlns:a="http://schemas.openxmlformats.org/drawingml/2006/main">
            <a:off x="6715125" y="2000250"/>
            <a:ext cx="4619625"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74F3698F-F211-4828-AF41-250D9162289E}"/>
              </a:ext>
            </a:extLst>
          </p:cNvPr>
          <p:cNvSpPr>
            <a:spLocks xmlns:a="http://schemas.openxmlformats.org/drawingml/2006/main" noGrp="1"/>
          </p:cNvSpPr>
          <p:nvPr/>
        </p:nvSpPr>
        <p:spPr>
          <a:xfrm xmlns:a="http://schemas.openxmlformats.org/drawingml/2006/main">
            <a:off x="6867525" y="2133600"/>
            <a:ext cx="4314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75" b="1">
                <a:solidFill>
                  <a:srgbClr val="003F6B"/>
                </a:solidFill>
              </a:defRPr>
            </a:pPr>
            <a:r>
              <a:rPr sz="1575" b="1">
                <a:solidFill>
                  <a:srgbClr val="003F6B"/>
                </a:solidFill>
              </a:rPr>
              <a:t>Was heute zusätzlich gilt</a:t>
            </a:r>
          </a:p>
        </p:txBody>
      </p:sp>
      <p:sp>
        <p:nvSpPr>
          <p:cNvPr id="11" name="">
            <a:extLst xmlns:a="http://schemas.openxmlformats.org/drawingml/2006/main">
              <a:ext uri="{FF2B5EF4-FFF2-40B4-BE49-F238E27FC236}">
                <a16:creationId xmlns:a16="http://schemas.microsoft.com/office/drawing/2014/main" id="{A81EDD8F-5FDB-46DA-A3D3-CE4EE2EDA677}"/>
              </a:ext>
            </a:extLst>
          </p:cNvPr>
          <p:cNvSpPr>
            <a:spLocks xmlns:a="http://schemas.openxmlformats.org/drawingml/2006/main" noGrp="1"/>
          </p:cNvSpPr>
          <p:nvPr/>
        </p:nvSpPr>
        <p:spPr>
          <a:xfrm xmlns:a="http://schemas.openxmlformats.org/drawingml/2006/main">
            <a:off x="6867525" y="2571750"/>
            <a:ext cx="4314825"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15232B"/>
                </a:solidFill>
              </a:defRPr>
            </a:pPr>
            <a:r>
              <a:rPr sz="1200">
                <a:solidFill>
                  <a:srgbClr val="15232B"/>
                </a:solidFill>
              </a:rPr>
              <a:t>• § 1870 BGB: Betreuung endet ausdrücklich mit dem Tod</a:t>
            </a:r>
          </a:p>
          <a:p xmlns:a="http://schemas.openxmlformats.org/drawingml/2006/main">
            <a:pPr>
              <a:buNone/>
              <a:defRPr sz="1200">
                <a:solidFill>
                  <a:srgbClr val="15232B"/>
                </a:solidFill>
              </a:defRPr>
            </a:pPr>
            <a:r>
              <a:rPr sz="1200">
                <a:solidFill>
                  <a:srgbClr val="15232B"/>
                </a:solidFill>
              </a:rPr>
              <a:t>• medizinische Indikation und Prognose bleiben eigenständige ärztliche Fragen</a:t>
            </a:r>
          </a:p>
          <a:p xmlns:a="http://schemas.openxmlformats.org/drawingml/2006/main">
            <a:pPr>
              <a:buNone/>
              <a:defRPr sz="1200">
                <a:solidFill>
                  <a:srgbClr val="15232B"/>
                </a:solidFill>
              </a:defRPr>
            </a:pPr>
            <a:r>
              <a:rPr sz="1200">
                <a:solidFill>
                  <a:srgbClr val="15232B"/>
                </a:solidFill>
              </a:rPr>
              <a:t>• Grundrechte, Strafrecht, Totenfürsorge und Verfahrenszuständigkeit müssen getrennt geprüft werden</a:t>
            </a:r>
          </a:p>
        </p:txBody>
      </p:sp>
      <p:sp>
        <p:nvSpPr>
          <p:cNvPr id="12" name="">
            <a:extLst xmlns:a="http://schemas.openxmlformats.org/drawingml/2006/main">
              <a:ext uri="{FF2B5EF4-FFF2-40B4-BE49-F238E27FC236}">
                <a16:creationId xmlns:a16="http://schemas.microsoft.com/office/drawing/2014/main" id="{56D8F8B6-25D5-41BB-BBD1-053B917E2AA6}"/>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13" name="">
            <a:extLst xmlns:a="http://schemas.openxmlformats.org/drawingml/2006/main">
              <a:ext uri="{FF2B5EF4-FFF2-40B4-BE49-F238E27FC236}">
                <a16:creationId xmlns:a16="http://schemas.microsoft.com/office/drawing/2014/main" id="{E61F0252-EABE-4161-A28C-0431FD9BCE69}"/>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Lehrziel ist nicht eine Musterlösung, sondern die saubere Trennung von Tatsachen, Rechtspositionen, Zuständigkeiten und Entscheidungsgrenzen.</a:t>
            </a:r>
          </a:p>
        </p:txBody>
      </p:sp>
    </p:spTree>
    <p:extLst>
      <p:ext uri="{BB962C8B-B14F-4D97-AF65-F5344CB8AC3E}">
        <p14:creationId xmlns:p14="http://schemas.microsoft.com/office/powerpoint/2010/main" val="4363764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Die Podcast-Kurzvisite wird zum roten Faden der ersten Sitzung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RECHT MEDIZINISCH · KURZVISITE VOM 22.06.2026</a:t>
            </a:r>
            <a:endParaRPr/>
          </a:p>
        </p:txBody>
      </p:sp>
      <p:sp>
        <p:nvSpPr>
          <p:cNvPr id="4" name="">
            <a:extLst xmlns:a="http://schemas.openxmlformats.org/drawingml/2006/main">
              <a:ext uri="{FF2B5EF4-FFF2-40B4-BE49-F238E27FC236}">
                <a16:creationId xmlns:a16="http://schemas.microsoft.com/office/drawing/2014/main" id="{E21C0231-8FDC-4761-ABAB-F2B7C71C9173}"/>
              </a:ext>
            </a:extLst>
          </p:cNvPr>
          <p:cNvSpPr>
            <a:spLocks xmlns:a="http://schemas.openxmlformats.org/drawingml/2006/main" noGrp="1"/>
          </p:cNvSpPr>
          <p:nvPr/>
        </p:nvSpPr>
        <p:spPr>
          <a:xfrm xmlns:a="http://schemas.openxmlformats.org/drawingml/2006/main">
            <a:off x="1809750" y="1943100"/>
            <a:ext cx="2190750" cy="419100"/>
          </a:xfrm>
          <a:prstGeom xmlns:a="http://schemas.openxmlformats.org/drawingml/2006/main" prst="roundRect">
            <a:avLst>
              <a:gd name="adj" fmla="val 18182"/>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DE0504C9-4FBA-4C45-A45E-0C0AFF029434}"/>
              </a:ext>
            </a:extLst>
          </p:cNvPr>
          <p:cNvSpPr>
            <a:spLocks xmlns:a="http://schemas.openxmlformats.org/drawingml/2006/main" noGrp="1"/>
          </p:cNvSpPr>
          <p:nvPr/>
        </p:nvSpPr>
        <p:spPr>
          <a:xfrm xmlns:a="http://schemas.openxmlformats.org/drawingml/2006/main">
            <a:off x="1809750" y="1943100"/>
            <a:ext cx="2190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RECHT MEDIZINISCH</a:t>
            </a:r>
          </a:p>
        </p:txBody>
      </p:sp>
      <p:sp>
        <p:nvSpPr>
          <p:cNvPr id="6" name="">
            <a:extLst xmlns:a="http://schemas.openxmlformats.org/drawingml/2006/main">
              <a:ext uri="{FF2B5EF4-FFF2-40B4-BE49-F238E27FC236}">
                <a16:creationId xmlns:a16="http://schemas.microsoft.com/office/drawing/2014/main" id="{C975A8A8-15F8-4A16-987E-519FF6E80E6D}"/>
              </a:ext>
            </a:extLst>
          </p:cNvPr>
          <p:cNvSpPr>
            <a:spLocks xmlns:a="http://schemas.openxmlformats.org/drawingml/2006/main" noGrp="1"/>
          </p:cNvSpPr>
          <p:nvPr/>
        </p:nvSpPr>
        <p:spPr>
          <a:xfrm xmlns:a="http://schemas.openxmlformats.org/drawingml/2006/main">
            <a:off x="4191000" y="1943100"/>
            <a:ext cx="714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425" b="1">
                <a:solidFill>
                  <a:srgbClr val="003F6B"/>
                </a:solidFill>
              </a:defRPr>
            </a:pPr>
            <a:r>
              <a:rPr sz="1425" b="1">
                <a:solidFill>
                  <a:srgbClr val="003F6B"/>
                </a:solidFill>
              </a:rPr>
              <a:t>Der Erlanger Baby-Fall</a:t>
            </a:r>
          </a:p>
        </p:txBody>
      </p:sp>
      <p:sp>
        <p:nvSpPr>
          <p:cNvPr id="7" name="">
            <a:extLst xmlns:a="http://schemas.openxmlformats.org/drawingml/2006/main">
              <a:ext uri="{FF2B5EF4-FFF2-40B4-BE49-F238E27FC236}">
                <a16:creationId xmlns:a16="http://schemas.microsoft.com/office/drawing/2014/main" id="{2ABD95AC-2118-416A-AE39-30772FDAB4A3}"/>
              </a:ext>
            </a:extLst>
          </p:cNvPr>
          <p:cNvSpPr>
            <a:spLocks xmlns:a="http://schemas.openxmlformats.org/drawingml/2006/main" noGrp="1"/>
          </p:cNvSpPr>
          <p:nvPr/>
        </p:nvSpPr>
        <p:spPr>
          <a:xfrm xmlns:a="http://schemas.openxmlformats.org/drawingml/2006/main">
            <a:off x="1809750" y="2571750"/>
            <a:ext cx="9525000" cy="914400"/>
          </a:xfrm>
          <a:prstGeom xmlns:a="http://schemas.openxmlformats.org/drawingml/2006/main" prst="roundRect">
            <a:avLst>
              <a:gd name="adj" fmla="val 8333"/>
            </a:avLst>
          </a:prstGeom>
          <a:solidFill xmlns:a="http://schemas.openxmlformats.org/drawingml/2006/main">
            <a:srgbClr val="EAF6FB"/>
          </a:solidFill>
          <a:ln xmlns:a="http://schemas.openxmlformats.org/drawingml/2006/main" w="11430">
            <a:solidFill>
              <a:srgbClr val="00B2BB"/>
            </a:solidFill>
            <a:prstDash val="solid"/>
          </a:ln>
        </p:spPr>
      </p:sp>
      <p:sp>
        <p:nvSpPr>
          <p:cNvPr id="8" name="">
            <a:extLst xmlns:a="http://schemas.openxmlformats.org/drawingml/2006/main">
              <a:ext uri="{FF2B5EF4-FFF2-40B4-BE49-F238E27FC236}">
                <a16:creationId xmlns:a16="http://schemas.microsoft.com/office/drawing/2014/main" id="{E44531A5-D00E-428F-8ABC-079E89850882}"/>
              </a:ext>
            </a:extLst>
          </p:cNvPr>
          <p:cNvSpPr>
            <a:spLocks xmlns:a="http://schemas.openxmlformats.org/drawingml/2006/main" noGrp="1"/>
          </p:cNvSpPr>
          <p:nvPr/>
        </p:nvSpPr>
        <p:spPr>
          <a:xfrm xmlns:a="http://schemas.openxmlformats.org/drawingml/2006/main">
            <a:off x="2000250" y="2686050"/>
            <a:ext cx="914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00">
                <a:solidFill>
                  <a:srgbClr val="15232B"/>
                </a:solidFill>
              </a:defRPr>
            </a:pPr>
            <a:r>
              <a:rPr sz="1200">
                <a:solidFill>
                  <a:srgbClr val="15232B"/>
                </a:solidFill>
              </a:rPr>
              <a:t>Die Kurzvisite stellt genau die Frage, mit der der Kurs beginnt: Intensivmaßnahmen beenden oder dem ungeborenen Kind eine Überlebenschance geben? In der Vorlesung folgt auf die Abstimmung die juristische Rekonstruktion.</a:t>
            </a:r>
          </a:p>
        </p:txBody>
      </p:sp>
      <p:sp>
        <p:nvSpPr>
          <p:cNvPr id="9" name="">
            <a:extLst xmlns:a="http://schemas.openxmlformats.org/drawingml/2006/main">
              <a:ext uri="{FF2B5EF4-FFF2-40B4-BE49-F238E27FC236}">
                <a16:creationId xmlns:a16="http://schemas.microsoft.com/office/drawing/2014/main" id="{E3CE11BC-7B3A-422C-A6E9-BB27240666D8}"/>
              </a:ext>
            </a:extLst>
          </p:cNvPr>
          <p:cNvSpPr>
            <a:spLocks xmlns:a="http://schemas.openxmlformats.org/drawingml/2006/main" noGrp="1"/>
          </p:cNvSpPr>
          <p:nvPr/>
        </p:nvSpPr>
        <p:spPr>
          <a:xfrm xmlns:a="http://schemas.openxmlformats.org/drawingml/2006/main">
            <a:off x="1809750" y="3714750"/>
            <a:ext cx="40005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0" name="">
            <a:extLst xmlns:a="http://schemas.openxmlformats.org/drawingml/2006/main">
              <a:ext uri="{FF2B5EF4-FFF2-40B4-BE49-F238E27FC236}">
                <a16:creationId xmlns:a16="http://schemas.microsoft.com/office/drawing/2014/main" id="{B0FEAAC3-2E9B-403E-92E9-F1B54232E7B2}"/>
              </a:ext>
            </a:extLst>
          </p:cNvPr>
          <p:cNvSpPr>
            <a:spLocks xmlns:a="http://schemas.openxmlformats.org/drawingml/2006/main" noGrp="1"/>
          </p:cNvSpPr>
          <p:nvPr/>
        </p:nvSpPr>
        <p:spPr>
          <a:xfrm xmlns:a="http://schemas.openxmlformats.org/drawingml/2006/main">
            <a:off x="1809750" y="37147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11" name="">
            <a:extLst xmlns:a="http://schemas.openxmlformats.org/drawingml/2006/main">
              <a:ext uri="{FF2B5EF4-FFF2-40B4-BE49-F238E27FC236}">
                <a16:creationId xmlns:a16="http://schemas.microsoft.com/office/drawing/2014/main" id="{E42148EF-3FEB-49A7-938E-2119C7E675F5}"/>
              </a:ext>
            </a:extLst>
          </p:cNvPr>
          <p:cNvSpPr>
            <a:spLocks xmlns:a="http://schemas.openxmlformats.org/drawingml/2006/main" noGrp="1"/>
          </p:cNvSpPr>
          <p:nvPr/>
        </p:nvSpPr>
        <p:spPr>
          <a:xfrm xmlns:a="http://schemas.openxmlformats.org/drawingml/2006/main">
            <a:off x="2381250" y="3695700"/>
            <a:ext cx="895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25">
                <a:solidFill>
                  <a:srgbClr val="15232B"/>
                </a:solidFill>
              </a:defRPr>
            </a:pPr>
            <a:r>
              <a:rPr sz="1125">
                <a:solidFill>
                  <a:srgbClr val="15232B"/>
                </a:solidFill>
              </a:rPr>
              <a:t>Welche Tatsache würde Ihre Entscheidung am stärksten verändern?</a:t>
            </a:r>
          </a:p>
        </p:txBody>
      </p:sp>
      <p:sp>
        <p:nvSpPr>
          <p:cNvPr id="12" name="">
            <a:extLst xmlns:a="http://schemas.openxmlformats.org/drawingml/2006/main">
              <a:ext uri="{FF2B5EF4-FFF2-40B4-BE49-F238E27FC236}">
                <a16:creationId xmlns:a16="http://schemas.microsoft.com/office/drawing/2014/main" id="{3CCD109D-7F10-48D1-8715-F9759D90A3AC}"/>
              </a:ext>
            </a:extLst>
          </p:cNvPr>
          <p:cNvSpPr>
            <a:spLocks xmlns:a="http://schemas.openxmlformats.org/drawingml/2006/main" noGrp="1"/>
          </p:cNvSpPr>
          <p:nvPr/>
        </p:nvSpPr>
        <p:spPr>
          <a:xfrm xmlns:a="http://schemas.openxmlformats.org/drawingml/2006/main">
            <a:off x="1809750" y="4286250"/>
            <a:ext cx="4000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3" name="">
            <a:extLst xmlns:a="http://schemas.openxmlformats.org/drawingml/2006/main">
              <a:ext uri="{FF2B5EF4-FFF2-40B4-BE49-F238E27FC236}">
                <a16:creationId xmlns:a16="http://schemas.microsoft.com/office/drawing/2014/main" id="{1077F5E8-E7D8-4AF1-A062-B567692647C8}"/>
              </a:ext>
            </a:extLst>
          </p:cNvPr>
          <p:cNvSpPr>
            <a:spLocks xmlns:a="http://schemas.openxmlformats.org/drawingml/2006/main" noGrp="1"/>
          </p:cNvSpPr>
          <p:nvPr/>
        </p:nvSpPr>
        <p:spPr>
          <a:xfrm xmlns:a="http://schemas.openxmlformats.org/drawingml/2006/main">
            <a:off x="1809750" y="42862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4" name="">
            <a:extLst xmlns:a="http://schemas.openxmlformats.org/drawingml/2006/main">
              <a:ext uri="{FF2B5EF4-FFF2-40B4-BE49-F238E27FC236}">
                <a16:creationId xmlns:a16="http://schemas.microsoft.com/office/drawing/2014/main" id="{A85A716B-527B-45B5-A608-49A99529A0A8}"/>
              </a:ext>
            </a:extLst>
          </p:cNvPr>
          <p:cNvSpPr>
            <a:spLocks xmlns:a="http://schemas.openxmlformats.org/drawingml/2006/main" noGrp="1"/>
          </p:cNvSpPr>
          <p:nvPr/>
        </p:nvSpPr>
        <p:spPr>
          <a:xfrm xmlns:a="http://schemas.openxmlformats.org/drawingml/2006/main">
            <a:off x="2381250" y="4267200"/>
            <a:ext cx="895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25">
                <a:solidFill>
                  <a:srgbClr val="15232B"/>
                </a:solidFill>
              </a:defRPr>
            </a:pPr>
            <a:r>
              <a:rPr sz="1125">
                <a:solidFill>
                  <a:srgbClr val="15232B"/>
                </a:solidFill>
              </a:rPr>
              <a:t>Welche Rolle darf ein Gericht übernehmen – und welche nicht?</a:t>
            </a:r>
          </a:p>
        </p:txBody>
      </p:sp>
      <p:sp>
        <p:nvSpPr>
          <p:cNvPr id="15" name="">
            <a:extLst xmlns:a="http://schemas.openxmlformats.org/drawingml/2006/main">
              <a:ext uri="{FF2B5EF4-FFF2-40B4-BE49-F238E27FC236}">
                <a16:creationId xmlns:a16="http://schemas.microsoft.com/office/drawing/2014/main" id="{45F21287-78E0-4921-B3C5-503E6EFCCE48}"/>
              </a:ext>
            </a:extLst>
          </p:cNvPr>
          <p:cNvSpPr>
            <a:spLocks xmlns:a="http://schemas.openxmlformats.org/drawingml/2006/main" noGrp="1"/>
          </p:cNvSpPr>
          <p:nvPr/>
        </p:nvSpPr>
        <p:spPr>
          <a:xfrm xmlns:a="http://schemas.openxmlformats.org/drawingml/2006/main">
            <a:off x="1809750" y="4857750"/>
            <a:ext cx="40005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6" name="">
            <a:extLst xmlns:a="http://schemas.openxmlformats.org/drawingml/2006/main">
              <a:ext uri="{FF2B5EF4-FFF2-40B4-BE49-F238E27FC236}">
                <a16:creationId xmlns:a16="http://schemas.microsoft.com/office/drawing/2014/main" id="{04E44BB1-4673-4BFC-98B8-D7BF8736115D}"/>
              </a:ext>
            </a:extLst>
          </p:cNvPr>
          <p:cNvSpPr>
            <a:spLocks xmlns:a="http://schemas.openxmlformats.org/drawingml/2006/main" noGrp="1"/>
          </p:cNvSpPr>
          <p:nvPr/>
        </p:nvSpPr>
        <p:spPr>
          <a:xfrm xmlns:a="http://schemas.openxmlformats.org/drawingml/2006/main">
            <a:off x="1809750" y="48577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7" name="">
            <a:extLst xmlns:a="http://schemas.openxmlformats.org/drawingml/2006/main">
              <a:ext uri="{FF2B5EF4-FFF2-40B4-BE49-F238E27FC236}">
                <a16:creationId xmlns:a16="http://schemas.microsoft.com/office/drawing/2014/main" id="{F9F30F64-F76D-41BE-854A-978667315F9D}"/>
              </a:ext>
            </a:extLst>
          </p:cNvPr>
          <p:cNvSpPr>
            <a:spLocks xmlns:a="http://schemas.openxmlformats.org/drawingml/2006/main" noGrp="1"/>
          </p:cNvSpPr>
          <p:nvPr/>
        </p:nvSpPr>
        <p:spPr>
          <a:xfrm xmlns:a="http://schemas.openxmlformats.org/drawingml/2006/main">
            <a:off x="2381250" y="4838700"/>
            <a:ext cx="895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25">
                <a:solidFill>
                  <a:srgbClr val="15232B"/>
                </a:solidFill>
              </a:defRPr>
            </a:pPr>
            <a:r>
              <a:rPr sz="1125">
                <a:solidFill>
                  <a:srgbClr val="15232B"/>
                </a:solidFill>
              </a:rPr>
              <a:t>Wie würden Sie den Dissens in zwei neutralen Sätzen dokumentieren?</a:t>
            </a:r>
          </a:p>
        </p:txBody>
      </p:sp>
      <p:sp>
        <p:nvSpPr>
          <p:cNvPr id="18" name="">
            <a:extLst xmlns:a="http://schemas.openxmlformats.org/drawingml/2006/main">
              <a:ext uri="{FF2B5EF4-FFF2-40B4-BE49-F238E27FC236}">
                <a16:creationId xmlns:a16="http://schemas.microsoft.com/office/drawing/2014/main" id="{468FDCD6-8F9B-401F-8F81-B8BED580073A}"/>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638">
                <a:solidFill>
                  <a:srgbClr val="667680"/>
                </a:solidFill>
              </a:defRPr>
            </a:pPr>
            <a:r>
              <a:rPr sz="638">
                <a:solidFill>
                  <a:srgbClr val="667680"/>
                </a:solidFill>
              </a:rPr>
              <a:t>Recht Medizinisch, Kurzvisite „Der Erlanger Baby-Fall“, Apple Podcasts/Spotify, 22.06.2026 · SPIEGEL-Link in der Episodenbeschreibung · https://podcasts.apple.com/us/podcast/recht-medizinisch/id1896818482</a:t>
            </a:r>
          </a:p>
        </p:txBody>
      </p:sp>
      <p:sp>
        <p:nvSpPr>
          <p:cNvPr id="19" name="">
            <a:extLst xmlns:a="http://schemas.openxmlformats.org/drawingml/2006/main">
              <a:ext uri="{FF2B5EF4-FFF2-40B4-BE49-F238E27FC236}">
                <a16:creationId xmlns:a16="http://schemas.microsoft.com/office/drawing/2014/main" id="{B7C85092-D043-490B-A555-E17E3AE8DBFC}"/>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0" name="">
            <a:extLst xmlns:a="http://schemas.openxmlformats.org/drawingml/2006/main">
              <a:ext uri="{FF2B5EF4-FFF2-40B4-BE49-F238E27FC236}">
                <a16:creationId xmlns:a16="http://schemas.microsoft.com/office/drawing/2014/main" id="{D3C3B05A-1143-4AA5-B5DC-873F8F6623E9}"/>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Podcast-Formel des Kurses: echter Fall → Abstimmung → drei Rechtsfragen → Algorithmus → drei Take-homes.</a:t>
            </a:r>
          </a:p>
        </p:txBody>
      </p:sp>
    </p:spTree>
    <p:extLst>
      <p:ext uri="{BB962C8B-B14F-4D97-AF65-F5344CB8AC3E}">
        <p14:creationId xmlns:p14="http://schemas.microsoft.com/office/powerpoint/2010/main" val="43637646"/>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Der Perspektivwechsel</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LEITGEDANKE</a:t>
            </a:r>
            <a:endParaRPr/>
          </a:p>
        </p:txBody>
      </p:sp>
      <p:sp>
        <p:nvSpPr>
          <p:cNvPr id="4" name="">
            <a:extLst xmlns:a="http://schemas.openxmlformats.org/drawingml/2006/main">
              <a:ext uri="{FF2B5EF4-FFF2-40B4-BE49-F238E27FC236}">
                <a16:creationId xmlns:a16="http://schemas.microsoft.com/office/drawing/2014/main" id="{93E2F6AF-EAC9-469E-ABC4-FC5085D4CBC9}"/>
              </a:ext>
            </a:extLst>
          </p:cNvPr>
          <p:cNvSpPr>
            <a:spLocks xmlns:a="http://schemas.openxmlformats.org/drawingml/2006/main" noGrp="1"/>
          </p:cNvSpPr>
          <p:nvPr/>
        </p:nvSpPr>
        <p:spPr>
          <a:xfrm xmlns:a="http://schemas.openxmlformats.org/drawingml/2006/main">
            <a:off x="2286000" y="2238375"/>
            <a:ext cx="8572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003F6B"/>
                </a:solidFill>
              </a:defRPr>
            </a:pPr>
            <a:r>
              <a:rPr sz="2550" b="1">
                <a:solidFill>
                  <a:srgbClr val="003F6B"/>
                </a:solidFill>
              </a:rPr>
              <a:t>„Recht haben heißt nicht automatisch Recht bekommen.“</a:t>
            </a:r>
          </a:p>
        </p:txBody>
      </p:sp>
      <p:sp>
        <p:nvSpPr>
          <p:cNvPr id="5" name="">
            <a:extLst xmlns:a="http://schemas.openxmlformats.org/drawingml/2006/main">
              <a:ext uri="{FF2B5EF4-FFF2-40B4-BE49-F238E27FC236}">
                <a16:creationId xmlns:a16="http://schemas.microsoft.com/office/drawing/2014/main" id="{595FB8EF-5D7C-4F8E-B39D-CDB17AB2EB9D}"/>
              </a:ext>
            </a:extLst>
          </p:cNvPr>
          <p:cNvSpPr>
            <a:spLocks xmlns:a="http://schemas.openxmlformats.org/drawingml/2006/main" noGrp="1"/>
          </p:cNvSpPr>
          <p:nvPr/>
        </p:nvSpPr>
        <p:spPr>
          <a:xfrm xmlns:a="http://schemas.openxmlformats.org/drawingml/2006/main">
            <a:off x="4381500" y="3562350"/>
            <a:ext cx="4381500" cy="0"/>
          </a:xfrm>
          <a:prstGeom xmlns:a="http://schemas.openxmlformats.org/drawingml/2006/main" prst="line">
            <a:avLst/>
          </a:prstGeom>
          <a:noFill xmlns:a="http://schemas.openxmlformats.org/drawingml/2006/main"/>
          <a:ln xmlns:a="http://schemas.openxmlformats.org/drawingml/2006/main" w="47625">
            <a:solidFill>
              <a:srgbClr val="00B2BB"/>
            </a:solidFill>
            <a:prstDash val="solid"/>
          </a:ln>
        </p:spPr>
      </p:sp>
      <p:sp>
        <p:nvSpPr>
          <p:cNvPr id="6" name="">
            <a:extLst xmlns:a="http://schemas.openxmlformats.org/drawingml/2006/main">
              <a:ext uri="{FF2B5EF4-FFF2-40B4-BE49-F238E27FC236}">
                <a16:creationId xmlns:a16="http://schemas.microsoft.com/office/drawing/2014/main" id="{3FC0A270-CAAA-4FA7-9C80-167FA244B01F}"/>
              </a:ext>
            </a:extLst>
          </p:cNvPr>
          <p:cNvSpPr>
            <a:spLocks xmlns:a="http://schemas.openxmlformats.org/drawingml/2006/main" noGrp="1"/>
          </p:cNvSpPr>
          <p:nvPr/>
        </p:nvSpPr>
        <p:spPr>
          <a:xfrm xmlns:a="http://schemas.openxmlformats.org/drawingml/2006/main">
            <a:off x="2762250" y="3781425"/>
            <a:ext cx="7620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a:solidFill>
                  <a:srgbClr val="667680"/>
                </a:solidFill>
              </a:defRPr>
            </a:pPr>
            <a:r>
              <a:rPr sz="1500">
                <a:solidFill>
                  <a:srgbClr val="667680"/>
                </a:solidFill>
              </a:rPr>
              <a:t>Entscheidend sind Tatsachen, Dokumentation, Beweise, Fristen, Kommunikation – und der richtige Verfahrensweg.</a:t>
            </a:r>
          </a:p>
        </p:txBody>
      </p:sp>
      <p:sp>
        <p:nvSpPr>
          <p:cNvPr id="7" name="">
            <a:extLst xmlns:a="http://schemas.openxmlformats.org/drawingml/2006/main">
              <a:ext uri="{FF2B5EF4-FFF2-40B4-BE49-F238E27FC236}">
                <a16:creationId xmlns:a16="http://schemas.microsoft.com/office/drawing/2014/main" id="{8CB3FF1D-0329-4CF2-9B21-3EDFA7956673}"/>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8" name="">
            <a:extLst xmlns:a="http://schemas.openxmlformats.org/drawingml/2006/main">
              <a:ext uri="{FF2B5EF4-FFF2-40B4-BE49-F238E27FC236}">
                <a16:creationId xmlns:a16="http://schemas.microsoft.com/office/drawing/2014/main" id="{D8D7434C-B627-4F5A-B59E-7C1A3901F32F}"/>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Medizinrecht wird praktisch, sobald mehrere Akten dieselbe Behandlung unterschiedlich lesen.</a:t>
            </a:r>
          </a:p>
        </p:txBody>
      </p:sp>
    </p:spTree>
    <p:extLst>
      <p:ext uri="{BB962C8B-B14F-4D97-AF65-F5344CB8AC3E}">
        <p14:creationId xmlns:p14="http://schemas.microsoft.com/office/powerpoint/2010/main" val="43637646"/>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Ein Ereignis – fünf mögliche Wege</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LANDKARTE</a:t>
            </a:r>
            <a:endParaRPr/>
          </a:p>
        </p:txBody>
      </p:sp>
      <p:sp>
        <p:nvSpPr>
          <p:cNvPr id="4" name="">
            <a:extLst xmlns:a="http://schemas.openxmlformats.org/drawingml/2006/main">
              <a:ext uri="{FF2B5EF4-FFF2-40B4-BE49-F238E27FC236}">
                <a16:creationId xmlns:a16="http://schemas.microsoft.com/office/drawing/2014/main" id="{20B82173-DF58-4FAD-ADA4-55BE63B24B0C}"/>
              </a:ext>
            </a:extLst>
          </p:cNvPr>
          <p:cNvSpPr>
            <a:spLocks xmlns:a="http://schemas.openxmlformats.org/drawingml/2006/main" noGrp="1"/>
          </p:cNvSpPr>
          <p:nvPr/>
        </p:nvSpPr>
        <p:spPr>
          <a:xfrm xmlns:a="http://schemas.openxmlformats.org/drawingml/2006/main">
            <a:off x="2000250" y="2657475"/>
            <a:ext cx="9144000" cy="0"/>
          </a:xfrm>
          <a:prstGeom xmlns:a="http://schemas.openxmlformats.org/drawingml/2006/main" prst="line">
            <a:avLst/>
          </a:prstGeom>
          <a:noFill xmlns:a="http://schemas.openxmlformats.org/drawingml/2006/main"/>
          <a:ln xmlns:a="http://schemas.openxmlformats.org/drawingml/2006/main" w="28575">
            <a:solidFill>
              <a:srgbClr val="B9CAD2"/>
            </a:solidFill>
            <a:prstDash val="solid"/>
          </a:ln>
        </p:spPr>
      </p:sp>
      <p:sp>
        <p:nvSpPr>
          <p:cNvPr id="5" name="">
            <a:extLst xmlns:a="http://schemas.openxmlformats.org/drawingml/2006/main">
              <a:ext uri="{FF2B5EF4-FFF2-40B4-BE49-F238E27FC236}">
                <a16:creationId xmlns:a16="http://schemas.microsoft.com/office/drawing/2014/main" id="{50396739-00C9-41EF-BACB-D6072E94E26F}"/>
              </a:ext>
            </a:extLst>
          </p:cNvPr>
          <p:cNvSpPr>
            <a:spLocks xmlns:a="http://schemas.openxmlformats.org/drawingml/2006/main" noGrp="1"/>
          </p:cNvSpPr>
          <p:nvPr/>
        </p:nvSpPr>
        <p:spPr>
          <a:xfrm xmlns:a="http://schemas.openxmlformats.org/drawingml/2006/main">
            <a:off x="2602230" y="2543175"/>
            <a:ext cx="228600" cy="228600"/>
          </a:xfrm>
          <a:prstGeom xmlns:a="http://schemas.openxmlformats.org/drawingml/2006/main" prst="ellipse">
            <a:avLst/>
          </a:prstGeom>
          <a:solidFill xmlns:a="http://schemas.openxmlformats.org/drawingml/2006/main">
            <a:srgbClr val="003F6B"/>
          </a:solidFill>
          <a:ln xmlns:a="http://schemas.openxmlformats.org/drawingml/2006/main" w="19050">
            <a:solidFill>
              <a:srgbClr val="FFFFFF"/>
            </a:solidFill>
            <a:prstDash val="solid"/>
          </a:ln>
        </p:spPr>
      </p:sp>
      <p:sp>
        <p:nvSpPr>
          <p:cNvPr id="6" name="">
            <a:extLst xmlns:a="http://schemas.openxmlformats.org/drawingml/2006/main">
              <a:ext uri="{FF2B5EF4-FFF2-40B4-BE49-F238E27FC236}">
                <a16:creationId xmlns:a16="http://schemas.microsoft.com/office/drawing/2014/main" id="{34EAEF02-1222-4956-ABFB-22EDE4B92083}"/>
              </a:ext>
            </a:extLst>
          </p:cNvPr>
          <p:cNvSpPr>
            <a:spLocks xmlns:a="http://schemas.openxmlformats.org/drawingml/2006/main" noGrp="1"/>
          </p:cNvSpPr>
          <p:nvPr/>
        </p:nvSpPr>
        <p:spPr>
          <a:xfrm xmlns:a="http://schemas.openxmlformats.org/drawingml/2006/main">
            <a:off x="1809750" y="2105025"/>
            <a:ext cx="181356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63" b="1">
                <a:solidFill>
                  <a:srgbClr val="003F6B"/>
                </a:solidFill>
              </a:defRPr>
            </a:pPr>
            <a:r>
              <a:rPr sz="1163" b="1">
                <a:solidFill>
                  <a:srgbClr val="003F6B"/>
                </a:solidFill>
              </a:rPr>
              <a:t>Patientensicherheit</a:t>
            </a:r>
          </a:p>
        </p:txBody>
      </p:sp>
      <p:sp>
        <p:nvSpPr>
          <p:cNvPr id="7" name="">
            <a:extLst xmlns:a="http://schemas.openxmlformats.org/drawingml/2006/main">
              <a:ext uri="{FF2B5EF4-FFF2-40B4-BE49-F238E27FC236}">
                <a16:creationId xmlns:a16="http://schemas.microsoft.com/office/drawing/2014/main" id="{A0CE361D-03B5-4C29-8662-09539542F537}"/>
              </a:ext>
            </a:extLst>
          </p:cNvPr>
          <p:cNvSpPr>
            <a:spLocks xmlns:a="http://schemas.openxmlformats.org/drawingml/2006/main" noGrp="1"/>
          </p:cNvSpPr>
          <p:nvPr/>
        </p:nvSpPr>
        <p:spPr>
          <a:xfrm xmlns:a="http://schemas.openxmlformats.org/drawingml/2006/main">
            <a:off x="1847850" y="2924175"/>
            <a:ext cx="173736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13">
                <a:solidFill>
                  <a:srgbClr val="15232B"/>
                </a:solidFill>
              </a:defRPr>
            </a:pPr>
            <a:r>
              <a:rPr sz="1013">
                <a:solidFill>
                  <a:srgbClr val="15232B"/>
                </a:solidFill>
              </a:rPr>
              <a:t>Schaden begrenzen · offen kommunizieren</a:t>
            </a:r>
          </a:p>
        </p:txBody>
      </p:sp>
      <p:sp>
        <p:nvSpPr>
          <p:cNvPr id="8" name="">
            <a:extLst xmlns:a="http://schemas.openxmlformats.org/drawingml/2006/main">
              <a:ext uri="{FF2B5EF4-FFF2-40B4-BE49-F238E27FC236}">
                <a16:creationId xmlns:a16="http://schemas.microsoft.com/office/drawing/2014/main" id="{040AECEF-E5FB-4940-A200-43C63D594A7F}"/>
              </a:ext>
            </a:extLst>
          </p:cNvPr>
          <p:cNvSpPr>
            <a:spLocks xmlns:a="http://schemas.openxmlformats.org/drawingml/2006/main" noGrp="1"/>
          </p:cNvSpPr>
          <p:nvPr/>
        </p:nvSpPr>
        <p:spPr>
          <a:xfrm xmlns:a="http://schemas.openxmlformats.org/drawingml/2006/main">
            <a:off x="4530090" y="2543175"/>
            <a:ext cx="228600" cy="22860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9" name="">
            <a:extLst xmlns:a="http://schemas.openxmlformats.org/drawingml/2006/main">
              <a:ext uri="{FF2B5EF4-FFF2-40B4-BE49-F238E27FC236}">
                <a16:creationId xmlns:a16="http://schemas.microsoft.com/office/drawing/2014/main" id="{1082CC40-DB60-418C-9604-D0DD2A8FCD09}"/>
              </a:ext>
            </a:extLst>
          </p:cNvPr>
          <p:cNvSpPr>
            <a:spLocks xmlns:a="http://schemas.openxmlformats.org/drawingml/2006/main" noGrp="1"/>
          </p:cNvSpPr>
          <p:nvPr/>
        </p:nvSpPr>
        <p:spPr>
          <a:xfrm xmlns:a="http://schemas.openxmlformats.org/drawingml/2006/main">
            <a:off x="3737610" y="2105025"/>
            <a:ext cx="181356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63" b="1">
                <a:solidFill>
                  <a:srgbClr val="003F6B"/>
                </a:solidFill>
              </a:defRPr>
            </a:pPr>
            <a:r>
              <a:rPr sz="1163" b="1">
                <a:solidFill>
                  <a:srgbClr val="003F6B"/>
                </a:solidFill>
              </a:rPr>
              <a:t>Außergerichtlich</a:t>
            </a:r>
          </a:p>
        </p:txBody>
      </p:sp>
      <p:sp>
        <p:nvSpPr>
          <p:cNvPr id="10" name="">
            <a:extLst xmlns:a="http://schemas.openxmlformats.org/drawingml/2006/main">
              <a:ext uri="{FF2B5EF4-FFF2-40B4-BE49-F238E27FC236}">
                <a16:creationId xmlns:a16="http://schemas.microsoft.com/office/drawing/2014/main" id="{297143C1-C253-47AD-94D2-7C43381AD607}"/>
              </a:ext>
            </a:extLst>
          </p:cNvPr>
          <p:cNvSpPr>
            <a:spLocks xmlns:a="http://schemas.openxmlformats.org/drawingml/2006/main" noGrp="1"/>
          </p:cNvSpPr>
          <p:nvPr/>
        </p:nvSpPr>
        <p:spPr>
          <a:xfrm xmlns:a="http://schemas.openxmlformats.org/drawingml/2006/main">
            <a:off x="3775710" y="2924175"/>
            <a:ext cx="173736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13">
                <a:solidFill>
                  <a:srgbClr val="15232B"/>
                </a:solidFill>
              </a:defRPr>
            </a:pPr>
            <a:r>
              <a:rPr sz="1013">
                <a:solidFill>
                  <a:srgbClr val="15232B"/>
                </a:solidFill>
              </a:rPr>
              <a:t>Beschwerde · Versicherer · MD · Schlichtung</a:t>
            </a:r>
          </a:p>
        </p:txBody>
      </p:sp>
      <p:sp>
        <p:nvSpPr>
          <p:cNvPr id="11" name="">
            <a:extLst xmlns:a="http://schemas.openxmlformats.org/drawingml/2006/main">
              <a:ext uri="{FF2B5EF4-FFF2-40B4-BE49-F238E27FC236}">
                <a16:creationId xmlns:a16="http://schemas.microsoft.com/office/drawing/2014/main" id="{72AAE4A4-545B-40F0-85E2-DA72C77FB1F2}"/>
              </a:ext>
            </a:extLst>
          </p:cNvPr>
          <p:cNvSpPr>
            <a:spLocks xmlns:a="http://schemas.openxmlformats.org/drawingml/2006/main" noGrp="1"/>
          </p:cNvSpPr>
          <p:nvPr/>
        </p:nvSpPr>
        <p:spPr>
          <a:xfrm xmlns:a="http://schemas.openxmlformats.org/drawingml/2006/main">
            <a:off x="6457950" y="2543175"/>
            <a:ext cx="228600" cy="22860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12" name="">
            <a:extLst xmlns:a="http://schemas.openxmlformats.org/drawingml/2006/main">
              <a:ext uri="{FF2B5EF4-FFF2-40B4-BE49-F238E27FC236}">
                <a16:creationId xmlns:a16="http://schemas.microsoft.com/office/drawing/2014/main" id="{6824DF17-1392-4C17-9790-E85AFDA7A56E}"/>
              </a:ext>
            </a:extLst>
          </p:cNvPr>
          <p:cNvSpPr>
            <a:spLocks xmlns:a="http://schemas.openxmlformats.org/drawingml/2006/main" noGrp="1"/>
          </p:cNvSpPr>
          <p:nvPr/>
        </p:nvSpPr>
        <p:spPr>
          <a:xfrm xmlns:a="http://schemas.openxmlformats.org/drawingml/2006/main">
            <a:off x="5665470" y="2105025"/>
            <a:ext cx="181356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63" b="1">
                <a:solidFill>
                  <a:srgbClr val="003F6B"/>
                </a:solidFill>
              </a:defRPr>
            </a:pPr>
            <a:r>
              <a:rPr sz="1163" b="1">
                <a:solidFill>
                  <a:srgbClr val="003F6B"/>
                </a:solidFill>
              </a:rPr>
              <a:t>Zivilrecht</a:t>
            </a:r>
          </a:p>
        </p:txBody>
      </p:sp>
      <p:sp>
        <p:nvSpPr>
          <p:cNvPr id="13" name="">
            <a:extLst xmlns:a="http://schemas.openxmlformats.org/drawingml/2006/main">
              <a:ext uri="{FF2B5EF4-FFF2-40B4-BE49-F238E27FC236}">
                <a16:creationId xmlns:a16="http://schemas.microsoft.com/office/drawing/2014/main" id="{C60CF66D-9976-4D0A-BD2C-23FDB9004B87}"/>
              </a:ext>
            </a:extLst>
          </p:cNvPr>
          <p:cNvSpPr>
            <a:spLocks xmlns:a="http://schemas.openxmlformats.org/drawingml/2006/main" noGrp="1"/>
          </p:cNvSpPr>
          <p:nvPr/>
        </p:nvSpPr>
        <p:spPr>
          <a:xfrm xmlns:a="http://schemas.openxmlformats.org/drawingml/2006/main">
            <a:off x="5703570" y="2924175"/>
            <a:ext cx="173736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13">
                <a:solidFill>
                  <a:srgbClr val="15232B"/>
                </a:solidFill>
              </a:defRPr>
            </a:pPr>
            <a:r>
              <a:rPr sz="1013">
                <a:solidFill>
                  <a:srgbClr val="15232B"/>
                </a:solidFill>
              </a:rPr>
              <a:t>Schadensersatz · Beweis · ZPO</a:t>
            </a:r>
          </a:p>
        </p:txBody>
      </p:sp>
      <p:sp>
        <p:nvSpPr>
          <p:cNvPr id="14" name="">
            <a:extLst xmlns:a="http://schemas.openxmlformats.org/drawingml/2006/main">
              <a:ext uri="{FF2B5EF4-FFF2-40B4-BE49-F238E27FC236}">
                <a16:creationId xmlns:a16="http://schemas.microsoft.com/office/drawing/2014/main" id="{E73BC8AE-9C82-434D-BC2F-64926432C72C}"/>
              </a:ext>
            </a:extLst>
          </p:cNvPr>
          <p:cNvSpPr>
            <a:spLocks xmlns:a="http://schemas.openxmlformats.org/drawingml/2006/main" noGrp="1"/>
          </p:cNvSpPr>
          <p:nvPr/>
        </p:nvSpPr>
        <p:spPr>
          <a:xfrm xmlns:a="http://schemas.openxmlformats.org/drawingml/2006/main">
            <a:off x="8385810" y="2543175"/>
            <a:ext cx="228600" cy="22860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15" name="">
            <a:extLst xmlns:a="http://schemas.openxmlformats.org/drawingml/2006/main">
              <a:ext uri="{FF2B5EF4-FFF2-40B4-BE49-F238E27FC236}">
                <a16:creationId xmlns:a16="http://schemas.microsoft.com/office/drawing/2014/main" id="{38D3E3C9-999A-45DD-8CF5-11260AC910DD}"/>
              </a:ext>
            </a:extLst>
          </p:cNvPr>
          <p:cNvSpPr>
            <a:spLocks xmlns:a="http://schemas.openxmlformats.org/drawingml/2006/main" noGrp="1"/>
          </p:cNvSpPr>
          <p:nvPr/>
        </p:nvSpPr>
        <p:spPr>
          <a:xfrm xmlns:a="http://schemas.openxmlformats.org/drawingml/2006/main">
            <a:off x="7593330" y="2105025"/>
            <a:ext cx="181356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63" b="1">
                <a:solidFill>
                  <a:srgbClr val="003F6B"/>
                </a:solidFill>
              </a:defRPr>
            </a:pPr>
            <a:r>
              <a:rPr sz="1163" b="1">
                <a:solidFill>
                  <a:srgbClr val="003F6B"/>
                </a:solidFill>
              </a:rPr>
              <a:t>Strafrecht</a:t>
            </a:r>
          </a:p>
        </p:txBody>
      </p:sp>
      <p:sp>
        <p:nvSpPr>
          <p:cNvPr id="16" name="">
            <a:extLst xmlns:a="http://schemas.openxmlformats.org/drawingml/2006/main">
              <a:ext uri="{FF2B5EF4-FFF2-40B4-BE49-F238E27FC236}">
                <a16:creationId xmlns:a16="http://schemas.microsoft.com/office/drawing/2014/main" id="{C90A9596-C9D3-42F6-B5E9-BBDD2128C6B4}"/>
              </a:ext>
            </a:extLst>
          </p:cNvPr>
          <p:cNvSpPr>
            <a:spLocks xmlns:a="http://schemas.openxmlformats.org/drawingml/2006/main" noGrp="1"/>
          </p:cNvSpPr>
          <p:nvPr/>
        </p:nvSpPr>
        <p:spPr>
          <a:xfrm xmlns:a="http://schemas.openxmlformats.org/drawingml/2006/main">
            <a:off x="7631430" y="2924175"/>
            <a:ext cx="173736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13">
                <a:solidFill>
                  <a:srgbClr val="15232B"/>
                </a:solidFill>
              </a:defRPr>
            </a:pPr>
            <a:r>
              <a:rPr sz="1013">
                <a:solidFill>
                  <a:srgbClr val="15232B"/>
                </a:solidFill>
              </a:rPr>
              <a:t>persönliche Schuld · Ermittlung · StPO</a:t>
            </a:r>
          </a:p>
        </p:txBody>
      </p:sp>
      <p:sp>
        <p:nvSpPr>
          <p:cNvPr id="17" name="">
            <a:extLst xmlns:a="http://schemas.openxmlformats.org/drawingml/2006/main">
              <a:ext uri="{FF2B5EF4-FFF2-40B4-BE49-F238E27FC236}">
                <a16:creationId xmlns:a16="http://schemas.microsoft.com/office/drawing/2014/main" id="{4DC2D4CC-2A01-4D62-8859-B327F2898A03}"/>
              </a:ext>
            </a:extLst>
          </p:cNvPr>
          <p:cNvSpPr>
            <a:spLocks xmlns:a="http://schemas.openxmlformats.org/drawingml/2006/main" noGrp="1"/>
          </p:cNvSpPr>
          <p:nvPr/>
        </p:nvSpPr>
        <p:spPr>
          <a:xfrm xmlns:a="http://schemas.openxmlformats.org/drawingml/2006/main">
            <a:off x="10313670" y="2543175"/>
            <a:ext cx="228600" cy="22860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18" name="">
            <a:extLst xmlns:a="http://schemas.openxmlformats.org/drawingml/2006/main">
              <a:ext uri="{FF2B5EF4-FFF2-40B4-BE49-F238E27FC236}">
                <a16:creationId xmlns:a16="http://schemas.microsoft.com/office/drawing/2014/main" id="{E4261D69-C125-4DC7-9723-852E2AC7F786}"/>
              </a:ext>
            </a:extLst>
          </p:cNvPr>
          <p:cNvSpPr>
            <a:spLocks xmlns:a="http://schemas.openxmlformats.org/drawingml/2006/main" noGrp="1"/>
          </p:cNvSpPr>
          <p:nvPr/>
        </p:nvSpPr>
        <p:spPr>
          <a:xfrm xmlns:a="http://schemas.openxmlformats.org/drawingml/2006/main">
            <a:off x="9521190" y="2105025"/>
            <a:ext cx="181356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63" b="1">
                <a:solidFill>
                  <a:srgbClr val="003F6B"/>
                </a:solidFill>
              </a:defRPr>
            </a:pPr>
            <a:r>
              <a:rPr sz="1163" b="1">
                <a:solidFill>
                  <a:srgbClr val="003F6B"/>
                </a:solidFill>
              </a:rPr>
              <a:t>Berufs- &amp; Approbationsrecht</a:t>
            </a:r>
          </a:p>
        </p:txBody>
      </p:sp>
      <p:sp>
        <p:nvSpPr>
          <p:cNvPr id="19" name="">
            <a:extLst xmlns:a="http://schemas.openxmlformats.org/drawingml/2006/main">
              <a:ext uri="{FF2B5EF4-FFF2-40B4-BE49-F238E27FC236}">
                <a16:creationId xmlns:a16="http://schemas.microsoft.com/office/drawing/2014/main" id="{75364CDA-BB89-499F-A797-F1AE102F7DC9}"/>
              </a:ext>
            </a:extLst>
          </p:cNvPr>
          <p:cNvSpPr>
            <a:spLocks xmlns:a="http://schemas.openxmlformats.org/drawingml/2006/main" noGrp="1"/>
          </p:cNvSpPr>
          <p:nvPr/>
        </p:nvSpPr>
        <p:spPr>
          <a:xfrm xmlns:a="http://schemas.openxmlformats.org/drawingml/2006/main">
            <a:off x="9559290" y="2924175"/>
            <a:ext cx="173736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13">
                <a:solidFill>
                  <a:srgbClr val="15232B"/>
                </a:solidFill>
              </a:defRPr>
            </a:pPr>
            <a:r>
              <a:rPr sz="1013">
                <a:solidFill>
                  <a:srgbClr val="15232B"/>
                </a:solidFill>
              </a:rPr>
              <a:t>Kammer · Berufsgericht · Approbation · Arbeit</a:t>
            </a:r>
          </a:p>
        </p:txBody>
      </p:sp>
      <p:sp>
        <p:nvSpPr>
          <p:cNvPr id="20" name="">
            <a:extLst xmlns:a="http://schemas.openxmlformats.org/drawingml/2006/main">
              <a:ext uri="{FF2B5EF4-FFF2-40B4-BE49-F238E27FC236}">
                <a16:creationId xmlns:a16="http://schemas.microsoft.com/office/drawing/2014/main" id="{758FD5C2-E6CE-4912-8057-93AD728AFB4D}"/>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1" name="">
            <a:extLst xmlns:a="http://schemas.openxmlformats.org/drawingml/2006/main">
              <a:ext uri="{FF2B5EF4-FFF2-40B4-BE49-F238E27FC236}">
                <a16:creationId xmlns:a16="http://schemas.microsoft.com/office/drawing/2014/main" id="{D51B5027-0516-4061-96E6-0A9C95194828}"/>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Die Wege können parallel laufen, verfolgen aber verschiedene Ziele und Beweisfragen.</a:t>
            </a:r>
          </a:p>
        </p:txBody>
      </p:sp>
    </p:spTree>
    <p:extLst>
      <p:ext uri="{BB962C8B-B14F-4D97-AF65-F5344CB8AC3E}">
        <p14:creationId xmlns:p14="http://schemas.microsoft.com/office/powerpoint/2010/main" val="43637646"/>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Semesterplan I: Oktober bis zum Online-Termin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OFFIZIELLE TERMINE · 16:30–17:45 UHR</a:t>
            </a:r>
            <a:endParaRPr/>
          </a:p>
        </p:txBody>
      </p:sp>
      <p:sp>
        <p:nvSpPr>
          <p:cNvPr id="4" name="">
            <a:extLst xmlns:a="http://schemas.openxmlformats.org/drawingml/2006/main">
              <a:ext uri="{FF2B5EF4-FFF2-40B4-BE49-F238E27FC236}">
                <a16:creationId xmlns:a16="http://schemas.microsoft.com/office/drawing/2014/main" id="{694205CF-8C8E-4937-B659-F9C16930D07B}"/>
              </a:ext>
            </a:extLst>
          </p:cNvPr>
          <p:cNvSpPr>
            <a:spLocks xmlns:a="http://schemas.openxmlformats.org/drawingml/2006/main" noGrp="1"/>
          </p:cNvSpPr>
          <p:nvPr/>
        </p:nvSpPr>
        <p:spPr>
          <a:xfrm xmlns:a="http://schemas.openxmlformats.org/drawingml/2006/main">
            <a:off x="1809750" y="1952625"/>
            <a:ext cx="3073400" cy="1063625"/>
          </a:xfrm>
          <a:prstGeom xmlns:a="http://schemas.openxmlformats.org/drawingml/2006/main" prst="roundRect">
            <a:avLst>
              <a:gd name="adj" fmla="val 7164"/>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734C3D9B-3491-49DD-8BFD-728BBAD309FC}"/>
              </a:ext>
            </a:extLst>
          </p:cNvPr>
          <p:cNvSpPr>
            <a:spLocks xmlns:a="http://schemas.openxmlformats.org/drawingml/2006/main" noGrp="1"/>
          </p:cNvSpPr>
          <p:nvPr/>
        </p:nvSpPr>
        <p:spPr>
          <a:xfrm xmlns:a="http://schemas.openxmlformats.org/drawingml/2006/main">
            <a:off x="1924050" y="2000250"/>
            <a:ext cx="2844800" cy="96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0">
                <a:solidFill>
                  <a:srgbClr val="003F6B"/>
                </a:solidFill>
              </a:defRPr>
            </a:pPr>
            <a:r>
              <a:rPr sz="1050" b="0">
                <a:solidFill>
                  <a:srgbClr val="003F6B"/>
                </a:solidFill>
              </a:rPr>
              <a:t>14.10. · Orientierung, Erlanger Baby-Fall &amp; Verfahrenslandkarte</a:t>
            </a:r>
          </a:p>
        </p:txBody>
      </p:sp>
      <p:sp>
        <p:nvSpPr>
          <p:cNvPr id="6" name="">
            <a:extLst xmlns:a="http://schemas.openxmlformats.org/drawingml/2006/main">
              <a:ext uri="{FF2B5EF4-FFF2-40B4-BE49-F238E27FC236}">
                <a16:creationId xmlns:a16="http://schemas.microsoft.com/office/drawing/2014/main" id="{C45526BA-4999-4B93-B57F-284B3FE1311F}"/>
              </a:ext>
            </a:extLst>
          </p:cNvPr>
          <p:cNvSpPr>
            <a:spLocks xmlns:a="http://schemas.openxmlformats.org/drawingml/2006/main" noGrp="1"/>
          </p:cNvSpPr>
          <p:nvPr/>
        </p:nvSpPr>
        <p:spPr>
          <a:xfrm xmlns:a="http://schemas.openxmlformats.org/drawingml/2006/main">
            <a:off x="5035550" y="1952625"/>
            <a:ext cx="3073400" cy="1063625"/>
          </a:xfrm>
          <a:prstGeom xmlns:a="http://schemas.openxmlformats.org/drawingml/2006/main" prst="roundRect">
            <a:avLst>
              <a:gd name="adj" fmla="val 7164"/>
            </a:avLst>
          </a:prstGeom>
          <a:noFill xmlns:a="http://schemas.openxmlformats.org/drawingml/2006/main"/>
          <a:ln xmlns:a="http://schemas.openxmlformats.org/drawingml/2006/main" w="9525">
            <a:solidFill>
              <a:srgbClr val="B9CAD2"/>
            </a:solidFill>
            <a:prstDash val="solid"/>
          </a:ln>
        </p:spPr>
      </p:sp>
      <p:sp>
        <p:nvSpPr>
          <p:cNvPr id="7" name="">
            <a:extLst xmlns:a="http://schemas.openxmlformats.org/drawingml/2006/main">
              <a:ext uri="{FF2B5EF4-FFF2-40B4-BE49-F238E27FC236}">
                <a16:creationId xmlns:a16="http://schemas.microsoft.com/office/drawing/2014/main" id="{34DE9B42-4AE7-46F7-8E58-70C66F0CBF8E}"/>
              </a:ext>
            </a:extLst>
          </p:cNvPr>
          <p:cNvSpPr>
            <a:spLocks xmlns:a="http://schemas.openxmlformats.org/drawingml/2006/main" noGrp="1"/>
          </p:cNvSpPr>
          <p:nvPr/>
        </p:nvSpPr>
        <p:spPr>
          <a:xfrm xmlns:a="http://schemas.openxmlformats.org/drawingml/2006/main">
            <a:off x="5149850" y="2000250"/>
            <a:ext cx="2844800" cy="96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0">
                <a:solidFill>
                  <a:srgbClr val="003F6B"/>
                </a:solidFill>
              </a:defRPr>
            </a:pPr>
            <a:r>
              <a:rPr sz="1050" b="0">
                <a:solidFill>
                  <a:srgbClr val="003F6B"/>
                </a:solidFill>
              </a:rPr>
              <a:t>21.10. · Fehler passiert: erste 60 Minuten / 24 Stunden</a:t>
            </a:r>
          </a:p>
        </p:txBody>
      </p:sp>
      <p:sp>
        <p:nvSpPr>
          <p:cNvPr id="8" name="">
            <a:extLst xmlns:a="http://schemas.openxmlformats.org/drawingml/2006/main">
              <a:ext uri="{FF2B5EF4-FFF2-40B4-BE49-F238E27FC236}">
                <a16:creationId xmlns:a16="http://schemas.microsoft.com/office/drawing/2014/main" id="{2599BF4A-0A02-42CC-9898-7BFD9B14C1B9}"/>
              </a:ext>
            </a:extLst>
          </p:cNvPr>
          <p:cNvSpPr>
            <a:spLocks xmlns:a="http://schemas.openxmlformats.org/drawingml/2006/main" noGrp="1"/>
          </p:cNvSpPr>
          <p:nvPr/>
        </p:nvSpPr>
        <p:spPr>
          <a:xfrm xmlns:a="http://schemas.openxmlformats.org/drawingml/2006/main">
            <a:off x="8261350" y="1952625"/>
            <a:ext cx="3073400" cy="1063625"/>
          </a:xfrm>
          <a:prstGeom xmlns:a="http://schemas.openxmlformats.org/drawingml/2006/main" prst="roundRect">
            <a:avLst>
              <a:gd name="adj" fmla="val 7164"/>
            </a:avLst>
          </a:prstGeom>
          <a:noFill xmlns:a="http://schemas.openxmlformats.org/drawingml/2006/main"/>
          <a:ln xmlns:a="http://schemas.openxmlformats.org/drawingml/2006/main" w="9525">
            <a:solidFill>
              <a:srgbClr val="B9CAD2"/>
            </a:solidFill>
            <a:prstDash val="solid"/>
          </a:ln>
        </p:spPr>
      </p:sp>
      <p:sp>
        <p:nvSpPr>
          <p:cNvPr id="9" name="">
            <a:extLst xmlns:a="http://schemas.openxmlformats.org/drawingml/2006/main">
              <a:ext uri="{FF2B5EF4-FFF2-40B4-BE49-F238E27FC236}">
                <a16:creationId xmlns:a16="http://schemas.microsoft.com/office/drawing/2014/main" id="{A768B699-D83E-449C-B60E-6F7D01FABDF7}"/>
              </a:ext>
            </a:extLst>
          </p:cNvPr>
          <p:cNvSpPr>
            <a:spLocks xmlns:a="http://schemas.openxmlformats.org/drawingml/2006/main" noGrp="1"/>
          </p:cNvSpPr>
          <p:nvPr/>
        </p:nvSpPr>
        <p:spPr>
          <a:xfrm xmlns:a="http://schemas.openxmlformats.org/drawingml/2006/main">
            <a:off x="8375650" y="2000250"/>
            <a:ext cx="2844800" cy="96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0">
                <a:solidFill>
                  <a:srgbClr val="003F6B"/>
                </a:solidFill>
              </a:defRPr>
            </a:pPr>
            <a:r>
              <a:rPr sz="1050" b="0">
                <a:solidFill>
                  <a:srgbClr val="003F6B"/>
                </a:solidFill>
              </a:rPr>
              <a:t>28.10. · Zivilrechtliche Haftung, Standard &amp; Kausalität</a:t>
            </a:r>
          </a:p>
        </p:txBody>
      </p:sp>
      <p:sp>
        <p:nvSpPr>
          <p:cNvPr id="10" name="">
            <a:extLst xmlns:a="http://schemas.openxmlformats.org/drawingml/2006/main">
              <a:ext uri="{FF2B5EF4-FFF2-40B4-BE49-F238E27FC236}">
                <a16:creationId xmlns:a16="http://schemas.microsoft.com/office/drawing/2014/main" id="{3B085450-E04D-4699-BA13-F4BC1645CC1D}"/>
              </a:ext>
            </a:extLst>
          </p:cNvPr>
          <p:cNvSpPr>
            <a:spLocks xmlns:a="http://schemas.openxmlformats.org/drawingml/2006/main" noGrp="1"/>
          </p:cNvSpPr>
          <p:nvPr/>
        </p:nvSpPr>
        <p:spPr>
          <a:xfrm xmlns:a="http://schemas.openxmlformats.org/drawingml/2006/main">
            <a:off x="1809750" y="3149600"/>
            <a:ext cx="3073400" cy="1063625"/>
          </a:xfrm>
          <a:prstGeom xmlns:a="http://schemas.openxmlformats.org/drawingml/2006/main" prst="roundRect">
            <a:avLst>
              <a:gd name="adj" fmla="val 7164"/>
            </a:avLst>
          </a:prstGeom>
          <a:noFill xmlns:a="http://schemas.openxmlformats.org/drawingml/2006/main"/>
          <a:ln xmlns:a="http://schemas.openxmlformats.org/drawingml/2006/main" w="9525">
            <a:solidFill>
              <a:srgbClr val="B9CAD2"/>
            </a:solidFill>
            <a:prstDash val="solid"/>
          </a:ln>
        </p:spPr>
      </p:sp>
      <p:sp>
        <p:nvSpPr>
          <p:cNvPr id="11" name="">
            <a:extLst xmlns:a="http://schemas.openxmlformats.org/drawingml/2006/main">
              <a:ext uri="{FF2B5EF4-FFF2-40B4-BE49-F238E27FC236}">
                <a16:creationId xmlns:a16="http://schemas.microsoft.com/office/drawing/2014/main" id="{19C75070-1C62-495C-A715-38104ED7B8C0}"/>
              </a:ext>
            </a:extLst>
          </p:cNvPr>
          <p:cNvSpPr>
            <a:spLocks xmlns:a="http://schemas.openxmlformats.org/drawingml/2006/main" noGrp="1"/>
          </p:cNvSpPr>
          <p:nvPr/>
        </p:nvSpPr>
        <p:spPr>
          <a:xfrm xmlns:a="http://schemas.openxmlformats.org/drawingml/2006/main">
            <a:off x="1924050" y="3197225"/>
            <a:ext cx="2844800" cy="96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0">
                <a:solidFill>
                  <a:srgbClr val="003F6B"/>
                </a:solidFill>
              </a:defRPr>
            </a:pPr>
            <a:r>
              <a:rPr sz="1050" b="0">
                <a:solidFill>
                  <a:srgbClr val="003F6B"/>
                </a:solidFill>
              </a:rPr>
              <a:t>04.11. · Dokumentation, ePA, klinische KI &amp; Fernbehandlung</a:t>
            </a:r>
          </a:p>
        </p:txBody>
      </p:sp>
      <p:sp>
        <p:nvSpPr>
          <p:cNvPr id="12" name="">
            <a:extLst xmlns:a="http://schemas.openxmlformats.org/drawingml/2006/main">
              <a:ext uri="{FF2B5EF4-FFF2-40B4-BE49-F238E27FC236}">
                <a16:creationId xmlns:a16="http://schemas.microsoft.com/office/drawing/2014/main" id="{4FA0E615-5C12-4A72-B467-2F37A4A45897}"/>
              </a:ext>
            </a:extLst>
          </p:cNvPr>
          <p:cNvSpPr>
            <a:spLocks xmlns:a="http://schemas.openxmlformats.org/drawingml/2006/main" noGrp="1"/>
          </p:cNvSpPr>
          <p:nvPr/>
        </p:nvSpPr>
        <p:spPr>
          <a:xfrm xmlns:a="http://schemas.openxmlformats.org/drawingml/2006/main">
            <a:off x="5035550" y="3149600"/>
            <a:ext cx="3073400" cy="1063625"/>
          </a:xfrm>
          <a:prstGeom xmlns:a="http://schemas.openxmlformats.org/drawingml/2006/main" prst="roundRect">
            <a:avLst>
              <a:gd name="adj" fmla="val 7164"/>
            </a:avLst>
          </a:prstGeom>
          <a:noFill xmlns:a="http://schemas.openxmlformats.org/drawingml/2006/main"/>
          <a:ln xmlns:a="http://schemas.openxmlformats.org/drawingml/2006/main" w="9525">
            <a:solidFill>
              <a:srgbClr val="B9CAD2"/>
            </a:solidFill>
            <a:prstDash val="solid"/>
          </a:ln>
        </p:spPr>
      </p:sp>
      <p:sp>
        <p:nvSpPr>
          <p:cNvPr id="13" name="">
            <a:extLst xmlns:a="http://schemas.openxmlformats.org/drawingml/2006/main">
              <a:ext uri="{FF2B5EF4-FFF2-40B4-BE49-F238E27FC236}">
                <a16:creationId xmlns:a16="http://schemas.microsoft.com/office/drawing/2014/main" id="{A899D428-D3DB-445F-ABC0-17B0E9F05B6C}"/>
              </a:ext>
            </a:extLst>
          </p:cNvPr>
          <p:cNvSpPr>
            <a:spLocks xmlns:a="http://schemas.openxmlformats.org/drawingml/2006/main" noGrp="1"/>
          </p:cNvSpPr>
          <p:nvPr/>
        </p:nvSpPr>
        <p:spPr>
          <a:xfrm xmlns:a="http://schemas.openxmlformats.org/drawingml/2006/main">
            <a:off x="5149850" y="3197225"/>
            <a:ext cx="2844800" cy="96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0">
                <a:solidFill>
                  <a:srgbClr val="003F6B"/>
                </a:solidFill>
              </a:defRPr>
            </a:pPr>
            <a:r>
              <a:rPr sz="1050" b="0">
                <a:solidFill>
                  <a:srgbClr val="003F6B"/>
                </a:solidFill>
              </a:rPr>
              <a:t>11.11. · Beweisrecht, Sachverständige &amp; Gutachten</a:t>
            </a:r>
          </a:p>
        </p:txBody>
      </p:sp>
      <p:sp>
        <p:nvSpPr>
          <p:cNvPr id="14" name="">
            <a:extLst xmlns:a="http://schemas.openxmlformats.org/drawingml/2006/main">
              <a:ext uri="{FF2B5EF4-FFF2-40B4-BE49-F238E27FC236}">
                <a16:creationId xmlns:a16="http://schemas.microsoft.com/office/drawing/2014/main" id="{D223BB1B-1343-4B50-A925-239B3E5B0BE7}"/>
              </a:ext>
            </a:extLst>
          </p:cNvPr>
          <p:cNvSpPr>
            <a:spLocks xmlns:a="http://schemas.openxmlformats.org/drawingml/2006/main" noGrp="1"/>
          </p:cNvSpPr>
          <p:nvPr/>
        </p:nvSpPr>
        <p:spPr>
          <a:xfrm xmlns:a="http://schemas.openxmlformats.org/drawingml/2006/main">
            <a:off x="8261350" y="3149600"/>
            <a:ext cx="3073400" cy="1063625"/>
          </a:xfrm>
          <a:prstGeom xmlns:a="http://schemas.openxmlformats.org/drawingml/2006/main" prst="roundRect">
            <a:avLst>
              <a:gd name="adj" fmla="val 7164"/>
            </a:avLst>
          </a:prstGeom>
          <a:noFill xmlns:a="http://schemas.openxmlformats.org/drawingml/2006/main"/>
          <a:ln xmlns:a="http://schemas.openxmlformats.org/drawingml/2006/main" w="9525">
            <a:solidFill>
              <a:srgbClr val="B9CAD2"/>
            </a:solidFill>
            <a:prstDash val="solid"/>
          </a:ln>
        </p:spPr>
      </p:sp>
      <p:sp>
        <p:nvSpPr>
          <p:cNvPr id="15" name="">
            <a:extLst xmlns:a="http://schemas.openxmlformats.org/drawingml/2006/main">
              <a:ext uri="{FF2B5EF4-FFF2-40B4-BE49-F238E27FC236}">
                <a16:creationId xmlns:a16="http://schemas.microsoft.com/office/drawing/2014/main" id="{2BC5793B-1860-4578-961D-88BA90998076}"/>
              </a:ext>
            </a:extLst>
          </p:cNvPr>
          <p:cNvSpPr>
            <a:spLocks xmlns:a="http://schemas.openxmlformats.org/drawingml/2006/main" noGrp="1"/>
          </p:cNvSpPr>
          <p:nvPr/>
        </p:nvSpPr>
        <p:spPr>
          <a:xfrm xmlns:a="http://schemas.openxmlformats.org/drawingml/2006/main">
            <a:off x="8375650" y="3197225"/>
            <a:ext cx="2844800" cy="96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0">
                <a:solidFill>
                  <a:srgbClr val="003F6B"/>
                </a:solidFill>
              </a:defRPr>
            </a:pPr>
            <a:r>
              <a:rPr sz="1050" b="0">
                <a:solidFill>
                  <a:srgbClr val="003F6B"/>
                </a:solidFill>
              </a:rPr>
              <a:t>18.11. · Schlichtung, Versicherer, Verjährung &amp; Vergleich</a:t>
            </a:r>
          </a:p>
        </p:txBody>
      </p:sp>
      <p:sp>
        <p:nvSpPr>
          <p:cNvPr id="16" name="">
            <a:extLst xmlns:a="http://schemas.openxmlformats.org/drawingml/2006/main">
              <a:ext uri="{FF2B5EF4-FFF2-40B4-BE49-F238E27FC236}">
                <a16:creationId xmlns:a16="http://schemas.microsoft.com/office/drawing/2014/main" id="{7E3ECD07-8BD8-4A9E-8A71-BE67EA06BE5B}"/>
              </a:ext>
            </a:extLst>
          </p:cNvPr>
          <p:cNvSpPr>
            <a:spLocks xmlns:a="http://schemas.openxmlformats.org/drawingml/2006/main" noGrp="1"/>
          </p:cNvSpPr>
          <p:nvPr/>
        </p:nvSpPr>
        <p:spPr>
          <a:xfrm xmlns:a="http://schemas.openxmlformats.org/drawingml/2006/main">
            <a:off x="1809750" y="4346575"/>
            <a:ext cx="3073400" cy="1063625"/>
          </a:xfrm>
          <a:prstGeom xmlns:a="http://schemas.openxmlformats.org/drawingml/2006/main" prst="roundRect">
            <a:avLst>
              <a:gd name="adj" fmla="val 7164"/>
            </a:avLst>
          </a:prstGeom>
          <a:noFill xmlns:a="http://schemas.openxmlformats.org/drawingml/2006/main"/>
          <a:ln xmlns:a="http://schemas.openxmlformats.org/drawingml/2006/main" w="9525">
            <a:solidFill>
              <a:srgbClr val="B9CAD2"/>
            </a:solidFill>
            <a:prstDash val="solid"/>
          </a:ln>
        </p:spPr>
      </p:sp>
      <p:sp>
        <p:nvSpPr>
          <p:cNvPr id="17" name="">
            <a:extLst xmlns:a="http://schemas.openxmlformats.org/drawingml/2006/main">
              <a:ext uri="{FF2B5EF4-FFF2-40B4-BE49-F238E27FC236}">
                <a16:creationId xmlns:a16="http://schemas.microsoft.com/office/drawing/2014/main" id="{827A7EE3-6DE3-4413-9564-01A3D394BB3A}"/>
              </a:ext>
            </a:extLst>
          </p:cNvPr>
          <p:cNvSpPr>
            <a:spLocks xmlns:a="http://schemas.openxmlformats.org/drawingml/2006/main" noGrp="1"/>
          </p:cNvSpPr>
          <p:nvPr/>
        </p:nvSpPr>
        <p:spPr>
          <a:xfrm xmlns:a="http://schemas.openxmlformats.org/drawingml/2006/main">
            <a:off x="1924050" y="4394200"/>
            <a:ext cx="2844800" cy="96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0">
                <a:solidFill>
                  <a:srgbClr val="003F6B"/>
                </a:solidFill>
              </a:defRPr>
            </a:pPr>
            <a:r>
              <a:rPr sz="1050" b="0">
                <a:solidFill>
                  <a:srgbClr val="003F6B"/>
                </a:solidFill>
              </a:rPr>
              <a:t>25.11. · Zivilprozessrecht &amp; Arzthaftungskammer</a:t>
            </a:r>
          </a:p>
        </p:txBody>
      </p:sp>
      <p:sp>
        <p:nvSpPr>
          <p:cNvPr id="18" name="">
            <a:extLst xmlns:a="http://schemas.openxmlformats.org/drawingml/2006/main">
              <a:ext uri="{FF2B5EF4-FFF2-40B4-BE49-F238E27FC236}">
                <a16:creationId xmlns:a16="http://schemas.microsoft.com/office/drawing/2014/main" id="{9D4B3139-21DA-46E8-9942-3E6BFE85798B}"/>
              </a:ext>
            </a:extLst>
          </p:cNvPr>
          <p:cNvSpPr>
            <a:spLocks xmlns:a="http://schemas.openxmlformats.org/drawingml/2006/main" noGrp="1"/>
          </p:cNvSpPr>
          <p:nvPr/>
        </p:nvSpPr>
        <p:spPr>
          <a:xfrm xmlns:a="http://schemas.openxmlformats.org/drawingml/2006/main">
            <a:off x="5035550" y="4346575"/>
            <a:ext cx="3073400" cy="1063625"/>
          </a:xfrm>
          <a:prstGeom xmlns:a="http://schemas.openxmlformats.org/drawingml/2006/main" prst="roundRect">
            <a:avLst>
              <a:gd name="adj" fmla="val 7164"/>
            </a:avLst>
          </a:prstGeom>
          <a:noFill xmlns:a="http://schemas.openxmlformats.org/drawingml/2006/main"/>
          <a:ln xmlns:a="http://schemas.openxmlformats.org/drawingml/2006/main" w="9525">
            <a:solidFill>
              <a:srgbClr val="00B2BB"/>
            </a:solidFill>
            <a:prstDash val="solid"/>
          </a:ln>
        </p:spPr>
      </p:sp>
      <p:sp>
        <p:nvSpPr>
          <p:cNvPr id="19" name="">
            <a:extLst xmlns:a="http://schemas.openxmlformats.org/drawingml/2006/main">
              <a:ext uri="{FF2B5EF4-FFF2-40B4-BE49-F238E27FC236}">
                <a16:creationId xmlns:a16="http://schemas.microsoft.com/office/drawing/2014/main" id="{408FBD59-E93F-4CA7-9A95-2342CF28C8A4}"/>
              </a:ext>
            </a:extLst>
          </p:cNvPr>
          <p:cNvSpPr>
            <a:spLocks xmlns:a="http://schemas.openxmlformats.org/drawingml/2006/main" noGrp="1"/>
          </p:cNvSpPr>
          <p:nvPr/>
        </p:nvSpPr>
        <p:spPr>
          <a:xfrm xmlns:a="http://schemas.openxmlformats.org/drawingml/2006/main">
            <a:off x="5149850" y="4394200"/>
            <a:ext cx="2844800" cy="96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003F6B"/>
                </a:solidFill>
              </a:defRPr>
            </a:pPr>
            <a:r>
              <a:rPr sz="1050" b="1">
                <a:solidFill>
                  <a:srgbClr val="003F6B"/>
                </a:solidFill>
              </a:rPr>
              <a:t>02.12. · Strafrecht und Strafprozessrecht · online</a:t>
            </a:r>
          </a:p>
        </p:txBody>
      </p:sp>
      <p:sp>
        <p:nvSpPr>
          <p:cNvPr id="20" name="">
            <a:extLst xmlns:a="http://schemas.openxmlformats.org/drawingml/2006/main">
              <a:ext uri="{FF2B5EF4-FFF2-40B4-BE49-F238E27FC236}">
                <a16:creationId xmlns:a16="http://schemas.microsoft.com/office/drawing/2014/main" id="{4B95FD54-30DE-4878-84F8-4861ECE2AA82}"/>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1" name="">
            <a:extLst xmlns:a="http://schemas.openxmlformats.org/drawingml/2006/main">
              <a:ext uri="{FF2B5EF4-FFF2-40B4-BE49-F238E27FC236}">
                <a16:creationId xmlns:a16="http://schemas.microsoft.com/office/drawing/2014/main" id="{8F224624-5762-4E65-B284-485C281C0E3F}"/>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Präsenz in V03 0-C001; am 02.12. findet die Veranstaltung online statt.</a:t>
            </a:r>
          </a:p>
        </p:txBody>
      </p:sp>
    </p:spTree>
    <p:extLst>
      <p:ext uri="{BB962C8B-B14F-4D97-AF65-F5344CB8AC3E}">
        <p14:creationId xmlns:p14="http://schemas.microsoft.com/office/powerpoint/2010/main" val="43637646"/>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Freiheitsentziehende Maßnahmen beim Erwachsenen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NEUE PODCASTFOLGE · FOLGE 4 (2) · STAND 25.08.2026</a:t>
            </a:r>
            <a:endParaRPr/>
          </a:p>
        </p:txBody>
      </p:sp>
      <p:sp>
        <p:nvSpPr>
          <p:cNvPr id="4" name="">
            <a:extLst xmlns:a="http://schemas.openxmlformats.org/drawingml/2006/main">
              <a:ext uri="{FF2B5EF4-FFF2-40B4-BE49-F238E27FC236}">
                <a16:creationId xmlns:a16="http://schemas.microsoft.com/office/drawing/2014/main" id="{17181FC1-8712-4046-8492-992F8D91C52B}"/>
              </a:ext>
            </a:extLst>
          </p:cNvPr>
          <p:cNvSpPr>
            <a:spLocks xmlns:a="http://schemas.openxmlformats.org/drawingml/2006/main" noGrp="1"/>
          </p:cNvSpPr>
          <p:nvPr/>
        </p:nvSpPr>
        <p:spPr>
          <a:xfrm xmlns:a="http://schemas.openxmlformats.org/drawingml/2006/main">
            <a:off x="1809750" y="1943100"/>
            <a:ext cx="3733800" cy="3162300"/>
          </a:xfrm>
          <a:prstGeom xmlns:a="http://schemas.openxmlformats.org/drawingml/2006/main" prst="roundRect">
            <a:avLst>
              <a:gd name="adj" fmla="val 2410"/>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D2DD20BE-5AF0-465C-8A0B-CF8AE2F02DDB}"/>
              </a:ext>
            </a:extLst>
          </p:cNvPr>
          <p:cNvSpPr>
            <a:spLocks xmlns:a="http://schemas.openxmlformats.org/drawingml/2006/main" noGrp="1"/>
          </p:cNvSpPr>
          <p:nvPr/>
        </p:nvSpPr>
        <p:spPr>
          <a:xfrm xmlns:a="http://schemas.openxmlformats.org/drawingml/2006/main">
            <a:off x="2038350" y="2152650"/>
            <a:ext cx="3276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2025" b="1">
                <a:solidFill>
                  <a:srgbClr val="FFFFFF"/>
                </a:solidFill>
              </a:defRPr>
            </a:pPr>
            <a:r>
              <a:rPr sz="2025" b="1">
                <a:solidFill>
                  <a:srgbClr val="FFFFFF"/>
                </a:solidFill>
              </a:rPr>
              <a:t>Folge 4 (2)</a:t>
            </a:r>
          </a:p>
        </p:txBody>
      </p:sp>
      <p:sp>
        <p:nvSpPr>
          <p:cNvPr id="6" name="">
            <a:extLst xmlns:a="http://schemas.openxmlformats.org/drawingml/2006/main">
              <a:ext uri="{FF2B5EF4-FFF2-40B4-BE49-F238E27FC236}">
                <a16:creationId xmlns:a16="http://schemas.microsoft.com/office/drawing/2014/main" id="{41889393-4B87-4516-B587-1946FE9F159F}"/>
              </a:ext>
            </a:extLst>
          </p:cNvPr>
          <p:cNvSpPr>
            <a:spLocks xmlns:a="http://schemas.openxmlformats.org/drawingml/2006/main" noGrp="1"/>
          </p:cNvSpPr>
          <p:nvPr/>
        </p:nvSpPr>
        <p:spPr>
          <a:xfrm xmlns:a="http://schemas.openxmlformats.org/drawingml/2006/main">
            <a:off x="2038350" y="2743200"/>
            <a:ext cx="3276600" cy="2038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FFFFFF"/>
                </a:solidFill>
              </a:defRPr>
            </a:pPr>
            <a:r>
              <a:rPr sz="1275">
                <a:solidFill>
                  <a:srgbClr val="FFFFFF"/>
                </a:solidFill>
              </a:rPr>
              <a:t>Wann werden Bettgitter, Fixierungen, festgestellte Rollstühle oder Klingelmatten zum Freiheitsentzug? Wie verändern Einwilligungsfähigkeit, Betreuung, Intubation und mildere Mittel die Prüfung?</a:t>
            </a:r>
          </a:p>
        </p:txBody>
      </p:sp>
      <p:sp>
        <p:nvSpPr>
          <p:cNvPr id="7" name="">
            <a:extLst xmlns:a="http://schemas.openxmlformats.org/drawingml/2006/main">
              <a:ext uri="{FF2B5EF4-FFF2-40B4-BE49-F238E27FC236}">
                <a16:creationId xmlns:a16="http://schemas.microsoft.com/office/drawing/2014/main" id="{1FA198B2-BD43-4D45-A209-BB06D622417D}"/>
              </a:ext>
            </a:extLst>
          </p:cNvPr>
          <p:cNvSpPr>
            <a:spLocks xmlns:a="http://schemas.openxmlformats.org/drawingml/2006/main" noGrp="1"/>
          </p:cNvSpPr>
          <p:nvPr/>
        </p:nvSpPr>
        <p:spPr>
          <a:xfrm xmlns:a="http://schemas.openxmlformats.org/drawingml/2006/main">
            <a:off x="5829300" y="1943100"/>
            <a:ext cx="5505450" cy="914400"/>
          </a:xfrm>
          <a:prstGeom xmlns:a="http://schemas.openxmlformats.org/drawingml/2006/main" prst="roundRect">
            <a:avLst>
              <a:gd name="adj" fmla="val 8333"/>
            </a:avLst>
          </a:prstGeom>
          <a:solidFill xmlns:a="http://schemas.openxmlformats.org/drawingml/2006/main">
            <a:srgbClr val="DDF5F6"/>
          </a:solidFill>
          <a:ln xmlns:a="http://schemas.openxmlformats.org/drawingml/2006/main" w="9525">
            <a:solidFill>
              <a:srgbClr val="00B2BB"/>
            </a:solidFill>
            <a:prstDash val="solid"/>
          </a:ln>
        </p:spPr>
      </p:sp>
      <p:sp>
        <p:nvSpPr>
          <p:cNvPr id="8" name="">
            <a:extLst xmlns:a="http://schemas.openxmlformats.org/drawingml/2006/main">
              <a:ext uri="{FF2B5EF4-FFF2-40B4-BE49-F238E27FC236}">
                <a16:creationId xmlns:a16="http://schemas.microsoft.com/office/drawing/2014/main" id="{BF0B621A-D587-4DEC-82FD-A6CA8B78E01E}"/>
              </a:ext>
            </a:extLst>
          </p:cNvPr>
          <p:cNvSpPr>
            <a:spLocks xmlns:a="http://schemas.openxmlformats.org/drawingml/2006/main" noGrp="1"/>
          </p:cNvSpPr>
          <p:nvPr/>
        </p:nvSpPr>
        <p:spPr>
          <a:xfrm xmlns:a="http://schemas.openxmlformats.org/drawingml/2006/main">
            <a:off x="6019800" y="20574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Materielles Recht</a:t>
            </a:r>
          </a:p>
        </p:txBody>
      </p:sp>
      <p:sp>
        <p:nvSpPr>
          <p:cNvPr id="9" name="">
            <a:extLst xmlns:a="http://schemas.openxmlformats.org/drawingml/2006/main">
              <a:ext uri="{FF2B5EF4-FFF2-40B4-BE49-F238E27FC236}">
                <a16:creationId xmlns:a16="http://schemas.microsoft.com/office/drawing/2014/main" id="{E6296010-6D26-4730-86A9-F644BE78A445}"/>
              </a:ext>
            </a:extLst>
          </p:cNvPr>
          <p:cNvSpPr>
            <a:spLocks xmlns:a="http://schemas.openxmlformats.org/drawingml/2006/main" noGrp="1"/>
          </p:cNvSpPr>
          <p:nvPr/>
        </p:nvSpPr>
        <p:spPr>
          <a:xfrm xmlns:a="http://schemas.openxmlformats.org/drawingml/2006/main">
            <a:off x="8001000" y="2057400"/>
            <a:ext cx="314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 1831, 1832 BGB · Selbstbestimmung · Schutz · Verhältnismäßigkeit</a:t>
            </a:r>
          </a:p>
        </p:txBody>
      </p:sp>
      <p:sp>
        <p:nvSpPr>
          <p:cNvPr id="10" name="">
            <a:extLst xmlns:a="http://schemas.openxmlformats.org/drawingml/2006/main">
              <a:ext uri="{FF2B5EF4-FFF2-40B4-BE49-F238E27FC236}">
                <a16:creationId xmlns:a16="http://schemas.microsoft.com/office/drawing/2014/main" id="{7D0C5FF8-10E8-4F90-A5F5-D7C146A940E1}"/>
              </a:ext>
            </a:extLst>
          </p:cNvPr>
          <p:cNvSpPr>
            <a:spLocks xmlns:a="http://schemas.openxmlformats.org/drawingml/2006/main" noGrp="1"/>
          </p:cNvSpPr>
          <p:nvPr/>
        </p:nvSpPr>
        <p:spPr>
          <a:xfrm xmlns:a="http://schemas.openxmlformats.org/drawingml/2006/main">
            <a:off x="5829300" y="3009900"/>
            <a:ext cx="5505450" cy="914400"/>
          </a:xfrm>
          <a:prstGeom xmlns:a="http://schemas.openxmlformats.org/drawingml/2006/main" prst="roundRect">
            <a:avLst>
              <a:gd name="adj" fmla="val 8333"/>
            </a:avLst>
          </a:prstGeom>
          <a:solidFill xmlns:a="http://schemas.openxmlformats.org/drawingml/2006/main">
            <a:srgbClr val="F3F7F9"/>
          </a:solidFill>
          <a:ln xmlns:a="http://schemas.openxmlformats.org/drawingml/2006/main" w="9525">
            <a:solidFill>
              <a:srgbClr val="003F6B"/>
            </a:solidFill>
            <a:prstDash val="solid"/>
          </a:ln>
        </p:spPr>
      </p:sp>
      <p:sp>
        <p:nvSpPr>
          <p:cNvPr id="11" name="">
            <a:extLst xmlns:a="http://schemas.openxmlformats.org/drawingml/2006/main">
              <a:ext uri="{FF2B5EF4-FFF2-40B4-BE49-F238E27FC236}">
                <a16:creationId xmlns:a16="http://schemas.microsoft.com/office/drawing/2014/main" id="{14C05842-420C-4E38-A502-97F8103E150D}"/>
              </a:ext>
            </a:extLst>
          </p:cNvPr>
          <p:cNvSpPr>
            <a:spLocks xmlns:a="http://schemas.openxmlformats.org/drawingml/2006/main" noGrp="1"/>
          </p:cNvSpPr>
          <p:nvPr/>
        </p:nvSpPr>
        <p:spPr>
          <a:xfrm xmlns:a="http://schemas.openxmlformats.org/drawingml/2006/main">
            <a:off x="6019800" y="31242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Verfahren</a:t>
            </a:r>
          </a:p>
        </p:txBody>
      </p:sp>
      <p:sp>
        <p:nvSpPr>
          <p:cNvPr id="12" name="">
            <a:extLst xmlns:a="http://schemas.openxmlformats.org/drawingml/2006/main">
              <a:ext uri="{FF2B5EF4-FFF2-40B4-BE49-F238E27FC236}">
                <a16:creationId xmlns:a16="http://schemas.microsoft.com/office/drawing/2014/main" id="{5F4453C7-1DD2-474D-AB5D-1FF538547716}"/>
              </a:ext>
            </a:extLst>
          </p:cNvPr>
          <p:cNvSpPr>
            <a:spLocks xmlns:a="http://schemas.openxmlformats.org/drawingml/2006/main" noGrp="1"/>
          </p:cNvSpPr>
          <p:nvPr/>
        </p:nvSpPr>
        <p:spPr>
          <a:xfrm xmlns:a="http://schemas.openxmlformats.org/drawingml/2006/main">
            <a:off x="8001000" y="3124200"/>
            <a:ext cx="314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Betreuungsgericht · FamFG · Eilentscheidung · Anhörung · Dokumentation</a:t>
            </a:r>
          </a:p>
        </p:txBody>
      </p:sp>
      <p:sp>
        <p:nvSpPr>
          <p:cNvPr id="13" name="">
            <a:extLst xmlns:a="http://schemas.openxmlformats.org/drawingml/2006/main">
              <a:ext uri="{FF2B5EF4-FFF2-40B4-BE49-F238E27FC236}">
                <a16:creationId xmlns:a16="http://schemas.microsoft.com/office/drawing/2014/main" id="{BBA50296-E673-4912-9A9F-C221AF86E0BD}"/>
              </a:ext>
            </a:extLst>
          </p:cNvPr>
          <p:cNvSpPr>
            <a:spLocks xmlns:a="http://schemas.openxmlformats.org/drawingml/2006/main" noGrp="1"/>
          </p:cNvSpPr>
          <p:nvPr/>
        </p:nvSpPr>
        <p:spPr>
          <a:xfrm xmlns:a="http://schemas.openxmlformats.org/drawingml/2006/main">
            <a:off x="5829300" y="4076700"/>
            <a:ext cx="5505450" cy="914400"/>
          </a:xfrm>
          <a:prstGeom xmlns:a="http://schemas.openxmlformats.org/drawingml/2006/main" prst="roundRect">
            <a:avLst>
              <a:gd name="adj" fmla="val 8333"/>
            </a:avLst>
          </a:prstGeom>
          <a:solidFill xmlns:a="http://schemas.openxmlformats.org/drawingml/2006/main">
            <a:srgbClr val="DDF5F6"/>
          </a:solidFill>
          <a:ln xmlns:a="http://schemas.openxmlformats.org/drawingml/2006/main" w="9525">
            <a:solidFill>
              <a:srgbClr val="00B2BB"/>
            </a:solidFill>
            <a:prstDash val="solid"/>
          </a:ln>
        </p:spPr>
      </p:sp>
      <p:sp>
        <p:nvSpPr>
          <p:cNvPr id="14" name="">
            <a:extLst xmlns:a="http://schemas.openxmlformats.org/drawingml/2006/main">
              <a:ext uri="{FF2B5EF4-FFF2-40B4-BE49-F238E27FC236}">
                <a16:creationId xmlns:a16="http://schemas.microsoft.com/office/drawing/2014/main" id="{B11C7C42-1D8E-4060-BFA9-C5EDD1D6D142}"/>
              </a:ext>
            </a:extLst>
          </p:cNvPr>
          <p:cNvSpPr>
            <a:spLocks xmlns:a="http://schemas.openxmlformats.org/drawingml/2006/main" noGrp="1"/>
          </p:cNvSpPr>
          <p:nvPr/>
        </p:nvSpPr>
        <p:spPr>
          <a:xfrm xmlns:a="http://schemas.openxmlformats.org/drawingml/2006/main">
            <a:off x="6019800" y="41910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Praxis</a:t>
            </a:r>
          </a:p>
        </p:txBody>
      </p:sp>
      <p:sp>
        <p:nvSpPr>
          <p:cNvPr id="15" name="">
            <a:extLst xmlns:a="http://schemas.openxmlformats.org/drawingml/2006/main">
              <a:ext uri="{FF2B5EF4-FFF2-40B4-BE49-F238E27FC236}">
                <a16:creationId xmlns:a16="http://schemas.microsoft.com/office/drawing/2014/main" id="{B403C99E-97ED-4490-B950-A2EDF6DA9B8B}"/>
              </a:ext>
            </a:extLst>
          </p:cNvPr>
          <p:cNvSpPr>
            <a:spLocks xmlns:a="http://schemas.openxmlformats.org/drawingml/2006/main" noGrp="1"/>
          </p:cNvSpPr>
          <p:nvPr/>
        </p:nvSpPr>
        <p:spPr>
          <a:xfrm xmlns:a="http://schemas.openxmlformats.org/drawingml/2006/main">
            <a:off x="8001000" y="4191000"/>
            <a:ext cx="314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Niedrigbett · Sensormatte · Begleitung · Ursachenbehandlung · Neubewertung</a:t>
            </a:r>
          </a:p>
        </p:txBody>
      </p:sp>
      <p:sp>
        <p:nvSpPr>
          <p:cNvPr id="16" name="">
            <a:extLst xmlns:a="http://schemas.openxmlformats.org/drawingml/2006/main">
              <a:ext uri="{FF2B5EF4-FFF2-40B4-BE49-F238E27FC236}">
                <a16:creationId xmlns:a16="http://schemas.microsoft.com/office/drawing/2014/main" id="{D38DA9AD-42D4-4E2C-80BB-FCBE3D8464C9}"/>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585">
                <a:solidFill>
                  <a:srgbClr val="667680"/>
                </a:solidFill>
              </a:defRPr>
            </a:pPr>
            <a:r>
              <a:rPr sz="585">
                <a:solidFill>
                  <a:srgbClr val="667680"/>
                </a:solidFill>
              </a:rPr>
              <a:t>Recht Medizinisch, Folge 4 (2), veröffentlicht 10.08.2026 · https://www.podcast.de/episode/705488168/folge-4-2-freiheitsentziehende-massnahmen-beim-erwachsenen · https://podcasts.apple.com/at/podcast/recht-medizinisch/id1896818482</a:t>
            </a:r>
          </a:p>
        </p:txBody>
      </p:sp>
    </p:spTree>
    <p:extLst>
      <p:ext uri="{BB962C8B-B14F-4D97-AF65-F5344CB8AC3E}">
        <p14:creationId xmlns:p14="http://schemas.microsoft.com/office/powerpoint/2010/main" val="43637646"/>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Semesterplan II: Dezember, Januar und Gericht</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OFFIZIELLE TERMINE + ZUSATZTERMIN</a:t>
            </a:r>
            <a:endParaRPr/>
          </a:p>
        </p:txBody>
      </p:sp>
      <p:sp>
        <p:nvSpPr>
          <p:cNvPr id="4" name="">
            <a:extLst xmlns:a="http://schemas.openxmlformats.org/drawingml/2006/main">
              <a:ext uri="{FF2B5EF4-FFF2-40B4-BE49-F238E27FC236}">
                <a16:creationId xmlns:a16="http://schemas.microsoft.com/office/drawing/2014/main" id="{72C4AC35-BF75-46A2-BA95-293AF311DA2F}"/>
              </a:ext>
            </a:extLst>
          </p:cNvPr>
          <p:cNvSpPr>
            <a:spLocks xmlns:a="http://schemas.openxmlformats.org/drawingml/2006/main" noGrp="1"/>
          </p:cNvSpPr>
          <p:nvPr/>
        </p:nvSpPr>
        <p:spPr>
          <a:xfrm xmlns:a="http://schemas.openxmlformats.org/drawingml/2006/main">
            <a:off x="1809750" y="1952625"/>
            <a:ext cx="3073400" cy="1063625"/>
          </a:xfrm>
          <a:prstGeom xmlns:a="http://schemas.openxmlformats.org/drawingml/2006/main" prst="roundRect">
            <a:avLst>
              <a:gd name="adj" fmla="val 7164"/>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C08319BE-E778-45BA-B206-F76D51B285DB}"/>
              </a:ext>
            </a:extLst>
          </p:cNvPr>
          <p:cNvSpPr>
            <a:spLocks xmlns:a="http://schemas.openxmlformats.org/drawingml/2006/main" noGrp="1"/>
          </p:cNvSpPr>
          <p:nvPr/>
        </p:nvSpPr>
        <p:spPr>
          <a:xfrm xmlns:a="http://schemas.openxmlformats.org/drawingml/2006/main">
            <a:off x="1924050" y="2000250"/>
            <a:ext cx="2844800" cy="96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0">
                <a:solidFill>
                  <a:srgbClr val="003F6B"/>
                </a:solidFill>
              </a:defRPr>
            </a:pPr>
            <a:r>
              <a:rPr sz="1050" b="0">
                <a:solidFill>
                  <a:srgbClr val="003F6B"/>
                </a:solidFill>
              </a:rPr>
              <a:t>09.12. · Berufsrecht, Approbationsrecht &amp; Arbeitsrecht</a:t>
            </a:r>
          </a:p>
        </p:txBody>
      </p:sp>
      <p:sp>
        <p:nvSpPr>
          <p:cNvPr id="6" name="">
            <a:extLst xmlns:a="http://schemas.openxmlformats.org/drawingml/2006/main">
              <a:ext uri="{FF2B5EF4-FFF2-40B4-BE49-F238E27FC236}">
                <a16:creationId xmlns:a16="http://schemas.microsoft.com/office/drawing/2014/main" id="{AB095E98-8420-487C-86D6-595EBC1B5BDD}"/>
              </a:ext>
            </a:extLst>
          </p:cNvPr>
          <p:cNvSpPr>
            <a:spLocks xmlns:a="http://schemas.openxmlformats.org/drawingml/2006/main" noGrp="1"/>
          </p:cNvSpPr>
          <p:nvPr/>
        </p:nvSpPr>
        <p:spPr>
          <a:xfrm xmlns:a="http://schemas.openxmlformats.org/drawingml/2006/main">
            <a:off x="5035550" y="1952625"/>
            <a:ext cx="3073400" cy="1063625"/>
          </a:xfrm>
          <a:prstGeom xmlns:a="http://schemas.openxmlformats.org/drawingml/2006/main" prst="roundRect">
            <a:avLst>
              <a:gd name="adj" fmla="val 7164"/>
            </a:avLst>
          </a:prstGeom>
          <a:noFill xmlns:a="http://schemas.openxmlformats.org/drawingml/2006/main"/>
          <a:ln xmlns:a="http://schemas.openxmlformats.org/drawingml/2006/main" w="9525">
            <a:solidFill>
              <a:srgbClr val="B9CAD2"/>
            </a:solidFill>
            <a:prstDash val="solid"/>
          </a:ln>
        </p:spPr>
      </p:sp>
      <p:sp>
        <p:nvSpPr>
          <p:cNvPr id="7" name="">
            <a:extLst xmlns:a="http://schemas.openxmlformats.org/drawingml/2006/main">
              <a:ext uri="{FF2B5EF4-FFF2-40B4-BE49-F238E27FC236}">
                <a16:creationId xmlns:a16="http://schemas.microsoft.com/office/drawing/2014/main" id="{31D514DF-B107-4B0E-9549-CAB5D17D8DB8}"/>
              </a:ext>
            </a:extLst>
          </p:cNvPr>
          <p:cNvSpPr>
            <a:spLocks xmlns:a="http://schemas.openxmlformats.org/drawingml/2006/main" noGrp="1"/>
          </p:cNvSpPr>
          <p:nvPr/>
        </p:nvSpPr>
        <p:spPr>
          <a:xfrm xmlns:a="http://schemas.openxmlformats.org/drawingml/2006/main">
            <a:off x="5149850" y="2000250"/>
            <a:ext cx="2844800" cy="96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0">
                <a:solidFill>
                  <a:srgbClr val="003F6B"/>
                </a:solidFill>
              </a:defRPr>
            </a:pPr>
            <a:r>
              <a:rPr sz="1050" b="0">
                <a:solidFill>
                  <a:srgbClr val="003F6B"/>
                </a:solidFill>
              </a:rPr>
              <a:t>16.12. · Autonomie, Minderjährige, Fixierung &amp; Notfall</a:t>
            </a:r>
          </a:p>
        </p:txBody>
      </p:sp>
      <p:sp>
        <p:nvSpPr>
          <p:cNvPr id="8" name="">
            <a:extLst xmlns:a="http://schemas.openxmlformats.org/drawingml/2006/main">
              <a:ext uri="{FF2B5EF4-FFF2-40B4-BE49-F238E27FC236}">
                <a16:creationId xmlns:a16="http://schemas.microsoft.com/office/drawing/2014/main" id="{210260AA-2BD9-4C72-8252-22CE8032AA09}"/>
              </a:ext>
            </a:extLst>
          </p:cNvPr>
          <p:cNvSpPr>
            <a:spLocks xmlns:a="http://schemas.openxmlformats.org/drawingml/2006/main" noGrp="1"/>
          </p:cNvSpPr>
          <p:nvPr/>
        </p:nvSpPr>
        <p:spPr>
          <a:xfrm xmlns:a="http://schemas.openxmlformats.org/drawingml/2006/main">
            <a:off x="8261350" y="1952625"/>
            <a:ext cx="3073400" cy="1063625"/>
          </a:xfrm>
          <a:prstGeom xmlns:a="http://schemas.openxmlformats.org/drawingml/2006/main" prst="roundRect">
            <a:avLst>
              <a:gd name="adj" fmla="val 7164"/>
            </a:avLst>
          </a:prstGeom>
          <a:noFill xmlns:a="http://schemas.openxmlformats.org/drawingml/2006/main"/>
          <a:ln xmlns:a="http://schemas.openxmlformats.org/drawingml/2006/main" w="9525">
            <a:solidFill>
              <a:srgbClr val="B9CAD2"/>
            </a:solidFill>
            <a:prstDash val="solid"/>
          </a:ln>
        </p:spPr>
      </p:sp>
      <p:sp>
        <p:nvSpPr>
          <p:cNvPr id="9" name="">
            <a:extLst xmlns:a="http://schemas.openxmlformats.org/drawingml/2006/main">
              <a:ext uri="{FF2B5EF4-FFF2-40B4-BE49-F238E27FC236}">
                <a16:creationId xmlns:a16="http://schemas.microsoft.com/office/drawing/2014/main" id="{599DB4BC-CA46-4A58-94B3-6D275FF33BFA}"/>
              </a:ext>
            </a:extLst>
          </p:cNvPr>
          <p:cNvSpPr>
            <a:spLocks xmlns:a="http://schemas.openxmlformats.org/drawingml/2006/main" noGrp="1"/>
          </p:cNvSpPr>
          <p:nvPr/>
        </p:nvSpPr>
        <p:spPr>
          <a:xfrm xmlns:a="http://schemas.openxmlformats.org/drawingml/2006/main">
            <a:off x="8375650" y="2000250"/>
            <a:ext cx="2844800" cy="96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0">
                <a:solidFill>
                  <a:srgbClr val="003F6B"/>
                </a:solidFill>
              </a:defRPr>
            </a:pPr>
            <a:r>
              <a:rPr sz="1050" b="0">
                <a:solidFill>
                  <a:srgbClr val="003F6B"/>
                </a:solidFill>
              </a:rPr>
              <a:t>06.01. · Arzneimittel, BtM, Delegation &amp; Suchtmedizin</a:t>
            </a:r>
          </a:p>
        </p:txBody>
      </p:sp>
      <p:sp>
        <p:nvSpPr>
          <p:cNvPr id="10" name="">
            <a:extLst xmlns:a="http://schemas.openxmlformats.org/drawingml/2006/main">
              <a:ext uri="{FF2B5EF4-FFF2-40B4-BE49-F238E27FC236}">
                <a16:creationId xmlns:a16="http://schemas.microsoft.com/office/drawing/2014/main" id="{AA3EE403-1093-4016-8D01-D1F68A052B04}"/>
              </a:ext>
            </a:extLst>
          </p:cNvPr>
          <p:cNvSpPr>
            <a:spLocks xmlns:a="http://schemas.openxmlformats.org/drawingml/2006/main" noGrp="1"/>
          </p:cNvSpPr>
          <p:nvPr/>
        </p:nvSpPr>
        <p:spPr>
          <a:xfrm xmlns:a="http://schemas.openxmlformats.org/drawingml/2006/main">
            <a:off x="1809750" y="3149600"/>
            <a:ext cx="3073400" cy="1063625"/>
          </a:xfrm>
          <a:prstGeom xmlns:a="http://schemas.openxmlformats.org/drawingml/2006/main" prst="roundRect">
            <a:avLst>
              <a:gd name="adj" fmla="val 7164"/>
            </a:avLst>
          </a:prstGeom>
          <a:noFill xmlns:a="http://schemas.openxmlformats.org/drawingml/2006/main"/>
          <a:ln xmlns:a="http://schemas.openxmlformats.org/drawingml/2006/main" w="9525">
            <a:solidFill>
              <a:srgbClr val="B9CAD2"/>
            </a:solidFill>
            <a:prstDash val="solid"/>
          </a:ln>
        </p:spPr>
      </p:sp>
      <p:sp>
        <p:nvSpPr>
          <p:cNvPr id="11" name="">
            <a:extLst xmlns:a="http://schemas.openxmlformats.org/drawingml/2006/main">
              <a:ext uri="{FF2B5EF4-FFF2-40B4-BE49-F238E27FC236}">
                <a16:creationId xmlns:a16="http://schemas.microsoft.com/office/drawing/2014/main" id="{B23BF57E-4AD4-4F51-BC3F-1C328DA816A8}"/>
              </a:ext>
            </a:extLst>
          </p:cNvPr>
          <p:cNvSpPr>
            <a:spLocks xmlns:a="http://schemas.openxmlformats.org/drawingml/2006/main" noGrp="1"/>
          </p:cNvSpPr>
          <p:nvPr/>
        </p:nvSpPr>
        <p:spPr>
          <a:xfrm xmlns:a="http://schemas.openxmlformats.org/drawingml/2006/main">
            <a:off x="1924050" y="3197225"/>
            <a:ext cx="2844800" cy="96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0">
                <a:solidFill>
                  <a:srgbClr val="003F6B"/>
                </a:solidFill>
              </a:defRPr>
            </a:pPr>
            <a:r>
              <a:rPr sz="1050" b="0">
                <a:solidFill>
                  <a:srgbClr val="003F6B"/>
                </a:solidFill>
              </a:rPr>
              <a:t>13.01. · Übergaben, Rettungsdienst, Systemdruck &amp; Schweigepflicht</a:t>
            </a:r>
          </a:p>
        </p:txBody>
      </p:sp>
      <p:sp>
        <p:nvSpPr>
          <p:cNvPr id="12" name="">
            <a:extLst xmlns:a="http://schemas.openxmlformats.org/drawingml/2006/main">
              <a:ext uri="{FF2B5EF4-FFF2-40B4-BE49-F238E27FC236}">
                <a16:creationId xmlns:a16="http://schemas.microsoft.com/office/drawing/2014/main" id="{1DD500DA-C12E-4A87-AB75-81FBBED32998}"/>
              </a:ext>
            </a:extLst>
          </p:cNvPr>
          <p:cNvSpPr>
            <a:spLocks xmlns:a="http://schemas.openxmlformats.org/drawingml/2006/main" noGrp="1"/>
          </p:cNvSpPr>
          <p:nvPr/>
        </p:nvSpPr>
        <p:spPr>
          <a:xfrm xmlns:a="http://schemas.openxmlformats.org/drawingml/2006/main">
            <a:off x="5035550" y="3149600"/>
            <a:ext cx="3073400" cy="1063625"/>
          </a:xfrm>
          <a:prstGeom xmlns:a="http://schemas.openxmlformats.org/drawingml/2006/main" prst="roundRect">
            <a:avLst>
              <a:gd name="adj" fmla="val 7164"/>
            </a:avLst>
          </a:prstGeom>
          <a:noFill xmlns:a="http://schemas.openxmlformats.org/drawingml/2006/main"/>
          <a:ln xmlns:a="http://schemas.openxmlformats.org/drawingml/2006/main" w="9525">
            <a:solidFill>
              <a:srgbClr val="B9CAD2"/>
            </a:solidFill>
            <a:prstDash val="solid"/>
          </a:ln>
        </p:spPr>
      </p:sp>
      <p:sp>
        <p:nvSpPr>
          <p:cNvPr id="13" name="">
            <a:extLst xmlns:a="http://schemas.openxmlformats.org/drawingml/2006/main">
              <a:ext uri="{FF2B5EF4-FFF2-40B4-BE49-F238E27FC236}">
                <a16:creationId xmlns:a16="http://schemas.microsoft.com/office/drawing/2014/main" id="{4D453D66-13F1-47B5-885D-40B26BC277A5}"/>
              </a:ext>
            </a:extLst>
          </p:cNvPr>
          <p:cNvSpPr>
            <a:spLocks xmlns:a="http://schemas.openxmlformats.org/drawingml/2006/main" noGrp="1"/>
          </p:cNvSpPr>
          <p:nvPr/>
        </p:nvSpPr>
        <p:spPr>
          <a:xfrm xmlns:a="http://schemas.openxmlformats.org/drawingml/2006/main">
            <a:off x="5149850" y="3197225"/>
            <a:ext cx="2844800" cy="96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0">
                <a:solidFill>
                  <a:srgbClr val="003F6B"/>
                </a:solidFill>
              </a:defRPr>
            </a:pPr>
            <a:r>
              <a:rPr sz="1050" b="0">
                <a:solidFill>
                  <a:srgbClr val="003F6B"/>
                </a:solidFill>
              </a:rPr>
              <a:t>20.01. · Defensive Medizin, Leitlinien, SOP &amp; 5K+R</a:t>
            </a:r>
          </a:p>
        </p:txBody>
      </p:sp>
      <p:sp>
        <p:nvSpPr>
          <p:cNvPr id="14" name="">
            <a:extLst xmlns:a="http://schemas.openxmlformats.org/drawingml/2006/main">
              <a:ext uri="{FF2B5EF4-FFF2-40B4-BE49-F238E27FC236}">
                <a16:creationId xmlns:a16="http://schemas.microsoft.com/office/drawing/2014/main" id="{CA220902-A9A2-4D13-A11E-1E04895BE1AA}"/>
              </a:ext>
            </a:extLst>
          </p:cNvPr>
          <p:cNvSpPr>
            <a:spLocks xmlns:a="http://schemas.openxmlformats.org/drawingml/2006/main" noGrp="1"/>
          </p:cNvSpPr>
          <p:nvPr/>
        </p:nvSpPr>
        <p:spPr>
          <a:xfrm xmlns:a="http://schemas.openxmlformats.org/drawingml/2006/main">
            <a:off x="8261350" y="3149600"/>
            <a:ext cx="3073400" cy="1063625"/>
          </a:xfrm>
          <a:prstGeom xmlns:a="http://schemas.openxmlformats.org/drawingml/2006/main" prst="roundRect">
            <a:avLst>
              <a:gd name="adj" fmla="val 7164"/>
            </a:avLst>
          </a:prstGeom>
          <a:noFill xmlns:a="http://schemas.openxmlformats.org/drawingml/2006/main"/>
          <a:ln xmlns:a="http://schemas.openxmlformats.org/drawingml/2006/main" w="9525">
            <a:solidFill>
              <a:srgbClr val="B9CAD2"/>
            </a:solidFill>
            <a:prstDash val="solid"/>
          </a:ln>
        </p:spPr>
      </p:sp>
      <p:sp>
        <p:nvSpPr>
          <p:cNvPr id="15" name="">
            <a:extLst xmlns:a="http://schemas.openxmlformats.org/drawingml/2006/main">
              <a:ext uri="{FF2B5EF4-FFF2-40B4-BE49-F238E27FC236}">
                <a16:creationId xmlns:a16="http://schemas.microsoft.com/office/drawing/2014/main" id="{2AD0B9F2-A8D3-4CE5-A28C-753C580293C2}"/>
              </a:ext>
            </a:extLst>
          </p:cNvPr>
          <p:cNvSpPr>
            <a:spLocks xmlns:a="http://schemas.openxmlformats.org/drawingml/2006/main" noGrp="1"/>
          </p:cNvSpPr>
          <p:nvPr/>
        </p:nvSpPr>
        <p:spPr>
          <a:xfrm xmlns:a="http://schemas.openxmlformats.org/drawingml/2006/main">
            <a:off x="8375650" y="3197225"/>
            <a:ext cx="2844800" cy="96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0">
                <a:solidFill>
                  <a:srgbClr val="003F6B"/>
                </a:solidFill>
              </a:defRPr>
            </a:pPr>
            <a:r>
              <a:rPr sz="1050" b="0">
                <a:solidFill>
                  <a:srgbClr val="003F6B"/>
                </a:solidFill>
              </a:rPr>
              <a:t>27.01. · Capstone: ein Fall – alle Verfahrenswege</a:t>
            </a:r>
          </a:p>
        </p:txBody>
      </p:sp>
      <p:sp>
        <p:nvSpPr>
          <p:cNvPr id="16" name="">
            <a:extLst xmlns:a="http://schemas.openxmlformats.org/drawingml/2006/main">
              <a:ext uri="{FF2B5EF4-FFF2-40B4-BE49-F238E27FC236}">
                <a16:creationId xmlns:a16="http://schemas.microsoft.com/office/drawing/2014/main" id="{16945FF5-2963-4A2B-B8CD-93E92E7893AA}"/>
              </a:ext>
            </a:extLst>
          </p:cNvPr>
          <p:cNvSpPr>
            <a:spLocks xmlns:a="http://schemas.openxmlformats.org/drawingml/2006/main" noGrp="1"/>
          </p:cNvSpPr>
          <p:nvPr/>
        </p:nvSpPr>
        <p:spPr>
          <a:xfrm xmlns:a="http://schemas.openxmlformats.org/drawingml/2006/main">
            <a:off x="1809750" y="4346575"/>
            <a:ext cx="3073400" cy="1063625"/>
          </a:xfrm>
          <a:prstGeom xmlns:a="http://schemas.openxmlformats.org/drawingml/2006/main" prst="roundRect">
            <a:avLst>
              <a:gd name="adj" fmla="val 7164"/>
            </a:avLst>
          </a:prstGeom>
          <a:noFill xmlns:a="http://schemas.openxmlformats.org/drawingml/2006/main"/>
          <a:ln xmlns:a="http://schemas.openxmlformats.org/drawingml/2006/main" w="9525">
            <a:solidFill>
              <a:srgbClr val="00B2BB"/>
            </a:solidFill>
            <a:prstDash val="solid"/>
          </a:ln>
        </p:spPr>
      </p:sp>
      <p:sp>
        <p:nvSpPr>
          <p:cNvPr id="17" name="">
            <a:extLst xmlns:a="http://schemas.openxmlformats.org/drawingml/2006/main">
              <a:ext uri="{FF2B5EF4-FFF2-40B4-BE49-F238E27FC236}">
                <a16:creationId xmlns:a16="http://schemas.microsoft.com/office/drawing/2014/main" id="{EFAFB665-16B0-47DB-A3D3-A177C0837956}"/>
              </a:ext>
            </a:extLst>
          </p:cNvPr>
          <p:cNvSpPr>
            <a:spLocks xmlns:a="http://schemas.openxmlformats.org/drawingml/2006/main" noGrp="1"/>
          </p:cNvSpPr>
          <p:nvPr/>
        </p:nvSpPr>
        <p:spPr>
          <a:xfrm xmlns:a="http://schemas.openxmlformats.org/drawingml/2006/main">
            <a:off x="1924050" y="4394200"/>
            <a:ext cx="2844800" cy="96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003F6B"/>
                </a:solidFill>
              </a:defRPr>
            </a:pPr>
            <a:r>
              <a:rPr sz="1050" b="1">
                <a:solidFill>
                  <a:srgbClr val="003F6B"/>
                </a:solidFill>
              </a:rPr>
              <a:t>Zusatztermin · Gerichtsbesuch beim LG Oldenburg · nach Abstimmung</a:t>
            </a:r>
          </a:p>
        </p:txBody>
      </p:sp>
      <p:sp>
        <p:nvSpPr>
          <p:cNvPr id="18" name="">
            <a:extLst xmlns:a="http://schemas.openxmlformats.org/drawingml/2006/main">
              <a:ext uri="{FF2B5EF4-FFF2-40B4-BE49-F238E27FC236}">
                <a16:creationId xmlns:a16="http://schemas.microsoft.com/office/drawing/2014/main" id="{7C4978A2-D4CE-4765-B596-FA0AC944E77B}"/>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19" name="">
            <a:extLst xmlns:a="http://schemas.openxmlformats.org/drawingml/2006/main">
              <a:ext uri="{FF2B5EF4-FFF2-40B4-BE49-F238E27FC236}">
                <a16:creationId xmlns:a16="http://schemas.microsoft.com/office/drawing/2014/main" id="{7367537B-2AA5-411C-B270-72BFED4DAE52}"/>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Der Gerichtstag bleibt als zusätzlicher, gesondert abgestimmter Termin erhalten.</a:t>
            </a:r>
          </a:p>
        </p:txBody>
      </p:sp>
    </p:spTree>
    <p:extLst>
      <p:ext uri="{BB962C8B-B14F-4D97-AF65-F5344CB8AC3E}">
        <p14:creationId xmlns:p14="http://schemas.microsoft.com/office/powerpoint/2010/main" val="43637646"/>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Alle veröffentlichten Podcastfolgen sind als Lehrfälle verankert</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PODCAST-FALLATLAS · STAND 25.08.2026</a:t>
            </a:r>
            <a:endParaRPr/>
          </a:p>
        </p:txBody>
      </p:sp>
      <p:sp>
        <p:nvSpPr>
          <p:cNvPr id="4" name="">
            <a:extLst xmlns:a="http://schemas.openxmlformats.org/drawingml/2006/main">
              <a:ext uri="{FF2B5EF4-FFF2-40B4-BE49-F238E27FC236}">
                <a16:creationId xmlns:a16="http://schemas.microsoft.com/office/drawing/2014/main" id="{1A8850CD-E457-4FDB-BDFF-3BF9A686F25B}"/>
              </a:ext>
            </a:extLst>
          </p:cNvPr>
          <p:cNvSpPr>
            <a:spLocks xmlns:a="http://schemas.openxmlformats.org/drawingml/2006/main" noGrp="1"/>
          </p:cNvSpPr>
          <p:nvPr/>
        </p:nvSpPr>
        <p:spPr>
          <a:xfrm xmlns:a="http://schemas.openxmlformats.org/drawingml/2006/main">
            <a:off x="1809750" y="2019300"/>
            <a:ext cx="2281238" cy="1428750"/>
          </a:xfrm>
          <a:prstGeom xmlns:a="http://schemas.openxmlformats.org/drawingml/2006/main" prst="roundRect">
            <a:avLst>
              <a:gd name="adj" fmla="val 5333"/>
            </a:avLst>
          </a:prstGeom>
          <a:noFill xmlns:a="http://schemas.openxmlformats.org/drawingml/2006/main"/>
          <a:ln xmlns:a="http://schemas.openxmlformats.org/drawingml/2006/main" w="11430">
            <a:solidFill>
              <a:srgbClr val="00B2BB"/>
            </a:solidFill>
            <a:prstDash val="solid"/>
          </a:ln>
        </p:spPr>
      </p:sp>
      <p:sp>
        <p:nvSpPr>
          <p:cNvPr id="5" name="">
            <a:extLst xmlns:a="http://schemas.openxmlformats.org/drawingml/2006/main">
              <a:ext uri="{FF2B5EF4-FFF2-40B4-BE49-F238E27FC236}">
                <a16:creationId xmlns:a16="http://schemas.microsoft.com/office/drawing/2014/main" id="{69B54099-BD0A-4E57-97D4-A1681E9E9C09}"/>
              </a:ext>
            </a:extLst>
          </p:cNvPr>
          <p:cNvSpPr>
            <a:spLocks xmlns:a="http://schemas.openxmlformats.org/drawingml/2006/main" noGrp="1"/>
          </p:cNvSpPr>
          <p:nvPr/>
        </p:nvSpPr>
        <p:spPr>
          <a:xfrm xmlns:a="http://schemas.openxmlformats.org/drawingml/2006/main">
            <a:off x="1809750" y="2019300"/>
            <a:ext cx="2281238"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6F0D4132-07F6-446C-9F8C-7B1B1730EF9E}"/>
              </a:ext>
            </a:extLst>
          </p:cNvPr>
          <p:cNvSpPr>
            <a:spLocks xmlns:a="http://schemas.openxmlformats.org/drawingml/2006/main" noGrp="1"/>
          </p:cNvSpPr>
          <p:nvPr/>
        </p:nvSpPr>
        <p:spPr>
          <a:xfrm xmlns:a="http://schemas.openxmlformats.org/drawingml/2006/main">
            <a:off x="1943100" y="2190750"/>
            <a:ext cx="2014538"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Folge 0</a:t>
            </a:r>
          </a:p>
        </p:txBody>
      </p:sp>
      <p:sp>
        <p:nvSpPr>
          <p:cNvPr id="7" name="">
            <a:extLst xmlns:a="http://schemas.openxmlformats.org/drawingml/2006/main">
              <a:ext uri="{FF2B5EF4-FFF2-40B4-BE49-F238E27FC236}">
                <a16:creationId xmlns:a16="http://schemas.microsoft.com/office/drawing/2014/main" id="{024783CA-0C23-4C5C-B43C-2A507C04F35B}"/>
              </a:ext>
            </a:extLst>
          </p:cNvPr>
          <p:cNvSpPr>
            <a:spLocks xmlns:a="http://schemas.openxmlformats.org/drawingml/2006/main" noGrp="1"/>
          </p:cNvSpPr>
          <p:nvPr/>
        </p:nvSpPr>
        <p:spPr>
          <a:xfrm xmlns:a="http://schemas.openxmlformats.org/drawingml/2006/main">
            <a:off x="1943100" y="2571750"/>
            <a:ext cx="2014538"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90">
                <a:solidFill>
                  <a:srgbClr val="15232B"/>
                </a:solidFill>
              </a:defRPr>
            </a:pPr>
            <a:r>
              <a:rPr sz="990">
                <a:solidFill>
                  <a:srgbClr val="15232B"/>
                </a:solidFill>
              </a:rPr>
              <a:t>Warum Recht Medizinisch? · Termin 1</a:t>
            </a:r>
          </a:p>
        </p:txBody>
      </p:sp>
      <p:sp>
        <p:nvSpPr>
          <p:cNvPr id="8" name="">
            <a:extLst xmlns:a="http://schemas.openxmlformats.org/drawingml/2006/main">
              <a:ext uri="{FF2B5EF4-FFF2-40B4-BE49-F238E27FC236}">
                <a16:creationId xmlns:a16="http://schemas.microsoft.com/office/drawing/2014/main" id="{3F2C7CC2-D8BA-426D-B837-C4EC5AB5E714}"/>
              </a:ext>
            </a:extLst>
          </p:cNvPr>
          <p:cNvSpPr>
            <a:spLocks xmlns:a="http://schemas.openxmlformats.org/drawingml/2006/main" noGrp="1"/>
          </p:cNvSpPr>
          <p:nvPr/>
        </p:nvSpPr>
        <p:spPr>
          <a:xfrm xmlns:a="http://schemas.openxmlformats.org/drawingml/2006/main">
            <a:off x="4224338" y="2019300"/>
            <a:ext cx="2281238" cy="1428750"/>
          </a:xfrm>
          <a:prstGeom xmlns:a="http://schemas.openxmlformats.org/drawingml/2006/main" prst="roundRect">
            <a:avLst>
              <a:gd name="adj" fmla="val 5333"/>
            </a:avLst>
          </a:prstGeom>
          <a:noFill xmlns:a="http://schemas.openxmlformats.org/drawingml/2006/main"/>
          <a:ln xmlns:a="http://schemas.openxmlformats.org/drawingml/2006/main" w="11430">
            <a:solidFill>
              <a:srgbClr val="003F6B"/>
            </a:solidFill>
            <a:prstDash val="solid"/>
          </a:ln>
        </p:spPr>
      </p:sp>
      <p:sp>
        <p:nvSpPr>
          <p:cNvPr id="9" name="">
            <a:extLst xmlns:a="http://schemas.openxmlformats.org/drawingml/2006/main">
              <a:ext uri="{FF2B5EF4-FFF2-40B4-BE49-F238E27FC236}">
                <a16:creationId xmlns:a16="http://schemas.microsoft.com/office/drawing/2014/main" id="{7BC17CFB-A6AA-4FEE-99C7-5CB414207779}"/>
              </a:ext>
            </a:extLst>
          </p:cNvPr>
          <p:cNvSpPr>
            <a:spLocks xmlns:a="http://schemas.openxmlformats.org/drawingml/2006/main" noGrp="1"/>
          </p:cNvSpPr>
          <p:nvPr/>
        </p:nvSpPr>
        <p:spPr>
          <a:xfrm xmlns:a="http://schemas.openxmlformats.org/drawingml/2006/main">
            <a:off x="4224338" y="2019300"/>
            <a:ext cx="2281238"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0709545D-CD02-495E-9EB5-9085C73A12E7}"/>
              </a:ext>
            </a:extLst>
          </p:cNvPr>
          <p:cNvSpPr>
            <a:spLocks xmlns:a="http://schemas.openxmlformats.org/drawingml/2006/main" noGrp="1"/>
          </p:cNvSpPr>
          <p:nvPr/>
        </p:nvSpPr>
        <p:spPr>
          <a:xfrm xmlns:a="http://schemas.openxmlformats.org/drawingml/2006/main">
            <a:off x="4357688" y="2190750"/>
            <a:ext cx="2014538"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Folge 1</a:t>
            </a:r>
          </a:p>
        </p:txBody>
      </p:sp>
      <p:sp>
        <p:nvSpPr>
          <p:cNvPr id="11" name="">
            <a:extLst xmlns:a="http://schemas.openxmlformats.org/drawingml/2006/main">
              <a:ext uri="{FF2B5EF4-FFF2-40B4-BE49-F238E27FC236}">
                <a16:creationId xmlns:a16="http://schemas.microsoft.com/office/drawing/2014/main" id="{8D43411A-DD31-4E94-8A85-9085DDD006C5}"/>
              </a:ext>
            </a:extLst>
          </p:cNvPr>
          <p:cNvSpPr>
            <a:spLocks xmlns:a="http://schemas.openxmlformats.org/drawingml/2006/main" noGrp="1"/>
          </p:cNvSpPr>
          <p:nvPr/>
        </p:nvSpPr>
        <p:spPr>
          <a:xfrm xmlns:a="http://schemas.openxmlformats.org/drawingml/2006/main">
            <a:off x="4357688" y="2571750"/>
            <a:ext cx="2014538"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90">
                <a:solidFill>
                  <a:srgbClr val="15232B"/>
                </a:solidFill>
              </a:defRPr>
            </a:pPr>
            <a:r>
              <a:rPr sz="990">
                <a:solidFill>
                  <a:srgbClr val="15232B"/>
                </a:solidFill>
              </a:rPr>
              <a:t>Betäubungsmittel, Fentanyl, PJ-Verantwortung · Termin 11</a:t>
            </a:r>
          </a:p>
        </p:txBody>
      </p:sp>
      <p:sp>
        <p:nvSpPr>
          <p:cNvPr id="12" name="">
            <a:extLst xmlns:a="http://schemas.openxmlformats.org/drawingml/2006/main">
              <a:ext uri="{FF2B5EF4-FFF2-40B4-BE49-F238E27FC236}">
                <a16:creationId xmlns:a16="http://schemas.microsoft.com/office/drawing/2014/main" id="{4E97C41B-ED4D-425B-ABBD-4CD446AB556B}"/>
              </a:ext>
            </a:extLst>
          </p:cNvPr>
          <p:cNvSpPr>
            <a:spLocks xmlns:a="http://schemas.openxmlformats.org/drawingml/2006/main" noGrp="1"/>
          </p:cNvSpPr>
          <p:nvPr/>
        </p:nvSpPr>
        <p:spPr>
          <a:xfrm xmlns:a="http://schemas.openxmlformats.org/drawingml/2006/main">
            <a:off x="6638925" y="2019300"/>
            <a:ext cx="2281238" cy="1428750"/>
          </a:xfrm>
          <a:prstGeom xmlns:a="http://schemas.openxmlformats.org/drawingml/2006/main" prst="roundRect">
            <a:avLst>
              <a:gd name="adj" fmla="val 5333"/>
            </a:avLst>
          </a:prstGeom>
          <a:noFill xmlns:a="http://schemas.openxmlformats.org/drawingml/2006/main"/>
          <a:ln xmlns:a="http://schemas.openxmlformats.org/drawingml/2006/main" w="11430">
            <a:solidFill>
              <a:srgbClr val="00B2BB"/>
            </a:solidFill>
            <a:prstDash val="solid"/>
          </a:ln>
        </p:spPr>
      </p:sp>
      <p:sp>
        <p:nvSpPr>
          <p:cNvPr id="13" name="">
            <a:extLst xmlns:a="http://schemas.openxmlformats.org/drawingml/2006/main">
              <a:ext uri="{FF2B5EF4-FFF2-40B4-BE49-F238E27FC236}">
                <a16:creationId xmlns:a16="http://schemas.microsoft.com/office/drawing/2014/main" id="{4C4411CF-62BA-49EF-B9DD-59FDCAD22F7E}"/>
              </a:ext>
            </a:extLst>
          </p:cNvPr>
          <p:cNvSpPr>
            <a:spLocks xmlns:a="http://schemas.openxmlformats.org/drawingml/2006/main" noGrp="1"/>
          </p:cNvSpPr>
          <p:nvPr/>
        </p:nvSpPr>
        <p:spPr>
          <a:xfrm xmlns:a="http://schemas.openxmlformats.org/drawingml/2006/main">
            <a:off x="6638925" y="2019300"/>
            <a:ext cx="2281238"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2D06A02F-B14B-461F-96F2-CE3CAD76D35D}"/>
              </a:ext>
            </a:extLst>
          </p:cNvPr>
          <p:cNvSpPr>
            <a:spLocks xmlns:a="http://schemas.openxmlformats.org/drawingml/2006/main" noGrp="1"/>
          </p:cNvSpPr>
          <p:nvPr/>
        </p:nvSpPr>
        <p:spPr>
          <a:xfrm xmlns:a="http://schemas.openxmlformats.org/drawingml/2006/main">
            <a:off x="6772275" y="2190750"/>
            <a:ext cx="2014538"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Folge 2</a:t>
            </a:r>
          </a:p>
        </p:txBody>
      </p:sp>
      <p:sp>
        <p:nvSpPr>
          <p:cNvPr id="15" name="">
            <a:extLst xmlns:a="http://schemas.openxmlformats.org/drawingml/2006/main">
              <a:ext uri="{FF2B5EF4-FFF2-40B4-BE49-F238E27FC236}">
                <a16:creationId xmlns:a16="http://schemas.microsoft.com/office/drawing/2014/main" id="{C952A2C4-EA04-4202-AE6F-950DF87DF45B}"/>
              </a:ext>
            </a:extLst>
          </p:cNvPr>
          <p:cNvSpPr>
            <a:spLocks xmlns:a="http://schemas.openxmlformats.org/drawingml/2006/main" noGrp="1"/>
          </p:cNvSpPr>
          <p:nvPr/>
        </p:nvSpPr>
        <p:spPr>
          <a:xfrm xmlns:a="http://schemas.openxmlformats.org/drawingml/2006/main">
            <a:off x="6772275" y="2571750"/>
            <a:ext cx="2014538"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90">
                <a:solidFill>
                  <a:srgbClr val="15232B"/>
                </a:solidFill>
              </a:defRPr>
            </a:pPr>
            <a:r>
              <a:rPr sz="990">
                <a:solidFill>
                  <a:srgbClr val="15232B"/>
                </a:solidFill>
              </a:rPr>
              <a:t>Patientenverfügung, DNR und mutmaßlicher Wille · Termin 10</a:t>
            </a:r>
          </a:p>
        </p:txBody>
      </p:sp>
      <p:sp>
        <p:nvSpPr>
          <p:cNvPr id="16" name="">
            <a:extLst xmlns:a="http://schemas.openxmlformats.org/drawingml/2006/main">
              <a:ext uri="{FF2B5EF4-FFF2-40B4-BE49-F238E27FC236}">
                <a16:creationId xmlns:a16="http://schemas.microsoft.com/office/drawing/2014/main" id="{B82D0133-6B23-4EE3-B579-12C0280BA02C}"/>
              </a:ext>
            </a:extLst>
          </p:cNvPr>
          <p:cNvSpPr>
            <a:spLocks xmlns:a="http://schemas.openxmlformats.org/drawingml/2006/main" noGrp="1"/>
          </p:cNvSpPr>
          <p:nvPr/>
        </p:nvSpPr>
        <p:spPr>
          <a:xfrm xmlns:a="http://schemas.openxmlformats.org/drawingml/2006/main">
            <a:off x="9053513" y="2019300"/>
            <a:ext cx="2281238" cy="1428750"/>
          </a:xfrm>
          <a:prstGeom xmlns:a="http://schemas.openxmlformats.org/drawingml/2006/main" prst="roundRect">
            <a:avLst>
              <a:gd name="adj" fmla="val 5333"/>
            </a:avLst>
          </a:prstGeom>
          <a:noFill xmlns:a="http://schemas.openxmlformats.org/drawingml/2006/main"/>
          <a:ln xmlns:a="http://schemas.openxmlformats.org/drawingml/2006/main" w="11430">
            <a:solidFill>
              <a:srgbClr val="003F6B"/>
            </a:solidFill>
            <a:prstDash val="solid"/>
          </a:ln>
        </p:spPr>
      </p:sp>
      <p:sp>
        <p:nvSpPr>
          <p:cNvPr id="17" name="">
            <a:extLst xmlns:a="http://schemas.openxmlformats.org/drawingml/2006/main">
              <a:ext uri="{FF2B5EF4-FFF2-40B4-BE49-F238E27FC236}">
                <a16:creationId xmlns:a16="http://schemas.microsoft.com/office/drawing/2014/main" id="{57097688-D2D7-40BD-921D-E93DC1B0965E}"/>
              </a:ext>
            </a:extLst>
          </p:cNvPr>
          <p:cNvSpPr>
            <a:spLocks xmlns:a="http://schemas.openxmlformats.org/drawingml/2006/main" noGrp="1"/>
          </p:cNvSpPr>
          <p:nvPr/>
        </p:nvSpPr>
        <p:spPr>
          <a:xfrm xmlns:a="http://schemas.openxmlformats.org/drawingml/2006/main">
            <a:off x="9053513" y="2019300"/>
            <a:ext cx="2281238"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DDAA5240-2B57-4796-991C-82C986B99D8E}"/>
              </a:ext>
            </a:extLst>
          </p:cNvPr>
          <p:cNvSpPr>
            <a:spLocks xmlns:a="http://schemas.openxmlformats.org/drawingml/2006/main" noGrp="1"/>
          </p:cNvSpPr>
          <p:nvPr/>
        </p:nvSpPr>
        <p:spPr>
          <a:xfrm xmlns:a="http://schemas.openxmlformats.org/drawingml/2006/main">
            <a:off x="9186863" y="2190750"/>
            <a:ext cx="2014538"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Kurzvisite</a:t>
            </a:r>
          </a:p>
        </p:txBody>
      </p:sp>
      <p:sp>
        <p:nvSpPr>
          <p:cNvPr id="19" name="">
            <a:extLst xmlns:a="http://schemas.openxmlformats.org/drawingml/2006/main">
              <a:ext uri="{FF2B5EF4-FFF2-40B4-BE49-F238E27FC236}">
                <a16:creationId xmlns:a16="http://schemas.microsoft.com/office/drawing/2014/main" id="{BE011DE2-FA00-481A-BEA7-DF4A05CD9E4E}"/>
              </a:ext>
            </a:extLst>
          </p:cNvPr>
          <p:cNvSpPr>
            <a:spLocks xmlns:a="http://schemas.openxmlformats.org/drawingml/2006/main" noGrp="1"/>
          </p:cNvSpPr>
          <p:nvPr/>
        </p:nvSpPr>
        <p:spPr>
          <a:xfrm xmlns:a="http://schemas.openxmlformats.org/drawingml/2006/main">
            <a:off x="9186863" y="2571750"/>
            <a:ext cx="2014538"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90">
                <a:solidFill>
                  <a:srgbClr val="15232B"/>
                </a:solidFill>
              </a:defRPr>
            </a:pPr>
            <a:r>
              <a:rPr sz="990">
                <a:solidFill>
                  <a:srgbClr val="15232B"/>
                </a:solidFill>
              </a:rPr>
              <a:t>Der Erlanger-Baby-Fall · Termine 1 und 14</a:t>
            </a:r>
          </a:p>
        </p:txBody>
      </p:sp>
      <p:sp>
        <p:nvSpPr>
          <p:cNvPr id="20" name="">
            <a:extLst xmlns:a="http://schemas.openxmlformats.org/drawingml/2006/main">
              <a:ext uri="{FF2B5EF4-FFF2-40B4-BE49-F238E27FC236}">
                <a16:creationId xmlns:a16="http://schemas.microsoft.com/office/drawing/2014/main" id="{A0B43F09-DEFA-409C-8EE2-F55010EF9DB9}"/>
              </a:ext>
            </a:extLst>
          </p:cNvPr>
          <p:cNvSpPr>
            <a:spLocks xmlns:a="http://schemas.openxmlformats.org/drawingml/2006/main" noGrp="1"/>
          </p:cNvSpPr>
          <p:nvPr/>
        </p:nvSpPr>
        <p:spPr>
          <a:xfrm xmlns:a="http://schemas.openxmlformats.org/drawingml/2006/main">
            <a:off x="1809750" y="3562350"/>
            <a:ext cx="2281238" cy="1428750"/>
          </a:xfrm>
          <a:prstGeom xmlns:a="http://schemas.openxmlformats.org/drawingml/2006/main" prst="roundRect">
            <a:avLst>
              <a:gd name="adj" fmla="val 5333"/>
            </a:avLst>
          </a:prstGeom>
          <a:noFill xmlns:a="http://schemas.openxmlformats.org/drawingml/2006/main"/>
          <a:ln xmlns:a="http://schemas.openxmlformats.org/drawingml/2006/main" w="11430">
            <a:solidFill>
              <a:srgbClr val="00B2BB"/>
            </a:solidFill>
            <a:prstDash val="solid"/>
          </a:ln>
        </p:spPr>
      </p:sp>
      <p:sp>
        <p:nvSpPr>
          <p:cNvPr id="21" name="">
            <a:extLst xmlns:a="http://schemas.openxmlformats.org/drawingml/2006/main">
              <a:ext uri="{FF2B5EF4-FFF2-40B4-BE49-F238E27FC236}">
                <a16:creationId xmlns:a16="http://schemas.microsoft.com/office/drawing/2014/main" id="{923D47BE-4ABF-4332-948A-41F00F165E2D}"/>
              </a:ext>
            </a:extLst>
          </p:cNvPr>
          <p:cNvSpPr>
            <a:spLocks xmlns:a="http://schemas.openxmlformats.org/drawingml/2006/main" noGrp="1"/>
          </p:cNvSpPr>
          <p:nvPr/>
        </p:nvSpPr>
        <p:spPr>
          <a:xfrm xmlns:a="http://schemas.openxmlformats.org/drawingml/2006/main">
            <a:off x="1809750" y="3562350"/>
            <a:ext cx="2281238"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22" name="">
            <a:extLst xmlns:a="http://schemas.openxmlformats.org/drawingml/2006/main">
              <a:ext uri="{FF2B5EF4-FFF2-40B4-BE49-F238E27FC236}">
                <a16:creationId xmlns:a16="http://schemas.microsoft.com/office/drawing/2014/main" id="{66F111A9-151C-46CB-B4A2-FF75F2701A06}"/>
              </a:ext>
            </a:extLst>
          </p:cNvPr>
          <p:cNvSpPr>
            <a:spLocks xmlns:a="http://schemas.openxmlformats.org/drawingml/2006/main" noGrp="1"/>
          </p:cNvSpPr>
          <p:nvPr/>
        </p:nvSpPr>
        <p:spPr>
          <a:xfrm xmlns:a="http://schemas.openxmlformats.org/drawingml/2006/main">
            <a:off x="1943100" y="3733800"/>
            <a:ext cx="2014538"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Folge 3</a:t>
            </a:r>
          </a:p>
        </p:txBody>
      </p:sp>
      <p:sp>
        <p:nvSpPr>
          <p:cNvPr id="23" name="">
            <a:extLst xmlns:a="http://schemas.openxmlformats.org/drawingml/2006/main">
              <a:ext uri="{FF2B5EF4-FFF2-40B4-BE49-F238E27FC236}">
                <a16:creationId xmlns:a16="http://schemas.microsoft.com/office/drawing/2014/main" id="{ED232C0A-C365-45DB-9CE0-A440A426F9B5}"/>
              </a:ext>
            </a:extLst>
          </p:cNvPr>
          <p:cNvSpPr>
            <a:spLocks xmlns:a="http://schemas.openxmlformats.org/drawingml/2006/main" noGrp="1"/>
          </p:cNvSpPr>
          <p:nvPr/>
        </p:nvSpPr>
        <p:spPr>
          <a:xfrm xmlns:a="http://schemas.openxmlformats.org/drawingml/2006/main">
            <a:off x="1943100" y="4114800"/>
            <a:ext cx="2014538"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90">
                <a:solidFill>
                  <a:srgbClr val="15232B"/>
                </a:solidFill>
              </a:defRPr>
            </a:pPr>
            <a:r>
              <a:rPr sz="990">
                <a:solidFill>
                  <a:srgbClr val="15232B"/>
                </a:solidFill>
              </a:rPr>
              <a:t>Aufklärung, Sprache und Dokumentation · Termine 2–4</a:t>
            </a:r>
          </a:p>
        </p:txBody>
      </p:sp>
      <p:sp>
        <p:nvSpPr>
          <p:cNvPr id="24" name="">
            <a:extLst xmlns:a="http://schemas.openxmlformats.org/drawingml/2006/main">
              <a:ext uri="{FF2B5EF4-FFF2-40B4-BE49-F238E27FC236}">
                <a16:creationId xmlns:a16="http://schemas.microsoft.com/office/drawing/2014/main" id="{35CFDBED-E2FC-4A5E-B21C-3AB8171F6D00}"/>
              </a:ext>
            </a:extLst>
          </p:cNvPr>
          <p:cNvSpPr>
            <a:spLocks xmlns:a="http://schemas.openxmlformats.org/drawingml/2006/main" noGrp="1"/>
          </p:cNvSpPr>
          <p:nvPr/>
        </p:nvSpPr>
        <p:spPr>
          <a:xfrm xmlns:a="http://schemas.openxmlformats.org/drawingml/2006/main">
            <a:off x="4224338" y="3562350"/>
            <a:ext cx="2281238" cy="1428750"/>
          </a:xfrm>
          <a:prstGeom xmlns:a="http://schemas.openxmlformats.org/drawingml/2006/main" prst="roundRect">
            <a:avLst>
              <a:gd name="adj" fmla="val 5333"/>
            </a:avLst>
          </a:prstGeom>
          <a:noFill xmlns:a="http://schemas.openxmlformats.org/drawingml/2006/main"/>
          <a:ln xmlns:a="http://schemas.openxmlformats.org/drawingml/2006/main" w="11430">
            <a:solidFill>
              <a:srgbClr val="003F6B"/>
            </a:solidFill>
            <a:prstDash val="solid"/>
          </a:ln>
        </p:spPr>
      </p:sp>
      <p:sp>
        <p:nvSpPr>
          <p:cNvPr id="25" name="">
            <a:extLst xmlns:a="http://schemas.openxmlformats.org/drawingml/2006/main">
              <a:ext uri="{FF2B5EF4-FFF2-40B4-BE49-F238E27FC236}">
                <a16:creationId xmlns:a16="http://schemas.microsoft.com/office/drawing/2014/main" id="{5247853F-D20C-42AB-9536-0A5DE324386D}"/>
              </a:ext>
            </a:extLst>
          </p:cNvPr>
          <p:cNvSpPr>
            <a:spLocks xmlns:a="http://schemas.openxmlformats.org/drawingml/2006/main" noGrp="1"/>
          </p:cNvSpPr>
          <p:nvPr/>
        </p:nvSpPr>
        <p:spPr>
          <a:xfrm xmlns:a="http://schemas.openxmlformats.org/drawingml/2006/main">
            <a:off x="4224338" y="3562350"/>
            <a:ext cx="2281238"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26" name="">
            <a:extLst xmlns:a="http://schemas.openxmlformats.org/drawingml/2006/main">
              <a:ext uri="{FF2B5EF4-FFF2-40B4-BE49-F238E27FC236}">
                <a16:creationId xmlns:a16="http://schemas.microsoft.com/office/drawing/2014/main" id="{46E40E00-B5D1-4D16-B173-F23EE1E39E34}"/>
              </a:ext>
            </a:extLst>
          </p:cNvPr>
          <p:cNvSpPr>
            <a:spLocks xmlns:a="http://schemas.openxmlformats.org/drawingml/2006/main" noGrp="1"/>
          </p:cNvSpPr>
          <p:nvPr/>
        </p:nvSpPr>
        <p:spPr>
          <a:xfrm xmlns:a="http://schemas.openxmlformats.org/drawingml/2006/main">
            <a:off x="4357688" y="3733800"/>
            <a:ext cx="2014538"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Folge 4 (1)</a:t>
            </a:r>
          </a:p>
        </p:txBody>
      </p:sp>
      <p:sp>
        <p:nvSpPr>
          <p:cNvPr id="27" name="">
            <a:extLst xmlns:a="http://schemas.openxmlformats.org/drawingml/2006/main">
              <a:ext uri="{FF2B5EF4-FFF2-40B4-BE49-F238E27FC236}">
                <a16:creationId xmlns:a16="http://schemas.microsoft.com/office/drawing/2014/main" id="{C7977C79-AB18-4AF7-B135-A04B945B4E93}"/>
              </a:ext>
            </a:extLst>
          </p:cNvPr>
          <p:cNvSpPr>
            <a:spLocks xmlns:a="http://schemas.openxmlformats.org/drawingml/2006/main" noGrp="1"/>
          </p:cNvSpPr>
          <p:nvPr/>
        </p:nvSpPr>
        <p:spPr>
          <a:xfrm xmlns:a="http://schemas.openxmlformats.org/drawingml/2006/main">
            <a:off x="4357688" y="4114800"/>
            <a:ext cx="2014538"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90">
                <a:solidFill>
                  <a:srgbClr val="15232B"/>
                </a:solidFill>
              </a:defRPr>
            </a:pPr>
            <a:r>
              <a:rPr sz="990">
                <a:solidFill>
                  <a:srgbClr val="15232B"/>
                </a:solidFill>
              </a:rPr>
              <a:t>Freiheitsentzug bei Kindern und Jugendlichen · Termin 10</a:t>
            </a:r>
          </a:p>
        </p:txBody>
      </p:sp>
      <p:sp>
        <p:nvSpPr>
          <p:cNvPr id="28" name="">
            <a:extLst xmlns:a="http://schemas.openxmlformats.org/drawingml/2006/main">
              <a:ext uri="{FF2B5EF4-FFF2-40B4-BE49-F238E27FC236}">
                <a16:creationId xmlns:a16="http://schemas.microsoft.com/office/drawing/2014/main" id="{AEC5D8CE-1493-4BD1-BE14-08DEB8300173}"/>
              </a:ext>
            </a:extLst>
          </p:cNvPr>
          <p:cNvSpPr>
            <a:spLocks xmlns:a="http://schemas.openxmlformats.org/drawingml/2006/main" noGrp="1"/>
          </p:cNvSpPr>
          <p:nvPr/>
        </p:nvSpPr>
        <p:spPr>
          <a:xfrm xmlns:a="http://schemas.openxmlformats.org/drawingml/2006/main">
            <a:off x="6638925" y="3562350"/>
            <a:ext cx="2281238" cy="1428750"/>
          </a:xfrm>
          <a:prstGeom xmlns:a="http://schemas.openxmlformats.org/drawingml/2006/main" prst="roundRect">
            <a:avLst>
              <a:gd name="adj" fmla="val 5333"/>
            </a:avLst>
          </a:prstGeom>
          <a:noFill xmlns:a="http://schemas.openxmlformats.org/drawingml/2006/main"/>
          <a:ln xmlns:a="http://schemas.openxmlformats.org/drawingml/2006/main" w="11430">
            <a:solidFill>
              <a:srgbClr val="00B2BB"/>
            </a:solidFill>
            <a:prstDash val="solid"/>
          </a:ln>
        </p:spPr>
      </p:sp>
      <p:sp>
        <p:nvSpPr>
          <p:cNvPr id="29" name="">
            <a:extLst xmlns:a="http://schemas.openxmlformats.org/drawingml/2006/main">
              <a:ext uri="{FF2B5EF4-FFF2-40B4-BE49-F238E27FC236}">
                <a16:creationId xmlns:a16="http://schemas.microsoft.com/office/drawing/2014/main" id="{1792907E-6166-4FBC-B4B6-447D2E661E92}"/>
              </a:ext>
            </a:extLst>
          </p:cNvPr>
          <p:cNvSpPr>
            <a:spLocks xmlns:a="http://schemas.openxmlformats.org/drawingml/2006/main" noGrp="1"/>
          </p:cNvSpPr>
          <p:nvPr/>
        </p:nvSpPr>
        <p:spPr>
          <a:xfrm xmlns:a="http://schemas.openxmlformats.org/drawingml/2006/main">
            <a:off x="6638925" y="3562350"/>
            <a:ext cx="2281238"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30" name="">
            <a:extLst xmlns:a="http://schemas.openxmlformats.org/drawingml/2006/main">
              <a:ext uri="{FF2B5EF4-FFF2-40B4-BE49-F238E27FC236}">
                <a16:creationId xmlns:a16="http://schemas.microsoft.com/office/drawing/2014/main" id="{760D1F35-3CBA-422C-AB02-990C8FE03C33}"/>
              </a:ext>
            </a:extLst>
          </p:cNvPr>
          <p:cNvSpPr>
            <a:spLocks xmlns:a="http://schemas.openxmlformats.org/drawingml/2006/main" noGrp="1"/>
          </p:cNvSpPr>
          <p:nvPr/>
        </p:nvSpPr>
        <p:spPr>
          <a:xfrm xmlns:a="http://schemas.openxmlformats.org/drawingml/2006/main">
            <a:off x="6772275" y="3733800"/>
            <a:ext cx="2014538"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Folge 4 (2)</a:t>
            </a:r>
          </a:p>
        </p:txBody>
      </p:sp>
      <p:sp>
        <p:nvSpPr>
          <p:cNvPr id="31" name="">
            <a:extLst xmlns:a="http://schemas.openxmlformats.org/drawingml/2006/main">
              <a:ext uri="{FF2B5EF4-FFF2-40B4-BE49-F238E27FC236}">
                <a16:creationId xmlns:a16="http://schemas.microsoft.com/office/drawing/2014/main" id="{16ADC96C-047D-4664-AEB7-025ABE4C0DE1}"/>
              </a:ext>
            </a:extLst>
          </p:cNvPr>
          <p:cNvSpPr>
            <a:spLocks xmlns:a="http://schemas.openxmlformats.org/drawingml/2006/main" noGrp="1"/>
          </p:cNvSpPr>
          <p:nvPr/>
        </p:nvSpPr>
        <p:spPr>
          <a:xfrm xmlns:a="http://schemas.openxmlformats.org/drawingml/2006/main">
            <a:off x="6772275" y="4114800"/>
            <a:ext cx="2014538"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90">
                <a:solidFill>
                  <a:srgbClr val="15232B"/>
                </a:solidFill>
              </a:defRPr>
            </a:pPr>
            <a:r>
              <a:rPr sz="990">
                <a:solidFill>
                  <a:srgbClr val="15232B"/>
                </a:solidFill>
              </a:rPr>
              <a:t>Freiheitsentzug bei Erwachsenen · Termin 10</a:t>
            </a:r>
          </a:p>
        </p:txBody>
      </p:sp>
      <p:sp>
        <p:nvSpPr>
          <p:cNvPr id="32" name="">
            <a:extLst xmlns:a="http://schemas.openxmlformats.org/drawingml/2006/main">
              <a:ext uri="{FF2B5EF4-FFF2-40B4-BE49-F238E27FC236}">
                <a16:creationId xmlns:a16="http://schemas.microsoft.com/office/drawing/2014/main" id="{EA5578F0-2AF5-4D88-85C3-DAC79F22544E}"/>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585">
                <a:solidFill>
                  <a:srgbClr val="667680"/>
                </a:solidFill>
              </a:defRPr>
            </a:pPr>
            <a:r>
              <a:rPr sz="585">
                <a:solidFill>
                  <a:srgbClr val="667680"/>
                </a:solidFill>
              </a:rPr>
              <a:t>Apple Podcasts / Podcast.de, Recht Medizinisch; zuletzt geprüft am 25.08.2026 · https://podcasts.apple.com/at/podcast/recht-medizinisch/id1896818482 · https://www.podcast.de/episode/705488168/folge-4-2-freiheitsentziehende-massnahmen-beim-erwachsenen</a:t>
            </a:r>
          </a:p>
        </p:txBody>
      </p:sp>
    </p:spTree>
    <p:extLst>
      <p:ext uri="{BB962C8B-B14F-4D97-AF65-F5344CB8AC3E}">
        <p14:creationId xmlns:p14="http://schemas.microsoft.com/office/powerpoint/2010/main" val="43637646"/>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Neu: „Ultima Ratio“ wird zum Falllabor für Freiheitsentziehung bei Minderjährigen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NEUE PODCASTFOLGE · FOLGE 4 (1)</a:t>
            </a:r>
            <a:endParaRPr/>
          </a:p>
        </p:txBody>
      </p:sp>
      <p:sp>
        <p:nvSpPr>
          <p:cNvPr id="4" name="">
            <a:extLst xmlns:a="http://schemas.openxmlformats.org/drawingml/2006/main">
              <a:ext uri="{FF2B5EF4-FFF2-40B4-BE49-F238E27FC236}">
                <a16:creationId xmlns:a16="http://schemas.microsoft.com/office/drawing/2014/main" id="{22997744-541B-4263-ADFB-108B926830D9}"/>
              </a:ext>
            </a:extLst>
          </p:cNvPr>
          <p:cNvSpPr>
            <a:spLocks xmlns:a="http://schemas.openxmlformats.org/drawingml/2006/main" noGrp="1"/>
          </p:cNvSpPr>
          <p:nvPr/>
        </p:nvSpPr>
        <p:spPr>
          <a:xfrm xmlns:a="http://schemas.openxmlformats.org/drawingml/2006/main">
            <a:off x="1809750" y="1943100"/>
            <a:ext cx="2190750" cy="419100"/>
          </a:xfrm>
          <a:prstGeom xmlns:a="http://schemas.openxmlformats.org/drawingml/2006/main" prst="roundRect">
            <a:avLst>
              <a:gd name="adj" fmla="val 18182"/>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B3D65707-6C00-4F30-8BB5-39267E038D74}"/>
              </a:ext>
            </a:extLst>
          </p:cNvPr>
          <p:cNvSpPr>
            <a:spLocks xmlns:a="http://schemas.openxmlformats.org/drawingml/2006/main" noGrp="1"/>
          </p:cNvSpPr>
          <p:nvPr/>
        </p:nvSpPr>
        <p:spPr>
          <a:xfrm xmlns:a="http://schemas.openxmlformats.org/drawingml/2006/main">
            <a:off x="1809750" y="1943100"/>
            <a:ext cx="2190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RECHT MEDIZINISCH</a:t>
            </a:r>
          </a:p>
        </p:txBody>
      </p:sp>
      <p:sp>
        <p:nvSpPr>
          <p:cNvPr id="6" name="">
            <a:extLst xmlns:a="http://schemas.openxmlformats.org/drawingml/2006/main">
              <a:ext uri="{FF2B5EF4-FFF2-40B4-BE49-F238E27FC236}">
                <a16:creationId xmlns:a16="http://schemas.microsoft.com/office/drawing/2014/main" id="{4BA16928-7710-4449-91BE-5CF55D8E25B1}"/>
              </a:ext>
            </a:extLst>
          </p:cNvPr>
          <p:cNvSpPr>
            <a:spLocks xmlns:a="http://schemas.openxmlformats.org/drawingml/2006/main" noGrp="1"/>
          </p:cNvSpPr>
          <p:nvPr/>
        </p:nvSpPr>
        <p:spPr>
          <a:xfrm xmlns:a="http://schemas.openxmlformats.org/drawingml/2006/main">
            <a:off x="4191000" y="1943100"/>
            <a:ext cx="714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425" b="1">
                <a:solidFill>
                  <a:srgbClr val="003F6B"/>
                </a:solidFill>
              </a:defRPr>
            </a:pPr>
            <a:r>
              <a:rPr sz="1425" b="1">
                <a:solidFill>
                  <a:srgbClr val="003F6B"/>
                </a:solidFill>
              </a:rPr>
              <a:t>Folge 4 (1) – Ultima Ratio</a:t>
            </a:r>
          </a:p>
        </p:txBody>
      </p:sp>
      <p:sp>
        <p:nvSpPr>
          <p:cNvPr id="7" name="">
            <a:extLst xmlns:a="http://schemas.openxmlformats.org/drawingml/2006/main">
              <a:ext uri="{FF2B5EF4-FFF2-40B4-BE49-F238E27FC236}">
                <a16:creationId xmlns:a16="http://schemas.microsoft.com/office/drawing/2014/main" id="{82421044-E53D-403B-A2D6-89A1A034072C}"/>
              </a:ext>
            </a:extLst>
          </p:cNvPr>
          <p:cNvSpPr>
            <a:spLocks xmlns:a="http://schemas.openxmlformats.org/drawingml/2006/main" noGrp="1"/>
          </p:cNvSpPr>
          <p:nvPr/>
        </p:nvSpPr>
        <p:spPr>
          <a:xfrm xmlns:a="http://schemas.openxmlformats.org/drawingml/2006/main">
            <a:off x="1809750" y="2571750"/>
            <a:ext cx="9525000" cy="914400"/>
          </a:xfrm>
          <a:prstGeom xmlns:a="http://schemas.openxmlformats.org/drawingml/2006/main" prst="roundRect">
            <a:avLst>
              <a:gd name="adj" fmla="val 8333"/>
            </a:avLst>
          </a:prstGeom>
          <a:solidFill xmlns:a="http://schemas.openxmlformats.org/drawingml/2006/main">
            <a:srgbClr val="EAF6FB"/>
          </a:solidFill>
          <a:ln xmlns:a="http://schemas.openxmlformats.org/drawingml/2006/main" w="11430">
            <a:solidFill>
              <a:srgbClr val="00B2BB"/>
            </a:solidFill>
            <a:prstDash val="solid"/>
          </a:ln>
        </p:spPr>
      </p:sp>
      <p:sp>
        <p:nvSpPr>
          <p:cNvPr id="8" name="">
            <a:extLst xmlns:a="http://schemas.openxmlformats.org/drawingml/2006/main">
              <a:ext uri="{FF2B5EF4-FFF2-40B4-BE49-F238E27FC236}">
                <a16:creationId xmlns:a16="http://schemas.microsoft.com/office/drawing/2014/main" id="{BCDFBA35-F644-48BC-ABB8-AF99F20CE7EC}"/>
              </a:ext>
            </a:extLst>
          </p:cNvPr>
          <p:cNvSpPr>
            <a:spLocks xmlns:a="http://schemas.openxmlformats.org/drawingml/2006/main" noGrp="1"/>
          </p:cNvSpPr>
          <p:nvPr/>
        </p:nvSpPr>
        <p:spPr>
          <a:xfrm xmlns:a="http://schemas.openxmlformats.org/drawingml/2006/main">
            <a:off x="2000250" y="2686050"/>
            <a:ext cx="914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00">
                <a:solidFill>
                  <a:srgbClr val="15232B"/>
                </a:solidFill>
              </a:defRPr>
            </a:pPr>
            <a:r>
              <a:rPr sz="1200">
                <a:solidFill>
                  <a:srgbClr val="15232B"/>
                </a:solidFill>
              </a:rPr>
              <a:t>Fixierung, Unterbringung oder sedierende Medikation sind keine bloßen Stationsroutinen: Bei Kindern und Jugendlichen treffen Gefahrenabwehr, Sorgeberechtigung, eigener Wille, Familiengericht und Verhältnismäßigkeit aufeinander.</a:t>
            </a:r>
          </a:p>
        </p:txBody>
      </p:sp>
      <p:sp>
        <p:nvSpPr>
          <p:cNvPr id="9" name="">
            <a:extLst xmlns:a="http://schemas.openxmlformats.org/drawingml/2006/main">
              <a:ext uri="{FF2B5EF4-FFF2-40B4-BE49-F238E27FC236}">
                <a16:creationId xmlns:a16="http://schemas.microsoft.com/office/drawing/2014/main" id="{641370F7-416E-4544-B9B8-CE717A20941C}"/>
              </a:ext>
            </a:extLst>
          </p:cNvPr>
          <p:cNvSpPr>
            <a:spLocks xmlns:a="http://schemas.openxmlformats.org/drawingml/2006/main" noGrp="1"/>
          </p:cNvSpPr>
          <p:nvPr/>
        </p:nvSpPr>
        <p:spPr>
          <a:xfrm xmlns:a="http://schemas.openxmlformats.org/drawingml/2006/main">
            <a:off x="1809750" y="3714750"/>
            <a:ext cx="40005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0" name="">
            <a:extLst xmlns:a="http://schemas.openxmlformats.org/drawingml/2006/main">
              <a:ext uri="{FF2B5EF4-FFF2-40B4-BE49-F238E27FC236}">
                <a16:creationId xmlns:a16="http://schemas.microsoft.com/office/drawing/2014/main" id="{90091458-EA25-43B0-94F3-1CDAF634F907}"/>
              </a:ext>
            </a:extLst>
          </p:cNvPr>
          <p:cNvSpPr>
            <a:spLocks xmlns:a="http://schemas.openxmlformats.org/drawingml/2006/main" noGrp="1"/>
          </p:cNvSpPr>
          <p:nvPr/>
        </p:nvSpPr>
        <p:spPr>
          <a:xfrm xmlns:a="http://schemas.openxmlformats.org/drawingml/2006/main">
            <a:off x="1809750" y="37147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11" name="">
            <a:extLst xmlns:a="http://schemas.openxmlformats.org/drawingml/2006/main">
              <a:ext uri="{FF2B5EF4-FFF2-40B4-BE49-F238E27FC236}">
                <a16:creationId xmlns:a16="http://schemas.microsoft.com/office/drawing/2014/main" id="{F74347F9-FAFC-4A1F-AB42-12CA519388FA}"/>
              </a:ext>
            </a:extLst>
          </p:cNvPr>
          <p:cNvSpPr>
            <a:spLocks xmlns:a="http://schemas.openxmlformats.org/drawingml/2006/main" noGrp="1"/>
          </p:cNvSpPr>
          <p:nvPr/>
        </p:nvSpPr>
        <p:spPr>
          <a:xfrm xmlns:a="http://schemas.openxmlformats.org/drawingml/2006/main">
            <a:off x="2381250" y="3695700"/>
            <a:ext cx="895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25">
                <a:solidFill>
                  <a:srgbClr val="15232B"/>
                </a:solidFill>
              </a:defRPr>
            </a:pPr>
            <a:r>
              <a:rPr sz="1125">
                <a:solidFill>
                  <a:srgbClr val="15232B"/>
                </a:solidFill>
              </a:rPr>
              <a:t>Welche Maßnahme ist tatsächlich freiheitsentziehend – und welche Rechtsgrundlage passt?</a:t>
            </a:r>
          </a:p>
        </p:txBody>
      </p:sp>
      <p:sp>
        <p:nvSpPr>
          <p:cNvPr id="12" name="">
            <a:extLst xmlns:a="http://schemas.openxmlformats.org/drawingml/2006/main">
              <a:ext uri="{FF2B5EF4-FFF2-40B4-BE49-F238E27FC236}">
                <a16:creationId xmlns:a16="http://schemas.microsoft.com/office/drawing/2014/main" id="{B902480C-96B4-4B9A-BD21-FD823B865CA7}"/>
              </a:ext>
            </a:extLst>
          </p:cNvPr>
          <p:cNvSpPr>
            <a:spLocks xmlns:a="http://schemas.openxmlformats.org/drawingml/2006/main" noGrp="1"/>
          </p:cNvSpPr>
          <p:nvPr/>
        </p:nvSpPr>
        <p:spPr>
          <a:xfrm xmlns:a="http://schemas.openxmlformats.org/drawingml/2006/main">
            <a:off x="1809750" y="4286250"/>
            <a:ext cx="4000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3" name="">
            <a:extLst xmlns:a="http://schemas.openxmlformats.org/drawingml/2006/main">
              <a:ext uri="{FF2B5EF4-FFF2-40B4-BE49-F238E27FC236}">
                <a16:creationId xmlns:a16="http://schemas.microsoft.com/office/drawing/2014/main" id="{EBFB461A-B2BB-47F9-8E03-0F26FC232959}"/>
              </a:ext>
            </a:extLst>
          </p:cNvPr>
          <p:cNvSpPr>
            <a:spLocks xmlns:a="http://schemas.openxmlformats.org/drawingml/2006/main" noGrp="1"/>
          </p:cNvSpPr>
          <p:nvPr/>
        </p:nvSpPr>
        <p:spPr>
          <a:xfrm xmlns:a="http://schemas.openxmlformats.org/drawingml/2006/main">
            <a:off x="1809750" y="42862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4" name="">
            <a:extLst xmlns:a="http://schemas.openxmlformats.org/drawingml/2006/main">
              <a:ext uri="{FF2B5EF4-FFF2-40B4-BE49-F238E27FC236}">
                <a16:creationId xmlns:a16="http://schemas.microsoft.com/office/drawing/2014/main" id="{4D6EC723-DDEC-4BC8-A7B7-0344062BF275}"/>
              </a:ext>
            </a:extLst>
          </p:cNvPr>
          <p:cNvSpPr>
            <a:spLocks xmlns:a="http://schemas.openxmlformats.org/drawingml/2006/main" noGrp="1"/>
          </p:cNvSpPr>
          <p:nvPr/>
        </p:nvSpPr>
        <p:spPr>
          <a:xfrm xmlns:a="http://schemas.openxmlformats.org/drawingml/2006/main">
            <a:off x="2381250" y="4267200"/>
            <a:ext cx="895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25">
                <a:solidFill>
                  <a:srgbClr val="15232B"/>
                </a:solidFill>
              </a:defRPr>
            </a:pPr>
            <a:r>
              <a:rPr sz="1125">
                <a:solidFill>
                  <a:srgbClr val="15232B"/>
                </a:solidFill>
              </a:rPr>
              <a:t>Wer willigt ein, wann reicht elterliche Sorge nicht und wann muss das Familiengericht entscheiden?</a:t>
            </a:r>
          </a:p>
        </p:txBody>
      </p:sp>
      <p:sp>
        <p:nvSpPr>
          <p:cNvPr id="15" name="">
            <a:extLst xmlns:a="http://schemas.openxmlformats.org/drawingml/2006/main">
              <a:ext uri="{FF2B5EF4-FFF2-40B4-BE49-F238E27FC236}">
                <a16:creationId xmlns:a16="http://schemas.microsoft.com/office/drawing/2014/main" id="{1A5EE47F-3858-4176-9EEE-64F1864E93E2}"/>
              </a:ext>
            </a:extLst>
          </p:cNvPr>
          <p:cNvSpPr>
            <a:spLocks xmlns:a="http://schemas.openxmlformats.org/drawingml/2006/main" noGrp="1"/>
          </p:cNvSpPr>
          <p:nvPr/>
        </p:nvSpPr>
        <p:spPr>
          <a:xfrm xmlns:a="http://schemas.openxmlformats.org/drawingml/2006/main">
            <a:off x="1809750" y="4857750"/>
            <a:ext cx="40005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6" name="">
            <a:extLst xmlns:a="http://schemas.openxmlformats.org/drawingml/2006/main">
              <a:ext uri="{FF2B5EF4-FFF2-40B4-BE49-F238E27FC236}">
                <a16:creationId xmlns:a16="http://schemas.microsoft.com/office/drawing/2014/main" id="{1BAC03AA-A699-4374-A2C6-4CB740170C91}"/>
              </a:ext>
            </a:extLst>
          </p:cNvPr>
          <p:cNvSpPr>
            <a:spLocks xmlns:a="http://schemas.openxmlformats.org/drawingml/2006/main" noGrp="1"/>
          </p:cNvSpPr>
          <p:nvPr/>
        </p:nvSpPr>
        <p:spPr>
          <a:xfrm xmlns:a="http://schemas.openxmlformats.org/drawingml/2006/main">
            <a:off x="1809750" y="48577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7" name="">
            <a:extLst xmlns:a="http://schemas.openxmlformats.org/drawingml/2006/main">
              <a:ext uri="{FF2B5EF4-FFF2-40B4-BE49-F238E27FC236}">
                <a16:creationId xmlns:a16="http://schemas.microsoft.com/office/drawing/2014/main" id="{A5D5F3BC-47D9-4622-95CE-82891C3D7165}"/>
              </a:ext>
            </a:extLst>
          </p:cNvPr>
          <p:cNvSpPr>
            <a:spLocks xmlns:a="http://schemas.openxmlformats.org/drawingml/2006/main" noGrp="1"/>
          </p:cNvSpPr>
          <p:nvPr/>
        </p:nvSpPr>
        <p:spPr>
          <a:xfrm xmlns:a="http://schemas.openxmlformats.org/drawingml/2006/main">
            <a:off x="2381250" y="4838700"/>
            <a:ext cx="895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25">
                <a:solidFill>
                  <a:srgbClr val="15232B"/>
                </a:solidFill>
              </a:defRPr>
            </a:pPr>
            <a:r>
              <a:rPr sz="1125">
                <a:solidFill>
                  <a:srgbClr val="15232B"/>
                </a:solidFill>
              </a:rPr>
              <a:t>Welche milderen Mittel, Kontrollen, Fristen und Dokumentationsschritte machen die Maßnahme rechtmäßig?</a:t>
            </a:r>
          </a:p>
        </p:txBody>
      </p:sp>
      <p:sp>
        <p:nvSpPr>
          <p:cNvPr id="18" name="">
            <a:extLst xmlns:a="http://schemas.openxmlformats.org/drawingml/2006/main">
              <a:ext uri="{FF2B5EF4-FFF2-40B4-BE49-F238E27FC236}">
                <a16:creationId xmlns:a16="http://schemas.microsoft.com/office/drawing/2014/main" id="{681E09D1-7E00-4A83-B5A7-1AEF4FA93537}"/>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20">
                <a:solidFill>
                  <a:srgbClr val="667680"/>
                </a:solidFill>
              </a:defRPr>
            </a:pPr>
            <a:r>
              <a:rPr sz="720">
                <a:solidFill>
                  <a:srgbClr val="667680"/>
                </a:solidFill>
              </a:rPr>
              <a:t>Recht Medizinisch, Folge 4 (1) „Ultima Ratio“, 52 Min.; Apple Podcasts, Stand 21.08.2026 · https://podcasts.apple.com/us/podcast/recht-medizinisch/id1896818482</a:t>
            </a:r>
          </a:p>
        </p:txBody>
      </p:sp>
      <p:sp>
        <p:nvSpPr>
          <p:cNvPr id="19" name="">
            <a:extLst xmlns:a="http://schemas.openxmlformats.org/drawingml/2006/main">
              <a:ext uri="{FF2B5EF4-FFF2-40B4-BE49-F238E27FC236}">
                <a16:creationId xmlns:a16="http://schemas.microsoft.com/office/drawing/2014/main" id="{DEECDE7D-3F79-4674-A0D5-7B16FC0F698C}"/>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0" name="">
            <a:extLst xmlns:a="http://schemas.openxmlformats.org/drawingml/2006/main">
              <a:ext uri="{FF2B5EF4-FFF2-40B4-BE49-F238E27FC236}">
                <a16:creationId xmlns:a16="http://schemas.microsoft.com/office/drawing/2014/main" id="{D13E90E2-F4AF-42F9-8347-7B565C964EF8}"/>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Im Kurs wird die Folge in Termin 10 mit § 1631b BGB, FamFG, Verhältnismäßigkeit und einer gerichtlichen Kurzsimulation verbunden.</a:t>
            </a:r>
          </a:p>
        </p:txBody>
      </p:sp>
    </p:spTree>
    <p:extLst>
      <p:ext uri="{BB962C8B-B14F-4D97-AF65-F5344CB8AC3E}">
        <p14:creationId xmlns:p14="http://schemas.microsoft.com/office/powerpoint/2010/main" val="43637646"/>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Leitentscheidung · Das Fragerecht gegenüber Sachverständigen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ORIGINALENTSCHEIDUNG · TERMIN 05</a:t>
            </a:r>
            <a:endParaRPr/>
          </a:p>
        </p:txBody>
      </p:sp>
      <p:sp>
        <p:nvSpPr>
          <p:cNvPr id="4" name="">
            <a:extLst xmlns:a="http://schemas.openxmlformats.org/drawingml/2006/main">
              <a:ext uri="{FF2B5EF4-FFF2-40B4-BE49-F238E27FC236}">
                <a16:creationId xmlns:a16="http://schemas.microsoft.com/office/drawing/2014/main" id="{7DF00DBF-390E-4F86-AEC7-3CB284144737}"/>
              </a:ext>
            </a:extLst>
          </p:cNvPr>
          <p:cNvSpPr>
            <a:spLocks xmlns:a="http://schemas.openxmlformats.org/drawingml/2006/main" noGrp="1"/>
          </p:cNvSpPr>
          <p:nvPr/>
        </p:nvSpPr>
        <p:spPr>
          <a:xfrm xmlns:a="http://schemas.openxmlformats.org/drawingml/2006/main">
            <a:off x="1809750" y="1943100"/>
            <a:ext cx="11239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A446497F-AA50-47B2-9E8A-C4483BD380DA}"/>
              </a:ext>
            </a:extLst>
          </p:cNvPr>
          <p:cNvSpPr>
            <a:spLocks xmlns:a="http://schemas.openxmlformats.org/drawingml/2006/main" noGrp="1"/>
          </p:cNvSpPr>
          <p:nvPr/>
        </p:nvSpPr>
        <p:spPr>
          <a:xfrm xmlns:a="http://schemas.openxmlformats.org/drawingml/2006/main">
            <a:off x="1809750" y="1943100"/>
            <a:ext cx="1123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38" b="1">
                <a:solidFill>
                  <a:srgbClr val="FFFFFF"/>
                </a:solidFill>
              </a:defRPr>
            </a:pPr>
            <a:r>
              <a:rPr sz="938" b="1">
                <a:solidFill>
                  <a:srgbClr val="FFFFFF"/>
                </a:solidFill>
              </a:rPr>
              <a:t>BGH</a:t>
            </a:r>
          </a:p>
        </p:txBody>
      </p:sp>
      <p:sp>
        <p:nvSpPr>
          <p:cNvPr id="6" name="">
            <a:extLst xmlns:a="http://schemas.openxmlformats.org/drawingml/2006/main">
              <a:ext uri="{FF2B5EF4-FFF2-40B4-BE49-F238E27FC236}">
                <a16:creationId xmlns:a16="http://schemas.microsoft.com/office/drawing/2014/main" id="{81BA724C-55AF-44EB-8F83-A6689253F1D3}"/>
              </a:ext>
            </a:extLst>
          </p:cNvPr>
          <p:cNvSpPr>
            <a:spLocks xmlns:a="http://schemas.openxmlformats.org/drawingml/2006/main" noGrp="1"/>
          </p:cNvSpPr>
          <p:nvPr/>
        </p:nvSpPr>
        <p:spPr>
          <a:xfrm xmlns:a="http://schemas.openxmlformats.org/drawingml/2006/main">
            <a:off x="312420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07.05.2019 · VI ZR 257/17</a:t>
            </a:r>
          </a:p>
        </p:txBody>
      </p:sp>
      <p:sp>
        <p:nvSpPr>
          <p:cNvPr id="7" name="">
            <a:extLst xmlns:a="http://schemas.openxmlformats.org/drawingml/2006/main">
              <a:ext uri="{FF2B5EF4-FFF2-40B4-BE49-F238E27FC236}">
                <a16:creationId xmlns:a16="http://schemas.microsoft.com/office/drawing/2014/main" id="{F2C41235-778E-4AC8-9CBE-0BF2191C1B25}"/>
              </a:ext>
            </a:extLst>
          </p:cNvPr>
          <p:cNvSpPr>
            <a:spLocks xmlns:a="http://schemas.openxmlformats.org/drawingml/2006/main" noGrp="1"/>
          </p:cNvSpPr>
          <p:nvPr/>
        </p:nvSpPr>
        <p:spPr>
          <a:xfrm xmlns:a="http://schemas.openxmlformats.org/drawingml/2006/main">
            <a:off x="733425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050">
                <a:solidFill>
                  <a:srgbClr val="667680"/>
                </a:solidFill>
              </a:defRPr>
            </a:pPr>
            <a:r>
              <a:rPr sz="1050">
                <a:solidFill>
                  <a:srgbClr val="667680"/>
                </a:solidFill>
              </a:rPr>
              <a:t>Rechtliches Gehör wird in der Anhörung praktisch</a:t>
            </a:r>
          </a:p>
        </p:txBody>
      </p:sp>
      <p:sp>
        <p:nvSpPr>
          <p:cNvPr id="8" name="">
            <a:extLst xmlns:a="http://schemas.openxmlformats.org/drawingml/2006/main">
              <a:ext uri="{FF2B5EF4-FFF2-40B4-BE49-F238E27FC236}">
                <a16:creationId xmlns:a16="http://schemas.microsoft.com/office/drawing/2014/main" id="{AC9BCB38-0CF1-449B-82E9-EF6101DEB61A}"/>
              </a:ext>
            </a:extLst>
          </p:cNvPr>
          <p:cNvSpPr>
            <a:spLocks xmlns:a="http://schemas.openxmlformats.org/drawingml/2006/main" noGrp="1"/>
          </p:cNvSpPr>
          <p:nvPr/>
        </p:nvSpPr>
        <p:spPr>
          <a:xfrm xmlns:a="http://schemas.openxmlformats.org/drawingml/2006/main">
            <a:off x="1809750" y="2533650"/>
            <a:ext cx="1676400" cy="781050"/>
          </a:xfrm>
          <a:prstGeom xmlns:a="http://schemas.openxmlformats.org/drawingml/2006/main" prst="roundRect">
            <a:avLst>
              <a:gd name="adj" fmla="val 9756"/>
            </a:avLst>
          </a:prstGeom>
          <a:solidFill xmlns:a="http://schemas.openxmlformats.org/drawingml/2006/main">
            <a:srgbClr val="00B2BB"/>
          </a:solidFill>
          <a:ln xmlns:a="http://schemas.openxmlformats.org/drawingml/2006/main" w="0">
            <a:solidFill>
              <a:srgbClr val="00B2BB"/>
            </a:solidFill>
            <a:prstDash val="solid"/>
          </a:ln>
        </p:spPr>
      </p:sp>
      <p:sp>
        <p:nvSpPr>
          <p:cNvPr id="9" name="">
            <a:extLst xmlns:a="http://schemas.openxmlformats.org/drawingml/2006/main">
              <a:ext uri="{FF2B5EF4-FFF2-40B4-BE49-F238E27FC236}">
                <a16:creationId xmlns:a16="http://schemas.microsoft.com/office/drawing/2014/main" id="{0461A3CB-29AC-4998-816B-B76F026FA478}"/>
              </a:ext>
            </a:extLst>
          </p:cNvPr>
          <p:cNvSpPr>
            <a:spLocks xmlns:a="http://schemas.openxmlformats.org/drawingml/2006/main" noGrp="1"/>
          </p:cNvSpPr>
          <p:nvPr/>
        </p:nvSpPr>
        <p:spPr>
          <a:xfrm xmlns:a="http://schemas.openxmlformats.org/drawingml/2006/main">
            <a:off x="1924050" y="25336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Ausgangsfall</a:t>
            </a:r>
          </a:p>
        </p:txBody>
      </p:sp>
      <p:sp>
        <p:nvSpPr>
          <p:cNvPr id="10" name="">
            <a:extLst xmlns:a="http://schemas.openxmlformats.org/drawingml/2006/main">
              <a:ext uri="{FF2B5EF4-FFF2-40B4-BE49-F238E27FC236}">
                <a16:creationId xmlns:a16="http://schemas.microsoft.com/office/drawing/2014/main" id="{BCC78B46-C5F6-407D-9CBA-8F2E50FA6A1E}"/>
              </a:ext>
            </a:extLst>
          </p:cNvPr>
          <p:cNvSpPr>
            <a:spLocks xmlns:a="http://schemas.openxmlformats.org/drawingml/2006/main" noGrp="1"/>
          </p:cNvSpPr>
          <p:nvPr/>
        </p:nvSpPr>
        <p:spPr>
          <a:xfrm xmlns:a="http://schemas.openxmlformats.org/drawingml/2006/main">
            <a:off x="3695700" y="25336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Eine Partei verlangte nach schriftlicher Begutachtung die mündliche Erläuterung und wollte konkrete Fragen stellen. Das Berufungsgericht sah selbst keinen weiteren Klärungsbedarf.</a:t>
            </a:r>
          </a:p>
        </p:txBody>
      </p:sp>
      <p:sp>
        <p:nvSpPr>
          <p:cNvPr id="11" name="">
            <a:extLst xmlns:a="http://schemas.openxmlformats.org/drawingml/2006/main">
              <a:ext uri="{FF2B5EF4-FFF2-40B4-BE49-F238E27FC236}">
                <a16:creationId xmlns:a16="http://schemas.microsoft.com/office/drawing/2014/main" id="{889A50FA-1057-4F85-93FB-2FFE12C46168}"/>
              </a:ext>
            </a:extLst>
          </p:cNvPr>
          <p:cNvSpPr>
            <a:spLocks xmlns:a="http://schemas.openxmlformats.org/drawingml/2006/main" noGrp="1"/>
          </p:cNvSpPr>
          <p:nvPr/>
        </p:nvSpPr>
        <p:spPr>
          <a:xfrm xmlns:a="http://schemas.openxmlformats.org/drawingml/2006/main">
            <a:off x="1809750" y="3486150"/>
            <a:ext cx="1676400" cy="781050"/>
          </a:xfrm>
          <a:prstGeom xmlns:a="http://schemas.openxmlformats.org/drawingml/2006/main" prst="roundRect">
            <a:avLst>
              <a:gd name="adj" fmla="val 9756"/>
            </a:avLst>
          </a:prstGeom>
          <a:solidFill xmlns:a="http://schemas.openxmlformats.org/drawingml/2006/main">
            <a:srgbClr val="003F6B"/>
          </a:solidFill>
          <a:ln xmlns:a="http://schemas.openxmlformats.org/drawingml/2006/main" w="0">
            <a:solidFill>
              <a:srgbClr val="003F6B"/>
            </a:solidFill>
            <a:prstDash val="solid"/>
          </a:ln>
        </p:spPr>
      </p:sp>
      <p:sp>
        <p:nvSpPr>
          <p:cNvPr id="12" name="">
            <a:extLst xmlns:a="http://schemas.openxmlformats.org/drawingml/2006/main">
              <a:ext uri="{FF2B5EF4-FFF2-40B4-BE49-F238E27FC236}">
                <a16:creationId xmlns:a16="http://schemas.microsoft.com/office/drawing/2014/main" id="{17B05E0D-4D6A-445D-8706-D051F50E12DE}"/>
              </a:ext>
            </a:extLst>
          </p:cNvPr>
          <p:cNvSpPr>
            <a:spLocks xmlns:a="http://schemas.openxmlformats.org/drawingml/2006/main" noGrp="1"/>
          </p:cNvSpPr>
          <p:nvPr/>
        </p:nvSpPr>
        <p:spPr>
          <a:xfrm xmlns:a="http://schemas.openxmlformats.org/drawingml/2006/main">
            <a:off x="1924050" y="34861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Leitsatzkern</a:t>
            </a:r>
          </a:p>
        </p:txBody>
      </p:sp>
      <p:sp>
        <p:nvSpPr>
          <p:cNvPr id="13" name="">
            <a:extLst xmlns:a="http://schemas.openxmlformats.org/drawingml/2006/main">
              <a:ext uri="{FF2B5EF4-FFF2-40B4-BE49-F238E27FC236}">
                <a16:creationId xmlns:a16="http://schemas.microsoft.com/office/drawing/2014/main" id="{A58F812A-8467-4F7F-9816-339BF87A4D94}"/>
              </a:ext>
            </a:extLst>
          </p:cNvPr>
          <p:cNvSpPr>
            <a:spLocks xmlns:a="http://schemas.openxmlformats.org/drawingml/2006/main" noGrp="1"/>
          </p:cNvSpPr>
          <p:nvPr/>
        </p:nvSpPr>
        <p:spPr>
          <a:xfrm xmlns:a="http://schemas.openxmlformats.org/drawingml/2006/main">
            <a:off x="3695700" y="34861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Leitsatzkern (paraphrasiert): Das Fragerecht besteht unabhängig davon, ob das Gericht selbst Erläuterungsbedarf erkennt. Ein rechtzeitig gestellter Antrag darf nicht mit der bereits gebildeten Gerichtsüberzeugung abgetan werden.</a:t>
            </a:r>
          </a:p>
        </p:txBody>
      </p:sp>
      <p:sp>
        <p:nvSpPr>
          <p:cNvPr id="14" name="">
            <a:extLst xmlns:a="http://schemas.openxmlformats.org/drawingml/2006/main">
              <a:ext uri="{FF2B5EF4-FFF2-40B4-BE49-F238E27FC236}">
                <a16:creationId xmlns:a16="http://schemas.microsoft.com/office/drawing/2014/main" id="{CA3AFFC7-8281-45F5-8AA0-3D1C9A938A3E}"/>
              </a:ext>
            </a:extLst>
          </p:cNvPr>
          <p:cNvSpPr>
            <a:spLocks xmlns:a="http://schemas.openxmlformats.org/drawingml/2006/main" noGrp="1"/>
          </p:cNvSpPr>
          <p:nvPr/>
        </p:nvSpPr>
        <p:spPr>
          <a:xfrm xmlns:a="http://schemas.openxmlformats.org/drawingml/2006/main">
            <a:off x="1809750" y="4438650"/>
            <a:ext cx="1676400" cy="781050"/>
          </a:xfrm>
          <a:prstGeom xmlns:a="http://schemas.openxmlformats.org/drawingml/2006/main" prst="roundRect">
            <a:avLst>
              <a:gd name="adj" fmla="val 9756"/>
            </a:avLst>
          </a:prstGeom>
          <a:solidFill xmlns:a="http://schemas.openxmlformats.org/drawingml/2006/main">
            <a:srgbClr val="00B2BB"/>
          </a:solidFill>
          <a:ln xmlns:a="http://schemas.openxmlformats.org/drawingml/2006/main" w="0">
            <a:solidFill>
              <a:srgbClr val="00B2BB"/>
            </a:solidFill>
            <a:prstDash val="solid"/>
          </a:ln>
        </p:spPr>
      </p:sp>
      <p:sp>
        <p:nvSpPr>
          <p:cNvPr id="15" name="">
            <a:extLst xmlns:a="http://schemas.openxmlformats.org/drawingml/2006/main">
              <a:ext uri="{FF2B5EF4-FFF2-40B4-BE49-F238E27FC236}">
                <a16:creationId xmlns:a16="http://schemas.microsoft.com/office/drawing/2014/main" id="{E8ABF9AE-D33F-45C2-AAE6-AFB27B5E6FBF}"/>
              </a:ext>
            </a:extLst>
          </p:cNvPr>
          <p:cNvSpPr>
            <a:spLocks xmlns:a="http://schemas.openxmlformats.org/drawingml/2006/main" noGrp="1"/>
          </p:cNvSpPr>
          <p:nvPr/>
        </p:nvSpPr>
        <p:spPr>
          <a:xfrm xmlns:a="http://schemas.openxmlformats.org/drawingml/2006/main">
            <a:off x="1924050" y="44386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Für die Praxis</a:t>
            </a:r>
          </a:p>
        </p:txBody>
      </p:sp>
      <p:sp>
        <p:nvSpPr>
          <p:cNvPr id="16" name="">
            <a:extLst xmlns:a="http://schemas.openxmlformats.org/drawingml/2006/main">
              <a:ext uri="{FF2B5EF4-FFF2-40B4-BE49-F238E27FC236}">
                <a16:creationId xmlns:a16="http://schemas.microsoft.com/office/drawing/2014/main" id="{F2FBC6AE-39F2-4E92-9F95-F130CA24FE12}"/>
              </a:ext>
            </a:extLst>
          </p:cNvPr>
          <p:cNvSpPr>
            <a:spLocks xmlns:a="http://schemas.openxmlformats.org/drawingml/2006/main" noGrp="1"/>
          </p:cNvSpPr>
          <p:nvPr/>
        </p:nvSpPr>
        <p:spPr>
          <a:xfrm xmlns:a="http://schemas.openxmlformats.org/drawingml/2006/main">
            <a:off x="3695700" y="44386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Fragen zeitbezogen, medizinisch präzise und hypothesenoffen vorbereiten: Standard, Anknüpfungstatsachen, Literatur und Alternativverläufe.</a:t>
            </a:r>
          </a:p>
        </p:txBody>
      </p:sp>
      <p:sp>
        <p:nvSpPr>
          <p:cNvPr id="17" name="">
            <a:extLst xmlns:a="http://schemas.openxmlformats.org/drawingml/2006/main">
              <a:ext uri="{FF2B5EF4-FFF2-40B4-BE49-F238E27FC236}">
                <a16:creationId xmlns:a16="http://schemas.microsoft.com/office/drawing/2014/main" id="{BF14A95E-20F6-4DDD-B5E0-92934EF72CBE}"/>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638">
                <a:solidFill>
                  <a:srgbClr val="667680"/>
                </a:solidFill>
              </a:defRPr>
            </a:pPr>
            <a:r>
              <a:rPr sz="638">
                <a:solidFill>
                  <a:srgbClr val="667680"/>
                </a:solidFill>
              </a:rPr>
              <a:t>BGH, Beschl. v. 07.05.2019 – VI ZR 257/17 · https://juris.bundesgerichtshof.de/cgi-bin/bgh_notp/document.py?Art=en&amp;Blank=1&amp;Datum=2019-5&amp;Gericht=bgh&amp;Seite=2&amp;Sort=3074&amp;anz=208&amp;nr=56246&amp;pos=75</a:t>
            </a:r>
          </a:p>
        </p:txBody>
      </p:sp>
    </p:spTree>
    <p:extLst>
      <p:ext uri="{BB962C8B-B14F-4D97-AF65-F5344CB8AC3E}">
        <p14:creationId xmlns:p14="http://schemas.microsoft.com/office/powerpoint/2010/main" val="43637646"/>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Dieselbe Akte – sechs Lesarten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ROLLENBRILLE</a:t>
            </a:r>
            <a:endParaRPr/>
          </a:p>
        </p:txBody>
      </p:sp>
      <p:sp>
        <p:nvSpPr>
          <p:cNvPr id="4" name="">
            <a:extLst xmlns:a="http://schemas.openxmlformats.org/drawingml/2006/main">
              <a:ext uri="{FF2B5EF4-FFF2-40B4-BE49-F238E27FC236}">
                <a16:creationId xmlns:a16="http://schemas.microsoft.com/office/drawing/2014/main" id="{7F5D3E20-E8EC-4D90-B4E2-9F62FF56652F}"/>
              </a:ext>
            </a:extLst>
          </p:cNvPr>
          <p:cNvSpPr>
            <a:spLocks xmlns:a="http://schemas.openxmlformats.org/drawingml/2006/main" noGrp="1"/>
          </p:cNvSpPr>
          <p:nvPr/>
        </p:nvSpPr>
        <p:spPr>
          <a:xfrm xmlns:a="http://schemas.openxmlformats.org/drawingml/2006/main">
            <a:off x="1809750" y="1952625"/>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8DF16F8B-3BC2-4808-B99B-9F6CC25AF9F3}"/>
              </a:ext>
            </a:extLst>
          </p:cNvPr>
          <p:cNvSpPr>
            <a:spLocks xmlns:a="http://schemas.openxmlformats.org/drawingml/2006/main" noGrp="1"/>
          </p:cNvSpPr>
          <p:nvPr/>
        </p:nvSpPr>
        <p:spPr>
          <a:xfrm xmlns:a="http://schemas.openxmlformats.org/drawingml/2006/main">
            <a:off x="1809750" y="1952625"/>
            <a:ext cx="30734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1A5234B0-9235-4719-9958-4D60CD38C3A3}"/>
              </a:ext>
            </a:extLst>
          </p:cNvPr>
          <p:cNvSpPr>
            <a:spLocks xmlns:a="http://schemas.openxmlformats.org/drawingml/2006/main" noGrp="1"/>
          </p:cNvSpPr>
          <p:nvPr/>
        </p:nvSpPr>
        <p:spPr>
          <a:xfrm xmlns:a="http://schemas.openxmlformats.org/drawingml/2006/main">
            <a:off x="1962150" y="2085975"/>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Patient:in</a:t>
            </a:r>
          </a:p>
        </p:txBody>
      </p:sp>
      <p:sp>
        <p:nvSpPr>
          <p:cNvPr id="7" name="">
            <a:extLst xmlns:a="http://schemas.openxmlformats.org/drawingml/2006/main">
              <a:ext uri="{FF2B5EF4-FFF2-40B4-BE49-F238E27FC236}">
                <a16:creationId xmlns:a16="http://schemas.microsoft.com/office/drawing/2014/main" id="{30C0DA79-4776-497C-B696-F9078B80AC66}"/>
              </a:ext>
            </a:extLst>
          </p:cNvPr>
          <p:cNvSpPr>
            <a:spLocks xmlns:a="http://schemas.openxmlformats.org/drawingml/2006/main" noGrp="1"/>
          </p:cNvSpPr>
          <p:nvPr/>
        </p:nvSpPr>
        <p:spPr>
          <a:xfrm xmlns:a="http://schemas.openxmlformats.org/drawingml/2006/main">
            <a:off x="1962150" y="2524125"/>
            <a:ext cx="27686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Was ist passiert – und wer hilft mir jetzt?</a:t>
            </a:r>
          </a:p>
        </p:txBody>
      </p:sp>
      <p:sp>
        <p:nvSpPr>
          <p:cNvPr id="8" name="">
            <a:extLst xmlns:a="http://schemas.openxmlformats.org/drawingml/2006/main">
              <a:ext uri="{FF2B5EF4-FFF2-40B4-BE49-F238E27FC236}">
                <a16:creationId xmlns:a16="http://schemas.microsoft.com/office/drawing/2014/main" id="{99162358-41E1-400C-99A7-93727BBCBB32}"/>
              </a:ext>
            </a:extLst>
          </p:cNvPr>
          <p:cNvSpPr>
            <a:spLocks xmlns:a="http://schemas.openxmlformats.org/drawingml/2006/main" noGrp="1"/>
          </p:cNvSpPr>
          <p:nvPr/>
        </p:nvSpPr>
        <p:spPr>
          <a:xfrm xmlns:a="http://schemas.openxmlformats.org/drawingml/2006/main">
            <a:off x="5035550" y="1952625"/>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9" name="">
            <a:extLst xmlns:a="http://schemas.openxmlformats.org/drawingml/2006/main">
              <a:ext uri="{FF2B5EF4-FFF2-40B4-BE49-F238E27FC236}">
                <a16:creationId xmlns:a16="http://schemas.microsoft.com/office/drawing/2014/main" id="{1DB9E233-5CED-48F6-9B5E-A0A39DA8420F}"/>
              </a:ext>
            </a:extLst>
          </p:cNvPr>
          <p:cNvSpPr>
            <a:spLocks xmlns:a="http://schemas.openxmlformats.org/drawingml/2006/main" noGrp="1"/>
          </p:cNvSpPr>
          <p:nvPr/>
        </p:nvSpPr>
        <p:spPr>
          <a:xfrm xmlns:a="http://schemas.openxmlformats.org/drawingml/2006/main">
            <a:off x="5035550" y="1952625"/>
            <a:ext cx="307340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2C1E6066-20BC-47C6-9125-47FFE455279C}"/>
              </a:ext>
            </a:extLst>
          </p:cNvPr>
          <p:cNvSpPr>
            <a:spLocks xmlns:a="http://schemas.openxmlformats.org/drawingml/2006/main" noGrp="1"/>
          </p:cNvSpPr>
          <p:nvPr/>
        </p:nvSpPr>
        <p:spPr>
          <a:xfrm xmlns:a="http://schemas.openxmlformats.org/drawingml/2006/main">
            <a:off x="5187950" y="2085975"/>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Behandelnde</a:t>
            </a:r>
          </a:p>
        </p:txBody>
      </p:sp>
      <p:sp>
        <p:nvSpPr>
          <p:cNvPr id="11" name="">
            <a:extLst xmlns:a="http://schemas.openxmlformats.org/drawingml/2006/main">
              <a:ext uri="{FF2B5EF4-FFF2-40B4-BE49-F238E27FC236}">
                <a16:creationId xmlns:a16="http://schemas.microsoft.com/office/drawing/2014/main" id="{21EE743B-D5B5-4E5E-B43B-0F246CF8DD23}"/>
              </a:ext>
            </a:extLst>
          </p:cNvPr>
          <p:cNvSpPr>
            <a:spLocks xmlns:a="http://schemas.openxmlformats.org/drawingml/2006/main" noGrp="1"/>
          </p:cNvSpPr>
          <p:nvPr/>
        </p:nvSpPr>
        <p:spPr>
          <a:xfrm xmlns:a="http://schemas.openxmlformats.org/drawingml/2006/main">
            <a:off x="5187950" y="2524125"/>
            <a:ext cx="27686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Was wusste ich wann, und warum entschied ich so?</a:t>
            </a:r>
          </a:p>
        </p:txBody>
      </p:sp>
      <p:sp>
        <p:nvSpPr>
          <p:cNvPr id="12" name="">
            <a:extLst xmlns:a="http://schemas.openxmlformats.org/drawingml/2006/main">
              <a:ext uri="{FF2B5EF4-FFF2-40B4-BE49-F238E27FC236}">
                <a16:creationId xmlns:a16="http://schemas.microsoft.com/office/drawing/2014/main" id="{AF2C464C-8380-4219-8ADF-3627136B790D}"/>
              </a:ext>
            </a:extLst>
          </p:cNvPr>
          <p:cNvSpPr>
            <a:spLocks xmlns:a="http://schemas.openxmlformats.org/drawingml/2006/main" noGrp="1"/>
          </p:cNvSpPr>
          <p:nvPr/>
        </p:nvSpPr>
        <p:spPr>
          <a:xfrm xmlns:a="http://schemas.openxmlformats.org/drawingml/2006/main">
            <a:off x="8261350" y="1952625"/>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13" name="">
            <a:extLst xmlns:a="http://schemas.openxmlformats.org/drawingml/2006/main">
              <a:ext uri="{FF2B5EF4-FFF2-40B4-BE49-F238E27FC236}">
                <a16:creationId xmlns:a16="http://schemas.microsoft.com/office/drawing/2014/main" id="{E13E72CB-17EB-461E-845E-C82ABB6C209F}"/>
              </a:ext>
            </a:extLst>
          </p:cNvPr>
          <p:cNvSpPr>
            <a:spLocks xmlns:a="http://schemas.openxmlformats.org/drawingml/2006/main" noGrp="1"/>
          </p:cNvSpPr>
          <p:nvPr/>
        </p:nvSpPr>
        <p:spPr>
          <a:xfrm xmlns:a="http://schemas.openxmlformats.org/drawingml/2006/main">
            <a:off x="8261350" y="1952625"/>
            <a:ext cx="30734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A9394EDA-FC5C-495C-800D-29BF79401975}"/>
              </a:ext>
            </a:extLst>
          </p:cNvPr>
          <p:cNvSpPr>
            <a:spLocks xmlns:a="http://schemas.openxmlformats.org/drawingml/2006/main" noGrp="1"/>
          </p:cNvSpPr>
          <p:nvPr/>
        </p:nvSpPr>
        <p:spPr>
          <a:xfrm xmlns:a="http://schemas.openxmlformats.org/drawingml/2006/main">
            <a:off x="8413750" y="2085975"/>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Klinik / Versicherer</a:t>
            </a:r>
          </a:p>
        </p:txBody>
      </p:sp>
      <p:sp>
        <p:nvSpPr>
          <p:cNvPr id="15" name="">
            <a:extLst xmlns:a="http://schemas.openxmlformats.org/drawingml/2006/main">
              <a:ext uri="{FF2B5EF4-FFF2-40B4-BE49-F238E27FC236}">
                <a16:creationId xmlns:a16="http://schemas.microsoft.com/office/drawing/2014/main" id="{D09561E4-D1F1-4CD3-A379-72F15438E326}"/>
              </a:ext>
            </a:extLst>
          </p:cNvPr>
          <p:cNvSpPr>
            <a:spLocks xmlns:a="http://schemas.openxmlformats.org/drawingml/2006/main" noGrp="1"/>
          </p:cNvSpPr>
          <p:nvPr/>
        </p:nvSpPr>
        <p:spPr>
          <a:xfrm xmlns:a="http://schemas.openxmlformats.org/drawingml/2006/main">
            <a:off x="8413750" y="2524125"/>
            <a:ext cx="27686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Haftung, Deckung, Kommunikation, Reserve?</a:t>
            </a:r>
          </a:p>
        </p:txBody>
      </p:sp>
      <p:sp>
        <p:nvSpPr>
          <p:cNvPr id="16" name="">
            <a:extLst xmlns:a="http://schemas.openxmlformats.org/drawingml/2006/main">
              <a:ext uri="{FF2B5EF4-FFF2-40B4-BE49-F238E27FC236}">
                <a16:creationId xmlns:a16="http://schemas.microsoft.com/office/drawing/2014/main" id="{1F4EED7A-519A-4F40-86D2-416B5801C3B1}"/>
              </a:ext>
            </a:extLst>
          </p:cNvPr>
          <p:cNvSpPr>
            <a:spLocks xmlns:a="http://schemas.openxmlformats.org/drawingml/2006/main" noGrp="1"/>
          </p:cNvSpPr>
          <p:nvPr/>
        </p:nvSpPr>
        <p:spPr>
          <a:xfrm xmlns:a="http://schemas.openxmlformats.org/drawingml/2006/main">
            <a:off x="1809750" y="3767138"/>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17" name="">
            <a:extLst xmlns:a="http://schemas.openxmlformats.org/drawingml/2006/main">
              <a:ext uri="{FF2B5EF4-FFF2-40B4-BE49-F238E27FC236}">
                <a16:creationId xmlns:a16="http://schemas.microsoft.com/office/drawing/2014/main" id="{37660185-491F-476B-95DB-BAD8ADB066DC}"/>
              </a:ext>
            </a:extLst>
          </p:cNvPr>
          <p:cNvSpPr>
            <a:spLocks xmlns:a="http://schemas.openxmlformats.org/drawingml/2006/main" noGrp="1"/>
          </p:cNvSpPr>
          <p:nvPr/>
        </p:nvSpPr>
        <p:spPr>
          <a:xfrm xmlns:a="http://schemas.openxmlformats.org/drawingml/2006/main">
            <a:off x="1809750" y="3767138"/>
            <a:ext cx="307340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9C54587B-0F2D-446E-ADA9-96E089759B5D}"/>
              </a:ext>
            </a:extLst>
          </p:cNvPr>
          <p:cNvSpPr>
            <a:spLocks xmlns:a="http://schemas.openxmlformats.org/drawingml/2006/main" noGrp="1"/>
          </p:cNvSpPr>
          <p:nvPr/>
        </p:nvSpPr>
        <p:spPr>
          <a:xfrm xmlns:a="http://schemas.openxmlformats.org/drawingml/2006/main">
            <a:off x="1962150" y="3900488"/>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Staatsanwaltschaft</a:t>
            </a:r>
          </a:p>
        </p:txBody>
      </p:sp>
      <p:sp>
        <p:nvSpPr>
          <p:cNvPr id="19" name="">
            <a:extLst xmlns:a="http://schemas.openxmlformats.org/drawingml/2006/main">
              <a:ext uri="{FF2B5EF4-FFF2-40B4-BE49-F238E27FC236}">
                <a16:creationId xmlns:a16="http://schemas.microsoft.com/office/drawing/2014/main" id="{EE67FDE3-45DF-4C3A-8A7C-1889D139FBA9}"/>
              </a:ext>
            </a:extLst>
          </p:cNvPr>
          <p:cNvSpPr>
            <a:spLocks xmlns:a="http://schemas.openxmlformats.org/drawingml/2006/main" noGrp="1"/>
          </p:cNvSpPr>
          <p:nvPr/>
        </p:nvSpPr>
        <p:spPr>
          <a:xfrm xmlns:a="http://schemas.openxmlformats.org/drawingml/2006/main">
            <a:off x="1962150" y="4338638"/>
            <a:ext cx="27686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Anfangsverdacht und persönliche Schuld?</a:t>
            </a:r>
          </a:p>
        </p:txBody>
      </p:sp>
      <p:sp>
        <p:nvSpPr>
          <p:cNvPr id="20" name="">
            <a:extLst xmlns:a="http://schemas.openxmlformats.org/drawingml/2006/main">
              <a:ext uri="{FF2B5EF4-FFF2-40B4-BE49-F238E27FC236}">
                <a16:creationId xmlns:a16="http://schemas.microsoft.com/office/drawing/2014/main" id="{42344049-E580-4BE7-A03E-0C1F445D6793}"/>
              </a:ext>
            </a:extLst>
          </p:cNvPr>
          <p:cNvSpPr>
            <a:spLocks xmlns:a="http://schemas.openxmlformats.org/drawingml/2006/main" noGrp="1"/>
          </p:cNvSpPr>
          <p:nvPr/>
        </p:nvSpPr>
        <p:spPr>
          <a:xfrm xmlns:a="http://schemas.openxmlformats.org/drawingml/2006/main">
            <a:off x="5035550" y="3767138"/>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21" name="">
            <a:extLst xmlns:a="http://schemas.openxmlformats.org/drawingml/2006/main">
              <a:ext uri="{FF2B5EF4-FFF2-40B4-BE49-F238E27FC236}">
                <a16:creationId xmlns:a16="http://schemas.microsoft.com/office/drawing/2014/main" id="{4BC43EE2-5766-4985-85C7-0283D0704316}"/>
              </a:ext>
            </a:extLst>
          </p:cNvPr>
          <p:cNvSpPr>
            <a:spLocks xmlns:a="http://schemas.openxmlformats.org/drawingml/2006/main" noGrp="1"/>
          </p:cNvSpPr>
          <p:nvPr/>
        </p:nvSpPr>
        <p:spPr>
          <a:xfrm xmlns:a="http://schemas.openxmlformats.org/drawingml/2006/main">
            <a:off x="5035550" y="3767138"/>
            <a:ext cx="30734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22" name="">
            <a:extLst xmlns:a="http://schemas.openxmlformats.org/drawingml/2006/main">
              <a:ext uri="{FF2B5EF4-FFF2-40B4-BE49-F238E27FC236}">
                <a16:creationId xmlns:a16="http://schemas.microsoft.com/office/drawing/2014/main" id="{5988A299-5444-4275-8137-94378EBF95A1}"/>
              </a:ext>
            </a:extLst>
          </p:cNvPr>
          <p:cNvSpPr>
            <a:spLocks xmlns:a="http://schemas.openxmlformats.org/drawingml/2006/main" noGrp="1"/>
          </p:cNvSpPr>
          <p:nvPr/>
        </p:nvSpPr>
        <p:spPr>
          <a:xfrm xmlns:a="http://schemas.openxmlformats.org/drawingml/2006/main">
            <a:off x="5187950" y="3900488"/>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Sachverständige</a:t>
            </a:r>
          </a:p>
        </p:txBody>
      </p:sp>
      <p:sp>
        <p:nvSpPr>
          <p:cNvPr id="23" name="">
            <a:extLst xmlns:a="http://schemas.openxmlformats.org/drawingml/2006/main">
              <a:ext uri="{FF2B5EF4-FFF2-40B4-BE49-F238E27FC236}">
                <a16:creationId xmlns:a16="http://schemas.microsoft.com/office/drawing/2014/main" id="{83E070EC-A20A-417A-B821-DAF78BCD7A5F}"/>
              </a:ext>
            </a:extLst>
          </p:cNvPr>
          <p:cNvSpPr>
            <a:spLocks xmlns:a="http://schemas.openxmlformats.org/drawingml/2006/main" noGrp="1"/>
          </p:cNvSpPr>
          <p:nvPr/>
        </p:nvSpPr>
        <p:spPr>
          <a:xfrm xmlns:a="http://schemas.openxmlformats.org/drawingml/2006/main">
            <a:off x="5187950" y="4338638"/>
            <a:ext cx="27686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Standard, Fehler, Schaden, Kausalität?</a:t>
            </a:r>
          </a:p>
        </p:txBody>
      </p:sp>
      <p:sp>
        <p:nvSpPr>
          <p:cNvPr id="24" name="">
            <a:extLst xmlns:a="http://schemas.openxmlformats.org/drawingml/2006/main">
              <a:ext uri="{FF2B5EF4-FFF2-40B4-BE49-F238E27FC236}">
                <a16:creationId xmlns:a16="http://schemas.microsoft.com/office/drawing/2014/main" id="{766F9849-6C65-469C-931B-A033F26A1AB4}"/>
              </a:ext>
            </a:extLst>
          </p:cNvPr>
          <p:cNvSpPr>
            <a:spLocks xmlns:a="http://schemas.openxmlformats.org/drawingml/2006/main" noGrp="1"/>
          </p:cNvSpPr>
          <p:nvPr/>
        </p:nvSpPr>
        <p:spPr>
          <a:xfrm xmlns:a="http://schemas.openxmlformats.org/drawingml/2006/main">
            <a:off x="8261350" y="3767138"/>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25" name="">
            <a:extLst xmlns:a="http://schemas.openxmlformats.org/drawingml/2006/main">
              <a:ext uri="{FF2B5EF4-FFF2-40B4-BE49-F238E27FC236}">
                <a16:creationId xmlns:a16="http://schemas.microsoft.com/office/drawing/2014/main" id="{649F5D82-F415-4855-BC1B-BABD1A5790D4}"/>
              </a:ext>
            </a:extLst>
          </p:cNvPr>
          <p:cNvSpPr>
            <a:spLocks xmlns:a="http://schemas.openxmlformats.org/drawingml/2006/main" noGrp="1"/>
          </p:cNvSpPr>
          <p:nvPr/>
        </p:nvSpPr>
        <p:spPr>
          <a:xfrm xmlns:a="http://schemas.openxmlformats.org/drawingml/2006/main">
            <a:off x="8261350" y="3767138"/>
            <a:ext cx="307340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26" name="">
            <a:extLst xmlns:a="http://schemas.openxmlformats.org/drawingml/2006/main">
              <a:ext uri="{FF2B5EF4-FFF2-40B4-BE49-F238E27FC236}">
                <a16:creationId xmlns:a16="http://schemas.microsoft.com/office/drawing/2014/main" id="{CA59346F-5A4C-4CBB-9121-4F59918076C5}"/>
              </a:ext>
            </a:extLst>
          </p:cNvPr>
          <p:cNvSpPr>
            <a:spLocks xmlns:a="http://schemas.openxmlformats.org/drawingml/2006/main" noGrp="1"/>
          </p:cNvSpPr>
          <p:nvPr/>
        </p:nvSpPr>
        <p:spPr>
          <a:xfrm xmlns:a="http://schemas.openxmlformats.org/drawingml/2006/main">
            <a:off x="8413750" y="3900488"/>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Gericht</a:t>
            </a:r>
          </a:p>
        </p:txBody>
      </p:sp>
      <p:sp>
        <p:nvSpPr>
          <p:cNvPr id="27" name="">
            <a:extLst xmlns:a="http://schemas.openxmlformats.org/drawingml/2006/main">
              <a:ext uri="{FF2B5EF4-FFF2-40B4-BE49-F238E27FC236}">
                <a16:creationId xmlns:a16="http://schemas.microsoft.com/office/drawing/2014/main" id="{7BCC8E7C-C8FA-4B77-966B-E1F937E3F1B6}"/>
              </a:ext>
            </a:extLst>
          </p:cNvPr>
          <p:cNvSpPr>
            <a:spLocks xmlns:a="http://schemas.openxmlformats.org/drawingml/2006/main" noGrp="1"/>
          </p:cNvSpPr>
          <p:nvPr/>
        </p:nvSpPr>
        <p:spPr>
          <a:xfrm xmlns:a="http://schemas.openxmlformats.org/drawingml/2006/main">
            <a:off x="8413750" y="4338638"/>
            <a:ext cx="27686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Welche Tatsachen sind bewiesen; welche Rechtsfolge?</a:t>
            </a:r>
          </a:p>
        </p:txBody>
      </p:sp>
      <p:sp>
        <p:nvSpPr>
          <p:cNvPr id="28" name="">
            <a:extLst xmlns:a="http://schemas.openxmlformats.org/drawingml/2006/main">
              <a:ext uri="{FF2B5EF4-FFF2-40B4-BE49-F238E27FC236}">
                <a16:creationId xmlns:a16="http://schemas.microsoft.com/office/drawing/2014/main" id="{C6C9457B-D962-48AD-B0B4-7866ABAB594E}"/>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9" name="">
            <a:extLst xmlns:a="http://schemas.openxmlformats.org/drawingml/2006/main">
              <a:ext uri="{FF2B5EF4-FFF2-40B4-BE49-F238E27FC236}">
                <a16:creationId xmlns:a16="http://schemas.microsoft.com/office/drawing/2014/main" id="{518BAB63-1E3F-4D29-8A27-5D250C2BBCE4}"/>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Gute Dokumentation erklärt klinische Entscheidungen – sie produziert keine nachträgliche Gewissheit.</a:t>
            </a:r>
          </a:p>
        </p:txBody>
      </p:sp>
    </p:spTree>
    <p:extLst>
      <p:ext uri="{BB962C8B-B14F-4D97-AF65-F5344CB8AC3E}">
        <p14:creationId xmlns:p14="http://schemas.microsoft.com/office/powerpoint/2010/main" val="43637646"/>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Die vier Verfahrenslogiken auseinanderhalten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NICHT ALLES IST HAFTUNG</a:t>
            </a:r>
            <a:endParaRPr/>
          </a:p>
        </p:txBody>
      </p:sp>
      <p:sp>
        <p:nvSpPr>
          <p:cNvPr id="4" name="">
            <a:extLst xmlns:a="http://schemas.openxmlformats.org/drawingml/2006/main">
              <a:ext uri="{FF2B5EF4-FFF2-40B4-BE49-F238E27FC236}">
                <a16:creationId xmlns:a16="http://schemas.microsoft.com/office/drawing/2014/main" id="{378CEF90-652B-4151-A10E-73D1C6742C17}"/>
              </a:ext>
            </a:extLst>
          </p:cNvPr>
          <p:cNvSpPr>
            <a:spLocks xmlns:a="http://schemas.openxmlformats.org/drawingml/2006/main" noGrp="1"/>
          </p:cNvSpPr>
          <p:nvPr/>
        </p:nvSpPr>
        <p:spPr>
          <a:xfrm xmlns:a="http://schemas.openxmlformats.org/drawingml/2006/main">
            <a:off x="1809750" y="1952625"/>
            <a:ext cx="46863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41A7D633-AF38-4D38-8F0E-BC5F2199CE1C}"/>
              </a:ext>
            </a:extLst>
          </p:cNvPr>
          <p:cNvSpPr>
            <a:spLocks xmlns:a="http://schemas.openxmlformats.org/drawingml/2006/main" noGrp="1"/>
          </p:cNvSpPr>
          <p:nvPr/>
        </p:nvSpPr>
        <p:spPr>
          <a:xfrm xmlns:a="http://schemas.openxmlformats.org/drawingml/2006/main">
            <a:off x="1809750" y="1952625"/>
            <a:ext cx="46863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F10B8DC8-DB47-45F4-9CDD-03640C6E882C}"/>
              </a:ext>
            </a:extLst>
          </p:cNvPr>
          <p:cNvSpPr>
            <a:spLocks xmlns:a="http://schemas.openxmlformats.org/drawingml/2006/main" noGrp="1"/>
          </p:cNvSpPr>
          <p:nvPr/>
        </p:nvSpPr>
        <p:spPr>
          <a:xfrm xmlns:a="http://schemas.openxmlformats.org/drawingml/2006/main">
            <a:off x="1962150" y="2085975"/>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Zivilrecht</a:t>
            </a:r>
          </a:p>
        </p:txBody>
      </p:sp>
      <p:sp>
        <p:nvSpPr>
          <p:cNvPr id="7" name="">
            <a:extLst xmlns:a="http://schemas.openxmlformats.org/drawingml/2006/main">
              <a:ext uri="{FF2B5EF4-FFF2-40B4-BE49-F238E27FC236}">
                <a16:creationId xmlns:a16="http://schemas.microsoft.com/office/drawing/2014/main" id="{4A088EBB-E476-409C-9498-BC3EC9C63BD9}"/>
              </a:ext>
            </a:extLst>
          </p:cNvPr>
          <p:cNvSpPr>
            <a:spLocks xmlns:a="http://schemas.openxmlformats.org/drawingml/2006/main" noGrp="1"/>
          </p:cNvSpPr>
          <p:nvPr/>
        </p:nvSpPr>
        <p:spPr>
          <a:xfrm xmlns:a="http://schemas.openxmlformats.org/drawingml/2006/main">
            <a:off x="1962150" y="2524125"/>
            <a:ext cx="43815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Ausgleich eines Schadens</a:t>
            </a:r>
          </a:p>
          <a:p xmlns:a="http://schemas.openxmlformats.org/drawingml/2006/main">
            <a:pPr>
              <a:buNone/>
              <a:defRPr sz="1050">
                <a:solidFill>
                  <a:srgbClr val="15232B"/>
                </a:solidFill>
              </a:defRPr>
            </a:pPr>
            <a:r>
              <a:rPr sz="1050">
                <a:solidFill>
                  <a:srgbClr val="15232B"/>
                </a:solidFill>
              </a:rPr>
              <a:t>Anspruchsteller beweist grundsätzlich</a:t>
            </a:r>
          </a:p>
          <a:p xmlns:a="http://schemas.openxmlformats.org/drawingml/2006/main">
            <a:pPr>
              <a:buNone/>
              <a:defRPr sz="1050">
                <a:solidFill>
                  <a:srgbClr val="15232B"/>
                </a:solidFill>
              </a:defRPr>
            </a:pPr>
            <a:r>
              <a:rPr sz="1050">
                <a:solidFill>
                  <a:srgbClr val="15232B"/>
                </a:solidFill>
              </a:rPr>
              <a:t>BGB + ZPO</a:t>
            </a:r>
          </a:p>
        </p:txBody>
      </p:sp>
      <p:sp>
        <p:nvSpPr>
          <p:cNvPr id="8" name="">
            <a:extLst xmlns:a="http://schemas.openxmlformats.org/drawingml/2006/main">
              <a:ext uri="{FF2B5EF4-FFF2-40B4-BE49-F238E27FC236}">
                <a16:creationId xmlns:a16="http://schemas.microsoft.com/office/drawing/2014/main" id="{550E6B2A-0F67-42B7-8FCD-04340AED3935}"/>
              </a:ext>
            </a:extLst>
          </p:cNvPr>
          <p:cNvSpPr>
            <a:spLocks xmlns:a="http://schemas.openxmlformats.org/drawingml/2006/main" noGrp="1"/>
          </p:cNvSpPr>
          <p:nvPr/>
        </p:nvSpPr>
        <p:spPr>
          <a:xfrm xmlns:a="http://schemas.openxmlformats.org/drawingml/2006/main">
            <a:off x="6648450" y="1952625"/>
            <a:ext cx="46863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9" name="">
            <a:extLst xmlns:a="http://schemas.openxmlformats.org/drawingml/2006/main">
              <a:ext uri="{FF2B5EF4-FFF2-40B4-BE49-F238E27FC236}">
                <a16:creationId xmlns:a16="http://schemas.microsoft.com/office/drawing/2014/main" id="{B8A7549F-5860-4291-93F6-706547FA4B10}"/>
              </a:ext>
            </a:extLst>
          </p:cNvPr>
          <p:cNvSpPr>
            <a:spLocks xmlns:a="http://schemas.openxmlformats.org/drawingml/2006/main" noGrp="1"/>
          </p:cNvSpPr>
          <p:nvPr/>
        </p:nvSpPr>
        <p:spPr>
          <a:xfrm xmlns:a="http://schemas.openxmlformats.org/drawingml/2006/main">
            <a:off x="6648450" y="1952625"/>
            <a:ext cx="468630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51009799-689C-4CFD-9607-60B58550A8DB}"/>
              </a:ext>
            </a:extLst>
          </p:cNvPr>
          <p:cNvSpPr>
            <a:spLocks xmlns:a="http://schemas.openxmlformats.org/drawingml/2006/main" noGrp="1"/>
          </p:cNvSpPr>
          <p:nvPr/>
        </p:nvSpPr>
        <p:spPr>
          <a:xfrm xmlns:a="http://schemas.openxmlformats.org/drawingml/2006/main">
            <a:off x="6800850" y="2085975"/>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Strafrecht</a:t>
            </a:r>
          </a:p>
        </p:txBody>
      </p:sp>
      <p:sp>
        <p:nvSpPr>
          <p:cNvPr id="11" name="">
            <a:extLst xmlns:a="http://schemas.openxmlformats.org/drawingml/2006/main">
              <a:ext uri="{FF2B5EF4-FFF2-40B4-BE49-F238E27FC236}">
                <a16:creationId xmlns:a16="http://schemas.microsoft.com/office/drawing/2014/main" id="{97D52DF3-9068-404B-8E85-24079B06CF17}"/>
              </a:ext>
            </a:extLst>
          </p:cNvPr>
          <p:cNvSpPr>
            <a:spLocks xmlns:a="http://schemas.openxmlformats.org/drawingml/2006/main" noGrp="1"/>
          </p:cNvSpPr>
          <p:nvPr/>
        </p:nvSpPr>
        <p:spPr>
          <a:xfrm xmlns:a="http://schemas.openxmlformats.org/drawingml/2006/main">
            <a:off x="6800850" y="2524125"/>
            <a:ext cx="43815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Persönliche Schuld und staatliche Sanktion</a:t>
            </a:r>
          </a:p>
          <a:p xmlns:a="http://schemas.openxmlformats.org/drawingml/2006/main">
            <a:pPr>
              <a:buNone/>
              <a:defRPr sz="1050">
                <a:solidFill>
                  <a:srgbClr val="15232B"/>
                </a:solidFill>
              </a:defRPr>
            </a:pPr>
            <a:r>
              <a:rPr sz="1050">
                <a:solidFill>
                  <a:srgbClr val="15232B"/>
                </a:solidFill>
              </a:rPr>
              <a:t>In dubio pro reo</a:t>
            </a:r>
          </a:p>
          <a:p xmlns:a="http://schemas.openxmlformats.org/drawingml/2006/main">
            <a:pPr>
              <a:buNone/>
              <a:defRPr sz="1050">
                <a:solidFill>
                  <a:srgbClr val="15232B"/>
                </a:solidFill>
              </a:defRPr>
            </a:pPr>
            <a:r>
              <a:rPr sz="1050">
                <a:solidFill>
                  <a:srgbClr val="15232B"/>
                </a:solidFill>
              </a:rPr>
              <a:t>StGB + StPO</a:t>
            </a:r>
          </a:p>
        </p:txBody>
      </p:sp>
      <p:sp>
        <p:nvSpPr>
          <p:cNvPr id="12" name="">
            <a:extLst xmlns:a="http://schemas.openxmlformats.org/drawingml/2006/main">
              <a:ext uri="{FF2B5EF4-FFF2-40B4-BE49-F238E27FC236}">
                <a16:creationId xmlns:a16="http://schemas.microsoft.com/office/drawing/2014/main" id="{9E3E856C-538E-4EDA-A8DD-18D944347998}"/>
              </a:ext>
            </a:extLst>
          </p:cNvPr>
          <p:cNvSpPr>
            <a:spLocks xmlns:a="http://schemas.openxmlformats.org/drawingml/2006/main" noGrp="1"/>
          </p:cNvSpPr>
          <p:nvPr/>
        </p:nvSpPr>
        <p:spPr>
          <a:xfrm xmlns:a="http://schemas.openxmlformats.org/drawingml/2006/main">
            <a:off x="1809750" y="3767138"/>
            <a:ext cx="46863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13" name="">
            <a:extLst xmlns:a="http://schemas.openxmlformats.org/drawingml/2006/main">
              <a:ext uri="{FF2B5EF4-FFF2-40B4-BE49-F238E27FC236}">
                <a16:creationId xmlns:a16="http://schemas.microsoft.com/office/drawing/2014/main" id="{570CBAA2-B912-48C9-8E2A-4E1E3003EBA8}"/>
              </a:ext>
            </a:extLst>
          </p:cNvPr>
          <p:cNvSpPr>
            <a:spLocks xmlns:a="http://schemas.openxmlformats.org/drawingml/2006/main" noGrp="1"/>
          </p:cNvSpPr>
          <p:nvPr/>
        </p:nvSpPr>
        <p:spPr>
          <a:xfrm xmlns:a="http://schemas.openxmlformats.org/drawingml/2006/main">
            <a:off x="1809750" y="3767138"/>
            <a:ext cx="46863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9814E8ED-1689-496D-A176-2B9CE0287F9A}"/>
              </a:ext>
            </a:extLst>
          </p:cNvPr>
          <p:cNvSpPr>
            <a:spLocks xmlns:a="http://schemas.openxmlformats.org/drawingml/2006/main" noGrp="1"/>
          </p:cNvSpPr>
          <p:nvPr/>
        </p:nvSpPr>
        <p:spPr>
          <a:xfrm xmlns:a="http://schemas.openxmlformats.org/drawingml/2006/main">
            <a:off x="1962150" y="3900488"/>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Berufsrecht</a:t>
            </a:r>
          </a:p>
        </p:txBody>
      </p:sp>
      <p:sp>
        <p:nvSpPr>
          <p:cNvPr id="15" name="">
            <a:extLst xmlns:a="http://schemas.openxmlformats.org/drawingml/2006/main">
              <a:ext uri="{FF2B5EF4-FFF2-40B4-BE49-F238E27FC236}">
                <a16:creationId xmlns:a16="http://schemas.microsoft.com/office/drawing/2014/main" id="{5DAC48A1-7193-4309-A2BB-115709E37FEA}"/>
              </a:ext>
            </a:extLst>
          </p:cNvPr>
          <p:cNvSpPr>
            <a:spLocks xmlns:a="http://schemas.openxmlformats.org/drawingml/2006/main" noGrp="1"/>
          </p:cNvSpPr>
          <p:nvPr/>
        </p:nvSpPr>
        <p:spPr>
          <a:xfrm xmlns:a="http://schemas.openxmlformats.org/drawingml/2006/main">
            <a:off x="1962150" y="4338638"/>
            <a:ext cx="43815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Berufspflichten und Vertrauen</a:t>
            </a:r>
          </a:p>
          <a:p xmlns:a="http://schemas.openxmlformats.org/drawingml/2006/main">
            <a:pPr>
              <a:buNone/>
              <a:defRPr sz="1050">
                <a:solidFill>
                  <a:srgbClr val="15232B"/>
                </a:solidFill>
              </a:defRPr>
            </a:pPr>
            <a:r>
              <a:rPr sz="1050">
                <a:solidFill>
                  <a:srgbClr val="15232B"/>
                </a:solidFill>
              </a:rPr>
              <a:t>Kammer / Berufsgericht</a:t>
            </a:r>
          </a:p>
          <a:p xmlns:a="http://schemas.openxmlformats.org/drawingml/2006/main">
            <a:pPr>
              <a:buNone/>
              <a:defRPr sz="1050">
                <a:solidFill>
                  <a:srgbClr val="15232B"/>
                </a:solidFill>
              </a:defRPr>
            </a:pPr>
            <a:r>
              <a:rPr sz="1050">
                <a:solidFill>
                  <a:srgbClr val="15232B"/>
                </a:solidFill>
              </a:rPr>
              <a:t>BO + HKG</a:t>
            </a:r>
          </a:p>
        </p:txBody>
      </p:sp>
      <p:sp>
        <p:nvSpPr>
          <p:cNvPr id="16" name="">
            <a:extLst xmlns:a="http://schemas.openxmlformats.org/drawingml/2006/main">
              <a:ext uri="{FF2B5EF4-FFF2-40B4-BE49-F238E27FC236}">
                <a16:creationId xmlns:a16="http://schemas.microsoft.com/office/drawing/2014/main" id="{7E63BAF1-1D33-4349-8214-B8DEEDC2DE8D}"/>
              </a:ext>
            </a:extLst>
          </p:cNvPr>
          <p:cNvSpPr>
            <a:spLocks xmlns:a="http://schemas.openxmlformats.org/drawingml/2006/main" noGrp="1"/>
          </p:cNvSpPr>
          <p:nvPr/>
        </p:nvSpPr>
        <p:spPr>
          <a:xfrm xmlns:a="http://schemas.openxmlformats.org/drawingml/2006/main">
            <a:off x="6648450" y="3767138"/>
            <a:ext cx="46863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17" name="">
            <a:extLst xmlns:a="http://schemas.openxmlformats.org/drawingml/2006/main">
              <a:ext uri="{FF2B5EF4-FFF2-40B4-BE49-F238E27FC236}">
                <a16:creationId xmlns:a16="http://schemas.microsoft.com/office/drawing/2014/main" id="{C9DF6306-707E-497E-BF39-EFE6F815BD8D}"/>
              </a:ext>
            </a:extLst>
          </p:cNvPr>
          <p:cNvSpPr>
            <a:spLocks xmlns:a="http://schemas.openxmlformats.org/drawingml/2006/main" noGrp="1"/>
          </p:cNvSpPr>
          <p:nvPr/>
        </p:nvSpPr>
        <p:spPr>
          <a:xfrm xmlns:a="http://schemas.openxmlformats.org/drawingml/2006/main">
            <a:off x="6648450" y="3767138"/>
            <a:ext cx="468630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EB5B79DB-7B29-4711-A696-5A1F80EF570D}"/>
              </a:ext>
            </a:extLst>
          </p:cNvPr>
          <p:cNvSpPr>
            <a:spLocks xmlns:a="http://schemas.openxmlformats.org/drawingml/2006/main" noGrp="1"/>
          </p:cNvSpPr>
          <p:nvPr/>
        </p:nvSpPr>
        <p:spPr>
          <a:xfrm xmlns:a="http://schemas.openxmlformats.org/drawingml/2006/main">
            <a:off x="6800850" y="3900488"/>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Approbationsrecht</a:t>
            </a:r>
          </a:p>
        </p:txBody>
      </p:sp>
      <p:sp>
        <p:nvSpPr>
          <p:cNvPr id="19" name="">
            <a:extLst xmlns:a="http://schemas.openxmlformats.org/drawingml/2006/main">
              <a:ext uri="{FF2B5EF4-FFF2-40B4-BE49-F238E27FC236}">
                <a16:creationId xmlns:a16="http://schemas.microsoft.com/office/drawing/2014/main" id="{BEC5B43E-3751-4F48-A742-E6DE9F7A11D6}"/>
              </a:ext>
            </a:extLst>
          </p:cNvPr>
          <p:cNvSpPr>
            <a:spLocks xmlns:a="http://schemas.openxmlformats.org/drawingml/2006/main" noGrp="1"/>
          </p:cNvSpPr>
          <p:nvPr/>
        </p:nvSpPr>
        <p:spPr>
          <a:xfrm xmlns:a="http://schemas.openxmlformats.org/drawingml/2006/main">
            <a:off x="6800850" y="4338638"/>
            <a:ext cx="43815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Gefahrenabwehr / Eignung</a:t>
            </a:r>
          </a:p>
          <a:p xmlns:a="http://schemas.openxmlformats.org/drawingml/2006/main">
            <a:pPr>
              <a:buNone/>
              <a:defRPr sz="1050">
                <a:solidFill>
                  <a:srgbClr val="15232B"/>
                </a:solidFill>
              </a:defRPr>
            </a:pPr>
            <a:r>
              <a:rPr sz="1050">
                <a:solidFill>
                  <a:srgbClr val="15232B"/>
                </a:solidFill>
              </a:rPr>
              <a:t>Behörde, Verwaltungsrechtsweg</a:t>
            </a:r>
          </a:p>
          <a:p xmlns:a="http://schemas.openxmlformats.org/drawingml/2006/main">
            <a:pPr>
              <a:buNone/>
              <a:defRPr sz="1050">
                <a:solidFill>
                  <a:srgbClr val="15232B"/>
                </a:solidFill>
              </a:defRPr>
            </a:pPr>
            <a:r>
              <a:rPr sz="1050">
                <a:solidFill>
                  <a:srgbClr val="15232B"/>
                </a:solidFill>
              </a:rPr>
              <a:t>BÄO + VwVfG/VwGO</a:t>
            </a:r>
          </a:p>
        </p:txBody>
      </p:sp>
      <p:sp>
        <p:nvSpPr>
          <p:cNvPr id="20" name="">
            <a:extLst xmlns:a="http://schemas.openxmlformats.org/drawingml/2006/main">
              <a:ext uri="{FF2B5EF4-FFF2-40B4-BE49-F238E27FC236}">
                <a16:creationId xmlns:a16="http://schemas.microsoft.com/office/drawing/2014/main" id="{78124285-7C9E-4043-A296-6DBC4CFD3796}"/>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1" name="">
            <a:extLst xmlns:a="http://schemas.openxmlformats.org/drawingml/2006/main">
              <a:ext uri="{FF2B5EF4-FFF2-40B4-BE49-F238E27FC236}">
                <a16:creationId xmlns:a16="http://schemas.microsoft.com/office/drawing/2014/main" id="{A879AC21-F1FB-43BC-91E5-AB2CFA6878CE}"/>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Ein Freispruch beendet nicht automatisch Zivilrecht oder Berufsrecht; eine Haftung bedeutet nicht automatisch Strafbarkeit.</a:t>
            </a:r>
          </a:p>
        </p:txBody>
      </p:sp>
    </p:spTree>
    <p:extLst>
      <p:ext uri="{BB962C8B-B14F-4D97-AF65-F5344CB8AC3E}">
        <p14:creationId xmlns:p14="http://schemas.microsoft.com/office/powerpoint/2010/main" val="43637646"/>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Fünf Prinzipien für den gesamten Kurs</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ÄRZTLICHE ORIENTIERUNG</a:t>
            </a:r>
            <a:endParaRPr/>
          </a:p>
        </p:txBody>
      </p:sp>
      <p:sp>
        <p:nvSpPr>
          <p:cNvPr id="4" name="">
            <a:extLst xmlns:a="http://schemas.openxmlformats.org/drawingml/2006/main">
              <a:ext uri="{FF2B5EF4-FFF2-40B4-BE49-F238E27FC236}">
                <a16:creationId xmlns:a16="http://schemas.microsoft.com/office/drawing/2014/main" id="{5C287FA2-F778-46B3-A568-0AF5A36E4A41}"/>
              </a:ext>
            </a:extLst>
          </p:cNvPr>
          <p:cNvSpPr>
            <a:spLocks xmlns:a="http://schemas.openxmlformats.org/drawingml/2006/main" noGrp="1"/>
          </p:cNvSpPr>
          <p:nvPr/>
        </p:nvSpPr>
        <p:spPr>
          <a:xfrm xmlns:a="http://schemas.openxmlformats.org/drawingml/2006/main">
            <a:off x="1809750" y="1952625"/>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8E5BE6C9-0E69-4BBE-BC49-22BCD9D6169B}"/>
              </a:ext>
            </a:extLst>
          </p:cNvPr>
          <p:cNvSpPr>
            <a:spLocks xmlns:a="http://schemas.openxmlformats.org/drawingml/2006/main" noGrp="1"/>
          </p:cNvSpPr>
          <p:nvPr/>
        </p:nvSpPr>
        <p:spPr>
          <a:xfrm xmlns:a="http://schemas.openxmlformats.org/drawingml/2006/main">
            <a:off x="1809750" y="1952625"/>
            <a:ext cx="30734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7E029FE2-E432-47E5-8818-F67DE116C69E}"/>
              </a:ext>
            </a:extLst>
          </p:cNvPr>
          <p:cNvSpPr>
            <a:spLocks xmlns:a="http://schemas.openxmlformats.org/drawingml/2006/main" noGrp="1"/>
          </p:cNvSpPr>
          <p:nvPr/>
        </p:nvSpPr>
        <p:spPr>
          <a:xfrm xmlns:a="http://schemas.openxmlformats.org/drawingml/2006/main">
            <a:off x="1962150" y="2085975"/>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Patient zuerst</a:t>
            </a:r>
          </a:p>
        </p:txBody>
      </p:sp>
      <p:sp>
        <p:nvSpPr>
          <p:cNvPr id="7" name="">
            <a:extLst xmlns:a="http://schemas.openxmlformats.org/drawingml/2006/main">
              <a:ext uri="{FF2B5EF4-FFF2-40B4-BE49-F238E27FC236}">
                <a16:creationId xmlns:a16="http://schemas.microsoft.com/office/drawing/2014/main" id="{AA8CC60D-E924-4347-9AC6-8DDED56BFCD4}"/>
              </a:ext>
            </a:extLst>
          </p:cNvPr>
          <p:cNvSpPr>
            <a:spLocks xmlns:a="http://schemas.openxmlformats.org/drawingml/2006/main" noGrp="1"/>
          </p:cNvSpPr>
          <p:nvPr/>
        </p:nvSpPr>
        <p:spPr>
          <a:xfrm xmlns:a="http://schemas.openxmlformats.org/drawingml/2006/main">
            <a:off x="1962150" y="2524125"/>
            <a:ext cx="27686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Akute Gefahren beherrschen und Folgebehandlung organisieren.</a:t>
            </a:r>
          </a:p>
        </p:txBody>
      </p:sp>
      <p:sp>
        <p:nvSpPr>
          <p:cNvPr id="8" name="">
            <a:extLst xmlns:a="http://schemas.openxmlformats.org/drawingml/2006/main">
              <a:ext uri="{FF2B5EF4-FFF2-40B4-BE49-F238E27FC236}">
                <a16:creationId xmlns:a16="http://schemas.microsoft.com/office/drawing/2014/main" id="{E8523543-E09B-4767-9817-1574B1F83B61}"/>
              </a:ext>
            </a:extLst>
          </p:cNvPr>
          <p:cNvSpPr>
            <a:spLocks xmlns:a="http://schemas.openxmlformats.org/drawingml/2006/main" noGrp="1"/>
          </p:cNvSpPr>
          <p:nvPr/>
        </p:nvSpPr>
        <p:spPr>
          <a:xfrm xmlns:a="http://schemas.openxmlformats.org/drawingml/2006/main">
            <a:off x="5035550" y="1952625"/>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9" name="">
            <a:extLst xmlns:a="http://schemas.openxmlformats.org/drawingml/2006/main">
              <a:ext uri="{FF2B5EF4-FFF2-40B4-BE49-F238E27FC236}">
                <a16:creationId xmlns:a16="http://schemas.microsoft.com/office/drawing/2014/main" id="{BD4D9744-99E6-4CC7-9AAD-E18D60BF35D0}"/>
              </a:ext>
            </a:extLst>
          </p:cNvPr>
          <p:cNvSpPr>
            <a:spLocks xmlns:a="http://schemas.openxmlformats.org/drawingml/2006/main" noGrp="1"/>
          </p:cNvSpPr>
          <p:nvPr/>
        </p:nvSpPr>
        <p:spPr>
          <a:xfrm xmlns:a="http://schemas.openxmlformats.org/drawingml/2006/main">
            <a:off x="5035550" y="1952625"/>
            <a:ext cx="307340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BF4FA596-9BE3-41DB-9B80-2F3831CE63E7}"/>
              </a:ext>
            </a:extLst>
          </p:cNvPr>
          <p:cNvSpPr>
            <a:spLocks xmlns:a="http://schemas.openxmlformats.org/drawingml/2006/main" noGrp="1"/>
          </p:cNvSpPr>
          <p:nvPr/>
        </p:nvSpPr>
        <p:spPr>
          <a:xfrm xmlns:a="http://schemas.openxmlformats.org/drawingml/2006/main">
            <a:off x="5187950" y="2085975"/>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Wahr &amp; zeitnah</a:t>
            </a:r>
          </a:p>
        </p:txBody>
      </p:sp>
      <p:sp>
        <p:nvSpPr>
          <p:cNvPr id="11" name="">
            <a:extLst xmlns:a="http://schemas.openxmlformats.org/drawingml/2006/main">
              <a:ext uri="{FF2B5EF4-FFF2-40B4-BE49-F238E27FC236}">
                <a16:creationId xmlns:a16="http://schemas.microsoft.com/office/drawing/2014/main" id="{D18DFECA-1B78-42FE-8416-FE1A1DA95C48}"/>
              </a:ext>
            </a:extLst>
          </p:cNvPr>
          <p:cNvSpPr>
            <a:spLocks xmlns:a="http://schemas.openxmlformats.org/drawingml/2006/main" noGrp="1"/>
          </p:cNvSpPr>
          <p:nvPr/>
        </p:nvSpPr>
        <p:spPr>
          <a:xfrm xmlns:a="http://schemas.openxmlformats.org/drawingml/2006/main">
            <a:off x="5187950" y="2524125"/>
            <a:ext cx="27686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Befunde, Entscheidungen und Unsicherheit dokumentieren – keine Kosmetik.</a:t>
            </a:r>
          </a:p>
        </p:txBody>
      </p:sp>
      <p:sp>
        <p:nvSpPr>
          <p:cNvPr id="12" name="">
            <a:extLst xmlns:a="http://schemas.openxmlformats.org/drawingml/2006/main">
              <a:ext uri="{FF2B5EF4-FFF2-40B4-BE49-F238E27FC236}">
                <a16:creationId xmlns:a16="http://schemas.microsoft.com/office/drawing/2014/main" id="{41263FCB-6858-4C14-9FA4-42CD4CF33ED4}"/>
              </a:ext>
            </a:extLst>
          </p:cNvPr>
          <p:cNvSpPr>
            <a:spLocks xmlns:a="http://schemas.openxmlformats.org/drawingml/2006/main" noGrp="1"/>
          </p:cNvSpPr>
          <p:nvPr/>
        </p:nvSpPr>
        <p:spPr>
          <a:xfrm xmlns:a="http://schemas.openxmlformats.org/drawingml/2006/main">
            <a:off x="8261350" y="1952625"/>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13" name="">
            <a:extLst xmlns:a="http://schemas.openxmlformats.org/drawingml/2006/main">
              <a:ext uri="{FF2B5EF4-FFF2-40B4-BE49-F238E27FC236}">
                <a16:creationId xmlns:a16="http://schemas.microsoft.com/office/drawing/2014/main" id="{C4B4A7BC-60BA-41EA-9CFE-D197BC0446FB}"/>
              </a:ext>
            </a:extLst>
          </p:cNvPr>
          <p:cNvSpPr>
            <a:spLocks xmlns:a="http://schemas.openxmlformats.org/drawingml/2006/main" noGrp="1"/>
          </p:cNvSpPr>
          <p:nvPr/>
        </p:nvSpPr>
        <p:spPr>
          <a:xfrm xmlns:a="http://schemas.openxmlformats.org/drawingml/2006/main">
            <a:off x="8261350" y="1952625"/>
            <a:ext cx="30734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EF4539A5-F41F-40FD-9B55-66AAD89729A4}"/>
              </a:ext>
            </a:extLst>
          </p:cNvPr>
          <p:cNvSpPr>
            <a:spLocks xmlns:a="http://schemas.openxmlformats.org/drawingml/2006/main" noGrp="1"/>
          </p:cNvSpPr>
          <p:nvPr/>
        </p:nvSpPr>
        <p:spPr>
          <a:xfrm xmlns:a="http://schemas.openxmlformats.org/drawingml/2006/main">
            <a:off x="8413750" y="2085975"/>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Offen, nicht spekulativ</a:t>
            </a:r>
          </a:p>
        </p:txBody>
      </p:sp>
      <p:sp>
        <p:nvSpPr>
          <p:cNvPr id="15" name="">
            <a:extLst xmlns:a="http://schemas.openxmlformats.org/drawingml/2006/main">
              <a:ext uri="{FF2B5EF4-FFF2-40B4-BE49-F238E27FC236}">
                <a16:creationId xmlns:a16="http://schemas.microsoft.com/office/drawing/2014/main" id="{BB4C27A4-3A6A-4EC2-9112-E618A3DF79A5}"/>
              </a:ext>
            </a:extLst>
          </p:cNvPr>
          <p:cNvSpPr>
            <a:spLocks xmlns:a="http://schemas.openxmlformats.org/drawingml/2006/main" noGrp="1"/>
          </p:cNvSpPr>
          <p:nvPr/>
        </p:nvSpPr>
        <p:spPr>
          <a:xfrm xmlns:a="http://schemas.openxmlformats.org/drawingml/2006/main">
            <a:off x="8413750" y="2524125"/>
            <a:ext cx="27686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Bekanntes erklären; Schuldzuweisungen und Vermutungen vermeiden.</a:t>
            </a:r>
          </a:p>
        </p:txBody>
      </p:sp>
      <p:sp>
        <p:nvSpPr>
          <p:cNvPr id="16" name="">
            <a:extLst xmlns:a="http://schemas.openxmlformats.org/drawingml/2006/main">
              <a:ext uri="{FF2B5EF4-FFF2-40B4-BE49-F238E27FC236}">
                <a16:creationId xmlns:a16="http://schemas.microsoft.com/office/drawing/2014/main" id="{97E1BBE2-3BCA-4B8C-A852-02114C41F250}"/>
              </a:ext>
            </a:extLst>
          </p:cNvPr>
          <p:cNvSpPr>
            <a:spLocks xmlns:a="http://schemas.openxmlformats.org/drawingml/2006/main" noGrp="1"/>
          </p:cNvSpPr>
          <p:nvPr/>
        </p:nvSpPr>
        <p:spPr>
          <a:xfrm xmlns:a="http://schemas.openxmlformats.org/drawingml/2006/main">
            <a:off x="1809750" y="3767138"/>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17" name="">
            <a:extLst xmlns:a="http://schemas.openxmlformats.org/drawingml/2006/main">
              <a:ext uri="{FF2B5EF4-FFF2-40B4-BE49-F238E27FC236}">
                <a16:creationId xmlns:a16="http://schemas.microsoft.com/office/drawing/2014/main" id="{C27D618D-ECD7-4BD3-B27C-C66903D021CD}"/>
              </a:ext>
            </a:extLst>
          </p:cNvPr>
          <p:cNvSpPr>
            <a:spLocks xmlns:a="http://schemas.openxmlformats.org/drawingml/2006/main" noGrp="1"/>
          </p:cNvSpPr>
          <p:nvPr/>
        </p:nvSpPr>
        <p:spPr>
          <a:xfrm xmlns:a="http://schemas.openxmlformats.org/drawingml/2006/main">
            <a:off x="1809750" y="3767138"/>
            <a:ext cx="307340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024D6AB6-49E9-4B0D-9DAE-76BC8DA42C4B}"/>
              </a:ext>
            </a:extLst>
          </p:cNvPr>
          <p:cNvSpPr>
            <a:spLocks xmlns:a="http://schemas.openxmlformats.org/drawingml/2006/main" noGrp="1"/>
          </p:cNvSpPr>
          <p:nvPr/>
        </p:nvSpPr>
        <p:spPr>
          <a:xfrm xmlns:a="http://schemas.openxmlformats.org/drawingml/2006/main">
            <a:off x="1962150" y="3900488"/>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Früh koordinieren</a:t>
            </a:r>
          </a:p>
        </p:txBody>
      </p:sp>
      <p:sp>
        <p:nvSpPr>
          <p:cNvPr id="19" name="">
            <a:extLst xmlns:a="http://schemas.openxmlformats.org/drawingml/2006/main">
              <a:ext uri="{FF2B5EF4-FFF2-40B4-BE49-F238E27FC236}">
                <a16:creationId xmlns:a16="http://schemas.microsoft.com/office/drawing/2014/main" id="{D33113FB-9925-4899-AC5A-6F75D72DDC8D}"/>
              </a:ext>
            </a:extLst>
          </p:cNvPr>
          <p:cNvSpPr>
            <a:spLocks xmlns:a="http://schemas.openxmlformats.org/drawingml/2006/main" noGrp="1"/>
          </p:cNvSpPr>
          <p:nvPr/>
        </p:nvSpPr>
        <p:spPr>
          <a:xfrm xmlns:a="http://schemas.openxmlformats.org/drawingml/2006/main">
            <a:off x="1962150" y="4338638"/>
            <a:ext cx="27686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Vorgesetzte, Risikomanagement und Haftpflichtweg einbinden.</a:t>
            </a:r>
          </a:p>
        </p:txBody>
      </p:sp>
      <p:sp>
        <p:nvSpPr>
          <p:cNvPr id="20" name="">
            <a:extLst xmlns:a="http://schemas.openxmlformats.org/drawingml/2006/main">
              <a:ext uri="{FF2B5EF4-FFF2-40B4-BE49-F238E27FC236}">
                <a16:creationId xmlns:a16="http://schemas.microsoft.com/office/drawing/2014/main" id="{FCA71C12-F9EF-44AE-A38A-B99431995410}"/>
              </a:ext>
            </a:extLst>
          </p:cNvPr>
          <p:cNvSpPr>
            <a:spLocks xmlns:a="http://schemas.openxmlformats.org/drawingml/2006/main" noGrp="1"/>
          </p:cNvSpPr>
          <p:nvPr/>
        </p:nvSpPr>
        <p:spPr>
          <a:xfrm xmlns:a="http://schemas.openxmlformats.org/drawingml/2006/main">
            <a:off x="5035550" y="3767138"/>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21" name="">
            <a:extLst xmlns:a="http://schemas.openxmlformats.org/drawingml/2006/main">
              <a:ext uri="{FF2B5EF4-FFF2-40B4-BE49-F238E27FC236}">
                <a16:creationId xmlns:a16="http://schemas.microsoft.com/office/drawing/2014/main" id="{CA751977-51D7-45B3-825F-1274D2E0E433}"/>
              </a:ext>
            </a:extLst>
          </p:cNvPr>
          <p:cNvSpPr>
            <a:spLocks xmlns:a="http://schemas.openxmlformats.org/drawingml/2006/main" noGrp="1"/>
          </p:cNvSpPr>
          <p:nvPr/>
        </p:nvSpPr>
        <p:spPr>
          <a:xfrm xmlns:a="http://schemas.openxmlformats.org/drawingml/2006/main">
            <a:off x="5035550" y="3767138"/>
            <a:ext cx="30734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22" name="">
            <a:extLst xmlns:a="http://schemas.openxmlformats.org/drawingml/2006/main">
              <a:ext uri="{FF2B5EF4-FFF2-40B4-BE49-F238E27FC236}">
                <a16:creationId xmlns:a16="http://schemas.microsoft.com/office/drawing/2014/main" id="{B3472404-AB5B-419D-B47B-D7D523D33DA7}"/>
              </a:ext>
            </a:extLst>
          </p:cNvPr>
          <p:cNvSpPr>
            <a:spLocks xmlns:a="http://schemas.openxmlformats.org/drawingml/2006/main" noGrp="1"/>
          </p:cNvSpPr>
          <p:nvPr/>
        </p:nvSpPr>
        <p:spPr>
          <a:xfrm xmlns:a="http://schemas.openxmlformats.org/drawingml/2006/main">
            <a:off x="5187950" y="3900488"/>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Rolle kennen</a:t>
            </a:r>
          </a:p>
        </p:txBody>
      </p:sp>
      <p:sp>
        <p:nvSpPr>
          <p:cNvPr id="23" name="">
            <a:extLst xmlns:a="http://schemas.openxmlformats.org/drawingml/2006/main">
              <a:ext uri="{FF2B5EF4-FFF2-40B4-BE49-F238E27FC236}">
                <a16:creationId xmlns:a16="http://schemas.microsoft.com/office/drawing/2014/main" id="{E84EABC6-4017-43E8-A937-4931D51EFF47}"/>
              </a:ext>
            </a:extLst>
          </p:cNvPr>
          <p:cNvSpPr>
            <a:spLocks xmlns:a="http://schemas.openxmlformats.org/drawingml/2006/main" noGrp="1"/>
          </p:cNvSpPr>
          <p:nvPr/>
        </p:nvSpPr>
        <p:spPr>
          <a:xfrm xmlns:a="http://schemas.openxmlformats.org/drawingml/2006/main">
            <a:off x="5187950" y="4338638"/>
            <a:ext cx="27686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Behandelnde, Zeugin, Beschuldigte oder Sachverständiger handeln unterschiedlich.</a:t>
            </a:r>
          </a:p>
        </p:txBody>
      </p:sp>
      <p:sp>
        <p:nvSpPr>
          <p:cNvPr id="24" name="">
            <a:extLst xmlns:a="http://schemas.openxmlformats.org/drawingml/2006/main">
              <a:ext uri="{FF2B5EF4-FFF2-40B4-BE49-F238E27FC236}">
                <a16:creationId xmlns:a16="http://schemas.microsoft.com/office/drawing/2014/main" id="{C7FA1303-7EF4-4D49-9FA8-C4235E53CCF2}"/>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5" name="">
            <a:extLst xmlns:a="http://schemas.openxmlformats.org/drawingml/2006/main">
              <a:ext uri="{FF2B5EF4-FFF2-40B4-BE49-F238E27FC236}">
                <a16:creationId xmlns:a16="http://schemas.microsoft.com/office/drawing/2014/main" id="{ABCBE719-C18C-407D-8C42-571EC3E2F72A}"/>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Rechtssicherheit entsteht meist aus guter Medizin plus sauberem Prozess – nicht aus maximaler Diagnostik.</a:t>
            </a:r>
          </a:p>
        </p:txBody>
      </p:sp>
    </p:spTree>
    <p:extLst>
      <p:ext uri="{BB962C8B-B14F-4D97-AF65-F5344CB8AC3E}">
        <p14:creationId xmlns:p14="http://schemas.microsoft.com/office/powerpoint/2010/main" val="43637646"/>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endParaRPr/>
          </a:p>
        </p:txBody>
      </p:sp>
      <p:sp>
        <p:nvSpPr>
          <p:cNvPr id="4" name="">
            <a:extLst xmlns:a="http://schemas.openxmlformats.org/drawingml/2006/main">
              <a:ext uri="{FF2B5EF4-FFF2-40B4-BE49-F238E27FC236}">
                <a16:creationId xmlns:a16="http://schemas.microsoft.com/office/drawing/2014/main" id="{55CC24E8-4EAC-47CB-BC2A-3264DDDF0129}"/>
              </a:ext>
            </a:extLst>
          </p:cNvPr>
          <p:cNvSpPr>
            <a:spLocks xmlns:a="http://schemas.openxmlformats.org/drawingml/2006/main" noGrp="1"/>
          </p:cNvSpPr>
          <p:nvPr/>
        </p:nvSpPr>
        <p:spPr>
          <a:xfrm xmlns:a="http://schemas.openxmlformats.org/drawingml/2006/main">
            <a:off x="2571750" y="2038350"/>
            <a:ext cx="838200" cy="628650"/>
          </a:xfrm>
          <a:prstGeom xmlns:a="http://schemas.openxmlformats.org/drawingml/2006/main" prst="roundRect">
            <a:avLst>
              <a:gd name="adj" fmla="val 12121"/>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F989B3A0-040D-4CB2-A79F-5D131FE5FB52}"/>
              </a:ext>
            </a:extLst>
          </p:cNvPr>
          <p:cNvSpPr>
            <a:spLocks xmlns:a="http://schemas.openxmlformats.org/drawingml/2006/main" noGrp="1"/>
          </p:cNvSpPr>
          <p:nvPr/>
        </p:nvSpPr>
        <p:spPr>
          <a:xfrm xmlns:a="http://schemas.openxmlformats.org/drawingml/2006/main">
            <a:off x="2571750" y="2038350"/>
            <a:ext cx="8382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FFFFFF"/>
                </a:solidFill>
              </a:defRPr>
            </a:pPr>
            <a:r>
              <a:rPr sz="2100" b="1">
                <a:solidFill>
                  <a:srgbClr val="FFFFFF"/>
                </a:solidFill>
              </a:rPr>
              <a:t>01</a:t>
            </a:r>
          </a:p>
        </p:txBody>
      </p:sp>
      <p:sp>
        <p:nvSpPr>
          <p:cNvPr id="6" name="">
            <a:extLst xmlns:a="http://schemas.openxmlformats.org/drawingml/2006/main">
              <a:ext uri="{FF2B5EF4-FFF2-40B4-BE49-F238E27FC236}">
                <a16:creationId xmlns:a16="http://schemas.microsoft.com/office/drawing/2014/main" id="{A09B46E7-6720-4B07-9426-4BE76376B3AC}"/>
              </a:ext>
            </a:extLst>
          </p:cNvPr>
          <p:cNvSpPr>
            <a:spLocks xmlns:a="http://schemas.openxmlformats.org/drawingml/2006/main" noGrp="1"/>
          </p:cNvSpPr>
          <p:nvPr/>
        </p:nvSpPr>
        <p:spPr>
          <a:xfrm xmlns:a="http://schemas.openxmlformats.org/drawingml/2006/main">
            <a:off x="3667125" y="2000250"/>
            <a:ext cx="8096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4400">
                <a:solidFill>
                  <a:srgbClr val="003F6B"/>
                </a:solidFill>
              </a:defRPr>
            </a:pPr>
            <a:r>
              <a:rPr sz="4400">
                <a:solidFill>
                  <a:srgbClr val="003F6B"/>
                </a:solidFill>
              </a:rPr>
              <a:t>Orientierung</a:t>
            </a:r>
          </a:p>
        </p:txBody>
      </p:sp>
      <p:sp>
        <p:nvSpPr>
          <p:cNvPr id="7" name="">
            <a:extLst xmlns:a="http://schemas.openxmlformats.org/drawingml/2006/main">
              <a:ext uri="{FF2B5EF4-FFF2-40B4-BE49-F238E27FC236}">
                <a16:creationId xmlns:a16="http://schemas.microsoft.com/office/drawing/2014/main" id="{1A342E38-6B4C-442B-B1FD-7395BD9BA591}"/>
              </a:ext>
            </a:extLst>
          </p:cNvPr>
          <p:cNvSpPr>
            <a:spLocks xmlns:a="http://schemas.openxmlformats.org/drawingml/2006/main" noGrp="1"/>
          </p:cNvSpPr>
          <p:nvPr/>
        </p:nvSpPr>
        <p:spPr>
          <a:xfrm xmlns:a="http://schemas.openxmlformats.org/drawingml/2006/main">
            <a:off x="3238500" y="3333750"/>
            <a:ext cx="8524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400">
                <a:solidFill>
                  <a:srgbClr val="003F6B"/>
                </a:solidFill>
              </a:defRPr>
            </a:pPr>
            <a:r>
              <a:rPr sz="2400">
                <a:solidFill>
                  <a:srgbClr val="003F6B"/>
                </a:solidFill>
              </a:rPr>
              <a:t>Termin: 14.10.2026 · 16:30–17:45 · V03 0-C001</a:t>
            </a:r>
          </a:p>
        </p:txBody>
      </p:sp>
      <p:sp>
        <p:nvSpPr>
          <p:cNvPr id="8" name="">
            <a:extLst xmlns:a="http://schemas.openxmlformats.org/drawingml/2006/main">
              <a:ext uri="{FF2B5EF4-FFF2-40B4-BE49-F238E27FC236}">
                <a16:creationId xmlns:a16="http://schemas.microsoft.com/office/drawing/2014/main" id="{846F1FD4-297F-4408-AF14-B459EB403360}"/>
              </a:ext>
            </a:extLst>
          </p:cNvPr>
          <p:cNvSpPr>
            <a:spLocks xmlns:a="http://schemas.openxmlformats.org/drawingml/2006/main" noGrp="1"/>
          </p:cNvSpPr>
          <p:nvPr/>
        </p:nvSpPr>
        <p:spPr>
          <a:xfrm xmlns:a="http://schemas.openxmlformats.org/drawingml/2006/main">
            <a:off x="3238500" y="3752850"/>
            <a:ext cx="8524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400">
                <a:solidFill>
                  <a:srgbClr val="003F6B"/>
                </a:solidFill>
              </a:defRPr>
            </a:pPr>
            <a:r>
              <a:rPr sz="2400">
                <a:solidFill>
                  <a:srgbClr val="003F6B"/>
                </a:solidFill>
              </a:rPr>
              <a:t>Vom klinischen Konflikt zur richtigen Verfahrensspur</a:t>
            </a:r>
          </a:p>
        </p:txBody>
      </p:sp>
      <p:sp>
        <p:nvSpPr>
          <p:cNvPr id="9" name="">
            <a:extLst xmlns:a="http://schemas.openxmlformats.org/drawingml/2006/main">
              <a:ext uri="{FF2B5EF4-FFF2-40B4-BE49-F238E27FC236}">
                <a16:creationId xmlns:a16="http://schemas.microsoft.com/office/drawing/2014/main" id="{36521294-1214-4F3A-866A-969FEF4D9CC6}"/>
              </a:ext>
            </a:extLst>
          </p:cNvPr>
          <p:cNvSpPr>
            <a:spLocks xmlns:a="http://schemas.openxmlformats.org/drawingml/2006/main" noGrp="1"/>
          </p:cNvSpPr>
          <p:nvPr/>
        </p:nvSpPr>
        <p:spPr>
          <a:xfrm xmlns:a="http://schemas.openxmlformats.org/drawingml/2006/main">
            <a:off x="3238500" y="4552950"/>
            <a:ext cx="8524875"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400">
                <a:solidFill>
                  <a:srgbClr val="003F6B"/>
                </a:solidFill>
              </a:defRPr>
            </a:pPr>
            <a:r>
              <a:rPr sz="2400">
                <a:solidFill>
                  <a:srgbClr val="003F6B"/>
                </a:solidFill>
              </a:rPr>
              <a:t>Was passiert am Montagmorgen nach einem Zwischenfall?</a:t>
            </a:r>
          </a:p>
        </p:txBody>
      </p:sp>
    </p:spTree>
    <p:extLst>
      <p:ext uri="{BB962C8B-B14F-4D97-AF65-F5344CB8AC3E}">
        <p14:creationId xmlns:p14="http://schemas.microsoft.com/office/powerpoint/2010/main" val="43637646"/>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Lernziele Termin 01: Orientierung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CHECKLISTE · AM ENDE DES HEUTIGEN TERMINS KANN ICH …</a:t>
            </a:r>
            <a:endParaRPr/>
          </a:p>
        </p:txBody>
      </p:sp>
      <p:sp>
        <p:nvSpPr>
          <p:cNvPr id="4" name="">
            <a:extLst xmlns:a="http://schemas.openxmlformats.org/drawingml/2006/main">
              <a:ext uri="{FF2B5EF4-FFF2-40B4-BE49-F238E27FC236}">
                <a16:creationId xmlns:a16="http://schemas.microsoft.com/office/drawing/2014/main" id="{80197A8A-126F-4305-8719-9016D7023999}"/>
              </a:ext>
            </a:extLst>
          </p:cNvPr>
          <p:cNvSpPr>
            <a:spLocks xmlns:a="http://schemas.openxmlformats.org/drawingml/2006/main" noGrp="1"/>
          </p:cNvSpPr>
          <p:nvPr/>
        </p:nvSpPr>
        <p:spPr>
          <a:xfrm xmlns:a="http://schemas.openxmlformats.org/drawingml/2006/main">
            <a:off x="1809750" y="198120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B2BB"/>
            </a:solidFill>
            <a:prstDash val="solid"/>
          </a:ln>
        </p:spPr>
      </p:sp>
      <p:sp>
        <p:nvSpPr>
          <p:cNvPr id="5" name="">
            <a:extLst xmlns:a="http://schemas.openxmlformats.org/drawingml/2006/main">
              <a:ext uri="{FF2B5EF4-FFF2-40B4-BE49-F238E27FC236}">
                <a16:creationId xmlns:a16="http://schemas.microsoft.com/office/drawing/2014/main" id="{1E2A4FB8-E219-441F-A67B-E71EBE02E0A6}"/>
              </a:ext>
            </a:extLst>
          </p:cNvPr>
          <p:cNvSpPr>
            <a:spLocks xmlns:a="http://schemas.openxmlformats.org/drawingml/2006/main" noGrp="1"/>
          </p:cNvSpPr>
          <p:nvPr/>
        </p:nvSpPr>
        <p:spPr>
          <a:xfrm xmlns:a="http://schemas.openxmlformats.org/drawingml/2006/main">
            <a:off x="1943100" y="2124075"/>
            <a:ext cx="40005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7A53B4FD-1E63-4AB9-ABFE-F91F85769A21}"/>
              </a:ext>
            </a:extLst>
          </p:cNvPr>
          <p:cNvSpPr>
            <a:spLocks xmlns:a="http://schemas.openxmlformats.org/drawingml/2006/main" noGrp="1"/>
          </p:cNvSpPr>
          <p:nvPr/>
        </p:nvSpPr>
        <p:spPr>
          <a:xfrm xmlns:a="http://schemas.openxmlformats.org/drawingml/2006/main">
            <a:off x="1943100" y="21050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7" name="">
            <a:extLst xmlns:a="http://schemas.openxmlformats.org/drawingml/2006/main">
              <a:ext uri="{FF2B5EF4-FFF2-40B4-BE49-F238E27FC236}">
                <a16:creationId xmlns:a16="http://schemas.microsoft.com/office/drawing/2014/main" id="{39EC7E7B-7EB1-4968-B5C5-4E4FD9E64999}"/>
              </a:ext>
            </a:extLst>
          </p:cNvPr>
          <p:cNvSpPr>
            <a:spLocks xmlns:a="http://schemas.openxmlformats.org/drawingml/2006/main" noGrp="1"/>
          </p:cNvSpPr>
          <p:nvPr/>
        </p:nvSpPr>
        <p:spPr>
          <a:xfrm xmlns:a="http://schemas.openxmlformats.org/drawingml/2006/main">
            <a:off x="2476500" y="207645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materielles Recht und Prozessrecht unterscheiden.</a:t>
            </a:r>
          </a:p>
        </p:txBody>
      </p:sp>
      <p:sp>
        <p:nvSpPr>
          <p:cNvPr id="8" name="">
            <a:extLst xmlns:a="http://schemas.openxmlformats.org/drawingml/2006/main">
              <a:ext uri="{FF2B5EF4-FFF2-40B4-BE49-F238E27FC236}">
                <a16:creationId xmlns:a16="http://schemas.microsoft.com/office/drawing/2014/main" id="{4F29E492-9311-4748-AF0E-76BF185A2E04}"/>
              </a:ext>
            </a:extLst>
          </p:cNvPr>
          <p:cNvSpPr>
            <a:spLocks xmlns:a="http://schemas.openxmlformats.org/drawingml/2006/main" noGrp="1"/>
          </p:cNvSpPr>
          <p:nvPr/>
        </p:nvSpPr>
        <p:spPr>
          <a:xfrm xmlns:a="http://schemas.openxmlformats.org/drawingml/2006/main">
            <a:off x="6696075" y="198120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3F6B"/>
            </a:solidFill>
            <a:prstDash val="solid"/>
          </a:ln>
        </p:spPr>
      </p:sp>
      <p:sp>
        <p:nvSpPr>
          <p:cNvPr id="9" name="">
            <a:extLst xmlns:a="http://schemas.openxmlformats.org/drawingml/2006/main">
              <a:ext uri="{FF2B5EF4-FFF2-40B4-BE49-F238E27FC236}">
                <a16:creationId xmlns:a16="http://schemas.microsoft.com/office/drawing/2014/main" id="{97EB953A-DB62-4856-92B1-3C2940B785B2}"/>
              </a:ext>
            </a:extLst>
          </p:cNvPr>
          <p:cNvSpPr>
            <a:spLocks xmlns:a="http://schemas.openxmlformats.org/drawingml/2006/main" noGrp="1"/>
          </p:cNvSpPr>
          <p:nvPr/>
        </p:nvSpPr>
        <p:spPr>
          <a:xfrm xmlns:a="http://schemas.openxmlformats.org/drawingml/2006/main">
            <a:off x="6829425" y="2124075"/>
            <a:ext cx="4000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69149D60-9E5D-4781-A453-816DF722246E}"/>
              </a:ext>
            </a:extLst>
          </p:cNvPr>
          <p:cNvSpPr>
            <a:spLocks xmlns:a="http://schemas.openxmlformats.org/drawingml/2006/main" noGrp="1"/>
          </p:cNvSpPr>
          <p:nvPr/>
        </p:nvSpPr>
        <p:spPr>
          <a:xfrm xmlns:a="http://schemas.openxmlformats.org/drawingml/2006/main">
            <a:off x="6829425" y="21050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11" name="">
            <a:extLst xmlns:a="http://schemas.openxmlformats.org/drawingml/2006/main">
              <a:ext uri="{FF2B5EF4-FFF2-40B4-BE49-F238E27FC236}">
                <a16:creationId xmlns:a16="http://schemas.microsoft.com/office/drawing/2014/main" id="{48A6B242-37E5-4992-B380-D5F62FF9ED00}"/>
              </a:ext>
            </a:extLst>
          </p:cNvPr>
          <p:cNvSpPr>
            <a:spLocks xmlns:a="http://schemas.openxmlformats.org/drawingml/2006/main" noGrp="1"/>
          </p:cNvSpPr>
          <p:nvPr/>
        </p:nvSpPr>
        <p:spPr>
          <a:xfrm xmlns:a="http://schemas.openxmlformats.org/drawingml/2006/main">
            <a:off x="7362825" y="207645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Zivilrecht, Strafrecht, Berufsrecht und Verwaltungsrecht auseinanderhalten.</a:t>
            </a:r>
          </a:p>
        </p:txBody>
      </p:sp>
      <p:sp>
        <p:nvSpPr>
          <p:cNvPr id="12" name="">
            <a:extLst xmlns:a="http://schemas.openxmlformats.org/drawingml/2006/main">
              <a:ext uri="{FF2B5EF4-FFF2-40B4-BE49-F238E27FC236}">
                <a16:creationId xmlns:a16="http://schemas.microsoft.com/office/drawing/2014/main" id="{8981DAB9-D943-4AB1-85D4-F06AE57A9B59}"/>
              </a:ext>
            </a:extLst>
          </p:cNvPr>
          <p:cNvSpPr>
            <a:spLocks xmlns:a="http://schemas.openxmlformats.org/drawingml/2006/main" noGrp="1"/>
          </p:cNvSpPr>
          <p:nvPr/>
        </p:nvSpPr>
        <p:spPr>
          <a:xfrm xmlns:a="http://schemas.openxmlformats.org/drawingml/2006/main">
            <a:off x="1809750" y="316865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B2BB"/>
            </a:solidFill>
            <a:prstDash val="solid"/>
          </a:ln>
        </p:spPr>
      </p:sp>
      <p:sp>
        <p:nvSpPr>
          <p:cNvPr id="13" name="">
            <a:extLst xmlns:a="http://schemas.openxmlformats.org/drawingml/2006/main">
              <a:ext uri="{FF2B5EF4-FFF2-40B4-BE49-F238E27FC236}">
                <a16:creationId xmlns:a16="http://schemas.microsoft.com/office/drawing/2014/main" id="{146B55B0-CAF4-4962-B685-4A72BD02018F}"/>
              </a:ext>
            </a:extLst>
          </p:cNvPr>
          <p:cNvSpPr>
            <a:spLocks xmlns:a="http://schemas.openxmlformats.org/drawingml/2006/main" noGrp="1"/>
          </p:cNvSpPr>
          <p:nvPr/>
        </p:nvSpPr>
        <p:spPr>
          <a:xfrm xmlns:a="http://schemas.openxmlformats.org/drawingml/2006/main">
            <a:off x="1943100" y="3311525"/>
            <a:ext cx="40005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41F058A4-69C4-457C-BBCF-0D6C19BF4CBD}"/>
              </a:ext>
            </a:extLst>
          </p:cNvPr>
          <p:cNvSpPr>
            <a:spLocks xmlns:a="http://schemas.openxmlformats.org/drawingml/2006/main" noGrp="1"/>
          </p:cNvSpPr>
          <p:nvPr/>
        </p:nvSpPr>
        <p:spPr>
          <a:xfrm xmlns:a="http://schemas.openxmlformats.org/drawingml/2006/main">
            <a:off x="1943100" y="32924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15" name="">
            <a:extLst xmlns:a="http://schemas.openxmlformats.org/drawingml/2006/main">
              <a:ext uri="{FF2B5EF4-FFF2-40B4-BE49-F238E27FC236}">
                <a16:creationId xmlns:a16="http://schemas.microsoft.com/office/drawing/2014/main" id="{0554685C-1A32-4250-A3B0-A6E08A450BEA}"/>
              </a:ext>
            </a:extLst>
          </p:cNvPr>
          <p:cNvSpPr>
            <a:spLocks xmlns:a="http://schemas.openxmlformats.org/drawingml/2006/main" noGrp="1"/>
          </p:cNvSpPr>
          <p:nvPr/>
        </p:nvSpPr>
        <p:spPr>
          <a:xfrm xmlns:a="http://schemas.openxmlformats.org/drawingml/2006/main">
            <a:off x="2476500" y="326390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den Erlanger Baby-Fall in Tatsachen, Rechtspositionen und Zuständigkeiten zerlegen.</a:t>
            </a:r>
          </a:p>
        </p:txBody>
      </p:sp>
      <p:sp>
        <p:nvSpPr>
          <p:cNvPr id="16" name="">
            <a:extLst xmlns:a="http://schemas.openxmlformats.org/drawingml/2006/main">
              <a:ext uri="{FF2B5EF4-FFF2-40B4-BE49-F238E27FC236}">
                <a16:creationId xmlns:a16="http://schemas.microsoft.com/office/drawing/2014/main" id="{CC8EF3AB-C62E-4A9E-BF64-CD1AE35C6C49}"/>
              </a:ext>
            </a:extLst>
          </p:cNvPr>
          <p:cNvSpPr>
            <a:spLocks xmlns:a="http://schemas.openxmlformats.org/drawingml/2006/main" noGrp="1"/>
          </p:cNvSpPr>
          <p:nvPr/>
        </p:nvSpPr>
        <p:spPr>
          <a:xfrm xmlns:a="http://schemas.openxmlformats.org/drawingml/2006/main">
            <a:off x="6696075" y="316865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3F6B"/>
            </a:solidFill>
            <a:prstDash val="solid"/>
          </a:ln>
        </p:spPr>
      </p:sp>
      <p:sp>
        <p:nvSpPr>
          <p:cNvPr id="17" name="">
            <a:extLst xmlns:a="http://schemas.openxmlformats.org/drawingml/2006/main">
              <a:ext uri="{FF2B5EF4-FFF2-40B4-BE49-F238E27FC236}">
                <a16:creationId xmlns:a16="http://schemas.microsoft.com/office/drawing/2014/main" id="{46978865-CD33-4022-8D4A-5197574D3CF9}"/>
              </a:ext>
            </a:extLst>
          </p:cNvPr>
          <p:cNvSpPr>
            <a:spLocks xmlns:a="http://schemas.openxmlformats.org/drawingml/2006/main" noGrp="1"/>
          </p:cNvSpPr>
          <p:nvPr/>
        </p:nvSpPr>
        <p:spPr>
          <a:xfrm xmlns:a="http://schemas.openxmlformats.org/drawingml/2006/main">
            <a:off x="6829425" y="3311525"/>
            <a:ext cx="4000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64ACA5DC-5B04-4FFC-80DA-D25259903233}"/>
              </a:ext>
            </a:extLst>
          </p:cNvPr>
          <p:cNvSpPr>
            <a:spLocks xmlns:a="http://schemas.openxmlformats.org/drawingml/2006/main" noGrp="1"/>
          </p:cNvSpPr>
          <p:nvPr/>
        </p:nvSpPr>
        <p:spPr>
          <a:xfrm xmlns:a="http://schemas.openxmlformats.org/drawingml/2006/main">
            <a:off x="6829425" y="32924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19" name="">
            <a:extLst xmlns:a="http://schemas.openxmlformats.org/drawingml/2006/main">
              <a:ext uri="{FF2B5EF4-FFF2-40B4-BE49-F238E27FC236}">
                <a16:creationId xmlns:a16="http://schemas.microsoft.com/office/drawing/2014/main" id="{81E40818-6838-4D31-9473-2FAF3DBC4F39}"/>
              </a:ext>
            </a:extLst>
          </p:cNvPr>
          <p:cNvSpPr>
            <a:spLocks xmlns:a="http://schemas.openxmlformats.org/drawingml/2006/main" noGrp="1"/>
          </p:cNvSpPr>
          <p:nvPr/>
        </p:nvSpPr>
        <p:spPr>
          <a:xfrm xmlns:a="http://schemas.openxmlformats.org/drawingml/2006/main">
            <a:off x="7362825" y="326390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einen Sachverhalt in Tatbestand, Rechtsfolge und Beweisfrage gliedern.</a:t>
            </a:r>
          </a:p>
        </p:txBody>
      </p:sp>
      <p:sp>
        <p:nvSpPr>
          <p:cNvPr id="20" name="">
            <a:extLst xmlns:a="http://schemas.openxmlformats.org/drawingml/2006/main">
              <a:ext uri="{FF2B5EF4-FFF2-40B4-BE49-F238E27FC236}">
                <a16:creationId xmlns:a16="http://schemas.microsoft.com/office/drawing/2014/main" id="{A8AF7A75-36AB-4397-9DD6-BE1B7AEB90F0}"/>
              </a:ext>
            </a:extLst>
          </p:cNvPr>
          <p:cNvSpPr>
            <a:spLocks xmlns:a="http://schemas.openxmlformats.org/drawingml/2006/main" noGrp="1"/>
          </p:cNvSpPr>
          <p:nvPr/>
        </p:nvSpPr>
        <p:spPr>
          <a:xfrm xmlns:a="http://schemas.openxmlformats.org/drawingml/2006/main">
            <a:off x="1809750" y="435610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B2BB"/>
            </a:solidFill>
            <a:prstDash val="solid"/>
          </a:ln>
        </p:spPr>
      </p:sp>
      <p:sp>
        <p:nvSpPr>
          <p:cNvPr id="21" name="">
            <a:extLst xmlns:a="http://schemas.openxmlformats.org/drawingml/2006/main">
              <a:ext uri="{FF2B5EF4-FFF2-40B4-BE49-F238E27FC236}">
                <a16:creationId xmlns:a16="http://schemas.microsoft.com/office/drawing/2014/main" id="{ACC7B790-CF4A-433B-8CEA-FF398D364DD7}"/>
              </a:ext>
            </a:extLst>
          </p:cNvPr>
          <p:cNvSpPr>
            <a:spLocks xmlns:a="http://schemas.openxmlformats.org/drawingml/2006/main" noGrp="1"/>
          </p:cNvSpPr>
          <p:nvPr/>
        </p:nvSpPr>
        <p:spPr>
          <a:xfrm xmlns:a="http://schemas.openxmlformats.org/drawingml/2006/main">
            <a:off x="1943100" y="4498975"/>
            <a:ext cx="40005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2" name="">
            <a:extLst xmlns:a="http://schemas.openxmlformats.org/drawingml/2006/main">
              <a:ext uri="{FF2B5EF4-FFF2-40B4-BE49-F238E27FC236}">
                <a16:creationId xmlns:a16="http://schemas.microsoft.com/office/drawing/2014/main" id="{5B7448EE-DBB0-4053-8911-D608E2C31C1E}"/>
              </a:ext>
            </a:extLst>
          </p:cNvPr>
          <p:cNvSpPr>
            <a:spLocks xmlns:a="http://schemas.openxmlformats.org/drawingml/2006/main" noGrp="1"/>
          </p:cNvSpPr>
          <p:nvPr/>
        </p:nvSpPr>
        <p:spPr>
          <a:xfrm xmlns:a="http://schemas.openxmlformats.org/drawingml/2006/main">
            <a:off x="1943100" y="44799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23" name="">
            <a:extLst xmlns:a="http://schemas.openxmlformats.org/drawingml/2006/main">
              <a:ext uri="{FF2B5EF4-FFF2-40B4-BE49-F238E27FC236}">
                <a16:creationId xmlns:a16="http://schemas.microsoft.com/office/drawing/2014/main" id="{FA7AFA43-A28D-42C5-BA83-8F07A787362E}"/>
              </a:ext>
            </a:extLst>
          </p:cNvPr>
          <p:cNvSpPr>
            <a:spLocks xmlns:a="http://schemas.openxmlformats.org/drawingml/2006/main" noGrp="1"/>
          </p:cNvSpPr>
          <p:nvPr/>
        </p:nvSpPr>
        <p:spPr>
          <a:xfrm xmlns:a="http://schemas.openxmlformats.org/drawingml/2006/main">
            <a:off x="2476500" y="445135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erklären, wer was behaupten und beweisen muss.</a:t>
            </a:r>
          </a:p>
        </p:txBody>
      </p:sp>
      <p:sp>
        <p:nvSpPr>
          <p:cNvPr id="24" name="">
            <a:extLst xmlns:a="http://schemas.openxmlformats.org/drawingml/2006/main">
              <a:ext uri="{FF2B5EF4-FFF2-40B4-BE49-F238E27FC236}">
                <a16:creationId xmlns:a16="http://schemas.microsoft.com/office/drawing/2014/main" id="{D36312BF-D317-4676-A78A-5897748CCF46}"/>
              </a:ext>
            </a:extLst>
          </p:cNvPr>
          <p:cNvSpPr>
            <a:spLocks xmlns:a="http://schemas.openxmlformats.org/drawingml/2006/main" noGrp="1"/>
          </p:cNvSpPr>
          <p:nvPr/>
        </p:nvSpPr>
        <p:spPr>
          <a:xfrm xmlns:a="http://schemas.openxmlformats.org/drawingml/2006/main">
            <a:off x="6696075" y="435610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3F6B"/>
            </a:solidFill>
            <a:prstDash val="solid"/>
          </a:ln>
        </p:spPr>
      </p:sp>
      <p:sp>
        <p:nvSpPr>
          <p:cNvPr id="25" name="">
            <a:extLst xmlns:a="http://schemas.openxmlformats.org/drawingml/2006/main">
              <a:ext uri="{FF2B5EF4-FFF2-40B4-BE49-F238E27FC236}">
                <a16:creationId xmlns:a16="http://schemas.microsoft.com/office/drawing/2014/main" id="{2624634D-CDC2-4832-A4DA-5EA19770CD98}"/>
              </a:ext>
            </a:extLst>
          </p:cNvPr>
          <p:cNvSpPr>
            <a:spLocks xmlns:a="http://schemas.openxmlformats.org/drawingml/2006/main" noGrp="1"/>
          </p:cNvSpPr>
          <p:nvPr/>
        </p:nvSpPr>
        <p:spPr>
          <a:xfrm xmlns:a="http://schemas.openxmlformats.org/drawingml/2006/main">
            <a:off x="6829425" y="4498975"/>
            <a:ext cx="4000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26" name="">
            <a:extLst xmlns:a="http://schemas.openxmlformats.org/drawingml/2006/main">
              <a:ext uri="{FF2B5EF4-FFF2-40B4-BE49-F238E27FC236}">
                <a16:creationId xmlns:a16="http://schemas.microsoft.com/office/drawing/2014/main" id="{9121026F-4A5C-4940-A18E-C52614617188}"/>
              </a:ext>
            </a:extLst>
          </p:cNvPr>
          <p:cNvSpPr>
            <a:spLocks xmlns:a="http://schemas.openxmlformats.org/drawingml/2006/main" noGrp="1"/>
          </p:cNvSpPr>
          <p:nvPr/>
        </p:nvSpPr>
        <p:spPr>
          <a:xfrm xmlns:a="http://schemas.openxmlformats.org/drawingml/2006/main">
            <a:off x="6829425" y="44799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27" name="">
            <a:extLst xmlns:a="http://schemas.openxmlformats.org/drawingml/2006/main">
              <a:ext uri="{FF2B5EF4-FFF2-40B4-BE49-F238E27FC236}">
                <a16:creationId xmlns:a16="http://schemas.microsoft.com/office/drawing/2014/main" id="{D28755A1-A083-48F1-AE06-FDAD159F6A41}"/>
              </a:ext>
            </a:extLst>
          </p:cNvPr>
          <p:cNvSpPr>
            <a:spLocks xmlns:a="http://schemas.openxmlformats.org/drawingml/2006/main" noGrp="1"/>
          </p:cNvSpPr>
          <p:nvPr/>
        </p:nvSpPr>
        <p:spPr>
          <a:xfrm xmlns:a="http://schemas.openxmlformats.org/drawingml/2006/main">
            <a:off x="7362825" y="445135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den Weg vom klinischen Ereignis bis zur Entscheidung skizzieren.</a:t>
            </a:r>
          </a:p>
        </p:txBody>
      </p:sp>
      <p:sp>
        <p:nvSpPr>
          <p:cNvPr id="28" name="">
            <a:extLst xmlns:a="http://schemas.openxmlformats.org/drawingml/2006/main">
              <a:ext uri="{FF2B5EF4-FFF2-40B4-BE49-F238E27FC236}">
                <a16:creationId xmlns:a16="http://schemas.microsoft.com/office/drawing/2014/main" id="{EA8979A5-3276-4066-A9B2-7B3CDEE59D5E}"/>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638">
                <a:solidFill>
                  <a:srgbClr val="667680"/>
                </a:solidFill>
              </a:defRPr>
            </a:pPr>
            <a:r>
              <a:rPr sz="638">
                <a:solidFill>
                  <a:srgbClr val="667680"/>
                </a:solidFill>
              </a:rPr>
              <a:t>Lernziele aus Seminarbeschreibung und Vorlesungsstruktur abgeleitet · https://elearning.uni-oldenburg.de/dispatch.php/course/details/index/64fffee6d869d134c6683909368deed9?cancel_login=1</a:t>
            </a:r>
          </a:p>
        </p:txBody>
      </p:sp>
    </p:spTree>
    <p:extLst>
      <p:ext uri="{BB962C8B-B14F-4D97-AF65-F5344CB8AC3E}">
        <p14:creationId xmlns:p14="http://schemas.microsoft.com/office/powerpoint/2010/main" val="43637646"/>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Leitentscheidung · Der Erlanger-Baby-Fall als Verfahrens- und Abwägungsfall</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ORIGINALENTSCHEIDUNG · TERMIN 01</a:t>
            </a:r>
            <a:endParaRPr/>
          </a:p>
        </p:txBody>
      </p:sp>
      <p:sp>
        <p:nvSpPr>
          <p:cNvPr id="4" name="">
            <a:extLst xmlns:a="http://schemas.openxmlformats.org/drawingml/2006/main">
              <a:ext uri="{FF2B5EF4-FFF2-40B4-BE49-F238E27FC236}">
                <a16:creationId xmlns:a16="http://schemas.microsoft.com/office/drawing/2014/main" id="{E787A85C-6CDC-4FBF-B4E8-255ACDF038EF}"/>
              </a:ext>
            </a:extLst>
          </p:cNvPr>
          <p:cNvSpPr>
            <a:spLocks xmlns:a="http://schemas.openxmlformats.org/drawingml/2006/main" noGrp="1"/>
          </p:cNvSpPr>
          <p:nvPr/>
        </p:nvSpPr>
        <p:spPr>
          <a:xfrm xmlns:a="http://schemas.openxmlformats.org/drawingml/2006/main">
            <a:off x="1809750" y="1943100"/>
            <a:ext cx="11239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6B9150BD-6FEA-4EC2-9EAA-3C27432920CA}"/>
              </a:ext>
            </a:extLst>
          </p:cNvPr>
          <p:cNvSpPr>
            <a:spLocks xmlns:a="http://schemas.openxmlformats.org/drawingml/2006/main" noGrp="1"/>
          </p:cNvSpPr>
          <p:nvPr/>
        </p:nvSpPr>
        <p:spPr>
          <a:xfrm xmlns:a="http://schemas.openxmlformats.org/drawingml/2006/main">
            <a:off x="1809750" y="1943100"/>
            <a:ext cx="1123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38" b="1">
                <a:solidFill>
                  <a:srgbClr val="FFFFFF"/>
                </a:solidFill>
              </a:defRPr>
            </a:pPr>
            <a:r>
              <a:rPr sz="938" b="1">
                <a:solidFill>
                  <a:srgbClr val="FFFFFF"/>
                </a:solidFill>
              </a:rPr>
              <a:t>AG Hersbruck</a:t>
            </a:r>
          </a:p>
        </p:txBody>
      </p:sp>
      <p:sp>
        <p:nvSpPr>
          <p:cNvPr id="6" name="">
            <a:extLst xmlns:a="http://schemas.openxmlformats.org/drawingml/2006/main">
              <a:ext uri="{FF2B5EF4-FFF2-40B4-BE49-F238E27FC236}">
                <a16:creationId xmlns:a16="http://schemas.microsoft.com/office/drawing/2014/main" id="{0CC4B740-A057-432F-9833-6B8BCE8BE3E0}"/>
              </a:ext>
            </a:extLst>
          </p:cNvPr>
          <p:cNvSpPr>
            <a:spLocks xmlns:a="http://schemas.openxmlformats.org/drawingml/2006/main" noGrp="1"/>
          </p:cNvSpPr>
          <p:nvPr/>
        </p:nvSpPr>
        <p:spPr>
          <a:xfrm xmlns:a="http://schemas.openxmlformats.org/drawingml/2006/main">
            <a:off x="312420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16.10.1992 · XVII 1556/92 A</a:t>
            </a:r>
          </a:p>
        </p:txBody>
      </p:sp>
      <p:sp>
        <p:nvSpPr>
          <p:cNvPr id="7" name="">
            <a:extLst xmlns:a="http://schemas.openxmlformats.org/drawingml/2006/main">
              <a:ext uri="{FF2B5EF4-FFF2-40B4-BE49-F238E27FC236}">
                <a16:creationId xmlns:a16="http://schemas.microsoft.com/office/drawing/2014/main" id="{06CF605B-2C4D-4EC7-AC21-6828AF194738}"/>
              </a:ext>
            </a:extLst>
          </p:cNvPr>
          <p:cNvSpPr>
            <a:spLocks xmlns:a="http://schemas.openxmlformats.org/drawingml/2006/main" noGrp="1"/>
          </p:cNvSpPr>
          <p:nvPr/>
        </p:nvSpPr>
        <p:spPr>
          <a:xfrm xmlns:a="http://schemas.openxmlformats.org/drawingml/2006/main">
            <a:off x="733425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050">
                <a:solidFill>
                  <a:srgbClr val="667680"/>
                </a:solidFill>
              </a:defRPr>
            </a:pPr>
            <a:r>
              <a:rPr sz="1050">
                <a:solidFill>
                  <a:srgbClr val="667680"/>
                </a:solidFill>
              </a:rPr>
              <a:t>Grenzfall ohne einfache Ein-Norm-Lösung</a:t>
            </a:r>
          </a:p>
        </p:txBody>
      </p:sp>
      <p:sp>
        <p:nvSpPr>
          <p:cNvPr id="8" name="">
            <a:extLst xmlns:a="http://schemas.openxmlformats.org/drawingml/2006/main">
              <a:ext uri="{FF2B5EF4-FFF2-40B4-BE49-F238E27FC236}">
                <a16:creationId xmlns:a16="http://schemas.microsoft.com/office/drawing/2014/main" id="{76EF20FE-F698-4E9F-AB4D-317D70F757AE}"/>
              </a:ext>
            </a:extLst>
          </p:cNvPr>
          <p:cNvSpPr>
            <a:spLocks xmlns:a="http://schemas.openxmlformats.org/drawingml/2006/main" noGrp="1"/>
          </p:cNvSpPr>
          <p:nvPr/>
        </p:nvSpPr>
        <p:spPr>
          <a:xfrm xmlns:a="http://schemas.openxmlformats.org/drawingml/2006/main">
            <a:off x="1809750" y="2533650"/>
            <a:ext cx="1676400" cy="781050"/>
          </a:xfrm>
          <a:prstGeom xmlns:a="http://schemas.openxmlformats.org/drawingml/2006/main" prst="roundRect">
            <a:avLst>
              <a:gd name="adj" fmla="val 9756"/>
            </a:avLst>
          </a:prstGeom>
          <a:solidFill xmlns:a="http://schemas.openxmlformats.org/drawingml/2006/main">
            <a:srgbClr val="00B2BB"/>
          </a:solidFill>
          <a:ln xmlns:a="http://schemas.openxmlformats.org/drawingml/2006/main" w="0">
            <a:solidFill>
              <a:srgbClr val="00B2BB"/>
            </a:solidFill>
            <a:prstDash val="solid"/>
          </a:ln>
        </p:spPr>
      </p:sp>
      <p:sp>
        <p:nvSpPr>
          <p:cNvPr id="9" name="">
            <a:extLst xmlns:a="http://schemas.openxmlformats.org/drawingml/2006/main">
              <a:ext uri="{FF2B5EF4-FFF2-40B4-BE49-F238E27FC236}">
                <a16:creationId xmlns:a16="http://schemas.microsoft.com/office/drawing/2014/main" id="{E191B351-1739-4B1D-9432-BD07FCF9A05F}"/>
              </a:ext>
            </a:extLst>
          </p:cNvPr>
          <p:cNvSpPr>
            <a:spLocks xmlns:a="http://schemas.openxmlformats.org/drawingml/2006/main" noGrp="1"/>
          </p:cNvSpPr>
          <p:nvPr/>
        </p:nvSpPr>
        <p:spPr>
          <a:xfrm xmlns:a="http://schemas.openxmlformats.org/drawingml/2006/main">
            <a:off x="1924050" y="25336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Ausgangsfall</a:t>
            </a:r>
          </a:p>
        </p:txBody>
      </p:sp>
      <p:sp>
        <p:nvSpPr>
          <p:cNvPr id="10" name="">
            <a:extLst xmlns:a="http://schemas.openxmlformats.org/drawingml/2006/main">
              <a:ext uri="{FF2B5EF4-FFF2-40B4-BE49-F238E27FC236}">
                <a16:creationId xmlns:a16="http://schemas.microsoft.com/office/drawing/2014/main" id="{288E4321-6481-469C-A4C4-9354DB4FA6A8}"/>
              </a:ext>
            </a:extLst>
          </p:cNvPr>
          <p:cNvSpPr>
            <a:spLocks xmlns:a="http://schemas.openxmlformats.org/drawingml/2006/main" noGrp="1"/>
          </p:cNvSpPr>
          <p:nvPr/>
        </p:nvSpPr>
        <p:spPr>
          <a:xfrm xmlns:a="http://schemas.openxmlformats.org/drawingml/2006/main">
            <a:off x="3695700" y="25336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Eine hirntote Schwangere wurde intensivmedizinisch weiterbehandelt, um die Schwangerschaft fortzuführen. Im Eilverfahren stand zunächst die Bestellung eines Pflegers für die Leibesfrucht im Raum.</a:t>
            </a:r>
          </a:p>
        </p:txBody>
      </p:sp>
      <p:sp>
        <p:nvSpPr>
          <p:cNvPr id="11" name="">
            <a:extLst xmlns:a="http://schemas.openxmlformats.org/drawingml/2006/main">
              <a:ext uri="{FF2B5EF4-FFF2-40B4-BE49-F238E27FC236}">
                <a16:creationId xmlns:a16="http://schemas.microsoft.com/office/drawing/2014/main" id="{A051A2F1-F2F0-407C-B66A-3E9E15D0F07A}"/>
              </a:ext>
            </a:extLst>
          </p:cNvPr>
          <p:cNvSpPr>
            <a:spLocks xmlns:a="http://schemas.openxmlformats.org/drawingml/2006/main" noGrp="1"/>
          </p:cNvSpPr>
          <p:nvPr/>
        </p:nvSpPr>
        <p:spPr>
          <a:xfrm xmlns:a="http://schemas.openxmlformats.org/drawingml/2006/main">
            <a:off x="1809750" y="3486150"/>
            <a:ext cx="1676400" cy="781050"/>
          </a:xfrm>
          <a:prstGeom xmlns:a="http://schemas.openxmlformats.org/drawingml/2006/main" prst="roundRect">
            <a:avLst>
              <a:gd name="adj" fmla="val 9756"/>
            </a:avLst>
          </a:prstGeom>
          <a:solidFill xmlns:a="http://schemas.openxmlformats.org/drawingml/2006/main">
            <a:srgbClr val="003F6B"/>
          </a:solidFill>
          <a:ln xmlns:a="http://schemas.openxmlformats.org/drawingml/2006/main" w="0">
            <a:solidFill>
              <a:srgbClr val="003F6B"/>
            </a:solidFill>
            <a:prstDash val="solid"/>
          </a:ln>
        </p:spPr>
      </p:sp>
      <p:sp>
        <p:nvSpPr>
          <p:cNvPr id="12" name="">
            <a:extLst xmlns:a="http://schemas.openxmlformats.org/drawingml/2006/main">
              <a:ext uri="{FF2B5EF4-FFF2-40B4-BE49-F238E27FC236}">
                <a16:creationId xmlns:a16="http://schemas.microsoft.com/office/drawing/2014/main" id="{DFB01115-40B8-4BBF-8437-2FFA6FAA8EB9}"/>
              </a:ext>
            </a:extLst>
          </p:cNvPr>
          <p:cNvSpPr>
            <a:spLocks xmlns:a="http://schemas.openxmlformats.org/drawingml/2006/main" noGrp="1"/>
          </p:cNvSpPr>
          <p:nvPr/>
        </p:nvSpPr>
        <p:spPr>
          <a:xfrm xmlns:a="http://schemas.openxmlformats.org/drawingml/2006/main">
            <a:off x="1924050" y="34861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Leitsatzkern</a:t>
            </a:r>
          </a:p>
        </p:txBody>
      </p:sp>
      <p:sp>
        <p:nvSpPr>
          <p:cNvPr id="13" name="">
            <a:extLst xmlns:a="http://schemas.openxmlformats.org/drawingml/2006/main">
              <a:ext uri="{FF2B5EF4-FFF2-40B4-BE49-F238E27FC236}">
                <a16:creationId xmlns:a16="http://schemas.microsoft.com/office/drawing/2014/main" id="{7C22517E-3A6F-4062-B25B-B1DF2E62143B}"/>
              </a:ext>
            </a:extLst>
          </p:cNvPr>
          <p:cNvSpPr>
            <a:spLocks xmlns:a="http://schemas.openxmlformats.org/drawingml/2006/main" noGrp="1"/>
          </p:cNvSpPr>
          <p:nvPr/>
        </p:nvSpPr>
        <p:spPr>
          <a:xfrm xmlns:a="http://schemas.openxmlformats.org/drawingml/2006/main">
            <a:off x="3695700" y="34861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Leitsatzkern (paraphrasiert): Schutz ungeborenen Lebens, fortwirkender Achtungsanspruch der Verstorbenen, mutmaßlicher Wille, medizinische Prognose und Beteiligtenstellung müssen in einem tragfähigen Verfahren gegeneinander abgewogen werden.</a:t>
            </a:r>
          </a:p>
        </p:txBody>
      </p:sp>
      <p:sp>
        <p:nvSpPr>
          <p:cNvPr id="14" name="">
            <a:extLst xmlns:a="http://schemas.openxmlformats.org/drawingml/2006/main">
              <a:ext uri="{FF2B5EF4-FFF2-40B4-BE49-F238E27FC236}">
                <a16:creationId xmlns:a16="http://schemas.microsoft.com/office/drawing/2014/main" id="{2237B4FE-AACE-4374-ABBF-2BA21EEC98E2}"/>
              </a:ext>
            </a:extLst>
          </p:cNvPr>
          <p:cNvSpPr>
            <a:spLocks xmlns:a="http://schemas.openxmlformats.org/drawingml/2006/main" noGrp="1"/>
          </p:cNvSpPr>
          <p:nvPr/>
        </p:nvSpPr>
        <p:spPr>
          <a:xfrm xmlns:a="http://schemas.openxmlformats.org/drawingml/2006/main">
            <a:off x="1809750" y="4438650"/>
            <a:ext cx="1676400" cy="781050"/>
          </a:xfrm>
          <a:prstGeom xmlns:a="http://schemas.openxmlformats.org/drawingml/2006/main" prst="roundRect">
            <a:avLst>
              <a:gd name="adj" fmla="val 9756"/>
            </a:avLst>
          </a:prstGeom>
          <a:solidFill xmlns:a="http://schemas.openxmlformats.org/drawingml/2006/main">
            <a:srgbClr val="00B2BB"/>
          </a:solidFill>
          <a:ln xmlns:a="http://schemas.openxmlformats.org/drawingml/2006/main" w="0">
            <a:solidFill>
              <a:srgbClr val="00B2BB"/>
            </a:solidFill>
            <a:prstDash val="solid"/>
          </a:ln>
        </p:spPr>
      </p:sp>
      <p:sp>
        <p:nvSpPr>
          <p:cNvPr id="15" name="">
            <a:extLst xmlns:a="http://schemas.openxmlformats.org/drawingml/2006/main">
              <a:ext uri="{FF2B5EF4-FFF2-40B4-BE49-F238E27FC236}">
                <a16:creationId xmlns:a16="http://schemas.microsoft.com/office/drawing/2014/main" id="{51392D2D-959E-4A03-8607-4DC1860E8BB2}"/>
              </a:ext>
            </a:extLst>
          </p:cNvPr>
          <p:cNvSpPr>
            <a:spLocks xmlns:a="http://schemas.openxmlformats.org/drawingml/2006/main" noGrp="1"/>
          </p:cNvSpPr>
          <p:nvPr/>
        </p:nvSpPr>
        <p:spPr>
          <a:xfrm xmlns:a="http://schemas.openxmlformats.org/drawingml/2006/main">
            <a:off x="1924050" y="44386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Für die Praxis</a:t>
            </a:r>
          </a:p>
        </p:txBody>
      </p:sp>
      <p:sp>
        <p:nvSpPr>
          <p:cNvPr id="16" name="">
            <a:extLst xmlns:a="http://schemas.openxmlformats.org/drawingml/2006/main">
              <a:ext uri="{FF2B5EF4-FFF2-40B4-BE49-F238E27FC236}">
                <a16:creationId xmlns:a16="http://schemas.microsoft.com/office/drawing/2014/main" id="{0192A863-D731-41C6-B406-DFD0FC3E9244}"/>
              </a:ext>
            </a:extLst>
          </p:cNvPr>
          <p:cNvSpPr>
            <a:spLocks xmlns:a="http://schemas.openxmlformats.org/drawingml/2006/main" noGrp="1"/>
          </p:cNvSpPr>
          <p:nvPr/>
        </p:nvSpPr>
        <p:spPr>
          <a:xfrm xmlns:a="http://schemas.openxmlformats.org/drawingml/2006/main">
            <a:off x="3695700" y="44386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Nicht bei der Betreuerbestellung stehen bleiben: Wer vertritt welches Interesse, welche Tatsachen fehlen, welche Zwischenlösung ist reversibel und wer entscheidet unter Zeitdruck?</a:t>
            </a:r>
          </a:p>
        </p:txBody>
      </p:sp>
      <p:sp>
        <p:nvSpPr>
          <p:cNvPr id="17" name="">
            <a:extLst xmlns:a="http://schemas.openxmlformats.org/drawingml/2006/main">
              <a:ext uri="{FF2B5EF4-FFF2-40B4-BE49-F238E27FC236}">
                <a16:creationId xmlns:a16="http://schemas.microsoft.com/office/drawing/2014/main" id="{B22E95D6-6C0C-42A1-AE46-B450A0B92B8D}"/>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20">
                <a:solidFill>
                  <a:srgbClr val="667680"/>
                </a:solidFill>
              </a:defRPr>
            </a:pPr>
            <a:r>
              <a:rPr sz="720">
                <a:solidFill>
                  <a:srgbClr val="667680"/>
                </a:solidFill>
              </a:rPr>
              <a:t>AG Hersbruck, Beschl. v. 16.10.1992 – XVII 1556/92 A · https://dejure.org/1992,4493 · Kritik: https://doi.org/10.5771/0934-9200-1993-1-9</a:t>
            </a:r>
          </a:p>
        </p:txBody>
      </p:sp>
    </p:spTree>
    <p:extLst>
      <p:ext uri="{BB962C8B-B14F-4D97-AF65-F5344CB8AC3E}">
        <p14:creationId xmlns:p14="http://schemas.microsoft.com/office/powerpoint/2010/main" val="43637646"/>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Die zwei zivilrechtlichen Anspruchsanker</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GESETZESTEXT · GEKÜRZTER LEHRAUSZUG</a:t>
            </a:r>
            <a:endParaRPr/>
          </a:p>
        </p:txBody>
      </p:sp>
      <p:sp>
        <p:nvSpPr>
          <p:cNvPr id="4" name="">
            <a:extLst xmlns:a="http://schemas.openxmlformats.org/drawingml/2006/main">
              <a:ext uri="{FF2B5EF4-FFF2-40B4-BE49-F238E27FC236}">
                <a16:creationId xmlns:a16="http://schemas.microsoft.com/office/drawing/2014/main" id="{6F56FED5-0240-44C5-9819-E2A31039EC96}"/>
              </a:ext>
            </a:extLst>
          </p:cNvPr>
          <p:cNvSpPr>
            <a:spLocks xmlns:a="http://schemas.openxmlformats.org/drawingml/2006/main" noGrp="1"/>
          </p:cNvSpPr>
          <p:nvPr/>
        </p:nvSpPr>
        <p:spPr>
          <a:xfrm xmlns:a="http://schemas.openxmlformats.org/drawingml/2006/main">
            <a:off x="1809750" y="1943100"/>
            <a:ext cx="4648200" cy="3371850"/>
          </a:xfrm>
          <a:prstGeom xmlns:a="http://schemas.openxmlformats.org/drawingml/2006/main" prst="roundRect">
            <a:avLst>
              <a:gd name="adj" fmla="val 2260"/>
            </a:avLst>
          </a:prstGeom>
          <a:solidFill xmlns:a="http://schemas.openxmlformats.org/drawingml/2006/main">
            <a:srgbClr val="F3F7F9"/>
          </a:solidFill>
          <a:ln xmlns:a="http://schemas.openxmlformats.org/drawingml/2006/main" w="11430">
            <a:solidFill>
              <a:srgbClr val="00B2BB"/>
            </a:solidFill>
            <a:prstDash val="solid"/>
          </a:ln>
        </p:spPr>
      </p:sp>
      <p:sp>
        <p:nvSpPr>
          <p:cNvPr id="5" name="">
            <a:extLst xmlns:a="http://schemas.openxmlformats.org/drawingml/2006/main">
              <a:ext uri="{FF2B5EF4-FFF2-40B4-BE49-F238E27FC236}">
                <a16:creationId xmlns:a16="http://schemas.microsoft.com/office/drawing/2014/main" id="{679ABE06-48FD-48EE-B8A0-47D593C5C30B}"/>
              </a:ext>
            </a:extLst>
          </p:cNvPr>
          <p:cNvSpPr>
            <a:spLocks xmlns:a="http://schemas.openxmlformats.org/drawingml/2006/main" noGrp="1"/>
          </p:cNvSpPr>
          <p:nvPr/>
        </p:nvSpPr>
        <p:spPr>
          <a:xfrm xmlns:a="http://schemas.openxmlformats.org/drawingml/2006/main">
            <a:off x="1943100" y="2076450"/>
            <a:ext cx="1409700" cy="381000"/>
          </a:xfrm>
          <a:prstGeom xmlns:a="http://schemas.openxmlformats.org/drawingml/2006/main" prst="roundRect">
            <a:avLst>
              <a:gd name="adj" fmla="val 20000"/>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60951FA8-A18A-4ABC-BA2B-B994D4D35081}"/>
              </a:ext>
            </a:extLst>
          </p:cNvPr>
          <p:cNvSpPr>
            <a:spLocks xmlns:a="http://schemas.openxmlformats.org/drawingml/2006/main" noGrp="1"/>
          </p:cNvSpPr>
          <p:nvPr/>
        </p:nvSpPr>
        <p:spPr>
          <a:xfrm xmlns:a="http://schemas.openxmlformats.org/drawingml/2006/main">
            <a:off x="1943100" y="207645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 280 I BGB</a:t>
            </a:r>
          </a:p>
        </p:txBody>
      </p:sp>
      <p:sp>
        <p:nvSpPr>
          <p:cNvPr id="7" name="">
            <a:extLst xmlns:a="http://schemas.openxmlformats.org/drawingml/2006/main">
              <a:ext uri="{FF2B5EF4-FFF2-40B4-BE49-F238E27FC236}">
                <a16:creationId xmlns:a16="http://schemas.microsoft.com/office/drawing/2014/main" id="{6EDDE343-C74D-4BC8-8709-6915537EBA12}"/>
              </a:ext>
            </a:extLst>
          </p:cNvPr>
          <p:cNvSpPr>
            <a:spLocks xmlns:a="http://schemas.openxmlformats.org/drawingml/2006/main" noGrp="1"/>
          </p:cNvSpPr>
          <p:nvPr/>
        </p:nvSpPr>
        <p:spPr>
          <a:xfrm xmlns:a="http://schemas.openxmlformats.org/drawingml/2006/main">
            <a:off x="3486150" y="2057400"/>
            <a:ext cx="2838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Vertragliche Haftung</a:t>
            </a:r>
          </a:p>
        </p:txBody>
      </p:sp>
      <p:sp>
        <p:nvSpPr>
          <p:cNvPr id="8" name="">
            <a:extLst xmlns:a="http://schemas.openxmlformats.org/drawingml/2006/main">
              <a:ext uri="{FF2B5EF4-FFF2-40B4-BE49-F238E27FC236}">
                <a16:creationId xmlns:a16="http://schemas.microsoft.com/office/drawing/2014/main" id="{6D0B1D52-C28F-4AB6-8622-0DAA345623BA}"/>
              </a:ext>
            </a:extLst>
          </p:cNvPr>
          <p:cNvSpPr>
            <a:spLocks xmlns:a="http://schemas.openxmlformats.org/drawingml/2006/main" noGrp="1"/>
          </p:cNvSpPr>
          <p:nvPr/>
        </p:nvSpPr>
        <p:spPr>
          <a:xfrm xmlns:a="http://schemas.openxmlformats.org/drawingml/2006/main">
            <a:off x="1981200" y="2609850"/>
            <a:ext cx="4305300" cy="2533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8">
                <a:solidFill>
                  <a:srgbClr val="15232B"/>
                </a:solidFill>
              </a:defRPr>
            </a:pPr>
            <a:r>
              <a:rPr sz="1148">
                <a:solidFill>
                  <a:srgbClr val="15232B"/>
                </a:solidFill>
              </a:rPr>
              <a:t>Verletzt der Schuldner eine Pflicht aus dem Schuldverhältnis, so kann der Gläubiger Ersatz des hierdurch entstehenden Schadens verlangen. Dies gilt nicht, wenn der Schuldner die Pflichtverletzung nicht zu vertreten hat.</a:t>
            </a:r>
          </a:p>
        </p:txBody>
      </p:sp>
      <p:sp>
        <p:nvSpPr>
          <p:cNvPr id="9" name="">
            <a:extLst xmlns:a="http://schemas.openxmlformats.org/drawingml/2006/main">
              <a:ext uri="{FF2B5EF4-FFF2-40B4-BE49-F238E27FC236}">
                <a16:creationId xmlns:a16="http://schemas.microsoft.com/office/drawing/2014/main" id="{AD150756-18CA-4A0D-B0E4-E3A56E24B658}"/>
              </a:ext>
            </a:extLst>
          </p:cNvPr>
          <p:cNvSpPr>
            <a:spLocks xmlns:a="http://schemas.openxmlformats.org/drawingml/2006/main" noGrp="1"/>
          </p:cNvSpPr>
          <p:nvPr/>
        </p:nvSpPr>
        <p:spPr>
          <a:xfrm xmlns:a="http://schemas.openxmlformats.org/drawingml/2006/main">
            <a:off x="6686550" y="1943100"/>
            <a:ext cx="4648200" cy="3371850"/>
          </a:xfrm>
          <a:prstGeom xmlns:a="http://schemas.openxmlformats.org/drawingml/2006/main" prst="roundRect">
            <a:avLst>
              <a:gd name="adj" fmla="val 2260"/>
            </a:avLst>
          </a:prstGeom>
          <a:solidFill xmlns:a="http://schemas.openxmlformats.org/drawingml/2006/main">
            <a:srgbClr val="F3F7F9"/>
          </a:solidFill>
          <a:ln xmlns:a="http://schemas.openxmlformats.org/drawingml/2006/main" w="11430">
            <a:solidFill>
              <a:srgbClr val="003F6B"/>
            </a:solidFill>
            <a:prstDash val="solid"/>
          </a:ln>
        </p:spPr>
      </p:sp>
      <p:sp>
        <p:nvSpPr>
          <p:cNvPr id="10" name="">
            <a:extLst xmlns:a="http://schemas.openxmlformats.org/drawingml/2006/main">
              <a:ext uri="{FF2B5EF4-FFF2-40B4-BE49-F238E27FC236}">
                <a16:creationId xmlns:a16="http://schemas.microsoft.com/office/drawing/2014/main" id="{09E8382C-9875-430B-B3D3-036CB9E14154}"/>
              </a:ext>
            </a:extLst>
          </p:cNvPr>
          <p:cNvSpPr>
            <a:spLocks xmlns:a="http://schemas.openxmlformats.org/drawingml/2006/main" noGrp="1"/>
          </p:cNvSpPr>
          <p:nvPr/>
        </p:nvSpPr>
        <p:spPr>
          <a:xfrm xmlns:a="http://schemas.openxmlformats.org/drawingml/2006/main">
            <a:off x="6819900" y="2076450"/>
            <a:ext cx="1409700" cy="381000"/>
          </a:xfrm>
          <a:prstGeom xmlns:a="http://schemas.openxmlformats.org/drawingml/2006/main" prst="roundRect">
            <a:avLst>
              <a:gd name="adj" fmla="val 20000"/>
            </a:avLst>
          </a:prstGeom>
          <a:solidFill xmlns:a="http://schemas.openxmlformats.org/drawingml/2006/main">
            <a:srgbClr val="003F6B"/>
          </a:solidFill>
          <a:ln xmlns:a="http://schemas.openxmlformats.org/drawingml/2006/main" w="0">
            <a:solidFill>
              <a:srgbClr val="003F6B"/>
            </a:solidFill>
            <a:prstDash val="solid"/>
          </a:ln>
        </p:spPr>
      </p:sp>
      <p:sp>
        <p:nvSpPr>
          <p:cNvPr id="11" name="">
            <a:extLst xmlns:a="http://schemas.openxmlformats.org/drawingml/2006/main">
              <a:ext uri="{FF2B5EF4-FFF2-40B4-BE49-F238E27FC236}">
                <a16:creationId xmlns:a16="http://schemas.microsoft.com/office/drawing/2014/main" id="{D647198A-29AF-4177-B762-6AF7DB865879}"/>
              </a:ext>
            </a:extLst>
          </p:cNvPr>
          <p:cNvSpPr>
            <a:spLocks xmlns:a="http://schemas.openxmlformats.org/drawingml/2006/main" noGrp="1"/>
          </p:cNvSpPr>
          <p:nvPr/>
        </p:nvSpPr>
        <p:spPr>
          <a:xfrm xmlns:a="http://schemas.openxmlformats.org/drawingml/2006/main">
            <a:off x="6819900" y="207645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 823 I BGB</a:t>
            </a:r>
          </a:p>
        </p:txBody>
      </p:sp>
      <p:sp>
        <p:nvSpPr>
          <p:cNvPr id="12" name="">
            <a:extLst xmlns:a="http://schemas.openxmlformats.org/drawingml/2006/main">
              <a:ext uri="{FF2B5EF4-FFF2-40B4-BE49-F238E27FC236}">
                <a16:creationId xmlns:a16="http://schemas.microsoft.com/office/drawing/2014/main" id="{740F3A53-2757-40DE-A6FD-E167273830ED}"/>
              </a:ext>
            </a:extLst>
          </p:cNvPr>
          <p:cNvSpPr>
            <a:spLocks xmlns:a="http://schemas.openxmlformats.org/drawingml/2006/main" noGrp="1"/>
          </p:cNvSpPr>
          <p:nvPr/>
        </p:nvSpPr>
        <p:spPr>
          <a:xfrm xmlns:a="http://schemas.openxmlformats.org/drawingml/2006/main">
            <a:off x="8362950" y="2057400"/>
            <a:ext cx="2838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Deliktische Haftung</a:t>
            </a:r>
          </a:p>
        </p:txBody>
      </p:sp>
      <p:sp>
        <p:nvSpPr>
          <p:cNvPr id="13" name="">
            <a:extLst xmlns:a="http://schemas.openxmlformats.org/drawingml/2006/main">
              <a:ext uri="{FF2B5EF4-FFF2-40B4-BE49-F238E27FC236}">
                <a16:creationId xmlns:a16="http://schemas.microsoft.com/office/drawing/2014/main" id="{12000CCF-31DC-4523-8F43-5D9C7426C905}"/>
              </a:ext>
            </a:extLst>
          </p:cNvPr>
          <p:cNvSpPr>
            <a:spLocks xmlns:a="http://schemas.openxmlformats.org/drawingml/2006/main" noGrp="1"/>
          </p:cNvSpPr>
          <p:nvPr/>
        </p:nvSpPr>
        <p:spPr>
          <a:xfrm xmlns:a="http://schemas.openxmlformats.org/drawingml/2006/main">
            <a:off x="6858000" y="2609850"/>
            <a:ext cx="4305300" cy="2533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8">
                <a:solidFill>
                  <a:srgbClr val="15232B"/>
                </a:solidFill>
              </a:defRPr>
            </a:pPr>
            <a:r>
              <a:rPr sz="1148">
                <a:solidFill>
                  <a:srgbClr val="15232B"/>
                </a:solidFill>
              </a:rPr>
              <a:t>Wer vorsätzlich oder fahrlässig das Leben, den Körper, die Gesundheit, die Freiheit, das Eigentum oder ein sonstiges Recht eines anderen widerrechtlich verletzt, ist dem anderen zum Ersatz des daraus entstehenden Schadens verpflichtet.</a:t>
            </a:r>
          </a:p>
        </p:txBody>
      </p:sp>
      <p:sp>
        <p:nvSpPr>
          <p:cNvPr id="14" name="">
            <a:extLst xmlns:a="http://schemas.openxmlformats.org/drawingml/2006/main">
              <a:ext uri="{FF2B5EF4-FFF2-40B4-BE49-F238E27FC236}">
                <a16:creationId xmlns:a16="http://schemas.microsoft.com/office/drawing/2014/main" id="{4884130D-E9D7-440E-87B3-C4177D685340}"/>
              </a:ext>
            </a:extLst>
          </p:cNvPr>
          <p:cNvSpPr>
            <a:spLocks xmlns:a="http://schemas.openxmlformats.org/drawingml/2006/main" noGrp="1"/>
          </p:cNvSpPr>
          <p:nvPr/>
        </p:nvSpPr>
        <p:spPr>
          <a:xfrm xmlns:a="http://schemas.openxmlformats.org/drawingml/2006/main">
            <a:off x="1809750" y="5619750"/>
            <a:ext cx="9525000" cy="419100"/>
          </a:xfrm>
          <a:prstGeom xmlns:a="http://schemas.openxmlformats.org/drawingml/2006/main" prst="roundRect">
            <a:avLst>
              <a:gd name="adj" fmla="val 18182"/>
            </a:avLst>
          </a:prstGeom>
          <a:noFill xmlns:a="http://schemas.openxmlformats.org/drawingml/2006/main"/>
          <a:ln xmlns:a="http://schemas.openxmlformats.org/drawingml/2006/main" w="11430">
            <a:solidFill>
              <a:srgbClr val="00B2BB"/>
            </a:solidFill>
            <a:prstDash val="solid"/>
          </a:ln>
        </p:spPr>
      </p:sp>
      <p:sp>
        <p:nvSpPr>
          <p:cNvPr id="15" name="">
            <a:extLst xmlns:a="http://schemas.openxmlformats.org/drawingml/2006/main">
              <a:ext uri="{FF2B5EF4-FFF2-40B4-BE49-F238E27FC236}">
                <a16:creationId xmlns:a16="http://schemas.microsoft.com/office/drawing/2014/main" id="{DFB839D6-62E7-4D59-A6EC-22CA53D51FA5}"/>
              </a:ext>
            </a:extLst>
          </p:cNvPr>
          <p:cNvSpPr>
            <a:spLocks xmlns:a="http://schemas.openxmlformats.org/drawingml/2006/main" noGrp="1"/>
          </p:cNvSpPr>
          <p:nvPr/>
        </p:nvSpPr>
        <p:spPr>
          <a:xfrm xmlns:a="http://schemas.openxmlformats.org/drawingml/2006/main">
            <a:off x="1962150" y="5638800"/>
            <a:ext cx="9220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13" b="1">
                <a:solidFill>
                  <a:srgbClr val="003F6B"/>
                </a:solidFill>
              </a:defRPr>
            </a:pPr>
            <a:r>
              <a:rPr sz="1013" b="1">
                <a:solidFill>
                  <a:srgbClr val="003F6B"/>
                </a:solidFill>
              </a:rPr>
              <a:t>Praxislesart: § 280 fragt nach Vertrag + Pflichtverletzung; § 823 nach Rechtsgutsverletzung. Im Arzthaftungsfall werden beide häufig nebeneinander geprüft.</a:t>
            </a:r>
          </a:p>
        </p:txBody>
      </p:sp>
      <p:sp>
        <p:nvSpPr>
          <p:cNvPr id="16" name="">
            <a:extLst xmlns:a="http://schemas.openxmlformats.org/drawingml/2006/main">
              <a:ext uri="{FF2B5EF4-FFF2-40B4-BE49-F238E27FC236}">
                <a16:creationId xmlns:a16="http://schemas.microsoft.com/office/drawing/2014/main" id="{1C35405B-B301-483C-B768-0E0FCF25AC1E}"/>
              </a:ext>
            </a:extLst>
          </p:cNvPr>
          <p:cNvSpPr>
            <a:spLocks xmlns:a="http://schemas.openxmlformats.org/drawingml/2006/main" noGrp="1"/>
          </p:cNvSpPr>
          <p:nvPr/>
        </p:nvSpPr>
        <p:spPr>
          <a:xfrm xmlns:a="http://schemas.openxmlformats.org/drawingml/2006/main">
            <a:off x="1809750" y="535305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05">
                <a:solidFill>
                  <a:srgbClr val="667680"/>
                </a:solidFill>
              </a:defRPr>
            </a:pPr>
            <a:r>
              <a:rPr sz="705">
                <a:solidFill>
                  <a:srgbClr val="667680"/>
                </a:solidFill>
              </a:rPr>
              <a:t>BMJ/BfJ, gesetze-im-internet.de/bgb/__280.html und /__823.html · Abruf/Stand: 20.08.2026 · https://pubmed.ncbi.nlm.nih.gov</a:t>
            </a:r>
          </a:p>
        </p:txBody>
      </p:sp>
    </p:spTree>
    <p:extLst>
      <p:ext uri="{BB962C8B-B14F-4D97-AF65-F5344CB8AC3E}">
        <p14:creationId xmlns:p14="http://schemas.microsoft.com/office/powerpoint/2010/main" val="43637646"/>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Behandlungsfehlervorwürfe: Zahlen richtig lesen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WISSENSCHAFTLICHE EVIDENZ</a:t>
            </a:r>
            <a:endParaRPr/>
          </a:p>
        </p:txBody>
      </p:sp>
      <p:sp>
        <p:nvSpPr>
          <p:cNvPr id="4" name="">
            <a:extLst xmlns:a="http://schemas.openxmlformats.org/drawingml/2006/main">
              <a:ext uri="{FF2B5EF4-FFF2-40B4-BE49-F238E27FC236}">
                <a16:creationId xmlns:a16="http://schemas.microsoft.com/office/drawing/2014/main" id="{3D0C9B88-B238-46A0-AB2A-D53FA1429DF5}"/>
              </a:ext>
            </a:extLst>
          </p:cNvPr>
          <p:cNvSpPr>
            <a:spLocks xmlns:a="http://schemas.openxmlformats.org/drawingml/2006/main" noGrp="1"/>
          </p:cNvSpPr>
          <p:nvPr/>
        </p:nvSpPr>
        <p:spPr>
          <a:xfrm xmlns:a="http://schemas.openxmlformats.org/drawingml/2006/main">
            <a:off x="1809750" y="1962150"/>
            <a:ext cx="2381250" cy="1428750"/>
          </a:xfrm>
          <a:prstGeom xmlns:a="http://schemas.openxmlformats.org/drawingml/2006/main" prst="roundRect">
            <a:avLst>
              <a:gd name="adj" fmla="val 5333"/>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154A17AC-CD15-40BC-8A5D-FE2398292193}"/>
              </a:ext>
            </a:extLst>
          </p:cNvPr>
          <p:cNvSpPr>
            <a:spLocks xmlns:a="http://schemas.openxmlformats.org/drawingml/2006/main" noGrp="1"/>
          </p:cNvSpPr>
          <p:nvPr/>
        </p:nvSpPr>
        <p:spPr>
          <a:xfrm xmlns:a="http://schemas.openxmlformats.org/drawingml/2006/main">
            <a:off x="1981200" y="2095500"/>
            <a:ext cx="20383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FFFFFF"/>
                </a:solidFill>
              </a:defRPr>
            </a:pPr>
            <a:r>
              <a:rPr sz="2550" b="1">
                <a:solidFill>
                  <a:srgbClr val="FFFFFF"/>
                </a:solidFill>
              </a:rPr>
              <a:t>12.304</a:t>
            </a:r>
          </a:p>
        </p:txBody>
      </p:sp>
      <p:sp>
        <p:nvSpPr>
          <p:cNvPr id="6" name="">
            <a:extLst xmlns:a="http://schemas.openxmlformats.org/drawingml/2006/main">
              <a:ext uri="{FF2B5EF4-FFF2-40B4-BE49-F238E27FC236}">
                <a16:creationId xmlns:a16="http://schemas.microsoft.com/office/drawing/2014/main" id="{7D0F8208-D0D1-4D7F-BC6D-FFF8B1608F46}"/>
              </a:ext>
            </a:extLst>
          </p:cNvPr>
          <p:cNvSpPr>
            <a:spLocks xmlns:a="http://schemas.openxmlformats.org/drawingml/2006/main" noGrp="1"/>
          </p:cNvSpPr>
          <p:nvPr/>
        </p:nvSpPr>
        <p:spPr>
          <a:xfrm xmlns:a="http://schemas.openxmlformats.org/drawingml/2006/main">
            <a:off x="1981200" y="2762250"/>
            <a:ext cx="2038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88">
                <a:solidFill>
                  <a:srgbClr val="FFFFFF"/>
                </a:solidFill>
              </a:defRPr>
            </a:pPr>
            <a:r>
              <a:rPr sz="1088">
                <a:solidFill>
                  <a:srgbClr val="FFFFFF"/>
                </a:solidFill>
              </a:rPr>
              <a:t>MD-Gutachten 2024</a:t>
            </a:r>
          </a:p>
        </p:txBody>
      </p:sp>
      <p:sp>
        <p:nvSpPr>
          <p:cNvPr id="7" name="">
            <a:extLst xmlns:a="http://schemas.openxmlformats.org/drawingml/2006/main">
              <a:ext uri="{FF2B5EF4-FFF2-40B4-BE49-F238E27FC236}">
                <a16:creationId xmlns:a16="http://schemas.microsoft.com/office/drawing/2014/main" id="{4DD3979B-6F79-41A2-B990-7EFCBD22DDE8}"/>
              </a:ext>
            </a:extLst>
          </p:cNvPr>
          <p:cNvSpPr>
            <a:spLocks xmlns:a="http://schemas.openxmlformats.org/drawingml/2006/main" noGrp="1"/>
          </p:cNvSpPr>
          <p:nvPr/>
        </p:nvSpPr>
        <p:spPr>
          <a:xfrm xmlns:a="http://schemas.openxmlformats.org/drawingml/2006/main">
            <a:off x="4495800" y="1981200"/>
            <a:ext cx="683895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500" b="1">
                <a:solidFill>
                  <a:srgbClr val="003F6B"/>
                </a:solidFill>
              </a:defRPr>
            </a:pPr>
            <a:r>
              <a:rPr sz="1500" b="1">
                <a:solidFill>
                  <a:srgbClr val="003F6B"/>
                </a:solidFill>
              </a:rPr>
              <a:t>3.301-mal wurde ein Behandlungsfehler mit Schaden festgestellt; in 2.825 Fällen war der Fehler kausal. Das ist eine Begutachtungsstatistik, keine repräsentative Fehlerquote der gesamten Medizin.</a:t>
            </a:r>
          </a:p>
        </p:txBody>
      </p:sp>
      <p:sp>
        <p:nvSpPr>
          <p:cNvPr id="8" name="">
            <a:extLst xmlns:a="http://schemas.openxmlformats.org/drawingml/2006/main">
              <a:ext uri="{FF2B5EF4-FFF2-40B4-BE49-F238E27FC236}">
                <a16:creationId xmlns:a16="http://schemas.microsoft.com/office/drawing/2014/main" id="{46B7EE69-58DD-46EB-9A49-7B992D2C30B3}"/>
              </a:ext>
            </a:extLst>
          </p:cNvPr>
          <p:cNvSpPr>
            <a:spLocks xmlns:a="http://schemas.openxmlformats.org/drawingml/2006/main" noGrp="1"/>
          </p:cNvSpPr>
          <p:nvPr/>
        </p:nvSpPr>
        <p:spPr>
          <a:xfrm xmlns:a="http://schemas.openxmlformats.org/drawingml/2006/main">
            <a:off x="1809750" y="3638550"/>
            <a:ext cx="133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40" b="1">
                <a:solidFill>
                  <a:srgbClr val="003F6B"/>
                </a:solidFill>
              </a:defRPr>
            </a:pPr>
            <a:r>
              <a:rPr sz="1140" b="1">
                <a:solidFill>
                  <a:srgbClr val="003F6B"/>
                </a:solidFill>
              </a:rPr>
              <a:t>Studientyp</a:t>
            </a:r>
          </a:p>
        </p:txBody>
      </p:sp>
      <p:sp>
        <p:nvSpPr>
          <p:cNvPr id="9" name="">
            <a:extLst xmlns:a="http://schemas.openxmlformats.org/drawingml/2006/main">
              <a:ext uri="{FF2B5EF4-FFF2-40B4-BE49-F238E27FC236}">
                <a16:creationId xmlns:a16="http://schemas.microsoft.com/office/drawing/2014/main" id="{DC252838-F520-47A1-8C47-BFD5F0E0E889}"/>
              </a:ext>
            </a:extLst>
          </p:cNvPr>
          <p:cNvSpPr>
            <a:spLocks xmlns:a="http://schemas.openxmlformats.org/drawingml/2006/main" noGrp="1"/>
          </p:cNvSpPr>
          <p:nvPr/>
        </p:nvSpPr>
        <p:spPr>
          <a:xfrm xmlns:a="http://schemas.openxmlformats.org/drawingml/2006/main">
            <a:off x="3276600" y="3638550"/>
            <a:ext cx="805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Bundesweite Jahresstatistik der Medizinischen Dienste zu eingereichten Verdachtsfällen.</a:t>
            </a:r>
          </a:p>
        </p:txBody>
      </p:sp>
      <p:sp>
        <p:nvSpPr>
          <p:cNvPr id="10" name="">
            <a:extLst xmlns:a="http://schemas.openxmlformats.org/drawingml/2006/main">
              <a:ext uri="{FF2B5EF4-FFF2-40B4-BE49-F238E27FC236}">
                <a16:creationId xmlns:a16="http://schemas.microsoft.com/office/drawing/2014/main" id="{69CE8245-8943-4A09-BE8B-4E96DAEC6031}"/>
              </a:ext>
            </a:extLst>
          </p:cNvPr>
          <p:cNvSpPr>
            <a:spLocks xmlns:a="http://schemas.openxmlformats.org/drawingml/2006/main" noGrp="1"/>
          </p:cNvSpPr>
          <p:nvPr/>
        </p:nvSpPr>
        <p:spPr>
          <a:xfrm xmlns:a="http://schemas.openxmlformats.org/drawingml/2006/main">
            <a:off x="1809750" y="4257675"/>
            <a:ext cx="133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40" b="1">
                <a:solidFill>
                  <a:srgbClr val="003F6B"/>
                </a:solidFill>
              </a:defRPr>
            </a:pPr>
            <a:r>
              <a:rPr sz="1140" b="1">
                <a:solidFill>
                  <a:srgbClr val="003F6B"/>
                </a:solidFill>
              </a:rPr>
              <a:t>Grenze</a:t>
            </a:r>
          </a:p>
        </p:txBody>
      </p:sp>
      <p:sp>
        <p:nvSpPr>
          <p:cNvPr id="11" name="">
            <a:extLst xmlns:a="http://schemas.openxmlformats.org/drawingml/2006/main">
              <a:ext uri="{FF2B5EF4-FFF2-40B4-BE49-F238E27FC236}">
                <a16:creationId xmlns:a16="http://schemas.microsoft.com/office/drawing/2014/main" id="{09FC549D-6B04-40C6-B646-9AE875A0C5DE}"/>
              </a:ext>
            </a:extLst>
          </p:cNvPr>
          <p:cNvSpPr>
            <a:spLocks xmlns:a="http://schemas.openxmlformats.org/drawingml/2006/main" noGrp="1"/>
          </p:cNvSpPr>
          <p:nvPr/>
        </p:nvSpPr>
        <p:spPr>
          <a:xfrm xmlns:a="http://schemas.openxmlformats.org/drawingml/2006/main">
            <a:off x="3276600" y="4257675"/>
            <a:ext cx="805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Selektierte Fälle; weder Dunkelziffer noch Gesamtzahl aller Behandlungen sind im Nenner enthalten.</a:t>
            </a:r>
          </a:p>
        </p:txBody>
      </p:sp>
      <p:sp>
        <p:nvSpPr>
          <p:cNvPr id="12" name="">
            <a:extLst xmlns:a="http://schemas.openxmlformats.org/drawingml/2006/main">
              <a:ext uri="{FF2B5EF4-FFF2-40B4-BE49-F238E27FC236}">
                <a16:creationId xmlns:a16="http://schemas.microsoft.com/office/drawing/2014/main" id="{2CA60223-0ECC-478D-AEC2-C94F6A56817A}"/>
              </a:ext>
            </a:extLst>
          </p:cNvPr>
          <p:cNvSpPr>
            <a:spLocks xmlns:a="http://schemas.openxmlformats.org/drawingml/2006/main" noGrp="1"/>
          </p:cNvSpPr>
          <p:nvPr/>
        </p:nvSpPr>
        <p:spPr>
          <a:xfrm xmlns:a="http://schemas.openxmlformats.org/drawingml/2006/main">
            <a:off x="1809750" y="4876800"/>
            <a:ext cx="133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40" b="1">
                <a:solidFill>
                  <a:srgbClr val="003F6B"/>
                </a:solidFill>
              </a:defRPr>
            </a:pPr>
            <a:r>
              <a:rPr sz="1140" b="1">
                <a:solidFill>
                  <a:srgbClr val="003F6B"/>
                </a:solidFill>
              </a:rPr>
              <a:t>Konsequenz</a:t>
            </a:r>
          </a:p>
        </p:txBody>
      </p:sp>
      <p:sp>
        <p:nvSpPr>
          <p:cNvPr id="13" name="">
            <a:extLst xmlns:a="http://schemas.openxmlformats.org/drawingml/2006/main">
              <a:ext uri="{FF2B5EF4-FFF2-40B4-BE49-F238E27FC236}">
                <a16:creationId xmlns:a16="http://schemas.microsoft.com/office/drawing/2014/main" id="{84248EC5-6BE3-4E0F-9916-CC8C7B2B5A58}"/>
              </a:ext>
            </a:extLst>
          </p:cNvPr>
          <p:cNvSpPr>
            <a:spLocks xmlns:a="http://schemas.openxmlformats.org/drawingml/2006/main" noGrp="1"/>
          </p:cNvSpPr>
          <p:nvPr/>
        </p:nvSpPr>
        <p:spPr>
          <a:xfrm xmlns:a="http://schemas.openxmlformats.org/drawingml/2006/main">
            <a:off x="3276600" y="4876800"/>
            <a:ext cx="805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Immer Fehler, Schaden und Kausalität getrennt zählen – genau so funktioniert auch die Haftungsprüfung.</a:t>
            </a:r>
          </a:p>
        </p:txBody>
      </p:sp>
      <p:sp>
        <p:nvSpPr>
          <p:cNvPr id="14" name="">
            <a:extLst xmlns:a="http://schemas.openxmlformats.org/drawingml/2006/main">
              <a:ext uri="{FF2B5EF4-FFF2-40B4-BE49-F238E27FC236}">
                <a16:creationId xmlns:a16="http://schemas.microsoft.com/office/drawing/2014/main" id="{46781974-4404-4AFB-9F4B-4B3B8A028357}"/>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20">
                <a:solidFill>
                  <a:srgbClr val="667680"/>
                </a:solidFill>
              </a:defRPr>
            </a:pPr>
            <a:r>
              <a:rPr sz="720">
                <a:solidFill>
                  <a:srgbClr val="667680"/>
                </a:solidFill>
              </a:rPr>
              <a:t>Medizinischer Dienst Bund, Jahresstatistik Behandlungsfehler-Begutachtung 2024, 30.10.2025 · https://md-bund.de/statistik/behandlungsfehlergutachten.html</a:t>
            </a:r>
          </a:p>
        </p:txBody>
      </p:sp>
    </p:spTree>
    <p:extLst>
      <p:ext uri="{BB962C8B-B14F-4D97-AF65-F5344CB8AC3E}">
        <p14:creationId xmlns:p14="http://schemas.microsoft.com/office/powerpoint/2010/main" val="43637646"/>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Warum dieser Kurs wie der Podcast beginnt</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PODCAST-BRÜCKE · RECHT MEDIZINISCH</a:t>
            </a:r>
            <a:endParaRPr/>
          </a:p>
        </p:txBody>
      </p:sp>
      <p:sp>
        <p:nvSpPr>
          <p:cNvPr id="4" name="">
            <a:extLst xmlns:a="http://schemas.openxmlformats.org/drawingml/2006/main">
              <a:ext uri="{FF2B5EF4-FFF2-40B4-BE49-F238E27FC236}">
                <a16:creationId xmlns:a16="http://schemas.microsoft.com/office/drawing/2014/main" id="{6BBB01FE-2D70-44F6-A346-FF477695C9E0}"/>
              </a:ext>
            </a:extLst>
          </p:cNvPr>
          <p:cNvSpPr>
            <a:spLocks xmlns:a="http://schemas.openxmlformats.org/drawingml/2006/main" noGrp="1"/>
          </p:cNvSpPr>
          <p:nvPr/>
        </p:nvSpPr>
        <p:spPr>
          <a:xfrm xmlns:a="http://schemas.openxmlformats.org/drawingml/2006/main">
            <a:off x="1809750" y="1943100"/>
            <a:ext cx="2190750" cy="419100"/>
          </a:xfrm>
          <a:prstGeom xmlns:a="http://schemas.openxmlformats.org/drawingml/2006/main" prst="roundRect">
            <a:avLst>
              <a:gd name="adj" fmla="val 18182"/>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69BF5AB1-BD61-4427-92CA-68768D009BFC}"/>
              </a:ext>
            </a:extLst>
          </p:cNvPr>
          <p:cNvSpPr>
            <a:spLocks xmlns:a="http://schemas.openxmlformats.org/drawingml/2006/main" noGrp="1"/>
          </p:cNvSpPr>
          <p:nvPr/>
        </p:nvSpPr>
        <p:spPr>
          <a:xfrm xmlns:a="http://schemas.openxmlformats.org/drawingml/2006/main">
            <a:off x="1809750" y="1943100"/>
            <a:ext cx="2190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RECHT MEDIZINISCH</a:t>
            </a:r>
          </a:p>
        </p:txBody>
      </p:sp>
      <p:sp>
        <p:nvSpPr>
          <p:cNvPr id="6" name="">
            <a:extLst xmlns:a="http://schemas.openxmlformats.org/drawingml/2006/main">
              <a:ext uri="{FF2B5EF4-FFF2-40B4-BE49-F238E27FC236}">
                <a16:creationId xmlns:a16="http://schemas.microsoft.com/office/drawing/2014/main" id="{CA59710A-32D5-4C67-8A02-C6C1AD375919}"/>
              </a:ext>
            </a:extLst>
          </p:cNvPr>
          <p:cNvSpPr>
            <a:spLocks xmlns:a="http://schemas.openxmlformats.org/drawingml/2006/main" noGrp="1"/>
          </p:cNvSpPr>
          <p:nvPr/>
        </p:nvSpPr>
        <p:spPr>
          <a:xfrm xmlns:a="http://schemas.openxmlformats.org/drawingml/2006/main">
            <a:off x="4191000" y="1943100"/>
            <a:ext cx="714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425" b="1">
                <a:solidFill>
                  <a:srgbClr val="003F6B"/>
                </a:solidFill>
              </a:defRPr>
            </a:pPr>
            <a:r>
              <a:rPr sz="1425" b="1">
                <a:solidFill>
                  <a:srgbClr val="003F6B"/>
                </a:solidFill>
              </a:rPr>
              <a:t>Folge 0 · Warum ‚Recht Medizinisch‘?</a:t>
            </a:r>
          </a:p>
        </p:txBody>
      </p:sp>
      <p:sp>
        <p:nvSpPr>
          <p:cNvPr id="7" name="">
            <a:extLst xmlns:a="http://schemas.openxmlformats.org/drawingml/2006/main">
              <a:ext uri="{FF2B5EF4-FFF2-40B4-BE49-F238E27FC236}">
                <a16:creationId xmlns:a16="http://schemas.microsoft.com/office/drawing/2014/main" id="{DF33E86D-585E-4D6C-9ADC-A80A8B48DC15}"/>
              </a:ext>
            </a:extLst>
          </p:cNvPr>
          <p:cNvSpPr>
            <a:spLocks xmlns:a="http://schemas.openxmlformats.org/drawingml/2006/main" noGrp="1"/>
          </p:cNvSpPr>
          <p:nvPr/>
        </p:nvSpPr>
        <p:spPr>
          <a:xfrm xmlns:a="http://schemas.openxmlformats.org/drawingml/2006/main">
            <a:off x="1809750" y="2571750"/>
            <a:ext cx="9525000" cy="914400"/>
          </a:xfrm>
          <a:prstGeom xmlns:a="http://schemas.openxmlformats.org/drawingml/2006/main" prst="roundRect">
            <a:avLst>
              <a:gd name="adj" fmla="val 8333"/>
            </a:avLst>
          </a:prstGeom>
          <a:solidFill xmlns:a="http://schemas.openxmlformats.org/drawingml/2006/main">
            <a:srgbClr val="EAF6FB"/>
          </a:solidFill>
          <a:ln xmlns:a="http://schemas.openxmlformats.org/drawingml/2006/main" w="11430">
            <a:solidFill>
              <a:srgbClr val="00B2BB"/>
            </a:solidFill>
            <a:prstDash val="solid"/>
          </a:ln>
        </p:spPr>
      </p:sp>
      <p:sp>
        <p:nvSpPr>
          <p:cNvPr id="8" name="">
            <a:extLst xmlns:a="http://schemas.openxmlformats.org/drawingml/2006/main">
              <a:ext uri="{FF2B5EF4-FFF2-40B4-BE49-F238E27FC236}">
                <a16:creationId xmlns:a16="http://schemas.microsoft.com/office/drawing/2014/main" id="{CA24C2A6-9D1A-46D0-A9AB-750F2A1B773F}"/>
              </a:ext>
            </a:extLst>
          </p:cNvPr>
          <p:cNvSpPr>
            <a:spLocks xmlns:a="http://schemas.openxmlformats.org/drawingml/2006/main" noGrp="1"/>
          </p:cNvSpPr>
          <p:nvPr/>
        </p:nvSpPr>
        <p:spPr>
          <a:xfrm xmlns:a="http://schemas.openxmlformats.org/drawingml/2006/main">
            <a:off x="2000250" y="2686050"/>
            <a:ext cx="914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00">
                <a:solidFill>
                  <a:srgbClr val="15232B"/>
                </a:solidFill>
              </a:defRPr>
            </a:pPr>
            <a:r>
              <a:rPr sz="1200">
                <a:solidFill>
                  <a:srgbClr val="15232B"/>
                </a:solidFill>
              </a:rPr>
              <a:t>Der Podcast fragt nicht nach abstrakten Paragrafen, sondern nach den Grauzonen des Klinikalltags: War das Handeln medizinisch richtig, rechtlich abgesichert und praktisch vermittelbar? Genau diese drei Ebenen bilden die Kurslogik.</a:t>
            </a:r>
          </a:p>
        </p:txBody>
      </p:sp>
      <p:sp>
        <p:nvSpPr>
          <p:cNvPr id="9" name="">
            <a:extLst xmlns:a="http://schemas.openxmlformats.org/drawingml/2006/main">
              <a:ext uri="{FF2B5EF4-FFF2-40B4-BE49-F238E27FC236}">
                <a16:creationId xmlns:a16="http://schemas.microsoft.com/office/drawing/2014/main" id="{528E9378-EB33-4ACB-89BD-D7972B4689ED}"/>
              </a:ext>
            </a:extLst>
          </p:cNvPr>
          <p:cNvSpPr>
            <a:spLocks xmlns:a="http://schemas.openxmlformats.org/drawingml/2006/main" noGrp="1"/>
          </p:cNvSpPr>
          <p:nvPr/>
        </p:nvSpPr>
        <p:spPr>
          <a:xfrm xmlns:a="http://schemas.openxmlformats.org/drawingml/2006/main">
            <a:off x="1809750" y="3714750"/>
            <a:ext cx="40005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0" name="">
            <a:extLst xmlns:a="http://schemas.openxmlformats.org/drawingml/2006/main">
              <a:ext uri="{FF2B5EF4-FFF2-40B4-BE49-F238E27FC236}">
                <a16:creationId xmlns:a16="http://schemas.microsoft.com/office/drawing/2014/main" id="{AEA42E14-CFDD-44CA-8BBF-B9F52A952FC0}"/>
              </a:ext>
            </a:extLst>
          </p:cNvPr>
          <p:cNvSpPr>
            <a:spLocks xmlns:a="http://schemas.openxmlformats.org/drawingml/2006/main" noGrp="1"/>
          </p:cNvSpPr>
          <p:nvPr/>
        </p:nvSpPr>
        <p:spPr>
          <a:xfrm xmlns:a="http://schemas.openxmlformats.org/drawingml/2006/main">
            <a:off x="1809750" y="37147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11" name="">
            <a:extLst xmlns:a="http://schemas.openxmlformats.org/drawingml/2006/main">
              <a:ext uri="{FF2B5EF4-FFF2-40B4-BE49-F238E27FC236}">
                <a16:creationId xmlns:a16="http://schemas.microsoft.com/office/drawing/2014/main" id="{1A6E8AC6-7F8F-4AF7-A59B-E2FBD2A0C456}"/>
              </a:ext>
            </a:extLst>
          </p:cNvPr>
          <p:cNvSpPr>
            <a:spLocks xmlns:a="http://schemas.openxmlformats.org/drawingml/2006/main" noGrp="1"/>
          </p:cNvSpPr>
          <p:nvPr/>
        </p:nvSpPr>
        <p:spPr>
          <a:xfrm xmlns:a="http://schemas.openxmlformats.org/drawingml/2006/main">
            <a:off x="2381250" y="3695700"/>
            <a:ext cx="895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25">
                <a:solidFill>
                  <a:srgbClr val="15232B"/>
                </a:solidFill>
              </a:defRPr>
            </a:pPr>
            <a:r>
              <a:rPr sz="1125">
                <a:solidFill>
                  <a:srgbClr val="15232B"/>
                </a:solidFill>
              </a:rPr>
              <a:t>Welche typische Unsicherheit aus PJ oder Assistenzarztzeit möchten Sie am Semesterende sicherer lösen?</a:t>
            </a:r>
          </a:p>
        </p:txBody>
      </p:sp>
      <p:sp>
        <p:nvSpPr>
          <p:cNvPr id="12" name="">
            <a:extLst xmlns:a="http://schemas.openxmlformats.org/drawingml/2006/main">
              <a:ext uri="{FF2B5EF4-FFF2-40B4-BE49-F238E27FC236}">
                <a16:creationId xmlns:a16="http://schemas.microsoft.com/office/drawing/2014/main" id="{F63BAA42-2CE4-43AA-B9C2-1ADFDE0C74B7}"/>
              </a:ext>
            </a:extLst>
          </p:cNvPr>
          <p:cNvSpPr>
            <a:spLocks xmlns:a="http://schemas.openxmlformats.org/drawingml/2006/main" noGrp="1"/>
          </p:cNvSpPr>
          <p:nvPr/>
        </p:nvSpPr>
        <p:spPr>
          <a:xfrm xmlns:a="http://schemas.openxmlformats.org/drawingml/2006/main">
            <a:off x="1809750" y="4286250"/>
            <a:ext cx="4000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3" name="">
            <a:extLst xmlns:a="http://schemas.openxmlformats.org/drawingml/2006/main">
              <a:ext uri="{FF2B5EF4-FFF2-40B4-BE49-F238E27FC236}">
                <a16:creationId xmlns:a16="http://schemas.microsoft.com/office/drawing/2014/main" id="{F731B9C1-74E7-4732-B865-CBCF1734CE8E}"/>
              </a:ext>
            </a:extLst>
          </p:cNvPr>
          <p:cNvSpPr>
            <a:spLocks xmlns:a="http://schemas.openxmlformats.org/drawingml/2006/main" noGrp="1"/>
          </p:cNvSpPr>
          <p:nvPr/>
        </p:nvSpPr>
        <p:spPr>
          <a:xfrm xmlns:a="http://schemas.openxmlformats.org/drawingml/2006/main">
            <a:off x="1809750" y="42862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4" name="">
            <a:extLst xmlns:a="http://schemas.openxmlformats.org/drawingml/2006/main">
              <a:ext uri="{FF2B5EF4-FFF2-40B4-BE49-F238E27FC236}">
                <a16:creationId xmlns:a16="http://schemas.microsoft.com/office/drawing/2014/main" id="{A724F878-6B8A-44B3-AE36-5445B95EDD30}"/>
              </a:ext>
            </a:extLst>
          </p:cNvPr>
          <p:cNvSpPr>
            <a:spLocks xmlns:a="http://schemas.openxmlformats.org/drawingml/2006/main" noGrp="1"/>
          </p:cNvSpPr>
          <p:nvPr/>
        </p:nvSpPr>
        <p:spPr>
          <a:xfrm xmlns:a="http://schemas.openxmlformats.org/drawingml/2006/main">
            <a:off x="2381250" y="4267200"/>
            <a:ext cx="895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25">
                <a:solidFill>
                  <a:srgbClr val="15232B"/>
                </a:solidFill>
              </a:defRPr>
            </a:pPr>
            <a:r>
              <a:rPr sz="1125">
                <a:solidFill>
                  <a:srgbClr val="15232B"/>
                </a:solidFill>
              </a:rPr>
              <a:t>Welche Akte oder welches Verfahren würde aus dieser Situation entstehen?</a:t>
            </a:r>
          </a:p>
        </p:txBody>
      </p:sp>
      <p:sp>
        <p:nvSpPr>
          <p:cNvPr id="15" name="">
            <a:extLst xmlns:a="http://schemas.openxmlformats.org/drawingml/2006/main">
              <a:ext uri="{FF2B5EF4-FFF2-40B4-BE49-F238E27FC236}">
                <a16:creationId xmlns:a16="http://schemas.microsoft.com/office/drawing/2014/main" id="{55500F0E-7448-4B96-9E2D-760E3A785700}"/>
              </a:ext>
            </a:extLst>
          </p:cNvPr>
          <p:cNvSpPr>
            <a:spLocks xmlns:a="http://schemas.openxmlformats.org/drawingml/2006/main" noGrp="1"/>
          </p:cNvSpPr>
          <p:nvPr/>
        </p:nvSpPr>
        <p:spPr>
          <a:xfrm xmlns:a="http://schemas.openxmlformats.org/drawingml/2006/main">
            <a:off x="1809750" y="4857750"/>
            <a:ext cx="40005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6" name="">
            <a:extLst xmlns:a="http://schemas.openxmlformats.org/drawingml/2006/main">
              <a:ext uri="{FF2B5EF4-FFF2-40B4-BE49-F238E27FC236}">
                <a16:creationId xmlns:a16="http://schemas.microsoft.com/office/drawing/2014/main" id="{40E34886-B037-4405-A3AB-319E932C1AF4}"/>
              </a:ext>
            </a:extLst>
          </p:cNvPr>
          <p:cNvSpPr>
            <a:spLocks xmlns:a="http://schemas.openxmlformats.org/drawingml/2006/main" noGrp="1"/>
          </p:cNvSpPr>
          <p:nvPr/>
        </p:nvSpPr>
        <p:spPr>
          <a:xfrm xmlns:a="http://schemas.openxmlformats.org/drawingml/2006/main">
            <a:off x="1809750" y="48577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7" name="">
            <a:extLst xmlns:a="http://schemas.openxmlformats.org/drawingml/2006/main">
              <a:ext uri="{FF2B5EF4-FFF2-40B4-BE49-F238E27FC236}">
                <a16:creationId xmlns:a16="http://schemas.microsoft.com/office/drawing/2014/main" id="{7810E4ED-DB96-429F-827E-914DE5503055}"/>
              </a:ext>
            </a:extLst>
          </p:cNvPr>
          <p:cNvSpPr>
            <a:spLocks xmlns:a="http://schemas.openxmlformats.org/drawingml/2006/main" noGrp="1"/>
          </p:cNvSpPr>
          <p:nvPr/>
        </p:nvSpPr>
        <p:spPr>
          <a:xfrm xmlns:a="http://schemas.openxmlformats.org/drawingml/2006/main">
            <a:off x="2381250" y="4838700"/>
            <a:ext cx="895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25">
                <a:solidFill>
                  <a:srgbClr val="15232B"/>
                </a:solidFill>
              </a:defRPr>
            </a:pPr>
            <a:r>
              <a:rPr sz="1125">
                <a:solidFill>
                  <a:srgbClr val="15232B"/>
                </a:solidFill>
              </a:rPr>
              <a:t>Welche medizinische Entscheidung darf trotz Rechtsangst nicht schlechter werden?</a:t>
            </a:r>
          </a:p>
        </p:txBody>
      </p:sp>
      <p:sp>
        <p:nvSpPr>
          <p:cNvPr id="18" name="">
            <a:extLst xmlns:a="http://schemas.openxmlformats.org/drawingml/2006/main">
              <a:ext uri="{FF2B5EF4-FFF2-40B4-BE49-F238E27FC236}">
                <a16:creationId xmlns:a16="http://schemas.microsoft.com/office/drawing/2014/main" id="{1A412C10-2D8B-4626-BD6C-B3247232324C}"/>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20">
                <a:solidFill>
                  <a:srgbClr val="667680"/>
                </a:solidFill>
              </a:defRPr>
            </a:pPr>
            <a:r>
              <a:rPr sz="720">
                <a:solidFill>
                  <a:srgbClr val="667680"/>
                </a:solidFill>
              </a:rPr>
              <a:t>Spotify: open.spotify.com/show/7aowMbc68QlEwd0K4x5OT8 · Folge 0 · https://podcasts.apple.com/us/podcast/recht-medizinisch/id1896818482</a:t>
            </a:r>
          </a:p>
        </p:txBody>
      </p:sp>
    </p:spTree>
    <p:extLst>
      <p:ext uri="{BB962C8B-B14F-4D97-AF65-F5344CB8AC3E}">
        <p14:creationId xmlns:p14="http://schemas.microsoft.com/office/powerpoint/2010/main" val="43637646"/>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Was ist überhaupt Recht?</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6E4A939E-E5E7-41EC-BC76-DD08B629F46C}"/>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Recht ordnet Konflikte durch allgemein verbindliche Regeln. Für medizinische Konflikte sind mehrere Rechtsgebiete gleichzeitig relevant.</a:t>
            </a:r>
          </a:p>
        </p:txBody>
      </p:sp>
      <p:sp>
        <p:nvSpPr>
          <p:cNvPr id="5" name="">
            <a:extLst xmlns:a="http://schemas.openxmlformats.org/drawingml/2006/main">
              <a:ext uri="{FF2B5EF4-FFF2-40B4-BE49-F238E27FC236}">
                <a16:creationId xmlns:a16="http://schemas.microsoft.com/office/drawing/2014/main" id="{370E941D-6EDA-47A6-8C10-3576504140F0}"/>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31F78F4D-AFA1-44D4-BDE4-D0F898C874C8}"/>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B040ED8F-F44C-4D25-B43B-738810120941}"/>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Privatrecht</a:t>
            </a:r>
          </a:p>
        </p:txBody>
      </p:sp>
      <p:sp>
        <p:nvSpPr>
          <p:cNvPr id="8" name="">
            <a:extLst xmlns:a="http://schemas.openxmlformats.org/drawingml/2006/main">
              <a:ext uri="{FF2B5EF4-FFF2-40B4-BE49-F238E27FC236}">
                <a16:creationId xmlns:a16="http://schemas.microsoft.com/office/drawing/2014/main" id="{B432D21C-DD6B-4C53-940A-E4EB076FB828}"/>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Es regelt das Verhältnis rechtlich gleichgeordneter Personen, etwa Patientin und Krankenhausträger. Typische Folge ist Schadensersatz.</a:t>
            </a:r>
          </a:p>
        </p:txBody>
      </p:sp>
      <p:sp>
        <p:nvSpPr>
          <p:cNvPr id="9" name="">
            <a:extLst xmlns:a="http://schemas.openxmlformats.org/drawingml/2006/main">
              <a:ext uri="{FF2B5EF4-FFF2-40B4-BE49-F238E27FC236}">
                <a16:creationId xmlns:a16="http://schemas.microsoft.com/office/drawing/2014/main" id="{1777774D-212E-47B9-85C3-D6C7E9289B9F}"/>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8781826A-639C-466A-B395-68AA1C6293F8}"/>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385D51B7-056A-4EE8-9AE2-150ABE418300}"/>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Strafrecht</a:t>
            </a:r>
          </a:p>
        </p:txBody>
      </p:sp>
      <p:sp>
        <p:nvSpPr>
          <p:cNvPr id="12" name="">
            <a:extLst xmlns:a="http://schemas.openxmlformats.org/drawingml/2006/main">
              <a:ext uri="{FF2B5EF4-FFF2-40B4-BE49-F238E27FC236}">
                <a16:creationId xmlns:a16="http://schemas.microsoft.com/office/drawing/2014/main" id="{78DA839E-49A9-4701-AED0-2E903D628D13}"/>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Der Staat prüft, ob persönliches Verhalten eine Straftat ist. Im Mittelpunkt stehen Schuld und staatliche Sanktion, nicht der Ausgleich des Schadens.</a:t>
            </a:r>
          </a:p>
        </p:txBody>
      </p:sp>
      <p:sp>
        <p:nvSpPr>
          <p:cNvPr id="13" name="">
            <a:extLst xmlns:a="http://schemas.openxmlformats.org/drawingml/2006/main">
              <a:ext uri="{FF2B5EF4-FFF2-40B4-BE49-F238E27FC236}">
                <a16:creationId xmlns:a16="http://schemas.microsoft.com/office/drawing/2014/main" id="{99E896A2-7FBA-4338-B74B-8A358BCA0C81}"/>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538FEAA9-5BA4-4341-B93B-3752BCE0BB54}"/>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409C2F7A-FCDB-4DAE-82A1-43970F19DEA9}"/>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Öffentliches Recht</a:t>
            </a:r>
          </a:p>
        </p:txBody>
      </p:sp>
      <p:sp>
        <p:nvSpPr>
          <p:cNvPr id="16" name="">
            <a:extLst xmlns:a="http://schemas.openxmlformats.org/drawingml/2006/main">
              <a:ext uri="{FF2B5EF4-FFF2-40B4-BE49-F238E27FC236}">
                <a16:creationId xmlns:a16="http://schemas.microsoft.com/office/drawing/2014/main" id="{DBDF614F-C141-4EB4-BA85-491D8AEC8E4E}"/>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Es regelt hoheitliches Handeln, etwa Approbationsentscheidungen oder Maßnahmen des Gesundheitsamts. Angegriffen wird regelmäßig ein Verwaltungsakt.</a:t>
            </a:r>
          </a:p>
        </p:txBody>
      </p:sp>
      <p:sp>
        <p:nvSpPr>
          <p:cNvPr id="17" name="">
            <a:extLst xmlns:a="http://schemas.openxmlformats.org/drawingml/2006/main">
              <a:ext uri="{FF2B5EF4-FFF2-40B4-BE49-F238E27FC236}">
                <a16:creationId xmlns:a16="http://schemas.microsoft.com/office/drawing/2014/main" id="{0BD62C1F-A192-4C67-8CC8-C315E73A10AA}"/>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8D400A36-FFFA-424E-93AC-96721B4AFDC1}"/>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56A55C65-8DEE-4906-8F12-F023FECCC9D0}"/>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Berufsrecht</a:t>
            </a:r>
          </a:p>
        </p:txBody>
      </p:sp>
      <p:sp>
        <p:nvSpPr>
          <p:cNvPr id="20" name="">
            <a:extLst xmlns:a="http://schemas.openxmlformats.org/drawingml/2006/main">
              <a:ext uri="{FF2B5EF4-FFF2-40B4-BE49-F238E27FC236}">
                <a16:creationId xmlns:a16="http://schemas.microsoft.com/office/drawing/2014/main" id="{BFF566A3-3459-4DCA-BAFD-0AEA6C76D381}"/>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Die Ärztekammer überwacht besondere Berufspflichten. Dasselbe Ereignis kann deshalb parallel zivil-, straf-, berufs- und arbeitsrechtlich relevant werden.</a:t>
            </a:r>
          </a:p>
        </p:txBody>
      </p:sp>
      <p:sp>
        <p:nvSpPr>
          <p:cNvPr id="21" name="">
            <a:extLst xmlns:a="http://schemas.openxmlformats.org/drawingml/2006/main">
              <a:ext uri="{FF2B5EF4-FFF2-40B4-BE49-F238E27FC236}">
                <a16:creationId xmlns:a16="http://schemas.microsoft.com/office/drawing/2014/main" id="{350915ED-2D77-4D1A-BC8A-61BCDEBA6DAA}"/>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8B5D0301-9705-47E8-AEC0-F3F76B49AB62}"/>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Vor jeder Detailprüfung wird zuerst gefragt: Wer verlangt was von wem – und in welchem Rechtsweg?</a:t>
            </a:r>
          </a:p>
        </p:txBody>
      </p:sp>
    </p:spTree>
    <p:extLst>
      <p:ext uri="{BB962C8B-B14F-4D97-AF65-F5344CB8AC3E}">
        <p14:creationId xmlns:p14="http://schemas.microsoft.com/office/powerpoint/2010/main" val="43637646"/>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Materielles Recht und Prozessrecht</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UNTERSCHEIDEN KÖNNEN</a:t>
            </a:r>
            <a:endParaRPr/>
          </a:p>
        </p:txBody>
      </p:sp>
      <p:sp>
        <p:nvSpPr>
          <p:cNvPr id="4" name="">
            <a:extLst xmlns:a="http://schemas.openxmlformats.org/drawingml/2006/main">
              <a:ext uri="{FF2B5EF4-FFF2-40B4-BE49-F238E27FC236}">
                <a16:creationId xmlns:a16="http://schemas.microsoft.com/office/drawing/2014/main" id="{F1F1D9E0-1D7F-447F-8B83-EBACC19B5505}"/>
              </a:ext>
            </a:extLst>
          </p:cNvPr>
          <p:cNvSpPr>
            <a:spLocks xmlns:a="http://schemas.openxmlformats.org/drawingml/2006/main" noGrp="1"/>
          </p:cNvSpPr>
          <p:nvPr/>
        </p:nvSpPr>
        <p:spPr>
          <a:xfrm xmlns:a="http://schemas.openxmlformats.org/drawingml/2006/main">
            <a:off x="1809750" y="2000250"/>
            <a:ext cx="4619625" cy="3286125"/>
          </a:xfrm>
          <a:prstGeom xmlns:a="http://schemas.openxmlformats.org/drawingml/2006/main" prst="roundRect">
            <a:avLst>
              <a:gd name="adj" fmla="val 2319"/>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B136AC72-F234-4BAF-81F7-376A7E9AF7BC}"/>
              </a:ext>
            </a:extLst>
          </p:cNvPr>
          <p:cNvSpPr>
            <a:spLocks xmlns:a="http://schemas.openxmlformats.org/drawingml/2006/main" noGrp="1"/>
          </p:cNvSpPr>
          <p:nvPr/>
        </p:nvSpPr>
        <p:spPr>
          <a:xfrm xmlns:a="http://schemas.openxmlformats.org/drawingml/2006/main">
            <a:off x="1809750" y="2000250"/>
            <a:ext cx="4619625"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89FD6E98-D911-4111-8FC1-BEB3CF3FA0D1}"/>
              </a:ext>
            </a:extLst>
          </p:cNvPr>
          <p:cNvSpPr>
            <a:spLocks xmlns:a="http://schemas.openxmlformats.org/drawingml/2006/main" noGrp="1"/>
          </p:cNvSpPr>
          <p:nvPr/>
        </p:nvSpPr>
        <p:spPr>
          <a:xfrm xmlns:a="http://schemas.openxmlformats.org/drawingml/2006/main">
            <a:off x="1962150" y="2133600"/>
            <a:ext cx="4314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75" b="1">
                <a:solidFill>
                  <a:srgbClr val="003F6B"/>
                </a:solidFill>
              </a:defRPr>
            </a:pPr>
            <a:r>
              <a:rPr sz="1575" b="1">
                <a:solidFill>
                  <a:srgbClr val="003F6B"/>
                </a:solidFill>
              </a:rPr>
              <a:t>Materielles Recht</a:t>
            </a:r>
          </a:p>
        </p:txBody>
      </p:sp>
      <p:sp>
        <p:nvSpPr>
          <p:cNvPr id="7" name="">
            <a:extLst xmlns:a="http://schemas.openxmlformats.org/drawingml/2006/main">
              <a:ext uri="{FF2B5EF4-FFF2-40B4-BE49-F238E27FC236}">
                <a16:creationId xmlns:a16="http://schemas.microsoft.com/office/drawing/2014/main" id="{38238F11-C6B1-488C-82DF-59E8380EA78B}"/>
              </a:ext>
            </a:extLst>
          </p:cNvPr>
          <p:cNvSpPr>
            <a:spLocks xmlns:a="http://schemas.openxmlformats.org/drawingml/2006/main" noGrp="1"/>
          </p:cNvSpPr>
          <p:nvPr/>
        </p:nvSpPr>
        <p:spPr>
          <a:xfrm xmlns:a="http://schemas.openxmlformats.org/drawingml/2006/main">
            <a:off x="1962150" y="2571750"/>
            <a:ext cx="4314825"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15232B"/>
                </a:solidFill>
              </a:defRPr>
            </a:pPr>
            <a:r>
              <a:rPr sz="1200">
                <a:solidFill>
                  <a:srgbClr val="15232B"/>
                </a:solidFill>
              </a:rPr>
              <a:t>• Es beantwortet, welche Rechte, Pflichten und Verbote bestehen.</a:t>
            </a:r>
          </a:p>
          <a:p xmlns:a="http://schemas.openxmlformats.org/drawingml/2006/main">
            <a:pPr>
              <a:buNone/>
              <a:defRPr sz="1200">
                <a:solidFill>
                  <a:srgbClr val="15232B"/>
                </a:solidFill>
              </a:defRPr>
            </a:pPr>
            <a:r>
              <a:rPr sz="1200">
                <a:solidFill>
                  <a:srgbClr val="15232B"/>
                </a:solidFill>
              </a:rPr>
              <a:t>• Beispiele sind der Behandlungsvertrag, die deliktische Haftung und Straftatbestände.</a:t>
            </a:r>
          </a:p>
          <a:p xmlns:a="http://schemas.openxmlformats.org/drawingml/2006/main">
            <a:pPr>
              <a:buNone/>
              <a:defRPr sz="1200">
                <a:solidFill>
                  <a:srgbClr val="15232B"/>
                </a:solidFill>
              </a:defRPr>
            </a:pPr>
            <a:r>
              <a:rPr sz="1200">
                <a:solidFill>
                  <a:srgbClr val="15232B"/>
                </a:solidFill>
              </a:rPr>
              <a:t>• Ein materiell bestehender Anspruch nützt praktisch wenig, wenn er nicht bewiesen werden kann.</a:t>
            </a:r>
          </a:p>
        </p:txBody>
      </p:sp>
      <p:sp>
        <p:nvSpPr>
          <p:cNvPr id="8" name="">
            <a:extLst xmlns:a="http://schemas.openxmlformats.org/drawingml/2006/main">
              <a:ext uri="{FF2B5EF4-FFF2-40B4-BE49-F238E27FC236}">
                <a16:creationId xmlns:a16="http://schemas.microsoft.com/office/drawing/2014/main" id="{831959E0-D04B-4E6B-BF5D-3A7E59E548FA}"/>
              </a:ext>
            </a:extLst>
          </p:cNvPr>
          <p:cNvSpPr>
            <a:spLocks xmlns:a="http://schemas.openxmlformats.org/drawingml/2006/main" noGrp="1"/>
          </p:cNvSpPr>
          <p:nvPr/>
        </p:nvSpPr>
        <p:spPr>
          <a:xfrm xmlns:a="http://schemas.openxmlformats.org/drawingml/2006/main">
            <a:off x="6715125" y="2000250"/>
            <a:ext cx="4619625" cy="3286125"/>
          </a:xfrm>
          <a:prstGeom xmlns:a="http://schemas.openxmlformats.org/drawingml/2006/main" prst="roundRect">
            <a:avLst>
              <a:gd name="adj" fmla="val 2319"/>
            </a:avLst>
          </a:prstGeom>
          <a:noFill xmlns:a="http://schemas.openxmlformats.org/drawingml/2006/main"/>
          <a:ln xmlns:a="http://schemas.openxmlformats.org/drawingml/2006/main" w="9525">
            <a:solidFill>
              <a:srgbClr val="B9CAD2"/>
            </a:solidFill>
            <a:prstDash val="solid"/>
          </a:ln>
        </p:spPr>
      </p:sp>
      <p:sp>
        <p:nvSpPr>
          <p:cNvPr id="9" name="">
            <a:extLst xmlns:a="http://schemas.openxmlformats.org/drawingml/2006/main">
              <a:ext uri="{FF2B5EF4-FFF2-40B4-BE49-F238E27FC236}">
                <a16:creationId xmlns:a16="http://schemas.microsoft.com/office/drawing/2014/main" id="{C7BE8E3B-8FF5-40F5-8FCB-86B79D9D4349}"/>
              </a:ext>
            </a:extLst>
          </p:cNvPr>
          <p:cNvSpPr>
            <a:spLocks xmlns:a="http://schemas.openxmlformats.org/drawingml/2006/main" noGrp="1"/>
          </p:cNvSpPr>
          <p:nvPr/>
        </p:nvSpPr>
        <p:spPr>
          <a:xfrm xmlns:a="http://schemas.openxmlformats.org/drawingml/2006/main">
            <a:off x="6715125" y="2000250"/>
            <a:ext cx="4619625"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B65CCAE2-0C77-489A-9AC2-7B38AA90C574}"/>
              </a:ext>
            </a:extLst>
          </p:cNvPr>
          <p:cNvSpPr>
            <a:spLocks xmlns:a="http://schemas.openxmlformats.org/drawingml/2006/main" noGrp="1"/>
          </p:cNvSpPr>
          <p:nvPr/>
        </p:nvSpPr>
        <p:spPr>
          <a:xfrm xmlns:a="http://schemas.openxmlformats.org/drawingml/2006/main">
            <a:off x="6867525" y="2133600"/>
            <a:ext cx="4314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75" b="1">
                <a:solidFill>
                  <a:srgbClr val="003F6B"/>
                </a:solidFill>
              </a:defRPr>
            </a:pPr>
            <a:r>
              <a:rPr sz="1575" b="1">
                <a:solidFill>
                  <a:srgbClr val="003F6B"/>
                </a:solidFill>
              </a:rPr>
              <a:t>Prozessrecht</a:t>
            </a:r>
          </a:p>
        </p:txBody>
      </p:sp>
      <p:sp>
        <p:nvSpPr>
          <p:cNvPr id="11" name="">
            <a:extLst xmlns:a="http://schemas.openxmlformats.org/drawingml/2006/main">
              <a:ext uri="{FF2B5EF4-FFF2-40B4-BE49-F238E27FC236}">
                <a16:creationId xmlns:a16="http://schemas.microsoft.com/office/drawing/2014/main" id="{F1B7EBB5-02E2-48A2-A7E2-939D50D86601}"/>
              </a:ext>
            </a:extLst>
          </p:cNvPr>
          <p:cNvSpPr>
            <a:spLocks xmlns:a="http://schemas.openxmlformats.org/drawingml/2006/main" noGrp="1"/>
          </p:cNvSpPr>
          <p:nvPr/>
        </p:nvSpPr>
        <p:spPr>
          <a:xfrm xmlns:a="http://schemas.openxmlformats.org/drawingml/2006/main">
            <a:off x="6867525" y="2571750"/>
            <a:ext cx="4314825"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15232B"/>
                </a:solidFill>
              </a:defRPr>
            </a:pPr>
            <a:r>
              <a:rPr sz="1200">
                <a:solidFill>
                  <a:srgbClr val="15232B"/>
                </a:solidFill>
              </a:rPr>
              <a:t>• Es bestimmt, vor welchem Gericht, in welcher Form und mit welchen Beweismitteln entschieden wird.</a:t>
            </a:r>
          </a:p>
          <a:p xmlns:a="http://schemas.openxmlformats.org/drawingml/2006/main">
            <a:pPr>
              <a:buNone/>
              <a:defRPr sz="1200">
                <a:solidFill>
                  <a:srgbClr val="15232B"/>
                </a:solidFill>
              </a:defRPr>
            </a:pPr>
            <a:r>
              <a:rPr sz="1200">
                <a:solidFill>
                  <a:srgbClr val="15232B"/>
                </a:solidFill>
              </a:rPr>
              <a:t>• ZPO, StPO und VwGO verfolgen unterschiedliche Ziele und verteilen Rollen unterschiedlich.</a:t>
            </a:r>
          </a:p>
          <a:p xmlns:a="http://schemas.openxmlformats.org/drawingml/2006/main">
            <a:pPr>
              <a:buNone/>
              <a:defRPr sz="1200">
                <a:solidFill>
                  <a:srgbClr val="15232B"/>
                </a:solidFill>
              </a:defRPr>
            </a:pPr>
            <a:r>
              <a:rPr sz="1200">
                <a:solidFill>
                  <a:srgbClr val="15232B"/>
                </a:solidFill>
              </a:rPr>
              <a:t>• Fristen, Darlegungslast und Beweisregeln entscheiden häufig über das Ergebnis.</a:t>
            </a:r>
          </a:p>
        </p:txBody>
      </p:sp>
      <p:sp>
        <p:nvSpPr>
          <p:cNvPr id="12" name="">
            <a:extLst xmlns:a="http://schemas.openxmlformats.org/drawingml/2006/main">
              <a:ext uri="{FF2B5EF4-FFF2-40B4-BE49-F238E27FC236}">
                <a16:creationId xmlns:a16="http://schemas.microsoft.com/office/drawing/2014/main" id="{DEE40B85-3B96-4189-84D8-E622F231510D}"/>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13" name="">
            <a:extLst xmlns:a="http://schemas.openxmlformats.org/drawingml/2006/main">
              <a:ext uri="{FF2B5EF4-FFF2-40B4-BE49-F238E27FC236}">
                <a16:creationId xmlns:a16="http://schemas.microsoft.com/office/drawing/2014/main" id="{2B93FA9C-613D-44FE-AA19-D9162591D0E3}"/>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Der Kurs verbindet deshalb jede materielle Norm mit ihrem tatsächlichen Verfahrensweg.</a:t>
            </a:r>
          </a:p>
        </p:txBody>
      </p:sp>
    </p:spTree>
    <p:extLst>
      <p:ext uri="{BB962C8B-B14F-4D97-AF65-F5344CB8AC3E}">
        <p14:creationId xmlns:p14="http://schemas.microsoft.com/office/powerpoint/2010/main" val="43637646"/>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Die Normenhierarchie</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DF36EDED-B55D-48CB-9A1C-4785FF1CFEDB}"/>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Nicht jede Regel steht auf derselben Stufe. Niederrangiges Recht muss mit höherrangigem Recht vereinbar sein.</a:t>
            </a:r>
          </a:p>
        </p:txBody>
      </p:sp>
      <p:sp>
        <p:nvSpPr>
          <p:cNvPr id="5" name="">
            <a:extLst xmlns:a="http://schemas.openxmlformats.org/drawingml/2006/main">
              <a:ext uri="{FF2B5EF4-FFF2-40B4-BE49-F238E27FC236}">
                <a16:creationId xmlns:a16="http://schemas.microsoft.com/office/drawing/2014/main" id="{0024D601-BEC1-4403-870C-EEE2DDE26240}"/>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EDCDB594-F395-40AE-8B2B-DBB8B73692B8}"/>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C75AD47E-B912-40C8-B9B8-E84CA9BDE3F6}"/>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Verfassungsrecht</a:t>
            </a:r>
          </a:p>
        </p:txBody>
      </p:sp>
      <p:sp>
        <p:nvSpPr>
          <p:cNvPr id="8" name="">
            <a:extLst xmlns:a="http://schemas.openxmlformats.org/drawingml/2006/main">
              <a:ext uri="{FF2B5EF4-FFF2-40B4-BE49-F238E27FC236}">
                <a16:creationId xmlns:a16="http://schemas.microsoft.com/office/drawing/2014/main" id="{7C6AA37E-3F09-4172-88C6-3AB509FD2507}"/>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Grundrechte wie Leben, körperliche Unversehrtheit und Selbstbestimmung prägen die Auslegung des gesamten Medizinrechts.</a:t>
            </a:r>
          </a:p>
        </p:txBody>
      </p:sp>
      <p:sp>
        <p:nvSpPr>
          <p:cNvPr id="9" name="">
            <a:extLst xmlns:a="http://schemas.openxmlformats.org/drawingml/2006/main">
              <a:ext uri="{FF2B5EF4-FFF2-40B4-BE49-F238E27FC236}">
                <a16:creationId xmlns:a16="http://schemas.microsoft.com/office/drawing/2014/main" id="{D14B4AA7-D9C0-4CC6-8FF5-97F06C124EDC}"/>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F12E50F6-6FA3-4B9D-809E-2EF204818A60}"/>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CF6F0B84-05C8-4E89-86CB-5D3DE39321FA}"/>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Gesetze</a:t>
            </a:r>
          </a:p>
        </p:txBody>
      </p:sp>
      <p:sp>
        <p:nvSpPr>
          <p:cNvPr id="12" name="">
            <a:extLst xmlns:a="http://schemas.openxmlformats.org/drawingml/2006/main">
              <a:ext uri="{FF2B5EF4-FFF2-40B4-BE49-F238E27FC236}">
                <a16:creationId xmlns:a16="http://schemas.microsoft.com/office/drawing/2014/main" id="{2B344224-51BA-4AD6-8053-9B722AC4CE69}"/>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BGB, StGB, StPO, ZPO und BÄO enthalten parlamentarisch legitimierte Regeln. Sie sind der zentrale Ausgangspunkt der Prüfung.</a:t>
            </a:r>
          </a:p>
        </p:txBody>
      </p:sp>
      <p:sp>
        <p:nvSpPr>
          <p:cNvPr id="13" name="">
            <a:extLst xmlns:a="http://schemas.openxmlformats.org/drawingml/2006/main">
              <a:ext uri="{FF2B5EF4-FFF2-40B4-BE49-F238E27FC236}">
                <a16:creationId xmlns:a16="http://schemas.microsoft.com/office/drawing/2014/main" id="{F38E1CB2-0C7F-4972-8F55-8C6E08DE9B26}"/>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33B4EA0B-C854-427B-AB40-4668A9787C3A}"/>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C35439B5-0989-47D1-AE1E-12CD8667D0C1}"/>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Verordnungen und Satzungen</a:t>
            </a:r>
          </a:p>
        </p:txBody>
      </p:sp>
      <p:sp>
        <p:nvSpPr>
          <p:cNvPr id="16" name="">
            <a:extLst xmlns:a="http://schemas.openxmlformats.org/drawingml/2006/main">
              <a:ext uri="{FF2B5EF4-FFF2-40B4-BE49-F238E27FC236}">
                <a16:creationId xmlns:a16="http://schemas.microsoft.com/office/drawing/2014/main" id="{40F41E2A-840D-4AEF-B677-DBEBBD1E7718}"/>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Zum Beispiel Approbations- oder Verschreibungsrecht und Berufsordnungen konkretisieren gesetzliche Ermächtigungen.</a:t>
            </a:r>
          </a:p>
        </p:txBody>
      </p:sp>
      <p:sp>
        <p:nvSpPr>
          <p:cNvPr id="17" name="">
            <a:extLst xmlns:a="http://schemas.openxmlformats.org/drawingml/2006/main">
              <a:ext uri="{FF2B5EF4-FFF2-40B4-BE49-F238E27FC236}">
                <a16:creationId xmlns:a16="http://schemas.microsoft.com/office/drawing/2014/main" id="{43188E09-BAED-4D0B-AC99-A857B991C89A}"/>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C4703F6F-0C56-4FF1-AE1C-FA155C4D3DE4}"/>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8089AA65-9B4A-4CD1-98BB-B749708D0129}"/>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Leitlinien und Standards</a:t>
            </a:r>
          </a:p>
        </p:txBody>
      </p:sp>
      <p:sp>
        <p:nvSpPr>
          <p:cNvPr id="20" name="">
            <a:extLst xmlns:a="http://schemas.openxmlformats.org/drawingml/2006/main">
              <a:ext uri="{FF2B5EF4-FFF2-40B4-BE49-F238E27FC236}">
                <a16:creationId xmlns:a16="http://schemas.microsoft.com/office/drawing/2014/main" id="{21646EAB-D86C-48C1-ABE7-8ED3B301C6B1}"/>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Medizinische Leitlinien sind keine Gesetze. Sie können den fachlichen Standard indizieren, ersetzen aber die fallbezogene medizinische Bewertung nicht.</a:t>
            </a:r>
          </a:p>
        </p:txBody>
      </p:sp>
      <p:sp>
        <p:nvSpPr>
          <p:cNvPr id="21" name="">
            <a:extLst xmlns:a="http://schemas.openxmlformats.org/drawingml/2006/main">
              <a:ext uri="{FF2B5EF4-FFF2-40B4-BE49-F238E27FC236}">
                <a16:creationId xmlns:a16="http://schemas.microsoft.com/office/drawing/2014/main" id="{63D04627-58C9-4752-B0B2-069F470BBED5}"/>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48747432-886E-4097-B2DF-659AC8F23719}"/>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Eine medizinische Empfehlung und eine rechtliche Pflicht sind nicht automatisch dasselbe.</a:t>
            </a:r>
          </a:p>
        </p:txBody>
      </p:sp>
    </p:spTree>
    <p:extLst>
      <p:ext uri="{BB962C8B-B14F-4D97-AF65-F5344CB8AC3E}">
        <p14:creationId xmlns:p14="http://schemas.microsoft.com/office/powerpoint/2010/main" val="43637646"/>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Gerichte und Zuständigkeiten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DD87F59D-2A93-4D49-BF20-86F7BAB04D57}"/>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Die Gerichtsbarkeit ist nach Streitgegenstand getrennt. Die richtige Einordnung bestimmt das Verfahren.</a:t>
            </a:r>
          </a:p>
        </p:txBody>
      </p:sp>
      <p:sp>
        <p:nvSpPr>
          <p:cNvPr id="5" name="">
            <a:extLst xmlns:a="http://schemas.openxmlformats.org/drawingml/2006/main">
              <a:ext uri="{FF2B5EF4-FFF2-40B4-BE49-F238E27FC236}">
                <a16:creationId xmlns:a16="http://schemas.microsoft.com/office/drawing/2014/main" id="{AED77F42-33BF-440D-A709-FC3B1100F497}"/>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9DD4A36B-2B2A-4C2D-8385-895DA7B43FE5}"/>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6E14C678-360E-42EE-927F-031B16DAEA53}"/>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Zivilgerichtsbarkeit</a:t>
            </a:r>
          </a:p>
        </p:txBody>
      </p:sp>
      <p:sp>
        <p:nvSpPr>
          <p:cNvPr id="8" name="">
            <a:extLst xmlns:a="http://schemas.openxmlformats.org/drawingml/2006/main">
              <a:ext uri="{FF2B5EF4-FFF2-40B4-BE49-F238E27FC236}">
                <a16:creationId xmlns:a16="http://schemas.microsoft.com/office/drawing/2014/main" id="{5019D115-0819-4DBF-951E-2C87CCD27680}"/>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Seit 1. Januar 2026 sind Landgerichte nach § 71 Abs. 2 Nr. 9 GVG ohne Rücksicht auf den Streitwert ausschließlich für Streitigkeiten aus Heilbehandlungen zuständig.</a:t>
            </a:r>
          </a:p>
        </p:txBody>
      </p:sp>
      <p:sp>
        <p:nvSpPr>
          <p:cNvPr id="9" name="">
            <a:extLst xmlns:a="http://schemas.openxmlformats.org/drawingml/2006/main">
              <a:ext uri="{FF2B5EF4-FFF2-40B4-BE49-F238E27FC236}">
                <a16:creationId xmlns:a16="http://schemas.microsoft.com/office/drawing/2014/main" id="{A4AD1EC8-2409-4D9D-8A49-C07219F69B0B}"/>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00051931-3476-4B65-A27A-68A449F59D05}"/>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DE54CF5A-A7DC-428C-8988-7AC1C7D7F808}"/>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Strafgerichtsbarkeit</a:t>
            </a:r>
          </a:p>
        </p:txBody>
      </p:sp>
      <p:sp>
        <p:nvSpPr>
          <p:cNvPr id="12" name="">
            <a:extLst xmlns:a="http://schemas.openxmlformats.org/drawingml/2006/main">
              <a:ext uri="{FF2B5EF4-FFF2-40B4-BE49-F238E27FC236}">
                <a16:creationId xmlns:a16="http://schemas.microsoft.com/office/drawing/2014/main" id="{6B359DE3-4988-486D-B851-C6F29D6913D6}"/>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Amts- oder Landgericht entscheiden über Anklagen der Staatsanwaltschaft. Die konkrete Zuständigkeit hängt unter anderem von Tat und Straferwartung ab.</a:t>
            </a:r>
          </a:p>
        </p:txBody>
      </p:sp>
      <p:sp>
        <p:nvSpPr>
          <p:cNvPr id="13" name="">
            <a:extLst xmlns:a="http://schemas.openxmlformats.org/drawingml/2006/main">
              <a:ext uri="{FF2B5EF4-FFF2-40B4-BE49-F238E27FC236}">
                <a16:creationId xmlns:a16="http://schemas.microsoft.com/office/drawing/2014/main" id="{54E69F78-8AB2-4351-90E0-180930020C06}"/>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F967B9E0-21DC-4626-866C-290EA48ABF67}"/>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264C941D-D4D4-43E4-8414-1B3606563DE2}"/>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Verwaltungsgerichte</a:t>
            </a:r>
          </a:p>
        </p:txBody>
      </p:sp>
      <p:sp>
        <p:nvSpPr>
          <p:cNvPr id="16" name="">
            <a:extLst xmlns:a="http://schemas.openxmlformats.org/drawingml/2006/main">
              <a:ext uri="{FF2B5EF4-FFF2-40B4-BE49-F238E27FC236}">
                <a16:creationId xmlns:a16="http://schemas.microsoft.com/office/drawing/2014/main" id="{CBC4BAD0-D193-4DF4-A17A-6B7654790ACF}"/>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Sie kontrollieren hoheitliche Maßnahmen, etwa das Ruhen oder den Widerruf einer Approbation.</a:t>
            </a:r>
          </a:p>
        </p:txBody>
      </p:sp>
      <p:sp>
        <p:nvSpPr>
          <p:cNvPr id="17" name="">
            <a:extLst xmlns:a="http://schemas.openxmlformats.org/drawingml/2006/main">
              <a:ext uri="{FF2B5EF4-FFF2-40B4-BE49-F238E27FC236}">
                <a16:creationId xmlns:a16="http://schemas.microsoft.com/office/drawing/2014/main" id="{F350A034-B8AA-44C6-89AC-4627DA2E87B8}"/>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B190BEDE-CA98-48D5-B6B8-F218E4450048}"/>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C61A96FD-EEBF-4EBC-B777-DB4FE3871059}"/>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Berufsgerichte</a:t>
            </a:r>
          </a:p>
        </p:txBody>
      </p:sp>
      <p:sp>
        <p:nvSpPr>
          <p:cNvPr id="20" name="">
            <a:extLst xmlns:a="http://schemas.openxmlformats.org/drawingml/2006/main">
              <a:ext uri="{FF2B5EF4-FFF2-40B4-BE49-F238E27FC236}">
                <a16:creationId xmlns:a16="http://schemas.microsoft.com/office/drawing/2014/main" id="{4A109E3A-4356-416F-9ABA-9B2E78771800}"/>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Sie entscheiden nach Landesrecht über Verletzungen ärztlicher Berufspflichten. Das Verfahren ist vom Strafprozess und Zivilprozess getrennt.</a:t>
            </a:r>
          </a:p>
        </p:txBody>
      </p:sp>
      <p:sp>
        <p:nvSpPr>
          <p:cNvPr id="21" name="">
            <a:extLst xmlns:a="http://schemas.openxmlformats.org/drawingml/2006/main">
              <a:ext uri="{FF2B5EF4-FFF2-40B4-BE49-F238E27FC236}">
                <a16:creationId xmlns:a16="http://schemas.microsoft.com/office/drawing/2014/main" id="{E227253F-2D57-4F90-952F-D1B78132B1B6}"/>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66E7A543-3CEE-4CEB-B186-48978BE1203A}"/>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Ein Sachverhalt kann mehrere Gerichte beschäftigen, ohne dass eines die Aufgaben des anderen übernimmt.</a:t>
            </a:r>
          </a:p>
        </p:txBody>
      </p:sp>
    </p:spTree>
    <p:extLst>
      <p:ext uri="{BB962C8B-B14F-4D97-AF65-F5344CB8AC3E}">
        <p14:creationId xmlns:p14="http://schemas.microsoft.com/office/powerpoint/2010/main" val="43637646"/>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Die juristische Fallprüfung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PRÜFUNGSSCHEMA · UNIVERSALSCHEMA</a:t>
            </a:r>
            <a:endParaRPr/>
          </a:p>
        </p:txBody>
      </p:sp>
      <p:sp>
        <p:nvSpPr>
          <p:cNvPr id="4" name="">
            <a:extLst xmlns:a="http://schemas.openxmlformats.org/drawingml/2006/main">
              <a:ext uri="{FF2B5EF4-FFF2-40B4-BE49-F238E27FC236}">
                <a16:creationId xmlns:a16="http://schemas.microsoft.com/office/drawing/2014/main" id="{E1CACABE-271B-4B69-A57B-E79D8E576DE3}"/>
              </a:ext>
            </a:extLst>
          </p:cNvPr>
          <p:cNvSpPr>
            <a:spLocks xmlns:a="http://schemas.openxmlformats.org/drawingml/2006/main" noGrp="1"/>
          </p:cNvSpPr>
          <p:nvPr/>
        </p:nvSpPr>
        <p:spPr>
          <a:xfrm xmlns:a="http://schemas.openxmlformats.org/drawingml/2006/main">
            <a:off x="1809750" y="1952625"/>
            <a:ext cx="400050" cy="64389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FBE3D53F-8897-4804-8E8F-9B21C077BCA4}"/>
              </a:ext>
            </a:extLst>
          </p:cNvPr>
          <p:cNvSpPr>
            <a:spLocks xmlns:a="http://schemas.openxmlformats.org/drawingml/2006/main" noGrp="1"/>
          </p:cNvSpPr>
          <p:nvPr/>
        </p:nvSpPr>
        <p:spPr>
          <a:xfrm xmlns:a="http://schemas.openxmlformats.org/drawingml/2006/main">
            <a:off x="1809750" y="1952625"/>
            <a:ext cx="400050" cy="6438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6" name="">
            <a:extLst xmlns:a="http://schemas.openxmlformats.org/drawingml/2006/main">
              <a:ext uri="{FF2B5EF4-FFF2-40B4-BE49-F238E27FC236}">
                <a16:creationId xmlns:a16="http://schemas.microsoft.com/office/drawing/2014/main" id="{F588B1A6-07DB-49B7-96B4-D2C20E24E8A4}"/>
              </a:ext>
            </a:extLst>
          </p:cNvPr>
          <p:cNvSpPr>
            <a:spLocks xmlns:a="http://schemas.openxmlformats.org/drawingml/2006/main" noGrp="1"/>
          </p:cNvSpPr>
          <p:nvPr/>
        </p:nvSpPr>
        <p:spPr>
          <a:xfrm xmlns:a="http://schemas.openxmlformats.org/drawingml/2006/main">
            <a:off x="2324100" y="1962150"/>
            <a:ext cx="2381250" cy="624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1. Prüfungsfrage</a:t>
            </a:r>
          </a:p>
        </p:txBody>
      </p:sp>
      <p:sp>
        <p:nvSpPr>
          <p:cNvPr id="7" name="">
            <a:extLst xmlns:a="http://schemas.openxmlformats.org/drawingml/2006/main">
              <a:ext uri="{FF2B5EF4-FFF2-40B4-BE49-F238E27FC236}">
                <a16:creationId xmlns:a16="http://schemas.microsoft.com/office/drawing/2014/main" id="{D531F46C-EA53-4535-91F1-C3140066D768}"/>
              </a:ext>
            </a:extLst>
          </p:cNvPr>
          <p:cNvSpPr>
            <a:spLocks xmlns:a="http://schemas.openxmlformats.org/drawingml/2006/main" noGrp="1"/>
          </p:cNvSpPr>
          <p:nvPr/>
        </p:nvSpPr>
        <p:spPr>
          <a:xfrm xmlns:a="http://schemas.openxmlformats.org/drawingml/2006/main">
            <a:off x="4819650" y="1962150"/>
            <a:ext cx="6419850" cy="624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Formulieren: Wer will was von wem und weshalb? Ohne konkrete Frage bleibt die Analyse unscharf.</a:t>
            </a:r>
          </a:p>
        </p:txBody>
      </p:sp>
      <p:sp>
        <p:nvSpPr>
          <p:cNvPr id="8" name="">
            <a:extLst xmlns:a="http://schemas.openxmlformats.org/drawingml/2006/main">
              <a:ext uri="{FF2B5EF4-FFF2-40B4-BE49-F238E27FC236}">
                <a16:creationId xmlns:a16="http://schemas.microsoft.com/office/drawing/2014/main" id="{55332F64-A525-4628-9381-1700C6628082}"/>
              </a:ext>
            </a:extLst>
          </p:cNvPr>
          <p:cNvSpPr>
            <a:spLocks xmlns:a="http://schemas.openxmlformats.org/drawingml/2006/main" noGrp="1"/>
          </p:cNvSpPr>
          <p:nvPr/>
        </p:nvSpPr>
        <p:spPr>
          <a:xfrm xmlns:a="http://schemas.openxmlformats.org/drawingml/2006/main">
            <a:off x="1809750" y="2672715"/>
            <a:ext cx="400050" cy="64389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9" name="">
            <a:extLst xmlns:a="http://schemas.openxmlformats.org/drawingml/2006/main">
              <a:ext uri="{FF2B5EF4-FFF2-40B4-BE49-F238E27FC236}">
                <a16:creationId xmlns:a16="http://schemas.microsoft.com/office/drawing/2014/main" id="{8A0CE22A-4101-482D-94D6-72327801DCB3}"/>
              </a:ext>
            </a:extLst>
          </p:cNvPr>
          <p:cNvSpPr>
            <a:spLocks xmlns:a="http://schemas.openxmlformats.org/drawingml/2006/main" noGrp="1"/>
          </p:cNvSpPr>
          <p:nvPr/>
        </p:nvSpPr>
        <p:spPr>
          <a:xfrm xmlns:a="http://schemas.openxmlformats.org/drawingml/2006/main">
            <a:off x="1809750" y="2672715"/>
            <a:ext cx="400050" cy="6438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0" name="">
            <a:extLst xmlns:a="http://schemas.openxmlformats.org/drawingml/2006/main">
              <a:ext uri="{FF2B5EF4-FFF2-40B4-BE49-F238E27FC236}">
                <a16:creationId xmlns:a16="http://schemas.microsoft.com/office/drawing/2014/main" id="{FD4254C8-4D70-49BF-9FF2-A3C9FEF35CC0}"/>
              </a:ext>
            </a:extLst>
          </p:cNvPr>
          <p:cNvSpPr>
            <a:spLocks xmlns:a="http://schemas.openxmlformats.org/drawingml/2006/main" noGrp="1"/>
          </p:cNvSpPr>
          <p:nvPr/>
        </p:nvSpPr>
        <p:spPr>
          <a:xfrm xmlns:a="http://schemas.openxmlformats.org/drawingml/2006/main">
            <a:off x="2324100" y="2682240"/>
            <a:ext cx="2381250" cy="624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2. Rechtsgrundlage</a:t>
            </a:r>
          </a:p>
        </p:txBody>
      </p:sp>
      <p:sp>
        <p:nvSpPr>
          <p:cNvPr id="11" name="">
            <a:extLst xmlns:a="http://schemas.openxmlformats.org/drawingml/2006/main">
              <a:ext uri="{FF2B5EF4-FFF2-40B4-BE49-F238E27FC236}">
                <a16:creationId xmlns:a16="http://schemas.microsoft.com/office/drawing/2014/main" id="{7FF3D164-C942-42C1-9EBF-9B0A83FCC8C2}"/>
              </a:ext>
            </a:extLst>
          </p:cNvPr>
          <p:cNvSpPr>
            <a:spLocks xmlns:a="http://schemas.openxmlformats.org/drawingml/2006/main" noGrp="1"/>
          </p:cNvSpPr>
          <p:nvPr/>
        </p:nvSpPr>
        <p:spPr>
          <a:xfrm xmlns:a="http://schemas.openxmlformats.org/drawingml/2006/main">
            <a:off x="4819650" y="2682240"/>
            <a:ext cx="6419850" cy="624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Die Norm wird benannt, aus der die begehrte Rechtsfolge folgen kann, etwa § 280 Abs. 1 BGB.</a:t>
            </a:r>
          </a:p>
        </p:txBody>
      </p:sp>
      <p:sp>
        <p:nvSpPr>
          <p:cNvPr id="12" name="">
            <a:extLst xmlns:a="http://schemas.openxmlformats.org/drawingml/2006/main">
              <a:ext uri="{FF2B5EF4-FFF2-40B4-BE49-F238E27FC236}">
                <a16:creationId xmlns:a16="http://schemas.microsoft.com/office/drawing/2014/main" id="{C2C808D9-6187-49D1-ADB3-C70EB0633AD0}"/>
              </a:ext>
            </a:extLst>
          </p:cNvPr>
          <p:cNvSpPr>
            <a:spLocks xmlns:a="http://schemas.openxmlformats.org/drawingml/2006/main" noGrp="1"/>
          </p:cNvSpPr>
          <p:nvPr/>
        </p:nvSpPr>
        <p:spPr>
          <a:xfrm xmlns:a="http://schemas.openxmlformats.org/drawingml/2006/main">
            <a:off x="1809750" y="3392805"/>
            <a:ext cx="400050" cy="64389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3" name="">
            <a:extLst xmlns:a="http://schemas.openxmlformats.org/drawingml/2006/main">
              <a:ext uri="{FF2B5EF4-FFF2-40B4-BE49-F238E27FC236}">
                <a16:creationId xmlns:a16="http://schemas.microsoft.com/office/drawing/2014/main" id="{5E2C430D-6F5D-4A4E-81C0-3E1677C4598E}"/>
              </a:ext>
            </a:extLst>
          </p:cNvPr>
          <p:cNvSpPr>
            <a:spLocks xmlns:a="http://schemas.openxmlformats.org/drawingml/2006/main" noGrp="1"/>
          </p:cNvSpPr>
          <p:nvPr/>
        </p:nvSpPr>
        <p:spPr>
          <a:xfrm xmlns:a="http://schemas.openxmlformats.org/drawingml/2006/main">
            <a:off x="1809750" y="3392805"/>
            <a:ext cx="400050" cy="6438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4" name="">
            <a:extLst xmlns:a="http://schemas.openxmlformats.org/drawingml/2006/main">
              <a:ext uri="{FF2B5EF4-FFF2-40B4-BE49-F238E27FC236}">
                <a16:creationId xmlns:a16="http://schemas.microsoft.com/office/drawing/2014/main" id="{CAB0E02D-09BF-4C51-A473-FACD10458661}"/>
              </a:ext>
            </a:extLst>
          </p:cNvPr>
          <p:cNvSpPr>
            <a:spLocks xmlns:a="http://schemas.openxmlformats.org/drawingml/2006/main" noGrp="1"/>
          </p:cNvSpPr>
          <p:nvPr/>
        </p:nvSpPr>
        <p:spPr>
          <a:xfrm xmlns:a="http://schemas.openxmlformats.org/drawingml/2006/main">
            <a:off x="2324100" y="3402330"/>
            <a:ext cx="2381250" cy="624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3. Tatbestandsmerkmale</a:t>
            </a:r>
          </a:p>
        </p:txBody>
      </p:sp>
      <p:sp>
        <p:nvSpPr>
          <p:cNvPr id="15" name="">
            <a:extLst xmlns:a="http://schemas.openxmlformats.org/drawingml/2006/main">
              <a:ext uri="{FF2B5EF4-FFF2-40B4-BE49-F238E27FC236}">
                <a16:creationId xmlns:a16="http://schemas.microsoft.com/office/drawing/2014/main" id="{6626E3B1-9862-4F82-84FF-B7ED2A94A193}"/>
              </a:ext>
            </a:extLst>
          </p:cNvPr>
          <p:cNvSpPr>
            <a:spLocks xmlns:a="http://schemas.openxmlformats.org/drawingml/2006/main" noGrp="1"/>
          </p:cNvSpPr>
          <p:nvPr/>
        </p:nvSpPr>
        <p:spPr>
          <a:xfrm xmlns:a="http://schemas.openxmlformats.org/drawingml/2006/main">
            <a:off x="4819650" y="3402330"/>
            <a:ext cx="6419850" cy="624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Die Rechtsgrundlage wird in einzelne Voraussetzungen zerlegt. Jedes Merkmal erhält eine Definition.</a:t>
            </a:r>
          </a:p>
        </p:txBody>
      </p:sp>
      <p:sp>
        <p:nvSpPr>
          <p:cNvPr id="16" name="">
            <a:extLst xmlns:a="http://schemas.openxmlformats.org/drawingml/2006/main">
              <a:ext uri="{FF2B5EF4-FFF2-40B4-BE49-F238E27FC236}">
                <a16:creationId xmlns:a16="http://schemas.microsoft.com/office/drawing/2014/main" id="{7FFE3745-C7A7-4113-ACA8-E679EFEE3776}"/>
              </a:ext>
            </a:extLst>
          </p:cNvPr>
          <p:cNvSpPr>
            <a:spLocks xmlns:a="http://schemas.openxmlformats.org/drawingml/2006/main" noGrp="1"/>
          </p:cNvSpPr>
          <p:nvPr/>
        </p:nvSpPr>
        <p:spPr>
          <a:xfrm xmlns:a="http://schemas.openxmlformats.org/drawingml/2006/main">
            <a:off x="1809750" y="4112895"/>
            <a:ext cx="400050" cy="64389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7" name="">
            <a:extLst xmlns:a="http://schemas.openxmlformats.org/drawingml/2006/main">
              <a:ext uri="{FF2B5EF4-FFF2-40B4-BE49-F238E27FC236}">
                <a16:creationId xmlns:a16="http://schemas.microsoft.com/office/drawing/2014/main" id="{8D08FF37-1659-48A9-845C-2E347954ADAB}"/>
              </a:ext>
            </a:extLst>
          </p:cNvPr>
          <p:cNvSpPr>
            <a:spLocks xmlns:a="http://schemas.openxmlformats.org/drawingml/2006/main" noGrp="1"/>
          </p:cNvSpPr>
          <p:nvPr/>
        </p:nvSpPr>
        <p:spPr>
          <a:xfrm xmlns:a="http://schemas.openxmlformats.org/drawingml/2006/main">
            <a:off x="1809750" y="4112895"/>
            <a:ext cx="400050" cy="6438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18" name="">
            <a:extLst xmlns:a="http://schemas.openxmlformats.org/drawingml/2006/main">
              <a:ext uri="{FF2B5EF4-FFF2-40B4-BE49-F238E27FC236}">
                <a16:creationId xmlns:a16="http://schemas.microsoft.com/office/drawing/2014/main" id="{932FCD16-E350-42FE-8DF0-11497F701878}"/>
              </a:ext>
            </a:extLst>
          </p:cNvPr>
          <p:cNvSpPr>
            <a:spLocks xmlns:a="http://schemas.openxmlformats.org/drawingml/2006/main" noGrp="1"/>
          </p:cNvSpPr>
          <p:nvPr/>
        </p:nvSpPr>
        <p:spPr>
          <a:xfrm xmlns:a="http://schemas.openxmlformats.org/drawingml/2006/main">
            <a:off x="2324100" y="4122420"/>
            <a:ext cx="2381250" cy="624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4. Subsumtion</a:t>
            </a:r>
          </a:p>
        </p:txBody>
      </p:sp>
      <p:sp>
        <p:nvSpPr>
          <p:cNvPr id="19" name="">
            <a:extLst xmlns:a="http://schemas.openxmlformats.org/drawingml/2006/main">
              <a:ext uri="{FF2B5EF4-FFF2-40B4-BE49-F238E27FC236}">
                <a16:creationId xmlns:a16="http://schemas.microsoft.com/office/drawing/2014/main" id="{2BFD5DEA-D915-4584-AAC9-DDFF2EB649A6}"/>
              </a:ext>
            </a:extLst>
          </p:cNvPr>
          <p:cNvSpPr>
            <a:spLocks xmlns:a="http://schemas.openxmlformats.org/drawingml/2006/main" noGrp="1"/>
          </p:cNvSpPr>
          <p:nvPr/>
        </p:nvSpPr>
        <p:spPr>
          <a:xfrm xmlns:a="http://schemas.openxmlformats.org/drawingml/2006/main">
            <a:off x="4819650" y="4122420"/>
            <a:ext cx="6419850" cy="624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Die festgestellten Tatsachen werden mit der Definition verglichen. Argumente dafür und dagegen werden offengelegt.</a:t>
            </a:r>
          </a:p>
        </p:txBody>
      </p:sp>
      <p:sp>
        <p:nvSpPr>
          <p:cNvPr id="20" name="">
            <a:extLst xmlns:a="http://schemas.openxmlformats.org/drawingml/2006/main">
              <a:ext uri="{FF2B5EF4-FFF2-40B4-BE49-F238E27FC236}">
                <a16:creationId xmlns:a16="http://schemas.microsoft.com/office/drawing/2014/main" id="{13C0C864-C788-4BC3-9360-E36490312312}"/>
              </a:ext>
            </a:extLst>
          </p:cNvPr>
          <p:cNvSpPr>
            <a:spLocks xmlns:a="http://schemas.openxmlformats.org/drawingml/2006/main" noGrp="1"/>
          </p:cNvSpPr>
          <p:nvPr/>
        </p:nvSpPr>
        <p:spPr>
          <a:xfrm xmlns:a="http://schemas.openxmlformats.org/drawingml/2006/main">
            <a:off x="1809750" y="4832985"/>
            <a:ext cx="400050" cy="64389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1" name="">
            <a:extLst xmlns:a="http://schemas.openxmlformats.org/drawingml/2006/main">
              <a:ext uri="{FF2B5EF4-FFF2-40B4-BE49-F238E27FC236}">
                <a16:creationId xmlns:a16="http://schemas.microsoft.com/office/drawing/2014/main" id="{DF1E077A-2377-4880-91B2-08EA261FB412}"/>
              </a:ext>
            </a:extLst>
          </p:cNvPr>
          <p:cNvSpPr>
            <a:spLocks xmlns:a="http://schemas.openxmlformats.org/drawingml/2006/main" noGrp="1"/>
          </p:cNvSpPr>
          <p:nvPr/>
        </p:nvSpPr>
        <p:spPr>
          <a:xfrm xmlns:a="http://schemas.openxmlformats.org/drawingml/2006/main">
            <a:off x="1809750" y="4832985"/>
            <a:ext cx="400050" cy="6438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5</a:t>
            </a:r>
          </a:p>
        </p:txBody>
      </p:sp>
      <p:sp>
        <p:nvSpPr>
          <p:cNvPr id="22" name="">
            <a:extLst xmlns:a="http://schemas.openxmlformats.org/drawingml/2006/main">
              <a:ext uri="{FF2B5EF4-FFF2-40B4-BE49-F238E27FC236}">
                <a16:creationId xmlns:a16="http://schemas.microsoft.com/office/drawing/2014/main" id="{533E17A3-3C09-41C9-955A-E7BF2B0DC20B}"/>
              </a:ext>
            </a:extLst>
          </p:cNvPr>
          <p:cNvSpPr>
            <a:spLocks xmlns:a="http://schemas.openxmlformats.org/drawingml/2006/main" noGrp="1"/>
          </p:cNvSpPr>
          <p:nvPr/>
        </p:nvSpPr>
        <p:spPr>
          <a:xfrm xmlns:a="http://schemas.openxmlformats.org/drawingml/2006/main">
            <a:off x="2324100" y="4842510"/>
            <a:ext cx="2381250" cy="624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5. Ergebnis</a:t>
            </a:r>
          </a:p>
        </p:txBody>
      </p:sp>
      <p:sp>
        <p:nvSpPr>
          <p:cNvPr id="23" name="">
            <a:extLst xmlns:a="http://schemas.openxmlformats.org/drawingml/2006/main">
              <a:ext uri="{FF2B5EF4-FFF2-40B4-BE49-F238E27FC236}">
                <a16:creationId xmlns:a16="http://schemas.microsoft.com/office/drawing/2014/main" id="{0410A80C-00A9-4A4A-B0DE-B92F93463183}"/>
              </a:ext>
            </a:extLst>
          </p:cNvPr>
          <p:cNvSpPr>
            <a:spLocks xmlns:a="http://schemas.openxmlformats.org/drawingml/2006/main" noGrp="1"/>
          </p:cNvSpPr>
          <p:nvPr/>
        </p:nvSpPr>
        <p:spPr>
          <a:xfrm xmlns:a="http://schemas.openxmlformats.org/drawingml/2006/main">
            <a:off x="4819650" y="4842510"/>
            <a:ext cx="6419850" cy="624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Erst nach der Prüfung folgt ein knappes Ergebnis; offene Tatsachen- oder Beweisfragen werden kenntlich gemacht.</a:t>
            </a:r>
          </a:p>
        </p:txBody>
      </p:sp>
      <p:sp>
        <p:nvSpPr>
          <p:cNvPr id="24" name="">
            <a:extLst xmlns:a="http://schemas.openxmlformats.org/drawingml/2006/main">
              <a:ext uri="{FF2B5EF4-FFF2-40B4-BE49-F238E27FC236}">
                <a16:creationId xmlns:a16="http://schemas.microsoft.com/office/drawing/2014/main" id="{E5CC7F02-6FEB-42B2-9AE1-345A1C4C7391}"/>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5" name="">
            <a:extLst xmlns:a="http://schemas.openxmlformats.org/drawingml/2006/main">
              <a:ext uri="{FF2B5EF4-FFF2-40B4-BE49-F238E27FC236}">
                <a16:creationId xmlns:a16="http://schemas.microsoft.com/office/drawing/2014/main" id="{6CA45F3C-595D-463B-A3CE-F3B0B7FE4542}"/>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Juristisches Denken ist kein Etikettieren, sondern ein transparenter Vergleich von Norm und Tatsachen.</a:t>
            </a:r>
          </a:p>
        </p:txBody>
      </p:sp>
    </p:spTree>
    <p:extLst>
      <p:ext uri="{BB962C8B-B14F-4D97-AF65-F5344CB8AC3E}">
        <p14:creationId xmlns:p14="http://schemas.microsoft.com/office/powerpoint/2010/main" val="43637646"/>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Tatbestand, Rechtswidrigkeit, Schuld</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CB98D31C-9D8A-4013-A4F7-3FCD8A4D3D5A}"/>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Im Strafrecht und teilweise im Deliktsrecht werden unterschiedliche Wertungsebenen bewusst getrennt.</a:t>
            </a:r>
          </a:p>
        </p:txBody>
      </p:sp>
      <p:sp>
        <p:nvSpPr>
          <p:cNvPr id="5" name="">
            <a:extLst xmlns:a="http://schemas.openxmlformats.org/drawingml/2006/main">
              <a:ext uri="{FF2B5EF4-FFF2-40B4-BE49-F238E27FC236}">
                <a16:creationId xmlns:a16="http://schemas.microsoft.com/office/drawing/2014/main" id="{92FD41DD-2C49-456F-AB3E-6885D54FC2A9}"/>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0163697B-FC0C-49CA-9231-ECF28ED9E5C2}"/>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76D5E31A-980F-461C-A700-885C29BE1FAC}"/>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Tatbestand</a:t>
            </a:r>
          </a:p>
        </p:txBody>
      </p:sp>
      <p:sp>
        <p:nvSpPr>
          <p:cNvPr id="8" name="">
            <a:extLst xmlns:a="http://schemas.openxmlformats.org/drawingml/2006/main">
              <a:ext uri="{FF2B5EF4-FFF2-40B4-BE49-F238E27FC236}">
                <a16:creationId xmlns:a16="http://schemas.microsoft.com/office/drawing/2014/main" id="{6FE85CD0-98CF-4A18-B71A-5661D36318BF}"/>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Zuerst wird geprüft, ob das Verhalten die gesetzlichen Merkmale erfüllt. Eine Operation kann tatbestandlich eine Körperverletzung sein.</a:t>
            </a:r>
          </a:p>
        </p:txBody>
      </p:sp>
      <p:sp>
        <p:nvSpPr>
          <p:cNvPr id="9" name="">
            <a:extLst xmlns:a="http://schemas.openxmlformats.org/drawingml/2006/main">
              <a:ext uri="{FF2B5EF4-FFF2-40B4-BE49-F238E27FC236}">
                <a16:creationId xmlns:a16="http://schemas.microsoft.com/office/drawing/2014/main" id="{70E4DC90-D331-471F-8888-5DD2FC782751}"/>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A06D3EC4-5D0B-44D0-A475-2C3B65BD8F7C}"/>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FAEACC54-A8FC-450E-9151-232B3A5E2B82}"/>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Rechtswidrigkeit</a:t>
            </a:r>
          </a:p>
        </p:txBody>
      </p:sp>
      <p:sp>
        <p:nvSpPr>
          <p:cNvPr id="12" name="">
            <a:extLst xmlns:a="http://schemas.openxmlformats.org/drawingml/2006/main">
              <a:ext uri="{FF2B5EF4-FFF2-40B4-BE49-F238E27FC236}">
                <a16:creationId xmlns:a16="http://schemas.microsoft.com/office/drawing/2014/main" id="{F56CDC4A-C21B-406C-9461-665D58B24DB6}"/>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Dann wird gefragt, ob ein Rechtfertigungsgrund eingreift. Wirksame Einwilligung kann den Eingriff rechtfertigen.</a:t>
            </a:r>
          </a:p>
        </p:txBody>
      </p:sp>
      <p:sp>
        <p:nvSpPr>
          <p:cNvPr id="13" name="">
            <a:extLst xmlns:a="http://schemas.openxmlformats.org/drawingml/2006/main">
              <a:ext uri="{FF2B5EF4-FFF2-40B4-BE49-F238E27FC236}">
                <a16:creationId xmlns:a16="http://schemas.microsoft.com/office/drawing/2014/main" id="{524AC664-69F9-4829-A2E9-E6A2D0169869}"/>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8027B9FE-2E4C-43D0-B1F6-1A90AF1B6B27}"/>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9DDFD791-4216-4C6B-9E03-62A3A8978FD0}"/>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Schuld</a:t>
            </a:r>
          </a:p>
        </p:txBody>
      </p:sp>
      <p:sp>
        <p:nvSpPr>
          <p:cNvPr id="16" name="">
            <a:extLst xmlns:a="http://schemas.openxmlformats.org/drawingml/2006/main">
              <a:ext uri="{FF2B5EF4-FFF2-40B4-BE49-F238E27FC236}">
                <a16:creationId xmlns:a16="http://schemas.microsoft.com/office/drawing/2014/main" id="{52DE8B17-85E6-4308-8A7A-FC8D00B946E3}"/>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Schließlich geht es um persönliche Vorwerfbarkeit. Entschuldigungs- oder Schuldausschließungsgründe betreffen diese Ebene.</a:t>
            </a:r>
          </a:p>
        </p:txBody>
      </p:sp>
      <p:sp>
        <p:nvSpPr>
          <p:cNvPr id="17" name="">
            <a:extLst xmlns:a="http://schemas.openxmlformats.org/drawingml/2006/main">
              <a:ext uri="{FF2B5EF4-FFF2-40B4-BE49-F238E27FC236}">
                <a16:creationId xmlns:a16="http://schemas.microsoft.com/office/drawing/2014/main" id="{9131A5EF-F1C5-46E9-9858-ECF1FF6B830F}"/>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02F74C45-9A29-4ED6-A82A-3B997A0CD804}"/>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71B950F9-726D-4FC9-8323-33B5001F9BCA}"/>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Praktische Bedeutung</a:t>
            </a:r>
          </a:p>
        </p:txBody>
      </p:sp>
      <p:sp>
        <p:nvSpPr>
          <p:cNvPr id="20" name="">
            <a:extLst xmlns:a="http://schemas.openxmlformats.org/drawingml/2006/main">
              <a:ext uri="{FF2B5EF4-FFF2-40B4-BE49-F238E27FC236}">
                <a16:creationId xmlns:a16="http://schemas.microsoft.com/office/drawing/2014/main" id="{15F40BB7-B8B2-4119-8074-B4A4DF0F07E0}"/>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Wer die Ebenen vermischt, übersieht, dass medizinisch indizierte Behandlung ohne wirksame Einwilligung rechtlich problematisch bleiben kann.</a:t>
            </a:r>
          </a:p>
        </p:txBody>
      </p:sp>
      <p:sp>
        <p:nvSpPr>
          <p:cNvPr id="21" name="">
            <a:extLst xmlns:a="http://schemas.openxmlformats.org/drawingml/2006/main">
              <a:ext uri="{FF2B5EF4-FFF2-40B4-BE49-F238E27FC236}">
                <a16:creationId xmlns:a16="http://schemas.microsoft.com/office/drawing/2014/main" id="{00B297BC-0FDD-4895-BCE1-7AF605E87E4A}"/>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631C6101-C059-4B05-9BAE-1AFB0A6F39B3}"/>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Indikation, Aufklärung, Einwilligung und fachgerechte Durchführung beantworten verschiedene Rechtsfragen.</a:t>
            </a:r>
          </a:p>
        </p:txBody>
      </p:sp>
    </p:spTree>
    <p:extLst>
      <p:ext uri="{BB962C8B-B14F-4D97-AF65-F5344CB8AC3E}">
        <p14:creationId xmlns:p14="http://schemas.microsoft.com/office/powerpoint/2010/main" val="43637646"/>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Behaupten, bestreiten, beweisen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UNTERSCHEIDEN KÖNNEN</a:t>
            </a:r>
            <a:endParaRPr/>
          </a:p>
        </p:txBody>
      </p:sp>
      <p:sp>
        <p:nvSpPr>
          <p:cNvPr id="4" name="">
            <a:extLst xmlns:a="http://schemas.openxmlformats.org/drawingml/2006/main">
              <a:ext uri="{FF2B5EF4-FFF2-40B4-BE49-F238E27FC236}">
                <a16:creationId xmlns:a16="http://schemas.microsoft.com/office/drawing/2014/main" id="{3B1E4D31-A9E1-4A3D-B88C-BFE9EE6DAF3C}"/>
              </a:ext>
            </a:extLst>
          </p:cNvPr>
          <p:cNvSpPr>
            <a:spLocks xmlns:a="http://schemas.openxmlformats.org/drawingml/2006/main" noGrp="1"/>
          </p:cNvSpPr>
          <p:nvPr/>
        </p:nvSpPr>
        <p:spPr>
          <a:xfrm xmlns:a="http://schemas.openxmlformats.org/drawingml/2006/main">
            <a:off x="1809750" y="2000250"/>
            <a:ext cx="4619625" cy="3286125"/>
          </a:xfrm>
          <a:prstGeom xmlns:a="http://schemas.openxmlformats.org/drawingml/2006/main" prst="roundRect">
            <a:avLst>
              <a:gd name="adj" fmla="val 2319"/>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E10CBC60-9472-433A-8C07-A67463F952D6}"/>
              </a:ext>
            </a:extLst>
          </p:cNvPr>
          <p:cNvSpPr>
            <a:spLocks xmlns:a="http://schemas.openxmlformats.org/drawingml/2006/main" noGrp="1"/>
          </p:cNvSpPr>
          <p:nvPr/>
        </p:nvSpPr>
        <p:spPr>
          <a:xfrm xmlns:a="http://schemas.openxmlformats.org/drawingml/2006/main">
            <a:off x="1809750" y="2000250"/>
            <a:ext cx="4619625"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B8646A14-8619-44D2-9287-8CCB736FFA06}"/>
              </a:ext>
            </a:extLst>
          </p:cNvPr>
          <p:cNvSpPr>
            <a:spLocks xmlns:a="http://schemas.openxmlformats.org/drawingml/2006/main" noGrp="1"/>
          </p:cNvSpPr>
          <p:nvPr/>
        </p:nvSpPr>
        <p:spPr>
          <a:xfrm xmlns:a="http://schemas.openxmlformats.org/drawingml/2006/main">
            <a:off x="1962150" y="2133600"/>
            <a:ext cx="4314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75" b="1">
                <a:solidFill>
                  <a:srgbClr val="003F6B"/>
                </a:solidFill>
              </a:defRPr>
            </a:pPr>
            <a:r>
              <a:rPr sz="1575" b="1">
                <a:solidFill>
                  <a:srgbClr val="003F6B"/>
                </a:solidFill>
              </a:rPr>
              <a:t>Tatsachenebene</a:t>
            </a:r>
          </a:p>
        </p:txBody>
      </p:sp>
      <p:sp>
        <p:nvSpPr>
          <p:cNvPr id="7" name="">
            <a:extLst xmlns:a="http://schemas.openxmlformats.org/drawingml/2006/main">
              <a:ext uri="{FF2B5EF4-FFF2-40B4-BE49-F238E27FC236}">
                <a16:creationId xmlns:a16="http://schemas.microsoft.com/office/drawing/2014/main" id="{6A5734C5-5090-4575-8388-82C6AF53ABB6}"/>
              </a:ext>
            </a:extLst>
          </p:cNvPr>
          <p:cNvSpPr>
            <a:spLocks xmlns:a="http://schemas.openxmlformats.org/drawingml/2006/main" noGrp="1"/>
          </p:cNvSpPr>
          <p:nvPr/>
        </p:nvSpPr>
        <p:spPr>
          <a:xfrm xmlns:a="http://schemas.openxmlformats.org/drawingml/2006/main">
            <a:off x="1962150" y="2571750"/>
            <a:ext cx="4314825"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15232B"/>
                </a:solidFill>
              </a:defRPr>
            </a:pPr>
            <a:r>
              <a:rPr sz="1200">
                <a:solidFill>
                  <a:srgbClr val="15232B"/>
                </a:solidFill>
              </a:rPr>
              <a:t>• Parteien oder Ermittlungsorgane tragen konkrete Tatsachen zusammen.</a:t>
            </a:r>
          </a:p>
          <a:p xmlns:a="http://schemas.openxmlformats.org/drawingml/2006/main">
            <a:pPr>
              <a:buNone/>
              <a:defRPr sz="1200">
                <a:solidFill>
                  <a:srgbClr val="15232B"/>
                </a:solidFill>
              </a:defRPr>
            </a:pPr>
            <a:r>
              <a:rPr sz="1200">
                <a:solidFill>
                  <a:srgbClr val="15232B"/>
                </a:solidFill>
              </a:rPr>
              <a:t>• Eine Behauptung wird nicht allein dadurch wahr, dass sie plausibel klingt.</a:t>
            </a:r>
          </a:p>
          <a:p xmlns:a="http://schemas.openxmlformats.org/drawingml/2006/main">
            <a:pPr>
              <a:buNone/>
              <a:defRPr sz="1200">
                <a:solidFill>
                  <a:srgbClr val="15232B"/>
                </a:solidFill>
              </a:defRPr>
            </a:pPr>
            <a:r>
              <a:rPr sz="1200">
                <a:solidFill>
                  <a:srgbClr val="15232B"/>
                </a:solidFill>
              </a:rPr>
              <a:t>• Unstreitige Tatsachen und zugestandene Tatsachen benötigen im Zivilprozess grundsätzlich keinen Beweis.</a:t>
            </a:r>
          </a:p>
        </p:txBody>
      </p:sp>
      <p:sp>
        <p:nvSpPr>
          <p:cNvPr id="8" name="">
            <a:extLst xmlns:a="http://schemas.openxmlformats.org/drawingml/2006/main">
              <a:ext uri="{FF2B5EF4-FFF2-40B4-BE49-F238E27FC236}">
                <a16:creationId xmlns:a16="http://schemas.microsoft.com/office/drawing/2014/main" id="{C51E336D-60D4-4A23-8896-CE62FD1568F7}"/>
              </a:ext>
            </a:extLst>
          </p:cNvPr>
          <p:cNvSpPr>
            <a:spLocks xmlns:a="http://schemas.openxmlformats.org/drawingml/2006/main" noGrp="1"/>
          </p:cNvSpPr>
          <p:nvPr/>
        </p:nvSpPr>
        <p:spPr>
          <a:xfrm xmlns:a="http://schemas.openxmlformats.org/drawingml/2006/main">
            <a:off x="6715125" y="2000250"/>
            <a:ext cx="4619625" cy="3286125"/>
          </a:xfrm>
          <a:prstGeom xmlns:a="http://schemas.openxmlformats.org/drawingml/2006/main" prst="roundRect">
            <a:avLst>
              <a:gd name="adj" fmla="val 2319"/>
            </a:avLst>
          </a:prstGeom>
          <a:noFill xmlns:a="http://schemas.openxmlformats.org/drawingml/2006/main"/>
          <a:ln xmlns:a="http://schemas.openxmlformats.org/drawingml/2006/main" w="9525">
            <a:solidFill>
              <a:srgbClr val="B9CAD2"/>
            </a:solidFill>
            <a:prstDash val="solid"/>
          </a:ln>
        </p:spPr>
      </p:sp>
      <p:sp>
        <p:nvSpPr>
          <p:cNvPr id="9" name="">
            <a:extLst xmlns:a="http://schemas.openxmlformats.org/drawingml/2006/main">
              <a:ext uri="{FF2B5EF4-FFF2-40B4-BE49-F238E27FC236}">
                <a16:creationId xmlns:a16="http://schemas.microsoft.com/office/drawing/2014/main" id="{5BA68260-15AD-42CB-A38C-1778E86FE715}"/>
              </a:ext>
            </a:extLst>
          </p:cNvPr>
          <p:cNvSpPr>
            <a:spLocks xmlns:a="http://schemas.openxmlformats.org/drawingml/2006/main" noGrp="1"/>
          </p:cNvSpPr>
          <p:nvPr/>
        </p:nvSpPr>
        <p:spPr>
          <a:xfrm xmlns:a="http://schemas.openxmlformats.org/drawingml/2006/main">
            <a:off x="6715125" y="2000250"/>
            <a:ext cx="4619625"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1871D283-9132-4534-BC6E-F65FF2ABB9B4}"/>
              </a:ext>
            </a:extLst>
          </p:cNvPr>
          <p:cNvSpPr>
            <a:spLocks xmlns:a="http://schemas.openxmlformats.org/drawingml/2006/main" noGrp="1"/>
          </p:cNvSpPr>
          <p:nvPr/>
        </p:nvSpPr>
        <p:spPr>
          <a:xfrm xmlns:a="http://schemas.openxmlformats.org/drawingml/2006/main">
            <a:off x="6867525" y="2133600"/>
            <a:ext cx="4314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75" b="1">
                <a:solidFill>
                  <a:srgbClr val="003F6B"/>
                </a:solidFill>
              </a:defRPr>
            </a:pPr>
            <a:r>
              <a:rPr sz="1575" b="1">
                <a:solidFill>
                  <a:srgbClr val="003F6B"/>
                </a:solidFill>
              </a:rPr>
              <a:t>Beweisebene</a:t>
            </a:r>
          </a:p>
        </p:txBody>
      </p:sp>
      <p:sp>
        <p:nvSpPr>
          <p:cNvPr id="11" name="">
            <a:extLst xmlns:a="http://schemas.openxmlformats.org/drawingml/2006/main">
              <a:ext uri="{FF2B5EF4-FFF2-40B4-BE49-F238E27FC236}">
                <a16:creationId xmlns:a16="http://schemas.microsoft.com/office/drawing/2014/main" id="{FFE06058-B6D2-475E-B1B1-9E16FD89AFBD}"/>
              </a:ext>
            </a:extLst>
          </p:cNvPr>
          <p:cNvSpPr>
            <a:spLocks xmlns:a="http://schemas.openxmlformats.org/drawingml/2006/main" noGrp="1"/>
          </p:cNvSpPr>
          <p:nvPr/>
        </p:nvSpPr>
        <p:spPr>
          <a:xfrm xmlns:a="http://schemas.openxmlformats.org/drawingml/2006/main">
            <a:off x="6867525" y="2571750"/>
            <a:ext cx="4314825"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15232B"/>
                </a:solidFill>
              </a:defRPr>
            </a:pPr>
            <a:r>
              <a:rPr sz="1200">
                <a:solidFill>
                  <a:srgbClr val="15232B"/>
                </a:solidFill>
              </a:rPr>
              <a:t>• Beweismittel sollen das Gericht von streitigen Tatsachen überzeugen.</a:t>
            </a:r>
          </a:p>
          <a:p xmlns:a="http://schemas.openxmlformats.org/drawingml/2006/main">
            <a:pPr>
              <a:buNone/>
              <a:defRPr sz="1200">
                <a:solidFill>
                  <a:srgbClr val="15232B"/>
                </a:solidFill>
              </a:defRPr>
            </a:pPr>
            <a:r>
              <a:rPr sz="1200">
                <a:solidFill>
                  <a:srgbClr val="15232B"/>
                </a:solidFill>
              </a:rPr>
              <a:t>• Die Beweislast bestimmt, wer das Risiko verbleibender Ungewissheit trägt.</a:t>
            </a:r>
          </a:p>
          <a:p xmlns:a="http://schemas.openxmlformats.org/drawingml/2006/main">
            <a:pPr>
              <a:buNone/>
              <a:defRPr sz="1200">
                <a:solidFill>
                  <a:srgbClr val="15232B"/>
                </a:solidFill>
              </a:defRPr>
            </a:pPr>
            <a:r>
              <a:rPr sz="1200">
                <a:solidFill>
                  <a:srgbClr val="15232B"/>
                </a:solidFill>
              </a:rPr>
              <a:t>• Dokumentation ist wichtig, aber weder das einzige Beweismittel noch automatisch vollständig richtig.</a:t>
            </a:r>
          </a:p>
        </p:txBody>
      </p:sp>
      <p:sp>
        <p:nvSpPr>
          <p:cNvPr id="12" name="">
            <a:extLst xmlns:a="http://schemas.openxmlformats.org/drawingml/2006/main">
              <a:ext uri="{FF2B5EF4-FFF2-40B4-BE49-F238E27FC236}">
                <a16:creationId xmlns:a16="http://schemas.microsoft.com/office/drawing/2014/main" id="{64883A29-9437-4A48-A31F-FF2AE0B6005E}"/>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13" name="">
            <a:extLst xmlns:a="http://schemas.openxmlformats.org/drawingml/2006/main">
              <a:ext uri="{FF2B5EF4-FFF2-40B4-BE49-F238E27FC236}">
                <a16:creationId xmlns:a16="http://schemas.microsoft.com/office/drawing/2014/main" id="{F2F39177-F078-4429-A0FA-177D383D1C36}"/>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Recht bekommen setzt eine beweisbare Tatsachengrundlage voraus.</a:t>
            </a:r>
          </a:p>
        </p:txBody>
      </p:sp>
    </p:spTree>
    <p:extLst>
      <p:ext uri="{BB962C8B-B14F-4D97-AF65-F5344CB8AC3E}">
        <p14:creationId xmlns:p14="http://schemas.microsoft.com/office/powerpoint/2010/main" val="43637646"/>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Ex ante statt Rückschaufehler</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100C6D3A-3392-44D6-8939-A8C20FC9DD8D}"/>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Rechtlich wird ärztliches Verhalten nach den Erkenntnismöglichkeiten im Entscheidungszeitpunkt bewertet.</a:t>
            </a:r>
          </a:p>
        </p:txBody>
      </p:sp>
      <p:sp>
        <p:nvSpPr>
          <p:cNvPr id="5" name="">
            <a:extLst xmlns:a="http://schemas.openxmlformats.org/drawingml/2006/main">
              <a:ext uri="{FF2B5EF4-FFF2-40B4-BE49-F238E27FC236}">
                <a16:creationId xmlns:a16="http://schemas.microsoft.com/office/drawing/2014/main" id="{3E4C5A4D-0B03-4234-BFD4-D5920B5A44C1}"/>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6F98C7F5-615A-4BAD-8FCF-7AAC0362968F}"/>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120C4123-37AA-4AF9-850E-2CD97A46B833}"/>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Ex-ante-Perspektive</a:t>
            </a:r>
          </a:p>
        </p:txBody>
      </p:sp>
      <p:sp>
        <p:nvSpPr>
          <p:cNvPr id="8" name="">
            <a:extLst xmlns:a="http://schemas.openxmlformats.org/drawingml/2006/main">
              <a:ext uri="{FF2B5EF4-FFF2-40B4-BE49-F238E27FC236}">
                <a16:creationId xmlns:a16="http://schemas.microsoft.com/office/drawing/2014/main" id="{2466DFC9-24C8-4219-8059-1EF93848C619}"/>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Welche Symptome, Befunde, Ressourcen und Handlungsoptionen waren damals tatsächlich bekannt oder erkennbar?</a:t>
            </a:r>
          </a:p>
        </p:txBody>
      </p:sp>
      <p:sp>
        <p:nvSpPr>
          <p:cNvPr id="9" name="">
            <a:extLst xmlns:a="http://schemas.openxmlformats.org/drawingml/2006/main">
              <a:ext uri="{FF2B5EF4-FFF2-40B4-BE49-F238E27FC236}">
                <a16:creationId xmlns:a16="http://schemas.microsoft.com/office/drawing/2014/main" id="{32EEE7A9-E8F4-4874-AFBC-2B0317282C7A}"/>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4BB12F5A-5394-434A-AC53-E547E2342C9D}"/>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759E8AB4-4476-448A-96E9-C419E50F2F35}"/>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Ex-post-Wissen</a:t>
            </a:r>
          </a:p>
        </p:txBody>
      </p:sp>
      <p:sp>
        <p:nvSpPr>
          <p:cNvPr id="12" name="">
            <a:extLst xmlns:a="http://schemas.openxmlformats.org/drawingml/2006/main">
              <a:ext uri="{FF2B5EF4-FFF2-40B4-BE49-F238E27FC236}">
                <a16:creationId xmlns:a16="http://schemas.microsoft.com/office/drawing/2014/main" id="{37C49468-944E-4D51-8EB9-D09E96056805}"/>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Der später bekannte Verlauf darf nicht unbemerkt in die frühere Entscheidung zurückprojiziert werden.</a:t>
            </a:r>
          </a:p>
        </p:txBody>
      </p:sp>
      <p:sp>
        <p:nvSpPr>
          <p:cNvPr id="13" name="">
            <a:extLst xmlns:a="http://schemas.openxmlformats.org/drawingml/2006/main">
              <a:ext uri="{FF2B5EF4-FFF2-40B4-BE49-F238E27FC236}">
                <a16:creationId xmlns:a16="http://schemas.microsoft.com/office/drawing/2014/main" id="{85793B25-A861-4654-9220-C417B10CFB0D}"/>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EE07DD03-4546-4B13-850C-0E94FF5B3D39}"/>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2C8868BD-570F-49CE-8516-0659A85CA226}"/>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Outcome ist kein Fehlerbeweis</a:t>
            </a:r>
          </a:p>
        </p:txBody>
      </p:sp>
      <p:sp>
        <p:nvSpPr>
          <p:cNvPr id="16" name="">
            <a:extLst xmlns:a="http://schemas.openxmlformats.org/drawingml/2006/main">
              <a:ext uri="{FF2B5EF4-FFF2-40B4-BE49-F238E27FC236}">
                <a16:creationId xmlns:a16="http://schemas.microsoft.com/office/drawing/2014/main" id="{1E17B7B8-E13F-4689-BD31-BC0048A7EDE0}"/>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Eine Komplikation kann trotz fachgerechter Behandlung eintreten. Umgekehrt kann ein Fehler ohne nachweisbaren Schaden bleiben.</a:t>
            </a:r>
          </a:p>
        </p:txBody>
      </p:sp>
      <p:sp>
        <p:nvSpPr>
          <p:cNvPr id="17" name="">
            <a:extLst xmlns:a="http://schemas.openxmlformats.org/drawingml/2006/main">
              <a:ext uri="{FF2B5EF4-FFF2-40B4-BE49-F238E27FC236}">
                <a16:creationId xmlns:a16="http://schemas.microsoft.com/office/drawing/2014/main" id="{A027E212-2A18-44C8-8AEA-E042FBB9ED9D}"/>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7BDD7415-593F-496C-A5F8-EE60B1519CB1}"/>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3CF843CB-0EE2-49BA-8A5E-C78382F63B09}"/>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Dokumentation als Zeitanker</a:t>
            </a:r>
          </a:p>
        </p:txBody>
      </p:sp>
      <p:sp>
        <p:nvSpPr>
          <p:cNvPr id="20" name="">
            <a:extLst xmlns:a="http://schemas.openxmlformats.org/drawingml/2006/main">
              <a:ext uri="{FF2B5EF4-FFF2-40B4-BE49-F238E27FC236}">
                <a16:creationId xmlns:a16="http://schemas.microsoft.com/office/drawing/2014/main" id="{9A423E1D-BC21-4011-80A4-CE04EEA3D866}"/>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Zeitnahe, sachliche Einträge helfen, den damaligen Informationsstand später nachvollziehbar zu machen.</a:t>
            </a:r>
          </a:p>
        </p:txBody>
      </p:sp>
      <p:sp>
        <p:nvSpPr>
          <p:cNvPr id="21" name="">
            <a:extLst xmlns:a="http://schemas.openxmlformats.org/drawingml/2006/main">
              <a:ext uri="{FF2B5EF4-FFF2-40B4-BE49-F238E27FC236}">
                <a16:creationId xmlns:a16="http://schemas.microsoft.com/office/drawing/2014/main" id="{D2F4DFCF-2B99-425E-8092-8B02B2B298CD}"/>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392569C0-1106-4B06-9479-2C1FBF303082}"/>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Die Kernfrage lautet nicht: Was wissen wir heute? Sondern: Was musste damals vernünftigerweise erkannt und getan werden?</a:t>
            </a:r>
          </a:p>
        </p:txBody>
      </p:sp>
    </p:spTree>
    <p:extLst>
      <p:ext uri="{BB962C8B-B14F-4D97-AF65-F5344CB8AC3E}">
        <p14:creationId xmlns:p14="http://schemas.microsoft.com/office/powerpoint/2010/main" val="43637646"/>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Vom Ereignis zur Entscheidung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VERFAHREN VERSTEHEN</a:t>
            </a:r>
            <a:endParaRPr/>
          </a:p>
        </p:txBody>
      </p:sp>
      <p:sp>
        <p:nvSpPr>
          <p:cNvPr id="4" name="">
            <a:extLst xmlns:a="http://schemas.openxmlformats.org/drawingml/2006/main">
              <a:ext uri="{FF2B5EF4-FFF2-40B4-BE49-F238E27FC236}">
                <a16:creationId xmlns:a16="http://schemas.microsoft.com/office/drawing/2014/main" id="{E8CF6333-1D36-43AB-8085-41518EA270B0}"/>
              </a:ext>
            </a:extLst>
          </p:cNvPr>
          <p:cNvSpPr>
            <a:spLocks xmlns:a="http://schemas.openxmlformats.org/drawingml/2006/main" noGrp="1"/>
          </p:cNvSpPr>
          <p:nvPr/>
        </p:nvSpPr>
        <p:spPr>
          <a:xfrm xmlns:a="http://schemas.openxmlformats.org/drawingml/2006/main">
            <a:off x="1809750" y="1885950"/>
            <a:ext cx="9525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15">
                <a:solidFill>
                  <a:srgbClr val="667680"/>
                </a:solidFill>
              </a:defRPr>
            </a:pPr>
            <a:r>
              <a:rPr sz="1215">
                <a:solidFill>
                  <a:srgbClr val="667680"/>
                </a:solidFill>
              </a:rPr>
              <a:t>Ein Konflikt entwickelt sich typischerweise in mehreren, teilweise parallelen Stufen.</a:t>
            </a:r>
          </a:p>
        </p:txBody>
      </p:sp>
      <p:sp>
        <p:nvSpPr>
          <p:cNvPr id="5" name="">
            <a:extLst xmlns:a="http://schemas.openxmlformats.org/drawingml/2006/main">
              <a:ext uri="{FF2B5EF4-FFF2-40B4-BE49-F238E27FC236}">
                <a16:creationId xmlns:a16="http://schemas.microsoft.com/office/drawing/2014/main" id="{9F657AAD-686B-483A-BCFB-971DB55D5E28}"/>
              </a:ext>
            </a:extLst>
          </p:cNvPr>
          <p:cNvSpPr>
            <a:spLocks xmlns:a="http://schemas.openxmlformats.org/drawingml/2006/main" noGrp="1"/>
          </p:cNvSpPr>
          <p:nvPr/>
        </p:nvSpPr>
        <p:spPr>
          <a:xfrm xmlns:a="http://schemas.openxmlformats.org/drawingml/2006/main">
            <a:off x="1981200" y="2952750"/>
            <a:ext cx="9182100" cy="0"/>
          </a:xfrm>
          <a:prstGeom xmlns:a="http://schemas.openxmlformats.org/drawingml/2006/main" prst="line">
            <a:avLst/>
          </a:prstGeom>
          <a:noFill xmlns:a="http://schemas.openxmlformats.org/drawingml/2006/main"/>
          <a:ln xmlns:a="http://schemas.openxmlformats.org/drawingml/2006/main" w="28575">
            <a:solidFill>
              <a:srgbClr val="B9CAD2"/>
            </a:solidFill>
            <a:prstDash val="solid"/>
          </a:ln>
        </p:spPr>
      </p:sp>
      <p:sp>
        <p:nvSpPr>
          <p:cNvPr id="6" name="">
            <a:extLst xmlns:a="http://schemas.openxmlformats.org/drawingml/2006/main">
              <a:ext uri="{FF2B5EF4-FFF2-40B4-BE49-F238E27FC236}">
                <a16:creationId xmlns:a16="http://schemas.microsoft.com/office/drawing/2014/main" id="{9BB1F79B-DF8E-46E3-A21F-E86862B28E45}"/>
              </a:ext>
            </a:extLst>
          </p:cNvPr>
          <p:cNvSpPr>
            <a:spLocks xmlns:a="http://schemas.openxmlformats.org/drawingml/2006/main" noGrp="1"/>
          </p:cNvSpPr>
          <p:nvPr/>
        </p:nvSpPr>
        <p:spPr>
          <a:xfrm xmlns:a="http://schemas.openxmlformats.org/drawingml/2006/main">
            <a:off x="1809750" y="2495550"/>
            <a:ext cx="1828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Ereignis und Versorgung</a:t>
            </a:r>
          </a:p>
        </p:txBody>
      </p:sp>
      <p:sp>
        <p:nvSpPr>
          <p:cNvPr id="7" name="">
            <a:extLst xmlns:a="http://schemas.openxmlformats.org/drawingml/2006/main">
              <a:ext uri="{FF2B5EF4-FFF2-40B4-BE49-F238E27FC236}">
                <a16:creationId xmlns:a16="http://schemas.microsoft.com/office/drawing/2014/main" id="{C6098AF8-92EA-499F-AD8D-2B7F43C99D4C}"/>
              </a:ext>
            </a:extLst>
          </p:cNvPr>
          <p:cNvSpPr>
            <a:spLocks xmlns:a="http://schemas.openxmlformats.org/drawingml/2006/main" noGrp="1"/>
          </p:cNvSpPr>
          <p:nvPr/>
        </p:nvSpPr>
        <p:spPr>
          <a:xfrm xmlns:a="http://schemas.openxmlformats.org/drawingml/2006/main">
            <a:off x="2600325" y="2838450"/>
            <a:ext cx="247650" cy="247650"/>
          </a:xfrm>
          <a:prstGeom xmlns:a="http://schemas.openxmlformats.org/drawingml/2006/main" prst="ellipse">
            <a:avLst/>
          </a:prstGeom>
          <a:solidFill xmlns:a="http://schemas.openxmlformats.org/drawingml/2006/main">
            <a:srgbClr val="003F6B"/>
          </a:solidFill>
          <a:ln xmlns:a="http://schemas.openxmlformats.org/drawingml/2006/main" w="19050">
            <a:solidFill>
              <a:srgbClr val="FFFFFF"/>
            </a:solidFill>
            <a:prstDash val="solid"/>
          </a:ln>
        </p:spPr>
      </p:sp>
      <p:sp>
        <p:nvSpPr>
          <p:cNvPr id="8" name="">
            <a:extLst xmlns:a="http://schemas.openxmlformats.org/drawingml/2006/main">
              <a:ext uri="{FF2B5EF4-FFF2-40B4-BE49-F238E27FC236}">
                <a16:creationId xmlns:a16="http://schemas.microsoft.com/office/drawing/2014/main" id="{75401464-96A7-4520-8F8D-AA6D1C24A5A0}"/>
              </a:ext>
            </a:extLst>
          </p:cNvPr>
          <p:cNvSpPr>
            <a:spLocks xmlns:a="http://schemas.openxmlformats.org/drawingml/2006/main" noGrp="1"/>
          </p:cNvSpPr>
          <p:nvPr/>
        </p:nvSpPr>
        <p:spPr>
          <a:xfrm xmlns:a="http://schemas.openxmlformats.org/drawingml/2006/main">
            <a:off x="1809750" y="3219450"/>
            <a:ext cx="1828800" cy="2000250"/>
          </a:xfrm>
          <a:prstGeom xmlns:a="http://schemas.openxmlformats.org/drawingml/2006/main" prst="roundRect">
            <a:avLst>
              <a:gd name="adj" fmla="val 4167"/>
            </a:avLst>
          </a:prstGeom>
          <a:noFill xmlns:a="http://schemas.openxmlformats.org/drawingml/2006/main"/>
          <a:ln xmlns:a="http://schemas.openxmlformats.org/drawingml/2006/main" w="9525">
            <a:solidFill>
              <a:srgbClr val="00B2BB"/>
            </a:solidFill>
            <a:prstDash val="solid"/>
          </a:ln>
        </p:spPr>
      </p:sp>
      <p:sp>
        <p:nvSpPr>
          <p:cNvPr id="9" name="">
            <a:extLst xmlns:a="http://schemas.openxmlformats.org/drawingml/2006/main">
              <a:ext uri="{FF2B5EF4-FFF2-40B4-BE49-F238E27FC236}">
                <a16:creationId xmlns:a16="http://schemas.microsoft.com/office/drawing/2014/main" id="{A4F46000-A59E-49BE-B0E3-F4C8150D2A85}"/>
              </a:ext>
            </a:extLst>
          </p:cNvPr>
          <p:cNvSpPr>
            <a:spLocks xmlns:a="http://schemas.openxmlformats.org/drawingml/2006/main" noGrp="1"/>
          </p:cNvSpPr>
          <p:nvPr/>
        </p:nvSpPr>
        <p:spPr>
          <a:xfrm xmlns:a="http://schemas.openxmlformats.org/drawingml/2006/main">
            <a:off x="1905000" y="3314700"/>
            <a:ext cx="16383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Zuerst stehen Patientensicherheit, Schadensbegrenzung und vollständige Weiterbehandlung im Vordergrund.</a:t>
            </a:r>
          </a:p>
        </p:txBody>
      </p:sp>
      <p:sp>
        <p:nvSpPr>
          <p:cNvPr id="10" name="">
            <a:extLst xmlns:a="http://schemas.openxmlformats.org/drawingml/2006/main">
              <a:ext uri="{FF2B5EF4-FFF2-40B4-BE49-F238E27FC236}">
                <a16:creationId xmlns:a16="http://schemas.microsoft.com/office/drawing/2014/main" id="{F69EDD66-BD73-41DA-8A62-8D9A537C620B}"/>
              </a:ext>
            </a:extLst>
          </p:cNvPr>
          <p:cNvSpPr>
            <a:spLocks xmlns:a="http://schemas.openxmlformats.org/drawingml/2006/main" noGrp="1"/>
          </p:cNvSpPr>
          <p:nvPr/>
        </p:nvSpPr>
        <p:spPr>
          <a:xfrm xmlns:a="http://schemas.openxmlformats.org/drawingml/2006/main">
            <a:off x="3733800" y="2495550"/>
            <a:ext cx="1828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Interne Aufarbeitung</a:t>
            </a:r>
          </a:p>
        </p:txBody>
      </p:sp>
      <p:sp>
        <p:nvSpPr>
          <p:cNvPr id="11" name="">
            <a:extLst xmlns:a="http://schemas.openxmlformats.org/drawingml/2006/main">
              <a:ext uri="{FF2B5EF4-FFF2-40B4-BE49-F238E27FC236}">
                <a16:creationId xmlns:a16="http://schemas.microsoft.com/office/drawing/2014/main" id="{F39D6D97-0DBB-4B4F-AFCB-EE310D9C25A5}"/>
              </a:ext>
            </a:extLst>
          </p:cNvPr>
          <p:cNvSpPr>
            <a:spLocks xmlns:a="http://schemas.openxmlformats.org/drawingml/2006/main" noGrp="1"/>
          </p:cNvSpPr>
          <p:nvPr/>
        </p:nvSpPr>
        <p:spPr>
          <a:xfrm xmlns:a="http://schemas.openxmlformats.org/drawingml/2006/main">
            <a:off x="4524375" y="2838450"/>
            <a:ext cx="247650" cy="24765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12" name="">
            <a:extLst xmlns:a="http://schemas.openxmlformats.org/drawingml/2006/main">
              <a:ext uri="{FF2B5EF4-FFF2-40B4-BE49-F238E27FC236}">
                <a16:creationId xmlns:a16="http://schemas.microsoft.com/office/drawing/2014/main" id="{3924DB80-BF53-4C00-BFE1-5323F1A0333D}"/>
              </a:ext>
            </a:extLst>
          </p:cNvPr>
          <p:cNvSpPr>
            <a:spLocks xmlns:a="http://schemas.openxmlformats.org/drawingml/2006/main" noGrp="1"/>
          </p:cNvSpPr>
          <p:nvPr/>
        </p:nvSpPr>
        <p:spPr>
          <a:xfrm xmlns:a="http://schemas.openxmlformats.org/drawingml/2006/main">
            <a:off x="3733800" y="3219450"/>
            <a:ext cx="1828800" cy="2000250"/>
          </a:xfrm>
          <a:prstGeom xmlns:a="http://schemas.openxmlformats.org/drawingml/2006/main" prst="roundRect">
            <a:avLst>
              <a:gd name="adj" fmla="val 4167"/>
            </a:avLst>
          </a:prstGeom>
          <a:noFill xmlns:a="http://schemas.openxmlformats.org/drawingml/2006/main"/>
          <a:ln xmlns:a="http://schemas.openxmlformats.org/drawingml/2006/main" w="9525">
            <a:solidFill>
              <a:srgbClr val="003F6B"/>
            </a:solidFill>
            <a:prstDash val="solid"/>
          </a:ln>
        </p:spPr>
      </p:sp>
      <p:sp>
        <p:nvSpPr>
          <p:cNvPr id="13" name="">
            <a:extLst xmlns:a="http://schemas.openxmlformats.org/drawingml/2006/main">
              <a:ext uri="{FF2B5EF4-FFF2-40B4-BE49-F238E27FC236}">
                <a16:creationId xmlns:a16="http://schemas.microsoft.com/office/drawing/2014/main" id="{72F402FF-7778-425C-A91A-132D732814BB}"/>
              </a:ext>
            </a:extLst>
          </p:cNvPr>
          <p:cNvSpPr>
            <a:spLocks xmlns:a="http://schemas.openxmlformats.org/drawingml/2006/main" noGrp="1"/>
          </p:cNvSpPr>
          <p:nvPr/>
        </p:nvSpPr>
        <p:spPr>
          <a:xfrm xmlns:a="http://schemas.openxmlformats.org/drawingml/2006/main">
            <a:off x="3829050" y="3314700"/>
            <a:ext cx="16383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Akte, Beteiligte und Abläufe werden gesichert; Qualitätsmanagement und Haftpflicht werden informiert.</a:t>
            </a:r>
          </a:p>
        </p:txBody>
      </p:sp>
      <p:sp>
        <p:nvSpPr>
          <p:cNvPr id="14" name="">
            <a:extLst xmlns:a="http://schemas.openxmlformats.org/drawingml/2006/main">
              <a:ext uri="{FF2B5EF4-FFF2-40B4-BE49-F238E27FC236}">
                <a16:creationId xmlns:a16="http://schemas.microsoft.com/office/drawing/2014/main" id="{093CEFC3-ACCA-42FD-9DAD-866F9CAE1BF5}"/>
              </a:ext>
            </a:extLst>
          </p:cNvPr>
          <p:cNvSpPr>
            <a:spLocks xmlns:a="http://schemas.openxmlformats.org/drawingml/2006/main" noGrp="1"/>
          </p:cNvSpPr>
          <p:nvPr/>
        </p:nvSpPr>
        <p:spPr>
          <a:xfrm xmlns:a="http://schemas.openxmlformats.org/drawingml/2006/main">
            <a:off x="5657850" y="2495550"/>
            <a:ext cx="1828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Außergerichtliche Prüfung</a:t>
            </a:r>
          </a:p>
        </p:txBody>
      </p:sp>
      <p:sp>
        <p:nvSpPr>
          <p:cNvPr id="15" name="">
            <a:extLst xmlns:a="http://schemas.openxmlformats.org/drawingml/2006/main">
              <a:ext uri="{FF2B5EF4-FFF2-40B4-BE49-F238E27FC236}">
                <a16:creationId xmlns:a16="http://schemas.microsoft.com/office/drawing/2014/main" id="{3311DADA-DA7B-439D-A18B-37A5402E779F}"/>
              </a:ext>
            </a:extLst>
          </p:cNvPr>
          <p:cNvSpPr>
            <a:spLocks xmlns:a="http://schemas.openxmlformats.org/drawingml/2006/main" noGrp="1"/>
          </p:cNvSpPr>
          <p:nvPr/>
        </p:nvSpPr>
        <p:spPr>
          <a:xfrm xmlns:a="http://schemas.openxmlformats.org/drawingml/2006/main">
            <a:off x="6448425" y="2838450"/>
            <a:ext cx="247650" cy="24765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16" name="">
            <a:extLst xmlns:a="http://schemas.openxmlformats.org/drawingml/2006/main">
              <a:ext uri="{FF2B5EF4-FFF2-40B4-BE49-F238E27FC236}">
                <a16:creationId xmlns:a16="http://schemas.microsoft.com/office/drawing/2014/main" id="{EE753F76-1651-4716-8819-FEEAF3D6CE02}"/>
              </a:ext>
            </a:extLst>
          </p:cNvPr>
          <p:cNvSpPr>
            <a:spLocks xmlns:a="http://schemas.openxmlformats.org/drawingml/2006/main" noGrp="1"/>
          </p:cNvSpPr>
          <p:nvPr/>
        </p:nvSpPr>
        <p:spPr>
          <a:xfrm xmlns:a="http://schemas.openxmlformats.org/drawingml/2006/main">
            <a:off x="5657850" y="3219450"/>
            <a:ext cx="1828800" cy="2000250"/>
          </a:xfrm>
          <a:prstGeom xmlns:a="http://schemas.openxmlformats.org/drawingml/2006/main" prst="roundRect">
            <a:avLst>
              <a:gd name="adj" fmla="val 4167"/>
            </a:avLst>
          </a:prstGeom>
          <a:noFill xmlns:a="http://schemas.openxmlformats.org/drawingml/2006/main"/>
          <a:ln xmlns:a="http://schemas.openxmlformats.org/drawingml/2006/main" w="9525">
            <a:solidFill>
              <a:srgbClr val="00B2BB"/>
            </a:solidFill>
            <a:prstDash val="solid"/>
          </a:ln>
        </p:spPr>
      </p:sp>
      <p:sp>
        <p:nvSpPr>
          <p:cNvPr id="17" name="">
            <a:extLst xmlns:a="http://schemas.openxmlformats.org/drawingml/2006/main">
              <a:ext uri="{FF2B5EF4-FFF2-40B4-BE49-F238E27FC236}">
                <a16:creationId xmlns:a16="http://schemas.microsoft.com/office/drawing/2014/main" id="{E7604CC4-9490-482A-8FE2-EC3916BF1349}"/>
              </a:ext>
            </a:extLst>
          </p:cNvPr>
          <p:cNvSpPr>
            <a:spLocks xmlns:a="http://schemas.openxmlformats.org/drawingml/2006/main" noGrp="1"/>
          </p:cNvSpPr>
          <p:nvPr/>
        </p:nvSpPr>
        <p:spPr>
          <a:xfrm xmlns:a="http://schemas.openxmlformats.org/drawingml/2006/main">
            <a:off x="5753100" y="3314700"/>
            <a:ext cx="16383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Patientenseite, Krankenkasse, MD, Versicherer oder Schlichtungsstelle können Unterlagen und Gutachten einholen.</a:t>
            </a:r>
          </a:p>
        </p:txBody>
      </p:sp>
      <p:sp>
        <p:nvSpPr>
          <p:cNvPr id="18" name="">
            <a:extLst xmlns:a="http://schemas.openxmlformats.org/drawingml/2006/main">
              <a:ext uri="{FF2B5EF4-FFF2-40B4-BE49-F238E27FC236}">
                <a16:creationId xmlns:a16="http://schemas.microsoft.com/office/drawing/2014/main" id="{09F255F4-BE5C-4A3D-82BF-C175996CDF9C}"/>
              </a:ext>
            </a:extLst>
          </p:cNvPr>
          <p:cNvSpPr>
            <a:spLocks xmlns:a="http://schemas.openxmlformats.org/drawingml/2006/main" noGrp="1"/>
          </p:cNvSpPr>
          <p:nvPr/>
        </p:nvSpPr>
        <p:spPr>
          <a:xfrm xmlns:a="http://schemas.openxmlformats.org/drawingml/2006/main">
            <a:off x="7581900" y="2495550"/>
            <a:ext cx="1828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Förmliches Verfahren</a:t>
            </a:r>
          </a:p>
        </p:txBody>
      </p:sp>
      <p:sp>
        <p:nvSpPr>
          <p:cNvPr id="19" name="">
            <a:extLst xmlns:a="http://schemas.openxmlformats.org/drawingml/2006/main">
              <a:ext uri="{FF2B5EF4-FFF2-40B4-BE49-F238E27FC236}">
                <a16:creationId xmlns:a16="http://schemas.microsoft.com/office/drawing/2014/main" id="{40020778-2E40-46C5-BD63-E1E19187F0C1}"/>
              </a:ext>
            </a:extLst>
          </p:cNvPr>
          <p:cNvSpPr>
            <a:spLocks xmlns:a="http://schemas.openxmlformats.org/drawingml/2006/main" noGrp="1"/>
          </p:cNvSpPr>
          <p:nvPr/>
        </p:nvSpPr>
        <p:spPr>
          <a:xfrm xmlns:a="http://schemas.openxmlformats.org/drawingml/2006/main">
            <a:off x="8372475" y="2838450"/>
            <a:ext cx="247650" cy="24765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20" name="">
            <a:extLst xmlns:a="http://schemas.openxmlformats.org/drawingml/2006/main">
              <a:ext uri="{FF2B5EF4-FFF2-40B4-BE49-F238E27FC236}">
                <a16:creationId xmlns:a16="http://schemas.microsoft.com/office/drawing/2014/main" id="{E6B2475B-441E-44D8-BD5B-4D284CA7B850}"/>
              </a:ext>
            </a:extLst>
          </p:cNvPr>
          <p:cNvSpPr>
            <a:spLocks xmlns:a="http://schemas.openxmlformats.org/drawingml/2006/main" noGrp="1"/>
          </p:cNvSpPr>
          <p:nvPr/>
        </p:nvSpPr>
        <p:spPr>
          <a:xfrm xmlns:a="http://schemas.openxmlformats.org/drawingml/2006/main">
            <a:off x="7581900" y="3219450"/>
            <a:ext cx="1828800" cy="2000250"/>
          </a:xfrm>
          <a:prstGeom xmlns:a="http://schemas.openxmlformats.org/drawingml/2006/main" prst="roundRect">
            <a:avLst>
              <a:gd name="adj" fmla="val 4167"/>
            </a:avLst>
          </a:prstGeom>
          <a:noFill xmlns:a="http://schemas.openxmlformats.org/drawingml/2006/main"/>
          <a:ln xmlns:a="http://schemas.openxmlformats.org/drawingml/2006/main" w="9525">
            <a:solidFill>
              <a:srgbClr val="003F6B"/>
            </a:solidFill>
            <a:prstDash val="solid"/>
          </a:ln>
        </p:spPr>
      </p:sp>
      <p:sp>
        <p:nvSpPr>
          <p:cNvPr id="21" name="">
            <a:extLst xmlns:a="http://schemas.openxmlformats.org/drawingml/2006/main">
              <a:ext uri="{FF2B5EF4-FFF2-40B4-BE49-F238E27FC236}">
                <a16:creationId xmlns:a16="http://schemas.microsoft.com/office/drawing/2014/main" id="{0EAC8E62-5F2B-4213-8B8B-96F00A02D31B}"/>
              </a:ext>
            </a:extLst>
          </p:cNvPr>
          <p:cNvSpPr>
            <a:spLocks xmlns:a="http://schemas.openxmlformats.org/drawingml/2006/main" noGrp="1"/>
          </p:cNvSpPr>
          <p:nvPr/>
        </p:nvSpPr>
        <p:spPr>
          <a:xfrm xmlns:a="http://schemas.openxmlformats.org/drawingml/2006/main">
            <a:off x="7677150" y="3314700"/>
            <a:ext cx="16383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Klage, Ermittlungsverfahren, Kammer- oder Verwaltungsverfahren folgen jeweils eigenen Regeln.</a:t>
            </a:r>
          </a:p>
        </p:txBody>
      </p:sp>
      <p:sp>
        <p:nvSpPr>
          <p:cNvPr id="22" name="">
            <a:extLst xmlns:a="http://schemas.openxmlformats.org/drawingml/2006/main">
              <a:ext uri="{FF2B5EF4-FFF2-40B4-BE49-F238E27FC236}">
                <a16:creationId xmlns:a16="http://schemas.microsoft.com/office/drawing/2014/main" id="{E2595B16-68FD-4B12-9604-B25FE400B3B8}"/>
              </a:ext>
            </a:extLst>
          </p:cNvPr>
          <p:cNvSpPr>
            <a:spLocks xmlns:a="http://schemas.openxmlformats.org/drawingml/2006/main" noGrp="1"/>
          </p:cNvSpPr>
          <p:nvPr/>
        </p:nvSpPr>
        <p:spPr>
          <a:xfrm xmlns:a="http://schemas.openxmlformats.org/drawingml/2006/main">
            <a:off x="9505950" y="2495550"/>
            <a:ext cx="1828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Entscheidung und Lernen</a:t>
            </a:r>
          </a:p>
        </p:txBody>
      </p:sp>
      <p:sp>
        <p:nvSpPr>
          <p:cNvPr id="23" name="">
            <a:extLst xmlns:a="http://schemas.openxmlformats.org/drawingml/2006/main">
              <a:ext uri="{FF2B5EF4-FFF2-40B4-BE49-F238E27FC236}">
                <a16:creationId xmlns:a16="http://schemas.microsoft.com/office/drawing/2014/main" id="{5FCEC243-A358-4C00-AC74-DE99D44230FF}"/>
              </a:ext>
            </a:extLst>
          </p:cNvPr>
          <p:cNvSpPr>
            <a:spLocks xmlns:a="http://schemas.openxmlformats.org/drawingml/2006/main" noGrp="1"/>
          </p:cNvSpPr>
          <p:nvPr/>
        </p:nvSpPr>
        <p:spPr>
          <a:xfrm xmlns:a="http://schemas.openxmlformats.org/drawingml/2006/main">
            <a:off x="10296525" y="2838450"/>
            <a:ext cx="247650" cy="24765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24" name="">
            <a:extLst xmlns:a="http://schemas.openxmlformats.org/drawingml/2006/main">
              <a:ext uri="{FF2B5EF4-FFF2-40B4-BE49-F238E27FC236}">
                <a16:creationId xmlns:a16="http://schemas.microsoft.com/office/drawing/2014/main" id="{04EE89BB-A5D5-49D9-98E2-2017298A2A65}"/>
              </a:ext>
            </a:extLst>
          </p:cNvPr>
          <p:cNvSpPr>
            <a:spLocks xmlns:a="http://schemas.openxmlformats.org/drawingml/2006/main" noGrp="1"/>
          </p:cNvSpPr>
          <p:nvPr/>
        </p:nvSpPr>
        <p:spPr>
          <a:xfrm xmlns:a="http://schemas.openxmlformats.org/drawingml/2006/main">
            <a:off x="9505950" y="3219450"/>
            <a:ext cx="1828800" cy="2000250"/>
          </a:xfrm>
          <a:prstGeom xmlns:a="http://schemas.openxmlformats.org/drawingml/2006/main" prst="roundRect">
            <a:avLst>
              <a:gd name="adj" fmla="val 4167"/>
            </a:avLst>
          </a:prstGeom>
          <a:noFill xmlns:a="http://schemas.openxmlformats.org/drawingml/2006/main"/>
          <a:ln xmlns:a="http://schemas.openxmlformats.org/drawingml/2006/main" w="9525">
            <a:solidFill>
              <a:srgbClr val="00B2BB"/>
            </a:solidFill>
            <a:prstDash val="solid"/>
          </a:ln>
        </p:spPr>
      </p:sp>
      <p:sp>
        <p:nvSpPr>
          <p:cNvPr id="25" name="">
            <a:extLst xmlns:a="http://schemas.openxmlformats.org/drawingml/2006/main">
              <a:ext uri="{FF2B5EF4-FFF2-40B4-BE49-F238E27FC236}">
                <a16:creationId xmlns:a16="http://schemas.microsoft.com/office/drawing/2014/main" id="{D74579FD-0D3E-46F8-B010-E9EB6F449289}"/>
              </a:ext>
            </a:extLst>
          </p:cNvPr>
          <p:cNvSpPr>
            <a:spLocks xmlns:a="http://schemas.openxmlformats.org/drawingml/2006/main" noGrp="1"/>
          </p:cNvSpPr>
          <p:nvPr/>
        </p:nvSpPr>
        <p:spPr>
          <a:xfrm xmlns:a="http://schemas.openxmlformats.org/drawingml/2006/main">
            <a:off x="9601200" y="3314700"/>
            <a:ext cx="16383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Vergleich, Urteil, Einstellung oder behördliche Entscheidung beenden den Einzelfall; die Sicherheitsarbeit beginnt danach erneut.</a:t>
            </a:r>
          </a:p>
        </p:txBody>
      </p:sp>
      <p:sp>
        <p:nvSpPr>
          <p:cNvPr id="26" name="">
            <a:extLst xmlns:a="http://schemas.openxmlformats.org/drawingml/2006/main">
              <a:ext uri="{FF2B5EF4-FFF2-40B4-BE49-F238E27FC236}">
                <a16:creationId xmlns:a16="http://schemas.microsoft.com/office/drawing/2014/main" id="{AB779365-A69F-4372-93E3-CCE975656CCD}"/>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7" name="">
            <a:extLst xmlns:a="http://schemas.openxmlformats.org/drawingml/2006/main">
              <a:ext uri="{FF2B5EF4-FFF2-40B4-BE49-F238E27FC236}">
                <a16:creationId xmlns:a16="http://schemas.microsoft.com/office/drawing/2014/main" id="{F1A2FF98-EA97-456C-9AF7-BEA124B06593}"/>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Frühes professionelles Handeln beeinflusst alle späteren Wege, ohne das Ergebnis vorwegzunehmen.</a:t>
            </a:r>
          </a:p>
        </p:txBody>
      </p:sp>
    </p:spTree>
    <p:extLst>
      <p:ext uri="{BB962C8B-B14F-4D97-AF65-F5344CB8AC3E}">
        <p14:creationId xmlns:p14="http://schemas.microsoft.com/office/powerpoint/2010/main" val="43637646"/>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Rollen im Verfahren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F4E7F349-2F54-4FC5-B325-0510AF88BF87}"/>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Jede Rolle hat eigene Aufgaben, Rechte und Loyalitäten. Ärztinnen und Ärzte sollten wissen, in welcher Rolle sie angesprochen werden.</a:t>
            </a:r>
          </a:p>
        </p:txBody>
      </p:sp>
      <p:sp>
        <p:nvSpPr>
          <p:cNvPr id="5" name="">
            <a:extLst xmlns:a="http://schemas.openxmlformats.org/drawingml/2006/main">
              <a:ext uri="{FF2B5EF4-FFF2-40B4-BE49-F238E27FC236}">
                <a16:creationId xmlns:a16="http://schemas.microsoft.com/office/drawing/2014/main" id="{912A0A8A-2D0A-4186-996B-553D548C7F1B}"/>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99A99F3C-23EF-41BC-9E31-FE46C0696241}"/>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36DFD93B-E36D-4822-933F-3CC7F62B9723}"/>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Patientenseite</a:t>
            </a:r>
          </a:p>
        </p:txBody>
      </p:sp>
      <p:sp>
        <p:nvSpPr>
          <p:cNvPr id="8" name="">
            <a:extLst xmlns:a="http://schemas.openxmlformats.org/drawingml/2006/main">
              <a:ext uri="{FF2B5EF4-FFF2-40B4-BE49-F238E27FC236}">
                <a16:creationId xmlns:a16="http://schemas.microsoft.com/office/drawing/2014/main" id="{76D4C4D0-A990-4C52-8FA6-BE5FB9A7319A}"/>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Sie schildert den Schaden, verlangt Aufklärung und macht gegebenenfalls Ansprüche geltend.</a:t>
            </a:r>
          </a:p>
        </p:txBody>
      </p:sp>
      <p:sp>
        <p:nvSpPr>
          <p:cNvPr id="9" name="">
            <a:extLst xmlns:a="http://schemas.openxmlformats.org/drawingml/2006/main">
              <a:ext uri="{FF2B5EF4-FFF2-40B4-BE49-F238E27FC236}">
                <a16:creationId xmlns:a16="http://schemas.microsoft.com/office/drawing/2014/main" id="{9B8DF87B-E866-47BE-8FBA-F20B3CDD8BD0}"/>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18B3CAF0-EEE8-4795-A594-F46698BE3F90}"/>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636A8AE7-8254-4153-B919-7E6C8B075290}"/>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Behandelnde Person</a:t>
            </a:r>
          </a:p>
        </p:txBody>
      </p:sp>
      <p:sp>
        <p:nvSpPr>
          <p:cNvPr id="12" name="">
            <a:extLst xmlns:a="http://schemas.openxmlformats.org/drawingml/2006/main">
              <a:ext uri="{FF2B5EF4-FFF2-40B4-BE49-F238E27FC236}">
                <a16:creationId xmlns:a16="http://schemas.microsoft.com/office/drawing/2014/main" id="{408FC603-BD37-455B-891F-657B95FB0556}"/>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Sie kann Auskunftsperson, Zeugin, Beschuldigte oder beklagte Partei sein. Diese Rollen haben unterschiedliche Rechte.</a:t>
            </a:r>
          </a:p>
        </p:txBody>
      </p:sp>
      <p:sp>
        <p:nvSpPr>
          <p:cNvPr id="13" name="">
            <a:extLst xmlns:a="http://schemas.openxmlformats.org/drawingml/2006/main">
              <a:ext uri="{FF2B5EF4-FFF2-40B4-BE49-F238E27FC236}">
                <a16:creationId xmlns:a16="http://schemas.microsoft.com/office/drawing/2014/main" id="{FD96D278-49A8-4E46-8819-B1298AED173E}"/>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D71F9F44-740D-4467-86ED-E80A3C9F2A68}"/>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E2A408C5-7C67-43B4-85EF-296A0BD5D9AA}"/>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Versicherer und Rechtsbeistand</a:t>
            </a:r>
          </a:p>
        </p:txBody>
      </p:sp>
      <p:sp>
        <p:nvSpPr>
          <p:cNvPr id="16" name="">
            <a:extLst xmlns:a="http://schemas.openxmlformats.org/drawingml/2006/main">
              <a:ext uri="{FF2B5EF4-FFF2-40B4-BE49-F238E27FC236}">
                <a16:creationId xmlns:a16="http://schemas.microsoft.com/office/drawing/2014/main" id="{F4CA0E6B-4DB3-4EB6-A1FF-B57DF022BC83}"/>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Sie prüfen Deckung, Haftung, Beweise und Strategie. Frühzeitige Abstimmung verhindert widersprüchliche Erklärungen.</a:t>
            </a:r>
          </a:p>
        </p:txBody>
      </p:sp>
      <p:sp>
        <p:nvSpPr>
          <p:cNvPr id="17" name="">
            <a:extLst xmlns:a="http://schemas.openxmlformats.org/drawingml/2006/main">
              <a:ext uri="{FF2B5EF4-FFF2-40B4-BE49-F238E27FC236}">
                <a16:creationId xmlns:a16="http://schemas.microsoft.com/office/drawing/2014/main" id="{EE34567B-FB01-4473-BFEB-ED617C110B18}"/>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B2EB25DF-75C2-444D-81CC-C10AFC822EAC}"/>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AA5FA114-DF9A-43F5-A931-78E7AD54AA03}"/>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Gericht und Sachverständige</a:t>
            </a:r>
          </a:p>
        </p:txBody>
      </p:sp>
      <p:sp>
        <p:nvSpPr>
          <p:cNvPr id="20" name="">
            <a:extLst xmlns:a="http://schemas.openxmlformats.org/drawingml/2006/main">
              <a:ext uri="{FF2B5EF4-FFF2-40B4-BE49-F238E27FC236}">
                <a16:creationId xmlns:a16="http://schemas.microsoft.com/office/drawing/2014/main" id="{25FEF379-345B-417B-84BE-A1EF82611E10}"/>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Das Gericht entscheidet Rechtsfragen; medizinische Sachverständige vermitteln Fachwissen, entscheiden aber nicht selbst den Rechtsstreit.</a:t>
            </a:r>
          </a:p>
        </p:txBody>
      </p:sp>
      <p:sp>
        <p:nvSpPr>
          <p:cNvPr id="21" name="">
            <a:extLst xmlns:a="http://schemas.openxmlformats.org/drawingml/2006/main">
              <a:ext uri="{FF2B5EF4-FFF2-40B4-BE49-F238E27FC236}">
                <a16:creationId xmlns:a16="http://schemas.microsoft.com/office/drawing/2014/main" id="{E31DD251-ED7E-4F58-8040-3A4C018A3D79}"/>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119167A4-826B-4FB6-9A86-B1DA04003D04}"/>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Vor jeder Aussage klären: Wer fragt, in welchem Verfahren und in welcher eigenen Rolle?</a:t>
            </a:r>
          </a:p>
        </p:txBody>
      </p:sp>
    </p:spTree>
    <p:extLst>
      <p:ext uri="{BB962C8B-B14F-4D97-AF65-F5344CB8AC3E}">
        <p14:creationId xmlns:p14="http://schemas.microsoft.com/office/powerpoint/2010/main" val="43637646"/>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Was bedeutet „Recht bekommen“?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AEEEEC25-27A4-41B3-AC3B-62A1E2F04066}"/>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Ein rechtlicher Erfolg hängt nicht nur von der abstrakten Norm, sondern von Zugang, Zeit, Beweis und Vollstreckung ab.</a:t>
            </a:r>
          </a:p>
        </p:txBody>
      </p:sp>
      <p:sp>
        <p:nvSpPr>
          <p:cNvPr id="5" name="">
            <a:extLst xmlns:a="http://schemas.openxmlformats.org/drawingml/2006/main">
              <a:ext uri="{FF2B5EF4-FFF2-40B4-BE49-F238E27FC236}">
                <a16:creationId xmlns:a16="http://schemas.microsoft.com/office/drawing/2014/main" id="{3028F417-1639-4777-90A0-376B7D432420}"/>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42AD15B0-CF2C-484D-A953-4CEF81DAA9C9}"/>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E88263FC-5B59-4218-BA96-10184397386F}"/>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Zugang</a:t>
            </a:r>
          </a:p>
        </p:txBody>
      </p:sp>
      <p:sp>
        <p:nvSpPr>
          <p:cNvPr id="8" name="">
            <a:extLst xmlns:a="http://schemas.openxmlformats.org/drawingml/2006/main">
              <a:ext uri="{FF2B5EF4-FFF2-40B4-BE49-F238E27FC236}">
                <a16:creationId xmlns:a16="http://schemas.microsoft.com/office/drawing/2014/main" id="{BB23440E-B468-4A5B-8554-64899FFFE7C2}"/>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Zuständigkeit, Form, Anwaltserfordernis und Kosten können die Durchsetzung beeinflussen.</a:t>
            </a:r>
          </a:p>
        </p:txBody>
      </p:sp>
      <p:sp>
        <p:nvSpPr>
          <p:cNvPr id="9" name="">
            <a:extLst xmlns:a="http://schemas.openxmlformats.org/drawingml/2006/main">
              <a:ext uri="{FF2B5EF4-FFF2-40B4-BE49-F238E27FC236}">
                <a16:creationId xmlns:a16="http://schemas.microsoft.com/office/drawing/2014/main" id="{416F004D-B7D7-4D32-8CB0-FBDE010134A3}"/>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9483B0CE-2858-4A5B-95D6-F9836928743B}"/>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B0D3D444-B0ED-4D5E-9825-4EEDAFB30244}"/>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Zeit</a:t>
            </a:r>
          </a:p>
        </p:txBody>
      </p:sp>
      <p:sp>
        <p:nvSpPr>
          <p:cNvPr id="12" name="">
            <a:extLst xmlns:a="http://schemas.openxmlformats.org/drawingml/2006/main">
              <a:ext uri="{FF2B5EF4-FFF2-40B4-BE49-F238E27FC236}">
                <a16:creationId xmlns:a16="http://schemas.microsoft.com/office/drawing/2014/main" id="{4DC49C71-DCDD-4D99-B082-ED97AA978854}"/>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Verjährung, Ausschluss- und Rechtsmittelfristen setzen harte Grenzen.</a:t>
            </a:r>
          </a:p>
        </p:txBody>
      </p:sp>
      <p:sp>
        <p:nvSpPr>
          <p:cNvPr id="13" name="">
            <a:extLst xmlns:a="http://schemas.openxmlformats.org/drawingml/2006/main">
              <a:ext uri="{FF2B5EF4-FFF2-40B4-BE49-F238E27FC236}">
                <a16:creationId xmlns:a16="http://schemas.microsoft.com/office/drawing/2014/main" id="{001704CD-C33D-48D2-BCFA-86D19C53656F}"/>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2CF49E78-7249-46F1-BBF6-AE5B6BC133F1}"/>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76B9EB60-3CC9-4E39-8666-2F0B3F718E21}"/>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Beweis</a:t>
            </a:r>
          </a:p>
        </p:txBody>
      </p:sp>
      <p:sp>
        <p:nvSpPr>
          <p:cNvPr id="16" name="">
            <a:extLst xmlns:a="http://schemas.openxmlformats.org/drawingml/2006/main">
              <a:ext uri="{FF2B5EF4-FFF2-40B4-BE49-F238E27FC236}">
                <a16:creationId xmlns:a16="http://schemas.microsoft.com/office/drawing/2014/main" id="{39D6568A-F434-4337-9489-D71937507283}"/>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Entscheidend ist, welche konkrete Tatsache mit welchem Beweismittel und welchem Beweismaß festgestellt werden kann.</a:t>
            </a:r>
          </a:p>
        </p:txBody>
      </p:sp>
      <p:sp>
        <p:nvSpPr>
          <p:cNvPr id="17" name="">
            <a:extLst xmlns:a="http://schemas.openxmlformats.org/drawingml/2006/main">
              <a:ext uri="{FF2B5EF4-FFF2-40B4-BE49-F238E27FC236}">
                <a16:creationId xmlns:a16="http://schemas.microsoft.com/office/drawing/2014/main" id="{F9D00FEE-73E4-4AA3-9559-C3FB86A4F354}"/>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AED7A982-C059-4808-B8EB-BF49C432106F}"/>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2C48C7C1-F289-45D4-9946-59EB3F41681A}"/>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Rechtsfolge</a:t>
            </a:r>
          </a:p>
        </p:txBody>
      </p:sp>
      <p:sp>
        <p:nvSpPr>
          <p:cNvPr id="20" name="">
            <a:extLst xmlns:a="http://schemas.openxmlformats.org/drawingml/2006/main">
              <a:ext uri="{FF2B5EF4-FFF2-40B4-BE49-F238E27FC236}">
                <a16:creationId xmlns:a16="http://schemas.microsoft.com/office/drawing/2014/main" id="{DEAB2311-4CC9-4B9E-BD9B-BA96619F5158}"/>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Auch ein gewonnenes Verfahren beantwortet nur die gestellten Anträge. Zahlung muss gegebenenfalls noch vollstreckt werden.</a:t>
            </a:r>
          </a:p>
        </p:txBody>
      </p:sp>
      <p:sp>
        <p:nvSpPr>
          <p:cNvPr id="21" name="">
            <a:extLst xmlns:a="http://schemas.openxmlformats.org/drawingml/2006/main">
              <a:ext uri="{FF2B5EF4-FFF2-40B4-BE49-F238E27FC236}">
                <a16:creationId xmlns:a16="http://schemas.microsoft.com/office/drawing/2014/main" id="{F71E63C0-0B66-4724-AEF2-23EB0272C641}"/>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08B45567-85E5-4206-808C-3AC0749BFB6D}"/>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Die praktische Rechtsposition entsteht aus Norm, Tatsachen, Beweis, Verfahren und realisierbarer Rechtsfolge.</a:t>
            </a:r>
          </a:p>
        </p:txBody>
      </p:sp>
    </p:spTree>
    <p:extLst>
      <p:ext uri="{BB962C8B-B14F-4D97-AF65-F5344CB8AC3E}">
        <p14:creationId xmlns:p14="http://schemas.microsoft.com/office/powerpoint/2010/main" val="43637646"/>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Konflikte eskalieren selten in einem Schritt</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TYPISCHE DYNAMIK</a:t>
            </a:r>
            <a:endParaRPr/>
          </a:p>
        </p:txBody>
      </p:sp>
      <p:sp>
        <p:nvSpPr>
          <p:cNvPr id="4" name="">
            <a:extLst xmlns:a="http://schemas.openxmlformats.org/drawingml/2006/main">
              <a:ext uri="{FF2B5EF4-FFF2-40B4-BE49-F238E27FC236}">
                <a16:creationId xmlns:a16="http://schemas.microsoft.com/office/drawing/2014/main" id="{8AEB3C71-BDFF-4330-8865-D8A5999D1254}"/>
              </a:ext>
            </a:extLst>
          </p:cNvPr>
          <p:cNvSpPr>
            <a:spLocks xmlns:a="http://schemas.openxmlformats.org/drawingml/2006/main" noGrp="1"/>
          </p:cNvSpPr>
          <p:nvPr/>
        </p:nvSpPr>
        <p:spPr>
          <a:xfrm xmlns:a="http://schemas.openxmlformats.org/drawingml/2006/main">
            <a:off x="2000250" y="2657475"/>
            <a:ext cx="9144000" cy="0"/>
          </a:xfrm>
          <a:prstGeom xmlns:a="http://schemas.openxmlformats.org/drawingml/2006/main" prst="line">
            <a:avLst/>
          </a:prstGeom>
          <a:noFill xmlns:a="http://schemas.openxmlformats.org/drawingml/2006/main"/>
          <a:ln xmlns:a="http://schemas.openxmlformats.org/drawingml/2006/main" w="28575">
            <a:solidFill>
              <a:srgbClr val="B9CAD2"/>
            </a:solidFill>
            <a:prstDash val="solid"/>
          </a:ln>
        </p:spPr>
      </p:sp>
      <p:sp>
        <p:nvSpPr>
          <p:cNvPr id="5" name="">
            <a:extLst xmlns:a="http://schemas.openxmlformats.org/drawingml/2006/main">
              <a:ext uri="{FF2B5EF4-FFF2-40B4-BE49-F238E27FC236}">
                <a16:creationId xmlns:a16="http://schemas.microsoft.com/office/drawing/2014/main" id="{39E801E7-ECD7-427E-8A31-D1CA817C5A89}"/>
              </a:ext>
            </a:extLst>
          </p:cNvPr>
          <p:cNvSpPr>
            <a:spLocks xmlns:a="http://schemas.openxmlformats.org/drawingml/2006/main" noGrp="1"/>
          </p:cNvSpPr>
          <p:nvPr/>
        </p:nvSpPr>
        <p:spPr>
          <a:xfrm xmlns:a="http://schemas.openxmlformats.org/drawingml/2006/main">
            <a:off x="2441575" y="2543175"/>
            <a:ext cx="228600" cy="228600"/>
          </a:xfrm>
          <a:prstGeom xmlns:a="http://schemas.openxmlformats.org/drawingml/2006/main" prst="ellipse">
            <a:avLst/>
          </a:prstGeom>
          <a:solidFill xmlns:a="http://schemas.openxmlformats.org/drawingml/2006/main">
            <a:srgbClr val="003F6B"/>
          </a:solidFill>
          <a:ln xmlns:a="http://schemas.openxmlformats.org/drawingml/2006/main" w="19050">
            <a:solidFill>
              <a:srgbClr val="FFFFFF"/>
            </a:solidFill>
            <a:prstDash val="solid"/>
          </a:ln>
        </p:spPr>
      </p:sp>
      <p:sp>
        <p:nvSpPr>
          <p:cNvPr id="6" name="">
            <a:extLst xmlns:a="http://schemas.openxmlformats.org/drawingml/2006/main">
              <a:ext uri="{FF2B5EF4-FFF2-40B4-BE49-F238E27FC236}">
                <a16:creationId xmlns:a16="http://schemas.microsoft.com/office/drawing/2014/main" id="{47FEA12F-A374-4EAB-84FD-1A720E02D321}"/>
              </a:ext>
            </a:extLst>
          </p:cNvPr>
          <p:cNvSpPr>
            <a:spLocks xmlns:a="http://schemas.openxmlformats.org/drawingml/2006/main" noGrp="1"/>
          </p:cNvSpPr>
          <p:nvPr/>
        </p:nvSpPr>
        <p:spPr>
          <a:xfrm xmlns:a="http://schemas.openxmlformats.org/drawingml/2006/main">
            <a:off x="1809750" y="2105025"/>
            <a:ext cx="149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63" b="1">
                <a:solidFill>
                  <a:srgbClr val="003F6B"/>
                </a:solidFill>
              </a:defRPr>
            </a:pPr>
            <a:r>
              <a:rPr sz="1163" b="1">
                <a:solidFill>
                  <a:srgbClr val="003F6B"/>
                </a:solidFill>
              </a:rPr>
              <a:t>Ereignis</a:t>
            </a:r>
          </a:p>
        </p:txBody>
      </p:sp>
      <p:sp>
        <p:nvSpPr>
          <p:cNvPr id="7" name="">
            <a:extLst xmlns:a="http://schemas.openxmlformats.org/drawingml/2006/main">
              <a:ext uri="{FF2B5EF4-FFF2-40B4-BE49-F238E27FC236}">
                <a16:creationId xmlns:a16="http://schemas.microsoft.com/office/drawing/2014/main" id="{9319B584-D107-48E0-B21F-DBCCAC0E1B70}"/>
              </a:ext>
            </a:extLst>
          </p:cNvPr>
          <p:cNvSpPr>
            <a:spLocks xmlns:a="http://schemas.openxmlformats.org/drawingml/2006/main" noGrp="1"/>
          </p:cNvSpPr>
          <p:nvPr/>
        </p:nvSpPr>
        <p:spPr>
          <a:xfrm xmlns:a="http://schemas.openxmlformats.org/drawingml/2006/main">
            <a:off x="1847850" y="2924175"/>
            <a:ext cx="14160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13">
                <a:solidFill>
                  <a:srgbClr val="15232B"/>
                </a:solidFill>
              </a:defRPr>
            </a:pPr>
            <a:r>
              <a:rPr sz="1013">
                <a:solidFill>
                  <a:srgbClr val="15232B"/>
                </a:solidFill>
              </a:rPr>
              <a:t>Komplikation oder möglicher Fehler</a:t>
            </a:r>
          </a:p>
        </p:txBody>
      </p:sp>
      <p:sp>
        <p:nvSpPr>
          <p:cNvPr id="8" name="">
            <a:extLst xmlns:a="http://schemas.openxmlformats.org/drawingml/2006/main">
              <a:ext uri="{FF2B5EF4-FFF2-40B4-BE49-F238E27FC236}">
                <a16:creationId xmlns:a16="http://schemas.microsoft.com/office/drawing/2014/main" id="{D7EC8F6B-36EC-4E0F-9BBA-DF082EDC3C73}"/>
              </a:ext>
            </a:extLst>
          </p:cNvPr>
          <p:cNvSpPr>
            <a:spLocks xmlns:a="http://schemas.openxmlformats.org/drawingml/2006/main" noGrp="1"/>
          </p:cNvSpPr>
          <p:nvPr/>
        </p:nvSpPr>
        <p:spPr>
          <a:xfrm xmlns:a="http://schemas.openxmlformats.org/drawingml/2006/main">
            <a:off x="4048125" y="2543175"/>
            <a:ext cx="228600" cy="22860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9" name="">
            <a:extLst xmlns:a="http://schemas.openxmlformats.org/drawingml/2006/main">
              <a:ext uri="{FF2B5EF4-FFF2-40B4-BE49-F238E27FC236}">
                <a16:creationId xmlns:a16="http://schemas.microsoft.com/office/drawing/2014/main" id="{F46284F4-2843-4CFD-B859-1394C409934A}"/>
              </a:ext>
            </a:extLst>
          </p:cNvPr>
          <p:cNvSpPr>
            <a:spLocks xmlns:a="http://schemas.openxmlformats.org/drawingml/2006/main" noGrp="1"/>
          </p:cNvSpPr>
          <p:nvPr/>
        </p:nvSpPr>
        <p:spPr>
          <a:xfrm xmlns:a="http://schemas.openxmlformats.org/drawingml/2006/main">
            <a:off x="3416300" y="2105025"/>
            <a:ext cx="149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63" b="1">
                <a:solidFill>
                  <a:srgbClr val="003F6B"/>
                </a:solidFill>
              </a:defRPr>
            </a:pPr>
            <a:r>
              <a:rPr sz="1163" b="1">
                <a:solidFill>
                  <a:srgbClr val="003F6B"/>
                </a:solidFill>
              </a:rPr>
              <a:t>Wahrnehmung</a:t>
            </a:r>
          </a:p>
        </p:txBody>
      </p:sp>
      <p:sp>
        <p:nvSpPr>
          <p:cNvPr id="10" name="">
            <a:extLst xmlns:a="http://schemas.openxmlformats.org/drawingml/2006/main">
              <a:ext uri="{FF2B5EF4-FFF2-40B4-BE49-F238E27FC236}">
                <a16:creationId xmlns:a16="http://schemas.microsoft.com/office/drawing/2014/main" id="{B726B7A7-B735-408D-AF51-106421CDD387}"/>
              </a:ext>
            </a:extLst>
          </p:cNvPr>
          <p:cNvSpPr>
            <a:spLocks xmlns:a="http://schemas.openxmlformats.org/drawingml/2006/main" noGrp="1"/>
          </p:cNvSpPr>
          <p:nvPr/>
        </p:nvSpPr>
        <p:spPr>
          <a:xfrm xmlns:a="http://schemas.openxmlformats.org/drawingml/2006/main">
            <a:off x="3454400" y="2924175"/>
            <a:ext cx="14160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13">
                <a:solidFill>
                  <a:srgbClr val="15232B"/>
                </a:solidFill>
              </a:defRPr>
            </a:pPr>
            <a:r>
              <a:rPr sz="1013">
                <a:solidFill>
                  <a:srgbClr val="15232B"/>
                </a:solidFill>
              </a:rPr>
              <a:t>Patient, Team oder Folgebehandler bemerkt etwas</a:t>
            </a:r>
          </a:p>
        </p:txBody>
      </p:sp>
      <p:sp>
        <p:nvSpPr>
          <p:cNvPr id="11" name="">
            <a:extLst xmlns:a="http://schemas.openxmlformats.org/drawingml/2006/main">
              <a:ext uri="{FF2B5EF4-FFF2-40B4-BE49-F238E27FC236}">
                <a16:creationId xmlns:a16="http://schemas.microsoft.com/office/drawing/2014/main" id="{5425A035-7DC9-45C4-9A54-AEA215249080}"/>
              </a:ext>
            </a:extLst>
          </p:cNvPr>
          <p:cNvSpPr>
            <a:spLocks xmlns:a="http://schemas.openxmlformats.org/drawingml/2006/main" noGrp="1"/>
          </p:cNvSpPr>
          <p:nvPr/>
        </p:nvSpPr>
        <p:spPr>
          <a:xfrm xmlns:a="http://schemas.openxmlformats.org/drawingml/2006/main">
            <a:off x="5654675" y="2543175"/>
            <a:ext cx="228600" cy="22860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12" name="">
            <a:extLst xmlns:a="http://schemas.openxmlformats.org/drawingml/2006/main">
              <a:ext uri="{FF2B5EF4-FFF2-40B4-BE49-F238E27FC236}">
                <a16:creationId xmlns:a16="http://schemas.microsoft.com/office/drawing/2014/main" id="{5A638032-2673-4780-9D12-918189643057}"/>
              </a:ext>
            </a:extLst>
          </p:cNvPr>
          <p:cNvSpPr>
            <a:spLocks xmlns:a="http://schemas.openxmlformats.org/drawingml/2006/main" noGrp="1"/>
          </p:cNvSpPr>
          <p:nvPr/>
        </p:nvSpPr>
        <p:spPr>
          <a:xfrm xmlns:a="http://schemas.openxmlformats.org/drawingml/2006/main">
            <a:off x="5022850" y="2105025"/>
            <a:ext cx="149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63" b="1">
                <a:solidFill>
                  <a:srgbClr val="003F6B"/>
                </a:solidFill>
              </a:defRPr>
            </a:pPr>
            <a:r>
              <a:rPr sz="1163" b="1">
                <a:solidFill>
                  <a:srgbClr val="003F6B"/>
                </a:solidFill>
              </a:rPr>
              <a:t>Kommunikation</a:t>
            </a:r>
          </a:p>
        </p:txBody>
      </p:sp>
      <p:sp>
        <p:nvSpPr>
          <p:cNvPr id="13" name="">
            <a:extLst xmlns:a="http://schemas.openxmlformats.org/drawingml/2006/main">
              <a:ext uri="{FF2B5EF4-FFF2-40B4-BE49-F238E27FC236}">
                <a16:creationId xmlns:a16="http://schemas.microsoft.com/office/drawing/2014/main" id="{7DA944F8-AC6E-4B1F-B097-AE05EFE79865}"/>
              </a:ext>
            </a:extLst>
          </p:cNvPr>
          <p:cNvSpPr>
            <a:spLocks xmlns:a="http://schemas.openxmlformats.org/drawingml/2006/main" noGrp="1"/>
          </p:cNvSpPr>
          <p:nvPr/>
        </p:nvSpPr>
        <p:spPr>
          <a:xfrm xmlns:a="http://schemas.openxmlformats.org/drawingml/2006/main">
            <a:off x="5060950" y="2924175"/>
            <a:ext cx="14160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13">
                <a:solidFill>
                  <a:srgbClr val="15232B"/>
                </a:solidFill>
              </a:defRPr>
            </a:pPr>
            <a:r>
              <a:rPr sz="1013">
                <a:solidFill>
                  <a:srgbClr val="15232B"/>
                </a:solidFill>
              </a:rPr>
              <a:t>Erklärung, Schweigen oder Widerspruch</a:t>
            </a:r>
          </a:p>
        </p:txBody>
      </p:sp>
      <p:sp>
        <p:nvSpPr>
          <p:cNvPr id="14" name="">
            <a:extLst xmlns:a="http://schemas.openxmlformats.org/drawingml/2006/main">
              <a:ext uri="{FF2B5EF4-FFF2-40B4-BE49-F238E27FC236}">
                <a16:creationId xmlns:a16="http://schemas.microsoft.com/office/drawing/2014/main" id="{D74F5699-7B2F-4D80-9C5B-7D0C03FEF7FA}"/>
              </a:ext>
            </a:extLst>
          </p:cNvPr>
          <p:cNvSpPr>
            <a:spLocks xmlns:a="http://schemas.openxmlformats.org/drawingml/2006/main" noGrp="1"/>
          </p:cNvSpPr>
          <p:nvPr/>
        </p:nvSpPr>
        <p:spPr>
          <a:xfrm xmlns:a="http://schemas.openxmlformats.org/drawingml/2006/main">
            <a:off x="7261225" y="2543175"/>
            <a:ext cx="228600" cy="22860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15" name="">
            <a:extLst xmlns:a="http://schemas.openxmlformats.org/drawingml/2006/main">
              <a:ext uri="{FF2B5EF4-FFF2-40B4-BE49-F238E27FC236}">
                <a16:creationId xmlns:a16="http://schemas.microsoft.com/office/drawing/2014/main" id="{E2949696-56E1-4012-9F56-9D7B08C7F472}"/>
              </a:ext>
            </a:extLst>
          </p:cNvPr>
          <p:cNvSpPr>
            <a:spLocks xmlns:a="http://schemas.openxmlformats.org/drawingml/2006/main" noGrp="1"/>
          </p:cNvSpPr>
          <p:nvPr/>
        </p:nvSpPr>
        <p:spPr>
          <a:xfrm xmlns:a="http://schemas.openxmlformats.org/drawingml/2006/main">
            <a:off x="6629400" y="2105025"/>
            <a:ext cx="149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63" b="1">
                <a:solidFill>
                  <a:srgbClr val="003F6B"/>
                </a:solidFill>
              </a:defRPr>
            </a:pPr>
            <a:r>
              <a:rPr sz="1163" b="1">
                <a:solidFill>
                  <a:srgbClr val="003F6B"/>
                </a:solidFill>
              </a:rPr>
              <a:t>Akte</a:t>
            </a:r>
          </a:p>
        </p:txBody>
      </p:sp>
      <p:sp>
        <p:nvSpPr>
          <p:cNvPr id="16" name="">
            <a:extLst xmlns:a="http://schemas.openxmlformats.org/drawingml/2006/main">
              <a:ext uri="{FF2B5EF4-FFF2-40B4-BE49-F238E27FC236}">
                <a16:creationId xmlns:a16="http://schemas.microsoft.com/office/drawing/2014/main" id="{02007773-201B-4B70-A49C-01FC53808F1D}"/>
              </a:ext>
            </a:extLst>
          </p:cNvPr>
          <p:cNvSpPr>
            <a:spLocks xmlns:a="http://schemas.openxmlformats.org/drawingml/2006/main" noGrp="1"/>
          </p:cNvSpPr>
          <p:nvPr/>
        </p:nvSpPr>
        <p:spPr>
          <a:xfrm xmlns:a="http://schemas.openxmlformats.org/drawingml/2006/main">
            <a:off x="6667500" y="2924175"/>
            <a:ext cx="14160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13">
                <a:solidFill>
                  <a:srgbClr val="15232B"/>
                </a:solidFill>
              </a:defRPr>
            </a:pPr>
            <a:r>
              <a:rPr sz="1013">
                <a:solidFill>
                  <a:srgbClr val="15232B"/>
                </a:solidFill>
              </a:rPr>
              <a:t>Dokumentation, Beschwerde, Gutachten</a:t>
            </a:r>
          </a:p>
        </p:txBody>
      </p:sp>
      <p:sp>
        <p:nvSpPr>
          <p:cNvPr id="17" name="">
            <a:extLst xmlns:a="http://schemas.openxmlformats.org/drawingml/2006/main">
              <a:ext uri="{FF2B5EF4-FFF2-40B4-BE49-F238E27FC236}">
                <a16:creationId xmlns:a16="http://schemas.microsoft.com/office/drawing/2014/main" id="{1AA6F5C8-979E-474A-B31C-2A651D04C954}"/>
              </a:ext>
            </a:extLst>
          </p:cNvPr>
          <p:cNvSpPr>
            <a:spLocks xmlns:a="http://schemas.openxmlformats.org/drawingml/2006/main" noGrp="1"/>
          </p:cNvSpPr>
          <p:nvPr/>
        </p:nvSpPr>
        <p:spPr>
          <a:xfrm xmlns:a="http://schemas.openxmlformats.org/drawingml/2006/main">
            <a:off x="8867775" y="2543175"/>
            <a:ext cx="228600" cy="22860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18" name="">
            <a:extLst xmlns:a="http://schemas.openxmlformats.org/drawingml/2006/main">
              <a:ext uri="{FF2B5EF4-FFF2-40B4-BE49-F238E27FC236}">
                <a16:creationId xmlns:a16="http://schemas.microsoft.com/office/drawing/2014/main" id="{DEBE1E33-C663-4FF1-A5EE-E6132767FC47}"/>
              </a:ext>
            </a:extLst>
          </p:cNvPr>
          <p:cNvSpPr>
            <a:spLocks xmlns:a="http://schemas.openxmlformats.org/drawingml/2006/main" noGrp="1"/>
          </p:cNvSpPr>
          <p:nvPr/>
        </p:nvSpPr>
        <p:spPr>
          <a:xfrm xmlns:a="http://schemas.openxmlformats.org/drawingml/2006/main">
            <a:off x="8235950" y="2105025"/>
            <a:ext cx="149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63" b="1">
                <a:solidFill>
                  <a:srgbClr val="003F6B"/>
                </a:solidFill>
              </a:defRPr>
            </a:pPr>
            <a:r>
              <a:rPr sz="1163" b="1">
                <a:solidFill>
                  <a:srgbClr val="003F6B"/>
                </a:solidFill>
              </a:rPr>
              <a:t>Verfahren</a:t>
            </a:r>
          </a:p>
        </p:txBody>
      </p:sp>
      <p:sp>
        <p:nvSpPr>
          <p:cNvPr id="19" name="">
            <a:extLst xmlns:a="http://schemas.openxmlformats.org/drawingml/2006/main">
              <a:ext uri="{FF2B5EF4-FFF2-40B4-BE49-F238E27FC236}">
                <a16:creationId xmlns:a16="http://schemas.microsoft.com/office/drawing/2014/main" id="{D43DE2E4-0F49-4609-AE0C-04BEDDAF1DFC}"/>
              </a:ext>
            </a:extLst>
          </p:cNvPr>
          <p:cNvSpPr>
            <a:spLocks xmlns:a="http://schemas.openxmlformats.org/drawingml/2006/main" noGrp="1"/>
          </p:cNvSpPr>
          <p:nvPr/>
        </p:nvSpPr>
        <p:spPr>
          <a:xfrm xmlns:a="http://schemas.openxmlformats.org/drawingml/2006/main">
            <a:off x="8274050" y="2924175"/>
            <a:ext cx="14160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13">
                <a:solidFill>
                  <a:srgbClr val="15232B"/>
                </a:solidFill>
              </a:defRPr>
            </a:pPr>
            <a:r>
              <a:rPr sz="1013">
                <a:solidFill>
                  <a:srgbClr val="15232B"/>
                </a:solidFill>
              </a:rPr>
              <a:t>Schlichtung, Klage, Ermittlung, Kammer</a:t>
            </a:r>
          </a:p>
        </p:txBody>
      </p:sp>
      <p:sp>
        <p:nvSpPr>
          <p:cNvPr id="20" name="">
            <a:extLst xmlns:a="http://schemas.openxmlformats.org/drawingml/2006/main">
              <a:ext uri="{FF2B5EF4-FFF2-40B4-BE49-F238E27FC236}">
                <a16:creationId xmlns:a16="http://schemas.microsoft.com/office/drawing/2014/main" id="{15DD680B-D84A-4EF5-A636-102AFDB54EFA}"/>
              </a:ext>
            </a:extLst>
          </p:cNvPr>
          <p:cNvSpPr>
            <a:spLocks xmlns:a="http://schemas.openxmlformats.org/drawingml/2006/main" noGrp="1"/>
          </p:cNvSpPr>
          <p:nvPr/>
        </p:nvSpPr>
        <p:spPr>
          <a:xfrm xmlns:a="http://schemas.openxmlformats.org/drawingml/2006/main">
            <a:off x="10474325" y="2543175"/>
            <a:ext cx="228600" cy="22860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21" name="">
            <a:extLst xmlns:a="http://schemas.openxmlformats.org/drawingml/2006/main">
              <a:ext uri="{FF2B5EF4-FFF2-40B4-BE49-F238E27FC236}">
                <a16:creationId xmlns:a16="http://schemas.microsoft.com/office/drawing/2014/main" id="{F51CA44B-DBD2-4AFE-8749-270D43BF53B9}"/>
              </a:ext>
            </a:extLst>
          </p:cNvPr>
          <p:cNvSpPr>
            <a:spLocks xmlns:a="http://schemas.openxmlformats.org/drawingml/2006/main" noGrp="1"/>
          </p:cNvSpPr>
          <p:nvPr/>
        </p:nvSpPr>
        <p:spPr>
          <a:xfrm xmlns:a="http://schemas.openxmlformats.org/drawingml/2006/main">
            <a:off x="9842500" y="2105025"/>
            <a:ext cx="149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63" b="1">
                <a:solidFill>
                  <a:srgbClr val="003F6B"/>
                </a:solidFill>
              </a:defRPr>
            </a:pPr>
            <a:r>
              <a:rPr sz="1163" b="1">
                <a:solidFill>
                  <a:srgbClr val="003F6B"/>
                </a:solidFill>
              </a:rPr>
              <a:t>Lösung</a:t>
            </a:r>
          </a:p>
        </p:txBody>
      </p:sp>
      <p:sp>
        <p:nvSpPr>
          <p:cNvPr id="22" name="">
            <a:extLst xmlns:a="http://schemas.openxmlformats.org/drawingml/2006/main">
              <a:ext uri="{FF2B5EF4-FFF2-40B4-BE49-F238E27FC236}">
                <a16:creationId xmlns:a16="http://schemas.microsoft.com/office/drawing/2014/main" id="{7BF104E5-D197-4344-900C-5BAC5947DCF3}"/>
              </a:ext>
            </a:extLst>
          </p:cNvPr>
          <p:cNvSpPr>
            <a:spLocks xmlns:a="http://schemas.openxmlformats.org/drawingml/2006/main" noGrp="1"/>
          </p:cNvSpPr>
          <p:nvPr/>
        </p:nvSpPr>
        <p:spPr>
          <a:xfrm xmlns:a="http://schemas.openxmlformats.org/drawingml/2006/main">
            <a:off x="9880600" y="2924175"/>
            <a:ext cx="14160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13">
                <a:solidFill>
                  <a:srgbClr val="15232B"/>
                </a:solidFill>
              </a:defRPr>
            </a:pPr>
            <a:r>
              <a:rPr sz="1013">
                <a:solidFill>
                  <a:srgbClr val="15232B"/>
                </a:solidFill>
              </a:rPr>
              <a:t>Lernen, Vergleich, Urteil oder Einstellung</a:t>
            </a:r>
          </a:p>
        </p:txBody>
      </p:sp>
      <p:sp>
        <p:nvSpPr>
          <p:cNvPr id="23" name="">
            <a:extLst xmlns:a="http://schemas.openxmlformats.org/drawingml/2006/main">
              <a:ext uri="{FF2B5EF4-FFF2-40B4-BE49-F238E27FC236}">
                <a16:creationId xmlns:a16="http://schemas.microsoft.com/office/drawing/2014/main" id="{622A45B6-C99E-4E66-BA8E-31E1D3917871}"/>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4" name="">
            <a:extLst xmlns:a="http://schemas.openxmlformats.org/drawingml/2006/main">
              <a:ext uri="{FF2B5EF4-FFF2-40B4-BE49-F238E27FC236}">
                <a16:creationId xmlns:a16="http://schemas.microsoft.com/office/drawing/2014/main" id="{4EE83A7C-1E2A-42C4-92A4-4FFBABFD607F}"/>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Die Qualität der frühen Reaktion beeinflusst Patientensicherheit, Vertrauen und Beweisbarkeit.</a:t>
            </a:r>
          </a:p>
        </p:txBody>
      </p:sp>
    </p:spTree>
    <p:extLst>
      <p:ext uri="{BB962C8B-B14F-4D97-AF65-F5344CB8AC3E}">
        <p14:creationId xmlns:p14="http://schemas.microsoft.com/office/powerpoint/2010/main" val="43637646"/>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Komplikation, Fehler, Schaden: drei verschiedene Fragen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BEGRIFFE</a:t>
            </a:r>
            <a:endParaRPr/>
          </a:p>
        </p:txBody>
      </p:sp>
      <p:sp>
        <p:nvSpPr>
          <p:cNvPr id="4" name="">
            <a:extLst xmlns:a="http://schemas.openxmlformats.org/drawingml/2006/main">
              <a:ext uri="{FF2B5EF4-FFF2-40B4-BE49-F238E27FC236}">
                <a16:creationId xmlns:a16="http://schemas.microsoft.com/office/drawing/2014/main" id="{7EF4CB29-91F1-4DD0-9974-005393112EBF}"/>
              </a:ext>
            </a:extLst>
          </p:cNvPr>
          <p:cNvSpPr>
            <a:spLocks xmlns:a="http://schemas.openxmlformats.org/drawingml/2006/main" noGrp="1"/>
          </p:cNvSpPr>
          <p:nvPr/>
        </p:nvSpPr>
        <p:spPr>
          <a:xfrm xmlns:a="http://schemas.openxmlformats.org/drawingml/2006/main">
            <a:off x="1809750" y="1952625"/>
            <a:ext cx="46863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40BE99EC-EA50-4EAD-9C87-FD49C324F118}"/>
              </a:ext>
            </a:extLst>
          </p:cNvPr>
          <p:cNvSpPr>
            <a:spLocks xmlns:a="http://schemas.openxmlformats.org/drawingml/2006/main" noGrp="1"/>
          </p:cNvSpPr>
          <p:nvPr/>
        </p:nvSpPr>
        <p:spPr>
          <a:xfrm xmlns:a="http://schemas.openxmlformats.org/drawingml/2006/main">
            <a:off x="1809750" y="1952625"/>
            <a:ext cx="46863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D3E72C85-6ED4-4176-AFC7-3D4F136121F1}"/>
              </a:ext>
            </a:extLst>
          </p:cNvPr>
          <p:cNvSpPr>
            <a:spLocks xmlns:a="http://schemas.openxmlformats.org/drawingml/2006/main" noGrp="1"/>
          </p:cNvSpPr>
          <p:nvPr/>
        </p:nvSpPr>
        <p:spPr>
          <a:xfrm xmlns:a="http://schemas.openxmlformats.org/drawingml/2006/main">
            <a:off x="1962150" y="2085975"/>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Komplikation</a:t>
            </a:r>
          </a:p>
        </p:txBody>
      </p:sp>
      <p:sp>
        <p:nvSpPr>
          <p:cNvPr id="7" name="">
            <a:extLst xmlns:a="http://schemas.openxmlformats.org/drawingml/2006/main">
              <a:ext uri="{FF2B5EF4-FFF2-40B4-BE49-F238E27FC236}">
                <a16:creationId xmlns:a16="http://schemas.microsoft.com/office/drawing/2014/main" id="{72126DFE-C630-4F91-9261-8152CC14CFC7}"/>
              </a:ext>
            </a:extLst>
          </p:cNvPr>
          <p:cNvSpPr>
            <a:spLocks xmlns:a="http://schemas.openxmlformats.org/drawingml/2006/main" noGrp="1"/>
          </p:cNvSpPr>
          <p:nvPr/>
        </p:nvSpPr>
        <p:spPr>
          <a:xfrm xmlns:a="http://schemas.openxmlformats.org/drawingml/2006/main">
            <a:off x="1962150" y="2524125"/>
            <a:ext cx="43815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Unerwünschter Verlauf – auch bei fachgerechter Behandlung möglich.</a:t>
            </a:r>
          </a:p>
          <a:p xmlns:a="http://schemas.openxmlformats.org/drawingml/2006/main">
            <a:pPr>
              <a:buNone/>
              <a:defRPr sz="1050">
                <a:solidFill>
                  <a:srgbClr val="15232B"/>
                </a:solidFill>
              </a:defRPr>
            </a:pPr>
            <a:r>
              <a:rPr sz="1050">
                <a:solidFill>
                  <a:srgbClr val="15232B"/>
                </a:solidFill>
              </a:rPr>
              <a:t>War das Risiko unvermeidbar oder beherrschbar?</a:t>
            </a:r>
          </a:p>
        </p:txBody>
      </p:sp>
      <p:sp>
        <p:nvSpPr>
          <p:cNvPr id="8" name="">
            <a:extLst xmlns:a="http://schemas.openxmlformats.org/drawingml/2006/main">
              <a:ext uri="{FF2B5EF4-FFF2-40B4-BE49-F238E27FC236}">
                <a16:creationId xmlns:a16="http://schemas.microsoft.com/office/drawing/2014/main" id="{48277F08-9A5A-4537-90ED-E4752AF07729}"/>
              </a:ext>
            </a:extLst>
          </p:cNvPr>
          <p:cNvSpPr>
            <a:spLocks xmlns:a="http://schemas.openxmlformats.org/drawingml/2006/main" noGrp="1"/>
          </p:cNvSpPr>
          <p:nvPr/>
        </p:nvSpPr>
        <p:spPr>
          <a:xfrm xmlns:a="http://schemas.openxmlformats.org/drawingml/2006/main">
            <a:off x="6648450" y="1952625"/>
            <a:ext cx="46863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9" name="">
            <a:extLst xmlns:a="http://schemas.openxmlformats.org/drawingml/2006/main">
              <a:ext uri="{FF2B5EF4-FFF2-40B4-BE49-F238E27FC236}">
                <a16:creationId xmlns:a16="http://schemas.microsoft.com/office/drawing/2014/main" id="{9C054404-9134-477C-93CA-0336525D638C}"/>
              </a:ext>
            </a:extLst>
          </p:cNvPr>
          <p:cNvSpPr>
            <a:spLocks xmlns:a="http://schemas.openxmlformats.org/drawingml/2006/main" noGrp="1"/>
          </p:cNvSpPr>
          <p:nvPr/>
        </p:nvSpPr>
        <p:spPr>
          <a:xfrm xmlns:a="http://schemas.openxmlformats.org/drawingml/2006/main">
            <a:off x="6648450" y="1952625"/>
            <a:ext cx="468630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84EAB3E1-DD5A-4C7F-9BA0-FA693401A132}"/>
              </a:ext>
            </a:extLst>
          </p:cNvPr>
          <p:cNvSpPr>
            <a:spLocks xmlns:a="http://schemas.openxmlformats.org/drawingml/2006/main" noGrp="1"/>
          </p:cNvSpPr>
          <p:nvPr/>
        </p:nvSpPr>
        <p:spPr>
          <a:xfrm xmlns:a="http://schemas.openxmlformats.org/drawingml/2006/main">
            <a:off x="6800850" y="2085975"/>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Behandlungsfehler</a:t>
            </a:r>
          </a:p>
        </p:txBody>
      </p:sp>
      <p:sp>
        <p:nvSpPr>
          <p:cNvPr id="11" name="">
            <a:extLst xmlns:a="http://schemas.openxmlformats.org/drawingml/2006/main">
              <a:ext uri="{FF2B5EF4-FFF2-40B4-BE49-F238E27FC236}">
                <a16:creationId xmlns:a16="http://schemas.microsoft.com/office/drawing/2014/main" id="{3309B04A-AAF5-462E-9CC8-B87E7C892510}"/>
              </a:ext>
            </a:extLst>
          </p:cNvPr>
          <p:cNvSpPr>
            <a:spLocks xmlns:a="http://schemas.openxmlformats.org/drawingml/2006/main" noGrp="1"/>
          </p:cNvSpPr>
          <p:nvPr/>
        </p:nvSpPr>
        <p:spPr>
          <a:xfrm xmlns:a="http://schemas.openxmlformats.org/drawingml/2006/main">
            <a:off x="6800850" y="2524125"/>
            <a:ext cx="43815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Abweichung vom geschuldeten fachlichen Standard im Behandlungszeitpunkt.</a:t>
            </a:r>
          </a:p>
          <a:p xmlns:a="http://schemas.openxmlformats.org/drawingml/2006/main">
            <a:pPr>
              <a:buNone/>
              <a:defRPr sz="1050">
                <a:solidFill>
                  <a:srgbClr val="15232B"/>
                </a:solidFill>
              </a:defRPr>
            </a:pPr>
            <a:r>
              <a:rPr sz="1050">
                <a:solidFill>
                  <a:srgbClr val="15232B"/>
                </a:solidFill>
              </a:rPr>
              <a:t>Was hätte eine sorgfältige Fachperson ex ante getan?</a:t>
            </a:r>
          </a:p>
        </p:txBody>
      </p:sp>
      <p:sp>
        <p:nvSpPr>
          <p:cNvPr id="12" name="">
            <a:extLst xmlns:a="http://schemas.openxmlformats.org/drawingml/2006/main">
              <a:ext uri="{FF2B5EF4-FFF2-40B4-BE49-F238E27FC236}">
                <a16:creationId xmlns:a16="http://schemas.microsoft.com/office/drawing/2014/main" id="{739F2BA0-CCA9-4952-98A6-1EFD13433E05}"/>
              </a:ext>
            </a:extLst>
          </p:cNvPr>
          <p:cNvSpPr>
            <a:spLocks xmlns:a="http://schemas.openxmlformats.org/drawingml/2006/main" noGrp="1"/>
          </p:cNvSpPr>
          <p:nvPr/>
        </p:nvSpPr>
        <p:spPr>
          <a:xfrm xmlns:a="http://schemas.openxmlformats.org/drawingml/2006/main">
            <a:off x="1809750" y="3767138"/>
            <a:ext cx="46863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13" name="">
            <a:extLst xmlns:a="http://schemas.openxmlformats.org/drawingml/2006/main">
              <a:ext uri="{FF2B5EF4-FFF2-40B4-BE49-F238E27FC236}">
                <a16:creationId xmlns:a16="http://schemas.microsoft.com/office/drawing/2014/main" id="{EC6F4EDD-6CE0-4A23-9F77-539A57C2F3B3}"/>
              </a:ext>
            </a:extLst>
          </p:cNvPr>
          <p:cNvSpPr>
            <a:spLocks xmlns:a="http://schemas.openxmlformats.org/drawingml/2006/main" noGrp="1"/>
          </p:cNvSpPr>
          <p:nvPr/>
        </p:nvSpPr>
        <p:spPr>
          <a:xfrm xmlns:a="http://schemas.openxmlformats.org/drawingml/2006/main">
            <a:off x="1809750" y="3767138"/>
            <a:ext cx="46863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95EC82B7-1CFD-48DE-958F-8288B73DE760}"/>
              </a:ext>
            </a:extLst>
          </p:cNvPr>
          <p:cNvSpPr>
            <a:spLocks xmlns:a="http://schemas.openxmlformats.org/drawingml/2006/main" noGrp="1"/>
          </p:cNvSpPr>
          <p:nvPr/>
        </p:nvSpPr>
        <p:spPr>
          <a:xfrm xmlns:a="http://schemas.openxmlformats.org/drawingml/2006/main">
            <a:off x="1962150" y="3900488"/>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Haftungsschaden</a:t>
            </a:r>
          </a:p>
        </p:txBody>
      </p:sp>
      <p:sp>
        <p:nvSpPr>
          <p:cNvPr id="15" name="">
            <a:extLst xmlns:a="http://schemas.openxmlformats.org/drawingml/2006/main">
              <a:ext uri="{FF2B5EF4-FFF2-40B4-BE49-F238E27FC236}">
                <a16:creationId xmlns:a16="http://schemas.microsoft.com/office/drawing/2014/main" id="{3424FEDE-4295-4E4C-B6F6-F756D2155F62}"/>
              </a:ext>
            </a:extLst>
          </p:cNvPr>
          <p:cNvSpPr>
            <a:spLocks xmlns:a="http://schemas.openxmlformats.org/drawingml/2006/main" noGrp="1"/>
          </p:cNvSpPr>
          <p:nvPr/>
        </p:nvSpPr>
        <p:spPr>
          <a:xfrm xmlns:a="http://schemas.openxmlformats.org/drawingml/2006/main">
            <a:off x="1962150" y="4338638"/>
            <a:ext cx="43815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Gesundheitlicher oder vermögensrechtlicher Nachteil, der kausal zurechenbar ist.</a:t>
            </a:r>
          </a:p>
          <a:p xmlns:a="http://schemas.openxmlformats.org/drawingml/2006/main">
            <a:pPr>
              <a:buNone/>
              <a:defRPr sz="1050">
                <a:solidFill>
                  <a:srgbClr val="15232B"/>
                </a:solidFill>
              </a:defRPr>
            </a:pPr>
            <a:r>
              <a:rPr sz="1050">
                <a:solidFill>
                  <a:srgbClr val="15232B"/>
                </a:solidFill>
              </a:rPr>
              <a:t>Was wäre ohne den Fehler anders verlaufen?</a:t>
            </a:r>
          </a:p>
        </p:txBody>
      </p:sp>
      <p:sp>
        <p:nvSpPr>
          <p:cNvPr id="16" name="">
            <a:extLst xmlns:a="http://schemas.openxmlformats.org/drawingml/2006/main">
              <a:ext uri="{FF2B5EF4-FFF2-40B4-BE49-F238E27FC236}">
                <a16:creationId xmlns:a16="http://schemas.microsoft.com/office/drawing/2014/main" id="{CBD5CEC9-7D22-40A2-BAFD-69BEB4C26A03}"/>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17" name="">
            <a:extLst xmlns:a="http://schemas.openxmlformats.org/drawingml/2006/main">
              <a:ext uri="{FF2B5EF4-FFF2-40B4-BE49-F238E27FC236}">
                <a16:creationId xmlns:a16="http://schemas.microsoft.com/office/drawing/2014/main" id="{3080570B-E7EE-45A1-9369-77DAF85219B4}"/>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Ein schlechtes Ergebnis beweist keinen Fehler; ein Fehler begründet ohne kausalen Schaden nicht automatisch Geldersatz.</a:t>
            </a:r>
          </a:p>
        </p:txBody>
      </p:sp>
    </p:spTree>
    <p:extLst>
      <p:ext uri="{BB962C8B-B14F-4D97-AF65-F5344CB8AC3E}">
        <p14:creationId xmlns:p14="http://schemas.microsoft.com/office/powerpoint/2010/main" val="43637646"/>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Gutachtenfälle sind keine Fehlerquote der Medizin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MD-JAHRESSTATISTIK 2024</a:t>
            </a:r>
            <a:endParaRPr/>
          </a:p>
        </p:txBody>
      </p:sp>
      <p:sp>
        <p:nvSpPr>
          <p:cNvPr id="4" name="">
            <a:extLst xmlns:a="http://schemas.openxmlformats.org/drawingml/2006/main">
              <a:ext uri="{FF2B5EF4-FFF2-40B4-BE49-F238E27FC236}">
                <a16:creationId xmlns:a16="http://schemas.microsoft.com/office/drawing/2014/main" id="{4CB1A290-646E-4FFF-BD5F-13E5E86F900F}"/>
              </a:ext>
            </a:extLst>
          </p:cNvPr>
          <p:cNvSpPr>
            <a:spLocks xmlns:a="http://schemas.openxmlformats.org/drawingml/2006/main" noGrp="1"/>
          </p:cNvSpPr>
          <p:nvPr/>
        </p:nvSpPr>
        <p:spPr>
          <a:xfrm xmlns:a="http://schemas.openxmlformats.org/drawingml/2006/main">
            <a:off x="1809750" y="2000250"/>
            <a:ext cx="29972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000" b="1">
                <a:solidFill>
                  <a:srgbClr val="00B2BB"/>
                </a:solidFill>
              </a:defRPr>
            </a:pPr>
            <a:r>
              <a:rPr sz="3000" b="1">
                <a:solidFill>
                  <a:srgbClr val="00B2BB"/>
                </a:solidFill>
              </a:rPr>
              <a:t>12.304</a:t>
            </a:r>
          </a:p>
        </p:txBody>
      </p:sp>
      <p:sp>
        <p:nvSpPr>
          <p:cNvPr id="5" name="">
            <a:extLst xmlns:a="http://schemas.openxmlformats.org/drawingml/2006/main">
              <a:ext uri="{FF2B5EF4-FFF2-40B4-BE49-F238E27FC236}">
                <a16:creationId xmlns:a16="http://schemas.microsoft.com/office/drawing/2014/main" id="{31E40590-779F-4D28-931B-1224B78F2B9B}"/>
              </a:ext>
            </a:extLst>
          </p:cNvPr>
          <p:cNvSpPr>
            <a:spLocks xmlns:a="http://schemas.openxmlformats.org/drawingml/2006/main" noGrp="1"/>
          </p:cNvSpPr>
          <p:nvPr/>
        </p:nvSpPr>
        <p:spPr>
          <a:xfrm xmlns:a="http://schemas.openxmlformats.org/drawingml/2006/main">
            <a:off x="1809750" y="2705100"/>
            <a:ext cx="2997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a:solidFill>
                  <a:srgbClr val="667680"/>
                </a:solidFill>
              </a:defRPr>
            </a:pPr>
            <a:r>
              <a:rPr sz="1200">
                <a:solidFill>
                  <a:srgbClr val="667680"/>
                </a:solidFill>
              </a:rPr>
              <a:t>Gutachten</a:t>
            </a:r>
          </a:p>
        </p:txBody>
      </p:sp>
      <p:sp>
        <p:nvSpPr>
          <p:cNvPr id="6" name="">
            <a:extLst xmlns:a="http://schemas.openxmlformats.org/drawingml/2006/main">
              <a:ext uri="{FF2B5EF4-FFF2-40B4-BE49-F238E27FC236}">
                <a16:creationId xmlns:a16="http://schemas.microsoft.com/office/drawing/2014/main" id="{71B6A6A3-106B-4563-B72F-C70214F76E73}"/>
              </a:ext>
            </a:extLst>
          </p:cNvPr>
          <p:cNvSpPr>
            <a:spLocks xmlns:a="http://schemas.openxmlformats.org/drawingml/2006/main" noGrp="1"/>
          </p:cNvSpPr>
          <p:nvPr/>
        </p:nvSpPr>
        <p:spPr>
          <a:xfrm xmlns:a="http://schemas.openxmlformats.org/drawingml/2006/main">
            <a:off x="5073650" y="2000250"/>
            <a:ext cx="29972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000" b="1">
                <a:solidFill>
                  <a:srgbClr val="003F6B"/>
                </a:solidFill>
              </a:defRPr>
            </a:pPr>
            <a:r>
              <a:rPr sz="3000" b="1">
                <a:solidFill>
                  <a:srgbClr val="003F6B"/>
                </a:solidFill>
              </a:rPr>
              <a:t>3.301</a:t>
            </a:r>
          </a:p>
        </p:txBody>
      </p:sp>
      <p:sp>
        <p:nvSpPr>
          <p:cNvPr id="7" name="">
            <a:extLst xmlns:a="http://schemas.openxmlformats.org/drawingml/2006/main">
              <a:ext uri="{FF2B5EF4-FFF2-40B4-BE49-F238E27FC236}">
                <a16:creationId xmlns:a16="http://schemas.microsoft.com/office/drawing/2014/main" id="{9257B97E-2C90-45D9-B8DB-626325EBC9C7}"/>
              </a:ext>
            </a:extLst>
          </p:cNvPr>
          <p:cNvSpPr>
            <a:spLocks xmlns:a="http://schemas.openxmlformats.org/drawingml/2006/main" noGrp="1"/>
          </p:cNvSpPr>
          <p:nvPr/>
        </p:nvSpPr>
        <p:spPr>
          <a:xfrm xmlns:a="http://schemas.openxmlformats.org/drawingml/2006/main">
            <a:off x="5073650" y="2705100"/>
            <a:ext cx="2997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a:solidFill>
                  <a:srgbClr val="667680"/>
                </a:solidFill>
              </a:defRPr>
            </a:pPr>
            <a:r>
              <a:rPr sz="1200">
                <a:solidFill>
                  <a:srgbClr val="667680"/>
                </a:solidFill>
              </a:rPr>
              <a:t>Fehler + Schaden</a:t>
            </a:r>
          </a:p>
        </p:txBody>
      </p:sp>
      <p:sp>
        <p:nvSpPr>
          <p:cNvPr id="8" name="">
            <a:extLst xmlns:a="http://schemas.openxmlformats.org/drawingml/2006/main">
              <a:ext uri="{FF2B5EF4-FFF2-40B4-BE49-F238E27FC236}">
                <a16:creationId xmlns:a16="http://schemas.microsoft.com/office/drawing/2014/main" id="{26B22E69-A001-4977-87DE-80BBF4686353}"/>
              </a:ext>
            </a:extLst>
          </p:cNvPr>
          <p:cNvSpPr>
            <a:spLocks xmlns:a="http://schemas.openxmlformats.org/drawingml/2006/main" noGrp="1"/>
          </p:cNvSpPr>
          <p:nvPr/>
        </p:nvSpPr>
        <p:spPr>
          <a:xfrm xmlns:a="http://schemas.openxmlformats.org/drawingml/2006/main">
            <a:off x="8337550" y="2000250"/>
            <a:ext cx="29972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000" b="1">
                <a:solidFill>
                  <a:srgbClr val="00B2BB"/>
                </a:solidFill>
              </a:defRPr>
            </a:pPr>
            <a:r>
              <a:rPr sz="3000" b="1">
                <a:solidFill>
                  <a:srgbClr val="00B2BB"/>
                </a:solidFill>
              </a:rPr>
              <a:t>2.825</a:t>
            </a:r>
          </a:p>
        </p:txBody>
      </p:sp>
      <p:sp>
        <p:nvSpPr>
          <p:cNvPr id="9" name="">
            <a:extLst xmlns:a="http://schemas.openxmlformats.org/drawingml/2006/main">
              <a:ext uri="{FF2B5EF4-FFF2-40B4-BE49-F238E27FC236}">
                <a16:creationId xmlns:a16="http://schemas.microsoft.com/office/drawing/2014/main" id="{053D70E5-0BD4-4F90-B66A-F8276754CABC}"/>
              </a:ext>
            </a:extLst>
          </p:cNvPr>
          <p:cNvSpPr>
            <a:spLocks xmlns:a="http://schemas.openxmlformats.org/drawingml/2006/main" noGrp="1"/>
          </p:cNvSpPr>
          <p:nvPr/>
        </p:nvSpPr>
        <p:spPr>
          <a:xfrm xmlns:a="http://schemas.openxmlformats.org/drawingml/2006/main">
            <a:off x="8337550" y="2705100"/>
            <a:ext cx="2997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a:solidFill>
                  <a:srgbClr val="667680"/>
                </a:solidFill>
              </a:defRPr>
            </a:pPr>
            <a:r>
              <a:rPr sz="1200">
                <a:solidFill>
                  <a:srgbClr val="667680"/>
                </a:solidFill>
              </a:rPr>
              <a:t>kausaler Schaden</a:t>
            </a:r>
          </a:p>
        </p:txBody>
      </p:sp>
      <p:sp>
        <p:nvSpPr>
          <p:cNvPr id="10" name="">
            <a:extLst xmlns:a="http://schemas.openxmlformats.org/drawingml/2006/main">
              <a:ext uri="{FF2B5EF4-FFF2-40B4-BE49-F238E27FC236}">
                <a16:creationId xmlns:a16="http://schemas.microsoft.com/office/drawing/2014/main" id="{7119760E-4C67-4793-A928-B7F570154982}"/>
              </a:ext>
            </a:extLst>
          </p:cNvPr>
          <p:cNvSpPr>
            <a:spLocks xmlns:a="http://schemas.openxmlformats.org/drawingml/2006/main" noGrp="1"/>
          </p:cNvSpPr>
          <p:nvPr/>
        </p:nvSpPr>
        <p:spPr>
          <a:xfrm xmlns:a="http://schemas.openxmlformats.org/drawingml/2006/main">
            <a:off x="2190750" y="34290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63" b="1">
                <a:solidFill>
                  <a:srgbClr val="003F6B"/>
                </a:solidFill>
              </a:defRPr>
            </a:pPr>
            <a:r>
              <a:rPr sz="1163" b="1">
                <a:solidFill>
                  <a:srgbClr val="003F6B"/>
                </a:solidFill>
              </a:rPr>
              <a:t>kein Fehler</a:t>
            </a:r>
          </a:p>
        </p:txBody>
      </p:sp>
      <p:sp>
        <p:nvSpPr>
          <p:cNvPr id="11" name="">
            <a:extLst xmlns:a="http://schemas.openxmlformats.org/drawingml/2006/main">
              <a:ext uri="{FF2B5EF4-FFF2-40B4-BE49-F238E27FC236}">
                <a16:creationId xmlns:a16="http://schemas.microsoft.com/office/drawing/2014/main" id="{B9C60266-EE80-4002-AF9F-5E6817810765}"/>
              </a:ext>
            </a:extLst>
          </p:cNvPr>
          <p:cNvSpPr>
            <a:spLocks xmlns:a="http://schemas.openxmlformats.org/drawingml/2006/main" noGrp="1"/>
          </p:cNvSpPr>
          <p:nvPr/>
        </p:nvSpPr>
        <p:spPr>
          <a:xfrm xmlns:a="http://schemas.openxmlformats.org/drawingml/2006/main">
            <a:off x="4238625" y="3486150"/>
            <a:ext cx="6191250" cy="209550"/>
          </a:xfrm>
          <a:prstGeom xmlns:a="http://schemas.openxmlformats.org/drawingml/2006/main" prst="roundRect">
            <a:avLst>
              <a:gd name="adj" fmla="val 36364"/>
            </a:avLst>
          </a:prstGeom>
          <a:solidFill xmlns:a="http://schemas.openxmlformats.org/drawingml/2006/main">
            <a:srgbClr val="F3F7F9"/>
          </a:solidFill>
          <a:ln xmlns:a="http://schemas.openxmlformats.org/drawingml/2006/main" w="0">
            <a:solidFill>
              <a:srgbClr val="F3F7F9"/>
            </a:solidFill>
            <a:prstDash val="solid"/>
          </a:ln>
        </p:spPr>
      </p:sp>
      <p:sp>
        <p:nvSpPr>
          <p:cNvPr id="12" name="">
            <a:extLst xmlns:a="http://schemas.openxmlformats.org/drawingml/2006/main">
              <a:ext uri="{FF2B5EF4-FFF2-40B4-BE49-F238E27FC236}">
                <a16:creationId xmlns:a16="http://schemas.microsoft.com/office/drawing/2014/main" id="{3174C085-65D8-4FD7-9C95-3B5BCA260227}"/>
              </a:ext>
            </a:extLst>
          </p:cNvPr>
          <p:cNvSpPr>
            <a:spLocks xmlns:a="http://schemas.openxmlformats.org/drawingml/2006/main" noGrp="1"/>
          </p:cNvSpPr>
          <p:nvPr/>
        </p:nvSpPr>
        <p:spPr>
          <a:xfrm xmlns:a="http://schemas.openxmlformats.org/drawingml/2006/main">
            <a:off x="4238625" y="3486150"/>
            <a:ext cx="4315301" cy="209550"/>
          </a:xfrm>
          <a:prstGeom xmlns:a="http://schemas.openxmlformats.org/drawingml/2006/main" prst="roundRect">
            <a:avLst>
              <a:gd name="adj" fmla="val 36364"/>
            </a:avLst>
          </a:prstGeom>
          <a:solidFill xmlns:a="http://schemas.openxmlformats.org/drawingml/2006/main">
            <a:srgbClr val="003F6B"/>
          </a:solidFill>
          <a:ln xmlns:a="http://schemas.openxmlformats.org/drawingml/2006/main" w="0">
            <a:solidFill>
              <a:srgbClr val="003F6B"/>
            </a:solidFill>
            <a:prstDash val="solid"/>
          </a:ln>
        </p:spPr>
      </p:sp>
      <p:sp>
        <p:nvSpPr>
          <p:cNvPr id="13" name="">
            <a:extLst xmlns:a="http://schemas.openxmlformats.org/drawingml/2006/main">
              <a:ext uri="{FF2B5EF4-FFF2-40B4-BE49-F238E27FC236}">
                <a16:creationId xmlns:a16="http://schemas.microsoft.com/office/drawing/2014/main" id="{289B1FC3-B4E8-46A0-8D30-1B10CFDA0539}"/>
              </a:ext>
            </a:extLst>
          </p:cNvPr>
          <p:cNvSpPr>
            <a:spLocks xmlns:a="http://schemas.openxmlformats.org/drawingml/2006/main" noGrp="1"/>
          </p:cNvSpPr>
          <p:nvPr/>
        </p:nvSpPr>
        <p:spPr>
          <a:xfrm xmlns:a="http://schemas.openxmlformats.org/drawingml/2006/main">
            <a:off x="10572750" y="3429000"/>
            <a:ext cx="66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200" b="1">
                <a:solidFill>
                  <a:srgbClr val="15232B"/>
                </a:solidFill>
              </a:defRPr>
            </a:pPr>
            <a:r>
              <a:rPr sz="1200" b="1">
                <a:solidFill>
                  <a:srgbClr val="15232B"/>
                </a:solidFill>
              </a:rPr>
              <a:t>69,7 %</a:t>
            </a:r>
          </a:p>
        </p:txBody>
      </p:sp>
      <p:sp>
        <p:nvSpPr>
          <p:cNvPr id="14" name="">
            <a:extLst xmlns:a="http://schemas.openxmlformats.org/drawingml/2006/main">
              <a:ext uri="{FF2B5EF4-FFF2-40B4-BE49-F238E27FC236}">
                <a16:creationId xmlns:a16="http://schemas.microsoft.com/office/drawing/2014/main" id="{2A61B906-1933-4069-85A6-0D78AC991FBF}"/>
              </a:ext>
            </a:extLst>
          </p:cNvPr>
          <p:cNvSpPr>
            <a:spLocks xmlns:a="http://schemas.openxmlformats.org/drawingml/2006/main" noGrp="1"/>
          </p:cNvSpPr>
          <p:nvPr/>
        </p:nvSpPr>
        <p:spPr>
          <a:xfrm xmlns:a="http://schemas.openxmlformats.org/drawingml/2006/main">
            <a:off x="2190750" y="398145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63" b="1">
                <a:solidFill>
                  <a:srgbClr val="003F6B"/>
                </a:solidFill>
              </a:defRPr>
            </a:pPr>
            <a:r>
              <a:rPr sz="1163" b="1">
                <a:solidFill>
                  <a:srgbClr val="003F6B"/>
                </a:solidFill>
              </a:rPr>
              <a:t>Fehler, kein Schaden</a:t>
            </a:r>
          </a:p>
        </p:txBody>
      </p:sp>
      <p:sp>
        <p:nvSpPr>
          <p:cNvPr id="15" name="">
            <a:extLst xmlns:a="http://schemas.openxmlformats.org/drawingml/2006/main">
              <a:ext uri="{FF2B5EF4-FFF2-40B4-BE49-F238E27FC236}">
                <a16:creationId xmlns:a16="http://schemas.microsoft.com/office/drawing/2014/main" id="{AC5BDBC1-E74A-4969-9972-9FB2A605A0D9}"/>
              </a:ext>
            </a:extLst>
          </p:cNvPr>
          <p:cNvSpPr>
            <a:spLocks xmlns:a="http://schemas.openxmlformats.org/drawingml/2006/main" noGrp="1"/>
          </p:cNvSpPr>
          <p:nvPr/>
        </p:nvSpPr>
        <p:spPr>
          <a:xfrm xmlns:a="http://schemas.openxmlformats.org/drawingml/2006/main">
            <a:off x="4238625" y="4038600"/>
            <a:ext cx="6191250" cy="209550"/>
          </a:xfrm>
          <a:prstGeom xmlns:a="http://schemas.openxmlformats.org/drawingml/2006/main" prst="roundRect">
            <a:avLst>
              <a:gd name="adj" fmla="val 36364"/>
            </a:avLst>
          </a:prstGeom>
          <a:solidFill xmlns:a="http://schemas.openxmlformats.org/drawingml/2006/main">
            <a:srgbClr val="F3F7F9"/>
          </a:solidFill>
          <a:ln xmlns:a="http://schemas.openxmlformats.org/drawingml/2006/main" w="0">
            <a:solidFill>
              <a:srgbClr val="F3F7F9"/>
            </a:solidFill>
            <a:prstDash val="solid"/>
          </a:ln>
        </p:spPr>
      </p:sp>
      <p:sp>
        <p:nvSpPr>
          <p:cNvPr id="16" name="">
            <a:extLst xmlns:a="http://schemas.openxmlformats.org/drawingml/2006/main">
              <a:ext uri="{FF2B5EF4-FFF2-40B4-BE49-F238E27FC236}">
                <a16:creationId xmlns:a16="http://schemas.microsoft.com/office/drawing/2014/main" id="{874B8678-E602-48C4-ADE9-534F4F7DCF26}"/>
              </a:ext>
            </a:extLst>
          </p:cNvPr>
          <p:cNvSpPr>
            <a:spLocks xmlns:a="http://schemas.openxmlformats.org/drawingml/2006/main" noGrp="1"/>
          </p:cNvSpPr>
          <p:nvPr/>
        </p:nvSpPr>
        <p:spPr>
          <a:xfrm xmlns:a="http://schemas.openxmlformats.org/drawingml/2006/main">
            <a:off x="4238625" y="4038600"/>
            <a:ext cx="216694" cy="209550"/>
          </a:xfrm>
          <a:prstGeom xmlns:a="http://schemas.openxmlformats.org/drawingml/2006/main" prst="roundRect">
            <a:avLst>
              <a:gd name="adj" fmla="val 36364"/>
            </a:avLst>
          </a:prstGeom>
          <a:solidFill xmlns:a="http://schemas.openxmlformats.org/drawingml/2006/main">
            <a:srgbClr val="00B2BB"/>
          </a:solidFill>
          <a:ln xmlns:a="http://schemas.openxmlformats.org/drawingml/2006/main" w="0">
            <a:solidFill>
              <a:srgbClr val="00B2BB"/>
            </a:solidFill>
            <a:prstDash val="solid"/>
          </a:ln>
        </p:spPr>
      </p:sp>
      <p:sp>
        <p:nvSpPr>
          <p:cNvPr id="17" name="">
            <a:extLst xmlns:a="http://schemas.openxmlformats.org/drawingml/2006/main">
              <a:ext uri="{FF2B5EF4-FFF2-40B4-BE49-F238E27FC236}">
                <a16:creationId xmlns:a16="http://schemas.microsoft.com/office/drawing/2014/main" id="{117EF24B-4417-4051-AF3F-25372D99B4E8}"/>
              </a:ext>
            </a:extLst>
          </p:cNvPr>
          <p:cNvSpPr>
            <a:spLocks xmlns:a="http://schemas.openxmlformats.org/drawingml/2006/main" noGrp="1"/>
          </p:cNvSpPr>
          <p:nvPr/>
        </p:nvSpPr>
        <p:spPr>
          <a:xfrm xmlns:a="http://schemas.openxmlformats.org/drawingml/2006/main">
            <a:off x="10572750" y="3981450"/>
            <a:ext cx="66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200" b="1">
                <a:solidFill>
                  <a:srgbClr val="15232B"/>
                </a:solidFill>
              </a:defRPr>
            </a:pPr>
            <a:r>
              <a:rPr sz="1200" b="1">
                <a:solidFill>
                  <a:srgbClr val="15232B"/>
                </a:solidFill>
              </a:rPr>
              <a:t>3,5 %</a:t>
            </a:r>
          </a:p>
        </p:txBody>
      </p:sp>
      <p:sp>
        <p:nvSpPr>
          <p:cNvPr id="18" name="">
            <a:extLst xmlns:a="http://schemas.openxmlformats.org/drawingml/2006/main">
              <a:ext uri="{FF2B5EF4-FFF2-40B4-BE49-F238E27FC236}">
                <a16:creationId xmlns:a16="http://schemas.microsoft.com/office/drawing/2014/main" id="{0B51CF4E-590E-4402-92EC-0DFC67FEB317}"/>
              </a:ext>
            </a:extLst>
          </p:cNvPr>
          <p:cNvSpPr>
            <a:spLocks xmlns:a="http://schemas.openxmlformats.org/drawingml/2006/main" noGrp="1"/>
          </p:cNvSpPr>
          <p:nvPr/>
        </p:nvSpPr>
        <p:spPr>
          <a:xfrm xmlns:a="http://schemas.openxmlformats.org/drawingml/2006/main">
            <a:off x="2190750" y="45339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63" b="1">
                <a:solidFill>
                  <a:srgbClr val="003F6B"/>
                </a:solidFill>
              </a:defRPr>
            </a:pPr>
            <a:r>
              <a:rPr sz="1163" b="1">
                <a:solidFill>
                  <a:srgbClr val="003F6B"/>
                </a:solidFill>
              </a:rPr>
              <a:t>Fehler + Schaden</a:t>
            </a:r>
          </a:p>
        </p:txBody>
      </p:sp>
      <p:sp>
        <p:nvSpPr>
          <p:cNvPr id="19" name="">
            <a:extLst xmlns:a="http://schemas.openxmlformats.org/drawingml/2006/main">
              <a:ext uri="{FF2B5EF4-FFF2-40B4-BE49-F238E27FC236}">
                <a16:creationId xmlns:a16="http://schemas.microsoft.com/office/drawing/2014/main" id="{57191C7C-E6D4-4FE7-9D0F-547532AF62F1}"/>
              </a:ext>
            </a:extLst>
          </p:cNvPr>
          <p:cNvSpPr>
            <a:spLocks xmlns:a="http://schemas.openxmlformats.org/drawingml/2006/main" noGrp="1"/>
          </p:cNvSpPr>
          <p:nvPr/>
        </p:nvSpPr>
        <p:spPr>
          <a:xfrm xmlns:a="http://schemas.openxmlformats.org/drawingml/2006/main">
            <a:off x="4238625" y="4591050"/>
            <a:ext cx="6191250" cy="209550"/>
          </a:xfrm>
          <a:prstGeom xmlns:a="http://schemas.openxmlformats.org/drawingml/2006/main" prst="roundRect">
            <a:avLst>
              <a:gd name="adj" fmla="val 36364"/>
            </a:avLst>
          </a:prstGeom>
          <a:solidFill xmlns:a="http://schemas.openxmlformats.org/drawingml/2006/main">
            <a:srgbClr val="F3F7F9"/>
          </a:solidFill>
          <a:ln xmlns:a="http://schemas.openxmlformats.org/drawingml/2006/main" w="0">
            <a:solidFill>
              <a:srgbClr val="F3F7F9"/>
            </a:solidFill>
            <a:prstDash val="solid"/>
          </a:ln>
        </p:spPr>
      </p:sp>
      <p:sp>
        <p:nvSpPr>
          <p:cNvPr id="20" name="">
            <a:extLst xmlns:a="http://schemas.openxmlformats.org/drawingml/2006/main">
              <a:ext uri="{FF2B5EF4-FFF2-40B4-BE49-F238E27FC236}">
                <a16:creationId xmlns:a16="http://schemas.microsoft.com/office/drawing/2014/main" id="{6B951E86-5F2F-434B-A811-805C34631289}"/>
              </a:ext>
            </a:extLst>
          </p:cNvPr>
          <p:cNvSpPr>
            <a:spLocks xmlns:a="http://schemas.openxmlformats.org/drawingml/2006/main" noGrp="1"/>
          </p:cNvSpPr>
          <p:nvPr/>
        </p:nvSpPr>
        <p:spPr>
          <a:xfrm xmlns:a="http://schemas.openxmlformats.org/drawingml/2006/main">
            <a:off x="4238625" y="4591050"/>
            <a:ext cx="1659255" cy="209550"/>
          </a:xfrm>
          <a:prstGeom xmlns:a="http://schemas.openxmlformats.org/drawingml/2006/main" prst="roundRect">
            <a:avLst>
              <a:gd name="adj" fmla="val 36364"/>
            </a:avLst>
          </a:prstGeom>
          <a:solidFill xmlns:a="http://schemas.openxmlformats.org/drawingml/2006/main">
            <a:srgbClr val="00B2BB"/>
          </a:solidFill>
          <a:ln xmlns:a="http://schemas.openxmlformats.org/drawingml/2006/main" w="0">
            <a:solidFill>
              <a:srgbClr val="00B2BB"/>
            </a:solidFill>
            <a:prstDash val="solid"/>
          </a:ln>
        </p:spPr>
      </p:sp>
      <p:sp>
        <p:nvSpPr>
          <p:cNvPr id="21" name="">
            <a:extLst xmlns:a="http://schemas.openxmlformats.org/drawingml/2006/main">
              <a:ext uri="{FF2B5EF4-FFF2-40B4-BE49-F238E27FC236}">
                <a16:creationId xmlns:a16="http://schemas.microsoft.com/office/drawing/2014/main" id="{9B375824-340F-4031-8131-A2F0A4C76D24}"/>
              </a:ext>
            </a:extLst>
          </p:cNvPr>
          <p:cNvSpPr>
            <a:spLocks xmlns:a="http://schemas.openxmlformats.org/drawingml/2006/main" noGrp="1"/>
          </p:cNvSpPr>
          <p:nvPr/>
        </p:nvSpPr>
        <p:spPr>
          <a:xfrm xmlns:a="http://schemas.openxmlformats.org/drawingml/2006/main">
            <a:off x="10572750" y="4533900"/>
            <a:ext cx="66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200" b="1">
                <a:solidFill>
                  <a:srgbClr val="15232B"/>
                </a:solidFill>
              </a:defRPr>
            </a:pPr>
            <a:r>
              <a:rPr sz="1200" b="1">
                <a:solidFill>
                  <a:srgbClr val="15232B"/>
                </a:solidFill>
              </a:rPr>
              <a:t>26,8 %</a:t>
            </a:r>
          </a:p>
        </p:txBody>
      </p:sp>
      <p:sp>
        <p:nvSpPr>
          <p:cNvPr id="22" name="">
            <a:extLst xmlns:a="http://schemas.openxmlformats.org/drawingml/2006/main">
              <a:ext uri="{FF2B5EF4-FFF2-40B4-BE49-F238E27FC236}">
                <a16:creationId xmlns:a16="http://schemas.microsoft.com/office/drawing/2014/main" id="{F6FD3FE8-C07D-4B44-BB95-0EE4469FDC26}"/>
              </a:ext>
            </a:extLst>
          </p:cNvPr>
          <p:cNvSpPr>
            <a:spLocks xmlns:a="http://schemas.openxmlformats.org/drawingml/2006/main" noGrp="1"/>
          </p:cNvSpPr>
          <p:nvPr/>
        </p:nvSpPr>
        <p:spPr>
          <a:xfrm xmlns:a="http://schemas.openxmlformats.org/drawingml/2006/main">
            <a:off x="1809750" y="5048250"/>
            <a:ext cx="952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20">
                <a:solidFill>
                  <a:srgbClr val="667680"/>
                </a:solidFill>
              </a:defRPr>
            </a:pPr>
            <a:r>
              <a:rPr sz="720">
                <a:solidFill>
                  <a:srgbClr val="667680"/>
                </a:solidFill>
              </a:rPr>
              <a:t>Medizinischer Dienst Bund, Jahresstatistik Behandlungsfehler-Begutachtung 2024, veröffentlicht 30.10.2025 · Abruf/Stand: 20.08.2026 · https://md-bund.de/statistik/behandlungsfehlergutachten.html</a:t>
            </a:r>
          </a:p>
        </p:txBody>
      </p:sp>
      <p:sp>
        <p:nvSpPr>
          <p:cNvPr id="23" name="">
            <a:extLst xmlns:a="http://schemas.openxmlformats.org/drawingml/2006/main">
              <a:ext uri="{FF2B5EF4-FFF2-40B4-BE49-F238E27FC236}">
                <a16:creationId xmlns:a16="http://schemas.microsoft.com/office/drawing/2014/main" id="{430ECFA3-3F9A-46A7-8E9A-4CFCC806673C}"/>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4" name="">
            <a:extLst xmlns:a="http://schemas.openxmlformats.org/drawingml/2006/main">
              <a:ext uri="{FF2B5EF4-FFF2-40B4-BE49-F238E27FC236}">
                <a16:creationId xmlns:a16="http://schemas.microsoft.com/office/drawing/2014/main" id="{0AECF64C-9725-4574-86B4-BCFC5000842F}"/>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Ausgewählte Verdachtsfälle: informativ für Konfliktmuster, ungeeignet als Inzidenzschätzung aller Behandlungen.</a:t>
            </a:r>
          </a:p>
        </p:txBody>
      </p:sp>
    </p:spTree>
    <p:extLst>
      <p:ext uri="{BB962C8B-B14F-4D97-AF65-F5344CB8AC3E}">
        <p14:creationId xmlns:p14="http://schemas.microsoft.com/office/powerpoint/2010/main" val="43637646"/>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Interaktion: Wohin führt der erste Anruf?</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FALLTRIAGE · 12 MIN</a:t>
            </a:r>
            <a:endParaRPr/>
          </a:p>
        </p:txBody>
      </p:sp>
      <p:sp>
        <p:nvSpPr>
          <p:cNvPr id="4" name="">
            <a:extLst xmlns:a="http://schemas.openxmlformats.org/drawingml/2006/main">
              <a:ext uri="{FF2B5EF4-FFF2-40B4-BE49-F238E27FC236}">
                <a16:creationId xmlns:a16="http://schemas.microsoft.com/office/drawing/2014/main" id="{EC9D5777-269B-4BDA-BECE-E1A45299A9B3}"/>
              </a:ext>
            </a:extLst>
          </p:cNvPr>
          <p:cNvSpPr>
            <a:spLocks xmlns:a="http://schemas.openxmlformats.org/drawingml/2006/main" noGrp="1"/>
          </p:cNvSpPr>
          <p:nvPr/>
        </p:nvSpPr>
        <p:spPr>
          <a:xfrm xmlns:a="http://schemas.openxmlformats.org/drawingml/2006/main">
            <a:off x="1809750" y="1952625"/>
            <a:ext cx="5381625" cy="3333750"/>
          </a:xfrm>
          <a:prstGeom xmlns:a="http://schemas.openxmlformats.org/drawingml/2006/main" prst="roundRect">
            <a:avLst>
              <a:gd name="adj" fmla="val 2286"/>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8E600AC8-ADD7-4C74-9379-A9D668E34E8C}"/>
              </a:ext>
            </a:extLst>
          </p:cNvPr>
          <p:cNvSpPr>
            <a:spLocks xmlns:a="http://schemas.openxmlformats.org/drawingml/2006/main" noGrp="1"/>
          </p:cNvSpPr>
          <p:nvPr/>
        </p:nvSpPr>
        <p:spPr>
          <a:xfrm xmlns:a="http://schemas.openxmlformats.org/drawingml/2006/main">
            <a:off x="1809750" y="1952625"/>
            <a:ext cx="5381625"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6" name="">
            <a:extLst xmlns:a="http://schemas.openxmlformats.org/drawingml/2006/main">
              <a:ext uri="{FF2B5EF4-FFF2-40B4-BE49-F238E27FC236}">
                <a16:creationId xmlns:a16="http://schemas.microsoft.com/office/drawing/2014/main" id="{52B80177-452C-4365-AC92-6CCA7CCFE5B3}"/>
              </a:ext>
            </a:extLst>
          </p:cNvPr>
          <p:cNvSpPr>
            <a:spLocks xmlns:a="http://schemas.openxmlformats.org/drawingml/2006/main" noGrp="1"/>
          </p:cNvSpPr>
          <p:nvPr/>
        </p:nvSpPr>
        <p:spPr>
          <a:xfrm xmlns:a="http://schemas.openxmlformats.org/drawingml/2006/main">
            <a:off x="1962150" y="2085975"/>
            <a:ext cx="5076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00" b="1">
                <a:solidFill>
                  <a:srgbClr val="003F6B"/>
                </a:solidFill>
              </a:defRPr>
            </a:pPr>
            <a:r>
              <a:rPr sz="1500" b="1">
                <a:solidFill>
                  <a:srgbClr val="003F6B"/>
                </a:solidFill>
              </a:rPr>
              <a:t>Ausgangslage</a:t>
            </a:r>
          </a:p>
        </p:txBody>
      </p:sp>
      <p:sp>
        <p:nvSpPr>
          <p:cNvPr id="7" name="">
            <a:extLst xmlns:a="http://schemas.openxmlformats.org/drawingml/2006/main">
              <a:ext uri="{FF2B5EF4-FFF2-40B4-BE49-F238E27FC236}">
                <a16:creationId xmlns:a16="http://schemas.microsoft.com/office/drawing/2014/main" id="{3EAEEE2A-B615-42B6-93E0-5CA6B169AA4B}"/>
              </a:ext>
            </a:extLst>
          </p:cNvPr>
          <p:cNvSpPr>
            <a:spLocks xmlns:a="http://schemas.openxmlformats.org/drawingml/2006/main" noGrp="1"/>
          </p:cNvSpPr>
          <p:nvPr/>
        </p:nvSpPr>
        <p:spPr>
          <a:xfrm xmlns:a="http://schemas.openxmlformats.org/drawingml/2006/main">
            <a:off x="1962150" y="2524125"/>
            <a:ext cx="5076825" cy="2628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15232B"/>
                </a:solidFill>
              </a:defRPr>
            </a:pPr>
            <a:r>
              <a:rPr sz="1275">
                <a:solidFill>
                  <a:srgbClr val="15232B"/>
                </a:solidFill>
              </a:rPr>
              <a:t>Nach Entlassung wird eine Patientin intensivpflichtig. Der Ehemann ruft auf Station an: ‚Ich zeige Sie an.‘ Gleichzeitig bittet die Pflegedienstleitung um eine schriftliche Stellungnahme.</a:t>
            </a:r>
          </a:p>
        </p:txBody>
      </p:sp>
      <p:sp>
        <p:nvSpPr>
          <p:cNvPr id="8" name="">
            <a:extLst xmlns:a="http://schemas.openxmlformats.org/drawingml/2006/main">
              <a:ext uri="{FF2B5EF4-FFF2-40B4-BE49-F238E27FC236}">
                <a16:creationId xmlns:a16="http://schemas.microsoft.com/office/drawing/2014/main" id="{A0B7C946-94D2-446B-A3EF-440417227E77}"/>
              </a:ext>
            </a:extLst>
          </p:cNvPr>
          <p:cNvSpPr>
            <a:spLocks xmlns:a="http://schemas.openxmlformats.org/drawingml/2006/main" noGrp="1"/>
          </p:cNvSpPr>
          <p:nvPr/>
        </p:nvSpPr>
        <p:spPr>
          <a:xfrm xmlns:a="http://schemas.openxmlformats.org/drawingml/2006/main">
            <a:off x="7429500" y="1990725"/>
            <a:ext cx="323850" cy="323850"/>
          </a:xfrm>
          <a:prstGeom xmlns:a="http://schemas.openxmlformats.org/drawingml/2006/main" prst="roundRect">
            <a:avLst>
              <a:gd name="adj" fmla="val 23529"/>
            </a:avLst>
          </a:prstGeom>
          <a:solidFill xmlns:a="http://schemas.openxmlformats.org/drawingml/2006/main">
            <a:srgbClr val="00B2BB"/>
          </a:solidFill>
          <a:ln xmlns:a="http://schemas.openxmlformats.org/drawingml/2006/main" w="0">
            <a:solidFill>
              <a:srgbClr val="00B2BB"/>
            </a:solidFill>
            <a:prstDash val="solid"/>
          </a:ln>
        </p:spPr>
      </p:sp>
      <p:sp>
        <p:nvSpPr>
          <p:cNvPr id="9" name="">
            <a:extLst xmlns:a="http://schemas.openxmlformats.org/drawingml/2006/main">
              <a:ext uri="{FF2B5EF4-FFF2-40B4-BE49-F238E27FC236}">
                <a16:creationId xmlns:a16="http://schemas.microsoft.com/office/drawing/2014/main" id="{CE5C92B1-CE64-41B7-9482-876F1B43C532}"/>
              </a:ext>
            </a:extLst>
          </p:cNvPr>
          <p:cNvSpPr>
            <a:spLocks xmlns:a="http://schemas.openxmlformats.org/drawingml/2006/main" noGrp="1"/>
          </p:cNvSpPr>
          <p:nvPr/>
        </p:nvSpPr>
        <p:spPr>
          <a:xfrm xmlns:a="http://schemas.openxmlformats.org/drawingml/2006/main">
            <a:off x="7429500" y="1990725"/>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10" name="">
            <a:extLst xmlns:a="http://schemas.openxmlformats.org/drawingml/2006/main">
              <a:ext uri="{FF2B5EF4-FFF2-40B4-BE49-F238E27FC236}">
                <a16:creationId xmlns:a16="http://schemas.microsoft.com/office/drawing/2014/main" id="{75A53212-4627-47F0-BB47-C6E4DD8DDA5B}"/>
              </a:ext>
            </a:extLst>
          </p:cNvPr>
          <p:cNvSpPr>
            <a:spLocks xmlns:a="http://schemas.openxmlformats.org/drawingml/2006/main" noGrp="1"/>
          </p:cNvSpPr>
          <p:nvPr/>
        </p:nvSpPr>
        <p:spPr>
          <a:xfrm xmlns:a="http://schemas.openxmlformats.org/drawingml/2006/main">
            <a:off x="7886700" y="1952625"/>
            <a:ext cx="3333750" cy="1022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15" b="0">
                <a:solidFill>
                  <a:srgbClr val="15232B"/>
                </a:solidFill>
              </a:defRPr>
            </a:pPr>
            <a:r>
              <a:rPr sz="1215" b="0">
                <a:solidFill>
                  <a:srgbClr val="15232B"/>
                </a:solidFill>
              </a:rPr>
              <a:t>Welche akuten Maßnahmen sind medizinisch nötig?</a:t>
            </a:r>
          </a:p>
        </p:txBody>
      </p:sp>
      <p:sp>
        <p:nvSpPr>
          <p:cNvPr id="11" name="">
            <a:extLst xmlns:a="http://schemas.openxmlformats.org/drawingml/2006/main">
              <a:ext uri="{FF2B5EF4-FFF2-40B4-BE49-F238E27FC236}">
                <a16:creationId xmlns:a16="http://schemas.microsoft.com/office/drawing/2014/main" id="{B075B54E-C0F7-4B17-8EC9-20909C6F3594}"/>
              </a:ext>
            </a:extLst>
          </p:cNvPr>
          <p:cNvSpPr>
            <a:spLocks xmlns:a="http://schemas.openxmlformats.org/drawingml/2006/main" noGrp="1"/>
          </p:cNvSpPr>
          <p:nvPr/>
        </p:nvSpPr>
        <p:spPr>
          <a:xfrm xmlns:a="http://schemas.openxmlformats.org/drawingml/2006/main">
            <a:off x="7429500" y="3108325"/>
            <a:ext cx="323850" cy="323850"/>
          </a:xfrm>
          <a:prstGeom xmlns:a="http://schemas.openxmlformats.org/drawingml/2006/main" prst="roundRect">
            <a:avLst>
              <a:gd name="adj" fmla="val 23529"/>
            </a:avLst>
          </a:prstGeom>
          <a:solidFill xmlns:a="http://schemas.openxmlformats.org/drawingml/2006/main">
            <a:srgbClr val="003F6B"/>
          </a:solidFill>
          <a:ln xmlns:a="http://schemas.openxmlformats.org/drawingml/2006/main" w="0">
            <a:solidFill>
              <a:srgbClr val="003F6B"/>
            </a:solidFill>
            <a:prstDash val="solid"/>
          </a:ln>
        </p:spPr>
      </p:sp>
      <p:sp>
        <p:nvSpPr>
          <p:cNvPr id="12" name="">
            <a:extLst xmlns:a="http://schemas.openxmlformats.org/drawingml/2006/main">
              <a:ext uri="{FF2B5EF4-FFF2-40B4-BE49-F238E27FC236}">
                <a16:creationId xmlns:a16="http://schemas.microsoft.com/office/drawing/2014/main" id="{35F8C79B-A022-4047-B474-4CC43D754A93}"/>
              </a:ext>
            </a:extLst>
          </p:cNvPr>
          <p:cNvSpPr>
            <a:spLocks xmlns:a="http://schemas.openxmlformats.org/drawingml/2006/main" noGrp="1"/>
          </p:cNvSpPr>
          <p:nvPr/>
        </p:nvSpPr>
        <p:spPr>
          <a:xfrm xmlns:a="http://schemas.openxmlformats.org/drawingml/2006/main">
            <a:off x="7429500" y="3108325"/>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3" name="">
            <a:extLst xmlns:a="http://schemas.openxmlformats.org/drawingml/2006/main">
              <a:ext uri="{FF2B5EF4-FFF2-40B4-BE49-F238E27FC236}">
                <a16:creationId xmlns:a16="http://schemas.microsoft.com/office/drawing/2014/main" id="{4C87BB42-28C4-45DD-A011-4706D803D0CF}"/>
              </a:ext>
            </a:extLst>
          </p:cNvPr>
          <p:cNvSpPr>
            <a:spLocks xmlns:a="http://schemas.openxmlformats.org/drawingml/2006/main" noGrp="1"/>
          </p:cNvSpPr>
          <p:nvPr/>
        </p:nvSpPr>
        <p:spPr>
          <a:xfrm xmlns:a="http://schemas.openxmlformats.org/drawingml/2006/main">
            <a:off x="7886700" y="3070225"/>
            <a:ext cx="3333750" cy="1022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15" b="0">
                <a:solidFill>
                  <a:srgbClr val="15232B"/>
                </a:solidFill>
              </a:defRPr>
            </a:pPr>
            <a:r>
              <a:rPr sz="1215" b="0">
                <a:solidFill>
                  <a:srgbClr val="15232B"/>
                </a:solidFill>
              </a:rPr>
              <a:t>Welche Rollen und Verfahren könnten folgen?</a:t>
            </a:r>
          </a:p>
        </p:txBody>
      </p:sp>
      <p:sp>
        <p:nvSpPr>
          <p:cNvPr id="14" name="">
            <a:extLst xmlns:a="http://schemas.openxmlformats.org/drawingml/2006/main">
              <a:ext uri="{FF2B5EF4-FFF2-40B4-BE49-F238E27FC236}">
                <a16:creationId xmlns:a16="http://schemas.microsoft.com/office/drawing/2014/main" id="{03C758E7-C74B-474D-A9DC-5B0DDFEEDF54}"/>
              </a:ext>
            </a:extLst>
          </p:cNvPr>
          <p:cNvSpPr>
            <a:spLocks xmlns:a="http://schemas.openxmlformats.org/drawingml/2006/main" noGrp="1"/>
          </p:cNvSpPr>
          <p:nvPr/>
        </p:nvSpPr>
        <p:spPr>
          <a:xfrm xmlns:a="http://schemas.openxmlformats.org/drawingml/2006/main">
            <a:off x="7429500" y="4225925"/>
            <a:ext cx="323850" cy="323850"/>
          </a:xfrm>
          <a:prstGeom xmlns:a="http://schemas.openxmlformats.org/drawingml/2006/main" prst="roundRect">
            <a:avLst>
              <a:gd name="adj" fmla="val 23529"/>
            </a:avLst>
          </a:prstGeom>
          <a:solidFill xmlns:a="http://schemas.openxmlformats.org/drawingml/2006/main">
            <a:srgbClr val="00B2BB"/>
          </a:solidFill>
          <a:ln xmlns:a="http://schemas.openxmlformats.org/drawingml/2006/main" w="0">
            <a:solidFill>
              <a:srgbClr val="00B2BB"/>
            </a:solidFill>
            <a:prstDash val="solid"/>
          </a:ln>
        </p:spPr>
      </p:sp>
      <p:sp>
        <p:nvSpPr>
          <p:cNvPr id="15" name="">
            <a:extLst xmlns:a="http://schemas.openxmlformats.org/drawingml/2006/main">
              <a:ext uri="{FF2B5EF4-FFF2-40B4-BE49-F238E27FC236}">
                <a16:creationId xmlns:a16="http://schemas.microsoft.com/office/drawing/2014/main" id="{F2C3F0F2-0022-4F1D-8C12-3A82EA86A263}"/>
              </a:ext>
            </a:extLst>
          </p:cNvPr>
          <p:cNvSpPr>
            <a:spLocks xmlns:a="http://schemas.openxmlformats.org/drawingml/2006/main" noGrp="1"/>
          </p:cNvSpPr>
          <p:nvPr/>
        </p:nvSpPr>
        <p:spPr>
          <a:xfrm xmlns:a="http://schemas.openxmlformats.org/drawingml/2006/main">
            <a:off x="7429500" y="4225925"/>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6" name="">
            <a:extLst xmlns:a="http://schemas.openxmlformats.org/drawingml/2006/main">
              <a:ext uri="{FF2B5EF4-FFF2-40B4-BE49-F238E27FC236}">
                <a16:creationId xmlns:a16="http://schemas.microsoft.com/office/drawing/2014/main" id="{F83D4E05-B273-4BC2-BD44-9CB33D9DCF59}"/>
              </a:ext>
            </a:extLst>
          </p:cNvPr>
          <p:cNvSpPr>
            <a:spLocks xmlns:a="http://schemas.openxmlformats.org/drawingml/2006/main" noGrp="1"/>
          </p:cNvSpPr>
          <p:nvPr/>
        </p:nvSpPr>
        <p:spPr>
          <a:xfrm xmlns:a="http://schemas.openxmlformats.org/drawingml/2006/main">
            <a:off x="7886700" y="4187825"/>
            <a:ext cx="3333750" cy="1022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15" b="0">
                <a:solidFill>
                  <a:srgbClr val="15232B"/>
                </a:solidFill>
              </a:defRPr>
            </a:pPr>
            <a:r>
              <a:rPr sz="1215" b="0">
                <a:solidFill>
                  <a:srgbClr val="15232B"/>
                </a:solidFill>
              </a:rPr>
              <a:t>Was sagen Sie – und was schreiben Sie heute noch nicht aus Erinnerung?</a:t>
            </a:r>
          </a:p>
        </p:txBody>
      </p:sp>
      <p:sp>
        <p:nvSpPr>
          <p:cNvPr id="17" name="">
            <a:extLst xmlns:a="http://schemas.openxmlformats.org/drawingml/2006/main">
              <a:ext uri="{FF2B5EF4-FFF2-40B4-BE49-F238E27FC236}">
                <a16:creationId xmlns:a16="http://schemas.microsoft.com/office/drawing/2014/main" id="{3F74D608-4EAA-4DF3-8E4C-2AB826185968}"/>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18" name="">
            <a:extLst xmlns:a="http://schemas.openxmlformats.org/drawingml/2006/main">
              <a:ext uri="{FF2B5EF4-FFF2-40B4-BE49-F238E27FC236}">
                <a16:creationId xmlns:a16="http://schemas.microsoft.com/office/drawing/2014/main" id="{B54E4CA1-2824-49E1-8FF2-918F75328267}"/>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Nicht jeder Vorwurf ist schon eine Klage oder Beschuldigtenvernehmung. Erst Rolle, Auftrag und Adressat klären.</a:t>
            </a:r>
          </a:p>
        </p:txBody>
      </p:sp>
    </p:spTree>
    <p:extLst>
      <p:ext uri="{BB962C8B-B14F-4D97-AF65-F5344CB8AC3E}">
        <p14:creationId xmlns:p14="http://schemas.microsoft.com/office/powerpoint/2010/main" val="43637646"/>
      </p:ext>
    </p:extLst>
  </p:cSld>
</p:sld>
</file>

<file path=ppt/slides/slide44.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Sitzung 1: Was bleibt?</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TRANSFER</a:t>
            </a:r>
            <a:endParaRPr/>
          </a:p>
        </p:txBody>
      </p:sp>
      <p:sp>
        <p:nvSpPr>
          <p:cNvPr id="4" name="">
            <a:extLst xmlns:a="http://schemas.openxmlformats.org/drawingml/2006/main">
              <a:ext uri="{FF2B5EF4-FFF2-40B4-BE49-F238E27FC236}">
                <a16:creationId xmlns:a16="http://schemas.microsoft.com/office/drawing/2014/main" id="{F5A3C373-CACB-476F-8FD6-3CE46127EAE7}"/>
              </a:ext>
            </a:extLst>
          </p:cNvPr>
          <p:cNvSpPr>
            <a:spLocks xmlns:a="http://schemas.openxmlformats.org/drawingml/2006/main" noGrp="1"/>
          </p:cNvSpPr>
          <p:nvPr/>
        </p:nvSpPr>
        <p:spPr>
          <a:xfrm xmlns:a="http://schemas.openxmlformats.org/drawingml/2006/main">
            <a:off x="1809750" y="2038350"/>
            <a:ext cx="323850" cy="323850"/>
          </a:xfrm>
          <a:prstGeom xmlns:a="http://schemas.openxmlformats.org/drawingml/2006/main" prst="ellipse">
            <a:avLst/>
          </a:prstGeom>
          <a:solidFill xmlns:a="http://schemas.openxmlformats.org/drawingml/2006/main">
            <a:srgbClr val="00B2BB"/>
          </a:solidFill>
          <a:ln xmlns:a="http://schemas.openxmlformats.org/drawingml/2006/main" w="0">
            <a:solidFill>
              <a:srgbClr val="FFFFFF"/>
            </a:solidFill>
            <a:prstDash val="solid"/>
          </a:ln>
        </p:spPr>
      </p:sp>
      <p:sp>
        <p:nvSpPr>
          <p:cNvPr id="5" name="">
            <a:extLst xmlns:a="http://schemas.openxmlformats.org/drawingml/2006/main">
              <a:ext uri="{FF2B5EF4-FFF2-40B4-BE49-F238E27FC236}">
                <a16:creationId xmlns:a16="http://schemas.microsoft.com/office/drawing/2014/main" id="{AB4AC62D-D872-4C58-9CB8-139C0340D526}"/>
              </a:ext>
            </a:extLst>
          </p:cNvPr>
          <p:cNvSpPr>
            <a:spLocks xmlns:a="http://schemas.openxmlformats.org/drawingml/2006/main" noGrp="1"/>
          </p:cNvSpPr>
          <p:nvPr/>
        </p:nvSpPr>
        <p:spPr>
          <a:xfrm xmlns:a="http://schemas.openxmlformats.org/drawingml/2006/main">
            <a:off x="1809750" y="20383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713" b="1">
                <a:solidFill>
                  <a:srgbClr val="FFFFFF"/>
                </a:solidFill>
              </a:defRPr>
            </a:pPr>
            <a:r>
              <a:rPr sz="713" b="1">
                <a:solidFill>
                  <a:srgbClr val="FFFFFF"/>
                </a:solidFill>
              </a:rPr>
              <a:t>1</a:t>
            </a:r>
          </a:p>
        </p:txBody>
      </p:sp>
      <p:sp>
        <p:nvSpPr>
          <p:cNvPr id="6" name="">
            <a:extLst xmlns:a="http://schemas.openxmlformats.org/drawingml/2006/main">
              <a:ext uri="{FF2B5EF4-FFF2-40B4-BE49-F238E27FC236}">
                <a16:creationId xmlns:a16="http://schemas.microsoft.com/office/drawing/2014/main" id="{F6FBE172-C35A-4A7D-8006-899247F7CEAA}"/>
              </a:ext>
            </a:extLst>
          </p:cNvPr>
          <p:cNvSpPr>
            <a:spLocks xmlns:a="http://schemas.openxmlformats.org/drawingml/2006/main" noGrp="1"/>
          </p:cNvSpPr>
          <p:nvPr/>
        </p:nvSpPr>
        <p:spPr>
          <a:xfrm xmlns:a="http://schemas.openxmlformats.org/drawingml/2006/main">
            <a:off x="2266950" y="2000250"/>
            <a:ext cx="9067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a:solidFill>
                  <a:srgbClr val="15232B"/>
                </a:solidFill>
              </a:defRPr>
            </a:pPr>
            <a:r>
              <a:rPr sz="1275">
                <a:solidFill>
                  <a:srgbClr val="15232B"/>
                </a:solidFill>
              </a:rPr>
              <a:t>Ereignis ≠ Fehler ≠ Schaden ≠ Haftung</a:t>
            </a:r>
          </a:p>
        </p:txBody>
      </p:sp>
      <p:sp>
        <p:nvSpPr>
          <p:cNvPr id="7" name="">
            <a:extLst xmlns:a="http://schemas.openxmlformats.org/drawingml/2006/main">
              <a:ext uri="{FF2B5EF4-FFF2-40B4-BE49-F238E27FC236}">
                <a16:creationId xmlns:a16="http://schemas.microsoft.com/office/drawing/2014/main" id="{ECA9544C-FF09-49DD-AC48-7689394157FB}"/>
              </a:ext>
            </a:extLst>
          </p:cNvPr>
          <p:cNvSpPr>
            <a:spLocks xmlns:a="http://schemas.openxmlformats.org/drawingml/2006/main" noGrp="1"/>
          </p:cNvSpPr>
          <p:nvPr/>
        </p:nvSpPr>
        <p:spPr>
          <a:xfrm xmlns:a="http://schemas.openxmlformats.org/drawingml/2006/main">
            <a:off x="1809750" y="2590800"/>
            <a:ext cx="323850" cy="323850"/>
          </a:xfrm>
          <a:prstGeom xmlns:a="http://schemas.openxmlformats.org/drawingml/2006/main" prst="ellipse">
            <a:avLst/>
          </a:prstGeom>
          <a:solidFill xmlns:a="http://schemas.openxmlformats.org/drawingml/2006/main">
            <a:srgbClr val="003F6B"/>
          </a:solidFill>
          <a:ln xmlns:a="http://schemas.openxmlformats.org/drawingml/2006/main" w="0">
            <a:solidFill>
              <a:srgbClr val="FFFFFF"/>
            </a:solidFill>
            <a:prstDash val="solid"/>
          </a:ln>
        </p:spPr>
      </p:sp>
      <p:sp>
        <p:nvSpPr>
          <p:cNvPr id="8" name="">
            <a:extLst xmlns:a="http://schemas.openxmlformats.org/drawingml/2006/main">
              <a:ext uri="{FF2B5EF4-FFF2-40B4-BE49-F238E27FC236}">
                <a16:creationId xmlns:a16="http://schemas.microsoft.com/office/drawing/2014/main" id="{74D364AC-A27C-4EB2-A05E-A480DBC3A315}"/>
              </a:ext>
            </a:extLst>
          </p:cNvPr>
          <p:cNvSpPr>
            <a:spLocks xmlns:a="http://schemas.openxmlformats.org/drawingml/2006/main" noGrp="1"/>
          </p:cNvSpPr>
          <p:nvPr/>
        </p:nvSpPr>
        <p:spPr>
          <a:xfrm xmlns:a="http://schemas.openxmlformats.org/drawingml/2006/main">
            <a:off x="1809750" y="259080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713" b="1">
                <a:solidFill>
                  <a:srgbClr val="FFFFFF"/>
                </a:solidFill>
              </a:defRPr>
            </a:pPr>
            <a:r>
              <a:rPr sz="713" b="1">
                <a:solidFill>
                  <a:srgbClr val="FFFFFF"/>
                </a:solidFill>
              </a:rPr>
              <a:t>2</a:t>
            </a:r>
          </a:p>
        </p:txBody>
      </p:sp>
      <p:sp>
        <p:nvSpPr>
          <p:cNvPr id="9" name="">
            <a:extLst xmlns:a="http://schemas.openxmlformats.org/drawingml/2006/main">
              <a:ext uri="{FF2B5EF4-FFF2-40B4-BE49-F238E27FC236}">
                <a16:creationId xmlns:a16="http://schemas.microsoft.com/office/drawing/2014/main" id="{721F1ED2-674E-4BD7-A745-75589E4B6E3E}"/>
              </a:ext>
            </a:extLst>
          </p:cNvPr>
          <p:cNvSpPr>
            <a:spLocks xmlns:a="http://schemas.openxmlformats.org/drawingml/2006/main" noGrp="1"/>
          </p:cNvSpPr>
          <p:nvPr/>
        </p:nvSpPr>
        <p:spPr>
          <a:xfrm xmlns:a="http://schemas.openxmlformats.org/drawingml/2006/main">
            <a:off x="2266950" y="2552700"/>
            <a:ext cx="9067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a:solidFill>
                  <a:srgbClr val="15232B"/>
                </a:solidFill>
              </a:defRPr>
            </a:pPr>
            <a:r>
              <a:rPr sz="1275">
                <a:solidFill>
                  <a:srgbClr val="15232B"/>
                </a:solidFill>
              </a:rPr>
              <a:t>Zivilrecht, Strafrecht, Berufsrecht und Approbationsrecht verfolgen verschiedene Zwecke</a:t>
            </a:r>
          </a:p>
        </p:txBody>
      </p:sp>
      <p:sp>
        <p:nvSpPr>
          <p:cNvPr id="10" name="">
            <a:extLst xmlns:a="http://schemas.openxmlformats.org/drawingml/2006/main">
              <a:ext uri="{FF2B5EF4-FFF2-40B4-BE49-F238E27FC236}">
                <a16:creationId xmlns:a16="http://schemas.microsoft.com/office/drawing/2014/main" id="{E3E17A3C-871F-40A9-BF5C-11A186792BAB}"/>
              </a:ext>
            </a:extLst>
          </p:cNvPr>
          <p:cNvSpPr>
            <a:spLocks xmlns:a="http://schemas.openxmlformats.org/drawingml/2006/main" noGrp="1"/>
          </p:cNvSpPr>
          <p:nvPr/>
        </p:nvSpPr>
        <p:spPr>
          <a:xfrm xmlns:a="http://schemas.openxmlformats.org/drawingml/2006/main">
            <a:off x="1809750" y="3143250"/>
            <a:ext cx="323850" cy="323850"/>
          </a:xfrm>
          <a:prstGeom xmlns:a="http://schemas.openxmlformats.org/drawingml/2006/main" prst="ellipse">
            <a:avLst/>
          </a:prstGeom>
          <a:solidFill xmlns:a="http://schemas.openxmlformats.org/drawingml/2006/main">
            <a:srgbClr val="00B2BB"/>
          </a:solidFill>
          <a:ln xmlns:a="http://schemas.openxmlformats.org/drawingml/2006/main" w="0">
            <a:solidFill>
              <a:srgbClr val="FFFFFF"/>
            </a:solidFill>
            <a:prstDash val="solid"/>
          </a:ln>
        </p:spPr>
      </p:sp>
      <p:sp>
        <p:nvSpPr>
          <p:cNvPr id="11" name="">
            <a:extLst xmlns:a="http://schemas.openxmlformats.org/drawingml/2006/main">
              <a:ext uri="{FF2B5EF4-FFF2-40B4-BE49-F238E27FC236}">
                <a16:creationId xmlns:a16="http://schemas.microsoft.com/office/drawing/2014/main" id="{DCD433AD-A3C2-4C4B-96F4-F6E62F0B3183}"/>
              </a:ext>
            </a:extLst>
          </p:cNvPr>
          <p:cNvSpPr>
            <a:spLocks xmlns:a="http://schemas.openxmlformats.org/drawingml/2006/main" noGrp="1"/>
          </p:cNvSpPr>
          <p:nvPr/>
        </p:nvSpPr>
        <p:spPr>
          <a:xfrm xmlns:a="http://schemas.openxmlformats.org/drawingml/2006/main">
            <a:off x="1809750" y="31432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713" b="1">
                <a:solidFill>
                  <a:srgbClr val="FFFFFF"/>
                </a:solidFill>
              </a:defRPr>
            </a:pPr>
            <a:r>
              <a:rPr sz="713" b="1">
                <a:solidFill>
                  <a:srgbClr val="FFFFFF"/>
                </a:solidFill>
              </a:rPr>
              <a:t>3</a:t>
            </a:r>
          </a:p>
        </p:txBody>
      </p:sp>
      <p:sp>
        <p:nvSpPr>
          <p:cNvPr id="12" name="">
            <a:extLst xmlns:a="http://schemas.openxmlformats.org/drawingml/2006/main">
              <a:ext uri="{FF2B5EF4-FFF2-40B4-BE49-F238E27FC236}">
                <a16:creationId xmlns:a16="http://schemas.microsoft.com/office/drawing/2014/main" id="{CE759B12-5C37-447A-A7A7-82B6B255C77A}"/>
              </a:ext>
            </a:extLst>
          </p:cNvPr>
          <p:cNvSpPr>
            <a:spLocks xmlns:a="http://schemas.openxmlformats.org/drawingml/2006/main" noGrp="1"/>
          </p:cNvSpPr>
          <p:nvPr/>
        </p:nvSpPr>
        <p:spPr>
          <a:xfrm xmlns:a="http://schemas.openxmlformats.org/drawingml/2006/main">
            <a:off x="2266950" y="3105150"/>
            <a:ext cx="9067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a:solidFill>
                  <a:srgbClr val="15232B"/>
                </a:solidFill>
              </a:defRPr>
            </a:pPr>
            <a:r>
              <a:rPr sz="1275">
                <a:solidFill>
                  <a:srgbClr val="15232B"/>
                </a:solidFill>
              </a:rPr>
              <a:t>Die frühe Kommunikation kann Konflikte entschärfen oder verschärfen</a:t>
            </a:r>
          </a:p>
        </p:txBody>
      </p:sp>
      <p:sp>
        <p:nvSpPr>
          <p:cNvPr id="13" name="">
            <a:extLst xmlns:a="http://schemas.openxmlformats.org/drawingml/2006/main">
              <a:ext uri="{FF2B5EF4-FFF2-40B4-BE49-F238E27FC236}">
                <a16:creationId xmlns:a16="http://schemas.microsoft.com/office/drawing/2014/main" id="{46C5D2A9-A933-41F5-AEE8-82C3BAC3BB27}"/>
              </a:ext>
            </a:extLst>
          </p:cNvPr>
          <p:cNvSpPr>
            <a:spLocks xmlns:a="http://schemas.openxmlformats.org/drawingml/2006/main" noGrp="1"/>
          </p:cNvSpPr>
          <p:nvPr/>
        </p:nvSpPr>
        <p:spPr>
          <a:xfrm xmlns:a="http://schemas.openxmlformats.org/drawingml/2006/main">
            <a:off x="1809750" y="3695700"/>
            <a:ext cx="323850" cy="323850"/>
          </a:xfrm>
          <a:prstGeom xmlns:a="http://schemas.openxmlformats.org/drawingml/2006/main" prst="ellipse">
            <a:avLst/>
          </a:prstGeom>
          <a:solidFill xmlns:a="http://schemas.openxmlformats.org/drawingml/2006/main">
            <a:srgbClr val="003F6B"/>
          </a:solidFill>
          <a:ln xmlns:a="http://schemas.openxmlformats.org/drawingml/2006/main" w="0">
            <a:solidFill>
              <a:srgbClr val="FFFFFF"/>
            </a:solidFill>
            <a:prstDash val="solid"/>
          </a:ln>
        </p:spPr>
      </p:sp>
      <p:sp>
        <p:nvSpPr>
          <p:cNvPr id="14" name="">
            <a:extLst xmlns:a="http://schemas.openxmlformats.org/drawingml/2006/main">
              <a:ext uri="{FF2B5EF4-FFF2-40B4-BE49-F238E27FC236}">
                <a16:creationId xmlns:a16="http://schemas.microsoft.com/office/drawing/2014/main" id="{8D93FA98-0FCC-4340-9943-9D1104D945BB}"/>
              </a:ext>
            </a:extLst>
          </p:cNvPr>
          <p:cNvSpPr>
            <a:spLocks xmlns:a="http://schemas.openxmlformats.org/drawingml/2006/main" noGrp="1"/>
          </p:cNvSpPr>
          <p:nvPr/>
        </p:nvSpPr>
        <p:spPr>
          <a:xfrm xmlns:a="http://schemas.openxmlformats.org/drawingml/2006/main">
            <a:off x="1809750" y="369570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713" b="1">
                <a:solidFill>
                  <a:srgbClr val="FFFFFF"/>
                </a:solidFill>
              </a:defRPr>
            </a:pPr>
            <a:r>
              <a:rPr sz="713" b="1">
                <a:solidFill>
                  <a:srgbClr val="FFFFFF"/>
                </a:solidFill>
              </a:rPr>
              <a:t>4</a:t>
            </a:r>
          </a:p>
        </p:txBody>
      </p:sp>
      <p:sp>
        <p:nvSpPr>
          <p:cNvPr id="15" name="">
            <a:extLst xmlns:a="http://schemas.openxmlformats.org/drawingml/2006/main">
              <a:ext uri="{FF2B5EF4-FFF2-40B4-BE49-F238E27FC236}">
                <a16:creationId xmlns:a16="http://schemas.microsoft.com/office/drawing/2014/main" id="{1311DE64-8CCE-4B4B-B8C9-C5A37F4D2EE8}"/>
              </a:ext>
            </a:extLst>
          </p:cNvPr>
          <p:cNvSpPr>
            <a:spLocks xmlns:a="http://schemas.openxmlformats.org/drawingml/2006/main" noGrp="1"/>
          </p:cNvSpPr>
          <p:nvPr/>
        </p:nvSpPr>
        <p:spPr>
          <a:xfrm xmlns:a="http://schemas.openxmlformats.org/drawingml/2006/main">
            <a:off x="2266950" y="3657600"/>
            <a:ext cx="9067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a:solidFill>
                  <a:srgbClr val="15232B"/>
                </a:solidFill>
              </a:defRPr>
            </a:pPr>
            <a:r>
              <a:rPr sz="1275">
                <a:solidFill>
                  <a:srgbClr val="15232B"/>
                </a:solidFill>
              </a:rPr>
              <a:t>Die eigene Rolle vor jeder Auskunft klären</a:t>
            </a:r>
          </a:p>
        </p:txBody>
      </p:sp>
      <p:sp>
        <p:nvSpPr>
          <p:cNvPr id="16" name="">
            <a:extLst xmlns:a="http://schemas.openxmlformats.org/drawingml/2006/main">
              <a:ext uri="{FF2B5EF4-FFF2-40B4-BE49-F238E27FC236}">
                <a16:creationId xmlns:a16="http://schemas.microsoft.com/office/drawing/2014/main" id="{5AA69BA2-61AE-460E-BA56-6440D26F9E79}"/>
              </a:ext>
            </a:extLst>
          </p:cNvPr>
          <p:cNvSpPr>
            <a:spLocks xmlns:a="http://schemas.openxmlformats.org/drawingml/2006/main" noGrp="1"/>
          </p:cNvSpPr>
          <p:nvPr/>
        </p:nvSpPr>
        <p:spPr>
          <a:xfrm xmlns:a="http://schemas.openxmlformats.org/drawingml/2006/main">
            <a:off x="2095500" y="5143500"/>
            <a:ext cx="895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0786B"/>
                </a:solidFill>
              </a:defRPr>
            </a:pPr>
            <a:r>
              <a:rPr sz="1200" b="1">
                <a:solidFill>
                  <a:srgbClr val="00786B"/>
                </a:solidFill>
              </a:rPr>
              <a:t>Für nächste Woche: Bringen Sie einen anonymisierten ‚Was wäre, wenn?‘-Fall aus Famulatur oder PJ mit.</a:t>
            </a:r>
          </a:p>
        </p:txBody>
      </p:sp>
    </p:spTree>
    <p:extLst>
      <p:ext uri="{BB962C8B-B14F-4D97-AF65-F5344CB8AC3E}">
        <p14:creationId xmlns:p14="http://schemas.microsoft.com/office/powerpoint/2010/main" val="43637646"/>
      </p:ext>
    </p:extLst>
  </p:cSld>
</p:sld>
</file>

<file path=ppt/slides/slide45.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Zum Nachlesen · Termin 01: Orientierung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LITERATUR &amp; SICHTBARE QUELLEN</a:t>
            </a:r>
            <a:endParaRPr/>
          </a:p>
        </p:txBody>
      </p:sp>
      <p:sp>
        <p:nvSpPr>
          <p:cNvPr id="4" name="">
            <a:extLst xmlns:a="http://schemas.openxmlformats.org/drawingml/2006/main">
              <a:ext uri="{FF2B5EF4-FFF2-40B4-BE49-F238E27FC236}">
                <a16:creationId xmlns:a16="http://schemas.microsoft.com/office/drawing/2014/main" id="{97B5F5C9-2700-46F0-85E3-C210F8761732}"/>
              </a:ext>
            </a:extLst>
          </p:cNvPr>
          <p:cNvSpPr>
            <a:spLocks xmlns:a="http://schemas.openxmlformats.org/drawingml/2006/main" noGrp="1"/>
          </p:cNvSpPr>
          <p:nvPr/>
        </p:nvSpPr>
        <p:spPr>
          <a:xfrm xmlns:a="http://schemas.openxmlformats.org/drawingml/2006/main">
            <a:off x="1809750" y="1943100"/>
            <a:ext cx="461010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3ED85FF1-6F5F-479B-B22F-C818D9C6C6BE}"/>
              </a:ext>
            </a:extLst>
          </p:cNvPr>
          <p:cNvSpPr>
            <a:spLocks xmlns:a="http://schemas.openxmlformats.org/drawingml/2006/main" noGrp="1"/>
          </p:cNvSpPr>
          <p:nvPr/>
        </p:nvSpPr>
        <p:spPr>
          <a:xfrm xmlns:a="http://schemas.openxmlformats.org/drawingml/2006/main">
            <a:off x="1809750" y="1943100"/>
            <a:ext cx="4610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Vertiefung</a:t>
            </a:r>
          </a:p>
        </p:txBody>
      </p:sp>
      <p:sp>
        <p:nvSpPr>
          <p:cNvPr id="6" name="">
            <a:extLst xmlns:a="http://schemas.openxmlformats.org/drawingml/2006/main">
              <a:ext uri="{FF2B5EF4-FFF2-40B4-BE49-F238E27FC236}">
                <a16:creationId xmlns:a16="http://schemas.microsoft.com/office/drawing/2014/main" id="{EEAC0DEE-16C1-4CB4-BE04-719E5BAD4A5A}"/>
              </a:ext>
            </a:extLst>
          </p:cNvPr>
          <p:cNvSpPr>
            <a:spLocks xmlns:a="http://schemas.openxmlformats.org/drawingml/2006/main" noGrp="1"/>
          </p:cNvSpPr>
          <p:nvPr/>
        </p:nvSpPr>
        <p:spPr>
          <a:xfrm xmlns:a="http://schemas.openxmlformats.org/drawingml/2006/main">
            <a:off x="1809750" y="30289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7" name="">
            <a:extLst xmlns:a="http://schemas.openxmlformats.org/drawingml/2006/main">
              <a:ext uri="{FF2B5EF4-FFF2-40B4-BE49-F238E27FC236}">
                <a16:creationId xmlns:a16="http://schemas.microsoft.com/office/drawing/2014/main" id="{93C9C96D-3CE1-41D4-83D1-6EDF63CF1D4E}"/>
              </a:ext>
            </a:extLst>
          </p:cNvPr>
          <p:cNvSpPr>
            <a:spLocks xmlns:a="http://schemas.openxmlformats.org/drawingml/2006/main" noGrp="1"/>
          </p:cNvSpPr>
          <p:nvPr/>
        </p:nvSpPr>
        <p:spPr>
          <a:xfrm xmlns:a="http://schemas.openxmlformats.org/drawingml/2006/main">
            <a:off x="1809750" y="24765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9BAB"/>
                </a:solidFill>
              </a:defRPr>
            </a:pPr>
            <a:r>
              <a:rPr sz="960" b="1">
                <a:solidFill>
                  <a:srgbClr val="009BAB"/>
                </a:solidFill>
              </a:rPr>
              <a:t>Lehrbuch</a:t>
            </a:r>
          </a:p>
        </p:txBody>
      </p:sp>
      <p:sp>
        <p:nvSpPr>
          <p:cNvPr id="8" name="">
            <a:extLst xmlns:a="http://schemas.openxmlformats.org/drawingml/2006/main">
              <a:ext uri="{FF2B5EF4-FFF2-40B4-BE49-F238E27FC236}">
                <a16:creationId xmlns:a16="http://schemas.microsoft.com/office/drawing/2014/main" id="{16D5CB16-131C-4FD3-B4BA-52DF99843C7E}"/>
              </a:ext>
            </a:extLst>
          </p:cNvPr>
          <p:cNvSpPr>
            <a:spLocks xmlns:a="http://schemas.openxmlformats.org/drawingml/2006/main" noGrp="1"/>
          </p:cNvSpPr>
          <p:nvPr/>
        </p:nvSpPr>
        <p:spPr>
          <a:xfrm xmlns:a="http://schemas.openxmlformats.org/drawingml/2006/main">
            <a:off x="2952750" y="24765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Spickhoff (Hrsg.), Medizinrecht, Überblick Arzthaftung und Verfahrenswege.</a:t>
            </a:r>
          </a:p>
        </p:txBody>
      </p:sp>
      <p:sp>
        <p:nvSpPr>
          <p:cNvPr id="9" name="">
            <a:extLst xmlns:a="http://schemas.openxmlformats.org/drawingml/2006/main">
              <a:ext uri="{FF2B5EF4-FFF2-40B4-BE49-F238E27FC236}">
                <a16:creationId xmlns:a16="http://schemas.microsoft.com/office/drawing/2014/main" id="{1A22DCFA-AE20-4540-92A5-76D733C6821E}"/>
              </a:ext>
            </a:extLst>
          </p:cNvPr>
          <p:cNvSpPr>
            <a:spLocks xmlns:a="http://schemas.openxmlformats.org/drawingml/2006/main" noGrp="1"/>
          </p:cNvSpPr>
          <p:nvPr/>
        </p:nvSpPr>
        <p:spPr>
          <a:xfrm xmlns:a="http://schemas.openxmlformats.org/drawingml/2006/main">
            <a:off x="1809750" y="36385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10" name="">
            <a:extLst xmlns:a="http://schemas.openxmlformats.org/drawingml/2006/main">
              <a:ext uri="{FF2B5EF4-FFF2-40B4-BE49-F238E27FC236}">
                <a16:creationId xmlns:a16="http://schemas.microsoft.com/office/drawing/2014/main" id="{88E1D936-B17A-4679-BAE1-773AAFDBE19B}"/>
              </a:ext>
            </a:extLst>
          </p:cNvPr>
          <p:cNvSpPr>
            <a:spLocks xmlns:a="http://schemas.openxmlformats.org/drawingml/2006/main" noGrp="1"/>
          </p:cNvSpPr>
          <p:nvPr/>
        </p:nvSpPr>
        <p:spPr>
          <a:xfrm xmlns:a="http://schemas.openxmlformats.org/drawingml/2006/main">
            <a:off x="1809750" y="30861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9BAB"/>
                </a:solidFill>
              </a:defRPr>
            </a:pPr>
            <a:r>
              <a:rPr sz="960" b="1">
                <a:solidFill>
                  <a:srgbClr val="009BAB"/>
                </a:solidFill>
              </a:rPr>
              <a:t>Praxis</a:t>
            </a:r>
          </a:p>
        </p:txBody>
      </p:sp>
      <p:sp>
        <p:nvSpPr>
          <p:cNvPr id="11" name="">
            <a:extLst xmlns:a="http://schemas.openxmlformats.org/drawingml/2006/main">
              <a:ext uri="{FF2B5EF4-FFF2-40B4-BE49-F238E27FC236}">
                <a16:creationId xmlns:a16="http://schemas.microsoft.com/office/drawing/2014/main" id="{2BC4C34E-E1FE-4FDB-8E24-D63B104DA83F}"/>
              </a:ext>
            </a:extLst>
          </p:cNvPr>
          <p:cNvSpPr>
            <a:spLocks xmlns:a="http://schemas.openxmlformats.org/drawingml/2006/main" noGrp="1"/>
          </p:cNvSpPr>
          <p:nvPr/>
        </p:nvSpPr>
        <p:spPr>
          <a:xfrm xmlns:a="http://schemas.openxmlformats.org/drawingml/2006/main">
            <a:off x="2952750" y="30861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Geiß/Greiner, Arzthaftpflichtrecht, Grundlagen und Beweisfragen.</a:t>
            </a:r>
          </a:p>
        </p:txBody>
      </p:sp>
      <p:sp>
        <p:nvSpPr>
          <p:cNvPr id="12" name="">
            <a:extLst xmlns:a="http://schemas.openxmlformats.org/drawingml/2006/main">
              <a:ext uri="{FF2B5EF4-FFF2-40B4-BE49-F238E27FC236}">
                <a16:creationId xmlns:a16="http://schemas.microsoft.com/office/drawing/2014/main" id="{D90C2082-E295-40FE-B69A-B7D743545D56}"/>
              </a:ext>
            </a:extLst>
          </p:cNvPr>
          <p:cNvSpPr>
            <a:spLocks xmlns:a="http://schemas.openxmlformats.org/drawingml/2006/main" noGrp="1"/>
          </p:cNvSpPr>
          <p:nvPr/>
        </p:nvSpPr>
        <p:spPr>
          <a:xfrm xmlns:a="http://schemas.openxmlformats.org/drawingml/2006/main">
            <a:off x="1809750" y="42481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13" name="">
            <a:extLst xmlns:a="http://schemas.openxmlformats.org/drawingml/2006/main">
              <a:ext uri="{FF2B5EF4-FFF2-40B4-BE49-F238E27FC236}">
                <a16:creationId xmlns:a16="http://schemas.microsoft.com/office/drawing/2014/main" id="{06CF6EB3-6C4E-467C-92F4-433122B82B38}"/>
              </a:ext>
            </a:extLst>
          </p:cNvPr>
          <p:cNvSpPr>
            <a:spLocks xmlns:a="http://schemas.openxmlformats.org/drawingml/2006/main" noGrp="1"/>
          </p:cNvSpPr>
          <p:nvPr/>
        </p:nvSpPr>
        <p:spPr>
          <a:xfrm xmlns:a="http://schemas.openxmlformats.org/drawingml/2006/main">
            <a:off x="1809750" y="36957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9BAB"/>
                </a:solidFill>
              </a:defRPr>
            </a:pPr>
            <a:r>
              <a:rPr sz="960" b="1">
                <a:solidFill>
                  <a:srgbClr val="009BAB"/>
                </a:solidFill>
              </a:rPr>
              <a:t>Sicherheit</a:t>
            </a:r>
          </a:p>
        </p:txBody>
      </p:sp>
      <p:sp>
        <p:nvSpPr>
          <p:cNvPr id="14" name="">
            <a:extLst xmlns:a="http://schemas.openxmlformats.org/drawingml/2006/main">
              <a:ext uri="{FF2B5EF4-FFF2-40B4-BE49-F238E27FC236}">
                <a16:creationId xmlns:a16="http://schemas.microsoft.com/office/drawing/2014/main" id="{CCBB91AD-0D68-489A-8EE2-F28BF3854218}"/>
              </a:ext>
            </a:extLst>
          </p:cNvPr>
          <p:cNvSpPr>
            <a:spLocks xmlns:a="http://schemas.openxmlformats.org/drawingml/2006/main" noGrp="1"/>
          </p:cNvSpPr>
          <p:nvPr/>
        </p:nvSpPr>
        <p:spPr>
          <a:xfrm xmlns:a="http://schemas.openxmlformats.org/drawingml/2006/main">
            <a:off x="2952750" y="36957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WHO, Global Patient Safety Action Plan 2021–2030.</a:t>
            </a:r>
          </a:p>
        </p:txBody>
      </p:sp>
      <p:sp>
        <p:nvSpPr>
          <p:cNvPr id="15" name="">
            <a:extLst xmlns:a="http://schemas.openxmlformats.org/drawingml/2006/main">
              <a:ext uri="{FF2B5EF4-FFF2-40B4-BE49-F238E27FC236}">
                <a16:creationId xmlns:a16="http://schemas.microsoft.com/office/drawing/2014/main" id="{B822F58D-94F3-448E-8C1C-D15AE89443B6}"/>
              </a:ext>
            </a:extLst>
          </p:cNvPr>
          <p:cNvSpPr>
            <a:spLocks xmlns:a="http://schemas.openxmlformats.org/drawingml/2006/main" noGrp="1"/>
          </p:cNvSpPr>
          <p:nvPr/>
        </p:nvSpPr>
        <p:spPr>
          <a:xfrm xmlns:a="http://schemas.openxmlformats.org/drawingml/2006/main">
            <a:off x="1809750" y="48577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16" name="">
            <a:extLst xmlns:a="http://schemas.openxmlformats.org/drawingml/2006/main">
              <a:ext uri="{FF2B5EF4-FFF2-40B4-BE49-F238E27FC236}">
                <a16:creationId xmlns:a16="http://schemas.microsoft.com/office/drawing/2014/main" id="{3CEE33AF-4CDB-49DB-9C94-6D0276DAF607}"/>
              </a:ext>
            </a:extLst>
          </p:cNvPr>
          <p:cNvSpPr>
            <a:spLocks xmlns:a="http://schemas.openxmlformats.org/drawingml/2006/main" noGrp="1"/>
          </p:cNvSpPr>
          <p:nvPr/>
        </p:nvSpPr>
        <p:spPr>
          <a:xfrm xmlns:a="http://schemas.openxmlformats.org/drawingml/2006/main">
            <a:off x="1809750" y="43053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9BAB"/>
                </a:solidFill>
              </a:defRPr>
            </a:pPr>
            <a:r>
              <a:rPr sz="960" b="1">
                <a:solidFill>
                  <a:srgbClr val="009BAB"/>
                </a:solidFill>
              </a:rPr>
              <a:t>Podcast</a:t>
            </a:r>
          </a:p>
        </p:txBody>
      </p:sp>
      <p:sp>
        <p:nvSpPr>
          <p:cNvPr id="17" name="">
            <a:extLst xmlns:a="http://schemas.openxmlformats.org/drawingml/2006/main">
              <a:ext uri="{FF2B5EF4-FFF2-40B4-BE49-F238E27FC236}">
                <a16:creationId xmlns:a16="http://schemas.microsoft.com/office/drawing/2014/main" id="{5E5E1635-9C69-4A04-B462-6F48EDFA2776}"/>
              </a:ext>
            </a:extLst>
          </p:cNvPr>
          <p:cNvSpPr>
            <a:spLocks xmlns:a="http://schemas.openxmlformats.org/drawingml/2006/main" noGrp="1"/>
          </p:cNvSpPr>
          <p:nvPr/>
        </p:nvSpPr>
        <p:spPr>
          <a:xfrm xmlns:a="http://schemas.openxmlformats.org/drawingml/2006/main">
            <a:off x="2952750" y="43053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Recht Medizinisch, Folge 0: Warum Recht Medizinisch?</a:t>
            </a:r>
          </a:p>
        </p:txBody>
      </p:sp>
      <p:sp>
        <p:nvSpPr>
          <p:cNvPr id="18" name="">
            <a:extLst xmlns:a="http://schemas.openxmlformats.org/drawingml/2006/main">
              <a:ext uri="{FF2B5EF4-FFF2-40B4-BE49-F238E27FC236}">
                <a16:creationId xmlns:a16="http://schemas.microsoft.com/office/drawing/2014/main" id="{97A716C8-B8BE-4764-82B0-2C7ECA31914E}"/>
              </a:ext>
            </a:extLst>
          </p:cNvPr>
          <p:cNvSpPr>
            <a:spLocks xmlns:a="http://schemas.openxmlformats.org/drawingml/2006/main" noGrp="1"/>
          </p:cNvSpPr>
          <p:nvPr/>
        </p:nvSpPr>
        <p:spPr>
          <a:xfrm xmlns:a="http://schemas.openxmlformats.org/drawingml/2006/main">
            <a:off x="6724650" y="1943100"/>
            <a:ext cx="461010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9" name="">
            <a:extLst xmlns:a="http://schemas.openxmlformats.org/drawingml/2006/main">
              <a:ext uri="{FF2B5EF4-FFF2-40B4-BE49-F238E27FC236}">
                <a16:creationId xmlns:a16="http://schemas.microsoft.com/office/drawing/2014/main" id="{CE7FEECC-F99C-4B7F-838F-771B933E3696}"/>
              </a:ext>
            </a:extLst>
          </p:cNvPr>
          <p:cNvSpPr>
            <a:spLocks xmlns:a="http://schemas.openxmlformats.org/drawingml/2006/main" noGrp="1"/>
          </p:cNvSpPr>
          <p:nvPr/>
        </p:nvSpPr>
        <p:spPr>
          <a:xfrm xmlns:a="http://schemas.openxmlformats.org/drawingml/2006/main">
            <a:off x="6724650" y="1943100"/>
            <a:ext cx="4610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Primärquellen &amp; Rechtsprechung</a:t>
            </a:r>
          </a:p>
        </p:txBody>
      </p:sp>
      <p:sp>
        <p:nvSpPr>
          <p:cNvPr id="20" name="">
            <a:extLst xmlns:a="http://schemas.openxmlformats.org/drawingml/2006/main">
              <a:ext uri="{FF2B5EF4-FFF2-40B4-BE49-F238E27FC236}">
                <a16:creationId xmlns:a16="http://schemas.microsoft.com/office/drawing/2014/main" id="{1BDB6B0D-0768-44FB-A642-40EDF5E3E999}"/>
              </a:ext>
            </a:extLst>
          </p:cNvPr>
          <p:cNvSpPr>
            <a:spLocks xmlns:a="http://schemas.openxmlformats.org/drawingml/2006/main" noGrp="1"/>
          </p:cNvSpPr>
          <p:nvPr/>
        </p:nvSpPr>
        <p:spPr>
          <a:xfrm xmlns:a="http://schemas.openxmlformats.org/drawingml/2006/main">
            <a:off x="6724650" y="30289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21" name="">
            <a:extLst xmlns:a="http://schemas.openxmlformats.org/drawingml/2006/main">
              <a:ext uri="{FF2B5EF4-FFF2-40B4-BE49-F238E27FC236}">
                <a16:creationId xmlns:a16="http://schemas.microsoft.com/office/drawing/2014/main" id="{356DB4B1-98DF-45D5-AD09-3D20239EDC4A}"/>
              </a:ext>
            </a:extLst>
          </p:cNvPr>
          <p:cNvSpPr>
            <a:spLocks xmlns:a="http://schemas.openxmlformats.org/drawingml/2006/main" noGrp="1"/>
          </p:cNvSpPr>
          <p:nvPr/>
        </p:nvSpPr>
        <p:spPr>
          <a:xfrm xmlns:a="http://schemas.openxmlformats.org/drawingml/2006/main">
            <a:off x="6724650" y="24765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3F6B"/>
                </a:solidFill>
              </a:defRPr>
            </a:pPr>
            <a:r>
              <a:rPr sz="960" b="1">
                <a:solidFill>
                  <a:srgbClr val="003F6B"/>
                </a:solidFill>
              </a:rPr>
              <a:t>BGB</a:t>
            </a:r>
          </a:p>
        </p:txBody>
      </p:sp>
      <p:sp>
        <p:nvSpPr>
          <p:cNvPr id="22" name="">
            <a:extLst xmlns:a="http://schemas.openxmlformats.org/drawingml/2006/main">
              <a:ext uri="{FF2B5EF4-FFF2-40B4-BE49-F238E27FC236}">
                <a16:creationId xmlns:a16="http://schemas.microsoft.com/office/drawing/2014/main" id="{1410A0FE-39AD-4542-A3B8-772DFFF2F48D}"/>
              </a:ext>
            </a:extLst>
          </p:cNvPr>
          <p:cNvSpPr>
            <a:spLocks xmlns:a="http://schemas.openxmlformats.org/drawingml/2006/main" noGrp="1"/>
          </p:cNvSpPr>
          <p:nvPr/>
        </p:nvSpPr>
        <p:spPr>
          <a:xfrm xmlns:a="http://schemas.openxmlformats.org/drawingml/2006/main">
            <a:off x="7867650" y="24765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 280, 823, 630a ff. · gesetze-im-internet.de</a:t>
            </a:r>
          </a:p>
        </p:txBody>
      </p:sp>
      <p:sp>
        <p:nvSpPr>
          <p:cNvPr id="23" name="">
            <a:extLst xmlns:a="http://schemas.openxmlformats.org/drawingml/2006/main">
              <a:ext uri="{FF2B5EF4-FFF2-40B4-BE49-F238E27FC236}">
                <a16:creationId xmlns:a16="http://schemas.microsoft.com/office/drawing/2014/main" id="{930FD845-0912-44DC-890D-B763DB12F3B5}"/>
              </a:ext>
            </a:extLst>
          </p:cNvPr>
          <p:cNvSpPr>
            <a:spLocks xmlns:a="http://schemas.openxmlformats.org/drawingml/2006/main" noGrp="1"/>
          </p:cNvSpPr>
          <p:nvPr/>
        </p:nvSpPr>
        <p:spPr>
          <a:xfrm xmlns:a="http://schemas.openxmlformats.org/drawingml/2006/main">
            <a:off x="6724650" y="36385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24" name="">
            <a:extLst xmlns:a="http://schemas.openxmlformats.org/drawingml/2006/main">
              <a:ext uri="{FF2B5EF4-FFF2-40B4-BE49-F238E27FC236}">
                <a16:creationId xmlns:a16="http://schemas.microsoft.com/office/drawing/2014/main" id="{3F051F42-80AC-4978-BF66-20EB151E7E59}"/>
              </a:ext>
            </a:extLst>
          </p:cNvPr>
          <p:cNvSpPr>
            <a:spLocks xmlns:a="http://schemas.openxmlformats.org/drawingml/2006/main" noGrp="1"/>
          </p:cNvSpPr>
          <p:nvPr/>
        </p:nvSpPr>
        <p:spPr>
          <a:xfrm xmlns:a="http://schemas.openxmlformats.org/drawingml/2006/main">
            <a:off x="6724650" y="30861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3F6B"/>
                </a:solidFill>
              </a:defRPr>
            </a:pPr>
            <a:r>
              <a:rPr sz="960" b="1">
                <a:solidFill>
                  <a:srgbClr val="003F6B"/>
                </a:solidFill>
              </a:rPr>
              <a:t>Prozess</a:t>
            </a:r>
          </a:p>
        </p:txBody>
      </p:sp>
      <p:sp>
        <p:nvSpPr>
          <p:cNvPr id="25" name="">
            <a:extLst xmlns:a="http://schemas.openxmlformats.org/drawingml/2006/main">
              <a:ext uri="{FF2B5EF4-FFF2-40B4-BE49-F238E27FC236}">
                <a16:creationId xmlns:a16="http://schemas.microsoft.com/office/drawing/2014/main" id="{D91B7D7F-F055-4E78-ADFE-BC4D1D6D123B}"/>
              </a:ext>
            </a:extLst>
          </p:cNvPr>
          <p:cNvSpPr>
            <a:spLocks xmlns:a="http://schemas.openxmlformats.org/drawingml/2006/main" noGrp="1"/>
          </p:cNvSpPr>
          <p:nvPr/>
        </p:nvSpPr>
        <p:spPr>
          <a:xfrm xmlns:a="http://schemas.openxmlformats.org/drawingml/2006/main">
            <a:off x="7867650" y="30861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ZPO und StPO, amtliche Gesamtausgaben beim BMJ/BfJ.</a:t>
            </a:r>
          </a:p>
        </p:txBody>
      </p:sp>
      <p:sp>
        <p:nvSpPr>
          <p:cNvPr id="26" name="">
            <a:extLst xmlns:a="http://schemas.openxmlformats.org/drawingml/2006/main">
              <a:ext uri="{FF2B5EF4-FFF2-40B4-BE49-F238E27FC236}">
                <a16:creationId xmlns:a16="http://schemas.microsoft.com/office/drawing/2014/main" id="{5330AB11-4B10-4500-A0DE-8B58DB68373A}"/>
              </a:ext>
            </a:extLst>
          </p:cNvPr>
          <p:cNvSpPr>
            <a:spLocks xmlns:a="http://schemas.openxmlformats.org/drawingml/2006/main" noGrp="1"/>
          </p:cNvSpPr>
          <p:nvPr/>
        </p:nvSpPr>
        <p:spPr>
          <a:xfrm xmlns:a="http://schemas.openxmlformats.org/drawingml/2006/main">
            <a:off x="6724650" y="42481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27" name="">
            <a:extLst xmlns:a="http://schemas.openxmlformats.org/drawingml/2006/main">
              <a:ext uri="{FF2B5EF4-FFF2-40B4-BE49-F238E27FC236}">
                <a16:creationId xmlns:a16="http://schemas.microsoft.com/office/drawing/2014/main" id="{199EA014-CE28-4329-AD65-06398046DA06}"/>
              </a:ext>
            </a:extLst>
          </p:cNvPr>
          <p:cNvSpPr>
            <a:spLocks xmlns:a="http://schemas.openxmlformats.org/drawingml/2006/main" noGrp="1"/>
          </p:cNvSpPr>
          <p:nvPr/>
        </p:nvSpPr>
        <p:spPr>
          <a:xfrm xmlns:a="http://schemas.openxmlformats.org/drawingml/2006/main">
            <a:off x="6724650" y="36957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3F6B"/>
                </a:solidFill>
              </a:defRPr>
            </a:pPr>
            <a:r>
              <a:rPr sz="960" b="1">
                <a:solidFill>
                  <a:srgbClr val="003F6B"/>
                </a:solidFill>
              </a:rPr>
              <a:t>Daten</a:t>
            </a:r>
          </a:p>
        </p:txBody>
      </p:sp>
      <p:sp>
        <p:nvSpPr>
          <p:cNvPr id="28" name="">
            <a:extLst xmlns:a="http://schemas.openxmlformats.org/drawingml/2006/main">
              <a:ext uri="{FF2B5EF4-FFF2-40B4-BE49-F238E27FC236}">
                <a16:creationId xmlns:a16="http://schemas.microsoft.com/office/drawing/2014/main" id="{5FCFD88C-0D03-41BC-8D36-509459449C58}"/>
              </a:ext>
            </a:extLst>
          </p:cNvPr>
          <p:cNvSpPr>
            <a:spLocks xmlns:a="http://schemas.openxmlformats.org/drawingml/2006/main" noGrp="1"/>
          </p:cNvSpPr>
          <p:nvPr/>
        </p:nvSpPr>
        <p:spPr>
          <a:xfrm xmlns:a="http://schemas.openxmlformats.org/drawingml/2006/main">
            <a:off x="7867650" y="36957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MD Bund, Jahresstatistik Behandlungsfehler 2024.</a:t>
            </a:r>
          </a:p>
        </p:txBody>
      </p:sp>
      <p:sp>
        <p:nvSpPr>
          <p:cNvPr id="29" name="">
            <a:extLst xmlns:a="http://schemas.openxmlformats.org/drawingml/2006/main">
              <a:ext uri="{FF2B5EF4-FFF2-40B4-BE49-F238E27FC236}">
                <a16:creationId xmlns:a16="http://schemas.microsoft.com/office/drawing/2014/main" id="{6C0D5A53-13A3-4920-8C73-4B65B76FCBF7}"/>
              </a:ext>
            </a:extLst>
          </p:cNvPr>
          <p:cNvSpPr>
            <a:spLocks xmlns:a="http://schemas.openxmlformats.org/drawingml/2006/main" noGrp="1"/>
          </p:cNvSpPr>
          <p:nvPr/>
        </p:nvSpPr>
        <p:spPr>
          <a:xfrm xmlns:a="http://schemas.openxmlformats.org/drawingml/2006/main">
            <a:off x="6724650" y="48577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30" name="">
            <a:extLst xmlns:a="http://schemas.openxmlformats.org/drawingml/2006/main">
              <a:ext uri="{FF2B5EF4-FFF2-40B4-BE49-F238E27FC236}">
                <a16:creationId xmlns:a16="http://schemas.microsoft.com/office/drawing/2014/main" id="{B40805E4-0534-4E81-B499-5219D2AB8C49}"/>
              </a:ext>
            </a:extLst>
          </p:cNvPr>
          <p:cNvSpPr>
            <a:spLocks xmlns:a="http://schemas.openxmlformats.org/drawingml/2006/main" noGrp="1"/>
          </p:cNvSpPr>
          <p:nvPr/>
        </p:nvSpPr>
        <p:spPr>
          <a:xfrm xmlns:a="http://schemas.openxmlformats.org/drawingml/2006/main">
            <a:off x="6724650" y="43053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3F6B"/>
                </a:solidFill>
              </a:defRPr>
            </a:pPr>
            <a:r>
              <a:rPr sz="960" b="1">
                <a:solidFill>
                  <a:srgbClr val="003F6B"/>
                </a:solidFill>
              </a:rPr>
              <a:t>Kurs</a:t>
            </a:r>
          </a:p>
        </p:txBody>
      </p:sp>
      <p:sp>
        <p:nvSpPr>
          <p:cNvPr id="31" name="">
            <a:extLst xmlns:a="http://schemas.openxmlformats.org/drawingml/2006/main">
              <a:ext uri="{FF2B5EF4-FFF2-40B4-BE49-F238E27FC236}">
                <a16:creationId xmlns:a16="http://schemas.microsoft.com/office/drawing/2014/main" id="{36E0736B-510A-4987-814E-248B5DAA4E1F}"/>
              </a:ext>
            </a:extLst>
          </p:cNvPr>
          <p:cNvSpPr>
            <a:spLocks xmlns:a="http://schemas.openxmlformats.org/drawingml/2006/main" noGrp="1"/>
          </p:cNvSpPr>
          <p:nvPr/>
        </p:nvSpPr>
        <p:spPr>
          <a:xfrm xmlns:a="http://schemas.openxmlformats.org/drawingml/2006/main">
            <a:off x="7867650" y="43053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Stud.IP 6.01.4493700b · offizielle Termine WS 2026/27.</a:t>
            </a:r>
          </a:p>
        </p:txBody>
      </p:sp>
      <p:sp>
        <p:nvSpPr>
          <p:cNvPr id="32" name="">
            <a:extLst xmlns:a="http://schemas.openxmlformats.org/drawingml/2006/main">
              <a:ext uri="{FF2B5EF4-FFF2-40B4-BE49-F238E27FC236}">
                <a16:creationId xmlns:a16="http://schemas.microsoft.com/office/drawing/2014/main" id="{30A853DB-3C8F-4133-BA6E-7A599DC6162B}"/>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20">
                <a:solidFill>
                  <a:srgbClr val="667680"/>
                </a:solidFill>
              </a:defRPr>
            </a:pPr>
            <a:r>
              <a:rPr sz="720">
                <a:solidFill>
                  <a:srgbClr val="667680"/>
                </a:solidFill>
              </a:rPr>
              <a:t>Alle Internetquellen Abruf/Stand: 20.08.2026. Gesetze: aktuelle Fassung jeweils vor Anwendung prüfen · https://www.rechtsprechung-im-internet.de</a:t>
            </a:r>
          </a:p>
        </p:txBody>
      </p:sp>
    </p:spTree>
    <p:extLst>
      <p:ext uri="{BB962C8B-B14F-4D97-AF65-F5344CB8AC3E}">
        <p14:creationId xmlns:p14="http://schemas.microsoft.com/office/powerpoint/2010/main" val="43637646"/>
      </p:ext>
    </p:extLst>
  </p:cSld>
</p:sld>
</file>

<file path=ppt/slides/slide46.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endParaRPr/>
          </a:p>
        </p:txBody>
      </p:sp>
      <p:sp>
        <p:nvSpPr>
          <p:cNvPr id="4" name="">
            <a:extLst xmlns:a="http://schemas.openxmlformats.org/drawingml/2006/main">
              <a:ext uri="{FF2B5EF4-FFF2-40B4-BE49-F238E27FC236}">
                <a16:creationId xmlns:a16="http://schemas.microsoft.com/office/drawing/2014/main" id="{EA98945C-AD48-493F-8603-CF8F54CD8243}"/>
              </a:ext>
            </a:extLst>
          </p:cNvPr>
          <p:cNvSpPr>
            <a:spLocks xmlns:a="http://schemas.openxmlformats.org/drawingml/2006/main" noGrp="1"/>
          </p:cNvSpPr>
          <p:nvPr/>
        </p:nvSpPr>
        <p:spPr>
          <a:xfrm xmlns:a="http://schemas.openxmlformats.org/drawingml/2006/main">
            <a:off x="2571750" y="2038350"/>
            <a:ext cx="838200" cy="628650"/>
          </a:xfrm>
          <a:prstGeom xmlns:a="http://schemas.openxmlformats.org/drawingml/2006/main" prst="roundRect">
            <a:avLst>
              <a:gd name="adj" fmla="val 12121"/>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96789B7F-2347-4E01-89DF-2E4FF97CDF05}"/>
              </a:ext>
            </a:extLst>
          </p:cNvPr>
          <p:cNvSpPr>
            <a:spLocks xmlns:a="http://schemas.openxmlformats.org/drawingml/2006/main" noGrp="1"/>
          </p:cNvSpPr>
          <p:nvPr/>
        </p:nvSpPr>
        <p:spPr>
          <a:xfrm xmlns:a="http://schemas.openxmlformats.org/drawingml/2006/main">
            <a:off x="2571750" y="2038350"/>
            <a:ext cx="8382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FFFFFF"/>
                </a:solidFill>
              </a:defRPr>
            </a:pPr>
            <a:r>
              <a:rPr sz="2100" b="1">
                <a:solidFill>
                  <a:srgbClr val="FFFFFF"/>
                </a:solidFill>
              </a:rPr>
              <a:t>02</a:t>
            </a:r>
          </a:p>
        </p:txBody>
      </p:sp>
      <p:sp>
        <p:nvSpPr>
          <p:cNvPr id="6" name="">
            <a:extLst xmlns:a="http://schemas.openxmlformats.org/drawingml/2006/main">
              <a:ext uri="{FF2B5EF4-FFF2-40B4-BE49-F238E27FC236}">
                <a16:creationId xmlns:a16="http://schemas.microsoft.com/office/drawing/2014/main" id="{BFBB578C-2A39-4A30-9B18-B5F256D97522}"/>
              </a:ext>
            </a:extLst>
          </p:cNvPr>
          <p:cNvSpPr>
            <a:spLocks xmlns:a="http://schemas.openxmlformats.org/drawingml/2006/main" noGrp="1"/>
          </p:cNvSpPr>
          <p:nvPr/>
        </p:nvSpPr>
        <p:spPr>
          <a:xfrm xmlns:a="http://schemas.openxmlformats.org/drawingml/2006/main">
            <a:off x="3667125" y="2000250"/>
            <a:ext cx="8096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4400">
                <a:solidFill>
                  <a:srgbClr val="003F6B"/>
                </a:solidFill>
              </a:defRPr>
            </a:pPr>
            <a:r>
              <a:rPr sz="4400">
                <a:solidFill>
                  <a:srgbClr val="003F6B"/>
                </a:solidFill>
              </a:rPr>
              <a:t>Die ersten 60 Minuten / 24 Stunden</a:t>
            </a:r>
          </a:p>
        </p:txBody>
      </p:sp>
      <p:sp>
        <p:nvSpPr>
          <p:cNvPr id="7" name="">
            <a:extLst xmlns:a="http://schemas.openxmlformats.org/drawingml/2006/main">
              <a:ext uri="{FF2B5EF4-FFF2-40B4-BE49-F238E27FC236}">
                <a16:creationId xmlns:a16="http://schemas.microsoft.com/office/drawing/2014/main" id="{9978B0ED-01C9-4CB5-BAE5-5DEFF9BF84AF}"/>
              </a:ext>
            </a:extLst>
          </p:cNvPr>
          <p:cNvSpPr>
            <a:spLocks xmlns:a="http://schemas.openxmlformats.org/drawingml/2006/main" noGrp="1"/>
          </p:cNvSpPr>
          <p:nvPr/>
        </p:nvSpPr>
        <p:spPr>
          <a:xfrm xmlns:a="http://schemas.openxmlformats.org/drawingml/2006/main">
            <a:off x="3238500" y="3333750"/>
            <a:ext cx="8524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400">
                <a:solidFill>
                  <a:srgbClr val="003F6B"/>
                </a:solidFill>
              </a:defRPr>
            </a:pPr>
            <a:r>
              <a:rPr sz="2400">
                <a:solidFill>
                  <a:srgbClr val="003F6B"/>
                </a:solidFill>
              </a:rPr>
              <a:t>Termin: 21.10.2026 · 16:30–17:45 · V03 0-C001</a:t>
            </a:r>
          </a:p>
        </p:txBody>
      </p:sp>
      <p:sp>
        <p:nvSpPr>
          <p:cNvPr id="8" name="">
            <a:extLst xmlns:a="http://schemas.openxmlformats.org/drawingml/2006/main">
              <a:ext uri="{FF2B5EF4-FFF2-40B4-BE49-F238E27FC236}">
                <a16:creationId xmlns:a16="http://schemas.microsoft.com/office/drawing/2014/main" id="{8635DD95-F209-437A-A09A-E29C3EA26186}"/>
              </a:ext>
            </a:extLst>
          </p:cNvPr>
          <p:cNvSpPr>
            <a:spLocks xmlns:a="http://schemas.openxmlformats.org/drawingml/2006/main" noGrp="1"/>
          </p:cNvSpPr>
          <p:nvPr/>
        </p:nvSpPr>
        <p:spPr>
          <a:xfrm xmlns:a="http://schemas.openxmlformats.org/drawingml/2006/main">
            <a:off x="3238500" y="3752850"/>
            <a:ext cx="8524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400">
                <a:solidFill>
                  <a:srgbClr val="003F6B"/>
                </a:solidFill>
              </a:defRPr>
            </a:pPr>
            <a:r>
              <a:rPr sz="2400">
                <a:solidFill>
                  <a:srgbClr val="003F6B"/>
                </a:solidFill>
              </a:rPr>
              <a:t>Patient schützen, Fakten sichern, richtig kommunizieren</a:t>
            </a:r>
          </a:p>
        </p:txBody>
      </p:sp>
      <p:sp>
        <p:nvSpPr>
          <p:cNvPr id="9" name="">
            <a:extLst xmlns:a="http://schemas.openxmlformats.org/drawingml/2006/main">
              <a:ext uri="{FF2B5EF4-FFF2-40B4-BE49-F238E27FC236}">
                <a16:creationId xmlns:a16="http://schemas.microsoft.com/office/drawing/2014/main" id="{8AB82F11-A4F0-4784-9819-E325F830DBDA}"/>
              </a:ext>
            </a:extLst>
          </p:cNvPr>
          <p:cNvSpPr>
            <a:spLocks xmlns:a="http://schemas.openxmlformats.org/drawingml/2006/main" noGrp="1"/>
          </p:cNvSpPr>
          <p:nvPr/>
        </p:nvSpPr>
        <p:spPr>
          <a:xfrm xmlns:a="http://schemas.openxmlformats.org/drawingml/2006/main">
            <a:off x="3238500" y="4552950"/>
            <a:ext cx="8524875"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400">
                <a:solidFill>
                  <a:srgbClr val="003F6B"/>
                </a:solidFill>
              </a:defRPr>
            </a:pPr>
            <a:r>
              <a:rPr sz="2400">
                <a:solidFill>
                  <a:srgbClr val="003F6B"/>
                </a:solidFill>
              </a:rPr>
              <a:t>Der Zwischenfall ist passiert. Was tun Sie jetzt – konkret?</a:t>
            </a:r>
          </a:p>
        </p:txBody>
      </p:sp>
    </p:spTree>
    <p:extLst>
      <p:ext uri="{BB962C8B-B14F-4D97-AF65-F5344CB8AC3E}">
        <p14:creationId xmlns:p14="http://schemas.microsoft.com/office/powerpoint/2010/main" val="43637646"/>
      </p:ext>
    </p:extLst>
  </p:cSld>
</p:sld>
</file>

<file path=ppt/slides/slide47.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Lernziele Termin 02: Erste 60 Minuten / 24 Stunden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CHECKLISTE · AM ENDE DES HEUTIGEN TERMINS KANN ICH …</a:t>
            </a:r>
            <a:endParaRPr/>
          </a:p>
        </p:txBody>
      </p:sp>
      <p:sp>
        <p:nvSpPr>
          <p:cNvPr id="4" name="">
            <a:extLst xmlns:a="http://schemas.openxmlformats.org/drawingml/2006/main">
              <a:ext uri="{FF2B5EF4-FFF2-40B4-BE49-F238E27FC236}">
                <a16:creationId xmlns:a16="http://schemas.microsoft.com/office/drawing/2014/main" id="{EA3E9A3C-DDB4-4616-A6EC-D17CFB7EA98F}"/>
              </a:ext>
            </a:extLst>
          </p:cNvPr>
          <p:cNvSpPr>
            <a:spLocks xmlns:a="http://schemas.openxmlformats.org/drawingml/2006/main" noGrp="1"/>
          </p:cNvSpPr>
          <p:nvPr/>
        </p:nvSpPr>
        <p:spPr>
          <a:xfrm xmlns:a="http://schemas.openxmlformats.org/drawingml/2006/main">
            <a:off x="1809750" y="198120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B2BB"/>
            </a:solidFill>
            <a:prstDash val="solid"/>
          </a:ln>
        </p:spPr>
      </p:sp>
      <p:sp>
        <p:nvSpPr>
          <p:cNvPr id="5" name="">
            <a:extLst xmlns:a="http://schemas.openxmlformats.org/drawingml/2006/main">
              <a:ext uri="{FF2B5EF4-FFF2-40B4-BE49-F238E27FC236}">
                <a16:creationId xmlns:a16="http://schemas.microsoft.com/office/drawing/2014/main" id="{91C16895-41AA-4D4A-8123-B046D0694810}"/>
              </a:ext>
            </a:extLst>
          </p:cNvPr>
          <p:cNvSpPr>
            <a:spLocks xmlns:a="http://schemas.openxmlformats.org/drawingml/2006/main" noGrp="1"/>
          </p:cNvSpPr>
          <p:nvPr/>
        </p:nvSpPr>
        <p:spPr>
          <a:xfrm xmlns:a="http://schemas.openxmlformats.org/drawingml/2006/main">
            <a:off x="1943100" y="2124075"/>
            <a:ext cx="40005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7146E8D2-0D1D-4899-BEB2-64DD2013411F}"/>
              </a:ext>
            </a:extLst>
          </p:cNvPr>
          <p:cNvSpPr>
            <a:spLocks xmlns:a="http://schemas.openxmlformats.org/drawingml/2006/main" noGrp="1"/>
          </p:cNvSpPr>
          <p:nvPr/>
        </p:nvSpPr>
        <p:spPr>
          <a:xfrm xmlns:a="http://schemas.openxmlformats.org/drawingml/2006/main">
            <a:off x="1943100" y="21050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7" name="">
            <a:extLst xmlns:a="http://schemas.openxmlformats.org/drawingml/2006/main">
              <a:ext uri="{FF2B5EF4-FFF2-40B4-BE49-F238E27FC236}">
                <a16:creationId xmlns:a16="http://schemas.microsoft.com/office/drawing/2014/main" id="{99FB06F1-ED6C-4819-85A6-15D1A30C0420}"/>
              </a:ext>
            </a:extLst>
          </p:cNvPr>
          <p:cNvSpPr>
            <a:spLocks xmlns:a="http://schemas.openxmlformats.org/drawingml/2006/main" noGrp="1"/>
          </p:cNvSpPr>
          <p:nvPr/>
        </p:nvSpPr>
        <p:spPr>
          <a:xfrm xmlns:a="http://schemas.openxmlformats.org/drawingml/2006/main">
            <a:off x="2476500" y="207645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Patientensicherheit, Spurensicherung und Kommunikation priorisieren.</a:t>
            </a:r>
          </a:p>
        </p:txBody>
      </p:sp>
      <p:sp>
        <p:nvSpPr>
          <p:cNvPr id="8" name="">
            <a:extLst xmlns:a="http://schemas.openxmlformats.org/drawingml/2006/main">
              <a:ext uri="{FF2B5EF4-FFF2-40B4-BE49-F238E27FC236}">
                <a16:creationId xmlns:a16="http://schemas.microsoft.com/office/drawing/2014/main" id="{DC7D6BB7-1ECB-4BCC-A46B-C1F038A7ED8C}"/>
              </a:ext>
            </a:extLst>
          </p:cNvPr>
          <p:cNvSpPr>
            <a:spLocks xmlns:a="http://schemas.openxmlformats.org/drawingml/2006/main" noGrp="1"/>
          </p:cNvSpPr>
          <p:nvPr/>
        </p:nvSpPr>
        <p:spPr>
          <a:xfrm xmlns:a="http://schemas.openxmlformats.org/drawingml/2006/main">
            <a:off x="6696075" y="198120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3F6B"/>
            </a:solidFill>
            <a:prstDash val="solid"/>
          </a:ln>
        </p:spPr>
      </p:sp>
      <p:sp>
        <p:nvSpPr>
          <p:cNvPr id="9" name="">
            <a:extLst xmlns:a="http://schemas.openxmlformats.org/drawingml/2006/main">
              <a:ext uri="{FF2B5EF4-FFF2-40B4-BE49-F238E27FC236}">
                <a16:creationId xmlns:a16="http://schemas.microsoft.com/office/drawing/2014/main" id="{79C263E0-D1C9-46E4-BFE9-B37A879A1253}"/>
              </a:ext>
            </a:extLst>
          </p:cNvPr>
          <p:cNvSpPr>
            <a:spLocks xmlns:a="http://schemas.openxmlformats.org/drawingml/2006/main" noGrp="1"/>
          </p:cNvSpPr>
          <p:nvPr/>
        </p:nvSpPr>
        <p:spPr>
          <a:xfrm xmlns:a="http://schemas.openxmlformats.org/drawingml/2006/main">
            <a:off x="6829425" y="2124075"/>
            <a:ext cx="4000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D643F34F-2A39-40E0-9B85-76A3D31657D6}"/>
              </a:ext>
            </a:extLst>
          </p:cNvPr>
          <p:cNvSpPr>
            <a:spLocks xmlns:a="http://schemas.openxmlformats.org/drawingml/2006/main" noGrp="1"/>
          </p:cNvSpPr>
          <p:nvPr/>
        </p:nvSpPr>
        <p:spPr>
          <a:xfrm xmlns:a="http://schemas.openxmlformats.org/drawingml/2006/main">
            <a:off x="6829425" y="21050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11" name="">
            <a:extLst xmlns:a="http://schemas.openxmlformats.org/drawingml/2006/main">
              <a:ext uri="{FF2B5EF4-FFF2-40B4-BE49-F238E27FC236}">
                <a16:creationId xmlns:a16="http://schemas.microsoft.com/office/drawing/2014/main" id="{6BA31214-2A52-4F84-94C9-B8B07D20C50C}"/>
              </a:ext>
            </a:extLst>
          </p:cNvPr>
          <p:cNvSpPr>
            <a:spLocks xmlns:a="http://schemas.openxmlformats.org/drawingml/2006/main" noGrp="1"/>
          </p:cNvSpPr>
          <p:nvPr/>
        </p:nvSpPr>
        <p:spPr>
          <a:xfrm xmlns:a="http://schemas.openxmlformats.org/drawingml/2006/main">
            <a:off x="7362825" y="207645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zeitnah dokumentieren, ohne die Akte nachträglich zu ‚reparieren‘.</a:t>
            </a:r>
          </a:p>
        </p:txBody>
      </p:sp>
      <p:sp>
        <p:nvSpPr>
          <p:cNvPr id="12" name="">
            <a:extLst xmlns:a="http://schemas.openxmlformats.org/drawingml/2006/main">
              <a:ext uri="{FF2B5EF4-FFF2-40B4-BE49-F238E27FC236}">
                <a16:creationId xmlns:a16="http://schemas.microsoft.com/office/drawing/2014/main" id="{954D79B4-EEB7-4D62-98FD-3576CDEFFD9A}"/>
              </a:ext>
            </a:extLst>
          </p:cNvPr>
          <p:cNvSpPr>
            <a:spLocks xmlns:a="http://schemas.openxmlformats.org/drawingml/2006/main" noGrp="1"/>
          </p:cNvSpPr>
          <p:nvPr/>
        </p:nvSpPr>
        <p:spPr>
          <a:xfrm xmlns:a="http://schemas.openxmlformats.org/drawingml/2006/main">
            <a:off x="1809750" y="316865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B2BB"/>
            </a:solidFill>
            <a:prstDash val="solid"/>
          </a:ln>
        </p:spPr>
      </p:sp>
      <p:sp>
        <p:nvSpPr>
          <p:cNvPr id="13" name="">
            <a:extLst xmlns:a="http://schemas.openxmlformats.org/drawingml/2006/main">
              <a:ext uri="{FF2B5EF4-FFF2-40B4-BE49-F238E27FC236}">
                <a16:creationId xmlns:a16="http://schemas.microsoft.com/office/drawing/2014/main" id="{44496A6A-1CB6-4FAE-A812-62AC1C16AEAE}"/>
              </a:ext>
            </a:extLst>
          </p:cNvPr>
          <p:cNvSpPr>
            <a:spLocks xmlns:a="http://schemas.openxmlformats.org/drawingml/2006/main" noGrp="1"/>
          </p:cNvSpPr>
          <p:nvPr/>
        </p:nvSpPr>
        <p:spPr>
          <a:xfrm xmlns:a="http://schemas.openxmlformats.org/drawingml/2006/main">
            <a:off x="1943100" y="3311525"/>
            <a:ext cx="40005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709D83CF-4310-416C-AFAB-985AF4E4A4CF}"/>
              </a:ext>
            </a:extLst>
          </p:cNvPr>
          <p:cNvSpPr>
            <a:spLocks xmlns:a="http://schemas.openxmlformats.org/drawingml/2006/main" noGrp="1"/>
          </p:cNvSpPr>
          <p:nvPr/>
        </p:nvSpPr>
        <p:spPr>
          <a:xfrm xmlns:a="http://schemas.openxmlformats.org/drawingml/2006/main">
            <a:off x="1943100" y="32924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15" name="">
            <a:extLst xmlns:a="http://schemas.openxmlformats.org/drawingml/2006/main">
              <a:ext uri="{FF2B5EF4-FFF2-40B4-BE49-F238E27FC236}">
                <a16:creationId xmlns:a16="http://schemas.microsoft.com/office/drawing/2014/main" id="{72D17EE2-1462-4D2B-BE77-AB14E62D36CF}"/>
              </a:ext>
            </a:extLst>
          </p:cNvPr>
          <p:cNvSpPr>
            <a:spLocks xmlns:a="http://schemas.openxmlformats.org/drawingml/2006/main" noGrp="1"/>
          </p:cNvSpPr>
          <p:nvPr/>
        </p:nvSpPr>
        <p:spPr>
          <a:xfrm xmlns:a="http://schemas.openxmlformats.org/drawingml/2006/main">
            <a:off x="2476500" y="326390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bekannte Tatsachen von Vermutungen und Bewertungen trennen.</a:t>
            </a:r>
          </a:p>
        </p:txBody>
      </p:sp>
      <p:sp>
        <p:nvSpPr>
          <p:cNvPr id="16" name="">
            <a:extLst xmlns:a="http://schemas.openxmlformats.org/drawingml/2006/main">
              <a:ext uri="{FF2B5EF4-FFF2-40B4-BE49-F238E27FC236}">
                <a16:creationId xmlns:a16="http://schemas.microsoft.com/office/drawing/2014/main" id="{C53E7740-690B-4468-AA99-BF3E7D3FD27B}"/>
              </a:ext>
            </a:extLst>
          </p:cNvPr>
          <p:cNvSpPr>
            <a:spLocks xmlns:a="http://schemas.openxmlformats.org/drawingml/2006/main" noGrp="1"/>
          </p:cNvSpPr>
          <p:nvPr/>
        </p:nvSpPr>
        <p:spPr>
          <a:xfrm xmlns:a="http://schemas.openxmlformats.org/drawingml/2006/main">
            <a:off x="6696075" y="316865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3F6B"/>
            </a:solidFill>
            <a:prstDash val="solid"/>
          </a:ln>
        </p:spPr>
      </p:sp>
      <p:sp>
        <p:nvSpPr>
          <p:cNvPr id="17" name="">
            <a:extLst xmlns:a="http://schemas.openxmlformats.org/drawingml/2006/main">
              <a:ext uri="{FF2B5EF4-FFF2-40B4-BE49-F238E27FC236}">
                <a16:creationId xmlns:a16="http://schemas.microsoft.com/office/drawing/2014/main" id="{6D3B8CBD-0862-489C-9D4B-E9694C63CA0B}"/>
              </a:ext>
            </a:extLst>
          </p:cNvPr>
          <p:cNvSpPr>
            <a:spLocks xmlns:a="http://schemas.openxmlformats.org/drawingml/2006/main" noGrp="1"/>
          </p:cNvSpPr>
          <p:nvPr/>
        </p:nvSpPr>
        <p:spPr>
          <a:xfrm xmlns:a="http://schemas.openxmlformats.org/drawingml/2006/main">
            <a:off x="6829425" y="3311525"/>
            <a:ext cx="4000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07463FCD-E266-444F-AFA3-E4BA0D3CFBCA}"/>
              </a:ext>
            </a:extLst>
          </p:cNvPr>
          <p:cNvSpPr>
            <a:spLocks xmlns:a="http://schemas.openxmlformats.org/drawingml/2006/main" noGrp="1"/>
          </p:cNvSpPr>
          <p:nvPr/>
        </p:nvSpPr>
        <p:spPr>
          <a:xfrm xmlns:a="http://schemas.openxmlformats.org/drawingml/2006/main">
            <a:off x="6829425" y="32924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19" name="">
            <a:extLst xmlns:a="http://schemas.openxmlformats.org/drawingml/2006/main">
              <a:ext uri="{FF2B5EF4-FFF2-40B4-BE49-F238E27FC236}">
                <a16:creationId xmlns:a16="http://schemas.microsoft.com/office/drawing/2014/main" id="{64F370FD-F805-4982-BF2C-E888EFBF7C2A}"/>
              </a:ext>
            </a:extLst>
          </p:cNvPr>
          <p:cNvSpPr>
            <a:spLocks xmlns:a="http://schemas.openxmlformats.org/drawingml/2006/main" noGrp="1"/>
          </p:cNvSpPr>
          <p:nvPr/>
        </p:nvSpPr>
        <p:spPr>
          <a:xfrm xmlns:a="http://schemas.openxmlformats.org/drawingml/2006/main">
            <a:off x="7362825" y="326390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Vorgesetzte, Risikomanagement und Versicherungsweg richtig einbinden.</a:t>
            </a:r>
          </a:p>
        </p:txBody>
      </p:sp>
      <p:sp>
        <p:nvSpPr>
          <p:cNvPr id="20" name="">
            <a:extLst xmlns:a="http://schemas.openxmlformats.org/drawingml/2006/main">
              <a:ext uri="{FF2B5EF4-FFF2-40B4-BE49-F238E27FC236}">
                <a16:creationId xmlns:a16="http://schemas.microsoft.com/office/drawing/2014/main" id="{C2216A81-4A8D-41D7-AB8E-2B7666A5ABF6}"/>
              </a:ext>
            </a:extLst>
          </p:cNvPr>
          <p:cNvSpPr>
            <a:spLocks xmlns:a="http://schemas.openxmlformats.org/drawingml/2006/main" noGrp="1"/>
          </p:cNvSpPr>
          <p:nvPr/>
        </p:nvSpPr>
        <p:spPr>
          <a:xfrm xmlns:a="http://schemas.openxmlformats.org/drawingml/2006/main">
            <a:off x="1809750" y="435610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B2BB"/>
            </a:solidFill>
            <a:prstDash val="solid"/>
          </a:ln>
        </p:spPr>
      </p:sp>
      <p:sp>
        <p:nvSpPr>
          <p:cNvPr id="21" name="">
            <a:extLst xmlns:a="http://schemas.openxmlformats.org/drawingml/2006/main">
              <a:ext uri="{FF2B5EF4-FFF2-40B4-BE49-F238E27FC236}">
                <a16:creationId xmlns:a16="http://schemas.microsoft.com/office/drawing/2014/main" id="{E6C86F55-A731-47BB-8C41-FAAA6F8BD8FE}"/>
              </a:ext>
            </a:extLst>
          </p:cNvPr>
          <p:cNvSpPr>
            <a:spLocks xmlns:a="http://schemas.openxmlformats.org/drawingml/2006/main" noGrp="1"/>
          </p:cNvSpPr>
          <p:nvPr/>
        </p:nvSpPr>
        <p:spPr>
          <a:xfrm xmlns:a="http://schemas.openxmlformats.org/drawingml/2006/main">
            <a:off x="1943100" y="4498975"/>
            <a:ext cx="40005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2" name="">
            <a:extLst xmlns:a="http://schemas.openxmlformats.org/drawingml/2006/main">
              <a:ext uri="{FF2B5EF4-FFF2-40B4-BE49-F238E27FC236}">
                <a16:creationId xmlns:a16="http://schemas.microsoft.com/office/drawing/2014/main" id="{31BFE1B6-ECA9-450A-8C5F-BA6F61D65877}"/>
              </a:ext>
            </a:extLst>
          </p:cNvPr>
          <p:cNvSpPr>
            <a:spLocks xmlns:a="http://schemas.openxmlformats.org/drawingml/2006/main" noGrp="1"/>
          </p:cNvSpPr>
          <p:nvPr/>
        </p:nvSpPr>
        <p:spPr>
          <a:xfrm xmlns:a="http://schemas.openxmlformats.org/drawingml/2006/main">
            <a:off x="1943100" y="44799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23" name="">
            <a:extLst xmlns:a="http://schemas.openxmlformats.org/drawingml/2006/main">
              <a:ext uri="{FF2B5EF4-FFF2-40B4-BE49-F238E27FC236}">
                <a16:creationId xmlns:a16="http://schemas.microsoft.com/office/drawing/2014/main" id="{2EB02140-71F2-4A86-BE93-57E889C29068}"/>
              </a:ext>
            </a:extLst>
          </p:cNvPr>
          <p:cNvSpPr>
            <a:spLocks xmlns:a="http://schemas.openxmlformats.org/drawingml/2006/main" noGrp="1"/>
          </p:cNvSpPr>
          <p:nvPr/>
        </p:nvSpPr>
        <p:spPr>
          <a:xfrm xmlns:a="http://schemas.openxmlformats.org/drawingml/2006/main">
            <a:off x="2476500" y="445135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ein Erstgespräch nach einem unerwünschten Ereignis strukturieren.</a:t>
            </a:r>
          </a:p>
        </p:txBody>
      </p:sp>
      <p:sp>
        <p:nvSpPr>
          <p:cNvPr id="24" name="">
            <a:extLst xmlns:a="http://schemas.openxmlformats.org/drawingml/2006/main">
              <a:ext uri="{FF2B5EF4-FFF2-40B4-BE49-F238E27FC236}">
                <a16:creationId xmlns:a16="http://schemas.microsoft.com/office/drawing/2014/main" id="{59E746FE-F404-4CC8-BBF3-10CB0E2BCF3B}"/>
              </a:ext>
            </a:extLst>
          </p:cNvPr>
          <p:cNvSpPr>
            <a:spLocks xmlns:a="http://schemas.openxmlformats.org/drawingml/2006/main" noGrp="1"/>
          </p:cNvSpPr>
          <p:nvPr/>
        </p:nvSpPr>
        <p:spPr>
          <a:xfrm xmlns:a="http://schemas.openxmlformats.org/drawingml/2006/main">
            <a:off x="6696075" y="435610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3F6B"/>
            </a:solidFill>
            <a:prstDash val="solid"/>
          </a:ln>
        </p:spPr>
      </p:sp>
      <p:sp>
        <p:nvSpPr>
          <p:cNvPr id="25" name="">
            <a:extLst xmlns:a="http://schemas.openxmlformats.org/drawingml/2006/main">
              <a:ext uri="{FF2B5EF4-FFF2-40B4-BE49-F238E27FC236}">
                <a16:creationId xmlns:a16="http://schemas.microsoft.com/office/drawing/2014/main" id="{34288D9B-BA66-4C27-B636-B0786559485A}"/>
              </a:ext>
            </a:extLst>
          </p:cNvPr>
          <p:cNvSpPr>
            <a:spLocks xmlns:a="http://schemas.openxmlformats.org/drawingml/2006/main" noGrp="1"/>
          </p:cNvSpPr>
          <p:nvPr/>
        </p:nvSpPr>
        <p:spPr>
          <a:xfrm xmlns:a="http://schemas.openxmlformats.org/drawingml/2006/main">
            <a:off x="6829425" y="4498975"/>
            <a:ext cx="4000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26" name="">
            <a:extLst xmlns:a="http://schemas.openxmlformats.org/drawingml/2006/main">
              <a:ext uri="{FF2B5EF4-FFF2-40B4-BE49-F238E27FC236}">
                <a16:creationId xmlns:a16="http://schemas.microsoft.com/office/drawing/2014/main" id="{C050D3F7-AF22-4E35-935F-7CAB92FF5EC9}"/>
              </a:ext>
            </a:extLst>
          </p:cNvPr>
          <p:cNvSpPr>
            <a:spLocks xmlns:a="http://schemas.openxmlformats.org/drawingml/2006/main" noGrp="1"/>
          </p:cNvSpPr>
          <p:nvPr/>
        </p:nvSpPr>
        <p:spPr>
          <a:xfrm xmlns:a="http://schemas.openxmlformats.org/drawingml/2006/main">
            <a:off x="6829425" y="44799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27" name="">
            <a:extLst xmlns:a="http://schemas.openxmlformats.org/drawingml/2006/main">
              <a:ext uri="{FF2B5EF4-FFF2-40B4-BE49-F238E27FC236}">
                <a16:creationId xmlns:a16="http://schemas.microsoft.com/office/drawing/2014/main" id="{C5608AE5-6E0B-4DF0-9C79-77893864E9F0}"/>
              </a:ext>
            </a:extLst>
          </p:cNvPr>
          <p:cNvSpPr>
            <a:spLocks xmlns:a="http://schemas.openxmlformats.org/drawingml/2006/main" noGrp="1"/>
          </p:cNvSpPr>
          <p:nvPr/>
        </p:nvSpPr>
        <p:spPr>
          <a:xfrm xmlns:a="http://schemas.openxmlformats.org/drawingml/2006/main">
            <a:off x="7362825" y="445135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typische Selbstbelastungs- und Kommunikationsfehler vermeiden.</a:t>
            </a:r>
          </a:p>
        </p:txBody>
      </p:sp>
      <p:sp>
        <p:nvSpPr>
          <p:cNvPr id="28" name="">
            <a:extLst xmlns:a="http://schemas.openxmlformats.org/drawingml/2006/main">
              <a:ext uri="{FF2B5EF4-FFF2-40B4-BE49-F238E27FC236}">
                <a16:creationId xmlns:a16="http://schemas.microsoft.com/office/drawing/2014/main" id="{BB8657ED-BC26-4708-B495-BB5840746B9F}"/>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638">
                <a:solidFill>
                  <a:srgbClr val="667680"/>
                </a:solidFill>
              </a:defRPr>
            </a:pPr>
            <a:r>
              <a:rPr sz="638">
                <a:solidFill>
                  <a:srgbClr val="667680"/>
                </a:solidFill>
              </a:rPr>
              <a:t>Lernziele aus Seminarbeschreibung und Vorlesungsstruktur abgeleitet · https://elearning.uni-oldenburg.de/dispatch.php/course/details/index/64fffee6d869d134c6683909368deed9?cancel_login=1</a:t>
            </a:r>
          </a:p>
        </p:txBody>
      </p:sp>
    </p:spTree>
    <p:extLst>
      <p:ext uri="{BB962C8B-B14F-4D97-AF65-F5344CB8AC3E}">
        <p14:creationId xmlns:p14="http://schemas.microsoft.com/office/powerpoint/2010/main" val="43637646"/>
      </p:ext>
    </p:extLst>
  </p:cSld>
</p:sld>
</file>

<file path=ppt/slides/slide48.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Leitentscheidung · Dringlichkeit richtig mitteilen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ORIGINALENTSCHEIDUNG · TERMIN 02</a:t>
            </a:r>
            <a:endParaRPr/>
          </a:p>
        </p:txBody>
      </p:sp>
      <p:sp>
        <p:nvSpPr>
          <p:cNvPr id="4" name="">
            <a:extLst xmlns:a="http://schemas.openxmlformats.org/drawingml/2006/main">
              <a:ext uri="{FF2B5EF4-FFF2-40B4-BE49-F238E27FC236}">
                <a16:creationId xmlns:a16="http://schemas.microsoft.com/office/drawing/2014/main" id="{2A46C91B-E658-4B36-9336-2C47B7A184E1}"/>
              </a:ext>
            </a:extLst>
          </p:cNvPr>
          <p:cNvSpPr>
            <a:spLocks xmlns:a="http://schemas.openxmlformats.org/drawingml/2006/main" noGrp="1"/>
          </p:cNvSpPr>
          <p:nvPr/>
        </p:nvSpPr>
        <p:spPr>
          <a:xfrm xmlns:a="http://schemas.openxmlformats.org/drawingml/2006/main">
            <a:off x="1809750" y="1943100"/>
            <a:ext cx="11239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426D44E9-FE0F-491F-8A83-D8FB57ACB45E}"/>
              </a:ext>
            </a:extLst>
          </p:cNvPr>
          <p:cNvSpPr>
            <a:spLocks xmlns:a="http://schemas.openxmlformats.org/drawingml/2006/main" noGrp="1"/>
          </p:cNvSpPr>
          <p:nvPr/>
        </p:nvSpPr>
        <p:spPr>
          <a:xfrm xmlns:a="http://schemas.openxmlformats.org/drawingml/2006/main">
            <a:off x="1809750" y="1943100"/>
            <a:ext cx="1123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38" b="1">
                <a:solidFill>
                  <a:srgbClr val="FFFFFF"/>
                </a:solidFill>
              </a:defRPr>
            </a:pPr>
            <a:r>
              <a:rPr sz="938" b="1">
                <a:solidFill>
                  <a:srgbClr val="FFFFFF"/>
                </a:solidFill>
              </a:rPr>
              <a:t>BGH</a:t>
            </a:r>
          </a:p>
        </p:txBody>
      </p:sp>
      <p:sp>
        <p:nvSpPr>
          <p:cNvPr id="6" name="">
            <a:extLst xmlns:a="http://schemas.openxmlformats.org/drawingml/2006/main">
              <a:ext uri="{FF2B5EF4-FFF2-40B4-BE49-F238E27FC236}">
                <a16:creationId xmlns:a16="http://schemas.microsoft.com/office/drawing/2014/main" id="{619F06A4-4174-4E69-8A97-6A71A7E89562}"/>
              </a:ext>
            </a:extLst>
          </p:cNvPr>
          <p:cNvSpPr>
            <a:spLocks xmlns:a="http://schemas.openxmlformats.org/drawingml/2006/main" noGrp="1"/>
          </p:cNvSpPr>
          <p:nvPr/>
        </p:nvSpPr>
        <p:spPr>
          <a:xfrm xmlns:a="http://schemas.openxmlformats.org/drawingml/2006/main">
            <a:off x="312420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17.11.2015 · VI ZR 476/14</a:t>
            </a:r>
          </a:p>
        </p:txBody>
      </p:sp>
      <p:sp>
        <p:nvSpPr>
          <p:cNvPr id="7" name="">
            <a:extLst xmlns:a="http://schemas.openxmlformats.org/drawingml/2006/main">
              <a:ext uri="{FF2B5EF4-FFF2-40B4-BE49-F238E27FC236}">
                <a16:creationId xmlns:a16="http://schemas.microsoft.com/office/drawing/2014/main" id="{38DCCE22-4991-43AE-98BB-448811DC6A65}"/>
              </a:ext>
            </a:extLst>
          </p:cNvPr>
          <p:cNvSpPr>
            <a:spLocks xmlns:a="http://schemas.openxmlformats.org/drawingml/2006/main" noGrp="1"/>
          </p:cNvSpPr>
          <p:nvPr/>
        </p:nvSpPr>
        <p:spPr>
          <a:xfrm xmlns:a="http://schemas.openxmlformats.org/drawingml/2006/main">
            <a:off x="733425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050">
                <a:solidFill>
                  <a:srgbClr val="667680"/>
                </a:solidFill>
              </a:defRPr>
            </a:pPr>
            <a:r>
              <a:rPr sz="1050">
                <a:solidFill>
                  <a:srgbClr val="667680"/>
                </a:solidFill>
              </a:rPr>
              <a:t>Therapeutische Information ist eine eigene Fehlerkategorie</a:t>
            </a:r>
          </a:p>
        </p:txBody>
      </p:sp>
      <p:sp>
        <p:nvSpPr>
          <p:cNvPr id="8" name="">
            <a:extLst xmlns:a="http://schemas.openxmlformats.org/drawingml/2006/main">
              <a:ext uri="{FF2B5EF4-FFF2-40B4-BE49-F238E27FC236}">
                <a16:creationId xmlns:a16="http://schemas.microsoft.com/office/drawing/2014/main" id="{14F280AC-F5BA-4309-A807-C7F466EE5131}"/>
              </a:ext>
            </a:extLst>
          </p:cNvPr>
          <p:cNvSpPr>
            <a:spLocks xmlns:a="http://schemas.openxmlformats.org/drawingml/2006/main" noGrp="1"/>
          </p:cNvSpPr>
          <p:nvPr/>
        </p:nvSpPr>
        <p:spPr>
          <a:xfrm xmlns:a="http://schemas.openxmlformats.org/drawingml/2006/main">
            <a:off x="1809750" y="2533650"/>
            <a:ext cx="1676400" cy="781050"/>
          </a:xfrm>
          <a:prstGeom xmlns:a="http://schemas.openxmlformats.org/drawingml/2006/main" prst="roundRect">
            <a:avLst>
              <a:gd name="adj" fmla="val 9756"/>
            </a:avLst>
          </a:prstGeom>
          <a:solidFill xmlns:a="http://schemas.openxmlformats.org/drawingml/2006/main">
            <a:srgbClr val="00B2BB"/>
          </a:solidFill>
          <a:ln xmlns:a="http://schemas.openxmlformats.org/drawingml/2006/main" w="0">
            <a:solidFill>
              <a:srgbClr val="00B2BB"/>
            </a:solidFill>
            <a:prstDash val="solid"/>
          </a:ln>
        </p:spPr>
      </p:sp>
      <p:sp>
        <p:nvSpPr>
          <p:cNvPr id="9" name="">
            <a:extLst xmlns:a="http://schemas.openxmlformats.org/drawingml/2006/main">
              <a:ext uri="{FF2B5EF4-FFF2-40B4-BE49-F238E27FC236}">
                <a16:creationId xmlns:a16="http://schemas.microsoft.com/office/drawing/2014/main" id="{E6626AB3-42B1-4E85-8D16-7CEDEBF3C127}"/>
              </a:ext>
            </a:extLst>
          </p:cNvPr>
          <p:cNvSpPr>
            <a:spLocks xmlns:a="http://schemas.openxmlformats.org/drawingml/2006/main" noGrp="1"/>
          </p:cNvSpPr>
          <p:nvPr/>
        </p:nvSpPr>
        <p:spPr>
          <a:xfrm xmlns:a="http://schemas.openxmlformats.org/drawingml/2006/main">
            <a:off x="1924050" y="25336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Ausgangsfall</a:t>
            </a:r>
          </a:p>
        </p:txBody>
      </p:sp>
      <p:sp>
        <p:nvSpPr>
          <p:cNvPr id="10" name="">
            <a:extLst xmlns:a="http://schemas.openxmlformats.org/drawingml/2006/main">
              <a:ext uri="{FF2B5EF4-FFF2-40B4-BE49-F238E27FC236}">
                <a16:creationId xmlns:a16="http://schemas.microsoft.com/office/drawing/2014/main" id="{ED992155-F4ED-4F95-AE42-1108D2E53505}"/>
              </a:ext>
            </a:extLst>
          </p:cNvPr>
          <p:cNvSpPr>
            <a:spLocks xmlns:a="http://schemas.openxmlformats.org/drawingml/2006/main" noGrp="1"/>
          </p:cNvSpPr>
          <p:nvPr/>
        </p:nvSpPr>
        <p:spPr>
          <a:xfrm xmlns:a="http://schemas.openxmlformats.org/drawingml/2006/main">
            <a:off x="3695700" y="25336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Nach einer Untersuchung wurde die Dringlichkeit weiterer Abklärung nicht ausreichend vermittelt. Im Prozess war die Einordnung als Fehler der therapeutischen Information oder Befunderhebungsfehler entscheidend.</a:t>
            </a:r>
          </a:p>
        </p:txBody>
      </p:sp>
      <p:sp>
        <p:nvSpPr>
          <p:cNvPr id="11" name="">
            <a:extLst xmlns:a="http://schemas.openxmlformats.org/drawingml/2006/main">
              <a:ext uri="{FF2B5EF4-FFF2-40B4-BE49-F238E27FC236}">
                <a16:creationId xmlns:a16="http://schemas.microsoft.com/office/drawing/2014/main" id="{4B635E72-7374-4A45-A207-16DBE6A435C7}"/>
              </a:ext>
            </a:extLst>
          </p:cNvPr>
          <p:cNvSpPr>
            <a:spLocks xmlns:a="http://schemas.openxmlformats.org/drawingml/2006/main" noGrp="1"/>
          </p:cNvSpPr>
          <p:nvPr/>
        </p:nvSpPr>
        <p:spPr>
          <a:xfrm xmlns:a="http://schemas.openxmlformats.org/drawingml/2006/main">
            <a:off x="1809750" y="3486150"/>
            <a:ext cx="1676400" cy="781050"/>
          </a:xfrm>
          <a:prstGeom xmlns:a="http://schemas.openxmlformats.org/drawingml/2006/main" prst="roundRect">
            <a:avLst>
              <a:gd name="adj" fmla="val 9756"/>
            </a:avLst>
          </a:prstGeom>
          <a:solidFill xmlns:a="http://schemas.openxmlformats.org/drawingml/2006/main">
            <a:srgbClr val="003F6B"/>
          </a:solidFill>
          <a:ln xmlns:a="http://schemas.openxmlformats.org/drawingml/2006/main" w="0">
            <a:solidFill>
              <a:srgbClr val="003F6B"/>
            </a:solidFill>
            <a:prstDash val="solid"/>
          </a:ln>
        </p:spPr>
      </p:sp>
      <p:sp>
        <p:nvSpPr>
          <p:cNvPr id="12" name="">
            <a:extLst xmlns:a="http://schemas.openxmlformats.org/drawingml/2006/main">
              <a:ext uri="{FF2B5EF4-FFF2-40B4-BE49-F238E27FC236}">
                <a16:creationId xmlns:a16="http://schemas.microsoft.com/office/drawing/2014/main" id="{2EF7ED1D-0A9E-404A-8F78-F699D5C87417}"/>
              </a:ext>
            </a:extLst>
          </p:cNvPr>
          <p:cNvSpPr>
            <a:spLocks xmlns:a="http://schemas.openxmlformats.org/drawingml/2006/main" noGrp="1"/>
          </p:cNvSpPr>
          <p:nvPr/>
        </p:nvSpPr>
        <p:spPr>
          <a:xfrm xmlns:a="http://schemas.openxmlformats.org/drawingml/2006/main">
            <a:off x="1924050" y="34861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Leitsatzkern</a:t>
            </a:r>
          </a:p>
        </p:txBody>
      </p:sp>
      <p:sp>
        <p:nvSpPr>
          <p:cNvPr id="13" name="">
            <a:extLst xmlns:a="http://schemas.openxmlformats.org/drawingml/2006/main">
              <a:ext uri="{FF2B5EF4-FFF2-40B4-BE49-F238E27FC236}">
                <a16:creationId xmlns:a16="http://schemas.microsoft.com/office/drawing/2014/main" id="{5297A6A0-B1C8-4784-9E95-531C41AC4E75}"/>
              </a:ext>
            </a:extLst>
          </p:cNvPr>
          <p:cNvSpPr>
            <a:spLocks xmlns:a="http://schemas.openxmlformats.org/drawingml/2006/main" noGrp="1"/>
          </p:cNvSpPr>
          <p:nvPr/>
        </p:nvSpPr>
        <p:spPr>
          <a:xfrm xmlns:a="http://schemas.openxmlformats.org/drawingml/2006/main">
            <a:off x="3695700" y="34861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Leitsatzkern (paraphrasiert): Ein unterlassener Dringlichkeitshinweis ist grundsätzlich ein Fehler der therapeutischen Information. Er wird nicht automatisch zum Befunderhebungsfehler und löst deshalb nicht ohne Weiteres dessen Beweiserleichterungen aus.</a:t>
            </a:r>
          </a:p>
        </p:txBody>
      </p:sp>
      <p:sp>
        <p:nvSpPr>
          <p:cNvPr id="14" name="">
            <a:extLst xmlns:a="http://schemas.openxmlformats.org/drawingml/2006/main">
              <a:ext uri="{FF2B5EF4-FFF2-40B4-BE49-F238E27FC236}">
                <a16:creationId xmlns:a16="http://schemas.microsoft.com/office/drawing/2014/main" id="{A4B09987-FB93-401A-BF6C-A4A89A197AE6}"/>
              </a:ext>
            </a:extLst>
          </p:cNvPr>
          <p:cNvSpPr>
            <a:spLocks xmlns:a="http://schemas.openxmlformats.org/drawingml/2006/main" noGrp="1"/>
          </p:cNvSpPr>
          <p:nvPr/>
        </p:nvSpPr>
        <p:spPr>
          <a:xfrm xmlns:a="http://schemas.openxmlformats.org/drawingml/2006/main">
            <a:off x="1809750" y="4438650"/>
            <a:ext cx="1676400" cy="781050"/>
          </a:xfrm>
          <a:prstGeom xmlns:a="http://schemas.openxmlformats.org/drawingml/2006/main" prst="roundRect">
            <a:avLst>
              <a:gd name="adj" fmla="val 9756"/>
            </a:avLst>
          </a:prstGeom>
          <a:solidFill xmlns:a="http://schemas.openxmlformats.org/drawingml/2006/main">
            <a:srgbClr val="00B2BB"/>
          </a:solidFill>
          <a:ln xmlns:a="http://schemas.openxmlformats.org/drawingml/2006/main" w="0">
            <a:solidFill>
              <a:srgbClr val="00B2BB"/>
            </a:solidFill>
            <a:prstDash val="solid"/>
          </a:ln>
        </p:spPr>
      </p:sp>
      <p:sp>
        <p:nvSpPr>
          <p:cNvPr id="15" name="">
            <a:extLst xmlns:a="http://schemas.openxmlformats.org/drawingml/2006/main">
              <a:ext uri="{FF2B5EF4-FFF2-40B4-BE49-F238E27FC236}">
                <a16:creationId xmlns:a16="http://schemas.microsoft.com/office/drawing/2014/main" id="{FDAAB24D-32DA-49E9-A0EC-0BC3365A13BF}"/>
              </a:ext>
            </a:extLst>
          </p:cNvPr>
          <p:cNvSpPr>
            <a:spLocks xmlns:a="http://schemas.openxmlformats.org/drawingml/2006/main" noGrp="1"/>
          </p:cNvSpPr>
          <p:nvPr/>
        </p:nvSpPr>
        <p:spPr>
          <a:xfrm xmlns:a="http://schemas.openxmlformats.org/drawingml/2006/main">
            <a:off x="1924050" y="44386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Für die Praxis</a:t>
            </a:r>
          </a:p>
        </p:txBody>
      </p:sp>
      <p:sp>
        <p:nvSpPr>
          <p:cNvPr id="16" name="">
            <a:extLst xmlns:a="http://schemas.openxmlformats.org/drawingml/2006/main">
              <a:ext uri="{FF2B5EF4-FFF2-40B4-BE49-F238E27FC236}">
                <a16:creationId xmlns:a16="http://schemas.microsoft.com/office/drawing/2014/main" id="{93029D82-3DEB-4CC4-9D7D-28D6A2283C96}"/>
              </a:ext>
            </a:extLst>
          </p:cNvPr>
          <p:cNvSpPr>
            <a:spLocks xmlns:a="http://schemas.openxmlformats.org/drawingml/2006/main" noGrp="1"/>
          </p:cNvSpPr>
          <p:nvPr/>
        </p:nvSpPr>
        <p:spPr>
          <a:xfrm xmlns:a="http://schemas.openxmlformats.org/drawingml/2006/main">
            <a:off x="3695700" y="44386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Nach einem Zwischenfall Tatsachen, Gefahren und nächste Schritte klar mitteilen; Fehlerkategorien nicht vermischen, weil sie unterschiedliche Beweisfolgen haben.</a:t>
            </a:r>
          </a:p>
        </p:txBody>
      </p:sp>
      <p:sp>
        <p:nvSpPr>
          <p:cNvPr id="17" name="">
            <a:extLst xmlns:a="http://schemas.openxmlformats.org/drawingml/2006/main">
              <a:ext uri="{FF2B5EF4-FFF2-40B4-BE49-F238E27FC236}">
                <a16:creationId xmlns:a16="http://schemas.microsoft.com/office/drawing/2014/main" id="{E76EEA62-3BDD-4930-9B0B-D6905748FAFF}"/>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638">
                <a:solidFill>
                  <a:srgbClr val="667680"/>
                </a:solidFill>
              </a:defRPr>
            </a:pPr>
            <a:r>
              <a:rPr sz="638">
                <a:solidFill>
                  <a:srgbClr val="667680"/>
                </a:solidFill>
              </a:rPr>
              <a:t>BGH, Urt. v. 17.11.2015 – VI ZR 476/14 · https://juris.bundesgerichtshof.de/cgi-bin/bgh_notp/document.py?Art=en&amp;Datum=2015-11&amp;Gericht=bgh&amp;Seite=3&amp;Sort=11&amp;anz=224&amp;nr=37811&amp;pos=106</a:t>
            </a:r>
          </a:p>
        </p:txBody>
      </p:sp>
    </p:spTree>
    <p:extLst>
      <p:ext uri="{BB962C8B-B14F-4D97-AF65-F5344CB8AC3E}">
        <p14:creationId xmlns:p14="http://schemas.microsoft.com/office/powerpoint/2010/main" val="43637646"/>
      </p:ext>
    </p:extLst>
  </p:cSld>
</p:sld>
</file>

<file path=ppt/slides/slide49.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 630c BGB: Information nach einem möglichen Fehler</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GESETZESTEXT · GEKÜRZTER LEHRAUSZUG</a:t>
            </a:r>
            <a:endParaRPr/>
          </a:p>
        </p:txBody>
      </p:sp>
      <p:sp>
        <p:nvSpPr>
          <p:cNvPr id="4" name="">
            <a:extLst xmlns:a="http://schemas.openxmlformats.org/drawingml/2006/main">
              <a:ext uri="{FF2B5EF4-FFF2-40B4-BE49-F238E27FC236}">
                <a16:creationId xmlns:a16="http://schemas.microsoft.com/office/drawing/2014/main" id="{EE940E66-5E5A-439A-9600-126955672EF0}"/>
              </a:ext>
            </a:extLst>
          </p:cNvPr>
          <p:cNvSpPr>
            <a:spLocks xmlns:a="http://schemas.openxmlformats.org/drawingml/2006/main" noGrp="1"/>
          </p:cNvSpPr>
          <p:nvPr/>
        </p:nvSpPr>
        <p:spPr>
          <a:xfrm xmlns:a="http://schemas.openxmlformats.org/drawingml/2006/main">
            <a:off x="1809750" y="1943100"/>
            <a:ext cx="1809750" cy="457200"/>
          </a:xfrm>
          <a:prstGeom xmlns:a="http://schemas.openxmlformats.org/drawingml/2006/main" prst="roundRect">
            <a:avLst>
              <a:gd name="adj" fmla="val 16667"/>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9B5A2F87-DCEB-44FC-AD44-FEB206F4C7FB}"/>
              </a:ext>
            </a:extLst>
          </p:cNvPr>
          <p:cNvSpPr>
            <a:spLocks xmlns:a="http://schemas.openxmlformats.org/drawingml/2006/main" noGrp="1"/>
          </p:cNvSpPr>
          <p:nvPr/>
        </p:nvSpPr>
        <p:spPr>
          <a:xfrm xmlns:a="http://schemas.openxmlformats.org/drawingml/2006/main">
            <a:off x="1809750" y="1943100"/>
            <a:ext cx="1809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 630c II BGB</a:t>
            </a:r>
          </a:p>
        </p:txBody>
      </p:sp>
      <p:sp>
        <p:nvSpPr>
          <p:cNvPr id="6" name="">
            <a:extLst xmlns:a="http://schemas.openxmlformats.org/drawingml/2006/main">
              <a:ext uri="{FF2B5EF4-FFF2-40B4-BE49-F238E27FC236}">
                <a16:creationId xmlns:a16="http://schemas.microsoft.com/office/drawing/2014/main" id="{F96E03D4-F664-453F-98AA-5C471A3590EF}"/>
              </a:ext>
            </a:extLst>
          </p:cNvPr>
          <p:cNvSpPr>
            <a:spLocks xmlns:a="http://schemas.openxmlformats.org/drawingml/2006/main" noGrp="1"/>
          </p:cNvSpPr>
          <p:nvPr/>
        </p:nvSpPr>
        <p:spPr>
          <a:xfrm xmlns:a="http://schemas.openxmlformats.org/drawingml/2006/main">
            <a:off x="3867150" y="1943100"/>
            <a:ext cx="7467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500" b="1">
                <a:solidFill>
                  <a:srgbClr val="003F6B"/>
                </a:solidFill>
              </a:defRPr>
            </a:pPr>
            <a:r>
              <a:rPr sz="1500" b="1">
                <a:solidFill>
                  <a:srgbClr val="003F6B"/>
                </a:solidFill>
              </a:rPr>
              <a:t>Informationspflichten · Auszug</a:t>
            </a:r>
          </a:p>
        </p:txBody>
      </p:sp>
      <p:sp>
        <p:nvSpPr>
          <p:cNvPr id="7" name="">
            <a:extLst xmlns:a="http://schemas.openxmlformats.org/drawingml/2006/main">
              <a:ext uri="{FF2B5EF4-FFF2-40B4-BE49-F238E27FC236}">
                <a16:creationId xmlns:a16="http://schemas.microsoft.com/office/drawing/2014/main" id="{7384ED8E-AD01-40AC-A267-B18C755BDE8A}"/>
              </a:ext>
            </a:extLst>
          </p:cNvPr>
          <p:cNvSpPr>
            <a:spLocks xmlns:a="http://schemas.openxmlformats.org/drawingml/2006/main" noGrp="1"/>
          </p:cNvSpPr>
          <p:nvPr/>
        </p:nvSpPr>
        <p:spPr>
          <a:xfrm xmlns:a="http://schemas.openxmlformats.org/drawingml/2006/main">
            <a:off x="1809750" y="2552700"/>
            <a:ext cx="9525000" cy="2419350"/>
          </a:xfrm>
          <a:prstGeom xmlns:a="http://schemas.openxmlformats.org/drawingml/2006/main" prst="roundRect">
            <a:avLst>
              <a:gd name="adj" fmla="val 3150"/>
            </a:avLst>
          </a:prstGeom>
          <a:solidFill xmlns:a="http://schemas.openxmlformats.org/drawingml/2006/main">
            <a:srgbClr val="F3F7F9"/>
          </a:solidFill>
          <a:ln xmlns:a="http://schemas.openxmlformats.org/drawingml/2006/main" w="11430">
            <a:solidFill>
              <a:srgbClr val="00B2BB"/>
            </a:solidFill>
            <a:prstDash val="solid"/>
          </a:ln>
        </p:spPr>
      </p:sp>
      <p:sp>
        <p:nvSpPr>
          <p:cNvPr id="8" name="">
            <a:extLst xmlns:a="http://schemas.openxmlformats.org/drawingml/2006/main">
              <a:ext uri="{FF2B5EF4-FFF2-40B4-BE49-F238E27FC236}">
                <a16:creationId xmlns:a16="http://schemas.microsoft.com/office/drawing/2014/main" id="{B97F4E6D-FDA3-4B94-ACEF-F959DF5A2FAA}"/>
              </a:ext>
            </a:extLst>
          </p:cNvPr>
          <p:cNvSpPr>
            <a:spLocks xmlns:a="http://schemas.openxmlformats.org/drawingml/2006/main" noGrp="1"/>
          </p:cNvSpPr>
          <p:nvPr/>
        </p:nvSpPr>
        <p:spPr>
          <a:xfrm xmlns:a="http://schemas.openxmlformats.org/drawingml/2006/main">
            <a:off x="2019300" y="2724150"/>
            <a:ext cx="910590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15232B"/>
                </a:solidFill>
              </a:defRPr>
            </a:pPr>
            <a:r>
              <a:rPr sz="1275">
                <a:solidFill>
                  <a:srgbClr val="15232B"/>
                </a:solidFill>
              </a:rPr>
              <a:t>Der Behandelnde ist verpflichtet, dem Patienten in verständlicher Weise zu Beginn der Behandlung und, soweit erforderlich, in deren Verlauf sämtliche für die Behandlung wesentlichen Umstände zu erläutern. Sind für den Behandelnden Umstände erkennbar, die die Annahme eines Behandlungsfehlers begründen, hat er den Patienten darüber auf Nachfrage oder zur Abwendung gesundheitlicher Gefahren zu informieren. Erfolgt die Information durch denjenigen, dem der Behandlungsfehler unterlaufen ist, darf sie zu Beweiszwecken in einem gegen ihn geführten Strafverfahren oder Bußgeldverfahren nur mit seiner Zustimmung verwendet werden.</a:t>
            </a:r>
          </a:p>
        </p:txBody>
      </p:sp>
      <p:sp>
        <p:nvSpPr>
          <p:cNvPr id="9" name="">
            <a:extLst xmlns:a="http://schemas.openxmlformats.org/drawingml/2006/main">
              <a:ext uri="{FF2B5EF4-FFF2-40B4-BE49-F238E27FC236}">
                <a16:creationId xmlns:a16="http://schemas.microsoft.com/office/drawing/2014/main" id="{6843014B-92A2-4088-BA2E-3519B0016F13}"/>
              </a:ext>
            </a:extLst>
          </p:cNvPr>
          <p:cNvSpPr>
            <a:spLocks xmlns:a="http://schemas.openxmlformats.org/drawingml/2006/main" noGrp="1"/>
          </p:cNvSpPr>
          <p:nvPr/>
        </p:nvSpPr>
        <p:spPr>
          <a:xfrm xmlns:a="http://schemas.openxmlformats.org/drawingml/2006/main">
            <a:off x="1809750" y="5619750"/>
            <a:ext cx="9525000" cy="419100"/>
          </a:xfrm>
          <a:prstGeom xmlns:a="http://schemas.openxmlformats.org/drawingml/2006/main" prst="roundRect">
            <a:avLst>
              <a:gd name="adj" fmla="val 18182"/>
            </a:avLst>
          </a:prstGeom>
          <a:noFill xmlns:a="http://schemas.openxmlformats.org/drawingml/2006/main"/>
          <a:ln xmlns:a="http://schemas.openxmlformats.org/drawingml/2006/main" w="11430">
            <a:solidFill>
              <a:srgbClr val="00B2BB"/>
            </a:solidFill>
            <a:prstDash val="solid"/>
          </a:ln>
        </p:spPr>
      </p:sp>
      <p:sp>
        <p:nvSpPr>
          <p:cNvPr id="10" name="">
            <a:extLst xmlns:a="http://schemas.openxmlformats.org/drawingml/2006/main">
              <a:ext uri="{FF2B5EF4-FFF2-40B4-BE49-F238E27FC236}">
                <a16:creationId xmlns:a16="http://schemas.microsoft.com/office/drawing/2014/main" id="{21484E50-57B3-4680-9790-5E73E21FAC3E}"/>
              </a:ext>
            </a:extLst>
          </p:cNvPr>
          <p:cNvSpPr>
            <a:spLocks xmlns:a="http://schemas.openxmlformats.org/drawingml/2006/main" noGrp="1"/>
          </p:cNvSpPr>
          <p:nvPr/>
        </p:nvSpPr>
        <p:spPr>
          <a:xfrm xmlns:a="http://schemas.openxmlformats.org/drawingml/2006/main">
            <a:off x="1962150" y="5638800"/>
            <a:ext cx="9220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13" b="1">
                <a:solidFill>
                  <a:srgbClr val="003F6B"/>
                </a:solidFill>
              </a:defRPr>
            </a:pPr>
            <a:r>
              <a:rPr sz="1013" b="1">
                <a:solidFill>
                  <a:srgbClr val="003F6B"/>
                </a:solidFill>
              </a:rPr>
              <a:t>Praxislesart: Medizinisch notwendige Information ist Pflicht; vorschnelle Schuld- und Kausalitätsurteile sind etwas anderes.</a:t>
            </a:r>
          </a:p>
        </p:txBody>
      </p:sp>
      <p:sp>
        <p:nvSpPr>
          <p:cNvPr id="11" name="">
            <a:extLst xmlns:a="http://schemas.openxmlformats.org/drawingml/2006/main">
              <a:ext uri="{FF2B5EF4-FFF2-40B4-BE49-F238E27FC236}">
                <a16:creationId xmlns:a16="http://schemas.microsoft.com/office/drawing/2014/main" id="{7560D6D3-529D-4E77-9388-FBF318CB8819}"/>
              </a:ext>
            </a:extLst>
          </p:cNvPr>
          <p:cNvSpPr>
            <a:spLocks xmlns:a="http://schemas.openxmlformats.org/drawingml/2006/main" noGrp="1"/>
          </p:cNvSpPr>
          <p:nvPr/>
        </p:nvSpPr>
        <p:spPr>
          <a:xfrm xmlns:a="http://schemas.openxmlformats.org/drawingml/2006/main">
            <a:off x="1809750" y="535305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05">
                <a:solidFill>
                  <a:srgbClr val="667680"/>
                </a:solidFill>
              </a:defRPr>
            </a:pPr>
            <a:r>
              <a:rPr sz="705">
                <a:solidFill>
                  <a:srgbClr val="667680"/>
                </a:solidFill>
              </a:rPr>
              <a:t>BMJ/BfJ, gesetze-im-internet.de/bgb/__630c.html · Abruf/Stand: 20.08.2026 · https://pubmed.ncbi.nlm.nih.gov</a:t>
            </a:r>
          </a:p>
        </p:txBody>
      </p:sp>
    </p:spTree>
    <p:extLst>
      <p:ext uri="{BB962C8B-B14F-4D97-AF65-F5344CB8AC3E}">
        <p14:creationId xmlns:p14="http://schemas.microsoft.com/office/powerpoint/2010/main" val="43637646"/>
      </p:ext>
    </p:extLst>
  </p:cSld>
</p:sld>
</file>

<file path=ppt/slides/slide50.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Offenlegung unerwünschter Ereignisse: Was die Forschung zeigt</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WISSENSCHAFTLICHE EVIDENZ</a:t>
            </a:r>
            <a:endParaRPr/>
          </a:p>
        </p:txBody>
      </p:sp>
      <p:sp>
        <p:nvSpPr>
          <p:cNvPr id="4" name="">
            <a:extLst xmlns:a="http://schemas.openxmlformats.org/drawingml/2006/main">
              <a:ext uri="{FF2B5EF4-FFF2-40B4-BE49-F238E27FC236}">
                <a16:creationId xmlns:a16="http://schemas.microsoft.com/office/drawing/2014/main" id="{05C4D3FA-70DD-408D-A012-2121F45BEFC1}"/>
              </a:ext>
            </a:extLst>
          </p:cNvPr>
          <p:cNvSpPr>
            <a:spLocks xmlns:a="http://schemas.openxmlformats.org/drawingml/2006/main" noGrp="1"/>
          </p:cNvSpPr>
          <p:nvPr/>
        </p:nvSpPr>
        <p:spPr>
          <a:xfrm xmlns:a="http://schemas.openxmlformats.org/drawingml/2006/main">
            <a:off x="1809750" y="1962150"/>
            <a:ext cx="2381250" cy="1428750"/>
          </a:xfrm>
          <a:prstGeom xmlns:a="http://schemas.openxmlformats.org/drawingml/2006/main" prst="roundRect">
            <a:avLst>
              <a:gd name="adj" fmla="val 5333"/>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B7644341-03FD-46FE-80F3-050B8E24A4FD}"/>
              </a:ext>
            </a:extLst>
          </p:cNvPr>
          <p:cNvSpPr>
            <a:spLocks xmlns:a="http://schemas.openxmlformats.org/drawingml/2006/main" noGrp="1"/>
          </p:cNvSpPr>
          <p:nvPr/>
        </p:nvSpPr>
        <p:spPr>
          <a:xfrm xmlns:a="http://schemas.openxmlformats.org/drawingml/2006/main">
            <a:off x="1981200" y="2095500"/>
            <a:ext cx="20383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FFFFFF"/>
                </a:solidFill>
              </a:defRPr>
            </a:pPr>
            <a:r>
              <a:rPr sz="2550" b="1">
                <a:solidFill>
                  <a:srgbClr val="FFFFFF"/>
                </a:solidFill>
              </a:rPr>
              <a:t>23</a:t>
            </a:r>
          </a:p>
        </p:txBody>
      </p:sp>
      <p:sp>
        <p:nvSpPr>
          <p:cNvPr id="6" name="">
            <a:extLst xmlns:a="http://schemas.openxmlformats.org/drawingml/2006/main">
              <a:ext uri="{FF2B5EF4-FFF2-40B4-BE49-F238E27FC236}">
                <a16:creationId xmlns:a16="http://schemas.microsoft.com/office/drawing/2014/main" id="{8A7C1E08-97FD-4C8B-9DD0-48108C520D97}"/>
              </a:ext>
            </a:extLst>
          </p:cNvPr>
          <p:cNvSpPr>
            <a:spLocks xmlns:a="http://schemas.openxmlformats.org/drawingml/2006/main" noGrp="1"/>
          </p:cNvSpPr>
          <p:nvPr/>
        </p:nvSpPr>
        <p:spPr>
          <a:xfrm xmlns:a="http://schemas.openxmlformats.org/drawingml/2006/main">
            <a:off x="1981200" y="2762250"/>
            <a:ext cx="2038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88">
                <a:solidFill>
                  <a:srgbClr val="FFFFFF"/>
                </a:solidFill>
              </a:defRPr>
            </a:pPr>
            <a:r>
              <a:rPr sz="1088">
                <a:solidFill>
                  <a:srgbClr val="FFFFFF"/>
                </a:solidFill>
              </a:rPr>
              <a:t>qualitative Studien</a:t>
            </a:r>
          </a:p>
        </p:txBody>
      </p:sp>
      <p:sp>
        <p:nvSpPr>
          <p:cNvPr id="7" name="">
            <a:extLst xmlns:a="http://schemas.openxmlformats.org/drawingml/2006/main">
              <a:ext uri="{FF2B5EF4-FFF2-40B4-BE49-F238E27FC236}">
                <a16:creationId xmlns:a16="http://schemas.microsoft.com/office/drawing/2014/main" id="{E429A560-9E80-4A77-BC95-F1BF8B229BE8}"/>
              </a:ext>
            </a:extLst>
          </p:cNvPr>
          <p:cNvSpPr>
            <a:spLocks xmlns:a="http://schemas.openxmlformats.org/drawingml/2006/main" noGrp="1"/>
          </p:cNvSpPr>
          <p:nvPr/>
        </p:nvSpPr>
        <p:spPr>
          <a:xfrm xmlns:a="http://schemas.openxmlformats.org/drawingml/2006/main">
            <a:off x="4495800" y="1981200"/>
            <a:ext cx="683895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500" b="1">
                <a:solidFill>
                  <a:srgbClr val="003F6B"/>
                </a:solidFill>
              </a:defRPr>
            </a:pPr>
            <a:r>
              <a:rPr sz="1500" b="1">
                <a:solidFill>
                  <a:srgbClr val="003F6B"/>
                </a:solidFill>
              </a:rPr>
              <a:t>Patienten und Angehörige erwarten verständliche Erklärung, Verantwortungsübernahme und einen Plan zur Vermeidung weiterer Schäden; Behandelnde berichten zugleich Angst, Scham und organisatorische Barrieren.</a:t>
            </a:r>
          </a:p>
        </p:txBody>
      </p:sp>
      <p:sp>
        <p:nvSpPr>
          <p:cNvPr id="8" name="">
            <a:extLst xmlns:a="http://schemas.openxmlformats.org/drawingml/2006/main">
              <a:ext uri="{FF2B5EF4-FFF2-40B4-BE49-F238E27FC236}">
                <a16:creationId xmlns:a16="http://schemas.microsoft.com/office/drawing/2014/main" id="{0569EF73-D4F9-41BF-AD19-23D0A73DBF9A}"/>
              </a:ext>
            </a:extLst>
          </p:cNvPr>
          <p:cNvSpPr>
            <a:spLocks xmlns:a="http://schemas.openxmlformats.org/drawingml/2006/main" noGrp="1"/>
          </p:cNvSpPr>
          <p:nvPr/>
        </p:nvSpPr>
        <p:spPr>
          <a:xfrm xmlns:a="http://schemas.openxmlformats.org/drawingml/2006/main">
            <a:off x="1809750" y="3638550"/>
            <a:ext cx="133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40" b="1">
                <a:solidFill>
                  <a:srgbClr val="003F6B"/>
                </a:solidFill>
              </a:defRPr>
            </a:pPr>
            <a:r>
              <a:rPr sz="1140" b="1">
                <a:solidFill>
                  <a:srgbClr val="003F6B"/>
                </a:solidFill>
              </a:rPr>
              <a:t>Studientyp</a:t>
            </a:r>
          </a:p>
        </p:txBody>
      </p:sp>
      <p:sp>
        <p:nvSpPr>
          <p:cNvPr id="9" name="">
            <a:extLst xmlns:a="http://schemas.openxmlformats.org/drawingml/2006/main">
              <a:ext uri="{FF2B5EF4-FFF2-40B4-BE49-F238E27FC236}">
                <a16:creationId xmlns:a16="http://schemas.microsoft.com/office/drawing/2014/main" id="{3863F62E-772B-4D01-B739-D917807FECD1}"/>
              </a:ext>
            </a:extLst>
          </p:cNvPr>
          <p:cNvSpPr>
            <a:spLocks xmlns:a="http://schemas.openxmlformats.org/drawingml/2006/main" noGrp="1"/>
          </p:cNvSpPr>
          <p:nvPr/>
        </p:nvSpPr>
        <p:spPr>
          <a:xfrm xmlns:a="http://schemas.openxmlformats.org/drawingml/2006/main">
            <a:off x="3276600" y="3638550"/>
            <a:ext cx="805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Systematische qualitative Meta-Ethnographie zu Perspektiven von Patienten, Familien und Gesundheitsberufen.</a:t>
            </a:r>
          </a:p>
        </p:txBody>
      </p:sp>
      <p:sp>
        <p:nvSpPr>
          <p:cNvPr id="10" name="">
            <a:extLst xmlns:a="http://schemas.openxmlformats.org/drawingml/2006/main">
              <a:ext uri="{FF2B5EF4-FFF2-40B4-BE49-F238E27FC236}">
                <a16:creationId xmlns:a16="http://schemas.microsoft.com/office/drawing/2014/main" id="{FF3F5DA7-E9F0-42EA-B27B-2657923096C7}"/>
              </a:ext>
            </a:extLst>
          </p:cNvPr>
          <p:cNvSpPr>
            <a:spLocks xmlns:a="http://schemas.openxmlformats.org/drawingml/2006/main" noGrp="1"/>
          </p:cNvSpPr>
          <p:nvPr/>
        </p:nvSpPr>
        <p:spPr>
          <a:xfrm xmlns:a="http://schemas.openxmlformats.org/drawingml/2006/main">
            <a:off x="1809750" y="4257675"/>
            <a:ext cx="133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40" b="1">
                <a:solidFill>
                  <a:srgbClr val="003F6B"/>
                </a:solidFill>
              </a:defRPr>
            </a:pPr>
            <a:r>
              <a:rPr sz="1140" b="1">
                <a:solidFill>
                  <a:srgbClr val="003F6B"/>
                </a:solidFill>
              </a:rPr>
              <a:t>Grenze</a:t>
            </a:r>
          </a:p>
        </p:txBody>
      </p:sp>
      <p:sp>
        <p:nvSpPr>
          <p:cNvPr id="11" name="">
            <a:extLst xmlns:a="http://schemas.openxmlformats.org/drawingml/2006/main">
              <a:ext uri="{FF2B5EF4-FFF2-40B4-BE49-F238E27FC236}">
                <a16:creationId xmlns:a16="http://schemas.microsoft.com/office/drawing/2014/main" id="{5B201EBF-ADDD-4B3E-AEE5-6057B723B362}"/>
              </a:ext>
            </a:extLst>
          </p:cNvPr>
          <p:cNvSpPr>
            <a:spLocks xmlns:a="http://schemas.openxmlformats.org/drawingml/2006/main" noGrp="1"/>
          </p:cNvSpPr>
          <p:nvPr/>
        </p:nvSpPr>
        <p:spPr>
          <a:xfrm xmlns:a="http://schemas.openxmlformats.org/drawingml/2006/main">
            <a:off x="3276600" y="4257675"/>
            <a:ext cx="805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Qualitative Synthese; keine Aussage, dass jede Formulierung Haftungsrisiken senkt oder erhöht.</a:t>
            </a:r>
          </a:p>
        </p:txBody>
      </p:sp>
      <p:sp>
        <p:nvSpPr>
          <p:cNvPr id="12" name="">
            <a:extLst xmlns:a="http://schemas.openxmlformats.org/drawingml/2006/main">
              <a:ext uri="{FF2B5EF4-FFF2-40B4-BE49-F238E27FC236}">
                <a16:creationId xmlns:a16="http://schemas.microsoft.com/office/drawing/2014/main" id="{D78431AA-E789-449F-885A-CDBFCD712FD3}"/>
              </a:ext>
            </a:extLst>
          </p:cNvPr>
          <p:cNvSpPr>
            <a:spLocks xmlns:a="http://schemas.openxmlformats.org/drawingml/2006/main" noGrp="1"/>
          </p:cNvSpPr>
          <p:nvPr/>
        </p:nvSpPr>
        <p:spPr>
          <a:xfrm xmlns:a="http://schemas.openxmlformats.org/drawingml/2006/main">
            <a:off x="1809750" y="4876800"/>
            <a:ext cx="133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40" b="1">
                <a:solidFill>
                  <a:srgbClr val="003F6B"/>
                </a:solidFill>
              </a:defRPr>
            </a:pPr>
            <a:r>
              <a:rPr sz="1140" b="1">
                <a:solidFill>
                  <a:srgbClr val="003F6B"/>
                </a:solidFill>
              </a:rPr>
              <a:t>Konsequenz</a:t>
            </a:r>
          </a:p>
        </p:txBody>
      </p:sp>
      <p:sp>
        <p:nvSpPr>
          <p:cNvPr id="13" name="">
            <a:extLst xmlns:a="http://schemas.openxmlformats.org/drawingml/2006/main">
              <a:ext uri="{FF2B5EF4-FFF2-40B4-BE49-F238E27FC236}">
                <a16:creationId xmlns:a16="http://schemas.microsoft.com/office/drawing/2014/main" id="{3E1EB56E-EAB3-482D-A89A-1B386F59FB34}"/>
              </a:ext>
            </a:extLst>
          </p:cNvPr>
          <p:cNvSpPr>
            <a:spLocks xmlns:a="http://schemas.openxmlformats.org/drawingml/2006/main" noGrp="1"/>
          </p:cNvSpPr>
          <p:nvPr/>
        </p:nvSpPr>
        <p:spPr>
          <a:xfrm xmlns:a="http://schemas.openxmlformats.org/drawingml/2006/main">
            <a:off x="3276600" y="4876800"/>
            <a:ext cx="805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Gespräch vorbereiten, Fakten sichern, Patientensicherheit priorisieren und institutionelle Unterstützung organisieren.</a:t>
            </a:r>
          </a:p>
        </p:txBody>
      </p:sp>
      <p:sp>
        <p:nvSpPr>
          <p:cNvPr id="14" name="">
            <a:extLst xmlns:a="http://schemas.openxmlformats.org/drawingml/2006/main">
              <a:ext uri="{FF2B5EF4-FFF2-40B4-BE49-F238E27FC236}">
                <a16:creationId xmlns:a16="http://schemas.microsoft.com/office/drawing/2014/main" id="{DABFF94C-80E0-48CB-8A2E-D90413D7CA96}"/>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20">
                <a:solidFill>
                  <a:srgbClr val="667680"/>
                </a:solidFill>
              </a:defRPr>
            </a:pPr>
            <a:r>
              <a:rPr sz="720">
                <a:solidFill>
                  <a:srgbClr val="667680"/>
                </a:solidFill>
              </a:rPr>
              <a:t>Sattar/Johnson/Lawton, Health Expectations 2020;23:571–583, doi:10.1111/hex.13029 · https://doi.org/10.1111/hex.13029</a:t>
            </a:r>
          </a:p>
        </p:txBody>
      </p:sp>
    </p:spTree>
    <p:extLst>
      <p:ext uri="{BB962C8B-B14F-4D97-AF65-F5344CB8AC3E}">
        <p14:creationId xmlns:p14="http://schemas.microsoft.com/office/powerpoint/2010/main" val="43637646"/>
      </p:ext>
    </p:extLst>
  </p:cSld>
</p:sld>
</file>

<file path=ppt/slides/slide51.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Die ersten 60 Minuten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VERFAHREN VERSTEHEN</a:t>
            </a:r>
            <a:endParaRPr/>
          </a:p>
        </p:txBody>
      </p:sp>
      <p:sp>
        <p:nvSpPr>
          <p:cNvPr id="4" name="">
            <a:extLst xmlns:a="http://schemas.openxmlformats.org/drawingml/2006/main">
              <a:ext uri="{FF2B5EF4-FFF2-40B4-BE49-F238E27FC236}">
                <a16:creationId xmlns:a16="http://schemas.microsoft.com/office/drawing/2014/main" id="{2BEA9F03-2AB9-4EB9-B13C-299A8F0F2B6B}"/>
              </a:ext>
            </a:extLst>
          </p:cNvPr>
          <p:cNvSpPr>
            <a:spLocks xmlns:a="http://schemas.openxmlformats.org/drawingml/2006/main" noGrp="1"/>
          </p:cNvSpPr>
          <p:nvPr/>
        </p:nvSpPr>
        <p:spPr>
          <a:xfrm xmlns:a="http://schemas.openxmlformats.org/drawingml/2006/main">
            <a:off x="1809750" y="1885950"/>
            <a:ext cx="9525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15">
                <a:solidFill>
                  <a:srgbClr val="667680"/>
                </a:solidFill>
              </a:defRPr>
            </a:pPr>
            <a:r>
              <a:rPr sz="1215">
                <a:solidFill>
                  <a:srgbClr val="667680"/>
                </a:solidFill>
              </a:rPr>
              <a:t>Nach einem möglichen Schadensereignis gilt eine klare Reihenfolge: medizinisch stabilisieren, Informationen sichern, Kommunikation organisieren.</a:t>
            </a:r>
          </a:p>
        </p:txBody>
      </p:sp>
      <p:sp>
        <p:nvSpPr>
          <p:cNvPr id="5" name="">
            <a:extLst xmlns:a="http://schemas.openxmlformats.org/drawingml/2006/main">
              <a:ext uri="{FF2B5EF4-FFF2-40B4-BE49-F238E27FC236}">
                <a16:creationId xmlns:a16="http://schemas.microsoft.com/office/drawing/2014/main" id="{90817595-C397-4A67-84AA-DABFCCB73C00}"/>
              </a:ext>
            </a:extLst>
          </p:cNvPr>
          <p:cNvSpPr>
            <a:spLocks xmlns:a="http://schemas.openxmlformats.org/drawingml/2006/main" noGrp="1"/>
          </p:cNvSpPr>
          <p:nvPr/>
        </p:nvSpPr>
        <p:spPr>
          <a:xfrm xmlns:a="http://schemas.openxmlformats.org/drawingml/2006/main">
            <a:off x="1981200" y="2952750"/>
            <a:ext cx="9182100" cy="0"/>
          </a:xfrm>
          <a:prstGeom xmlns:a="http://schemas.openxmlformats.org/drawingml/2006/main" prst="line">
            <a:avLst/>
          </a:prstGeom>
          <a:noFill xmlns:a="http://schemas.openxmlformats.org/drawingml/2006/main"/>
          <a:ln xmlns:a="http://schemas.openxmlformats.org/drawingml/2006/main" w="28575">
            <a:solidFill>
              <a:srgbClr val="B9CAD2"/>
            </a:solidFill>
            <a:prstDash val="solid"/>
          </a:ln>
        </p:spPr>
      </p:sp>
      <p:sp>
        <p:nvSpPr>
          <p:cNvPr id="6" name="">
            <a:extLst xmlns:a="http://schemas.openxmlformats.org/drawingml/2006/main">
              <a:ext uri="{FF2B5EF4-FFF2-40B4-BE49-F238E27FC236}">
                <a16:creationId xmlns:a16="http://schemas.microsoft.com/office/drawing/2014/main" id="{C25C1EE3-3BF1-443D-95FC-1ECD44B8077E}"/>
              </a:ext>
            </a:extLst>
          </p:cNvPr>
          <p:cNvSpPr>
            <a:spLocks xmlns:a="http://schemas.openxmlformats.org/drawingml/2006/main" noGrp="1"/>
          </p:cNvSpPr>
          <p:nvPr/>
        </p:nvSpPr>
        <p:spPr>
          <a:xfrm xmlns:a="http://schemas.openxmlformats.org/drawingml/2006/main">
            <a:off x="1809750" y="2495550"/>
            <a:ext cx="1828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1. Akutversorgung</a:t>
            </a:r>
          </a:p>
        </p:txBody>
      </p:sp>
      <p:sp>
        <p:nvSpPr>
          <p:cNvPr id="7" name="">
            <a:extLst xmlns:a="http://schemas.openxmlformats.org/drawingml/2006/main">
              <a:ext uri="{FF2B5EF4-FFF2-40B4-BE49-F238E27FC236}">
                <a16:creationId xmlns:a16="http://schemas.microsoft.com/office/drawing/2014/main" id="{7D2B3201-C3BC-42D9-8444-1C8E435805A8}"/>
              </a:ext>
            </a:extLst>
          </p:cNvPr>
          <p:cNvSpPr>
            <a:spLocks xmlns:a="http://schemas.openxmlformats.org/drawingml/2006/main" noGrp="1"/>
          </p:cNvSpPr>
          <p:nvPr/>
        </p:nvSpPr>
        <p:spPr>
          <a:xfrm xmlns:a="http://schemas.openxmlformats.org/drawingml/2006/main">
            <a:off x="2600325" y="2838450"/>
            <a:ext cx="247650" cy="247650"/>
          </a:xfrm>
          <a:prstGeom xmlns:a="http://schemas.openxmlformats.org/drawingml/2006/main" prst="ellipse">
            <a:avLst/>
          </a:prstGeom>
          <a:solidFill xmlns:a="http://schemas.openxmlformats.org/drawingml/2006/main">
            <a:srgbClr val="003F6B"/>
          </a:solidFill>
          <a:ln xmlns:a="http://schemas.openxmlformats.org/drawingml/2006/main" w="19050">
            <a:solidFill>
              <a:srgbClr val="FFFFFF"/>
            </a:solidFill>
            <a:prstDash val="solid"/>
          </a:ln>
        </p:spPr>
      </p:sp>
      <p:sp>
        <p:nvSpPr>
          <p:cNvPr id="8" name="">
            <a:extLst xmlns:a="http://schemas.openxmlformats.org/drawingml/2006/main">
              <a:ext uri="{FF2B5EF4-FFF2-40B4-BE49-F238E27FC236}">
                <a16:creationId xmlns:a16="http://schemas.microsoft.com/office/drawing/2014/main" id="{A689CD1E-39D4-4C60-9C99-49134A5636C9}"/>
              </a:ext>
            </a:extLst>
          </p:cNvPr>
          <p:cNvSpPr>
            <a:spLocks xmlns:a="http://schemas.openxmlformats.org/drawingml/2006/main" noGrp="1"/>
          </p:cNvSpPr>
          <p:nvPr/>
        </p:nvSpPr>
        <p:spPr>
          <a:xfrm xmlns:a="http://schemas.openxmlformats.org/drawingml/2006/main">
            <a:off x="1809750" y="3219450"/>
            <a:ext cx="1828800" cy="2000250"/>
          </a:xfrm>
          <a:prstGeom xmlns:a="http://schemas.openxmlformats.org/drawingml/2006/main" prst="roundRect">
            <a:avLst>
              <a:gd name="adj" fmla="val 4167"/>
            </a:avLst>
          </a:prstGeom>
          <a:noFill xmlns:a="http://schemas.openxmlformats.org/drawingml/2006/main"/>
          <a:ln xmlns:a="http://schemas.openxmlformats.org/drawingml/2006/main" w="9525">
            <a:solidFill>
              <a:srgbClr val="00B2BB"/>
            </a:solidFill>
            <a:prstDash val="solid"/>
          </a:ln>
        </p:spPr>
      </p:sp>
      <p:sp>
        <p:nvSpPr>
          <p:cNvPr id="9" name="">
            <a:extLst xmlns:a="http://schemas.openxmlformats.org/drawingml/2006/main">
              <a:ext uri="{FF2B5EF4-FFF2-40B4-BE49-F238E27FC236}">
                <a16:creationId xmlns:a16="http://schemas.microsoft.com/office/drawing/2014/main" id="{5A369686-D9D0-41A7-9BA7-E1B11E692D33}"/>
              </a:ext>
            </a:extLst>
          </p:cNvPr>
          <p:cNvSpPr>
            <a:spLocks xmlns:a="http://schemas.openxmlformats.org/drawingml/2006/main" noGrp="1"/>
          </p:cNvSpPr>
          <p:nvPr/>
        </p:nvSpPr>
        <p:spPr>
          <a:xfrm xmlns:a="http://schemas.openxmlformats.org/drawingml/2006/main">
            <a:off x="1905000" y="3314700"/>
            <a:ext cx="16383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Notwendige Diagnostik, Therapie und Eskalation haben Vorrang vor der juristischen Bewertung.</a:t>
            </a:r>
          </a:p>
        </p:txBody>
      </p:sp>
      <p:sp>
        <p:nvSpPr>
          <p:cNvPr id="10" name="">
            <a:extLst xmlns:a="http://schemas.openxmlformats.org/drawingml/2006/main">
              <a:ext uri="{FF2B5EF4-FFF2-40B4-BE49-F238E27FC236}">
                <a16:creationId xmlns:a16="http://schemas.microsoft.com/office/drawing/2014/main" id="{11359F36-47E1-4D11-91AB-7F6D559D9C18}"/>
              </a:ext>
            </a:extLst>
          </p:cNvPr>
          <p:cNvSpPr>
            <a:spLocks xmlns:a="http://schemas.openxmlformats.org/drawingml/2006/main" noGrp="1"/>
          </p:cNvSpPr>
          <p:nvPr/>
        </p:nvSpPr>
        <p:spPr>
          <a:xfrm xmlns:a="http://schemas.openxmlformats.org/drawingml/2006/main">
            <a:off x="3733800" y="2495550"/>
            <a:ext cx="1828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2. Hilfe holen</a:t>
            </a:r>
          </a:p>
        </p:txBody>
      </p:sp>
      <p:sp>
        <p:nvSpPr>
          <p:cNvPr id="11" name="">
            <a:extLst xmlns:a="http://schemas.openxmlformats.org/drawingml/2006/main">
              <a:ext uri="{FF2B5EF4-FFF2-40B4-BE49-F238E27FC236}">
                <a16:creationId xmlns:a16="http://schemas.microsoft.com/office/drawing/2014/main" id="{1D6B9678-3C34-4B19-B767-AB57BFFAC364}"/>
              </a:ext>
            </a:extLst>
          </p:cNvPr>
          <p:cNvSpPr>
            <a:spLocks xmlns:a="http://schemas.openxmlformats.org/drawingml/2006/main" noGrp="1"/>
          </p:cNvSpPr>
          <p:nvPr/>
        </p:nvSpPr>
        <p:spPr>
          <a:xfrm xmlns:a="http://schemas.openxmlformats.org/drawingml/2006/main">
            <a:off x="4524375" y="2838450"/>
            <a:ext cx="247650" cy="24765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12" name="">
            <a:extLst xmlns:a="http://schemas.openxmlformats.org/drawingml/2006/main">
              <a:ext uri="{FF2B5EF4-FFF2-40B4-BE49-F238E27FC236}">
                <a16:creationId xmlns:a16="http://schemas.microsoft.com/office/drawing/2014/main" id="{5F58CD36-30EF-429F-83E2-F24C62FFCD5E}"/>
              </a:ext>
            </a:extLst>
          </p:cNvPr>
          <p:cNvSpPr>
            <a:spLocks xmlns:a="http://schemas.openxmlformats.org/drawingml/2006/main" noGrp="1"/>
          </p:cNvSpPr>
          <p:nvPr/>
        </p:nvSpPr>
        <p:spPr>
          <a:xfrm xmlns:a="http://schemas.openxmlformats.org/drawingml/2006/main">
            <a:off x="3733800" y="3219450"/>
            <a:ext cx="1828800" cy="2000250"/>
          </a:xfrm>
          <a:prstGeom xmlns:a="http://schemas.openxmlformats.org/drawingml/2006/main" prst="roundRect">
            <a:avLst>
              <a:gd name="adj" fmla="val 4167"/>
            </a:avLst>
          </a:prstGeom>
          <a:noFill xmlns:a="http://schemas.openxmlformats.org/drawingml/2006/main"/>
          <a:ln xmlns:a="http://schemas.openxmlformats.org/drawingml/2006/main" w="9525">
            <a:solidFill>
              <a:srgbClr val="003F6B"/>
            </a:solidFill>
            <a:prstDash val="solid"/>
          </a:ln>
        </p:spPr>
      </p:sp>
      <p:sp>
        <p:nvSpPr>
          <p:cNvPr id="13" name="">
            <a:extLst xmlns:a="http://schemas.openxmlformats.org/drawingml/2006/main">
              <a:ext uri="{FF2B5EF4-FFF2-40B4-BE49-F238E27FC236}">
                <a16:creationId xmlns:a16="http://schemas.microsoft.com/office/drawing/2014/main" id="{7B17E43E-DEE0-4C1F-A7B3-E0DA9C5980B8}"/>
              </a:ext>
            </a:extLst>
          </p:cNvPr>
          <p:cNvSpPr>
            <a:spLocks xmlns:a="http://schemas.openxmlformats.org/drawingml/2006/main" noGrp="1"/>
          </p:cNvSpPr>
          <p:nvPr/>
        </p:nvSpPr>
        <p:spPr>
          <a:xfrm xmlns:a="http://schemas.openxmlformats.org/drawingml/2006/main">
            <a:off x="3829050" y="3314700"/>
            <a:ext cx="16383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Oberärztliche, fachärztliche oder interdisziplinäre Unterstützung wird frühzeitig angefordert und dokumentiert.</a:t>
            </a:r>
          </a:p>
        </p:txBody>
      </p:sp>
      <p:sp>
        <p:nvSpPr>
          <p:cNvPr id="14" name="">
            <a:extLst xmlns:a="http://schemas.openxmlformats.org/drawingml/2006/main">
              <a:ext uri="{FF2B5EF4-FFF2-40B4-BE49-F238E27FC236}">
                <a16:creationId xmlns:a16="http://schemas.microsoft.com/office/drawing/2014/main" id="{814DC9AA-2671-4F45-A25D-3E4B56AC09CC}"/>
              </a:ext>
            </a:extLst>
          </p:cNvPr>
          <p:cNvSpPr>
            <a:spLocks xmlns:a="http://schemas.openxmlformats.org/drawingml/2006/main" noGrp="1"/>
          </p:cNvSpPr>
          <p:nvPr/>
        </p:nvSpPr>
        <p:spPr>
          <a:xfrm xmlns:a="http://schemas.openxmlformats.org/drawingml/2006/main">
            <a:off x="5657850" y="2495550"/>
            <a:ext cx="1828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3. Fakten sichern</a:t>
            </a:r>
          </a:p>
        </p:txBody>
      </p:sp>
      <p:sp>
        <p:nvSpPr>
          <p:cNvPr id="15" name="">
            <a:extLst xmlns:a="http://schemas.openxmlformats.org/drawingml/2006/main">
              <a:ext uri="{FF2B5EF4-FFF2-40B4-BE49-F238E27FC236}">
                <a16:creationId xmlns:a16="http://schemas.microsoft.com/office/drawing/2014/main" id="{7F591939-6F5C-45C5-ADDC-C393358326B2}"/>
              </a:ext>
            </a:extLst>
          </p:cNvPr>
          <p:cNvSpPr>
            <a:spLocks xmlns:a="http://schemas.openxmlformats.org/drawingml/2006/main" noGrp="1"/>
          </p:cNvSpPr>
          <p:nvPr/>
        </p:nvSpPr>
        <p:spPr>
          <a:xfrm xmlns:a="http://schemas.openxmlformats.org/drawingml/2006/main">
            <a:off x="6448425" y="2838450"/>
            <a:ext cx="247650" cy="24765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16" name="">
            <a:extLst xmlns:a="http://schemas.openxmlformats.org/drawingml/2006/main">
              <a:ext uri="{FF2B5EF4-FFF2-40B4-BE49-F238E27FC236}">
                <a16:creationId xmlns:a16="http://schemas.microsoft.com/office/drawing/2014/main" id="{9FF44590-A90C-450A-9515-8477F0F66C4B}"/>
              </a:ext>
            </a:extLst>
          </p:cNvPr>
          <p:cNvSpPr>
            <a:spLocks xmlns:a="http://schemas.openxmlformats.org/drawingml/2006/main" noGrp="1"/>
          </p:cNvSpPr>
          <p:nvPr/>
        </p:nvSpPr>
        <p:spPr>
          <a:xfrm xmlns:a="http://schemas.openxmlformats.org/drawingml/2006/main">
            <a:off x="5657850" y="3219450"/>
            <a:ext cx="1828800" cy="2000250"/>
          </a:xfrm>
          <a:prstGeom xmlns:a="http://schemas.openxmlformats.org/drawingml/2006/main" prst="roundRect">
            <a:avLst>
              <a:gd name="adj" fmla="val 4167"/>
            </a:avLst>
          </a:prstGeom>
          <a:noFill xmlns:a="http://schemas.openxmlformats.org/drawingml/2006/main"/>
          <a:ln xmlns:a="http://schemas.openxmlformats.org/drawingml/2006/main" w="9525">
            <a:solidFill>
              <a:srgbClr val="00B2BB"/>
            </a:solidFill>
            <a:prstDash val="solid"/>
          </a:ln>
        </p:spPr>
      </p:sp>
      <p:sp>
        <p:nvSpPr>
          <p:cNvPr id="17" name="">
            <a:extLst xmlns:a="http://schemas.openxmlformats.org/drawingml/2006/main">
              <a:ext uri="{FF2B5EF4-FFF2-40B4-BE49-F238E27FC236}">
                <a16:creationId xmlns:a16="http://schemas.microsoft.com/office/drawing/2014/main" id="{18D030F2-371B-4482-9337-5682247250FA}"/>
              </a:ext>
            </a:extLst>
          </p:cNvPr>
          <p:cNvSpPr>
            <a:spLocks xmlns:a="http://schemas.openxmlformats.org/drawingml/2006/main" noGrp="1"/>
          </p:cNvSpPr>
          <p:nvPr/>
        </p:nvSpPr>
        <p:spPr>
          <a:xfrm xmlns:a="http://schemas.openxmlformats.org/drawingml/2006/main">
            <a:off x="5753100" y="3314700"/>
            <a:ext cx="16383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Zeiten, Befunde, Anordnungen, Übergaben und Beteiligte werden sachlich und zeitnah erfasst.</a:t>
            </a:r>
          </a:p>
        </p:txBody>
      </p:sp>
      <p:sp>
        <p:nvSpPr>
          <p:cNvPr id="18" name="">
            <a:extLst xmlns:a="http://schemas.openxmlformats.org/drawingml/2006/main">
              <a:ext uri="{FF2B5EF4-FFF2-40B4-BE49-F238E27FC236}">
                <a16:creationId xmlns:a16="http://schemas.microsoft.com/office/drawing/2014/main" id="{B318E83D-3C2B-4AF8-8556-3A3701A75664}"/>
              </a:ext>
            </a:extLst>
          </p:cNvPr>
          <p:cNvSpPr>
            <a:spLocks xmlns:a="http://schemas.openxmlformats.org/drawingml/2006/main" noGrp="1"/>
          </p:cNvSpPr>
          <p:nvPr/>
        </p:nvSpPr>
        <p:spPr>
          <a:xfrm xmlns:a="http://schemas.openxmlformats.org/drawingml/2006/main">
            <a:off x="7581900" y="2495550"/>
            <a:ext cx="1828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4. Interne Meldewege</a:t>
            </a:r>
          </a:p>
        </p:txBody>
      </p:sp>
      <p:sp>
        <p:nvSpPr>
          <p:cNvPr id="19" name="">
            <a:extLst xmlns:a="http://schemas.openxmlformats.org/drawingml/2006/main">
              <a:ext uri="{FF2B5EF4-FFF2-40B4-BE49-F238E27FC236}">
                <a16:creationId xmlns:a16="http://schemas.microsoft.com/office/drawing/2014/main" id="{ED36B35A-5794-4D6E-9E8D-D8C60011E1EA}"/>
              </a:ext>
            </a:extLst>
          </p:cNvPr>
          <p:cNvSpPr>
            <a:spLocks xmlns:a="http://schemas.openxmlformats.org/drawingml/2006/main" noGrp="1"/>
          </p:cNvSpPr>
          <p:nvPr/>
        </p:nvSpPr>
        <p:spPr>
          <a:xfrm xmlns:a="http://schemas.openxmlformats.org/drawingml/2006/main">
            <a:off x="8372475" y="2838450"/>
            <a:ext cx="247650" cy="24765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20" name="">
            <a:extLst xmlns:a="http://schemas.openxmlformats.org/drawingml/2006/main">
              <a:ext uri="{FF2B5EF4-FFF2-40B4-BE49-F238E27FC236}">
                <a16:creationId xmlns:a16="http://schemas.microsoft.com/office/drawing/2014/main" id="{7F09150E-D173-47C8-A682-FAECDD5DECA5}"/>
              </a:ext>
            </a:extLst>
          </p:cNvPr>
          <p:cNvSpPr>
            <a:spLocks xmlns:a="http://schemas.openxmlformats.org/drawingml/2006/main" noGrp="1"/>
          </p:cNvSpPr>
          <p:nvPr/>
        </p:nvSpPr>
        <p:spPr>
          <a:xfrm xmlns:a="http://schemas.openxmlformats.org/drawingml/2006/main">
            <a:off x="7581900" y="3219450"/>
            <a:ext cx="1828800" cy="2000250"/>
          </a:xfrm>
          <a:prstGeom xmlns:a="http://schemas.openxmlformats.org/drawingml/2006/main" prst="roundRect">
            <a:avLst>
              <a:gd name="adj" fmla="val 4167"/>
            </a:avLst>
          </a:prstGeom>
          <a:noFill xmlns:a="http://schemas.openxmlformats.org/drawingml/2006/main"/>
          <a:ln xmlns:a="http://schemas.openxmlformats.org/drawingml/2006/main" w="9525">
            <a:solidFill>
              <a:srgbClr val="003F6B"/>
            </a:solidFill>
            <a:prstDash val="solid"/>
          </a:ln>
        </p:spPr>
      </p:sp>
      <p:sp>
        <p:nvSpPr>
          <p:cNvPr id="21" name="">
            <a:extLst xmlns:a="http://schemas.openxmlformats.org/drawingml/2006/main">
              <a:ext uri="{FF2B5EF4-FFF2-40B4-BE49-F238E27FC236}">
                <a16:creationId xmlns:a16="http://schemas.microsoft.com/office/drawing/2014/main" id="{A6FCE9B7-91A1-4995-84CD-B8AB38CA48C5}"/>
              </a:ext>
            </a:extLst>
          </p:cNvPr>
          <p:cNvSpPr>
            <a:spLocks xmlns:a="http://schemas.openxmlformats.org/drawingml/2006/main" noGrp="1"/>
          </p:cNvSpPr>
          <p:nvPr/>
        </p:nvSpPr>
        <p:spPr>
          <a:xfrm xmlns:a="http://schemas.openxmlformats.org/drawingml/2006/main">
            <a:off x="7677150" y="3314700"/>
            <a:ext cx="16383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Vorgesetzte, Risikomanagement und gegebenenfalls Haftpflicht werden nach den lokalen Regeln informiert.</a:t>
            </a:r>
          </a:p>
        </p:txBody>
      </p:sp>
      <p:sp>
        <p:nvSpPr>
          <p:cNvPr id="22" name="">
            <a:extLst xmlns:a="http://schemas.openxmlformats.org/drawingml/2006/main">
              <a:ext uri="{FF2B5EF4-FFF2-40B4-BE49-F238E27FC236}">
                <a16:creationId xmlns:a16="http://schemas.microsoft.com/office/drawing/2014/main" id="{85E0841B-8116-4916-B4BB-91B6F9A4174C}"/>
              </a:ext>
            </a:extLst>
          </p:cNvPr>
          <p:cNvSpPr>
            <a:spLocks xmlns:a="http://schemas.openxmlformats.org/drawingml/2006/main" noGrp="1"/>
          </p:cNvSpPr>
          <p:nvPr/>
        </p:nvSpPr>
        <p:spPr>
          <a:xfrm xmlns:a="http://schemas.openxmlformats.org/drawingml/2006/main">
            <a:off x="9505950" y="2495550"/>
            <a:ext cx="1828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5. Kommunikation</a:t>
            </a:r>
          </a:p>
        </p:txBody>
      </p:sp>
      <p:sp>
        <p:nvSpPr>
          <p:cNvPr id="23" name="">
            <a:extLst xmlns:a="http://schemas.openxmlformats.org/drawingml/2006/main">
              <a:ext uri="{FF2B5EF4-FFF2-40B4-BE49-F238E27FC236}">
                <a16:creationId xmlns:a16="http://schemas.microsoft.com/office/drawing/2014/main" id="{7178B4A6-413F-408E-B0E4-482EE8935B66}"/>
              </a:ext>
            </a:extLst>
          </p:cNvPr>
          <p:cNvSpPr>
            <a:spLocks xmlns:a="http://schemas.openxmlformats.org/drawingml/2006/main" noGrp="1"/>
          </p:cNvSpPr>
          <p:nvPr/>
        </p:nvSpPr>
        <p:spPr>
          <a:xfrm xmlns:a="http://schemas.openxmlformats.org/drawingml/2006/main">
            <a:off x="10296525" y="2838450"/>
            <a:ext cx="247650" cy="24765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24" name="">
            <a:extLst xmlns:a="http://schemas.openxmlformats.org/drawingml/2006/main">
              <a:ext uri="{FF2B5EF4-FFF2-40B4-BE49-F238E27FC236}">
                <a16:creationId xmlns:a16="http://schemas.microsoft.com/office/drawing/2014/main" id="{EAD738B6-9D9C-4771-A4E0-A159A64A0E8C}"/>
              </a:ext>
            </a:extLst>
          </p:cNvPr>
          <p:cNvSpPr>
            <a:spLocks xmlns:a="http://schemas.openxmlformats.org/drawingml/2006/main" noGrp="1"/>
          </p:cNvSpPr>
          <p:nvPr/>
        </p:nvSpPr>
        <p:spPr>
          <a:xfrm xmlns:a="http://schemas.openxmlformats.org/drawingml/2006/main">
            <a:off x="9505950" y="3219450"/>
            <a:ext cx="1828800" cy="2000250"/>
          </a:xfrm>
          <a:prstGeom xmlns:a="http://schemas.openxmlformats.org/drawingml/2006/main" prst="roundRect">
            <a:avLst>
              <a:gd name="adj" fmla="val 4167"/>
            </a:avLst>
          </a:prstGeom>
          <a:noFill xmlns:a="http://schemas.openxmlformats.org/drawingml/2006/main"/>
          <a:ln xmlns:a="http://schemas.openxmlformats.org/drawingml/2006/main" w="9525">
            <a:solidFill>
              <a:srgbClr val="00B2BB"/>
            </a:solidFill>
            <a:prstDash val="solid"/>
          </a:ln>
        </p:spPr>
      </p:sp>
      <p:sp>
        <p:nvSpPr>
          <p:cNvPr id="25" name="">
            <a:extLst xmlns:a="http://schemas.openxmlformats.org/drawingml/2006/main">
              <a:ext uri="{FF2B5EF4-FFF2-40B4-BE49-F238E27FC236}">
                <a16:creationId xmlns:a16="http://schemas.microsoft.com/office/drawing/2014/main" id="{EE85CEDE-8E30-4DE0-B20E-DF7054507B52}"/>
              </a:ext>
            </a:extLst>
          </p:cNvPr>
          <p:cNvSpPr>
            <a:spLocks xmlns:a="http://schemas.openxmlformats.org/drawingml/2006/main" noGrp="1"/>
          </p:cNvSpPr>
          <p:nvPr/>
        </p:nvSpPr>
        <p:spPr>
          <a:xfrm xmlns:a="http://schemas.openxmlformats.org/drawingml/2006/main">
            <a:off x="9601200" y="3314700"/>
            <a:ext cx="16383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Patientin und Angehörige erhalten eine ehrliche, abgestimmte und verständliche Information über den bekannten Stand.</a:t>
            </a:r>
          </a:p>
        </p:txBody>
      </p:sp>
      <p:sp>
        <p:nvSpPr>
          <p:cNvPr id="26" name="">
            <a:extLst xmlns:a="http://schemas.openxmlformats.org/drawingml/2006/main">
              <a:ext uri="{FF2B5EF4-FFF2-40B4-BE49-F238E27FC236}">
                <a16:creationId xmlns:a16="http://schemas.microsoft.com/office/drawing/2014/main" id="{C89B1B44-5D6A-4264-8462-C6E2372CE68A}"/>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7" name="">
            <a:extLst xmlns:a="http://schemas.openxmlformats.org/drawingml/2006/main">
              <a:ext uri="{FF2B5EF4-FFF2-40B4-BE49-F238E27FC236}">
                <a16:creationId xmlns:a16="http://schemas.microsoft.com/office/drawing/2014/main" id="{45ED27E2-CE46-4E72-BF7C-D7724FF7DACE}"/>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Akutversorgung und transparente Organisation sind keine Schuldeingeständnisse, sondern professionelle Pflicht.</a:t>
            </a:r>
          </a:p>
        </p:txBody>
      </p:sp>
    </p:spTree>
    <p:extLst>
      <p:ext uri="{BB962C8B-B14F-4D97-AF65-F5344CB8AC3E}">
        <p14:creationId xmlns:p14="http://schemas.microsoft.com/office/powerpoint/2010/main" val="43637646"/>
      </p:ext>
    </p:extLst>
  </p:cSld>
</p:sld>
</file>

<file path=ppt/slides/slide52.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Sofortmaßnahmen: medizinisch und organisatorisch</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052E63CC-741E-4ACC-A2A6-F3D9F2D05801}"/>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Ein vermuteter Fehler verändert nicht die Pflicht zu bestmöglicher Weiterbehandlung.</a:t>
            </a:r>
          </a:p>
        </p:txBody>
      </p:sp>
      <p:sp>
        <p:nvSpPr>
          <p:cNvPr id="5" name="">
            <a:extLst xmlns:a="http://schemas.openxmlformats.org/drawingml/2006/main">
              <a:ext uri="{FF2B5EF4-FFF2-40B4-BE49-F238E27FC236}">
                <a16:creationId xmlns:a16="http://schemas.microsoft.com/office/drawing/2014/main" id="{766C3210-237E-4861-A827-93FD32EC2E85}"/>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61539568-74F5-4700-9481-8303D7D2AB69}"/>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7B3B5D31-9861-4E8E-A798-F03E6D9CD871}"/>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Schaden begrenzen</a:t>
            </a:r>
          </a:p>
        </p:txBody>
      </p:sp>
      <p:sp>
        <p:nvSpPr>
          <p:cNvPr id="8" name="">
            <a:extLst xmlns:a="http://schemas.openxmlformats.org/drawingml/2006/main">
              <a:ext uri="{FF2B5EF4-FFF2-40B4-BE49-F238E27FC236}">
                <a16:creationId xmlns:a16="http://schemas.microsoft.com/office/drawing/2014/main" id="{2ADCFED7-BDFD-4A14-A555-97B26E9F9C74}"/>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Weitere Gefahren werden erkannt und behandelt. Erforderliche Verlegungen oder Spezialkonsile dürfen nicht aus Angst vor Aufdeckung verzögert werden.</a:t>
            </a:r>
          </a:p>
        </p:txBody>
      </p:sp>
      <p:sp>
        <p:nvSpPr>
          <p:cNvPr id="9" name="">
            <a:extLst xmlns:a="http://schemas.openxmlformats.org/drawingml/2006/main">
              <a:ext uri="{FF2B5EF4-FFF2-40B4-BE49-F238E27FC236}">
                <a16:creationId xmlns:a16="http://schemas.microsoft.com/office/drawing/2014/main" id="{CCC20C9D-4475-499F-A2DA-A42F7171D349}"/>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7E5BFA24-0880-4542-8103-414FCA4EA490}"/>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3870F543-DCFC-46B9-B548-C1314DBEE21F}"/>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Beweismittel erhalten</a:t>
            </a:r>
          </a:p>
        </p:txBody>
      </p:sp>
      <p:sp>
        <p:nvSpPr>
          <p:cNvPr id="12" name="">
            <a:extLst xmlns:a="http://schemas.openxmlformats.org/drawingml/2006/main">
              <a:ext uri="{FF2B5EF4-FFF2-40B4-BE49-F238E27FC236}">
                <a16:creationId xmlns:a16="http://schemas.microsoft.com/office/drawing/2014/main" id="{64FE5640-3E80-4E7E-A95C-66BE7FF92D61}"/>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Medizinprodukte, Chargen, Bilddaten, Laborproben und Geräteeinstellungen werden nach internen Regeln gesichert.</a:t>
            </a:r>
          </a:p>
        </p:txBody>
      </p:sp>
      <p:sp>
        <p:nvSpPr>
          <p:cNvPr id="13" name="">
            <a:extLst xmlns:a="http://schemas.openxmlformats.org/drawingml/2006/main">
              <a:ext uri="{FF2B5EF4-FFF2-40B4-BE49-F238E27FC236}">
                <a16:creationId xmlns:a16="http://schemas.microsoft.com/office/drawing/2014/main" id="{B4F5BD7D-904C-4385-AA49-B6C8F020DC6B}"/>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61542912-4D67-497C-BB1E-F4A1AB3FFD98}"/>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9A998A37-61F5-4BAA-B3E2-0F69DFE3E7CD}"/>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Team entlasten</a:t>
            </a:r>
          </a:p>
        </p:txBody>
      </p:sp>
      <p:sp>
        <p:nvSpPr>
          <p:cNvPr id="16" name="">
            <a:extLst xmlns:a="http://schemas.openxmlformats.org/drawingml/2006/main">
              <a:ext uri="{FF2B5EF4-FFF2-40B4-BE49-F238E27FC236}">
                <a16:creationId xmlns:a16="http://schemas.microsoft.com/office/drawing/2014/main" id="{4C448E62-F206-40E7-9ACB-4A5991FD08A5}"/>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Aufgaben werden klar verteilt. Wer versorgt, wer dokumentiert, wer kommuniziert und wer koordiniert, muss benannt sein.</a:t>
            </a:r>
          </a:p>
        </p:txBody>
      </p:sp>
      <p:sp>
        <p:nvSpPr>
          <p:cNvPr id="17" name="">
            <a:extLst xmlns:a="http://schemas.openxmlformats.org/drawingml/2006/main">
              <a:ext uri="{FF2B5EF4-FFF2-40B4-BE49-F238E27FC236}">
                <a16:creationId xmlns:a16="http://schemas.microsoft.com/office/drawing/2014/main" id="{63748F74-E8D7-43B0-993D-90867D071B13}"/>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BA4E375B-B1A2-440C-8D13-798D65825231}"/>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7B6A1F24-494B-42DC-AE26-1952C8E8F590}"/>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Keine Spekulation</a:t>
            </a:r>
          </a:p>
        </p:txBody>
      </p:sp>
      <p:sp>
        <p:nvSpPr>
          <p:cNvPr id="20" name="">
            <a:extLst xmlns:a="http://schemas.openxmlformats.org/drawingml/2006/main">
              <a:ext uri="{FF2B5EF4-FFF2-40B4-BE49-F238E27FC236}">
                <a16:creationId xmlns:a16="http://schemas.microsoft.com/office/drawing/2014/main" id="{8301D199-C2EC-4BC4-B084-CE1AD386203F}"/>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Ungeklärte Ursachen werden als ungeklärt bezeichnet. Vermutungen gehören nicht als Tatsachenbehauptungen in die Kommunikation.</a:t>
            </a:r>
          </a:p>
        </p:txBody>
      </p:sp>
      <p:sp>
        <p:nvSpPr>
          <p:cNvPr id="21" name="">
            <a:extLst xmlns:a="http://schemas.openxmlformats.org/drawingml/2006/main">
              <a:ext uri="{FF2B5EF4-FFF2-40B4-BE49-F238E27FC236}">
                <a16:creationId xmlns:a16="http://schemas.microsoft.com/office/drawing/2014/main" id="{2588E379-0A03-4BCC-AD07-CC0C4ABEA552}"/>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638B4754-507C-4433-BBF1-1A8AD7F2723E}"/>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Professionelles Krisenhandeln verbindet Patientensicherheit, Beweissicherung und faire Kommunikation.</a:t>
            </a:r>
          </a:p>
        </p:txBody>
      </p:sp>
    </p:spTree>
    <p:extLst>
      <p:ext uri="{BB962C8B-B14F-4D97-AF65-F5344CB8AC3E}">
        <p14:creationId xmlns:p14="http://schemas.microsoft.com/office/powerpoint/2010/main" val="43637646"/>
      </p:ext>
    </p:extLst>
  </p:cSld>
</p:sld>
</file>

<file path=ppt/slides/slide53.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Informationspflicht bei erkennbaren Umständen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NORM IM FOKUS · § 630c BGB</a:t>
            </a:r>
            <a:endParaRPr/>
          </a:p>
        </p:txBody>
      </p:sp>
      <p:sp>
        <p:nvSpPr>
          <p:cNvPr id="4" name="">
            <a:extLst xmlns:a="http://schemas.openxmlformats.org/drawingml/2006/main">
              <a:ext uri="{FF2B5EF4-FFF2-40B4-BE49-F238E27FC236}">
                <a16:creationId xmlns:a16="http://schemas.microsoft.com/office/drawing/2014/main" id="{892E72D7-61EA-4F79-BE75-01F633FA4897}"/>
              </a:ext>
            </a:extLst>
          </p:cNvPr>
          <p:cNvSpPr>
            <a:spLocks xmlns:a="http://schemas.openxmlformats.org/drawingml/2006/main" noGrp="1"/>
          </p:cNvSpPr>
          <p:nvPr/>
        </p:nvSpPr>
        <p:spPr>
          <a:xfrm xmlns:a="http://schemas.openxmlformats.org/drawingml/2006/main">
            <a:off x="1809750" y="1924050"/>
            <a:ext cx="2286000" cy="704850"/>
          </a:xfrm>
          <a:prstGeom xmlns:a="http://schemas.openxmlformats.org/drawingml/2006/main" prst="roundRect">
            <a:avLst>
              <a:gd name="adj" fmla="val 10811"/>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074F805A-F0C3-4084-ABFC-3E44106210C2}"/>
              </a:ext>
            </a:extLst>
          </p:cNvPr>
          <p:cNvSpPr>
            <a:spLocks xmlns:a="http://schemas.openxmlformats.org/drawingml/2006/main" noGrp="1"/>
          </p:cNvSpPr>
          <p:nvPr/>
        </p:nvSpPr>
        <p:spPr>
          <a:xfrm xmlns:a="http://schemas.openxmlformats.org/drawingml/2006/main">
            <a:off x="1924050" y="1971675"/>
            <a:ext cx="2057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75" b="1">
                <a:solidFill>
                  <a:srgbClr val="FFFFFF"/>
                </a:solidFill>
              </a:defRPr>
            </a:pPr>
            <a:r>
              <a:rPr sz="1875" b="1">
                <a:solidFill>
                  <a:srgbClr val="FFFFFF"/>
                </a:solidFill>
              </a:rPr>
              <a:t>§ 630c BGB</a:t>
            </a:r>
          </a:p>
        </p:txBody>
      </p:sp>
      <p:sp>
        <p:nvSpPr>
          <p:cNvPr id="6" name="">
            <a:extLst xmlns:a="http://schemas.openxmlformats.org/drawingml/2006/main">
              <a:ext uri="{FF2B5EF4-FFF2-40B4-BE49-F238E27FC236}">
                <a16:creationId xmlns:a16="http://schemas.microsoft.com/office/drawing/2014/main" id="{166AECDC-30FF-45D3-A1B3-CCE004751358}"/>
              </a:ext>
            </a:extLst>
          </p:cNvPr>
          <p:cNvSpPr>
            <a:spLocks xmlns:a="http://schemas.openxmlformats.org/drawingml/2006/main" noGrp="1"/>
          </p:cNvSpPr>
          <p:nvPr/>
        </p:nvSpPr>
        <p:spPr>
          <a:xfrm xmlns:a="http://schemas.openxmlformats.org/drawingml/2006/main">
            <a:off x="4362450" y="1924050"/>
            <a:ext cx="6972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15">
                <a:solidFill>
                  <a:srgbClr val="667680"/>
                </a:solidFill>
              </a:defRPr>
            </a:pPr>
            <a:r>
              <a:rPr sz="1215">
                <a:solidFill>
                  <a:srgbClr val="667680"/>
                </a:solidFill>
              </a:rPr>
              <a:t>§ 630c BGB konkretisiert die Zusammenarbeit im Behandlungsverhältnis und enthält Informationspflichten, auch bei Umständen, die einen Behandlungsfehler begründen können.</a:t>
            </a:r>
          </a:p>
        </p:txBody>
      </p:sp>
      <p:sp>
        <p:nvSpPr>
          <p:cNvPr id="7" name="">
            <a:extLst xmlns:a="http://schemas.openxmlformats.org/drawingml/2006/main">
              <a:ext uri="{FF2B5EF4-FFF2-40B4-BE49-F238E27FC236}">
                <a16:creationId xmlns:a16="http://schemas.microsoft.com/office/drawing/2014/main" id="{048E3290-3C8D-422F-8A88-8341E6763EB0}"/>
              </a:ext>
            </a:extLst>
          </p:cNvPr>
          <p:cNvSpPr>
            <a:spLocks xmlns:a="http://schemas.openxmlformats.org/drawingml/2006/main" noGrp="1"/>
          </p:cNvSpPr>
          <p:nvPr/>
        </p:nvSpPr>
        <p:spPr>
          <a:xfrm xmlns:a="http://schemas.openxmlformats.org/drawingml/2006/main">
            <a:off x="1809750" y="2781300"/>
            <a:ext cx="476250" cy="414338"/>
          </a:xfrm>
          <a:prstGeom xmlns:a="http://schemas.openxmlformats.org/drawingml/2006/main" prst="roundRect">
            <a:avLst>
              <a:gd name="adj" fmla="val 18391"/>
            </a:avLst>
          </a:prstGeom>
          <a:solidFill xmlns:a="http://schemas.openxmlformats.org/drawingml/2006/main">
            <a:srgbClr val="00B2BB"/>
          </a:solidFill>
          <a:ln xmlns:a="http://schemas.openxmlformats.org/drawingml/2006/main" w="0">
            <a:solidFill>
              <a:srgbClr val="00B2BB"/>
            </a:solidFill>
            <a:prstDash val="solid"/>
          </a:ln>
        </p:spPr>
      </p:sp>
      <p:sp>
        <p:nvSpPr>
          <p:cNvPr id="8" name="">
            <a:extLst xmlns:a="http://schemas.openxmlformats.org/drawingml/2006/main">
              <a:ext uri="{FF2B5EF4-FFF2-40B4-BE49-F238E27FC236}">
                <a16:creationId xmlns:a16="http://schemas.microsoft.com/office/drawing/2014/main" id="{84CE3AA9-652C-49C7-B4B6-49C015FADE53}"/>
              </a:ext>
            </a:extLst>
          </p:cNvPr>
          <p:cNvSpPr>
            <a:spLocks xmlns:a="http://schemas.openxmlformats.org/drawingml/2006/main" noGrp="1"/>
          </p:cNvSpPr>
          <p:nvPr/>
        </p:nvSpPr>
        <p:spPr>
          <a:xfrm xmlns:a="http://schemas.openxmlformats.org/drawingml/2006/main">
            <a:off x="1809750" y="2781300"/>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9" name="">
            <a:extLst xmlns:a="http://schemas.openxmlformats.org/drawingml/2006/main">
              <a:ext uri="{FF2B5EF4-FFF2-40B4-BE49-F238E27FC236}">
                <a16:creationId xmlns:a16="http://schemas.microsoft.com/office/drawing/2014/main" id="{1D82656D-A031-4066-9918-08C70E016E83}"/>
              </a:ext>
            </a:extLst>
          </p:cNvPr>
          <p:cNvSpPr>
            <a:spLocks xmlns:a="http://schemas.openxmlformats.org/drawingml/2006/main" noGrp="1"/>
          </p:cNvSpPr>
          <p:nvPr/>
        </p:nvSpPr>
        <p:spPr>
          <a:xfrm xmlns:a="http://schemas.openxmlformats.org/drawingml/2006/main">
            <a:off x="2438400" y="2790825"/>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Zusammenwirken</a:t>
            </a:r>
          </a:p>
        </p:txBody>
      </p:sp>
      <p:sp>
        <p:nvSpPr>
          <p:cNvPr id="10" name="">
            <a:extLst xmlns:a="http://schemas.openxmlformats.org/drawingml/2006/main">
              <a:ext uri="{FF2B5EF4-FFF2-40B4-BE49-F238E27FC236}">
                <a16:creationId xmlns:a16="http://schemas.microsoft.com/office/drawing/2014/main" id="{2399E436-6C44-4A2E-B5C8-9585CDBFE748}"/>
              </a:ext>
            </a:extLst>
          </p:cNvPr>
          <p:cNvSpPr>
            <a:spLocks xmlns:a="http://schemas.openxmlformats.org/drawingml/2006/main" noGrp="1"/>
          </p:cNvSpPr>
          <p:nvPr/>
        </p:nvSpPr>
        <p:spPr>
          <a:xfrm xmlns:a="http://schemas.openxmlformats.org/drawingml/2006/main">
            <a:off x="4591050" y="2790825"/>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Behandelnde und Patient sollen zur Durchführung der Behandlung zusammenwirken; wesentliche Umstände werden verständlich erläutert.</a:t>
            </a:r>
          </a:p>
        </p:txBody>
      </p:sp>
      <p:sp>
        <p:nvSpPr>
          <p:cNvPr id="11" name="">
            <a:extLst xmlns:a="http://schemas.openxmlformats.org/drawingml/2006/main">
              <a:ext uri="{FF2B5EF4-FFF2-40B4-BE49-F238E27FC236}">
                <a16:creationId xmlns:a16="http://schemas.microsoft.com/office/drawing/2014/main" id="{1CE2CA91-63FC-4F8E-BA3B-EAD8E0669CF9}"/>
              </a:ext>
            </a:extLst>
          </p:cNvPr>
          <p:cNvSpPr>
            <a:spLocks xmlns:a="http://schemas.openxmlformats.org/drawingml/2006/main" noGrp="1"/>
          </p:cNvSpPr>
          <p:nvPr/>
        </p:nvSpPr>
        <p:spPr>
          <a:xfrm xmlns:a="http://schemas.openxmlformats.org/drawingml/2006/main">
            <a:off x="1809750" y="3271838"/>
            <a:ext cx="476250" cy="414338"/>
          </a:xfrm>
          <a:prstGeom xmlns:a="http://schemas.openxmlformats.org/drawingml/2006/main" prst="roundRect">
            <a:avLst>
              <a:gd name="adj" fmla="val 18391"/>
            </a:avLst>
          </a:prstGeom>
          <a:solidFill xmlns:a="http://schemas.openxmlformats.org/drawingml/2006/main">
            <a:srgbClr val="003F6B"/>
          </a:solidFill>
          <a:ln xmlns:a="http://schemas.openxmlformats.org/drawingml/2006/main" w="0">
            <a:solidFill>
              <a:srgbClr val="003F6B"/>
            </a:solidFill>
            <a:prstDash val="solid"/>
          </a:ln>
        </p:spPr>
      </p:sp>
      <p:sp>
        <p:nvSpPr>
          <p:cNvPr id="12" name="">
            <a:extLst xmlns:a="http://schemas.openxmlformats.org/drawingml/2006/main">
              <a:ext uri="{FF2B5EF4-FFF2-40B4-BE49-F238E27FC236}">
                <a16:creationId xmlns:a16="http://schemas.microsoft.com/office/drawing/2014/main" id="{EC7430B3-3B13-4608-9D34-97A16AB6ED5A}"/>
              </a:ext>
            </a:extLst>
          </p:cNvPr>
          <p:cNvSpPr>
            <a:spLocks xmlns:a="http://schemas.openxmlformats.org/drawingml/2006/main" noGrp="1"/>
          </p:cNvSpPr>
          <p:nvPr/>
        </p:nvSpPr>
        <p:spPr>
          <a:xfrm xmlns:a="http://schemas.openxmlformats.org/drawingml/2006/main">
            <a:off x="1809750" y="3271838"/>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3" name="">
            <a:extLst xmlns:a="http://schemas.openxmlformats.org/drawingml/2006/main">
              <a:ext uri="{FF2B5EF4-FFF2-40B4-BE49-F238E27FC236}">
                <a16:creationId xmlns:a16="http://schemas.microsoft.com/office/drawing/2014/main" id="{42621DC4-7475-4B91-A56C-C8B8ACF36204}"/>
              </a:ext>
            </a:extLst>
          </p:cNvPr>
          <p:cNvSpPr>
            <a:spLocks xmlns:a="http://schemas.openxmlformats.org/drawingml/2006/main" noGrp="1"/>
          </p:cNvSpPr>
          <p:nvPr/>
        </p:nvSpPr>
        <p:spPr>
          <a:xfrm xmlns:a="http://schemas.openxmlformats.org/drawingml/2006/main">
            <a:off x="2438400" y="3281363"/>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Fehlerbezogene Information</a:t>
            </a:r>
          </a:p>
        </p:txBody>
      </p:sp>
      <p:sp>
        <p:nvSpPr>
          <p:cNvPr id="14" name="">
            <a:extLst xmlns:a="http://schemas.openxmlformats.org/drawingml/2006/main">
              <a:ext uri="{FF2B5EF4-FFF2-40B4-BE49-F238E27FC236}">
                <a16:creationId xmlns:a16="http://schemas.microsoft.com/office/drawing/2014/main" id="{E350B0CD-FA2F-45D3-8C2B-91B751CBF3BE}"/>
              </a:ext>
            </a:extLst>
          </p:cNvPr>
          <p:cNvSpPr>
            <a:spLocks xmlns:a="http://schemas.openxmlformats.org/drawingml/2006/main" noGrp="1"/>
          </p:cNvSpPr>
          <p:nvPr/>
        </p:nvSpPr>
        <p:spPr>
          <a:xfrm xmlns:a="http://schemas.openxmlformats.org/drawingml/2006/main">
            <a:off x="4591050" y="3281363"/>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Sind Umstände erkennbar, die die Annahme eines Behandlungsfehlers begründen, ist darüber auf Nachfrage oder zur Abwendung gesundheitlicher Gefahren zu informieren.</a:t>
            </a:r>
          </a:p>
        </p:txBody>
      </p:sp>
      <p:sp>
        <p:nvSpPr>
          <p:cNvPr id="15" name="">
            <a:extLst xmlns:a="http://schemas.openxmlformats.org/drawingml/2006/main">
              <a:ext uri="{FF2B5EF4-FFF2-40B4-BE49-F238E27FC236}">
                <a16:creationId xmlns:a16="http://schemas.microsoft.com/office/drawing/2014/main" id="{43B6C7D1-1281-499F-82EE-6CAC734560A8}"/>
              </a:ext>
            </a:extLst>
          </p:cNvPr>
          <p:cNvSpPr>
            <a:spLocks xmlns:a="http://schemas.openxmlformats.org/drawingml/2006/main" noGrp="1"/>
          </p:cNvSpPr>
          <p:nvPr/>
        </p:nvSpPr>
        <p:spPr>
          <a:xfrm xmlns:a="http://schemas.openxmlformats.org/drawingml/2006/main">
            <a:off x="1809750" y="3762375"/>
            <a:ext cx="476250" cy="414338"/>
          </a:xfrm>
          <a:prstGeom xmlns:a="http://schemas.openxmlformats.org/drawingml/2006/main" prst="roundRect">
            <a:avLst>
              <a:gd name="adj" fmla="val 18391"/>
            </a:avLst>
          </a:prstGeom>
          <a:solidFill xmlns:a="http://schemas.openxmlformats.org/drawingml/2006/main">
            <a:srgbClr val="00B2BB"/>
          </a:solidFill>
          <a:ln xmlns:a="http://schemas.openxmlformats.org/drawingml/2006/main" w="0">
            <a:solidFill>
              <a:srgbClr val="00B2BB"/>
            </a:solidFill>
            <a:prstDash val="solid"/>
          </a:ln>
        </p:spPr>
      </p:sp>
      <p:sp>
        <p:nvSpPr>
          <p:cNvPr id="16" name="">
            <a:extLst xmlns:a="http://schemas.openxmlformats.org/drawingml/2006/main">
              <a:ext uri="{FF2B5EF4-FFF2-40B4-BE49-F238E27FC236}">
                <a16:creationId xmlns:a16="http://schemas.microsoft.com/office/drawing/2014/main" id="{F00D96F4-CFD1-4336-9117-CAF03A17295D}"/>
              </a:ext>
            </a:extLst>
          </p:cNvPr>
          <p:cNvSpPr>
            <a:spLocks xmlns:a="http://schemas.openxmlformats.org/drawingml/2006/main" noGrp="1"/>
          </p:cNvSpPr>
          <p:nvPr/>
        </p:nvSpPr>
        <p:spPr>
          <a:xfrm xmlns:a="http://schemas.openxmlformats.org/drawingml/2006/main">
            <a:off x="1809750" y="3762375"/>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7" name="">
            <a:extLst xmlns:a="http://schemas.openxmlformats.org/drawingml/2006/main">
              <a:ext uri="{FF2B5EF4-FFF2-40B4-BE49-F238E27FC236}">
                <a16:creationId xmlns:a16="http://schemas.microsoft.com/office/drawing/2014/main" id="{FF7D449B-7A97-4B27-A2CD-6BB1E8C86161}"/>
              </a:ext>
            </a:extLst>
          </p:cNvPr>
          <p:cNvSpPr>
            <a:spLocks xmlns:a="http://schemas.openxmlformats.org/drawingml/2006/main" noGrp="1"/>
          </p:cNvSpPr>
          <p:nvPr/>
        </p:nvSpPr>
        <p:spPr>
          <a:xfrm xmlns:a="http://schemas.openxmlformats.org/drawingml/2006/main">
            <a:off x="2438400" y="3771900"/>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Selbstbelastungsschutz</a:t>
            </a:r>
          </a:p>
        </p:txBody>
      </p:sp>
      <p:sp>
        <p:nvSpPr>
          <p:cNvPr id="18" name="">
            <a:extLst xmlns:a="http://schemas.openxmlformats.org/drawingml/2006/main">
              <a:ext uri="{FF2B5EF4-FFF2-40B4-BE49-F238E27FC236}">
                <a16:creationId xmlns:a16="http://schemas.microsoft.com/office/drawing/2014/main" id="{0F404631-BDFC-453B-8817-32B155B0BBFC}"/>
              </a:ext>
            </a:extLst>
          </p:cNvPr>
          <p:cNvSpPr>
            <a:spLocks xmlns:a="http://schemas.openxmlformats.org/drawingml/2006/main" noGrp="1"/>
          </p:cNvSpPr>
          <p:nvPr/>
        </p:nvSpPr>
        <p:spPr>
          <a:xfrm xmlns:a="http://schemas.openxmlformats.org/drawingml/2006/main">
            <a:off x="4591050" y="3771900"/>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Die gesetzliche Regelung begrenzt die Verwertbarkeit der Information in Strafverfahren oder Bußgeldverfahren gegen die informierende Person ohne deren Zustimmung.</a:t>
            </a:r>
          </a:p>
        </p:txBody>
      </p:sp>
      <p:sp>
        <p:nvSpPr>
          <p:cNvPr id="19" name="">
            <a:extLst xmlns:a="http://schemas.openxmlformats.org/drawingml/2006/main">
              <a:ext uri="{FF2B5EF4-FFF2-40B4-BE49-F238E27FC236}">
                <a16:creationId xmlns:a16="http://schemas.microsoft.com/office/drawing/2014/main" id="{602C9C08-1D1E-45D0-B5D9-1EB13D91DB5A}"/>
              </a:ext>
            </a:extLst>
          </p:cNvPr>
          <p:cNvSpPr>
            <a:spLocks xmlns:a="http://schemas.openxmlformats.org/drawingml/2006/main" noGrp="1"/>
          </p:cNvSpPr>
          <p:nvPr/>
        </p:nvSpPr>
        <p:spPr>
          <a:xfrm xmlns:a="http://schemas.openxmlformats.org/drawingml/2006/main">
            <a:off x="1809750" y="4252913"/>
            <a:ext cx="476250" cy="414338"/>
          </a:xfrm>
          <a:prstGeom xmlns:a="http://schemas.openxmlformats.org/drawingml/2006/main" prst="roundRect">
            <a:avLst>
              <a:gd name="adj" fmla="val 18391"/>
            </a:avLst>
          </a:prstGeom>
          <a:solidFill xmlns:a="http://schemas.openxmlformats.org/drawingml/2006/main">
            <a:srgbClr val="003F6B"/>
          </a:solidFill>
          <a:ln xmlns:a="http://schemas.openxmlformats.org/drawingml/2006/main" w="0">
            <a:solidFill>
              <a:srgbClr val="003F6B"/>
            </a:solidFill>
            <a:prstDash val="solid"/>
          </a:ln>
        </p:spPr>
      </p:sp>
      <p:sp>
        <p:nvSpPr>
          <p:cNvPr id="20" name="">
            <a:extLst xmlns:a="http://schemas.openxmlformats.org/drawingml/2006/main">
              <a:ext uri="{FF2B5EF4-FFF2-40B4-BE49-F238E27FC236}">
                <a16:creationId xmlns:a16="http://schemas.microsoft.com/office/drawing/2014/main" id="{0C349680-004F-4383-A411-349414DFAFBE}"/>
              </a:ext>
            </a:extLst>
          </p:cNvPr>
          <p:cNvSpPr>
            <a:spLocks xmlns:a="http://schemas.openxmlformats.org/drawingml/2006/main" noGrp="1"/>
          </p:cNvSpPr>
          <p:nvPr/>
        </p:nvSpPr>
        <p:spPr>
          <a:xfrm xmlns:a="http://schemas.openxmlformats.org/drawingml/2006/main">
            <a:off x="1809750" y="4252913"/>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21" name="">
            <a:extLst xmlns:a="http://schemas.openxmlformats.org/drawingml/2006/main">
              <a:ext uri="{FF2B5EF4-FFF2-40B4-BE49-F238E27FC236}">
                <a16:creationId xmlns:a16="http://schemas.microsoft.com/office/drawing/2014/main" id="{D769EAB0-1280-4143-9AAF-AD41FD1990DC}"/>
              </a:ext>
            </a:extLst>
          </p:cNvPr>
          <p:cNvSpPr>
            <a:spLocks xmlns:a="http://schemas.openxmlformats.org/drawingml/2006/main" noGrp="1"/>
          </p:cNvSpPr>
          <p:nvPr/>
        </p:nvSpPr>
        <p:spPr>
          <a:xfrm xmlns:a="http://schemas.openxmlformats.org/drawingml/2006/main">
            <a:off x="2438400" y="4262438"/>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Trennung von Ebenen</a:t>
            </a:r>
          </a:p>
        </p:txBody>
      </p:sp>
      <p:sp>
        <p:nvSpPr>
          <p:cNvPr id="22" name="">
            <a:extLst xmlns:a="http://schemas.openxmlformats.org/drawingml/2006/main">
              <a:ext uri="{FF2B5EF4-FFF2-40B4-BE49-F238E27FC236}">
                <a16:creationId xmlns:a16="http://schemas.microsoft.com/office/drawing/2014/main" id="{17845B19-4B59-4D0A-93CE-A38081FA6BD2}"/>
              </a:ext>
            </a:extLst>
          </p:cNvPr>
          <p:cNvSpPr>
            <a:spLocks xmlns:a="http://schemas.openxmlformats.org/drawingml/2006/main" noGrp="1"/>
          </p:cNvSpPr>
          <p:nvPr/>
        </p:nvSpPr>
        <p:spPr>
          <a:xfrm xmlns:a="http://schemas.openxmlformats.org/drawingml/2006/main">
            <a:off x="4591050" y="4262438"/>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Ehrliche medizinische Information ist nicht identisch mit einer abschließenden Haftungsanerkennung.</a:t>
            </a:r>
          </a:p>
        </p:txBody>
      </p:sp>
      <p:sp>
        <p:nvSpPr>
          <p:cNvPr id="23" name="">
            <a:extLst xmlns:a="http://schemas.openxmlformats.org/drawingml/2006/main">
              <a:ext uri="{FF2B5EF4-FFF2-40B4-BE49-F238E27FC236}">
                <a16:creationId xmlns:a16="http://schemas.microsoft.com/office/drawing/2014/main" id="{756BB798-F1AE-494E-8652-8B653FA67D52}"/>
              </a:ext>
            </a:extLst>
          </p:cNvPr>
          <p:cNvSpPr>
            <a:spLocks xmlns:a="http://schemas.openxmlformats.org/drawingml/2006/main" noGrp="1"/>
          </p:cNvSpPr>
          <p:nvPr/>
        </p:nvSpPr>
        <p:spPr>
          <a:xfrm xmlns:a="http://schemas.openxmlformats.org/drawingml/2006/main">
            <a:off x="1809750" y="4781550"/>
            <a:ext cx="9525000" cy="666750"/>
          </a:xfrm>
          <a:prstGeom xmlns:a="http://schemas.openxmlformats.org/drawingml/2006/main" prst="roundRect">
            <a:avLst>
              <a:gd name="adj" fmla="val 11429"/>
            </a:avLst>
          </a:prstGeom>
          <a:solidFill xmlns:a="http://schemas.openxmlformats.org/drawingml/2006/main">
            <a:srgbClr val="EAF6FB"/>
          </a:solidFill>
          <a:ln xmlns:a="http://schemas.openxmlformats.org/drawingml/2006/main" w="9525">
            <a:solidFill>
              <a:srgbClr val="00B2BB"/>
            </a:solidFill>
            <a:prstDash val="solid"/>
          </a:ln>
        </p:spPr>
      </p:sp>
      <p:sp>
        <p:nvSpPr>
          <p:cNvPr id="24" name="">
            <a:extLst xmlns:a="http://schemas.openxmlformats.org/drawingml/2006/main">
              <a:ext uri="{FF2B5EF4-FFF2-40B4-BE49-F238E27FC236}">
                <a16:creationId xmlns:a16="http://schemas.microsoft.com/office/drawing/2014/main" id="{E621E891-5E17-4BA3-AE10-E0823E36E420}"/>
              </a:ext>
            </a:extLst>
          </p:cNvPr>
          <p:cNvSpPr>
            <a:spLocks xmlns:a="http://schemas.openxmlformats.org/drawingml/2006/main" noGrp="1"/>
          </p:cNvSpPr>
          <p:nvPr/>
        </p:nvSpPr>
        <p:spPr>
          <a:xfrm xmlns:a="http://schemas.openxmlformats.org/drawingml/2006/main">
            <a:off x="1981200" y="4829175"/>
            <a:ext cx="9182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065">
                <a:solidFill>
                  <a:srgbClr val="15232B"/>
                </a:solidFill>
              </a:defRPr>
            </a:pPr>
            <a:r>
              <a:rPr sz="1065">
                <a:solidFill>
                  <a:srgbClr val="15232B"/>
                </a:solidFill>
              </a:rPr>
              <a:t>Beispiel · Beispiel: Nach erkennbarer Medikamentenverwechslung wird über den bekannten Ablauf, mögliche Folgen und notwendige Kontrollen informiert; die rechtliche Endbewertung bleibt offen.</a:t>
            </a:r>
          </a:p>
        </p:txBody>
      </p:sp>
      <p:sp>
        <p:nvSpPr>
          <p:cNvPr id="25" name="">
            <a:extLst xmlns:a="http://schemas.openxmlformats.org/drawingml/2006/main">
              <a:ext uri="{FF2B5EF4-FFF2-40B4-BE49-F238E27FC236}">
                <a16:creationId xmlns:a16="http://schemas.microsoft.com/office/drawing/2014/main" id="{D537848D-A42D-41FA-B5FD-CE43CD884513}"/>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6" name="">
            <a:extLst xmlns:a="http://schemas.openxmlformats.org/drawingml/2006/main">
              <a:ext uri="{FF2B5EF4-FFF2-40B4-BE49-F238E27FC236}">
                <a16:creationId xmlns:a16="http://schemas.microsoft.com/office/drawing/2014/main" id="{6820E087-024F-47B8-82DC-F7060DB06DB6}"/>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Transparenz soll Gesundheit schützen und Vertrauen ermöglichen, ohne vorschnelle juristische Etiketten.</a:t>
            </a:r>
          </a:p>
        </p:txBody>
      </p:sp>
    </p:spTree>
    <p:extLst>
      <p:ext uri="{BB962C8B-B14F-4D97-AF65-F5344CB8AC3E}">
        <p14:creationId xmlns:p14="http://schemas.microsoft.com/office/powerpoint/2010/main" val="43637646"/>
      </p:ext>
    </p:extLst>
  </p:cSld>
</p:sld>
</file>

<file path=ppt/slides/slide54.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Gespräch nach einem Zwischenfall</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E9C9B9A3-341C-4A2E-9EE6-3792DB5ED608}"/>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Ein gutes Gespräch beantwortet den gesicherten Sachstand und die nächsten Schritte, ohne Lücken mit Vermutungen zu füllen.</a:t>
            </a:r>
          </a:p>
        </p:txBody>
      </p:sp>
      <p:sp>
        <p:nvSpPr>
          <p:cNvPr id="5" name="">
            <a:extLst xmlns:a="http://schemas.openxmlformats.org/drawingml/2006/main">
              <a:ext uri="{FF2B5EF4-FFF2-40B4-BE49-F238E27FC236}">
                <a16:creationId xmlns:a16="http://schemas.microsoft.com/office/drawing/2014/main" id="{DDCE509A-CCFC-4D1D-9DC1-3553486DBAD2}"/>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3CBCEA58-323E-4975-A401-B0B257B8E760}"/>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94A667CD-7D4C-42A7-957C-404C92C7DF6E}"/>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Vorbereiten</a:t>
            </a:r>
          </a:p>
        </p:txBody>
      </p:sp>
      <p:sp>
        <p:nvSpPr>
          <p:cNvPr id="8" name="">
            <a:extLst xmlns:a="http://schemas.openxmlformats.org/drawingml/2006/main">
              <a:ext uri="{FF2B5EF4-FFF2-40B4-BE49-F238E27FC236}">
                <a16:creationId xmlns:a16="http://schemas.microsoft.com/office/drawing/2014/main" id="{425379BF-C7E9-4379-A370-0CB7DC31F0DD}"/>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Gesprächsführende, Ort, Zeit, aktuelle Fakten und offene Fragen werden abgestimmt. Bei Bedarf werden Dolmetschung oder Vertrauenspersonen organisiert.</a:t>
            </a:r>
          </a:p>
        </p:txBody>
      </p:sp>
      <p:sp>
        <p:nvSpPr>
          <p:cNvPr id="9" name="">
            <a:extLst xmlns:a="http://schemas.openxmlformats.org/drawingml/2006/main">
              <a:ext uri="{FF2B5EF4-FFF2-40B4-BE49-F238E27FC236}">
                <a16:creationId xmlns:a16="http://schemas.microsoft.com/office/drawing/2014/main" id="{EC157ACA-5C38-422E-8E86-7585B8E5FA37}"/>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1386A211-34E2-413C-8116-23B52C42F1A0}"/>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0940DD33-D6EC-4C46-B5FE-8F9688C93693}"/>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Wahrnehmen</a:t>
            </a:r>
          </a:p>
        </p:txBody>
      </p:sp>
      <p:sp>
        <p:nvSpPr>
          <p:cNvPr id="12" name="">
            <a:extLst xmlns:a="http://schemas.openxmlformats.org/drawingml/2006/main">
              <a:ext uri="{FF2B5EF4-FFF2-40B4-BE49-F238E27FC236}">
                <a16:creationId xmlns:a16="http://schemas.microsoft.com/office/drawing/2014/main" id="{8C50A43B-3B89-4D47-838F-A0302B40A878}"/>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Belastung, Ärger und Sorge werden anerkannt. Eine empathische Entschuldigung für Leid ist nicht automatisch ein Haftungsanerkenntnis.</a:t>
            </a:r>
          </a:p>
        </p:txBody>
      </p:sp>
      <p:sp>
        <p:nvSpPr>
          <p:cNvPr id="13" name="">
            <a:extLst xmlns:a="http://schemas.openxmlformats.org/drawingml/2006/main">
              <a:ext uri="{FF2B5EF4-FFF2-40B4-BE49-F238E27FC236}">
                <a16:creationId xmlns:a16="http://schemas.microsoft.com/office/drawing/2014/main" id="{885F8AB2-83C7-4589-874F-F820E78FCB13}"/>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521EBB30-BC59-40EF-8BF0-1378736AED00}"/>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917AB6AE-C7ED-444D-829B-8F4F5B39C41F}"/>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Erklären</a:t>
            </a:r>
          </a:p>
        </p:txBody>
      </p:sp>
      <p:sp>
        <p:nvSpPr>
          <p:cNvPr id="16" name="">
            <a:extLst xmlns:a="http://schemas.openxmlformats.org/drawingml/2006/main">
              <a:ext uri="{FF2B5EF4-FFF2-40B4-BE49-F238E27FC236}">
                <a16:creationId xmlns:a16="http://schemas.microsoft.com/office/drawing/2014/main" id="{42A17714-C4CF-4848-AFE9-D3EDFA1E21D9}"/>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Gesicherte Tatsachen, derzeit unbekannte Punkte und die weitere medizinische Planung werden sprachlich getrennt.</a:t>
            </a:r>
          </a:p>
        </p:txBody>
      </p:sp>
      <p:sp>
        <p:nvSpPr>
          <p:cNvPr id="17" name="">
            <a:extLst xmlns:a="http://schemas.openxmlformats.org/drawingml/2006/main">
              <a:ext uri="{FF2B5EF4-FFF2-40B4-BE49-F238E27FC236}">
                <a16:creationId xmlns:a16="http://schemas.microsoft.com/office/drawing/2014/main" id="{E37F9DA2-7C31-48CA-8889-B529920DC639}"/>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1A5E2BC4-1EB3-4EE1-9C7C-495296E2C43F}"/>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9AA13D6C-FE38-49F1-A2B6-810A4742CCEB}"/>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Nachhalten</a:t>
            </a:r>
          </a:p>
        </p:txBody>
      </p:sp>
      <p:sp>
        <p:nvSpPr>
          <p:cNvPr id="20" name="">
            <a:extLst xmlns:a="http://schemas.openxmlformats.org/drawingml/2006/main">
              <a:ext uri="{FF2B5EF4-FFF2-40B4-BE49-F238E27FC236}">
                <a16:creationId xmlns:a16="http://schemas.microsoft.com/office/drawing/2014/main" id="{23215B8A-248A-4625-BAC7-02ACF986D075}"/>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Fragen, Gesprächsinhalte, Vereinbarungen und nächste Kontaktzeit werden dokumentiert.</a:t>
            </a:r>
          </a:p>
        </p:txBody>
      </p:sp>
      <p:sp>
        <p:nvSpPr>
          <p:cNvPr id="21" name="">
            <a:extLst xmlns:a="http://schemas.openxmlformats.org/drawingml/2006/main">
              <a:ext uri="{FF2B5EF4-FFF2-40B4-BE49-F238E27FC236}">
                <a16:creationId xmlns:a16="http://schemas.microsoft.com/office/drawing/2014/main" id="{EDE9CFBA-6426-429F-AD89-71A7A6BD67CF}"/>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473226A8-2629-4D97-BEE3-152106971EEE}"/>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Glaubwürdigkeit entsteht durch Klarheit darüber, was bekannt, unbekannt und als Nächstes geplant ist.</a:t>
            </a:r>
          </a:p>
        </p:txBody>
      </p:sp>
    </p:spTree>
    <p:extLst>
      <p:ext uri="{BB962C8B-B14F-4D97-AF65-F5344CB8AC3E}">
        <p14:creationId xmlns:p14="http://schemas.microsoft.com/office/powerpoint/2010/main" val="43637646"/>
      </p:ext>
    </p:extLst>
  </p:cSld>
</p:sld>
</file>

<file path=ppt/slides/slide55.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Dokumentieren – aber richtig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E31AF7BB-F02A-4C1D-9285-09E8C04DAB25}"/>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Die Behandlungsdokumentation dient primär der Therapie und Kontinuität; später wird sie zugleich ein zentrales Beweismittel.</a:t>
            </a:r>
          </a:p>
        </p:txBody>
      </p:sp>
      <p:sp>
        <p:nvSpPr>
          <p:cNvPr id="5" name="">
            <a:extLst xmlns:a="http://schemas.openxmlformats.org/drawingml/2006/main">
              <a:ext uri="{FF2B5EF4-FFF2-40B4-BE49-F238E27FC236}">
                <a16:creationId xmlns:a16="http://schemas.microsoft.com/office/drawing/2014/main" id="{CAE69AE0-A5E0-4144-A303-CF96A7C78B53}"/>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BD3474B9-DD9B-482C-BBE0-9D7B2CB56433}"/>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9E9D889D-97B6-4DA6-BE07-F316C4570313}"/>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Zeitnah und konkret</a:t>
            </a:r>
          </a:p>
        </p:txBody>
      </p:sp>
      <p:sp>
        <p:nvSpPr>
          <p:cNvPr id="8" name="">
            <a:extLst xmlns:a="http://schemas.openxmlformats.org/drawingml/2006/main">
              <a:ext uri="{FF2B5EF4-FFF2-40B4-BE49-F238E27FC236}">
                <a16:creationId xmlns:a16="http://schemas.microsoft.com/office/drawing/2014/main" id="{2C3588EE-1FD5-4FFF-8546-16181BBC98DC}"/>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Befunde, Bewertungen, Entscheidungen, Aufklärung und Maßnahmen werden mit nachvollziehbarem Zeitbezug erfasst.</a:t>
            </a:r>
          </a:p>
        </p:txBody>
      </p:sp>
      <p:sp>
        <p:nvSpPr>
          <p:cNvPr id="9" name="">
            <a:extLst xmlns:a="http://schemas.openxmlformats.org/drawingml/2006/main">
              <a:ext uri="{FF2B5EF4-FFF2-40B4-BE49-F238E27FC236}">
                <a16:creationId xmlns:a16="http://schemas.microsoft.com/office/drawing/2014/main" id="{DC4D04A7-F058-4B01-9C27-DEDD9148DADE}"/>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51AA8683-99D2-46C2-B889-1B52CEE924C8}"/>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260C72A5-94FE-42CF-9880-76E54B4F6191}"/>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Beobachtung und Bewertung trennen</a:t>
            </a:r>
          </a:p>
        </p:txBody>
      </p:sp>
      <p:sp>
        <p:nvSpPr>
          <p:cNvPr id="12" name="">
            <a:extLst xmlns:a="http://schemas.openxmlformats.org/drawingml/2006/main">
              <a:ext uri="{FF2B5EF4-FFF2-40B4-BE49-F238E27FC236}">
                <a16:creationId xmlns:a16="http://schemas.microsoft.com/office/drawing/2014/main" id="{E84473F1-4F0E-458D-AA88-5522185D0E2C}"/>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Zum Beispiel: „RR 80/50, kaltschweißig“ ist Beobachtung; „wahrscheinlich hypovoläm“ ist klinische Bewertung.</a:t>
            </a:r>
          </a:p>
        </p:txBody>
      </p:sp>
      <p:sp>
        <p:nvSpPr>
          <p:cNvPr id="13" name="">
            <a:extLst xmlns:a="http://schemas.openxmlformats.org/drawingml/2006/main">
              <a:ext uri="{FF2B5EF4-FFF2-40B4-BE49-F238E27FC236}">
                <a16:creationId xmlns:a16="http://schemas.microsoft.com/office/drawing/2014/main" id="{F3464494-2F3B-48E2-AC5A-A9BEC7FB71AA}"/>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E001B6AA-6241-4A1E-A957-EDF29EF67D5C}"/>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8D1238BD-D70F-407E-A8A9-13D012D380CD}"/>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Nachträge kenntlich machen</a:t>
            </a:r>
          </a:p>
        </p:txBody>
      </p:sp>
      <p:sp>
        <p:nvSpPr>
          <p:cNvPr id="16" name="">
            <a:extLst xmlns:a="http://schemas.openxmlformats.org/drawingml/2006/main">
              <a:ext uri="{FF2B5EF4-FFF2-40B4-BE49-F238E27FC236}">
                <a16:creationId xmlns:a16="http://schemas.microsoft.com/office/drawing/2014/main" id="{6A3C1274-011A-4E65-9218-4B207E54E29A}"/>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Spätere Ergänzungen dürfen nicht den Eindruck eines ursprünglichen Eintrags erwecken. Zeitpunkt und Anlass des Nachtrags bleiben erkennbar.</a:t>
            </a:r>
          </a:p>
        </p:txBody>
      </p:sp>
      <p:sp>
        <p:nvSpPr>
          <p:cNvPr id="17" name="">
            <a:extLst xmlns:a="http://schemas.openxmlformats.org/drawingml/2006/main">
              <a:ext uri="{FF2B5EF4-FFF2-40B4-BE49-F238E27FC236}">
                <a16:creationId xmlns:a16="http://schemas.microsoft.com/office/drawing/2014/main" id="{8357B9D3-D19A-4C7F-9CAE-0BBF9A007394}"/>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AB59C84F-5DF2-4352-A741-781E1F48C5B1}"/>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DD959245-6013-4508-AECB-68DB4B8FE2DA}"/>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Keine Aktenkosmetik</a:t>
            </a:r>
          </a:p>
        </p:txBody>
      </p:sp>
      <p:sp>
        <p:nvSpPr>
          <p:cNvPr id="20" name="">
            <a:extLst xmlns:a="http://schemas.openxmlformats.org/drawingml/2006/main">
              <a:ext uri="{FF2B5EF4-FFF2-40B4-BE49-F238E27FC236}">
                <a16:creationId xmlns:a16="http://schemas.microsoft.com/office/drawing/2014/main" id="{F9CA660A-DD17-4F44-B525-97B5C3B3B9C0}"/>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Löschen, rückdatieren oder nachträglich harmonisieren gefährdet Glaubwürdigkeit und kann zusätzliche rechtliche Probleme auslösen.</a:t>
            </a:r>
          </a:p>
        </p:txBody>
      </p:sp>
      <p:sp>
        <p:nvSpPr>
          <p:cNvPr id="21" name="">
            <a:extLst xmlns:a="http://schemas.openxmlformats.org/drawingml/2006/main">
              <a:ext uri="{FF2B5EF4-FFF2-40B4-BE49-F238E27FC236}">
                <a16:creationId xmlns:a16="http://schemas.microsoft.com/office/drawing/2014/main" id="{E23A3FD1-7FDD-448D-9B58-9A34711C5D3D}"/>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BE06D7F3-95F5-4D77-9142-9B8B0B6C81AF}"/>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Eine gute Akte rekonstruiert den damaligen Entscheidungsweg, nicht eine nachträglich perfekte Geschichte.</a:t>
            </a:r>
          </a:p>
        </p:txBody>
      </p:sp>
    </p:spTree>
    <p:extLst>
      <p:ext uri="{BB962C8B-B14F-4D97-AF65-F5344CB8AC3E}">
        <p14:creationId xmlns:p14="http://schemas.microsoft.com/office/powerpoint/2010/main" val="43637646"/>
      </p:ext>
    </p:extLst>
  </p:cSld>
</p:sld>
</file>

<file path=ppt/slides/slide56.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Dokumentationspflicht</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NORM IM FOKUS · § 630f BGB</a:t>
            </a:r>
            <a:endParaRPr/>
          </a:p>
        </p:txBody>
      </p:sp>
      <p:sp>
        <p:nvSpPr>
          <p:cNvPr id="4" name="">
            <a:extLst xmlns:a="http://schemas.openxmlformats.org/drawingml/2006/main">
              <a:ext uri="{FF2B5EF4-FFF2-40B4-BE49-F238E27FC236}">
                <a16:creationId xmlns:a16="http://schemas.microsoft.com/office/drawing/2014/main" id="{91275F94-8057-4210-AAF6-070ABA023D29}"/>
              </a:ext>
            </a:extLst>
          </p:cNvPr>
          <p:cNvSpPr>
            <a:spLocks xmlns:a="http://schemas.openxmlformats.org/drawingml/2006/main" noGrp="1"/>
          </p:cNvSpPr>
          <p:nvPr/>
        </p:nvSpPr>
        <p:spPr>
          <a:xfrm xmlns:a="http://schemas.openxmlformats.org/drawingml/2006/main">
            <a:off x="1809750" y="1924050"/>
            <a:ext cx="2286000" cy="704850"/>
          </a:xfrm>
          <a:prstGeom xmlns:a="http://schemas.openxmlformats.org/drawingml/2006/main" prst="roundRect">
            <a:avLst>
              <a:gd name="adj" fmla="val 10811"/>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B5AD9F17-D3C8-4F5E-9829-85A698D4AC71}"/>
              </a:ext>
            </a:extLst>
          </p:cNvPr>
          <p:cNvSpPr>
            <a:spLocks xmlns:a="http://schemas.openxmlformats.org/drawingml/2006/main" noGrp="1"/>
          </p:cNvSpPr>
          <p:nvPr/>
        </p:nvSpPr>
        <p:spPr>
          <a:xfrm xmlns:a="http://schemas.openxmlformats.org/drawingml/2006/main">
            <a:off x="1924050" y="1971675"/>
            <a:ext cx="2057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75" b="1">
                <a:solidFill>
                  <a:srgbClr val="FFFFFF"/>
                </a:solidFill>
              </a:defRPr>
            </a:pPr>
            <a:r>
              <a:rPr sz="1875" b="1">
                <a:solidFill>
                  <a:srgbClr val="FFFFFF"/>
                </a:solidFill>
              </a:rPr>
              <a:t>§ 630f BGB</a:t>
            </a:r>
          </a:p>
        </p:txBody>
      </p:sp>
      <p:sp>
        <p:nvSpPr>
          <p:cNvPr id="6" name="">
            <a:extLst xmlns:a="http://schemas.openxmlformats.org/drawingml/2006/main">
              <a:ext uri="{FF2B5EF4-FFF2-40B4-BE49-F238E27FC236}">
                <a16:creationId xmlns:a16="http://schemas.microsoft.com/office/drawing/2014/main" id="{A3438EC7-FB2B-428C-9F50-4DF631828412}"/>
              </a:ext>
            </a:extLst>
          </p:cNvPr>
          <p:cNvSpPr>
            <a:spLocks xmlns:a="http://schemas.openxmlformats.org/drawingml/2006/main" noGrp="1"/>
          </p:cNvSpPr>
          <p:nvPr/>
        </p:nvSpPr>
        <p:spPr>
          <a:xfrm xmlns:a="http://schemas.openxmlformats.org/drawingml/2006/main">
            <a:off x="4362450" y="1924050"/>
            <a:ext cx="6972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15">
                <a:solidFill>
                  <a:srgbClr val="667680"/>
                </a:solidFill>
              </a:defRPr>
            </a:pPr>
            <a:r>
              <a:rPr sz="1215">
                <a:solidFill>
                  <a:srgbClr val="667680"/>
                </a:solidFill>
              </a:rPr>
              <a:t>Die Norm verlangt eine zeitnahe Behandlungsakte in Papierform oder elektronisch und schützt die Nachvollziehbarkeit der Behandlung.</a:t>
            </a:r>
          </a:p>
        </p:txBody>
      </p:sp>
      <p:sp>
        <p:nvSpPr>
          <p:cNvPr id="7" name="">
            <a:extLst xmlns:a="http://schemas.openxmlformats.org/drawingml/2006/main">
              <a:ext uri="{FF2B5EF4-FFF2-40B4-BE49-F238E27FC236}">
                <a16:creationId xmlns:a16="http://schemas.microsoft.com/office/drawing/2014/main" id="{5B179274-19D4-44E6-819E-1D3F77C784C1}"/>
              </a:ext>
            </a:extLst>
          </p:cNvPr>
          <p:cNvSpPr>
            <a:spLocks xmlns:a="http://schemas.openxmlformats.org/drawingml/2006/main" noGrp="1"/>
          </p:cNvSpPr>
          <p:nvPr/>
        </p:nvSpPr>
        <p:spPr>
          <a:xfrm xmlns:a="http://schemas.openxmlformats.org/drawingml/2006/main">
            <a:off x="1809750" y="2781300"/>
            <a:ext cx="476250" cy="414338"/>
          </a:xfrm>
          <a:prstGeom xmlns:a="http://schemas.openxmlformats.org/drawingml/2006/main" prst="roundRect">
            <a:avLst>
              <a:gd name="adj" fmla="val 18391"/>
            </a:avLst>
          </a:prstGeom>
          <a:solidFill xmlns:a="http://schemas.openxmlformats.org/drawingml/2006/main">
            <a:srgbClr val="00B2BB"/>
          </a:solidFill>
          <a:ln xmlns:a="http://schemas.openxmlformats.org/drawingml/2006/main" w="0">
            <a:solidFill>
              <a:srgbClr val="00B2BB"/>
            </a:solidFill>
            <a:prstDash val="solid"/>
          </a:ln>
        </p:spPr>
      </p:sp>
      <p:sp>
        <p:nvSpPr>
          <p:cNvPr id="8" name="">
            <a:extLst xmlns:a="http://schemas.openxmlformats.org/drawingml/2006/main">
              <a:ext uri="{FF2B5EF4-FFF2-40B4-BE49-F238E27FC236}">
                <a16:creationId xmlns:a16="http://schemas.microsoft.com/office/drawing/2014/main" id="{629AC3B6-FEBF-495D-8237-524440A6BBDB}"/>
              </a:ext>
            </a:extLst>
          </p:cNvPr>
          <p:cNvSpPr>
            <a:spLocks xmlns:a="http://schemas.openxmlformats.org/drawingml/2006/main" noGrp="1"/>
          </p:cNvSpPr>
          <p:nvPr/>
        </p:nvSpPr>
        <p:spPr>
          <a:xfrm xmlns:a="http://schemas.openxmlformats.org/drawingml/2006/main">
            <a:off x="1809750" y="2781300"/>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9" name="">
            <a:extLst xmlns:a="http://schemas.openxmlformats.org/drawingml/2006/main">
              <a:ext uri="{FF2B5EF4-FFF2-40B4-BE49-F238E27FC236}">
                <a16:creationId xmlns:a16="http://schemas.microsoft.com/office/drawing/2014/main" id="{157B908C-AF83-4EE0-949B-491A40472D4E}"/>
              </a:ext>
            </a:extLst>
          </p:cNvPr>
          <p:cNvSpPr>
            <a:spLocks xmlns:a="http://schemas.openxmlformats.org/drawingml/2006/main" noGrp="1"/>
          </p:cNvSpPr>
          <p:nvPr/>
        </p:nvSpPr>
        <p:spPr>
          <a:xfrm xmlns:a="http://schemas.openxmlformats.org/drawingml/2006/main">
            <a:off x="2438400" y="2790825"/>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Inhalt</a:t>
            </a:r>
          </a:p>
        </p:txBody>
      </p:sp>
      <p:sp>
        <p:nvSpPr>
          <p:cNvPr id="10" name="">
            <a:extLst xmlns:a="http://schemas.openxmlformats.org/drawingml/2006/main">
              <a:ext uri="{FF2B5EF4-FFF2-40B4-BE49-F238E27FC236}">
                <a16:creationId xmlns:a16="http://schemas.microsoft.com/office/drawing/2014/main" id="{EBF92EF0-DB1A-40CE-9B4C-0C0E05B8B690}"/>
              </a:ext>
            </a:extLst>
          </p:cNvPr>
          <p:cNvSpPr>
            <a:spLocks xmlns:a="http://schemas.openxmlformats.org/drawingml/2006/main" noGrp="1"/>
          </p:cNvSpPr>
          <p:nvPr/>
        </p:nvSpPr>
        <p:spPr>
          <a:xfrm xmlns:a="http://schemas.openxmlformats.org/drawingml/2006/main">
            <a:off x="4591050" y="2790825"/>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Aufzuzeichnen sind aus fachlicher Sicht wesentliche Maßnahmen und Ergebnisse, insbesondere Anamnese, Diagnosen, Untersuchungen, Therapien, Eingriffe und Aufklärungen.</a:t>
            </a:r>
          </a:p>
        </p:txBody>
      </p:sp>
      <p:sp>
        <p:nvSpPr>
          <p:cNvPr id="11" name="">
            <a:extLst xmlns:a="http://schemas.openxmlformats.org/drawingml/2006/main">
              <a:ext uri="{FF2B5EF4-FFF2-40B4-BE49-F238E27FC236}">
                <a16:creationId xmlns:a16="http://schemas.microsoft.com/office/drawing/2014/main" id="{DC9BC649-BA28-408B-A224-491D9BA1C259}"/>
              </a:ext>
            </a:extLst>
          </p:cNvPr>
          <p:cNvSpPr>
            <a:spLocks xmlns:a="http://schemas.openxmlformats.org/drawingml/2006/main" noGrp="1"/>
          </p:cNvSpPr>
          <p:nvPr/>
        </p:nvSpPr>
        <p:spPr>
          <a:xfrm xmlns:a="http://schemas.openxmlformats.org/drawingml/2006/main">
            <a:off x="1809750" y="3271838"/>
            <a:ext cx="476250" cy="414338"/>
          </a:xfrm>
          <a:prstGeom xmlns:a="http://schemas.openxmlformats.org/drawingml/2006/main" prst="roundRect">
            <a:avLst>
              <a:gd name="adj" fmla="val 18391"/>
            </a:avLst>
          </a:prstGeom>
          <a:solidFill xmlns:a="http://schemas.openxmlformats.org/drawingml/2006/main">
            <a:srgbClr val="003F6B"/>
          </a:solidFill>
          <a:ln xmlns:a="http://schemas.openxmlformats.org/drawingml/2006/main" w="0">
            <a:solidFill>
              <a:srgbClr val="003F6B"/>
            </a:solidFill>
            <a:prstDash val="solid"/>
          </a:ln>
        </p:spPr>
      </p:sp>
      <p:sp>
        <p:nvSpPr>
          <p:cNvPr id="12" name="">
            <a:extLst xmlns:a="http://schemas.openxmlformats.org/drawingml/2006/main">
              <a:ext uri="{FF2B5EF4-FFF2-40B4-BE49-F238E27FC236}">
                <a16:creationId xmlns:a16="http://schemas.microsoft.com/office/drawing/2014/main" id="{A765D456-885D-4DB8-81BB-AEDF17513388}"/>
              </a:ext>
            </a:extLst>
          </p:cNvPr>
          <p:cNvSpPr>
            <a:spLocks xmlns:a="http://schemas.openxmlformats.org/drawingml/2006/main" noGrp="1"/>
          </p:cNvSpPr>
          <p:nvPr/>
        </p:nvSpPr>
        <p:spPr>
          <a:xfrm xmlns:a="http://schemas.openxmlformats.org/drawingml/2006/main">
            <a:off x="1809750" y="3271838"/>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3" name="">
            <a:extLst xmlns:a="http://schemas.openxmlformats.org/drawingml/2006/main">
              <a:ext uri="{FF2B5EF4-FFF2-40B4-BE49-F238E27FC236}">
                <a16:creationId xmlns:a16="http://schemas.microsoft.com/office/drawing/2014/main" id="{AE7C49B7-AAC1-4D6D-850E-C5F570053704}"/>
              </a:ext>
            </a:extLst>
          </p:cNvPr>
          <p:cNvSpPr>
            <a:spLocks xmlns:a="http://schemas.openxmlformats.org/drawingml/2006/main" noGrp="1"/>
          </p:cNvSpPr>
          <p:nvPr/>
        </p:nvSpPr>
        <p:spPr>
          <a:xfrm xmlns:a="http://schemas.openxmlformats.org/drawingml/2006/main">
            <a:off x="2438400" y="3281363"/>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Änderungen</a:t>
            </a:r>
          </a:p>
        </p:txBody>
      </p:sp>
      <p:sp>
        <p:nvSpPr>
          <p:cNvPr id="14" name="">
            <a:extLst xmlns:a="http://schemas.openxmlformats.org/drawingml/2006/main">
              <a:ext uri="{FF2B5EF4-FFF2-40B4-BE49-F238E27FC236}">
                <a16:creationId xmlns:a16="http://schemas.microsoft.com/office/drawing/2014/main" id="{3C16A176-EE4E-4EEA-84B0-F64687601C6A}"/>
              </a:ext>
            </a:extLst>
          </p:cNvPr>
          <p:cNvSpPr>
            <a:spLocks xmlns:a="http://schemas.openxmlformats.org/drawingml/2006/main" noGrp="1"/>
          </p:cNvSpPr>
          <p:nvPr/>
        </p:nvSpPr>
        <p:spPr>
          <a:xfrm xmlns:a="http://schemas.openxmlformats.org/drawingml/2006/main">
            <a:off x="4591050" y="3281363"/>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Berichtigungen und Änderungen müssen den ursprünglichen Inhalt erkennen lassen; auch der Änderungszeitpunkt muss nachvollziehbar bleiben.</a:t>
            </a:r>
          </a:p>
        </p:txBody>
      </p:sp>
      <p:sp>
        <p:nvSpPr>
          <p:cNvPr id="15" name="">
            <a:extLst xmlns:a="http://schemas.openxmlformats.org/drawingml/2006/main">
              <a:ext uri="{FF2B5EF4-FFF2-40B4-BE49-F238E27FC236}">
                <a16:creationId xmlns:a16="http://schemas.microsoft.com/office/drawing/2014/main" id="{EDE366FC-DA19-4035-A64F-2AB1CB645651}"/>
              </a:ext>
            </a:extLst>
          </p:cNvPr>
          <p:cNvSpPr>
            <a:spLocks xmlns:a="http://schemas.openxmlformats.org/drawingml/2006/main" noGrp="1"/>
          </p:cNvSpPr>
          <p:nvPr/>
        </p:nvSpPr>
        <p:spPr>
          <a:xfrm xmlns:a="http://schemas.openxmlformats.org/drawingml/2006/main">
            <a:off x="1809750" y="3762375"/>
            <a:ext cx="476250" cy="414338"/>
          </a:xfrm>
          <a:prstGeom xmlns:a="http://schemas.openxmlformats.org/drawingml/2006/main" prst="roundRect">
            <a:avLst>
              <a:gd name="adj" fmla="val 18391"/>
            </a:avLst>
          </a:prstGeom>
          <a:solidFill xmlns:a="http://schemas.openxmlformats.org/drawingml/2006/main">
            <a:srgbClr val="00B2BB"/>
          </a:solidFill>
          <a:ln xmlns:a="http://schemas.openxmlformats.org/drawingml/2006/main" w="0">
            <a:solidFill>
              <a:srgbClr val="00B2BB"/>
            </a:solidFill>
            <a:prstDash val="solid"/>
          </a:ln>
        </p:spPr>
      </p:sp>
      <p:sp>
        <p:nvSpPr>
          <p:cNvPr id="16" name="">
            <a:extLst xmlns:a="http://schemas.openxmlformats.org/drawingml/2006/main">
              <a:ext uri="{FF2B5EF4-FFF2-40B4-BE49-F238E27FC236}">
                <a16:creationId xmlns:a16="http://schemas.microsoft.com/office/drawing/2014/main" id="{C4C2A19A-38E6-4E3B-A96A-E5F59C507940}"/>
              </a:ext>
            </a:extLst>
          </p:cNvPr>
          <p:cNvSpPr>
            <a:spLocks xmlns:a="http://schemas.openxmlformats.org/drawingml/2006/main" noGrp="1"/>
          </p:cNvSpPr>
          <p:nvPr/>
        </p:nvSpPr>
        <p:spPr>
          <a:xfrm xmlns:a="http://schemas.openxmlformats.org/drawingml/2006/main">
            <a:off x="1809750" y="3762375"/>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7" name="">
            <a:extLst xmlns:a="http://schemas.openxmlformats.org/drawingml/2006/main">
              <a:ext uri="{FF2B5EF4-FFF2-40B4-BE49-F238E27FC236}">
                <a16:creationId xmlns:a16="http://schemas.microsoft.com/office/drawing/2014/main" id="{719EA14B-D6AA-4DA2-AF70-DDF88EF5D6DC}"/>
              </a:ext>
            </a:extLst>
          </p:cNvPr>
          <p:cNvSpPr>
            <a:spLocks xmlns:a="http://schemas.openxmlformats.org/drawingml/2006/main" noGrp="1"/>
          </p:cNvSpPr>
          <p:nvPr/>
        </p:nvSpPr>
        <p:spPr>
          <a:xfrm xmlns:a="http://schemas.openxmlformats.org/drawingml/2006/main">
            <a:off x="2438400" y="3771900"/>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Aufbewahrung</a:t>
            </a:r>
          </a:p>
        </p:txBody>
      </p:sp>
      <p:sp>
        <p:nvSpPr>
          <p:cNvPr id="18" name="">
            <a:extLst xmlns:a="http://schemas.openxmlformats.org/drawingml/2006/main">
              <a:ext uri="{FF2B5EF4-FFF2-40B4-BE49-F238E27FC236}">
                <a16:creationId xmlns:a16="http://schemas.microsoft.com/office/drawing/2014/main" id="{3AD85B4A-33B6-4E05-A6AB-095969F38D72}"/>
              </a:ext>
            </a:extLst>
          </p:cNvPr>
          <p:cNvSpPr>
            <a:spLocks xmlns:a="http://schemas.openxmlformats.org/drawingml/2006/main" noGrp="1"/>
          </p:cNvSpPr>
          <p:nvPr/>
        </p:nvSpPr>
        <p:spPr>
          <a:xfrm xmlns:a="http://schemas.openxmlformats.org/drawingml/2006/main">
            <a:off x="4591050" y="3771900"/>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Die Akte ist grundsätzlich zehn Jahre nach Abschluss der Behandlung aufzubewahren, soweit nicht andere Vorschriften längere Fristen verlangen.</a:t>
            </a:r>
          </a:p>
        </p:txBody>
      </p:sp>
      <p:sp>
        <p:nvSpPr>
          <p:cNvPr id="19" name="">
            <a:extLst xmlns:a="http://schemas.openxmlformats.org/drawingml/2006/main">
              <a:ext uri="{FF2B5EF4-FFF2-40B4-BE49-F238E27FC236}">
                <a16:creationId xmlns:a16="http://schemas.microsoft.com/office/drawing/2014/main" id="{BCF083B4-E0F8-4146-8975-C184B42ABB40}"/>
              </a:ext>
            </a:extLst>
          </p:cNvPr>
          <p:cNvSpPr>
            <a:spLocks xmlns:a="http://schemas.openxmlformats.org/drawingml/2006/main" noGrp="1"/>
          </p:cNvSpPr>
          <p:nvPr/>
        </p:nvSpPr>
        <p:spPr>
          <a:xfrm xmlns:a="http://schemas.openxmlformats.org/drawingml/2006/main">
            <a:off x="1809750" y="4252913"/>
            <a:ext cx="476250" cy="414338"/>
          </a:xfrm>
          <a:prstGeom xmlns:a="http://schemas.openxmlformats.org/drawingml/2006/main" prst="roundRect">
            <a:avLst>
              <a:gd name="adj" fmla="val 18391"/>
            </a:avLst>
          </a:prstGeom>
          <a:solidFill xmlns:a="http://schemas.openxmlformats.org/drawingml/2006/main">
            <a:srgbClr val="003F6B"/>
          </a:solidFill>
          <a:ln xmlns:a="http://schemas.openxmlformats.org/drawingml/2006/main" w="0">
            <a:solidFill>
              <a:srgbClr val="003F6B"/>
            </a:solidFill>
            <a:prstDash val="solid"/>
          </a:ln>
        </p:spPr>
      </p:sp>
      <p:sp>
        <p:nvSpPr>
          <p:cNvPr id="20" name="">
            <a:extLst xmlns:a="http://schemas.openxmlformats.org/drawingml/2006/main">
              <a:ext uri="{FF2B5EF4-FFF2-40B4-BE49-F238E27FC236}">
                <a16:creationId xmlns:a16="http://schemas.microsoft.com/office/drawing/2014/main" id="{F3D2A40A-9038-4B1E-A55B-AB15A83ADAE3}"/>
              </a:ext>
            </a:extLst>
          </p:cNvPr>
          <p:cNvSpPr>
            <a:spLocks xmlns:a="http://schemas.openxmlformats.org/drawingml/2006/main" noGrp="1"/>
          </p:cNvSpPr>
          <p:nvPr/>
        </p:nvSpPr>
        <p:spPr>
          <a:xfrm xmlns:a="http://schemas.openxmlformats.org/drawingml/2006/main">
            <a:off x="1809750" y="4252913"/>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21" name="">
            <a:extLst xmlns:a="http://schemas.openxmlformats.org/drawingml/2006/main">
              <a:ext uri="{FF2B5EF4-FFF2-40B4-BE49-F238E27FC236}">
                <a16:creationId xmlns:a16="http://schemas.microsoft.com/office/drawing/2014/main" id="{C23F0C4F-F113-4F18-9650-237A0CF6849C}"/>
              </a:ext>
            </a:extLst>
          </p:cNvPr>
          <p:cNvSpPr>
            <a:spLocks xmlns:a="http://schemas.openxmlformats.org/drawingml/2006/main" noGrp="1"/>
          </p:cNvSpPr>
          <p:nvPr/>
        </p:nvSpPr>
        <p:spPr>
          <a:xfrm xmlns:a="http://schemas.openxmlformats.org/drawingml/2006/main">
            <a:off x="2438400" y="4262438"/>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Beweisfolge</a:t>
            </a:r>
          </a:p>
        </p:txBody>
      </p:sp>
      <p:sp>
        <p:nvSpPr>
          <p:cNvPr id="22" name="">
            <a:extLst xmlns:a="http://schemas.openxmlformats.org/drawingml/2006/main">
              <a:ext uri="{FF2B5EF4-FFF2-40B4-BE49-F238E27FC236}">
                <a16:creationId xmlns:a16="http://schemas.microsoft.com/office/drawing/2014/main" id="{4227C920-61B7-4300-AEF0-39A4F3041BE4}"/>
              </a:ext>
            </a:extLst>
          </p:cNvPr>
          <p:cNvSpPr>
            <a:spLocks xmlns:a="http://schemas.openxmlformats.org/drawingml/2006/main" noGrp="1"/>
          </p:cNvSpPr>
          <p:nvPr/>
        </p:nvSpPr>
        <p:spPr>
          <a:xfrm xmlns:a="http://schemas.openxmlformats.org/drawingml/2006/main">
            <a:off x="4591050" y="4262438"/>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Fehlt eine medizinisch gebotene wesentliche Maßnahme in der Dokumentation, kann § 630h Abs. 3 BGB die Vermutung auslösen, dass sie nicht erfolgt ist.</a:t>
            </a:r>
          </a:p>
        </p:txBody>
      </p:sp>
      <p:sp>
        <p:nvSpPr>
          <p:cNvPr id="23" name="">
            <a:extLst xmlns:a="http://schemas.openxmlformats.org/drawingml/2006/main">
              <a:ext uri="{FF2B5EF4-FFF2-40B4-BE49-F238E27FC236}">
                <a16:creationId xmlns:a16="http://schemas.microsoft.com/office/drawing/2014/main" id="{B472197D-895D-48F8-9784-3DBDD6758482}"/>
              </a:ext>
            </a:extLst>
          </p:cNvPr>
          <p:cNvSpPr>
            <a:spLocks xmlns:a="http://schemas.openxmlformats.org/drawingml/2006/main" noGrp="1"/>
          </p:cNvSpPr>
          <p:nvPr/>
        </p:nvSpPr>
        <p:spPr>
          <a:xfrm xmlns:a="http://schemas.openxmlformats.org/drawingml/2006/main">
            <a:off x="1809750" y="4781550"/>
            <a:ext cx="9525000" cy="666750"/>
          </a:xfrm>
          <a:prstGeom xmlns:a="http://schemas.openxmlformats.org/drawingml/2006/main" prst="roundRect">
            <a:avLst>
              <a:gd name="adj" fmla="val 11429"/>
            </a:avLst>
          </a:prstGeom>
          <a:solidFill xmlns:a="http://schemas.openxmlformats.org/drawingml/2006/main">
            <a:srgbClr val="EAF6FB"/>
          </a:solidFill>
          <a:ln xmlns:a="http://schemas.openxmlformats.org/drawingml/2006/main" w="9525">
            <a:solidFill>
              <a:srgbClr val="00B2BB"/>
            </a:solidFill>
            <a:prstDash val="solid"/>
          </a:ln>
        </p:spPr>
      </p:sp>
      <p:sp>
        <p:nvSpPr>
          <p:cNvPr id="24" name="">
            <a:extLst xmlns:a="http://schemas.openxmlformats.org/drawingml/2006/main">
              <a:ext uri="{FF2B5EF4-FFF2-40B4-BE49-F238E27FC236}">
                <a16:creationId xmlns:a16="http://schemas.microsoft.com/office/drawing/2014/main" id="{BFE12EEA-EC30-414C-8B10-A745E3D2DC85}"/>
              </a:ext>
            </a:extLst>
          </p:cNvPr>
          <p:cNvSpPr>
            <a:spLocks xmlns:a="http://schemas.openxmlformats.org/drawingml/2006/main" noGrp="1"/>
          </p:cNvSpPr>
          <p:nvPr/>
        </p:nvSpPr>
        <p:spPr>
          <a:xfrm xmlns:a="http://schemas.openxmlformats.org/drawingml/2006/main">
            <a:off x="1981200" y="4829175"/>
            <a:ext cx="9182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065">
                <a:solidFill>
                  <a:srgbClr val="15232B"/>
                </a:solidFill>
              </a:defRPr>
            </a:pPr>
            <a:r>
              <a:rPr sz="1065">
                <a:solidFill>
                  <a:srgbClr val="15232B"/>
                </a:solidFill>
              </a:rPr>
              <a:t>Beispiel · Beispiel: Eine angeblich durchgeführte neurologische Kontrolle ist weder mit Befunden noch mit Uhrzeit dokumentiert; im Prozess wird ihre Durchführung streitig.</a:t>
            </a:r>
          </a:p>
        </p:txBody>
      </p:sp>
      <p:sp>
        <p:nvSpPr>
          <p:cNvPr id="25" name="">
            <a:extLst xmlns:a="http://schemas.openxmlformats.org/drawingml/2006/main">
              <a:ext uri="{FF2B5EF4-FFF2-40B4-BE49-F238E27FC236}">
                <a16:creationId xmlns:a16="http://schemas.microsoft.com/office/drawing/2014/main" id="{6F6A9394-6C7B-4199-8C72-2886948DFC44}"/>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6" name="">
            <a:extLst xmlns:a="http://schemas.openxmlformats.org/drawingml/2006/main">
              <a:ext uri="{FF2B5EF4-FFF2-40B4-BE49-F238E27FC236}">
                <a16:creationId xmlns:a16="http://schemas.microsoft.com/office/drawing/2014/main" id="{6B1833E4-8EC7-45F6-A9C6-36A2A052DD9E}"/>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Dokumentation ist eine Behandlungspflicht mit eigener beweisrechtlicher Wirkung.</a:t>
            </a:r>
          </a:p>
        </p:txBody>
      </p:sp>
    </p:spTree>
    <p:extLst>
      <p:ext uri="{BB962C8B-B14F-4D97-AF65-F5344CB8AC3E}">
        <p14:creationId xmlns:p14="http://schemas.microsoft.com/office/powerpoint/2010/main" val="43637646"/>
      </p:ext>
    </p:extLst>
  </p:cSld>
</p:sld>
</file>

<file path=ppt/slides/slide57.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Interne Meldung und Haftpflicht</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C486706A-B81B-434C-8F90-04BDC80500FB}"/>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Klinische Aufarbeitung und versicherungsrechtliche Kommunikation erfüllen unterschiedliche Zwecke und müssen koordiniert werden.</a:t>
            </a:r>
          </a:p>
        </p:txBody>
      </p:sp>
      <p:sp>
        <p:nvSpPr>
          <p:cNvPr id="5" name="">
            <a:extLst xmlns:a="http://schemas.openxmlformats.org/drawingml/2006/main">
              <a:ext uri="{FF2B5EF4-FFF2-40B4-BE49-F238E27FC236}">
                <a16:creationId xmlns:a16="http://schemas.microsoft.com/office/drawing/2014/main" id="{C05E0BA5-95D7-4D0E-A0B9-256462842A1E}"/>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7C98792F-330D-4964-9580-21CFD02C2BA2}"/>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EE3691F2-049C-4F88-84BE-281A7965BECA}"/>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Meldevertrag beachten</a:t>
            </a:r>
          </a:p>
        </p:txBody>
      </p:sp>
      <p:sp>
        <p:nvSpPr>
          <p:cNvPr id="8" name="">
            <a:extLst xmlns:a="http://schemas.openxmlformats.org/drawingml/2006/main">
              <a:ext uri="{FF2B5EF4-FFF2-40B4-BE49-F238E27FC236}">
                <a16:creationId xmlns:a16="http://schemas.microsoft.com/office/drawing/2014/main" id="{ACE02F3A-00AE-45E0-83FC-6419455BEB58}"/>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Versicherungsbedingungen und interne Vorgaben können eine frühe Schadenmeldung verlangen. Zuständige Stellen werden deshalb zeitnah eingebunden.</a:t>
            </a:r>
          </a:p>
        </p:txBody>
      </p:sp>
      <p:sp>
        <p:nvSpPr>
          <p:cNvPr id="9" name="">
            <a:extLst xmlns:a="http://schemas.openxmlformats.org/drawingml/2006/main">
              <a:ext uri="{FF2B5EF4-FFF2-40B4-BE49-F238E27FC236}">
                <a16:creationId xmlns:a16="http://schemas.microsoft.com/office/drawing/2014/main" id="{C5045227-59F0-4F2A-B9BA-612C105ACAD4}"/>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FD26D0C1-F0A7-43E2-86EE-EB9C6BB905F1}"/>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88465482-F2BB-4EB3-A261-8FEBA8BB8C4C}"/>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Fakten statt Wertungen</a:t>
            </a:r>
          </a:p>
        </p:txBody>
      </p:sp>
      <p:sp>
        <p:nvSpPr>
          <p:cNvPr id="12" name="">
            <a:extLst xmlns:a="http://schemas.openxmlformats.org/drawingml/2006/main">
              <a:ext uri="{FF2B5EF4-FFF2-40B4-BE49-F238E27FC236}">
                <a16:creationId xmlns:a16="http://schemas.microsoft.com/office/drawing/2014/main" id="{AE75488F-01C6-42AF-BF50-89010B1146CD}"/>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Gemeldet werden Ablauf, Beteiligte, Schaden und vorhandene Unterlagen. Nicht abgesicherte Schuldzuweisungen werden vermieden.</a:t>
            </a:r>
          </a:p>
        </p:txBody>
      </p:sp>
      <p:sp>
        <p:nvSpPr>
          <p:cNvPr id="13" name="">
            <a:extLst xmlns:a="http://schemas.openxmlformats.org/drawingml/2006/main">
              <a:ext uri="{FF2B5EF4-FFF2-40B4-BE49-F238E27FC236}">
                <a16:creationId xmlns:a16="http://schemas.microsoft.com/office/drawing/2014/main" id="{DE5ABE0D-57D2-4AA9-9D4E-2C02AFCE6814}"/>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C49420CD-AE3C-44CE-B52A-32CA774DDD2C}"/>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EFF8954F-B4D2-4FDC-BC70-D014E6DFC30C}"/>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Keine Alleingänge</a:t>
            </a:r>
          </a:p>
        </p:txBody>
      </p:sp>
      <p:sp>
        <p:nvSpPr>
          <p:cNvPr id="16" name="">
            <a:extLst xmlns:a="http://schemas.openxmlformats.org/drawingml/2006/main">
              <a:ext uri="{FF2B5EF4-FFF2-40B4-BE49-F238E27FC236}">
                <a16:creationId xmlns:a16="http://schemas.microsoft.com/office/drawing/2014/main" id="{16491606-BB10-48B3-94B9-5940CC9B0845}"/>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Ausführliche schriftliche Stellungnahmen oder Abfindungsangebote werden vorab mit den zuständigen Stellen abgestimmt.</a:t>
            </a:r>
          </a:p>
        </p:txBody>
      </p:sp>
      <p:sp>
        <p:nvSpPr>
          <p:cNvPr id="17" name="">
            <a:extLst xmlns:a="http://schemas.openxmlformats.org/drawingml/2006/main">
              <a:ext uri="{FF2B5EF4-FFF2-40B4-BE49-F238E27FC236}">
                <a16:creationId xmlns:a16="http://schemas.microsoft.com/office/drawing/2014/main" id="{CC4EEBC9-DF2E-4AE3-853B-CAA506D041B2}"/>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3967333E-AA52-4B80-8291-BD4C4F20C8D5}"/>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3B7A17BC-F7C4-46FC-9E7D-9BC2E853322B}"/>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Lernsystem getrennt denken</a:t>
            </a:r>
          </a:p>
        </p:txBody>
      </p:sp>
      <p:sp>
        <p:nvSpPr>
          <p:cNvPr id="20" name="">
            <a:extLst xmlns:a="http://schemas.openxmlformats.org/drawingml/2006/main">
              <a:ext uri="{FF2B5EF4-FFF2-40B4-BE49-F238E27FC236}">
                <a16:creationId xmlns:a16="http://schemas.microsoft.com/office/drawing/2014/main" id="{1736FEEE-C35E-45EE-8025-2EEB10D09A2B}"/>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CIRS und M&amp;M dienen Patientensicherheit. Ihre Vertraulichkeit und spätere Verwendbarkeit müssen institutionell geklärt sein.</a:t>
            </a:r>
          </a:p>
        </p:txBody>
      </p:sp>
      <p:sp>
        <p:nvSpPr>
          <p:cNvPr id="21" name="">
            <a:extLst xmlns:a="http://schemas.openxmlformats.org/drawingml/2006/main">
              <a:ext uri="{FF2B5EF4-FFF2-40B4-BE49-F238E27FC236}">
                <a16:creationId xmlns:a16="http://schemas.microsoft.com/office/drawing/2014/main" id="{A449A874-6CE6-467C-935B-5B65569AE669}"/>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BE95E433-969E-4685-A867-14065DF35715}"/>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Frühe Koordination schützt sowohl die Versorgung als auch eine konsistente Tatsachendarstellung.</a:t>
            </a:r>
          </a:p>
        </p:txBody>
      </p:sp>
    </p:spTree>
    <p:extLst>
      <p:ext uri="{BB962C8B-B14F-4D97-AF65-F5344CB8AC3E}">
        <p14:creationId xmlns:p14="http://schemas.microsoft.com/office/powerpoint/2010/main" val="43637646"/>
      </p:ext>
    </p:extLst>
  </p:cSld>
</p:sld>
</file>

<file path=ppt/slides/slide58.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Patientenakte und Gedächtnisprotokoll</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UNTERSCHEIDEN KÖNNEN</a:t>
            </a:r>
            <a:endParaRPr/>
          </a:p>
        </p:txBody>
      </p:sp>
      <p:sp>
        <p:nvSpPr>
          <p:cNvPr id="4" name="">
            <a:extLst xmlns:a="http://schemas.openxmlformats.org/drawingml/2006/main">
              <a:ext uri="{FF2B5EF4-FFF2-40B4-BE49-F238E27FC236}">
                <a16:creationId xmlns:a16="http://schemas.microsoft.com/office/drawing/2014/main" id="{DE731A0B-4CB3-4B48-84B7-4268AC1EA212}"/>
              </a:ext>
            </a:extLst>
          </p:cNvPr>
          <p:cNvSpPr>
            <a:spLocks xmlns:a="http://schemas.openxmlformats.org/drawingml/2006/main" noGrp="1"/>
          </p:cNvSpPr>
          <p:nvPr/>
        </p:nvSpPr>
        <p:spPr>
          <a:xfrm xmlns:a="http://schemas.openxmlformats.org/drawingml/2006/main">
            <a:off x="1809750" y="2000250"/>
            <a:ext cx="4619625" cy="3286125"/>
          </a:xfrm>
          <a:prstGeom xmlns:a="http://schemas.openxmlformats.org/drawingml/2006/main" prst="roundRect">
            <a:avLst>
              <a:gd name="adj" fmla="val 2319"/>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35810D86-C336-436D-BF55-EB5C3548B9A6}"/>
              </a:ext>
            </a:extLst>
          </p:cNvPr>
          <p:cNvSpPr>
            <a:spLocks xmlns:a="http://schemas.openxmlformats.org/drawingml/2006/main" noGrp="1"/>
          </p:cNvSpPr>
          <p:nvPr/>
        </p:nvSpPr>
        <p:spPr>
          <a:xfrm xmlns:a="http://schemas.openxmlformats.org/drawingml/2006/main">
            <a:off x="1809750" y="2000250"/>
            <a:ext cx="4619625"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2F3B4BE6-18EB-404C-BDD9-E3DE0884DD3F}"/>
              </a:ext>
            </a:extLst>
          </p:cNvPr>
          <p:cNvSpPr>
            <a:spLocks xmlns:a="http://schemas.openxmlformats.org/drawingml/2006/main" noGrp="1"/>
          </p:cNvSpPr>
          <p:nvPr/>
        </p:nvSpPr>
        <p:spPr>
          <a:xfrm xmlns:a="http://schemas.openxmlformats.org/drawingml/2006/main">
            <a:off x="1962150" y="2133600"/>
            <a:ext cx="4314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75" b="1">
                <a:solidFill>
                  <a:srgbClr val="003F6B"/>
                </a:solidFill>
              </a:defRPr>
            </a:pPr>
            <a:r>
              <a:rPr sz="1575" b="1">
                <a:solidFill>
                  <a:srgbClr val="003F6B"/>
                </a:solidFill>
              </a:rPr>
              <a:t>Behandlungsakte</a:t>
            </a:r>
          </a:p>
        </p:txBody>
      </p:sp>
      <p:sp>
        <p:nvSpPr>
          <p:cNvPr id="7" name="">
            <a:extLst xmlns:a="http://schemas.openxmlformats.org/drawingml/2006/main">
              <a:ext uri="{FF2B5EF4-FFF2-40B4-BE49-F238E27FC236}">
                <a16:creationId xmlns:a16="http://schemas.microsoft.com/office/drawing/2014/main" id="{6BC66E2F-0500-404A-8301-EE18B9506D2E}"/>
              </a:ext>
            </a:extLst>
          </p:cNvPr>
          <p:cNvSpPr>
            <a:spLocks xmlns:a="http://schemas.openxmlformats.org/drawingml/2006/main" noGrp="1"/>
          </p:cNvSpPr>
          <p:nvPr/>
        </p:nvSpPr>
        <p:spPr>
          <a:xfrm xmlns:a="http://schemas.openxmlformats.org/drawingml/2006/main">
            <a:off x="1962150" y="2571750"/>
            <a:ext cx="4314825"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15232B"/>
                </a:solidFill>
              </a:defRPr>
            </a:pPr>
            <a:r>
              <a:rPr sz="1200">
                <a:solidFill>
                  <a:srgbClr val="15232B"/>
                </a:solidFill>
              </a:rPr>
              <a:t>• Sie dokumentiert medizinisch wesentliche Inhalte und muss den Anforderungen des § 630f BGB genügen.</a:t>
            </a:r>
          </a:p>
          <a:p xmlns:a="http://schemas.openxmlformats.org/drawingml/2006/main">
            <a:pPr>
              <a:buNone/>
              <a:defRPr sz="1200">
                <a:solidFill>
                  <a:srgbClr val="15232B"/>
                </a:solidFill>
              </a:defRPr>
            </a:pPr>
            <a:r>
              <a:rPr sz="1200">
                <a:solidFill>
                  <a:srgbClr val="15232B"/>
                </a:solidFill>
              </a:rPr>
              <a:t>• Sie bleibt Teil der Patientenunterlagen und unterliegt Einsichtsrechten.</a:t>
            </a:r>
          </a:p>
          <a:p xmlns:a="http://schemas.openxmlformats.org/drawingml/2006/main">
            <a:pPr>
              <a:buNone/>
              <a:defRPr sz="1200">
                <a:solidFill>
                  <a:srgbClr val="15232B"/>
                </a:solidFill>
              </a:defRPr>
            </a:pPr>
            <a:r>
              <a:rPr sz="1200">
                <a:solidFill>
                  <a:srgbClr val="15232B"/>
                </a:solidFill>
              </a:rPr>
              <a:t>• Spätere Änderungen müssen erkennbar sein.</a:t>
            </a:r>
          </a:p>
        </p:txBody>
      </p:sp>
      <p:sp>
        <p:nvSpPr>
          <p:cNvPr id="8" name="">
            <a:extLst xmlns:a="http://schemas.openxmlformats.org/drawingml/2006/main">
              <a:ext uri="{FF2B5EF4-FFF2-40B4-BE49-F238E27FC236}">
                <a16:creationId xmlns:a16="http://schemas.microsoft.com/office/drawing/2014/main" id="{FAD5256B-5D20-4048-932B-E2854FB1C327}"/>
              </a:ext>
            </a:extLst>
          </p:cNvPr>
          <p:cNvSpPr>
            <a:spLocks xmlns:a="http://schemas.openxmlformats.org/drawingml/2006/main" noGrp="1"/>
          </p:cNvSpPr>
          <p:nvPr/>
        </p:nvSpPr>
        <p:spPr>
          <a:xfrm xmlns:a="http://schemas.openxmlformats.org/drawingml/2006/main">
            <a:off x="6715125" y="2000250"/>
            <a:ext cx="4619625" cy="3286125"/>
          </a:xfrm>
          <a:prstGeom xmlns:a="http://schemas.openxmlformats.org/drawingml/2006/main" prst="roundRect">
            <a:avLst>
              <a:gd name="adj" fmla="val 2319"/>
            </a:avLst>
          </a:prstGeom>
          <a:noFill xmlns:a="http://schemas.openxmlformats.org/drawingml/2006/main"/>
          <a:ln xmlns:a="http://schemas.openxmlformats.org/drawingml/2006/main" w="9525">
            <a:solidFill>
              <a:srgbClr val="B9CAD2"/>
            </a:solidFill>
            <a:prstDash val="solid"/>
          </a:ln>
        </p:spPr>
      </p:sp>
      <p:sp>
        <p:nvSpPr>
          <p:cNvPr id="9" name="">
            <a:extLst xmlns:a="http://schemas.openxmlformats.org/drawingml/2006/main">
              <a:ext uri="{FF2B5EF4-FFF2-40B4-BE49-F238E27FC236}">
                <a16:creationId xmlns:a16="http://schemas.microsoft.com/office/drawing/2014/main" id="{13506508-46D2-4079-B936-4D1B75E9DD42}"/>
              </a:ext>
            </a:extLst>
          </p:cNvPr>
          <p:cNvSpPr>
            <a:spLocks xmlns:a="http://schemas.openxmlformats.org/drawingml/2006/main" noGrp="1"/>
          </p:cNvSpPr>
          <p:nvPr/>
        </p:nvSpPr>
        <p:spPr>
          <a:xfrm xmlns:a="http://schemas.openxmlformats.org/drawingml/2006/main">
            <a:off x="6715125" y="2000250"/>
            <a:ext cx="4619625"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2574478C-0AC6-49E4-BDE6-A7BA112A633C}"/>
              </a:ext>
            </a:extLst>
          </p:cNvPr>
          <p:cNvSpPr>
            <a:spLocks xmlns:a="http://schemas.openxmlformats.org/drawingml/2006/main" noGrp="1"/>
          </p:cNvSpPr>
          <p:nvPr/>
        </p:nvSpPr>
        <p:spPr>
          <a:xfrm xmlns:a="http://schemas.openxmlformats.org/drawingml/2006/main">
            <a:off x="6867525" y="2133600"/>
            <a:ext cx="4314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75" b="1">
                <a:solidFill>
                  <a:srgbClr val="003F6B"/>
                </a:solidFill>
              </a:defRPr>
            </a:pPr>
            <a:r>
              <a:rPr sz="1575" b="1">
                <a:solidFill>
                  <a:srgbClr val="003F6B"/>
                </a:solidFill>
              </a:rPr>
              <a:t>Gesonderte Erinnerung</a:t>
            </a:r>
          </a:p>
        </p:txBody>
      </p:sp>
      <p:sp>
        <p:nvSpPr>
          <p:cNvPr id="11" name="">
            <a:extLst xmlns:a="http://schemas.openxmlformats.org/drawingml/2006/main">
              <a:ext uri="{FF2B5EF4-FFF2-40B4-BE49-F238E27FC236}">
                <a16:creationId xmlns:a16="http://schemas.microsoft.com/office/drawing/2014/main" id="{11AFDEE9-594A-4792-A8A5-339B2559E844}"/>
              </a:ext>
            </a:extLst>
          </p:cNvPr>
          <p:cNvSpPr>
            <a:spLocks xmlns:a="http://schemas.openxmlformats.org/drawingml/2006/main" noGrp="1"/>
          </p:cNvSpPr>
          <p:nvPr/>
        </p:nvSpPr>
        <p:spPr>
          <a:xfrm xmlns:a="http://schemas.openxmlformats.org/drawingml/2006/main">
            <a:off x="6867525" y="2571750"/>
            <a:ext cx="4314825"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15232B"/>
                </a:solidFill>
              </a:defRPr>
            </a:pPr>
            <a:r>
              <a:rPr sz="1200">
                <a:solidFill>
                  <a:srgbClr val="15232B"/>
                </a:solidFill>
              </a:rPr>
              <a:t>• Ein zeitnahes Gedächtnisprotokoll kann eigene Wahrnehmungen für Beratung und Verfahren sichern.</a:t>
            </a:r>
          </a:p>
          <a:p xmlns:a="http://schemas.openxmlformats.org/drawingml/2006/main">
            <a:pPr>
              <a:buNone/>
              <a:defRPr sz="1200">
                <a:solidFill>
                  <a:srgbClr val="15232B"/>
                </a:solidFill>
              </a:defRPr>
            </a:pPr>
            <a:r>
              <a:rPr sz="1200">
                <a:solidFill>
                  <a:srgbClr val="15232B"/>
                </a:solidFill>
              </a:rPr>
              <a:t>• Es darf die Behandlungsakte nicht nachträglich ersetzen oder verdeckt verändern.</a:t>
            </a:r>
          </a:p>
          <a:p xmlns:a="http://schemas.openxmlformats.org/drawingml/2006/main">
            <a:pPr>
              <a:buNone/>
              <a:defRPr sz="1200">
                <a:solidFill>
                  <a:srgbClr val="15232B"/>
                </a:solidFill>
              </a:defRPr>
            </a:pPr>
            <a:r>
              <a:rPr sz="1200">
                <a:solidFill>
                  <a:srgbClr val="15232B"/>
                </a:solidFill>
              </a:rPr>
              <a:t>• Vertraulichkeit, Empfänger und sichere Aufbewahrung werden vor Erstellung geklärt.</a:t>
            </a:r>
          </a:p>
        </p:txBody>
      </p:sp>
      <p:sp>
        <p:nvSpPr>
          <p:cNvPr id="12" name="">
            <a:extLst xmlns:a="http://schemas.openxmlformats.org/drawingml/2006/main">
              <a:ext uri="{FF2B5EF4-FFF2-40B4-BE49-F238E27FC236}">
                <a16:creationId xmlns:a16="http://schemas.microsoft.com/office/drawing/2014/main" id="{EB25FCC8-3997-4E2D-BA20-07124D62209C}"/>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13" name="">
            <a:extLst xmlns:a="http://schemas.openxmlformats.org/drawingml/2006/main">
              <a:ext uri="{FF2B5EF4-FFF2-40B4-BE49-F238E27FC236}">
                <a16:creationId xmlns:a16="http://schemas.microsoft.com/office/drawing/2014/main" id="{9BBE521B-B878-487B-BBAA-140B02BE5C69}"/>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Behandlungsdokumentation und persönliche Verfahrensvorbereitung dürfen nicht vermischt werden.</a:t>
            </a:r>
          </a:p>
        </p:txBody>
      </p:sp>
    </p:spTree>
    <p:extLst>
      <p:ext uri="{BB962C8B-B14F-4D97-AF65-F5344CB8AC3E}">
        <p14:creationId xmlns:p14="http://schemas.microsoft.com/office/powerpoint/2010/main" val="43637646"/>
      </p:ext>
    </p:extLst>
  </p:cSld>
</p:sld>
</file>

<file path=ppt/slides/slide59.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Was in den ersten 24 Stunden folgt</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11C0C200-A4F1-4904-B9B7-2EBAD1A4378D}"/>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Nach Stabilisierung beginnt eine strukturierte Rekonstruktion, ohne vorschnell Verantwortung festzuschreiben.</a:t>
            </a:r>
          </a:p>
        </p:txBody>
      </p:sp>
      <p:sp>
        <p:nvSpPr>
          <p:cNvPr id="5" name="">
            <a:extLst xmlns:a="http://schemas.openxmlformats.org/drawingml/2006/main">
              <a:ext uri="{FF2B5EF4-FFF2-40B4-BE49-F238E27FC236}">
                <a16:creationId xmlns:a16="http://schemas.microsoft.com/office/drawing/2014/main" id="{752F0843-360E-4C37-BC58-A82632DA540C}"/>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3B9936A0-F64D-4E34-80C0-AF7416F83455}"/>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11134F85-B21E-4F1D-8E44-F6A773B35E65}"/>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Chronologie erstellen</a:t>
            </a:r>
          </a:p>
        </p:txBody>
      </p:sp>
      <p:sp>
        <p:nvSpPr>
          <p:cNvPr id="8" name="">
            <a:extLst xmlns:a="http://schemas.openxmlformats.org/drawingml/2006/main">
              <a:ext uri="{FF2B5EF4-FFF2-40B4-BE49-F238E27FC236}">
                <a16:creationId xmlns:a16="http://schemas.microsoft.com/office/drawing/2014/main" id="{C032FEDB-5D62-4657-802A-514895E65D91}"/>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Zeitpunkte, Informationsflüsse, Entscheidungen und Übergaben werden aus gesicherten Quellen zusammengeführt.</a:t>
            </a:r>
          </a:p>
        </p:txBody>
      </p:sp>
      <p:sp>
        <p:nvSpPr>
          <p:cNvPr id="9" name="">
            <a:extLst xmlns:a="http://schemas.openxmlformats.org/drawingml/2006/main">
              <a:ext uri="{FF2B5EF4-FFF2-40B4-BE49-F238E27FC236}">
                <a16:creationId xmlns:a16="http://schemas.microsoft.com/office/drawing/2014/main" id="{26BAA286-9660-4B3F-BF7C-6F7D7E0B1C1E}"/>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F1B4D79A-30DC-4825-9DA6-F215AB4119CB}"/>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17A6FFDC-93C7-4CE5-925B-B8013C81279D}"/>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Unterlagen komplettieren</a:t>
            </a:r>
          </a:p>
        </p:txBody>
      </p:sp>
      <p:sp>
        <p:nvSpPr>
          <p:cNvPr id="12" name="">
            <a:extLst xmlns:a="http://schemas.openxmlformats.org/drawingml/2006/main">
              <a:ext uri="{FF2B5EF4-FFF2-40B4-BE49-F238E27FC236}">
                <a16:creationId xmlns:a16="http://schemas.microsoft.com/office/drawing/2014/main" id="{6F4E993E-FCA8-472D-A7A9-6A9C0EDAC678}"/>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Akte, Bildgebung, Kurven, Labor, Dienstpläne und technische Daten werden gegen Verlust gesichert.</a:t>
            </a:r>
          </a:p>
        </p:txBody>
      </p:sp>
      <p:sp>
        <p:nvSpPr>
          <p:cNvPr id="13" name="">
            <a:extLst xmlns:a="http://schemas.openxmlformats.org/drawingml/2006/main">
              <a:ext uri="{FF2B5EF4-FFF2-40B4-BE49-F238E27FC236}">
                <a16:creationId xmlns:a16="http://schemas.microsoft.com/office/drawing/2014/main" id="{2F72B58E-4BA6-401D-A11D-00D7B6740FB5}"/>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56ADF744-7648-43E3-8414-27FC9118A34C}"/>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6B308901-9AB0-4A8C-9F9D-AA1130AC5FDB}"/>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Beteiligte informieren</a:t>
            </a:r>
          </a:p>
        </p:txBody>
      </p:sp>
      <p:sp>
        <p:nvSpPr>
          <p:cNvPr id="16" name="">
            <a:extLst xmlns:a="http://schemas.openxmlformats.org/drawingml/2006/main">
              <a:ext uri="{FF2B5EF4-FFF2-40B4-BE49-F238E27FC236}">
                <a16:creationId xmlns:a16="http://schemas.microsoft.com/office/drawing/2014/main" id="{C83DC67F-3B67-40B4-BC90-C3ADD11584BC}"/>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Vorgesetzte, QM, Rechtsabteilung, Haftpflicht und gegebenenfalls Datenschutz oder Behörden werden entsprechend dem Ereignis eingebunden.</a:t>
            </a:r>
          </a:p>
        </p:txBody>
      </p:sp>
      <p:sp>
        <p:nvSpPr>
          <p:cNvPr id="17" name="">
            <a:extLst xmlns:a="http://schemas.openxmlformats.org/drawingml/2006/main">
              <a:ext uri="{FF2B5EF4-FFF2-40B4-BE49-F238E27FC236}">
                <a16:creationId xmlns:a16="http://schemas.microsoft.com/office/drawing/2014/main" id="{7761AF16-2FF2-4530-88A8-87057284C0DF}"/>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260BA7C5-E534-4793-8AC1-A0ED2C2D2ED7}"/>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A8961771-4412-43B7-B836-5B8C3E3D103D}"/>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Follow-up festlegen</a:t>
            </a:r>
          </a:p>
        </p:txBody>
      </p:sp>
      <p:sp>
        <p:nvSpPr>
          <p:cNvPr id="20" name="">
            <a:extLst xmlns:a="http://schemas.openxmlformats.org/drawingml/2006/main">
              <a:ext uri="{FF2B5EF4-FFF2-40B4-BE49-F238E27FC236}">
                <a16:creationId xmlns:a16="http://schemas.microsoft.com/office/drawing/2014/main" id="{60224EF4-70AD-40CA-9459-BAF06995AB37}"/>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Medizinische Kontrollen, erneutes Patientengespräch und interne Analyse erhalten verantwortliche Personen und Termine.</a:t>
            </a:r>
          </a:p>
        </p:txBody>
      </p:sp>
      <p:sp>
        <p:nvSpPr>
          <p:cNvPr id="21" name="">
            <a:extLst xmlns:a="http://schemas.openxmlformats.org/drawingml/2006/main">
              <a:ext uri="{FF2B5EF4-FFF2-40B4-BE49-F238E27FC236}">
                <a16:creationId xmlns:a16="http://schemas.microsoft.com/office/drawing/2014/main" id="{A6102C99-7333-4537-95CB-38462958FCDD}"/>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612520A3-BC4A-4785-A193-A98E3EC50B05}"/>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Ein klarer 24-Stunden-Plan verhindert, dass medizinische, kommunikative oder beweisrelevante Aufgaben zwischen Zuständigkeiten verschwinden.</a:t>
            </a:r>
          </a:p>
        </p:txBody>
      </p:sp>
    </p:spTree>
    <p:extLst>
      <p:ext uri="{BB962C8B-B14F-4D97-AF65-F5344CB8AC3E}">
        <p14:creationId xmlns:p14="http://schemas.microsoft.com/office/powerpoint/2010/main" val="43637646"/>
      </p:ext>
    </p:extLst>
  </p:cSld>
</p:sld>
</file>

<file path=ppt/slides/slide60.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Krisencheck für Assistenzärztinnen und -ärzte</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PRÜFUNGSSCHEMA · 60 MINUTEN / 24 STUNDEN</a:t>
            </a:r>
            <a:endParaRPr/>
          </a:p>
        </p:txBody>
      </p:sp>
      <p:sp>
        <p:nvSpPr>
          <p:cNvPr id="4" name="">
            <a:extLst xmlns:a="http://schemas.openxmlformats.org/drawingml/2006/main">
              <a:ext uri="{FF2B5EF4-FFF2-40B4-BE49-F238E27FC236}">
                <a16:creationId xmlns:a16="http://schemas.microsoft.com/office/drawing/2014/main" id="{754AA236-6EA6-402E-B747-49B333FFF601}"/>
              </a:ext>
            </a:extLst>
          </p:cNvPr>
          <p:cNvSpPr>
            <a:spLocks xmlns:a="http://schemas.openxmlformats.org/drawingml/2006/main" noGrp="1"/>
          </p:cNvSpPr>
          <p:nvPr/>
        </p:nvSpPr>
        <p:spPr>
          <a:xfrm xmlns:a="http://schemas.openxmlformats.org/drawingml/2006/main">
            <a:off x="1809750" y="195262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5BDAF661-F258-4523-A775-88DFE75CD238}"/>
              </a:ext>
            </a:extLst>
          </p:cNvPr>
          <p:cNvSpPr>
            <a:spLocks xmlns:a="http://schemas.openxmlformats.org/drawingml/2006/main" noGrp="1"/>
          </p:cNvSpPr>
          <p:nvPr/>
        </p:nvSpPr>
        <p:spPr>
          <a:xfrm xmlns:a="http://schemas.openxmlformats.org/drawingml/2006/main">
            <a:off x="1809750" y="19526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6" name="">
            <a:extLst xmlns:a="http://schemas.openxmlformats.org/drawingml/2006/main">
              <a:ext uri="{FF2B5EF4-FFF2-40B4-BE49-F238E27FC236}">
                <a16:creationId xmlns:a16="http://schemas.microsoft.com/office/drawing/2014/main" id="{C60451CD-AED2-4A9D-9B01-8E25597B80DA}"/>
              </a:ext>
            </a:extLst>
          </p:cNvPr>
          <p:cNvSpPr>
            <a:spLocks xmlns:a="http://schemas.openxmlformats.org/drawingml/2006/main" noGrp="1"/>
          </p:cNvSpPr>
          <p:nvPr/>
        </p:nvSpPr>
        <p:spPr>
          <a:xfrm xmlns:a="http://schemas.openxmlformats.org/drawingml/2006/main">
            <a:off x="2324100" y="196215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1. Versorgen</a:t>
            </a:r>
          </a:p>
        </p:txBody>
      </p:sp>
      <p:sp>
        <p:nvSpPr>
          <p:cNvPr id="7" name="">
            <a:extLst xmlns:a="http://schemas.openxmlformats.org/drawingml/2006/main">
              <a:ext uri="{FF2B5EF4-FFF2-40B4-BE49-F238E27FC236}">
                <a16:creationId xmlns:a16="http://schemas.microsoft.com/office/drawing/2014/main" id="{B0AF1C05-20B3-46E3-B46E-60CCF60108BB}"/>
              </a:ext>
            </a:extLst>
          </p:cNvPr>
          <p:cNvSpPr>
            <a:spLocks xmlns:a="http://schemas.openxmlformats.org/drawingml/2006/main" noGrp="1"/>
          </p:cNvSpPr>
          <p:nvPr/>
        </p:nvSpPr>
        <p:spPr>
          <a:xfrm xmlns:a="http://schemas.openxmlformats.org/drawingml/2006/main">
            <a:off x="4819650" y="196215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Patientensicherheit wiederherstellen und erforderliche Expertise hinzuziehen.</a:t>
            </a:r>
          </a:p>
        </p:txBody>
      </p:sp>
      <p:sp>
        <p:nvSpPr>
          <p:cNvPr id="8" name="">
            <a:extLst xmlns:a="http://schemas.openxmlformats.org/drawingml/2006/main">
              <a:ext uri="{FF2B5EF4-FFF2-40B4-BE49-F238E27FC236}">
                <a16:creationId xmlns:a16="http://schemas.microsoft.com/office/drawing/2014/main" id="{55F81333-2529-47CD-9BF8-1ABF894A77A2}"/>
              </a:ext>
            </a:extLst>
          </p:cNvPr>
          <p:cNvSpPr>
            <a:spLocks xmlns:a="http://schemas.openxmlformats.org/drawingml/2006/main" noGrp="1"/>
          </p:cNvSpPr>
          <p:nvPr/>
        </p:nvSpPr>
        <p:spPr>
          <a:xfrm xmlns:a="http://schemas.openxmlformats.org/drawingml/2006/main">
            <a:off x="1809750" y="255270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9" name="">
            <a:extLst xmlns:a="http://schemas.openxmlformats.org/drawingml/2006/main">
              <a:ext uri="{FF2B5EF4-FFF2-40B4-BE49-F238E27FC236}">
                <a16:creationId xmlns:a16="http://schemas.microsoft.com/office/drawing/2014/main" id="{FA7695F9-EB51-4EA6-A155-ADFF5B540F4E}"/>
              </a:ext>
            </a:extLst>
          </p:cNvPr>
          <p:cNvSpPr>
            <a:spLocks xmlns:a="http://schemas.openxmlformats.org/drawingml/2006/main" noGrp="1"/>
          </p:cNvSpPr>
          <p:nvPr/>
        </p:nvSpPr>
        <p:spPr>
          <a:xfrm xmlns:a="http://schemas.openxmlformats.org/drawingml/2006/main">
            <a:off x="1809750" y="255270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0" name="">
            <a:extLst xmlns:a="http://schemas.openxmlformats.org/drawingml/2006/main">
              <a:ext uri="{FF2B5EF4-FFF2-40B4-BE49-F238E27FC236}">
                <a16:creationId xmlns:a16="http://schemas.microsoft.com/office/drawing/2014/main" id="{57DEF7E0-01E5-40EE-A960-72709F6DB155}"/>
              </a:ext>
            </a:extLst>
          </p:cNvPr>
          <p:cNvSpPr>
            <a:spLocks xmlns:a="http://schemas.openxmlformats.org/drawingml/2006/main" noGrp="1"/>
          </p:cNvSpPr>
          <p:nvPr/>
        </p:nvSpPr>
        <p:spPr>
          <a:xfrm xmlns:a="http://schemas.openxmlformats.org/drawingml/2006/main">
            <a:off x="2324100" y="256222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2. Sichern</a:t>
            </a:r>
          </a:p>
        </p:txBody>
      </p:sp>
      <p:sp>
        <p:nvSpPr>
          <p:cNvPr id="11" name="">
            <a:extLst xmlns:a="http://schemas.openxmlformats.org/drawingml/2006/main">
              <a:ext uri="{FF2B5EF4-FFF2-40B4-BE49-F238E27FC236}">
                <a16:creationId xmlns:a16="http://schemas.microsoft.com/office/drawing/2014/main" id="{A4876E68-7CE7-4E2D-9A59-6148EE0EA69B}"/>
              </a:ext>
            </a:extLst>
          </p:cNvPr>
          <p:cNvSpPr>
            <a:spLocks xmlns:a="http://schemas.openxmlformats.org/drawingml/2006/main" noGrp="1"/>
          </p:cNvSpPr>
          <p:nvPr/>
        </p:nvSpPr>
        <p:spPr>
          <a:xfrm xmlns:a="http://schemas.openxmlformats.org/drawingml/2006/main">
            <a:off x="4819650" y="256222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Befunde, Zeiten, Materialien und digitale Daten unverändert erhalten.</a:t>
            </a:r>
          </a:p>
        </p:txBody>
      </p:sp>
      <p:sp>
        <p:nvSpPr>
          <p:cNvPr id="12" name="">
            <a:extLst xmlns:a="http://schemas.openxmlformats.org/drawingml/2006/main">
              <a:ext uri="{FF2B5EF4-FFF2-40B4-BE49-F238E27FC236}">
                <a16:creationId xmlns:a16="http://schemas.microsoft.com/office/drawing/2014/main" id="{1A459E81-0ED3-4CE7-AD2A-D9F84F6B22B5}"/>
              </a:ext>
            </a:extLst>
          </p:cNvPr>
          <p:cNvSpPr>
            <a:spLocks xmlns:a="http://schemas.openxmlformats.org/drawingml/2006/main" noGrp="1"/>
          </p:cNvSpPr>
          <p:nvPr/>
        </p:nvSpPr>
        <p:spPr>
          <a:xfrm xmlns:a="http://schemas.openxmlformats.org/drawingml/2006/main">
            <a:off x="1809750" y="315277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3" name="">
            <a:extLst xmlns:a="http://schemas.openxmlformats.org/drawingml/2006/main">
              <a:ext uri="{FF2B5EF4-FFF2-40B4-BE49-F238E27FC236}">
                <a16:creationId xmlns:a16="http://schemas.microsoft.com/office/drawing/2014/main" id="{B7E0B708-5266-4EFE-8032-D5134D2AA8CC}"/>
              </a:ext>
            </a:extLst>
          </p:cNvPr>
          <p:cNvSpPr>
            <a:spLocks xmlns:a="http://schemas.openxmlformats.org/drawingml/2006/main" noGrp="1"/>
          </p:cNvSpPr>
          <p:nvPr/>
        </p:nvSpPr>
        <p:spPr>
          <a:xfrm xmlns:a="http://schemas.openxmlformats.org/drawingml/2006/main">
            <a:off x="1809750" y="315277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4" name="">
            <a:extLst xmlns:a="http://schemas.openxmlformats.org/drawingml/2006/main">
              <a:ext uri="{FF2B5EF4-FFF2-40B4-BE49-F238E27FC236}">
                <a16:creationId xmlns:a16="http://schemas.microsoft.com/office/drawing/2014/main" id="{2AFD3E7A-B72E-47F4-AA4E-B6DFDBBCC6B8}"/>
              </a:ext>
            </a:extLst>
          </p:cNvPr>
          <p:cNvSpPr>
            <a:spLocks xmlns:a="http://schemas.openxmlformats.org/drawingml/2006/main" noGrp="1"/>
          </p:cNvSpPr>
          <p:nvPr/>
        </p:nvSpPr>
        <p:spPr>
          <a:xfrm xmlns:a="http://schemas.openxmlformats.org/drawingml/2006/main">
            <a:off x="2324100" y="316230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3. Informieren</a:t>
            </a:r>
          </a:p>
        </p:txBody>
      </p:sp>
      <p:sp>
        <p:nvSpPr>
          <p:cNvPr id="15" name="">
            <a:extLst xmlns:a="http://schemas.openxmlformats.org/drawingml/2006/main">
              <a:ext uri="{FF2B5EF4-FFF2-40B4-BE49-F238E27FC236}">
                <a16:creationId xmlns:a16="http://schemas.microsoft.com/office/drawing/2014/main" id="{1FD6AF35-C9CA-47B2-86A5-A712E9934833}"/>
              </a:ext>
            </a:extLst>
          </p:cNvPr>
          <p:cNvSpPr>
            <a:spLocks xmlns:a="http://schemas.openxmlformats.org/drawingml/2006/main" noGrp="1"/>
          </p:cNvSpPr>
          <p:nvPr/>
        </p:nvSpPr>
        <p:spPr>
          <a:xfrm xmlns:a="http://schemas.openxmlformats.org/drawingml/2006/main">
            <a:off x="4819650" y="316230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Interne Eskalationswege und erforderliche externe Mitteilungen auslösen.</a:t>
            </a:r>
          </a:p>
        </p:txBody>
      </p:sp>
      <p:sp>
        <p:nvSpPr>
          <p:cNvPr id="16" name="">
            <a:extLst xmlns:a="http://schemas.openxmlformats.org/drawingml/2006/main">
              <a:ext uri="{FF2B5EF4-FFF2-40B4-BE49-F238E27FC236}">
                <a16:creationId xmlns:a16="http://schemas.microsoft.com/office/drawing/2014/main" id="{87CC352F-2236-44A9-B68B-BAC1D35DF794}"/>
              </a:ext>
            </a:extLst>
          </p:cNvPr>
          <p:cNvSpPr>
            <a:spLocks xmlns:a="http://schemas.openxmlformats.org/drawingml/2006/main" noGrp="1"/>
          </p:cNvSpPr>
          <p:nvPr/>
        </p:nvSpPr>
        <p:spPr>
          <a:xfrm xmlns:a="http://schemas.openxmlformats.org/drawingml/2006/main">
            <a:off x="1809750" y="375285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7" name="">
            <a:extLst xmlns:a="http://schemas.openxmlformats.org/drawingml/2006/main">
              <a:ext uri="{FF2B5EF4-FFF2-40B4-BE49-F238E27FC236}">
                <a16:creationId xmlns:a16="http://schemas.microsoft.com/office/drawing/2014/main" id="{87D1DEAF-6F06-4E91-A9F2-F4B498020737}"/>
              </a:ext>
            </a:extLst>
          </p:cNvPr>
          <p:cNvSpPr>
            <a:spLocks xmlns:a="http://schemas.openxmlformats.org/drawingml/2006/main" noGrp="1"/>
          </p:cNvSpPr>
          <p:nvPr/>
        </p:nvSpPr>
        <p:spPr>
          <a:xfrm xmlns:a="http://schemas.openxmlformats.org/drawingml/2006/main">
            <a:off x="1809750" y="375285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18" name="">
            <a:extLst xmlns:a="http://schemas.openxmlformats.org/drawingml/2006/main">
              <a:ext uri="{FF2B5EF4-FFF2-40B4-BE49-F238E27FC236}">
                <a16:creationId xmlns:a16="http://schemas.microsoft.com/office/drawing/2014/main" id="{24E065A7-81D6-4BEB-8BEE-3F15F521C943}"/>
              </a:ext>
            </a:extLst>
          </p:cNvPr>
          <p:cNvSpPr>
            <a:spLocks xmlns:a="http://schemas.openxmlformats.org/drawingml/2006/main" noGrp="1"/>
          </p:cNvSpPr>
          <p:nvPr/>
        </p:nvSpPr>
        <p:spPr>
          <a:xfrm xmlns:a="http://schemas.openxmlformats.org/drawingml/2006/main">
            <a:off x="2324100" y="376237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4. Kommunizieren</a:t>
            </a:r>
          </a:p>
        </p:txBody>
      </p:sp>
      <p:sp>
        <p:nvSpPr>
          <p:cNvPr id="19" name="">
            <a:extLst xmlns:a="http://schemas.openxmlformats.org/drawingml/2006/main">
              <a:ext uri="{FF2B5EF4-FFF2-40B4-BE49-F238E27FC236}">
                <a16:creationId xmlns:a16="http://schemas.microsoft.com/office/drawing/2014/main" id="{94E2B5ED-7D0D-4728-B1A3-06C62451F11D}"/>
              </a:ext>
            </a:extLst>
          </p:cNvPr>
          <p:cNvSpPr>
            <a:spLocks xmlns:a="http://schemas.openxmlformats.org/drawingml/2006/main" noGrp="1"/>
          </p:cNvSpPr>
          <p:nvPr/>
        </p:nvSpPr>
        <p:spPr>
          <a:xfrm xmlns:a="http://schemas.openxmlformats.org/drawingml/2006/main">
            <a:off x="4819650" y="376237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Gesicherten Stand, offene Fragen und nächste Schritte ehrlich erläutern.</a:t>
            </a:r>
          </a:p>
        </p:txBody>
      </p:sp>
      <p:sp>
        <p:nvSpPr>
          <p:cNvPr id="20" name="">
            <a:extLst xmlns:a="http://schemas.openxmlformats.org/drawingml/2006/main">
              <a:ext uri="{FF2B5EF4-FFF2-40B4-BE49-F238E27FC236}">
                <a16:creationId xmlns:a16="http://schemas.microsoft.com/office/drawing/2014/main" id="{8880B9C0-5BBC-4417-9F11-BA09FA993F64}"/>
              </a:ext>
            </a:extLst>
          </p:cNvPr>
          <p:cNvSpPr>
            <a:spLocks xmlns:a="http://schemas.openxmlformats.org/drawingml/2006/main" noGrp="1"/>
          </p:cNvSpPr>
          <p:nvPr/>
        </p:nvSpPr>
        <p:spPr>
          <a:xfrm xmlns:a="http://schemas.openxmlformats.org/drawingml/2006/main">
            <a:off x="1809750" y="435292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1" name="">
            <a:extLst xmlns:a="http://schemas.openxmlformats.org/drawingml/2006/main">
              <a:ext uri="{FF2B5EF4-FFF2-40B4-BE49-F238E27FC236}">
                <a16:creationId xmlns:a16="http://schemas.microsoft.com/office/drawing/2014/main" id="{8600A257-8B6A-4EF3-B825-6F4302C9410C}"/>
              </a:ext>
            </a:extLst>
          </p:cNvPr>
          <p:cNvSpPr>
            <a:spLocks xmlns:a="http://schemas.openxmlformats.org/drawingml/2006/main" noGrp="1"/>
          </p:cNvSpPr>
          <p:nvPr/>
        </p:nvSpPr>
        <p:spPr>
          <a:xfrm xmlns:a="http://schemas.openxmlformats.org/drawingml/2006/main">
            <a:off x="1809750" y="43529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5</a:t>
            </a:r>
          </a:p>
        </p:txBody>
      </p:sp>
      <p:sp>
        <p:nvSpPr>
          <p:cNvPr id="22" name="">
            <a:extLst xmlns:a="http://schemas.openxmlformats.org/drawingml/2006/main">
              <a:ext uri="{FF2B5EF4-FFF2-40B4-BE49-F238E27FC236}">
                <a16:creationId xmlns:a16="http://schemas.microsoft.com/office/drawing/2014/main" id="{A5C6B538-AD13-4CDF-A90B-9B81B37615C7}"/>
              </a:ext>
            </a:extLst>
          </p:cNvPr>
          <p:cNvSpPr>
            <a:spLocks xmlns:a="http://schemas.openxmlformats.org/drawingml/2006/main" noGrp="1"/>
          </p:cNvSpPr>
          <p:nvPr/>
        </p:nvSpPr>
        <p:spPr>
          <a:xfrm xmlns:a="http://schemas.openxmlformats.org/drawingml/2006/main">
            <a:off x="2324100" y="436245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5. Dokumentieren</a:t>
            </a:r>
          </a:p>
        </p:txBody>
      </p:sp>
      <p:sp>
        <p:nvSpPr>
          <p:cNvPr id="23" name="">
            <a:extLst xmlns:a="http://schemas.openxmlformats.org/drawingml/2006/main">
              <a:ext uri="{FF2B5EF4-FFF2-40B4-BE49-F238E27FC236}">
                <a16:creationId xmlns:a16="http://schemas.microsoft.com/office/drawing/2014/main" id="{385DBCDC-CB37-4BBE-A5EF-D78065FC224F}"/>
              </a:ext>
            </a:extLst>
          </p:cNvPr>
          <p:cNvSpPr>
            <a:spLocks xmlns:a="http://schemas.openxmlformats.org/drawingml/2006/main" noGrp="1"/>
          </p:cNvSpPr>
          <p:nvPr/>
        </p:nvSpPr>
        <p:spPr>
          <a:xfrm xmlns:a="http://schemas.openxmlformats.org/drawingml/2006/main">
            <a:off x="4819650" y="436245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Therapeutische Dokumentation zeitnah vervollständigen; Nachträge eindeutig kennzeichnen.</a:t>
            </a:r>
          </a:p>
        </p:txBody>
      </p:sp>
      <p:sp>
        <p:nvSpPr>
          <p:cNvPr id="24" name="">
            <a:extLst xmlns:a="http://schemas.openxmlformats.org/drawingml/2006/main">
              <a:ext uri="{FF2B5EF4-FFF2-40B4-BE49-F238E27FC236}">
                <a16:creationId xmlns:a16="http://schemas.microsoft.com/office/drawing/2014/main" id="{8F5F204E-E574-47E8-9A7F-996DB5E8A653}"/>
              </a:ext>
            </a:extLst>
          </p:cNvPr>
          <p:cNvSpPr>
            <a:spLocks xmlns:a="http://schemas.openxmlformats.org/drawingml/2006/main" noGrp="1"/>
          </p:cNvSpPr>
          <p:nvPr/>
        </p:nvSpPr>
        <p:spPr>
          <a:xfrm xmlns:a="http://schemas.openxmlformats.org/drawingml/2006/main">
            <a:off x="1809750" y="495300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25" name="">
            <a:extLst xmlns:a="http://schemas.openxmlformats.org/drawingml/2006/main">
              <a:ext uri="{FF2B5EF4-FFF2-40B4-BE49-F238E27FC236}">
                <a16:creationId xmlns:a16="http://schemas.microsoft.com/office/drawing/2014/main" id="{9365CCCC-C5B8-4765-BFB9-43734C5F73E1}"/>
              </a:ext>
            </a:extLst>
          </p:cNvPr>
          <p:cNvSpPr>
            <a:spLocks xmlns:a="http://schemas.openxmlformats.org/drawingml/2006/main" noGrp="1"/>
          </p:cNvSpPr>
          <p:nvPr/>
        </p:nvSpPr>
        <p:spPr>
          <a:xfrm xmlns:a="http://schemas.openxmlformats.org/drawingml/2006/main">
            <a:off x="1809750" y="495300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6</a:t>
            </a:r>
          </a:p>
        </p:txBody>
      </p:sp>
      <p:sp>
        <p:nvSpPr>
          <p:cNvPr id="26" name="">
            <a:extLst xmlns:a="http://schemas.openxmlformats.org/drawingml/2006/main">
              <a:ext uri="{FF2B5EF4-FFF2-40B4-BE49-F238E27FC236}">
                <a16:creationId xmlns:a16="http://schemas.microsoft.com/office/drawing/2014/main" id="{A910B148-1A0D-4961-9013-2FB9CDA11900}"/>
              </a:ext>
            </a:extLst>
          </p:cNvPr>
          <p:cNvSpPr>
            <a:spLocks xmlns:a="http://schemas.openxmlformats.org/drawingml/2006/main" noGrp="1"/>
          </p:cNvSpPr>
          <p:nvPr/>
        </p:nvSpPr>
        <p:spPr>
          <a:xfrm xmlns:a="http://schemas.openxmlformats.org/drawingml/2006/main">
            <a:off x="2324100" y="496252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6. Beraten lassen</a:t>
            </a:r>
          </a:p>
        </p:txBody>
      </p:sp>
      <p:sp>
        <p:nvSpPr>
          <p:cNvPr id="27" name="">
            <a:extLst xmlns:a="http://schemas.openxmlformats.org/drawingml/2006/main">
              <a:ext uri="{FF2B5EF4-FFF2-40B4-BE49-F238E27FC236}">
                <a16:creationId xmlns:a16="http://schemas.microsoft.com/office/drawing/2014/main" id="{A818AC91-BC2E-4DCC-A98F-77C57BC58AB8}"/>
              </a:ext>
            </a:extLst>
          </p:cNvPr>
          <p:cNvSpPr>
            <a:spLocks xmlns:a="http://schemas.openxmlformats.org/drawingml/2006/main" noGrp="1"/>
          </p:cNvSpPr>
          <p:nvPr/>
        </p:nvSpPr>
        <p:spPr>
          <a:xfrm xmlns:a="http://schemas.openxmlformats.org/drawingml/2006/main">
            <a:off x="4819650" y="496252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Vor ausführlichen Stellungnahmen eigene Rolle und rechtliche Unterstützung klären.</a:t>
            </a:r>
          </a:p>
        </p:txBody>
      </p:sp>
      <p:sp>
        <p:nvSpPr>
          <p:cNvPr id="28" name="">
            <a:extLst xmlns:a="http://schemas.openxmlformats.org/drawingml/2006/main">
              <a:ext uri="{FF2B5EF4-FFF2-40B4-BE49-F238E27FC236}">
                <a16:creationId xmlns:a16="http://schemas.microsoft.com/office/drawing/2014/main" id="{CCB8D589-39A8-485A-A74F-25E4ED92EA2A}"/>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9" name="">
            <a:extLst xmlns:a="http://schemas.openxmlformats.org/drawingml/2006/main">
              <a:ext uri="{FF2B5EF4-FFF2-40B4-BE49-F238E27FC236}">
                <a16:creationId xmlns:a16="http://schemas.microsoft.com/office/drawing/2014/main" id="{B23D3E85-C4C5-4780-8BC5-192F2AD8B0FB}"/>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Die Checkliste ist kein Schuldeingeständnis, sondern professionelles Ereignismanagement.</a:t>
            </a:r>
          </a:p>
        </p:txBody>
      </p:sp>
    </p:spTree>
    <p:extLst>
      <p:ext uri="{BB962C8B-B14F-4D97-AF65-F5344CB8AC3E}">
        <p14:creationId xmlns:p14="http://schemas.microsoft.com/office/powerpoint/2010/main" val="43637646"/>
      </p:ext>
    </p:extLst>
  </p:cSld>
</p:sld>
</file>

<file path=ppt/slides/slide61.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Akut-Check: Minute 0 bis 60</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AKUT-CHECK</a:t>
            </a:r>
            <a:endParaRPr/>
          </a:p>
        </p:txBody>
      </p:sp>
      <p:sp>
        <p:nvSpPr>
          <p:cNvPr id="4" name="">
            <a:extLst xmlns:a="http://schemas.openxmlformats.org/drawingml/2006/main">
              <a:ext uri="{FF2B5EF4-FFF2-40B4-BE49-F238E27FC236}">
                <a16:creationId xmlns:a16="http://schemas.microsoft.com/office/drawing/2014/main" id="{34615F4C-4404-4C42-AE4A-E775ED144ADB}"/>
              </a:ext>
            </a:extLst>
          </p:cNvPr>
          <p:cNvSpPr>
            <a:spLocks xmlns:a="http://schemas.openxmlformats.org/drawingml/2006/main" noGrp="1"/>
          </p:cNvSpPr>
          <p:nvPr/>
        </p:nvSpPr>
        <p:spPr>
          <a:xfrm xmlns:a="http://schemas.openxmlformats.org/drawingml/2006/main">
            <a:off x="2000250" y="2657475"/>
            <a:ext cx="9144000" cy="0"/>
          </a:xfrm>
          <a:prstGeom xmlns:a="http://schemas.openxmlformats.org/drawingml/2006/main" prst="line">
            <a:avLst/>
          </a:prstGeom>
          <a:noFill xmlns:a="http://schemas.openxmlformats.org/drawingml/2006/main"/>
          <a:ln xmlns:a="http://schemas.openxmlformats.org/drawingml/2006/main" w="28575">
            <a:solidFill>
              <a:srgbClr val="B9CAD2"/>
            </a:solidFill>
            <a:prstDash val="solid"/>
          </a:ln>
        </p:spPr>
      </p:sp>
      <p:sp>
        <p:nvSpPr>
          <p:cNvPr id="5" name="">
            <a:extLst xmlns:a="http://schemas.openxmlformats.org/drawingml/2006/main">
              <a:ext uri="{FF2B5EF4-FFF2-40B4-BE49-F238E27FC236}">
                <a16:creationId xmlns:a16="http://schemas.microsoft.com/office/drawing/2014/main" id="{7DA37C2C-E0F0-4CB5-83E6-C101EF1E92A4}"/>
              </a:ext>
            </a:extLst>
          </p:cNvPr>
          <p:cNvSpPr>
            <a:spLocks xmlns:a="http://schemas.openxmlformats.org/drawingml/2006/main" noGrp="1"/>
          </p:cNvSpPr>
          <p:nvPr/>
        </p:nvSpPr>
        <p:spPr>
          <a:xfrm xmlns:a="http://schemas.openxmlformats.org/drawingml/2006/main">
            <a:off x="2602230" y="2543175"/>
            <a:ext cx="228600" cy="228600"/>
          </a:xfrm>
          <a:prstGeom xmlns:a="http://schemas.openxmlformats.org/drawingml/2006/main" prst="ellipse">
            <a:avLst/>
          </a:prstGeom>
          <a:solidFill xmlns:a="http://schemas.openxmlformats.org/drawingml/2006/main">
            <a:srgbClr val="003F6B"/>
          </a:solidFill>
          <a:ln xmlns:a="http://schemas.openxmlformats.org/drawingml/2006/main" w="19050">
            <a:solidFill>
              <a:srgbClr val="FFFFFF"/>
            </a:solidFill>
            <a:prstDash val="solid"/>
          </a:ln>
        </p:spPr>
      </p:sp>
      <p:sp>
        <p:nvSpPr>
          <p:cNvPr id="6" name="">
            <a:extLst xmlns:a="http://schemas.openxmlformats.org/drawingml/2006/main">
              <a:ext uri="{FF2B5EF4-FFF2-40B4-BE49-F238E27FC236}">
                <a16:creationId xmlns:a16="http://schemas.microsoft.com/office/drawing/2014/main" id="{61F4105F-0446-4D7D-AA8D-472F62142991}"/>
              </a:ext>
            </a:extLst>
          </p:cNvPr>
          <p:cNvSpPr>
            <a:spLocks xmlns:a="http://schemas.openxmlformats.org/drawingml/2006/main" noGrp="1"/>
          </p:cNvSpPr>
          <p:nvPr/>
        </p:nvSpPr>
        <p:spPr>
          <a:xfrm xmlns:a="http://schemas.openxmlformats.org/drawingml/2006/main">
            <a:off x="1809750" y="2105025"/>
            <a:ext cx="181356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63" b="1">
                <a:solidFill>
                  <a:srgbClr val="003F6B"/>
                </a:solidFill>
              </a:defRPr>
            </a:pPr>
            <a:r>
              <a:rPr sz="1163" b="1">
                <a:solidFill>
                  <a:srgbClr val="003F6B"/>
                </a:solidFill>
              </a:rPr>
              <a:t>0–5 min · Stabilisieren</a:t>
            </a:r>
          </a:p>
        </p:txBody>
      </p:sp>
      <p:sp>
        <p:nvSpPr>
          <p:cNvPr id="7" name="">
            <a:extLst xmlns:a="http://schemas.openxmlformats.org/drawingml/2006/main">
              <a:ext uri="{FF2B5EF4-FFF2-40B4-BE49-F238E27FC236}">
                <a16:creationId xmlns:a16="http://schemas.microsoft.com/office/drawing/2014/main" id="{27F2ACF8-932E-411C-8AC8-D55DEBF1F1FE}"/>
              </a:ext>
            </a:extLst>
          </p:cNvPr>
          <p:cNvSpPr>
            <a:spLocks xmlns:a="http://schemas.openxmlformats.org/drawingml/2006/main" noGrp="1"/>
          </p:cNvSpPr>
          <p:nvPr/>
        </p:nvSpPr>
        <p:spPr>
          <a:xfrm xmlns:a="http://schemas.openxmlformats.org/drawingml/2006/main">
            <a:off x="1847850" y="2924175"/>
            <a:ext cx="173736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13">
                <a:solidFill>
                  <a:srgbClr val="15232B"/>
                </a:solidFill>
              </a:defRPr>
            </a:pPr>
            <a:r>
              <a:rPr sz="1013">
                <a:solidFill>
                  <a:srgbClr val="15232B"/>
                </a:solidFill>
              </a:rPr>
              <a:t>Schaden begrenzen · Hilfe holen · Monitoring / Therapie</a:t>
            </a:r>
          </a:p>
        </p:txBody>
      </p:sp>
      <p:sp>
        <p:nvSpPr>
          <p:cNvPr id="8" name="">
            <a:extLst xmlns:a="http://schemas.openxmlformats.org/drawingml/2006/main">
              <a:ext uri="{FF2B5EF4-FFF2-40B4-BE49-F238E27FC236}">
                <a16:creationId xmlns:a16="http://schemas.microsoft.com/office/drawing/2014/main" id="{A39BE0B1-FB76-4DF1-AAEC-601543BFFC5D}"/>
              </a:ext>
            </a:extLst>
          </p:cNvPr>
          <p:cNvSpPr>
            <a:spLocks xmlns:a="http://schemas.openxmlformats.org/drawingml/2006/main" noGrp="1"/>
          </p:cNvSpPr>
          <p:nvPr/>
        </p:nvSpPr>
        <p:spPr>
          <a:xfrm xmlns:a="http://schemas.openxmlformats.org/drawingml/2006/main">
            <a:off x="4530090" y="2543175"/>
            <a:ext cx="228600" cy="22860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9" name="">
            <a:extLst xmlns:a="http://schemas.openxmlformats.org/drawingml/2006/main">
              <a:ext uri="{FF2B5EF4-FFF2-40B4-BE49-F238E27FC236}">
                <a16:creationId xmlns:a16="http://schemas.microsoft.com/office/drawing/2014/main" id="{1CAA0FE9-D167-48B5-A7B0-9007D151725B}"/>
              </a:ext>
            </a:extLst>
          </p:cNvPr>
          <p:cNvSpPr>
            <a:spLocks xmlns:a="http://schemas.openxmlformats.org/drawingml/2006/main" noGrp="1"/>
          </p:cNvSpPr>
          <p:nvPr/>
        </p:nvSpPr>
        <p:spPr>
          <a:xfrm xmlns:a="http://schemas.openxmlformats.org/drawingml/2006/main">
            <a:off x="3737610" y="2105025"/>
            <a:ext cx="181356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63" b="1">
                <a:solidFill>
                  <a:srgbClr val="003F6B"/>
                </a:solidFill>
              </a:defRPr>
            </a:pPr>
            <a:r>
              <a:rPr sz="1163" b="1">
                <a:solidFill>
                  <a:srgbClr val="003F6B"/>
                </a:solidFill>
              </a:rPr>
              <a:t>5–15 min · Team ordnen</a:t>
            </a:r>
          </a:p>
        </p:txBody>
      </p:sp>
      <p:sp>
        <p:nvSpPr>
          <p:cNvPr id="10" name="">
            <a:extLst xmlns:a="http://schemas.openxmlformats.org/drawingml/2006/main">
              <a:ext uri="{FF2B5EF4-FFF2-40B4-BE49-F238E27FC236}">
                <a16:creationId xmlns:a16="http://schemas.microsoft.com/office/drawing/2014/main" id="{305DEEF9-DB12-469C-B292-1E664428039F}"/>
              </a:ext>
            </a:extLst>
          </p:cNvPr>
          <p:cNvSpPr>
            <a:spLocks xmlns:a="http://schemas.openxmlformats.org/drawingml/2006/main" noGrp="1"/>
          </p:cNvSpPr>
          <p:nvPr/>
        </p:nvSpPr>
        <p:spPr>
          <a:xfrm xmlns:a="http://schemas.openxmlformats.org/drawingml/2006/main">
            <a:off x="3775710" y="2924175"/>
            <a:ext cx="173736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13">
                <a:solidFill>
                  <a:srgbClr val="15232B"/>
                </a:solidFill>
              </a:defRPr>
            </a:pPr>
            <a:r>
              <a:rPr sz="1013">
                <a:solidFill>
                  <a:srgbClr val="15232B"/>
                </a:solidFill>
              </a:rPr>
              <a:t>Verantwortung klären · relevante Materialien sichern</a:t>
            </a:r>
          </a:p>
        </p:txBody>
      </p:sp>
      <p:sp>
        <p:nvSpPr>
          <p:cNvPr id="11" name="">
            <a:extLst xmlns:a="http://schemas.openxmlformats.org/drawingml/2006/main">
              <a:ext uri="{FF2B5EF4-FFF2-40B4-BE49-F238E27FC236}">
                <a16:creationId xmlns:a16="http://schemas.microsoft.com/office/drawing/2014/main" id="{3D449D3B-8A60-46EA-9C35-BE12FEC29A17}"/>
              </a:ext>
            </a:extLst>
          </p:cNvPr>
          <p:cNvSpPr>
            <a:spLocks xmlns:a="http://schemas.openxmlformats.org/drawingml/2006/main" noGrp="1"/>
          </p:cNvSpPr>
          <p:nvPr/>
        </p:nvSpPr>
        <p:spPr>
          <a:xfrm xmlns:a="http://schemas.openxmlformats.org/drawingml/2006/main">
            <a:off x="6457950" y="2543175"/>
            <a:ext cx="228600" cy="22860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12" name="">
            <a:extLst xmlns:a="http://schemas.openxmlformats.org/drawingml/2006/main">
              <a:ext uri="{FF2B5EF4-FFF2-40B4-BE49-F238E27FC236}">
                <a16:creationId xmlns:a16="http://schemas.microsoft.com/office/drawing/2014/main" id="{60C87DDC-7511-472D-A5A6-D31EE4B75996}"/>
              </a:ext>
            </a:extLst>
          </p:cNvPr>
          <p:cNvSpPr>
            <a:spLocks xmlns:a="http://schemas.openxmlformats.org/drawingml/2006/main" noGrp="1"/>
          </p:cNvSpPr>
          <p:nvPr/>
        </p:nvSpPr>
        <p:spPr>
          <a:xfrm xmlns:a="http://schemas.openxmlformats.org/drawingml/2006/main">
            <a:off x="5665470" y="2105025"/>
            <a:ext cx="181356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63" b="1">
                <a:solidFill>
                  <a:srgbClr val="003F6B"/>
                </a:solidFill>
              </a:defRPr>
            </a:pPr>
            <a:r>
              <a:rPr sz="1163" b="1">
                <a:solidFill>
                  <a:srgbClr val="003F6B"/>
                </a:solidFill>
              </a:rPr>
              <a:t>15–30 min · Fakten dokumentieren</a:t>
            </a:r>
          </a:p>
        </p:txBody>
      </p:sp>
      <p:sp>
        <p:nvSpPr>
          <p:cNvPr id="13" name="">
            <a:extLst xmlns:a="http://schemas.openxmlformats.org/drawingml/2006/main">
              <a:ext uri="{FF2B5EF4-FFF2-40B4-BE49-F238E27FC236}">
                <a16:creationId xmlns:a16="http://schemas.microsoft.com/office/drawing/2014/main" id="{9CFFB995-ED85-4468-8226-6C0EFF95C69B}"/>
              </a:ext>
            </a:extLst>
          </p:cNvPr>
          <p:cNvSpPr>
            <a:spLocks xmlns:a="http://schemas.openxmlformats.org/drawingml/2006/main" noGrp="1"/>
          </p:cNvSpPr>
          <p:nvPr/>
        </p:nvSpPr>
        <p:spPr>
          <a:xfrm xmlns:a="http://schemas.openxmlformats.org/drawingml/2006/main">
            <a:off x="5703570" y="2924175"/>
            <a:ext cx="173736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13">
                <a:solidFill>
                  <a:srgbClr val="15232B"/>
                </a:solidFill>
              </a:defRPr>
            </a:pPr>
            <a:r>
              <a:rPr sz="1013">
                <a:solidFill>
                  <a:srgbClr val="15232B"/>
                </a:solidFill>
              </a:rPr>
              <a:t>Befunde, Zeiten, Maßnahmen, Entscheidungen – zeitnah</a:t>
            </a:r>
          </a:p>
        </p:txBody>
      </p:sp>
      <p:sp>
        <p:nvSpPr>
          <p:cNvPr id="14" name="">
            <a:extLst xmlns:a="http://schemas.openxmlformats.org/drawingml/2006/main">
              <a:ext uri="{FF2B5EF4-FFF2-40B4-BE49-F238E27FC236}">
                <a16:creationId xmlns:a16="http://schemas.microsoft.com/office/drawing/2014/main" id="{21210A2C-0C6D-4F17-A1CE-DA0E80B832A0}"/>
              </a:ext>
            </a:extLst>
          </p:cNvPr>
          <p:cNvSpPr>
            <a:spLocks xmlns:a="http://schemas.openxmlformats.org/drawingml/2006/main" noGrp="1"/>
          </p:cNvSpPr>
          <p:nvPr/>
        </p:nvSpPr>
        <p:spPr>
          <a:xfrm xmlns:a="http://schemas.openxmlformats.org/drawingml/2006/main">
            <a:off x="8385810" y="2543175"/>
            <a:ext cx="228600" cy="22860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15" name="">
            <a:extLst xmlns:a="http://schemas.openxmlformats.org/drawingml/2006/main">
              <a:ext uri="{FF2B5EF4-FFF2-40B4-BE49-F238E27FC236}">
                <a16:creationId xmlns:a16="http://schemas.microsoft.com/office/drawing/2014/main" id="{94328D6F-6737-45A4-B633-E4867F47DF14}"/>
              </a:ext>
            </a:extLst>
          </p:cNvPr>
          <p:cNvSpPr>
            <a:spLocks xmlns:a="http://schemas.openxmlformats.org/drawingml/2006/main" noGrp="1"/>
          </p:cNvSpPr>
          <p:nvPr/>
        </p:nvSpPr>
        <p:spPr>
          <a:xfrm xmlns:a="http://schemas.openxmlformats.org/drawingml/2006/main">
            <a:off x="7593330" y="2105025"/>
            <a:ext cx="181356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63" b="1">
                <a:solidFill>
                  <a:srgbClr val="003F6B"/>
                </a:solidFill>
              </a:defRPr>
            </a:pPr>
            <a:r>
              <a:rPr sz="1163" b="1">
                <a:solidFill>
                  <a:srgbClr val="003F6B"/>
                </a:solidFill>
              </a:rPr>
              <a:t>30–45 min · Kommunikation planen</a:t>
            </a:r>
          </a:p>
        </p:txBody>
      </p:sp>
      <p:sp>
        <p:nvSpPr>
          <p:cNvPr id="16" name="">
            <a:extLst xmlns:a="http://schemas.openxmlformats.org/drawingml/2006/main">
              <a:ext uri="{FF2B5EF4-FFF2-40B4-BE49-F238E27FC236}">
                <a16:creationId xmlns:a16="http://schemas.microsoft.com/office/drawing/2014/main" id="{EEC2B0AA-842B-48EE-91B0-EFBA0FEDD0E1}"/>
              </a:ext>
            </a:extLst>
          </p:cNvPr>
          <p:cNvSpPr>
            <a:spLocks xmlns:a="http://schemas.openxmlformats.org/drawingml/2006/main" noGrp="1"/>
          </p:cNvSpPr>
          <p:nvPr/>
        </p:nvSpPr>
        <p:spPr>
          <a:xfrm xmlns:a="http://schemas.openxmlformats.org/drawingml/2006/main">
            <a:off x="7631430" y="2924175"/>
            <a:ext cx="173736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13">
                <a:solidFill>
                  <a:srgbClr val="15232B"/>
                </a:solidFill>
              </a:defRPr>
            </a:pPr>
            <a:r>
              <a:rPr sz="1013">
                <a:solidFill>
                  <a:srgbClr val="15232B"/>
                </a:solidFill>
              </a:rPr>
              <a:t>Wer spricht mit Patient:in / Angehörigen? Was ist sicher bekannt?</a:t>
            </a:r>
          </a:p>
        </p:txBody>
      </p:sp>
      <p:sp>
        <p:nvSpPr>
          <p:cNvPr id="17" name="">
            <a:extLst xmlns:a="http://schemas.openxmlformats.org/drawingml/2006/main">
              <a:ext uri="{FF2B5EF4-FFF2-40B4-BE49-F238E27FC236}">
                <a16:creationId xmlns:a16="http://schemas.microsoft.com/office/drawing/2014/main" id="{66A48052-C989-4ECC-8BB6-55C1D5554C0A}"/>
              </a:ext>
            </a:extLst>
          </p:cNvPr>
          <p:cNvSpPr>
            <a:spLocks xmlns:a="http://schemas.openxmlformats.org/drawingml/2006/main" noGrp="1"/>
          </p:cNvSpPr>
          <p:nvPr/>
        </p:nvSpPr>
        <p:spPr>
          <a:xfrm xmlns:a="http://schemas.openxmlformats.org/drawingml/2006/main">
            <a:off x="10313670" y="2543175"/>
            <a:ext cx="228600" cy="22860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18" name="">
            <a:extLst xmlns:a="http://schemas.openxmlformats.org/drawingml/2006/main">
              <a:ext uri="{FF2B5EF4-FFF2-40B4-BE49-F238E27FC236}">
                <a16:creationId xmlns:a16="http://schemas.microsoft.com/office/drawing/2014/main" id="{2D836160-D9F9-4010-AE5C-FCC5D5ECEE7B}"/>
              </a:ext>
            </a:extLst>
          </p:cNvPr>
          <p:cNvSpPr>
            <a:spLocks xmlns:a="http://schemas.openxmlformats.org/drawingml/2006/main" noGrp="1"/>
          </p:cNvSpPr>
          <p:nvPr/>
        </p:nvSpPr>
        <p:spPr>
          <a:xfrm xmlns:a="http://schemas.openxmlformats.org/drawingml/2006/main">
            <a:off x="9521190" y="2105025"/>
            <a:ext cx="181356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63" b="1">
                <a:solidFill>
                  <a:srgbClr val="003F6B"/>
                </a:solidFill>
              </a:defRPr>
            </a:pPr>
            <a:r>
              <a:rPr sz="1163" b="1">
                <a:solidFill>
                  <a:srgbClr val="003F6B"/>
                </a:solidFill>
              </a:rPr>
              <a:t>45–60 min · Melden &amp; übergeben</a:t>
            </a:r>
          </a:p>
        </p:txBody>
      </p:sp>
      <p:sp>
        <p:nvSpPr>
          <p:cNvPr id="19" name="">
            <a:extLst xmlns:a="http://schemas.openxmlformats.org/drawingml/2006/main">
              <a:ext uri="{FF2B5EF4-FFF2-40B4-BE49-F238E27FC236}">
                <a16:creationId xmlns:a16="http://schemas.microsoft.com/office/drawing/2014/main" id="{3474D0BE-3F29-47A7-A5C1-B0868285D018}"/>
              </a:ext>
            </a:extLst>
          </p:cNvPr>
          <p:cNvSpPr>
            <a:spLocks xmlns:a="http://schemas.openxmlformats.org/drawingml/2006/main" noGrp="1"/>
          </p:cNvSpPr>
          <p:nvPr/>
        </p:nvSpPr>
        <p:spPr>
          <a:xfrm xmlns:a="http://schemas.openxmlformats.org/drawingml/2006/main">
            <a:off x="9559290" y="2924175"/>
            <a:ext cx="173736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13">
                <a:solidFill>
                  <a:srgbClr val="15232B"/>
                </a:solidFill>
              </a:defRPr>
            </a:pPr>
            <a:r>
              <a:rPr sz="1013">
                <a:solidFill>
                  <a:srgbClr val="15232B"/>
                </a:solidFill>
              </a:rPr>
              <a:t>Vorgesetzte · Risikomanagement · sichere Weiterbehandlung</a:t>
            </a:r>
          </a:p>
        </p:txBody>
      </p:sp>
      <p:sp>
        <p:nvSpPr>
          <p:cNvPr id="20" name="">
            <a:extLst xmlns:a="http://schemas.openxmlformats.org/drawingml/2006/main">
              <a:ext uri="{FF2B5EF4-FFF2-40B4-BE49-F238E27FC236}">
                <a16:creationId xmlns:a16="http://schemas.microsoft.com/office/drawing/2014/main" id="{20765CB6-4CDE-41B3-BD59-EBB6F6C5FA59}"/>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1" name="">
            <a:extLst xmlns:a="http://schemas.openxmlformats.org/drawingml/2006/main">
              <a:ext uri="{FF2B5EF4-FFF2-40B4-BE49-F238E27FC236}">
                <a16:creationId xmlns:a16="http://schemas.microsoft.com/office/drawing/2014/main" id="{11E3A7F4-2E0A-4FAE-B3BF-69977EF87646}"/>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Erst Patientensicherheit; dann belastbare Fakten. Keine Ursachenlegende im Eiltempo erfinden.</a:t>
            </a:r>
          </a:p>
        </p:txBody>
      </p:sp>
    </p:spTree>
    <p:extLst>
      <p:ext uri="{BB962C8B-B14F-4D97-AF65-F5344CB8AC3E}">
        <p14:creationId xmlns:p14="http://schemas.microsoft.com/office/powerpoint/2010/main" val="43637646"/>
      </p:ext>
    </p:extLst>
  </p:cSld>
</p:sld>
</file>

<file path=ppt/slides/slide62.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Patientenakte, Stellungnahme, CIRS: drei Texte – drei Zwecke</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NICHT VERMISCHEN</a:t>
            </a:r>
            <a:endParaRPr/>
          </a:p>
        </p:txBody>
      </p:sp>
      <p:sp>
        <p:nvSpPr>
          <p:cNvPr id="4" name="">
            <a:extLst xmlns:a="http://schemas.openxmlformats.org/drawingml/2006/main">
              <a:ext uri="{FF2B5EF4-FFF2-40B4-BE49-F238E27FC236}">
                <a16:creationId xmlns:a16="http://schemas.microsoft.com/office/drawing/2014/main" id="{1B4868D2-5362-440B-959F-6B53E3CD8F92}"/>
              </a:ext>
            </a:extLst>
          </p:cNvPr>
          <p:cNvSpPr>
            <a:spLocks xmlns:a="http://schemas.openxmlformats.org/drawingml/2006/main" noGrp="1"/>
          </p:cNvSpPr>
          <p:nvPr/>
        </p:nvSpPr>
        <p:spPr>
          <a:xfrm xmlns:a="http://schemas.openxmlformats.org/drawingml/2006/main">
            <a:off x="1809750" y="2000250"/>
            <a:ext cx="4619625" cy="3286125"/>
          </a:xfrm>
          <a:prstGeom xmlns:a="http://schemas.openxmlformats.org/drawingml/2006/main" prst="roundRect">
            <a:avLst>
              <a:gd name="adj" fmla="val 2319"/>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DD39A3AE-1C71-4089-B4A6-2FFBC1342E52}"/>
              </a:ext>
            </a:extLst>
          </p:cNvPr>
          <p:cNvSpPr>
            <a:spLocks xmlns:a="http://schemas.openxmlformats.org/drawingml/2006/main" noGrp="1"/>
          </p:cNvSpPr>
          <p:nvPr/>
        </p:nvSpPr>
        <p:spPr>
          <a:xfrm xmlns:a="http://schemas.openxmlformats.org/drawingml/2006/main">
            <a:off x="1809750" y="2000250"/>
            <a:ext cx="4619625"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9EE6A2D6-4D18-4A34-A4FF-BD10A92B6172}"/>
              </a:ext>
            </a:extLst>
          </p:cNvPr>
          <p:cNvSpPr>
            <a:spLocks xmlns:a="http://schemas.openxmlformats.org/drawingml/2006/main" noGrp="1"/>
          </p:cNvSpPr>
          <p:nvPr/>
        </p:nvSpPr>
        <p:spPr>
          <a:xfrm xmlns:a="http://schemas.openxmlformats.org/drawingml/2006/main">
            <a:off x="1962150" y="2133600"/>
            <a:ext cx="4314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75" b="1">
                <a:solidFill>
                  <a:srgbClr val="003F6B"/>
                </a:solidFill>
              </a:defRPr>
            </a:pPr>
            <a:r>
              <a:rPr sz="1575" b="1">
                <a:solidFill>
                  <a:srgbClr val="003F6B"/>
                </a:solidFill>
              </a:rPr>
              <a:t>Behandlungsdokumentation</a:t>
            </a:r>
          </a:p>
        </p:txBody>
      </p:sp>
      <p:sp>
        <p:nvSpPr>
          <p:cNvPr id="7" name="">
            <a:extLst xmlns:a="http://schemas.openxmlformats.org/drawingml/2006/main">
              <a:ext uri="{FF2B5EF4-FFF2-40B4-BE49-F238E27FC236}">
                <a16:creationId xmlns:a16="http://schemas.microsoft.com/office/drawing/2014/main" id="{5A6F6CD8-91AB-4AAA-ADFB-7E9B4B892837}"/>
              </a:ext>
            </a:extLst>
          </p:cNvPr>
          <p:cNvSpPr>
            <a:spLocks xmlns:a="http://schemas.openxmlformats.org/drawingml/2006/main" noGrp="1"/>
          </p:cNvSpPr>
          <p:nvPr/>
        </p:nvSpPr>
        <p:spPr>
          <a:xfrm xmlns:a="http://schemas.openxmlformats.org/drawingml/2006/main">
            <a:off x="1962150" y="2571750"/>
            <a:ext cx="4314825"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15232B"/>
                </a:solidFill>
              </a:defRPr>
            </a:pPr>
            <a:r>
              <a:rPr sz="1200">
                <a:solidFill>
                  <a:srgbClr val="15232B"/>
                </a:solidFill>
              </a:rPr>
              <a:t>• medizinisch Wesentliches</a:t>
            </a:r>
          </a:p>
          <a:p xmlns:a="http://schemas.openxmlformats.org/drawingml/2006/main">
            <a:pPr>
              <a:buNone/>
              <a:defRPr sz="1200">
                <a:solidFill>
                  <a:srgbClr val="15232B"/>
                </a:solidFill>
              </a:defRPr>
            </a:pPr>
            <a:r>
              <a:rPr sz="1200">
                <a:solidFill>
                  <a:srgbClr val="15232B"/>
                </a:solidFill>
              </a:rPr>
              <a:t>• zeitnah und nachvollziehbar</a:t>
            </a:r>
          </a:p>
          <a:p xmlns:a="http://schemas.openxmlformats.org/drawingml/2006/main">
            <a:pPr>
              <a:buNone/>
              <a:defRPr sz="1200">
                <a:solidFill>
                  <a:srgbClr val="15232B"/>
                </a:solidFill>
              </a:defRPr>
            </a:pPr>
            <a:r>
              <a:rPr sz="1200">
                <a:solidFill>
                  <a:srgbClr val="15232B"/>
                </a:solidFill>
              </a:rPr>
              <a:t>• späte Ergänzung als solche kenntlich</a:t>
            </a:r>
          </a:p>
          <a:p xmlns:a="http://schemas.openxmlformats.org/drawingml/2006/main">
            <a:pPr>
              <a:buNone/>
              <a:defRPr sz="1200">
                <a:solidFill>
                  <a:srgbClr val="15232B"/>
                </a:solidFill>
              </a:defRPr>
            </a:pPr>
            <a:r>
              <a:rPr sz="1200">
                <a:solidFill>
                  <a:srgbClr val="15232B"/>
                </a:solidFill>
              </a:rPr>
              <a:t>• für Weiterbehandlung und Beweis</a:t>
            </a:r>
          </a:p>
        </p:txBody>
      </p:sp>
      <p:sp>
        <p:nvSpPr>
          <p:cNvPr id="8" name="">
            <a:extLst xmlns:a="http://schemas.openxmlformats.org/drawingml/2006/main">
              <a:ext uri="{FF2B5EF4-FFF2-40B4-BE49-F238E27FC236}">
                <a16:creationId xmlns:a16="http://schemas.microsoft.com/office/drawing/2014/main" id="{1102D05F-E5F5-42D1-90F7-F72C3D2A8C55}"/>
              </a:ext>
            </a:extLst>
          </p:cNvPr>
          <p:cNvSpPr>
            <a:spLocks xmlns:a="http://schemas.openxmlformats.org/drawingml/2006/main" noGrp="1"/>
          </p:cNvSpPr>
          <p:nvPr/>
        </p:nvSpPr>
        <p:spPr>
          <a:xfrm xmlns:a="http://schemas.openxmlformats.org/drawingml/2006/main">
            <a:off x="6715125" y="2000250"/>
            <a:ext cx="4619625" cy="3286125"/>
          </a:xfrm>
          <a:prstGeom xmlns:a="http://schemas.openxmlformats.org/drawingml/2006/main" prst="roundRect">
            <a:avLst>
              <a:gd name="adj" fmla="val 2319"/>
            </a:avLst>
          </a:prstGeom>
          <a:noFill xmlns:a="http://schemas.openxmlformats.org/drawingml/2006/main"/>
          <a:ln xmlns:a="http://schemas.openxmlformats.org/drawingml/2006/main" w="9525">
            <a:solidFill>
              <a:srgbClr val="B9CAD2"/>
            </a:solidFill>
            <a:prstDash val="solid"/>
          </a:ln>
        </p:spPr>
      </p:sp>
      <p:sp>
        <p:nvSpPr>
          <p:cNvPr id="9" name="">
            <a:extLst xmlns:a="http://schemas.openxmlformats.org/drawingml/2006/main">
              <a:ext uri="{FF2B5EF4-FFF2-40B4-BE49-F238E27FC236}">
                <a16:creationId xmlns:a16="http://schemas.microsoft.com/office/drawing/2014/main" id="{3E344E71-2D09-436A-B19D-D3F0554E47D1}"/>
              </a:ext>
            </a:extLst>
          </p:cNvPr>
          <p:cNvSpPr>
            <a:spLocks xmlns:a="http://schemas.openxmlformats.org/drawingml/2006/main" noGrp="1"/>
          </p:cNvSpPr>
          <p:nvPr/>
        </p:nvSpPr>
        <p:spPr>
          <a:xfrm xmlns:a="http://schemas.openxmlformats.org/drawingml/2006/main">
            <a:off x="6715125" y="2000250"/>
            <a:ext cx="4619625"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E3F46A4D-F3F0-4A5A-8ACA-C5D6CF247F1C}"/>
              </a:ext>
            </a:extLst>
          </p:cNvPr>
          <p:cNvSpPr>
            <a:spLocks xmlns:a="http://schemas.openxmlformats.org/drawingml/2006/main" noGrp="1"/>
          </p:cNvSpPr>
          <p:nvPr/>
        </p:nvSpPr>
        <p:spPr>
          <a:xfrm xmlns:a="http://schemas.openxmlformats.org/drawingml/2006/main">
            <a:off x="6867525" y="2133600"/>
            <a:ext cx="4314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75" b="1">
                <a:solidFill>
                  <a:srgbClr val="003F6B"/>
                </a:solidFill>
              </a:defRPr>
            </a:pPr>
            <a:r>
              <a:rPr sz="1575" b="1">
                <a:solidFill>
                  <a:srgbClr val="003F6B"/>
                </a:solidFill>
              </a:rPr>
              <a:t>Interne Aufarbeitung</a:t>
            </a:r>
          </a:p>
        </p:txBody>
      </p:sp>
      <p:sp>
        <p:nvSpPr>
          <p:cNvPr id="11" name="">
            <a:extLst xmlns:a="http://schemas.openxmlformats.org/drawingml/2006/main">
              <a:ext uri="{FF2B5EF4-FFF2-40B4-BE49-F238E27FC236}">
                <a16:creationId xmlns:a16="http://schemas.microsoft.com/office/drawing/2014/main" id="{918519F7-3C88-476C-8129-F3AD686FCC64}"/>
              </a:ext>
            </a:extLst>
          </p:cNvPr>
          <p:cNvSpPr>
            <a:spLocks xmlns:a="http://schemas.openxmlformats.org/drawingml/2006/main" noGrp="1"/>
          </p:cNvSpPr>
          <p:nvPr/>
        </p:nvSpPr>
        <p:spPr>
          <a:xfrm xmlns:a="http://schemas.openxmlformats.org/drawingml/2006/main">
            <a:off x="6867525" y="2571750"/>
            <a:ext cx="4314825"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15232B"/>
                </a:solidFill>
              </a:defRPr>
            </a:pPr>
            <a:r>
              <a:rPr sz="1200">
                <a:solidFill>
                  <a:srgbClr val="15232B"/>
                </a:solidFill>
              </a:rPr>
              <a:t>• CIRS / M&amp;M: Lernen und Systemanalyse</a:t>
            </a:r>
          </a:p>
          <a:p xmlns:a="http://schemas.openxmlformats.org/drawingml/2006/main">
            <a:pPr>
              <a:buNone/>
              <a:defRPr sz="1200">
                <a:solidFill>
                  <a:srgbClr val="15232B"/>
                </a:solidFill>
              </a:defRPr>
            </a:pPr>
            <a:r>
              <a:rPr sz="1200">
                <a:solidFill>
                  <a:srgbClr val="15232B"/>
                </a:solidFill>
              </a:rPr>
              <a:t>• Stellungnahme: konkreter Auftrag und Adressat</a:t>
            </a:r>
          </a:p>
          <a:p xmlns:a="http://schemas.openxmlformats.org/drawingml/2006/main">
            <a:pPr>
              <a:buNone/>
              <a:defRPr sz="1200">
                <a:solidFill>
                  <a:srgbClr val="15232B"/>
                </a:solidFill>
              </a:defRPr>
            </a:pPr>
            <a:r>
              <a:rPr sz="1200">
                <a:solidFill>
                  <a:srgbClr val="15232B"/>
                </a:solidFill>
              </a:rPr>
              <a:t>• keine Copy-paste-Rekonstruktion in die Akte</a:t>
            </a:r>
          </a:p>
          <a:p xmlns:a="http://schemas.openxmlformats.org/drawingml/2006/main">
            <a:pPr>
              <a:buNone/>
              <a:defRPr sz="1200">
                <a:solidFill>
                  <a:srgbClr val="15232B"/>
                </a:solidFill>
              </a:defRPr>
            </a:pPr>
            <a:r>
              <a:rPr sz="1200">
                <a:solidFill>
                  <a:srgbClr val="15232B"/>
                </a:solidFill>
              </a:rPr>
              <a:t>• Vertraulichkeit nicht pauschal versprechen</a:t>
            </a:r>
          </a:p>
        </p:txBody>
      </p:sp>
      <p:sp>
        <p:nvSpPr>
          <p:cNvPr id="12" name="">
            <a:extLst xmlns:a="http://schemas.openxmlformats.org/drawingml/2006/main">
              <a:ext uri="{FF2B5EF4-FFF2-40B4-BE49-F238E27FC236}">
                <a16:creationId xmlns:a16="http://schemas.microsoft.com/office/drawing/2014/main" id="{CA895F74-713A-4277-8FD1-28B9B2D67305}"/>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13" name="">
            <a:extLst xmlns:a="http://schemas.openxmlformats.org/drawingml/2006/main">
              <a:ext uri="{FF2B5EF4-FFF2-40B4-BE49-F238E27FC236}">
                <a16:creationId xmlns:a16="http://schemas.microsoft.com/office/drawing/2014/main" id="{B459DB6E-7C29-4BC1-86C3-BC2E027A381D}"/>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Nie heimlich rückdatieren, löschen oder umformulieren. Korrektur muss nachvollziehbar bleiben.</a:t>
            </a:r>
          </a:p>
        </p:txBody>
      </p:sp>
    </p:spTree>
    <p:extLst>
      <p:ext uri="{BB962C8B-B14F-4D97-AF65-F5344CB8AC3E}">
        <p14:creationId xmlns:p14="http://schemas.microsoft.com/office/powerpoint/2010/main" val="43637646"/>
      </p:ext>
    </p:extLst>
  </p:cSld>
</p:sld>
</file>

<file path=ppt/slides/slide63.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Mit Patient:innen sprechen: offen, präzise, menschlich</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GESPRÄCHSSTRUKTUR</a:t>
            </a:r>
            <a:endParaRPr/>
          </a:p>
        </p:txBody>
      </p:sp>
      <p:sp>
        <p:nvSpPr>
          <p:cNvPr id="4" name="">
            <a:extLst xmlns:a="http://schemas.openxmlformats.org/drawingml/2006/main">
              <a:ext uri="{FF2B5EF4-FFF2-40B4-BE49-F238E27FC236}">
                <a16:creationId xmlns:a16="http://schemas.microsoft.com/office/drawing/2014/main" id="{ED8FE722-4AA8-45D2-BEAE-E81081DEE384}"/>
              </a:ext>
            </a:extLst>
          </p:cNvPr>
          <p:cNvSpPr>
            <a:spLocks xmlns:a="http://schemas.openxmlformats.org/drawingml/2006/main" noGrp="1"/>
          </p:cNvSpPr>
          <p:nvPr/>
        </p:nvSpPr>
        <p:spPr>
          <a:xfrm xmlns:a="http://schemas.openxmlformats.org/drawingml/2006/main">
            <a:off x="1809750" y="2047875"/>
            <a:ext cx="40005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E99E748E-2E8A-46B0-BE88-6891A8331820}"/>
              </a:ext>
            </a:extLst>
          </p:cNvPr>
          <p:cNvSpPr>
            <a:spLocks xmlns:a="http://schemas.openxmlformats.org/drawingml/2006/main" noGrp="1"/>
          </p:cNvSpPr>
          <p:nvPr/>
        </p:nvSpPr>
        <p:spPr>
          <a:xfrm xmlns:a="http://schemas.openxmlformats.org/drawingml/2006/main">
            <a:off x="1809750" y="20478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6" name="">
            <a:extLst xmlns:a="http://schemas.openxmlformats.org/drawingml/2006/main">
              <a:ext uri="{FF2B5EF4-FFF2-40B4-BE49-F238E27FC236}">
                <a16:creationId xmlns:a16="http://schemas.microsoft.com/office/drawing/2014/main" id="{6BCEB4C5-5ADC-4732-8870-D9430FCFAF1A}"/>
              </a:ext>
            </a:extLst>
          </p:cNvPr>
          <p:cNvSpPr>
            <a:spLocks xmlns:a="http://schemas.openxmlformats.org/drawingml/2006/main" noGrp="1"/>
          </p:cNvSpPr>
          <p:nvPr/>
        </p:nvSpPr>
        <p:spPr>
          <a:xfrm xmlns:a="http://schemas.openxmlformats.org/drawingml/2006/main">
            <a:off x="2362200" y="20002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1 Sorge</a:t>
            </a:r>
          </a:p>
        </p:txBody>
      </p:sp>
      <p:sp>
        <p:nvSpPr>
          <p:cNvPr id="7" name="">
            <a:extLst xmlns:a="http://schemas.openxmlformats.org/drawingml/2006/main">
              <a:ext uri="{FF2B5EF4-FFF2-40B4-BE49-F238E27FC236}">
                <a16:creationId xmlns:a16="http://schemas.microsoft.com/office/drawing/2014/main" id="{7EFB7B75-367E-44C8-AEA7-8C8B845F1AA0}"/>
              </a:ext>
            </a:extLst>
          </p:cNvPr>
          <p:cNvSpPr>
            <a:spLocks xmlns:a="http://schemas.openxmlformats.org/drawingml/2006/main" noGrp="1"/>
          </p:cNvSpPr>
          <p:nvPr/>
        </p:nvSpPr>
        <p:spPr>
          <a:xfrm xmlns:a="http://schemas.openxmlformats.org/drawingml/2006/main">
            <a:off x="4714875" y="2000250"/>
            <a:ext cx="647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00">
                <a:solidFill>
                  <a:srgbClr val="15232B"/>
                </a:solidFill>
              </a:defRPr>
            </a:pPr>
            <a:r>
              <a:rPr sz="1200">
                <a:solidFill>
                  <a:srgbClr val="15232B"/>
                </a:solidFill>
              </a:rPr>
              <a:t>‚Es ist eine unerwartete Verschlechterung eingetreten. Wir behandeln sie jetzt.‘</a:t>
            </a:r>
          </a:p>
        </p:txBody>
      </p:sp>
      <p:sp>
        <p:nvSpPr>
          <p:cNvPr id="8" name="">
            <a:extLst xmlns:a="http://schemas.openxmlformats.org/drawingml/2006/main">
              <a:ext uri="{FF2B5EF4-FFF2-40B4-BE49-F238E27FC236}">
                <a16:creationId xmlns:a16="http://schemas.microsoft.com/office/drawing/2014/main" id="{B3F13737-F3BA-441C-81F6-514C72BFCD52}"/>
              </a:ext>
            </a:extLst>
          </p:cNvPr>
          <p:cNvSpPr>
            <a:spLocks xmlns:a="http://schemas.openxmlformats.org/drawingml/2006/main" noGrp="1"/>
          </p:cNvSpPr>
          <p:nvPr/>
        </p:nvSpPr>
        <p:spPr>
          <a:xfrm xmlns:a="http://schemas.openxmlformats.org/drawingml/2006/main">
            <a:off x="1809750" y="2695575"/>
            <a:ext cx="4000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9" name="">
            <a:extLst xmlns:a="http://schemas.openxmlformats.org/drawingml/2006/main">
              <a:ext uri="{FF2B5EF4-FFF2-40B4-BE49-F238E27FC236}">
                <a16:creationId xmlns:a16="http://schemas.microsoft.com/office/drawing/2014/main" id="{49C7ED33-F163-4383-9E62-5CF68D160008}"/>
              </a:ext>
            </a:extLst>
          </p:cNvPr>
          <p:cNvSpPr>
            <a:spLocks xmlns:a="http://schemas.openxmlformats.org/drawingml/2006/main" noGrp="1"/>
          </p:cNvSpPr>
          <p:nvPr/>
        </p:nvSpPr>
        <p:spPr>
          <a:xfrm xmlns:a="http://schemas.openxmlformats.org/drawingml/2006/main">
            <a:off x="1809750" y="26955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0" name="">
            <a:extLst xmlns:a="http://schemas.openxmlformats.org/drawingml/2006/main">
              <a:ext uri="{FF2B5EF4-FFF2-40B4-BE49-F238E27FC236}">
                <a16:creationId xmlns:a16="http://schemas.microsoft.com/office/drawing/2014/main" id="{BA50440C-6852-4CD7-8ADD-EB80E085EDEF}"/>
              </a:ext>
            </a:extLst>
          </p:cNvPr>
          <p:cNvSpPr>
            <a:spLocks xmlns:a="http://schemas.openxmlformats.org/drawingml/2006/main" noGrp="1"/>
          </p:cNvSpPr>
          <p:nvPr/>
        </p:nvSpPr>
        <p:spPr>
          <a:xfrm xmlns:a="http://schemas.openxmlformats.org/drawingml/2006/main">
            <a:off x="2362200" y="26479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2 Fakten</a:t>
            </a:r>
          </a:p>
        </p:txBody>
      </p:sp>
      <p:sp>
        <p:nvSpPr>
          <p:cNvPr id="11" name="">
            <a:extLst xmlns:a="http://schemas.openxmlformats.org/drawingml/2006/main">
              <a:ext uri="{FF2B5EF4-FFF2-40B4-BE49-F238E27FC236}">
                <a16:creationId xmlns:a16="http://schemas.microsoft.com/office/drawing/2014/main" id="{21E66CD0-AAB4-4896-ABF6-B540719E8027}"/>
              </a:ext>
            </a:extLst>
          </p:cNvPr>
          <p:cNvSpPr>
            <a:spLocks xmlns:a="http://schemas.openxmlformats.org/drawingml/2006/main" noGrp="1"/>
          </p:cNvSpPr>
          <p:nvPr/>
        </p:nvSpPr>
        <p:spPr>
          <a:xfrm xmlns:a="http://schemas.openxmlformats.org/drawingml/2006/main">
            <a:off x="4714875" y="2647950"/>
            <a:ext cx="647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00">
                <a:solidFill>
                  <a:srgbClr val="15232B"/>
                </a:solidFill>
              </a:defRPr>
            </a:pPr>
            <a:r>
              <a:rPr sz="1200">
                <a:solidFill>
                  <a:srgbClr val="15232B"/>
                </a:solidFill>
              </a:rPr>
              <a:t>‚Sicher wissen wir derzeit …‘</a:t>
            </a:r>
          </a:p>
        </p:txBody>
      </p:sp>
      <p:sp>
        <p:nvSpPr>
          <p:cNvPr id="12" name="">
            <a:extLst xmlns:a="http://schemas.openxmlformats.org/drawingml/2006/main">
              <a:ext uri="{FF2B5EF4-FFF2-40B4-BE49-F238E27FC236}">
                <a16:creationId xmlns:a16="http://schemas.microsoft.com/office/drawing/2014/main" id="{C66E4AD2-D056-47FD-8DB2-8A8131A8C52F}"/>
              </a:ext>
            </a:extLst>
          </p:cNvPr>
          <p:cNvSpPr>
            <a:spLocks xmlns:a="http://schemas.openxmlformats.org/drawingml/2006/main" noGrp="1"/>
          </p:cNvSpPr>
          <p:nvPr/>
        </p:nvSpPr>
        <p:spPr>
          <a:xfrm xmlns:a="http://schemas.openxmlformats.org/drawingml/2006/main">
            <a:off x="1809750" y="3343275"/>
            <a:ext cx="40005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3" name="">
            <a:extLst xmlns:a="http://schemas.openxmlformats.org/drawingml/2006/main">
              <a:ext uri="{FF2B5EF4-FFF2-40B4-BE49-F238E27FC236}">
                <a16:creationId xmlns:a16="http://schemas.microsoft.com/office/drawing/2014/main" id="{5E87C75C-C15F-49BC-BE55-2C7C18E91140}"/>
              </a:ext>
            </a:extLst>
          </p:cNvPr>
          <p:cNvSpPr>
            <a:spLocks xmlns:a="http://schemas.openxmlformats.org/drawingml/2006/main" noGrp="1"/>
          </p:cNvSpPr>
          <p:nvPr/>
        </p:nvSpPr>
        <p:spPr>
          <a:xfrm xmlns:a="http://schemas.openxmlformats.org/drawingml/2006/main">
            <a:off x="1809750" y="33432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4" name="">
            <a:extLst xmlns:a="http://schemas.openxmlformats.org/drawingml/2006/main">
              <a:ext uri="{FF2B5EF4-FFF2-40B4-BE49-F238E27FC236}">
                <a16:creationId xmlns:a16="http://schemas.microsoft.com/office/drawing/2014/main" id="{BEBC7AE4-602E-4739-8748-1DF95A883F05}"/>
              </a:ext>
            </a:extLst>
          </p:cNvPr>
          <p:cNvSpPr>
            <a:spLocks xmlns:a="http://schemas.openxmlformats.org/drawingml/2006/main" noGrp="1"/>
          </p:cNvSpPr>
          <p:nvPr/>
        </p:nvSpPr>
        <p:spPr>
          <a:xfrm xmlns:a="http://schemas.openxmlformats.org/drawingml/2006/main">
            <a:off x="2362200" y="32956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3 Unsicherheit</a:t>
            </a:r>
          </a:p>
        </p:txBody>
      </p:sp>
      <p:sp>
        <p:nvSpPr>
          <p:cNvPr id="15" name="">
            <a:extLst xmlns:a="http://schemas.openxmlformats.org/drawingml/2006/main">
              <a:ext uri="{FF2B5EF4-FFF2-40B4-BE49-F238E27FC236}">
                <a16:creationId xmlns:a16="http://schemas.microsoft.com/office/drawing/2014/main" id="{2C3AAE0C-6082-415F-B180-65E81B469A2F}"/>
              </a:ext>
            </a:extLst>
          </p:cNvPr>
          <p:cNvSpPr>
            <a:spLocks xmlns:a="http://schemas.openxmlformats.org/drawingml/2006/main" noGrp="1"/>
          </p:cNvSpPr>
          <p:nvPr/>
        </p:nvSpPr>
        <p:spPr>
          <a:xfrm xmlns:a="http://schemas.openxmlformats.org/drawingml/2006/main">
            <a:off x="4714875" y="3295650"/>
            <a:ext cx="647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00">
                <a:solidFill>
                  <a:srgbClr val="15232B"/>
                </a:solidFill>
              </a:defRPr>
            </a:pPr>
            <a:r>
              <a:rPr sz="1200">
                <a:solidFill>
                  <a:srgbClr val="15232B"/>
                </a:solidFill>
              </a:rPr>
              <a:t>‚Noch unklar ist … Wir prüfen …‘</a:t>
            </a:r>
          </a:p>
        </p:txBody>
      </p:sp>
      <p:sp>
        <p:nvSpPr>
          <p:cNvPr id="16" name="">
            <a:extLst xmlns:a="http://schemas.openxmlformats.org/drawingml/2006/main">
              <a:ext uri="{FF2B5EF4-FFF2-40B4-BE49-F238E27FC236}">
                <a16:creationId xmlns:a16="http://schemas.microsoft.com/office/drawing/2014/main" id="{C608A502-69B2-4E0C-B7B8-219C8220A32A}"/>
              </a:ext>
            </a:extLst>
          </p:cNvPr>
          <p:cNvSpPr>
            <a:spLocks xmlns:a="http://schemas.openxmlformats.org/drawingml/2006/main" noGrp="1"/>
          </p:cNvSpPr>
          <p:nvPr/>
        </p:nvSpPr>
        <p:spPr>
          <a:xfrm xmlns:a="http://schemas.openxmlformats.org/drawingml/2006/main">
            <a:off x="1809750" y="3990975"/>
            <a:ext cx="4000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7" name="">
            <a:extLst xmlns:a="http://schemas.openxmlformats.org/drawingml/2006/main">
              <a:ext uri="{FF2B5EF4-FFF2-40B4-BE49-F238E27FC236}">
                <a16:creationId xmlns:a16="http://schemas.microsoft.com/office/drawing/2014/main" id="{C52DA304-0FB8-41C1-9CBA-E41D69CED6C3}"/>
              </a:ext>
            </a:extLst>
          </p:cNvPr>
          <p:cNvSpPr>
            <a:spLocks xmlns:a="http://schemas.openxmlformats.org/drawingml/2006/main" noGrp="1"/>
          </p:cNvSpPr>
          <p:nvPr/>
        </p:nvSpPr>
        <p:spPr>
          <a:xfrm xmlns:a="http://schemas.openxmlformats.org/drawingml/2006/main">
            <a:off x="1809750" y="39909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18" name="">
            <a:extLst xmlns:a="http://schemas.openxmlformats.org/drawingml/2006/main">
              <a:ext uri="{FF2B5EF4-FFF2-40B4-BE49-F238E27FC236}">
                <a16:creationId xmlns:a16="http://schemas.microsoft.com/office/drawing/2014/main" id="{7D4061E1-2FD6-4845-9C63-47678EA17357}"/>
              </a:ext>
            </a:extLst>
          </p:cNvPr>
          <p:cNvSpPr>
            <a:spLocks xmlns:a="http://schemas.openxmlformats.org/drawingml/2006/main" noGrp="1"/>
          </p:cNvSpPr>
          <p:nvPr/>
        </p:nvSpPr>
        <p:spPr>
          <a:xfrm xmlns:a="http://schemas.openxmlformats.org/drawingml/2006/main">
            <a:off x="2362200" y="39433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4 Nächster Schritt</a:t>
            </a:r>
          </a:p>
        </p:txBody>
      </p:sp>
      <p:sp>
        <p:nvSpPr>
          <p:cNvPr id="19" name="">
            <a:extLst xmlns:a="http://schemas.openxmlformats.org/drawingml/2006/main">
              <a:ext uri="{FF2B5EF4-FFF2-40B4-BE49-F238E27FC236}">
                <a16:creationId xmlns:a16="http://schemas.microsoft.com/office/drawing/2014/main" id="{FEF69C21-9594-4A8C-BA67-EDF68DD3661F}"/>
              </a:ext>
            </a:extLst>
          </p:cNvPr>
          <p:cNvSpPr>
            <a:spLocks xmlns:a="http://schemas.openxmlformats.org/drawingml/2006/main" noGrp="1"/>
          </p:cNvSpPr>
          <p:nvPr/>
        </p:nvSpPr>
        <p:spPr>
          <a:xfrm xmlns:a="http://schemas.openxmlformats.org/drawingml/2006/main">
            <a:off x="4714875" y="3943350"/>
            <a:ext cx="647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00">
                <a:solidFill>
                  <a:srgbClr val="15232B"/>
                </a:solidFill>
              </a:defRPr>
            </a:pPr>
            <a:r>
              <a:rPr sz="1200">
                <a:solidFill>
                  <a:srgbClr val="15232B"/>
                </a:solidFill>
              </a:rPr>
              <a:t>‚Die nächsten Maßnahmen sind … Ansprechpartner ist …‘</a:t>
            </a:r>
          </a:p>
        </p:txBody>
      </p:sp>
      <p:sp>
        <p:nvSpPr>
          <p:cNvPr id="20" name="">
            <a:extLst xmlns:a="http://schemas.openxmlformats.org/drawingml/2006/main">
              <a:ext uri="{FF2B5EF4-FFF2-40B4-BE49-F238E27FC236}">
                <a16:creationId xmlns:a16="http://schemas.microsoft.com/office/drawing/2014/main" id="{015B0E83-1E25-4392-8373-C4686E40F186}"/>
              </a:ext>
            </a:extLst>
          </p:cNvPr>
          <p:cNvSpPr>
            <a:spLocks xmlns:a="http://schemas.openxmlformats.org/drawingml/2006/main" noGrp="1"/>
          </p:cNvSpPr>
          <p:nvPr/>
        </p:nvSpPr>
        <p:spPr>
          <a:xfrm xmlns:a="http://schemas.openxmlformats.org/drawingml/2006/main">
            <a:off x="1809750" y="4638675"/>
            <a:ext cx="40005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1" name="">
            <a:extLst xmlns:a="http://schemas.openxmlformats.org/drawingml/2006/main">
              <a:ext uri="{FF2B5EF4-FFF2-40B4-BE49-F238E27FC236}">
                <a16:creationId xmlns:a16="http://schemas.microsoft.com/office/drawing/2014/main" id="{F1CCA453-1010-4FC0-B3DB-ED727FD34538}"/>
              </a:ext>
            </a:extLst>
          </p:cNvPr>
          <p:cNvSpPr>
            <a:spLocks xmlns:a="http://schemas.openxmlformats.org/drawingml/2006/main" noGrp="1"/>
          </p:cNvSpPr>
          <p:nvPr/>
        </p:nvSpPr>
        <p:spPr>
          <a:xfrm xmlns:a="http://schemas.openxmlformats.org/drawingml/2006/main">
            <a:off x="1809750" y="46386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5</a:t>
            </a:r>
          </a:p>
        </p:txBody>
      </p:sp>
      <p:sp>
        <p:nvSpPr>
          <p:cNvPr id="22" name="">
            <a:extLst xmlns:a="http://schemas.openxmlformats.org/drawingml/2006/main">
              <a:ext uri="{FF2B5EF4-FFF2-40B4-BE49-F238E27FC236}">
                <a16:creationId xmlns:a16="http://schemas.microsoft.com/office/drawing/2014/main" id="{30EB371A-7414-41B0-AA80-867264511F90}"/>
              </a:ext>
            </a:extLst>
          </p:cNvPr>
          <p:cNvSpPr>
            <a:spLocks xmlns:a="http://schemas.openxmlformats.org/drawingml/2006/main" noGrp="1"/>
          </p:cNvSpPr>
          <p:nvPr/>
        </p:nvSpPr>
        <p:spPr>
          <a:xfrm xmlns:a="http://schemas.openxmlformats.org/drawingml/2006/main">
            <a:off x="2362200" y="45910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5 Nachfassen</a:t>
            </a:r>
          </a:p>
        </p:txBody>
      </p:sp>
      <p:sp>
        <p:nvSpPr>
          <p:cNvPr id="23" name="">
            <a:extLst xmlns:a="http://schemas.openxmlformats.org/drawingml/2006/main">
              <a:ext uri="{FF2B5EF4-FFF2-40B4-BE49-F238E27FC236}">
                <a16:creationId xmlns:a16="http://schemas.microsoft.com/office/drawing/2014/main" id="{2932DE27-6790-40C4-81A1-35595CE28A05}"/>
              </a:ext>
            </a:extLst>
          </p:cNvPr>
          <p:cNvSpPr>
            <a:spLocks xmlns:a="http://schemas.openxmlformats.org/drawingml/2006/main" noGrp="1"/>
          </p:cNvSpPr>
          <p:nvPr/>
        </p:nvSpPr>
        <p:spPr>
          <a:xfrm xmlns:a="http://schemas.openxmlformats.org/drawingml/2006/main">
            <a:off x="4714875" y="4591050"/>
            <a:ext cx="647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00">
                <a:solidFill>
                  <a:srgbClr val="15232B"/>
                </a:solidFill>
              </a:defRPr>
            </a:pPr>
            <a:r>
              <a:rPr sz="1200">
                <a:solidFill>
                  <a:srgbClr val="15232B"/>
                </a:solidFill>
              </a:rPr>
              <a:t>Gespräch dokumentieren und verlässlichen Folgetermin anbieten.</a:t>
            </a:r>
          </a:p>
        </p:txBody>
      </p:sp>
      <p:sp>
        <p:nvSpPr>
          <p:cNvPr id="24" name="">
            <a:extLst xmlns:a="http://schemas.openxmlformats.org/drawingml/2006/main">
              <a:ext uri="{FF2B5EF4-FFF2-40B4-BE49-F238E27FC236}">
                <a16:creationId xmlns:a16="http://schemas.microsoft.com/office/drawing/2014/main" id="{CC4BBA09-0FC5-417A-900A-0C1CE3D61B77}"/>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5" name="">
            <a:extLst xmlns:a="http://schemas.openxmlformats.org/drawingml/2006/main">
              <a:ext uri="{FF2B5EF4-FFF2-40B4-BE49-F238E27FC236}">
                <a16:creationId xmlns:a16="http://schemas.microsoft.com/office/drawing/2014/main" id="{8763364F-9614-4E58-BBEF-B99CF93551B9}"/>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Empathie ist kein technisches Schuldanerkenntnis. Spekulation und Schuldzuweisung bleiben trotzdem falsch.</a:t>
            </a:r>
          </a:p>
        </p:txBody>
      </p:sp>
    </p:spTree>
    <p:extLst>
      <p:ext uri="{BB962C8B-B14F-4D97-AF65-F5344CB8AC3E}">
        <p14:creationId xmlns:p14="http://schemas.microsoft.com/office/powerpoint/2010/main" val="43637646"/>
      </p:ext>
    </p:extLst>
  </p:cSld>
</p:sld>
</file>

<file path=ppt/slides/slide64.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Simulation: Das erste Gespräch</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TRIADEN · 18 MIN</a:t>
            </a:r>
            <a:endParaRPr/>
          </a:p>
        </p:txBody>
      </p:sp>
      <p:sp>
        <p:nvSpPr>
          <p:cNvPr id="4" name="">
            <a:extLst xmlns:a="http://schemas.openxmlformats.org/drawingml/2006/main">
              <a:ext uri="{FF2B5EF4-FFF2-40B4-BE49-F238E27FC236}">
                <a16:creationId xmlns:a16="http://schemas.microsoft.com/office/drawing/2014/main" id="{29F03DC3-DCA6-4408-9561-B62350F2DD2E}"/>
              </a:ext>
            </a:extLst>
          </p:cNvPr>
          <p:cNvSpPr>
            <a:spLocks xmlns:a="http://schemas.openxmlformats.org/drawingml/2006/main" noGrp="1"/>
          </p:cNvSpPr>
          <p:nvPr/>
        </p:nvSpPr>
        <p:spPr>
          <a:xfrm xmlns:a="http://schemas.openxmlformats.org/drawingml/2006/main">
            <a:off x="1809750" y="1952625"/>
            <a:ext cx="4429125" cy="3276600"/>
          </a:xfrm>
          <a:prstGeom xmlns:a="http://schemas.openxmlformats.org/drawingml/2006/main" prst="roundRect">
            <a:avLst>
              <a:gd name="adj" fmla="val 2326"/>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14A92AC6-7CDB-4DA9-9DB6-3F0BF4C313D4}"/>
              </a:ext>
            </a:extLst>
          </p:cNvPr>
          <p:cNvSpPr>
            <a:spLocks xmlns:a="http://schemas.openxmlformats.org/drawingml/2006/main" noGrp="1"/>
          </p:cNvSpPr>
          <p:nvPr/>
        </p:nvSpPr>
        <p:spPr>
          <a:xfrm xmlns:a="http://schemas.openxmlformats.org/drawingml/2006/main">
            <a:off x="1809750" y="1952625"/>
            <a:ext cx="4429125" cy="76200"/>
          </a:xfrm>
          <a:prstGeom xmlns:a="http://schemas.openxmlformats.org/drawingml/2006/main" prst="rect">
            <a:avLst/>
          </a:prstGeom>
          <a:solidFill xmlns:a="http://schemas.openxmlformats.org/drawingml/2006/main">
            <a:srgbClr val="D53D0E"/>
          </a:solidFill>
          <a:ln xmlns:a="http://schemas.openxmlformats.org/drawingml/2006/main" w="0">
            <a:solidFill>
              <a:srgbClr val="D53D0E"/>
            </a:solidFill>
            <a:prstDash val="solid"/>
          </a:ln>
        </p:spPr>
      </p:sp>
      <p:sp>
        <p:nvSpPr>
          <p:cNvPr id="6" name="">
            <a:extLst xmlns:a="http://schemas.openxmlformats.org/drawingml/2006/main">
              <a:ext uri="{FF2B5EF4-FFF2-40B4-BE49-F238E27FC236}">
                <a16:creationId xmlns:a16="http://schemas.microsoft.com/office/drawing/2014/main" id="{55314139-ED10-458D-84B5-FAF06178D38B}"/>
              </a:ext>
            </a:extLst>
          </p:cNvPr>
          <p:cNvSpPr>
            <a:spLocks xmlns:a="http://schemas.openxmlformats.org/drawingml/2006/main" noGrp="1"/>
          </p:cNvSpPr>
          <p:nvPr/>
        </p:nvSpPr>
        <p:spPr>
          <a:xfrm xmlns:a="http://schemas.openxmlformats.org/drawingml/2006/main">
            <a:off x="1962150" y="2085975"/>
            <a:ext cx="41243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350" b="1">
                <a:solidFill>
                  <a:srgbClr val="003F6B"/>
                </a:solidFill>
              </a:defRPr>
            </a:pPr>
            <a:r>
              <a:rPr sz="1350" b="1">
                <a:solidFill>
                  <a:srgbClr val="003F6B"/>
                </a:solidFill>
              </a:rPr>
              <a:t>Szenario</a:t>
            </a:r>
          </a:p>
        </p:txBody>
      </p:sp>
      <p:sp>
        <p:nvSpPr>
          <p:cNvPr id="7" name="">
            <a:extLst xmlns:a="http://schemas.openxmlformats.org/drawingml/2006/main">
              <a:ext uri="{FF2B5EF4-FFF2-40B4-BE49-F238E27FC236}">
                <a16:creationId xmlns:a16="http://schemas.microsoft.com/office/drawing/2014/main" id="{A98F8AFC-27F6-4EF4-A602-A27F06CB947E}"/>
              </a:ext>
            </a:extLst>
          </p:cNvPr>
          <p:cNvSpPr>
            <a:spLocks xmlns:a="http://schemas.openxmlformats.org/drawingml/2006/main" noGrp="1"/>
          </p:cNvSpPr>
          <p:nvPr/>
        </p:nvSpPr>
        <p:spPr>
          <a:xfrm xmlns:a="http://schemas.openxmlformats.org/drawingml/2006/main">
            <a:off x="1962150" y="2524125"/>
            <a:ext cx="4124325"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a:solidFill>
                  <a:srgbClr val="15232B"/>
                </a:solidFill>
              </a:defRPr>
            </a:pPr>
            <a:r>
              <a:rPr sz="1238">
                <a:solidFill>
                  <a:srgbClr val="15232B"/>
                </a:solidFill>
              </a:rPr>
              <a:t>Nach einer Pleura-Punktion entwickelt sich ein Pneumothorax. Eine Drainage wird notwendig. Die Ursache ist noch nicht abschließend geklärt.</a:t>
            </a:r>
          </a:p>
        </p:txBody>
      </p:sp>
      <p:sp>
        <p:nvSpPr>
          <p:cNvPr id="8" name="">
            <a:extLst xmlns:a="http://schemas.openxmlformats.org/drawingml/2006/main">
              <a:ext uri="{FF2B5EF4-FFF2-40B4-BE49-F238E27FC236}">
                <a16:creationId xmlns:a16="http://schemas.microsoft.com/office/drawing/2014/main" id="{21D54E9E-14C4-484A-AD99-31B07572801D}"/>
              </a:ext>
            </a:extLst>
          </p:cNvPr>
          <p:cNvSpPr>
            <a:spLocks xmlns:a="http://schemas.openxmlformats.org/drawingml/2006/main" noGrp="1"/>
          </p:cNvSpPr>
          <p:nvPr/>
        </p:nvSpPr>
        <p:spPr>
          <a:xfrm xmlns:a="http://schemas.openxmlformats.org/drawingml/2006/main">
            <a:off x="6477000" y="1952625"/>
            <a:ext cx="2343150" cy="885825"/>
          </a:xfrm>
          <a:prstGeom xmlns:a="http://schemas.openxmlformats.org/drawingml/2006/main" prst="roundRect">
            <a:avLst>
              <a:gd name="adj" fmla="val 8602"/>
            </a:avLst>
          </a:prstGeom>
          <a:noFill xmlns:a="http://schemas.openxmlformats.org/drawingml/2006/main"/>
          <a:ln xmlns:a="http://schemas.openxmlformats.org/drawingml/2006/main" w="9525">
            <a:solidFill>
              <a:srgbClr val="B9CAD2"/>
            </a:solidFill>
            <a:prstDash val="solid"/>
          </a:ln>
        </p:spPr>
      </p:sp>
      <p:sp>
        <p:nvSpPr>
          <p:cNvPr id="9" name="">
            <a:extLst xmlns:a="http://schemas.openxmlformats.org/drawingml/2006/main">
              <a:ext uri="{FF2B5EF4-FFF2-40B4-BE49-F238E27FC236}">
                <a16:creationId xmlns:a16="http://schemas.microsoft.com/office/drawing/2014/main" id="{7D6634CF-B444-4FC5-9045-3932E7F58B98}"/>
              </a:ext>
            </a:extLst>
          </p:cNvPr>
          <p:cNvSpPr>
            <a:spLocks xmlns:a="http://schemas.openxmlformats.org/drawingml/2006/main" noGrp="1"/>
          </p:cNvSpPr>
          <p:nvPr/>
        </p:nvSpPr>
        <p:spPr>
          <a:xfrm xmlns:a="http://schemas.openxmlformats.org/drawingml/2006/main">
            <a:off x="6477000" y="1952625"/>
            <a:ext cx="234315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10" name="">
            <a:extLst xmlns:a="http://schemas.openxmlformats.org/drawingml/2006/main">
              <a:ext uri="{FF2B5EF4-FFF2-40B4-BE49-F238E27FC236}">
                <a16:creationId xmlns:a16="http://schemas.microsoft.com/office/drawing/2014/main" id="{298F4AF7-3E7F-454F-9334-09F8C1C6329B}"/>
              </a:ext>
            </a:extLst>
          </p:cNvPr>
          <p:cNvSpPr>
            <a:spLocks xmlns:a="http://schemas.openxmlformats.org/drawingml/2006/main" noGrp="1"/>
          </p:cNvSpPr>
          <p:nvPr/>
        </p:nvSpPr>
        <p:spPr>
          <a:xfrm xmlns:a="http://schemas.openxmlformats.org/drawingml/2006/main">
            <a:off x="6629400" y="2085975"/>
            <a:ext cx="203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b="1">
                <a:solidFill>
                  <a:srgbClr val="003F6B"/>
                </a:solidFill>
              </a:defRPr>
            </a:pPr>
            <a:r>
              <a:rPr sz="1050" b="1">
                <a:solidFill>
                  <a:srgbClr val="003F6B"/>
                </a:solidFill>
              </a:rPr>
              <a:t>Ärztin / Arzt</a:t>
            </a:r>
          </a:p>
        </p:txBody>
      </p:sp>
      <p:sp>
        <p:nvSpPr>
          <p:cNvPr id="11" name="">
            <a:extLst xmlns:a="http://schemas.openxmlformats.org/drawingml/2006/main">
              <a:ext uri="{FF2B5EF4-FFF2-40B4-BE49-F238E27FC236}">
                <a16:creationId xmlns:a16="http://schemas.microsoft.com/office/drawing/2014/main" id="{6E65EBFE-D606-45EA-A17C-04A07BB56C41}"/>
              </a:ext>
            </a:extLst>
          </p:cNvPr>
          <p:cNvSpPr>
            <a:spLocks xmlns:a="http://schemas.openxmlformats.org/drawingml/2006/main" noGrp="1"/>
          </p:cNvSpPr>
          <p:nvPr/>
        </p:nvSpPr>
        <p:spPr>
          <a:xfrm xmlns:a="http://schemas.openxmlformats.org/drawingml/2006/main">
            <a:off x="8896350" y="1952625"/>
            <a:ext cx="2343150" cy="885825"/>
          </a:xfrm>
          <a:prstGeom xmlns:a="http://schemas.openxmlformats.org/drawingml/2006/main" prst="roundRect">
            <a:avLst>
              <a:gd name="adj" fmla="val 8602"/>
            </a:avLst>
          </a:prstGeom>
          <a:noFill xmlns:a="http://schemas.openxmlformats.org/drawingml/2006/main"/>
          <a:ln xmlns:a="http://schemas.openxmlformats.org/drawingml/2006/main" w="9525">
            <a:solidFill>
              <a:srgbClr val="B9CAD2"/>
            </a:solidFill>
            <a:prstDash val="solid"/>
          </a:ln>
        </p:spPr>
      </p:sp>
      <p:sp>
        <p:nvSpPr>
          <p:cNvPr id="12" name="">
            <a:extLst xmlns:a="http://schemas.openxmlformats.org/drawingml/2006/main">
              <a:ext uri="{FF2B5EF4-FFF2-40B4-BE49-F238E27FC236}">
                <a16:creationId xmlns:a16="http://schemas.microsoft.com/office/drawing/2014/main" id="{695EA367-4DC4-449E-937C-0C43A81053C6}"/>
              </a:ext>
            </a:extLst>
          </p:cNvPr>
          <p:cNvSpPr>
            <a:spLocks xmlns:a="http://schemas.openxmlformats.org/drawingml/2006/main" noGrp="1"/>
          </p:cNvSpPr>
          <p:nvPr/>
        </p:nvSpPr>
        <p:spPr>
          <a:xfrm xmlns:a="http://schemas.openxmlformats.org/drawingml/2006/main">
            <a:off x="8896350" y="1952625"/>
            <a:ext cx="234315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3" name="">
            <a:extLst xmlns:a="http://schemas.openxmlformats.org/drawingml/2006/main">
              <a:ext uri="{FF2B5EF4-FFF2-40B4-BE49-F238E27FC236}">
                <a16:creationId xmlns:a16="http://schemas.microsoft.com/office/drawing/2014/main" id="{15DA4079-E8FD-4077-96B4-8C24F350DE92}"/>
              </a:ext>
            </a:extLst>
          </p:cNvPr>
          <p:cNvSpPr>
            <a:spLocks xmlns:a="http://schemas.openxmlformats.org/drawingml/2006/main" noGrp="1"/>
          </p:cNvSpPr>
          <p:nvPr/>
        </p:nvSpPr>
        <p:spPr>
          <a:xfrm xmlns:a="http://schemas.openxmlformats.org/drawingml/2006/main">
            <a:off x="9048750" y="2085975"/>
            <a:ext cx="203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b="1">
                <a:solidFill>
                  <a:srgbClr val="003F6B"/>
                </a:solidFill>
              </a:defRPr>
            </a:pPr>
            <a:r>
              <a:rPr sz="1050" b="1">
                <a:solidFill>
                  <a:srgbClr val="003F6B"/>
                </a:solidFill>
              </a:rPr>
              <a:t>Patient:in oder Angehörige</a:t>
            </a:r>
          </a:p>
        </p:txBody>
      </p:sp>
      <p:sp>
        <p:nvSpPr>
          <p:cNvPr id="14" name="">
            <a:extLst xmlns:a="http://schemas.openxmlformats.org/drawingml/2006/main">
              <a:ext uri="{FF2B5EF4-FFF2-40B4-BE49-F238E27FC236}">
                <a16:creationId xmlns:a16="http://schemas.microsoft.com/office/drawing/2014/main" id="{DF034A7C-C30E-4CB4-9502-D65E83F56929}"/>
              </a:ext>
            </a:extLst>
          </p:cNvPr>
          <p:cNvSpPr>
            <a:spLocks xmlns:a="http://schemas.openxmlformats.org/drawingml/2006/main" noGrp="1"/>
          </p:cNvSpPr>
          <p:nvPr/>
        </p:nvSpPr>
        <p:spPr>
          <a:xfrm xmlns:a="http://schemas.openxmlformats.org/drawingml/2006/main">
            <a:off x="6477000" y="2971800"/>
            <a:ext cx="2343150" cy="885825"/>
          </a:xfrm>
          <a:prstGeom xmlns:a="http://schemas.openxmlformats.org/drawingml/2006/main" prst="roundRect">
            <a:avLst>
              <a:gd name="adj" fmla="val 8602"/>
            </a:avLst>
          </a:prstGeom>
          <a:noFill xmlns:a="http://schemas.openxmlformats.org/drawingml/2006/main"/>
          <a:ln xmlns:a="http://schemas.openxmlformats.org/drawingml/2006/main" w="9525">
            <a:solidFill>
              <a:srgbClr val="B9CAD2"/>
            </a:solidFill>
            <a:prstDash val="solid"/>
          </a:ln>
        </p:spPr>
      </p:sp>
      <p:sp>
        <p:nvSpPr>
          <p:cNvPr id="15" name="">
            <a:extLst xmlns:a="http://schemas.openxmlformats.org/drawingml/2006/main">
              <a:ext uri="{FF2B5EF4-FFF2-40B4-BE49-F238E27FC236}">
                <a16:creationId xmlns:a16="http://schemas.microsoft.com/office/drawing/2014/main" id="{FF761A6F-7F56-45ED-B401-D3F649B190EC}"/>
              </a:ext>
            </a:extLst>
          </p:cNvPr>
          <p:cNvSpPr>
            <a:spLocks xmlns:a="http://schemas.openxmlformats.org/drawingml/2006/main" noGrp="1"/>
          </p:cNvSpPr>
          <p:nvPr/>
        </p:nvSpPr>
        <p:spPr>
          <a:xfrm xmlns:a="http://schemas.openxmlformats.org/drawingml/2006/main">
            <a:off x="6477000" y="2971800"/>
            <a:ext cx="234315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16" name="">
            <a:extLst xmlns:a="http://schemas.openxmlformats.org/drawingml/2006/main">
              <a:ext uri="{FF2B5EF4-FFF2-40B4-BE49-F238E27FC236}">
                <a16:creationId xmlns:a16="http://schemas.microsoft.com/office/drawing/2014/main" id="{9B244B4F-B3E4-41D7-B782-5F30D0E0B942}"/>
              </a:ext>
            </a:extLst>
          </p:cNvPr>
          <p:cNvSpPr>
            <a:spLocks xmlns:a="http://schemas.openxmlformats.org/drawingml/2006/main" noGrp="1"/>
          </p:cNvSpPr>
          <p:nvPr/>
        </p:nvSpPr>
        <p:spPr>
          <a:xfrm xmlns:a="http://schemas.openxmlformats.org/drawingml/2006/main">
            <a:off x="6629400" y="3105150"/>
            <a:ext cx="203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b="1">
                <a:solidFill>
                  <a:srgbClr val="003F6B"/>
                </a:solidFill>
              </a:defRPr>
            </a:pPr>
            <a:r>
              <a:rPr sz="1050" b="1">
                <a:solidFill>
                  <a:srgbClr val="003F6B"/>
                </a:solidFill>
              </a:rPr>
              <a:t>Beobachter:in mit Checkliste</a:t>
            </a:r>
          </a:p>
        </p:txBody>
      </p:sp>
      <p:sp>
        <p:nvSpPr>
          <p:cNvPr id="17" name="">
            <a:extLst xmlns:a="http://schemas.openxmlformats.org/drawingml/2006/main">
              <a:ext uri="{FF2B5EF4-FFF2-40B4-BE49-F238E27FC236}">
                <a16:creationId xmlns:a16="http://schemas.microsoft.com/office/drawing/2014/main" id="{FFAF1D1A-239C-4523-890B-39F7462CF4D9}"/>
              </a:ext>
            </a:extLst>
          </p:cNvPr>
          <p:cNvSpPr>
            <a:spLocks xmlns:a="http://schemas.openxmlformats.org/drawingml/2006/main" noGrp="1"/>
          </p:cNvSpPr>
          <p:nvPr/>
        </p:nvSpPr>
        <p:spPr>
          <a:xfrm xmlns:a="http://schemas.openxmlformats.org/drawingml/2006/main">
            <a:off x="6572250" y="4048125"/>
            <a:ext cx="4619625"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 Patientensicherheit erklärt</a:t>
            </a:r>
          </a:p>
          <a:p xmlns:a="http://schemas.openxmlformats.org/drawingml/2006/main">
            <a:pPr>
              <a:buNone/>
              <a:defRPr sz="1065">
                <a:solidFill>
                  <a:srgbClr val="15232B"/>
                </a:solidFill>
              </a:defRPr>
            </a:pPr>
            <a:r>
              <a:rPr sz="1065">
                <a:solidFill>
                  <a:srgbClr val="15232B"/>
                </a:solidFill>
              </a:rPr>
              <a:t>• gesicherte Fakten / Unsicherheit getrennt</a:t>
            </a:r>
          </a:p>
          <a:p xmlns:a="http://schemas.openxmlformats.org/drawingml/2006/main">
            <a:pPr>
              <a:buNone/>
              <a:defRPr sz="1065">
                <a:solidFill>
                  <a:srgbClr val="15232B"/>
                </a:solidFill>
              </a:defRPr>
            </a:pPr>
            <a:r>
              <a:rPr sz="1065">
                <a:solidFill>
                  <a:srgbClr val="15232B"/>
                </a:solidFill>
              </a:rPr>
              <a:t>• keine Schuldzuweisung</a:t>
            </a:r>
          </a:p>
          <a:p xmlns:a="http://schemas.openxmlformats.org/drawingml/2006/main">
            <a:pPr>
              <a:buNone/>
              <a:defRPr sz="1065">
                <a:solidFill>
                  <a:srgbClr val="15232B"/>
                </a:solidFill>
              </a:defRPr>
            </a:pPr>
            <a:r>
              <a:rPr sz="1065">
                <a:solidFill>
                  <a:srgbClr val="15232B"/>
                </a:solidFill>
              </a:rPr>
              <a:t>• nächster Kontakt vereinbart</a:t>
            </a:r>
          </a:p>
          <a:p xmlns:a="http://schemas.openxmlformats.org/drawingml/2006/main">
            <a:pPr>
              <a:buNone/>
              <a:defRPr sz="1065">
                <a:solidFill>
                  <a:srgbClr val="15232B"/>
                </a:solidFill>
              </a:defRPr>
            </a:pPr>
            <a:r>
              <a:rPr sz="1065">
                <a:solidFill>
                  <a:srgbClr val="15232B"/>
                </a:solidFill>
              </a:rPr>
              <a:t>• Gespräch dokumentiert</a:t>
            </a:r>
          </a:p>
        </p:txBody>
      </p:sp>
    </p:spTree>
    <p:extLst>
      <p:ext uri="{BB962C8B-B14F-4D97-AF65-F5344CB8AC3E}">
        <p14:creationId xmlns:p14="http://schemas.microsoft.com/office/powerpoint/2010/main" val="43637646"/>
      </p:ext>
    </p:extLst>
  </p:cSld>
</p:sld>
</file>

<file path=ppt/slides/slide65.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Die ersten 24 Stunden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PERSÖNLICHE PRAXISKARTE</a:t>
            </a:r>
            <a:endParaRPr/>
          </a:p>
        </p:txBody>
      </p:sp>
      <p:sp>
        <p:nvSpPr>
          <p:cNvPr id="4" name="">
            <a:extLst xmlns:a="http://schemas.openxmlformats.org/drawingml/2006/main">
              <a:ext uri="{FF2B5EF4-FFF2-40B4-BE49-F238E27FC236}">
                <a16:creationId xmlns:a16="http://schemas.microsoft.com/office/drawing/2014/main" id="{4E8EFF25-5520-49E3-AE4E-C3CCB77B41E5}"/>
              </a:ext>
            </a:extLst>
          </p:cNvPr>
          <p:cNvSpPr>
            <a:spLocks xmlns:a="http://schemas.openxmlformats.org/drawingml/2006/main" noGrp="1"/>
          </p:cNvSpPr>
          <p:nvPr/>
        </p:nvSpPr>
        <p:spPr>
          <a:xfrm xmlns:a="http://schemas.openxmlformats.org/drawingml/2006/main">
            <a:off x="1809750" y="2038350"/>
            <a:ext cx="323850" cy="323850"/>
          </a:xfrm>
          <a:prstGeom xmlns:a="http://schemas.openxmlformats.org/drawingml/2006/main" prst="ellipse">
            <a:avLst/>
          </a:prstGeom>
          <a:solidFill xmlns:a="http://schemas.openxmlformats.org/drawingml/2006/main">
            <a:srgbClr val="00B2BB"/>
          </a:solidFill>
          <a:ln xmlns:a="http://schemas.openxmlformats.org/drawingml/2006/main" w="0">
            <a:solidFill>
              <a:srgbClr val="FFFFFF"/>
            </a:solidFill>
            <a:prstDash val="solid"/>
          </a:ln>
        </p:spPr>
      </p:sp>
      <p:sp>
        <p:nvSpPr>
          <p:cNvPr id="5" name="">
            <a:extLst xmlns:a="http://schemas.openxmlformats.org/drawingml/2006/main">
              <a:ext uri="{FF2B5EF4-FFF2-40B4-BE49-F238E27FC236}">
                <a16:creationId xmlns:a16="http://schemas.microsoft.com/office/drawing/2014/main" id="{A5C7F264-1D2F-482C-9FC4-3AC079166D83}"/>
              </a:ext>
            </a:extLst>
          </p:cNvPr>
          <p:cNvSpPr>
            <a:spLocks xmlns:a="http://schemas.openxmlformats.org/drawingml/2006/main" noGrp="1"/>
          </p:cNvSpPr>
          <p:nvPr/>
        </p:nvSpPr>
        <p:spPr>
          <a:xfrm xmlns:a="http://schemas.openxmlformats.org/drawingml/2006/main">
            <a:off x="1809750" y="20383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713" b="1">
                <a:solidFill>
                  <a:srgbClr val="FFFFFF"/>
                </a:solidFill>
              </a:defRPr>
            </a:pPr>
            <a:r>
              <a:rPr sz="713" b="1">
                <a:solidFill>
                  <a:srgbClr val="FFFFFF"/>
                </a:solidFill>
              </a:rPr>
              <a:t>1</a:t>
            </a:r>
          </a:p>
        </p:txBody>
      </p:sp>
      <p:sp>
        <p:nvSpPr>
          <p:cNvPr id="6" name="">
            <a:extLst xmlns:a="http://schemas.openxmlformats.org/drawingml/2006/main">
              <a:ext uri="{FF2B5EF4-FFF2-40B4-BE49-F238E27FC236}">
                <a16:creationId xmlns:a16="http://schemas.microsoft.com/office/drawing/2014/main" id="{0448FCF7-0964-4D65-80EA-F79F76027313}"/>
              </a:ext>
            </a:extLst>
          </p:cNvPr>
          <p:cNvSpPr>
            <a:spLocks xmlns:a="http://schemas.openxmlformats.org/drawingml/2006/main" noGrp="1"/>
          </p:cNvSpPr>
          <p:nvPr/>
        </p:nvSpPr>
        <p:spPr>
          <a:xfrm xmlns:a="http://schemas.openxmlformats.org/drawingml/2006/main">
            <a:off x="2266950" y="2000250"/>
            <a:ext cx="9067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a:solidFill>
                  <a:srgbClr val="15232B"/>
                </a:solidFill>
              </a:defRPr>
            </a:pPr>
            <a:r>
              <a:rPr sz="1275">
                <a:solidFill>
                  <a:srgbClr val="15232B"/>
                </a:solidFill>
              </a:rPr>
              <a:t>Kontinuität der Versorgung und Follow-up sichern</a:t>
            </a:r>
          </a:p>
        </p:txBody>
      </p:sp>
      <p:sp>
        <p:nvSpPr>
          <p:cNvPr id="7" name="">
            <a:extLst xmlns:a="http://schemas.openxmlformats.org/drawingml/2006/main">
              <a:ext uri="{FF2B5EF4-FFF2-40B4-BE49-F238E27FC236}">
                <a16:creationId xmlns:a16="http://schemas.microsoft.com/office/drawing/2014/main" id="{8608727C-4DD2-4AD6-A25F-9B6137186C84}"/>
              </a:ext>
            </a:extLst>
          </p:cNvPr>
          <p:cNvSpPr>
            <a:spLocks xmlns:a="http://schemas.openxmlformats.org/drawingml/2006/main" noGrp="1"/>
          </p:cNvSpPr>
          <p:nvPr/>
        </p:nvSpPr>
        <p:spPr>
          <a:xfrm xmlns:a="http://schemas.openxmlformats.org/drawingml/2006/main">
            <a:off x="1809750" y="2590800"/>
            <a:ext cx="323850" cy="323850"/>
          </a:xfrm>
          <a:prstGeom xmlns:a="http://schemas.openxmlformats.org/drawingml/2006/main" prst="ellipse">
            <a:avLst/>
          </a:prstGeom>
          <a:solidFill xmlns:a="http://schemas.openxmlformats.org/drawingml/2006/main">
            <a:srgbClr val="003F6B"/>
          </a:solidFill>
          <a:ln xmlns:a="http://schemas.openxmlformats.org/drawingml/2006/main" w="0">
            <a:solidFill>
              <a:srgbClr val="FFFFFF"/>
            </a:solidFill>
            <a:prstDash val="solid"/>
          </a:ln>
        </p:spPr>
      </p:sp>
      <p:sp>
        <p:nvSpPr>
          <p:cNvPr id="8" name="">
            <a:extLst xmlns:a="http://schemas.openxmlformats.org/drawingml/2006/main">
              <a:ext uri="{FF2B5EF4-FFF2-40B4-BE49-F238E27FC236}">
                <a16:creationId xmlns:a16="http://schemas.microsoft.com/office/drawing/2014/main" id="{F5E9F21B-57C5-4BFF-937D-1466A62FB05C}"/>
              </a:ext>
            </a:extLst>
          </p:cNvPr>
          <p:cNvSpPr>
            <a:spLocks xmlns:a="http://schemas.openxmlformats.org/drawingml/2006/main" noGrp="1"/>
          </p:cNvSpPr>
          <p:nvPr/>
        </p:nvSpPr>
        <p:spPr>
          <a:xfrm xmlns:a="http://schemas.openxmlformats.org/drawingml/2006/main">
            <a:off x="1809750" y="259080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713" b="1">
                <a:solidFill>
                  <a:srgbClr val="FFFFFF"/>
                </a:solidFill>
              </a:defRPr>
            </a:pPr>
            <a:r>
              <a:rPr sz="713" b="1">
                <a:solidFill>
                  <a:srgbClr val="FFFFFF"/>
                </a:solidFill>
              </a:rPr>
              <a:t>2</a:t>
            </a:r>
          </a:p>
        </p:txBody>
      </p:sp>
      <p:sp>
        <p:nvSpPr>
          <p:cNvPr id="9" name="">
            <a:extLst xmlns:a="http://schemas.openxmlformats.org/drawingml/2006/main">
              <a:ext uri="{FF2B5EF4-FFF2-40B4-BE49-F238E27FC236}">
                <a16:creationId xmlns:a16="http://schemas.microsoft.com/office/drawing/2014/main" id="{50A4D317-DF1E-4F74-AE79-BA2870F2BD0A}"/>
              </a:ext>
            </a:extLst>
          </p:cNvPr>
          <p:cNvSpPr>
            <a:spLocks xmlns:a="http://schemas.openxmlformats.org/drawingml/2006/main" noGrp="1"/>
          </p:cNvSpPr>
          <p:nvPr/>
        </p:nvSpPr>
        <p:spPr>
          <a:xfrm xmlns:a="http://schemas.openxmlformats.org/drawingml/2006/main">
            <a:off x="2266950" y="2552700"/>
            <a:ext cx="9067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a:solidFill>
                  <a:srgbClr val="15232B"/>
                </a:solidFill>
              </a:defRPr>
            </a:pPr>
            <a:r>
              <a:rPr sz="1275">
                <a:solidFill>
                  <a:srgbClr val="15232B"/>
                </a:solidFill>
              </a:rPr>
              <a:t>Dokumentation auf Vollständigkeit und Nachvollziehbarkeit prüfen – nicht ‚verschönern‘</a:t>
            </a:r>
          </a:p>
        </p:txBody>
      </p:sp>
      <p:sp>
        <p:nvSpPr>
          <p:cNvPr id="10" name="">
            <a:extLst xmlns:a="http://schemas.openxmlformats.org/drawingml/2006/main">
              <a:ext uri="{FF2B5EF4-FFF2-40B4-BE49-F238E27FC236}">
                <a16:creationId xmlns:a16="http://schemas.microsoft.com/office/drawing/2014/main" id="{85D9D15E-56F5-4784-A7EB-042F2C113DEB}"/>
              </a:ext>
            </a:extLst>
          </p:cNvPr>
          <p:cNvSpPr>
            <a:spLocks xmlns:a="http://schemas.openxmlformats.org/drawingml/2006/main" noGrp="1"/>
          </p:cNvSpPr>
          <p:nvPr/>
        </p:nvSpPr>
        <p:spPr>
          <a:xfrm xmlns:a="http://schemas.openxmlformats.org/drawingml/2006/main">
            <a:off x="1809750" y="3143250"/>
            <a:ext cx="323850" cy="323850"/>
          </a:xfrm>
          <a:prstGeom xmlns:a="http://schemas.openxmlformats.org/drawingml/2006/main" prst="ellipse">
            <a:avLst/>
          </a:prstGeom>
          <a:solidFill xmlns:a="http://schemas.openxmlformats.org/drawingml/2006/main">
            <a:srgbClr val="00B2BB"/>
          </a:solidFill>
          <a:ln xmlns:a="http://schemas.openxmlformats.org/drawingml/2006/main" w="0">
            <a:solidFill>
              <a:srgbClr val="FFFFFF"/>
            </a:solidFill>
            <a:prstDash val="solid"/>
          </a:ln>
        </p:spPr>
      </p:sp>
      <p:sp>
        <p:nvSpPr>
          <p:cNvPr id="11" name="">
            <a:extLst xmlns:a="http://schemas.openxmlformats.org/drawingml/2006/main">
              <a:ext uri="{FF2B5EF4-FFF2-40B4-BE49-F238E27FC236}">
                <a16:creationId xmlns:a16="http://schemas.microsoft.com/office/drawing/2014/main" id="{D0CF5CDB-79C4-41A4-97D1-C6F6BFF0EEA6}"/>
              </a:ext>
            </a:extLst>
          </p:cNvPr>
          <p:cNvSpPr>
            <a:spLocks xmlns:a="http://schemas.openxmlformats.org/drawingml/2006/main" noGrp="1"/>
          </p:cNvSpPr>
          <p:nvPr/>
        </p:nvSpPr>
        <p:spPr>
          <a:xfrm xmlns:a="http://schemas.openxmlformats.org/drawingml/2006/main">
            <a:off x="1809750" y="31432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713" b="1">
                <a:solidFill>
                  <a:srgbClr val="FFFFFF"/>
                </a:solidFill>
              </a:defRPr>
            </a:pPr>
            <a:r>
              <a:rPr sz="713" b="1">
                <a:solidFill>
                  <a:srgbClr val="FFFFFF"/>
                </a:solidFill>
              </a:rPr>
              <a:t>3</a:t>
            </a:r>
          </a:p>
        </p:txBody>
      </p:sp>
      <p:sp>
        <p:nvSpPr>
          <p:cNvPr id="12" name="">
            <a:extLst xmlns:a="http://schemas.openxmlformats.org/drawingml/2006/main">
              <a:ext uri="{FF2B5EF4-FFF2-40B4-BE49-F238E27FC236}">
                <a16:creationId xmlns:a16="http://schemas.microsoft.com/office/drawing/2014/main" id="{257E9327-7BC6-4BEB-AADA-6DB4D51620BB}"/>
              </a:ext>
            </a:extLst>
          </p:cNvPr>
          <p:cNvSpPr>
            <a:spLocks xmlns:a="http://schemas.openxmlformats.org/drawingml/2006/main" noGrp="1"/>
          </p:cNvSpPr>
          <p:nvPr/>
        </p:nvSpPr>
        <p:spPr>
          <a:xfrm xmlns:a="http://schemas.openxmlformats.org/drawingml/2006/main">
            <a:off x="2266950" y="3105150"/>
            <a:ext cx="9067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a:solidFill>
                  <a:srgbClr val="15232B"/>
                </a:solidFill>
              </a:defRPr>
            </a:pPr>
            <a:r>
              <a:rPr sz="1275">
                <a:solidFill>
                  <a:srgbClr val="15232B"/>
                </a:solidFill>
              </a:rPr>
              <a:t>Vorgesetzte, Risikomanagement und vorgesehenen Haftpflichtweg informieren</a:t>
            </a:r>
          </a:p>
        </p:txBody>
      </p:sp>
      <p:sp>
        <p:nvSpPr>
          <p:cNvPr id="13" name="">
            <a:extLst xmlns:a="http://schemas.openxmlformats.org/drawingml/2006/main">
              <a:ext uri="{FF2B5EF4-FFF2-40B4-BE49-F238E27FC236}">
                <a16:creationId xmlns:a16="http://schemas.microsoft.com/office/drawing/2014/main" id="{7BCAFBC2-B40B-49AD-B708-C702E7943938}"/>
              </a:ext>
            </a:extLst>
          </p:cNvPr>
          <p:cNvSpPr>
            <a:spLocks xmlns:a="http://schemas.openxmlformats.org/drawingml/2006/main" noGrp="1"/>
          </p:cNvSpPr>
          <p:nvPr/>
        </p:nvSpPr>
        <p:spPr>
          <a:xfrm xmlns:a="http://schemas.openxmlformats.org/drawingml/2006/main">
            <a:off x="1809750" y="3695700"/>
            <a:ext cx="323850" cy="323850"/>
          </a:xfrm>
          <a:prstGeom xmlns:a="http://schemas.openxmlformats.org/drawingml/2006/main" prst="ellipse">
            <a:avLst/>
          </a:prstGeom>
          <a:solidFill xmlns:a="http://schemas.openxmlformats.org/drawingml/2006/main">
            <a:srgbClr val="003F6B"/>
          </a:solidFill>
          <a:ln xmlns:a="http://schemas.openxmlformats.org/drawingml/2006/main" w="0">
            <a:solidFill>
              <a:srgbClr val="FFFFFF"/>
            </a:solidFill>
            <a:prstDash val="solid"/>
          </a:ln>
        </p:spPr>
      </p:sp>
      <p:sp>
        <p:nvSpPr>
          <p:cNvPr id="14" name="">
            <a:extLst xmlns:a="http://schemas.openxmlformats.org/drawingml/2006/main">
              <a:ext uri="{FF2B5EF4-FFF2-40B4-BE49-F238E27FC236}">
                <a16:creationId xmlns:a16="http://schemas.microsoft.com/office/drawing/2014/main" id="{41AD8D2A-C241-4CD4-823F-7837D6AA6B90}"/>
              </a:ext>
            </a:extLst>
          </p:cNvPr>
          <p:cNvSpPr>
            <a:spLocks xmlns:a="http://schemas.openxmlformats.org/drawingml/2006/main" noGrp="1"/>
          </p:cNvSpPr>
          <p:nvPr/>
        </p:nvSpPr>
        <p:spPr>
          <a:xfrm xmlns:a="http://schemas.openxmlformats.org/drawingml/2006/main">
            <a:off x="1809750" y="369570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713" b="1">
                <a:solidFill>
                  <a:srgbClr val="FFFFFF"/>
                </a:solidFill>
              </a:defRPr>
            </a:pPr>
            <a:r>
              <a:rPr sz="713" b="1">
                <a:solidFill>
                  <a:srgbClr val="FFFFFF"/>
                </a:solidFill>
              </a:rPr>
              <a:t>4</a:t>
            </a:r>
          </a:p>
        </p:txBody>
      </p:sp>
      <p:sp>
        <p:nvSpPr>
          <p:cNvPr id="15" name="">
            <a:extLst xmlns:a="http://schemas.openxmlformats.org/drawingml/2006/main">
              <a:ext uri="{FF2B5EF4-FFF2-40B4-BE49-F238E27FC236}">
                <a16:creationId xmlns:a16="http://schemas.microsoft.com/office/drawing/2014/main" id="{425B197D-22F7-44B7-82FB-8C21F453CAF6}"/>
              </a:ext>
            </a:extLst>
          </p:cNvPr>
          <p:cNvSpPr>
            <a:spLocks xmlns:a="http://schemas.openxmlformats.org/drawingml/2006/main" noGrp="1"/>
          </p:cNvSpPr>
          <p:nvPr/>
        </p:nvSpPr>
        <p:spPr>
          <a:xfrm xmlns:a="http://schemas.openxmlformats.org/drawingml/2006/main">
            <a:off x="2266950" y="3657600"/>
            <a:ext cx="9067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a:solidFill>
                  <a:srgbClr val="15232B"/>
                </a:solidFill>
              </a:defRPr>
            </a:pPr>
            <a:r>
              <a:rPr sz="1275">
                <a:solidFill>
                  <a:srgbClr val="15232B"/>
                </a:solidFill>
              </a:rPr>
              <a:t>Material, Geräte, Chargen und relevante Kommunikationsdaten nach SOP sichern</a:t>
            </a:r>
          </a:p>
        </p:txBody>
      </p:sp>
      <p:sp>
        <p:nvSpPr>
          <p:cNvPr id="16" name="">
            <a:extLst xmlns:a="http://schemas.openxmlformats.org/drawingml/2006/main">
              <a:ext uri="{FF2B5EF4-FFF2-40B4-BE49-F238E27FC236}">
                <a16:creationId xmlns:a16="http://schemas.microsoft.com/office/drawing/2014/main" id="{9EDB9421-306E-4C2A-9466-E5967A5CCBE9}"/>
              </a:ext>
            </a:extLst>
          </p:cNvPr>
          <p:cNvSpPr>
            <a:spLocks xmlns:a="http://schemas.openxmlformats.org/drawingml/2006/main" noGrp="1"/>
          </p:cNvSpPr>
          <p:nvPr/>
        </p:nvSpPr>
        <p:spPr>
          <a:xfrm xmlns:a="http://schemas.openxmlformats.org/drawingml/2006/main">
            <a:off x="1809750" y="4248150"/>
            <a:ext cx="323850" cy="323850"/>
          </a:xfrm>
          <a:prstGeom xmlns:a="http://schemas.openxmlformats.org/drawingml/2006/main" prst="ellipse">
            <a:avLst/>
          </a:prstGeom>
          <a:solidFill xmlns:a="http://schemas.openxmlformats.org/drawingml/2006/main">
            <a:srgbClr val="00B2BB"/>
          </a:solidFill>
          <a:ln xmlns:a="http://schemas.openxmlformats.org/drawingml/2006/main" w="0">
            <a:solidFill>
              <a:srgbClr val="FFFFFF"/>
            </a:solidFill>
            <a:prstDash val="solid"/>
          </a:ln>
        </p:spPr>
      </p:sp>
      <p:sp>
        <p:nvSpPr>
          <p:cNvPr id="17" name="">
            <a:extLst xmlns:a="http://schemas.openxmlformats.org/drawingml/2006/main">
              <a:ext uri="{FF2B5EF4-FFF2-40B4-BE49-F238E27FC236}">
                <a16:creationId xmlns:a16="http://schemas.microsoft.com/office/drawing/2014/main" id="{4F7DDDC3-A8FB-4DA7-B22E-324F984BAD84}"/>
              </a:ext>
            </a:extLst>
          </p:cNvPr>
          <p:cNvSpPr>
            <a:spLocks xmlns:a="http://schemas.openxmlformats.org/drawingml/2006/main" noGrp="1"/>
          </p:cNvSpPr>
          <p:nvPr/>
        </p:nvSpPr>
        <p:spPr>
          <a:xfrm xmlns:a="http://schemas.openxmlformats.org/drawingml/2006/main">
            <a:off x="1809750" y="42481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713" b="1">
                <a:solidFill>
                  <a:srgbClr val="FFFFFF"/>
                </a:solidFill>
              </a:defRPr>
            </a:pPr>
            <a:r>
              <a:rPr sz="713" b="1">
                <a:solidFill>
                  <a:srgbClr val="FFFFFF"/>
                </a:solidFill>
              </a:rPr>
              <a:t>5</a:t>
            </a:r>
          </a:p>
        </p:txBody>
      </p:sp>
      <p:sp>
        <p:nvSpPr>
          <p:cNvPr id="18" name="">
            <a:extLst xmlns:a="http://schemas.openxmlformats.org/drawingml/2006/main">
              <a:ext uri="{FF2B5EF4-FFF2-40B4-BE49-F238E27FC236}">
                <a16:creationId xmlns:a16="http://schemas.microsoft.com/office/drawing/2014/main" id="{A4A6E6DE-D2C6-46E2-837A-E8DE8B7F446C}"/>
              </a:ext>
            </a:extLst>
          </p:cNvPr>
          <p:cNvSpPr>
            <a:spLocks xmlns:a="http://schemas.openxmlformats.org/drawingml/2006/main" noGrp="1"/>
          </p:cNvSpPr>
          <p:nvPr/>
        </p:nvSpPr>
        <p:spPr>
          <a:xfrm xmlns:a="http://schemas.openxmlformats.org/drawingml/2006/main">
            <a:off x="2266950" y="4210050"/>
            <a:ext cx="9067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a:solidFill>
                  <a:srgbClr val="15232B"/>
                </a:solidFill>
              </a:defRPr>
            </a:pPr>
            <a:r>
              <a:rPr sz="1275">
                <a:solidFill>
                  <a:srgbClr val="15232B"/>
                </a:solidFill>
              </a:rPr>
              <a:t>Patientengespräch und Ansprechpartner dokumentieren</a:t>
            </a:r>
          </a:p>
        </p:txBody>
      </p:sp>
      <p:sp>
        <p:nvSpPr>
          <p:cNvPr id="19" name="">
            <a:extLst xmlns:a="http://schemas.openxmlformats.org/drawingml/2006/main">
              <a:ext uri="{FF2B5EF4-FFF2-40B4-BE49-F238E27FC236}">
                <a16:creationId xmlns:a16="http://schemas.microsoft.com/office/drawing/2014/main" id="{81ED1FBE-9285-45ED-8E11-1E8615928CD6}"/>
              </a:ext>
            </a:extLst>
          </p:cNvPr>
          <p:cNvSpPr>
            <a:spLocks xmlns:a="http://schemas.openxmlformats.org/drawingml/2006/main" noGrp="1"/>
          </p:cNvSpPr>
          <p:nvPr/>
        </p:nvSpPr>
        <p:spPr>
          <a:xfrm xmlns:a="http://schemas.openxmlformats.org/drawingml/2006/main">
            <a:off x="1809750" y="4800600"/>
            <a:ext cx="323850" cy="323850"/>
          </a:xfrm>
          <a:prstGeom xmlns:a="http://schemas.openxmlformats.org/drawingml/2006/main" prst="ellipse">
            <a:avLst/>
          </a:prstGeom>
          <a:solidFill xmlns:a="http://schemas.openxmlformats.org/drawingml/2006/main">
            <a:srgbClr val="003F6B"/>
          </a:solidFill>
          <a:ln xmlns:a="http://schemas.openxmlformats.org/drawingml/2006/main" w="0">
            <a:solidFill>
              <a:srgbClr val="FFFFFF"/>
            </a:solidFill>
            <a:prstDash val="solid"/>
          </a:ln>
        </p:spPr>
      </p:sp>
      <p:sp>
        <p:nvSpPr>
          <p:cNvPr id="20" name="">
            <a:extLst xmlns:a="http://schemas.openxmlformats.org/drawingml/2006/main">
              <a:ext uri="{FF2B5EF4-FFF2-40B4-BE49-F238E27FC236}">
                <a16:creationId xmlns:a16="http://schemas.microsoft.com/office/drawing/2014/main" id="{F4173085-19D2-483F-8E34-69362CB01312}"/>
              </a:ext>
            </a:extLst>
          </p:cNvPr>
          <p:cNvSpPr>
            <a:spLocks xmlns:a="http://schemas.openxmlformats.org/drawingml/2006/main" noGrp="1"/>
          </p:cNvSpPr>
          <p:nvPr/>
        </p:nvSpPr>
        <p:spPr>
          <a:xfrm xmlns:a="http://schemas.openxmlformats.org/drawingml/2006/main">
            <a:off x="1809750" y="480060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713" b="1">
                <a:solidFill>
                  <a:srgbClr val="FFFFFF"/>
                </a:solidFill>
              </a:defRPr>
            </a:pPr>
            <a:r>
              <a:rPr sz="713" b="1">
                <a:solidFill>
                  <a:srgbClr val="FFFFFF"/>
                </a:solidFill>
              </a:rPr>
              <a:t>6</a:t>
            </a:r>
          </a:p>
        </p:txBody>
      </p:sp>
      <p:sp>
        <p:nvSpPr>
          <p:cNvPr id="21" name="">
            <a:extLst xmlns:a="http://schemas.openxmlformats.org/drawingml/2006/main">
              <a:ext uri="{FF2B5EF4-FFF2-40B4-BE49-F238E27FC236}">
                <a16:creationId xmlns:a16="http://schemas.microsoft.com/office/drawing/2014/main" id="{01904306-605A-4B47-A05C-5566A54866B4}"/>
              </a:ext>
            </a:extLst>
          </p:cNvPr>
          <p:cNvSpPr>
            <a:spLocks xmlns:a="http://schemas.openxmlformats.org/drawingml/2006/main" noGrp="1"/>
          </p:cNvSpPr>
          <p:nvPr/>
        </p:nvSpPr>
        <p:spPr>
          <a:xfrm xmlns:a="http://schemas.openxmlformats.org/drawingml/2006/main">
            <a:off x="2266950" y="4762500"/>
            <a:ext cx="9067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a:solidFill>
                  <a:srgbClr val="15232B"/>
                </a:solidFill>
              </a:defRPr>
            </a:pPr>
            <a:r>
              <a:rPr sz="1275">
                <a:solidFill>
                  <a:srgbClr val="15232B"/>
                </a:solidFill>
              </a:rPr>
              <a:t>Eigene Belastung ernst nehmen: Peer-Support / Second-Victim-Hilfe nutzen</a:t>
            </a:r>
          </a:p>
        </p:txBody>
      </p:sp>
      <p:sp>
        <p:nvSpPr>
          <p:cNvPr id="22" name="">
            <a:extLst xmlns:a="http://schemas.openxmlformats.org/drawingml/2006/main">
              <a:ext uri="{FF2B5EF4-FFF2-40B4-BE49-F238E27FC236}">
                <a16:creationId xmlns:a16="http://schemas.microsoft.com/office/drawing/2014/main" id="{E8B7CE49-4F71-4D05-9AFD-B0315DEE4032}"/>
              </a:ext>
            </a:extLst>
          </p:cNvPr>
          <p:cNvSpPr>
            <a:spLocks xmlns:a="http://schemas.openxmlformats.org/drawingml/2006/main" noGrp="1"/>
          </p:cNvSpPr>
          <p:nvPr/>
        </p:nvSpPr>
        <p:spPr>
          <a:xfrm xmlns:a="http://schemas.openxmlformats.org/drawingml/2006/main">
            <a:off x="2095500" y="5143500"/>
            <a:ext cx="895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0786B"/>
                </a:solidFill>
              </a:defRPr>
            </a:pPr>
            <a:r>
              <a:rPr sz="1200" b="1">
                <a:solidFill>
                  <a:srgbClr val="00786B"/>
                </a:solidFill>
              </a:rPr>
              <a:t>Nicht allein bleiben. Früh koordinieren, aber Patientengeheimnis und Rollen beachten.</a:t>
            </a:r>
          </a:p>
        </p:txBody>
      </p:sp>
    </p:spTree>
    <p:extLst>
      <p:ext uri="{BB962C8B-B14F-4D97-AF65-F5344CB8AC3E}">
        <p14:creationId xmlns:p14="http://schemas.microsoft.com/office/powerpoint/2010/main" val="43637646"/>
      </p:ext>
    </p:extLst>
  </p:cSld>
</p:sld>
</file>

<file path=ppt/slides/slide66.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Zum Nachlesen · Termin 02: Erste 60 Minuten / 24 Stunden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LITERATUR &amp; SICHTBARE QUELLEN</a:t>
            </a:r>
            <a:endParaRPr/>
          </a:p>
        </p:txBody>
      </p:sp>
      <p:sp>
        <p:nvSpPr>
          <p:cNvPr id="4" name="">
            <a:extLst xmlns:a="http://schemas.openxmlformats.org/drawingml/2006/main">
              <a:ext uri="{FF2B5EF4-FFF2-40B4-BE49-F238E27FC236}">
                <a16:creationId xmlns:a16="http://schemas.microsoft.com/office/drawing/2014/main" id="{46830269-1D72-4CC0-AAAD-CA2B035CBBF2}"/>
              </a:ext>
            </a:extLst>
          </p:cNvPr>
          <p:cNvSpPr>
            <a:spLocks xmlns:a="http://schemas.openxmlformats.org/drawingml/2006/main" noGrp="1"/>
          </p:cNvSpPr>
          <p:nvPr/>
        </p:nvSpPr>
        <p:spPr>
          <a:xfrm xmlns:a="http://schemas.openxmlformats.org/drawingml/2006/main">
            <a:off x="1809750" y="1943100"/>
            <a:ext cx="461010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91C9D5CF-CFF6-40AD-94CB-0EA3E429335C}"/>
              </a:ext>
            </a:extLst>
          </p:cNvPr>
          <p:cNvSpPr>
            <a:spLocks xmlns:a="http://schemas.openxmlformats.org/drawingml/2006/main" noGrp="1"/>
          </p:cNvSpPr>
          <p:nvPr/>
        </p:nvSpPr>
        <p:spPr>
          <a:xfrm xmlns:a="http://schemas.openxmlformats.org/drawingml/2006/main">
            <a:off x="1809750" y="1943100"/>
            <a:ext cx="4610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Vertiefung</a:t>
            </a:r>
          </a:p>
        </p:txBody>
      </p:sp>
      <p:sp>
        <p:nvSpPr>
          <p:cNvPr id="6" name="">
            <a:extLst xmlns:a="http://schemas.openxmlformats.org/drawingml/2006/main">
              <a:ext uri="{FF2B5EF4-FFF2-40B4-BE49-F238E27FC236}">
                <a16:creationId xmlns:a16="http://schemas.microsoft.com/office/drawing/2014/main" id="{CEBAA138-D95A-42D4-A287-75409CFAB18F}"/>
              </a:ext>
            </a:extLst>
          </p:cNvPr>
          <p:cNvSpPr>
            <a:spLocks xmlns:a="http://schemas.openxmlformats.org/drawingml/2006/main" noGrp="1"/>
          </p:cNvSpPr>
          <p:nvPr/>
        </p:nvSpPr>
        <p:spPr>
          <a:xfrm xmlns:a="http://schemas.openxmlformats.org/drawingml/2006/main">
            <a:off x="1809750" y="30289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7" name="">
            <a:extLst xmlns:a="http://schemas.openxmlformats.org/drawingml/2006/main">
              <a:ext uri="{FF2B5EF4-FFF2-40B4-BE49-F238E27FC236}">
                <a16:creationId xmlns:a16="http://schemas.microsoft.com/office/drawing/2014/main" id="{EFA26B67-5FFA-4EFB-8EE7-F5AFA9B2A8F0}"/>
              </a:ext>
            </a:extLst>
          </p:cNvPr>
          <p:cNvSpPr>
            <a:spLocks xmlns:a="http://schemas.openxmlformats.org/drawingml/2006/main" noGrp="1"/>
          </p:cNvSpPr>
          <p:nvPr/>
        </p:nvSpPr>
        <p:spPr>
          <a:xfrm xmlns:a="http://schemas.openxmlformats.org/drawingml/2006/main">
            <a:off x="1809750" y="24765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9BAB"/>
                </a:solidFill>
              </a:defRPr>
            </a:pPr>
            <a:r>
              <a:rPr sz="960" b="1">
                <a:solidFill>
                  <a:srgbClr val="009BAB"/>
                </a:solidFill>
              </a:rPr>
              <a:t>Kommunikation</a:t>
            </a:r>
          </a:p>
        </p:txBody>
      </p:sp>
      <p:sp>
        <p:nvSpPr>
          <p:cNvPr id="8" name="">
            <a:extLst xmlns:a="http://schemas.openxmlformats.org/drawingml/2006/main">
              <a:ext uri="{FF2B5EF4-FFF2-40B4-BE49-F238E27FC236}">
                <a16:creationId xmlns:a16="http://schemas.microsoft.com/office/drawing/2014/main" id="{18D1CBC6-FDB0-4FEF-8212-E9B2E1176838}"/>
              </a:ext>
            </a:extLst>
          </p:cNvPr>
          <p:cNvSpPr>
            <a:spLocks xmlns:a="http://schemas.openxmlformats.org/drawingml/2006/main" noGrp="1"/>
          </p:cNvSpPr>
          <p:nvPr/>
        </p:nvSpPr>
        <p:spPr>
          <a:xfrm xmlns:a="http://schemas.openxmlformats.org/drawingml/2006/main">
            <a:off x="2952750" y="24765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Sattar et al., Health Expectations 2020, doi:10.1111/hex.13029.</a:t>
            </a:r>
          </a:p>
        </p:txBody>
      </p:sp>
      <p:sp>
        <p:nvSpPr>
          <p:cNvPr id="9" name="">
            <a:extLst xmlns:a="http://schemas.openxmlformats.org/drawingml/2006/main">
              <a:ext uri="{FF2B5EF4-FFF2-40B4-BE49-F238E27FC236}">
                <a16:creationId xmlns:a16="http://schemas.microsoft.com/office/drawing/2014/main" id="{B0BDE7F1-CB16-4C69-B62D-1793C1D51DC9}"/>
              </a:ext>
            </a:extLst>
          </p:cNvPr>
          <p:cNvSpPr>
            <a:spLocks xmlns:a="http://schemas.openxmlformats.org/drawingml/2006/main" noGrp="1"/>
          </p:cNvSpPr>
          <p:nvPr/>
        </p:nvSpPr>
        <p:spPr>
          <a:xfrm xmlns:a="http://schemas.openxmlformats.org/drawingml/2006/main">
            <a:off x="1809750" y="36385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10" name="">
            <a:extLst xmlns:a="http://schemas.openxmlformats.org/drawingml/2006/main">
              <a:ext uri="{FF2B5EF4-FFF2-40B4-BE49-F238E27FC236}">
                <a16:creationId xmlns:a16="http://schemas.microsoft.com/office/drawing/2014/main" id="{89049A7D-9CC8-4770-A7CA-207E507F82AB}"/>
              </a:ext>
            </a:extLst>
          </p:cNvPr>
          <p:cNvSpPr>
            <a:spLocks xmlns:a="http://schemas.openxmlformats.org/drawingml/2006/main" noGrp="1"/>
          </p:cNvSpPr>
          <p:nvPr/>
        </p:nvSpPr>
        <p:spPr>
          <a:xfrm xmlns:a="http://schemas.openxmlformats.org/drawingml/2006/main">
            <a:off x="1809750" y="30861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9BAB"/>
                </a:solidFill>
              </a:defRPr>
            </a:pPr>
            <a:r>
              <a:rPr sz="960" b="1">
                <a:solidFill>
                  <a:srgbClr val="009BAB"/>
                </a:solidFill>
              </a:rPr>
              <a:t>Patientensicherheit</a:t>
            </a:r>
          </a:p>
        </p:txBody>
      </p:sp>
      <p:sp>
        <p:nvSpPr>
          <p:cNvPr id="11" name="">
            <a:extLst xmlns:a="http://schemas.openxmlformats.org/drawingml/2006/main">
              <a:ext uri="{FF2B5EF4-FFF2-40B4-BE49-F238E27FC236}">
                <a16:creationId xmlns:a16="http://schemas.microsoft.com/office/drawing/2014/main" id="{52B27A29-4D2D-433C-8474-50B2506B1864}"/>
              </a:ext>
            </a:extLst>
          </p:cNvPr>
          <p:cNvSpPr>
            <a:spLocks xmlns:a="http://schemas.openxmlformats.org/drawingml/2006/main" noGrp="1"/>
          </p:cNvSpPr>
          <p:nvPr/>
        </p:nvSpPr>
        <p:spPr>
          <a:xfrm xmlns:a="http://schemas.openxmlformats.org/drawingml/2006/main">
            <a:off x="2952750" y="30861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Aktionsbündnis Patientensicherheit: Reden ist Gold – Kommunikation nach Zwischenfällen.</a:t>
            </a:r>
          </a:p>
        </p:txBody>
      </p:sp>
      <p:sp>
        <p:nvSpPr>
          <p:cNvPr id="12" name="">
            <a:extLst xmlns:a="http://schemas.openxmlformats.org/drawingml/2006/main">
              <a:ext uri="{FF2B5EF4-FFF2-40B4-BE49-F238E27FC236}">
                <a16:creationId xmlns:a16="http://schemas.microsoft.com/office/drawing/2014/main" id="{0784BFE7-70BC-4065-8A3B-3BD5FFAA09DE}"/>
              </a:ext>
            </a:extLst>
          </p:cNvPr>
          <p:cNvSpPr>
            <a:spLocks xmlns:a="http://schemas.openxmlformats.org/drawingml/2006/main" noGrp="1"/>
          </p:cNvSpPr>
          <p:nvPr/>
        </p:nvSpPr>
        <p:spPr>
          <a:xfrm xmlns:a="http://schemas.openxmlformats.org/drawingml/2006/main">
            <a:off x="1809750" y="42481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13" name="">
            <a:extLst xmlns:a="http://schemas.openxmlformats.org/drawingml/2006/main">
              <a:ext uri="{FF2B5EF4-FFF2-40B4-BE49-F238E27FC236}">
                <a16:creationId xmlns:a16="http://schemas.microsoft.com/office/drawing/2014/main" id="{F8EFDEFD-E695-4AAD-9B61-1250FED67F39}"/>
              </a:ext>
            </a:extLst>
          </p:cNvPr>
          <p:cNvSpPr>
            <a:spLocks xmlns:a="http://schemas.openxmlformats.org/drawingml/2006/main" noGrp="1"/>
          </p:cNvSpPr>
          <p:nvPr/>
        </p:nvSpPr>
        <p:spPr>
          <a:xfrm xmlns:a="http://schemas.openxmlformats.org/drawingml/2006/main">
            <a:off x="1809750" y="36957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9BAB"/>
                </a:solidFill>
              </a:defRPr>
            </a:pPr>
            <a:r>
              <a:rPr sz="960" b="1">
                <a:solidFill>
                  <a:srgbClr val="009BAB"/>
                </a:solidFill>
              </a:rPr>
              <a:t>Praxis</a:t>
            </a:r>
          </a:p>
        </p:txBody>
      </p:sp>
      <p:sp>
        <p:nvSpPr>
          <p:cNvPr id="14" name="">
            <a:extLst xmlns:a="http://schemas.openxmlformats.org/drawingml/2006/main">
              <a:ext uri="{FF2B5EF4-FFF2-40B4-BE49-F238E27FC236}">
                <a16:creationId xmlns:a16="http://schemas.microsoft.com/office/drawing/2014/main" id="{1604AEF7-48EA-4F11-83B6-B32F42B847EA}"/>
              </a:ext>
            </a:extLst>
          </p:cNvPr>
          <p:cNvSpPr>
            <a:spLocks xmlns:a="http://schemas.openxmlformats.org/drawingml/2006/main" noGrp="1"/>
          </p:cNvSpPr>
          <p:nvPr/>
        </p:nvSpPr>
        <p:spPr>
          <a:xfrm xmlns:a="http://schemas.openxmlformats.org/drawingml/2006/main">
            <a:off x="2952750" y="36957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WHO Patient Safety: Open disclosure und Lernkultur als Systemaufgabe.</a:t>
            </a:r>
          </a:p>
        </p:txBody>
      </p:sp>
      <p:sp>
        <p:nvSpPr>
          <p:cNvPr id="15" name="">
            <a:extLst xmlns:a="http://schemas.openxmlformats.org/drawingml/2006/main">
              <a:ext uri="{FF2B5EF4-FFF2-40B4-BE49-F238E27FC236}">
                <a16:creationId xmlns:a16="http://schemas.microsoft.com/office/drawing/2014/main" id="{3DABCDB0-BEF6-4896-92B8-8D2C47BC7391}"/>
              </a:ext>
            </a:extLst>
          </p:cNvPr>
          <p:cNvSpPr>
            <a:spLocks xmlns:a="http://schemas.openxmlformats.org/drawingml/2006/main" noGrp="1"/>
          </p:cNvSpPr>
          <p:nvPr/>
        </p:nvSpPr>
        <p:spPr>
          <a:xfrm xmlns:a="http://schemas.openxmlformats.org/drawingml/2006/main">
            <a:off x="1809750" y="48577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16" name="">
            <a:extLst xmlns:a="http://schemas.openxmlformats.org/drawingml/2006/main">
              <a:ext uri="{FF2B5EF4-FFF2-40B4-BE49-F238E27FC236}">
                <a16:creationId xmlns:a16="http://schemas.microsoft.com/office/drawing/2014/main" id="{4D046E45-EBA7-4D67-9DFA-2F28C2701A72}"/>
              </a:ext>
            </a:extLst>
          </p:cNvPr>
          <p:cNvSpPr>
            <a:spLocks xmlns:a="http://schemas.openxmlformats.org/drawingml/2006/main" noGrp="1"/>
          </p:cNvSpPr>
          <p:nvPr/>
        </p:nvSpPr>
        <p:spPr>
          <a:xfrm xmlns:a="http://schemas.openxmlformats.org/drawingml/2006/main">
            <a:off x="1809750" y="43053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9BAB"/>
                </a:solidFill>
              </a:defRPr>
            </a:pPr>
            <a:r>
              <a:rPr sz="960" b="1">
                <a:solidFill>
                  <a:srgbClr val="009BAB"/>
                </a:solidFill>
              </a:rPr>
              <a:t>Reflexion</a:t>
            </a:r>
          </a:p>
        </p:txBody>
      </p:sp>
      <p:sp>
        <p:nvSpPr>
          <p:cNvPr id="17" name="">
            <a:extLst xmlns:a="http://schemas.openxmlformats.org/drawingml/2006/main">
              <a:ext uri="{FF2B5EF4-FFF2-40B4-BE49-F238E27FC236}">
                <a16:creationId xmlns:a16="http://schemas.microsoft.com/office/drawing/2014/main" id="{E1C8A1C4-7269-405B-B15F-C77B170F42AA}"/>
              </a:ext>
            </a:extLst>
          </p:cNvPr>
          <p:cNvSpPr>
            <a:spLocks xmlns:a="http://schemas.openxmlformats.org/drawingml/2006/main" noGrp="1"/>
          </p:cNvSpPr>
          <p:nvPr/>
        </p:nvSpPr>
        <p:spPr>
          <a:xfrm xmlns:a="http://schemas.openxmlformats.org/drawingml/2006/main">
            <a:off x="2952750" y="43053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Second-victim-Ansätze: Unterstützungsbedarf von Behandelnden nach Ereignissen.</a:t>
            </a:r>
          </a:p>
        </p:txBody>
      </p:sp>
      <p:sp>
        <p:nvSpPr>
          <p:cNvPr id="18" name="">
            <a:extLst xmlns:a="http://schemas.openxmlformats.org/drawingml/2006/main">
              <a:ext uri="{FF2B5EF4-FFF2-40B4-BE49-F238E27FC236}">
                <a16:creationId xmlns:a16="http://schemas.microsoft.com/office/drawing/2014/main" id="{7BBF64F5-C6B2-44D6-864D-8EC8D17691F2}"/>
              </a:ext>
            </a:extLst>
          </p:cNvPr>
          <p:cNvSpPr>
            <a:spLocks xmlns:a="http://schemas.openxmlformats.org/drawingml/2006/main" noGrp="1"/>
          </p:cNvSpPr>
          <p:nvPr/>
        </p:nvSpPr>
        <p:spPr>
          <a:xfrm xmlns:a="http://schemas.openxmlformats.org/drawingml/2006/main">
            <a:off x="6724650" y="1943100"/>
            <a:ext cx="461010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9" name="">
            <a:extLst xmlns:a="http://schemas.openxmlformats.org/drawingml/2006/main">
              <a:ext uri="{FF2B5EF4-FFF2-40B4-BE49-F238E27FC236}">
                <a16:creationId xmlns:a16="http://schemas.microsoft.com/office/drawing/2014/main" id="{935E77E4-0BD1-478B-8587-AB509E72B1A3}"/>
              </a:ext>
            </a:extLst>
          </p:cNvPr>
          <p:cNvSpPr>
            <a:spLocks xmlns:a="http://schemas.openxmlformats.org/drawingml/2006/main" noGrp="1"/>
          </p:cNvSpPr>
          <p:nvPr/>
        </p:nvSpPr>
        <p:spPr>
          <a:xfrm xmlns:a="http://schemas.openxmlformats.org/drawingml/2006/main">
            <a:off x="6724650" y="1943100"/>
            <a:ext cx="4610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Primärquellen &amp; Rechtsprechung</a:t>
            </a:r>
          </a:p>
        </p:txBody>
      </p:sp>
      <p:sp>
        <p:nvSpPr>
          <p:cNvPr id="20" name="">
            <a:extLst xmlns:a="http://schemas.openxmlformats.org/drawingml/2006/main">
              <a:ext uri="{FF2B5EF4-FFF2-40B4-BE49-F238E27FC236}">
                <a16:creationId xmlns:a16="http://schemas.microsoft.com/office/drawing/2014/main" id="{C8F67105-C7D3-4681-89FE-DFC2ED691D4B}"/>
              </a:ext>
            </a:extLst>
          </p:cNvPr>
          <p:cNvSpPr>
            <a:spLocks xmlns:a="http://schemas.openxmlformats.org/drawingml/2006/main" noGrp="1"/>
          </p:cNvSpPr>
          <p:nvPr/>
        </p:nvSpPr>
        <p:spPr>
          <a:xfrm xmlns:a="http://schemas.openxmlformats.org/drawingml/2006/main">
            <a:off x="6724650" y="30289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21" name="">
            <a:extLst xmlns:a="http://schemas.openxmlformats.org/drawingml/2006/main">
              <a:ext uri="{FF2B5EF4-FFF2-40B4-BE49-F238E27FC236}">
                <a16:creationId xmlns:a16="http://schemas.microsoft.com/office/drawing/2014/main" id="{EF7BEB6E-6793-4158-995C-419BAF97CB30}"/>
              </a:ext>
            </a:extLst>
          </p:cNvPr>
          <p:cNvSpPr>
            <a:spLocks xmlns:a="http://schemas.openxmlformats.org/drawingml/2006/main" noGrp="1"/>
          </p:cNvSpPr>
          <p:nvPr/>
        </p:nvSpPr>
        <p:spPr>
          <a:xfrm xmlns:a="http://schemas.openxmlformats.org/drawingml/2006/main">
            <a:off x="6724650" y="24765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3F6B"/>
                </a:solidFill>
              </a:defRPr>
            </a:pPr>
            <a:r>
              <a:rPr sz="960" b="1">
                <a:solidFill>
                  <a:srgbClr val="003F6B"/>
                </a:solidFill>
              </a:rPr>
              <a:t>Norm</a:t>
            </a:r>
          </a:p>
        </p:txBody>
      </p:sp>
      <p:sp>
        <p:nvSpPr>
          <p:cNvPr id="22" name="">
            <a:extLst xmlns:a="http://schemas.openxmlformats.org/drawingml/2006/main">
              <a:ext uri="{FF2B5EF4-FFF2-40B4-BE49-F238E27FC236}">
                <a16:creationId xmlns:a16="http://schemas.microsoft.com/office/drawing/2014/main" id="{AB2F2460-D507-4281-AA9A-1FE589687644}"/>
              </a:ext>
            </a:extLst>
          </p:cNvPr>
          <p:cNvSpPr>
            <a:spLocks xmlns:a="http://schemas.openxmlformats.org/drawingml/2006/main" noGrp="1"/>
          </p:cNvSpPr>
          <p:nvPr/>
        </p:nvSpPr>
        <p:spPr>
          <a:xfrm xmlns:a="http://schemas.openxmlformats.org/drawingml/2006/main">
            <a:off x="7867650" y="24765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 630c Abs. 2 BGB · Informationspflicht bei möglichem Fehler.</a:t>
            </a:r>
          </a:p>
        </p:txBody>
      </p:sp>
      <p:sp>
        <p:nvSpPr>
          <p:cNvPr id="23" name="">
            <a:extLst xmlns:a="http://schemas.openxmlformats.org/drawingml/2006/main">
              <a:ext uri="{FF2B5EF4-FFF2-40B4-BE49-F238E27FC236}">
                <a16:creationId xmlns:a16="http://schemas.microsoft.com/office/drawing/2014/main" id="{8087274F-5FA8-46C7-B57A-846047550E49}"/>
              </a:ext>
            </a:extLst>
          </p:cNvPr>
          <p:cNvSpPr>
            <a:spLocks xmlns:a="http://schemas.openxmlformats.org/drawingml/2006/main" noGrp="1"/>
          </p:cNvSpPr>
          <p:nvPr/>
        </p:nvSpPr>
        <p:spPr>
          <a:xfrm xmlns:a="http://schemas.openxmlformats.org/drawingml/2006/main">
            <a:off x="6724650" y="36385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24" name="">
            <a:extLst xmlns:a="http://schemas.openxmlformats.org/drawingml/2006/main">
              <a:ext uri="{FF2B5EF4-FFF2-40B4-BE49-F238E27FC236}">
                <a16:creationId xmlns:a16="http://schemas.microsoft.com/office/drawing/2014/main" id="{63483331-6FA6-487B-AB0F-7CAC3B69C455}"/>
              </a:ext>
            </a:extLst>
          </p:cNvPr>
          <p:cNvSpPr>
            <a:spLocks xmlns:a="http://schemas.openxmlformats.org/drawingml/2006/main" noGrp="1"/>
          </p:cNvSpPr>
          <p:nvPr/>
        </p:nvSpPr>
        <p:spPr>
          <a:xfrm xmlns:a="http://schemas.openxmlformats.org/drawingml/2006/main">
            <a:off x="6724650" y="30861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3F6B"/>
                </a:solidFill>
              </a:defRPr>
            </a:pPr>
            <a:r>
              <a:rPr sz="960" b="1">
                <a:solidFill>
                  <a:srgbClr val="003F6B"/>
                </a:solidFill>
              </a:rPr>
              <a:t>Akte</a:t>
            </a:r>
          </a:p>
        </p:txBody>
      </p:sp>
      <p:sp>
        <p:nvSpPr>
          <p:cNvPr id="25" name="">
            <a:extLst xmlns:a="http://schemas.openxmlformats.org/drawingml/2006/main">
              <a:ext uri="{FF2B5EF4-FFF2-40B4-BE49-F238E27FC236}">
                <a16:creationId xmlns:a16="http://schemas.microsoft.com/office/drawing/2014/main" id="{85C727F5-DD93-4573-8447-FE73254645FC}"/>
              </a:ext>
            </a:extLst>
          </p:cNvPr>
          <p:cNvSpPr>
            <a:spLocks xmlns:a="http://schemas.openxmlformats.org/drawingml/2006/main" noGrp="1"/>
          </p:cNvSpPr>
          <p:nvPr/>
        </p:nvSpPr>
        <p:spPr>
          <a:xfrm xmlns:a="http://schemas.openxmlformats.org/drawingml/2006/main">
            <a:off x="7867650" y="30861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 630f BGB · zeitnahe, nachvollziehbare Dokumentation.</a:t>
            </a:r>
          </a:p>
        </p:txBody>
      </p:sp>
      <p:sp>
        <p:nvSpPr>
          <p:cNvPr id="26" name="">
            <a:extLst xmlns:a="http://schemas.openxmlformats.org/drawingml/2006/main">
              <a:ext uri="{FF2B5EF4-FFF2-40B4-BE49-F238E27FC236}">
                <a16:creationId xmlns:a16="http://schemas.microsoft.com/office/drawing/2014/main" id="{62A68285-2400-4F69-A048-C22A45AE123E}"/>
              </a:ext>
            </a:extLst>
          </p:cNvPr>
          <p:cNvSpPr>
            <a:spLocks xmlns:a="http://schemas.openxmlformats.org/drawingml/2006/main" noGrp="1"/>
          </p:cNvSpPr>
          <p:nvPr/>
        </p:nvSpPr>
        <p:spPr>
          <a:xfrm xmlns:a="http://schemas.openxmlformats.org/drawingml/2006/main">
            <a:off x="6724650" y="42481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27" name="">
            <a:extLst xmlns:a="http://schemas.openxmlformats.org/drawingml/2006/main">
              <a:ext uri="{FF2B5EF4-FFF2-40B4-BE49-F238E27FC236}">
                <a16:creationId xmlns:a16="http://schemas.microsoft.com/office/drawing/2014/main" id="{7A0332A9-F545-41F7-97E2-85D21F26A1B3}"/>
              </a:ext>
            </a:extLst>
          </p:cNvPr>
          <p:cNvSpPr>
            <a:spLocks xmlns:a="http://schemas.openxmlformats.org/drawingml/2006/main" noGrp="1"/>
          </p:cNvSpPr>
          <p:nvPr/>
        </p:nvSpPr>
        <p:spPr>
          <a:xfrm xmlns:a="http://schemas.openxmlformats.org/drawingml/2006/main">
            <a:off x="6724650" y="36957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3F6B"/>
                </a:solidFill>
              </a:defRPr>
            </a:pPr>
            <a:r>
              <a:rPr sz="960" b="1">
                <a:solidFill>
                  <a:srgbClr val="003F6B"/>
                </a:solidFill>
              </a:rPr>
              <a:t>Schweigerecht</a:t>
            </a:r>
          </a:p>
        </p:txBody>
      </p:sp>
      <p:sp>
        <p:nvSpPr>
          <p:cNvPr id="28" name="">
            <a:extLst xmlns:a="http://schemas.openxmlformats.org/drawingml/2006/main">
              <a:ext uri="{FF2B5EF4-FFF2-40B4-BE49-F238E27FC236}">
                <a16:creationId xmlns:a16="http://schemas.microsoft.com/office/drawing/2014/main" id="{87DA2D24-F059-4DD9-BFA4-DEA1FE232C35}"/>
              </a:ext>
            </a:extLst>
          </p:cNvPr>
          <p:cNvSpPr>
            <a:spLocks xmlns:a="http://schemas.openxmlformats.org/drawingml/2006/main" noGrp="1"/>
          </p:cNvSpPr>
          <p:nvPr/>
        </p:nvSpPr>
        <p:spPr>
          <a:xfrm xmlns:a="http://schemas.openxmlformats.org/drawingml/2006/main">
            <a:off x="7867650" y="36957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 630c Abs. 2 Satz 3 BGB · strafprozessuale Verwertung.</a:t>
            </a:r>
          </a:p>
        </p:txBody>
      </p:sp>
      <p:sp>
        <p:nvSpPr>
          <p:cNvPr id="29" name="">
            <a:extLst xmlns:a="http://schemas.openxmlformats.org/drawingml/2006/main">
              <a:ext uri="{FF2B5EF4-FFF2-40B4-BE49-F238E27FC236}">
                <a16:creationId xmlns:a16="http://schemas.microsoft.com/office/drawing/2014/main" id="{F9A263F6-F074-421D-B5A2-F8E1C8154A25}"/>
              </a:ext>
            </a:extLst>
          </p:cNvPr>
          <p:cNvSpPr>
            <a:spLocks xmlns:a="http://schemas.openxmlformats.org/drawingml/2006/main" noGrp="1"/>
          </p:cNvSpPr>
          <p:nvPr/>
        </p:nvSpPr>
        <p:spPr>
          <a:xfrm xmlns:a="http://schemas.openxmlformats.org/drawingml/2006/main">
            <a:off x="6724650" y="48577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30" name="">
            <a:extLst xmlns:a="http://schemas.openxmlformats.org/drawingml/2006/main">
              <a:ext uri="{FF2B5EF4-FFF2-40B4-BE49-F238E27FC236}">
                <a16:creationId xmlns:a16="http://schemas.microsoft.com/office/drawing/2014/main" id="{D9102E69-83F0-4D67-9378-9DEBE36096A8}"/>
              </a:ext>
            </a:extLst>
          </p:cNvPr>
          <p:cNvSpPr>
            <a:spLocks xmlns:a="http://schemas.openxmlformats.org/drawingml/2006/main" noGrp="1"/>
          </p:cNvSpPr>
          <p:nvPr/>
        </p:nvSpPr>
        <p:spPr>
          <a:xfrm xmlns:a="http://schemas.openxmlformats.org/drawingml/2006/main">
            <a:off x="6724650" y="43053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3F6B"/>
                </a:solidFill>
              </a:defRPr>
            </a:pPr>
            <a:r>
              <a:rPr sz="960" b="1">
                <a:solidFill>
                  <a:srgbClr val="003F6B"/>
                </a:solidFill>
              </a:rPr>
              <a:t>Quelle</a:t>
            </a:r>
          </a:p>
        </p:txBody>
      </p:sp>
      <p:sp>
        <p:nvSpPr>
          <p:cNvPr id="31" name="">
            <a:extLst xmlns:a="http://schemas.openxmlformats.org/drawingml/2006/main">
              <a:ext uri="{FF2B5EF4-FFF2-40B4-BE49-F238E27FC236}">
                <a16:creationId xmlns:a16="http://schemas.microsoft.com/office/drawing/2014/main" id="{947449E9-BF7B-4820-9DF3-4989590A1EDF}"/>
              </a:ext>
            </a:extLst>
          </p:cNvPr>
          <p:cNvSpPr>
            <a:spLocks xmlns:a="http://schemas.openxmlformats.org/drawingml/2006/main" noGrp="1"/>
          </p:cNvSpPr>
          <p:nvPr/>
        </p:nvSpPr>
        <p:spPr>
          <a:xfrm xmlns:a="http://schemas.openxmlformats.org/drawingml/2006/main">
            <a:off x="7867650" y="43053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gesetze-im-internet.de/bgb/__630c.html</a:t>
            </a:r>
          </a:p>
        </p:txBody>
      </p:sp>
      <p:sp>
        <p:nvSpPr>
          <p:cNvPr id="32" name="">
            <a:extLst xmlns:a="http://schemas.openxmlformats.org/drawingml/2006/main">
              <a:ext uri="{FF2B5EF4-FFF2-40B4-BE49-F238E27FC236}">
                <a16:creationId xmlns:a16="http://schemas.microsoft.com/office/drawing/2014/main" id="{EB2CF6B4-DBB0-4B13-9284-68A4E28F009B}"/>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20">
                <a:solidFill>
                  <a:srgbClr val="667680"/>
                </a:solidFill>
              </a:defRPr>
            </a:pPr>
            <a:r>
              <a:rPr sz="720">
                <a:solidFill>
                  <a:srgbClr val="667680"/>
                </a:solidFill>
              </a:rPr>
              <a:t>Alle Internetquellen Abruf/Stand: 20.08.2026. Gesetze: aktuelle Fassung jeweils vor Anwendung prüfen · https://www.rechtsprechung-im-internet.de</a:t>
            </a:r>
          </a:p>
        </p:txBody>
      </p:sp>
    </p:spTree>
    <p:extLst>
      <p:ext uri="{BB962C8B-B14F-4D97-AF65-F5344CB8AC3E}">
        <p14:creationId xmlns:p14="http://schemas.microsoft.com/office/powerpoint/2010/main" val="43637646"/>
      </p:ext>
    </p:extLst>
  </p:cSld>
</p:sld>
</file>

<file path=ppt/slides/slide67.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endParaRPr/>
          </a:p>
        </p:txBody>
      </p:sp>
      <p:sp>
        <p:nvSpPr>
          <p:cNvPr id="4" name="">
            <a:extLst xmlns:a="http://schemas.openxmlformats.org/drawingml/2006/main">
              <a:ext uri="{FF2B5EF4-FFF2-40B4-BE49-F238E27FC236}">
                <a16:creationId xmlns:a16="http://schemas.microsoft.com/office/drawing/2014/main" id="{D2482C03-9132-4992-94A3-AE368D9C4B75}"/>
              </a:ext>
            </a:extLst>
          </p:cNvPr>
          <p:cNvSpPr>
            <a:spLocks xmlns:a="http://schemas.openxmlformats.org/drawingml/2006/main" noGrp="1"/>
          </p:cNvSpPr>
          <p:nvPr/>
        </p:nvSpPr>
        <p:spPr>
          <a:xfrm xmlns:a="http://schemas.openxmlformats.org/drawingml/2006/main">
            <a:off x="2571750" y="2038350"/>
            <a:ext cx="838200" cy="628650"/>
          </a:xfrm>
          <a:prstGeom xmlns:a="http://schemas.openxmlformats.org/drawingml/2006/main" prst="roundRect">
            <a:avLst>
              <a:gd name="adj" fmla="val 12121"/>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8A8CFE5C-6D80-4028-AC5D-72B6CB5243FE}"/>
              </a:ext>
            </a:extLst>
          </p:cNvPr>
          <p:cNvSpPr>
            <a:spLocks xmlns:a="http://schemas.openxmlformats.org/drawingml/2006/main" noGrp="1"/>
          </p:cNvSpPr>
          <p:nvPr/>
        </p:nvSpPr>
        <p:spPr>
          <a:xfrm xmlns:a="http://schemas.openxmlformats.org/drawingml/2006/main">
            <a:off x="2571750" y="2038350"/>
            <a:ext cx="8382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FFFFFF"/>
                </a:solidFill>
              </a:defRPr>
            </a:pPr>
            <a:r>
              <a:rPr sz="2100" b="1">
                <a:solidFill>
                  <a:srgbClr val="FFFFFF"/>
                </a:solidFill>
              </a:rPr>
              <a:t>03</a:t>
            </a:r>
          </a:p>
        </p:txBody>
      </p:sp>
      <p:sp>
        <p:nvSpPr>
          <p:cNvPr id="6" name="">
            <a:extLst xmlns:a="http://schemas.openxmlformats.org/drawingml/2006/main">
              <a:ext uri="{FF2B5EF4-FFF2-40B4-BE49-F238E27FC236}">
                <a16:creationId xmlns:a16="http://schemas.microsoft.com/office/drawing/2014/main" id="{D5BD2513-6073-488A-8B4B-A0138DD983DC}"/>
              </a:ext>
            </a:extLst>
          </p:cNvPr>
          <p:cNvSpPr>
            <a:spLocks xmlns:a="http://schemas.openxmlformats.org/drawingml/2006/main" noGrp="1"/>
          </p:cNvSpPr>
          <p:nvPr/>
        </p:nvSpPr>
        <p:spPr>
          <a:xfrm xmlns:a="http://schemas.openxmlformats.org/drawingml/2006/main">
            <a:off x="3667125" y="2000250"/>
            <a:ext cx="8096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4400">
                <a:solidFill>
                  <a:srgbClr val="003F6B"/>
                </a:solidFill>
              </a:defRPr>
            </a:pPr>
            <a:r>
              <a:rPr sz="4400">
                <a:solidFill>
                  <a:srgbClr val="003F6B"/>
                </a:solidFill>
              </a:rPr>
              <a:t>Arzthaftung</a:t>
            </a:r>
          </a:p>
        </p:txBody>
      </p:sp>
      <p:sp>
        <p:nvSpPr>
          <p:cNvPr id="7" name="">
            <a:extLst xmlns:a="http://schemas.openxmlformats.org/drawingml/2006/main">
              <a:ext uri="{FF2B5EF4-FFF2-40B4-BE49-F238E27FC236}">
                <a16:creationId xmlns:a16="http://schemas.microsoft.com/office/drawing/2014/main" id="{430823C1-B6D3-4AD9-B782-F7BA12B437BA}"/>
              </a:ext>
            </a:extLst>
          </p:cNvPr>
          <p:cNvSpPr>
            <a:spLocks xmlns:a="http://schemas.openxmlformats.org/drawingml/2006/main" noGrp="1"/>
          </p:cNvSpPr>
          <p:nvPr/>
        </p:nvSpPr>
        <p:spPr>
          <a:xfrm xmlns:a="http://schemas.openxmlformats.org/drawingml/2006/main">
            <a:off x="3238500" y="3333750"/>
            <a:ext cx="8524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400">
                <a:solidFill>
                  <a:srgbClr val="003F6B"/>
                </a:solidFill>
              </a:defRPr>
            </a:pPr>
            <a:r>
              <a:rPr sz="2400">
                <a:solidFill>
                  <a:srgbClr val="003F6B"/>
                </a:solidFill>
              </a:rPr>
              <a:t>Termin: 28.10.2026 · 16:30–17:45 · V03 0-C001</a:t>
            </a:r>
          </a:p>
        </p:txBody>
      </p:sp>
      <p:sp>
        <p:nvSpPr>
          <p:cNvPr id="8" name="">
            <a:extLst xmlns:a="http://schemas.openxmlformats.org/drawingml/2006/main">
              <a:ext uri="{FF2B5EF4-FFF2-40B4-BE49-F238E27FC236}">
                <a16:creationId xmlns:a16="http://schemas.microsoft.com/office/drawing/2014/main" id="{BB763143-F115-461E-962E-07B40559A096}"/>
              </a:ext>
            </a:extLst>
          </p:cNvPr>
          <p:cNvSpPr>
            <a:spLocks xmlns:a="http://schemas.openxmlformats.org/drawingml/2006/main" noGrp="1"/>
          </p:cNvSpPr>
          <p:nvPr/>
        </p:nvSpPr>
        <p:spPr>
          <a:xfrm xmlns:a="http://schemas.openxmlformats.org/drawingml/2006/main">
            <a:off x="3238500" y="3752850"/>
            <a:ext cx="8524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400">
                <a:solidFill>
                  <a:srgbClr val="003F6B"/>
                </a:solidFill>
              </a:defRPr>
            </a:pPr>
            <a:r>
              <a:rPr sz="2400">
                <a:solidFill>
                  <a:srgbClr val="003F6B"/>
                </a:solidFill>
              </a:rPr>
              <a:t>Standard, Fehler, Schaden, Kausalität und Beweislast</a:t>
            </a:r>
          </a:p>
        </p:txBody>
      </p:sp>
      <p:sp>
        <p:nvSpPr>
          <p:cNvPr id="9" name="">
            <a:extLst xmlns:a="http://schemas.openxmlformats.org/drawingml/2006/main">
              <a:ext uri="{FF2B5EF4-FFF2-40B4-BE49-F238E27FC236}">
                <a16:creationId xmlns:a16="http://schemas.microsoft.com/office/drawing/2014/main" id="{A2D5FE5C-C58C-4A0E-8BE9-AC78FA9F7A1B}"/>
              </a:ext>
            </a:extLst>
          </p:cNvPr>
          <p:cNvSpPr>
            <a:spLocks xmlns:a="http://schemas.openxmlformats.org/drawingml/2006/main" noGrp="1"/>
          </p:cNvSpPr>
          <p:nvPr/>
        </p:nvSpPr>
        <p:spPr>
          <a:xfrm xmlns:a="http://schemas.openxmlformats.org/drawingml/2006/main">
            <a:off x="3238500" y="4552950"/>
            <a:ext cx="8524875"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400">
                <a:solidFill>
                  <a:srgbClr val="003F6B"/>
                </a:solidFill>
              </a:defRPr>
            </a:pPr>
            <a:r>
              <a:rPr sz="2400">
                <a:solidFill>
                  <a:srgbClr val="003F6B"/>
                </a:solidFill>
              </a:rPr>
              <a:t>Wann wird aus einem Fehler ein durchsetzbarer Anspruch?</a:t>
            </a:r>
          </a:p>
        </p:txBody>
      </p:sp>
    </p:spTree>
    <p:extLst>
      <p:ext uri="{BB962C8B-B14F-4D97-AF65-F5344CB8AC3E}">
        <p14:creationId xmlns:p14="http://schemas.microsoft.com/office/powerpoint/2010/main" val="43637646"/>
      </p:ext>
    </p:extLst>
  </p:cSld>
</p:sld>
</file>

<file path=ppt/slides/slide68.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Lernziele Termin 03: Arzthaftung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CHECKLISTE · AM ENDE DES HEUTIGEN TERMINS KANN ICH …</a:t>
            </a:r>
            <a:endParaRPr/>
          </a:p>
        </p:txBody>
      </p:sp>
      <p:sp>
        <p:nvSpPr>
          <p:cNvPr id="4" name="">
            <a:extLst xmlns:a="http://schemas.openxmlformats.org/drawingml/2006/main">
              <a:ext uri="{FF2B5EF4-FFF2-40B4-BE49-F238E27FC236}">
                <a16:creationId xmlns:a16="http://schemas.microsoft.com/office/drawing/2014/main" id="{1F6D2A26-D873-4E44-BD14-62652D544934}"/>
              </a:ext>
            </a:extLst>
          </p:cNvPr>
          <p:cNvSpPr>
            <a:spLocks xmlns:a="http://schemas.openxmlformats.org/drawingml/2006/main" noGrp="1"/>
          </p:cNvSpPr>
          <p:nvPr/>
        </p:nvSpPr>
        <p:spPr>
          <a:xfrm xmlns:a="http://schemas.openxmlformats.org/drawingml/2006/main">
            <a:off x="1809750" y="198120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B2BB"/>
            </a:solidFill>
            <a:prstDash val="solid"/>
          </a:ln>
        </p:spPr>
      </p:sp>
      <p:sp>
        <p:nvSpPr>
          <p:cNvPr id="5" name="">
            <a:extLst xmlns:a="http://schemas.openxmlformats.org/drawingml/2006/main">
              <a:ext uri="{FF2B5EF4-FFF2-40B4-BE49-F238E27FC236}">
                <a16:creationId xmlns:a16="http://schemas.microsoft.com/office/drawing/2014/main" id="{AF9E6F4D-A2E9-47B3-941A-54F927E35B53}"/>
              </a:ext>
            </a:extLst>
          </p:cNvPr>
          <p:cNvSpPr>
            <a:spLocks xmlns:a="http://schemas.openxmlformats.org/drawingml/2006/main" noGrp="1"/>
          </p:cNvSpPr>
          <p:nvPr/>
        </p:nvSpPr>
        <p:spPr>
          <a:xfrm xmlns:a="http://schemas.openxmlformats.org/drawingml/2006/main">
            <a:off x="1943100" y="2124075"/>
            <a:ext cx="40005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49BD92E7-022A-45CB-AF85-342FBEF6AFFD}"/>
              </a:ext>
            </a:extLst>
          </p:cNvPr>
          <p:cNvSpPr>
            <a:spLocks xmlns:a="http://schemas.openxmlformats.org/drawingml/2006/main" noGrp="1"/>
          </p:cNvSpPr>
          <p:nvPr/>
        </p:nvSpPr>
        <p:spPr>
          <a:xfrm xmlns:a="http://schemas.openxmlformats.org/drawingml/2006/main">
            <a:off x="1943100" y="21050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7" name="">
            <a:extLst xmlns:a="http://schemas.openxmlformats.org/drawingml/2006/main">
              <a:ext uri="{FF2B5EF4-FFF2-40B4-BE49-F238E27FC236}">
                <a16:creationId xmlns:a16="http://schemas.microsoft.com/office/drawing/2014/main" id="{095251B5-BC4A-4B19-913F-4D85248A5C5A}"/>
              </a:ext>
            </a:extLst>
          </p:cNvPr>
          <p:cNvSpPr>
            <a:spLocks xmlns:a="http://schemas.openxmlformats.org/drawingml/2006/main" noGrp="1"/>
          </p:cNvSpPr>
          <p:nvPr/>
        </p:nvSpPr>
        <p:spPr>
          <a:xfrm xmlns:a="http://schemas.openxmlformats.org/drawingml/2006/main">
            <a:off x="2476500" y="207645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Ansprüche aus §§ 280 Abs. 1 und 823 Abs. 1 BGB prüfen.</a:t>
            </a:r>
          </a:p>
        </p:txBody>
      </p:sp>
      <p:sp>
        <p:nvSpPr>
          <p:cNvPr id="8" name="">
            <a:extLst xmlns:a="http://schemas.openxmlformats.org/drawingml/2006/main">
              <a:ext uri="{FF2B5EF4-FFF2-40B4-BE49-F238E27FC236}">
                <a16:creationId xmlns:a16="http://schemas.microsoft.com/office/drawing/2014/main" id="{0B56EABC-4F45-4661-A2D7-04AC7B143F97}"/>
              </a:ext>
            </a:extLst>
          </p:cNvPr>
          <p:cNvSpPr>
            <a:spLocks xmlns:a="http://schemas.openxmlformats.org/drawingml/2006/main" noGrp="1"/>
          </p:cNvSpPr>
          <p:nvPr/>
        </p:nvSpPr>
        <p:spPr>
          <a:xfrm xmlns:a="http://schemas.openxmlformats.org/drawingml/2006/main">
            <a:off x="6696075" y="198120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3F6B"/>
            </a:solidFill>
            <a:prstDash val="solid"/>
          </a:ln>
        </p:spPr>
      </p:sp>
      <p:sp>
        <p:nvSpPr>
          <p:cNvPr id="9" name="">
            <a:extLst xmlns:a="http://schemas.openxmlformats.org/drawingml/2006/main">
              <a:ext uri="{FF2B5EF4-FFF2-40B4-BE49-F238E27FC236}">
                <a16:creationId xmlns:a16="http://schemas.microsoft.com/office/drawing/2014/main" id="{82C7D92F-66D2-4A04-BBFE-7D7E2678D2FE}"/>
              </a:ext>
            </a:extLst>
          </p:cNvPr>
          <p:cNvSpPr>
            <a:spLocks xmlns:a="http://schemas.openxmlformats.org/drawingml/2006/main" noGrp="1"/>
          </p:cNvSpPr>
          <p:nvPr/>
        </p:nvSpPr>
        <p:spPr>
          <a:xfrm xmlns:a="http://schemas.openxmlformats.org/drawingml/2006/main">
            <a:off x="6829425" y="2124075"/>
            <a:ext cx="4000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5D655971-ECA0-41B0-BE53-2D07E1633372}"/>
              </a:ext>
            </a:extLst>
          </p:cNvPr>
          <p:cNvSpPr>
            <a:spLocks xmlns:a="http://schemas.openxmlformats.org/drawingml/2006/main" noGrp="1"/>
          </p:cNvSpPr>
          <p:nvPr/>
        </p:nvSpPr>
        <p:spPr>
          <a:xfrm xmlns:a="http://schemas.openxmlformats.org/drawingml/2006/main">
            <a:off x="6829425" y="21050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11" name="">
            <a:extLst xmlns:a="http://schemas.openxmlformats.org/drawingml/2006/main">
              <a:ext uri="{FF2B5EF4-FFF2-40B4-BE49-F238E27FC236}">
                <a16:creationId xmlns:a16="http://schemas.microsoft.com/office/drawing/2014/main" id="{7F345178-869A-4EA9-87EC-01A72CEE1A86}"/>
              </a:ext>
            </a:extLst>
          </p:cNvPr>
          <p:cNvSpPr>
            <a:spLocks xmlns:a="http://schemas.openxmlformats.org/drawingml/2006/main" noGrp="1"/>
          </p:cNvSpPr>
          <p:nvPr/>
        </p:nvSpPr>
        <p:spPr>
          <a:xfrm xmlns:a="http://schemas.openxmlformats.org/drawingml/2006/main">
            <a:off x="7362825" y="207645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Behandlungsstandard, Fehler, Schaden und Kausalität trennen.</a:t>
            </a:r>
          </a:p>
        </p:txBody>
      </p:sp>
      <p:sp>
        <p:nvSpPr>
          <p:cNvPr id="12" name="">
            <a:extLst xmlns:a="http://schemas.openxmlformats.org/drawingml/2006/main">
              <a:ext uri="{FF2B5EF4-FFF2-40B4-BE49-F238E27FC236}">
                <a16:creationId xmlns:a16="http://schemas.microsoft.com/office/drawing/2014/main" id="{9B4733DB-D15A-4259-9847-C9EE3A8F4292}"/>
              </a:ext>
            </a:extLst>
          </p:cNvPr>
          <p:cNvSpPr>
            <a:spLocks xmlns:a="http://schemas.openxmlformats.org/drawingml/2006/main" noGrp="1"/>
          </p:cNvSpPr>
          <p:nvPr/>
        </p:nvSpPr>
        <p:spPr>
          <a:xfrm xmlns:a="http://schemas.openxmlformats.org/drawingml/2006/main">
            <a:off x="1809750" y="316865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B2BB"/>
            </a:solidFill>
            <a:prstDash val="solid"/>
          </a:ln>
        </p:spPr>
      </p:sp>
      <p:sp>
        <p:nvSpPr>
          <p:cNvPr id="13" name="">
            <a:extLst xmlns:a="http://schemas.openxmlformats.org/drawingml/2006/main">
              <a:ext uri="{FF2B5EF4-FFF2-40B4-BE49-F238E27FC236}">
                <a16:creationId xmlns:a16="http://schemas.microsoft.com/office/drawing/2014/main" id="{9C469BDD-F47A-49B8-A8F9-6D2EE1CC94C6}"/>
              </a:ext>
            </a:extLst>
          </p:cNvPr>
          <p:cNvSpPr>
            <a:spLocks xmlns:a="http://schemas.openxmlformats.org/drawingml/2006/main" noGrp="1"/>
          </p:cNvSpPr>
          <p:nvPr/>
        </p:nvSpPr>
        <p:spPr>
          <a:xfrm xmlns:a="http://schemas.openxmlformats.org/drawingml/2006/main">
            <a:off x="1943100" y="3311525"/>
            <a:ext cx="40005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FF1BED27-9D1A-420B-8E60-1EF31F3CFCAA}"/>
              </a:ext>
            </a:extLst>
          </p:cNvPr>
          <p:cNvSpPr>
            <a:spLocks xmlns:a="http://schemas.openxmlformats.org/drawingml/2006/main" noGrp="1"/>
          </p:cNvSpPr>
          <p:nvPr/>
        </p:nvSpPr>
        <p:spPr>
          <a:xfrm xmlns:a="http://schemas.openxmlformats.org/drawingml/2006/main">
            <a:off x="1943100" y="32924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15" name="">
            <a:extLst xmlns:a="http://schemas.openxmlformats.org/drawingml/2006/main">
              <a:ext uri="{FF2B5EF4-FFF2-40B4-BE49-F238E27FC236}">
                <a16:creationId xmlns:a16="http://schemas.microsoft.com/office/drawing/2014/main" id="{FA76A997-BADC-46EE-AAB4-7C02A3E52199}"/>
              </a:ext>
            </a:extLst>
          </p:cNvPr>
          <p:cNvSpPr>
            <a:spLocks xmlns:a="http://schemas.openxmlformats.org/drawingml/2006/main" noGrp="1"/>
          </p:cNvSpPr>
          <p:nvPr/>
        </p:nvSpPr>
        <p:spPr>
          <a:xfrm xmlns:a="http://schemas.openxmlformats.org/drawingml/2006/main">
            <a:off x="2476500" y="326390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 630a–630h BGB in einer Fallprüfung anwenden.</a:t>
            </a:r>
          </a:p>
        </p:txBody>
      </p:sp>
      <p:sp>
        <p:nvSpPr>
          <p:cNvPr id="16" name="">
            <a:extLst xmlns:a="http://schemas.openxmlformats.org/drawingml/2006/main">
              <a:ext uri="{FF2B5EF4-FFF2-40B4-BE49-F238E27FC236}">
                <a16:creationId xmlns:a16="http://schemas.microsoft.com/office/drawing/2014/main" id="{C292F852-B4E3-4CAB-9F13-0C465C6AC399}"/>
              </a:ext>
            </a:extLst>
          </p:cNvPr>
          <p:cNvSpPr>
            <a:spLocks xmlns:a="http://schemas.openxmlformats.org/drawingml/2006/main" noGrp="1"/>
          </p:cNvSpPr>
          <p:nvPr/>
        </p:nvSpPr>
        <p:spPr>
          <a:xfrm xmlns:a="http://schemas.openxmlformats.org/drawingml/2006/main">
            <a:off x="6696075" y="316865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3F6B"/>
            </a:solidFill>
            <a:prstDash val="solid"/>
          </a:ln>
        </p:spPr>
      </p:sp>
      <p:sp>
        <p:nvSpPr>
          <p:cNvPr id="17" name="">
            <a:extLst xmlns:a="http://schemas.openxmlformats.org/drawingml/2006/main">
              <a:ext uri="{FF2B5EF4-FFF2-40B4-BE49-F238E27FC236}">
                <a16:creationId xmlns:a16="http://schemas.microsoft.com/office/drawing/2014/main" id="{486A027F-27D9-4FE2-9FE2-002EE877E4B5}"/>
              </a:ext>
            </a:extLst>
          </p:cNvPr>
          <p:cNvSpPr>
            <a:spLocks xmlns:a="http://schemas.openxmlformats.org/drawingml/2006/main" noGrp="1"/>
          </p:cNvSpPr>
          <p:nvPr/>
        </p:nvSpPr>
        <p:spPr>
          <a:xfrm xmlns:a="http://schemas.openxmlformats.org/drawingml/2006/main">
            <a:off x="6829425" y="3311525"/>
            <a:ext cx="4000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16D5C132-046F-4729-A37F-354DA355B920}"/>
              </a:ext>
            </a:extLst>
          </p:cNvPr>
          <p:cNvSpPr>
            <a:spLocks xmlns:a="http://schemas.openxmlformats.org/drawingml/2006/main" noGrp="1"/>
          </p:cNvSpPr>
          <p:nvPr/>
        </p:nvSpPr>
        <p:spPr>
          <a:xfrm xmlns:a="http://schemas.openxmlformats.org/drawingml/2006/main">
            <a:off x="6829425" y="32924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19" name="">
            <a:extLst xmlns:a="http://schemas.openxmlformats.org/drawingml/2006/main">
              <a:ext uri="{FF2B5EF4-FFF2-40B4-BE49-F238E27FC236}">
                <a16:creationId xmlns:a16="http://schemas.microsoft.com/office/drawing/2014/main" id="{674BEAB0-D689-4A77-A903-E3C3720D4134}"/>
              </a:ext>
            </a:extLst>
          </p:cNvPr>
          <p:cNvSpPr>
            <a:spLocks xmlns:a="http://schemas.openxmlformats.org/drawingml/2006/main" noGrp="1"/>
          </p:cNvSpPr>
          <p:nvPr/>
        </p:nvSpPr>
        <p:spPr>
          <a:xfrm xmlns:a="http://schemas.openxmlformats.org/drawingml/2006/main">
            <a:off x="7362825" y="326390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Aufklärungs-, Befunderhebungs- und Organisationsfehler unterscheiden.</a:t>
            </a:r>
          </a:p>
        </p:txBody>
      </p:sp>
      <p:sp>
        <p:nvSpPr>
          <p:cNvPr id="20" name="">
            <a:extLst xmlns:a="http://schemas.openxmlformats.org/drawingml/2006/main">
              <a:ext uri="{FF2B5EF4-FFF2-40B4-BE49-F238E27FC236}">
                <a16:creationId xmlns:a16="http://schemas.microsoft.com/office/drawing/2014/main" id="{DC1F1D02-5C42-4CB5-8083-F75CA2CB5816}"/>
              </a:ext>
            </a:extLst>
          </p:cNvPr>
          <p:cNvSpPr>
            <a:spLocks xmlns:a="http://schemas.openxmlformats.org/drawingml/2006/main" noGrp="1"/>
          </p:cNvSpPr>
          <p:nvPr/>
        </p:nvSpPr>
        <p:spPr>
          <a:xfrm xmlns:a="http://schemas.openxmlformats.org/drawingml/2006/main">
            <a:off x="1809750" y="435610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B2BB"/>
            </a:solidFill>
            <a:prstDash val="solid"/>
          </a:ln>
        </p:spPr>
      </p:sp>
      <p:sp>
        <p:nvSpPr>
          <p:cNvPr id="21" name="">
            <a:extLst xmlns:a="http://schemas.openxmlformats.org/drawingml/2006/main">
              <a:ext uri="{FF2B5EF4-FFF2-40B4-BE49-F238E27FC236}">
                <a16:creationId xmlns:a16="http://schemas.microsoft.com/office/drawing/2014/main" id="{E4A87F67-0F16-4216-A56F-2041E0085491}"/>
              </a:ext>
            </a:extLst>
          </p:cNvPr>
          <p:cNvSpPr>
            <a:spLocks xmlns:a="http://schemas.openxmlformats.org/drawingml/2006/main" noGrp="1"/>
          </p:cNvSpPr>
          <p:nvPr/>
        </p:nvSpPr>
        <p:spPr>
          <a:xfrm xmlns:a="http://schemas.openxmlformats.org/drawingml/2006/main">
            <a:off x="1943100" y="4498975"/>
            <a:ext cx="40005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2" name="">
            <a:extLst xmlns:a="http://schemas.openxmlformats.org/drawingml/2006/main">
              <a:ext uri="{FF2B5EF4-FFF2-40B4-BE49-F238E27FC236}">
                <a16:creationId xmlns:a16="http://schemas.microsoft.com/office/drawing/2014/main" id="{63CB584A-3552-41FD-926B-57B61D4286B9}"/>
              </a:ext>
            </a:extLst>
          </p:cNvPr>
          <p:cNvSpPr>
            <a:spLocks xmlns:a="http://schemas.openxmlformats.org/drawingml/2006/main" noGrp="1"/>
          </p:cNvSpPr>
          <p:nvPr/>
        </p:nvSpPr>
        <p:spPr>
          <a:xfrm xmlns:a="http://schemas.openxmlformats.org/drawingml/2006/main">
            <a:off x="1943100" y="44799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23" name="">
            <a:extLst xmlns:a="http://schemas.openxmlformats.org/drawingml/2006/main">
              <a:ext uri="{FF2B5EF4-FFF2-40B4-BE49-F238E27FC236}">
                <a16:creationId xmlns:a16="http://schemas.microsoft.com/office/drawing/2014/main" id="{6FDF3F7B-DA0C-48E1-8FDD-FA4BB62D1241}"/>
              </a:ext>
            </a:extLst>
          </p:cNvPr>
          <p:cNvSpPr>
            <a:spLocks xmlns:a="http://schemas.openxmlformats.org/drawingml/2006/main" noGrp="1"/>
          </p:cNvSpPr>
          <p:nvPr/>
        </p:nvSpPr>
        <p:spPr>
          <a:xfrm xmlns:a="http://schemas.openxmlformats.org/drawingml/2006/main">
            <a:off x="2476500" y="445135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Beweislastregeln des § 630h BGB Schritt für Schritt erklären.</a:t>
            </a:r>
          </a:p>
        </p:txBody>
      </p:sp>
      <p:sp>
        <p:nvSpPr>
          <p:cNvPr id="24" name="">
            <a:extLst xmlns:a="http://schemas.openxmlformats.org/drawingml/2006/main">
              <a:ext uri="{FF2B5EF4-FFF2-40B4-BE49-F238E27FC236}">
                <a16:creationId xmlns:a16="http://schemas.microsoft.com/office/drawing/2014/main" id="{92C8B0A2-8ED1-4E15-919B-F3C36796D9F5}"/>
              </a:ext>
            </a:extLst>
          </p:cNvPr>
          <p:cNvSpPr>
            <a:spLocks xmlns:a="http://schemas.openxmlformats.org/drawingml/2006/main" noGrp="1"/>
          </p:cNvSpPr>
          <p:nvPr/>
        </p:nvSpPr>
        <p:spPr>
          <a:xfrm xmlns:a="http://schemas.openxmlformats.org/drawingml/2006/main">
            <a:off x="6696075" y="435610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3F6B"/>
            </a:solidFill>
            <a:prstDash val="solid"/>
          </a:ln>
        </p:spPr>
      </p:sp>
      <p:sp>
        <p:nvSpPr>
          <p:cNvPr id="25" name="">
            <a:extLst xmlns:a="http://schemas.openxmlformats.org/drawingml/2006/main">
              <a:ext uri="{FF2B5EF4-FFF2-40B4-BE49-F238E27FC236}">
                <a16:creationId xmlns:a16="http://schemas.microsoft.com/office/drawing/2014/main" id="{90AED6E0-90B7-4B59-BE31-CB860F47BDED}"/>
              </a:ext>
            </a:extLst>
          </p:cNvPr>
          <p:cNvSpPr>
            <a:spLocks xmlns:a="http://schemas.openxmlformats.org/drawingml/2006/main" noGrp="1"/>
          </p:cNvSpPr>
          <p:nvPr/>
        </p:nvSpPr>
        <p:spPr>
          <a:xfrm xmlns:a="http://schemas.openxmlformats.org/drawingml/2006/main">
            <a:off x="6829425" y="4498975"/>
            <a:ext cx="4000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26" name="">
            <a:extLst xmlns:a="http://schemas.openxmlformats.org/drawingml/2006/main">
              <a:ext uri="{FF2B5EF4-FFF2-40B4-BE49-F238E27FC236}">
                <a16:creationId xmlns:a16="http://schemas.microsoft.com/office/drawing/2014/main" id="{2B20D3D3-EE79-46C5-82CB-7336D6872F1E}"/>
              </a:ext>
            </a:extLst>
          </p:cNvPr>
          <p:cNvSpPr>
            <a:spLocks xmlns:a="http://schemas.openxmlformats.org/drawingml/2006/main" noGrp="1"/>
          </p:cNvSpPr>
          <p:nvPr/>
        </p:nvSpPr>
        <p:spPr>
          <a:xfrm xmlns:a="http://schemas.openxmlformats.org/drawingml/2006/main">
            <a:off x="6829425" y="44799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27" name="">
            <a:extLst xmlns:a="http://schemas.openxmlformats.org/drawingml/2006/main">
              <a:ext uri="{FF2B5EF4-FFF2-40B4-BE49-F238E27FC236}">
                <a16:creationId xmlns:a16="http://schemas.microsoft.com/office/drawing/2014/main" id="{70123875-466B-4A9E-B724-C52A44C0D9C0}"/>
              </a:ext>
            </a:extLst>
          </p:cNvPr>
          <p:cNvSpPr>
            <a:spLocks xmlns:a="http://schemas.openxmlformats.org/drawingml/2006/main" noGrp="1"/>
          </p:cNvSpPr>
          <p:nvPr/>
        </p:nvSpPr>
        <p:spPr>
          <a:xfrm xmlns:a="http://schemas.openxmlformats.org/drawingml/2006/main">
            <a:off x="7362825" y="445135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einen Haftungsfall mit Anspruchsaufbau und Einwendungen lösen.</a:t>
            </a:r>
          </a:p>
        </p:txBody>
      </p:sp>
      <p:sp>
        <p:nvSpPr>
          <p:cNvPr id="28" name="">
            <a:extLst xmlns:a="http://schemas.openxmlformats.org/drawingml/2006/main">
              <a:ext uri="{FF2B5EF4-FFF2-40B4-BE49-F238E27FC236}">
                <a16:creationId xmlns:a16="http://schemas.microsoft.com/office/drawing/2014/main" id="{38FB3ABB-40DB-4D41-B1D9-82FF2CFE19E1}"/>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638">
                <a:solidFill>
                  <a:srgbClr val="667680"/>
                </a:solidFill>
              </a:defRPr>
            </a:pPr>
            <a:r>
              <a:rPr sz="638">
                <a:solidFill>
                  <a:srgbClr val="667680"/>
                </a:solidFill>
              </a:rPr>
              <a:t>Lernziele aus Seminarbeschreibung und Vorlesungsstruktur abgeleitet · https://elearning.uni-oldenburg.de/dispatch.php/course/details/index/64fffee6d869d134c6683909368deed9?cancel_login=1</a:t>
            </a:r>
          </a:p>
        </p:txBody>
      </p:sp>
    </p:spTree>
    <p:extLst>
      <p:ext uri="{BB962C8B-B14F-4D97-AF65-F5344CB8AC3E}">
        <p14:creationId xmlns:p14="http://schemas.microsoft.com/office/powerpoint/2010/main" val="43637646"/>
      </p:ext>
    </p:extLst>
  </p:cSld>
</p:sld>
</file>

<file path=ppt/slides/slide69.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Leitentscheidung · Grober Behandlungsfehler und Kausalitätsbeweis</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ORIGINALENTSCHEIDUNG · TERMIN 03</a:t>
            </a:r>
            <a:endParaRPr/>
          </a:p>
        </p:txBody>
      </p:sp>
      <p:sp>
        <p:nvSpPr>
          <p:cNvPr id="4" name="">
            <a:extLst xmlns:a="http://schemas.openxmlformats.org/drawingml/2006/main">
              <a:ext uri="{FF2B5EF4-FFF2-40B4-BE49-F238E27FC236}">
                <a16:creationId xmlns:a16="http://schemas.microsoft.com/office/drawing/2014/main" id="{F0FB7573-8264-4A0C-A9B4-7CCF62BD1454}"/>
              </a:ext>
            </a:extLst>
          </p:cNvPr>
          <p:cNvSpPr>
            <a:spLocks xmlns:a="http://schemas.openxmlformats.org/drawingml/2006/main" noGrp="1"/>
          </p:cNvSpPr>
          <p:nvPr/>
        </p:nvSpPr>
        <p:spPr>
          <a:xfrm xmlns:a="http://schemas.openxmlformats.org/drawingml/2006/main">
            <a:off x="1809750" y="1943100"/>
            <a:ext cx="11239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5D9F07CB-67D8-4339-B543-DF6A37930AC3}"/>
              </a:ext>
            </a:extLst>
          </p:cNvPr>
          <p:cNvSpPr>
            <a:spLocks xmlns:a="http://schemas.openxmlformats.org/drawingml/2006/main" noGrp="1"/>
          </p:cNvSpPr>
          <p:nvPr/>
        </p:nvSpPr>
        <p:spPr>
          <a:xfrm xmlns:a="http://schemas.openxmlformats.org/drawingml/2006/main">
            <a:off x="1809750" y="1943100"/>
            <a:ext cx="1123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38" b="1">
                <a:solidFill>
                  <a:srgbClr val="FFFFFF"/>
                </a:solidFill>
              </a:defRPr>
            </a:pPr>
            <a:r>
              <a:rPr sz="938" b="1">
                <a:solidFill>
                  <a:srgbClr val="FFFFFF"/>
                </a:solidFill>
              </a:rPr>
              <a:t>BGH</a:t>
            </a:r>
          </a:p>
        </p:txBody>
      </p:sp>
      <p:sp>
        <p:nvSpPr>
          <p:cNvPr id="6" name="">
            <a:extLst xmlns:a="http://schemas.openxmlformats.org/drawingml/2006/main">
              <a:ext uri="{FF2B5EF4-FFF2-40B4-BE49-F238E27FC236}">
                <a16:creationId xmlns:a16="http://schemas.microsoft.com/office/drawing/2014/main" id="{59C4DC28-61D4-468E-B4D9-72871FC2BE96}"/>
              </a:ext>
            </a:extLst>
          </p:cNvPr>
          <p:cNvSpPr>
            <a:spLocks xmlns:a="http://schemas.openxmlformats.org/drawingml/2006/main" noGrp="1"/>
          </p:cNvSpPr>
          <p:nvPr/>
        </p:nvSpPr>
        <p:spPr>
          <a:xfrm xmlns:a="http://schemas.openxmlformats.org/drawingml/2006/main">
            <a:off x="312420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27.04.2004 · VI ZR 34/03</a:t>
            </a:r>
          </a:p>
        </p:txBody>
      </p:sp>
      <p:sp>
        <p:nvSpPr>
          <p:cNvPr id="7" name="">
            <a:extLst xmlns:a="http://schemas.openxmlformats.org/drawingml/2006/main">
              <a:ext uri="{FF2B5EF4-FFF2-40B4-BE49-F238E27FC236}">
                <a16:creationId xmlns:a16="http://schemas.microsoft.com/office/drawing/2014/main" id="{77162C1B-8A5C-4BD3-9342-D2D129CF27B8}"/>
              </a:ext>
            </a:extLst>
          </p:cNvPr>
          <p:cNvSpPr>
            <a:spLocks xmlns:a="http://schemas.openxmlformats.org/drawingml/2006/main" noGrp="1"/>
          </p:cNvSpPr>
          <p:nvPr/>
        </p:nvSpPr>
        <p:spPr>
          <a:xfrm xmlns:a="http://schemas.openxmlformats.org/drawingml/2006/main">
            <a:off x="733425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050">
                <a:solidFill>
                  <a:srgbClr val="667680"/>
                </a:solidFill>
              </a:defRPr>
            </a:pPr>
            <a:r>
              <a:rPr sz="1050">
                <a:solidFill>
                  <a:srgbClr val="667680"/>
                </a:solidFill>
              </a:rPr>
              <a:t>Beweislastumkehr ist eine praktische Schlüsselfrage</a:t>
            </a:r>
          </a:p>
        </p:txBody>
      </p:sp>
      <p:sp>
        <p:nvSpPr>
          <p:cNvPr id="8" name="">
            <a:extLst xmlns:a="http://schemas.openxmlformats.org/drawingml/2006/main">
              <a:ext uri="{FF2B5EF4-FFF2-40B4-BE49-F238E27FC236}">
                <a16:creationId xmlns:a16="http://schemas.microsoft.com/office/drawing/2014/main" id="{CB9F88B8-A799-43F4-98DF-4DAADDCC6528}"/>
              </a:ext>
            </a:extLst>
          </p:cNvPr>
          <p:cNvSpPr>
            <a:spLocks xmlns:a="http://schemas.openxmlformats.org/drawingml/2006/main" noGrp="1"/>
          </p:cNvSpPr>
          <p:nvPr/>
        </p:nvSpPr>
        <p:spPr>
          <a:xfrm xmlns:a="http://schemas.openxmlformats.org/drawingml/2006/main">
            <a:off x="1809750" y="2533650"/>
            <a:ext cx="1676400" cy="781050"/>
          </a:xfrm>
          <a:prstGeom xmlns:a="http://schemas.openxmlformats.org/drawingml/2006/main" prst="roundRect">
            <a:avLst>
              <a:gd name="adj" fmla="val 9756"/>
            </a:avLst>
          </a:prstGeom>
          <a:solidFill xmlns:a="http://schemas.openxmlformats.org/drawingml/2006/main">
            <a:srgbClr val="00B2BB"/>
          </a:solidFill>
          <a:ln xmlns:a="http://schemas.openxmlformats.org/drawingml/2006/main" w="0">
            <a:solidFill>
              <a:srgbClr val="00B2BB"/>
            </a:solidFill>
            <a:prstDash val="solid"/>
          </a:ln>
        </p:spPr>
      </p:sp>
      <p:sp>
        <p:nvSpPr>
          <p:cNvPr id="9" name="">
            <a:extLst xmlns:a="http://schemas.openxmlformats.org/drawingml/2006/main">
              <a:ext uri="{FF2B5EF4-FFF2-40B4-BE49-F238E27FC236}">
                <a16:creationId xmlns:a16="http://schemas.microsoft.com/office/drawing/2014/main" id="{627031F1-BD36-4E6A-9EB7-CABBE65077BD}"/>
              </a:ext>
            </a:extLst>
          </p:cNvPr>
          <p:cNvSpPr>
            <a:spLocks xmlns:a="http://schemas.openxmlformats.org/drawingml/2006/main" noGrp="1"/>
          </p:cNvSpPr>
          <p:nvPr/>
        </p:nvSpPr>
        <p:spPr>
          <a:xfrm xmlns:a="http://schemas.openxmlformats.org/drawingml/2006/main">
            <a:off x="1924050" y="25336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Ausgangsfall</a:t>
            </a:r>
          </a:p>
        </p:txBody>
      </p:sp>
      <p:sp>
        <p:nvSpPr>
          <p:cNvPr id="10" name="">
            <a:extLst xmlns:a="http://schemas.openxmlformats.org/drawingml/2006/main">
              <a:ext uri="{FF2B5EF4-FFF2-40B4-BE49-F238E27FC236}">
                <a16:creationId xmlns:a16="http://schemas.microsoft.com/office/drawing/2014/main" id="{35FD3B13-1F1B-463A-9A79-68BCACADAFA0}"/>
              </a:ext>
            </a:extLst>
          </p:cNvPr>
          <p:cNvSpPr>
            <a:spLocks xmlns:a="http://schemas.openxmlformats.org/drawingml/2006/main" noGrp="1"/>
          </p:cNvSpPr>
          <p:nvPr/>
        </p:nvSpPr>
        <p:spPr>
          <a:xfrm xmlns:a="http://schemas.openxmlformats.org/drawingml/2006/main">
            <a:off x="3695700" y="25336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Nach einer objektiv schwerwiegenden Standardabweichung war streitig, ob gerade der Fehler den eingetretenen Gesundheitsschaden verursacht hatte.</a:t>
            </a:r>
          </a:p>
        </p:txBody>
      </p:sp>
      <p:sp>
        <p:nvSpPr>
          <p:cNvPr id="11" name="">
            <a:extLst xmlns:a="http://schemas.openxmlformats.org/drawingml/2006/main">
              <a:ext uri="{FF2B5EF4-FFF2-40B4-BE49-F238E27FC236}">
                <a16:creationId xmlns:a16="http://schemas.microsoft.com/office/drawing/2014/main" id="{CCAFB30A-74C6-4B92-BE30-20E7A3E0936F}"/>
              </a:ext>
            </a:extLst>
          </p:cNvPr>
          <p:cNvSpPr>
            <a:spLocks xmlns:a="http://schemas.openxmlformats.org/drawingml/2006/main" noGrp="1"/>
          </p:cNvSpPr>
          <p:nvPr/>
        </p:nvSpPr>
        <p:spPr>
          <a:xfrm xmlns:a="http://schemas.openxmlformats.org/drawingml/2006/main">
            <a:off x="1809750" y="3486150"/>
            <a:ext cx="1676400" cy="781050"/>
          </a:xfrm>
          <a:prstGeom xmlns:a="http://schemas.openxmlformats.org/drawingml/2006/main" prst="roundRect">
            <a:avLst>
              <a:gd name="adj" fmla="val 9756"/>
            </a:avLst>
          </a:prstGeom>
          <a:solidFill xmlns:a="http://schemas.openxmlformats.org/drawingml/2006/main">
            <a:srgbClr val="003F6B"/>
          </a:solidFill>
          <a:ln xmlns:a="http://schemas.openxmlformats.org/drawingml/2006/main" w="0">
            <a:solidFill>
              <a:srgbClr val="003F6B"/>
            </a:solidFill>
            <a:prstDash val="solid"/>
          </a:ln>
        </p:spPr>
      </p:sp>
      <p:sp>
        <p:nvSpPr>
          <p:cNvPr id="12" name="">
            <a:extLst xmlns:a="http://schemas.openxmlformats.org/drawingml/2006/main">
              <a:ext uri="{FF2B5EF4-FFF2-40B4-BE49-F238E27FC236}">
                <a16:creationId xmlns:a16="http://schemas.microsoft.com/office/drawing/2014/main" id="{96DA091C-B2FD-4054-9931-2DB3B63EB540}"/>
              </a:ext>
            </a:extLst>
          </p:cNvPr>
          <p:cNvSpPr>
            <a:spLocks xmlns:a="http://schemas.openxmlformats.org/drawingml/2006/main" noGrp="1"/>
          </p:cNvSpPr>
          <p:nvPr/>
        </p:nvSpPr>
        <p:spPr>
          <a:xfrm xmlns:a="http://schemas.openxmlformats.org/drawingml/2006/main">
            <a:off x="1924050" y="34861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Leitsatzkern</a:t>
            </a:r>
          </a:p>
        </p:txBody>
      </p:sp>
      <p:sp>
        <p:nvSpPr>
          <p:cNvPr id="13" name="">
            <a:extLst xmlns:a="http://schemas.openxmlformats.org/drawingml/2006/main">
              <a:ext uri="{FF2B5EF4-FFF2-40B4-BE49-F238E27FC236}">
                <a16:creationId xmlns:a16="http://schemas.microsoft.com/office/drawing/2014/main" id="{F5F8FC62-B93C-4E0F-BC45-27C0FD7933EB}"/>
              </a:ext>
            </a:extLst>
          </p:cNvPr>
          <p:cNvSpPr>
            <a:spLocks xmlns:a="http://schemas.openxmlformats.org/drawingml/2006/main" noGrp="1"/>
          </p:cNvSpPr>
          <p:nvPr/>
        </p:nvSpPr>
        <p:spPr>
          <a:xfrm xmlns:a="http://schemas.openxmlformats.org/drawingml/2006/main">
            <a:off x="3695700" y="34861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Leitsatzkern (paraphrasiert): Ein grober Behandlungsfehler kann den Kausalitätsbeweis umkehren, wenn er generell geeignet ist, den Schaden herbeizuführen; der konkrete Verlauf muss nicht besonders wahrscheinlich sein.</a:t>
            </a:r>
          </a:p>
        </p:txBody>
      </p:sp>
      <p:sp>
        <p:nvSpPr>
          <p:cNvPr id="14" name="">
            <a:extLst xmlns:a="http://schemas.openxmlformats.org/drawingml/2006/main">
              <a:ext uri="{FF2B5EF4-FFF2-40B4-BE49-F238E27FC236}">
                <a16:creationId xmlns:a16="http://schemas.microsoft.com/office/drawing/2014/main" id="{F71EDDD5-2F70-43B7-AEE2-E153DF82B7C5}"/>
              </a:ext>
            </a:extLst>
          </p:cNvPr>
          <p:cNvSpPr>
            <a:spLocks xmlns:a="http://schemas.openxmlformats.org/drawingml/2006/main" noGrp="1"/>
          </p:cNvSpPr>
          <p:nvPr/>
        </p:nvSpPr>
        <p:spPr>
          <a:xfrm xmlns:a="http://schemas.openxmlformats.org/drawingml/2006/main">
            <a:off x="1809750" y="4438650"/>
            <a:ext cx="1676400" cy="781050"/>
          </a:xfrm>
          <a:prstGeom xmlns:a="http://schemas.openxmlformats.org/drawingml/2006/main" prst="roundRect">
            <a:avLst>
              <a:gd name="adj" fmla="val 9756"/>
            </a:avLst>
          </a:prstGeom>
          <a:solidFill xmlns:a="http://schemas.openxmlformats.org/drawingml/2006/main">
            <a:srgbClr val="00B2BB"/>
          </a:solidFill>
          <a:ln xmlns:a="http://schemas.openxmlformats.org/drawingml/2006/main" w="0">
            <a:solidFill>
              <a:srgbClr val="00B2BB"/>
            </a:solidFill>
            <a:prstDash val="solid"/>
          </a:ln>
        </p:spPr>
      </p:sp>
      <p:sp>
        <p:nvSpPr>
          <p:cNvPr id="15" name="">
            <a:extLst xmlns:a="http://schemas.openxmlformats.org/drawingml/2006/main">
              <a:ext uri="{FF2B5EF4-FFF2-40B4-BE49-F238E27FC236}">
                <a16:creationId xmlns:a16="http://schemas.microsoft.com/office/drawing/2014/main" id="{47C9290B-4CB4-4EC7-910B-F303EA78EA98}"/>
              </a:ext>
            </a:extLst>
          </p:cNvPr>
          <p:cNvSpPr>
            <a:spLocks xmlns:a="http://schemas.openxmlformats.org/drawingml/2006/main" noGrp="1"/>
          </p:cNvSpPr>
          <p:nvPr/>
        </p:nvSpPr>
        <p:spPr>
          <a:xfrm xmlns:a="http://schemas.openxmlformats.org/drawingml/2006/main">
            <a:off x="1924050" y="44386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Für die Praxis</a:t>
            </a:r>
          </a:p>
        </p:txBody>
      </p:sp>
      <p:sp>
        <p:nvSpPr>
          <p:cNvPr id="16" name="">
            <a:extLst xmlns:a="http://schemas.openxmlformats.org/drawingml/2006/main">
              <a:ext uri="{FF2B5EF4-FFF2-40B4-BE49-F238E27FC236}">
                <a16:creationId xmlns:a16="http://schemas.microsoft.com/office/drawing/2014/main" id="{23CBD3A7-8BF5-4A15-A4CE-156A5EB48B51}"/>
              </a:ext>
            </a:extLst>
          </p:cNvPr>
          <p:cNvSpPr>
            <a:spLocks xmlns:a="http://schemas.openxmlformats.org/drawingml/2006/main" noGrp="1"/>
          </p:cNvSpPr>
          <p:nvPr/>
        </p:nvSpPr>
        <p:spPr>
          <a:xfrm xmlns:a="http://schemas.openxmlformats.org/drawingml/2006/main">
            <a:off x="3695700" y="44386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‚Grob‘ ist keine moralische Beschimpfung, sondern eine juristische Wertung auf sachverständig geklärter medizinischer Grundlage.</a:t>
            </a:r>
          </a:p>
        </p:txBody>
      </p:sp>
      <p:sp>
        <p:nvSpPr>
          <p:cNvPr id="17" name="">
            <a:extLst xmlns:a="http://schemas.openxmlformats.org/drawingml/2006/main">
              <a:ext uri="{FF2B5EF4-FFF2-40B4-BE49-F238E27FC236}">
                <a16:creationId xmlns:a16="http://schemas.microsoft.com/office/drawing/2014/main" id="{81D536F2-1567-420C-A90F-474447F7EAC6}"/>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638">
                <a:solidFill>
                  <a:srgbClr val="667680"/>
                </a:solidFill>
              </a:defRPr>
            </a:pPr>
            <a:r>
              <a:rPr sz="638">
                <a:solidFill>
                  <a:srgbClr val="667680"/>
                </a:solidFill>
              </a:rPr>
              <a:t>BGH, Urt. v. 27.04.2004 – VI ZR 34/03 · https://juris.bundesgerichtshof.de/cgi-bin/rechtsprechung/document.py?Art=en&amp;Blank=1.pdf&amp;Datum=2004-4&amp;Gericht=bgh&amp;Seite=6&amp;Sort=6&amp;anz=228&amp;nr=29360&amp;pos=182</a:t>
            </a:r>
          </a:p>
        </p:txBody>
      </p:sp>
    </p:spTree>
    <p:extLst>
      <p:ext uri="{BB962C8B-B14F-4D97-AF65-F5344CB8AC3E}">
        <p14:creationId xmlns:p14="http://schemas.microsoft.com/office/powerpoint/2010/main" val="43637646"/>
      </p:ext>
    </p:extLst>
  </p:cSld>
</p:sld>
</file>

<file path=ppt/slides/slide70.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Behandlungsvertrag und Standard</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GESETZESTEXT · GEKÜRZTER LEHRAUSZUG</a:t>
            </a:r>
            <a:endParaRPr/>
          </a:p>
        </p:txBody>
      </p:sp>
      <p:sp>
        <p:nvSpPr>
          <p:cNvPr id="4" name="">
            <a:extLst xmlns:a="http://schemas.openxmlformats.org/drawingml/2006/main">
              <a:ext uri="{FF2B5EF4-FFF2-40B4-BE49-F238E27FC236}">
                <a16:creationId xmlns:a16="http://schemas.microsoft.com/office/drawing/2014/main" id="{BC03E727-B626-4013-823C-CD47BEA19CD2}"/>
              </a:ext>
            </a:extLst>
          </p:cNvPr>
          <p:cNvSpPr>
            <a:spLocks xmlns:a="http://schemas.openxmlformats.org/drawingml/2006/main" noGrp="1"/>
          </p:cNvSpPr>
          <p:nvPr/>
        </p:nvSpPr>
        <p:spPr>
          <a:xfrm xmlns:a="http://schemas.openxmlformats.org/drawingml/2006/main">
            <a:off x="1809750" y="1943100"/>
            <a:ext cx="4648200" cy="3371850"/>
          </a:xfrm>
          <a:prstGeom xmlns:a="http://schemas.openxmlformats.org/drawingml/2006/main" prst="roundRect">
            <a:avLst>
              <a:gd name="adj" fmla="val 2260"/>
            </a:avLst>
          </a:prstGeom>
          <a:solidFill xmlns:a="http://schemas.openxmlformats.org/drawingml/2006/main">
            <a:srgbClr val="F3F7F9"/>
          </a:solidFill>
          <a:ln xmlns:a="http://schemas.openxmlformats.org/drawingml/2006/main" w="11430">
            <a:solidFill>
              <a:srgbClr val="00B2BB"/>
            </a:solidFill>
            <a:prstDash val="solid"/>
          </a:ln>
        </p:spPr>
      </p:sp>
      <p:sp>
        <p:nvSpPr>
          <p:cNvPr id="5" name="">
            <a:extLst xmlns:a="http://schemas.openxmlformats.org/drawingml/2006/main">
              <a:ext uri="{FF2B5EF4-FFF2-40B4-BE49-F238E27FC236}">
                <a16:creationId xmlns:a16="http://schemas.microsoft.com/office/drawing/2014/main" id="{9484BE76-F29B-4F02-A3C3-6B4807FACE05}"/>
              </a:ext>
            </a:extLst>
          </p:cNvPr>
          <p:cNvSpPr>
            <a:spLocks xmlns:a="http://schemas.openxmlformats.org/drawingml/2006/main" noGrp="1"/>
          </p:cNvSpPr>
          <p:nvPr/>
        </p:nvSpPr>
        <p:spPr>
          <a:xfrm xmlns:a="http://schemas.openxmlformats.org/drawingml/2006/main">
            <a:off x="1943100" y="2076450"/>
            <a:ext cx="1409700" cy="381000"/>
          </a:xfrm>
          <a:prstGeom xmlns:a="http://schemas.openxmlformats.org/drawingml/2006/main" prst="roundRect">
            <a:avLst>
              <a:gd name="adj" fmla="val 20000"/>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4188B5F0-9577-431D-A327-E7262285F651}"/>
              </a:ext>
            </a:extLst>
          </p:cNvPr>
          <p:cNvSpPr>
            <a:spLocks xmlns:a="http://schemas.openxmlformats.org/drawingml/2006/main" noGrp="1"/>
          </p:cNvSpPr>
          <p:nvPr/>
        </p:nvSpPr>
        <p:spPr>
          <a:xfrm xmlns:a="http://schemas.openxmlformats.org/drawingml/2006/main">
            <a:off x="1943100" y="207645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 630a BGB</a:t>
            </a:r>
          </a:p>
        </p:txBody>
      </p:sp>
      <p:sp>
        <p:nvSpPr>
          <p:cNvPr id="7" name="">
            <a:extLst xmlns:a="http://schemas.openxmlformats.org/drawingml/2006/main">
              <a:ext uri="{FF2B5EF4-FFF2-40B4-BE49-F238E27FC236}">
                <a16:creationId xmlns:a16="http://schemas.microsoft.com/office/drawing/2014/main" id="{72D200F8-3F82-47D1-8694-D8B5FEB3F011}"/>
              </a:ext>
            </a:extLst>
          </p:cNvPr>
          <p:cNvSpPr>
            <a:spLocks xmlns:a="http://schemas.openxmlformats.org/drawingml/2006/main" noGrp="1"/>
          </p:cNvSpPr>
          <p:nvPr/>
        </p:nvSpPr>
        <p:spPr>
          <a:xfrm xmlns:a="http://schemas.openxmlformats.org/drawingml/2006/main">
            <a:off x="3486150" y="2057400"/>
            <a:ext cx="2838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Pflichten und Standard</a:t>
            </a:r>
          </a:p>
        </p:txBody>
      </p:sp>
      <p:sp>
        <p:nvSpPr>
          <p:cNvPr id="8" name="">
            <a:extLst xmlns:a="http://schemas.openxmlformats.org/drawingml/2006/main">
              <a:ext uri="{FF2B5EF4-FFF2-40B4-BE49-F238E27FC236}">
                <a16:creationId xmlns:a16="http://schemas.microsoft.com/office/drawing/2014/main" id="{428BC8E0-2522-4559-8C7C-CD7894F07E28}"/>
              </a:ext>
            </a:extLst>
          </p:cNvPr>
          <p:cNvSpPr>
            <a:spLocks xmlns:a="http://schemas.openxmlformats.org/drawingml/2006/main" noGrp="1"/>
          </p:cNvSpPr>
          <p:nvPr/>
        </p:nvSpPr>
        <p:spPr>
          <a:xfrm xmlns:a="http://schemas.openxmlformats.org/drawingml/2006/main">
            <a:off x="1981200" y="2609850"/>
            <a:ext cx="4305300" cy="2533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8">
                <a:solidFill>
                  <a:srgbClr val="15232B"/>
                </a:solidFill>
              </a:defRPr>
            </a:pPr>
            <a:r>
              <a:rPr sz="1148">
                <a:solidFill>
                  <a:srgbClr val="15232B"/>
                </a:solidFill>
              </a:rPr>
              <a:t>(1) Durch den Behandlungsvertrag wird der Behandelnde zur Leistung der versprochenen Behandlung, der Patient zur Gewährung der vereinbarten Vergütung verpflichtet, soweit nicht ein Dritter zur Zahlung verpflichtet ist.</a:t>
            </a:r>
          </a:p>
          <a:p xmlns:a="http://schemas.openxmlformats.org/drawingml/2006/main">
            <a:r>
              <a:t/>
            </a:r>
          </a:p>
          <a:p xmlns:a="http://schemas.openxmlformats.org/drawingml/2006/main">
            <a:pPr>
              <a:buNone/>
              <a:defRPr sz="1148">
                <a:solidFill>
                  <a:srgbClr val="15232B"/>
                </a:solidFill>
              </a:defRPr>
            </a:pPr>
            <a:r>
              <a:rPr sz="1148">
                <a:solidFill>
                  <a:srgbClr val="15232B"/>
                </a:solidFill>
              </a:rPr>
              <a:t>(2) Die Behandlung hat nach den zum Zeitpunkt der Behandlung bestehenden, allgemein anerkannten fachlichen Standards zu erfolgen, soweit nicht etwas anderes vereinbart ist.</a:t>
            </a:r>
          </a:p>
        </p:txBody>
      </p:sp>
      <p:sp>
        <p:nvSpPr>
          <p:cNvPr id="9" name="">
            <a:extLst xmlns:a="http://schemas.openxmlformats.org/drawingml/2006/main">
              <a:ext uri="{FF2B5EF4-FFF2-40B4-BE49-F238E27FC236}">
                <a16:creationId xmlns:a16="http://schemas.microsoft.com/office/drawing/2014/main" id="{78503B4E-02EB-483E-ABCC-AA9B8341BE35}"/>
              </a:ext>
            </a:extLst>
          </p:cNvPr>
          <p:cNvSpPr>
            <a:spLocks xmlns:a="http://schemas.openxmlformats.org/drawingml/2006/main" noGrp="1"/>
          </p:cNvSpPr>
          <p:nvPr/>
        </p:nvSpPr>
        <p:spPr>
          <a:xfrm xmlns:a="http://schemas.openxmlformats.org/drawingml/2006/main">
            <a:off x="6686550" y="1943100"/>
            <a:ext cx="4648200" cy="3371850"/>
          </a:xfrm>
          <a:prstGeom xmlns:a="http://schemas.openxmlformats.org/drawingml/2006/main" prst="roundRect">
            <a:avLst>
              <a:gd name="adj" fmla="val 2260"/>
            </a:avLst>
          </a:prstGeom>
          <a:solidFill xmlns:a="http://schemas.openxmlformats.org/drawingml/2006/main">
            <a:srgbClr val="F3F7F9"/>
          </a:solidFill>
          <a:ln xmlns:a="http://schemas.openxmlformats.org/drawingml/2006/main" w="11430">
            <a:solidFill>
              <a:srgbClr val="003F6B"/>
            </a:solidFill>
            <a:prstDash val="solid"/>
          </a:ln>
        </p:spPr>
      </p:sp>
      <p:sp>
        <p:nvSpPr>
          <p:cNvPr id="10" name="">
            <a:extLst xmlns:a="http://schemas.openxmlformats.org/drawingml/2006/main">
              <a:ext uri="{FF2B5EF4-FFF2-40B4-BE49-F238E27FC236}">
                <a16:creationId xmlns:a16="http://schemas.microsoft.com/office/drawing/2014/main" id="{61734C37-28D1-45D9-A2F7-E973451344A7}"/>
              </a:ext>
            </a:extLst>
          </p:cNvPr>
          <p:cNvSpPr>
            <a:spLocks xmlns:a="http://schemas.openxmlformats.org/drawingml/2006/main" noGrp="1"/>
          </p:cNvSpPr>
          <p:nvPr/>
        </p:nvSpPr>
        <p:spPr>
          <a:xfrm xmlns:a="http://schemas.openxmlformats.org/drawingml/2006/main">
            <a:off x="6819900" y="2076450"/>
            <a:ext cx="1409700" cy="381000"/>
          </a:xfrm>
          <a:prstGeom xmlns:a="http://schemas.openxmlformats.org/drawingml/2006/main" prst="roundRect">
            <a:avLst>
              <a:gd name="adj" fmla="val 20000"/>
            </a:avLst>
          </a:prstGeom>
          <a:solidFill xmlns:a="http://schemas.openxmlformats.org/drawingml/2006/main">
            <a:srgbClr val="003F6B"/>
          </a:solidFill>
          <a:ln xmlns:a="http://schemas.openxmlformats.org/drawingml/2006/main" w="0">
            <a:solidFill>
              <a:srgbClr val="003F6B"/>
            </a:solidFill>
            <a:prstDash val="solid"/>
          </a:ln>
        </p:spPr>
      </p:sp>
      <p:sp>
        <p:nvSpPr>
          <p:cNvPr id="11" name="">
            <a:extLst xmlns:a="http://schemas.openxmlformats.org/drawingml/2006/main">
              <a:ext uri="{FF2B5EF4-FFF2-40B4-BE49-F238E27FC236}">
                <a16:creationId xmlns:a16="http://schemas.microsoft.com/office/drawing/2014/main" id="{547B84FC-8155-4E57-BD7B-73581048EE07}"/>
              </a:ext>
            </a:extLst>
          </p:cNvPr>
          <p:cNvSpPr>
            <a:spLocks xmlns:a="http://schemas.openxmlformats.org/drawingml/2006/main" noGrp="1"/>
          </p:cNvSpPr>
          <p:nvPr/>
        </p:nvSpPr>
        <p:spPr>
          <a:xfrm xmlns:a="http://schemas.openxmlformats.org/drawingml/2006/main">
            <a:off x="6819900" y="207645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 630b BGB</a:t>
            </a:r>
          </a:p>
        </p:txBody>
      </p:sp>
      <p:sp>
        <p:nvSpPr>
          <p:cNvPr id="12" name="">
            <a:extLst xmlns:a="http://schemas.openxmlformats.org/drawingml/2006/main">
              <a:ext uri="{FF2B5EF4-FFF2-40B4-BE49-F238E27FC236}">
                <a16:creationId xmlns:a16="http://schemas.microsoft.com/office/drawing/2014/main" id="{0600B1FD-895B-4CD7-8023-6CA1B221736C}"/>
              </a:ext>
            </a:extLst>
          </p:cNvPr>
          <p:cNvSpPr>
            <a:spLocks xmlns:a="http://schemas.openxmlformats.org/drawingml/2006/main" noGrp="1"/>
          </p:cNvSpPr>
          <p:nvPr/>
        </p:nvSpPr>
        <p:spPr>
          <a:xfrm xmlns:a="http://schemas.openxmlformats.org/drawingml/2006/main">
            <a:off x="8362950" y="2057400"/>
            <a:ext cx="2838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Anwendbares Dienstvertragsrecht</a:t>
            </a:r>
          </a:p>
        </p:txBody>
      </p:sp>
      <p:sp>
        <p:nvSpPr>
          <p:cNvPr id="13" name="">
            <a:extLst xmlns:a="http://schemas.openxmlformats.org/drawingml/2006/main">
              <a:ext uri="{FF2B5EF4-FFF2-40B4-BE49-F238E27FC236}">
                <a16:creationId xmlns:a16="http://schemas.microsoft.com/office/drawing/2014/main" id="{8DDD7C39-F60E-4DB8-8ABE-EBDE126FB46F}"/>
              </a:ext>
            </a:extLst>
          </p:cNvPr>
          <p:cNvSpPr>
            <a:spLocks xmlns:a="http://schemas.openxmlformats.org/drawingml/2006/main" noGrp="1"/>
          </p:cNvSpPr>
          <p:nvPr/>
        </p:nvSpPr>
        <p:spPr>
          <a:xfrm xmlns:a="http://schemas.openxmlformats.org/drawingml/2006/main">
            <a:off x="6858000" y="2609850"/>
            <a:ext cx="4305300" cy="2533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8">
                <a:solidFill>
                  <a:srgbClr val="15232B"/>
                </a:solidFill>
              </a:defRPr>
            </a:pPr>
            <a:r>
              <a:rPr sz="1148">
                <a:solidFill>
                  <a:srgbClr val="15232B"/>
                </a:solidFill>
              </a:rPr>
              <a:t>Auf das Behandlungsverhältnis sind die Vorschriften über das Dienstverhältnis, das kein Arbeitsverhältnis im Sinne des § 622 ist, anzuwenden, soweit in diesem Untertitel nichts anderes bestimmt ist.</a:t>
            </a:r>
          </a:p>
        </p:txBody>
      </p:sp>
      <p:sp>
        <p:nvSpPr>
          <p:cNvPr id="14" name="">
            <a:extLst xmlns:a="http://schemas.openxmlformats.org/drawingml/2006/main">
              <a:ext uri="{FF2B5EF4-FFF2-40B4-BE49-F238E27FC236}">
                <a16:creationId xmlns:a16="http://schemas.microsoft.com/office/drawing/2014/main" id="{D2A69B87-3563-4E9C-911D-C18F5B9A0FDD}"/>
              </a:ext>
            </a:extLst>
          </p:cNvPr>
          <p:cNvSpPr>
            <a:spLocks xmlns:a="http://schemas.openxmlformats.org/drawingml/2006/main" noGrp="1"/>
          </p:cNvSpPr>
          <p:nvPr/>
        </p:nvSpPr>
        <p:spPr>
          <a:xfrm xmlns:a="http://schemas.openxmlformats.org/drawingml/2006/main">
            <a:off x="1809750" y="5619750"/>
            <a:ext cx="9525000" cy="419100"/>
          </a:xfrm>
          <a:prstGeom xmlns:a="http://schemas.openxmlformats.org/drawingml/2006/main" prst="roundRect">
            <a:avLst>
              <a:gd name="adj" fmla="val 18182"/>
            </a:avLst>
          </a:prstGeom>
          <a:noFill xmlns:a="http://schemas.openxmlformats.org/drawingml/2006/main"/>
          <a:ln xmlns:a="http://schemas.openxmlformats.org/drawingml/2006/main" w="11430">
            <a:solidFill>
              <a:srgbClr val="00B2BB"/>
            </a:solidFill>
            <a:prstDash val="solid"/>
          </a:ln>
        </p:spPr>
      </p:sp>
      <p:sp>
        <p:nvSpPr>
          <p:cNvPr id="15" name="">
            <a:extLst xmlns:a="http://schemas.openxmlformats.org/drawingml/2006/main">
              <a:ext uri="{FF2B5EF4-FFF2-40B4-BE49-F238E27FC236}">
                <a16:creationId xmlns:a16="http://schemas.microsoft.com/office/drawing/2014/main" id="{76312CBE-9725-4AE0-895F-EBCF3F690F10}"/>
              </a:ext>
            </a:extLst>
          </p:cNvPr>
          <p:cNvSpPr>
            <a:spLocks xmlns:a="http://schemas.openxmlformats.org/drawingml/2006/main" noGrp="1"/>
          </p:cNvSpPr>
          <p:nvPr/>
        </p:nvSpPr>
        <p:spPr>
          <a:xfrm xmlns:a="http://schemas.openxmlformats.org/drawingml/2006/main">
            <a:off x="1962150" y="5638800"/>
            <a:ext cx="9220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13" b="1">
                <a:solidFill>
                  <a:srgbClr val="003F6B"/>
                </a:solidFill>
              </a:defRPr>
            </a:pPr>
            <a:r>
              <a:rPr sz="1013" b="1">
                <a:solidFill>
                  <a:srgbClr val="003F6B"/>
                </a:solidFill>
              </a:rPr>
              <a:t>Praxislesart: Geschuldet ist grundsätzlich fachgerechtes Bemühen nach ex-ante-Standard, kein bestimmter Heilungserfolg.</a:t>
            </a:r>
          </a:p>
        </p:txBody>
      </p:sp>
      <p:sp>
        <p:nvSpPr>
          <p:cNvPr id="16" name="">
            <a:extLst xmlns:a="http://schemas.openxmlformats.org/drawingml/2006/main">
              <a:ext uri="{FF2B5EF4-FFF2-40B4-BE49-F238E27FC236}">
                <a16:creationId xmlns:a16="http://schemas.microsoft.com/office/drawing/2014/main" id="{A0C98155-A628-4223-A214-7938604B44B1}"/>
              </a:ext>
            </a:extLst>
          </p:cNvPr>
          <p:cNvSpPr>
            <a:spLocks xmlns:a="http://schemas.openxmlformats.org/drawingml/2006/main" noGrp="1"/>
          </p:cNvSpPr>
          <p:nvPr/>
        </p:nvSpPr>
        <p:spPr>
          <a:xfrm xmlns:a="http://schemas.openxmlformats.org/drawingml/2006/main">
            <a:off x="1809750" y="535305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05">
                <a:solidFill>
                  <a:srgbClr val="667680"/>
                </a:solidFill>
              </a:defRPr>
            </a:pPr>
            <a:r>
              <a:rPr sz="705">
                <a:solidFill>
                  <a:srgbClr val="667680"/>
                </a:solidFill>
              </a:rPr>
              <a:t>BMJ/BfJ, gesetze-im-internet.de/bgb/__630a.html und /__630b.html · Abruf/Stand: 20.08.2026 · https://pubmed.ncbi.nlm.nih.gov</a:t>
            </a:r>
          </a:p>
        </p:txBody>
      </p:sp>
    </p:spTree>
    <p:extLst>
      <p:ext uri="{BB962C8B-B14F-4D97-AF65-F5344CB8AC3E}">
        <p14:creationId xmlns:p14="http://schemas.microsoft.com/office/powerpoint/2010/main" val="43637646"/>
      </p:ext>
    </p:extLst>
  </p:cSld>
</p:sld>
</file>

<file path=ppt/slides/slide71.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Einwilligung und Aufklärung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GESETZESTEXT · GEKÜRZTER LEHRAUSZUG</a:t>
            </a:r>
            <a:endParaRPr/>
          </a:p>
        </p:txBody>
      </p:sp>
      <p:sp>
        <p:nvSpPr>
          <p:cNvPr id="4" name="">
            <a:extLst xmlns:a="http://schemas.openxmlformats.org/drawingml/2006/main">
              <a:ext uri="{FF2B5EF4-FFF2-40B4-BE49-F238E27FC236}">
                <a16:creationId xmlns:a16="http://schemas.microsoft.com/office/drawing/2014/main" id="{63ACE67B-5C03-4265-BF68-3C4DCCEE5DAE}"/>
              </a:ext>
            </a:extLst>
          </p:cNvPr>
          <p:cNvSpPr>
            <a:spLocks xmlns:a="http://schemas.openxmlformats.org/drawingml/2006/main" noGrp="1"/>
          </p:cNvSpPr>
          <p:nvPr/>
        </p:nvSpPr>
        <p:spPr>
          <a:xfrm xmlns:a="http://schemas.openxmlformats.org/drawingml/2006/main">
            <a:off x="1809750" y="1943100"/>
            <a:ext cx="4648200" cy="3371850"/>
          </a:xfrm>
          <a:prstGeom xmlns:a="http://schemas.openxmlformats.org/drawingml/2006/main" prst="roundRect">
            <a:avLst>
              <a:gd name="adj" fmla="val 2260"/>
            </a:avLst>
          </a:prstGeom>
          <a:solidFill xmlns:a="http://schemas.openxmlformats.org/drawingml/2006/main">
            <a:srgbClr val="F3F7F9"/>
          </a:solidFill>
          <a:ln xmlns:a="http://schemas.openxmlformats.org/drawingml/2006/main" w="11430">
            <a:solidFill>
              <a:srgbClr val="00B2BB"/>
            </a:solidFill>
            <a:prstDash val="solid"/>
          </a:ln>
        </p:spPr>
      </p:sp>
      <p:sp>
        <p:nvSpPr>
          <p:cNvPr id="5" name="">
            <a:extLst xmlns:a="http://schemas.openxmlformats.org/drawingml/2006/main">
              <a:ext uri="{FF2B5EF4-FFF2-40B4-BE49-F238E27FC236}">
                <a16:creationId xmlns:a16="http://schemas.microsoft.com/office/drawing/2014/main" id="{31FF61D2-B4B5-4F21-B3E3-A8B510CBE34B}"/>
              </a:ext>
            </a:extLst>
          </p:cNvPr>
          <p:cNvSpPr>
            <a:spLocks xmlns:a="http://schemas.openxmlformats.org/drawingml/2006/main" noGrp="1"/>
          </p:cNvSpPr>
          <p:nvPr/>
        </p:nvSpPr>
        <p:spPr>
          <a:xfrm xmlns:a="http://schemas.openxmlformats.org/drawingml/2006/main">
            <a:off x="1943100" y="2076450"/>
            <a:ext cx="1409700" cy="381000"/>
          </a:xfrm>
          <a:prstGeom xmlns:a="http://schemas.openxmlformats.org/drawingml/2006/main" prst="roundRect">
            <a:avLst>
              <a:gd name="adj" fmla="val 20000"/>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5C15C1B6-FF2B-4744-878B-B8B7F6D54258}"/>
              </a:ext>
            </a:extLst>
          </p:cNvPr>
          <p:cNvSpPr>
            <a:spLocks xmlns:a="http://schemas.openxmlformats.org/drawingml/2006/main" noGrp="1"/>
          </p:cNvSpPr>
          <p:nvPr/>
        </p:nvSpPr>
        <p:spPr>
          <a:xfrm xmlns:a="http://schemas.openxmlformats.org/drawingml/2006/main">
            <a:off x="1943100" y="207645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 630d BGB</a:t>
            </a:r>
          </a:p>
        </p:txBody>
      </p:sp>
      <p:sp>
        <p:nvSpPr>
          <p:cNvPr id="7" name="">
            <a:extLst xmlns:a="http://schemas.openxmlformats.org/drawingml/2006/main">
              <a:ext uri="{FF2B5EF4-FFF2-40B4-BE49-F238E27FC236}">
                <a16:creationId xmlns:a16="http://schemas.microsoft.com/office/drawing/2014/main" id="{5EB12168-112B-41CB-A334-E89F9AFDED86}"/>
              </a:ext>
            </a:extLst>
          </p:cNvPr>
          <p:cNvSpPr>
            <a:spLocks xmlns:a="http://schemas.openxmlformats.org/drawingml/2006/main" noGrp="1"/>
          </p:cNvSpPr>
          <p:nvPr/>
        </p:nvSpPr>
        <p:spPr>
          <a:xfrm xmlns:a="http://schemas.openxmlformats.org/drawingml/2006/main">
            <a:off x="3486150" y="2057400"/>
            <a:ext cx="2838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Einwilligung · Kern</a:t>
            </a:r>
          </a:p>
        </p:txBody>
      </p:sp>
      <p:sp>
        <p:nvSpPr>
          <p:cNvPr id="8" name="">
            <a:extLst xmlns:a="http://schemas.openxmlformats.org/drawingml/2006/main">
              <a:ext uri="{FF2B5EF4-FFF2-40B4-BE49-F238E27FC236}">
                <a16:creationId xmlns:a16="http://schemas.microsoft.com/office/drawing/2014/main" id="{C98D620B-21C0-4B36-BC2F-B19EE01293E6}"/>
              </a:ext>
            </a:extLst>
          </p:cNvPr>
          <p:cNvSpPr>
            <a:spLocks xmlns:a="http://schemas.openxmlformats.org/drawingml/2006/main" noGrp="1"/>
          </p:cNvSpPr>
          <p:nvPr/>
        </p:nvSpPr>
        <p:spPr>
          <a:xfrm xmlns:a="http://schemas.openxmlformats.org/drawingml/2006/main">
            <a:off x="1981200" y="2609850"/>
            <a:ext cx="4305300" cy="2533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8">
                <a:solidFill>
                  <a:srgbClr val="15232B"/>
                </a:solidFill>
              </a:defRPr>
            </a:pPr>
            <a:r>
              <a:rPr sz="1148">
                <a:solidFill>
                  <a:srgbClr val="15232B"/>
                </a:solidFill>
              </a:rPr>
              <a:t>Vor Durchführung einer medizinischen Maßnahme ist die Einwilligung des Patienten einzuholen. Ist der Patient einwilligungsunfähig, ist die Einwilligung eines Berechtigten einzuholen, soweit nicht eine Patientenverfügung die Maßnahme gestattet oder untersagt. Eine unaufschiebbare Maßnahme darf ohne Einwilligung durchgeführt werden, wenn sie dem mutmaßlichen Willen entspricht. Wirksam ist die Einwilligung nur nach Aufklärung gemäß § 630e; sie ist jederzeit formlos widerruflich.</a:t>
            </a:r>
          </a:p>
        </p:txBody>
      </p:sp>
      <p:sp>
        <p:nvSpPr>
          <p:cNvPr id="9" name="">
            <a:extLst xmlns:a="http://schemas.openxmlformats.org/drawingml/2006/main">
              <a:ext uri="{FF2B5EF4-FFF2-40B4-BE49-F238E27FC236}">
                <a16:creationId xmlns:a16="http://schemas.microsoft.com/office/drawing/2014/main" id="{1DFEB667-66BB-417B-A5D4-AC79EB8914C7}"/>
              </a:ext>
            </a:extLst>
          </p:cNvPr>
          <p:cNvSpPr>
            <a:spLocks xmlns:a="http://schemas.openxmlformats.org/drawingml/2006/main" noGrp="1"/>
          </p:cNvSpPr>
          <p:nvPr/>
        </p:nvSpPr>
        <p:spPr>
          <a:xfrm xmlns:a="http://schemas.openxmlformats.org/drawingml/2006/main">
            <a:off x="6686550" y="1943100"/>
            <a:ext cx="4648200" cy="3371850"/>
          </a:xfrm>
          <a:prstGeom xmlns:a="http://schemas.openxmlformats.org/drawingml/2006/main" prst="roundRect">
            <a:avLst>
              <a:gd name="adj" fmla="val 2260"/>
            </a:avLst>
          </a:prstGeom>
          <a:solidFill xmlns:a="http://schemas.openxmlformats.org/drawingml/2006/main">
            <a:srgbClr val="F3F7F9"/>
          </a:solidFill>
          <a:ln xmlns:a="http://schemas.openxmlformats.org/drawingml/2006/main" w="11430">
            <a:solidFill>
              <a:srgbClr val="003F6B"/>
            </a:solidFill>
            <a:prstDash val="solid"/>
          </a:ln>
        </p:spPr>
      </p:sp>
      <p:sp>
        <p:nvSpPr>
          <p:cNvPr id="10" name="">
            <a:extLst xmlns:a="http://schemas.openxmlformats.org/drawingml/2006/main">
              <a:ext uri="{FF2B5EF4-FFF2-40B4-BE49-F238E27FC236}">
                <a16:creationId xmlns:a16="http://schemas.microsoft.com/office/drawing/2014/main" id="{1918640B-8F1F-4253-A424-B1EE1C2B945F}"/>
              </a:ext>
            </a:extLst>
          </p:cNvPr>
          <p:cNvSpPr>
            <a:spLocks xmlns:a="http://schemas.openxmlformats.org/drawingml/2006/main" noGrp="1"/>
          </p:cNvSpPr>
          <p:nvPr/>
        </p:nvSpPr>
        <p:spPr>
          <a:xfrm xmlns:a="http://schemas.openxmlformats.org/drawingml/2006/main">
            <a:off x="6819900" y="2076450"/>
            <a:ext cx="1409700" cy="381000"/>
          </a:xfrm>
          <a:prstGeom xmlns:a="http://schemas.openxmlformats.org/drawingml/2006/main" prst="roundRect">
            <a:avLst>
              <a:gd name="adj" fmla="val 20000"/>
            </a:avLst>
          </a:prstGeom>
          <a:solidFill xmlns:a="http://schemas.openxmlformats.org/drawingml/2006/main">
            <a:srgbClr val="003F6B"/>
          </a:solidFill>
          <a:ln xmlns:a="http://schemas.openxmlformats.org/drawingml/2006/main" w="0">
            <a:solidFill>
              <a:srgbClr val="003F6B"/>
            </a:solidFill>
            <a:prstDash val="solid"/>
          </a:ln>
        </p:spPr>
      </p:sp>
      <p:sp>
        <p:nvSpPr>
          <p:cNvPr id="11" name="">
            <a:extLst xmlns:a="http://schemas.openxmlformats.org/drawingml/2006/main">
              <a:ext uri="{FF2B5EF4-FFF2-40B4-BE49-F238E27FC236}">
                <a16:creationId xmlns:a16="http://schemas.microsoft.com/office/drawing/2014/main" id="{515ECC1F-1CE2-45B1-8A85-05E41B01F7EC}"/>
              </a:ext>
            </a:extLst>
          </p:cNvPr>
          <p:cNvSpPr>
            <a:spLocks xmlns:a="http://schemas.openxmlformats.org/drawingml/2006/main" noGrp="1"/>
          </p:cNvSpPr>
          <p:nvPr/>
        </p:nvSpPr>
        <p:spPr>
          <a:xfrm xmlns:a="http://schemas.openxmlformats.org/drawingml/2006/main">
            <a:off x="6819900" y="207645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 630e BGB</a:t>
            </a:r>
          </a:p>
        </p:txBody>
      </p:sp>
      <p:sp>
        <p:nvSpPr>
          <p:cNvPr id="12" name="">
            <a:extLst xmlns:a="http://schemas.openxmlformats.org/drawingml/2006/main">
              <a:ext uri="{FF2B5EF4-FFF2-40B4-BE49-F238E27FC236}">
                <a16:creationId xmlns:a16="http://schemas.microsoft.com/office/drawing/2014/main" id="{7BA1898B-7243-49E3-AE26-629D9598CFA7}"/>
              </a:ext>
            </a:extLst>
          </p:cNvPr>
          <p:cNvSpPr>
            <a:spLocks xmlns:a="http://schemas.openxmlformats.org/drawingml/2006/main" noGrp="1"/>
          </p:cNvSpPr>
          <p:nvPr/>
        </p:nvSpPr>
        <p:spPr>
          <a:xfrm xmlns:a="http://schemas.openxmlformats.org/drawingml/2006/main">
            <a:off x="8362950" y="2057400"/>
            <a:ext cx="2838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Aufklärung · Kern</a:t>
            </a:r>
          </a:p>
        </p:txBody>
      </p:sp>
      <p:sp>
        <p:nvSpPr>
          <p:cNvPr id="13" name="">
            <a:extLst xmlns:a="http://schemas.openxmlformats.org/drawingml/2006/main">
              <a:ext uri="{FF2B5EF4-FFF2-40B4-BE49-F238E27FC236}">
                <a16:creationId xmlns:a16="http://schemas.microsoft.com/office/drawing/2014/main" id="{3F2EFA4F-F38D-4F94-AA87-A049D4CAF2CA}"/>
              </a:ext>
            </a:extLst>
          </p:cNvPr>
          <p:cNvSpPr>
            <a:spLocks xmlns:a="http://schemas.openxmlformats.org/drawingml/2006/main" noGrp="1"/>
          </p:cNvSpPr>
          <p:nvPr/>
        </p:nvSpPr>
        <p:spPr>
          <a:xfrm xmlns:a="http://schemas.openxmlformats.org/drawingml/2006/main">
            <a:off x="6858000" y="2609850"/>
            <a:ext cx="4305300" cy="2533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8">
                <a:solidFill>
                  <a:srgbClr val="15232B"/>
                </a:solidFill>
              </a:defRPr>
            </a:pPr>
            <a:r>
              <a:rPr sz="1148">
                <a:solidFill>
                  <a:srgbClr val="15232B"/>
                </a:solidFill>
              </a:rPr>
              <a:t>Aufzuklären ist über alle für die Einwilligung wesentlichen Umstände: insbesondere Art, Umfang, Durchführung, Folgen und Risiken sowie Notwendigkeit, Dringlichkeit, Eignung und Erfolgsaussichten. Auf Alternativen ist hinzuweisen, wenn mehrere gleichermaßen indizierte und übliche Methoden wesentlich unterschiedliche Belastungen, Risiken oder Heilungschancen haben. Die Aufklärung muss grundsätzlich mündlich, rechtzeitig und verständlich erfolgen.</a:t>
            </a:r>
          </a:p>
        </p:txBody>
      </p:sp>
      <p:sp>
        <p:nvSpPr>
          <p:cNvPr id="14" name="">
            <a:extLst xmlns:a="http://schemas.openxmlformats.org/drawingml/2006/main">
              <a:ext uri="{FF2B5EF4-FFF2-40B4-BE49-F238E27FC236}">
                <a16:creationId xmlns:a16="http://schemas.microsoft.com/office/drawing/2014/main" id="{82A89EEC-EC47-44B3-900B-BDCD5922C81D}"/>
              </a:ext>
            </a:extLst>
          </p:cNvPr>
          <p:cNvSpPr>
            <a:spLocks xmlns:a="http://schemas.openxmlformats.org/drawingml/2006/main" noGrp="1"/>
          </p:cNvSpPr>
          <p:nvPr/>
        </p:nvSpPr>
        <p:spPr>
          <a:xfrm xmlns:a="http://schemas.openxmlformats.org/drawingml/2006/main">
            <a:off x="1809750" y="5619750"/>
            <a:ext cx="9525000" cy="419100"/>
          </a:xfrm>
          <a:prstGeom xmlns:a="http://schemas.openxmlformats.org/drawingml/2006/main" prst="roundRect">
            <a:avLst>
              <a:gd name="adj" fmla="val 18182"/>
            </a:avLst>
          </a:prstGeom>
          <a:noFill xmlns:a="http://schemas.openxmlformats.org/drawingml/2006/main"/>
          <a:ln xmlns:a="http://schemas.openxmlformats.org/drawingml/2006/main" w="11430">
            <a:solidFill>
              <a:srgbClr val="00B2BB"/>
            </a:solidFill>
            <a:prstDash val="solid"/>
          </a:ln>
        </p:spPr>
      </p:sp>
      <p:sp>
        <p:nvSpPr>
          <p:cNvPr id="15" name="">
            <a:extLst xmlns:a="http://schemas.openxmlformats.org/drawingml/2006/main">
              <a:ext uri="{FF2B5EF4-FFF2-40B4-BE49-F238E27FC236}">
                <a16:creationId xmlns:a16="http://schemas.microsoft.com/office/drawing/2014/main" id="{C8CABE7C-AC16-4B2D-9AE3-416111969445}"/>
              </a:ext>
            </a:extLst>
          </p:cNvPr>
          <p:cNvSpPr>
            <a:spLocks xmlns:a="http://schemas.openxmlformats.org/drawingml/2006/main" noGrp="1"/>
          </p:cNvSpPr>
          <p:nvPr/>
        </p:nvSpPr>
        <p:spPr>
          <a:xfrm xmlns:a="http://schemas.openxmlformats.org/drawingml/2006/main">
            <a:off x="1962150" y="5638800"/>
            <a:ext cx="9220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13" b="1">
                <a:solidFill>
                  <a:srgbClr val="003F6B"/>
                </a:solidFill>
              </a:defRPr>
            </a:pPr>
            <a:r>
              <a:rPr sz="1013" b="1">
                <a:solidFill>
                  <a:srgbClr val="003F6B"/>
                </a:solidFill>
              </a:rPr>
              <a:t>Praxislesart: Ein Formular dokumentiert; die wirksame Einwilligung entsteht durch rechtzeitige, verständliche Entscheidungsinformation.</a:t>
            </a:r>
          </a:p>
        </p:txBody>
      </p:sp>
      <p:sp>
        <p:nvSpPr>
          <p:cNvPr id="16" name="">
            <a:extLst xmlns:a="http://schemas.openxmlformats.org/drawingml/2006/main">
              <a:ext uri="{FF2B5EF4-FFF2-40B4-BE49-F238E27FC236}">
                <a16:creationId xmlns:a16="http://schemas.microsoft.com/office/drawing/2014/main" id="{4C80B9DB-3A38-455F-B585-92A7F485390E}"/>
              </a:ext>
            </a:extLst>
          </p:cNvPr>
          <p:cNvSpPr>
            <a:spLocks xmlns:a="http://schemas.openxmlformats.org/drawingml/2006/main" noGrp="1"/>
          </p:cNvSpPr>
          <p:nvPr/>
        </p:nvSpPr>
        <p:spPr>
          <a:xfrm xmlns:a="http://schemas.openxmlformats.org/drawingml/2006/main">
            <a:off x="1809750" y="535305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05">
                <a:solidFill>
                  <a:srgbClr val="667680"/>
                </a:solidFill>
              </a:defRPr>
            </a:pPr>
            <a:r>
              <a:rPr sz="705">
                <a:solidFill>
                  <a:srgbClr val="667680"/>
                </a:solidFill>
              </a:rPr>
              <a:t>BMJ/BfJ, gesetze-im-internet.de/bgb/__630d.html und /__630e.html · Abruf/Stand: 20.08.2026 · https://pubmed.ncbi.nlm.nih.gov</a:t>
            </a:r>
          </a:p>
        </p:txBody>
      </p:sp>
    </p:spTree>
    <p:extLst>
      <p:ext uri="{BB962C8B-B14F-4D97-AF65-F5344CB8AC3E}">
        <p14:creationId xmlns:p14="http://schemas.microsoft.com/office/powerpoint/2010/main" val="43637646"/>
      </p:ext>
    </p:extLst>
  </p:cSld>
</p:sld>
</file>

<file path=ppt/slides/slide72.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 630h BGB: Beweislastregeln I</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GESETZESTEXT · GEKÜRZTER LEHRAUSZUG</a:t>
            </a:r>
            <a:endParaRPr/>
          </a:p>
        </p:txBody>
      </p:sp>
      <p:sp>
        <p:nvSpPr>
          <p:cNvPr id="4" name="">
            <a:extLst xmlns:a="http://schemas.openxmlformats.org/drawingml/2006/main">
              <a:ext uri="{FF2B5EF4-FFF2-40B4-BE49-F238E27FC236}">
                <a16:creationId xmlns:a16="http://schemas.microsoft.com/office/drawing/2014/main" id="{65E5A3D9-7411-43D7-82BD-DD52496350C7}"/>
              </a:ext>
            </a:extLst>
          </p:cNvPr>
          <p:cNvSpPr>
            <a:spLocks xmlns:a="http://schemas.openxmlformats.org/drawingml/2006/main" noGrp="1"/>
          </p:cNvSpPr>
          <p:nvPr/>
        </p:nvSpPr>
        <p:spPr>
          <a:xfrm xmlns:a="http://schemas.openxmlformats.org/drawingml/2006/main">
            <a:off x="1809750" y="1943100"/>
            <a:ext cx="1809750" cy="457200"/>
          </a:xfrm>
          <a:prstGeom xmlns:a="http://schemas.openxmlformats.org/drawingml/2006/main" prst="roundRect">
            <a:avLst>
              <a:gd name="adj" fmla="val 16667"/>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C685CCA2-0D43-4CDB-8C76-F242C8B13EB5}"/>
              </a:ext>
            </a:extLst>
          </p:cNvPr>
          <p:cNvSpPr>
            <a:spLocks xmlns:a="http://schemas.openxmlformats.org/drawingml/2006/main" noGrp="1"/>
          </p:cNvSpPr>
          <p:nvPr/>
        </p:nvSpPr>
        <p:spPr>
          <a:xfrm xmlns:a="http://schemas.openxmlformats.org/drawingml/2006/main">
            <a:off x="1809750" y="1943100"/>
            <a:ext cx="1809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 630h I–III BGB</a:t>
            </a:r>
          </a:p>
        </p:txBody>
      </p:sp>
      <p:sp>
        <p:nvSpPr>
          <p:cNvPr id="6" name="">
            <a:extLst xmlns:a="http://schemas.openxmlformats.org/drawingml/2006/main">
              <a:ext uri="{FF2B5EF4-FFF2-40B4-BE49-F238E27FC236}">
                <a16:creationId xmlns:a16="http://schemas.microsoft.com/office/drawing/2014/main" id="{0AAB0E7B-C026-43FC-A1D8-9A5A1C335E72}"/>
              </a:ext>
            </a:extLst>
          </p:cNvPr>
          <p:cNvSpPr>
            <a:spLocks xmlns:a="http://schemas.openxmlformats.org/drawingml/2006/main" noGrp="1"/>
          </p:cNvSpPr>
          <p:nvPr/>
        </p:nvSpPr>
        <p:spPr>
          <a:xfrm xmlns:a="http://schemas.openxmlformats.org/drawingml/2006/main">
            <a:off x="3867150" y="1943100"/>
            <a:ext cx="7467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500" b="1">
                <a:solidFill>
                  <a:srgbClr val="003F6B"/>
                </a:solidFill>
              </a:defRPr>
            </a:pPr>
            <a:r>
              <a:rPr sz="1500" b="1">
                <a:solidFill>
                  <a:srgbClr val="003F6B"/>
                </a:solidFill>
              </a:rPr>
              <a:t>Beherrschbares Risiko · Aufklärung · Dokumentation</a:t>
            </a:r>
          </a:p>
        </p:txBody>
      </p:sp>
      <p:sp>
        <p:nvSpPr>
          <p:cNvPr id="7" name="">
            <a:extLst xmlns:a="http://schemas.openxmlformats.org/drawingml/2006/main">
              <a:ext uri="{FF2B5EF4-FFF2-40B4-BE49-F238E27FC236}">
                <a16:creationId xmlns:a16="http://schemas.microsoft.com/office/drawing/2014/main" id="{767E7085-0DC6-4A84-B311-F41E8CA5F40B}"/>
              </a:ext>
            </a:extLst>
          </p:cNvPr>
          <p:cNvSpPr>
            <a:spLocks xmlns:a="http://schemas.openxmlformats.org/drawingml/2006/main" noGrp="1"/>
          </p:cNvSpPr>
          <p:nvPr/>
        </p:nvSpPr>
        <p:spPr>
          <a:xfrm xmlns:a="http://schemas.openxmlformats.org/drawingml/2006/main">
            <a:off x="1809750" y="2552700"/>
            <a:ext cx="9525000" cy="2419350"/>
          </a:xfrm>
          <a:prstGeom xmlns:a="http://schemas.openxmlformats.org/drawingml/2006/main" prst="roundRect">
            <a:avLst>
              <a:gd name="adj" fmla="val 3150"/>
            </a:avLst>
          </a:prstGeom>
          <a:solidFill xmlns:a="http://schemas.openxmlformats.org/drawingml/2006/main">
            <a:srgbClr val="F3F7F9"/>
          </a:solidFill>
          <a:ln xmlns:a="http://schemas.openxmlformats.org/drawingml/2006/main" w="11430">
            <a:solidFill>
              <a:srgbClr val="00B2BB"/>
            </a:solidFill>
            <a:prstDash val="solid"/>
          </a:ln>
        </p:spPr>
      </p:sp>
      <p:sp>
        <p:nvSpPr>
          <p:cNvPr id="8" name="">
            <a:extLst xmlns:a="http://schemas.openxmlformats.org/drawingml/2006/main">
              <a:ext uri="{FF2B5EF4-FFF2-40B4-BE49-F238E27FC236}">
                <a16:creationId xmlns:a16="http://schemas.microsoft.com/office/drawing/2014/main" id="{46066EBE-69E0-46C1-8D57-11C0DF05B26B}"/>
              </a:ext>
            </a:extLst>
          </p:cNvPr>
          <p:cNvSpPr>
            <a:spLocks xmlns:a="http://schemas.openxmlformats.org/drawingml/2006/main" noGrp="1"/>
          </p:cNvSpPr>
          <p:nvPr/>
        </p:nvSpPr>
        <p:spPr>
          <a:xfrm xmlns:a="http://schemas.openxmlformats.org/drawingml/2006/main">
            <a:off x="2019300" y="2724150"/>
            <a:ext cx="910590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15232B"/>
                </a:solidFill>
              </a:defRPr>
            </a:pPr>
            <a:r>
              <a:rPr sz="1275">
                <a:solidFill>
                  <a:srgbClr val="15232B"/>
                </a:solidFill>
              </a:rPr>
              <a:t>(1) Ein Fehler wird vermutet, wenn sich ein voll beherrschbares allgemeines Behandlungsrisiko verwirklicht und Leben, Körper oder Gesundheit verletzt wurden.</a:t>
            </a:r>
          </a:p>
          <a:p xmlns:a="http://schemas.openxmlformats.org/drawingml/2006/main">
            <a:r>
              <a:t/>
            </a:r>
          </a:p>
          <a:p xmlns:a="http://schemas.openxmlformats.org/drawingml/2006/main">
            <a:pPr>
              <a:buNone/>
              <a:defRPr sz="1275">
                <a:solidFill>
                  <a:srgbClr val="15232B"/>
                </a:solidFill>
              </a:defRPr>
            </a:pPr>
            <a:r>
              <a:rPr sz="1275">
                <a:solidFill>
                  <a:srgbClr val="15232B"/>
                </a:solidFill>
              </a:rPr>
              <a:t>(2) Der Behandelnde beweist Einwilligung und ordnungsgemäße Aufklärung. Bei unzureichender Aufklärung kann er sich auf hypothetische Einwilligung berufen.</a:t>
            </a:r>
          </a:p>
          <a:p xmlns:a="http://schemas.openxmlformats.org/drawingml/2006/main">
            <a:r>
              <a:t/>
            </a:r>
          </a:p>
          <a:p xmlns:a="http://schemas.openxmlformats.org/drawingml/2006/main">
            <a:pPr>
              <a:buNone/>
              <a:defRPr sz="1275">
                <a:solidFill>
                  <a:srgbClr val="15232B"/>
                </a:solidFill>
              </a:defRPr>
            </a:pPr>
            <a:r>
              <a:rPr sz="1275">
                <a:solidFill>
                  <a:srgbClr val="15232B"/>
                </a:solidFill>
              </a:rPr>
              <a:t>(3) Fehlt die Aufzeichnung einer medizinisch gebotenen wesentlichen Maßnahme oder ihres Ergebnisses oder wurde die Akte nicht aufbewahrt, wird vermutet, dass die Maßnahme nicht getroffen wurde.</a:t>
            </a:r>
          </a:p>
        </p:txBody>
      </p:sp>
      <p:sp>
        <p:nvSpPr>
          <p:cNvPr id="9" name="">
            <a:extLst xmlns:a="http://schemas.openxmlformats.org/drawingml/2006/main">
              <a:ext uri="{FF2B5EF4-FFF2-40B4-BE49-F238E27FC236}">
                <a16:creationId xmlns:a16="http://schemas.microsoft.com/office/drawing/2014/main" id="{68BBE064-3CFE-4153-AD5E-93C696394044}"/>
              </a:ext>
            </a:extLst>
          </p:cNvPr>
          <p:cNvSpPr>
            <a:spLocks xmlns:a="http://schemas.openxmlformats.org/drawingml/2006/main" noGrp="1"/>
          </p:cNvSpPr>
          <p:nvPr/>
        </p:nvSpPr>
        <p:spPr>
          <a:xfrm xmlns:a="http://schemas.openxmlformats.org/drawingml/2006/main">
            <a:off x="1809750" y="5619750"/>
            <a:ext cx="9525000" cy="419100"/>
          </a:xfrm>
          <a:prstGeom xmlns:a="http://schemas.openxmlformats.org/drawingml/2006/main" prst="roundRect">
            <a:avLst>
              <a:gd name="adj" fmla="val 18182"/>
            </a:avLst>
          </a:prstGeom>
          <a:noFill xmlns:a="http://schemas.openxmlformats.org/drawingml/2006/main"/>
          <a:ln xmlns:a="http://schemas.openxmlformats.org/drawingml/2006/main" w="11430">
            <a:solidFill>
              <a:srgbClr val="00B2BB"/>
            </a:solidFill>
            <a:prstDash val="solid"/>
          </a:ln>
        </p:spPr>
      </p:sp>
      <p:sp>
        <p:nvSpPr>
          <p:cNvPr id="10" name="">
            <a:extLst xmlns:a="http://schemas.openxmlformats.org/drawingml/2006/main">
              <a:ext uri="{FF2B5EF4-FFF2-40B4-BE49-F238E27FC236}">
                <a16:creationId xmlns:a16="http://schemas.microsoft.com/office/drawing/2014/main" id="{2614AAB9-CCE7-4C38-B8BF-6A0A4A5BD7F1}"/>
              </a:ext>
            </a:extLst>
          </p:cNvPr>
          <p:cNvSpPr>
            <a:spLocks xmlns:a="http://schemas.openxmlformats.org/drawingml/2006/main" noGrp="1"/>
          </p:cNvSpPr>
          <p:nvPr/>
        </p:nvSpPr>
        <p:spPr>
          <a:xfrm xmlns:a="http://schemas.openxmlformats.org/drawingml/2006/main">
            <a:off x="1962150" y="5638800"/>
            <a:ext cx="9220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13" b="1">
                <a:solidFill>
                  <a:srgbClr val="003F6B"/>
                </a:solidFill>
              </a:defRPr>
            </a:pPr>
            <a:r>
              <a:rPr sz="1013" b="1">
                <a:solidFill>
                  <a:srgbClr val="003F6B"/>
                </a:solidFill>
              </a:rPr>
              <a:t>Praxislesart: Nicht jede Lücke kehrt jede Beweislast um. Entscheidend ist, welcher Absatz welche konkrete Tatsache betrifft.</a:t>
            </a:r>
          </a:p>
        </p:txBody>
      </p:sp>
      <p:sp>
        <p:nvSpPr>
          <p:cNvPr id="11" name="">
            <a:extLst xmlns:a="http://schemas.openxmlformats.org/drawingml/2006/main">
              <a:ext uri="{FF2B5EF4-FFF2-40B4-BE49-F238E27FC236}">
                <a16:creationId xmlns:a16="http://schemas.microsoft.com/office/drawing/2014/main" id="{FCA67692-C8A5-407E-93FE-6A284B72E116}"/>
              </a:ext>
            </a:extLst>
          </p:cNvPr>
          <p:cNvSpPr>
            <a:spLocks xmlns:a="http://schemas.openxmlformats.org/drawingml/2006/main" noGrp="1"/>
          </p:cNvSpPr>
          <p:nvPr/>
        </p:nvSpPr>
        <p:spPr>
          <a:xfrm xmlns:a="http://schemas.openxmlformats.org/drawingml/2006/main">
            <a:off x="1809750" y="535305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05">
                <a:solidFill>
                  <a:srgbClr val="667680"/>
                </a:solidFill>
              </a:defRPr>
            </a:pPr>
            <a:r>
              <a:rPr sz="705">
                <a:solidFill>
                  <a:srgbClr val="667680"/>
                </a:solidFill>
              </a:rPr>
              <a:t>BMJ/BfJ, gesetze-im-internet.de/bgb/__630h.html · Abruf/Stand: 20.08.2026 · https://pubmed.ncbi.nlm.nih.gov</a:t>
            </a:r>
          </a:p>
        </p:txBody>
      </p:sp>
    </p:spTree>
    <p:extLst>
      <p:ext uri="{BB962C8B-B14F-4D97-AF65-F5344CB8AC3E}">
        <p14:creationId xmlns:p14="http://schemas.microsoft.com/office/powerpoint/2010/main" val="43637646"/>
      </p:ext>
    </p:extLst>
  </p:cSld>
</p:sld>
</file>

<file path=ppt/slides/slide73.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 630h BGB: Beweislastregeln II</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GESETZESTEXT · GEKÜRZTER LEHRAUSZUG</a:t>
            </a:r>
            <a:endParaRPr/>
          </a:p>
        </p:txBody>
      </p:sp>
      <p:sp>
        <p:nvSpPr>
          <p:cNvPr id="4" name="">
            <a:extLst xmlns:a="http://schemas.openxmlformats.org/drawingml/2006/main">
              <a:ext uri="{FF2B5EF4-FFF2-40B4-BE49-F238E27FC236}">
                <a16:creationId xmlns:a16="http://schemas.microsoft.com/office/drawing/2014/main" id="{F1D8A459-BE08-4CA4-AB58-D18457244119}"/>
              </a:ext>
            </a:extLst>
          </p:cNvPr>
          <p:cNvSpPr>
            <a:spLocks xmlns:a="http://schemas.openxmlformats.org/drawingml/2006/main" noGrp="1"/>
          </p:cNvSpPr>
          <p:nvPr/>
        </p:nvSpPr>
        <p:spPr>
          <a:xfrm xmlns:a="http://schemas.openxmlformats.org/drawingml/2006/main">
            <a:off x="1809750" y="1943100"/>
            <a:ext cx="1809750" cy="457200"/>
          </a:xfrm>
          <a:prstGeom xmlns:a="http://schemas.openxmlformats.org/drawingml/2006/main" prst="roundRect">
            <a:avLst>
              <a:gd name="adj" fmla="val 16667"/>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0ACFD61C-4395-4F8C-848D-7D0B468A0B83}"/>
              </a:ext>
            </a:extLst>
          </p:cNvPr>
          <p:cNvSpPr>
            <a:spLocks xmlns:a="http://schemas.openxmlformats.org/drawingml/2006/main" noGrp="1"/>
          </p:cNvSpPr>
          <p:nvPr/>
        </p:nvSpPr>
        <p:spPr>
          <a:xfrm xmlns:a="http://schemas.openxmlformats.org/drawingml/2006/main">
            <a:off x="1809750" y="1943100"/>
            <a:ext cx="1809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 630h IV–V BGB</a:t>
            </a:r>
          </a:p>
        </p:txBody>
      </p:sp>
      <p:sp>
        <p:nvSpPr>
          <p:cNvPr id="6" name="">
            <a:extLst xmlns:a="http://schemas.openxmlformats.org/drawingml/2006/main">
              <a:ext uri="{FF2B5EF4-FFF2-40B4-BE49-F238E27FC236}">
                <a16:creationId xmlns:a16="http://schemas.microsoft.com/office/drawing/2014/main" id="{8E2D07DC-9FA0-4BEF-A76E-3E664753875A}"/>
              </a:ext>
            </a:extLst>
          </p:cNvPr>
          <p:cNvSpPr>
            <a:spLocks xmlns:a="http://schemas.openxmlformats.org/drawingml/2006/main" noGrp="1"/>
          </p:cNvSpPr>
          <p:nvPr/>
        </p:nvSpPr>
        <p:spPr>
          <a:xfrm xmlns:a="http://schemas.openxmlformats.org/drawingml/2006/main">
            <a:off x="3867150" y="1943100"/>
            <a:ext cx="7467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500" b="1">
                <a:solidFill>
                  <a:srgbClr val="003F6B"/>
                </a:solidFill>
              </a:defRPr>
            </a:pPr>
            <a:r>
              <a:rPr sz="1500" b="1">
                <a:solidFill>
                  <a:srgbClr val="003F6B"/>
                </a:solidFill>
              </a:rPr>
              <a:t>Anfängerfehler · grober Fehler · Befunderhebung</a:t>
            </a:r>
          </a:p>
        </p:txBody>
      </p:sp>
      <p:sp>
        <p:nvSpPr>
          <p:cNvPr id="7" name="">
            <a:extLst xmlns:a="http://schemas.openxmlformats.org/drawingml/2006/main">
              <a:ext uri="{FF2B5EF4-FFF2-40B4-BE49-F238E27FC236}">
                <a16:creationId xmlns:a16="http://schemas.microsoft.com/office/drawing/2014/main" id="{1C2F3DF3-3D4C-4EFB-8285-7087AD43AE44}"/>
              </a:ext>
            </a:extLst>
          </p:cNvPr>
          <p:cNvSpPr>
            <a:spLocks xmlns:a="http://schemas.openxmlformats.org/drawingml/2006/main" noGrp="1"/>
          </p:cNvSpPr>
          <p:nvPr/>
        </p:nvSpPr>
        <p:spPr>
          <a:xfrm xmlns:a="http://schemas.openxmlformats.org/drawingml/2006/main">
            <a:off x="1809750" y="2552700"/>
            <a:ext cx="9525000" cy="2419350"/>
          </a:xfrm>
          <a:prstGeom xmlns:a="http://schemas.openxmlformats.org/drawingml/2006/main" prst="roundRect">
            <a:avLst>
              <a:gd name="adj" fmla="val 3150"/>
            </a:avLst>
          </a:prstGeom>
          <a:solidFill xmlns:a="http://schemas.openxmlformats.org/drawingml/2006/main">
            <a:srgbClr val="F3F7F9"/>
          </a:solidFill>
          <a:ln xmlns:a="http://schemas.openxmlformats.org/drawingml/2006/main" w="11430">
            <a:solidFill>
              <a:srgbClr val="00B2BB"/>
            </a:solidFill>
            <a:prstDash val="solid"/>
          </a:ln>
        </p:spPr>
      </p:sp>
      <p:sp>
        <p:nvSpPr>
          <p:cNvPr id="8" name="">
            <a:extLst xmlns:a="http://schemas.openxmlformats.org/drawingml/2006/main">
              <a:ext uri="{FF2B5EF4-FFF2-40B4-BE49-F238E27FC236}">
                <a16:creationId xmlns:a16="http://schemas.microsoft.com/office/drawing/2014/main" id="{79BDE3D6-7AC8-4D44-B1BA-FF58C68100AA}"/>
              </a:ext>
            </a:extLst>
          </p:cNvPr>
          <p:cNvSpPr>
            <a:spLocks xmlns:a="http://schemas.openxmlformats.org/drawingml/2006/main" noGrp="1"/>
          </p:cNvSpPr>
          <p:nvPr/>
        </p:nvSpPr>
        <p:spPr>
          <a:xfrm xmlns:a="http://schemas.openxmlformats.org/drawingml/2006/main">
            <a:off x="2019300" y="2724150"/>
            <a:ext cx="910590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15232B"/>
                </a:solidFill>
              </a:defRPr>
            </a:pPr>
            <a:r>
              <a:rPr sz="1275">
                <a:solidFill>
                  <a:srgbClr val="15232B"/>
                </a:solidFill>
              </a:rPr>
              <a:t>(4) War der Behandelnde für die Behandlung nicht befähigt, wird vermutet, dass die mangelnde Befähigung für die Verletzung ursächlich war.</a:t>
            </a:r>
          </a:p>
          <a:p xmlns:a="http://schemas.openxmlformats.org/drawingml/2006/main">
            <a:r>
              <a:t/>
            </a:r>
          </a:p>
          <a:p xmlns:a="http://schemas.openxmlformats.org/drawingml/2006/main">
            <a:pPr>
              <a:buNone/>
              <a:defRPr sz="1275">
                <a:solidFill>
                  <a:srgbClr val="15232B"/>
                </a:solidFill>
              </a:defRPr>
            </a:pPr>
            <a:r>
              <a:rPr sz="1275">
                <a:solidFill>
                  <a:srgbClr val="15232B"/>
                </a:solidFill>
              </a:rPr>
              <a:t>(5) Liegt ein grober Behandlungsfehler vor und ist er grundsätzlich geeignet, den eingetretenen Gesundheitsschaden herbeizuführen, wird die Ursächlichkeit vermutet. Entsprechendes gilt beim unterlassenen gebotenen Befund, wenn dieser wahrscheinlich ein reaktionspflichtiges Ergebnis gezeigt hätte und die Nichtreaktion grob fehlerhaft gewesen wäre.</a:t>
            </a:r>
          </a:p>
        </p:txBody>
      </p:sp>
      <p:sp>
        <p:nvSpPr>
          <p:cNvPr id="9" name="">
            <a:extLst xmlns:a="http://schemas.openxmlformats.org/drawingml/2006/main">
              <a:ext uri="{FF2B5EF4-FFF2-40B4-BE49-F238E27FC236}">
                <a16:creationId xmlns:a16="http://schemas.microsoft.com/office/drawing/2014/main" id="{59588599-A392-434F-BCBA-8B616FD635DF}"/>
              </a:ext>
            </a:extLst>
          </p:cNvPr>
          <p:cNvSpPr>
            <a:spLocks xmlns:a="http://schemas.openxmlformats.org/drawingml/2006/main" noGrp="1"/>
          </p:cNvSpPr>
          <p:nvPr/>
        </p:nvSpPr>
        <p:spPr>
          <a:xfrm xmlns:a="http://schemas.openxmlformats.org/drawingml/2006/main">
            <a:off x="1809750" y="5619750"/>
            <a:ext cx="9525000" cy="419100"/>
          </a:xfrm>
          <a:prstGeom xmlns:a="http://schemas.openxmlformats.org/drawingml/2006/main" prst="roundRect">
            <a:avLst>
              <a:gd name="adj" fmla="val 18182"/>
            </a:avLst>
          </a:prstGeom>
          <a:noFill xmlns:a="http://schemas.openxmlformats.org/drawingml/2006/main"/>
          <a:ln xmlns:a="http://schemas.openxmlformats.org/drawingml/2006/main" w="11430">
            <a:solidFill>
              <a:srgbClr val="00B2BB"/>
            </a:solidFill>
            <a:prstDash val="solid"/>
          </a:ln>
        </p:spPr>
      </p:sp>
      <p:sp>
        <p:nvSpPr>
          <p:cNvPr id="10" name="">
            <a:extLst xmlns:a="http://schemas.openxmlformats.org/drawingml/2006/main">
              <a:ext uri="{FF2B5EF4-FFF2-40B4-BE49-F238E27FC236}">
                <a16:creationId xmlns:a16="http://schemas.microsoft.com/office/drawing/2014/main" id="{891C3767-2D36-42E5-BB85-185570E64BAB}"/>
              </a:ext>
            </a:extLst>
          </p:cNvPr>
          <p:cNvSpPr>
            <a:spLocks xmlns:a="http://schemas.openxmlformats.org/drawingml/2006/main" noGrp="1"/>
          </p:cNvSpPr>
          <p:nvPr/>
        </p:nvSpPr>
        <p:spPr>
          <a:xfrm xmlns:a="http://schemas.openxmlformats.org/drawingml/2006/main">
            <a:off x="1962150" y="5638800"/>
            <a:ext cx="9220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13" b="1">
                <a:solidFill>
                  <a:srgbClr val="003F6B"/>
                </a:solidFill>
              </a:defRPr>
            </a:pPr>
            <a:r>
              <a:rPr sz="1013" b="1">
                <a:solidFill>
                  <a:srgbClr val="003F6B"/>
                </a:solidFill>
              </a:rPr>
              <a:t>Praxislesart: § 630h verändert gezielt den Beweis – er ersetzt nicht die Prüfung von Fehler, Schaden und Anwendungsbereich.</a:t>
            </a:r>
          </a:p>
        </p:txBody>
      </p:sp>
      <p:sp>
        <p:nvSpPr>
          <p:cNvPr id="11" name="">
            <a:extLst xmlns:a="http://schemas.openxmlformats.org/drawingml/2006/main">
              <a:ext uri="{FF2B5EF4-FFF2-40B4-BE49-F238E27FC236}">
                <a16:creationId xmlns:a16="http://schemas.microsoft.com/office/drawing/2014/main" id="{E080054D-4DD0-4920-8572-B5400B7BD07A}"/>
              </a:ext>
            </a:extLst>
          </p:cNvPr>
          <p:cNvSpPr>
            <a:spLocks xmlns:a="http://schemas.openxmlformats.org/drawingml/2006/main" noGrp="1"/>
          </p:cNvSpPr>
          <p:nvPr/>
        </p:nvSpPr>
        <p:spPr>
          <a:xfrm xmlns:a="http://schemas.openxmlformats.org/drawingml/2006/main">
            <a:off x="1809750" y="535305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05">
                <a:solidFill>
                  <a:srgbClr val="667680"/>
                </a:solidFill>
              </a:defRPr>
            </a:pPr>
            <a:r>
              <a:rPr sz="705">
                <a:solidFill>
                  <a:srgbClr val="667680"/>
                </a:solidFill>
              </a:rPr>
              <a:t>BMJ/BfJ, gesetze-im-internet.de/bgb/__630h.html · Abruf/Stand: 20.08.2026 · https://pubmed.ncbi.nlm.nih.gov</a:t>
            </a:r>
          </a:p>
        </p:txBody>
      </p:sp>
    </p:spTree>
    <p:extLst>
      <p:ext uri="{BB962C8B-B14F-4D97-AF65-F5344CB8AC3E}">
        <p14:creationId xmlns:p14="http://schemas.microsoft.com/office/powerpoint/2010/main" val="43637646"/>
      </p:ext>
    </p:extLst>
  </p:cSld>
</p:sld>
</file>

<file path=ppt/slides/slide74.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Verschulden und Schadensumfang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GESETZESTEXT · GEKÜRZTER LEHRAUSZUG</a:t>
            </a:r>
            <a:endParaRPr/>
          </a:p>
        </p:txBody>
      </p:sp>
      <p:sp>
        <p:nvSpPr>
          <p:cNvPr id="4" name="">
            <a:extLst xmlns:a="http://schemas.openxmlformats.org/drawingml/2006/main">
              <a:ext uri="{FF2B5EF4-FFF2-40B4-BE49-F238E27FC236}">
                <a16:creationId xmlns:a16="http://schemas.microsoft.com/office/drawing/2014/main" id="{E60C21EE-DF20-438F-908B-0C9211DB7331}"/>
              </a:ext>
            </a:extLst>
          </p:cNvPr>
          <p:cNvSpPr>
            <a:spLocks xmlns:a="http://schemas.openxmlformats.org/drawingml/2006/main" noGrp="1"/>
          </p:cNvSpPr>
          <p:nvPr/>
        </p:nvSpPr>
        <p:spPr>
          <a:xfrm xmlns:a="http://schemas.openxmlformats.org/drawingml/2006/main">
            <a:off x="1809750" y="1943100"/>
            <a:ext cx="4648200" cy="3371850"/>
          </a:xfrm>
          <a:prstGeom xmlns:a="http://schemas.openxmlformats.org/drawingml/2006/main" prst="roundRect">
            <a:avLst>
              <a:gd name="adj" fmla="val 2260"/>
            </a:avLst>
          </a:prstGeom>
          <a:solidFill xmlns:a="http://schemas.openxmlformats.org/drawingml/2006/main">
            <a:srgbClr val="F3F7F9"/>
          </a:solidFill>
          <a:ln xmlns:a="http://schemas.openxmlformats.org/drawingml/2006/main" w="11430">
            <a:solidFill>
              <a:srgbClr val="00B2BB"/>
            </a:solidFill>
            <a:prstDash val="solid"/>
          </a:ln>
        </p:spPr>
      </p:sp>
      <p:sp>
        <p:nvSpPr>
          <p:cNvPr id="5" name="">
            <a:extLst xmlns:a="http://schemas.openxmlformats.org/drawingml/2006/main">
              <a:ext uri="{FF2B5EF4-FFF2-40B4-BE49-F238E27FC236}">
                <a16:creationId xmlns:a16="http://schemas.microsoft.com/office/drawing/2014/main" id="{A7459DBA-B76E-4AEB-AF30-5EE124B917E3}"/>
              </a:ext>
            </a:extLst>
          </p:cNvPr>
          <p:cNvSpPr>
            <a:spLocks xmlns:a="http://schemas.openxmlformats.org/drawingml/2006/main" noGrp="1"/>
          </p:cNvSpPr>
          <p:nvPr/>
        </p:nvSpPr>
        <p:spPr>
          <a:xfrm xmlns:a="http://schemas.openxmlformats.org/drawingml/2006/main">
            <a:off x="1943100" y="2076450"/>
            <a:ext cx="1409700" cy="381000"/>
          </a:xfrm>
          <a:prstGeom xmlns:a="http://schemas.openxmlformats.org/drawingml/2006/main" prst="roundRect">
            <a:avLst>
              <a:gd name="adj" fmla="val 20000"/>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A688B297-EB72-4319-8BDF-7CD9E64865CE}"/>
              </a:ext>
            </a:extLst>
          </p:cNvPr>
          <p:cNvSpPr>
            <a:spLocks xmlns:a="http://schemas.openxmlformats.org/drawingml/2006/main" noGrp="1"/>
          </p:cNvSpPr>
          <p:nvPr/>
        </p:nvSpPr>
        <p:spPr>
          <a:xfrm xmlns:a="http://schemas.openxmlformats.org/drawingml/2006/main">
            <a:off x="1943100" y="207645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 276 II BGB</a:t>
            </a:r>
          </a:p>
        </p:txBody>
      </p:sp>
      <p:sp>
        <p:nvSpPr>
          <p:cNvPr id="7" name="">
            <a:extLst xmlns:a="http://schemas.openxmlformats.org/drawingml/2006/main">
              <a:ext uri="{FF2B5EF4-FFF2-40B4-BE49-F238E27FC236}">
                <a16:creationId xmlns:a16="http://schemas.microsoft.com/office/drawing/2014/main" id="{18137B82-4FFA-4181-8B86-2686AFEFF74F}"/>
              </a:ext>
            </a:extLst>
          </p:cNvPr>
          <p:cNvSpPr>
            <a:spLocks xmlns:a="http://schemas.openxmlformats.org/drawingml/2006/main" noGrp="1"/>
          </p:cNvSpPr>
          <p:nvPr/>
        </p:nvSpPr>
        <p:spPr>
          <a:xfrm xmlns:a="http://schemas.openxmlformats.org/drawingml/2006/main">
            <a:off x="3486150" y="2057400"/>
            <a:ext cx="2838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Fahrlässigkeit</a:t>
            </a:r>
          </a:p>
        </p:txBody>
      </p:sp>
      <p:sp>
        <p:nvSpPr>
          <p:cNvPr id="8" name="">
            <a:extLst xmlns:a="http://schemas.openxmlformats.org/drawingml/2006/main">
              <a:ext uri="{FF2B5EF4-FFF2-40B4-BE49-F238E27FC236}">
                <a16:creationId xmlns:a16="http://schemas.microsoft.com/office/drawing/2014/main" id="{F9856EB5-3348-4218-A8B9-243B04BE2F75}"/>
              </a:ext>
            </a:extLst>
          </p:cNvPr>
          <p:cNvSpPr>
            <a:spLocks xmlns:a="http://schemas.openxmlformats.org/drawingml/2006/main" noGrp="1"/>
          </p:cNvSpPr>
          <p:nvPr/>
        </p:nvSpPr>
        <p:spPr>
          <a:xfrm xmlns:a="http://schemas.openxmlformats.org/drawingml/2006/main">
            <a:off x="1981200" y="2609850"/>
            <a:ext cx="4305300" cy="2533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8">
                <a:solidFill>
                  <a:srgbClr val="15232B"/>
                </a:solidFill>
              </a:defRPr>
            </a:pPr>
            <a:r>
              <a:rPr sz="1148">
                <a:solidFill>
                  <a:srgbClr val="15232B"/>
                </a:solidFill>
              </a:rPr>
              <a:t>Fahrlässig handelt, wer die im Verkehr erforderliche Sorgfalt außer Acht lässt.</a:t>
            </a:r>
          </a:p>
        </p:txBody>
      </p:sp>
      <p:sp>
        <p:nvSpPr>
          <p:cNvPr id="9" name="">
            <a:extLst xmlns:a="http://schemas.openxmlformats.org/drawingml/2006/main">
              <a:ext uri="{FF2B5EF4-FFF2-40B4-BE49-F238E27FC236}">
                <a16:creationId xmlns:a16="http://schemas.microsoft.com/office/drawing/2014/main" id="{2258B020-4027-4789-BBEA-27A6364997D6}"/>
              </a:ext>
            </a:extLst>
          </p:cNvPr>
          <p:cNvSpPr>
            <a:spLocks xmlns:a="http://schemas.openxmlformats.org/drawingml/2006/main" noGrp="1"/>
          </p:cNvSpPr>
          <p:nvPr/>
        </p:nvSpPr>
        <p:spPr>
          <a:xfrm xmlns:a="http://schemas.openxmlformats.org/drawingml/2006/main">
            <a:off x="6686550" y="1943100"/>
            <a:ext cx="4648200" cy="3371850"/>
          </a:xfrm>
          <a:prstGeom xmlns:a="http://schemas.openxmlformats.org/drawingml/2006/main" prst="roundRect">
            <a:avLst>
              <a:gd name="adj" fmla="val 2260"/>
            </a:avLst>
          </a:prstGeom>
          <a:solidFill xmlns:a="http://schemas.openxmlformats.org/drawingml/2006/main">
            <a:srgbClr val="F3F7F9"/>
          </a:solidFill>
          <a:ln xmlns:a="http://schemas.openxmlformats.org/drawingml/2006/main" w="11430">
            <a:solidFill>
              <a:srgbClr val="003F6B"/>
            </a:solidFill>
            <a:prstDash val="solid"/>
          </a:ln>
        </p:spPr>
      </p:sp>
      <p:sp>
        <p:nvSpPr>
          <p:cNvPr id="10" name="">
            <a:extLst xmlns:a="http://schemas.openxmlformats.org/drawingml/2006/main">
              <a:ext uri="{FF2B5EF4-FFF2-40B4-BE49-F238E27FC236}">
                <a16:creationId xmlns:a16="http://schemas.microsoft.com/office/drawing/2014/main" id="{A4C722E1-CA0F-4365-84BB-83CD907BD449}"/>
              </a:ext>
            </a:extLst>
          </p:cNvPr>
          <p:cNvSpPr>
            <a:spLocks xmlns:a="http://schemas.openxmlformats.org/drawingml/2006/main" noGrp="1"/>
          </p:cNvSpPr>
          <p:nvPr/>
        </p:nvSpPr>
        <p:spPr>
          <a:xfrm xmlns:a="http://schemas.openxmlformats.org/drawingml/2006/main">
            <a:off x="6819900" y="2076450"/>
            <a:ext cx="1409700" cy="381000"/>
          </a:xfrm>
          <a:prstGeom xmlns:a="http://schemas.openxmlformats.org/drawingml/2006/main" prst="roundRect">
            <a:avLst>
              <a:gd name="adj" fmla="val 20000"/>
            </a:avLst>
          </a:prstGeom>
          <a:solidFill xmlns:a="http://schemas.openxmlformats.org/drawingml/2006/main">
            <a:srgbClr val="003F6B"/>
          </a:solidFill>
          <a:ln xmlns:a="http://schemas.openxmlformats.org/drawingml/2006/main" w="0">
            <a:solidFill>
              <a:srgbClr val="003F6B"/>
            </a:solidFill>
            <a:prstDash val="solid"/>
          </a:ln>
        </p:spPr>
      </p:sp>
      <p:sp>
        <p:nvSpPr>
          <p:cNvPr id="11" name="">
            <a:extLst xmlns:a="http://schemas.openxmlformats.org/drawingml/2006/main">
              <a:ext uri="{FF2B5EF4-FFF2-40B4-BE49-F238E27FC236}">
                <a16:creationId xmlns:a16="http://schemas.microsoft.com/office/drawing/2014/main" id="{5437BD30-D25F-4C91-A070-DABE0FB32696}"/>
              </a:ext>
            </a:extLst>
          </p:cNvPr>
          <p:cNvSpPr>
            <a:spLocks xmlns:a="http://schemas.openxmlformats.org/drawingml/2006/main" noGrp="1"/>
          </p:cNvSpPr>
          <p:nvPr/>
        </p:nvSpPr>
        <p:spPr>
          <a:xfrm xmlns:a="http://schemas.openxmlformats.org/drawingml/2006/main">
            <a:off x="6819900" y="207645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 249, 253 II BGB</a:t>
            </a:r>
          </a:p>
        </p:txBody>
      </p:sp>
      <p:sp>
        <p:nvSpPr>
          <p:cNvPr id="12" name="">
            <a:extLst xmlns:a="http://schemas.openxmlformats.org/drawingml/2006/main">
              <a:ext uri="{FF2B5EF4-FFF2-40B4-BE49-F238E27FC236}">
                <a16:creationId xmlns:a16="http://schemas.microsoft.com/office/drawing/2014/main" id="{51352925-C661-4000-9B49-F857FFEB7ECA}"/>
              </a:ext>
            </a:extLst>
          </p:cNvPr>
          <p:cNvSpPr>
            <a:spLocks xmlns:a="http://schemas.openxmlformats.org/drawingml/2006/main" noGrp="1"/>
          </p:cNvSpPr>
          <p:nvPr/>
        </p:nvSpPr>
        <p:spPr>
          <a:xfrm xmlns:a="http://schemas.openxmlformats.org/drawingml/2006/main">
            <a:off x="8362950" y="2057400"/>
            <a:ext cx="2838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Naturalrestitution und Schmerzensgeld</a:t>
            </a:r>
          </a:p>
        </p:txBody>
      </p:sp>
      <p:sp>
        <p:nvSpPr>
          <p:cNvPr id="13" name="">
            <a:extLst xmlns:a="http://schemas.openxmlformats.org/drawingml/2006/main">
              <a:ext uri="{FF2B5EF4-FFF2-40B4-BE49-F238E27FC236}">
                <a16:creationId xmlns:a16="http://schemas.microsoft.com/office/drawing/2014/main" id="{BC44205A-FE44-4F60-8F97-9A36E61B71A6}"/>
              </a:ext>
            </a:extLst>
          </p:cNvPr>
          <p:cNvSpPr>
            <a:spLocks xmlns:a="http://schemas.openxmlformats.org/drawingml/2006/main" noGrp="1"/>
          </p:cNvSpPr>
          <p:nvPr/>
        </p:nvSpPr>
        <p:spPr>
          <a:xfrm xmlns:a="http://schemas.openxmlformats.org/drawingml/2006/main">
            <a:off x="6858000" y="2609850"/>
            <a:ext cx="4305300" cy="2533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8">
                <a:solidFill>
                  <a:srgbClr val="15232B"/>
                </a:solidFill>
              </a:defRPr>
            </a:pPr>
            <a:r>
              <a:rPr sz="1148">
                <a:solidFill>
                  <a:srgbClr val="15232B"/>
                </a:solidFill>
              </a:rPr>
              <a:t>§ 249 Abs. 1: Wer zum Schadensersatz verpflichtet ist, hat den Zustand herzustellen, der bestehen würde, wenn der zum Ersatz verpflichtende Umstand nicht eingetreten wäre.</a:t>
            </a:r>
          </a:p>
          <a:p xmlns:a="http://schemas.openxmlformats.org/drawingml/2006/main">
            <a:r>
              <a:t/>
            </a:r>
          </a:p>
          <a:p xmlns:a="http://schemas.openxmlformats.org/drawingml/2006/main">
            <a:pPr>
              <a:buNone/>
              <a:defRPr sz="1148">
                <a:solidFill>
                  <a:srgbClr val="15232B"/>
                </a:solidFill>
              </a:defRPr>
            </a:pPr>
            <a:r>
              <a:rPr sz="1148">
                <a:solidFill>
                  <a:srgbClr val="15232B"/>
                </a:solidFill>
              </a:rPr>
              <a:t>§ 253 Abs. 2: Wegen einer Verletzung des Körpers, der Gesundheit, der Freiheit oder der sexuellen Selbstbestimmung kann auch wegen des nicht vermögensrechtlichen Schadens eine billige Entschädigung in Geld gefordert werden.</a:t>
            </a:r>
          </a:p>
        </p:txBody>
      </p:sp>
      <p:sp>
        <p:nvSpPr>
          <p:cNvPr id="14" name="">
            <a:extLst xmlns:a="http://schemas.openxmlformats.org/drawingml/2006/main">
              <a:ext uri="{FF2B5EF4-FFF2-40B4-BE49-F238E27FC236}">
                <a16:creationId xmlns:a16="http://schemas.microsoft.com/office/drawing/2014/main" id="{C751AC92-D524-4A16-B62A-9C262F34B9A0}"/>
              </a:ext>
            </a:extLst>
          </p:cNvPr>
          <p:cNvSpPr>
            <a:spLocks xmlns:a="http://schemas.openxmlformats.org/drawingml/2006/main" noGrp="1"/>
          </p:cNvSpPr>
          <p:nvPr/>
        </p:nvSpPr>
        <p:spPr>
          <a:xfrm xmlns:a="http://schemas.openxmlformats.org/drawingml/2006/main">
            <a:off x="1809750" y="5619750"/>
            <a:ext cx="9525000" cy="419100"/>
          </a:xfrm>
          <a:prstGeom xmlns:a="http://schemas.openxmlformats.org/drawingml/2006/main" prst="roundRect">
            <a:avLst>
              <a:gd name="adj" fmla="val 18182"/>
            </a:avLst>
          </a:prstGeom>
          <a:noFill xmlns:a="http://schemas.openxmlformats.org/drawingml/2006/main"/>
          <a:ln xmlns:a="http://schemas.openxmlformats.org/drawingml/2006/main" w="11430">
            <a:solidFill>
              <a:srgbClr val="00B2BB"/>
            </a:solidFill>
            <a:prstDash val="solid"/>
          </a:ln>
        </p:spPr>
      </p:sp>
      <p:sp>
        <p:nvSpPr>
          <p:cNvPr id="15" name="">
            <a:extLst xmlns:a="http://schemas.openxmlformats.org/drawingml/2006/main">
              <a:ext uri="{FF2B5EF4-FFF2-40B4-BE49-F238E27FC236}">
                <a16:creationId xmlns:a16="http://schemas.microsoft.com/office/drawing/2014/main" id="{1203697E-A4F7-4178-87C3-38E0C8B44B53}"/>
              </a:ext>
            </a:extLst>
          </p:cNvPr>
          <p:cNvSpPr>
            <a:spLocks xmlns:a="http://schemas.openxmlformats.org/drawingml/2006/main" noGrp="1"/>
          </p:cNvSpPr>
          <p:nvPr/>
        </p:nvSpPr>
        <p:spPr>
          <a:xfrm xmlns:a="http://schemas.openxmlformats.org/drawingml/2006/main">
            <a:off x="1962150" y="5638800"/>
            <a:ext cx="9220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13" b="1">
                <a:solidFill>
                  <a:srgbClr val="003F6B"/>
                </a:solidFill>
              </a:defRPr>
            </a:pPr>
            <a:r>
              <a:rPr sz="1013" b="1">
                <a:solidFill>
                  <a:srgbClr val="003F6B"/>
                </a:solidFill>
              </a:rPr>
              <a:t>Praxislesart: Die Haftung vergleicht reale Lage und hypothetische Lage ohne Pflichtverletzung; Schmerzensgeld ist nur ein Teil möglicher Schäden.</a:t>
            </a:r>
          </a:p>
        </p:txBody>
      </p:sp>
      <p:sp>
        <p:nvSpPr>
          <p:cNvPr id="16" name="">
            <a:extLst xmlns:a="http://schemas.openxmlformats.org/drawingml/2006/main">
              <a:ext uri="{FF2B5EF4-FFF2-40B4-BE49-F238E27FC236}">
                <a16:creationId xmlns:a16="http://schemas.microsoft.com/office/drawing/2014/main" id="{CB75DBE7-EDDE-4A6D-B969-8910A34BC016}"/>
              </a:ext>
            </a:extLst>
          </p:cNvPr>
          <p:cNvSpPr>
            <a:spLocks xmlns:a="http://schemas.openxmlformats.org/drawingml/2006/main" noGrp="1"/>
          </p:cNvSpPr>
          <p:nvPr/>
        </p:nvSpPr>
        <p:spPr>
          <a:xfrm xmlns:a="http://schemas.openxmlformats.org/drawingml/2006/main">
            <a:off x="1809750" y="535305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05">
                <a:solidFill>
                  <a:srgbClr val="667680"/>
                </a:solidFill>
              </a:defRPr>
            </a:pPr>
            <a:r>
              <a:rPr sz="705">
                <a:solidFill>
                  <a:srgbClr val="667680"/>
                </a:solidFill>
              </a:rPr>
              <a:t>BMJ/BfJ, gesetze-im-internet.de/bgb/__276.html, /__249.html, /__253.html · Abruf/Stand: 20.08.2026 · https://pubmed.ncbi.nlm.nih.gov</a:t>
            </a:r>
          </a:p>
        </p:txBody>
      </p:sp>
    </p:spTree>
    <p:extLst>
      <p:ext uri="{BB962C8B-B14F-4D97-AF65-F5344CB8AC3E}">
        <p14:creationId xmlns:p14="http://schemas.microsoft.com/office/powerpoint/2010/main" val="43637646"/>
      </p:ext>
    </p:extLst>
  </p:cSld>
</p:sld>
</file>

<file path=ppt/slides/slide75.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Grober Behandlungsfehler: Was sich wirklich umkehrt</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REALE ENTSCHEIDUNG</a:t>
            </a:r>
            <a:endParaRPr/>
          </a:p>
        </p:txBody>
      </p:sp>
      <p:sp>
        <p:nvSpPr>
          <p:cNvPr id="4" name="">
            <a:extLst xmlns:a="http://schemas.openxmlformats.org/drawingml/2006/main">
              <a:ext uri="{FF2B5EF4-FFF2-40B4-BE49-F238E27FC236}">
                <a16:creationId xmlns:a16="http://schemas.microsoft.com/office/drawing/2014/main" id="{FC2FFB15-A324-4A6D-9254-E03695B78239}"/>
              </a:ext>
            </a:extLst>
          </p:cNvPr>
          <p:cNvSpPr>
            <a:spLocks xmlns:a="http://schemas.openxmlformats.org/drawingml/2006/main" noGrp="1"/>
          </p:cNvSpPr>
          <p:nvPr/>
        </p:nvSpPr>
        <p:spPr>
          <a:xfrm xmlns:a="http://schemas.openxmlformats.org/drawingml/2006/main">
            <a:off x="1809750" y="1943100"/>
            <a:ext cx="11239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F84DE3AC-548B-49EA-86B5-E9A70F27A3BB}"/>
              </a:ext>
            </a:extLst>
          </p:cNvPr>
          <p:cNvSpPr>
            <a:spLocks xmlns:a="http://schemas.openxmlformats.org/drawingml/2006/main" noGrp="1"/>
          </p:cNvSpPr>
          <p:nvPr/>
        </p:nvSpPr>
        <p:spPr>
          <a:xfrm xmlns:a="http://schemas.openxmlformats.org/drawingml/2006/main">
            <a:off x="1809750" y="1943100"/>
            <a:ext cx="1123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BGH</a:t>
            </a:r>
          </a:p>
        </p:txBody>
      </p:sp>
      <p:sp>
        <p:nvSpPr>
          <p:cNvPr id="6" name="">
            <a:extLst xmlns:a="http://schemas.openxmlformats.org/drawingml/2006/main">
              <a:ext uri="{FF2B5EF4-FFF2-40B4-BE49-F238E27FC236}">
                <a16:creationId xmlns:a16="http://schemas.microsoft.com/office/drawing/2014/main" id="{C74C2412-B90B-4976-A60C-26FE46685301}"/>
              </a:ext>
            </a:extLst>
          </p:cNvPr>
          <p:cNvSpPr>
            <a:spLocks xmlns:a="http://schemas.openxmlformats.org/drawingml/2006/main" noGrp="1"/>
          </p:cNvSpPr>
          <p:nvPr/>
        </p:nvSpPr>
        <p:spPr>
          <a:xfrm xmlns:a="http://schemas.openxmlformats.org/drawingml/2006/main">
            <a:off x="312420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27.04.2004 · VI ZR 34/03</a:t>
            </a:r>
          </a:p>
        </p:txBody>
      </p:sp>
      <p:sp>
        <p:nvSpPr>
          <p:cNvPr id="7" name="">
            <a:extLst xmlns:a="http://schemas.openxmlformats.org/drawingml/2006/main">
              <a:ext uri="{FF2B5EF4-FFF2-40B4-BE49-F238E27FC236}">
                <a16:creationId xmlns:a16="http://schemas.microsoft.com/office/drawing/2014/main" id="{DC8257F8-3C46-4DB0-92C4-951450C32272}"/>
              </a:ext>
            </a:extLst>
          </p:cNvPr>
          <p:cNvSpPr>
            <a:spLocks xmlns:a="http://schemas.openxmlformats.org/drawingml/2006/main" noGrp="1"/>
          </p:cNvSpPr>
          <p:nvPr/>
        </p:nvSpPr>
        <p:spPr>
          <a:xfrm xmlns:a="http://schemas.openxmlformats.org/drawingml/2006/main">
            <a:off x="733425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050">
                <a:solidFill>
                  <a:srgbClr val="667680"/>
                </a:solidFill>
              </a:defRPr>
            </a:pPr>
            <a:r>
              <a:rPr sz="1050">
                <a:solidFill>
                  <a:srgbClr val="667680"/>
                </a:solidFill>
              </a:rPr>
              <a:t>Leitentscheidung</a:t>
            </a:r>
          </a:p>
        </p:txBody>
      </p:sp>
      <p:sp>
        <p:nvSpPr>
          <p:cNvPr id="8" name="">
            <a:extLst xmlns:a="http://schemas.openxmlformats.org/drawingml/2006/main">
              <a:ext uri="{FF2B5EF4-FFF2-40B4-BE49-F238E27FC236}">
                <a16:creationId xmlns:a16="http://schemas.microsoft.com/office/drawing/2014/main" id="{6E2E5829-1933-4776-8B39-6BC17C114EB4}"/>
              </a:ext>
            </a:extLst>
          </p:cNvPr>
          <p:cNvSpPr>
            <a:spLocks xmlns:a="http://schemas.openxmlformats.org/drawingml/2006/main" noGrp="1"/>
          </p:cNvSpPr>
          <p:nvPr/>
        </p:nvSpPr>
        <p:spPr>
          <a:xfrm xmlns:a="http://schemas.openxmlformats.org/drawingml/2006/main">
            <a:off x="1809750" y="2533650"/>
            <a:ext cx="1676400" cy="781050"/>
          </a:xfrm>
          <a:prstGeom xmlns:a="http://schemas.openxmlformats.org/drawingml/2006/main" prst="roundRect">
            <a:avLst>
              <a:gd name="adj" fmla="val 9756"/>
            </a:avLst>
          </a:prstGeom>
          <a:solidFill xmlns:a="http://schemas.openxmlformats.org/drawingml/2006/main">
            <a:srgbClr val="00B2BB"/>
          </a:solidFill>
          <a:ln xmlns:a="http://schemas.openxmlformats.org/drawingml/2006/main" w="0">
            <a:solidFill>
              <a:srgbClr val="00B2BB"/>
            </a:solidFill>
            <a:prstDash val="solid"/>
          </a:ln>
        </p:spPr>
      </p:sp>
      <p:sp>
        <p:nvSpPr>
          <p:cNvPr id="9" name="">
            <a:extLst xmlns:a="http://schemas.openxmlformats.org/drawingml/2006/main">
              <a:ext uri="{FF2B5EF4-FFF2-40B4-BE49-F238E27FC236}">
                <a16:creationId xmlns:a16="http://schemas.microsoft.com/office/drawing/2014/main" id="{63148775-796D-4B7B-84F8-0DA3C4CB75F2}"/>
              </a:ext>
            </a:extLst>
          </p:cNvPr>
          <p:cNvSpPr>
            <a:spLocks xmlns:a="http://schemas.openxmlformats.org/drawingml/2006/main" noGrp="1"/>
          </p:cNvSpPr>
          <p:nvPr/>
        </p:nvSpPr>
        <p:spPr>
          <a:xfrm xmlns:a="http://schemas.openxmlformats.org/drawingml/2006/main">
            <a:off x="1924050" y="25336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Ausgangsfall</a:t>
            </a:r>
          </a:p>
        </p:txBody>
      </p:sp>
      <p:sp>
        <p:nvSpPr>
          <p:cNvPr id="10" name="">
            <a:extLst xmlns:a="http://schemas.openxmlformats.org/drawingml/2006/main">
              <a:ext uri="{FF2B5EF4-FFF2-40B4-BE49-F238E27FC236}">
                <a16:creationId xmlns:a16="http://schemas.microsoft.com/office/drawing/2014/main" id="{412D6B09-007F-4629-8D9C-24E089BA6F6B}"/>
              </a:ext>
            </a:extLst>
          </p:cNvPr>
          <p:cNvSpPr>
            <a:spLocks xmlns:a="http://schemas.openxmlformats.org/drawingml/2006/main" noGrp="1"/>
          </p:cNvSpPr>
          <p:nvPr/>
        </p:nvSpPr>
        <p:spPr>
          <a:xfrm xmlns:a="http://schemas.openxmlformats.org/drawingml/2006/main">
            <a:off x="3695700" y="25336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88">
                <a:solidFill>
                  <a:srgbClr val="15232B"/>
                </a:solidFill>
              </a:defRPr>
            </a:pPr>
            <a:r>
              <a:rPr sz="1088">
                <a:solidFill>
                  <a:srgbClr val="15232B"/>
                </a:solidFill>
              </a:rPr>
              <a:t>Nach einem schweren Behandlungsfehler war streitig, ob gerade dieser Fehler den Gesundheitsschaden verursacht hatte.</a:t>
            </a:r>
          </a:p>
        </p:txBody>
      </p:sp>
      <p:sp>
        <p:nvSpPr>
          <p:cNvPr id="11" name="">
            <a:extLst xmlns:a="http://schemas.openxmlformats.org/drawingml/2006/main">
              <a:ext uri="{FF2B5EF4-FFF2-40B4-BE49-F238E27FC236}">
                <a16:creationId xmlns:a16="http://schemas.microsoft.com/office/drawing/2014/main" id="{EF3D8C07-EBBA-4992-812E-FEEF30D7D537}"/>
              </a:ext>
            </a:extLst>
          </p:cNvPr>
          <p:cNvSpPr>
            <a:spLocks xmlns:a="http://schemas.openxmlformats.org/drawingml/2006/main" noGrp="1"/>
          </p:cNvSpPr>
          <p:nvPr/>
        </p:nvSpPr>
        <p:spPr>
          <a:xfrm xmlns:a="http://schemas.openxmlformats.org/drawingml/2006/main">
            <a:off x="1809750" y="3486150"/>
            <a:ext cx="1676400" cy="781050"/>
          </a:xfrm>
          <a:prstGeom xmlns:a="http://schemas.openxmlformats.org/drawingml/2006/main" prst="roundRect">
            <a:avLst>
              <a:gd name="adj" fmla="val 9756"/>
            </a:avLst>
          </a:prstGeom>
          <a:solidFill xmlns:a="http://schemas.openxmlformats.org/drawingml/2006/main">
            <a:srgbClr val="003F6B"/>
          </a:solidFill>
          <a:ln xmlns:a="http://schemas.openxmlformats.org/drawingml/2006/main" w="0">
            <a:solidFill>
              <a:srgbClr val="003F6B"/>
            </a:solidFill>
            <a:prstDash val="solid"/>
          </a:ln>
        </p:spPr>
      </p:sp>
      <p:sp>
        <p:nvSpPr>
          <p:cNvPr id="12" name="">
            <a:extLst xmlns:a="http://schemas.openxmlformats.org/drawingml/2006/main">
              <a:ext uri="{FF2B5EF4-FFF2-40B4-BE49-F238E27FC236}">
                <a16:creationId xmlns:a16="http://schemas.microsoft.com/office/drawing/2014/main" id="{20D3194B-1B85-4D05-A00F-47C7B376BCD5}"/>
              </a:ext>
            </a:extLst>
          </p:cNvPr>
          <p:cNvSpPr>
            <a:spLocks xmlns:a="http://schemas.openxmlformats.org/drawingml/2006/main" noGrp="1"/>
          </p:cNvSpPr>
          <p:nvPr/>
        </p:nvSpPr>
        <p:spPr>
          <a:xfrm xmlns:a="http://schemas.openxmlformats.org/drawingml/2006/main">
            <a:off x="1924050" y="34861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Kernaussage</a:t>
            </a:r>
          </a:p>
        </p:txBody>
      </p:sp>
      <p:sp>
        <p:nvSpPr>
          <p:cNvPr id="13" name="">
            <a:extLst xmlns:a="http://schemas.openxmlformats.org/drawingml/2006/main">
              <a:ext uri="{FF2B5EF4-FFF2-40B4-BE49-F238E27FC236}">
                <a16:creationId xmlns:a16="http://schemas.microsoft.com/office/drawing/2014/main" id="{F95468CF-032D-4547-9520-B218DD0D4850}"/>
              </a:ext>
            </a:extLst>
          </p:cNvPr>
          <p:cNvSpPr>
            <a:spLocks xmlns:a="http://schemas.openxmlformats.org/drawingml/2006/main" noGrp="1"/>
          </p:cNvSpPr>
          <p:nvPr/>
        </p:nvSpPr>
        <p:spPr>
          <a:xfrm xmlns:a="http://schemas.openxmlformats.org/drawingml/2006/main">
            <a:off x="3695700" y="34861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88">
                <a:solidFill>
                  <a:srgbClr val="15232B"/>
                </a:solidFill>
              </a:defRPr>
            </a:pPr>
            <a:r>
              <a:rPr sz="1088">
                <a:solidFill>
                  <a:srgbClr val="15232B"/>
                </a:solidFill>
              </a:rPr>
              <a:t>Ein grober Fehler, der generell geeignet ist, einen Schaden der eingetretenen Art herbeizuführen, kehrt grundsätzlich die objektive Beweislast für den Ursachenzusammenhang um; Wahrscheinlichkeit des Erfolgs ist nicht erforderlich.</a:t>
            </a:r>
          </a:p>
        </p:txBody>
      </p:sp>
      <p:sp>
        <p:nvSpPr>
          <p:cNvPr id="14" name="">
            <a:extLst xmlns:a="http://schemas.openxmlformats.org/drawingml/2006/main">
              <a:ext uri="{FF2B5EF4-FFF2-40B4-BE49-F238E27FC236}">
                <a16:creationId xmlns:a16="http://schemas.microsoft.com/office/drawing/2014/main" id="{A2550ADE-4C4B-4195-87CD-37003BA11576}"/>
              </a:ext>
            </a:extLst>
          </p:cNvPr>
          <p:cNvSpPr>
            <a:spLocks xmlns:a="http://schemas.openxmlformats.org/drawingml/2006/main" noGrp="1"/>
          </p:cNvSpPr>
          <p:nvPr/>
        </p:nvSpPr>
        <p:spPr>
          <a:xfrm xmlns:a="http://schemas.openxmlformats.org/drawingml/2006/main">
            <a:off x="1809750" y="4438650"/>
            <a:ext cx="1676400" cy="781050"/>
          </a:xfrm>
          <a:prstGeom xmlns:a="http://schemas.openxmlformats.org/drawingml/2006/main" prst="roundRect">
            <a:avLst>
              <a:gd name="adj" fmla="val 9756"/>
            </a:avLst>
          </a:prstGeom>
          <a:solidFill xmlns:a="http://schemas.openxmlformats.org/drawingml/2006/main">
            <a:srgbClr val="00B2BB"/>
          </a:solidFill>
          <a:ln xmlns:a="http://schemas.openxmlformats.org/drawingml/2006/main" w="0">
            <a:solidFill>
              <a:srgbClr val="00B2BB"/>
            </a:solidFill>
            <a:prstDash val="solid"/>
          </a:ln>
        </p:spPr>
      </p:sp>
      <p:sp>
        <p:nvSpPr>
          <p:cNvPr id="15" name="">
            <a:extLst xmlns:a="http://schemas.openxmlformats.org/drawingml/2006/main">
              <a:ext uri="{FF2B5EF4-FFF2-40B4-BE49-F238E27FC236}">
                <a16:creationId xmlns:a16="http://schemas.microsoft.com/office/drawing/2014/main" id="{DA9A6248-6BBD-426B-9E71-219EA95D3770}"/>
              </a:ext>
            </a:extLst>
          </p:cNvPr>
          <p:cNvSpPr>
            <a:spLocks xmlns:a="http://schemas.openxmlformats.org/drawingml/2006/main" noGrp="1"/>
          </p:cNvSpPr>
          <p:nvPr/>
        </p:nvSpPr>
        <p:spPr>
          <a:xfrm xmlns:a="http://schemas.openxmlformats.org/drawingml/2006/main">
            <a:off x="1924050" y="44386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Für die Praxis</a:t>
            </a:r>
          </a:p>
        </p:txBody>
      </p:sp>
      <p:sp>
        <p:nvSpPr>
          <p:cNvPr id="16" name="">
            <a:extLst xmlns:a="http://schemas.openxmlformats.org/drawingml/2006/main">
              <a:ext uri="{FF2B5EF4-FFF2-40B4-BE49-F238E27FC236}">
                <a16:creationId xmlns:a16="http://schemas.microsoft.com/office/drawing/2014/main" id="{03A6685D-0B54-4C6C-BB1C-D05986C8509D}"/>
              </a:ext>
            </a:extLst>
          </p:cNvPr>
          <p:cNvSpPr>
            <a:spLocks xmlns:a="http://schemas.openxmlformats.org/drawingml/2006/main" noGrp="1"/>
          </p:cNvSpPr>
          <p:nvPr/>
        </p:nvSpPr>
        <p:spPr>
          <a:xfrm xmlns:a="http://schemas.openxmlformats.org/drawingml/2006/main">
            <a:off x="3695700" y="44386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88">
                <a:solidFill>
                  <a:srgbClr val="15232B"/>
                </a:solidFill>
              </a:defRPr>
            </a:pPr>
            <a:r>
              <a:rPr sz="1088">
                <a:solidFill>
                  <a:srgbClr val="15232B"/>
                </a:solidFill>
              </a:rPr>
              <a:t>Zuerst muss die Tatsachengrundlage medizinisch geklärt werden. Die Einstufung ‚grob‘ ist anschließend eine juristische Wertung des Gerichts.</a:t>
            </a:r>
          </a:p>
        </p:txBody>
      </p:sp>
      <p:sp>
        <p:nvSpPr>
          <p:cNvPr id="17" name="">
            <a:extLst xmlns:a="http://schemas.openxmlformats.org/drawingml/2006/main">
              <a:ext uri="{FF2B5EF4-FFF2-40B4-BE49-F238E27FC236}">
                <a16:creationId xmlns:a16="http://schemas.microsoft.com/office/drawing/2014/main" id="{58CEE1D6-D193-4A9F-9963-F4B90AFDA130}"/>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20">
                <a:solidFill>
                  <a:srgbClr val="667680"/>
                </a:solidFill>
              </a:defRPr>
            </a:pPr>
            <a:r>
              <a:rPr sz="720">
                <a:solidFill>
                  <a:srgbClr val="667680"/>
                </a:solidFill>
              </a:rPr>
              <a:t>BGH, ECLI/Entscheidungsdatenbank: juris.bundesgerichtshof.de, VI ZR 34/03 · https://juris.bundesgerichtshof.de</a:t>
            </a:r>
          </a:p>
        </p:txBody>
      </p:sp>
    </p:spTree>
    <p:extLst>
      <p:ext uri="{BB962C8B-B14F-4D97-AF65-F5344CB8AC3E}">
        <p14:creationId xmlns:p14="http://schemas.microsoft.com/office/powerpoint/2010/main" val="43637646"/>
      </p:ext>
    </p:extLst>
  </p:cSld>
</p:sld>
</file>

<file path=ppt/slides/slide76.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Befunderhebungsfehler: die dreistufige Kausalkette</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REALE ENTSCHEIDUNG</a:t>
            </a:r>
            <a:endParaRPr/>
          </a:p>
        </p:txBody>
      </p:sp>
      <p:sp>
        <p:nvSpPr>
          <p:cNvPr id="4" name="">
            <a:extLst xmlns:a="http://schemas.openxmlformats.org/drawingml/2006/main">
              <a:ext uri="{FF2B5EF4-FFF2-40B4-BE49-F238E27FC236}">
                <a16:creationId xmlns:a16="http://schemas.microsoft.com/office/drawing/2014/main" id="{0A958DAF-4B7F-49BB-9A38-A71690FCB079}"/>
              </a:ext>
            </a:extLst>
          </p:cNvPr>
          <p:cNvSpPr>
            <a:spLocks xmlns:a="http://schemas.openxmlformats.org/drawingml/2006/main" noGrp="1"/>
          </p:cNvSpPr>
          <p:nvPr/>
        </p:nvSpPr>
        <p:spPr>
          <a:xfrm xmlns:a="http://schemas.openxmlformats.org/drawingml/2006/main">
            <a:off x="1809750" y="1943100"/>
            <a:ext cx="11239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1A576C75-EBF2-472D-8E74-A423A3306548}"/>
              </a:ext>
            </a:extLst>
          </p:cNvPr>
          <p:cNvSpPr>
            <a:spLocks xmlns:a="http://schemas.openxmlformats.org/drawingml/2006/main" noGrp="1"/>
          </p:cNvSpPr>
          <p:nvPr/>
        </p:nvSpPr>
        <p:spPr>
          <a:xfrm xmlns:a="http://schemas.openxmlformats.org/drawingml/2006/main">
            <a:off x="1809750" y="1943100"/>
            <a:ext cx="1123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BGH</a:t>
            </a:r>
          </a:p>
        </p:txBody>
      </p:sp>
      <p:sp>
        <p:nvSpPr>
          <p:cNvPr id="6" name="">
            <a:extLst xmlns:a="http://schemas.openxmlformats.org/drawingml/2006/main">
              <a:ext uri="{FF2B5EF4-FFF2-40B4-BE49-F238E27FC236}">
                <a16:creationId xmlns:a16="http://schemas.microsoft.com/office/drawing/2014/main" id="{C1AB651A-7C04-4E79-951B-AF760FC47845}"/>
              </a:ext>
            </a:extLst>
          </p:cNvPr>
          <p:cNvSpPr>
            <a:spLocks xmlns:a="http://schemas.openxmlformats.org/drawingml/2006/main" noGrp="1"/>
          </p:cNvSpPr>
          <p:nvPr/>
        </p:nvSpPr>
        <p:spPr>
          <a:xfrm xmlns:a="http://schemas.openxmlformats.org/drawingml/2006/main">
            <a:off x="312420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07.06.2011 · VI ZR 87/10</a:t>
            </a:r>
          </a:p>
        </p:txBody>
      </p:sp>
      <p:sp>
        <p:nvSpPr>
          <p:cNvPr id="7" name="">
            <a:extLst xmlns:a="http://schemas.openxmlformats.org/drawingml/2006/main">
              <a:ext uri="{FF2B5EF4-FFF2-40B4-BE49-F238E27FC236}">
                <a16:creationId xmlns:a16="http://schemas.microsoft.com/office/drawing/2014/main" id="{EA63E931-61AB-48D3-A07B-C9422D6AD2A6}"/>
              </a:ext>
            </a:extLst>
          </p:cNvPr>
          <p:cNvSpPr>
            <a:spLocks xmlns:a="http://schemas.openxmlformats.org/drawingml/2006/main" noGrp="1"/>
          </p:cNvSpPr>
          <p:nvPr/>
        </p:nvSpPr>
        <p:spPr>
          <a:xfrm xmlns:a="http://schemas.openxmlformats.org/drawingml/2006/main">
            <a:off x="733425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050">
                <a:solidFill>
                  <a:srgbClr val="667680"/>
                </a:solidFill>
              </a:defRPr>
            </a:pPr>
            <a:r>
              <a:rPr sz="1050">
                <a:solidFill>
                  <a:srgbClr val="667680"/>
                </a:solidFill>
              </a:rPr>
              <a:t>Leitentscheidung</a:t>
            </a:r>
          </a:p>
        </p:txBody>
      </p:sp>
      <p:sp>
        <p:nvSpPr>
          <p:cNvPr id="8" name="">
            <a:extLst xmlns:a="http://schemas.openxmlformats.org/drawingml/2006/main">
              <a:ext uri="{FF2B5EF4-FFF2-40B4-BE49-F238E27FC236}">
                <a16:creationId xmlns:a16="http://schemas.microsoft.com/office/drawing/2014/main" id="{75742BEB-ED3A-45EE-9FE7-829AC97F2EA5}"/>
              </a:ext>
            </a:extLst>
          </p:cNvPr>
          <p:cNvSpPr>
            <a:spLocks xmlns:a="http://schemas.openxmlformats.org/drawingml/2006/main" noGrp="1"/>
          </p:cNvSpPr>
          <p:nvPr/>
        </p:nvSpPr>
        <p:spPr>
          <a:xfrm xmlns:a="http://schemas.openxmlformats.org/drawingml/2006/main">
            <a:off x="1809750" y="2533650"/>
            <a:ext cx="1676400" cy="781050"/>
          </a:xfrm>
          <a:prstGeom xmlns:a="http://schemas.openxmlformats.org/drawingml/2006/main" prst="roundRect">
            <a:avLst>
              <a:gd name="adj" fmla="val 9756"/>
            </a:avLst>
          </a:prstGeom>
          <a:solidFill xmlns:a="http://schemas.openxmlformats.org/drawingml/2006/main">
            <a:srgbClr val="00B2BB"/>
          </a:solidFill>
          <a:ln xmlns:a="http://schemas.openxmlformats.org/drawingml/2006/main" w="0">
            <a:solidFill>
              <a:srgbClr val="00B2BB"/>
            </a:solidFill>
            <a:prstDash val="solid"/>
          </a:ln>
        </p:spPr>
      </p:sp>
      <p:sp>
        <p:nvSpPr>
          <p:cNvPr id="9" name="">
            <a:extLst xmlns:a="http://schemas.openxmlformats.org/drawingml/2006/main">
              <a:ext uri="{FF2B5EF4-FFF2-40B4-BE49-F238E27FC236}">
                <a16:creationId xmlns:a16="http://schemas.microsoft.com/office/drawing/2014/main" id="{81F34FDF-2B86-4BFF-A54A-FFDB4F324C0D}"/>
              </a:ext>
            </a:extLst>
          </p:cNvPr>
          <p:cNvSpPr>
            <a:spLocks xmlns:a="http://schemas.openxmlformats.org/drawingml/2006/main" noGrp="1"/>
          </p:cNvSpPr>
          <p:nvPr/>
        </p:nvSpPr>
        <p:spPr>
          <a:xfrm xmlns:a="http://schemas.openxmlformats.org/drawingml/2006/main">
            <a:off x="1924050" y="25336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Ausgangsfall</a:t>
            </a:r>
          </a:p>
        </p:txBody>
      </p:sp>
      <p:sp>
        <p:nvSpPr>
          <p:cNvPr id="10" name="">
            <a:extLst xmlns:a="http://schemas.openxmlformats.org/drawingml/2006/main">
              <a:ext uri="{FF2B5EF4-FFF2-40B4-BE49-F238E27FC236}">
                <a16:creationId xmlns:a16="http://schemas.microsoft.com/office/drawing/2014/main" id="{70C7D3E1-B0CA-423F-89A3-A347C51503A3}"/>
              </a:ext>
            </a:extLst>
          </p:cNvPr>
          <p:cNvSpPr>
            <a:spLocks xmlns:a="http://schemas.openxmlformats.org/drawingml/2006/main" noGrp="1"/>
          </p:cNvSpPr>
          <p:nvPr/>
        </p:nvSpPr>
        <p:spPr>
          <a:xfrm xmlns:a="http://schemas.openxmlformats.org/drawingml/2006/main">
            <a:off x="3695700" y="25336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88">
                <a:solidFill>
                  <a:srgbClr val="15232B"/>
                </a:solidFill>
              </a:defRPr>
            </a:pPr>
            <a:r>
              <a:rPr sz="1088">
                <a:solidFill>
                  <a:srgbClr val="15232B"/>
                </a:solidFill>
              </a:rPr>
              <a:t>Eine medizinisch gebotene Befunderhebung unterblieb; offen blieb, welchen Befund sie gezeigt und welche Reaktion er ausgelöst hätte.</a:t>
            </a:r>
          </a:p>
        </p:txBody>
      </p:sp>
      <p:sp>
        <p:nvSpPr>
          <p:cNvPr id="11" name="">
            <a:extLst xmlns:a="http://schemas.openxmlformats.org/drawingml/2006/main">
              <a:ext uri="{FF2B5EF4-FFF2-40B4-BE49-F238E27FC236}">
                <a16:creationId xmlns:a16="http://schemas.microsoft.com/office/drawing/2014/main" id="{67707CE7-1AE5-46CE-85C7-284185CC904F}"/>
              </a:ext>
            </a:extLst>
          </p:cNvPr>
          <p:cNvSpPr>
            <a:spLocks xmlns:a="http://schemas.openxmlformats.org/drawingml/2006/main" noGrp="1"/>
          </p:cNvSpPr>
          <p:nvPr/>
        </p:nvSpPr>
        <p:spPr>
          <a:xfrm xmlns:a="http://schemas.openxmlformats.org/drawingml/2006/main">
            <a:off x="1809750" y="3486150"/>
            <a:ext cx="1676400" cy="781050"/>
          </a:xfrm>
          <a:prstGeom xmlns:a="http://schemas.openxmlformats.org/drawingml/2006/main" prst="roundRect">
            <a:avLst>
              <a:gd name="adj" fmla="val 9756"/>
            </a:avLst>
          </a:prstGeom>
          <a:solidFill xmlns:a="http://schemas.openxmlformats.org/drawingml/2006/main">
            <a:srgbClr val="003F6B"/>
          </a:solidFill>
          <a:ln xmlns:a="http://schemas.openxmlformats.org/drawingml/2006/main" w="0">
            <a:solidFill>
              <a:srgbClr val="003F6B"/>
            </a:solidFill>
            <a:prstDash val="solid"/>
          </a:ln>
        </p:spPr>
      </p:sp>
      <p:sp>
        <p:nvSpPr>
          <p:cNvPr id="12" name="">
            <a:extLst xmlns:a="http://schemas.openxmlformats.org/drawingml/2006/main">
              <a:ext uri="{FF2B5EF4-FFF2-40B4-BE49-F238E27FC236}">
                <a16:creationId xmlns:a16="http://schemas.microsoft.com/office/drawing/2014/main" id="{4B8FD62C-14A9-413F-9BBF-10BDE9590DA9}"/>
              </a:ext>
            </a:extLst>
          </p:cNvPr>
          <p:cNvSpPr>
            <a:spLocks xmlns:a="http://schemas.openxmlformats.org/drawingml/2006/main" noGrp="1"/>
          </p:cNvSpPr>
          <p:nvPr/>
        </p:nvSpPr>
        <p:spPr>
          <a:xfrm xmlns:a="http://schemas.openxmlformats.org/drawingml/2006/main">
            <a:off x="1924050" y="34861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Kernaussage</a:t>
            </a:r>
          </a:p>
        </p:txBody>
      </p:sp>
      <p:sp>
        <p:nvSpPr>
          <p:cNvPr id="13" name="">
            <a:extLst xmlns:a="http://schemas.openxmlformats.org/drawingml/2006/main">
              <a:ext uri="{FF2B5EF4-FFF2-40B4-BE49-F238E27FC236}">
                <a16:creationId xmlns:a16="http://schemas.microsoft.com/office/drawing/2014/main" id="{BD34D90C-87ED-443E-9F08-CC95F88D2F8F}"/>
              </a:ext>
            </a:extLst>
          </p:cNvPr>
          <p:cNvSpPr>
            <a:spLocks xmlns:a="http://schemas.openxmlformats.org/drawingml/2006/main" noGrp="1"/>
          </p:cNvSpPr>
          <p:nvPr/>
        </p:nvSpPr>
        <p:spPr>
          <a:xfrm xmlns:a="http://schemas.openxmlformats.org/drawingml/2006/main">
            <a:off x="3695700" y="34861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88">
                <a:solidFill>
                  <a:srgbClr val="15232B"/>
                </a:solidFill>
              </a:defRPr>
            </a:pPr>
            <a:r>
              <a:rPr sz="1088">
                <a:solidFill>
                  <a:srgbClr val="15232B"/>
                </a:solidFill>
              </a:rPr>
              <a:t>Auch ein einfacher Befunderhebungsfehler kann zur Beweislastumkehr führen: wahrscheinlicher reaktionspflichtiger Befund + fundamental fehlerhafte Verkennung/Nichtreaktion + generelle Schadenseignung.</a:t>
            </a:r>
          </a:p>
        </p:txBody>
      </p:sp>
      <p:sp>
        <p:nvSpPr>
          <p:cNvPr id="14" name="">
            <a:extLst xmlns:a="http://schemas.openxmlformats.org/drawingml/2006/main">
              <a:ext uri="{FF2B5EF4-FFF2-40B4-BE49-F238E27FC236}">
                <a16:creationId xmlns:a16="http://schemas.microsoft.com/office/drawing/2014/main" id="{173F643E-C066-4C8D-B313-5FB277CC38F8}"/>
              </a:ext>
            </a:extLst>
          </p:cNvPr>
          <p:cNvSpPr>
            <a:spLocks xmlns:a="http://schemas.openxmlformats.org/drawingml/2006/main" noGrp="1"/>
          </p:cNvSpPr>
          <p:nvPr/>
        </p:nvSpPr>
        <p:spPr>
          <a:xfrm xmlns:a="http://schemas.openxmlformats.org/drawingml/2006/main">
            <a:off x="1809750" y="4438650"/>
            <a:ext cx="1676400" cy="781050"/>
          </a:xfrm>
          <a:prstGeom xmlns:a="http://schemas.openxmlformats.org/drawingml/2006/main" prst="roundRect">
            <a:avLst>
              <a:gd name="adj" fmla="val 9756"/>
            </a:avLst>
          </a:prstGeom>
          <a:solidFill xmlns:a="http://schemas.openxmlformats.org/drawingml/2006/main">
            <a:srgbClr val="00B2BB"/>
          </a:solidFill>
          <a:ln xmlns:a="http://schemas.openxmlformats.org/drawingml/2006/main" w="0">
            <a:solidFill>
              <a:srgbClr val="00B2BB"/>
            </a:solidFill>
            <a:prstDash val="solid"/>
          </a:ln>
        </p:spPr>
      </p:sp>
      <p:sp>
        <p:nvSpPr>
          <p:cNvPr id="15" name="">
            <a:extLst xmlns:a="http://schemas.openxmlformats.org/drawingml/2006/main">
              <a:ext uri="{FF2B5EF4-FFF2-40B4-BE49-F238E27FC236}">
                <a16:creationId xmlns:a16="http://schemas.microsoft.com/office/drawing/2014/main" id="{7A0D7987-579B-4AE6-9416-91241A91A188}"/>
              </a:ext>
            </a:extLst>
          </p:cNvPr>
          <p:cNvSpPr>
            <a:spLocks xmlns:a="http://schemas.openxmlformats.org/drawingml/2006/main" noGrp="1"/>
          </p:cNvSpPr>
          <p:nvPr/>
        </p:nvSpPr>
        <p:spPr>
          <a:xfrm xmlns:a="http://schemas.openxmlformats.org/drawingml/2006/main">
            <a:off x="1924050" y="44386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Für die Praxis</a:t>
            </a:r>
          </a:p>
        </p:txBody>
      </p:sp>
      <p:sp>
        <p:nvSpPr>
          <p:cNvPr id="16" name="">
            <a:extLst xmlns:a="http://schemas.openxmlformats.org/drawingml/2006/main">
              <a:ext uri="{FF2B5EF4-FFF2-40B4-BE49-F238E27FC236}">
                <a16:creationId xmlns:a16="http://schemas.microsoft.com/office/drawing/2014/main" id="{E6FE9F2B-AD25-47E8-8690-9676BE0F9233}"/>
              </a:ext>
            </a:extLst>
          </p:cNvPr>
          <p:cNvSpPr>
            <a:spLocks xmlns:a="http://schemas.openxmlformats.org/drawingml/2006/main" noGrp="1"/>
          </p:cNvSpPr>
          <p:nvPr/>
        </p:nvSpPr>
        <p:spPr>
          <a:xfrm xmlns:a="http://schemas.openxmlformats.org/drawingml/2006/main">
            <a:off x="3695700" y="44386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88">
                <a:solidFill>
                  <a:srgbClr val="15232B"/>
                </a:solidFill>
              </a:defRPr>
            </a:pPr>
            <a:r>
              <a:rPr sz="1088">
                <a:solidFill>
                  <a:srgbClr val="15232B"/>
                </a:solidFill>
              </a:rPr>
              <a:t>Beweisfragen müssen jede Stufe getrennt abbilden: Befundwahrscheinlichkeit, gebotene Reaktion, Fehlergewicht und Schadenseignung.</a:t>
            </a:r>
          </a:p>
        </p:txBody>
      </p:sp>
      <p:sp>
        <p:nvSpPr>
          <p:cNvPr id="17" name="">
            <a:extLst xmlns:a="http://schemas.openxmlformats.org/drawingml/2006/main">
              <a:ext uri="{FF2B5EF4-FFF2-40B4-BE49-F238E27FC236}">
                <a16:creationId xmlns:a16="http://schemas.microsoft.com/office/drawing/2014/main" id="{DE1492B4-079E-4CE5-91B3-0F4B26FD4691}"/>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20">
                <a:solidFill>
                  <a:srgbClr val="667680"/>
                </a:solidFill>
              </a:defRPr>
            </a:pPr>
            <a:r>
              <a:rPr sz="720">
                <a:solidFill>
                  <a:srgbClr val="667680"/>
                </a:solidFill>
              </a:rPr>
              <a:t>BGH, Urteil VI ZR 87/10, juris.bundesgerichtshof.de · https://juris.bundesgerichtshof.de</a:t>
            </a:r>
          </a:p>
        </p:txBody>
      </p:sp>
    </p:spTree>
    <p:extLst>
      <p:ext uri="{BB962C8B-B14F-4D97-AF65-F5344CB8AC3E}">
        <p14:creationId xmlns:p14="http://schemas.microsoft.com/office/powerpoint/2010/main" val="43637646"/>
      </p:ext>
    </p:extLst>
  </p:cSld>
</p:sld>
</file>

<file path=ppt/slides/slide77.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Der Behandlungsvertrag als Ausgangspunkt</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F79A9F58-3E41-456C-8BB5-02ED04841A75}"/>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Die §§ 630a bis 630h BGB bündeln zentrale Rechte und Pflichten des Behandlungsverhältnisses.</a:t>
            </a:r>
          </a:p>
        </p:txBody>
      </p:sp>
      <p:sp>
        <p:nvSpPr>
          <p:cNvPr id="5" name="">
            <a:extLst xmlns:a="http://schemas.openxmlformats.org/drawingml/2006/main">
              <a:ext uri="{FF2B5EF4-FFF2-40B4-BE49-F238E27FC236}">
                <a16:creationId xmlns:a16="http://schemas.microsoft.com/office/drawing/2014/main" id="{A80C7F4F-4772-4E5D-9C0D-86E5016AD6E9}"/>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980C780F-0B9A-4355-B247-B181781F9639}"/>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DBF34B9D-6C7D-490F-A81C-D55FE1F3EAAC}"/>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Vertragspartner</a:t>
            </a:r>
          </a:p>
        </p:txBody>
      </p:sp>
      <p:sp>
        <p:nvSpPr>
          <p:cNvPr id="8" name="">
            <a:extLst xmlns:a="http://schemas.openxmlformats.org/drawingml/2006/main">
              <a:ext uri="{FF2B5EF4-FFF2-40B4-BE49-F238E27FC236}">
                <a16:creationId xmlns:a16="http://schemas.microsoft.com/office/drawing/2014/main" id="{7A5CC93E-EBA3-47FC-ADAE-3A3C708FA3F4}"/>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Wer den Vertrag schließt, hängt von der Versorgungsform ab. Im Krankenhaus kann der Träger Vertragspartner sein, während Ärztinnen persönlich deliktisch haften können.</a:t>
            </a:r>
          </a:p>
        </p:txBody>
      </p:sp>
      <p:sp>
        <p:nvSpPr>
          <p:cNvPr id="9" name="">
            <a:extLst xmlns:a="http://schemas.openxmlformats.org/drawingml/2006/main">
              <a:ext uri="{FF2B5EF4-FFF2-40B4-BE49-F238E27FC236}">
                <a16:creationId xmlns:a16="http://schemas.microsoft.com/office/drawing/2014/main" id="{378F3E66-D1AA-4B7A-A732-925A70312238}"/>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52FA4E4C-1400-4449-8614-25E57050EAEE}"/>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6AF82204-1E19-46ED-AB3C-B0B551611574}"/>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Dienst- statt Erfolgsschuld</a:t>
            </a:r>
          </a:p>
        </p:txBody>
      </p:sp>
      <p:sp>
        <p:nvSpPr>
          <p:cNvPr id="12" name="">
            <a:extLst xmlns:a="http://schemas.openxmlformats.org/drawingml/2006/main">
              <a:ext uri="{FF2B5EF4-FFF2-40B4-BE49-F238E27FC236}">
                <a16:creationId xmlns:a16="http://schemas.microsoft.com/office/drawing/2014/main" id="{2ADE65BB-C2D8-41FC-942F-1DE19574712E}"/>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Geschuldet ist grundsätzlich fachgerechte Behandlung, nicht Heilung oder ein bestimmter Behandlungserfolg.</a:t>
            </a:r>
          </a:p>
        </p:txBody>
      </p:sp>
      <p:sp>
        <p:nvSpPr>
          <p:cNvPr id="13" name="">
            <a:extLst xmlns:a="http://schemas.openxmlformats.org/drawingml/2006/main">
              <a:ext uri="{FF2B5EF4-FFF2-40B4-BE49-F238E27FC236}">
                <a16:creationId xmlns:a16="http://schemas.microsoft.com/office/drawing/2014/main" id="{50F18B34-9676-4204-9FE8-D9B0CFA50339}"/>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B6ACF154-7CF9-472D-8857-192E73583C00}"/>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F9F343E2-462A-4B4C-8510-667DF48055C2}"/>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Spezialregeln</a:t>
            </a:r>
          </a:p>
        </p:txBody>
      </p:sp>
      <p:sp>
        <p:nvSpPr>
          <p:cNvPr id="16" name="">
            <a:extLst xmlns:a="http://schemas.openxmlformats.org/drawingml/2006/main">
              <a:ext uri="{FF2B5EF4-FFF2-40B4-BE49-F238E27FC236}">
                <a16:creationId xmlns:a16="http://schemas.microsoft.com/office/drawing/2014/main" id="{E15EB317-4AA5-4282-A162-1A375C4D5FBA}"/>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 630c bis 630g regeln Information, Aufklärung, Einwilligung, Dokumentation und Akteneinsicht.</a:t>
            </a:r>
          </a:p>
        </p:txBody>
      </p:sp>
      <p:sp>
        <p:nvSpPr>
          <p:cNvPr id="17" name="">
            <a:extLst xmlns:a="http://schemas.openxmlformats.org/drawingml/2006/main">
              <a:ext uri="{FF2B5EF4-FFF2-40B4-BE49-F238E27FC236}">
                <a16:creationId xmlns:a16="http://schemas.microsoft.com/office/drawing/2014/main" id="{6A0520FB-2A42-425E-9DBA-29645710E96E}"/>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21FD944B-6CCA-44B4-AD45-E755248A244D}"/>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5ED953C1-DB58-48D5-8DAE-01EAB8E1BB67}"/>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Beweisrecht</a:t>
            </a:r>
          </a:p>
        </p:txBody>
      </p:sp>
      <p:sp>
        <p:nvSpPr>
          <p:cNvPr id="20" name="">
            <a:extLst xmlns:a="http://schemas.openxmlformats.org/drawingml/2006/main">
              <a:ext uri="{FF2B5EF4-FFF2-40B4-BE49-F238E27FC236}">
                <a16:creationId xmlns:a16="http://schemas.microsoft.com/office/drawing/2014/main" id="{2CFE4D78-73FF-40C4-8EF1-0B11275791F8}"/>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 630h ordnet besondere Beweiserleichterungen und Vermutungen an.</a:t>
            </a:r>
          </a:p>
        </p:txBody>
      </p:sp>
      <p:sp>
        <p:nvSpPr>
          <p:cNvPr id="21" name="">
            <a:extLst xmlns:a="http://schemas.openxmlformats.org/drawingml/2006/main">
              <a:ext uri="{FF2B5EF4-FFF2-40B4-BE49-F238E27FC236}">
                <a16:creationId xmlns:a16="http://schemas.microsoft.com/office/drawing/2014/main" id="{F8B33559-F6C5-46F9-BECE-CE1A85229FB8}"/>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8173B1E6-272B-46AA-8EEB-6F96CAD61393}"/>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Patientenrechte sind keine Sammlung isolierter Formulare, sondern strukturieren die gesamte Behandlung.</a:t>
            </a:r>
          </a:p>
        </p:txBody>
      </p:sp>
    </p:spTree>
    <p:extLst>
      <p:ext uri="{BB962C8B-B14F-4D97-AF65-F5344CB8AC3E}">
        <p14:creationId xmlns:p14="http://schemas.microsoft.com/office/powerpoint/2010/main" val="43637646"/>
      </p:ext>
    </p:extLst>
  </p:cSld>
</p:sld>
</file>

<file path=ppt/slides/slide78.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Typische Vertragspflicht</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NORM IM FOKUS · § 630a BGB</a:t>
            </a:r>
            <a:endParaRPr/>
          </a:p>
        </p:txBody>
      </p:sp>
      <p:sp>
        <p:nvSpPr>
          <p:cNvPr id="4" name="">
            <a:extLst xmlns:a="http://schemas.openxmlformats.org/drawingml/2006/main">
              <a:ext uri="{FF2B5EF4-FFF2-40B4-BE49-F238E27FC236}">
                <a16:creationId xmlns:a16="http://schemas.microsoft.com/office/drawing/2014/main" id="{46EA9CCC-456B-4FC1-9156-A4BAD1B68AB5}"/>
              </a:ext>
            </a:extLst>
          </p:cNvPr>
          <p:cNvSpPr>
            <a:spLocks xmlns:a="http://schemas.openxmlformats.org/drawingml/2006/main" noGrp="1"/>
          </p:cNvSpPr>
          <p:nvPr/>
        </p:nvSpPr>
        <p:spPr>
          <a:xfrm xmlns:a="http://schemas.openxmlformats.org/drawingml/2006/main">
            <a:off x="1809750" y="1924050"/>
            <a:ext cx="2286000" cy="704850"/>
          </a:xfrm>
          <a:prstGeom xmlns:a="http://schemas.openxmlformats.org/drawingml/2006/main" prst="roundRect">
            <a:avLst>
              <a:gd name="adj" fmla="val 10811"/>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1D97E8C9-1741-4681-B6B9-43CAF2A1F390}"/>
              </a:ext>
            </a:extLst>
          </p:cNvPr>
          <p:cNvSpPr>
            <a:spLocks xmlns:a="http://schemas.openxmlformats.org/drawingml/2006/main" noGrp="1"/>
          </p:cNvSpPr>
          <p:nvPr/>
        </p:nvSpPr>
        <p:spPr>
          <a:xfrm xmlns:a="http://schemas.openxmlformats.org/drawingml/2006/main">
            <a:off x="1924050" y="1971675"/>
            <a:ext cx="2057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75" b="1">
                <a:solidFill>
                  <a:srgbClr val="FFFFFF"/>
                </a:solidFill>
              </a:defRPr>
            </a:pPr>
            <a:r>
              <a:rPr sz="1875" b="1">
                <a:solidFill>
                  <a:srgbClr val="FFFFFF"/>
                </a:solidFill>
              </a:rPr>
              <a:t>§ 630a BGB</a:t>
            </a:r>
          </a:p>
        </p:txBody>
      </p:sp>
      <p:sp>
        <p:nvSpPr>
          <p:cNvPr id="6" name="">
            <a:extLst xmlns:a="http://schemas.openxmlformats.org/drawingml/2006/main">
              <a:ext uri="{FF2B5EF4-FFF2-40B4-BE49-F238E27FC236}">
                <a16:creationId xmlns:a16="http://schemas.microsoft.com/office/drawing/2014/main" id="{314377FF-C35C-4007-897E-92E879CDA302}"/>
              </a:ext>
            </a:extLst>
          </p:cNvPr>
          <p:cNvSpPr>
            <a:spLocks xmlns:a="http://schemas.openxmlformats.org/drawingml/2006/main" noGrp="1"/>
          </p:cNvSpPr>
          <p:nvPr/>
        </p:nvSpPr>
        <p:spPr>
          <a:xfrm xmlns:a="http://schemas.openxmlformats.org/drawingml/2006/main">
            <a:off x="4362450" y="1924050"/>
            <a:ext cx="6972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15">
                <a:solidFill>
                  <a:srgbClr val="667680"/>
                </a:solidFill>
              </a:defRPr>
            </a:pPr>
            <a:r>
              <a:rPr sz="1215">
                <a:solidFill>
                  <a:srgbClr val="667680"/>
                </a:solidFill>
              </a:rPr>
              <a:t>Der Behandelnde verpflichtet sich zur medizinischen Behandlung; der Patient grundsätzlich zur Vergütung, soweit nicht ein Dritter zahlt.</a:t>
            </a:r>
          </a:p>
        </p:txBody>
      </p:sp>
      <p:sp>
        <p:nvSpPr>
          <p:cNvPr id="7" name="">
            <a:extLst xmlns:a="http://schemas.openxmlformats.org/drawingml/2006/main">
              <a:ext uri="{FF2B5EF4-FFF2-40B4-BE49-F238E27FC236}">
                <a16:creationId xmlns:a16="http://schemas.microsoft.com/office/drawing/2014/main" id="{ECEA0B50-5984-4DD2-8C3D-3E9EAEB644A1}"/>
              </a:ext>
            </a:extLst>
          </p:cNvPr>
          <p:cNvSpPr>
            <a:spLocks xmlns:a="http://schemas.openxmlformats.org/drawingml/2006/main" noGrp="1"/>
          </p:cNvSpPr>
          <p:nvPr/>
        </p:nvSpPr>
        <p:spPr>
          <a:xfrm xmlns:a="http://schemas.openxmlformats.org/drawingml/2006/main">
            <a:off x="1809750" y="2781300"/>
            <a:ext cx="476250" cy="414338"/>
          </a:xfrm>
          <a:prstGeom xmlns:a="http://schemas.openxmlformats.org/drawingml/2006/main" prst="roundRect">
            <a:avLst>
              <a:gd name="adj" fmla="val 18391"/>
            </a:avLst>
          </a:prstGeom>
          <a:solidFill xmlns:a="http://schemas.openxmlformats.org/drawingml/2006/main">
            <a:srgbClr val="00B2BB"/>
          </a:solidFill>
          <a:ln xmlns:a="http://schemas.openxmlformats.org/drawingml/2006/main" w="0">
            <a:solidFill>
              <a:srgbClr val="00B2BB"/>
            </a:solidFill>
            <a:prstDash val="solid"/>
          </a:ln>
        </p:spPr>
      </p:sp>
      <p:sp>
        <p:nvSpPr>
          <p:cNvPr id="8" name="">
            <a:extLst xmlns:a="http://schemas.openxmlformats.org/drawingml/2006/main">
              <a:ext uri="{FF2B5EF4-FFF2-40B4-BE49-F238E27FC236}">
                <a16:creationId xmlns:a16="http://schemas.microsoft.com/office/drawing/2014/main" id="{0F55C889-BF86-42AD-9DB1-D5A6C18E5063}"/>
              </a:ext>
            </a:extLst>
          </p:cNvPr>
          <p:cNvSpPr>
            <a:spLocks xmlns:a="http://schemas.openxmlformats.org/drawingml/2006/main" noGrp="1"/>
          </p:cNvSpPr>
          <p:nvPr/>
        </p:nvSpPr>
        <p:spPr>
          <a:xfrm xmlns:a="http://schemas.openxmlformats.org/drawingml/2006/main">
            <a:off x="1809750" y="2781300"/>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9" name="">
            <a:extLst xmlns:a="http://schemas.openxmlformats.org/drawingml/2006/main">
              <a:ext uri="{FF2B5EF4-FFF2-40B4-BE49-F238E27FC236}">
                <a16:creationId xmlns:a16="http://schemas.microsoft.com/office/drawing/2014/main" id="{5D7AEEBD-1527-4309-8D05-C1FA3FC4B818}"/>
              </a:ext>
            </a:extLst>
          </p:cNvPr>
          <p:cNvSpPr>
            <a:spLocks xmlns:a="http://schemas.openxmlformats.org/drawingml/2006/main" noGrp="1"/>
          </p:cNvSpPr>
          <p:nvPr/>
        </p:nvSpPr>
        <p:spPr>
          <a:xfrm xmlns:a="http://schemas.openxmlformats.org/drawingml/2006/main">
            <a:off x="2438400" y="2790825"/>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Behandlung nach Standard</a:t>
            </a:r>
          </a:p>
        </p:txBody>
      </p:sp>
      <p:sp>
        <p:nvSpPr>
          <p:cNvPr id="10" name="">
            <a:extLst xmlns:a="http://schemas.openxmlformats.org/drawingml/2006/main">
              <a:ext uri="{FF2B5EF4-FFF2-40B4-BE49-F238E27FC236}">
                <a16:creationId xmlns:a16="http://schemas.microsoft.com/office/drawing/2014/main" id="{E0468D39-5C7C-42C1-88B4-9D46039C9F9D}"/>
              </a:ext>
            </a:extLst>
          </p:cNvPr>
          <p:cNvSpPr>
            <a:spLocks xmlns:a="http://schemas.openxmlformats.org/drawingml/2006/main" noGrp="1"/>
          </p:cNvSpPr>
          <p:nvPr/>
        </p:nvSpPr>
        <p:spPr>
          <a:xfrm xmlns:a="http://schemas.openxmlformats.org/drawingml/2006/main">
            <a:off x="4591050" y="2790825"/>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Die Behandlung hat nach den zum Behandlungszeitpunkt bestehenden, allgemein anerkannten fachlichen Standards zu erfolgen, soweit nichts anderes vereinbart ist.</a:t>
            </a:r>
          </a:p>
        </p:txBody>
      </p:sp>
      <p:sp>
        <p:nvSpPr>
          <p:cNvPr id="11" name="">
            <a:extLst xmlns:a="http://schemas.openxmlformats.org/drawingml/2006/main">
              <a:ext uri="{FF2B5EF4-FFF2-40B4-BE49-F238E27FC236}">
                <a16:creationId xmlns:a16="http://schemas.microsoft.com/office/drawing/2014/main" id="{7C67E797-14AA-4EBC-82F6-B9C5E605D694}"/>
              </a:ext>
            </a:extLst>
          </p:cNvPr>
          <p:cNvSpPr>
            <a:spLocks xmlns:a="http://schemas.openxmlformats.org/drawingml/2006/main" noGrp="1"/>
          </p:cNvSpPr>
          <p:nvPr/>
        </p:nvSpPr>
        <p:spPr>
          <a:xfrm xmlns:a="http://schemas.openxmlformats.org/drawingml/2006/main">
            <a:off x="1809750" y="3271838"/>
            <a:ext cx="476250" cy="414338"/>
          </a:xfrm>
          <a:prstGeom xmlns:a="http://schemas.openxmlformats.org/drawingml/2006/main" prst="roundRect">
            <a:avLst>
              <a:gd name="adj" fmla="val 18391"/>
            </a:avLst>
          </a:prstGeom>
          <a:solidFill xmlns:a="http://schemas.openxmlformats.org/drawingml/2006/main">
            <a:srgbClr val="003F6B"/>
          </a:solidFill>
          <a:ln xmlns:a="http://schemas.openxmlformats.org/drawingml/2006/main" w="0">
            <a:solidFill>
              <a:srgbClr val="003F6B"/>
            </a:solidFill>
            <a:prstDash val="solid"/>
          </a:ln>
        </p:spPr>
      </p:sp>
      <p:sp>
        <p:nvSpPr>
          <p:cNvPr id="12" name="">
            <a:extLst xmlns:a="http://schemas.openxmlformats.org/drawingml/2006/main">
              <a:ext uri="{FF2B5EF4-FFF2-40B4-BE49-F238E27FC236}">
                <a16:creationId xmlns:a16="http://schemas.microsoft.com/office/drawing/2014/main" id="{2B9C571E-8A63-4F50-9282-630FF612B5C9}"/>
              </a:ext>
            </a:extLst>
          </p:cNvPr>
          <p:cNvSpPr>
            <a:spLocks xmlns:a="http://schemas.openxmlformats.org/drawingml/2006/main" noGrp="1"/>
          </p:cNvSpPr>
          <p:nvPr/>
        </p:nvSpPr>
        <p:spPr>
          <a:xfrm xmlns:a="http://schemas.openxmlformats.org/drawingml/2006/main">
            <a:off x="1809750" y="3271838"/>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3" name="">
            <a:extLst xmlns:a="http://schemas.openxmlformats.org/drawingml/2006/main">
              <a:ext uri="{FF2B5EF4-FFF2-40B4-BE49-F238E27FC236}">
                <a16:creationId xmlns:a16="http://schemas.microsoft.com/office/drawing/2014/main" id="{0B9D5373-7E61-4619-B83E-5CF1FCA12746}"/>
              </a:ext>
            </a:extLst>
          </p:cNvPr>
          <p:cNvSpPr>
            <a:spLocks xmlns:a="http://schemas.openxmlformats.org/drawingml/2006/main" noGrp="1"/>
          </p:cNvSpPr>
          <p:nvPr/>
        </p:nvSpPr>
        <p:spPr>
          <a:xfrm xmlns:a="http://schemas.openxmlformats.org/drawingml/2006/main">
            <a:off x="2438400" y="3281363"/>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Zeitpunktbezogen</a:t>
            </a:r>
          </a:p>
        </p:txBody>
      </p:sp>
      <p:sp>
        <p:nvSpPr>
          <p:cNvPr id="14" name="">
            <a:extLst xmlns:a="http://schemas.openxmlformats.org/drawingml/2006/main">
              <a:ext uri="{FF2B5EF4-FFF2-40B4-BE49-F238E27FC236}">
                <a16:creationId xmlns:a16="http://schemas.microsoft.com/office/drawing/2014/main" id="{4E5B7DC5-8B56-4B1B-98E6-5A662F6C020C}"/>
              </a:ext>
            </a:extLst>
          </p:cNvPr>
          <p:cNvSpPr>
            <a:spLocks xmlns:a="http://schemas.openxmlformats.org/drawingml/2006/main" noGrp="1"/>
          </p:cNvSpPr>
          <p:nvPr/>
        </p:nvSpPr>
        <p:spPr>
          <a:xfrm xmlns:a="http://schemas.openxmlformats.org/drawingml/2006/main">
            <a:off x="4591050" y="3281363"/>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Maßgeblich ist der Standard im damaligen Zeitpunkt, nicht eine später veröffentlichte Erkenntnis.</a:t>
            </a:r>
          </a:p>
        </p:txBody>
      </p:sp>
      <p:sp>
        <p:nvSpPr>
          <p:cNvPr id="15" name="">
            <a:extLst xmlns:a="http://schemas.openxmlformats.org/drawingml/2006/main">
              <a:ext uri="{FF2B5EF4-FFF2-40B4-BE49-F238E27FC236}">
                <a16:creationId xmlns:a16="http://schemas.microsoft.com/office/drawing/2014/main" id="{6EF5F17D-3EA5-49B8-BD50-E3FEC87B66D6}"/>
              </a:ext>
            </a:extLst>
          </p:cNvPr>
          <p:cNvSpPr>
            <a:spLocks xmlns:a="http://schemas.openxmlformats.org/drawingml/2006/main" noGrp="1"/>
          </p:cNvSpPr>
          <p:nvPr/>
        </p:nvSpPr>
        <p:spPr>
          <a:xfrm xmlns:a="http://schemas.openxmlformats.org/drawingml/2006/main">
            <a:off x="1809750" y="3762375"/>
            <a:ext cx="476250" cy="414338"/>
          </a:xfrm>
          <a:prstGeom xmlns:a="http://schemas.openxmlformats.org/drawingml/2006/main" prst="roundRect">
            <a:avLst>
              <a:gd name="adj" fmla="val 18391"/>
            </a:avLst>
          </a:prstGeom>
          <a:solidFill xmlns:a="http://schemas.openxmlformats.org/drawingml/2006/main">
            <a:srgbClr val="00B2BB"/>
          </a:solidFill>
          <a:ln xmlns:a="http://schemas.openxmlformats.org/drawingml/2006/main" w="0">
            <a:solidFill>
              <a:srgbClr val="00B2BB"/>
            </a:solidFill>
            <a:prstDash val="solid"/>
          </a:ln>
        </p:spPr>
      </p:sp>
      <p:sp>
        <p:nvSpPr>
          <p:cNvPr id="16" name="">
            <a:extLst xmlns:a="http://schemas.openxmlformats.org/drawingml/2006/main">
              <a:ext uri="{FF2B5EF4-FFF2-40B4-BE49-F238E27FC236}">
                <a16:creationId xmlns:a16="http://schemas.microsoft.com/office/drawing/2014/main" id="{95180B81-5FD8-41D2-9071-1326CD83E3B8}"/>
              </a:ext>
            </a:extLst>
          </p:cNvPr>
          <p:cNvSpPr>
            <a:spLocks xmlns:a="http://schemas.openxmlformats.org/drawingml/2006/main" noGrp="1"/>
          </p:cNvSpPr>
          <p:nvPr/>
        </p:nvSpPr>
        <p:spPr>
          <a:xfrm xmlns:a="http://schemas.openxmlformats.org/drawingml/2006/main">
            <a:off x="1809750" y="3762375"/>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7" name="">
            <a:extLst xmlns:a="http://schemas.openxmlformats.org/drawingml/2006/main">
              <a:ext uri="{FF2B5EF4-FFF2-40B4-BE49-F238E27FC236}">
                <a16:creationId xmlns:a16="http://schemas.microsoft.com/office/drawing/2014/main" id="{02881643-A5C8-4D4B-AD77-1C90934365B1}"/>
              </a:ext>
            </a:extLst>
          </p:cNvPr>
          <p:cNvSpPr>
            <a:spLocks xmlns:a="http://schemas.openxmlformats.org/drawingml/2006/main" noGrp="1"/>
          </p:cNvSpPr>
          <p:nvPr/>
        </p:nvSpPr>
        <p:spPr>
          <a:xfrm xmlns:a="http://schemas.openxmlformats.org/drawingml/2006/main">
            <a:off x="2438400" y="3771900"/>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Fallbezogen</a:t>
            </a:r>
          </a:p>
        </p:txBody>
      </p:sp>
      <p:sp>
        <p:nvSpPr>
          <p:cNvPr id="18" name="">
            <a:extLst xmlns:a="http://schemas.openxmlformats.org/drawingml/2006/main">
              <a:ext uri="{FF2B5EF4-FFF2-40B4-BE49-F238E27FC236}">
                <a16:creationId xmlns:a16="http://schemas.microsoft.com/office/drawing/2014/main" id="{119DAA55-4A38-4C67-B463-0887EF899A8E}"/>
              </a:ext>
            </a:extLst>
          </p:cNvPr>
          <p:cNvSpPr>
            <a:spLocks xmlns:a="http://schemas.openxmlformats.org/drawingml/2006/main" noGrp="1"/>
          </p:cNvSpPr>
          <p:nvPr/>
        </p:nvSpPr>
        <p:spPr>
          <a:xfrm xmlns:a="http://schemas.openxmlformats.org/drawingml/2006/main">
            <a:off x="4591050" y="3771900"/>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Leitlinien, Fachinformationen und klinische Umstände werden zusammen bewertet; Leitlinien sind gewichtige, aber nicht allein entscheidende Erkenntnisquellen.</a:t>
            </a:r>
          </a:p>
        </p:txBody>
      </p:sp>
      <p:sp>
        <p:nvSpPr>
          <p:cNvPr id="19" name="">
            <a:extLst xmlns:a="http://schemas.openxmlformats.org/drawingml/2006/main">
              <a:ext uri="{FF2B5EF4-FFF2-40B4-BE49-F238E27FC236}">
                <a16:creationId xmlns:a16="http://schemas.microsoft.com/office/drawing/2014/main" id="{A2646DB8-9305-43BB-86E0-B31AD1ED88BC}"/>
              </a:ext>
            </a:extLst>
          </p:cNvPr>
          <p:cNvSpPr>
            <a:spLocks xmlns:a="http://schemas.openxmlformats.org/drawingml/2006/main" noGrp="1"/>
          </p:cNvSpPr>
          <p:nvPr/>
        </p:nvSpPr>
        <p:spPr>
          <a:xfrm xmlns:a="http://schemas.openxmlformats.org/drawingml/2006/main">
            <a:off x="1809750" y="4252913"/>
            <a:ext cx="476250" cy="414338"/>
          </a:xfrm>
          <a:prstGeom xmlns:a="http://schemas.openxmlformats.org/drawingml/2006/main" prst="roundRect">
            <a:avLst>
              <a:gd name="adj" fmla="val 18391"/>
            </a:avLst>
          </a:prstGeom>
          <a:solidFill xmlns:a="http://schemas.openxmlformats.org/drawingml/2006/main">
            <a:srgbClr val="003F6B"/>
          </a:solidFill>
          <a:ln xmlns:a="http://schemas.openxmlformats.org/drawingml/2006/main" w="0">
            <a:solidFill>
              <a:srgbClr val="003F6B"/>
            </a:solidFill>
            <a:prstDash val="solid"/>
          </a:ln>
        </p:spPr>
      </p:sp>
      <p:sp>
        <p:nvSpPr>
          <p:cNvPr id="20" name="">
            <a:extLst xmlns:a="http://schemas.openxmlformats.org/drawingml/2006/main">
              <a:ext uri="{FF2B5EF4-FFF2-40B4-BE49-F238E27FC236}">
                <a16:creationId xmlns:a16="http://schemas.microsoft.com/office/drawing/2014/main" id="{955E138F-E6C8-499F-B77C-0B4F487B02CA}"/>
              </a:ext>
            </a:extLst>
          </p:cNvPr>
          <p:cNvSpPr>
            <a:spLocks xmlns:a="http://schemas.openxmlformats.org/drawingml/2006/main" noGrp="1"/>
          </p:cNvSpPr>
          <p:nvPr/>
        </p:nvSpPr>
        <p:spPr>
          <a:xfrm xmlns:a="http://schemas.openxmlformats.org/drawingml/2006/main">
            <a:off x="1809750" y="4252913"/>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21" name="">
            <a:extLst xmlns:a="http://schemas.openxmlformats.org/drawingml/2006/main">
              <a:ext uri="{FF2B5EF4-FFF2-40B4-BE49-F238E27FC236}">
                <a16:creationId xmlns:a16="http://schemas.microsoft.com/office/drawing/2014/main" id="{052DE8EF-090C-44D7-BA97-F6D753961A6F}"/>
              </a:ext>
            </a:extLst>
          </p:cNvPr>
          <p:cNvSpPr>
            <a:spLocks xmlns:a="http://schemas.openxmlformats.org/drawingml/2006/main" noGrp="1"/>
          </p:cNvSpPr>
          <p:nvPr/>
        </p:nvSpPr>
        <p:spPr>
          <a:xfrm xmlns:a="http://schemas.openxmlformats.org/drawingml/2006/main">
            <a:off x="2438400" y="4262438"/>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Kein Erfolg geschuldet</a:t>
            </a:r>
          </a:p>
        </p:txBody>
      </p:sp>
      <p:sp>
        <p:nvSpPr>
          <p:cNvPr id="22" name="">
            <a:extLst xmlns:a="http://schemas.openxmlformats.org/drawingml/2006/main">
              <a:ext uri="{FF2B5EF4-FFF2-40B4-BE49-F238E27FC236}">
                <a16:creationId xmlns:a16="http://schemas.microsoft.com/office/drawing/2014/main" id="{C670A366-F775-4F7A-8734-6EE45E36B6B1}"/>
              </a:ext>
            </a:extLst>
          </p:cNvPr>
          <p:cNvSpPr>
            <a:spLocks xmlns:a="http://schemas.openxmlformats.org/drawingml/2006/main" noGrp="1"/>
          </p:cNvSpPr>
          <p:nvPr/>
        </p:nvSpPr>
        <p:spPr>
          <a:xfrm xmlns:a="http://schemas.openxmlformats.org/drawingml/2006/main">
            <a:off x="4591050" y="4262438"/>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Ein nachteiliger Verlauf beweist weder Vertragsverletzung noch Behandlungsfehler.</a:t>
            </a:r>
          </a:p>
        </p:txBody>
      </p:sp>
      <p:sp>
        <p:nvSpPr>
          <p:cNvPr id="23" name="">
            <a:extLst xmlns:a="http://schemas.openxmlformats.org/drawingml/2006/main">
              <a:ext uri="{FF2B5EF4-FFF2-40B4-BE49-F238E27FC236}">
                <a16:creationId xmlns:a16="http://schemas.microsoft.com/office/drawing/2014/main" id="{308EB665-C83B-4DCA-8D76-1727E6C3B3D1}"/>
              </a:ext>
            </a:extLst>
          </p:cNvPr>
          <p:cNvSpPr>
            <a:spLocks xmlns:a="http://schemas.openxmlformats.org/drawingml/2006/main" noGrp="1"/>
          </p:cNvSpPr>
          <p:nvPr/>
        </p:nvSpPr>
        <p:spPr>
          <a:xfrm xmlns:a="http://schemas.openxmlformats.org/drawingml/2006/main">
            <a:off x="1809750" y="4781550"/>
            <a:ext cx="9525000" cy="666750"/>
          </a:xfrm>
          <a:prstGeom xmlns:a="http://schemas.openxmlformats.org/drawingml/2006/main" prst="roundRect">
            <a:avLst>
              <a:gd name="adj" fmla="val 11429"/>
            </a:avLst>
          </a:prstGeom>
          <a:solidFill xmlns:a="http://schemas.openxmlformats.org/drawingml/2006/main">
            <a:srgbClr val="EAF6FB"/>
          </a:solidFill>
          <a:ln xmlns:a="http://schemas.openxmlformats.org/drawingml/2006/main" w="9525">
            <a:solidFill>
              <a:srgbClr val="00B2BB"/>
            </a:solidFill>
            <a:prstDash val="solid"/>
          </a:ln>
        </p:spPr>
      </p:sp>
      <p:sp>
        <p:nvSpPr>
          <p:cNvPr id="24" name="">
            <a:extLst xmlns:a="http://schemas.openxmlformats.org/drawingml/2006/main">
              <a:ext uri="{FF2B5EF4-FFF2-40B4-BE49-F238E27FC236}">
                <a16:creationId xmlns:a16="http://schemas.microsoft.com/office/drawing/2014/main" id="{686E6473-652C-4C0D-B43F-0E934CCA8324}"/>
              </a:ext>
            </a:extLst>
          </p:cNvPr>
          <p:cNvSpPr>
            <a:spLocks xmlns:a="http://schemas.openxmlformats.org/drawingml/2006/main" noGrp="1"/>
          </p:cNvSpPr>
          <p:nvPr/>
        </p:nvSpPr>
        <p:spPr>
          <a:xfrm xmlns:a="http://schemas.openxmlformats.org/drawingml/2006/main">
            <a:off x="1981200" y="4829175"/>
            <a:ext cx="9182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065">
                <a:solidFill>
                  <a:srgbClr val="15232B"/>
                </a:solidFill>
              </a:defRPr>
            </a:pPr>
            <a:r>
              <a:rPr sz="1065">
                <a:solidFill>
                  <a:srgbClr val="15232B"/>
                </a:solidFill>
              </a:rPr>
              <a:t>Beispiel · Beispiel: Eine leitliniengerechte Therapie bleibt erfolglos. Ohne Standardabweichung entsteht nicht allein wegen des Misserfolgs ein Haftungsanspruch.</a:t>
            </a:r>
          </a:p>
        </p:txBody>
      </p:sp>
      <p:sp>
        <p:nvSpPr>
          <p:cNvPr id="25" name="">
            <a:extLst xmlns:a="http://schemas.openxmlformats.org/drawingml/2006/main">
              <a:ext uri="{FF2B5EF4-FFF2-40B4-BE49-F238E27FC236}">
                <a16:creationId xmlns:a16="http://schemas.microsoft.com/office/drawing/2014/main" id="{EE25E258-B3B8-4B2C-AC28-34F9A2F57A4A}"/>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6" name="">
            <a:extLst xmlns:a="http://schemas.openxmlformats.org/drawingml/2006/main">
              <a:ext uri="{FF2B5EF4-FFF2-40B4-BE49-F238E27FC236}">
                <a16:creationId xmlns:a16="http://schemas.microsoft.com/office/drawing/2014/main" id="{28C7CD7B-C067-4101-BE5F-360179DCA231}"/>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Die zentrale Pflicht lautet fachgerechtes Vorgehen, nicht Erfolgsgarantie.</a:t>
            </a:r>
          </a:p>
        </p:txBody>
      </p:sp>
    </p:spTree>
    <p:extLst>
      <p:ext uri="{BB962C8B-B14F-4D97-AF65-F5344CB8AC3E}">
        <p14:creationId xmlns:p14="http://schemas.microsoft.com/office/powerpoint/2010/main" val="43637646"/>
      </p:ext>
    </p:extLst>
  </p:cSld>
</p:sld>
</file>

<file path=ppt/slides/slide79.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Mitwirkung und Information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NORM IM FOKUS · § 630c BGB</a:t>
            </a:r>
            <a:endParaRPr/>
          </a:p>
        </p:txBody>
      </p:sp>
      <p:sp>
        <p:nvSpPr>
          <p:cNvPr id="4" name="">
            <a:extLst xmlns:a="http://schemas.openxmlformats.org/drawingml/2006/main">
              <a:ext uri="{FF2B5EF4-FFF2-40B4-BE49-F238E27FC236}">
                <a16:creationId xmlns:a16="http://schemas.microsoft.com/office/drawing/2014/main" id="{C2F06995-999F-4263-95FF-7BD625E0232A}"/>
              </a:ext>
            </a:extLst>
          </p:cNvPr>
          <p:cNvSpPr>
            <a:spLocks xmlns:a="http://schemas.openxmlformats.org/drawingml/2006/main" noGrp="1"/>
          </p:cNvSpPr>
          <p:nvPr/>
        </p:nvSpPr>
        <p:spPr>
          <a:xfrm xmlns:a="http://schemas.openxmlformats.org/drawingml/2006/main">
            <a:off x="1809750" y="1924050"/>
            <a:ext cx="2286000" cy="704850"/>
          </a:xfrm>
          <a:prstGeom xmlns:a="http://schemas.openxmlformats.org/drawingml/2006/main" prst="roundRect">
            <a:avLst>
              <a:gd name="adj" fmla="val 10811"/>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CBAC2B7A-6D36-490F-B91F-C1B6E4C59CF3}"/>
              </a:ext>
            </a:extLst>
          </p:cNvPr>
          <p:cNvSpPr>
            <a:spLocks xmlns:a="http://schemas.openxmlformats.org/drawingml/2006/main" noGrp="1"/>
          </p:cNvSpPr>
          <p:nvPr/>
        </p:nvSpPr>
        <p:spPr>
          <a:xfrm xmlns:a="http://schemas.openxmlformats.org/drawingml/2006/main">
            <a:off x="1924050" y="1971675"/>
            <a:ext cx="2057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75" b="1">
                <a:solidFill>
                  <a:srgbClr val="FFFFFF"/>
                </a:solidFill>
              </a:defRPr>
            </a:pPr>
            <a:r>
              <a:rPr sz="1875" b="1">
                <a:solidFill>
                  <a:srgbClr val="FFFFFF"/>
                </a:solidFill>
              </a:rPr>
              <a:t>§ 630c BGB</a:t>
            </a:r>
          </a:p>
        </p:txBody>
      </p:sp>
      <p:sp>
        <p:nvSpPr>
          <p:cNvPr id="6" name="">
            <a:extLst xmlns:a="http://schemas.openxmlformats.org/drawingml/2006/main">
              <a:ext uri="{FF2B5EF4-FFF2-40B4-BE49-F238E27FC236}">
                <a16:creationId xmlns:a16="http://schemas.microsoft.com/office/drawing/2014/main" id="{4A7D9933-BF04-4D47-9F10-BE8C0663FD04}"/>
              </a:ext>
            </a:extLst>
          </p:cNvPr>
          <p:cNvSpPr>
            <a:spLocks xmlns:a="http://schemas.openxmlformats.org/drawingml/2006/main" noGrp="1"/>
          </p:cNvSpPr>
          <p:nvPr/>
        </p:nvSpPr>
        <p:spPr>
          <a:xfrm xmlns:a="http://schemas.openxmlformats.org/drawingml/2006/main">
            <a:off x="4362450" y="1924050"/>
            <a:ext cx="6972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15">
                <a:solidFill>
                  <a:srgbClr val="667680"/>
                </a:solidFill>
              </a:defRPr>
            </a:pPr>
            <a:r>
              <a:rPr sz="1215">
                <a:solidFill>
                  <a:srgbClr val="667680"/>
                </a:solidFill>
              </a:rPr>
              <a:t>Die Vorschrift organisiert die Zusammenarbeit und verlangt verständliche Information über wesentliche Behandlungsumstände.</a:t>
            </a:r>
          </a:p>
        </p:txBody>
      </p:sp>
      <p:sp>
        <p:nvSpPr>
          <p:cNvPr id="7" name="">
            <a:extLst xmlns:a="http://schemas.openxmlformats.org/drawingml/2006/main">
              <a:ext uri="{FF2B5EF4-FFF2-40B4-BE49-F238E27FC236}">
                <a16:creationId xmlns:a16="http://schemas.microsoft.com/office/drawing/2014/main" id="{3E9BB9B0-D536-4908-BF29-8795358A8806}"/>
              </a:ext>
            </a:extLst>
          </p:cNvPr>
          <p:cNvSpPr>
            <a:spLocks xmlns:a="http://schemas.openxmlformats.org/drawingml/2006/main" noGrp="1"/>
          </p:cNvSpPr>
          <p:nvPr/>
        </p:nvSpPr>
        <p:spPr>
          <a:xfrm xmlns:a="http://schemas.openxmlformats.org/drawingml/2006/main">
            <a:off x="1809750" y="2781300"/>
            <a:ext cx="476250" cy="414338"/>
          </a:xfrm>
          <a:prstGeom xmlns:a="http://schemas.openxmlformats.org/drawingml/2006/main" prst="roundRect">
            <a:avLst>
              <a:gd name="adj" fmla="val 18391"/>
            </a:avLst>
          </a:prstGeom>
          <a:solidFill xmlns:a="http://schemas.openxmlformats.org/drawingml/2006/main">
            <a:srgbClr val="00B2BB"/>
          </a:solidFill>
          <a:ln xmlns:a="http://schemas.openxmlformats.org/drawingml/2006/main" w="0">
            <a:solidFill>
              <a:srgbClr val="00B2BB"/>
            </a:solidFill>
            <a:prstDash val="solid"/>
          </a:ln>
        </p:spPr>
      </p:sp>
      <p:sp>
        <p:nvSpPr>
          <p:cNvPr id="8" name="">
            <a:extLst xmlns:a="http://schemas.openxmlformats.org/drawingml/2006/main">
              <a:ext uri="{FF2B5EF4-FFF2-40B4-BE49-F238E27FC236}">
                <a16:creationId xmlns:a16="http://schemas.microsoft.com/office/drawing/2014/main" id="{CE459A02-BF35-447F-9CBD-51D62073E3E7}"/>
              </a:ext>
            </a:extLst>
          </p:cNvPr>
          <p:cNvSpPr>
            <a:spLocks xmlns:a="http://schemas.openxmlformats.org/drawingml/2006/main" noGrp="1"/>
          </p:cNvSpPr>
          <p:nvPr/>
        </p:nvSpPr>
        <p:spPr>
          <a:xfrm xmlns:a="http://schemas.openxmlformats.org/drawingml/2006/main">
            <a:off x="1809750" y="2781300"/>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9" name="">
            <a:extLst xmlns:a="http://schemas.openxmlformats.org/drawingml/2006/main">
              <a:ext uri="{FF2B5EF4-FFF2-40B4-BE49-F238E27FC236}">
                <a16:creationId xmlns:a16="http://schemas.microsoft.com/office/drawing/2014/main" id="{B6BEBCBF-F560-4EF4-BC47-623FD5C5C046}"/>
              </a:ext>
            </a:extLst>
          </p:cNvPr>
          <p:cNvSpPr>
            <a:spLocks xmlns:a="http://schemas.openxmlformats.org/drawingml/2006/main" noGrp="1"/>
          </p:cNvSpPr>
          <p:nvPr/>
        </p:nvSpPr>
        <p:spPr>
          <a:xfrm xmlns:a="http://schemas.openxmlformats.org/drawingml/2006/main">
            <a:off x="2438400" y="2790825"/>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Wesentliche Umstände</a:t>
            </a:r>
          </a:p>
        </p:txBody>
      </p:sp>
      <p:sp>
        <p:nvSpPr>
          <p:cNvPr id="10" name="">
            <a:extLst xmlns:a="http://schemas.openxmlformats.org/drawingml/2006/main">
              <a:ext uri="{FF2B5EF4-FFF2-40B4-BE49-F238E27FC236}">
                <a16:creationId xmlns:a16="http://schemas.microsoft.com/office/drawing/2014/main" id="{1C63A0A8-37A0-4AF2-AE0E-019ECEC2F21D}"/>
              </a:ext>
            </a:extLst>
          </p:cNvPr>
          <p:cNvSpPr>
            <a:spLocks xmlns:a="http://schemas.openxmlformats.org/drawingml/2006/main" noGrp="1"/>
          </p:cNvSpPr>
          <p:nvPr/>
        </p:nvSpPr>
        <p:spPr>
          <a:xfrm xmlns:a="http://schemas.openxmlformats.org/drawingml/2006/main">
            <a:off x="4591050" y="2790825"/>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Diagnose, voraussichtliche Entwicklung, Therapie und notwendige Maßnahmen werden verständlich erläutert.</a:t>
            </a:r>
          </a:p>
        </p:txBody>
      </p:sp>
      <p:sp>
        <p:nvSpPr>
          <p:cNvPr id="11" name="">
            <a:extLst xmlns:a="http://schemas.openxmlformats.org/drawingml/2006/main">
              <a:ext uri="{FF2B5EF4-FFF2-40B4-BE49-F238E27FC236}">
                <a16:creationId xmlns:a16="http://schemas.microsoft.com/office/drawing/2014/main" id="{50BFCDDE-1A98-408A-A41F-6DBD42DD17FC}"/>
              </a:ext>
            </a:extLst>
          </p:cNvPr>
          <p:cNvSpPr>
            <a:spLocks xmlns:a="http://schemas.openxmlformats.org/drawingml/2006/main" noGrp="1"/>
          </p:cNvSpPr>
          <p:nvPr/>
        </p:nvSpPr>
        <p:spPr>
          <a:xfrm xmlns:a="http://schemas.openxmlformats.org/drawingml/2006/main">
            <a:off x="1809750" y="3271838"/>
            <a:ext cx="476250" cy="414338"/>
          </a:xfrm>
          <a:prstGeom xmlns:a="http://schemas.openxmlformats.org/drawingml/2006/main" prst="roundRect">
            <a:avLst>
              <a:gd name="adj" fmla="val 18391"/>
            </a:avLst>
          </a:prstGeom>
          <a:solidFill xmlns:a="http://schemas.openxmlformats.org/drawingml/2006/main">
            <a:srgbClr val="003F6B"/>
          </a:solidFill>
          <a:ln xmlns:a="http://schemas.openxmlformats.org/drawingml/2006/main" w="0">
            <a:solidFill>
              <a:srgbClr val="003F6B"/>
            </a:solidFill>
            <a:prstDash val="solid"/>
          </a:ln>
        </p:spPr>
      </p:sp>
      <p:sp>
        <p:nvSpPr>
          <p:cNvPr id="12" name="">
            <a:extLst xmlns:a="http://schemas.openxmlformats.org/drawingml/2006/main">
              <a:ext uri="{FF2B5EF4-FFF2-40B4-BE49-F238E27FC236}">
                <a16:creationId xmlns:a16="http://schemas.microsoft.com/office/drawing/2014/main" id="{466C48B5-1832-4F62-A836-3ADD2A9C1F68}"/>
              </a:ext>
            </a:extLst>
          </p:cNvPr>
          <p:cNvSpPr>
            <a:spLocks xmlns:a="http://schemas.openxmlformats.org/drawingml/2006/main" noGrp="1"/>
          </p:cNvSpPr>
          <p:nvPr/>
        </p:nvSpPr>
        <p:spPr>
          <a:xfrm xmlns:a="http://schemas.openxmlformats.org/drawingml/2006/main">
            <a:off x="1809750" y="3271838"/>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3" name="">
            <a:extLst xmlns:a="http://schemas.openxmlformats.org/drawingml/2006/main">
              <a:ext uri="{FF2B5EF4-FFF2-40B4-BE49-F238E27FC236}">
                <a16:creationId xmlns:a16="http://schemas.microsoft.com/office/drawing/2014/main" id="{7BD0A6A0-ABDC-4524-B674-C2A4190AE907}"/>
              </a:ext>
            </a:extLst>
          </p:cNvPr>
          <p:cNvSpPr>
            <a:spLocks xmlns:a="http://schemas.openxmlformats.org/drawingml/2006/main" noGrp="1"/>
          </p:cNvSpPr>
          <p:nvPr/>
        </p:nvSpPr>
        <p:spPr>
          <a:xfrm xmlns:a="http://schemas.openxmlformats.org/drawingml/2006/main">
            <a:off x="2438400" y="3281363"/>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Therapeutische Information</a:t>
            </a:r>
          </a:p>
        </p:txBody>
      </p:sp>
      <p:sp>
        <p:nvSpPr>
          <p:cNvPr id="14" name="">
            <a:extLst xmlns:a="http://schemas.openxmlformats.org/drawingml/2006/main">
              <a:ext uri="{FF2B5EF4-FFF2-40B4-BE49-F238E27FC236}">
                <a16:creationId xmlns:a16="http://schemas.microsoft.com/office/drawing/2014/main" id="{DE04018E-8A4B-48CF-A0DE-D203495F551F}"/>
              </a:ext>
            </a:extLst>
          </p:cNvPr>
          <p:cNvSpPr>
            <a:spLocks xmlns:a="http://schemas.openxmlformats.org/drawingml/2006/main" noGrp="1"/>
          </p:cNvSpPr>
          <p:nvPr/>
        </p:nvSpPr>
        <p:spPr>
          <a:xfrm xmlns:a="http://schemas.openxmlformats.org/drawingml/2006/main">
            <a:off x="4591050" y="3281363"/>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Hier geht es darum, wie sich der Patient zur Sicherung des Behandlungserfolgs verhalten soll, etwa Nüchternheit oder Warnzeichen.</a:t>
            </a:r>
          </a:p>
        </p:txBody>
      </p:sp>
      <p:sp>
        <p:nvSpPr>
          <p:cNvPr id="15" name="">
            <a:extLst xmlns:a="http://schemas.openxmlformats.org/drawingml/2006/main">
              <a:ext uri="{FF2B5EF4-FFF2-40B4-BE49-F238E27FC236}">
                <a16:creationId xmlns:a16="http://schemas.microsoft.com/office/drawing/2014/main" id="{29B47D12-6FFD-4046-83DD-D99542A5C0BA}"/>
              </a:ext>
            </a:extLst>
          </p:cNvPr>
          <p:cNvSpPr>
            <a:spLocks xmlns:a="http://schemas.openxmlformats.org/drawingml/2006/main" noGrp="1"/>
          </p:cNvSpPr>
          <p:nvPr/>
        </p:nvSpPr>
        <p:spPr>
          <a:xfrm xmlns:a="http://schemas.openxmlformats.org/drawingml/2006/main">
            <a:off x="1809750" y="3762375"/>
            <a:ext cx="476250" cy="414338"/>
          </a:xfrm>
          <a:prstGeom xmlns:a="http://schemas.openxmlformats.org/drawingml/2006/main" prst="roundRect">
            <a:avLst>
              <a:gd name="adj" fmla="val 18391"/>
            </a:avLst>
          </a:prstGeom>
          <a:solidFill xmlns:a="http://schemas.openxmlformats.org/drawingml/2006/main">
            <a:srgbClr val="00B2BB"/>
          </a:solidFill>
          <a:ln xmlns:a="http://schemas.openxmlformats.org/drawingml/2006/main" w="0">
            <a:solidFill>
              <a:srgbClr val="00B2BB"/>
            </a:solidFill>
            <a:prstDash val="solid"/>
          </a:ln>
        </p:spPr>
      </p:sp>
      <p:sp>
        <p:nvSpPr>
          <p:cNvPr id="16" name="">
            <a:extLst xmlns:a="http://schemas.openxmlformats.org/drawingml/2006/main">
              <a:ext uri="{FF2B5EF4-FFF2-40B4-BE49-F238E27FC236}">
                <a16:creationId xmlns:a16="http://schemas.microsoft.com/office/drawing/2014/main" id="{6A09618C-E66C-4725-8E21-E35927C90413}"/>
              </a:ext>
            </a:extLst>
          </p:cNvPr>
          <p:cNvSpPr>
            <a:spLocks xmlns:a="http://schemas.openxmlformats.org/drawingml/2006/main" noGrp="1"/>
          </p:cNvSpPr>
          <p:nvPr/>
        </p:nvSpPr>
        <p:spPr>
          <a:xfrm xmlns:a="http://schemas.openxmlformats.org/drawingml/2006/main">
            <a:off x="1809750" y="3762375"/>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7" name="">
            <a:extLst xmlns:a="http://schemas.openxmlformats.org/drawingml/2006/main">
              <a:ext uri="{FF2B5EF4-FFF2-40B4-BE49-F238E27FC236}">
                <a16:creationId xmlns:a16="http://schemas.microsoft.com/office/drawing/2014/main" id="{DAAA834C-CA60-45C0-B294-6643F0C2957E}"/>
              </a:ext>
            </a:extLst>
          </p:cNvPr>
          <p:cNvSpPr>
            <a:spLocks xmlns:a="http://schemas.openxmlformats.org/drawingml/2006/main" noGrp="1"/>
          </p:cNvSpPr>
          <p:nvPr/>
        </p:nvSpPr>
        <p:spPr>
          <a:xfrm xmlns:a="http://schemas.openxmlformats.org/drawingml/2006/main">
            <a:off x="2438400" y="3771900"/>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Wirtschaftliche Information</a:t>
            </a:r>
          </a:p>
        </p:txBody>
      </p:sp>
      <p:sp>
        <p:nvSpPr>
          <p:cNvPr id="18" name="">
            <a:extLst xmlns:a="http://schemas.openxmlformats.org/drawingml/2006/main">
              <a:ext uri="{FF2B5EF4-FFF2-40B4-BE49-F238E27FC236}">
                <a16:creationId xmlns:a16="http://schemas.microsoft.com/office/drawing/2014/main" id="{32A2E5EC-186C-4C6C-B470-AAF4C508260E}"/>
              </a:ext>
            </a:extLst>
          </p:cNvPr>
          <p:cNvSpPr>
            <a:spLocks xmlns:a="http://schemas.openxmlformats.org/drawingml/2006/main" noGrp="1"/>
          </p:cNvSpPr>
          <p:nvPr/>
        </p:nvSpPr>
        <p:spPr>
          <a:xfrm xmlns:a="http://schemas.openxmlformats.org/drawingml/2006/main">
            <a:off x="4591050" y="3771900"/>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Sind Kostenübernahmen durch Dritte unsicher, kann vor Beginn eine Information in Textform erforderlich sein.</a:t>
            </a:r>
          </a:p>
        </p:txBody>
      </p:sp>
      <p:sp>
        <p:nvSpPr>
          <p:cNvPr id="19" name="">
            <a:extLst xmlns:a="http://schemas.openxmlformats.org/drawingml/2006/main">
              <a:ext uri="{FF2B5EF4-FFF2-40B4-BE49-F238E27FC236}">
                <a16:creationId xmlns:a16="http://schemas.microsoft.com/office/drawing/2014/main" id="{E59F75E9-9FA9-449F-81FF-735A76E41398}"/>
              </a:ext>
            </a:extLst>
          </p:cNvPr>
          <p:cNvSpPr>
            <a:spLocks xmlns:a="http://schemas.openxmlformats.org/drawingml/2006/main" noGrp="1"/>
          </p:cNvSpPr>
          <p:nvPr/>
        </p:nvSpPr>
        <p:spPr>
          <a:xfrm xmlns:a="http://schemas.openxmlformats.org/drawingml/2006/main">
            <a:off x="1809750" y="4252913"/>
            <a:ext cx="476250" cy="414338"/>
          </a:xfrm>
          <a:prstGeom xmlns:a="http://schemas.openxmlformats.org/drawingml/2006/main" prst="roundRect">
            <a:avLst>
              <a:gd name="adj" fmla="val 18391"/>
            </a:avLst>
          </a:prstGeom>
          <a:solidFill xmlns:a="http://schemas.openxmlformats.org/drawingml/2006/main">
            <a:srgbClr val="003F6B"/>
          </a:solidFill>
          <a:ln xmlns:a="http://schemas.openxmlformats.org/drawingml/2006/main" w="0">
            <a:solidFill>
              <a:srgbClr val="003F6B"/>
            </a:solidFill>
            <a:prstDash val="solid"/>
          </a:ln>
        </p:spPr>
      </p:sp>
      <p:sp>
        <p:nvSpPr>
          <p:cNvPr id="20" name="">
            <a:extLst xmlns:a="http://schemas.openxmlformats.org/drawingml/2006/main">
              <a:ext uri="{FF2B5EF4-FFF2-40B4-BE49-F238E27FC236}">
                <a16:creationId xmlns:a16="http://schemas.microsoft.com/office/drawing/2014/main" id="{7FF5DC31-D312-417B-94B8-469F62DE4A41}"/>
              </a:ext>
            </a:extLst>
          </p:cNvPr>
          <p:cNvSpPr>
            <a:spLocks xmlns:a="http://schemas.openxmlformats.org/drawingml/2006/main" noGrp="1"/>
          </p:cNvSpPr>
          <p:nvPr/>
        </p:nvSpPr>
        <p:spPr>
          <a:xfrm xmlns:a="http://schemas.openxmlformats.org/drawingml/2006/main">
            <a:off x="1809750" y="4252913"/>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21" name="">
            <a:extLst xmlns:a="http://schemas.openxmlformats.org/drawingml/2006/main">
              <a:ext uri="{FF2B5EF4-FFF2-40B4-BE49-F238E27FC236}">
                <a16:creationId xmlns:a16="http://schemas.microsoft.com/office/drawing/2014/main" id="{21B2CFBF-2983-4369-A011-8BE171E683E5}"/>
              </a:ext>
            </a:extLst>
          </p:cNvPr>
          <p:cNvSpPr>
            <a:spLocks xmlns:a="http://schemas.openxmlformats.org/drawingml/2006/main" noGrp="1"/>
          </p:cNvSpPr>
          <p:nvPr/>
        </p:nvSpPr>
        <p:spPr>
          <a:xfrm xmlns:a="http://schemas.openxmlformats.org/drawingml/2006/main">
            <a:off x="2438400" y="4262438"/>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Fehlerbezogene Information</a:t>
            </a:r>
          </a:p>
        </p:txBody>
      </p:sp>
      <p:sp>
        <p:nvSpPr>
          <p:cNvPr id="22" name="">
            <a:extLst xmlns:a="http://schemas.openxmlformats.org/drawingml/2006/main">
              <a:ext uri="{FF2B5EF4-FFF2-40B4-BE49-F238E27FC236}">
                <a16:creationId xmlns:a16="http://schemas.microsoft.com/office/drawing/2014/main" id="{0AAD40A0-D58B-44F8-AF30-E58529587E7C}"/>
              </a:ext>
            </a:extLst>
          </p:cNvPr>
          <p:cNvSpPr>
            <a:spLocks xmlns:a="http://schemas.openxmlformats.org/drawingml/2006/main" noGrp="1"/>
          </p:cNvSpPr>
          <p:nvPr/>
        </p:nvSpPr>
        <p:spPr>
          <a:xfrm xmlns:a="http://schemas.openxmlformats.org/drawingml/2006/main">
            <a:off x="4591050" y="4262438"/>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Erkennbare Umstände eines möglichen Fehlers lösen unter den gesetzlichen Voraussetzungen eine Informationspflicht aus.</a:t>
            </a:r>
          </a:p>
        </p:txBody>
      </p:sp>
      <p:sp>
        <p:nvSpPr>
          <p:cNvPr id="23" name="">
            <a:extLst xmlns:a="http://schemas.openxmlformats.org/drawingml/2006/main">
              <a:ext uri="{FF2B5EF4-FFF2-40B4-BE49-F238E27FC236}">
                <a16:creationId xmlns:a16="http://schemas.microsoft.com/office/drawing/2014/main" id="{7EA4E161-4AE2-4BD9-A93F-9D04F5556E98}"/>
              </a:ext>
            </a:extLst>
          </p:cNvPr>
          <p:cNvSpPr>
            <a:spLocks xmlns:a="http://schemas.openxmlformats.org/drawingml/2006/main" noGrp="1"/>
          </p:cNvSpPr>
          <p:nvPr/>
        </p:nvSpPr>
        <p:spPr>
          <a:xfrm xmlns:a="http://schemas.openxmlformats.org/drawingml/2006/main">
            <a:off x="1809750" y="4781550"/>
            <a:ext cx="9525000" cy="666750"/>
          </a:xfrm>
          <a:prstGeom xmlns:a="http://schemas.openxmlformats.org/drawingml/2006/main" prst="roundRect">
            <a:avLst>
              <a:gd name="adj" fmla="val 11429"/>
            </a:avLst>
          </a:prstGeom>
          <a:solidFill xmlns:a="http://schemas.openxmlformats.org/drawingml/2006/main">
            <a:srgbClr val="EAF6FB"/>
          </a:solidFill>
          <a:ln xmlns:a="http://schemas.openxmlformats.org/drawingml/2006/main" w="9525">
            <a:solidFill>
              <a:srgbClr val="00B2BB"/>
            </a:solidFill>
            <a:prstDash val="solid"/>
          </a:ln>
        </p:spPr>
      </p:sp>
      <p:sp>
        <p:nvSpPr>
          <p:cNvPr id="24" name="">
            <a:extLst xmlns:a="http://schemas.openxmlformats.org/drawingml/2006/main">
              <a:ext uri="{FF2B5EF4-FFF2-40B4-BE49-F238E27FC236}">
                <a16:creationId xmlns:a16="http://schemas.microsoft.com/office/drawing/2014/main" id="{2EE11146-F915-4A0C-B70C-A6056B480B23}"/>
              </a:ext>
            </a:extLst>
          </p:cNvPr>
          <p:cNvSpPr>
            <a:spLocks xmlns:a="http://schemas.openxmlformats.org/drawingml/2006/main" noGrp="1"/>
          </p:cNvSpPr>
          <p:nvPr/>
        </p:nvSpPr>
        <p:spPr>
          <a:xfrm xmlns:a="http://schemas.openxmlformats.org/drawingml/2006/main">
            <a:off x="1981200" y="4829175"/>
            <a:ext cx="9182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065">
                <a:solidFill>
                  <a:srgbClr val="15232B"/>
                </a:solidFill>
              </a:defRPr>
            </a:pPr>
            <a:r>
              <a:rPr sz="1065">
                <a:solidFill>
                  <a:srgbClr val="15232B"/>
                </a:solidFill>
              </a:rPr>
              <a:t>Beispiel · Beispiel: Vor einer privat zu zahlenden Zusatzleistung wird nicht nur medizinisch, sondern bei erkennbarer Unsicherheit auch über die voraussichtlichen Kosten informiert.</a:t>
            </a:r>
          </a:p>
        </p:txBody>
      </p:sp>
      <p:sp>
        <p:nvSpPr>
          <p:cNvPr id="25" name="">
            <a:extLst xmlns:a="http://schemas.openxmlformats.org/drawingml/2006/main">
              <a:ext uri="{FF2B5EF4-FFF2-40B4-BE49-F238E27FC236}">
                <a16:creationId xmlns:a16="http://schemas.microsoft.com/office/drawing/2014/main" id="{A4DB71FC-235D-42C1-9653-7568FB1AE967}"/>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6" name="">
            <a:extLst xmlns:a="http://schemas.openxmlformats.org/drawingml/2006/main">
              <a:ext uri="{FF2B5EF4-FFF2-40B4-BE49-F238E27FC236}">
                <a16:creationId xmlns:a16="http://schemas.microsoft.com/office/drawing/2014/main" id="{35AEEB78-C81E-4F86-B6AD-3B299466BC71}"/>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Therapeutische Information und Selbstbestimmungsaufklärung sind getrennte Pflichten.</a:t>
            </a:r>
          </a:p>
        </p:txBody>
      </p:sp>
    </p:spTree>
    <p:extLst>
      <p:ext uri="{BB962C8B-B14F-4D97-AF65-F5344CB8AC3E}">
        <p14:creationId xmlns:p14="http://schemas.microsoft.com/office/powerpoint/2010/main" val="43637646"/>
      </p:ext>
    </p:extLst>
  </p:cSld>
</p:sld>
</file>

<file path=ppt/slides/slide80.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Sicherungsaufklärung und Eingriffsaufklärung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UNTERSCHEIDEN KÖNNEN</a:t>
            </a:r>
            <a:endParaRPr/>
          </a:p>
        </p:txBody>
      </p:sp>
      <p:sp>
        <p:nvSpPr>
          <p:cNvPr id="4" name="">
            <a:extLst xmlns:a="http://schemas.openxmlformats.org/drawingml/2006/main">
              <a:ext uri="{FF2B5EF4-FFF2-40B4-BE49-F238E27FC236}">
                <a16:creationId xmlns:a16="http://schemas.microsoft.com/office/drawing/2014/main" id="{1F5FFF67-F146-438D-905F-AED1CF3FD8E1}"/>
              </a:ext>
            </a:extLst>
          </p:cNvPr>
          <p:cNvSpPr>
            <a:spLocks xmlns:a="http://schemas.openxmlformats.org/drawingml/2006/main" noGrp="1"/>
          </p:cNvSpPr>
          <p:nvPr/>
        </p:nvSpPr>
        <p:spPr>
          <a:xfrm xmlns:a="http://schemas.openxmlformats.org/drawingml/2006/main">
            <a:off x="1809750" y="2000250"/>
            <a:ext cx="4619625" cy="3286125"/>
          </a:xfrm>
          <a:prstGeom xmlns:a="http://schemas.openxmlformats.org/drawingml/2006/main" prst="roundRect">
            <a:avLst>
              <a:gd name="adj" fmla="val 2319"/>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46457ED9-75C5-446E-81BF-3D693D389F8B}"/>
              </a:ext>
            </a:extLst>
          </p:cNvPr>
          <p:cNvSpPr>
            <a:spLocks xmlns:a="http://schemas.openxmlformats.org/drawingml/2006/main" noGrp="1"/>
          </p:cNvSpPr>
          <p:nvPr/>
        </p:nvSpPr>
        <p:spPr>
          <a:xfrm xmlns:a="http://schemas.openxmlformats.org/drawingml/2006/main">
            <a:off x="1809750" y="2000250"/>
            <a:ext cx="4619625"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F5DC47DF-8208-4C75-8B3B-D65BA8C0EB3E}"/>
              </a:ext>
            </a:extLst>
          </p:cNvPr>
          <p:cNvSpPr>
            <a:spLocks xmlns:a="http://schemas.openxmlformats.org/drawingml/2006/main" noGrp="1"/>
          </p:cNvSpPr>
          <p:nvPr/>
        </p:nvSpPr>
        <p:spPr>
          <a:xfrm xmlns:a="http://schemas.openxmlformats.org/drawingml/2006/main">
            <a:off x="1962150" y="2133600"/>
            <a:ext cx="4314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75" b="1">
                <a:solidFill>
                  <a:srgbClr val="003F6B"/>
                </a:solidFill>
              </a:defRPr>
            </a:pPr>
            <a:r>
              <a:rPr sz="1575" b="1">
                <a:solidFill>
                  <a:srgbClr val="003F6B"/>
                </a:solidFill>
              </a:rPr>
              <a:t>Therapeutische Information</a:t>
            </a:r>
          </a:p>
        </p:txBody>
      </p:sp>
      <p:sp>
        <p:nvSpPr>
          <p:cNvPr id="7" name="">
            <a:extLst xmlns:a="http://schemas.openxmlformats.org/drawingml/2006/main">
              <a:ext uri="{FF2B5EF4-FFF2-40B4-BE49-F238E27FC236}">
                <a16:creationId xmlns:a16="http://schemas.microsoft.com/office/drawing/2014/main" id="{86C391EB-F71D-4392-A6E4-FA64D9133483}"/>
              </a:ext>
            </a:extLst>
          </p:cNvPr>
          <p:cNvSpPr>
            <a:spLocks xmlns:a="http://schemas.openxmlformats.org/drawingml/2006/main" noGrp="1"/>
          </p:cNvSpPr>
          <p:nvPr/>
        </p:nvSpPr>
        <p:spPr>
          <a:xfrm xmlns:a="http://schemas.openxmlformats.org/drawingml/2006/main">
            <a:off x="1962150" y="2571750"/>
            <a:ext cx="4314825"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15232B"/>
                </a:solidFill>
              </a:defRPr>
            </a:pPr>
            <a:r>
              <a:rPr sz="1200">
                <a:solidFill>
                  <a:srgbClr val="15232B"/>
                </a:solidFill>
              </a:rPr>
              <a:t>• Sie soll den Behandlungserfolg sichern und betrifft erforderliches Verhalten vor oder nach der Maßnahme.</a:t>
            </a:r>
          </a:p>
          <a:p xmlns:a="http://schemas.openxmlformats.org/drawingml/2006/main">
            <a:pPr>
              <a:buNone/>
              <a:defRPr sz="1200">
                <a:solidFill>
                  <a:srgbClr val="15232B"/>
                </a:solidFill>
              </a:defRPr>
            </a:pPr>
            <a:r>
              <a:rPr sz="1200">
                <a:solidFill>
                  <a:srgbClr val="15232B"/>
                </a:solidFill>
              </a:rPr>
              <a:t>• Ein Verstoß wird als Behandlungsfehler geprüft und verlangt grundsätzlich Schadenskausalität.</a:t>
            </a:r>
          </a:p>
          <a:p xmlns:a="http://schemas.openxmlformats.org/drawingml/2006/main">
            <a:pPr>
              <a:buNone/>
              <a:defRPr sz="1200">
                <a:solidFill>
                  <a:srgbClr val="15232B"/>
                </a:solidFill>
              </a:defRPr>
            </a:pPr>
            <a:r>
              <a:rPr sz="1200">
                <a:solidFill>
                  <a:srgbClr val="15232B"/>
                </a:solidFill>
              </a:rPr>
              <a:t>• Beispiele sind Warnzeichen, Medikamenteneinnahme und Nachkontrollen.</a:t>
            </a:r>
          </a:p>
        </p:txBody>
      </p:sp>
      <p:sp>
        <p:nvSpPr>
          <p:cNvPr id="8" name="">
            <a:extLst xmlns:a="http://schemas.openxmlformats.org/drawingml/2006/main">
              <a:ext uri="{FF2B5EF4-FFF2-40B4-BE49-F238E27FC236}">
                <a16:creationId xmlns:a16="http://schemas.microsoft.com/office/drawing/2014/main" id="{D6C06EAE-55FE-452F-B4FE-CF30F17A512F}"/>
              </a:ext>
            </a:extLst>
          </p:cNvPr>
          <p:cNvSpPr>
            <a:spLocks xmlns:a="http://schemas.openxmlformats.org/drawingml/2006/main" noGrp="1"/>
          </p:cNvSpPr>
          <p:nvPr/>
        </p:nvSpPr>
        <p:spPr>
          <a:xfrm xmlns:a="http://schemas.openxmlformats.org/drawingml/2006/main">
            <a:off x="6715125" y="2000250"/>
            <a:ext cx="4619625" cy="3286125"/>
          </a:xfrm>
          <a:prstGeom xmlns:a="http://schemas.openxmlformats.org/drawingml/2006/main" prst="roundRect">
            <a:avLst>
              <a:gd name="adj" fmla="val 2319"/>
            </a:avLst>
          </a:prstGeom>
          <a:noFill xmlns:a="http://schemas.openxmlformats.org/drawingml/2006/main"/>
          <a:ln xmlns:a="http://schemas.openxmlformats.org/drawingml/2006/main" w="9525">
            <a:solidFill>
              <a:srgbClr val="B9CAD2"/>
            </a:solidFill>
            <a:prstDash val="solid"/>
          </a:ln>
        </p:spPr>
      </p:sp>
      <p:sp>
        <p:nvSpPr>
          <p:cNvPr id="9" name="">
            <a:extLst xmlns:a="http://schemas.openxmlformats.org/drawingml/2006/main">
              <a:ext uri="{FF2B5EF4-FFF2-40B4-BE49-F238E27FC236}">
                <a16:creationId xmlns:a16="http://schemas.microsoft.com/office/drawing/2014/main" id="{F2B69008-6DC0-4985-9B42-D02C4D779D85}"/>
              </a:ext>
            </a:extLst>
          </p:cNvPr>
          <p:cNvSpPr>
            <a:spLocks xmlns:a="http://schemas.openxmlformats.org/drawingml/2006/main" noGrp="1"/>
          </p:cNvSpPr>
          <p:nvPr/>
        </p:nvSpPr>
        <p:spPr>
          <a:xfrm xmlns:a="http://schemas.openxmlformats.org/drawingml/2006/main">
            <a:off x="6715125" y="2000250"/>
            <a:ext cx="4619625"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8194B825-DDAD-426C-AC54-47C1787B9821}"/>
              </a:ext>
            </a:extLst>
          </p:cNvPr>
          <p:cNvSpPr>
            <a:spLocks xmlns:a="http://schemas.openxmlformats.org/drawingml/2006/main" noGrp="1"/>
          </p:cNvSpPr>
          <p:nvPr/>
        </p:nvSpPr>
        <p:spPr>
          <a:xfrm xmlns:a="http://schemas.openxmlformats.org/drawingml/2006/main">
            <a:off x="6867525" y="2133600"/>
            <a:ext cx="4314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75" b="1">
                <a:solidFill>
                  <a:srgbClr val="003F6B"/>
                </a:solidFill>
              </a:defRPr>
            </a:pPr>
            <a:r>
              <a:rPr sz="1575" b="1">
                <a:solidFill>
                  <a:srgbClr val="003F6B"/>
                </a:solidFill>
              </a:rPr>
              <a:t>Selbstbestimmungsaufklärung</a:t>
            </a:r>
          </a:p>
        </p:txBody>
      </p:sp>
      <p:sp>
        <p:nvSpPr>
          <p:cNvPr id="11" name="">
            <a:extLst xmlns:a="http://schemas.openxmlformats.org/drawingml/2006/main">
              <a:ext uri="{FF2B5EF4-FFF2-40B4-BE49-F238E27FC236}">
                <a16:creationId xmlns:a16="http://schemas.microsoft.com/office/drawing/2014/main" id="{A6A3978B-04A9-418A-8E35-EB2AD1BDF265}"/>
              </a:ext>
            </a:extLst>
          </p:cNvPr>
          <p:cNvSpPr>
            <a:spLocks xmlns:a="http://schemas.openxmlformats.org/drawingml/2006/main" noGrp="1"/>
          </p:cNvSpPr>
          <p:nvPr/>
        </p:nvSpPr>
        <p:spPr>
          <a:xfrm xmlns:a="http://schemas.openxmlformats.org/drawingml/2006/main">
            <a:off x="6867525" y="2571750"/>
            <a:ext cx="4314825"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15232B"/>
                </a:solidFill>
              </a:defRPr>
            </a:pPr>
            <a:r>
              <a:rPr sz="1200">
                <a:solidFill>
                  <a:srgbClr val="15232B"/>
                </a:solidFill>
              </a:rPr>
              <a:t>• Sie ermöglicht eine freie Entscheidung über den Eingriff.</a:t>
            </a:r>
          </a:p>
          <a:p xmlns:a="http://schemas.openxmlformats.org/drawingml/2006/main">
            <a:pPr>
              <a:buNone/>
              <a:defRPr sz="1200">
                <a:solidFill>
                  <a:srgbClr val="15232B"/>
                </a:solidFill>
              </a:defRPr>
            </a:pPr>
            <a:r>
              <a:rPr sz="1200">
                <a:solidFill>
                  <a:srgbClr val="15232B"/>
                </a:solidFill>
              </a:rPr>
              <a:t>• Sie betrifft Art, Umfang, Durchführung, Risiken, Notwendigkeit, Dringlichkeit und Alternativen.</a:t>
            </a:r>
          </a:p>
          <a:p xmlns:a="http://schemas.openxmlformats.org/drawingml/2006/main">
            <a:pPr>
              <a:buNone/>
              <a:defRPr sz="1200">
                <a:solidFill>
                  <a:srgbClr val="15232B"/>
                </a:solidFill>
              </a:defRPr>
            </a:pPr>
            <a:r>
              <a:rPr sz="1200">
                <a:solidFill>
                  <a:srgbClr val="15232B"/>
                </a:solidFill>
              </a:rPr>
              <a:t>• Fehlt sie, kann die Einwilligung unwirksam und der Eingriff rechtswidrig sein.</a:t>
            </a:r>
          </a:p>
        </p:txBody>
      </p:sp>
      <p:sp>
        <p:nvSpPr>
          <p:cNvPr id="12" name="">
            <a:extLst xmlns:a="http://schemas.openxmlformats.org/drawingml/2006/main">
              <a:ext uri="{FF2B5EF4-FFF2-40B4-BE49-F238E27FC236}">
                <a16:creationId xmlns:a16="http://schemas.microsoft.com/office/drawing/2014/main" id="{BA189C28-2B57-4798-AB0C-CE19C0E59B38}"/>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13" name="">
            <a:extLst xmlns:a="http://schemas.openxmlformats.org/drawingml/2006/main">
              <a:ext uri="{FF2B5EF4-FFF2-40B4-BE49-F238E27FC236}">
                <a16:creationId xmlns:a16="http://schemas.microsoft.com/office/drawing/2014/main" id="{4263D6E4-B9DA-46B4-9616-B0F03AD5D836}"/>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Zweck und Rechtsfolge sind unterschiedlich; beide Pflichten können gleichzeitig verletzt sein.</a:t>
            </a:r>
          </a:p>
        </p:txBody>
      </p:sp>
    </p:spTree>
    <p:extLst>
      <p:ext uri="{BB962C8B-B14F-4D97-AF65-F5344CB8AC3E}">
        <p14:creationId xmlns:p14="http://schemas.microsoft.com/office/powerpoint/2010/main" val="43637646"/>
      </p:ext>
    </p:extLst>
  </p:cSld>
</p:sld>
</file>

<file path=ppt/slides/slide81.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Einwilligung vor der Maßnahme</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NORM IM FOKUS · § 630d BGB</a:t>
            </a:r>
            <a:endParaRPr/>
          </a:p>
        </p:txBody>
      </p:sp>
      <p:sp>
        <p:nvSpPr>
          <p:cNvPr id="4" name="">
            <a:extLst xmlns:a="http://schemas.openxmlformats.org/drawingml/2006/main">
              <a:ext uri="{FF2B5EF4-FFF2-40B4-BE49-F238E27FC236}">
                <a16:creationId xmlns:a16="http://schemas.microsoft.com/office/drawing/2014/main" id="{ECD589C3-147E-4A4C-8B0E-BD17E2C6D883}"/>
              </a:ext>
            </a:extLst>
          </p:cNvPr>
          <p:cNvSpPr>
            <a:spLocks xmlns:a="http://schemas.openxmlformats.org/drawingml/2006/main" noGrp="1"/>
          </p:cNvSpPr>
          <p:nvPr/>
        </p:nvSpPr>
        <p:spPr>
          <a:xfrm xmlns:a="http://schemas.openxmlformats.org/drawingml/2006/main">
            <a:off x="1809750" y="1924050"/>
            <a:ext cx="2286000" cy="704850"/>
          </a:xfrm>
          <a:prstGeom xmlns:a="http://schemas.openxmlformats.org/drawingml/2006/main" prst="roundRect">
            <a:avLst>
              <a:gd name="adj" fmla="val 10811"/>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50D7BE04-7AF4-41E7-9D90-B3741FEF91FC}"/>
              </a:ext>
            </a:extLst>
          </p:cNvPr>
          <p:cNvSpPr>
            <a:spLocks xmlns:a="http://schemas.openxmlformats.org/drawingml/2006/main" noGrp="1"/>
          </p:cNvSpPr>
          <p:nvPr/>
        </p:nvSpPr>
        <p:spPr>
          <a:xfrm xmlns:a="http://schemas.openxmlformats.org/drawingml/2006/main">
            <a:off x="1924050" y="1971675"/>
            <a:ext cx="2057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75" b="1">
                <a:solidFill>
                  <a:srgbClr val="FFFFFF"/>
                </a:solidFill>
              </a:defRPr>
            </a:pPr>
            <a:r>
              <a:rPr sz="1875" b="1">
                <a:solidFill>
                  <a:srgbClr val="FFFFFF"/>
                </a:solidFill>
              </a:rPr>
              <a:t>§ 630d BGB</a:t>
            </a:r>
          </a:p>
        </p:txBody>
      </p:sp>
      <p:sp>
        <p:nvSpPr>
          <p:cNvPr id="6" name="">
            <a:extLst xmlns:a="http://schemas.openxmlformats.org/drawingml/2006/main">
              <a:ext uri="{FF2B5EF4-FFF2-40B4-BE49-F238E27FC236}">
                <a16:creationId xmlns:a16="http://schemas.microsoft.com/office/drawing/2014/main" id="{0D9A93A9-E023-4307-9689-177A3ED65084}"/>
              </a:ext>
            </a:extLst>
          </p:cNvPr>
          <p:cNvSpPr>
            <a:spLocks xmlns:a="http://schemas.openxmlformats.org/drawingml/2006/main" noGrp="1"/>
          </p:cNvSpPr>
          <p:nvPr/>
        </p:nvSpPr>
        <p:spPr>
          <a:xfrm xmlns:a="http://schemas.openxmlformats.org/drawingml/2006/main">
            <a:off x="4362450" y="1924050"/>
            <a:ext cx="6972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15">
                <a:solidFill>
                  <a:srgbClr val="667680"/>
                </a:solidFill>
              </a:defRPr>
            </a:pPr>
            <a:r>
              <a:rPr sz="1215">
                <a:solidFill>
                  <a:srgbClr val="667680"/>
                </a:solidFill>
              </a:rPr>
              <a:t>Vor einer medizinischen Maßnahme ist grundsätzlich die Einwilligung der einwilligungsfähigen Person einzuholen.</a:t>
            </a:r>
          </a:p>
        </p:txBody>
      </p:sp>
      <p:sp>
        <p:nvSpPr>
          <p:cNvPr id="7" name="">
            <a:extLst xmlns:a="http://schemas.openxmlformats.org/drawingml/2006/main">
              <a:ext uri="{FF2B5EF4-FFF2-40B4-BE49-F238E27FC236}">
                <a16:creationId xmlns:a16="http://schemas.microsoft.com/office/drawing/2014/main" id="{5322950B-8BA3-4820-A6DD-71AC5DC65D89}"/>
              </a:ext>
            </a:extLst>
          </p:cNvPr>
          <p:cNvSpPr>
            <a:spLocks xmlns:a="http://schemas.openxmlformats.org/drawingml/2006/main" noGrp="1"/>
          </p:cNvSpPr>
          <p:nvPr/>
        </p:nvSpPr>
        <p:spPr>
          <a:xfrm xmlns:a="http://schemas.openxmlformats.org/drawingml/2006/main">
            <a:off x="1809750" y="2781300"/>
            <a:ext cx="476250" cy="414338"/>
          </a:xfrm>
          <a:prstGeom xmlns:a="http://schemas.openxmlformats.org/drawingml/2006/main" prst="roundRect">
            <a:avLst>
              <a:gd name="adj" fmla="val 18391"/>
            </a:avLst>
          </a:prstGeom>
          <a:solidFill xmlns:a="http://schemas.openxmlformats.org/drawingml/2006/main">
            <a:srgbClr val="00B2BB"/>
          </a:solidFill>
          <a:ln xmlns:a="http://schemas.openxmlformats.org/drawingml/2006/main" w="0">
            <a:solidFill>
              <a:srgbClr val="00B2BB"/>
            </a:solidFill>
            <a:prstDash val="solid"/>
          </a:ln>
        </p:spPr>
      </p:sp>
      <p:sp>
        <p:nvSpPr>
          <p:cNvPr id="8" name="">
            <a:extLst xmlns:a="http://schemas.openxmlformats.org/drawingml/2006/main">
              <a:ext uri="{FF2B5EF4-FFF2-40B4-BE49-F238E27FC236}">
                <a16:creationId xmlns:a16="http://schemas.microsoft.com/office/drawing/2014/main" id="{9BD45BB8-C89B-49EF-8507-5959FEC75EE6}"/>
              </a:ext>
            </a:extLst>
          </p:cNvPr>
          <p:cNvSpPr>
            <a:spLocks xmlns:a="http://schemas.openxmlformats.org/drawingml/2006/main" noGrp="1"/>
          </p:cNvSpPr>
          <p:nvPr/>
        </p:nvSpPr>
        <p:spPr>
          <a:xfrm xmlns:a="http://schemas.openxmlformats.org/drawingml/2006/main">
            <a:off x="1809750" y="2781300"/>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9" name="">
            <a:extLst xmlns:a="http://schemas.openxmlformats.org/drawingml/2006/main">
              <a:ext uri="{FF2B5EF4-FFF2-40B4-BE49-F238E27FC236}">
                <a16:creationId xmlns:a16="http://schemas.microsoft.com/office/drawing/2014/main" id="{430F27E9-920E-4C04-BC99-651062B80B94}"/>
              </a:ext>
            </a:extLst>
          </p:cNvPr>
          <p:cNvSpPr>
            <a:spLocks xmlns:a="http://schemas.openxmlformats.org/drawingml/2006/main" noGrp="1"/>
          </p:cNvSpPr>
          <p:nvPr/>
        </p:nvSpPr>
        <p:spPr>
          <a:xfrm xmlns:a="http://schemas.openxmlformats.org/drawingml/2006/main">
            <a:off x="2438400" y="2790825"/>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Einwilligungsfähigkeit</a:t>
            </a:r>
          </a:p>
        </p:txBody>
      </p:sp>
      <p:sp>
        <p:nvSpPr>
          <p:cNvPr id="10" name="">
            <a:extLst xmlns:a="http://schemas.openxmlformats.org/drawingml/2006/main">
              <a:ext uri="{FF2B5EF4-FFF2-40B4-BE49-F238E27FC236}">
                <a16:creationId xmlns:a16="http://schemas.microsoft.com/office/drawing/2014/main" id="{E5994495-2871-4388-99BF-1ED71A802AD7}"/>
              </a:ext>
            </a:extLst>
          </p:cNvPr>
          <p:cNvSpPr>
            <a:spLocks xmlns:a="http://schemas.openxmlformats.org/drawingml/2006/main" noGrp="1"/>
          </p:cNvSpPr>
          <p:nvPr/>
        </p:nvSpPr>
        <p:spPr>
          <a:xfrm xmlns:a="http://schemas.openxmlformats.org/drawingml/2006/main">
            <a:off x="4591050" y="2790825"/>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Entscheidend ist, ob Bedeutung, Tragweite, Risiken und Folgen im konkreten Fall verstanden und abgewogen werden können.</a:t>
            </a:r>
          </a:p>
        </p:txBody>
      </p:sp>
      <p:sp>
        <p:nvSpPr>
          <p:cNvPr id="11" name="">
            <a:extLst xmlns:a="http://schemas.openxmlformats.org/drawingml/2006/main">
              <a:ext uri="{FF2B5EF4-FFF2-40B4-BE49-F238E27FC236}">
                <a16:creationId xmlns:a16="http://schemas.microsoft.com/office/drawing/2014/main" id="{3F34E79D-FA70-4EE3-B7B7-0E9A93A86A94}"/>
              </a:ext>
            </a:extLst>
          </p:cNvPr>
          <p:cNvSpPr>
            <a:spLocks xmlns:a="http://schemas.openxmlformats.org/drawingml/2006/main" noGrp="1"/>
          </p:cNvSpPr>
          <p:nvPr/>
        </p:nvSpPr>
        <p:spPr>
          <a:xfrm xmlns:a="http://schemas.openxmlformats.org/drawingml/2006/main">
            <a:off x="1809750" y="3271838"/>
            <a:ext cx="476250" cy="414338"/>
          </a:xfrm>
          <a:prstGeom xmlns:a="http://schemas.openxmlformats.org/drawingml/2006/main" prst="roundRect">
            <a:avLst>
              <a:gd name="adj" fmla="val 18391"/>
            </a:avLst>
          </a:prstGeom>
          <a:solidFill xmlns:a="http://schemas.openxmlformats.org/drawingml/2006/main">
            <a:srgbClr val="003F6B"/>
          </a:solidFill>
          <a:ln xmlns:a="http://schemas.openxmlformats.org/drawingml/2006/main" w="0">
            <a:solidFill>
              <a:srgbClr val="003F6B"/>
            </a:solidFill>
            <a:prstDash val="solid"/>
          </a:ln>
        </p:spPr>
      </p:sp>
      <p:sp>
        <p:nvSpPr>
          <p:cNvPr id="12" name="">
            <a:extLst xmlns:a="http://schemas.openxmlformats.org/drawingml/2006/main">
              <a:ext uri="{FF2B5EF4-FFF2-40B4-BE49-F238E27FC236}">
                <a16:creationId xmlns:a16="http://schemas.microsoft.com/office/drawing/2014/main" id="{D28A4AE7-4D27-4533-BF51-8A41BB887BE8}"/>
              </a:ext>
            </a:extLst>
          </p:cNvPr>
          <p:cNvSpPr>
            <a:spLocks xmlns:a="http://schemas.openxmlformats.org/drawingml/2006/main" noGrp="1"/>
          </p:cNvSpPr>
          <p:nvPr/>
        </p:nvSpPr>
        <p:spPr>
          <a:xfrm xmlns:a="http://schemas.openxmlformats.org/drawingml/2006/main">
            <a:off x="1809750" y="3271838"/>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3" name="">
            <a:extLst xmlns:a="http://schemas.openxmlformats.org/drawingml/2006/main">
              <a:ext uri="{FF2B5EF4-FFF2-40B4-BE49-F238E27FC236}">
                <a16:creationId xmlns:a16="http://schemas.microsoft.com/office/drawing/2014/main" id="{99193BB6-3399-441A-B1B9-5E38CF8726FC}"/>
              </a:ext>
            </a:extLst>
          </p:cNvPr>
          <p:cNvSpPr>
            <a:spLocks xmlns:a="http://schemas.openxmlformats.org/drawingml/2006/main" noGrp="1"/>
          </p:cNvSpPr>
          <p:nvPr/>
        </p:nvSpPr>
        <p:spPr>
          <a:xfrm xmlns:a="http://schemas.openxmlformats.org/drawingml/2006/main">
            <a:off x="2438400" y="3281363"/>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Vertretung</a:t>
            </a:r>
          </a:p>
        </p:txBody>
      </p:sp>
      <p:sp>
        <p:nvSpPr>
          <p:cNvPr id="14" name="">
            <a:extLst xmlns:a="http://schemas.openxmlformats.org/drawingml/2006/main">
              <a:ext uri="{FF2B5EF4-FFF2-40B4-BE49-F238E27FC236}">
                <a16:creationId xmlns:a16="http://schemas.microsoft.com/office/drawing/2014/main" id="{EF9A9CBC-2E57-4603-A176-BCE985F4A1AD}"/>
              </a:ext>
            </a:extLst>
          </p:cNvPr>
          <p:cNvSpPr>
            <a:spLocks xmlns:a="http://schemas.openxmlformats.org/drawingml/2006/main" noGrp="1"/>
          </p:cNvSpPr>
          <p:nvPr/>
        </p:nvSpPr>
        <p:spPr>
          <a:xfrm xmlns:a="http://schemas.openxmlformats.org/drawingml/2006/main">
            <a:off x="4591050" y="3281363"/>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Fehlt Einwilligungsfähigkeit, entscheidet eine berechtigte Vertretung unter Beachtung von Patientenwillen und gesetzlichen Vorgaben.</a:t>
            </a:r>
          </a:p>
        </p:txBody>
      </p:sp>
      <p:sp>
        <p:nvSpPr>
          <p:cNvPr id="15" name="">
            <a:extLst xmlns:a="http://schemas.openxmlformats.org/drawingml/2006/main">
              <a:ext uri="{FF2B5EF4-FFF2-40B4-BE49-F238E27FC236}">
                <a16:creationId xmlns:a16="http://schemas.microsoft.com/office/drawing/2014/main" id="{BD4C69EB-4435-404A-BCB6-FE8F941865A3}"/>
              </a:ext>
            </a:extLst>
          </p:cNvPr>
          <p:cNvSpPr>
            <a:spLocks xmlns:a="http://schemas.openxmlformats.org/drawingml/2006/main" noGrp="1"/>
          </p:cNvSpPr>
          <p:nvPr/>
        </p:nvSpPr>
        <p:spPr>
          <a:xfrm xmlns:a="http://schemas.openxmlformats.org/drawingml/2006/main">
            <a:off x="1809750" y="3762375"/>
            <a:ext cx="476250" cy="414338"/>
          </a:xfrm>
          <a:prstGeom xmlns:a="http://schemas.openxmlformats.org/drawingml/2006/main" prst="roundRect">
            <a:avLst>
              <a:gd name="adj" fmla="val 18391"/>
            </a:avLst>
          </a:prstGeom>
          <a:solidFill xmlns:a="http://schemas.openxmlformats.org/drawingml/2006/main">
            <a:srgbClr val="00B2BB"/>
          </a:solidFill>
          <a:ln xmlns:a="http://schemas.openxmlformats.org/drawingml/2006/main" w="0">
            <a:solidFill>
              <a:srgbClr val="00B2BB"/>
            </a:solidFill>
            <a:prstDash val="solid"/>
          </a:ln>
        </p:spPr>
      </p:sp>
      <p:sp>
        <p:nvSpPr>
          <p:cNvPr id="16" name="">
            <a:extLst xmlns:a="http://schemas.openxmlformats.org/drawingml/2006/main">
              <a:ext uri="{FF2B5EF4-FFF2-40B4-BE49-F238E27FC236}">
                <a16:creationId xmlns:a16="http://schemas.microsoft.com/office/drawing/2014/main" id="{C6FED253-2655-4DC8-AE39-CB42F06C345C}"/>
              </a:ext>
            </a:extLst>
          </p:cNvPr>
          <p:cNvSpPr>
            <a:spLocks xmlns:a="http://schemas.openxmlformats.org/drawingml/2006/main" noGrp="1"/>
          </p:cNvSpPr>
          <p:nvPr/>
        </p:nvSpPr>
        <p:spPr>
          <a:xfrm xmlns:a="http://schemas.openxmlformats.org/drawingml/2006/main">
            <a:off x="1809750" y="3762375"/>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7" name="">
            <a:extLst xmlns:a="http://schemas.openxmlformats.org/drawingml/2006/main">
              <a:ext uri="{FF2B5EF4-FFF2-40B4-BE49-F238E27FC236}">
                <a16:creationId xmlns:a16="http://schemas.microsoft.com/office/drawing/2014/main" id="{47FE349B-CD26-4FB6-B129-45CFB5009B43}"/>
              </a:ext>
            </a:extLst>
          </p:cNvPr>
          <p:cNvSpPr>
            <a:spLocks xmlns:a="http://schemas.openxmlformats.org/drawingml/2006/main" noGrp="1"/>
          </p:cNvSpPr>
          <p:nvPr/>
        </p:nvSpPr>
        <p:spPr>
          <a:xfrm xmlns:a="http://schemas.openxmlformats.org/drawingml/2006/main">
            <a:off x="2438400" y="3771900"/>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Aufklärung als Voraussetzung</a:t>
            </a:r>
          </a:p>
        </p:txBody>
      </p:sp>
      <p:sp>
        <p:nvSpPr>
          <p:cNvPr id="18" name="">
            <a:extLst xmlns:a="http://schemas.openxmlformats.org/drawingml/2006/main">
              <a:ext uri="{FF2B5EF4-FFF2-40B4-BE49-F238E27FC236}">
                <a16:creationId xmlns:a16="http://schemas.microsoft.com/office/drawing/2014/main" id="{803FE760-36DD-48D1-9DD6-7003E694AD30}"/>
              </a:ext>
            </a:extLst>
          </p:cNvPr>
          <p:cNvSpPr>
            <a:spLocks xmlns:a="http://schemas.openxmlformats.org/drawingml/2006/main" noGrp="1"/>
          </p:cNvSpPr>
          <p:nvPr/>
        </p:nvSpPr>
        <p:spPr>
          <a:xfrm xmlns:a="http://schemas.openxmlformats.org/drawingml/2006/main">
            <a:off x="4591050" y="3771900"/>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Die Einwilligung ist grundsätzlich nur wirksam, wenn zuvor ordnungsgemäß nach § 630e BGB aufgeklärt wurde.</a:t>
            </a:r>
          </a:p>
        </p:txBody>
      </p:sp>
      <p:sp>
        <p:nvSpPr>
          <p:cNvPr id="19" name="">
            <a:extLst xmlns:a="http://schemas.openxmlformats.org/drawingml/2006/main">
              <a:ext uri="{FF2B5EF4-FFF2-40B4-BE49-F238E27FC236}">
                <a16:creationId xmlns:a16="http://schemas.microsoft.com/office/drawing/2014/main" id="{1101570A-A45C-4DFC-BCD2-E8E71DB748D7}"/>
              </a:ext>
            </a:extLst>
          </p:cNvPr>
          <p:cNvSpPr>
            <a:spLocks xmlns:a="http://schemas.openxmlformats.org/drawingml/2006/main" noGrp="1"/>
          </p:cNvSpPr>
          <p:nvPr/>
        </p:nvSpPr>
        <p:spPr>
          <a:xfrm xmlns:a="http://schemas.openxmlformats.org/drawingml/2006/main">
            <a:off x="1809750" y="4252913"/>
            <a:ext cx="476250" cy="414338"/>
          </a:xfrm>
          <a:prstGeom xmlns:a="http://schemas.openxmlformats.org/drawingml/2006/main" prst="roundRect">
            <a:avLst>
              <a:gd name="adj" fmla="val 18391"/>
            </a:avLst>
          </a:prstGeom>
          <a:solidFill xmlns:a="http://schemas.openxmlformats.org/drawingml/2006/main">
            <a:srgbClr val="003F6B"/>
          </a:solidFill>
          <a:ln xmlns:a="http://schemas.openxmlformats.org/drawingml/2006/main" w="0">
            <a:solidFill>
              <a:srgbClr val="003F6B"/>
            </a:solidFill>
            <a:prstDash val="solid"/>
          </a:ln>
        </p:spPr>
      </p:sp>
      <p:sp>
        <p:nvSpPr>
          <p:cNvPr id="20" name="">
            <a:extLst xmlns:a="http://schemas.openxmlformats.org/drawingml/2006/main">
              <a:ext uri="{FF2B5EF4-FFF2-40B4-BE49-F238E27FC236}">
                <a16:creationId xmlns:a16="http://schemas.microsoft.com/office/drawing/2014/main" id="{8E08FF6C-3ACB-4D3E-9193-37ED4834E8F8}"/>
              </a:ext>
            </a:extLst>
          </p:cNvPr>
          <p:cNvSpPr>
            <a:spLocks xmlns:a="http://schemas.openxmlformats.org/drawingml/2006/main" noGrp="1"/>
          </p:cNvSpPr>
          <p:nvPr/>
        </p:nvSpPr>
        <p:spPr>
          <a:xfrm xmlns:a="http://schemas.openxmlformats.org/drawingml/2006/main">
            <a:off x="1809750" y="4252913"/>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21" name="">
            <a:extLst xmlns:a="http://schemas.openxmlformats.org/drawingml/2006/main">
              <a:ext uri="{FF2B5EF4-FFF2-40B4-BE49-F238E27FC236}">
                <a16:creationId xmlns:a16="http://schemas.microsoft.com/office/drawing/2014/main" id="{142A383F-936A-487E-97F2-967B0E3C79F2}"/>
              </a:ext>
            </a:extLst>
          </p:cNvPr>
          <p:cNvSpPr>
            <a:spLocks xmlns:a="http://schemas.openxmlformats.org/drawingml/2006/main" noGrp="1"/>
          </p:cNvSpPr>
          <p:nvPr/>
        </p:nvSpPr>
        <p:spPr>
          <a:xfrm xmlns:a="http://schemas.openxmlformats.org/drawingml/2006/main">
            <a:off x="2438400" y="4262438"/>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Unaufschiebbarkeit</a:t>
            </a:r>
          </a:p>
        </p:txBody>
      </p:sp>
      <p:sp>
        <p:nvSpPr>
          <p:cNvPr id="22" name="">
            <a:extLst xmlns:a="http://schemas.openxmlformats.org/drawingml/2006/main">
              <a:ext uri="{FF2B5EF4-FFF2-40B4-BE49-F238E27FC236}">
                <a16:creationId xmlns:a16="http://schemas.microsoft.com/office/drawing/2014/main" id="{70F4B3D7-739A-4198-9E09-666A1512F7CE}"/>
              </a:ext>
            </a:extLst>
          </p:cNvPr>
          <p:cNvSpPr>
            <a:spLocks xmlns:a="http://schemas.openxmlformats.org/drawingml/2006/main" noGrp="1"/>
          </p:cNvSpPr>
          <p:nvPr/>
        </p:nvSpPr>
        <p:spPr>
          <a:xfrm xmlns:a="http://schemas.openxmlformats.org/drawingml/2006/main">
            <a:off x="4591050" y="4262438"/>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Ist eine Maßnahme unaufschiebbar und Einwilligung nicht rechtzeitig erhältlich, kann sie dem mutmaßlichen Willen entsprechend zulässig sein.</a:t>
            </a:r>
          </a:p>
        </p:txBody>
      </p:sp>
      <p:sp>
        <p:nvSpPr>
          <p:cNvPr id="23" name="">
            <a:extLst xmlns:a="http://schemas.openxmlformats.org/drawingml/2006/main">
              <a:ext uri="{FF2B5EF4-FFF2-40B4-BE49-F238E27FC236}">
                <a16:creationId xmlns:a16="http://schemas.microsoft.com/office/drawing/2014/main" id="{32EBDFD6-6478-4CCD-AE93-19951A312B3E}"/>
              </a:ext>
            </a:extLst>
          </p:cNvPr>
          <p:cNvSpPr>
            <a:spLocks xmlns:a="http://schemas.openxmlformats.org/drawingml/2006/main" noGrp="1"/>
          </p:cNvSpPr>
          <p:nvPr/>
        </p:nvSpPr>
        <p:spPr>
          <a:xfrm xmlns:a="http://schemas.openxmlformats.org/drawingml/2006/main">
            <a:off x="1809750" y="4781550"/>
            <a:ext cx="9525000" cy="666750"/>
          </a:xfrm>
          <a:prstGeom xmlns:a="http://schemas.openxmlformats.org/drawingml/2006/main" prst="roundRect">
            <a:avLst>
              <a:gd name="adj" fmla="val 11429"/>
            </a:avLst>
          </a:prstGeom>
          <a:solidFill xmlns:a="http://schemas.openxmlformats.org/drawingml/2006/main">
            <a:srgbClr val="EAF6FB"/>
          </a:solidFill>
          <a:ln xmlns:a="http://schemas.openxmlformats.org/drawingml/2006/main" w="9525">
            <a:solidFill>
              <a:srgbClr val="00B2BB"/>
            </a:solidFill>
            <a:prstDash val="solid"/>
          </a:ln>
        </p:spPr>
      </p:sp>
      <p:sp>
        <p:nvSpPr>
          <p:cNvPr id="24" name="">
            <a:extLst xmlns:a="http://schemas.openxmlformats.org/drawingml/2006/main">
              <a:ext uri="{FF2B5EF4-FFF2-40B4-BE49-F238E27FC236}">
                <a16:creationId xmlns:a16="http://schemas.microsoft.com/office/drawing/2014/main" id="{37CC1078-861B-4639-9C68-24EB017F587F}"/>
              </a:ext>
            </a:extLst>
          </p:cNvPr>
          <p:cNvSpPr>
            <a:spLocks xmlns:a="http://schemas.openxmlformats.org/drawingml/2006/main" noGrp="1"/>
          </p:cNvSpPr>
          <p:nvPr/>
        </p:nvSpPr>
        <p:spPr>
          <a:xfrm xmlns:a="http://schemas.openxmlformats.org/drawingml/2006/main">
            <a:off x="1981200" y="4829175"/>
            <a:ext cx="9182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065">
                <a:solidFill>
                  <a:srgbClr val="15232B"/>
                </a:solidFill>
              </a:defRPr>
            </a:pPr>
            <a:r>
              <a:rPr sz="1065">
                <a:solidFill>
                  <a:srgbClr val="15232B"/>
                </a:solidFill>
              </a:rPr>
              <a:t>Beispiel · Beispiel: Eine bewusstlose Patientin benötigt sofortige Blutstillung; Hinweise auf einen entgegenstehenden Willen werden soweit möglich berücksichtigt.</a:t>
            </a:r>
          </a:p>
        </p:txBody>
      </p:sp>
      <p:sp>
        <p:nvSpPr>
          <p:cNvPr id="25" name="">
            <a:extLst xmlns:a="http://schemas.openxmlformats.org/drawingml/2006/main">
              <a:ext uri="{FF2B5EF4-FFF2-40B4-BE49-F238E27FC236}">
                <a16:creationId xmlns:a16="http://schemas.microsoft.com/office/drawing/2014/main" id="{C07C4BDD-24CB-4DB2-AD21-D6D720193149}"/>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6" name="">
            <a:extLst xmlns:a="http://schemas.openxmlformats.org/drawingml/2006/main">
              <a:ext uri="{FF2B5EF4-FFF2-40B4-BE49-F238E27FC236}">
                <a16:creationId xmlns:a16="http://schemas.microsoft.com/office/drawing/2014/main" id="{1074A7FE-33E9-409A-9E0B-4396481F3F8F}"/>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Ein medizinischer Nutzen ersetzt die Einwilligung nicht; der Notfall ist eine begründungsbedürftige Ausnahme.</a:t>
            </a:r>
          </a:p>
        </p:txBody>
      </p:sp>
    </p:spTree>
    <p:extLst>
      <p:ext uri="{BB962C8B-B14F-4D97-AF65-F5344CB8AC3E}">
        <p14:creationId xmlns:p14="http://schemas.microsoft.com/office/powerpoint/2010/main" val="43637646"/>
      </p:ext>
    </p:extLst>
  </p:cSld>
</p:sld>
</file>

<file path=ppt/slides/slide82.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Wirksame Einwilligung prüfen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PRÜFUNGSSCHEMA · §§ 630d, 630e BGB</a:t>
            </a:r>
            <a:endParaRPr/>
          </a:p>
        </p:txBody>
      </p:sp>
      <p:sp>
        <p:nvSpPr>
          <p:cNvPr id="4" name="">
            <a:extLst xmlns:a="http://schemas.openxmlformats.org/drawingml/2006/main">
              <a:ext uri="{FF2B5EF4-FFF2-40B4-BE49-F238E27FC236}">
                <a16:creationId xmlns:a16="http://schemas.microsoft.com/office/drawing/2014/main" id="{37D32BCA-B696-414C-8D6C-251D4F97A1E8}"/>
              </a:ext>
            </a:extLst>
          </p:cNvPr>
          <p:cNvSpPr>
            <a:spLocks xmlns:a="http://schemas.openxmlformats.org/drawingml/2006/main" noGrp="1"/>
          </p:cNvSpPr>
          <p:nvPr/>
        </p:nvSpPr>
        <p:spPr>
          <a:xfrm xmlns:a="http://schemas.openxmlformats.org/drawingml/2006/main">
            <a:off x="1809750" y="195262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B3290E67-213F-4CE4-BA7B-5EFD7036E3DC}"/>
              </a:ext>
            </a:extLst>
          </p:cNvPr>
          <p:cNvSpPr>
            <a:spLocks xmlns:a="http://schemas.openxmlformats.org/drawingml/2006/main" noGrp="1"/>
          </p:cNvSpPr>
          <p:nvPr/>
        </p:nvSpPr>
        <p:spPr>
          <a:xfrm xmlns:a="http://schemas.openxmlformats.org/drawingml/2006/main">
            <a:off x="1809750" y="19526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6" name="">
            <a:extLst xmlns:a="http://schemas.openxmlformats.org/drawingml/2006/main">
              <a:ext uri="{FF2B5EF4-FFF2-40B4-BE49-F238E27FC236}">
                <a16:creationId xmlns:a16="http://schemas.microsoft.com/office/drawing/2014/main" id="{5A1C8EDD-AEC2-4CDA-8EC3-DEFE7DD29E06}"/>
              </a:ext>
            </a:extLst>
          </p:cNvPr>
          <p:cNvSpPr>
            <a:spLocks xmlns:a="http://schemas.openxmlformats.org/drawingml/2006/main" noGrp="1"/>
          </p:cNvSpPr>
          <p:nvPr/>
        </p:nvSpPr>
        <p:spPr>
          <a:xfrm xmlns:a="http://schemas.openxmlformats.org/drawingml/2006/main">
            <a:off x="2324100" y="196215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1. Einwilligungsfähigkeit</a:t>
            </a:r>
          </a:p>
        </p:txBody>
      </p:sp>
      <p:sp>
        <p:nvSpPr>
          <p:cNvPr id="7" name="">
            <a:extLst xmlns:a="http://schemas.openxmlformats.org/drawingml/2006/main">
              <a:ext uri="{FF2B5EF4-FFF2-40B4-BE49-F238E27FC236}">
                <a16:creationId xmlns:a16="http://schemas.microsoft.com/office/drawing/2014/main" id="{3BB6BC3A-D94D-4FA9-85E7-87DF08154636}"/>
              </a:ext>
            </a:extLst>
          </p:cNvPr>
          <p:cNvSpPr>
            <a:spLocks xmlns:a="http://schemas.openxmlformats.org/drawingml/2006/main" noGrp="1"/>
          </p:cNvSpPr>
          <p:nvPr/>
        </p:nvSpPr>
        <p:spPr>
          <a:xfrm xmlns:a="http://schemas.openxmlformats.org/drawingml/2006/main">
            <a:off x="4819650" y="196215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Kann die Person Bedeutung, Tragweite und Folgen der konkreten Maßnahme verstehen und abwägen?</a:t>
            </a:r>
          </a:p>
        </p:txBody>
      </p:sp>
      <p:sp>
        <p:nvSpPr>
          <p:cNvPr id="8" name="">
            <a:extLst xmlns:a="http://schemas.openxmlformats.org/drawingml/2006/main">
              <a:ext uri="{FF2B5EF4-FFF2-40B4-BE49-F238E27FC236}">
                <a16:creationId xmlns:a16="http://schemas.microsoft.com/office/drawing/2014/main" id="{1CF23EB6-E63D-4AC0-A758-882FCF8B9506}"/>
              </a:ext>
            </a:extLst>
          </p:cNvPr>
          <p:cNvSpPr>
            <a:spLocks xmlns:a="http://schemas.openxmlformats.org/drawingml/2006/main" noGrp="1"/>
          </p:cNvSpPr>
          <p:nvPr/>
        </p:nvSpPr>
        <p:spPr>
          <a:xfrm xmlns:a="http://schemas.openxmlformats.org/drawingml/2006/main">
            <a:off x="1809750" y="255270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9" name="">
            <a:extLst xmlns:a="http://schemas.openxmlformats.org/drawingml/2006/main">
              <a:ext uri="{FF2B5EF4-FFF2-40B4-BE49-F238E27FC236}">
                <a16:creationId xmlns:a16="http://schemas.microsoft.com/office/drawing/2014/main" id="{732E9BA8-190B-4DC3-BDD7-19A392E518AF}"/>
              </a:ext>
            </a:extLst>
          </p:cNvPr>
          <p:cNvSpPr>
            <a:spLocks xmlns:a="http://schemas.openxmlformats.org/drawingml/2006/main" noGrp="1"/>
          </p:cNvSpPr>
          <p:nvPr/>
        </p:nvSpPr>
        <p:spPr>
          <a:xfrm xmlns:a="http://schemas.openxmlformats.org/drawingml/2006/main">
            <a:off x="1809750" y="255270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0" name="">
            <a:extLst xmlns:a="http://schemas.openxmlformats.org/drawingml/2006/main">
              <a:ext uri="{FF2B5EF4-FFF2-40B4-BE49-F238E27FC236}">
                <a16:creationId xmlns:a16="http://schemas.microsoft.com/office/drawing/2014/main" id="{D8BAC7BF-8152-4DE9-A8EC-FFC8B10EEBCD}"/>
              </a:ext>
            </a:extLst>
          </p:cNvPr>
          <p:cNvSpPr>
            <a:spLocks xmlns:a="http://schemas.openxmlformats.org/drawingml/2006/main" noGrp="1"/>
          </p:cNvSpPr>
          <p:nvPr/>
        </p:nvSpPr>
        <p:spPr>
          <a:xfrm xmlns:a="http://schemas.openxmlformats.org/drawingml/2006/main">
            <a:off x="2324100" y="256222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2. Aufklärung</a:t>
            </a:r>
          </a:p>
        </p:txBody>
      </p:sp>
      <p:sp>
        <p:nvSpPr>
          <p:cNvPr id="11" name="">
            <a:extLst xmlns:a="http://schemas.openxmlformats.org/drawingml/2006/main">
              <a:ext uri="{FF2B5EF4-FFF2-40B4-BE49-F238E27FC236}">
                <a16:creationId xmlns:a16="http://schemas.microsoft.com/office/drawing/2014/main" id="{D2C0F5E4-BCB9-49C3-919B-C54D74A2DC8C}"/>
              </a:ext>
            </a:extLst>
          </p:cNvPr>
          <p:cNvSpPr>
            <a:spLocks xmlns:a="http://schemas.openxmlformats.org/drawingml/2006/main" noGrp="1"/>
          </p:cNvSpPr>
          <p:nvPr/>
        </p:nvSpPr>
        <p:spPr>
          <a:xfrm xmlns:a="http://schemas.openxmlformats.org/drawingml/2006/main">
            <a:off x="4819650" y="256222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Wurden Art, Umfang, Durchführung, Risiken, Notwendigkeit, Dringlichkeit, Erfolgsaussichten und echte Alternativen verständlich erläutert?</a:t>
            </a:r>
          </a:p>
        </p:txBody>
      </p:sp>
      <p:sp>
        <p:nvSpPr>
          <p:cNvPr id="12" name="">
            <a:extLst xmlns:a="http://schemas.openxmlformats.org/drawingml/2006/main">
              <a:ext uri="{FF2B5EF4-FFF2-40B4-BE49-F238E27FC236}">
                <a16:creationId xmlns:a16="http://schemas.microsoft.com/office/drawing/2014/main" id="{7F673EFA-C7A8-4B70-81FF-372927F9B8E6}"/>
              </a:ext>
            </a:extLst>
          </p:cNvPr>
          <p:cNvSpPr>
            <a:spLocks xmlns:a="http://schemas.openxmlformats.org/drawingml/2006/main" noGrp="1"/>
          </p:cNvSpPr>
          <p:nvPr/>
        </p:nvSpPr>
        <p:spPr>
          <a:xfrm xmlns:a="http://schemas.openxmlformats.org/drawingml/2006/main">
            <a:off x="1809750" y="315277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3" name="">
            <a:extLst xmlns:a="http://schemas.openxmlformats.org/drawingml/2006/main">
              <a:ext uri="{FF2B5EF4-FFF2-40B4-BE49-F238E27FC236}">
                <a16:creationId xmlns:a16="http://schemas.microsoft.com/office/drawing/2014/main" id="{7B0B4F5D-6865-4229-B57F-2DF5434BE54B}"/>
              </a:ext>
            </a:extLst>
          </p:cNvPr>
          <p:cNvSpPr>
            <a:spLocks xmlns:a="http://schemas.openxmlformats.org/drawingml/2006/main" noGrp="1"/>
          </p:cNvSpPr>
          <p:nvPr/>
        </p:nvSpPr>
        <p:spPr>
          <a:xfrm xmlns:a="http://schemas.openxmlformats.org/drawingml/2006/main">
            <a:off x="1809750" y="315277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4" name="">
            <a:extLst xmlns:a="http://schemas.openxmlformats.org/drawingml/2006/main">
              <a:ext uri="{FF2B5EF4-FFF2-40B4-BE49-F238E27FC236}">
                <a16:creationId xmlns:a16="http://schemas.microsoft.com/office/drawing/2014/main" id="{D4D81B76-A33A-4583-9AF4-F3A194A9F3FB}"/>
              </a:ext>
            </a:extLst>
          </p:cNvPr>
          <p:cNvSpPr>
            <a:spLocks xmlns:a="http://schemas.openxmlformats.org/drawingml/2006/main" noGrp="1"/>
          </p:cNvSpPr>
          <p:nvPr/>
        </p:nvSpPr>
        <p:spPr>
          <a:xfrm xmlns:a="http://schemas.openxmlformats.org/drawingml/2006/main">
            <a:off x="2324100" y="316230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3. Zeitpunkt und Form</a:t>
            </a:r>
          </a:p>
        </p:txBody>
      </p:sp>
      <p:sp>
        <p:nvSpPr>
          <p:cNvPr id="15" name="">
            <a:extLst xmlns:a="http://schemas.openxmlformats.org/drawingml/2006/main">
              <a:ext uri="{FF2B5EF4-FFF2-40B4-BE49-F238E27FC236}">
                <a16:creationId xmlns:a16="http://schemas.microsoft.com/office/drawing/2014/main" id="{BEB6DAD2-5304-4C06-99DA-946B502A399A}"/>
              </a:ext>
            </a:extLst>
          </p:cNvPr>
          <p:cNvSpPr>
            <a:spLocks xmlns:a="http://schemas.openxmlformats.org/drawingml/2006/main" noGrp="1"/>
          </p:cNvSpPr>
          <p:nvPr/>
        </p:nvSpPr>
        <p:spPr>
          <a:xfrm xmlns:a="http://schemas.openxmlformats.org/drawingml/2006/main">
            <a:off x="4819650" y="316230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Blieb ausreichend Zeit für eine freie Entscheidung und erfolgte das Gespräch durch eine qualifizierte Person?</a:t>
            </a:r>
          </a:p>
        </p:txBody>
      </p:sp>
      <p:sp>
        <p:nvSpPr>
          <p:cNvPr id="16" name="">
            <a:extLst xmlns:a="http://schemas.openxmlformats.org/drawingml/2006/main">
              <a:ext uri="{FF2B5EF4-FFF2-40B4-BE49-F238E27FC236}">
                <a16:creationId xmlns:a16="http://schemas.microsoft.com/office/drawing/2014/main" id="{D31833D3-0DA1-4071-816C-52B63CAB7517}"/>
              </a:ext>
            </a:extLst>
          </p:cNvPr>
          <p:cNvSpPr>
            <a:spLocks xmlns:a="http://schemas.openxmlformats.org/drawingml/2006/main" noGrp="1"/>
          </p:cNvSpPr>
          <p:nvPr/>
        </p:nvSpPr>
        <p:spPr>
          <a:xfrm xmlns:a="http://schemas.openxmlformats.org/drawingml/2006/main">
            <a:off x="1809750" y="375285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7" name="">
            <a:extLst xmlns:a="http://schemas.openxmlformats.org/drawingml/2006/main">
              <a:ext uri="{FF2B5EF4-FFF2-40B4-BE49-F238E27FC236}">
                <a16:creationId xmlns:a16="http://schemas.microsoft.com/office/drawing/2014/main" id="{6AE957FE-4AE6-4A23-8131-34682C219F98}"/>
              </a:ext>
            </a:extLst>
          </p:cNvPr>
          <p:cNvSpPr>
            <a:spLocks xmlns:a="http://schemas.openxmlformats.org/drawingml/2006/main" noGrp="1"/>
          </p:cNvSpPr>
          <p:nvPr/>
        </p:nvSpPr>
        <p:spPr>
          <a:xfrm xmlns:a="http://schemas.openxmlformats.org/drawingml/2006/main">
            <a:off x="1809750" y="375285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18" name="">
            <a:extLst xmlns:a="http://schemas.openxmlformats.org/drawingml/2006/main">
              <a:ext uri="{FF2B5EF4-FFF2-40B4-BE49-F238E27FC236}">
                <a16:creationId xmlns:a16="http://schemas.microsoft.com/office/drawing/2014/main" id="{B54DB70A-B260-472F-9935-CD23D3A69C15}"/>
              </a:ext>
            </a:extLst>
          </p:cNvPr>
          <p:cNvSpPr>
            <a:spLocks xmlns:a="http://schemas.openxmlformats.org/drawingml/2006/main" noGrp="1"/>
          </p:cNvSpPr>
          <p:nvPr/>
        </p:nvSpPr>
        <p:spPr>
          <a:xfrm xmlns:a="http://schemas.openxmlformats.org/drawingml/2006/main">
            <a:off x="2324100" y="376237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4. Freiwilligkeit</a:t>
            </a:r>
          </a:p>
        </p:txBody>
      </p:sp>
      <p:sp>
        <p:nvSpPr>
          <p:cNvPr id="19" name="">
            <a:extLst xmlns:a="http://schemas.openxmlformats.org/drawingml/2006/main">
              <a:ext uri="{FF2B5EF4-FFF2-40B4-BE49-F238E27FC236}">
                <a16:creationId xmlns:a16="http://schemas.microsoft.com/office/drawing/2014/main" id="{E1499795-20AD-4CF9-99B6-F8A18DD42BE6}"/>
              </a:ext>
            </a:extLst>
          </p:cNvPr>
          <p:cNvSpPr>
            <a:spLocks xmlns:a="http://schemas.openxmlformats.org/drawingml/2006/main" noGrp="1"/>
          </p:cNvSpPr>
          <p:nvPr/>
        </p:nvSpPr>
        <p:spPr>
          <a:xfrm xmlns:a="http://schemas.openxmlformats.org/drawingml/2006/main">
            <a:off x="4819650" y="376237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Lag eine unbeeinflusste Entscheidung ohne unzulässigen Druck oder Täuschung vor?</a:t>
            </a:r>
          </a:p>
        </p:txBody>
      </p:sp>
      <p:sp>
        <p:nvSpPr>
          <p:cNvPr id="20" name="">
            <a:extLst xmlns:a="http://schemas.openxmlformats.org/drawingml/2006/main">
              <a:ext uri="{FF2B5EF4-FFF2-40B4-BE49-F238E27FC236}">
                <a16:creationId xmlns:a16="http://schemas.microsoft.com/office/drawing/2014/main" id="{50C067EA-AE26-405C-97FA-712A1E5C4117}"/>
              </a:ext>
            </a:extLst>
          </p:cNvPr>
          <p:cNvSpPr>
            <a:spLocks xmlns:a="http://schemas.openxmlformats.org/drawingml/2006/main" noGrp="1"/>
          </p:cNvSpPr>
          <p:nvPr/>
        </p:nvSpPr>
        <p:spPr>
          <a:xfrm xmlns:a="http://schemas.openxmlformats.org/drawingml/2006/main">
            <a:off x="1809750" y="435292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1" name="">
            <a:extLst xmlns:a="http://schemas.openxmlformats.org/drawingml/2006/main">
              <a:ext uri="{FF2B5EF4-FFF2-40B4-BE49-F238E27FC236}">
                <a16:creationId xmlns:a16="http://schemas.microsoft.com/office/drawing/2014/main" id="{EEE7F339-B8E9-4A2E-A946-DD688459BC2F}"/>
              </a:ext>
            </a:extLst>
          </p:cNvPr>
          <p:cNvSpPr>
            <a:spLocks xmlns:a="http://schemas.openxmlformats.org/drawingml/2006/main" noGrp="1"/>
          </p:cNvSpPr>
          <p:nvPr/>
        </p:nvSpPr>
        <p:spPr>
          <a:xfrm xmlns:a="http://schemas.openxmlformats.org/drawingml/2006/main">
            <a:off x="1809750" y="43529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5</a:t>
            </a:r>
          </a:p>
        </p:txBody>
      </p:sp>
      <p:sp>
        <p:nvSpPr>
          <p:cNvPr id="22" name="">
            <a:extLst xmlns:a="http://schemas.openxmlformats.org/drawingml/2006/main">
              <a:ext uri="{FF2B5EF4-FFF2-40B4-BE49-F238E27FC236}">
                <a16:creationId xmlns:a16="http://schemas.microsoft.com/office/drawing/2014/main" id="{79144D56-AEBF-4DD6-B8C5-F8CC3C65E866}"/>
              </a:ext>
            </a:extLst>
          </p:cNvPr>
          <p:cNvSpPr>
            <a:spLocks xmlns:a="http://schemas.openxmlformats.org/drawingml/2006/main" noGrp="1"/>
          </p:cNvSpPr>
          <p:nvPr/>
        </p:nvSpPr>
        <p:spPr>
          <a:xfrm xmlns:a="http://schemas.openxmlformats.org/drawingml/2006/main">
            <a:off x="2324100" y="436245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5. Reichweite</a:t>
            </a:r>
          </a:p>
        </p:txBody>
      </p:sp>
      <p:sp>
        <p:nvSpPr>
          <p:cNvPr id="23" name="">
            <a:extLst xmlns:a="http://schemas.openxmlformats.org/drawingml/2006/main">
              <a:ext uri="{FF2B5EF4-FFF2-40B4-BE49-F238E27FC236}">
                <a16:creationId xmlns:a16="http://schemas.microsoft.com/office/drawing/2014/main" id="{324611C4-BA28-4BEB-8CFD-A115823DCC8F}"/>
              </a:ext>
            </a:extLst>
          </p:cNvPr>
          <p:cNvSpPr>
            <a:spLocks xmlns:a="http://schemas.openxmlformats.org/drawingml/2006/main" noGrp="1"/>
          </p:cNvSpPr>
          <p:nvPr/>
        </p:nvSpPr>
        <p:spPr>
          <a:xfrm xmlns:a="http://schemas.openxmlformats.org/drawingml/2006/main">
            <a:off x="4819650" y="436245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Deckt die Einwilligung genau die konkrete Maßnahme und wesentliche Erweiterungen?</a:t>
            </a:r>
          </a:p>
        </p:txBody>
      </p:sp>
      <p:sp>
        <p:nvSpPr>
          <p:cNvPr id="24" name="">
            <a:extLst xmlns:a="http://schemas.openxmlformats.org/drawingml/2006/main">
              <a:ext uri="{FF2B5EF4-FFF2-40B4-BE49-F238E27FC236}">
                <a16:creationId xmlns:a16="http://schemas.microsoft.com/office/drawing/2014/main" id="{F81EE72A-17C8-4944-BB37-B4E1A62F3E65}"/>
              </a:ext>
            </a:extLst>
          </p:cNvPr>
          <p:cNvSpPr>
            <a:spLocks xmlns:a="http://schemas.openxmlformats.org/drawingml/2006/main" noGrp="1"/>
          </p:cNvSpPr>
          <p:nvPr/>
        </p:nvSpPr>
        <p:spPr>
          <a:xfrm xmlns:a="http://schemas.openxmlformats.org/drawingml/2006/main">
            <a:off x="1809750" y="495300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25" name="">
            <a:extLst xmlns:a="http://schemas.openxmlformats.org/drawingml/2006/main">
              <a:ext uri="{FF2B5EF4-FFF2-40B4-BE49-F238E27FC236}">
                <a16:creationId xmlns:a16="http://schemas.microsoft.com/office/drawing/2014/main" id="{BC28EDCB-AA0D-417A-B802-EDFD632683A0}"/>
              </a:ext>
            </a:extLst>
          </p:cNvPr>
          <p:cNvSpPr>
            <a:spLocks xmlns:a="http://schemas.openxmlformats.org/drawingml/2006/main" noGrp="1"/>
          </p:cNvSpPr>
          <p:nvPr/>
        </p:nvSpPr>
        <p:spPr>
          <a:xfrm xmlns:a="http://schemas.openxmlformats.org/drawingml/2006/main">
            <a:off x="1809750" y="495300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6</a:t>
            </a:r>
          </a:p>
        </p:txBody>
      </p:sp>
      <p:sp>
        <p:nvSpPr>
          <p:cNvPr id="26" name="">
            <a:extLst xmlns:a="http://schemas.openxmlformats.org/drawingml/2006/main">
              <a:ext uri="{FF2B5EF4-FFF2-40B4-BE49-F238E27FC236}">
                <a16:creationId xmlns:a16="http://schemas.microsoft.com/office/drawing/2014/main" id="{B148C5BF-531A-49C9-9384-9EF70BF227A5}"/>
              </a:ext>
            </a:extLst>
          </p:cNvPr>
          <p:cNvSpPr>
            <a:spLocks xmlns:a="http://schemas.openxmlformats.org/drawingml/2006/main" noGrp="1"/>
          </p:cNvSpPr>
          <p:nvPr/>
        </p:nvSpPr>
        <p:spPr>
          <a:xfrm xmlns:a="http://schemas.openxmlformats.org/drawingml/2006/main">
            <a:off x="2324100" y="496252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6. Fortbestand</a:t>
            </a:r>
          </a:p>
        </p:txBody>
      </p:sp>
      <p:sp>
        <p:nvSpPr>
          <p:cNvPr id="27" name="">
            <a:extLst xmlns:a="http://schemas.openxmlformats.org/drawingml/2006/main">
              <a:ext uri="{FF2B5EF4-FFF2-40B4-BE49-F238E27FC236}">
                <a16:creationId xmlns:a16="http://schemas.microsoft.com/office/drawing/2014/main" id="{A80D79F1-720F-4A7C-B344-36783BD30756}"/>
              </a:ext>
            </a:extLst>
          </p:cNvPr>
          <p:cNvSpPr>
            <a:spLocks xmlns:a="http://schemas.openxmlformats.org/drawingml/2006/main" noGrp="1"/>
          </p:cNvSpPr>
          <p:nvPr/>
        </p:nvSpPr>
        <p:spPr>
          <a:xfrm xmlns:a="http://schemas.openxmlformats.org/drawingml/2006/main">
            <a:off x="4819650" y="496252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Wurde sie nicht widerrufen und haben sich Umstände nicht so verändert, dass neu aufgeklärt werden muss?</a:t>
            </a:r>
          </a:p>
        </p:txBody>
      </p:sp>
      <p:sp>
        <p:nvSpPr>
          <p:cNvPr id="28" name="">
            <a:extLst xmlns:a="http://schemas.openxmlformats.org/drawingml/2006/main">
              <a:ext uri="{FF2B5EF4-FFF2-40B4-BE49-F238E27FC236}">
                <a16:creationId xmlns:a16="http://schemas.microsoft.com/office/drawing/2014/main" id="{D58A238B-93D5-4298-954E-C3711D48AB51}"/>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9" name="">
            <a:extLst xmlns:a="http://schemas.openxmlformats.org/drawingml/2006/main">
              <a:ext uri="{FF2B5EF4-FFF2-40B4-BE49-F238E27FC236}">
                <a16:creationId xmlns:a16="http://schemas.microsoft.com/office/drawing/2014/main" id="{E050201B-C36B-49E3-AD6B-56DA4511D794}"/>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Unterschrift allein ersetzt weder Verständnis noch das erforderliche Aufklärungsgespräch.</a:t>
            </a:r>
          </a:p>
        </p:txBody>
      </p:sp>
    </p:spTree>
    <p:extLst>
      <p:ext uri="{BB962C8B-B14F-4D97-AF65-F5344CB8AC3E}">
        <p14:creationId xmlns:p14="http://schemas.microsoft.com/office/powerpoint/2010/main" val="43637646"/>
      </p:ext>
    </p:extLst>
  </p:cSld>
</p:sld>
</file>

<file path=ppt/slides/slide83.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Aufklärungspflichten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NORM IM FOKUS · § 630e BGB</a:t>
            </a:r>
            <a:endParaRPr/>
          </a:p>
        </p:txBody>
      </p:sp>
      <p:sp>
        <p:nvSpPr>
          <p:cNvPr id="4" name="">
            <a:extLst xmlns:a="http://schemas.openxmlformats.org/drawingml/2006/main">
              <a:ext uri="{FF2B5EF4-FFF2-40B4-BE49-F238E27FC236}">
                <a16:creationId xmlns:a16="http://schemas.microsoft.com/office/drawing/2014/main" id="{5AC31FBD-8CB4-48EB-84D4-BD0E1D6D488B}"/>
              </a:ext>
            </a:extLst>
          </p:cNvPr>
          <p:cNvSpPr>
            <a:spLocks xmlns:a="http://schemas.openxmlformats.org/drawingml/2006/main" noGrp="1"/>
          </p:cNvSpPr>
          <p:nvPr/>
        </p:nvSpPr>
        <p:spPr>
          <a:xfrm xmlns:a="http://schemas.openxmlformats.org/drawingml/2006/main">
            <a:off x="1809750" y="1924050"/>
            <a:ext cx="2286000" cy="704850"/>
          </a:xfrm>
          <a:prstGeom xmlns:a="http://schemas.openxmlformats.org/drawingml/2006/main" prst="roundRect">
            <a:avLst>
              <a:gd name="adj" fmla="val 10811"/>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EBC3BECF-BB29-4EFB-ACD3-EF744BB1788B}"/>
              </a:ext>
            </a:extLst>
          </p:cNvPr>
          <p:cNvSpPr>
            <a:spLocks xmlns:a="http://schemas.openxmlformats.org/drawingml/2006/main" noGrp="1"/>
          </p:cNvSpPr>
          <p:nvPr/>
        </p:nvSpPr>
        <p:spPr>
          <a:xfrm xmlns:a="http://schemas.openxmlformats.org/drawingml/2006/main">
            <a:off x="1924050" y="1971675"/>
            <a:ext cx="2057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75" b="1">
                <a:solidFill>
                  <a:srgbClr val="FFFFFF"/>
                </a:solidFill>
              </a:defRPr>
            </a:pPr>
            <a:r>
              <a:rPr sz="1875" b="1">
                <a:solidFill>
                  <a:srgbClr val="FFFFFF"/>
                </a:solidFill>
              </a:rPr>
              <a:t>§ 630e BGB</a:t>
            </a:r>
          </a:p>
        </p:txBody>
      </p:sp>
      <p:sp>
        <p:nvSpPr>
          <p:cNvPr id="6" name="">
            <a:extLst xmlns:a="http://schemas.openxmlformats.org/drawingml/2006/main">
              <a:ext uri="{FF2B5EF4-FFF2-40B4-BE49-F238E27FC236}">
                <a16:creationId xmlns:a16="http://schemas.microsoft.com/office/drawing/2014/main" id="{9FECE95A-5784-46EC-BCA2-336DF96ACA41}"/>
              </a:ext>
            </a:extLst>
          </p:cNvPr>
          <p:cNvSpPr>
            <a:spLocks xmlns:a="http://schemas.openxmlformats.org/drawingml/2006/main" noGrp="1"/>
          </p:cNvSpPr>
          <p:nvPr/>
        </p:nvSpPr>
        <p:spPr>
          <a:xfrm xmlns:a="http://schemas.openxmlformats.org/drawingml/2006/main">
            <a:off x="4362450" y="1924050"/>
            <a:ext cx="6972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15">
                <a:solidFill>
                  <a:srgbClr val="667680"/>
                </a:solidFill>
              </a:defRPr>
            </a:pPr>
            <a:r>
              <a:rPr sz="1215">
                <a:solidFill>
                  <a:srgbClr val="667680"/>
                </a:solidFill>
              </a:rPr>
              <a:t>Aufklärung schützt die Selbstbestimmung, indem sie eine informierte Entscheidung vor dem Eingriff ermöglicht.</a:t>
            </a:r>
          </a:p>
        </p:txBody>
      </p:sp>
      <p:sp>
        <p:nvSpPr>
          <p:cNvPr id="7" name="">
            <a:extLst xmlns:a="http://schemas.openxmlformats.org/drawingml/2006/main">
              <a:ext uri="{FF2B5EF4-FFF2-40B4-BE49-F238E27FC236}">
                <a16:creationId xmlns:a16="http://schemas.microsoft.com/office/drawing/2014/main" id="{587660E0-9668-4793-B3BC-DD13F0DB1BF0}"/>
              </a:ext>
            </a:extLst>
          </p:cNvPr>
          <p:cNvSpPr>
            <a:spLocks xmlns:a="http://schemas.openxmlformats.org/drawingml/2006/main" noGrp="1"/>
          </p:cNvSpPr>
          <p:nvPr/>
        </p:nvSpPr>
        <p:spPr>
          <a:xfrm xmlns:a="http://schemas.openxmlformats.org/drawingml/2006/main">
            <a:off x="1809750" y="2781300"/>
            <a:ext cx="476250" cy="414338"/>
          </a:xfrm>
          <a:prstGeom xmlns:a="http://schemas.openxmlformats.org/drawingml/2006/main" prst="roundRect">
            <a:avLst>
              <a:gd name="adj" fmla="val 18391"/>
            </a:avLst>
          </a:prstGeom>
          <a:solidFill xmlns:a="http://schemas.openxmlformats.org/drawingml/2006/main">
            <a:srgbClr val="00B2BB"/>
          </a:solidFill>
          <a:ln xmlns:a="http://schemas.openxmlformats.org/drawingml/2006/main" w="0">
            <a:solidFill>
              <a:srgbClr val="00B2BB"/>
            </a:solidFill>
            <a:prstDash val="solid"/>
          </a:ln>
        </p:spPr>
      </p:sp>
      <p:sp>
        <p:nvSpPr>
          <p:cNvPr id="8" name="">
            <a:extLst xmlns:a="http://schemas.openxmlformats.org/drawingml/2006/main">
              <a:ext uri="{FF2B5EF4-FFF2-40B4-BE49-F238E27FC236}">
                <a16:creationId xmlns:a16="http://schemas.microsoft.com/office/drawing/2014/main" id="{B1E34658-A02A-4077-A504-49F00DDDCDE3}"/>
              </a:ext>
            </a:extLst>
          </p:cNvPr>
          <p:cNvSpPr>
            <a:spLocks xmlns:a="http://schemas.openxmlformats.org/drawingml/2006/main" noGrp="1"/>
          </p:cNvSpPr>
          <p:nvPr/>
        </p:nvSpPr>
        <p:spPr>
          <a:xfrm xmlns:a="http://schemas.openxmlformats.org/drawingml/2006/main">
            <a:off x="1809750" y="2781300"/>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9" name="">
            <a:extLst xmlns:a="http://schemas.openxmlformats.org/drawingml/2006/main">
              <a:ext uri="{FF2B5EF4-FFF2-40B4-BE49-F238E27FC236}">
                <a16:creationId xmlns:a16="http://schemas.microsoft.com/office/drawing/2014/main" id="{AB8C3EC7-010B-4F22-87B8-3A0D5FF74BEF}"/>
              </a:ext>
            </a:extLst>
          </p:cNvPr>
          <p:cNvSpPr>
            <a:spLocks xmlns:a="http://schemas.openxmlformats.org/drawingml/2006/main" noGrp="1"/>
          </p:cNvSpPr>
          <p:nvPr/>
        </p:nvSpPr>
        <p:spPr>
          <a:xfrm xmlns:a="http://schemas.openxmlformats.org/drawingml/2006/main">
            <a:off x="2438400" y="2790825"/>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Inhalt</a:t>
            </a:r>
          </a:p>
        </p:txBody>
      </p:sp>
      <p:sp>
        <p:nvSpPr>
          <p:cNvPr id="10" name="">
            <a:extLst xmlns:a="http://schemas.openxmlformats.org/drawingml/2006/main">
              <a:ext uri="{FF2B5EF4-FFF2-40B4-BE49-F238E27FC236}">
                <a16:creationId xmlns:a16="http://schemas.microsoft.com/office/drawing/2014/main" id="{06320786-107A-4180-A57D-37010A5098E2}"/>
              </a:ext>
            </a:extLst>
          </p:cNvPr>
          <p:cNvSpPr>
            <a:spLocks xmlns:a="http://schemas.openxmlformats.org/drawingml/2006/main" noGrp="1"/>
          </p:cNvSpPr>
          <p:nvPr/>
        </p:nvSpPr>
        <p:spPr>
          <a:xfrm xmlns:a="http://schemas.openxmlformats.org/drawingml/2006/main">
            <a:off x="4591050" y="2790825"/>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Zu erläutern sind insbesondere Art, Umfang, Durchführung, zu erwartende Folgen und Risiken sowie Notwendigkeit, Dringlichkeit, Eignung und Erfolgsaussichten.</a:t>
            </a:r>
          </a:p>
        </p:txBody>
      </p:sp>
      <p:sp>
        <p:nvSpPr>
          <p:cNvPr id="11" name="">
            <a:extLst xmlns:a="http://schemas.openxmlformats.org/drawingml/2006/main">
              <a:ext uri="{FF2B5EF4-FFF2-40B4-BE49-F238E27FC236}">
                <a16:creationId xmlns:a16="http://schemas.microsoft.com/office/drawing/2014/main" id="{7DE66080-E595-4620-9B6F-8AEB24BA1211}"/>
              </a:ext>
            </a:extLst>
          </p:cNvPr>
          <p:cNvSpPr>
            <a:spLocks xmlns:a="http://schemas.openxmlformats.org/drawingml/2006/main" noGrp="1"/>
          </p:cNvSpPr>
          <p:nvPr/>
        </p:nvSpPr>
        <p:spPr>
          <a:xfrm xmlns:a="http://schemas.openxmlformats.org/drawingml/2006/main">
            <a:off x="1809750" y="3271838"/>
            <a:ext cx="476250" cy="414338"/>
          </a:xfrm>
          <a:prstGeom xmlns:a="http://schemas.openxmlformats.org/drawingml/2006/main" prst="roundRect">
            <a:avLst>
              <a:gd name="adj" fmla="val 18391"/>
            </a:avLst>
          </a:prstGeom>
          <a:solidFill xmlns:a="http://schemas.openxmlformats.org/drawingml/2006/main">
            <a:srgbClr val="003F6B"/>
          </a:solidFill>
          <a:ln xmlns:a="http://schemas.openxmlformats.org/drawingml/2006/main" w="0">
            <a:solidFill>
              <a:srgbClr val="003F6B"/>
            </a:solidFill>
            <a:prstDash val="solid"/>
          </a:ln>
        </p:spPr>
      </p:sp>
      <p:sp>
        <p:nvSpPr>
          <p:cNvPr id="12" name="">
            <a:extLst xmlns:a="http://schemas.openxmlformats.org/drawingml/2006/main">
              <a:ext uri="{FF2B5EF4-FFF2-40B4-BE49-F238E27FC236}">
                <a16:creationId xmlns:a16="http://schemas.microsoft.com/office/drawing/2014/main" id="{96A006FD-7CBA-452C-A317-4FD673A0F59F}"/>
              </a:ext>
            </a:extLst>
          </p:cNvPr>
          <p:cNvSpPr>
            <a:spLocks xmlns:a="http://schemas.openxmlformats.org/drawingml/2006/main" noGrp="1"/>
          </p:cNvSpPr>
          <p:nvPr/>
        </p:nvSpPr>
        <p:spPr>
          <a:xfrm xmlns:a="http://schemas.openxmlformats.org/drawingml/2006/main">
            <a:off x="1809750" y="3271838"/>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3" name="">
            <a:extLst xmlns:a="http://schemas.openxmlformats.org/drawingml/2006/main">
              <a:ext uri="{FF2B5EF4-FFF2-40B4-BE49-F238E27FC236}">
                <a16:creationId xmlns:a16="http://schemas.microsoft.com/office/drawing/2014/main" id="{A9D3FBDC-9534-44CC-8D98-CD45EC86267C}"/>
              </a:ext>
            </a:extLst>
          </p:cNvPr>
          <p:cNvSpPr>
            <a:spLocks xmlns:a="http://schemas.openxmlformats.org/drawingml/2006/main" noGrp="1"/>
          </p:cNvSpPr>
          <p:nvPr/>
        </p:nvSpPr>
        <p:spPr>
          <a:xfrm xmlns:a="http://schemas.openxmlformats.org/drawingml/2006/main">
            <a:off x="2438400" y="3281363"/>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Alternativen</a:t>
            </a:r>
          </a:p>
        </p:txBody>
      </p:sp>
      <p:sp>
        <p:nvSpPr>
          <p:cNvPr id="14" name="">
            <a:extLst xmlns:a="http://schemas.openxmlformats.org/drawingml/2006/main">
              <a:ext uri="{FF2B5EF4-FFF2-40B4-BE49-F238E27FC236}">
                <a16:creationId xmlns:a16="http://schemas.microsoft.com/office/drawing/2014/main" id="{F0F33159-D4E0-40A2-8C00-BD79D91051BC}"/>
              </a:ext>
            </a:extLst>
          </p:cNvPr>
          <p:cNvSpPr>
            <a:spLocks xmlns:a="http://schemas.openxmlformats.org/drawingml/2006/main" noGrp="1"/>
          </p:cNvSpPr>
          <p:nvPr/>
        </p:nvSpPr>
        <p:spPr>
          <a:xfrm xmlns:a="http://schemas.openxmlformats.org/drawingml/2006/main">
            <a:off x="4591050" y="3281363"/>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Auf echte medizinische Alternativen ist hinzuweisen, wenn sie unterschiedliche Belastungen, Risiken oder Heilungschancen bieten.</a:t>
            </a:r>
          </a:p>
        </p:txBody>
      </p:sp>
      <p:sp>
        <p:nvSpPr>
          <p:cNvPr id="15" name="">
            <a:extLst xmlns:a="http://schemas.openxmlformats.org/drawingml/2006/main">
              <a:ext uri="{FF2B5EF4-FFF2-40B4-BE49-F238E27FC236}">
                <a16:creationId xmlns:a16="http://schemas.microsoft.com/office/drawing/2014/main" id="{971722C7-8E03-4472-9FE5-6961AB655E90}"/>
              </a:ext>
            </a:extLst>
          </p:cNvPr>
          <p:cNvSpPr>
            <a:spLocks xmlns:a="http://schemas.openxmlformats.org/drawingml/2006/main" noGrp="1"/>
          </p:cNvSpPr>
          <p:nvPr/>
        </p:nvSpPr>
        <p:spPr>
          <a:xfrm xmlns:a="http://schemas.openxmlformats.org/drawingml/2006/main">
            <a:off x="1809750" y="3762375"/>
            <a:ext cx="476250" cy="414338"/>
          </a:xfrm>
          <a:prstGeom xmlns:a="http://schemas.openxmlformats.org/drawingml/2006/main" prst="roundRect">
            <a:avLst>
              <a:gd name="adj" fmla="val 18391"/>
            </a:avLst>
          </a:prstGeom>
          <a:solidFill xmlns:a="http://schemas.openxmlformats.org/drawingml/2006/main">
            <a:srgbClr val="00B2BB"/>
          </a:solidFill>
          <a:ln xmlns:a="http://schemas.openxmlformats.org/drawingml/2006/main" w="0">
            <a:solidFill>
              <a:srgbClr val="00B2BB"/>
            </a:solidFill>
            <a:prstDash val="solid"/>
          </a:ln>
        </p:spPr>
      </p:sp>
      <p:sp>
        <p:nvSpPr>
          <p:cNvPr id="16" name="">
            <a:extLst xmlns:a="http://schemas.openxmlformats.org/drawingml/2006/main">
              <a:ext uri="{FF2B5EF4-FFF2-40B4-BE49-F238E27FC236}">
                <a16:creationId xmlns:a16="http://schemas.microsoft.com/office/drawing/2014/main" id="{85DF6789-C06D-4F34-B59D-F65ADDE63926}"/>
              </a:ext>
            </a:extLst>
          </p:cNvPr>
          <p:cNvSpPr>
            <a:spLocks xmlns:a="http://schemas.openxmlformats.org/drawingml/2006/main" noGrp="1"/>
          </p:cNvSpPr>
          <p:nvPr/>
        </p:nvSpPr>
        <p:spPr>
          <a:xfrm xmlns:a="http://schemas.openxmlformats.org/drawingml/2006/main">
            <a:off x="1809750" y="3762375"/>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7" name="">
            <a:extLst xmlns:a="http://schemas.openxmlformats.org/drawingml/2006/main">
              <a:ext uri="{FF2B5EF4-FFF2-40B4-BE49-F238E27FC236}">
                <a16:creationId xmlns:a16="http://schemas.microsoft.com/office/drawing/2014/main" id="{D09DBBF3-21C9-476F-A0A0-D412C439ED33}"/>
              </a:ext>
            </a:extLst>
          </p:cNvPr>
          <p:cNvSpPr>
            <a:spLocks xmlns:a="http://schemas.openxmlformats.org/drawingml/2006/main" noGrp="1"/>
          </p:cNvSpPr>
          <p:nvPr/>
        </p:nvSpPr>
        <p:spPr>
          <a:xfrm xmlns:a="http://schemas.openxmlformats.org/drawingml/2006/main">
            <a:off x="2438400" y="3771900"/>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Gespräch</a:t>
            </a:r>
          </a:p>
        </p:txBody>
      </p:sp>
      <p:sp>
        <p:nvSpPr>
          <p:cNvPr id="18" name="">
            <a:extLst xmlns:a="http://schemas.openxmlformats.org/drawingml/2006/main">
              <a:ext uri="{FF2B5EF4-FFF2-40B4-BE49-F238E27FC236}">
                <a16:creationId xmlns:a16="http://schemas.microsoft.com/office/drawing/2014/main" id="{D3AB42CF-6672-4F00-8A25-C931FD291605}"/>
              </a:ext>
            </a:extLst>
          </p:cNvPr>
          <p:cNvSpPr>
            <a:spLocks xmlns:a="http://schemas.openxmlformats.org/drawingml/2006/main" noGrp="1"/>
          </p:cNvSpPr>
          <p:nvPr/>
        </p:nvSpPr>
        <p:spPr>
          <a:xfrm xmlns:a="http://schemas.openxmlformats.org/drawingml/2006/main">
            <a:off x="4591050" y="3771900"/>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Die Aufklärung muss mündlich durch die behandelnde oder entsprechend ausgebildete Person erfolgen; Unterlagen können ergänzen.</a:t>
            </a:r>
          </a:p>
        </p:txBody>
      </p:sp>
      <p:sp>
        <p:nvSpPr>
          <p:cNvPr id="19" name="">
            <a:extLst xmlns:a="http://schemas.openxmlformats.org/drawingml/2006/main">
              <a:ext uri="{FF2B5EF4-FFF2-40B4-BE49-F238E27FC236}">
                <a16:creationId xmlns:a16="http://schemas.microsoft.com/office/drawing/2014/main" id="{E0A3EBF2-4A8F-4EEA-B756-2AE3217DFB7A}"/>
              </a:ext>
            </a:extLst>
          </p:cNvPr>
          <p:cNvSpPr>
            <a:spLocks xmlns:a="http://schemas.openxmlformats.org/drawingml/2006/main" noGrp="1"/>
          </p:cNvSpPr>
          <p:nvPr/>
        </p:nvSpPr>
        <p:spPr>
          <a:xfrm xmlns:a="http://schemas.openxmlformats.org/drawingml/2006/main">
            <a:off x="1809750" y="4252913"/>
            <a:ext cx="476250" cy="414338"/>
          </a:xfrm>
          <a:prstGeom xmlns:a="http://schemas.openxmlformats.org/drawingml/2006/main" prst="roundRect">
            <a:avLst>
              <a:gd name="adj" fmla="val 18391"/>
            </a:avLst>
          </a:prstGeom>
          <a:solidFill xmlns:a="http://schemas.openxmlformats.org/drawingml/2006/main">
            <a:srgbClr val="003F6B"/>
          </a:solidFill>
          <a:ln xmlns:a="http://schemas.openxmlformats.org/drawingml/2006/main" w="0">
            <a:solidFill>
              <a:srgbClr val="003F6B"/>
            </a:solidFill>
            <a:prstDash val="solid"/>
          </a:ln>
        </p:spPr>
      </p:sp>
      <p:sp>
        <p:nvSpPr>
          <p:cNvPr id="20" name="">
            <a:extLst xmlns:a="http://schemas.openxmlformats.org/drawingml/2006/main">
              <a:ext uri="{FF2B5EF4-FFF2-40B4-BE49-F238E27FC236}">
                <a16:creationId xmlns:a16="http://schemas.microsoft.com/office/drawing/2014/main" id="{81991982-E2F8-4C2C-9BDB-CA8B0DB323E1}"/>
              </a:ext>
            </a:extLst>
          </p:cNvPr>
          <p:cNvSpPr>
            <a:spLocks xmlns:a="http://schemas.openxmlformats.org/drawingml/2006/main" noGrp="1"/>
          </p:cNvSpPr>
          <p:nvPr/>
        </p:nvSpPr>
        <p:spPr>
          <a:xfrm xmlns:a="http://schemas.openxmlformats.org/drawingml/2006/main">
            <a:off x="1809750" y="4252913"/>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21" name="">
            <a:extLst xmlns:a="http://schemas.openxmlformats.org/drawingml/2006/main">
              <a:ext uri="{FF2B5EF4-FFF2-40B4-BE49-F238E27FC236}">
                <a16:creationId xmlns:a16="http://schemas.microsoft.com/office/drawing/2014/main" id="{F7A0B2E0-7C50-4F46-A34F-6319BC844376}"/>
              </a:ext>
            </a:extLst>
          </p:cNvPr>
          <p:cNvSpPr>
            <a:spLocks xmlns:a="http://schemas.openxmlformats.org/drawingml/2006/main" noGrp="1"/>
          </p:cNvSpPr>
          <p:nvPr/>
        </p:nvSpPr>
        <p:spPr>
          <a:xfrm xmlns:a="http://schemas.openxmlformats.org/drawingml/2006/main">
            <a:off x="2438400" y="4262438"/>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Rechtzeitig und verständlich</a:t>
            </a:r>
          </a:p>
        </p:txBody>
      </p:sp>
      <p:sp>
        <p:nvSpPr>
          <p:cNvPr id="22" name="">
            <a:extLst xmlns:a="http://schemas.openxmlformats.org/drawingml/2006/main">
              <a:ext uri="{FF2B5EF4-FFF2-40B4-BE49-F238E27FC236}">
                <a16:creationId xmlns:a16="http://schemas.microsoft.com/office/drawing/2014/main" id="{39DC90FD-B19C-43C3-8025-EF6DB4C01909}"/>
              </a:ext>
            </a:extLst>
          </p:cNvPr>
          <p:cNvSpPr>
            <a:spLocks xmlns:a="http://schemas.openxmlformats.org/drawingml/2006/main" noGrp="1"/>
          </p:cNvSpPr>
          <p:nvPr/>
        </p:nvSpPr>
        <p:spPr>
          <a:xfrm xmlns:a="http://schemas.openxmlformats.org/drawingml/2006/main">
            <a:off x="4591050" y="4262438"/>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Die Person muss die Entscheidung wohlüberlegt treffen können; Sprache, kognitive Fähigkeiten und Situation sind zu berücksichtigen.</a:t>
            </a:r>
          </a:p>
        </p:txBody>
      </p:sp>
      <p:sp>
        <p:nvSpPr>
          <p:cNvPr id="23" name="">
            <a:extLst xmlns:a="http://schemas.openxmlformats.org/drawingml/2006/main">
              <a:ext uri="{FF2B5EF4-FFF2-40B4-BE49-F238E27FC236}">
                <a16:creationId xmlns:a16="http://schemas.microsoft.com/office/drawing/2014/main" id="{EE1733F7-C2A2-49D0-8CD0-9D37FC6D2BA5}"/>
              </a:ext>
            </a:extLst>
          </p:cNvPr>
          <p:cNvSpPr>
            <a:spLocks xmlns:a="http://schemas.openxmlformats.org/drawingml/2006/main" noGrp="1"/>
          </p:cNvSpPr>
          <p:nvPr/>
        </p:nvSpPr>
        <p:spPr>
          <a:xfrm xmlns:a="http://schemas.openxmlformats.org/drawingml/2006/main">
            <a:off x="1809750" y="4781550"/>
            <a:ext cx="9525000" cy="666750"/>
          </a:xfrm>
          <a:prstGeom xmlns:a="http://schemas.openxmlformats.org/drawingml/2006/main" prst="roundRect">
            <a:avLst>
              <a:gd name="adj" fmla="val 11429"/>
            </a:avLst>
          </a:prstGeom>
          <a:solidFill xmlns:a="http://schemas.openxmlformats.org/drawingml/2006/main">
            <a:srgbClr val="EAF6FB"/>
          </a:solidFill>
          <a:ln xmlns:a="http://schemas.openxmlformats.org/drawingml/2006/main" w="9525">
            <a:solidFill>
              <a:srgbClr val="00B2BB"/>
            </a:solidFill>
            <a:prstDash val="solid"/>
          </a:ln>
        </p:spPr>
      </p:sp>
      <p:sp>
        <p:nvSpPr>
          <p:cNvPr id="24" name="">
            <a:extLst xmlns:a="http://schemas.openxmlformats.org/drawingml/2006/main">
              <a:ext uri="{FF2B5EF4-FFF2-40B4-BE49-F238E27FC236}">
                <a16:creationId xmlns:a16="http://schemas.microsoft.com/office/drawing/2014/main" id="{9B3E3E7E-8B32-4A40-9846-9342773BA147}"/>
              </a:ext>
            </a:extLst>
          </p:cNvPr>
          <p:cNvSpPr>
            <a:spLocks xmlns:a="http://schemas.openxmlformats.org/drawingml/2006/main" noGrp="1"/>
          </p:cNvSpPr>
          <p:nvPr/>
        </p:nvSpPr>
        <p:spPr>
          <a:xfrm xmlns:a="http://schemas.openxmlformats.org/drawingml/2006/main">
            <a:off x="1981200" y="4829175"/>
            <a:ext cx="9182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065">
                <a:solidFill>
                  <a:srgbClr val="15232B"/>
                </a:solidFill>
              </a:defRPr>
            </a:pPr>
            <a:r>
              <a:rPr sz="1065">
                <a:solidFill>
                  <a:srgbClr val="15232B"/>
                </a:solidFill>
              </a:rPr>
              <a:t>Beispiel · Beispiel: Bei zwei fachlich vertretbaren Operationsverfahren mit deutlich verschiedenen Risiken werden beide Optionen in ihren Grundzügen erklärt.</a:t>
            </a:r>
          </a:p>
        </p:txBody>
      </p:sp>
      <p:sp>
        <p:nvSpPr>
          <p:cNvPr id="25" name="">
            <a:extLst xmlns:a="http://schemas.openxmlformats.org/drawingml/2006/main">
              <a:ext uri="{FF2B5EF4-FFF2-40B4-BE49-F238E27FC236}">
                <a16:creationId xmlns:a16="http://schemas.microsoft.com/office/drawing/2014/main" id="{7692E549-161B-4040-A67F-058AD15591EC}"/>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6" name="">
            <a:extLst xmlns:a="http://schemas.openxmlformats.org/drawingml/2006/main">
              <a:ext uri="{FF2B5EF4-FFF2-40B4-BE49-F238E27FC236}">
                <a16:creationId xmlns:a16="http://schemas.microsoft.com/office/drawing/2014/main" id="{07B81F64-EE49-40F7-8874-66B3CA8CD060}"/>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Aufklärung ist ein Kommunikationsprozess, kein bloßes Formularereignis.</a:t>
            </a:r>
          </a:p>
        </p:txBody>
      </p:sp>
    </p:spTree>
    <p:extLst>
      <p:ext uri="{BB962C8B-B14F-4D97-AF65-F5344CB8AC3E}">
        <p14:creationId xmlns:p14="http://schemas.microsoft.com/office/powerpoint/2010/main" val="43637646"/>
      </p:ext>
    </p:extLst>
  </p:cSld>
</p:sld>
</file>

<file path=ppt/slides/slide84.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Welche Risiken müssen erwähnt werden?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C8BC8C2B-4010-49CE-9821-C4EC6CA2348F}"/>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Nicht jede denkbare Komplikation wird aufgezählt. Entscheidend ist, was für die konkrete Entscheidung wesentlich ist.</a:t>
            </a:r>
          </a:p>
        </p:txBody>
      </p:sp>
      <p:sp>
        <p:nvSpPr>
          <p:cNvPr id="5" name="">
            <a:extLst xmlns:a="http://schemas.openxmlformats.org/drawingml/2006/main">
              <a:ext uri="{FF2B5EF4-FFF2-40B4-BE49-F238E27FC236}">
                <a16:creationId xmlns:a16="http://schemas.microsoft.com/office/drawing/2014/main" id="{855616E2-22BB-4D6C-87A2-3BC873304AD3}"/>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995C8D4B-3965-4B75-9919-4F83F7118664}"/>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E5055EDD-9AEB-48A7-B587-1F3DD49F3521}"/>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Typische Risiken</a:t>
            </a:r>
          </a:p>
        </p:txBody>
      </p:sp>
      <p:sp>
        <p:nvSpPr>
          <p:cNvPr id="8" name="">
            <a:extLst xmlns:a="http://schemas.openxmlformats.org/drawingml/2006/main">
              <a:ext uri="{FF2B5EF4-FFF2-40B4-BE49-F238E27FC236}">
                <a16:creationId xmlns:a16="http://schemas.microsoft.com/office/drawing/2014/main" id="{EBFA4A3F-4CBF-455C-9CBB-88EE1C4CD098}"/>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Risiken, die der Methode spezifisch anhaften, sind auch bei niedriger Häufigkeit relevant, wenn sie die Lebensführung schwer belasten können.</a:t>
            </a:r>
          </a:p>
        </p:txBody>
      </p:sp>
      <p:sp>
        <p:nvSpPr>
          <p:cNvPr id="9" name="">
            <a:extLst xmlns:a="http://schemas.openxmlformats.org/drawingml/2006/main">
              <a:ext uri="{FF2B5EF4-FFF2-40B4-BE49-F238E27FC236}">
                <a16:creationId xmlns:a16="http://schemas.microsoft.com/office/drawing/2014/main" id="{8A17C53E-8EF6-400A-BFCB-7F67DD055BB5}"/>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0CE2839E-02E7-4561-8EC2-5C2A5A1B1B0F}"/>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E601786B-8842-40D6-B783-5C0D0B658A36}"/>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Schwere seltene Risiken</a:t>
            </a:r>
          </a:p>
        </p:txBody>
      </p:sp>
      <p:sp>
        <p:nvSpPr>
          <p:cNvPr id="12" name="">
            <a:extLst xmlns:a="http://schemas.openxmlformats.org/drawingml/2006/main">
              <a:ext uri="{FF2B5EF4-FFF2-40B4-BE49-F238E27FC236}">
                <a16:creationId xmlns:a16="http://schemas.microsoft.com/office/drawing/2014/main" id="{AC3502E5-05BE-428B-A353-15F5997870C5}"/>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Auch seltene Risiken können aufklärungsbedürftig sein, wenn ihre Verwirklichung die Entscheidung erheblich beeinflussen kann.</a:t>
            </a:r>
          </a:p>
        </p:txBody>
      </p:sp>
      <p:sp>
        <p:nvSpPr>
          <p:cNvPr id="13" name="">
            <a:extLst xmlns:a="http://schemas.openxmlformats.org/drawingml/2006/main">
              <a:ext uri="{FF2B5EF4-FFF2-40B4-BE49-F238E27FC236}">
                <a16:creationId xmlns:a16="http://schemas.microsoft.com/office/drawing/2014/main" id="{DBCB1341-BB89-432E-B7BC-B536033EED2D}"/>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9A8F13F2-B51B-41FE-81A3-CAE91D39A9EC}"/>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FFECEEB2-0A54-4B1C-8069-9967F079E4C8}"/>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Individuelle Risiken</a:t>
            </a:r>
          </a:p>
        </p:txBody>
      </p:sp>
      <p:sp>
        <p:nvSpPr>
          <p:cNvPr id="16" name="">
            <a:extLst xmlns:a="http://schemas.openxmlformats.org/drawingml/2006/main">
              <a:ext uri="{FF2B5EF4-FFF2-40B4-BE49-F238E27FC236}">
                <a16:creationId xmlns:a16="http://schemas.microsoft.com/office/drawing/2014/main" id="{FD456823-6501-4236-87E7-4FFDEFA56637}"/>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Besondere Vorerkrankungen, Lebensumstände oder Berufstätigkeit können die Relevanz eines Risikos erhöhen.</a:t>
            </a:r>
          </a:p>
        </p:txBody>
      </p:sp>
      <p:sp>
        <p:nvSpPr>
          <p:cNvPr id="17" name="">
            <a:extLst xmlns:a="http://schemas.openxmlformats.org/drawingml/2006/main">
              <a:ext uri="{FF2B5EF4-FFF2-40B4-BE49-F238E27FC236}">
                <a16:creationId xmlns:a16="http://schemas.microsoft.com/office/drawing/2014/main" id="{68D5850E-B2BF-496D-A131-8BB29F9B929C}"/>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6D04CFDA-0078-40A9-9CA8-7C4DA1C97A93}"/>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917F483F-EFED-4C8D-A7AE-1E96652E6F11}"/>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Keine Zahlenmagie</a:t>
            </a:r>
          </a:p>
        </p:txBody>
      </p:sp>
      <p:sp>
        <p:nvSpPr>
          <p:cNvPr id="20" name="">
            <a:extLst xmlns:a="http://schemas.openxmlformats.org/drawingml/2006/main">
              <a:ext uri="{FF2B5EF4-FFF2-40B4-BE49-F238E27FC236}">
                <a16:creationId xmlns:a16="http://schemas.microsoft.com/office/drawing/2014/main" id="{53424DE6-0EBE-45FC-BEDD-15868F90B587}"/>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Häufigkeitsangaben helfen, ersetzen aber nicht die verständliche qualitative Einordnung von Schwere und Bedeutung.</a:t>
            </a:r>
          </a:p>
        </p:txBody>
      </p:sp>
      <p:sp>
        <p:nvSpPr>
          <p:cNvPr id="21" name="">
            <a:extLst xmlns:a="http://schemas.openxmlformats.org/drawingml/2006/main">
              <a:ext uri="{FF2B5EF4-FFF2-40B4-BE49-F238E27FC236}">
                <a16:creationId xmlns:a16="http://schemas.microsoft.com/office/drawing/2014/main" id="{0EED0261-E41F-450B-8DA6-378A86013BEA}"/>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C786DEAA-DBA2-4B48-BB78-8229BDC5C087}"/>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Die Aufklärung orientiert sich an der Entscheidungssituation der konkreten Person.</a:t>
            </a:r>
          </a:p>
        </p:txBody>
      </p:sp>
    </p:spTree>
    <p:extLst>
      <p:ext uri="{BB962C8B-B14F-4D97-AF65-F5344CB8AC3E}">
        <p14:creationId xmlns:p14="http://schemas.microsoft.com/office/powerpoint/2010/main" val="43637646"/>
      </p:ext>
    </p:extLst>
  </p:cSld>
</p:sld>
</file>

<file path=ppt/slides/slide85.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Aufklärungsverzicht und therapeutische Ausnahme</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EFC92414-A5B6-4680-9B3C-3EB56BCDBB8B}"/>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Ausnahmen sind eng auszulegen, weil sie die Selbstbestimmung begrenzen.</a:t>
            </a:r>
          </a:p>
        </p:txBody>
      </p:sp>
      <p:sp>
        <p:nvSpPr>
          <p:cNvPr id="5" name="">
            <a:extLst xmlns:a="http://schemas.openxmlformats.org/drawingml/2006/main">
              <a:ext uri="{FF2B5EF4-FFF2-40B4-BE49-F238E27FC236}">
                <a16:creationId xmlns:a16="http://schemas.microsoft.com/office/drawing/2014/main" id="{85879627-1DEB-459C-905C-C67CF018381C}"/>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D5BF987F-4E0A-4241-B732-42723E0F081D}"/>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408D81B9-8CDC-40C1-B5D0-A1E563D52EB7}"/>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Ausdrücklicher Verzicht</a:t>
            </a:r>
          </a:p>
        </p:txBody>
      </p:sp>
      <p:sp>
        <p:nvSpPr>
          <p:cNvPr id="8" name="">
            <a:extLst xmlns:a="http://schemas.openxmlformats.org/drawingml/2006/main">
              <a:ext uri="{FF2B5EF4-FFF2-40B4-BE49-F238E27FC236}">
                <a16:creationId xmlns:a16="http://schemas.microsoft.com/office/drawing/2014/main" id="{225F8970-E43B-4716-848E-D615C733E047}"/>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Eine einwilligungsfähige Person kann nach ausreichender Orientierung auf weitere Aufklärung verzichten; der Verzicht muss freiwillig und konkret sein.</a:t>
            </a:r>
          </a:p>
        </p:txBody>
      </p:sp>
      <p:sp>
        <p:nvSpPr>
          <p:cNvPr id="9" name="">
            <a:extLst xmlns:a="http://schemas.openxmlformats.org/drawingml/2006/main">
              <a:ext uri="{FF2B5EF4-FFF2-40B4-BE49-F238E27FC236}">
                <a16:creationId xmlns:a16="http://schemas.microsoft.com/office/drawing/2014/main" id="{3ED64F5A-9A8D-42D8-AC68-910F01868C48}"/>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8376F47F-4DFF-4CCA-8D63-EA9C6131854D}"/>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3A975886-3F89-437C-B057-2A8E7DB9298A}"/>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Kenntnis</a:t>
            </a:r>
          </a:p>
        </p:txBody>
      </p:sp>
      <p:sp>
        <p:nvSpPr>
          <p:cNvPr id="12" name="">
            <a:extLst xmlns:a="http://schemas.openxmlformats.org/drawingml/2006/main">
              <a:ext uri="{FF2B5EF4-FFF2-40B4-BE49-F238E27FC236}">
                <a16:creationId xmlns:a16="http://schemas.microsoft.com/office/drawing/2014/main" id="{F6DF8BD9-4A9E-419B-AB8F-B94DC587DB5C}"/>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Ist die Person ausnahmsweise bereits zuverlässig informiert, kann weitere Aufklärung entbehrlich sein. Das darf nicht leichtfertig unterstellt werden.</a:t>
            </a:r>
          </a:p>
        </p:txBody>
      </p:sp>
      <p:sp>
        <p:nvSpPr>
          <p:cNvPr id="13" name="">
            <a:extLst xmlns:a="http://schemas.openxmlformats.org/drawingml/2006/main">
              <a:ext uri="{FF2B5EF4-FFF2-40B4-BE49-F238E27FC236}">
                <a16:creationId xmlns:a16="http://schemas.microsoft.com/office/drawing/2014/main" id="{96F1C015-6FA5-432C-9782-73FE4F7CEBBF}"/>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B3ED4818-0190-4069-A6E0-F2CFBFFED3A2}"/>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4ED71D9D-13EC-48C3-A843-7C6CA1ABF5DA}"/>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Unaufschiebbarkeit</a:t>
            </a:r>
          </a:p>
        </p:txBody>
      </p:sp>
      <p:sp>
        <p:nvSpPr>
          <p:cNvPr id="16" name="">
            <a:extLst xmlns:a="http://schemas.openxmlformats.org/drawingml/2006/main">
              <a:ext uri="{FF2B5EF4-FFF2-40B4-BE49-F238E27FC236}">
                <a16:creationId xmlns:a16="http://schemas.microsoft.com/office/drawing/2014/main" id="{80874A81-BD3F-41BA-9EB8-ABC73DCEBEFF}"/>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Bei echter zeitlicher Dringlichkeit kann der Umfang auf das Entscheidungsnotwendige reduziert sein.</a:t>
            </a:r>
          </a:p>
        </p:txBody>
      </p:sp>
      <p:sp>
        <p:nvSpPr>
          <p:cNvPr id="17" name="">
            <a:extLst xmlns:a="http://schemas.openxmlformats.org/drawingml/2006/main">
              <a:ext uri="{FF2B5EF4-FFF2-40B4-BE49-F238E27FC236}">
                <a16:creationId xmlns:a16="http://schemas.microsoft.com/office/drawing/2014/main" id="{2D848BA6-EA1A-4FBB-A288-3FAA4A93D927}"/>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855A8878-4055-4DCA-95BA-4AD386E2845C}"/>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23813A7E-7BE8-4660-9CB8-D240DFA3D227}"/>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Therapeutische Gründe</a:t>
            </a:r>
          </a:p>
        </p:txBody>
      </p:sp>
      <p:sp>
        <p:nvSpPr>
          <p:cNvPr id="20" name="">
            <a:extLst xmlns:a="http://schemas.openxmlformats.org/drawingml/2006/main">
              <a:ext uri="{FF2B5EF4-FFF2-40B4-BE49-F238E27FC236}">
                <a16:creationId xmlns:a16="http://schemas.microsoft.com/office/drawing/2014/main" id="{2B61E362-2662-48F3-8648-419154777C69}"/>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Eine Information darf nicht allein deshalb unterbleiben, weil sie unangenehm ist; erhebliche konkrete Gesundheitsgefahren sind sorgfältig zu begründen.</a:t>
            </a:r>
          </a:p>
        </p:txBody>
      </p:sp>
      <p:sp>
        <p:nvSpPr>
          <p:cNvPr id="21" name="">
            <a:extLst xmlns:a="http://schemas.openxmlformats.org/drawingml/2006/main">
              <a:ext uri="{FF2B5EF4-FFF2-40B4-BE49-F238E27FC236}">
                <a16:creationId xmlns:a16="http://schemas.microsoft.com/office/drawing/2014/main" id="{BD485A84-ABD5-4406-8A9B-AACDD1D2F265}"/>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88ED0A48-77A1-4D93-BCEF-06761F53B839}"/>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Paternalistisches Schonungsdenken ist keine pauschale Aufklärungsausnahme.</a:t>
            </a:r>
          </a:p>
        </p:txBody>
      </p:sp>
    </p:spTree>
    <p:extLst>
      <p:ext uri="{BB962C8B-B14F-4D97-AF65-F5344CB8AC3E}">
        <p14:creationId xmlns:p14="http://schemas.microsoft.com/office/powerpoint/2010/main" val="43637646"/>
      </p:ext>
    </p:extLst>
  </p:cSld>
</p:sld>
</file>

<file path=ppt/slides/slide86.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Dokumentation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NORM IM FOKUS · § 630f BGB</a:t>
            </a:r>
            <a:endParaRPr/>
          </a:p>
        </p:txBody>
      </p:sp>
      <p:sp>
        <p:nvSpPr>
          <p:cNvPr id="4" name="">
            <a:extLst xmlns:a="http://schemas.openxmlformats.org/drawingml/2006/main">
              <a:ext uri="{FF2B5EF4-FFF2-40B4-BE49-F238E27FC236}">
                <a16:creationId xmlns:a16="http://schemas.microsoft.com/office/drawing/2014/main" id="{5E44680C-7868-4843-BB8D-45EE523D2139}"/>
              </a:ext>
            </a:extLst>
          </p:cNvPr>
          <p:cNvSpPr>
            <a:spLocks xmlns:a="http://schemas.openxmlformats.org/drawingml/2006/main" noGrp="1"/>
          </p:cNvSpPr>
          <p:nvPr/>
        </p:nvSpPr>
        <p:spPr>
          <a:xfrm xmlns:a="http://schemas.openxmlformats.org/drawingml/2006/main">
            <a:off x="1809750" y="1924050"/>
            <a:ext cx="2286000" cy="704850"/>
          </a:xfrm>
          <a:prstGeom xmlns:a="http://schemas.openxmlformats.org/drawingml/2006/main" prst="roundRect">
            <a:avLst>
              <a:gd name="adj" fmla="val 10811"/>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1711F705-FC75-4911-9F08-985B1C344067}"/>
              </a:ext>
            </a:extLst>
          </p:cNvPr>
          <p:cNvSpPr>
            <a:spLocks xmlns:a="http://schemas.openxmlformats.org/drawingml/2006/main" noGrp="1"/>
          </p:cNvSpPr>
          <p:nvPr/>
        </p:nvSpPr>
        <p:spPr>
          <a:xfrm xmlns:a="http://schemas.openxmlformats.org/drawingml/2006/main">
            <a:off x="1924050" y="1971675"/>
            <a:ext cx="2057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75" b="1">
                <a:solidFill>
                  <a:srgbClr val="FFFFFF"/>
                </a:solidFill>
              </a:defRPr>
            </a:pPr>
            <a:r>
              <a:rPr sz="1875" b="1">
                <a:solidFill>
                  <a:srgbClr val="FFFFFF"/>
                </a:solidFill>
              </a:rPr>
              <a:t>§ 630f BGB</a:t>
            </a:r>
          </a:p>
        </p:txBody>
      </p:sp>
      <p:sp>
        <p:nvSpPr>
          <p:cNvPr id="6" name="">
            <a:extLst xmlns:a="http://schemas.openxmlformats.org/drawingml/2006/main">
              <a:ext uri="{FF2B5EF4-FFF2-40B4-BE49-F238E27FC236}">
                <a16:creationId xmlns:a16="http://schemas.microsoft.com/office/drawing/2014/main" id="{DE0ECD1E-A7F1-42FF-A860-33FD21E5E3FC}"/>
              </a:ext>
            </a:extLst>
          </p:cNvPr>
          <p:cNvSpPr>
            <a:spLocks xmlns:a="http://schemas.openxmlformats.org/drawingml/2006/main" noGrp="1"/>
          </p:cNvSpPr>
          <p:nvPr/>
        </p:nvSpPr>
        <p:spPr>
          <a:xfrm xmlns:a="http://schemas.openxmlformats.org/drawingml/2006/main">
            <a:off x="4362450" y="1924050"/>
            <a:ext cx="6972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15">
                <a:solidFill>
                  <a:srgbClr val="667680"/>
                </a:solidFill>
              </a:defRPr>
            </a:pPr>
            <a:r>
              <a:rPr sz="1215">
                <a:solidFill>
                  <a:srgbClr val="667680"/>
                </a:solidFill>
              </a:rPr>
              <a:t>Die Behandlungsakte macht Versorgung und Entscheidungswege nachvollziehbar und ist später ein wichtiges Beweismittel.</a:t>
            </a:r>
          </a:p>
        </p:txBody>
      </p:sp>
      <p:sp>
        <p:nvSpPr>
          <p:cNvPr id="7" name="">
            <a:extLst xmlns:a="http://schemas.openxmlformats.org/drawingml/2006/main">
              <a:ext uri="{FF2B5EF4-FFF2-40B4-BE49-F238E27FC236}">
                <a16:creationId xmlns:a16="http://schemas.microsoft.com/office/drawing/2014/main" id="{178AE8E2-3FBA-4B1A-A741-7079A5F2200F}"/>
              </a:ext>
            </a:extLst>
          </p:cNvPr>
          <p:cNvSpPr>
            <a:spLocks xmlns:a="http://schemas.openxmlformats.org/drawingml/2006/main" noGrp="1"/>
          </p:cNvSpPr>
          <p:nvPr/>
        </p:nvSpPr>
        <p:spPr>
          <a:xfrm xmlns:a="http://schemas.openxmlformats.org/drawingml/2006/main">
            <a:off x="1809750" y="2781300"/>
            <a:ext cx="476250" cy="414338"/>
          </a:xfrm>
          <a:prstGeom xmlns:a="http://schemas.openxmlformats.org/drawingml/2006/main" prst="roundRect">
            <a:avLst>
              <a:gd name="adj" fmla="val 18391"/>
            </a:avLst>
          </a:prstGeom>
          <a:solidFill xmlns:a="http://schemas.openxmlformats.org/drawingml/2006/main">
            <a:srgbClr val="00B2BB"/>
          </a:solidFill>
          <a:ln xmlns:a="http://schemas.openxmlformats.org/drawingml/2006/main" w="0">
            <a:solidFill>
              <a:srgbClr val="00B2BB"/>
            </a:solidFill>
            <a:prstDash val="solid"/>
          </a:ln>
        </p:spPr>
      </p:sp>
      <p:sp>
        <p:nvSpPr>
          <p:cNvPr id="8" name="">
            <a:extLst xmlns:a="http://schemas.openxmlformats.org/drawingml/2006/main">
              <a:ext uri="{FF2B5EF4-FFF2-40B4-BE49-F238E27FC236}">
                <a16:creationId xmlns:a16="http://schemas.microsoft.com/office/drawing/2014/main" id="{7451F744-99DE-4E85-A175-297D74039105}"/>
              </a:ext>
            </a:extLst>
          </p:cNvPr>
          <p:cNvSpPr>
            <a:spLocks xmlns:a="http://schemas.openxmlformats.org/drawingml/2006/main" noGrp="1"/>
          </p:cNvSpPr>
          <p:nvPr/>
        </p:nvSpPr>
        <p:spPr>
          <a:xfrm xmlns:a="http://schemas.openxmlformats.org/drawingml/2006/main">
            <a:off x="1809750" y="2781300"/>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9" name="">
            <a:extLst xmlns:a="http://schemas.openxmlformats.org/drawingml/2006/main">
              <a:ext uri="{FF2B5EF4-FFF2-40B4-BE49-F238E27FC236}">
                <a16:creationId xmlns:a16="http://schemas.microsoft.com/office/drawing/2014/main" id="{2B351B1C-A922-4B71-B1AA-1AECB26AED36}"/>
              </a:ext>
            </a:extLst>
          </p:cNvPr>
          <p:cNvSpPr>
            <a:spLocks xmlns:a="http://schemas.openxmlformats.org/drawingml/2006/main" noGrp="1"/>
          </p:cNvSpPr>
          <p:nvPr/>
        </p:nvSpPr>
        <p:spPr>
          <a:xfrm xmlns:a="http://schemas.openxmlformats.org/drawingml/2006/main">
            <a:off x="2438400" y="2790825"/>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Zeitnähe</a:t>
            </a:r>
          </a:p>
        </p:txBody>
      </p:sp>
      <p:sp>
        <p:nvSpPr>
          <p:cNvPr id="10" name="">
            <a:extLst xmlns:a="http://schemas.openxmlformats.org/drawingml/2006/main">
              <a:ext uri="{FF2B5EF4-FFF2-40B4-BE49-F238E27FC236}">
                <a16:creationId xmlns:a16="http://schemas.microsoft.com/office/drawing/2014/main" id="{C19C12AD-C0A6-4D11-8955-69B1CDB0FA88}"/>
              </a:ext>
            </a:extLst>
          </p:cNvPr>
          <p:cNvSpPr>
            <a:spLocks xmlns:a="http://schemas.openxmlformats.org/drawingml/2006/main" noGrp="1"/>
          </p:cNvSpPr>
          <p:nvPr/>
        </p:nvSpPr>
        <p:spPr>
          <a:xfrm xmlns:a="http://schemas.openxmlformats.org/drawingml/2006/main">
            <a:off x="4591050" y="2790825"/>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Einträge sollen im unmittelbaren zeitlichen Zusammenhang mit der Behandlung erfolgen.</a:t>
            </a:r>
          </a:p>
        </p:txBody>
      </p:sp>
      <p:sp>
        <p:nvSpPr>
          <p:cNvPr id="11" name="">
            <a:extLst xmlns:a="http://schemas.openxmlformats.org/drawingml/2006/main">
              <a:ext uri="{FF2B5EF4-FFF2-40B4-BE49-F238E27FC236}">
                <a16:creationId xmlns:a16="http://schemas.microsoft.com/office/drawing/2014/main" id="{6E8A5EFE-C517-40C5-BA34-5F3E2E9B7035}"/>
              </a:ext>
            </a:extLst>
          </p:cNvPr>
          <p:cNvSpPr>
            <a:spLocks xmlns:a="http://schemas.openxmlformats.org/drawingml/2006/main" noGrp="1"/>
          </p:cNvSpPr>
          <p:nvPr/>
        </p:nvSpPr>
        <p:spPr>
          <a:xfrm xmlns:a="http://schemas.openxmlformats.org/drawingml/2006/main">
            <a:off x="1809750" y="3271838"/>
            <a:ext cx="476250" cy="414338"/>
          </a:xfrm>
          <a:prstGeom xmlns:a="http://schemas.openxmlformats.org/drawingml/2006/main" prst="roundRect">
            <a:avLst>
              <a:gd name="adj" fmla="val 18391"/>
            </a:avLst>
          </a:prstGeom>
          <a:solidFill xmlns:a="http://schemas.openxmlformats.org/drawingml/2006/main">
            <a:srgbClr val="003F6B"/>
          </a:solidFill>
          <a:ln xmlns:a="http://schemas.openxmlformats.org/drawingml/2006/main" w="0">
            <a:solidFill>
              <a:srgbClr val="003F6B"/>
            </a:solidFill>
            <a:prstDash val="solid"/>
          </a:ln>
        </p:spPr>
      </p:sp>
      <p:sp>
        <p:nvSpPr>
          <p:cNvPr id="12" name="">
            <a:extLst xmlns:a="http://schemas.openxmlformats.org/drawingml/2006/main">
              <a:ext uri="{FF2B5EF4-FFF2-40B4-BE49-F238E27FC236}">
                <a16:creationId xmlns:a16="http://schemas.microsoft.com/office/drawing/2014/main" id="{4FBABED6-F824-4B69-BE8E-B610A6941B29}"/>
              </a:ext>
            </a:extLst>
          </p:cNvPr>
          <p:cNvSpPr>
            <a:spLocks xmlns:a="http://schemas.openxmlformats.org/drawingml/2006/main" noGrp="1"/>
          </p:cNvSpPr>
          <p:nvPr/>
        </p:nvSpPr>
        <p:spPr>
          <a:xfrm xmlns:a="http://schemas.openxmlformats.org/drawingml/2006/main">
            <a:off x="1809750" y="3271838"/>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3" name="">
            <a:extLst xmlns:a="http://schemas.openxmlformats.org/drawingml/2006/main">
              <a:ext uri="{FF2B5EF4-FFF2-40B4-BE49-F238E27FC236}">
                <a16:creationId xmlns:a16="http://schemas.microsoft.com/office/drawing/2014/main" id="{9520B93D-72D3-4549-841B-ECAC0436C15A}"/>
              </a:ext>
            </a:extLst>
          </p:cNvPr>
          <p:cNvSpPr>
            <a:spLocks xmlns:a="http://schemas.openxmlformats.org/drawingml/2006/main" noGrp="1"/>
          </p:cNvSpPr>
          <p:nvPr/>
        </p:nvSpPr>
        <p:spPr>
          <a:xfrm xmlns:a="http://schemas.openxmlformats.org/drawingml/2006/main">
            <a:off x="2438400" y="3281363"/>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Wesentlicher Inhalt</a:t>
            </a:r>
          </a:p>
        </p:txBody>
      </p:sp>
      <p:sp>
        <p:nvSpPr>
          <p:cNvPr id="14" name="">
            <a:extLst xmlns:a="http://schemas.openxmlformats.org/drawingml/2006/main">
              <a:ext uri="{FF2B5EF4-FFF2-40B4-BE49-F238E27FC236}">
                <a16:creationId xmlns:a16="http://schemas.microsoft.com/office/drawing/2014/main" id="{3FC51161-189C-4015-ADF8-28ED8A0D488E}"/>
              </a:ext>
            </a:extLst>
          </p:cNvPr>
          <p:cNvSpPr>
            <a:spLocks xmlns:a="http://schemas.openxmlformats.org/drawingml/2006/main" noGrp="1"/>
          </p:cNvSpPr>
          <p:nvPr/>
        </p:nvSpPr>
        <p:spPr>
          <a:xfrm xmlns:a="http://schemas.openxmlformats.org/drawingml/2006/main">
            <a:off x="4591050" y="3281363"/>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Dokumentiert werden medizinisch bedeutsame Anamnese, Diagnostik, Befunde, Therapien, Eingriffe, Wirkungen, Einwilligungen und Aufklärungen.</a:t>
            </a:r>
          </a:p>
        </p:txBody>
      </p:sp>
      <p:sp>
        <p:nvSpPr>
          <p:cNvPr id="15" name="">
            <a:extLst xmlns:a="http://schemas.openxmlformats.org/drawingml/2006/main">
              <a:ext uri="{FF2B5EF4-FFF2-40B4-BE49-F238E27FC236}">
                <a16:creationId xmlns:a16="http://schemas.microsoft.com/office/drawing/2014/main" id="{16312F72-2E7A-48C0-B90A-64BA22232061}"/>
              </a:ext>
            </a:extLst>
          </p:cNvPr>
          <p:cNvSpPr>
            <a:spLocks xmlns:a="http://schemas.openxmlformats.org/drawingml/2006/main" noGrp="1"/>
          </p:cNvSpPr>
          <p:nvPr/>
        </p:nvSpPr>
        <p:spPr>
          <a:xfrm xmlns:a="http://schemas.openxmlformats.org/drawingml/2006/main">
            <a:off x="1809750" y="3762375"/>
            <a:ext cx="476250" cy="414338"/>
          </a:xfrm>
          <a:prstGeom xmlns:a="http://schemas.openxmlformats.org/drawingml/2006/main" prst="roundRect">
            <a:avLst>
              <a:gd name="adj" fmla="val 18391"/>
            </a:avLst>
          </a:prstGeom>
          <a:solidFill xmlns:a="http://schemas.openxmlformats.org/drawingml/2006/main">
            <a:srgbClr val="00B2BB"/>
          </a:solidFill>
          <a:ln xmlns:a="http://schemas.openxmlformats.org/drawingml/2006/main" w="0">
            <a:solidFill>
              <a:srgbClr val="00B2BB"/>
            </a:solidFill>
            <a:prstDash val="solid"/>
          </a:ln>
        </p:spPr>
      </p:sp>
      <p:sp>
        <p:nvSpPr>
          <p:cNvPr id="16" name="">
            <a:extLst xmlns:a="http://schemas.openxmlformats.org/drawingml/2006/main">
              <a:ext uri="{FF2B5EF4-FFF2-40B4-BE49-F238E27FC236}">
                <a16:creationId xmlns:a16="http://schemas.microsoft.com/office/drawing/2014/main" id="{F249C344-E7D8-4FB1-BD12-7B6E6483CC0B}"/>
              </a:ext>
            </a:extLst>
          </p:cNvPr>
          <p:cNvSpPr>
            <a:spLocks xmlns:a="http://schemas.openxmlformats.org/drawingml/2006/main" noGrp="1"/>
          </p:cNvSpPr>
          <p:nvPr/>
        </p:nvSpPr>
        <p:spPr>
          <a:xfrm xmlns:a="http://schemas.openxmlformats.org/drawingml/2006/main">
            <a:off x="1809750" y="3762375"/>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7" name="">
            <a:extLst xmlns:a="http://schemas.openxmlformats.org/drawingml/2006/main">
              <a:ext uri="{FF2B5EF4-FFF2-40B4-BE49-F238E27FC236}">
                <a16:creationId xmlns:a16="http://schemas.microsoft.com/office/drawing/2014/main" id="{AC78C9FE-D724-4067-8961-8EDD9CB0C055}"/>
              </a:ext>
            </a:extLst>
          </p:cNvPr>
          <p:cNvSpPr>
            <a:spLocks xmlns:a="http://schemas.openxmlformats.org/drawingml/2006/main" noGrp="1"/>
          </p:cNvSpPr>
          <p:nvPr/>
        </p:nvSpPr>
        <p:spPr>
          <a:xfrm xmlns:a="http://schemas.openxmlformats.org/drawingml/2006/main">
            <a:off x="2438400" y="3771900"/>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Änderungstransparenz</a:t>
            </a:r>
          </a:p>
        </p:txBody>
      </p:sp>
      <p:sp>
        <p:nvSpPr>
          <p:cNvPr id="18" name="">
            <a:extLst xmlns:a="http://schemas.openxmlformats.org/drawingml/2006/main">
              <a:ext uri="{FF2B5EF4-FFF2-40B4-BE49-F238E27FC236}">
                <a16:creationId xmlns:a16="http://schemas.microsoft.com/office/drawing/2014/main" id="{59FF3183-969F-4CB9-BB28-83350E025EE1}"/>
              </a:ext>
            </a:extLst>
          </p:cNvPr>
          <p:cNvSpPr>
            <a:spLocks xmlns:a="http://schemas.openxmlformats.org/drawingml/2006/main" noGrp="1"/>
          </p:cNvSpPr>
          <p:nvPr/>
        </p:nvSpPr>
        <p:spPr>
          <a:xfrm xmlns:a="http://schemas.openxmlformats.org/drawingml/2006/main">
            <a:off x="4591050" y="3771900"/>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Der ursprüngliche Inhalt und der Änderungszeitpunkt müssen bei Berichtigungen erkennbar bleiben.</a:t>
            </a:r>
          </a:p>
        </p:txBody>
      </p:sp>
      <p:sp>
        <p:nvSpPr>
          <p:cNvPr id="19" name="">
            <a:extLst xmlns:a="http://schemas.openxmlformats.org/drawingml/2006/main">
              <a:ext uri="{FF2B5EF4-FFF2-40B4-BE49-F238E27FC236}">
                <a16:creationId xmlns:a16="http://schemas.microsoft.com/office/drawing/2014/main" id="{007E60A5-1A7B-49FF-BA70-C37B3C91AAD8}"/>
              </a:ext>
            </a:extLst>
          </p:cNvPr>
          <p:cNvSpPr>
            <a:spLocks xmlns:a="http://schemas.openxmlformats.org/drawingml/2006/main" noGrp="1"/>
          </p:cNvSpPr>
          <p:nvPr/>
        </p:nvSpPr>
        <p:spPr>
          <a:xfrm xmlns:a="http://schemas.openxmlformats.org/drawingml/2006/main">
            <a:off x="1809750" y="4252913"/>
            <a:ext cx="476250" cy="414338"/>
          </a:xfrm>
          <a:prstGeom xmlns:a="http://schemas.openxmlformats.org/drawingml/2006/main" prst="roundRect">
            <a:avLst>
              <a:gd name="adj" fmla="val 18391"/>
            </a:avLst>
          </a:prstGeom>
          <a:solidFill xmlns:a="http://schemas.openxmlformats.org/drawingml/2006/main">
            <a:srgbClr val="003F6B"/>
          </a:solidFill>
          <a:ln xmlns:a="http://schemas.openxmlformats.org/drawingml/2006/main" w="0">
            <a:solidFill>
              <a:srgbClr val="003F6B"/>
            </a:solidFill>
            <a:prstDash val="solid"/>
          </a:ln>
        </p:spPr>
      </p:sp>
      <p:sp>
        <p:nvSpPr>
          <p:cNvPr id="20" name="">
            <a:extLst xmlns:a="http://schemas.openxmlformats.org/drawingml/2006/main">
              <a:ext uri="{FF2B5EF4-FFF2-40B4-BE49-F238E27FC236}">
                <a16:creationId xmlns:a16="http://schemas.microsoft.com/office/drawing/2014/main" id="{A3CF429F-AB42-4755-B73F-CBFC7924F7F5}"/>
              </a:ext>
            </a:extLst>
          </p:cNvPr>
          <p:cNvSpPr>
            <a:spLocks xmlns:a="http://schemas.openxmlformats.org/drawingml/2006/main" noGrp="1"/>
          </p:cNvSpPr>
          <p:nvPr/>
        </p:nvSpPr>
        <p:spPr>
          <a:xfrm xmlns:a="http://schemas.openxmlformats.org/drawingml/2006/main">
            <a:off x="1809750" y="4252913"/>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21" name="">
            <a:extLst xmlns:a="http://schemas.openxmlformats.org/drawingml/2006/main">
              <a:ext uri="{FF2B5EF4-FFF2-40B4-BE49-F238E27FC236}">
                <a16:creationId xmlns:a16="http://schemas.microsoft.com/office/drawing/2014/main" id="{AF791F86-C00D-4DBC-A2D5-C4A67DD3A802}"/>
              </a:ext>
            </a:extLst>
          </p:cNvPr>
          <p:cNvSpPr>
            <a:spLocks xmlns:a="http://schemas.openxmlformats.org/drawingml/2006/main" noGrp="1"/>
          </p:cNvSpPr>
          <p:nvPr/>
        </p:nvSpPr>
        <p:spPr>
          <a:xfrm xmlns:a="http://schemas.openxmlformats.org/drawingml/2006/main">
            <a:off x="2438400" y="4262438"/>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Aufbewahrung</a:t>
            </a:r>
          </a:p>
        </p:txBody>
      </p:sp>
      <p:sp>
        <p:nvSpPr>
          <p:cNvPr id="22" name="">
            <a:extLst xmlns:a="http://schemas.openxmlformats.org/drawingml/2006/main">
              <a:ext uri="{FF2B5EF4-FFF2-40B4-BE49-F238E27FC236}">
                <a16:creationId xmlns:a16="http://schemas.microsoft.com/office/drawing/2014/main" id="{329CC2C5-89D9-4600-AAF8-FF03817501DA}"/>
              </a:ext>
            </a:extLst>
          </p:cNvPr>
          <p:cNvSpPr>
            <a:spLocks xmlns:a="http://schemas.openxmlformats.org/drawingml/2006/main" noGrp="1"/>
          </p:cNvSpPr>
          <p:nvPr/>
        </p:nvSpPr>
        <p:spPr>
          <a:xfrm xmlns:a="http://schemas.openxmlformats.org/drawingml/2006/main">
            <a:off x="4591050" y="4262438"/>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Grundsätzlich gilt eine zehnjährige Aufbewahrung ab Behandlungsabschluss, soweit Spezialrecht nichts Längeres verlangt.</a:t>
            </a:r>
          </a:p>
        </p:txBody>
      </p:sp>
      <p:sp>
        <p:nvSpPr>
          <p:cNvPr id="23" name="">
            <a:extLst xmlns:a="http://schemas.openxmlformats.org/drawingml/2006/main">
              <a:ext uri="{FF2B5EF4-FFF2-40B4-BE49-F238E27FC236}">
                <a16:creationId xmlns:a16="http://schemas.microsoft.com/office/drawing/2014/main" id="{123A0D1D-89A3-4E6B-A3A0-661259EC66CB}"/>
              </a:ext>
            </a:extLst>
          </p:cNvPr>
          <p:cNvSpPr>
            <a:spLocks xmlns:a="http://schemas.openxmlformats.org/drawingml/2006/main" noGrp="1"/>
          </p:cNvSpPr>
          <p:nvPr/>
        </p:nvSpPr>
        <p:spPr>
          <a:xfrm xmlns:a="http://schemas.openxmlformats.org/drawingml/2006/main">
            <a:off x="1809750" y="4781550"/>
            <a:ext cx="9525000" cy="666750"/>
          </a:xfrm>
          <a:prstGeom xmlns:a="http://schemas.openxmlformats.org/drawingml/2006/main" prst="roundRect">
            <a:avLst>
              <a:gd name="adj" fmla="val 11429"/>
            </a:avLst>
          </a:prstGeom>
          <a:solidFill xmlns:a="http://schemas.openxmlformats.org/drawingml/2006/main">
            <a:srgbClr val="EAF6FB"/>
          </a:solidFill>
          <a:ln xmlns:a="http://schemas.openxmlformats.org/drawingml/2006/main" w="9525">
            <a:solidFill>
              <a:srgbClr val="00B2BB"/>
            </a:solidFill>
            <a:prstDash val="solid"/>
          </a:ln>
        </p:spPr>
      </p:sp>
      <p:sp>
        <p:nvSpPr>
          <p:cNvPr id="24" name="">
            <a:extLst xmlns:a="http://schemas.openxmlformats.org/drawingml/2006/main">
              <a:ext uri="{FF2B5EF4-FFF2-40B4-BE49-F238E27FC236}">
                <a16:creationId xmlns:a16="http://schemas.microsoft.com/office/drawing/2014/main" id="{DBD0C898-1196-4F4B-81D8-3829F106B166}"/>
              </a:ext>
            </a:extLst>
          </p:cNvPr>
          <p:cNvSpPr>
            <a:spLocks xmlns:a="http://schemas.openxmlformats.org/drawingml/2006/main" noGrp="1"/>
          </p:cNvSpPr>
          <p:nvPr/>
        </p:nvSpPr>
        <p:spPr>
          <a:xfrm xmlns:a="http://schemas.openxmlformats.org/drawingml/2006/main">
            <a:off x="1981200" y="4829175"/>
            <a:ext cx="9182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065">
                <a:solidFill>
                  <a:srgbClr val="15232B"/>
                </a:solidFill>
              </a:defRPr>
            </a:pPr>
            <a:r>
              <a:rPr sz="1065">
                <a:solidFill>
                  <a:srgbClr val="15232B"/>
                </a:solidFill>
              </a:rPr>
              <a:t>Beispiel · Beispiel: Ein nachträglich ergänzter Aufklärungseintrag wird mit aktuellem Datum und Anlass kenntlich gemacht; er wird nicht zurückdatiert.</a:t>
            </a:r>
          </a:p>
        </p:txBody>
      </p:sp>
      <p:sp>
        <p:nvSpPr>
          <p:cNvPr id="25" name="">
            <a:extLst xmlns:a="http://schemas.openxmlformats.org/drawingml/2006/main">
              <a:ext uri="{FF2B5EF4-FFF2-40B4-BE49-F238E27FC236}">
                <a16:creationId xmlns:a16="http://schemas.microsoft.com/office/drawing/2014/main" id="{FF929333-D39E-47D4-879F-846B3321DAA3}"/>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6" name="">
            <a:extLst xmlns:a="http://schemas.openxmlformats.org/drawingml/2006/main">
              <a:ext uri="{FF2B5EF4-FFF2-40B4-BE49-F238E27FC236}">
                <a16:creationId xmlns:a16="http://schemas.microsoft.com/office/drawing/2014/main" id="{1E43019C-A20A-4A0E-8781-4ED281EC93C1}"/>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Dokumentationsqualität beeinflusst Versorgung und Beweisbarkeit zugleich.</a:t>
            </a:r>
          </a:p>
        </p:txBody>
      </p:sp>
    </p:spTree>
    <p:extLst>
      <p:ext uri="{BB962C8B-B14F-4D97-AF65-F5344CB8AC3E}">
        <p14:creationId xmlns:p14="http://schemas.microsoft.com/office/powerpoint/2010/main" val="43637646"/>
      </p:ext>
    </p:extLst>
  </p:cSld>
</p:sld>
</file>

<file path=ppt/slides/slide87.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Einsicht in die Patientenakte</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NORM IM FOKUS · § 630g BGB</a:t>
            </a:r>
            <a:endParaRPr/>
          </a:p>
        </p:txBody>
      </p:sp>
      <p:sp>
        <p:nvSpPr>
          <p:cNvPr id="4" name="">
            <a:extLst xmlns:a="http://schemas.openxmlformats.org/drawingml/2006/main">
              <a:ext uri="{FF2B5EF4-FFF2-40B4-BE49-F238E27FC236}">
                <a16:creationId xmlns:a16="http://schemas.microsoft.com/office/drawing/2014/main" id="{960A5CCF-1388-4A13-AE46-C230D28C4721}"/>
              </a:ext>
            </a:extLst>
          </p:cNvPr>
          <p:cNvSpPr>
            <a:spLocks xmlns:a="http://schemas.openxmlformats.org/drawingml/2006/main" noGrp="1"/>
          </p:cNvSpPr>
          <p:nvPr/>
        </p:nvSpPr>
        <p:spPr>
          <a:xfrm xmlns:a="http://schemas.openxmlformats.org/drawingml/2006/main">
            <a:off x="1809750" y="1924050"/>
            <a:ext cx="2286000" cy="704850"/>
          </a:xfrm>
          <a:prstGeom xmlns:a="http://schemas.openxmlformats.org/drawingml/2006/main" prst="roundRect">
            <a:avLst>
              <a:gd name="adj" fmla="val 10811"/>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EBC07C62-0857-4018-851D-E540CD5AA90C}"/>
              </a:ext>
            </a:extLst>
          </p:cNvPr>
          <p:cNvSpPr>
            <a:spLocks xmlns:a="http://schemas.openxmlformats.org/drawingml/2006/main" noGrp="1"/>
          </p:cNvSpPr>
          <p:nvPr/>
        </p:nvSpPr>
        <p:spPr>
          <a:xfrm xmlns:a="http://schemas.openxmlformats.org/drawingml/2006/main">
            <a:off x="1924050" y="1971675"/>
            <a:ext cx="2057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75" b="1">
                <a:solidFill>
                  <a:srgbClr val="FFFFFF"/>
                </a:solidFill>
              </a:defRPr>
            </a:pPr>
            <a:r>
              <a:rPr sz="1875" b="1">
                <a:solidFill>
                  <a:srgbClr val="FFFFFF"/>
                </a:solidFill>
              </a:rPr>
              <a:t>§ 630g BGB</a:t>
            </a:r>
          </a:p>
        </p:txBody>
      </p:sp>
      <p:sp>
        <p:nvSpPr>
          <p:cNvPr id="6" name="">
            <a:extLst xmlns:a="http://schemas.openxmlformats.org/drawingml/2006/main">
              <a:ext uri="{FF2B5EF4-FFF2-40B4-BE49-F238E27FC236}">
                <a16:creationId xmlns:a16="http://schemas.microsoft.com/office/drawing/2014/main" id="{FBDC03E2-9A89-48E0-8C5F-295F83591859}"/>
              </a:ext>
            </a:extLst>
          </p:cNvPr>
          <p:cNvSpPr>
            <a:spLocks xmlns:a="http://schemas.openxmlformats.org/drawingml/2006/main" noGrp="1"/>
          </p:cNvSpPr>
          <p:nvPr/>
        </p:nvSpPr>
        <p:spPr>
          <a:xfrm xmlns:a="http://schemas.openxmlformats.org/drawingml/2006/main">
            <a:off x="4362450" y="1924050"/>
            <a:ext cx="6972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15">
                <a:solidFill>
                  <a:srgbClr val="667680"/>
                </a:solidFill>
              </a:defRPr>
            </a:pPr>
            <a:r>
              <a:rPr sz="1215">
                <a:solidFill>
                  <a:srgbClr val="667680"/>
                </a:solidFill>
              </a:rPr>
              <a:t>Patientinnen und Patienten können grundsätzlich unverzüglich Einsicht in die vollständige Behandlungsakte verlangen.</a:t>
            </a:r>
          </a:p>
        </p:txBody>
      </p:sp>
      <p:sp>
        <p:nvSpPr>
          <p:cNvPr id="7" name="">
            <a:extLst xmlns:a="http://schemas.openxmlformats.org/drawingml/2006/main">
              <a:ext uri="{FF2B5EF4-FFF2-40B4-BE49-F238E27FC236}">
                <a16:creationId xmlns:a16="http://schemas.microsoft.com/office/drawing/2014/main" id="{25F756AD-F6A0-4505-A37E-D01849BD2E28}"/>
              </a:ext>
            </a:extLst>
          </p:cNvPr>
          <p:cNvSpPr>
            <a:spLocks xmlns:a="http://schemas.openxmlformats.org/drawingml/2006/main" noGrp="1"/>
          </p:cNvSpPr>
          <p:nvPr/>
        </p:nvSpPr>
        <p:spPr>
          <a:xfrm xmlns:a="http://schemas.openxmlformats.org/drawingml/2006/main">
            <a:off x="1809750" y="2781300"/>
            <a:ext cx="476250" cy="414338"/>
          </a:xfrm>
          <a:prstGeom xmlns:a="http://schemas.openxmlformats.org/drawingml/2006/main" prst="roundRect">
            <a:avLst>
              <a:gd name="adj" fmla="val 18391"/>
            </a:avLst>
          </a:prstGeom>
          <a:solidFill xmlns:a="http://schemas.openxmlformats.org/drawingml/2006/main">
            <a:srgbClr val="00B2BB"/>
          </a:solidFill>
          <a:ln xmlns:a="http://schemas.openxmlformats.org/drawingml/2006/main" w="0">
            <a:solidFill>
              <a:srgbClr val="00B2BB"/>
            </a:solidFill>
            <a:prstDash val="solid"/>
          </a:ln>
        </p:spPr>
      </p:sp>
      <p:sp>
        <p:nvSpPr>
          <p:cNvPr id="8" name="">
            <a:extLst xmlns:a="http://schemas.openxmlformats.org/drawingml/2006/main">
              <a:ext uri="{FF2B5EF4-FFF2-40B4-BE49-F238E27FC236}">
                <a16:creationId xmlns:a16="http://schemas.microsoft.com/office/drawing/2014/main" id="{EEFB76C0-CAC9-4939-933B-38C7DB2D685A}"/>
              </a:ext>
            </a:extLst>
          </p:cNvPr>
          <p:cNvSpPr>
            <a:spLocks xmlns:a="http://schemas.openxmlformats.org/drawingml/2006/main" noGrp="1"/>
          </p:cNvSpPr>
          <p:nvPr/>
        </p:nvSpPr>
        <p:spPr>
          <a:xfrm xmlns:a="http://schemas.openxmlformats.org/drawingml/2006/main">
            <a:off x="1809750" y="2781300"/>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9" name="">
            <a:extLst xmlns:a="http://schemas.openxmlformats.org/drawingml/2006/main">
              <a:ext uri="{FF2B5EF4-FFF2-40B4-BE49-F238E27FC236}">
                <a16:creationId xmlns:a16="http://schemas.microsoft.com/office/drawing/2014/main" id="{F975674A-1EF1-4434-9B07-C12181890D93}"/>
              </a:ext>
            </a:extLst>
          </p:cNvPr>
          <p:cNvSpPr>
            <a:spLocks xmlns:a="http://schemas.openxmlformats.org/drawingml/2006/main" noGrp="1"/>
          </p:cNvSpPr>
          <p:nvPr/>
        </p:nvSpPr>
        <p:spPr>
          <a:xfrm xmlns:a="http://schemas.openxmlformats.org/drawingml/2006/main">
            <a:off x="2438400" y="2790825"/>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Umfang</a:t>
            </a:r>
          </a:p>
        </p:txBody>
      </p:sp>
      <p:sp>
        <p:nvSpPr>
          <p:cNvPr id="10" name="">
            <a:extLst xmlns:a="http://schemas.openxmlformats.org/drawingml/2006/main">
              <a:ext uri="{FF2B5EF4-FFF2-40B4-BE49-F238E27FC236}">
                <a16:creationId xmlns:a16="http://schemas.microsoft.com/office/drawing/2014/main" id="{CFECF16E-821C-48EA-8D4D-31B60774B26B}"/>
              </a:ext>
            </a:extLst>
          </p:cNvPr>
          <p:cNvSpPr>
            <a:spLocks xmlns:a="http://schemas.openxmlformats.org/drawingml/2006/main" noGrp="1"/>
          </p:cNvSpPr>
          <p:nvPr/>
        </p:nvSpPr>
        <p:spPr>
          <a:xfrm xmlns:a="http://schemas.openxmlformats.org/drawingml/2006/main">
            <a:off x="4591050" y="2790825"/>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Das Einsichtsrecht erfasst grundsätzlich die vollständige Akte, nicht nur einen ärztlich ausgewählten Auszug.</a:t>
            </a:r>
          </a:p>
        </p:txBody>
      </p:sp>
      <p:sp>
        <p:nvSpPr>
          <p:cNvPr id="11" name="">
            <a:extLst xmlns:a="http://schemas.openxmlformats.org/drawingml/2006/main">
              <a:ext uri="{FF2B5EF4-FFF2-40B4-BE49-F238E27FC236}">
                <a16:creationId xmlns:a16="http://schemas.microsoft.com/office/drawing/2014/main" id="{9C606FE7-1BE8-40B9-B131-6135CB2A0ECC}"/>
              </a:ext>
            </a:extLst>
          </p:cNvPr>
          <p:cNvSpPr>
            <a:spLocks xmlns:a="http://schemas.openxmlformats.org/drawingml/2006/main" noGrp="1"/>
          </p:cNvSpPr>
          <p:nvPr/>
        </p:nvSpPr>
        <p:spPr>
          <a:xfrm xmlns:a="http://schemas.openxmlformats.org/drawingml/2006/main">
            <a:off x="1809750" y="3271838"/>
            <a:ext cx="476250" cy="414338"/>
          </a:xfrm>
          <a:prstGeom xmlns:a="http://schemas.openxmlformats.org/drawingml/2006/main" prst="roundRect">
            <a:avLst>
              <a:gd name="adj" fmla="val 18391"/>
            </a:avLst>
          </a:prstGeom>
          <a:solidFill xmlns:a="http://schemas.openxmlformats.org/drawingml/2006/main">
            <a:srgbClr val="003F6B"/>
          </a:solidFill>
          <a:ln xmlns:a="http://schemas.openxmlformats.org/drawingml/2006/main" w="0">
            <a:solidFill>
              <a:srgbClr val="003F6B"/>
            </a:solidFill>
            <a:prstDash val="solid"/>
          </a:ln>
        </p:spPr>
      </p:sp>
      <p:sp>
        <p:nvSpPr>
          <p:cNvPr id="12" name="">
            <a:extLst xmlns:a="http://schemas.openxmlformats.org/drawingml/2006/main">
              <a:ext uri="{FF2B5EF4-FFF2-40B4-BE49-F238E27FC236}">
                <a16:creationId xmlns:a16="http://schemas.microsoft.com/office/drawing/2014/main" id="{0CB9405F-4F27-44DA-9151-B230A45F09E0}"/>
              </a:ext>
            </a:extLst>
          </p:cNvPr>
          <p:cNvSpPr>
            <a:spLocks xmlns:a="http://schemas.openxmlformats.org/drawingml/2006/main" noGrp="1"/>
          </p:cNvSpPr>
          <p:nvPr/>
        </p:nvSpPr>
        <p:spPr>
          <a:xfrm xmlns:a="http://schemas.openxmlformats.org/drawingml/2006/main">
            <a:off x="1809750" y="3271838"/>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3" name="">
            <a:extLst xmlns:a="http://schemas.openxmlformats.org/drawingml/2006/main">
              <a:ext uri="{FF2B5EF4-FFF2-40B4-BE49-F238E27FC236}">
                <a16:creationId xmlns:a16="http://schemas.microsoft.com/office/drawing/2014/main" id="{08631A6E-BAE0-4A21-AB40-A0F256378D57}"/>
              </a:ext>
            </a:extLst>
          </p:cNvPr>
          <p:cNvSpPr>
            <a:spLocks xmlns:a="http://schemas.openxmlformats.org/drawingml/2006/main" noGrp="1"/>
          </p:cNvSpPr>
          <p:nvPr/>
        </p:nvSpPr>
        <p:spPr>
          <a:xfrm xmlns:a="http://schemas.openxmlformats.org/drawingml/2006/main">
            <a:off x="2438400" y="3281363"/>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Ausnahmen</a:t>
            </a:r>
          </a:p>
        </p:txBody>
      </p:sp>
      <p:sp>
        <p:nvSpPr>
          <p:cNvPr id="14" name="">
            <a:extLst xmlns:a="http://schemas.openxmlformats.org/drawingml/2006/main">
              <a:ext uri="{FF2B5EF4-FFF2-40B4-BE49-F238E27FC236}">
                <a16:creationId xmlns:a16="http://schemas.microsoft.com/office/drawing/2014/main" id="{E4878AD1-3459-46F7-BE6F-79F7292CB5EA}"/>
              </a:ext>
            </a:extLst>
          </p:cNvPr>
          <p:cNvSpPr>
            <a:spLocks xmlns:a="http://schemas.openxmlformats.org/drawingml/2006/main" noGrp="1"/>
          </p:cNvSpPr>
          <p:nvPr/>
        </p:nvSpPr>
        <p:spPr>
          <a:xfrm xmlns:a="http://schemas.openxmlformats.org/drawingml/2006/main">
            <a:off x="4591050" y="3281363"/>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Erhebliche therapeutische Gründe oder erhebliche Rechte Dritter können entgegenstehen; die Ablehnung ist zu begründen und bleibt die Ausnahme.</a:t>
            </a:r>
          </a:p>
        </p:txBody>
      </p:sp>
      <p:sp>
        <p:nvSpPr>
          <p:cNvPr id="15" name="">
            <a:extLst xmlns:a="http://schemas.openxmlformats.org/drawingml/2006/main">
              <a:ext uri="{FF2B5EF4-FFF2-40B4-BE49-F238E27FC236}">
                <a16:creationId xmlns:a16="http://schemas.microsoft.com/office/drawing/2014/main" id="{44A35BBA-5348-4CEE-9208-5301D87C1643}"/>
              </a:ext>
            </a:extLst>
          </p:cNvPr>
          <p:cNvSpPr>
            <a:spLocks xmlns:a="http://schemas.openxmlformats.org/drawingml/2006/main" noGrp="1"/>
          </p:cNvSpPr>
          <p:nvPr/>
        </p:nvSpPr>
        <p:spPr>
          <a:xfrm xmlns:a="http://schemas.openxmlformats.org/drawingml/2006/main">
            <a:off x="1809750" y="3762375"/>
            <a:ext cx="476250" cy="414338"/>
          </a:xfrm>
          <a:prstGeom xmlns:a="http://schemas.openxmlformats.org/drawingml/2006/main" prst="roundRect">
            <a:avLst>
              <a:gd name="adj" fmla="val 18391"/>
            </a:avLst>
          </a:prstGeom>
          <a:solidFill xmlns:a="http://schemas.openxmlformats.org/drawingml/2006/main">
            <a:srgbClr val="00B2BB"/>
          </a:solidFill>
          <a:ln xmlns:a="http://schemas.openxmlformats.org/drawingml/2006/main" w="0">
            <a:solidFill>
              <a:srgbClr val="00B2BB"/>
            </a:solidFill>
            <a:prstDash val="solid"/>
          </a:ln>
        </p:spPr>
      </p:sp>
      <p:sp>
        <p:nvSpPr>
          <p:cNvPr id="16" name="">
            <a:extLst xmlns:a="http://schemas.openxmlformats.org/drawingml/2006/main">
              <a:ext uri="{FF2B5EF4-FFF2-40B4-BE49-F238E27FC236}">
                <a16:creationId xmlns:a16="http://schemas.microsoft.com/office/drawing/2014/main" id="{ED8C3FEC-D014-47E4-A4D0-A0407492FAA0}"/>
              </a:ext>
            </a:extLst>
          </p:cNvPr>
          <p:cNvSpPr>
            <a:spLocks xmlns:a="http://schemas.openxmlformats.org/drawingml/2006/main" noGrp="1"/>
          </p:cNvSpPr>
          <p:nvPr/>
        </p:nvSpPr>
        <p:spPr>
          <a:xfrm xmlns:a="http://schemas.openxmlformats.org/drawingml/2006/main">
            <a:off x="1809750" y="3762375"/>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7" name="">
            <a:extLst xmlns:a="http://schemas.openxmlformats.org/drawingml/2006/main">
              <a:ext uri="{FF2B5EF4-FFF2-40B4-BE49-F238E27FC236}">
                <a16:creationId xmlns:a16="http://schemas.microsoft.com/office/drawing/2014/main" id="{DF90DF5F-C993-4FDB-AC41-DC6CB6DAA533}"/>
              </a:ext>
            </a:extLst>
          </p:cNvPr>
          <p:cNvSpPr>
            <a:spLocks xmlns:a="http://schemas.openxmlformats.org/drawingml/2006/main" noGrp="1"/>
          </p:cNvSpPr>
          <p:nvPr/>
        </p:nvSpPr>
        <p:spPr>
          <a:xfrm xmlns:a="http://schemas.openxmlformats.org/drawingml/2006/main">
            <a:off x="2438400" y="3771900"/>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Kopien</a:t>
            </a:r>
          </a:p>
        </p:txBody>
      </p:sp>
      <p:sp>
        <p:nvSpPr>
          <p:cNvPr id="18" name="">
            <a:extLst xmlns:a="http://schemas.openxmlformats.org/drawingml/2006/main">
              <a:ext uri="{FF2B5EF4-FFF2-40B4-BE49-F238E27FC236}">
                <a16:creationId xmlns:a16="http://schemas.microsoft.com/office/drawing/2014/main" id="{55633FD5-694C-4BAA-BBDD-35E9618A2B25}"/>
              </a:ext>
            </a:extLst>
          </p:cNvPr>
          <p:cNvSpPr>
            <a:spLocks xmlns:a="http://schemas.openxmlformats.org/drawingml/2006/main" noGrp="1"/>
          </p:cNvSpPr>
          <p:nvPr/>
        </p:nvSpPr>
        <p:spPr>
          <a:xfrm xmlns:a="http://schemas.openxmlformats.org/drawingml/2006/main">
            <a:off x="4591050" y="3771900"/>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Es können Abschriften oder elektronische Kopien verlangt werden; datenschutzrechtliche Vorgaben sind mitzudenken.</a:t>
            </a:r>
          </a:p>
        </p:txBody>
      </p:sp>
      <p:sp>
        <p:nvSpPr>
          <p:cNvPr id="19" name="">
            <a:extLst xmlns:a="http://schemas.openxmlformats.org/drawingml/2006/main">
              <a:ext uri="{FF2B5EF4-FFF2-40B4-BE49-F238E27FC236}">
                <a16:creationId xmlns:a16="http://schemas.microsoft.com/office/drawing/2014/main" id="{FA3E615B-87E4-4413-BB7A-F72A9EE5D151}"/>
              </a:ext>
            </a:extLst>
          </p:cNvPr>
          <p:cNvSpPr>
            <a:spLocks xmlns:a="http://schemas.openxmlformats.org/drawingml/2006/main" noGrp="1"/>
          </p:cNvSpPr>
          <p:nvPr/>
        </p:nvSpPr>
        <p:spPr>
          <a:xfrm xmlns:a="http://schemas.openxmlformats.org/drawingml/2006/main">
            <a:off x="1809750" y="4252913"/>
            <a:ext cx="476250" cy="414338"/>
          </a:xfrm>
          <a:prstGeom xmlns:a="http://schemas.openxmlformats.org/drawingml/2006/main" prst="roundRect">
            <a:avLst>
              <a:gd name="adj" fmla="val 18391"/>
            </a:avLst>
          </a:prstGeom>
          <a:solidFill xmlns:a="http://schemas.openxmlformats.org/drawingml/2006/main">
            <a:srgbClr val="003F6B"/>
          </a:solidFill>
          <a:ln xmlns:a="http://schemas.openxmlformats.org/drawingml/2006/main" w="0">
            <a:solidFill>
              <a:srgbClr val="003F6B"/>
            </a:solidFill>
            <a:prstDash val="solid"/>
          </a:ln>
        </p:spPr>
      </p:sp>
      <p:sp>
        <p:nvSpPr>
          <p:cNvPr id="20" name="">
            <a:extLst xmlns:a="http://schemas.openxmlformats.org/drawingml/2006/main">
              <a:ext uri="{FF2B5EF4-FFF2-40B4-BE49-F238E27FC236}">
                <a16:creationId xmlns:a16="http://schemas.microsoft.com/office/drawing/2014/main" id="{5EBF79D8-4CFA-41BA-B69C-54AB4A7C9DAE}"/>
              </a:ext>
            </a:extLst>
          </p:cNvPr>
          <p:cNvSpPr>
            <a:spLocks xmlns:a="http://schemas.openxmlformats.org/drawingml/2006/main" noGrp="1"/>
          </p:cNvSpPr>
          <p:nvPr/>
        </p:nvSpPr>
        <p:spPr>
          <a:xfrm xmlns:a="http://schemas.openxmlformats.org/drawingml/2006/main">
            <a:off x="1809750" y="4252913"/>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21" name="">
            <a:extLst xmlns:a="http://schemas.openxmlformats.org/drawingml/2006/main">
              <a:ext uri="{FF2B5EF4-FFF2-40B4-BE49-F238E27FC236}">
                <a16:creationId xmlns:a16="http://schemas.microsoft.com/office/drawing/2014/main" id="{67160BC1-B3F0-488C-A4D2-B9421D0E2601}"/>
              </a:ext>
            </a:extLst>
          </p:cNvPr>
          <p:cNvSpPr>
            <a:spLocks xmlns:a="http://schemas.openxmlformats.org/drawingml/2006/main" noGrp="1"/>
          </p:cNvSpPr>
          <p:nvPr/>
        </p:nvSpPr>
        <p:spPr>
          <a:xfrm xmlns:a="http://schemas.openxmlformats.org/drawingml/2006/main">
            <a:off x="2438400" y="4262438"/>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Nach dem Tod</a:t>
            </a:r>
          </a:p>
        </p:txBody>
      </p:sp>
      <p:sp>
        <p:nvSpPr>
          <p:cNvPr id="22" name="">
            <a:extLst xmlns:a="http://schemas.openxmlformats.org/drawingml/2006/main">
              <a:ext uri="{FF2B5EF4-FFF2-40B4-BE49-F238E27FC236}">
                <a16:creationId xmlns:a16="http://schemas.microsoft.com/office/drawing/2014/main" id="{06317392-07F2-4D22-BD29-1070562102CA}"/>
              </a:ext>
            </a:extLst>
          </p:cNvPr>
          <p:cNvSpPr>
            <a:spLocks xmlns:a="http://schemas.openxmlformats.org/drawingml/2006/main" noGrp="1"/>
          </p:cNvSpPr>
          <p:nvPr/>
        </p:nvSpPr>
        <p:spPr>
          <a:xfrm xmlns:a="http://schemas.openxmlformats.org/drawingml/2006/main">
            <a:off x="4591050" y="4262438"/>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Unter gesetzlichen Voraussetzungen können Erben und nächste Angehörige Rechte geltend machen; entgegenstehender Wille ist zu beachten.</a:t>
            </a:r>
          </a:p>
        </p:txBody>
      </p:sp>
      <p:sp>
        <p:nvSpPr>
          <p:cNvPr id="23" name="">
            <a:extLst xmlns:a="http://schemas.openxmlformats.org/drawingml/2006/main">
              <a:ext uri="{FF2B5EF4-FFF2-40B4-BE49-F238E27FC236}">
                <a16:creationId xmlns:a16="http://schemas.microsoft.com/office/drawing/2014/main" id="{FA409C20-E03F-46BE-8167-348E73EB5421}"/>
              </a:ext>
            </a:extLst>
          </p:cNvPr>
          <p:cNvSpPr>
            <a:spLocks xmlns:a="http://schemas.openxmlformats.org/drawingml/2006/main" noGrp="1"/>
          </p:cNvSpPr>
          <p:nvPr/>
        </p:nvSpPr>
        <p:spPr>
          <a:xfrm xmlns:a="http://schemas.openxmlformats.org/drawingml/2006/main">
            <a:off x="1809750" y="4781550"/>
            <a:ext cx="9525000" cy="666750"/>
          </a:xfrm>
          <a:prstGeom xmlns:a="http://schemas.openxmlformats.org/drawingml/2006/main" prst="roundRect">
            <a:avLst>
              <a:gd name="adj" fmla="val 11429"/>
            </a:avLst>
          </a:prstGeom>
          <a:solidFill xmlns:a="http://schemas.openxmlformats.org/drawingml/2006/main">
            <a:srgbClr val="EAF6FB"/>
          </a:solidFill>
          <a:ln xmlns:a="http://schemas.openxmlformats.org/drawingml/2006/main" w="9525">
            <a:solidFill>
              <a:srgbClr val="00B2BB"/>
            </a:solidFill>
            <a:prstDash val="solid"/>
          </a:ln>
        </p:spPr>
      </p:sp>
      <p:sp>
        <p:nvSpPr>
          <p:cNvPr id="24" name="">
            <a:extLst xmlns:a="http://schemas.openxmlformats.org/drawingml/2006/main">
              <a:ext uri="{FF2B5EF4-FFF2-40B4-BE49-F238E27FC236}">
                <a16:creationId xmlns:a16="http://schemas.microsoft.com/office/drawing/2014/main" id="{5B6B3584-70FB-4FC1-9059-3F0598252BF2}"/>
              </a:ext>
            </a:extLst>
          </p:cNvPr>
          <p:cNvSpPr>
            <a:spLocks xmlns:a="http://schemas.openxmlformats.org/drawingml/2006/main" noGrp="1"/>
          </p:cNvSpPr>
          <p:nvPr/>
        </p:nvSpPr>
        <p:spPr>
          <a:xfrm xmlns:a="http://schemas.openxmlformats.org/drawingml/2006/main">
            <a:off x="1981200" y="4829175"/>
            <a:ext cx="9182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065">
                <a:solidFill>
                  <a:srgbClr val="15232B"/>
                </a:solidFill>
              </a:defRPr>
            </a:pPr>
            <a:r>
              <a:rPr sz="1065">
                <a:solidFill>
                  <a:srgbClr val="15232B"/>
                </a:solidFill>
              </a:rPr>
              <a:t>Beispiel · Beispiel: Eine pauschale Ablehnung mit „interne Unterlage“ genügt nicht; konkrete entgegenstehende Gründe müssen geprüft werden.</a:t>
            </a:r>
          </a:p>
        </p:txBody>
      </p:sp>
      <p:sp>
        <p:nvSpPr>
          <p:cNvPr id="25" name="">
            <a:extLst xmlns:a="http://schemas.openxmlformats.org/drawingml/2006/main">
              <a:ext uri="{FF2B5EF4-FFF2-40B4-BE49-F238E27FC236}">
                <a16:creationId xmlns:a16="http://schemas.microsoft.com/office/drawing/2014/main" id="{F70795CE-ABD8-4420-A799-CE5E7EEFC601}"/>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6" name="">
            <a:extLst xmlns:a="http://schemas.openxmlformats.org/drawingml/2006/main">
              <a:ext uri="{FF2B5EF4-FFF2-40B4-BE49-F238E27FC236}">
                <a16:creationId xmlns:a16="http://schemas.microsoft.com/office/drawing/2014/main" id="{DAC1CEC1-2614-4D1B-964A-899E2A8B1CF1}"/>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Akteneinsicht ist der Regelfall und schafft die Tatsachengrundlage für weitere Schritte.</a:t>
            </a:r>
          </a:p>
        </p:txBody>
      </p:sp>
    </p:spTree>
    <p:extLst>
      <p:ext uri="{BB962C8B-B14F-4D97-AF65-F5344CB8AC3E}">
        <p14:creationId xmlns:p14="http://schemas.microsoft.com/office/powerpoint/2010/main" val="43637646"/>
      </p:ext>
    </p:extLst>
  </p:cSld>
</p:sld>
</file>

<file path=ppt/slides/slide88.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 630h BGB: Warum eine eigene Beweisnorm?</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68A5D8FD-1B08-418A-BED6-3510B98CF7D4}"/>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Im Arzthaftungsprozess liegt viel Wissen in der Behandlungssphäre. § 630h verteilt bestimmte Risiken der Unaufklärbarkeit neu.</a:t>
            </a:r>
          </a:p>
        </p:txBody>
      </p:sp>
      <p:sp>
        <p:nvSpPr>
          <p:cNvPr id="5" name="">
            <a:extLst xmlns:a="http://schemas.openxmlformats.org/drawingml/2006/main">
              <a:ext uri="{FF2B5EF4-FFF2-40B4-BE49-F238E27FC236}">
                <a16:creationId xmlns:a16="http://schemas.microsoft.com/office/drawing/2014/main" id="{77679FD6-1AB4-47A4-85DB-C9F04A30B28A}"/>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ED1D57EE-01D6-4267-A0DB-79F8A2EE00AF}"/>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C9099489-B7EB-4393-A11D-3C08D71C2FE0}"/>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Grundsatz bleibt</a:t>
            </a:r>
          </a:p>
        </p:txBody>
      </p:sp>
      <p:sp>
        <p:nvSpPr>
          <p:cNvPr id="8" name="">
            <a:extLst xmlns:a="http://schemas.openxmlformats.org/drawingml/2006/main">
              <a:ext uri="{FF2B5EF4-FFF2-40B4-BE49-F238E27FC236}">
                <a16:creationId xmlns:a16="http://schemas.microsoft.com/office/drawing/2014/main" id="{0B341C0D-9309-4DE1-BC00-FDAC97EB373F}"/>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Patienten müssen grundsätzlich Pflichtverletzung, Schaden und Kausalität beweisen. § 630h enthält gezielte Ausnahmen.</a:t>
            </a:r>
          </a:p>
        </p:txBody>
      </p:sp>
      <p:sp>
        <p:nvSpPr>
          <p:cNvPr id="9" name="">
            <a:extLst xmlns:a="http://schemas.openxmlformats.org/drawingml/2006/main">
              <a:ext uri="{FF2B5EF4-FFF2-40B4-BE49-F238E27FC236}">
                <a16:creationId xmlns:a16="http://schemas.microsoft.com/office/drawing/2014/main" id="{232E5AAC-B176-4C0F-BEDE-EAADD6D8C6A6}"/>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BEA0E70D-3F6B-4CF1-915E-3EAC56A799E2}"/>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7B4DB26B-4EB6-4C47-ABDC-2C7A25568F62}"/>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Beherrschbares Risiko</a:t>
            </a:r>
          </a:p>
        </p:txBody>
      </p:sp>
      <p:sp>
        <p:nvSpPr>
          <p:cNvPr id="12" name="">
            <a:extLst xmlns:a="http://schemas.openxmlformats.org/drawingml/2006/main">
              <a:ext uri="{FF2B5EF4-FFF2-40B4-BE49-F238E27FC236}">
                <a16:creationId xmlns:a16="http://schemas.microsoft.com/office/drawing/2014/main" id="{57B59B36-36A1-47C4-AABC-8C14EDD7BD90}"/>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Verwirklicht sich ein voll beherrschbares Behandlungsrisiko, wird ein Fehler vermutet.</a:t>
            </a:r>
          </a:p>
        </p:txBody>
      </p:sp>
      <p:sp>
        <p:nvSpPr>
          <p:cNvPr id="13" name="">
            <a:extLst xmlns:a="http://schemas.openxmlformats.org/drawingml/2006/main">
              <a:ext uri="{FF2B5EF4-FFF2-40B4-BE49-F238E27FC236}">
                <a16:creationId xmlns:a16="http://schemas.microsoft.com/office/drawing/2014/main" id="{64EF3F99-CF4A-4EBC-8324-B4B65E0850A1}"/>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DFBFC9B1-B6E9-414E-A972-402500CEC91F}"/>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4CBCA388-E3AE-49AC-A0E8-4AB804D41723}"/>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Aufklärung und Dokumentation</a:t>
            </a:r>
          </a:p>
        </p:txBody>
      </p:sp>
      <p:sp>
        <p:nvSpPr>
          <p:cNvPr id="16" name="">
            <a:extLst xmlns:a="http://schemas.openxmlformats.org/drawingml/2006/main">
              <a:ext uri="{FF2B5EF4-FFF2-40B4-BE49-F238E27FC236}">
                <a16:creationId xmlns:a16="http://schemas.microsoft.com/office/drawing/2014/main" id="{9C080C63-B62C-412C-8CD4-FF8D94AF1AC6}"/>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Die Behandlungsseite beweist Einwilligung und Aufklärung; fehlende wesentliche Dokumentation löst eine Vermutung aus.</a:t>
            </a:r>
          </a:p>
        </p:txBody>
      </p:sp>
      <p:sp>
        <p:nvSpPr>
          <p:cNvPr id="17" name="">
            <a:extLst xmlns:a="http://schemas.openxmlformats.org/drawingml/2006/main">
              <a:ext uri="{FF2B5EF4-FFF2-40B4-BE49-F238E27FC236}">
                <a16:creationId xmlns:a16="http://schemas.microsoft.com/office/drawing/2014/main" id="{B6229A0C-C1B8-46B1-9B6C-A68282D01F6B}"/>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5E3B5E8A-D73D-480B-A946-9357801BB68E}"/>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7A27D6C7-EAEC-4FED-884F-8C798F4F9B54}"/>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Grober Fehler</a:t>
            </a:r>
          </a:p>
        </p:txBody>
      </p:sp>
      <p:sp>
        <p:nvSpPr>
          <p:cNvPr id="20" name="">
            <a:extLst xmlns:a="http://schemas.openxmlformats.org/drawingml/2006/main">
              <a:ext uri="{FF2B5EF4-FFF2-40B4-BE49-F238E27FC236}">
                <a16:creationId xmlns:a16="http://schemas.microsoft.com/office/drawing/2014/main" id="{223A3D50-DAE9-4AE6-BA05-030AED489817}"/>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Ein grober Behandlungsfehler kann die Ursächlichkeit für einen typischen Schaden zugunsten der Patientenseite vermuten lassen.</a:t>
            </a:r>
          </a:p>
        </p:txBody>
      </p:sp>
      <p:sp>
        <p:nvSpPr>
          <p:cNvPr id="21" name="">
            <a:extLst xmlns:a="http://schemas.openxmlformats.org/drawingml/2006/main">
              <a:ext uri="{FF2B5EF4-FFF2-40B4-BE49-F238E27FC236}">
                <a16:creationId xmlns:a16="http://schemas.microsoft.com/office/drawing/2014/main" id="{A2035B40-341F-4DC0-AB6E-4E3778FA0FC1}"/>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E211ABAB-6332-4BEA-9446-2D1EC3710C6E}"/>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Beweiserleichterung bedeutet nicht automatisch Haftung; jede Vermutung hat konkrete Voraussetzungen und Reichweite.</a:t>
            </a:r>
          </a:p>
        </p:txBody>
      </p:sp>
    </p:spTree>
    <p:extLst>
      <p:ext uri="{BB962C8B-B14F-4D97-AF65-F5344CB8AC3E}">
        <p14:creationId xmlns:p14="http://schemas.microsoft.com/office/powerpoint/2010/main" val="43637646"/>
      </p:ext>
    </p:extLst>
  </p:cSld>
</p:sld>
</file>

<file path=ppt/slides/slide89.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 630h BGB vollständig zuordnen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PRÜFUNGSSCHEMA · BEWEISERLEICHTERUNGEN</a:t>
            </a:r>
            <a:endParaRPr/>
          </a:p>
        </p:txBody>
      </p:sp>
      <p:sp>
        <p:nvSpPr>
          <p:cNvPr id="4" name="">
            <a:extLst xmlns:a="http://schemas.openxmlformats.org/drawingml/2006/main">
              <a:ext uri="{FF2B5EF4-FFF2-40B4-BE49-F238E27FC236}">
                <a16:creationId xmlns:a16="http://schemas.microsoft.com/office/drawing/2014/main" id="{56F266AF-7C9C-4ABB-9AEC-428D7BD5C88C}"/>
              </a:ext>
            </a:extLst>
          </p:cNvPr>
          <p:cNvSpPr>
            <a:spLocks xmlns:a="http://schemas.openxmlformats.org/drawingml/2006/main" noGrp="1"/>
          </p:cNvSpPr>
          <p:nvPr/>
        </p:nvSpPr>
        <p:spPr>
          <a:xfrm xmlns:a="http://schemas.openxmlformats.org/drawingml/2006/main">
            <a:off x="1809750" y="1952625"/>
            <a:ext cx="400050" cy="64389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AA713BF4-2D31-4752-B37D-43714A1F9541}"/>
              </a:ext>
            </a:extLst>
          </p:cNvPr>
          <p:cNvSpPr>
            <a:spLocks xmlns:a="http://schemas.openxmlformats.org/drawingml/2006/main" noGrp="1"/>
          </p:cNvSpPr>
          <p:nvPr/>
        </p:nvSpPr>
        <p:spPr>
          <a:xfrm xmlns:a="http://schemas.openxmlformats.org/drawingml/2006/main">
            <a:off x="1809750" y="1952625"/>
            <a:ext cx="400050" cy="6438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6" name="">
            <a:extLst xmlns:a="http://schemas.openxmlformats.org/drawingml/2006/main">
              <a:ext uri="{FF2B5EF4-FFF2-40B4-BE49-F238E27FC236}">
                <a16:creationId xmlns:a16="http://schemas.microsoft.com/office/drawing/2014/main" id="{C082DCDE-E6CB-449D-B9AE-89C2AAAF73D2}"/>
              </a:ext>
            </a:extLst>
          </p:cNvPr>
          <p:cNvSpPr>
            <a:spLocks xmlns:a="http://schemas.openxmlformats.org/drawingml/2006/main" noGrp="1"/>
          </p:cNvSpPr>
          <p:nvPr/>
        </p:nvSpPr>
        <p:spPr>
          <a:xfrm xmlns:a="http://schemas.openxmlformats.org/drawingml/2006/main">
            <a:off x="2324100" y="1962150"/>
            <a:ext cx="2381250" cy="624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Abs. 1 – voll beherrschbares Risiko</a:t>
            </a:r>
          </a:p>
        </p:txBody>
      </p:sp>
      <p:sp>
        <p:nvSpPr>
          <p:cNvPr id="7" name="">
            <a:extLst xmlns:a="http://schemas.openxmlformats.org/drawingml/2006/main">
              <a:ext uri="{FF2B5EF4-FFF2-40B4-BE49-F238E27FC236}">
                <a16:creationId xmlns:a16="http://schemas.microsoft.com/office/drawing/2014/main" id="{B45EF61E-CA95-4E1B-86DE-4563731BB3D4}"/>
              </a:ext>
            </a:extLst>
          </p:cNvPr>
          <p:cNvSpPr>
            <a:spLocks xmlns:a="http://schemas.openxmlformats.org/drawingml/2006/main" noGrp="1"/>
          </p:cNvSpPr>
          <p:nvPr/>
        </p:nvSpPr>
        <p:spPr>
          <a:xfrm xmlns:a="http://schemas.openxmlformats.org/drawingml/2006/main">
            <a:off x="4819650" y="1962150"/>
            <a:ext cx="6419850" cy="624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Fehlervermutung, wenn sich ein allgemeines Behandlungsrisiko aus einer vollständig kontrollierbaren Sphäre verwirklicht.</a:t>
            </a:r>
          </a:p>
        </p:txBody>
      </p:sp>
      <p:sp>
        <p:nvSpPr>
          <p:cNvPr id="8" name="">
            <a:extLst xmlns:a="http://schemas.openxmlformats.org/drawingml/2006/main">
              <a:ext uri="{FF2B5EF4-FFF2-40B4-BE49-F238E27FC236}">
                <a16:creationId xmlns:a16="http://schemas.microsoft.com/office/drawing/2014/main" id="{31F69D15-7A9D-4089-8B84-043800064B06}"/>
              </a:ext>
            </a:extLst>
          </p:cNvPr>
          <p:cNvSpPr>
            <a:spLocks xmlns:a="http://schemas.openxmlformats.org/drawingml/2006/main" noGrp="1"/>
          </p:cNvSpPr>
          <p:nvPr/>
        </p:nvSpPr>
        <p:spPr>
          <a:xfrm xmlns:a="http://schemas.openxmlformats.org/drawingml/2006/main">
            <a:off x="1809750" y="2672715"/>
            <a:ext cx="400050" cy="64389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9" name="">
            <a:extLst xmlns:a="http://schemas.openxmlformats.org/drawingml/2006/main">
              <a:ext uri="{FF2B5EF4-FFF2-40B4-BE49-F238E27FC236}">
                <a16:creationId xmlns:a16="http://schemas.microsoft.com/office/drawing/2014/main" id="{4DF60589-D5ED-4417-AFF7-1F681903846A}"/>
              </a:ext>
            </a:extLst>
          </p:cNvPr>
          <p:cNvSpPr>
            <a:spLocks xmlns:a="http://schemas.openxmlformats.org/drawingml/2006/main" noGrp="1"/>
          </p:cNvSpPr>
          <p:nvPr/>
        </p:nvSpPr>
        <p:spPr>
          <a:xfrm xmlns:a="http://schemas.openxmlformats.org/drawingml/2006/main">
            <a:off x="1809750" y="2672715"/>
            <a:ext cx="400050" cy="6438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0" name="">
            <a:extLst xmlns:a="http://schemas.openxmlformats.org/drawingml/2006/main">
              <a:ext uri="{FF2B5EF4-FFF2-40B4-BE49-F238E27FC236}">
                <a16:creationId xmlns:a16="http://schemas.microsoft.com/office/drawing/2014/main" id="{15A438D3-0630-4D55-8976-FA5F429B4B98}"/>
              </a:ext>
            </a:extLst>
          </p:cNvPr>
          <p:cNvSpPr>
            <a:spLocks xmlns:a="http://schemas.openxmlformats.org/drawingml/2006/main" noGrp="1"/>
          </p:cNvSpPr>
          <p:nvPr/>
        </p:nvSpPr>
        <p:spPr>
          <a:xfrm xmlns:a="http://schemas.openxmlformats.org/drawingml/2006/main">
            <a:off x="2324100" y="2682240"/>
            <a:ext cx="2381250" cy="624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Abs. 2 – Einwilligung/Aufklärung</a:t>
            </a:r>
          </a:p>
        </p:txBody>
      </p:sp>
      <p:sp>
        <p:nvSpPr>
          <p:cNvPr id="11" name="">
            <a:extLst xmlns:a="http://schemas.openxmlformats.org/drawingml/2006/main">
              <a:ext uri="{FF2B5EF4-FFF2-40B4-BE49-F238E27FC236}">
                <a16:creationId xmlns:a16="http://schemas.microsoft.com/office/drawing/2014/main" id="{54A1C015-B3E3-433E-9024-0AB5CBEF1F15}"/>
              </a:ext>
            </a:extLst>
          </p:cNvPr>
          <p:cNvSpPr>
            <a:spLocks xmlns:a="http://schemas.openxmlformats.org/drawingml/2006/main" noGrp="1"/>
          </p:cNvSpPr>
          <p:nvPr/>
        </p:nvSpPr>
        <p:spPr>
          <a:xfrm xmlns:a="http://schemas.openxmlformats.org/drawingml/2006/main">
            <a:off x="4819650" y="2682240"/>
            <a:ext cx="6419850" cy="624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Behandlungsseite beweist ordnungsgemäße Einwilligung und Aufklärung; hypothetische Einwilligung kann relevant werden.</a:t>
            </a:r>
          </a:p>
        </p:txBody>
      </p:sp>
      <p:sp>
        <p:nvSpPr>
          <p:cNvPr id="12" name="">
            <a:extLst xmlns:a="http://schemas.openxmlformats.org/drawingml/2006/main">
              <a:ext uri="{FF2B5EF4-FFF2-40B4-BE49-F238E27FC236}">
                <a16:creationId xmlns:a16="http://schemas.microsoft.com/office/drawing/2014/main" id="{6031D591-9139-4543-8E9C-CA3787FDF9E6}"/>
              </a:ext>
            </a:extLst>
          </p:cNvPr>
          <p:cNvSpPr>
            <a:spLocks xmlns:a="http://schemas.openxmlformats.org/drawingml/2006/main" noGrp="1"/>
          </p:cNvSpPr>
          <p:nvPr/>
        </p:nvSpPr>
        <p:spPr>
          <a:xfrm xmlns:a="http://schemas.openxmlformats.org/drawingml/2006/main">
            <a:off x="1809750" y="3392805"/>
            <a:ext cx="400050" cy="64389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3" name="">
            <a:extLst xmlns:a="http://schemas.openxmlformats.org/drawingml/2006/main">
              <a:ext uri="{FF2B5EF4-FFF2-40B4-BE49-F238E27FC236}">
                <a16:creationId xmlns:a16="http://schemas.microsoft.com/office/drawing/2014/main" id="{36568C3B-3C51-42C2-96BD-985C340C9782}"/>
              </a:ext>
            </a:extLst>
          </p:cNvPr>
          <p:cNvSpPr>
            <a:spLocks xmlns:a="http://schemas.openxmlformats.org/drawingml/2006/main" noGrp="1"/>
          </p:cNvSpPr>
          <p:nvPr/>
        </p:nvSpPr>
        <p:spPr>
          <a:xfrm xmlns:a="http://schemas.openxmlformats.org/drawingml/2006/main">
            <a:off x="1809750" y="3392805"/>
            <a:ext cx="400050" cy="6438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4" name="">
            <a:extLst xmlns:a="http://schemas.openxmlformats.org/drawingml/2006/main">
              <a:ext uri="{FF2B5EF4-FFF2-40B4-BE49-F238E27FC236}">
                <a16:creationId xmlns:a16="http://schemas.microsoft.com/office/drawing/2014/main" id="{EC5DA1C2-6DD0-48BD-AA2A-61917C7DFE8B}"/>
              </a:ext>
            </a:extLst>
          </p:cNvPr>
          <p:cNvSpPr>
            <a:spLocks xmlns:a="http://schemas.openxmlformats.org/drawingml/2006/main" noGrp="1"/>
          </p:cNvSpPr>
          <p:nvPr/>
        </p:nvSpPr>
        <p:spPr>
          <a:xfrm xmlns:a="http://schemas.openxmlformats.org/drawingml/2006/main">
            <a:off x="2324100" y="3402330"/>
            <a:ext cx="2381250" cy="624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Abs. 3 – Dokumentation</a:t>
            </a:r>
          </a:p>
        </p:txBody>
      </p:sp>
      <p:sp>
        <p:nvSpPr>
          <p:cNvPr id="15" name="">
            <a:extLst xmlns:a="http://schemas.openxmlformats.org/drawingml/2006/main">
              <a:ext uri="{FF2B5EF4-FFF2-40B4-BE49-F238E27FC236}">
                <a16:creationId xmlns:a16="http://schemas.microsoft.com/office/drawing/2014/main" id="{34E674F8-BCF7-409C-9A81-53C7EE655FE5}"/>
              </a:ext>
            </a:extLst>
          </p:cNvPr>
          <p:cNvSpPr>
            <a:spLocks xmlns:a="http://schemas.openxmlformats.org/drawingml/2006/main" noGrp="1"/>
          </p:cNvSpPr>
          <p:nvPr/>
        </p:nvSpPr>
        <p:spPr>
          <a:xfrm xmlns:a="http://schemas.openxmlformats.org/drawingml/2006/main">
            <a:off x="4819650" y="3402330"/>
            <a:ext cx="6419850" cy="624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Nicht dokumentierte wesentliche Maßnahme wird grundsätzlich als nicht erfolgt vermutet.</a:t>
            </a:r>
          </a:p>
        </p:txBody>
      </p:sp>
      <p:sp>
        <p:nvSpPr>
          <p:cNvPr id="16" name="">
            <a:extLst xmlns:a="http://schemas.openxmlformats.org/drawingml/2006/main">
              <a:ext uri="{FF2B5EF4-FFF2-40B4-BE49-F238E27FC236}">
                <a16:creationId xmlns:a16="http://schemas.microsoft.com/office/drawing/2014/main" id="{180FA742-D610-4B25-8CED-1FCCECCC49A5}"/>
              </a:ext>
            </a:extLst>
          </p:cNvPr>
          <p:cNvSpPr>
            <a:spLocks xmlns:a="http://schemas.openxmlformats.org/drawingml/2006/main" noGrp="1"/>
          </p:cNvSpPr>
          <p:nvPr/>
        </p:nvSpPr>
        <p:spPr>
          <a:xfrm xmlns:a="http://schemas.openxmlformats.org/drawingml/2006/main">
            <a:off x="1809750" y="4112895"/>
            <a:ext cx="400050" cy="64389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7" name="">
            <a:extLst xmlns:a="http://schemas.openxmlformats.org/drawingml/2006/main">
              <a:ext uri="{FF2B5EF4-FFF2-40B4-BE49-F238E27FC236}">
                <a16:creationId xmlns:a16="http://schemas.microsoft.com/office/drawing/2014/main" id="{70446B90-155E-48FC-A2B8-8E062B80FE09}"/>
              </a:ext>
            </a:extLst>
          </p:cNvPr>
          <p:cNvSpPr>
            <a:spLocks xmlns:a="http://schemas.openxmlformats.org/drawingml/2006/main" noGrp="1"/>
          </p:cNvSpPr>
          <p:nvPr/>
        </p:nvSpPr>
        <p:spPr>
          <a:xfrm xmlns:a="http://schemas.openxmlformats.org/drawingml/2006/main">
            <a:off x="1809750" y="4112895"/>
            <a:ext cx="400050" cy="6438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18" name="">
            <a:extLst xmlns:a="http://schemas.openxmlformats.org/drawingml/2006/main">
              <a:ext uri="{FF2B5EF4-FFF2-40B4-BE49-F238E27FC236}">
                <a16:creationId xmlns:a16="http://schemas.microsoft.com/office/drawing/2014/main" id="{ACC929DD-6462-4A78-8B59-2FC55ED18ACF}"/>
              </a:ext>
            </a:extLst>
          </p:cNvPr>
          <p:cNvSpPr>
            <a:spLocks xmlns:a="http://schemas.openxmlformats.org/drawingml/2006/main" noGrp="1"/>
          </p:cNvSpPr>
          <p:nvPr/>
        </p:nvSpPr>
        <p:spPr>
          <a:xfrm xmlns:a="http://schemas.openxmlformats.org/drawingml/2006/main">
            <a:off x="2324100" y="4122420"/>
            <a:ext cx="2381250" cy="624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Abs. 4 – Anfängerfehler</a:t>
            </a:r>
          </a:p>
        </p:txBody>
      </p:sp>
      <p:sp>
        <p:nvSpPr>
          <p:cNvPr id="19" name="">
            <a:extLst xmlns:a="http://schemas.openxmlformats.org/drawingml/2006/main">
              <a:ext uri="{FF2B5EF4-FFF2-40B4-BE49-F238E27FC236}">
                <a16:creationId xmlns:a16="http://schemas.microsoft.com/office/drawing/2014/main" id="{674F6B42-ECF0-444F-A2F7-63210023569F}"/>
              </a:ext>
            </a:extLst>
          </p:cNvPr>
          <p:cNvSpPr>
            <a:spLocks xmlns:a="http://schemas.openxmlformats.org/drawingml/2006/main" noGrp="1"/>
          </p:cNvSpPr>
          <p:nvPr/>
        </p:nvSpPr>
        <p:spPr>
          <a:xfrm xmlns:a="http://schemas.openxmlformats.org/drawingml/2006/main">
            <a:off x="4819650" y="4122420"/>
            <a:ext cx="6419850" cy="624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Fehlende Befähigung für die Maßnahme kann die Ursächlichkeit für den Schaden vermuten lassen.</a:t>
            </a:r>
          </a:p>
        </p:txBody>
      </p:sp>
      <p:sp>
        <p:nvSpPr>
          <p:cNvPr id="20" name="">
            <a:extLst xmlns:a="http://schemas.openxmlformats.org/drawingml/2006/main">
              <a:ext uri="{FF2B5EF4-FFF2-40B4-BE49-F238E27FC236}">
                <a16:creationId xmlns:a16="http://schemas.microsoft.com/office/drawing/2014/main" id="{1489B8B8-9EBF-47A8-B851-EA140539AC36}"/>
              </a:ext>
            </a:extLst>
          </p:cNvPr>
          <p:cNvSpPr>
            <a:spLocks xmlns:a="http://schemas.openxmlformats.org/drawingml/2006/main" noGrp="1"/>
          </p:cNvSpPr>
          <p:nvPr/>
        </p:nvSpPr>
        <p:spPr>
          <a:xfrm xmlns:a="http://schemas.openxmlformats.org/drawingml/2006/main">
            <a:off x="1809750" y="4832985"/>
            <a:ext cx="400050" cy="64389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1" name="">
            <a:extLst xmlns:a="http://schemas.openxmlformats.org/drawingml/2006/main">
              <a:ext uri="{FF2B5EF4-FFF2-40B4-BE49-F238E27FC236}">
                <a16:creationId xmlns:a16="http://schemas.microsoft.com/office/drawing/2014/main" id="{248DF866-60B8-47FF-8855-CA195DAD7893}"/>
              </a:ext>
            </a:extLst>
          </p:cNvPr>
          <p:cNvSpPr>
            <a:spLocks xmlns:a="http://schemas.openxmlformats.org/drawingml/2006/main" noGrp="1"/>
          </p:cNvSpPr>
          <p:nvPr/>
        </p:nvSpPr>
        <p:spPr>
          <a:xfrm xmlns:a="http://schemas.openxmlformats.org/drawingml/2006/main">
            <a:off x="1809750" y="4832985"/>
            <a:ext cx="400050" cy="6438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5</a:t>
            </a:r>
          </a:p>
        </p:txBody>
      </p:sp>
      <p:sp>
        <p:nvSpPr>
          <p:cNvPr id="22" name="">
            <a:extLst xmlns:a="http://schemas.openxmlformats.org/drawingml/2006/main">
              <a:ext uri="{FF2B5EF4-FFF2-40B4-BE49-F238E27FC236}">
                <a16:creationId xmlns:a16="http://schemas.microsoft.com/office/drawing/2014/main" id="{88B5CC2F-00F4-4F59-8591-E978C310701C}"/>
              </a:ext>
            </a:extLst>
          </p:cNvPr>
          <p:cNvSpPr>
            <a:spLocks xmlns:a="http://schemas.openxmlformats.org/drawingml/2006/main" noGrp="1"/>
          </p:cNvSpPr>
          <p:nvPr/>
        </p:nvSpPr>
        <p:spPr>
          <a:xfrm xmlns:a="http://schemas.openxmlformats.org/drawingml/2006/main">
            <a:off x="2324100" y="4842510"/>
            <a:ext cx="2381250" cy="624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Abs. 5 – grober Fehler/Befunderhebung</a:t>
            </a:r>
          </a:p>
        </p:txBody>
      </p:sp>
      <p:sp>
        <p:nvSpPr>
          <p:cNvPr id="23" name="">
            <a:extLst xmlns:a="http://schemas.openxmlformats.org/drawingml/2006/main">
              <a:ext uri="{FF2B5EF4-FFF2-40B4-BE49-F238E27FC236}">
                <a16:creationId xmlns:a16="http://schemas.microsoft.com/office/drawing/2014/main" id="{09906F76-F62C-4B68-994A-CD7D88F89CCB}"/>
              </a:ext>
            </a:extLst>
          </p:cNvPr>
          <p:cNvSpPr>
            <a:spLocks xmlns:a="http://schemas.openxmlformats.org/drawingml/2006/main" noGrp="1"/>
          </p:cNvSpPr>
          <p:nvPr/>
        </p:nvSpPr>
        <p:spPr>
          <a:xfrm xmlns:a="http://schemas.openxmlformats.org/drawingml/2006/main">
            <a:off x="4819650" y="4842510"/>
            <a:ext cx="6419850" cy="624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Bei grobem Fehler oder qualifiziertem Befunderhebungsfehler kann sich die Kausalitätsbeweislast verschieben.</a:t>
            </a:r>
          </a:p>
        </p:txBody>
      </p:sp>
      <p:sp>
        <p:nvSpPr>
          <p:cNvPr id="24" name="">
            <a:extLst xmlns:a="http://schemas.openxmlformats.org/drawingml/2006/main">
              <a:ext uri="{FF2B5EF4-FFF2-40B4-BE49-F238E27FC236}">
                <a16:creationId xmlns:a16="http://schemas.microsoft.com/office/drawing/2014/main" id="{6991F47C-7C6E-4124-9FB6-1FE895007E95}"/>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5" name="">
            <a:extLst xmlns:a="http://schemas.openxmlformats.org/drawingml/2006/main">
              <a:ext uri="{FF2B5EF4-FFF2-40B4-BE49-F238E27FC236}">
                <a16:creationId xmlns:a16="http://schemas.microsoft.com/office/drawing/2014/main" id="{29A0D2FF-AD83-495D-9D35-0DE6F0B49781}"/>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Immer zuerst den passenden Absatz identifizieren; die Rechtsfolgen sind nicht austauschbar.</a:t>
            </a:r>
          </a:p>
        </p:txBody>
      </p:sp>
    </p:spTree>
    <p:extLst>
      <p:ext uri="{BB962C8B-B14F-4D97-AF65-F5344CB8AC3E}">
        <p14:creationId xmlns:p14="http://schemas.microsoft.com/office/powerpoint/2010/main" val="43637646"/>
      </p:ext>
    </p:extLst>
  </p:cSld>
</p:sld>
</file>

<file path=ppt/slides/slide90.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Hypothetische Einwilligung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98CCE09D-5BD0-44D1-BB2C-C1E951079E67}"/>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Kann die Behandlungsseite die ordnungsgemäße Aufklärung nicht beweisen, kann sie einwenden, die Person hätte auch bei richtiger Aufklärung eingewilligt.</a:t>
            </a:r>
          </a:p>
        </p:txBody>
      </p:sp>
      <p:sp>
        <p:nvSpPr>
          <p:cNvPr id="5" name="">
            <a:extLst xmlns:a="http://schemas.openxmlformats.org/drawingml/2006/main">
              <a:ext uri="{FF2B5EF4-FFF2-40B4-BE49-F238E27FC236}">
                <a16:creationId xmlns:a16="http://schemas.microsoft.com/office/drawing/2014/main" id="{B442B81A-E7DB-4857-8D79-4F6C9574ECD2}"/>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4931573A-7EB3-46C3-9C91-D101F8DEDBCC}"/>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A3BA3694-0232-48B9-8457-18D7101BCB64}"/>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Konkrete Person</a:t>
            </a:r>
          </a:p>
        </p:txBody>
      </p:sp>
      <p:sp>
        <p:nvSpPr>
          <p:cNvPr id="8" name="">
            <a:extLst xmlns:a="http://schemas.openxmlformats.org/drawingml/2006/main">
              <a:ext uri="{FF2B5EF4-FFF2-40B4-BE49-F238E27FC236}">
                <a16:creationId xmlns:a16="http://schemas.microsoft.com/office/drawing/2014/main" id="{8C2B2336-88BE-4373-ACF5-50D8689E7DA0}"/>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Es geht nicht darum, was ein vernünftiger Durchschnittspatient getan hätte, sondern um die plausible Entscheidung der konkreten Person.</a:t>
            </a:r>
          </a:p>
        </p:txBody>
      </p:sp>
      <p:sp>
        <p:nvSpPr>
          <p:cNvPr id="9" name="">
            <a:extLst xmlns:a="http://schemas.openxmlformats.org/drawingml/2006/main">
              <a:ext uri="{FF2B5EF4-FFF2-40B4-BE49-F238E27FC236}">
                <a16:creationId xmlns:a16="http://schemas.microsoft.com/office/drawing/2014/main" id="{8C88648B-A105-4F3A-BD91-E4AC4C8C6AA1}"/>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1FBBDF37-0006-44A9-AE1A-B0B5A9748E35}"/>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4CDD1456-C4AB-45A0-8E8D-9078B02B942A}"/>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Entscheidungskonflikt</a:t>
            </a:r>
          </a:p>
        </p:txBody>
      </p:sp>
      <p:sp>
        <p:nvSpPr>
          <p:cNvPr id="12" name="">
            <a:extLst xmlns:a="http://schemas.openxmlformats.org/drawingml/2006/main">
              <a:ext uri="{FF2B5EF4-FFF2-40B4-BE49-F238E27FC236}">
                <a16:creationId xmlns:a16="http://schemas.microsoft.com/office/drawing/2014/main" id="{DB014805-DD70-4586-B63A-43F24F6B8A8E}"/>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Die Patientenseite muss nachvollziehbar machen, dass sie bei richtiger Aufklärung ernsthaft vor einer Entscheidung gestanden hätte.</a:t>
            </a:r>
          </a:p>
        </p:txBody>
      </p:sp>
      <p:sp>
        <p:nvSpPr>
          <p:cNvPr id="13" name="">
            <a:extLst xmlns:a="http://schemas.openxmlformats.org/drawingml/2006/main">
              <a:ext uri="{FF2B5EF4-FFF2-40B4-BE49-F238E27FC236}">
                <a16:creationId xmlns:a16="http://schemas.microsoft.com/office/drawing/2014/main" id="{69BEFCCC-4E12-4835-9B22-00C9844C8A95}"/>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3CE9CD2E-20BC-414A-B3F5-FDC532D89CEC}"/>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7365F402-B0C6-41DF-8336-5C09CEDD3D0E}"/>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Keine sichere Ablehnung nötig</a:t>
            </a:r>
          </a:p>
        </p:txBody>
      </p:sp>
      <p:sp>
        <p:nvSpPr>
          <p:cNvPr id="16" name="">
            <a:extLst xmlns:a="http://schemas.openxmlformats.org/drawingml/2006/main">
              <a:ext uri="{FF2B5EF4-FFF2-40B4-BE49-F238E27FC236}">
                <a16:creationId xmlns:a16="http://schemas.microsoft.com/office/drawing/2014/main" id="{E00263A2-F4BD-45DD-A67C-A0427B3268FB}"/>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Es muss nicht bewiesen werden, dass die Einwilligung definitiv verweigert worden wäre.</a:t>
            </a:r>
          </a:p>
        </p:txBody>
      </p:sp>
      <p:sp>
        <p:nvSpPr>
          <p:cNvPr id="17" name="">
            <a:extLst xmlns:a="http://schemas.openxmlformats.org/drawingml/2006/main">
              <a:ext uri="{FF2B5EF4-FFF2-40B4-BE49-F238E27FC236}">
                <a16:creationId xmlns:a16="http://schemas.microsoft.com/office/drawing/2014/main" id="{CBC82406-7937-42D2-9C2A-7BDFD95FBC16}"/>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E6C41070-9B51-4951-AB13-B4E3EB1DF9CF}"/>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88626A77-B776-4FD6-87F4-5CAAAEC9B438}"/>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Beweiswürdigung</a:t>
            </a:r>
          </a:p>
        </p:txBody>
      </p:sp>
      <p:sp>
        <p:nvSpPr>
          <p:cNvPr id="20" name="">
            <a:extLst xmlns:a="http://schemas.openxmlformats.org/drawingml/2006/main">
              <a:ext uri="{FF2B5EF4-FFF2-40B4-BE49-F238E27FC236}">
                <a16:creationId xmlns:a16="http://schemas.microsoft.com/office/drawing/2014/main" id="{BA8464DF-36D7-4D15-9F8D-D7FB4C4F869B}"/>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Lebenssituation, Risikoeinstellung, Alternativen und zeitliche Dringlichkeit werden gewürdigt.</a:t>
            </a:r>
          </a:p>
        </p:txBody>
      </p:sp>
      <p:sp>
        <p:nvSpPr>
          <p:cNvPr id="21" name="">
            <a:extLst xmlns:a="http://schemas.openxmlformats.org/drawingml/2006/main">
              <a:ext uri="{FF2B5EF4-FFF2-40B4-BE49-F238E27FC236}">
                <a16:creationId xmlns:a16="http://schemas.microsoft.com/office/drawing/2014/main" id="{5AA47774-3D8C-4C86-AA35-1AC8A8353398}"/>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16F1A952-9950-4FCA-A1C6-BDC3C1115D8F}"/>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Hypothetische Einwilligung ist eine konkrete Beweisfrage, kein pauschaler Rettungssatz.</a:t>
            </a:r>
          </a:p>
        </p:txBody>
      </p:sp>
    </p:spTree>
    <p:extLst>
      <p:ext uri="{BB962C8B-B14F-4D97-AF65-F5344CB8AC3E}">
        <p14:creationId xmlns:p14="http://schemas.microsoft.com/office/powerpoint/2010/main" val="43637646"/>
      </p:ext>
    </p:extLst>
  </p:cSld>
</p:sld>
</file>

<file path=ppt/slides/slide91.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Aufklärungsfall: seltenes, schweres Risiko</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DURCHGEPRÜFTER FALL</a:t>
            </a:r>
            <a:endParaRPr/>
          </a:p>
        </p:txBody>
      </p:sp>
      <p:sp>
        <p:nvSpPr>
          <p:cNvPr id="4" name="">
            <a:extLst xmlns:a="http://schemas.openxmlformats.org/drawingml/2006/main">
              <a:ext uri="{FF2B5EF4-FFF2-40B4-BE49-F238E27FC236}">
                <a16:creationId xmlns:a16="http://schemas.microsoft.com/office/drawing/2014/main" id="{A9FF99A2-19B6-4F24-9DCB-AD350EE16D1D}"/>
              </a:ext>
            </a:extLst>
          </p:cNvPr>
          <p:cNvSpPr>
            <a:spLocks xmlns:a="http://schemas.openxmlformats.org/drawingml/2006/main" noGrp="1"/>
          </p:cNvSpPr>
          <p:nvPr/>
        </p:nvSpPr>
        <p:spPr>
          <a:xfrm xmlns:a="http://schemas.openxmlformats.org/drawingml/2006/main">
            <a:off x="1809750" y="1924050"/>
            <a:ext cx="9525000" cy="838200"/>
          </a:xfrm>
          <a:prstGeom xmlns:a="http://schemas.openxmlformats.org/drawingml/2006/main" prst="roundRect">
            <a:avLst>
              <a:gd name="adj" fmla="val 9091"/>
            </a:avLst>
          </a:prstGeom>
          <a:solidFill xmlns:a="http://schemas.openxmlformats.org/drawingml/2006/main">
            <a:srgbClr val="EAF6FB"/>
          </a:solidFill>
          <a:ln xmlns:a="http://schemas.openxmlformats.org/drawingml/2006/main" w="9525">
            <a:solidFill>
              <a:srgbClr val="00B2BB"/>
            </a:solidFill>
            <a:prstDash val="solid"/>
          </a:ln>
        </p:spPr>
      </p:sp>
      <p:sp>
        <p:nvSpPr>
          <p:cNvPr id="5" name="">
            <a:extLst xmlns:a="http://schemas.openxmlformats.org/drawingml/2006/main">
              <a:ext uri="{FF2B5EF4-FFF2-40B4-BE49-F238E27FC236}">
                <a16:creationId xmlns:a16="http://schemas.microsoft.com/office/drawing/2014/main" id="{1CB80418-5FC9-4FB2-8D2B-EA150634B8CB}"/>
              </a:ext>
            </a:extLst>
          </p:cNvPr>
          <p:cNvSpPr>
            <a:spLocks xmlns:a="http://schemas.openxmlformats.org/drawingml/2006/main" noGrp="1"/>
          </p:cNvSpPr>
          <p:nvPr/>
        </p:nvSpPr>
        <p:spPr>
          <a:xfrm xmlns:a="http://schemas.openxmlformats.org/drawingml/2006/main">
            <a:off x="1981200" y="2000250"/>
            <a:ext cx="9182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55">
                <a:solidFill>
                  <a:srgbClr val="15232B"/>
                </a:solidFill>
              </a:defRPr>
            </a:pPr>
            <a:r>
              <a:rPr sz="1155">
                <a:solidFill>
                  <a:srgbClr val="15232B"/>
                </a:solidFill>
              </a:rPr>
              <a:t>Vor einer elektiven Operation wird ein sehr seltenes, aber die Lebensführung gravierend beeinträchtigendes Dauerrisiko nicht erwähnt. Das Risiko verwirklicht sich.</a:t>
            </a:r>
          </a:p>
        </p:txBody>
      </p:sp>
      <p:sp>
        <p:nvSpPr>
          <p:cNvPr id="6" name="">
            <a:extLst xmlns:a="http://schemas.openxmlformats.org/drawingml/2006/main">
              <a:ext uri="{FF2B5EF4-FFF2-40B4-BE49-F238E27FC236}">
                <a16:creationId xmlns:a16="http://schemas.microsoft.com/office/drawing/2014/main" id="{DEC01F57-B54C-4337-A44A-B1299EB9F713}"/>
              </a:ext>
            </a:extLst>
          </p:cNvPr>
          <p:cNvSpPr>
            <a:spLocks xmlns:a="http://schemas.openxmlformats.org/drawingml/2006/main" noGrp="1"/>
          </p:cNvSpPr>
          <p:nvPr/>
        </p:nvSpPr>
        <p:spPr>
          <a:xfrm xmlns:a="http://schemas.openxmlformats.org/drawingml/2006/main">
            <a:off x="1809750" y="2933700"/>
            <a:ext cx="381000" cy="381000"/>
          </a:xfrm>
          <a:prstGeom xmlns:a="http://schemas.openxmlformats.org/drawingml/2006/main" prst="roundRect">
            <a:avLst>
              <a:gd name="adj" fmla="val 20000"/>
            </a:avLst>
          </a:prstGeom>
          <a:solidFill xmlns:a="http://schemas.openxmlformats.org/drawingml/2006/main">
            <a:srgbClr val="00B2BB"/>
          </a:solidFill>
          <a:ln xmlns:a="http://schemas.openxmlformats.org/drawingml/2006/main" w="0">
            <a:solidFill>
              <a:srgbClr val="00B2BB"/>
            </a:solidFill>
            <a:prstDash val="solid"/>
          </a:ln>
        </p:spPr>
      </p:sp>
      <p:sp>
        <p:nvSpPr>
          <p:cNvPr id="7" name="">
            <a:extLst xmlns:a="http://schemas.openxmlformats.org/drawingml/2006/main">
              <a:ext uri="{FF2B5EF4-FFF2-40B4-BE49-F238E27FC236}">
                <a16:creationId xmlns:a16="http://schemas.microsoft.com/office/drawing/2014/main" id="{1D4987C8-2324-4D2D-924C-F38D60258A25}"/>
              </a:ext>
            </a:extLst>
          </p:cNvPr>
          <p:cNvSpPr>
            <a:spLocks xmlns:a="http://schemas.openxmlformats.org/drawingml/2006/main" noGrp="1"/>
          </p:cNvSpPr>
          <p:nvPr/>
        </p:nvSpPr>
        <p:spPr>
          <a:xfrm xmlns:a="http://schemas.openxmlformats.org/drawingml/2006/main">
            <a:off x="1809750" y="293370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8" name="">
            <a:extLst xmlns:a="http://schemas.openxmlformats.org/drawingml/2006/main">
              <a:ext uri="{FF2B5EF4-FFF2-40B4-BE49-F238E27FC236}">
                <a16:creationId xmlns:a16="http://schemas.microsoft.com/office/drawing/2014/main" id="{B1D745C3-5485-4FBB-A2F1-988669B32D09}"/>
              </a:ext>
            </a:extLst>
          </p:cNvPr>
          <p:cNvSpPr>
            <a:spLocks xmlns:a="http://schemas.openxmlformats.org/drawingml/2006/main" noGrp="1"/>
          </p:cNvSpPr>
          <p:nvPr/>
        </p:nvSpPr>
        <p:spPr>
          <a:xfrm xmlns:a="http://schemas.openxmlformats.org/drawingml/2006/main">
            <a:off x="2343150" y="2914650"/>
            <a:ext cx="18097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Anspruchsgrundlage</a:t>
            </a:r>
          </a:p>
        </p:txBody>
      </p:sp>
      <p:sp>
        <p:nvSpPr>
          <p:cNvPr id="9" name="">
            <a:extLst xmlns:a="http://schemas.openxmlformats.org/drawingml/2006/main">
              <a:ext uri="{FF2B5EF4-FFF2-40B4-BE49-F238E27FC236}">
                <a16:creationId xmlns:a16="http://schemas.microsoft.com/office/drawing/2014/main" id="{9D432DA8-15A9-40C7-81A1-AFA9D367356F}"/>
              </a:ext>
            </a:extLst>
          </p:cNvPr>
          <p:cNvSpPr>
            <a:spLocks xmlns:a="http://schemas.openxmlformats.org/drawingml/2006/main" noGrp="1"/>
          </p:cNvSpPr>
          <p:nvPr/>
        </p:nvSpPr>
        <p:spPr>
          <a:xfrm xmlns:a="http://schemas.openxmlformats.org/drawingml/2006/main">
            <a:off x="4286250" y="2914650"/>
            <a:ext cx="69532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35">
                <a:solidFill>
                  <a:srgbClr val="15232B"/>
                </a:solidFill>
              </a:defRPr>
            </a:pPr>
            <a:r>
              <a:rPr sz="1035">
                <a:solidFill>
                  <a:srgbClr val="15232B"/>
                </a:solidFill>
              </a:rPr>
              <a:t>Vertraglich wird § 280 Abs. 1 BGB in Verbindung mit §§ 630d, 630e BGB geprüft; deliktisch kommt § 823 Abs. 1 BGB in Betracht.</a:t>
            </a:r>
          </a:p>
        </p:txBody>
      </p:sp>
      <p:sp>
        <p:nvSpPr>
          <p:cNvPr id="10" name="">
            <a:extLst xmlns:a="http://schemas.openxmlformats.org/drawingml/2006/main">
              <a:ext uri="{FF2B5EF4-FFF2-40B4-BE49-F238E27FC236}">
                <a16:creationId xmlns:a16="http://schemas.microsoft.com/office/drawing/2014/main" id="{F0717600-F1A8-4AE6-8386-D64F362319E8}"/>
              </a:ext>
            </a:extLst>
          </p:cNvPr>
          <p:cNvSpPr>
            <a:spLocks xmlns:a="http://schemas.openxmlformats.org/drawingml/2006/main" noGrp="1"/>
          </p:cNvSpPr>
          <p:nvPr/>
        </p:nvSpPr>
        <p:spPr>
          <a:xfrm xmlns:a="http://schemas.openxmlformats.org/drawingml/2006/main">
            <a:off x="1809750" y="3394710"/>
            <a:ext cx="381000" cy="381000"/>
          </a:xfrm>
          <a:prstGeom xmlns:a="http://schemas.openxmlformats.org/drawingml/2006/main" prst="roundRect">
            <a:avLst>
              <a:gd name="adj" fmla="val 20000"/>
            </a:avLst>
          </a:prstGeom>
          <a:solidFill xmlns:a="http://schemas.openxmlformats.org/drawingml/2006/main">
            <a:srgbClr val="003F6B"/>
          </a:solidFill>
          <a:ln xmlns:a="http://schemas.openxmlformats.org/drawingml/2006/main" w="0">
            <a:solidFill>
              <a:srgbClr val="003F6B"/>
            </a:solidFill>
            <a:prstDash val="solid"/>
          </a:ln>
        </p:spPr>
      </p:sp>
      <p:sp>
        <p:nvSpPr>
          <p:cNvPr id="11" name="">
            <a:extLst xmlns:a="http://schemas.openxmlformats.org/drawingml/2006/main">
              <a:ext uri="{FF2B5EF4-FFF2-40B4-BE49-F238E27FC236}">
                <a16:creationId xmlns:a16="http://schemas.microsoft.com/office/drawing/2014/main" id="{A14ED134-F535-446D-A88B-FEC739776967}"/>
              </a:ext>
            </a:extLst>
          </p:cNvPr>
          <p:cNvSpPr>
            <a:spLocks xmlns:a="http://schemas.openxmlformats.org/drawingml/2006/main" noGrp="1"/>
          </p:cNvSpPr>
          <p:nvPr/>
        </p:nvSpPr>
        <p:spPr>
          <a:xfrm xmlns:a="http://schemas.openxmlformats.org/drawingml/2006/main">
            <a:off x="1809750" y="339471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2" name="">
            <a:extLst xmlns:a="http://schemas.openxmlformats.org/drawingml/2006/main">
              <a:ext uri="{FF2B5EF4-FFF2-40B4-BE49-F238E27FC236}">
                <a16:creationId xmlns:a16="http://schemas.microsoft.com/office/drawing/2014/main" id="{25A06126-B59F-45E0-894E-F04EC7BA1C1A}"/>
              </a:ext>
            </a:extLst>
          </p:cNvPr>
          <p:cNvSpPr>
            <a:spLocks xmlns:a="http://schemas.openxmlformats.org/drawingml/2006/main" noGrp="1"/>
          </p:cNvSpPr>
          <p:nvPr/>
        </p:nvSpPr>
        <p:spPr>
          <a:xfrm xmlns:a="http://schemas.openxmlformats.org/drawingml/2006/main">
            <a:off x="2343150" y="3375660"/>
            <a:ext cx="18097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Einwilligung</a:t>
            </a:r>
          </a:p>
        </p:txBody>
      </p:sp>
      <p:sp>
        <p:nvSpPr>
          <p:cNvPr id="13" name="">
            <a:extLst xmlns:a="http://schemas.openxmlformats.org/drawingml/2006/main">
              <a:ext uri="{FF2B5EF4-FFF2-40B4-BE49-F238E27FC236}">
                <a16:creationId xmlns:a16="http://schemas.microsoft.com/office/drawing/2014/main" id="{A1D39499-6E0C-4296-8F6C-E6596D28AE43}"/>
              </a:ext>
            </a:extLst>
          </p:cNvPr>
          <p:cNvSpPr>
            <a:spLocks xmlns:a="http://schemas.openxmlformats.org/drawingml/2006/main" noGrp="1"/>
          </p:cNvSpPr>
          <p:nvPr/>
        </p:nvSpPr>
        <p:spPr>
          <a:xfrm xmlns:a="http://schemas.openxmlformats.org/drawingml/2006/main">
            <a:off x="4286250" y="3375660"/>
            <a:ext cx="69532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35">
                <a:solidFill>
                  <a:srgbClr val="15232B"/>
                </a:solidFill>
              </a:defRPr>
            </a:pPr>
            <a:r>
              <a:rPr sz="1035">
                <a:solidFill>
                  <a:srgbClr val="15232B"/>
                </a:solidFill>
              </a:rPr>
              <a:t>Die Unterschrift belegt nicht allein ein ausreichendes Aufklärungsgespräch. Die Behandlungsseite trägt hierfür nach § 630h Abs. 2 BGB die Beweislast.</a:t>
            </a:r>
          </a:p>
        </p:txBody>
      </p:sp>
      <p:sp>
        <p:nvSpPr>
          <p:cNvPr id="14" name="">
            <a:extLst xmlns:a="http://schemas.openxmlformats.org/drawingml/2006/main">
              <a:ext uri="{FF2B5EF4-FFF2-40B4-BE49-F238E27FC236}">
                <a16:creationId xmlns:a16="http://schemas.microsoft.com/office/drawing/2014/main" id="{AAC32BFE-156E-48E4-B072-A8B08A490AAF}"/>
              </a:ext>
            </a:extLst>
          </p:cNvPr>
          <p:cNvSpPr>
            <a:spLocks xmlns:a="http://schemas.openxmlformats.org/drawingml/2006/main" noGrp="1"/>
          </p:cNvSpPr>
          <p:nvPr/>
        </p:nvSpPr>
        <p:spPr>
          <a:xfrm xmlns:a="http://schemas.openxmlformats.org/drawingml/2006/main">
            <a:off x="1809750" y="3855720"/>
            <a:ext cx="381000" cy="381000"/>
          </a:xfrm>
          <a:prstGeom xmlns:a="http://schemas.openxmlformats.org/drawingml/2006/main" prst="roundRect">
            <a:avLst>
              <a:gd name="adj" fmla="val 20000"/>
            </a:avLst>
          </a:prstGeom>
          <a:solidFill xmlns:a="http://schemas.openxmlformats.org/drawingml/2006/main">
            <a:srgbClr val="00B2BB"/>
          </a:solidFill>
          <a:ln xmlns:a="http://schemas.openxmlformats.org/drawingml/2006/main" w="0">
            <a:solidFill>
              <a:srgbClr val="00B2BB"/>
            </a:solidFill>
            <a:prstDash val="solid"/>
          </a:ln>
        </p:spPr>
      </p:sp>
      <p:sp>
        <p:nvSpPr>
          <p:cNvPr id="15" name="">
            <a:extLst xmlns:a="http://schemas.openxmlformats.org/drawingml/2006/main">
              <a:ext uri="{FF2B5EF4-FFF2-40B4-BE49-F238E27FC236}">
                <a16:creationId xmlns:a16="http://schemas.microsoft.com/office/drawing/2014/main" id="{1C488F84-88D7-47A9-81B3-8AD414D5C096}"/>
              </a:ext>
            </a:extLst>
          </p:cNvPr>
          <p:cNvSpPr>
            <a:spLocks xmlns:a="http://schemas.openxmlformats.org/drawingml/2006/main" noGrp="1"/>
          </p:cNvSpPr>
          <p:nvPr/>
        </p:nvSpPr>
        <p:spPr>
          <a:xfrm xmlns:a="http://schemas.openxmlformats.org/drawingml/2006/main">
            <a:off x="1809750" y="385572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6" name="">
            <a:extLst xmlns:a="http://schemas.openxmlformats.org/drawingml/2006/main">
              <a:ext uri="{FF2B5EF4-FFF2-40B4-BE49-F238E27FC236}">
                <a16:creationId xmlns:a16="http://schemas.microsoft.com/office/drawing/2014/main" id="{9F870B7D-E402-40DB-9105-E4BD3E8DB945}"/>
              </a:ext>
            </a:extLst>
          </p:cNvPr>
          <p:cNvSpPr>
            <a:spLocks xmlns:a="http://schemas.openxmlformats.org/drawingml/2006/main" noGrp="1"/>
          </p:cNvSpPr>
          <p:nvPr/>
        </p:nvSpPr>
        <p:spPr>
          <a:xfrm xmlns:a="http://schemas.openxmlformats.org/drawingml/2006/main">
            <a:off x="2343150" y="3836670"/>
            <a:ext cx="18097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Relevanz des Risikos</a:t>
            </a:r>
          </a:p>
        </p:txBody>
      </p:sp>
      <p:sp>
        <p:nvSpPr>
          <p:cNvPr id="17" name="">
            <a:extLst xmlns:a="http://schemas.openxmlformats.org/drawingml/2006/main">
              <a:ext uri="{FF2B5EF4-FFF2-40B4-BE49-F238E27FC236}">
                <a16:creationId xmlns:a16="http://schemas.microsoft.com/office/drawing/2014/main" id="{54B62479-3E03-4B98-B74A-7E05FA8401BE}"/>
              </a:ext>
            </a:extLst>
          </p:cNvPr>
          <p:cNvSpPr>
            <a:spLocks xmlns:a="http://schemas.openxmlformats.org/drawingml/2006/main" noGrp="1"/>
          </p:cNvSpPr>
          <p:nvPr/>
        </p:nvSpPr>
        <p:spPr>
          <a:xfrm xmlns:a="http://schemas.openxmlformats.org/drawingml/2006/main">
            <a:off x="4286250" y="3836670"/>
            <a:ext cx="69532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35">
                <a:solidFill>
                  <a:srgbClr val="15232B"/>
                </a:solidFill>
              </a:defRPr>
            </a:pPr>
            <a:r>
              <a:rPr sz="1035">
                <a:solidFill>
                  <a:srgbClr val="15232B"/>
                </a:solidFill>
              </a:rPr>
              <a:t>Schwere und spezifische Bedeutung können trotz Seltenheit eine Aufklärung erfordern.</a:t>
            </a:r>
          </a:p>
        </p:txBody>
      </p:sp>
      <p:sp>
        <p:nvSpPr>
          <p:cNvPr id="18" name="">
            <a:extLst xmlns:a="http://schemas.openxmlformats.org/drawingml/2006/main">
              <a:ext uri="{FF2B5EF4-FFF2-40B4-BE49-F238E27FC236}">
                <a16:creationId xmlns:a16="http://schemas.microsoft.com/office/drawing/2014/main" id="{841D8663-BEF1-46EB-AA46-4B3D12996A40}"/>
              </a:ext>
            </a:extLst>
          </p:cNvPr>
          <p:cNvSpPr>
            <a:spLocks xmlns:a="http://schemas.openxmlformats.org/drawingml/2006/main" noGrp="1"/>
          </p:cNvSpPr>
          <p:nvPr/>
        </p:nvSpPr>
        <p:spPr>
          <a:xfrm xmlns:a="http://schemas.openxmlformats.org/drawingml/2006/main">
            <a:off x="1809750" y="4316730"/>
            <a:ext cx="381000" cy="381000"/>
          </a:xfrm>
          <a:prstGeom xmlns:a="http://schemas.openxmlformats.org/drawingml/2006/main" prst="roundRect">
            <a:avLst>
              <a:gd name="adj" fmla="val 20000"/>
            </a:avLst>
          </a:prstGeom>
          <a:solidFill xmlns:a="http://schemas.openxmlformats.org/drawingml/2006/main">
            <a:srgbClr val="003F6B"/>
          </a:solidFill>
          <a:ln xmlns:a="http://schemas.openxmlformats.org/drawingml/2006/main" w="0">
            <a:solidFill>
              <a:srgbClr val="003F6B"/>
            </a:solidFill>
            <a:prstDash val="solid"/>
          </a:ln>
        </p:spPr>
      </p:sp>
      <p:sp>
        <p:nvSpPr>
          <p:cNvPr id="19" name="">
            <a:extLst xmlns:a="http://schemas.openxmlformats.org/drawingml/2006/main">
              <a:ext uri="{FF2B5EF4-FFF2-40B4-BE49-F238E27FC236}">
                <a16:creationId xmlns:a16="http://schemas.microsoft.com/office/drawing/2014/main" id="{CD2850D3-73B3-4D64-B203-435CA9A57E96}"/>
              </a:ext>
            </a:extLst>
          </p:cNvPr>
          <p:cNvSpPr>
            <a:spLocks xmlns:a="http://schemas.openxmlformats.org/drawingml/2006/main" noGrp="1"/>
          </p:cNvSpPr>
          <p:nvPr/>
        </p:nvSpPr>
        <p:spPr>
          <a:xfrm xmlns:a="http://schemas.openxmlformats.org/drawingml/2006/main">
            <a:off x="1809750" y="431673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20" name="">
            <a:extLst xmlns:a="http://schemas.openxmlformats.org/drawingml/2006/main">
              <a:ext uri="{FF2B5EF4-FFF2-40B4-BE49-F238E27FC236}">
                <a16:creationId xmlns:a16="http://schemas.microsoft.com/office/drawing/2014/main" id="{0C58B6E9-51C8-428D-9ABA-14DD804AE7B9}"/>
              </a:ext>
            </a:extLst>
          </p:cNvPr>
          <p:cNvSpPr>
            <a:spLocks xmlns:a="http://schemas.openxmlformats.org/drawingml/2006/main" noGrp="1"/>
          </p:cNvSpPr>
          <p:nvPr/>
        </p:nvSpPr>
        <p:spPr>
          <a:xfrm xmlns:a="http://schemas.openxmlformats.org/drawingml/2006/main">
            <a:off x="2343150" y="4297680"/>
            <a:ext cx="18097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Hypothetische Einwilligung</a:t>
            </a:r>
          </a:p>
        </p:txBody>
      </p:sp>
      <p:sp>
        <p:nvSpPr>
          <p:cNvPr id="21" name="">
            <a:extLst xmlns:a="http://schemas.openxmlformats.org/drawingml/2006/main">
              <a:ext uri="{FF2B5EF4-FFF2-40B4-BE49-F238E27FC236}">
                <a16:creationId xmlns:a16="http://schemas.microsoft.com/office/drawing/2014/main" id="{77A25F17-3705-4CE7-A90A-A2F4FB461C88}"/>
              </a:ext>
            </a:extLst>
          </p:cNvPr>
          <p:cNvSpPr>
            <a:spLocks xmlns:a="http://schemas.openxmlformats.org/drawingml/2006/main" noGrp="1"/>
          </p:cNvSpPr>
          <p:nvPr/>
        </p:nvSpPr>
        <p:spPr>
          <a:xfrm xmlns:a="http://schemas.openxmlformats.org/drawingml/2006/main">
            <a:off x="4286250" y="4297680"/>
            <a:ext cx="69532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35">
                <a:solidFill>
                  <a:srgbClr val="15232B"/>
                </a:solidFill>
              </a:defRPr>
            </a:pPr>
            <a:r>
              <a:rPr sz="1035">
                <a:solidFill>
                  <a:srgbClr val="15232B"/>
                </a:solidFill>
              </a:rPr>
              <a:t>Die konkrete Patientin legt plausibel dar, weshalb sie bei Kenntnis des Risikos eine Alternative erwogen hätte.</a:t>
            </a:r>
          </a:p>
        </p:txBody>
      </p:sp>
      <p:sp>
        <p:nvSpPr>
          <p:cNvPr id="22" name="">
            <a:extLst xmlns:a="http://schemas.openxmlformats.org/drawingml/2006/main">
              <a:ext uri="{FF2B5EF4-FFF2-40B4-BE49-F238E27FC236}">
                <a16:creationId xmlns:a16="http://schemas.microsoft.com/office/drawing/2014/main" id="{B376B2B0-76F8-4D13-ABA0-F866E680D848}"/>
              </a:ext>
            </a:extLst>
          </p:cNvPr>
          <p:cNvSpPr>
            <a:spLocks xmlns:a="http://schemas.openxmlformats.org/drawingml/2006/main" noGrp="1"/>
          </p:cNvSpPr>
          <p:nvPr/>
        </p:nvSpPr>
        <p:spPr>
          <a:xfrm xmlns:a="http://schemas.openxmlformats.org/drawingml/2006/main">
            <a:off x="1809750" y="4777740"/>
            <a:ext cx="381000" cy="381000"/>
          </a:xfrm>
          <a:prstGeom xmlns:a="http://schemas.openxmlformats.org/drawingml/2006/main" prst="roundRect">
            <a:avLst>
              <a:gd name="adj" fmla="val 20000"/>
            </a:avLst>
          </a:prstGeom>
          <a:solidFill xmlns:a="http://schemas.openxmlformats.org/drawingml/2006/main">
            <a:srgbClr val="00B2BB"/>
          </a:solidFill>
          <a:ln xmlns:a="http://schemas.openxmlformats.org/drawingml/2006/main" w="0">
            <a:solidFill>
              <a:srgbClr val="00B2BB"/>
            </a:solidFill>
            <a:prstDash val="solid"/>
          </a:ln>
        </p:spPr>
      </p:sp>
      <p:sp>
        <p:nvSpPr>
          <p:cNvPr id="23" name="">
            <a:extLst xmlns:a="http://schemas.openxmlformats.org/drawingml/2006/main">
              <a:ext uri="{FF2B5EF4-FFF2-40B4-BE49-F238E27FC236}">
                <a16:creationId xmlns:a16="http://schemas.microsoft.com/office/drawing/2014/main" id="{A4FDA896-8C43-4B75-B1D9-079C9C7F7599}"/>
              </a:ext>
            </a:extLst>
          </p:cNvPr>
          <p:cNvSpPr>
            <a:spLocks xmlns:a="http://schemas.openxmlformats.org/drawingml/2006/main" noGrp="1"/>
          </p:cNvSpPr>
          <p:nvPr/>
        </p:nvSpPr>
        <p:spPr>
          <a:xfrm xmlns:a="http://schemas.openxmlformats.org/drawingml/2006/main">
            <a:off x="1809750" y="477774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5</a:t>
            </a:r>
          </a:p>
        </p:txBody>
      </p:sp>
      <p:sp>
        <p:nvSpPr>
          <p:cNvPr id="24" name="">
            <a:extLst xmlns:a="http://schemas.openxmlformats.org/drawingml/2006/main">
              <a:ext uri="{FF2B5EF4-FFF2-40B4-BE49-F238E27FC236}">
                <a16:creationId xmlns:a16="http://schemas.microsoft.com/office/drawing/2014/main" id="{22D0E26D-D483-4154-BA98-36AD56CF47C9}"/>
              </a:ext>
            </a:extLst>
          </p:cNvPr>
          <p:cNvSpPr>
            <a:spLocks xmlns:a="http://schemas.openxmlformats.org/drawingml/2006/main" noGrp="1"/>
          </p:cNvSpPr>
          <p:nvPr/>
        </p:nvSpPr>
        <p:spPr>
          <a:xfrm xmlns:a="http://schemas.openxmlformats.org/drawingml/2006/main">
            <a:off x="2343150" y="4758690"/>
            <a:ext cx="18097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Schaden</a:t>
            </a:r>
          </a:p>
        </p:txBody>
      </p:sp>
      <p:sp>
        <p:nvSpPr>
          <p:cNvPr id="25" name="">
            <a:extLst xmlns:a="http://schemas.openxmlformats.org/drawingml/2006/main">
              <a:ext uri="{FF2B5EF4-FFF2-40B4-BE49-F238E27FC236}">
                <a16:creationId xmlns:a16="http://schemas.microsoft.com/office/drawing/2014/main" id="{C948E600-4894-41CE-AF8E-BCDAFC9A6280}"/>
              </a:ext>
            </a:extLst>
          </p:cNvPr>
          <p:cNvSpPr>
            <a:spLocks xmlns:a="http://schemas.openxmlformats.org/drawingml/2006/main" noGrp="1"/>
          </p:cNvSpPr>
          <p:nvPr/>
        </p:nvSpPr>
        <p:spPr>
          <a:xfrm xmlns:a="http://schemas.openxmlformats.org/drawingml/2006/main">
            <a:off x="4286250" y="4758690"/>
            <a:ext cx="69532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35">
                <a:solidFill>
                  <a:srgbClr val="15232B"/>
                </a:solidFill>
              </a:defRPr>
            </a:pPr>
            <a:r>
              <a:rPr sz="1035">
                <a:solidFill>
                  <a:srgbClr val="15232B"/>
                </a:solidFill>
              </a:rPr>
              <a:t>Zu ersetzen sind nur Folgen, die dem rechtswidrigen Eingriff zurechenbar sind; Art und Höhe werden gesondert geprüft.</a:t>
            </a:r>
          </a:p>
        </p:txBody>
      </p:sp>
      <p:sp>
        <p:nvSpPr>
          <p:cNvPr id="26" name="">
            <a:extLst xmlns:a="http://schemas.openxmlformats.org/drawingml/2006/main">
              <a:ext uri="{FF2B5EF4-FFF2-40B4-BE49-F238E27FC236}">
                <a16:creationId xmlns:a16="http://schemas.microsoft.com/office/drawing/2014/main" id="{6E7C7863-679E-4129-BFA0-692D90CF7E05}"/>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20">
                <a:solidFill>
                  <a:srgbClr val="667680"/>
                </a:solidFill>
              </a:defRPr>
            </a:pPr>
            <a:r>
              <a:rPr sz="720">
                <a:solidFill>
                  <a:srgbClr val="667680"/>
                </a:solidFill>
              </a:rPr>
              <a:t>Lehrfall nach BGH, Urt. v. 13.06.2006 – VI ZR 323/04 (neue Behandlungsmethode und Aufklärung) · https://juris.bundesgerichtshof.de</a:t>
            </a:r>
          </a:p>
        </p:txBody>
      </p:sp>
      <p:sp>
        <p:nvSpPr>
          <p:cNvPr id="27" name="">
            <a:extLst xmlns:a="http://schemas.openxmlformats.org/drawingml/2006/main">
              <a:ext uri="{FF2B5EF4-FFF2-40B4-BE49-F238E27FC236}">
                <a16:creationId xmlns:a16="http://schemas.microsoft.com/office/drawing/2014/main" id="{0D2E25BC-5559-4127-A7DF-E497F12F3135}"/>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8" name="">
            <a:extLst xmlns:a="http://schemas.openxmlformats.org/drawingml/2006/main">
              <a:ext uri="{FF2B5EF4-FFF2-40B4-BE49-F238E27FC236}">
                <a16:creationId xmlns:a16="http://schemas.microsoft.com/office/drawing/2014/main" id="{5E6A6A8C-B5ED-45F6-A11B-28EAEA272D37}"/>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Aufklärungsfehler und Behandlungsfehler haben unterschiedliche Anknüpfungspunkte, können aber zum selben Schaden führen.</a:t>
            </a:r>
          </a:p>
        </p:txBody>
      </p:sp>
    </p:spTree>
    <p:extLst>
      <p:ext uri="{BB962C8B-B14F-4D97-AF65-F5344CB8AC3E}">
        <p14:creationId xmlns:p14="http://schemas.microsoft.com/office/powerpoint/2010/main" val="43637646"/>
      </p:ext>
    </p:extLst>
  </p:cSld>
</p:sld>
</file>

<file path=ppt/slides/slide92.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Vertragliche und deliktische Haftung nebeneinander</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55FE7034-7F96-4CD1-A7D2-D0BDCEDF4AFC}"/>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Ein Behandlungsgeschehen kann mehrere Anspruchsgrundlagen erfüllen. Sie werden getrennt geprüft und führen nicht zu doppeltem Schadensersatz.</a:t>
            </a:r>
          </a:p>
        </p:txBody>
      </p:sp>
      <p:sp>
        <p:nvSpPr>
          <p:cNvPr id="5" name="">
            <a:extLst xmlns:a="http://schemas.openxmlformats.org/drawingml/2006/main">
              <a:ext uri="{FF2B5EF4-FFF2-40B4-BE49-F238E27FC236}">
                <a16:creationId xmlns:a16="http://schemas.microsoft.com/office/drawing/2014/main" id="{FDE38296-9040-4010-BB42-194FBD721D32}"/>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D3424679-AB68-4DA0-9958-D60817556C81}"/>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A69DCC59-17E1-43A1-9001-63793C39E9E1}"/>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Vertrag</a:t>
            </a:r>
          </a:p>
        </p:txBody>
      </p:sp>
      <p:sp>
        <p:nvSpPr>
          <p:cNvPr id="8" name="">
            <a:extLst xmlns:a="http://schemas.openxmlformats.org/drawingml/2006/main">
              <a:ext uri="{FF2B5EF4-FFF2-40B4-BE49-F238E27FC236}">
                <a16:creationId xmlns:a16="http://schemas.microsoft.com/office/drawing/2014/main" id="{F3600043-A23D-4778-9AB7-8842DE71A7A7}"/>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 280 Abs. 1 BGB setzt ein Schuldverhältnis voraus und erfasst Pflichten aus dem Behandlungsvertrag.</a:t>
            </a:r>
          </a:p>
        </p:txBody>
      </p:sp>
      <p:sp>
        <p:nvSpPr>
          <p:cNvPr id="9" name="">
            <a:extLst xmlns:a="http://schemas.openxmlformats.org/drawingml/2006/main">
              <a:ext uri="{FF2B5EF4-FFF2-40B4-BE49-F238E27FC236}">
                <a16:creationId xmlns:a16="http://schemas.microsoft.com/office/drawing/2014/main" id="{67DCD9CE-ECBD-416E-A71A-BAF9D0801D73}"/>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71C99708-BB4E-4CB4-B6A3-FA52E2294DAA}"/>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AF2AEF43-285B-4A0C-88BC-56F47DF1E8EC}"/>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Delikt</a:t>
            </a:r>
          </a:p>
        </p:txBody>
      </p:sp>
      <p:sp>
        <p:nvSpPr>
          <p:cNvPr id="12" name="">
            <a:extLst xmlns:a="http://schemas.openxmlformats.org/drawingml/2006/main">
              <a:ext uri="{FF2B5EF4-FFF2-40B4-BE49-F238E27FC236}">
                <a16:creationId xmlns:a16="http://schemas.microsoft.com/office/drawing/2014/main" id="{EA319EBC-72BA-41C4-B6DA-8AF2F5F13196}"/>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 823 Abs. 1 BGB schützt insbesondere Leben, Körper, Gesundheit und Selbstbestimmung unabhängig vom Vertrag.</a:t>
            </a:r>
          </a:p>
        </p:txBody>
      </p:sp>
      <p:sp>
        <p:nvSpPr>
          <p:cNvPr id="13" name="">
            <a:extLst xmlns:a="http://schemas.openxmlformats.org/drawingml/2006/main">
              <a:ext uri="{FF2B5EF4-FFF2-40B4-BE49-F238E27FC236}">
                <a16:creationId xmlns:a16="http://schemas.microsoft.com/office/drawing/2014/main" id="{B8D67974-2A89-4A7F-93DA-9FEC1DC5D3CD}"/>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71583D51-64D1-468C-81BC-05F439FB4560}"/>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25088CA9-BC6B-456D-BDA4-AEAA290686F5}"/>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Haftende Personen</a:t>
            </a:r>
          </a:p>
        </p:txBody>
      </p:sp>
      <p:sp>
        <p:nvSpPr>
          <p:cNvPr id="16" name="">
            <a:extLst xmlns:a="http://schemas.openxmlformats.org/drawingml/2006/main">
              <a:ext uri="{FF2B5EF4-FFF2-40B4-BE49-F238E27FC236}">
                <a16:creationId xmlns:a16="http://schemas.microsoft.com/office/drawing/2014/main" id="{FF1CD4C1-48CA-4987-AEEF-9634FE0CBE5D}"/>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Vertragspartner kann der Träger sein; die handelnde Ärztin kann persönlich deliktisch haften. Zurechnungsnormen verbinden Organisation und Personal.</a:t>
            </a:r>
          </a:p>
        </p:txBody>
      </p:sp>
      <p:sp>
        <p:nvSpPr>
          <p:cNvPr id="17" name="">
            <a:extLst xmlns:a="http://schemas.openxmlformats.org/drawingml/2006/main">
              <a:ext uri="{FF2B5EF4-FFF2-40B4-BE49-F238E27FC236}">
                <a16:creationId xmlns:a16="http://schemas.microsoft.com/office/drawing/2014/main" id="{1B07D0BF-735A-4336-9920-62DFD72CE972}"/>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9F4546ED-E9BC-44E0-8418-3381D6ECE29F}"/>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529479D3-9B7E-495F-A407-F2C6B8191495}"/>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Gemeinsame Fragen</a:t>
            </a:r>
          </a:p>
        </p:txBody>
      </p:sp>
      <p:sp>
        <p:nvSpPr>
          <p:cNvPr id="20" name="">
            <a:extLst xmlns:a="http://schemas.openxmlformats.org/drawingml/2006/main">
              <a:ext uri="{FF2B5EF4-FFF2-40B4-BE49-F238E27FC236}">
                <a16:creationId xmlns:a16="http://schemas.microsoft.com/office/drawing/2014/main" id="{659A7623-39F7-47F3-8DC9-C6A68DD15062}"/>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Standardabweichung, Kausalität und Schaden überschneiden sich tatsächlich, bleiben aber dogmatisch sauber zuzuordnen.</a:t>
            </a:r>
          </a:p>
        </p:txBody>
      </p:sp>
      <p:sp>
        <p:nvSpPr>
          <p:cNvPr id="21" name="">
            <a:extLst xmlns:a="http://schemas.openxmlformats.org/drawingml/2006/main">
              <a:ext uri="{FF2B5EF4-FFF2-40B4-BE49-F238E27FC236}">
                <a16:creationId xmlns:a16="http://schemas.microsoft.com/office/drawing/2014/main" id="{7A72C505-8272-4F93-81B6-F1BCDC6C283B}"/>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2A5F26B8-90CE-4E16-8376-46806A742230}"/>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Mehrere Anspruchsgrundlagen verbreitern die rechtliche Prüfung, nicht den Schaden.</a:t>
            </a:r>
          </a:p>
        </p:txBody>
      </p:sp>
    </p:spTree>
    <p:extLst>
      <p:ext uri="{BB962C8B-B14F-4D97-AF65-F5344CB8AC3E}">
        <p14:creationId xmlns:p14="http://schemas.microsoft.com/office/powerpoint/2010/main" val="43637646"/>
      </p:ext>
    </p:extLst>
  </p:cSld>
</p:sld>
</file>

<file path=ppt/slides/slide93.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Patientenrechtsprüfung in der Klausur</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PRÜFUNGSSCHEMA · §§ 630a–630h BGB</a:t>
            </a:r>
            <a:endParaRPr/>
          </a:p>
        </p:txBody>
      </p:sp>
      <p:sp>
        <p:nvSpPr>
          <p:cNvPr id="4" name="">
            <a:extLst xmlns:a="http://schemas.openxmlformats.org/drawingml/2006/main">
              <a:ext uri="{FF2B5EF4-FFF2-40B4-BE49-F238E27FC236}">
                <a16:creationId xmlns:a16="http://schemas.microsoft.com/office/drawing/2014/main" id="{23814BF8-A338-4C69-BBE3-F519259947E8}"/>
              </a:ext>
            </a:extLst>
          </p:cNvPr>
          <p:cNvSpPr>
            <a:spLocks xmlns:a="http://schemas.openxmlformats.org/drawingml/2006/main" noGrp="1"/>
          </p:cNvSpPr>
          <p:nvPr/>
        </p:nvSpPr>
        <p:spPr>
          <a:xfrm xmlns:a="http://schemas.openxmlformats.org/drawingml/2006/main">
            <a:off x="1809750" y="195262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A4804D69-8EF1-4DE7-A204-95BBD763542C}"/>
              </a:ext>
            </a:extLst>
          </p:cNvPr>
          <p:cNvSpPr>
            <a:spLocks xmlns:a="http://schemas.openxmlformats.org/drawingml/2006/main" noGrp="1"/>
          </p:cNvSpPr>
          <p:nvPr/>
        </p:nvSpPr>
        <p:spPr>
          <a:xfrm xmlns:a="http://schemas.openxmlformats.org/drawingml/2006/main">
            <a:off x="1809750" y="19526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6" name="">
            <a:extLst xmlns:a="http://schemas.openxmlformats.org/drawingml/2006/main">
              <a:ext uri="{FF2B5EF4-FFF2-40B4-BE49-F238E27FC236}">
                <a16:creationId xmlns:a16="http://schemas.microsoft.com/office/drawing/2014/main" id="{3A077E17-4615-4234-897F-249B47E4128C}"/>
              </a:ext>
            </a:extLst>
          </p:cNvPr>
          <p:cNvSpPr>
            <a:spLocks xmlns:a="http://schemas.openxmlformats.org/drawingml/2006/main" noGrp="1"/>
          </p:cNvSpPr>
          <p:nvPr/>
        </p:nvSpPr>
        <p:spPr>
          <a:xfrm xmlns:a="http://schemas.openxmlformats.org/drawingml/2006/main">
            <a:off x="2324100" y="196215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1. Vertrag und Beteiligte</a:t>
            </a:r>
          </a:p>
        </p:txBody>
      </p:sp>
      <p:sp>
        <p:nvSpPr>
          <p:cNvPr id="7" name="">
            <a:extLst xmlns:a="http://schemas.openxmlformats.org/drawingml/2006/main">
              <a:ext uri="{FF2B5EF4-FFF2-40B4-BE49-F238E27FC236}">
                <a16:creationId xmlns:a16="http://schemas.microsoft.com/office/drawing/2014/main" id="{93176725-895E-4C82-A084-68607AE87CD2}"/>
              </a:ext>
            </a:extLst>
          </p:cNvPr>
          <p:cNvSpPr>
            <a:spLocks xmlns:a="http://schemas.openxmlformats.org/drawingml/2006/main" noGrp="1"/>
          </p:cNvSpPr>
          <p:nvPr/>
        </p:nvSpPr>
        <p:spPr>
          <a:xfrm xmlns:a="http://schemas.openxmlformats.org/drawingml/2006/main">
            <a:off x="4819650" y="196215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Wer ist Vertragspartner, wer hat behandelt und welche Versorgungssituation liegt vor?</a:t>
            </a:r>
          </a:p>
        </p:txBody>
      </p:sp>
      <p:sp>
        <p:nvSpPr>
          <p:cNvPr id="8" name="">
            <a:extLst xmlns:a="http://schemas.openxmlformats.org/drawingml/2006/main">
              <a:ext uri="{FF2B5EF4-FFF2-40B4-BE49-F238E27FC236}">
                <a16:creationId xmlns:a16="http://schemas.microsoft.com/office/drawing/2014/main" id="{6EA04EC0-88AB-49EA-9B37-49353D70A64E}"/>
              </a:ext>
            </a:extLst>
          </p:cNvPr>
          <p:cNvSpPr>
            <a:spLocks xmlns:a="http://schemas.openxmlformats.org/drawingml/2006/main" noGrp="1"/>
          </p:cNvSpPr>
          <p:nvPr/>
        </p:nvSpPr>
        <p:spPr>
          <a:xfrm xmlns:a="http://schemas.openxmlformats.org/drawingml/2006/main">
            <a:off x="1809750" y="255270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9" name="">
            <a:extLst xmlns:a="http://schemas.openxmlformats.org/drawingml/2006/main">
              <a:ext uri="{FF2B5EF4-FFF2-40B4-BE49-F238E27FC236}">
                <a16:creationId xmlns:a16="http://schemas.microsoft.com/office/drawing/2014/main" id="{1B59674B-7AA9-454A-A967-4925A5EB83A9}"/>
              </a:ext>
            </a:extLst>
          </p:cNvPr>
          <p:cNvSpPr>
            <a:spLocks xmlns:a="http://schemas.openxmlformats.org/drawingml/2006/main" noGrp="1"/>
          </p:cNvSpPr>
          <p:nvPr/>
        </p:nvSpPr>
        <p:spPr>
          <a:xfrm xmlns:a="http://schemas.openxmlformats.org/drawingml/2006/main">
            <a:off x="1809750" y="255270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0" name="">
            <a:extLst xmlns:a="http://schemas.openxmlformats.org/drawingml/2006/main">
              <a:ext uri="{FF2B5EF4-FFF2-40B4-BE49-F238E27FC236}">
                <a16:creationId xmlns:a16="http://schemas.microsoft.com/office/drawing/2014/main" id="{76403198-7240-4D0E-BC35-FEFF21497BD1}"/>
              </a:ext>
            </a:extLst>
          </p:cNvPr>
          <p:cNvSpPr>
            <a:spLocks xmlns:a="http://schemas.openxmlformats.org/drawingml/2006/main" noGrp="1"/>
          </p:cNvSpPr>
          <p:nvPr/>
        </p:nvSpPr>
        <p:spPr>
          <a:xfrm xmlns:a="http://schemas.openxmlformats.org/drawingml/2006/main">
            <a:off x="2324100" y="256222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2. Pflichten bestimmen</a:t>
            </a:r>
          </a:p>
        </p:txBody>
      </p:sp>
      <p:sp>
        <p:nvSpPr>
          <p:cNvPr id="11" name="">
            <a:extLst xmlns:a="http://schemas.openxmlformats.org/drawingml/2006/main">
              <a:ext uri="{FF2B5EF4-FFF2-40B4-BE49-F238E27FC236}">
                <a16:creationId xmlns:a16="http://schemas.microsoft.com/office/drawing/2014/main" id="{6C179A4A-0620-4396-9C85-D6ABEE62AE93}"/>
              </a:ext>
            </a:extLst>
          </p:cNvPr>
          <p:cNvSpPr>
            <a:spLocks xmlns:a="http://schemas.openxmlformats.org/drawingml/2006/main" noGrp="1"/>
          </p:cNvSpPr>
          <p:nvPr/>
        </p:nvSpPr>
        <p:spPr>
          <a:xfrm xmlns:a="http://schemas.openxmlformats.org/drawingml/2006/main">
            <a:off x="4819650" y="256222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Behandlungsstandard, Information, Einwilligung, Aufklärung, Dokumentation und Einsicht werden getrennt zugeordnet.</a:t>
            </a:r>
          </a:p>
        </p:txBody>
      </p:sp>
      <p:sp>
        <p:nvSpPr>
          <p:cNvPr id="12" name="">
            <a:extLst xmlns:a="http://schemas.openxmlformats.org/drawingml/2006/main">
              <a:ext uri="{FF2B5EF4-FFF2-40B4-BE49-F238E27FC236}">
                <a16:creationId xmlns:a16="http://schemas.microsoft.com/office/drawing/2014/main" id="{92EF892D-AEA9-4BAE-8F02-746E305F404F}"/>
              </a:ext>
            </a:extLst>
          </p:cNvPr>
          <p:cNvSpPr>
            <a:spLocks xmlns:a="http://schemas.openxmlformats.org/drawingml/2006/main" noGrp="1"/>
          </p:cNvSpPr>
          <p:nvPr/>
        </p:nvSpPr>
        <p:spPr>
          <a:xfrm xmlns:a="http://schemas.openxmlformats.org/drawingml/2006/main">
            <a:off x="1809750" y="315277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3" name="">
            <a:extLst xmlns:a="http://schemas.openxmlformats.org/drawingml/2006/main">
              <a:ext uri="{FF2B5EF4-FFF2-40B4-BE49-F238E27FC236}">
                <a16:creationId xmlns:a16="http://schemas.microsoft.com/office/drawing/2014/main" id="{4AC25B6A-D5BF-4DD5-9933-26EEE3CA5F3C}"/>
              </a:ext>
            </a:extLst>
          </p:cNvPr>
          <p:cNvSpPr>
            <a:spLocks xmlns:a="http://schemas.openxmlformats.org/drawingml/2006/main" noGrp="1"/>
          </p:cNvSpPr>
          <p:nvPr/>
        </p:nvSpPr>
        <p:spPr>
          <a:xfrm xmlns:a="http://schemas.openxmlformats.org/drawingml/2006/main">
            <a:off x="1809750" y="315277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4" name="">
            <a:extLst xmlns:a="http://schemas.openxmlformats.org/drawingml/2006/main">
              <a:ext uri="{FF2B5EF4-FFF2-40B4-BE49-F238E27FC236}">
                <a16:creationId xmlns:a16="http://schemas.microsoft.com/office/drawing/2014/main" id="{80EA1A2B-6CAD-44CA-ACA4-64D9A34AB199}"/>
              </a:ext>
            </a:extLst>
          </p:cNvPr>
          <p:cNvSpPr>
            <a:spLocks xmlns:a="http://schemas.openxmlformats.org/drawingml/2006/main" noGrp="1"/>
          </p:cNvSpPr>
          <p:nvPr/>
        </p:nvSpPr>
        <p:spPr>
          <a:xfrm xmlns:a="http://schemas.openxmlformats.org/drawingml/2006/main">
            <a:off x="2324100" y="316230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3. Pflichtverletzung</a:t>
            </a:r>
          </a:p>
        </p:txBody>
      </p:sp>
      <p:sp>
        <p:nvSpPr>
          <p:cNvPr id="15" name="">
            <a:extLst xmlns:a="http://schemas.openxmlformats.org/drawingml/2006/main">
              <a:ext uri="{FF2B5EF4-FFF2-40B4-BE49-F238E27FC236}">
                <a16:creationId xmlns:a16="http://schemas.microsoft.com/office/drawing/2014/main" id="{CAFA0D16-3161-4BF6-8020-8D50B263B520}"/>
              </a:ext>
            </a:extLst>
          </p:cNvPr>
          <p:cNvSpPr>
            <a:spLocks xmlns:a="http://schemas.openxmlformats.org/drawingml/2006/main" noGrp="1"/>
          </p:cNvSpPr>
          <p:nvPr/>
        </p:nvSpPr>
        <p:spPr>
          <a:xfrm xmlns:a="http://schemas.openxmlformats.org/drawingml/2006/main">
            <a:off x="4819650" y="316230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Die konkrete Abweichung wird zeitbezogen und fallbezogen festgestellt.</a:t>
            </a:r>
          </a:p>
        </p:txBody>
      </p:sp>
      <p:sp>
        <p:nvSpPr>
          <p:cNvPr id="16" name="">
            <a:extLst xmlns:a="http://schemas.openxmlformats.org/drawingml/2006/main">
              <a:ext uri="{FF2B5EF4-FFF2-40B4-BE49-F238E27FC236}">
                <a16:creationId xmlns:a16="http://schemas.microsoft.com/office/drawing/2014/main" id="{BE212B43-EF2E-40A9-AF2C-4DEFE379C535}"/>
              </a:ext>
            </a:extLst>
          </p:cNvPr>
          <p:cNvSpPr>
            <a:spLocks xmlns:a="http://schemas.openxmlformats.org/drawingml/2006/main" noGrp="1"/>
          </p:cNvSpPr>
          <p:nvPr/>
        </p:nvSpPr>
        <p:spPr>
          <a:xfrm xmlns:a="http://schemas.openxmlformats.org/drawingml/2006/main">
            <a:off x="1809750" y="375285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7" name="">
            <a:extLst xmlns:a="http://schemas.openxmlformats.org/drawingml/2006/main">
              <a:ext uri="{FF2B5EF4-FFF2-40B4-BE49-F238E27FC236}">
                <a16:creationId xmlns:a16="http://schemas.microsoft.com/office/drawing/2014/main" id="{5563DCD0-F527-4125-A994-56EFD68C39D2}"/>
              </a:ext>
            </a:extLst>
          </p:cNvPr>
          <p:cNvSpPr>
            <a:spLocks xmlns:a="http://schemas.openxmlformats.org/drawingml/2006/main" noGrp="1"/>
          </p:cNvSpPr>
          <p:nvPr/>
        </p:nvSpPr>
        <p:spPr>
          <a:xfrm xmlns:a="http://schemas.openxmlformats.org/drawingml/2006/main">
            <a:off x="1809750" y="375285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18" name="">
            <a:extLst xmlns:a="http://schemas.openxmlformats.org/drawingml/2006/main">
              <a:ext uri="{FF2B5EF4-FFF2-40B4-BE49-F238E27FC236}">
                <a16:creationId xmlns:a16="http://schemas.microsoft.com/office/drawing/2014/main" id="{B1AAA16D-C4FF-4EB4-871F-8B2CA64DF1A3}"/>
              </a:ext>
            </a:extLst>
          </p:cNvPr>
          <p:cNvSpPr>
            <a:spLocks xmlns:a="http://schemas.openxmlformats.org/drawingml/2006/main" noGrp="1"/>
          </p:cNvSpPr>
          <p:nvPr/>
        </p:nvSpPr>
        <p:spPr>
          <a:xfrm xmlns:a="http://schemas.openxmlformats.org/drawingml/2006/main">
            <a:off x="2324100" y="376237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4. Schaden und Kausalität</a:t>
            </a:r>
          </a:p>
        </p:txBody>
      </p:sp>
      <p:sp>
        <p:nvSpPr>
          <p:cNvPr id="19" name="">
            <a:extLst xmlns:a="http://schemas.openxmlformats.org/drawingml/2006/main">
              <a:ext uri="{FF2B5EF4-FFF2-40B4-BE49-F238E27FC236}">
                <a16:creationId xmlns:a16="http://schemas.microsoft.com/office/drawing/2014/main" id="{61A1BFD1-46A9-42FF-9DF5-F42556571761}"/>
              </a:ext>
            </a:extLst>
          </p:cNvPr>
          <p:cNvSpPr>
            <a:spLocks xmlns:a="http://schemas.openxmlformats.org/drawingml/2006/main" noGrp="1"/>
          </p:cNvSpPr>
          <p:nvPr/>
        </p:nvSpPr>
        <p:spPr>
          <a:xfrm xmlns:a="http://schemas.openxmlformats.org/drawingml/2006/main">
            <a:off x="4819650" y="376237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Welcher konkrete Nachteil soll gerade durch welche Pflichtverletzung verursacht sein?</a:t>
            </a:r>
          </a:p>
        </p:txBody>
      </p:sp>
      <p:sp>
        <p:nvSpPr>
          <p:cNvPr id="20" name="">
            <a:extLst xmlns:a="http://schemas.openxmlformats.org/drawingml/2006/main">
              <a:ext uri="{FF2B5EF4-FFF2-40B4-BE49-F238E27FC236}">
                <a16:creationId xmlns:a16="http://schemas.microsoft.com/office/drawing/2014/main" id="{91F3D2A4-1F36-4E5A-A052-A8FE43E87C22}"/>
              </a:ext>
            </a:extLst>
          </p:cNvPr>
          <p:cNvSpPr>
            <a:spLocks xmlns:a="http://schemas.openxmlformats.org/drawingml/2006/main" noGrp="1"/>
          </p:cNvSpPr>
          <p:nvPr/>
        </p:nvSpPr>
        <p:spPr>
          <a:xfrm xmlns:a="http://schemas.openxmlformats.org/drawingml/2006/main">
            <a:off x="1809750" y="435292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1" name="">
            <a:extLst xmlns:a="http://schemas.openxmlformats.org/drawingml/2006/main">
              <a:ext uri="{FF2B5EF4-FFF2-40B4-BE49-F238E27FC236}">
                <a16:creationId xmlns:a16="http://schemas.microsoft.com/office/drawing/2014/main" id="{CA6C45D0-B3C0-4569-89E9-DFFF74CD0CF2}"/>
              </a:ext>
            </a:extLst>
          </p:cNvPr>
          <p:cNvSpPr>
            <a:spLocks xmlns:a="http://schemas.openxmlformats.org/drawingml/2006/main" noGrp="1"/>
          </p:cNvSpPr>
          <p:nvPr/>
        </p:nvSpPr>
        <p:spPr>
          <a:xfrm xmlns:a="http://schemas.openxmlformats.org/drawingml/2006/main">
            <a:off x="1809750" y="43529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5</a:t>
            </a:r>
          </a:p>
        </p:txBody>
      </p:sp>
      <p:sp>
        <p:nvSpPr>
          <p:cNvPr id="22" name="">
            <a:extLst xmlns:a="http://schemas.openxmlformats.org/drawingml/2006/main">
              <a:ext uri="{FF2B5EF4-FFF2-40B4-BE49-F238E27FC236}">
                <a16:creationId xmlns:a16="http://schemas.microsoft.com/office/drawing/2014/main" id="{BCD3DF8B-98F3-404A-88FE-193B05F6BB8C}"/>
              </a:ext>
            </a:extLst>
          </p:cNvPr>
          <p:cNvSpPr>
            <a:spLocks xmlns:a="http://schemas.openxmlformats.org/drawingml/2006/main" noGrp="1"/>
          </p:cNvSpPr>
          <p:nvPr/>
        </p:nvSpPr>
        <p:spPr>
          <a:xfrm xmlns:a="http://schemas.openxmlformats.org/drawingml/2006/main">
            <a:off x="2324100" y="436245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5. Beweisregeln</a:t>
            </a:r>
          </a:p>
        </p:txBody>
      </p:sp>
      <p:sp>
        <p:nvSpPr>
          <p:cNvPr id="23" name="">
            <a:extLst xmlns:a="http://schemas.openxmlformats.org/drawingml/2006/main">
              <a:ext uri="{FF2B5EF4-FFF2-40B4-BE49-F238E27FC236}">
                <a16:creationId xmlns:a16="http://schemas.microsoft.com/office/drawing/2014/main" id="{B3387D4A-4584-4DFE-82F1-59C0EBDE1E8E}"/>
              </a:ext>
            </a:extLst>
          </p:cNvPr>
          <p:cNvSpPr>
            <a:spLocks xmlns:a="http://schemas.openxmlformats.org/drawingml/2006/main" noGrp="1"/>
          </p:cNvSpPr>
          <p:nvPr/>
        </p:nvSpPr>
        <p:spPr>
          <a:xfrm xmlns:a="http://schemas.openxmlformats.org/drawingml/2006/main">
            <a:off x="4819650" y="436245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Für jedes streitige Element wird geprüft, wer beweisen muss und ob § 630h eingreift.</a:t>
            </a:r>
          </a:p>
        </p:txBody>
      </p:sp>
      <p:sp>
        <p:nvSpPr>
          <p:cNvPr id="24" name="">
            <a:extLst xmlns:a="http://schemas.openxmlformats.org/drawingml/2006/main">
              <a:ext uri="{FF2B5EF4-FFF2-40B4-BE49-F238E27FC236}">
                <a16:creationId xmlns:a16="http://schemas.microsoft.com/office/drawing/2014/main" id="{8B79F8AB-439B-4CF1-AA02-249305401CF5}"/>
              </a:ext>
            </a:extLst>
          </p:cNvPr>
          <p:cNvSpPr>
            <a:spLocks xmlns:a="http://schemas.openxmlformats.org/drawingml/2006/main" noGrp="1"/>
          </p:cNvSpPr>
          <p:nvPr/>
        </p:nvSpPr>
        <p:spPr>
          <a:xfrm xmlns:a="http://schemas.openxmlformats.org/drawingml/2006/main">
            <a:off x="1809750" y="495300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25" name="">
            <a:extLst xmlns:a="http://schemas.openxmlformats.org/drawingml/2006/main">
              <a:ext uri="{FF2B5EF4-FFF2-40B4-BE49-F238E27FC236}">
                <a16:creationId xmlns:a16="http://schemas.microsoft.com/office/drawing/2014/main" id="{893B2D6F-A809-4EBA-BD01-78EFE6A59D76}"/>
              </a:ext>
            </a:extLst>
          </p:cNvPr>
          <p:cNvSpPr>
            <a:spLocks xmlns:a="http://schemas.openxmlformats.org/drawingml/2006/main" noGrp="1"/>
          </p:cNvSpPr>
          <p:nvPr/>
        </p:nvSpPr>
        <p:spPr>
          <a:xfrm xmlns:a="http://schemas.openxmlformats.org/drawingml/2006/main">
            <a:off x="1809750" y="495300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6</a:t>
            </a:r>
          </a:p>
        </p:txBody>
      </p:sp>
      <p:sp>
        <p:nvSpPr>
          <p:cNvPr id="26" name="">
            <a:extLst xmlns:a="http://schemas.openxmlformats.org/drawingml/2006/main">
              <a:ext uri="{FF2B5EF4-FFF2-40B4-BE49-F238E27FC236}">
                <a16:creationId xmlns:a16="http://schemas.microsoft.com/office/drawing/2014/main" id="{2BD3F390-9CA2-496F-BF0A-F244CA530C01}"/>
              </a:ext>
            </a:extLst>
          </p:cNvPr>
          <p:cNvSpPr>
            <a:spLocks xmlns:a="http://schemas.openxmlformats.org/drawingml/2006/main" noGrp="1"/>
          </p:cNvSpPr>
          <p:nvPr/>
        </p:nvSpPr>
        <p:spPr>
          <a:xfrm xmlns:a="http://schemas.openxmlformats.org/drawingml/2006/main">
            <a:off x="2324100" y="496252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6. Rechtsfolge</a:t>
            </a:r>
          </a:p>
        </p:txBody>
      </p:sp>
      <p:sp>
        <p:nvSpPr>
          <p:cNvPr id="27" name="">
            <a:extLst xmlns:a="http://schemas.openxmlformats.org/drawingml/2006/main">
              <a:ext uri="{FF2B5EF4-FFF2-40B4-BE49-F238E27FC236}">
                <a16:creationId xmlns:a16="http://schemas.microsoft.com/office/drawing/2014/main" id="{2AAE0E92-D063-4826-8EE2-5331B765DF16}"/>
              </a:ext>
            </a:extLst>
          </p:cNvPr>
          <p:cNvSpPr>
            <a:spLocks xmlns:a="http://schemas.openxmlformats.org/drawingml/2006/main" noGrp="1"/>
          </p:cNvSpPr>
          <p:nvPr/>
        </p:nvSpPr>
        <p:spPr>
          <a:xfrm xmlns:a="http://schemas.openxmlformats.org/drawingml/2006/main">
            <a:off x="4819650" y="496252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Materielle Schäden, Schmerzensgeld, Zukunftsschäden und Mitverursachung werden gesondert bewertet.</a:t>
            </a:r>
          </a:p>
        </p:txBody>
      </p:sp>
      <p:sp>
        <p:nvSpPr>
          <p:cNvPr id="28" name="">
            <a:extLst xmlns:a="http://schemas.openxmlformats.org/drawingml/2006/main">
              <a:ext uri="{FF2B5EF4-FFF2-40B4-BE49-F238E27FC236}">
                <a16:creationId xmlns:a16="http://schemas.microsoft.com/office/drawing/2014/main" id="{4C758595-919D-4DB0-AA40-51D5628E628D}"/>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9" name="">
            <a:extLst xmlns:a="http://schemas.openxmlformats.org/drawingml/2006/main">
              <a:ext uri="{FF2B5EF4-FFF2-40B4-BE49-F238E27FC236}">
                <a16:creationId xmlns:a16="http://schemas.microsoft.com/office/drawing/2014/main" id="{F41CE86F-2629-412B-BBFC-665D54A12EAA}"/>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Die §§ 630a ff. ersetzen das allgemeine Haftungsrecht nicht; sie konkretisieren es.</a:t>
            </a:r>
          </a:p>
        </p:txBody>
      </p:sp>
    </p:spTree>
    <p:extLst>
      <p:ext uri="{BB962C8B-B14F-4D97-AF65-F5344CB8AC3E}">
        <p14:creationId xmlns:p14="http://schemas.microsoft.com/office/powerpoint/2010/main" val="43637646"/>
      </p:ext>
    </p:extLst>
  </p:cSld>
</p:sld>
</file>

<file path=ppt/slides/slide94.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Typische Fehlerkategorien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1BE762D4-28D5-4152-8C00-2E8295BCAAF2}"/>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Die Kategorie hilft, Pflichten und Beweisfolgen zu ordnen; entscheidend bleibt die konkrete Standardabweichung.</a:t>
            </a:r>
          </a:p>
        </p:txBody>
      </p:sp>
      <p:sp>
        <p:nvSpPr>
          <p:cNvPr id="5" name="">
            <a:extLst xmlns:a="http://schemas.openxmlformats.org/drawingml/2006/main">
              <a:ext uri="{FF2B5EF4-FFF2-40B4-BE49-F238E27FC236}">
                <a16:creationId xmlns:a16="http://schemas.microsoft.com/office/drawing/2014/main" id="{8C049B91-56FF-4D87-A471-63F9B46A009E}"/>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FFD8E4A8-3E73-4387-8651-E34164E3E76A}"/>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6C26DE44-A3E4-4AB3-BA35-DF16B0601875}"/>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Diagnosefehler</a:t>
            </a:r>
          </a:p>
        </p:txBody>
      </p:sp>
      <p:sp>
        <p:nvSpPr>
          <p:cNvPr id="8" name="">
            <a:extLst xmlns:a="http://schemas.openxmlformats.org/drawingml/2006/main">
              <a:ext uri="{FF2B5EF4-FFF2-40B4-BE49-F238E27FC236}">
                <a16:creationId xmlns:a16="http://schemas.microsoft.com/office/drawing/2014/main" id="{2B10032F-C430-4CC4-BAAA-FC65B51B0F1F}"/>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Eine objektiv falsche Diagnose ist nicht automatisch fehlerhaft. Bewertet wird, ob Befunde vertretbar erhoben und interpretiert wurden.</a:t>
            </a:r>
          </a:p>
        </p:txBody>
      </p:sp>
      <p:sp>
        <p:nvSpPr>
          <p:cNvPr id="9" name="">
            <a:extLst xmlns:a="http://schemas.openxmlformats.org/drawingml/2006/main">
              <a:ext uri="{FF2B5EF4-FFF2-40B4-BE49-F238E27FC236}">
                <a16:creationId xmlns:a16="http://schemas.microsoft.com/office/drawing/2014/main" id="{6D341488-F166-48D1-B50D-0BEAA122B99C}"/>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2323B5E7-4C4C-4763-A5A4-B9A3C17935AC}"/>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7C00C492-CB25-4AA1-9896-26A1313A6761}"/>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Befunderhebungsfehler</a:t>
            </a:r>
          </a:p>
        </p:txBody>
      </p:sp>
      <p:sp>
        <p:nvSpPr>
          <p:cNvPr id="12" name="">
            <a:extLst xmlns:a="http://schemas.openxmlformats.org/drawingml/2006/main">
              <a:ext uri="{FF2B5EF4-FFF2-40B4-BE49-F238E27FC236}">
                <a16:creationId xmlns:a16="http://schemas.microsoft.com/office/drawing/2014/main" id="{CD76FA52-3345-4C1B-89C9-03E8A0005852}"/>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Eine medizinisch gebotene Untersuchung oder Kontrolle wird unterlassen. Qualifizierte Fälle können besondere Beweisfolgen auslösen.</a:t>
            </a:r>
          </a:p>
        </p:txBody>
      </p:sp>
      <p:sp>
        <p:nvSpPr>
          <p:cNvPr id="13" name="">
            <a:extLst xmlns:a="http://schemas.openxmlformats.org/drawingml/2006/main">
              <a:ext uri="{FF2B5EF4-FFF2-40B4-BE49-F238E27FC236}">
                <a16:creationId xmlns:a16="http://schemas.microsoft.com/office/drawing/2014/main" id="{D912768D-DB35-4381-84D6-88F4377DBA49}"/>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5F6A91E5-0BDD-4640-847E-1A459EAFC914}"/>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AE99A8C6-8B97-42A6-A361-51D7D32F376E}"/>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Therapiefehler</a:t>
            </a:r>
          </a:p>
        </p:txBody>
      </p:sp>
      <p:sp>
        <p:nvSpPr>
          <p:cNvPr id="16" name="">
            <a:extLst xmlns:a="http://schemas.openxmlformats.org/drawingml/2006/main">
              <a:ext uri="{FF2B5EF4-FFF2-40B4-BE49-F238E27FC236}">
                <a16:creationId xmlns:a16="http://schemas.microsoft.com/office/drawing/2014/main" id="{C969F1F8-9713-4E5A-A84E-12C9B3984B0A}"/>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Auswahl, Durchführung, Dosierung oder Überwachung einer Therapie weichen vom Standard ab.</a:t>
            </a:r>
          </a:p>
        </p:txBody>
      </p:sp>
      <p:sp>
        <p:nvSpPr>
          <p:cNvPr id="17" name="">
            <a:extLst xmlns:a="http://schemas.openxmlformats.org/drawingml/2006/main">
              <a:ext uri="{FF2B5EF4-FFF2-40B4-BE49-F238E27FC236}">
                <a16:creationId xmlns:a16="http://schemas.microsoft.com/office/drawing/2014/main" id="{DE950C23-7808-431B-BC12-4DE4AD3BCA93}"/>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EDB22986-5ACD-467C-93E1-933CC735422B}"/>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319791AE-1852-493C-A65C-1D6636D3B61E}"/>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Organisationsfehler</a:t>
            </a:r>
          </a:p>
        </p:txBody>
      </p:sp>
      <p:sp>
        <p:nvSpPr>
          <p:cNvPr id="20" name="">
            <a:extLst xmlns:a="http://schemas.openxmlformats.org/drawingml/2006/main">
              <a:ext uri="{FF2B5EF4-FFF2-40B4-BE49-F238E27FC236}">
                <a16:creationId xmlns:a16="http://schemas.microsoft.com/office/drawing/2014/main" id="{E1286841-8751-41A5-B934-5FB0157430C3}"/>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Dienstplanung, Hygiene, Kommunikation, Technik oder Zuständigkeiten sind so organisiert, dass vermeidbare Risiken entstehen.</a:t>
            </a:r>
          </a:p>
        </p:txBody>
      </p:sp>
      <p:sp>
        <p:nvSpPr>
          <p:cNvPr id="21" name="">
            <a:extLst xmlns:a="http://schemas.openxmlformats.org/drawingml/2006/main">
              <a:ext uri="{FF2B5EF4-FFF2-40B4-BE49-F238E27FC236}">
                <a16:creationId xmlns:a16="http://schemas.microsoft.com/office/drawing/2014/main" id="{E86B2ED3-EED9-4F15-93FC-E85FF04C5B61}"/>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6B104D58-D960-47C0-BE7E-B9307B8C0502}"/>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Das Etikett folgt der Analyse; es ersetzt nicht die Begründung von Pflicht, Abweichung und Kausalität.</a:t>
            </a:r>
          </a:p>
        </p:txBody>
      </p:sp>
    </p:spTree>
    <p:extLst>
      <p:ext uri="{BB962C8B-B14F-4D97-AF65-F5344CB8AC3E}">
        <p14:creationId xmlns:p14="http://schemas.microsoft.com/office/powerpoint/2010/main" val="43637646"/>
      </p:ext>
    </p:extLst>
  </p:cSld>
</p:sld>
</file>

<file path=ppt/slides/slide95.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Diagnoseirrtum und Diagnosefehler</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F758C9D4-DF18-42A4-A5A6-1F0ABF4683F2}"/>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Medizinische Diagnostik arbeitet mit Wahrscheinlichkeiten. Rechtlich fehlerhaft wird ein Irrtum erst bei unvertretbarem Vorgehen.</a:t>
            </a:r>
          </a:p>
        </p:txBody>
      </p:sp>
      <p:sp>
        <p:nvSpPr>
          <p:cNvPr id="5" name="">
            <a:extLst xmlns:a="http://schemas.openxmlformats.org/drawingml/2006/main">
              <a:ext uri="{FF2B5EF4-FFF2-40B4-BE49-F238E27FC236}">
                <a16:creationId xmlns:a16="http://schemas.microsoft.com/office/drawing/2014/main" id="{7D8E4553-95AC-453B-8C88-C3F5C5E289BD}"/>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16E87014-7620-42AB-B2A9-34494E42BE65}"/>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BDEBE768-E979-4A67-A2FE-D82F5478E3DE}"/>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Vertretbare Deutung</a:t>
            </a:r>
          </a:p>
        </p:txBody>
      </p:sp>
      <p:sp>
        <p:nvSpPr>
          <p:cNvPr id="8" name="">
            <a:extLst xmlns:a="http://schemas.openxmlformats.org/drawingml/2006/main">
              <a:ext uri="{FF2B5EF4-FFF2-40B4-BE49-F238E27FC236}">
                <a16:creationId xmlns:a16="http://schemas.microsoft.com/office/drawing/2014/main" id="{EB32AF86-16E0-4EE3-9C3D-E16271A0BACF}"/>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Mehrdeutige Symptome können trotz sorgfältiger Untersuchung zu einer falschen Diagnose führen, ohne dass ein Fehler vorliegt.</a:t>
            </a:r>
          </a:p>
        </p:txBody>
      </p:sp>
      <p:sp>
        <p:nvSpPr>
          <p:cNvPr id="9" name="">
            <a:extLst xmlns:a="http://schemas.openxmlformats.org/drawingml/2006/main">
              <a:ext uri="{FF2B5EF4-FFF2-40B4-BE49-F238E27FC236}">
                <a16:creationId xmlns:a16="http://schemas.microsoft.com/office/drawing/2014/main" id="{06BDF22D-3395-4F65-89F4-96E846CD1876}"/>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FF8CA3C5-2AD6-4849-8A14-1FAA189075EB}"/>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C8F87B8A-83BF-46EC-BD07-E58FCCE09C6E}"/>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Unvertretbare Bewertung</a:t>
            </a:r>
          </a:p>
        </p:txBody>
      </p:sp>
      <p:sp>
        <p:nvSpPr>
          <p:cNvPr id="12" name="">
            <a:extLst xmlns:a="http://schemas.openxmlformats.org/drawingml/2006/main">
              <a:ext uri="{FF2B5EF4-FFF2-40B4-BE49-F238E27FC236}">
                <a16:creationId xmlns:a16="http://schemas.microsoft.com/office/drawing/2014/main" id="{0AB9E62C-EA50-4E54-9C70-169574E49A4E}"/>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Eindeutige Befunde werden ohne plausible Begründung falsch gewichtet oder ignoriert.</a:t>
            </a:r>
          </a:p>
        </p:txBody>
      </p:sp>
      <p:sp>
        <p:nvSpPr>
          <p:cNvPr id="13" name="">
            <a:extLst xmlns:a="http://schemas.openxmlformats.org/drawingml/2006/main">
              <a:ext uri="{FF2B5EF4-FFF2-40B4-BE49-F238E27FC236}">
                <a16:creationId xmlns:a16="http://schemas.microsoft.com/office/drawing/2014/main" id="{94DAA5AE-2626-4113-85BD-93EC76952CDA}"/>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376771F7-7DA4-4783-BD9B-9BFC3889BE19}"/>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B87EED86-CCD4-4900-B6FD-86362905C841}"/>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Befunderhebung davor</a:t>
            </a:r>
          </a:p>
        </p:txBody>
      </p:sp>
      <p:sp>
        <p:nvSpPr>
          <p:cNvPr id="16" name="">
            <a:extLst xmlns:a="http://schemas.openxmlformats.org/drawingml/2006/main">
              <a:ext uri="{FF2B5EF4-FFF2-40B4-BE49-F238E27FC236}">
                <a16:creationId xmlns:a16="http://schemas.microsoft.com/office/drawing/2014/main" id="{D6D1F5F4-CD51-41BA-8B08-F7DE338A347F}"/>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Oft liegt das Problem nicht in der Diagnose, sondern darin, dass eine gebotene Untersuchung gar nicht veranlasst wurde.</a:t>
            </a:r>
          </a:p>
        </p:txBody>
      </p:sp>
      <p:sp>
        <p:nvSpPr>
          <p:cNvPr id="17" name="">
            <a:extLst xmlns:a="http://schemas.openxmlformats.org/drawingml/2006/main">
              <a:ext uri="{FF2B5EF4-FFF2-40B4-BE49-F238E27FC236}">
                <a16:creationId xmlns:a16="http://schemas.microsoft.com/office/drawing/2014/main" id="{2E4FA6FA-27C6-4386-9178-9C2BF186332B}"/>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60463645-23D0-42AA-ACC3-287C66780E5E}"/>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DDB54D1A-48EE-4AD1-8ECC-B8CB5DB1D2A0}"/>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Verlaufskontrolle</a:t>
            </a:r>
          </a:p>
        </p:txBody>
      </p:sp>
      <p:sp>
        <p:nvSpPr>
          <p:cNvPr id="20" name="">
            <a:extLst xmlns:a="http://schemas.openxmlformats.org/drawingml/2006/main">
              <a:ext uri="{FF2B5EF4-FFF2-40B4-BE49-F238E27FC236}">
                <a16:creationId xmlns:a16="http://schemas.microsoft.com/office/drawing/2014/main" id="{597D4437-7B43-4A82-8208-89CC8CB31535}"/>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Bei unsicherer Diagnose können Sicherheitsnetz, Wiedervorstellung und erneute Untersuchung zum Standard gehören.</a:t>
            </a:r>
          </a:p>
        </p:txBody>
      </p:sp>
      <p:sp>
        <p:nvSpPr>
          <p:cNvPr id="21" name="">
            <a:extLst xmlns:a="http://schemas.openxmlformats.org/drawingml/2006/main">
              <a:ext uri="{FF2B5EF4-FFF2-40B4-BE49-F238E27FC236}">
                <a16:creationId xmlns:a16="http://schemas.microsoft.com/office/drawing/2014/main" id="{F7A8B5E2-A010-4AA1-9FA4-E6BE08AA410C}"/>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FD0F3054-76F9-46E9-8537-0CBBD682120D}"/>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Die juristische Frage lautet: War der diagnostische Prozess im damaligen Zeitpunkt fachlich vertretbar?</a:t>
            </a:r>
          </a:p>
        </p:txBody>
      </p:sp>
    </p:spTree>
    <p:extLst>
      <p:ext uri="{BB962C8B-B14F-4D97-AF65-F5344CB8AC3E}">
        <p14:creationId xmlns:p14="http://schemas.microsoft.com/office/powerpoint/2010/main" val="43637646"/>
      </p:ext>
    </p:extLst>
  </p:cSld>
</p:sld>
</file>

<file path=ppt/slides/slide96.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Übernahme-, Delegations- und Organisationsverschulden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CD581B6C-1829-4D8C-B213-C931B9826316}"/>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Haftung kann bereits entstehen, bevor eine Maßnahme technisch falsch ausgeführt wird.</a:t>
            </a:r>
          </a:p>
        </p:txBody>
      </p:sp>
      <p:sp>
        <p:nvSpPr>
          <p:cNvPr id="5" name="">
            <a:extLst xmlns:a="http://schemas.openxmlformats.org/drawingml/2006/main">
              <a:ext uri="{FF2B5EF4-FFF2-40B4-BE49-F238E27FC236}">
                <a16:creationId xmlns:a16="http://schemas.microsoft.com/office/drawing/2014/main" id="{75A2131B-6236-442B-8453-195AC8DD90D4}"/>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F2ABFDCC-AF99-498E-907B-A2B01461945B}"/>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1117FE99-1197-4CEB-8F68-F7D350FF0A21}"/>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Übernahmeverschulden</a:t>
            </a:r>
          </a:p>
        </p:txBody>
      </p:sp>
      <p:sp>
        <p:nvSpPr>
          <p:cNvPr id="8" name="">
            <a:extLst xmlns:a="http://schemas.openxmlformats.org/drawingml/2006/main">
              <a:ext uri="{FF2B5EF4-FFF2-40B4-BE49-F238E27FC236}">
                <a16:creationId xmlns:a16="http://schemas.microsoft.com/office/drawing/2014/main" id="{0C5C1C45-ED38-4BE3-B31F-BEF1C8C9DB36}"/>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Wer erkennt oder erkennen muss, dass eigene Kenntnisse, Erfahrung oder Ressourcen nicht ausreichen, muss Hilfe anfordern oder die Aufgabe ablehnen.</a:t>
            </a:r>
          </a:p>
        </p:txBody>
      </p:sp>
      <p:sp>
        <p:nvSpPr>
          <p:cNvPr id="9" name="">
            <a:extLst xmlns:a="http://schemas.openxmlformats.org/drawingml/2006/main">
              <a:ext uri="{FF2B5EF4-FFF2-40B4-BE49-F238E27FC236}">
                <a16:creationId xmlns:a16="http://schemas.microsoft.com/office/drawing/2014/main" id="{7472A2CA-4399-4CB1-A529-3E7B3471697D}"/>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68F62333-9E46-4B94-AA9D-11BA37F9D265}"/>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30C89B15-F542-4AFC-9ED7-275F4B2482CE}"/>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Delegationsauswahl</a:t>
            </a:r>
          </a:p>
        </p:txBody>
      </p:sp>
      <p:sp>
        <p:nvSpPr>
          <p:cNvPr id="12" name="">
            <a:extLst xmlns:a="http://schemas.openxmlformats.org/drawingml/2006/main">
              <a:ext uri="{FF2B5EF4-FFF2-40B4-BE49-F238E27FC236}">
                <a16:creationId xmlns:a16="http://schemas.microsoft.com/office/drawing/2014/main" id="{FD0A9DEF-040B-427D-BD79-42FD96F41952}"/>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Es ist zu prüfen, ob die Aufgabe delegierbar und die ausgewählte Person dafür qualifiziert ist.</a:t>
            </a:r>
          </a:p>
        </p:txBody>
      </p:sp>
      <p:sp>
        <p:nvSpPr>
          <p:cNvPr id="13" name="">
            <a:extLst xmlns:a="http://schemas.openxmlformats.org/drawingml/2006/main">
              <a:ext uri="{FF2B5EF4-FFF2-40B4-BE49-F238E27FC236}">
                <a16:creationId xmlns:a16="http://schemas.microsoft.com/office/drawing/2014/main" id="{62EA5C88-0B48-4993-A654-95D425C00EA0}"/>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27CE1344-89E4-480F-B6E6-45AC4062BA6B}"/>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7A9DCDC1-BA6C-4F51-A9B8-985B9F3B0E37}"/>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Anleitung und Kontrolle</a:t>
            </a:r>
          </a:p>
        </p:txBody>
      </p:sp>
      <p:sp>
        <p:nvSpPr>
          <p:cNvPr id="16" name="">
            <a:extLst xmlns:a="http://schemas.openxmlformats.org/drawingml/2006/main">
              <a:ext uri="{FF2B5EF4-FFF2-40B4-BE49-F238E27FC236}">
                <a16:creationId xmlns:a16="http://schemas.microsoft.com/office/drawing/2014/main" id="{75A45FDC-096B-47FC-A6D2-F59E187658D2}"/>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Komplexität, Erfahrung und Risiko bestimmen den Umfang von Anweisung, Rückfragemöglichkeit und Überwachung.</a:t>
            </a:r>
          </a:p>
        </p:txBody>
      </p:sp>
      <p:sp>
        <p:nvSpPr>
          <p:cNvPr id="17" name="">
            <a:extLst xmlns:a="http://schemas.openxmlformats.org/drawingml/2006/main">
              <a:ext uri="{FF2B5EF4-FFF2-40B4-BE49-F238E27FC236}">
                <a16:creationId xmlns:a16="http://schemas.microsoft.com/office/drawing/2014/main" id="{DB501703-E9CD-40DB-836F-4DEC7A05AE37}"/>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583F7FA7-822C-497E-A0FF-04E913A2F67E}"/>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E6CB56F0-56C4-423D-9F80-E3C77A5A20B0}"/>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Organisation</a:t>
            </a:r>
          </a:p>
        </p:txBody>
      </p:sp>
      <p:sp>
        <p:nvSpPr>
          <p:cNvPr id="20" name="">
            <a:extLst xmlns:a="http://schemas.openxmlformats.org/drawingml/2006/main">
              <a:ext uri="{FF2B5EF4-FFF2-40B4-BE49-F238E27FC236}">
                <a16:creationId xmlns:a16="http://schemas.microsoft.com/office/drawing/2014/main" id="{470F25E4-C4B0-4ABB-BAC1-6B6FFD56335B}"/>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Der Träger muss sichere Strukturen, Zuständigkeiten, Personal und Technik bereitstellen.</a:t>
            </a:r>
          </a:p>
        </p:txBody>
      </p:sp>
      <p:sp>
        <p:nvSpPr>
          <p:cNvPr id="21" name="">
            <a:extLst xmlns:a="http://schemas.openxmlformats.org/drawingml/2006/main">
              <a:ext uri="{FF2B5EF4-FFF2-40B4-BE49-F238E27FC236}">
                <a16:creationId xmlns:a16="http://schemas.microsoft.com/office/drawing/2014/main" id="{3A092D7A-42F5-4A38-93A8-B995849D7402}"/>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74CEFBB6-1984-4EC2-910F-7D9A0F309446}"/>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„Ich war nur in Weiterbildung“ entlastet nicht automatisch; es prägt aber Zuständigkeit, Supervision und Zurechnung.</a:t>
            </a:r>
          </a:p>
        </p:txBody>
      </p:sp>
    </p:spTree>
    <p:extLst>
      <p:ext uri="{BB962C8B-B14F-4D97-AF65-F5344CB8AC3E}">
        <p14:creationId xmlns:p14="http://schemas.microsoft.com/office/powerpoint/2010/main" val="43637646"/>
      </p:ext>
    </p:extLst>
  </p:cSld>
</p:sld>
</file>

<file path=ppt/slides/slide97.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Semesterfall: Vertrag und Patientenrechte</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DURCHGEPRÜFTER FALL</a:t>
            </a:r>
            <a:endParaRPr/>
          </a:p>
        </p:txBody>
      </p:sp>
      <p:sp>
        <p:nvSpPr>
          <p:cNvPr id="4" name="">
            <a:extLst xmlns:a="http://schemas.openxmlformats.org/drawingml/2006/main">
              <a:ext uri="{FF2B5EF4-FFF2-40B4-BE49-F238E27FC236}">
                <a16:creationId xmlns:a16="http://schemas.microsoft.com/office/drawing/2014/main" id="{087EB87B-A53C-4CB1-B29D-5639D05F9E29}"/>
              </a:ext>
            </a:extLst>
          </p:cNvPr>
          <p:cNvSpPr>
            <a:spLocks xmlns:a="http://schemas.openxmlformats.org/drawingml/2006/main" noGrp="1"/>
          </p:cNvSpPr>
          <p:nvPr/>
        </p:nvSpPr>
        <p:spPr>
          <a:xfrm xmlns:a="http://schemas.openxmlformats.org/drawingml/2006/main">
            <a:off x="1809750" y="1924050"/>
            <a:ext cx="9525000" cy="838200"/>
          </a:xfrm>
          <a:prstGeom xmlns:a="http://schemas.openxmlformats.org/drawingml/2006/main" prst="roundRect">
            <a:avLst>
              <a:gd name="adj" fmla="val 9091"/>
            </a:avLst>
          </a:prstGeom>
          <a:solidFill xmlns:a="http://schemas.openxmlformats.org/drawingml/2006/main">
            <a:srgbClr val="EAF6FB"/>
          </a:solidFill>
          <a:ln xmlns:a="http://schemas.openxmlformats.org/drawingml/2006/main" w="9525">
            <a:solidFill>
              <a:srgbClr val="00B2BB"/>
            </a:solidFill>
            <a:prstDash val="solid"/>
          </a:ln>
        </p:spPr>
      </p:sp>
      <p:sp>
        <p:nvSpPr>
          <p:cNvPr id="5" name="">
            <a:extLst xmlns:a="http://schemas.openxmlformats.org/drawingml/2006/main">
              <a:ext uri="{FF2B5EF4-FFF2-40B4-BE49-F238E27FC236}">
                <a16:creationId xmlns:a16="http://schemas.microsoft.com/office/drawing/2014/main" id="{E276052F-921A-4E1C-8126-A0D385061218}"/>
              </a:ext>
            </a:extLst>
          </p:cNvPr>
          <p:cNvSpPr>
            <a:spLocks xmlns:a="http://schemas.openxmlformats.org/drawingml/2006/main" noGrp="1"/>
          </p:cNvSpPr>
          <p:nvPr/>
        </p:nvSpPr>
        <p:spPr>
          <a:xfrm xmlns:a="http://schemas.openxmlformats.org/drawingml/2006/main">
            <a:off x="1981200" y="2000250"/>
            <a:ext cx="9182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55">
                <a:solidFill>
                  <a:srgbClr val="15232B"/>
                </a:solidFill>
              </a:defRPr>
            </a:pPr>
            <a:r>
              <a:rPr sz="1155">
                <a:solidFill>
                  <a:srgbClr val="15232B"/>
                </a:solidFill>
              </a:rPr>
              <a:t>Eine Patientin mit akuter neurologischer Symptomatik wird nach kurzer Untersuchung entlassen. Warnzeichen, Wiedervorstellung und diagnostische Unsicherheit sind kaum dokumentiert; später werden Infarkte festgestellt.</a:t>
            </a:r>
          </a:p>
        </p:txBody>
      </p:sp>
      <p:sp>
        <p:nvSpPr>
          <p:cNvPr id="6" name="">
            <a:extLst xmlns:a="http://schemas.openxmlformats.org/drawingml/2006/main">
              <a:ext uri="{FF2B5EF4-FFF2-40B4-BE49-F238E27FC236}">
                <a16:creationId xmlns:a16="http://schemas.microsoft.com/office/drawing/2014/main" id="{F0F93414-9303-420D-BB32-79A720B13B2E}"/>
              </a:ext>
            </a:extLst>
          </p:cNvPr>
          <p:cNvSpPr>
            <a:spLocks xmlns:a="http://schemas.openxmlformats.org/drawingml/2006/main" noGrp="1"/>
          </p:cNvSpPr>
          <p:nvPr/>
        </p:nvSpPr>
        <p:spPr>
          <a:xfrm xmlns:a="http://schemas.openxmlformats.org/drawingml/2006/main">
            <a:off x="1809750" y="2933700"/>
            <a:ext cx="381000" cy="381000"/>
          </a:xfrm>
          <a:prstGeom xmlns:a="http://schemas.openxmlformats.org/drawingml/2006/main" prst="roundRect">
            <a:avLst>
              <a:gd name="adj" fmla="val 20000"/>
            </a:avLst>
          </a:prstGeom>
          <a:solidFill xmlns:a="http://schemas.openxmlformats.org/drawingml/2006/main">
            <a:srgbClr val="00B2BB"/>
          </a:solidFill>
          <a:ln xmlns:a="http://schemas.openxmlformats.org/drawingml/2006/main" w="0">
            <a:solidFill>
              <a:srgbClr val="00B2BB"/>
            </a:solidFill>
            <a:prstDash val="solid"/>
          </a:ln>
        </p:spPr>
      </p:sp>
      <p:sp>
        <p:nvSpPr>
          <p:cNvPr id="7" name="">
            <a:extLst xmlns:a="http://schemas.openxmlformats.org/drawingml/2006/main">
              <a:ext uri="{FF2B5EF4-FFF2-40B4-BE49-F238E27FC236}">
                <a16:creationId xmlns:a16="http://schemas.microsoft.com/office/drawing/2014/main" id="{9B3FB618-58EF-4EA9-89C1-E09DC471B336}"/>
              </a:ext>
            </a:extLst>
          </p:cNvPr>
          <p:cNvSpPr>
            <a:spLocks xmlns:a="http://schemas.openxmlformats.org/drawingml/2006/main" noGrp="1"/>
          </p:cNvSpPr>
          <p:nvPr/>
        </p:nvSpPr>
        <p:spPr>
          <a:xfrm xmlns:a="http://schemas.openxmlformats.org/drawingml/2006/main">
            <a:off x="1809750" y="293370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8" name="">
            <a:extLst xmlns:a="http://schemas.openxmlformats.org/drawingml/2006/main">
              <a:ext uri="{FF2B5EF4-FFF2-40B4-BE49-F238E27FC236}">
                <a16:creationId xmlns:a16="http://schemas.microsoft.com/office/drawing/2014/main" id="{555EE67F-FB45-4BD6-BEFB-47B408CDFC00}"/>
              </a:ext>
            </a:extLst>
          </p:cNvPr>
          <p:cNvSpPr>
            <a:spLocks xmlns:a="http://schemas.openxmlformats.org/drawingml/2006/main" noGrp="1"/>
          </p:cNvSpPr>
          <p:nvPr/>
        </p:nvSpPr>
        <p:spPr>
          <a:xfrm xmlns:a="http://schemas.openxmlformats.org/drawingml/2006/main">
            <a:off x="2343150" y="2914650"/>
            <a:ext cx="18097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Pflichten</a:t>
            </a:r>
          </a:p>
        </p:txBody>
      </p:sp>
      <p:sp>
        <p:nvSpPr>
          <p:cNvPr id="9" name="">
            <a:extLst xmlns:a="http://schemas.openxmlformats.org/drawingml/2006/main">
              <a:ext uri="{FF2B5EF4-FFF2-40B4-BE49-F238E27FC236}">
                <a16:creationId xmlns:a16="http://schemas.microsoft.com/office/drawing/2014/main" id="{CD200CB9-62A1-4E7D-BB4C-74BCFE195123}"/>
              </a:ext>
            </a:extLst>
          </p:cNvPr>
          <p:cNvSpPr>
            <a:spLocks xmlns:a="http://schemas.openxmlformats.org/drawingml/2006/main" noGrp="1"/>
          </p:cNvSpPr>
          <p:nvPr/>
        </p:nvSpPr>
        <p:spPr>
          <a:xfrm xmlns:a="http://schemas.openxmlformats.org/drawingml/2006/main">
            <a:off x="4286250" y="2914650"/>
            <a:ext cx="69532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35">
                <a:solidFill>
                  <a:srgbClr val="15232B"/>
                </a:solidFill>
              </a:defRPr>
            </a:pPr>
            <a:r>
              <a:rPr sz="1035">
                <a:solidFill>
                  <a:srgbClr val="15232B"/>
                </a:solidFill>
              </a:rPr>
              <a:t>Zu prüfen sind standardgerechte Diagnostik, therapeutische Information über Warnzeichen, Dokumentation und gegebenenfalls Aufklärung über diagnostische Optionen.</a:t>
            </a:r>
          </a:p>
        </p:txBody>
      </p:sp>
      <p:sp>
        <p:nvSpPr>
          <p:cNvPr id="10" name="">
            <a:extLst xmlns:a="http://schemas.openxmlformats.org/drawingml/2006/main">
              <a:ext uri="{FF2B5EF4-FFF2-40B4-BE49-F238E27FC236}">
                <a16:creationId xmlns:a16="http://schemas.microsoft.com/office/drawing/2014/main" id="{973BB2C9-7253-4699-89FE-63D900DFCA92}"/>
              </a:ext>
            </a:extLst>
          </p:cNvPr>
          <p:cNvSpPr>
            <a:spLocks xmlns:a="http://schemas.openxmlformats.org/drawingml/2006/main" noGrp="1"/>
          </p:cNvSpPr>
          <p:nvPr/>
        </p:nvSpPr>
        <p:spPr>
          <a:xfrm xmlns:a="http://schemas.openxmlformats.org/drawingml/2006/main">
            <a:off x="1809750" y="3394710"/>
            <a:ext cx="381000" cy="381000"/>
          </a:xfrm>
          <a:prstGeom xmlns:a="http://schemas.openxmlformats.org/drawingml/2006/main" prst="roundRect">
            <a:avLst>
              <a:gd name="adj" fmla="val 20000"/>
            </a:avLst>
          </a:prstGeom>
          <a:solidFill xmlns:a="http://schemas.openxmlformats.org/drawingml/2006/main">
            <a:srgbClr val="003F6B"/>
          </a:solidFill>
          <a:ln xmlns:a="http://schemas.openxmlformats.org/drawingml/2006/main" w="0">
            <a:solidFill>
              <a:srgbClr val="003F6B"/>
            </a:solidFill>
            <a:prstDash val="solid"/>
          </a:ln>
        </p:spPr>
      </p:sp>
      <p:sp>
        <p:nvSpPr>
          <p:cNvPr id="11" name="">
            <a:extLst xmlns:a="http://schemas.openxmlformats.org/drawingml/2006/main">
              <a:ext uri="{FF2B5EF4-FFF2-40B4-BE49-F238E27FC236}">
                <a16:creationId xmlns:a16="http://schemas.microsoft.com/office/drawing/2014/main" id="{30E90DA9-26F6-49E2-91B2-70E785B1DF02}"/>
              </a:ext>
            </a:extLst>
          </p:cNvPr>
          <p:cNvSpPr>
            <a:spLocks xmlns:a="http://schemas.openxmlformats.org/drawingml/2006/main" noGrp="1"/>
          </p:cNvSpPr>
          <p:nvPr/>
        </p:nvSpPr>
        <p:spPr>
          <a:xfrm xmlns:a="http://schemas.openxmlformats.org/drawingml/2006/main">
            <a:off x="1809750" y="339471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2" name="">
            <a:extLst xmlns:a="http://schemas.openxmlformats.org/drawingml/2006/main">
              <a:ext uri="{FF2B5EF4-FFF2-40B4-BE49-F238E27FC236}">
                <a16:creationId xmlns:a16="http://schemas.microsoft.com/office/drawing/2014/main" id="{EAC55C57-D63F-4CE5-8905-06C7359C2C3D}"/>
              </a:ext>
            </a:extLst>
          </p:cNvPr>
          <p:cNvSpPr>
            <a:spLocks xmlns:a="http://schemas.openxmlformats.org/drawingml/2006/main" noGrp="1"/>
          </p:cNvSpPr>
          <p:nvPr/>
        </p:nvSpPr>
        <p:spPr>
          <a:xfrm xmlns:a="http://schemas.openxmlformats.org/drawingml/2006/main">
            <a:off x="2343150" y="3375660"/>
            <a:ext cx="18097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Pflichtverletzung</a:t>
            </a:r>
          </a:p>
        </p:txBody>
      </p:sp>
      <p:sp>
        <p:nvSpPr>
          <p:cNvPr id="13" name="">
            <a:extLst xmlns:a="http://schemas.openxmlformats.org/drawingml/2006/main">
              <a:ext uri="{FF2B5EF4-FFF2-40B4-BE49-F238E27FC236}">
                <a16:creationId xmlns:a16="http://schemas.microsoft.com/office/drawing/2014/main" id="{3D2271D6-1AFE-40E7-8CD1-470A4B839E7C}"/>
              </a:ext>
            </a:extLst>
          </p:cNvPr>
          <p:cNvSpPr>
            <a:spLocks xmlns:a="http://schemas.openxmlformats.org/drawingml/2006/main" noGrp="1"/>
          </p:cNvSpPr>
          <p:nvPr/>
        </p:nvSpPr>
        <p:spPr>
          <a:xfrm xmlns:a="http://schemas.openxmlformats.org/drawingml/2006/main">
            <a:off x="4286250" y="3375660"/>
            <a:ext cx="69532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35">
                <a:solidFill>
                  <a:srgbClr val="15232B"/>
                </a:solidFill>
              </a:defRPr>
            </a:pPr>
            <a:r>
              <a:rPr sz="1035">
                <a:solidFill>
                  <a:srgbClr val="15232B"/>
                </a:solidFill>
              </a:rPr>
              <a:t>Ein Sachverständiger muss klären, welche Untersuchungen und Sicherungsmaßnahmen ex ante geboten waren.</a:t>
            </a:r>
          </a:p>
        </p:txBody>
      </p:sp>
      <p:sp>
        <p:nvSpPr>
          <p:cNvPr id="14" name="">
            <a:extLst xmlns:a="http://schemas.openxmlformats.org/drawingml/2006/main">
              <a:ext uri="{FF2B5EF4-FFF2-40B4-BE49-F238E27FC236}">
                <a16:creationId xmlns:a16="http://schemas.microsoft.com/office/drawing/2014/main" id="{F3B17990-5658-48A1-B99F-4D3DC6812623}"/>
              </a:ext>
            </a:extLst>
          </p:cNvPr>
          <p:cNvSpPr>
            <a:spLocks xmlns:a="http://schemas.openxmlformats.org/drawingml/2006/main" noGrp="1"/>
          </p:cNvSpPr>
          <p:nvPr/>
        </p:nvSpPr>
        <p:spPr>
          <a:xfrm xmlns:a="http://schemas.openxmlformats.org/drawingml/2006/main">
            <a:off x="1809750" y="3855720"/>
            <a:ext cx="381000" cy="381000"/>
          </a:xfrm>
          <a:prstGeom xmlns:a="http://schemas.openxmlformats.org/drawingml/2006/main" prst="roundRect">
            <a:avLst>
              <a:gd name="adj" fmla="val 20000"/>
            </a:avLst>
          </a:prstGeom>
          <a:solidFill xmlns:a="http://schemas.openxmlformats.org/drawingml/2006/main">
            <a:srgbClr val="00B2BB"/>
          </a:solidFill>
          <a:ln xmlns:a="http://schemas.openxmlformats.org/drawingml/2006/main" w="0">
            <a:solidFill>
              <a:srgbClr val="00B2BB"/>
            </a:solidFill>
            <a:prstDash val="solid"/>
          </a:ln>
        </p:spPr>
      </p:sp>
      <p:sp>
        <p:nvSpPr>
          <p:cNvPr id="15" name="">
            <a:extLst xmlns:a="http://schemas.openxmlformats.org/drawingml/2006/main">
              <a:ext uri="{FF2B5EF4-FFF2-40B4-BE49-F238E27FC236}">
                <a16:creationId xmlns:a16="http://schemas.microsoft.com/office/drawing/2014/main" id="{E4F3B45E-FE23-4FE8-8632-77341B3BEAFE}"/>
              </a:ext>
            </a:extLst>
          </p:cNvPr>
          <p:cNvSpPr>
            <a:spLocks xmlns:a="http://schemas.openxmlformats.org/drawingml/2006/main" noGrp="1"/>
          </p:cNvSpPr>
          <p:nvPr/>
        </p:nvSpPr>
        <p:spPr>
          <a:xfrm xmlns:a="http://schemas.openxmlformats.org/drawingml/2006/main">
            <a:off x="1809750" y="385572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6" name="">
            <a:extLst xmlns:a="http://schemas.openxmlformats.org/drawingml/2006/main">
              <a:ext uri="{FF2B5EF4-FFF2-40B4-BE49-F238E27FC236}">
                <a16:creationId xmlns:a16="http://schemas.microsoft.com/office/drawing/2014/main" id="{BFCA796B-DAA1-4161-9935-9E3A79EC74D1}"/>
              </a:ext>
            </a:extLst>
          </p:cNvPr>
          <p:cNvSpPr>
            <a:spLocks xmlns:a="http://schemas.openxmlformats.org/drawingml/2006/main" noGrp="1"/>
          </p:cNvSpPr>
          <p:nvPr/>
        </p:nvSpPr>
        <p:spPr>
          <a:xfrm xmlns:a="http://schemas.openxmlformats.org/drawingml/2006/main">
            <a:off x="2343150" y="3836670"/>
            <a:ext cx="18097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Beweis</a:t>
            </a:r>
          </a:p>
        </p:txBody>
      </p:sp>
      <p:sp>
        <p:nvSpPr>
          <p:cNvPr id="17" name="">
            <a:extLst xmlns:a="http://schemas.openxmlformats.org/drawingml/2006/main">
              <a:ext uri="{FF2B5EF4-FFF2-40B4-BE49-F238E27FC236}">
                <a16:creationId xmlns:a16="http://schemas.microsoft.com/office/drawing/2014/main" id="{E702AF1D-BEA5-49DA-8BF7-87EE966851B7}"/>
              </a:ext>
            </a:extLst>
          </p:cNvPr>
          <p:cNvSpPr>
            <a:spLocks xmlns:a="http://schemas.openxmlformats.org/drawingml/2006/main" noGrp="1"/>
          </p:cNvSpPr>
          <p:nvPr/>
        </p:nvSpPr>
        <p:spPr>
          <a:xfrm xmlns:a="http://schemas.openxmlformats.org/drawingml/2006/main">
            <a:off x="4286250" y="3836670"/>
            <a:ext cx="69532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35">
                <a:solidFill>
                  <a:srgbClr val="15232B"/>
                </a:solidFill>
              </a:defRPr>
            </a:pPr>
            <a:r>
              <a:rPr sz="1035">
                <a:solidFill>
                  <a:srgbClr val="15232B"/>
                </a:solidFill>
              </a:rPr>
              <a:t>Fehlende Dokumentation kann für wesentliche Maßnahmen § 630h Abs. 3 BGB auslösen; sie beweist aber nicht automatisch den gesamten Kausalverlauf.</a:t>
            </a:r>
          </a:p>
        </p:txBody>
      </p:sp>
      <p:sp>
        <p:nvSpPr>
          <p:cNvPr id="18" name="">
            <a:extLst xmlns:a="http://schemas.openxmlformats.org/drawingml/2006/main">
              <a:ext uri="{FF2B5EF4-FFF2-40B4-BE49-F238E27FC236}">
                <a16:creationId xmlns:a16="http://schemas.microsoft.com/office/drawing/2014/main" id="{29C3F2E9-0AC2-40F9-8E30-13AAB5C9E4E2}"/>
              </a:ext>
            </a:extLst>
          </p:cNvPr>
          <p:cNvSpPr>
            <a:spLocks xmlns:a="http://schemas.openxmlformats.org/drawingml/2006/main" noGrp="1"/>
          </p:cNvSpPr>
          <p:nvPr/>
        </p:nvSpPr>
        <p:spPr>
          <a:xfrm xmlns:a="http://schemas.openxmlformats.org/drawingml/2006/main">
            <a:off x="1809750" y="4316730"/>
            <a:ext cx="381000" cy="381000"/>
          </a:xfrm>
          <a:prstGeom xmlns:a="http://schemas.openxmlformats.org/drawingml/2006/main" prst="roundRect">
            <a:avLst>
              <a:gd name="adj" fmla="val 20000"/>
            </a:avLst>
          </a:prstGeom>
          <a:solidFill xmlns:a="http://schemas.openxmlformats.org/drawingml/2006/main">
            <a:srgbClr val="003F6B"/>
          </a:solidFill>
          <a:ln xmlns:a="http://schemas.openxmlformats.org/drawingml/2006/main" w="0">
            <a:solidFill>
              <a:srgbClr val="003F6B"/>
            </a:solidFill>
            <a:prstDash val="solid"/>
          </a:ln>
        </p:spPr>
      </p:sp>
      <p:sp>
        <p:nvSpPr>
          <p:cNvPr id="19" name="">
            <a:extLst xmlns:a="http://schemas.openxmlformats.org/drawingml/2006/main">
              <a:ext uri="{FF2B5EF4-FFF2-40B4-BE49-F238E27FC236}">
                <a16:creationId xmlns:a16="http://schemas.microsoft.com/office/drawing/2014/main" id="{5AA2CD7E-9E1B-49F0-B026-08688C0758EB}"/>
              </a:ext>
            </a:extLst>
          </p:cNvPr>
          <p:cNvSpPr>
            <a:spLocks xmlns:a="http://schemas.openxmlformats.org/drawingml/2006/main" noGrp="1"/>
          </p:cNvSpPr>
          <p:nvPr/>
        </p:nvSpPr>
        <p:spPr>
          <a:xfrm xmlns:a="http://schemas.openxmlformats.org/drawingml/2006/main">
            <a:off x="1809750" y="431673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20" name="">
            <a:extLst xmlns:a="http://schemas.openxmlformats.org/drawingml/2006/main">
              <a:ext uri="{FF2B5EF4-FFF2-40B4-BE49-F238E27FC236}">
                <a16:creationId xmlns:a16="http://schemas.microsoft.com/office/drawing/2014/main" id="{89987C4B-20BB-45BA-BA7B-7DBD19B55671}"/>
              </a:ext>
            </a:extLst>
          </p:cNvPr>
          <p:cNvSpPr>
            <a:spLocks xmlns:a="http://schemas.openxmlformats.org/drawingml/2006/main" noGrp="1"/>
          </p:cNvSpPr>
          <p:nvPr/>
        </p:nvSpPr>
        <p:spPr>
          <a:xfrm xmlns:a="http://schemas.openxmlformats.org/drawingml/2006/main">
            <a:off x="2343150" y="4297680"/>
            <a:ext cx="18097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Kausalität</a:t>
            </a:r>
          </a:p>
        </p:txBody>
      </p:sp>
      <p:sp>
        <p:nvSpPr>
          <p:cNvPr id="21" name="">
            <a:extLst xmlns:a="http://schemas.openxmlformats.org/drawingml/2006/main">
              <a:ext uri="{FF2B5EF4-FFF2-40B4-BE49-F238E27FC236}">
                <a16:creationId xmlns:a16="http://schemas.microsoft.com/office/drawing/2014/main" id="{BCEC6336-1544-40D1-8AF7-E46152B0EBE3}"/>
              </a:ext>
            </a:extLst>
          </p:cNvPr>
          <p:cNvSpPr>
            <a:spLocks xmlns:a="http://schemas.openxmlformats.org/drawingml/2006/main" noGrp="1"/>
          </p:cNvSpPr>
          <p:nvPr/>
        </p:nvSpPr>
        <p:spPr>
          <a:xfrm xmlns:a="http://schemas.openxmlformats.org/drawingml/2006/main">
            <a:off x="4286250" y="4297680"/>
            <a:ext cx="69532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35">
                <a:solidFill>
                  <a:srgbClr val="15232B"/>
                </a:solidFill>
              </a:defRPr>
            </a:pPr>
            <a:r>
              <a:rPr sz="1035">
                <a:solidFill>
                  <a:srgbClr val="15232B"/>
                </a:solidFill>
              </a:rPr>
              <a:t>Es ist zu fragen, ob rechtzeitige Diagnostik den eingetretenen Schaden verhindert oder gemindert hätte und welche Beweisregel gilt.</a:t>
            </a:r>
          </a:p>
        </p:txBody>
      </p:sp>
      <p:sp>
        <p:nvSpPr>
          <p:cNvPr id="22" name="">
            <a:extLst xmlns:a="http://schemas.openxmlformats.org/drawingml/2006/main">
              <a:ext uri="{FF2B5EF4-FFF2-40B4-BE49-F238E27FC236}">
                <a16:creationId xmlns:a16="http://schemas.microsoft.com/office/drawing/2014/main" id="{DA5CB33C-18DB-48CB-8C72-D8611A1BE06F}"/>
              </a:ext>
            </a:extLst>
          </p:cNvPr>
          <p:cNvSpPr>
            <a:spLocks xmlns:a="http://schemas.openxmlformats.org/drawingml/2006/main" noGrp="1"/>
          </p:cNvSpPr>
          <p:nvPr/>
        </p:nvSpPr>
        <p:spPr>
          <a:xfrm xmlns:a="http://schemas.openxmlformats.org/drawingml/2006/main">
            <a:off x="1809750" y="4777740"/>
            <a:ext cx="381000" cy="381000"/>
          </a:xfrm>
          <a:prstGeom xmlns:a="http://schemas.openxmlformats.org/drawingml/2006/main" prst="roundRect">
            <a:avLst>
              <a:gd name="adj" fmla="val 20000"/>
            </a:avLst>
          </a:prstGeom>
          <a:solidFill xmlns:a="http://schemas.openxmlformats.org/drawingml/2006/main">
            <a:srgbClr val="00B2BB"/>
          </a:solidFill>
          <a:ln xmlns:a="http://schemas.openxmlformats.org/drawingml/2006/main" w="0">
            <a:solidFill>
              <a:srgbClr val="00B2BB"/>
            </a:solidFill>
            <a:prstDash val="solid"/>
          </a:ln>
        </p:spPr>
      </p:sp>
      <p:sp>
        <p:nvSpPr>
          <p:cNvPr id="23" name="">
            <a:extLst xmlns:a="http://schemas.openxmlformats.org/drawingml/2006/main">
              <a:ext uri="{FF2B5EF4-FFF2-40B4-BE49-F238E27FC236}">
                <a16:creationId xmlns:a16="http://schemas.microsoft.com/office/drawing/2014/main" id="{FAF8B96E-6515-4334-A702-52E7A013B09A}"/>
              </a:ext>
            </a:extLst>
          </p:cNvPr>
          <p:cNvSpPr>
            <a:spLocks xmlns:a="http://schemas.openxmlformats.org/drawingml/2006/main" noGrp="1"/>
          </p:cNvSpPr>
          <p:nvPr/>
        </p:nvSpPr>
        <p:spPr>
          <a:xfrm xmlns:a="http://schemas.openxmlformats.org/drawingml/2006/main">
            <a:off x="1809750" y="477774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5</a:t>
            </a:r>
          </a:p>
        </p:txBody>
      </p:sp>
      <p:sp>
        <p:nvSpPr>
          <p:cNvPr id="24" name="">
            <a:extLst xmlns:a="http://schemas.openxmlformats.org/drawingml/2006/main">
              <a:ext uri="{FF2B5EF4-FFF2-40B4-BE49-F238E27FC236}">
                <a16:creationId xmlns:a16="http://schemas.microsoft.com/office/drawing/2014/main" id="{8B1F9932-625B-48BE-8B84-B6B682C1ED9A}"/>
              </a:ext>
            </a:extLst>
          </p:cNvPr>
          <p:cNvSpPr>
            <a:spLocks xmlns:a="http://schemas.openxmlformats.org/drawingml/2006/main" noGrp="1"/>
          </p:cNvSpPr>
          <p:nvPr/>
        </p:nvSpPr>
        <p:spPr>
          <a:xfrm xmlns:a="http://schemas.openxmlformats.org/drawingml/2006/main">
            <a:off x="2343150" y="4758690"/>
            <a:ext cx="18097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Verfahren</a:t>
            </a:r>
          </a:p>
        </p:txBody>
      </p:sp>
      <p:sp>
        <p:nvSpPr>
          <p:cNvPr id="25" name="">
            <a:extLst xmlns:a="http://schemas.openxmlformats.org/drawingml/2006/main">
              <a:ext uri="{FF2B5EF4-FFF2-40B4-BE49-F238E27FC236}">
                <a16:creationId xmlns:a16="http://schemas.microsoft.com/office/drawing/2014/main" id="{EAD6626E-246F-4CBC-A709-369302039225}"/>
              </a:ext>
            </a:extLst>
          </p:cNvPr>
          <p:cNvSpPr>
            <a:spLocks xmlns:a="http://schemas.openxmlformats.org/drawingml/2006/main" noGrp="1"/>
          </p:cNvSpPr>
          <p:nvPr/>
        </p:nvSpPr>
        <p:spPr>
          <a:xfrm xmlns:a="http://schemas.openxmlformats.org/drawingml/2006/main">
            <a:off x="4286250" y="4758690"/>
            <a:ext cx="69532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35">
                <a:solidFill>
                  <a:srgbClr val="15232B"/>
                </a:solidFill>
              </a:defRPr>
            </a:pPr>
            <a:r>
              <a:rPr sz="1035">
                <a:solidFill>
                  <a:srgbClr val="15232B"/>
                </a:solidFill>
              </a:rPr>
              <a:t>Akte, Bildgebung, Zeugen und Gutachten werden zunächst außergerichtlich und später gegebenenfalls im Zivilprozess ausgewertet.</a:t>
            </a:r>
          </a:p>
        </p:txBody>
      </p:sp>
      <p:sp>
        <p:nvSpPr>
          <p:cNvPr id="26" name="">
            <a:extLst xmlns:a="http://schemas.openxmlformats.org/drawingml/2006/main">
              <a:ext uri="{FF2B5EF4-FFF2-40B4-BE49-F238E27FC236}">
                <a16:creationId xmlns:a16="http://schemas.microsoft.com/office/drawing/2014/main" id="{E38E9DFB-1B4D-4299-8EEB-F960AB6DB09F}"/>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20">
                <a:solidFill>
                  <a:srgbClr val="667680"/>
                </a:solidFill>
              </a:defRPr>
            </a:pPr>
            <a:r>
              <a:rPr sz="720">
                <a:solidFill>
                  <a:srgbClr val="667680"/>
                </a:solidFill>
              </a:rPr>
              <a:t>Didaktischer Transferfall nach BGH, Urt. v. 27.04.2004 – VI ZR 34/03 und BGH, Urt. v. 07.06.2011 – VI ZR 87/10 · https://juris.bundesgerichtshof.de</a:t>
            </a:r>
          </a:p>
        </p:txBody>
      </p:sp>
      <p:sp>
        <p:nvSpPr>
          <p:cNvPr id="27" name="">
            <a:extLst xmlns:a="http://schemas.openxmlformats.org/drawingml/2006/main">
              <a:ext uri="{FF2B5EF4-FFF2-40B4-BE49-F238E27FC236}">
                <a16:creationId xmlns:a16="http://schemas.microsoft.com/office/drawing/2014/main" id="{6DFB76F3-A559-45B7-9190-9DFBCC0DE7D0}"/>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8" name="">
            <a:extLst xmlns:a="http://schemas.openxmlformats.org/drawingml/2006/main">
              <a:ext uri="{FF2B5EF4-FFF2-40B4-BE49-F238E27FC236}">
                <a16:creationId xmlns:a16="http://schemas.microsoft.com/office/drawing/2014/main" id="{6D7E2DF1-00DA-499D-8616-E09BCF3676E3}"/>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Ein vollständiger Fall trennt Pflicht, Pflichtverletzung, Beweis, Kausalität und Rechtsfolge.</a:t>
            </a:r>
          </a:p>
        </p:txBody>
      </p:sp>
    </p:spTree>
    <p:extLst>
      <p:ext uri="{BB962C8B-B14F-4D97-AF65-F5344CB8AC3E}">
        <p14:creationId xmlns:p14="http://schemas.microsoft.com/office/powerpoint/2010/main" val="43637646"/>
      </p:ext>
    </p:extLst>
  </p:cSld>
</p:sld>
</file>

<file path=ppt/slides/slide98.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Die Haftungskette</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VIER BAUSTEINE</a:t>
            </a:r>
            <a:endParaRPr/>
          </a:p>
        </p:txBody>
      </p:sp>
      <p:sp>
        <p:nvSpPr>
          <p:cNvPr id="4" name="">
            <a:extLst xmlns:a="http://schemas.openxmlformats.org/drawingml/2006/main">
              <a:ext uri="{FF2B5EF4-FFF2-40B4-BE49-F238E27FC236}">
                <a16:creationId xmlns:a16="http://schemas.microsoft.com/office/drawing/2014/main" id="{5A7F031D-5EEA-4A03-A911-5C895C9534EF}"/>
              </a:ext>
            </a:extLst>
          </p:cNvPr>
          <p:cNvSpPr>
            <a:spLocks xmlns:a="http://schemas.openxmlformats.org/drawingml/2006/main" noGrp="1"/>
          </p:cNvSpPr>
          <p:nvPr/>
        </p:nvSpPr>
        <p:spPr>
          <a:xfrm xmlns:a="http://schemas.openxmlformats.org/drawingml/2006/main">
            <a:off x="1809750" y="1952625"/>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B0F48B6B-E94E-4101-9D5D-E2653D1ADD88}"/>
              </a:ext>
            </a:extLst>
          </p:cNvPr>
          <p:cNvSpPr>
            <a:spLocks xmlns:a="http://schemas.openxmlformats.org/drawingml/2006/main" noGrp="1"/>
          </p:cNvSpPr>
          <p:nvPr/>
        </p:nvSpPr>
        <p:spPr>
          <a:xfrm xmlns:a="http://schemas.openxmlformats.org/drawingml/2006/main">
            <a:off x="1809750" y="1952625"/>
            <a:ext cx="30734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6972D4EA-22BA-480C-86FB-50B48C3522EB}"/>
              </a:ext>
            </a:extLst>
          </p:cNvPr>
          <p:cNvSpPr>
            <a:spLocks xmlns:a="http://schemas.openxmlformats.org/drawingml/2006/main" noGrp="1"/>
          </p:cNvSpPr>
          <p:nvPr/>
        </p:nvSpPr>
        <p:spPr>
          <a:xfrm xmlns:a="http://schemas.openxmlformats.org/drawingml/2006/main">
            <a:off x="1962150" y="2085975"/>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Pflicht / Standard</a:t>
            </a:r>
          </a:p>
        </p:txBody>
      </p:sp>
      <p:sp>
        <p:nvSpPr>
          <p:cNvPr id="7" name="">
            <a:extLst xmlns:a="http://schemas.openxmlformats.org/drawingml/2006/main">
              <a:ext uri="{FF2B5EF4-FFF2-40B4-BE49-F238E27FC236}">
                <a16:creationId xmlns:a16="http://schemas.microsoft.com/office/drawing/2014/main" id="{ACB1D426-2076-4564-8FDF-D8979A91981D}"/>
              </a:ext>
            </a:extLst>
          </p:cNvPr>
          <p:cNvSpPr>
            <a:spLocks xmlns:a="http://schemas.openxmlformats.org/drawingml/2006/main" noGrp="1"/>
          </p:cNvSpPr>
          <p:nvPr/>
        </p:nvSpPr>
        <p:spPr>
          <a:xfrm xmlns:a="http://schemas.openxmlformats.org/drawingml/2006/main">
            <a:off x="1962150" y="2524125"/>
            <a:ext cx="27686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Welcher fachliche Standard galt ex ante?</a:t>
            </a:r>
          </a:p>
        </p:txBody>
      </p:sp>
      <p:sp>
        <p:nvSpPr>
          <p:cNvPr id="8" name="">
            <a:extLst xmlns:a="http://schemas.openxmlformats.org/drawingml/2006/main">
              <a:ext uri="{FF2B5EF4-FFF2-40B4-BE49-F238E27FC236}">
                <a16:creationId xmlns:a16="http://schemas.microsoft.com/office/drawing/2014/main" id="{71D6C52A-B70E-46FF-9A79-2909E0E3828D}"/>
              </a:ext>
            </a:extLst>
          </p:cNvPr>
          <p:cNvSpPr>
            <a:spLocks xmlns:a="http://schemas.openxmlformats.org/drawingml/2006/main" noGrp="1"/>
          </p:cNvSpPr>
          <p:nvPr/>
        </p:nvSpPr>
        <p:spPr>
          <a:xfrm xmlns:a="http://schemas.openxmlformats.org/drawingml/2006/main">
            <a:off x="5035550" y="1952625"/>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9" name="">
            <a:extLst xmlns:a="http://schemas.openxmlformats.org/drawingml/2006/main">
              <a:ext uri="{FF2B5EF4-FFF2-40B4-BE49-F238E27FC236}">
                <a16:creationId xmlns:a16="http://schemas.microsoft.com/office/drawing/2014/main" id="{966A4C11-DAB8-4D1D-AE58-D17A201CBA44}"/>
              </a:ext>
            </a:extLst>
          </p:cNvPr>
          <p:cNvSpPr>
            <a:spLocks xmlns:a="http://schemas.openxmlformats.org/drawingml/2006/main" noGrp="1"/>
          </p:cNvSpPr>
          <p:nvPr/>
        </p:nvSpPr>
        <p:spPr>
          <a:xfrm xmlns:a="http://schemas.openxmlformats.org/drawingml/2006/main">
            <a:off x="5035550" y="1952625"/>
            <a:ext cx="307340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69F7CBC0-DA70-413B-A585-E741BE212A28}"/>
              </a:ext>
            </a:extLst>
          </p:cNvPr>
          <p:cNvSpPr>
            <a:spLocks xmlns:a="http://schemas.openxmlformats.org/drawingml/2006/main" noGrp="1"/>
          </p:cNvSpPr>
          <p:nvPr/>
        </p:nvSpPr>
        <p:spPr>
          <a:xfrm xmlns:a="http://schemas.openxmlformats.org/drawingml/2006/main">
            <a:off x="5187950" y="2085975"/>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Fehler</a:t>
            </a:r>
          </a:p>
        </p:txBody>
      </p:sp>
      <p:sp>
        <p:nvSpPr>
          <p:cNvPr id="11" name="">
            <a:extLst xmlns:a="http://schemas.openxmlformats.org/drawingml/2006/main">
              <a:ext uri="{FF2B5EF4-FFF2-40B4-BE49-F238E27FC236}">
                <a16:creationId xmlns:a16="http://schemas.microsoft.com/office/drawing/2014/main" id="{09BBB61A-4A79-42B2-A003-E6ECF386EE51}"/>
              </a:ext>
            </a:extLst>
          </p:cNvPr>
          <p:cNvSpPr>
            <a:spLocks xmlns:a="http://schemas.openxmlformats.org/drawingml/2006/main" noGrp="1"/>
          </p:cNvSpPr>
          <p:nvPr/>
        </p:nvSpPr>
        <p:spPr>
          <a:xfrm xmlns:a="http://schemas.openxmlformats.org/drawingml/2006/main">
            <a:off x="5187950" y="2524125"/>
            <a:ext cx="27686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Wurde davon vorwerfbar abgewichen?</a:t>
            </a:r>
          </a:p>
        </p:txBody>
      </p:sp>
      <p:sp>
        <p:nvSpPr>
          <p:cNvPr id="12" name="">
            <a:extLst xmlns:a="http://schemas.openxmlformats.org/drawingml/2006/main">
              <a:ext uri="{FF2B5EF4-FFF2-40B4-BE49-F238E27FC236}">
                <a16:creationId xmlns:a16="http://schemas.microsoft.com/office/drawing/2014/main" id="{0C8B823D-ECB1-481D-8C90-DF10F59BB1C4}"/>
              </a:ext>
            </a:extLst>
          </p:cNvPr>
          <p:cNvSpPr>
            <a:spLocks xmlns:a="http://schemas.openxmlformats.org/drawingml/2006/main" noGrp="1"/>
          </p:cNvSpPr>
          <p:nvPr/>
        </p:nvSpPr>
        <p:spPr>
          <a:xfrm xmlns:a="http://schemas.openxmlformats.org/drawingml/2006/main">
            <a:off x="8261350" y="1952625"/>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13" name="">
            <a:extLst xmlns:a="http://schemas.openxmlformats.org/drawingml/2006/main">
              <a:ext uri="{FF2B5EF4-FFF2-40B4-BE49-F238E27FC236}">
                <a16:creationId xmlns:a16="http://schemas.microsoft.com/office/drawing/2014/main" id="{96FEEEBC-D543-42EE-BD73-90B1DC43491C}"/>
              </a:ext>
            </a:extLst>
          </p:cNvPr>
          <p:cNvSpPr>
            <a:spLocks xmlns:a="http://schemas.openxmlformats.org/drawingml/2006/main" noGrp="1"/>
          </p:cNvSpPr>
          <p:nvPr/>
        </p:nvSpPr>
        <p:spPr>
          <a:xfrm xmlns:a="http://schemas.openxmlformats.org/drawingml/2006/main">
            <a:off x="8261350" y="1952625"/>
            <a:ext cx="30734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F2AF15EA-118C-46B5-A3E8-89ED15C956E9}"/>
              </a:ext>
            </a:extLst>
          </p:cNvPr>
          <p:cNvSpPr>
            <a:spLocks xmlns:a="http://schemas.openxmlformats.org/drawingml/2006/main" noGrp="1"/>
          </p:cNvSpPr>
          <p:nvPr/>
        </p:nvSpPr>
        <p:spPr>
          <a:xfrm xmlns:a="http://schemas.openxmlformats.org/drawingml/2006/main">
            <a:off x="8413750" y="2085975"/>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Schaden</a:t>
            </a:r>
          </a:p>
        </p:txBody>
      </p:sp>
      <p:sp>
        <p:nvSpPr>
          <p:cNvPr id="15" name="">
            <a:extLst xmlns:a="http://schemas.openxmlformats.org/drawingml/2006/main">
              <a:ext uri="{FF2B5EF4-FFF2-40B4-BE49-F238E27FC236}">
                <a16:creationId xmlns:a16="http://schemas.microsoft.com/office/drawing/2014/main" id="{6E28BC86-295C-43AE-95CB-ADF39ABAF799}"/>
              </a:ext>
            </a:extLst>
          </p:cNvPr>
          <p:cNvSpPr>
            <a:spLocks xmlns:a="http://schemas.openxmlformats.org/drawingml/2006/main" noGrp="1"/>
          </p:cNvSpPr>
          <p:nvPr/>
        </p:nvSpPr>
        <p:spPr>
          <a:xfrm xmlns:a="http://schemas.openxmlformats.org/drawingml/2006/main">
            <a:off x="8413750" y="2524125"/>
            <a:ext cx="27686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Welche gesundheitliche oder wirtschaftliche Folge?</a:t>
            </a:r>
          </a:p>
        </p:txBody>
      </p:sp>
      <p:sp>
        <p:nvSpPr>
          <p:cNvPr id="16" name="">
            <a:extLst xmlns:a="http://schemas.openxmlformats.org/drawingml/2006/main">
              <a:ext uri="{FF2B5EF4-FFF2-40B4-BE49-F238E27FC236}">
                <a16:creationId xmlns:a16="http://schemas.microsoft.com/office/drawing/2014/main" id="{51BD0E06-C19C-4715-9683-948073B76BC9}"/>
              </a:ext>
            </a:extLst>
          </p:cNvPr>
          <p:cNvSpPr>
            <a:spLocks xmlns:a="http://schemas.openxmlformats.org/drawingml/2006/main" noGrp="1"/>
          </p:cNvSpPr>
          <p:nvPr/>
        </p:nvSpPr>
        <p:spPr>
          <a:xfrm xmlns:a="http://schemas.openxmlformats.org/drawingml/2006/main">
            <a:off x="1809750" y="3767138"/>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17" name="">
            <a:extLst xmlns:a="http://schemas.openxmlformats.org/drawingml/2006/main">
              <a:ext uri="{FF2B5EF4-FFF2-40B4-BE49-F238E27FC236}">
                <a16:creationId xmlns:a16="http://schemas.microsoft.com/office/drawing/2014/main" id="{68AE772C-F027-4C7A-9215-955DCFFE3C85}"/>
              </a:ext>
            </a:extLst>
          </p:cNvPr>
          <p:cNvSpPr>
            <a:spLocks xmlns:a="http://schemas.openxmlformats.org/drawingml/2006/main" noGrp="1"/>
          </p:cNvSpPr>
          <p:nvPr/>
        </p:nvSpPr>
        <p:spPr>
          <a:xfrm xmlns:a="http://schemas.openxmlformats.org/drawingml/2006/main">
            <a:off x="1809750" y="3767138"/>
            <a:ext cx="307340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AA3C1BEA-0411-4099-BCDD-05CAD7AAA8D3}"/>
              </a:ext>
            </a:extLst>
          </p:cNvPr>
          <p:cNvSpPr>
            <a:spLocks xmlns:a="http://schemas.openxmlformats.org/drawingml/2006/main" noGrp="1"/>
          </p:cNvSpPr>
          <p:nvPr/>
        </p:nvSpPr>
        <p:spPr>
          <a:xfrm xmlns:a="http://schemas.openxmlformats.org/drawingml/2006/main">
            <a:off x="1962150" y="3900488"/>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Kausalität</a:t>
            </a:r>
          </a:p>
        </p:txBody>
      </p:sp>
      <p:sp>
        <p:nvSpPr>
          <p:cNvPr id="19" name="">
            <a:extLst xmlns:a="http://schemas.openxmlformats.org/drawingml/2006/main">
              <a:ext uri="{FF2B5EF4-FFF2-40B4-BE49-F238E27FC236}">
                <a16:creationId xmlns:a16="http://schemas.microsoft.com/office/drawing/2014/main" id="{9BFDB17A-9ACF-4758-9DB3-D3F0F67E7F50}"/>
              </a:ext>
            </a:extLst>
          </p:cNvPr>
          <p:cNvSpPr>
            <a:spLocks xmlns:a="http://schemas.openxmlformats.org/drawingml/2006/main" noGrp="1"/>
          </p:cNvSpPr>
          <p:nvPr/>
        </p:nvSpPr>
        <p:spPr>
          <a:xfrm xmlns:a="http://schemas.openxmlformats.org/drawingml/2006/main">
            <a:off x="1962150" y="4338638"/>
            <a:ext cx="27686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Beruht die Folge gerade auf dem Fehler?</a:t>
            </a:r>
          </a:p>
        </p:txBody>
      </p:sp>
      <p:sp>
        <p:nvSpPr>
          <p:cNvPr id="20" name="">
            <a:extLst xmlns:a="http://schemas.openxmlformats.org/drawingml/2006/main">
              <a:ext uri="{FF2B5EF4-FFF2-40B4-BE49-F238E27FC236}">
                <a16:creationId xmlns:a16="http://schemas.microsoft.com/office/drawing/2014/main" id="{C28CF2BF-B386-43BB-BE5D-885D72274D27}"/>
              </a:ext>
            </a:extLst>
          </p:cNvPr>
          <p:cNvSpPr>
            <a:spLocks xmlns:a="http://schemas.openxmlformats.org/drawingml/2006/main" noGrp="1"/>
          </p:cNvSpPr>
          <p:nvPr/>
        </p:nvSpPr>
        <p:spPr>
          <a:xfrm xmlns:a="http://schemas.openxmlformats.org/drawingml/2006/main">
            <a:off x="5035550" y="3767138"/>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21" name="">
            <a:extLst xmlns:a="http://schemas.openxmlformats.org/drawingml/2006/main">
              <a:ext uri="{FF2B5EF4-FFF2-40B4-BE49-F238E27FC236}">
                <a16:creationId xmlns:a16="http://schemas.microsoft.com/office/drawing/2014/main" id="{5F50A201-EA73-484A-8FAF-D395C40E7499}"/>
              </a:ext>
            </a:extLst>
          </p:cNvPr>
          <p:cNvSpPr>
            <a:spLocks xmlns:a="http://schemas.openxmlformats.org/drawingml/2006/main" noGrp="1"/>
          </p:cNvSpPr>
          <p:nvPr/>
        </p:nvSpPr>
        <p:spPr>
          <a:xfrm xmlns:a="http://schemas.openxmlformats.org/drawingml/2006/main">
            <a:off x="5035550" y="3767138"/>
            <a:ext cx="30734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22" name="">
            <a:extLst xmlns:a="http://schemas.openxmlformats.org/drawingml/2006/main">
              <a:ext uri="{FF2B5EF4-FFF2-40B4-BE49-F238E27FC236}">
                <a16:creationId xmlns:a16="http://schemas.microsoft.com/office/drawing/2014/main" id="{80D33F77-AA3C-448C-9E20-2E7E7A6DFD13}"/>
              </a:ext>
            </a:extLst>
          </p:cNvPr>
          <p:cNvSpPr>
            <a:spLocks xmlns:a="http://schemas.openxmlformats.org/drawingml/2006/main" noGrp="1"/>
          </p:cNvSpPr>
          <p:nvPr/>
        </p:nvSpPr>
        <p:spPr>
          <a:xfrm xmlns:a="http://schemas.openxmlformats.org/drawingml/2006/main">
            <a:off x="5187950" y="3900488"/>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Rechtsfolge</a:t>
            </a:r>
          </a:p>
        </p:txBody>
      </p:sp>
      <p:sp>
        <p:nvSpPr>
          <p:cNvPr id="23" name="">
            <a:extLst xmlns:a="http://schemas.openxmlformats.org/drawingml/2006/main">
              <a:ext uri="{FF2B5EF4-FFF2-40B4-BE49-F238E27FC236}">
                <a16:creationId xmlns:a16="http://schemas.microsoft.com/office/drawing/2014/main" id="{F0FCD886-A2F7-47F0-B6FF-70D9B4680938}"/>
              </a:ext>
            </a:extLst>
          </p:cNvPr>
          <p:cNvSpPr>
            <a:spLocks xmlns:a="http://schemas.openxmlformats.org/drawingml/2006/main" noGrp="1"/>
          </p:cNvSpPr>
          <p:nvPr/>
        </p:nvSpPr>
        <p:spPr>
          <a:xfrm xmlns:a="http://schemas.openxmlformats.org/drawingml/2006/main">
            <a:off x="5187950" y="4338638"/>
            <a:ext cx="27686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Anspruch auf Schadensersatz / Schmerzensgeld – sofern Einwendungen nicht greifen</a:t>
            </a:r>
          </a:p>
        </p:txBody>
      </p:sp>
      <p:sp>
        <p:nvSpPr>
          <p:cNvPr id="24" name="">
            <a:extLst xmlns:a="http://schemas.openxmlformats.org/drawingml/2006/main">
              <a:ext uri="{FF2B5EF4-FFF2-40B4-BE49-F238E27FC236}">
                <a16:creationId xmlns:a16="http://schemas.microsoft.com/office/drawing/2014/main" id="{ACFF2B3B-9827-446A-85E3-B982780CC743}"/>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5" name="">
            <a:extLst xmlns:a="http://schemas.openxmlformats.org/drawingml/2006/main">
              <a:ext uri="{FF2B5EF4-FFF2-40B4-BE49-F238E27FC236}">
                <a16:creationId xmlns:a16="http://schemas.microsoft.com/office/drawing/2014/main" id="{3445CAC4-8C49-4392-A046-9DA43775E378}"/>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Der schwierigste Pfeil führt häufig vom Fehler zum konkreten Schaden.</a:t>
            </a:r>
          </a:p>
        </p:txBody>
      </p:sp>
    </p:spTree>
    <p:extLst>
      <p:ext uri="{BB962C8B-B14F-4D97-AF65-F5344CB8AC3E}">
        <p14:creationId xmlns:p14="http://schemas.microsoft.com/office/powerpoint/2010/main" val="43637646"/>
      </p:ext>
    </p:extLst>
  </p:cSld>
</p:sld>
</file>

<file path=ppt/slides/slide99.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Der Standard ist eine ex-ante-Frage</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KEINE RÜCKSCHAU-MEDIZIN</a:t>
            </a:r>
            <a:endParaRPr/>
          </a:p>
        </p:txBody>
      </p:sp>
      <p:sp>
        <p:nvSpPr>
          <p:cNvPr id="4" name="">
            <a:extLst xmlns:a="http://schemas.openxmlformats.org/drawingml/2006/main">
              <a:ext uri="{FF2B5EF4-FFF2-40B4-BE49-F238E27FC236}">
                <a16:creationId xmlns:a16="http://schemas.microsoft.com/office/drawing/2014/main" id="{E86D680A-0B82-4EE1-A54E-D7B0E417C87B}"/>
              </a:ext>
            </a:extLst>
          </p:cNvPr>
          <p:cNvSpPr>
            <a:spLocks xmlns:a="http://schemas.openxmlformats.org/drawingml/2006/main" noGrp="1"/>
          </p:cNvSpPr>
          <p:nvPr/>
        </p:nvSpPr>
        <p:spPr>
          <a:xfrm xmlns:a="http://schemas.openxmlformats.org/drawingml/2006/main">
            <a:off x="1809750" y="1952625"/>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E39817AF-61DA-47CE-8538-F46B4D976E6B}"/>
              </a:ext>
            </a:extLst>
          </p:cNvPr>
          <p:cNvSpPr>
            <a:spLocks xmlns:a="http://schemas.openxmlformats.org/drawingml/2006/main" noGrp="1"/>
          </p:cNvSpPr>
          <p:nvPr/>
        </p:nvSpPr>
        <p:spPr>
          <a:xfrm xmlns:a="http://schemas.openxmlformats.org/drawingml/2006/main">
            <a:off x="1809750" y="1952625"/>
            <a:ext cx="30734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E9749F6B-3A8D-478B-907C-FBF0A65AB350}"/>
              </a:ext>
            </a:extLst>
          </p:cNvPr>
          <p:cNvSpPr>
            <a:spLocks xmlns:a="http://schemas.openxmlformats.org/drawingml/2006/main" noGrp="1"/>
          </p:cNvSpPr>
          <p:nvPr/>
        </p:nvSpPr>
        <p:spPr>
          <a:xfrm xmlns:a="http://schemas.openxmlformats.org/drawingml/2006/main">
            <a:off x="1962150" y="2085975"/>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Leitfrage</a:t>
            </a:r>
          </a:p>
        </p:txBody>
      </p:sp>
      <p:sp>
        <p:nvSpPr>
          <p:cNvPr id="7" name="">
            <a:extLst xmlns:a="http://schemas.openxmlformats.org/drawingml/2006/main">
              <a:ext uri="{FF2B5EF4-FFF2-40B4-BE49-F238E27FC236}">
                <a16:creationId xmlns:a16="http://schemas.microsoft.com/office/drawing/2014/main" id="{989198E6-A185-40F1-A362-24AFA49E08FE}"/>
              </a:ext>
            </a:extLst>
          </p:cNvPr>
          <p:cNvSpPr>
            <a:spLocks xmlns:a="http://schemas.openxmlformats.org/drawingml/2006/main" noGrp="1"/>
          </p:cNvSpPr>
          <p:nvPr/>
        </p:nvSpPr>
        <p:spPr>
          <a:xfrm xmlns:a="http://schemas.openxmlformats.org/drawingml/2006/main">
            <a:off x="1962150" y="2524125"/>
            <a:ext cx="27686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Was war zu diesem Zeitpunkt bei dieser Patientin mit den verfügbaren Informationen medizinisch geboten?</a:t>
            </a:r>
          </a:p>
        </p:txBody>
      </p:sp>
      <p:sp>
        <p:nvSpPr>
          <p:cNvPr id="8" name="">
            <a:extLst xmlns:a="http://schemas.openxmlformats.org/drawingml/2006/main">
              <a:ext uri="{FF2B5EF4-FFF2-40B4-BE49-F238E27FC236}">
                <a16:creationId xmlns:a16="http://schemas.microsoft.com/office/drawing/2014/main" id="{80780012-EAD3-43EC-869C-D09B71A5D12F}"/>
              </a:ext>
            </a:extLst>
          </p:cNvPr>
          <p:cNvSpPr>
            <a:spLocks xmlns:a="http://schemas.openxmlformats.org/drawingml/2006/main" noGrp="1"/>
          </p:cNvSpPr>
          <p:nvPr/>
        </p:nvSpPr>
        <p:spPr>
          <a:xfrm xmlns:a="http://schemas.openxmlformats.org/drawingml/2006/main">
            <a:off x="5035550" y="1952625"/>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9" name="">
            <a:extLst xmlns:a="http://schemas.openxmlformats.org/drawingml/2006/main">
              <a:ext uri="{FF2B5EF4-FFF2-40B4-BE49-F238E27FC236}">
                <a16:creationId xmlns:a16="http://schemas.microsoft.com/office/drawing/2014/main" id="{DC08CE77-3E1B-4B41-BA68-B254072E8A38}"/>
              </a:ext>
            </a:extLst>
          </p:cNvPr>
          <p:cNvSpPr>
            <a:spLocks xmlns:a="http://schemas.openxmlformats.org/drawingml/2006/main" noGrp="1"/>
          </p:cNvSpPr>
          <p:nvPr/>
        </p:nvSpPr>
        <p:spPr>
          <a:xfrm xmlns:a="http://schemas.openxmlformats.org/drawingml/2006/main">
            <a:off x="5035550" y="1952625"/>
            <a:ext cx="307340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3B501D1F-1F33-4704-A484-D633E12A8579}"/>
              </a:ext>
            </a:extLst>
          </p:cNvPr>
          <p:cNvSpPr>
            <a:spLocks xmlns:a="http://schemas.openxmlformats.org/drawingml/2006/main" noGrp="1"/>
          </p:cNvSpPr>
          <p:nvPr/>
        </p:nvSpPr>
        <p:spPr>
          <a:xfrm xmlns:a="http://schemas.openxmlformats.org/drawingml/2006/main">
            <a:off x="5187950" y="2085975"/>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Fachgebiet und Versorgungsstufe</a:t>
            </a:r>
          </a:p>
        </p:txBody>
      </p:sp>
      <p:sp>
        <p:nvSpPr>
          <p:cNvPr id="11" name="">
            <a:extLst xmlns:a="http://schemas.openxmlformats.org/drawingml/2006/main">
              <a:ext uri="{FF2B5EF4-FFF2-40B4-BE49-F238E27FC236}">
                <a16:creationId xmlns:a16="http://schemas.microsoft.com/office/drawing/2014/main" id="{92FFA05A-83D3-4DAF-A4E4-C91075C238E2}"/>
              </a:ext>
            </a:extLst>
          </p:cNvPr>
          <p:cNvSpPr>
            <a:spLocks xmlns:a="http://schemas.openxmlformats.org/drawingml/2006/main" noGrp="1"/>
          </p:cNvSpPr>
          <p:nvPr/>
        </p:nvSpPr>
        <p:spPr>
          <a:xfrm xmlns:a="http://schemas.openxmlformats.org/drawingml/2006/main">
            <a:off x="8261350" y="1952625"/>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12" name="">
            <a:extLst xmlns:a="http://schemas.openxmlformats.org/drawingml/2006/main">
              <a:ext uri="{FF2B5EF4-FFF2-40B4-BE49-F238E27FC236}">
                <a16:creationId xmlns:a16="http://schemas.microsoft.com/office/drawing/2014/main" id="{BC2147AB-7C3B-48DC-A766-E38B70B9022A}"/>
              </a:ext>
            </a:extLst>
          </p:cNvPr>
          <p:cNvSpPr>
            <a:spLocks xmlns:a="http://schemas.openxmlformats.org/drawingml/2006/main" noGrp="1"/>
          </p:cNvSpPr>
          <p:nvPr/>
        </p:nvSpPr>
        <p:spPr>
          <a:xfrm xmlns:a="http://schemas.openxmlformats.org/drawingml/2006/main">
            <a:off x="8261350" y="1952625"/>
            <a:ext cx="30734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13" name="">
            <a:extLst xmlns:a="http://schemas.openxmlformats.org/drawingml/2006/main">
              <a:ext uri="{FF2B5EF4-FFF2-40B4-BE49-F238E27FC236}">
                <a16:creationId xmlns:a16="http://schemas.microsoft.com/office/drawing/2014/main" id="{FCE997A3-46B2-4AED-800A-3AC20594E3DF}"/>
              </a:ext>
            </a:extLst>
          </p:cNvPr>
          <p:cNvSpPr>
            <a:spLocks xmlns:a="http://schemas.openxmlformats.org/drawingml/2006/main" noGrp="1"/>
          </p:cNvSpPr>
          <p:nvPr/>
        </p:nvSpPr>
        <p:spPr>
          <a:xfrm xmlns:a="http://schemas.openxmlformats.org/drawingml/2006/main">
            <a:off x="8413750" y="2085975"/>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Dringlichkeit und Ressourcen</a:t>
            </a:r>
          </a:p>
        </p:txBody>
      </p:sp>
      <p:sp>
        <p:nvSpPr>
          <p:cNvPr id="14" name="">
            <a:extLst xmlns:a="http://schemas.openxmlformats.org/drawingml/2006/main">
              <a:ext uri="{FF2B5EF4-FFF2-40B4-BE49-F238E27FC236}">
                <a16:creationId xmlns:a16="http://schemas.microsoft.com/office/drawing/2014/main" id="{F532E4A8-43DD-4BDF-A647-0F93E99683AB}"/>
              </a:ext>
            </a:extLst>
          </p:cNvPr>
          <p:cNvSpPr>
            <a:spLocks xmlns:a="http://schemas.openxmlformats.org/drawingml/2006/main" noGrp="1"/>
          </p:cNvSpPr>
          <p:nvPr/>
        </p:nvSpPr>
        <p:spPr>
          <a:xfrm xmlns:a="http://schemas.openxmlformats.org/drawingml/2006/main">
            <a:off x="1809750" y="3767138"/>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15" name="">
            <a:extLst xmlns:a="http://schemas.openxmlformats.org/drawingml/2006/main">
              <a:ext uri="{FF2B5EF4-FFF2-40B4-BE49-F238E27FC236}">
                <a16:creationId xmlns:a16="http://schemas.microsoft.com/office/drawing/2014/main" id="{9EAC22C5-9A80-4985-87D3-A6E2AF6A4B08}"/>
              </a:ext>
            </a:extLst>
          </p:cNvPr>
          <p:cNvSpPr>
            <a:spLocks xmlns:a="http://schemas.openxmlformats.org/drawingml/2006/main" noGrp="1"/>
          </p:cNvSpPr>
          <p:nvPr/>
        </p:nvSpPr>
        <p:spPr>
          <a:xfrm xmlns:a="http://schemas.openxmlformats.org/drawingml/2006/main">
            <a:off x="1809750" y="3767138"/>
            <a:ext cx="307340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6" name="">
            <a:extLst xmlns:a="http://schemas.openxmlformats.org/drawingml/2006/main">
              <a:ext uri="{FF2B5EF4-FFF2-40B4-BE49-F238E27FC236}">
                <a16:creationId xmlns:a16="http://schemas.microsoft.com/office/drawing/2014/main" id="{C5E78C86-6250-49F3-98CA-67B8BEB5A7DB}"/>
              </a:ext>
            </a:extLst>
          </p:cNvPr>
          <p:cNvSpPr>
            <a:spLocks xmlns:a="http://schemas.openxmlformats.org/drawingml/2006/main" noGrp="1"/>
          </p:cNvSpPr>
          <p:nvPr/>
        </p:nvSpPr>
        <p:spPr>
          <a:xfrm xmlns:a="http://schemas.openxmlformats.org/drawingml/2006/main">
            <a:off x="1962150" y="3900488"/>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Leitlinien als Erkenntnishilfe – nicht automatisch Gesetz</a:t>
            </a:r>
          </a:p>
        </p:txBody>
      </p:sp>
      <p:sp>
        <p:nvSpPr>
          <p:cNvPr id="17" name="">
            <a:extLst xmlns:a="http://schemas.openxmlformats.org/drawingml/2006/main">
              <a:ext uri="{FF2B5EF4-FFF2-40B4-BE49-F238E27FC236}">
                <a16:creationId xmlns:a16="http://schemas.microsoft.com/office/drawing/2014/main" id="{91EFA918-A462-4632-9878-4F6C463FE12C}"/>
              </a:ext>
            </a:extLst>
          </p:cNvPr>
          <p:cNvSpPr>
            <a:spLocks xmlns:a="http://schemas.openxmlformats.org/drawingml/2006/main" noGrp="1"/>
          </p:cNvSpPr>
          <p:nvPr/>
        </p:nvSpPr>
        <p:spPr>
          <a:xfrm xmlns:a="http://schemas.openxmlformats.org/drawingml/2006/main">
            <a:off x="5035550" y="3767138"/>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18" name="">
            <a:extLst xmlns:a="http://schemas.openxmlformats.org/drawingml/2006/main">
              <a:ext uri="{FF2B5EF4-FFF2-40B4-BE49-F238E27FC236}">
                <a16:creationId xmlns:a16="http://schemas.microsoft.com/office/drawing/2014/main" id="{81F85C0B-332F-4B0E-A022-62FACD530DA3}"/>
              </a:ext>
            </a:extLst>
          </p:cNvPr>
          <p:cNvSpPr>
            <a:spLocks xmlns:a="http://schemas.openxmlformats.org/drawingml/2006/main" noGrp="1"/>
          </p:cNvSpPr>
          <p:nvPr/>
        </p:nvSpPr>
        <p:spPr>
          <a:xfrm xmlns:a="http://schemas.openxmlformats.org/drawingml/2006/main">
            <a:off x="5035550" y="3767138"/>
            <a:ext cx="30734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19" name="">
            <a:extLst xmlns:a="http://schemas.openxmlformats.org/drawingml/2006/main">
              <a:ext uri="{FF2B5EF4-FFF2-40B4-BE49-F238E27FC236}">
                <a16:creationId xmlns:a16="http://schemas.microsoft.com/office/drawing/2014/main" id="{9926A13A-F1F5-4546-85FF-0F2AAB193835}"/>
              </a:ext>
            </a:extLst>
          </p:cNvPr>
          <p:cNvSpPr>
            <a:spLocks xmlns:a="http://schemas.openxmlformats.org/drawingml/2006/main" noGrp="1"/>
          </p:cNvSpPr>
          <p:nvPr/>
        </p:nvSpPr>
        <p:spPr>
          <a:xfrm xmlns:a="http://schemas.openxmlformats.org/drawingml/2006/main">
            <a:off x="5187950" y="3900488"/>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individuelle Risiken und Alternativen</a:t>
            </a:r>
          </a:p>
        </p:txBody>
      </p:sp>
      <p:sp>
        <p:nvSpPr>
          <p:cNvPr id="20" name="">
            <a:extLst xmlns:a="http://schemas.openxmlformats.org/drawingml/2006/main">
              <a:ext uri="{FF2B5EF4-FFF2-40B4-BE49-F238E27FC236}">
                <a16:creationId xmlns:a16="http://schemas.microsoft.com/office/drawing/2014/main" id="{3F87FA99-48DE-4A64-8975-7E9290648809}"/>
              </a:ext>
            </a:extLst>
          </p:cNvPr>
          <p:cNvSpPr>
            <a:spLocks xmlns:a="http://schemas.openxmlformats.org/drawingml/2006/main" noGrp="1"/>
          </p:cNvSpPr>
          <p:nvPr/>
        </p:nvSpPr>
        <p:spPr>
          <a:xfrm xmlns:a="http://schemas.openxmlformats.org/drawingml/2006/main">
            <a:off x="8261350" y="3767138"/>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21" name="">
            <a:extLst xmlns:a="http://schemas.openxmlformats.org/drawingml/2006/main">
              <a:ext uri="{FF2B5EF4-FFF2-40B4-BE49-F238E27FC236}">
                <a16:creationId xmlns:a16="http://schemas.microsoft.com/office/drawing/2014/main" id="{035AFEC8-D70E-4926-AF29-44C04976405C}"/>
              </a:ext>
            </a:extLst>
          </p:cNvPr>
          <p:cNvSpPr>
            <a:spLocks xmlns:a="http://schemas.openxmlformats.org/drawingml/2006/main" noGrp="1"/>
          </p:cNvSpPr>
          <p:nvPr/>
        </p:nvSpPr>
        <p:spPr>
          <a:xfrm xmlns:a="http://schemas.openxmlformats.org/drawingml/2006/main">
            <a:off x="8261350" y="3767138"/>
            <a:ext cx="307340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22" name="">
            <a:extLst xmlns:a="http://schemas.openxmlformats.org/drawingml/2006/main">
              <a:ext uri="{FF2B5EF4-FFF2-40B4-BE49-F238E27FC236}">
                <a16:creationId xmlns:a16="http://schemas.microsoft.com/office/drawing/2014/main" id="{28477627-FDB8-41C3-9F9A-9BC102B282B0}"/>
              </a:ext>
            </a:extLst>
          </p:cNvPr>
          <p:cNvSpPr>
            <a:spLocks xmlns:a="http://schemas.openxmlformats.org/drawingml/2006/main" noGrp="1"/>
          </p:cNvSpPr>
          <p:nvPr/>
        </p:nvSpPr>
        <p:spPr>
          <a:xfrm xmlns:a="http://schemas.openxmlformats.org/drawingml/2006/main">
            <a:off x="8413750" y="3900488"/>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Delegation, Übernahmeverschulden, Supervision</a:t>
            </a:r>
          </a:p>
        </p:txBody>
      </p:sp>
      <p:sp>
        <p:nvSpPr>
          <p:cNvPr id="23" name="">
            <a:extLst xmlns:a="http://schemas.openxmlformats.org/drawingml/2006/main">
              <a:ext uri="{FF2B5EF4-FFF2-40B4-BE49-F238E27FC236}">
                <a16:creationId xmlns:a16="http://schemas.microsoft.com/office/drawing/2014/main" id="{25C656FF-48B0-4F78-9224-0475F62E0987}"/>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4" name="">
            <a:extLst xmlns:a="http://schemas.openxmlformats.org/drawingml/2006/main">
              <a:ext uri="{FF2B5EF4-FFF2-40B4-BE49-F238E27FC236}">
                <a16:creationId xmlns:a16="http://schemas.microsoft.com/office/drawing/2014/main" id="{485DE259-E69C-4BDE-B76D-D65995FDA610}"/>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Das spätere Ergebnis verändert nicht, was vorher vernünftig erkennbar war.</a:t>
            </a:r>
          </a:p>
        </p:txBody>
      </p:sp>
    </p:spTree>
    <p:extLst>
      <p:ext uri="{BB962C8B-B14F-4D97-AF65-F5344CB8AC3E}">
        <p14:creationId xmlns:p14="http://schemas.microsoft.com/office/powerpoint/2010/main" val="43637646"/>
      </p:ext>
    </p:extLst>
  </p:cSld>
</p:sld>
</file>

<file path=ppt/slides/slide100.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 630h BGB: Wann kippt die Beweislast?</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BEWEISERLEICHTERUNGEN</a:t>
            </a:r>
            <a:endParaRPr/>
          </a:p>
        </p:txBody>
      </p:sp>
      <p:sp>
        <p:nvSpPr>
          <p:cNvPr id="4" name="">
            <a:extLst xmlns:a="http://schemas.openxmlformats.org/drawingml/2006/main">
              <a:ext uri="{FF2B5EF4-FFF2-40B4-BE49-F238E27FC236}">
                <a16:creationId xmlns:a16="http://schemas.microsoft.com/office/drawing/2014/main" id="{CF7B3D17-2E38-4C80-BEFF-EFCFDAB4EE6E}"/>
              </a:ext>
            </a:extLst>
          </p:cNvPr>
          <p:cNvSpPr>
            <a:spLocks xmlns:a="http://schemas.openxmlformats.org/drawingml/2006/main" noGrp="1"/>
          </p:cNvSpPr>
          <p:nvPr/>
        </p:nvSpPr>
        <p:spPr>
          <a:xfrm xmlns:a="http://schemas.openxmlformats.org/drawingml/2006/main">
            <a:off x="1809750" y="1952625"/>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0197E7BB-F6F6-4AC9-9DA3-5827F82F691B}"/>
              </a:ext>
            </a:extLst>
          </p:cNvPr>
          <p:cNvSpPr>
            <a:spLocks xmlns:a="http://schemas.openxmlformats.org/drawingml/2006/main" noGrp="1"/>
          </p:cNvSpPr>
          <p:nvPr/>
        </p:nvSpPr>
        <p:spPr>
          <a:xfrm xmlns:a="http://schemas.openxmlformats.org/drawingml/2006/main">
            <a:off x="1809750" y="1952625"/>
            <a:ext cx="30734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8180B07B-CAE9-4B84-8509-4E5B4F39777C}"/>
              </a:ext>
            </a:extLst>
          </p:cNvPr>
          <p:cNvSpPr>
            <a:spLocks xmlns:a="http://schemas.openxmlformats.org/drawingml/2006/main" noGrp="1"/>
          </p:cNvSpPr>
          <p:nvPr/>
        </p:nvSpPr>
        <p:spPr>
          <a:xfrm xmlns:a="http://schemas.openxmlformats.org/drawingml/2006/main">
            <a:off x="1962150" y="2085975"/>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Voll beherrschbares Risiko</a:t>
            </a:r>
          </a:p>
        </p:txBody>
      </p:sp>
      <p:sp>
        <p:nvSpPr>
          <p:cNvPr id="7" name="">
            <a:extLst xmlns:a="http://schemas.openxmlformats.org/drawingml/2006/main">
              <a:ext uri="{FF2B5EF4-FFF2-40B4-BE49-F238E27FC236}">
                <a16:creationId xmlns:a16="http://schemas.microsoft.com/office/drawing/2014/main" id="{C584807B-6937-447C-B026-85885A2DB720}"/>
              </a:ext>
            </a:extLst>
          </p:cNvPr>
          <p:cNvSpPr>
            <a:spLocks xmlns:a="http://schemas.openxmlformats.org/drawingml/2006/main" noGrp="1"/>
          </p:cNvSpPr>
          <p:nvPr/>
        </p:nvSpPr>
        <p:spPr>
          <a:xfrm xmlns:a="http://schemas.openxmlformats.org/drawingml/2006/main">
            <a:off x="1962150" y="2524125"/>
            <a:ext cx="27686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Fehlervermutung, wenn sich ein kontrollierbares allgemeines Behandlungsrisiko verwirklicht.</a:t>
            </a:r>
          </a:p>
        </p:txBody>
      </p:sp>
      <p:sp>
        <p:nvSpPr>
          <p:cNvPr id="8" name="">
            <a:extLst xmlns:a="http://schemas.openxmlformats.org/drawingml/2006/main">
              <a:ext uri="{FF2B5EF4-FFF2-40B4-BE49-F238E27FC236}">
                <a16:creationId xmlns:a16="http://schemas.microsoft.com/office/drawing/2014/main" id="{718FDB20-2E94-45D1-92DF-F8C0353E4767}"/>
              </a:ext>
            </a:extLst>
          </p:cNvPr>
          <p:cNvSpPr>
            <a:spLocks xmlns:a="http://schemas.openxmlformats.org/drawingml/2006/main" noGrp="1"/>
          </p:cNvSpPr>
          <p:nvPr/>
        </p:nvSpPr>
        <p:spPr>
          <a:xfrm xmlns:a="http://schemas.openxmlformats.org/drawingml/2006/main">
            <a:off x="5035550" y="1952625"/>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9" name="">
            <a:extLst xmlns:a="http://schemas.openxmlformats.org/drawingml/2006/main">
              <a:ext uri="{FF2B5EF4-FFF2-40B4-BE49-F238E27FC236}">
                <a16:creationId xmlns:a16="http://schemas.microsoft.com/office/drawing/2014/main" id="{1E33279B-22DC-41B8-B0F9-E6AAC63B0A6E}"/>
              </a:ext>
            </a:extLst>
          </p:cNvPr>
          <p:cNvSpPr>
            <a:spLocks xmlns:a="http://schemas.openxmlformats.org/drawingml/2006/main" noGrp="1"/>
          </p:cNvSpPr>
          <p:nvPr/>
        </p:nvSpPr>
        <p:spPr>
          <a:xfrm xmlns:a="http://schemas.openxmlformats.org/drawingml/2006/main">
            <a:off x="5035550" y="1952625"/>
            <a:ext cx="307340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ACF11D56-D4EB-439D-86EE-E1C734AB661F}"/>
              </a:ext>
            </a:extLst>
          </p:cNvPr>
          <p:cNvSpPr>
            <a:spLocks xmlns:a="http://schemas.openxmlformats.org/drawingml/2006/main" noGrp="1"/>
          </p:cNvSpPr>
          <p:nvPr/>
        </p:nvSpPr>
        <p:spPr>
          <a:xfrm xmlns:a="http://schemas.openxmlformats.org/drawingml/2006/main">
            <a:off x="5187950" y="2085975"/>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Aufklärung / Einwilligung</a:t>
            </a:r>
          </a:p>
        </p:txBody>
      </p:sp>
      <p:sp>
        <p:nvSpPr>
          <p:cNvPr id="11" name="">
            <a:extLst xmlns:a="http://schemas.openxmlformats.org/drawingml/2006/main">
              <a:ext uri="{FF2B5EF4-FFF2-40B4-BE49-F238E27FC236}">
                <a16:creationId xmlns:a16="http://schemas.microsoft.com/office/drawing/2014/main" id="{6E6BDA37-B2A9-4B3C-BD6D-5CED3FE52DA8}"/>
              </a:ext>
            </a:extLst>
          </p:cNvPr>
          <p:cNvSpPr>
            <a:spLocks xmlns:a="http://schemas.openxmlformats.org/drawingml/2006/main" noGrp="1"/>
          </p:cNvSpPr>
          <p:nvPr/>
        </p:nvSpPr>
        <p:spPr>
          <a:xfrm xmlns:a="http://schemas.openxmlformats.org/drawingml/2006/main">
            <a:off x="5187950" y="2524125"/>
            <a:ext cx="27686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Behandelnde Seite beweist ordnungsgemäße Einwilligung und Aufklärung.</a:t>
            </a:r>
          </a:p>
        </p:txBody>
      </p:sp>
      <p:sp>
        <p:nvSpPr>
          <p:cNvPr id="12" name="">
            <a:extLst xmlns:a="http://schemas.openxmlformats.org/drawingml/2006/main">
              <a:ext uri="{FF2B5EF4-FFF2-40B4-BE49-F238E27FC236}">
                <a16:creationId xmlns:a16="http://schemas.microsoft.com/office/drawing/2014/main" id="{AE20BB9F-B2D6-4AB4-8E62-E4B0F81A45B3}"/>
              </a:ext>
            </a:extLst>
          </p:cNvPr>
          <p:cNvSpPr>
            <a:spLocks xmlns:a="http://schemas.openxmlformats.org/drawingml/2006/main" noGrp="1"/>
          </p:cNvSpPr>
          <p:nvPr/>
        </p:nvSpPr>
        <p:spPr>
          <a:xfrm xmlns:a="http://schemas.openxmlformats.org/drawingml/2006/main">
            <a:off x="8261350" y="1952625"/>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13" name="">
            <a:extLst xmlns:a="http://schemas.openxmlformats.org/drawingml/2006/main">
              <a:ext uri="{FF2B5EF4-FFF2-40B4-BE49-F238E27FC236}">
                <a16:creationId xmlns:a16="http://schemas.microsoft.com/office/drawing/2014/main" id="{F54AE6D4-FF79-4C22-BF9F-A6258114CC5A}"/>
              </a:ext>
            </a:extLst>
          </p:cNvPr>
          <p:cNvSpPr>
            <a:spLocks xmlns:a="http://schemas.openxmlformats.org/drawingml/2006/main" noGrp="1"/>
          </p:cNvSpPr>
          <p:nvPr/>
        </p:nvSpPr>
        <p:spPr>
          <a:xfrm xmlns:a="http://schemas.openxmlformats.org/drawingml/2006/main">
            <a:off x="8261350" y="1952625"/>
            <a:ext cx="30734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92D42038-A3CB-4BA9-BC11-B8AB809BF522}"/>
              </a:ext>
            </a:extLst>
          </p:cNvPr>
          <p:cNvSpPr>
            <a:spLocks xmlns:a="http://schemas.openxmlformats.org/drawingml/2006/main" noGrp="1"/>
          </p:cNvSpPr>
          <p:nvPr/>
        </p:nvSpPr>
        <p:spPr>
          <a:xfrm xmlns:a="http://schemas.openxmlformats.org/drawingml/2006/main">
            <a:off x="8413750" y="2085975"/>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Dokumentationslücke</a:t>
            </a:r>
          </a:p>
        </p:txBody>
      </p:sp>
      <p:sp>
        <p:nvSpPr>
          <p:cNvPr id="15" name="">
            <a:extLst xmlns:a="http://schemas.openxmlformats.org/drawingml/2006/main">
              <a:ext uri="{FF2B5EF4-FFF2-40B4-BE49-F238E27FC236}">
                <a16:creationId xmlns:a16="http://schemas.microsoft.com/office/drawing/2014/main" id="{4E4CC06A-E75B-486D-9B80-390FCA41540D}"/>
              </a:ext>
            </a:extLst>
          </p:cNvPr>
          <p:cNvSpPr>
            <a:spLocks xmlns:a="http://schemas.openxmlformats.org/drawingml/2006/main" noGrp="1"/>
          </p:cNvSpPr>
          <p:nvPr/>
        </p:nvSpPr>
        <p:spPr>
          <a:xfrm xmlns:a="http://schemas.openxmlformats.org/drawingml/2006/main">
            <a:off x="8413750" y="2524125"/>
            <a:ext cx="27686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Nicht dokumentierte wesentliche Maßnahme wird grundsätzlich als nicht erfolgt vermutet.</a:t>
            </a:r>
          </a:p>
        </p:txBody>
      </p:sp>
      <p:sp>
        <p:nvSpPr>
          <p:cNvPr id="16" name="">
            <a:extLst xmlns:a="http://schemas.openxmlformats.org/drawingml/2006/main">
              <a:ext uri="{FF2B5EF4-FFF2-40B4-BE49-F238E27FC236}">
                <a16:creationId xmlns:a16="http://schemas.microsoft.com/office/drawing/2014/main" id="{E57360CF-BA4A-49F7-91C8-19866620E93A}"/>
              </a:ext>
            </a:extLst>
          </p:cNvPr>
          <p:cNvSpPr>
            <a:spLocks xmlns:a="http://schemas.openxmlformats.org/drawingml/2006/main" noGrp="1"/>
          </p:cNvSpPr>
          <p:nvPr/>
        </p:nvSpPr>
        <p:spPr>
          <a:xfrm xmlns:a="http://schemas.openxmlformats.org/drawingml/2006/main">
            <a:off x="1809750" y="3767138"/>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17" name="">
            <a:extLst xmlns:a="http://schemas.openxmlformats.org/drawingml/2006/main">
              <a:ext uri="{FF2B5EF4-FFF2-40B4-BE49-F238E27FC236}">
                <a16:creationId xmlns:a16="http://schemas.microsoft.com/office/drawing/2014/main" id="{4DE237FD-09FB-43CC-8843-0D00BF5DFE71}"/>
              </a:ext>
            </a:extLst>
          </p:cNvPr>
          <p:cNvSpPr>
            <a:spLocks xmlns:a="http://schemas.openxmlformats.org/drawingml/2006/main" noGrp="1"/>
          </p:cNvSpPr>
          <p:nvPr/>
        </p:nvSpPr>
        <p:spPr>
          <a:xfrm xmlns:a="http://schemas.openxmlformats.org/drawingml/2006/main">
            <a:off x="1809750" y="3767138"/>
            <a:ext cx="307340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187B31D3-BF03-4260-9B30-5DF9751858FC}"/>
              </a:ext>
            </a:extLst>
          </p:cNvPr>
          <p:cNvSpPr>
            <a:spLocks xmlns:a="http://schemas.openxmlformats.org/drawingml/2006/main" noGrp="1"/>
          </p:cNvSpPr>
          <p:nvPr/>
        </p:nvSpPr>
        <p:spPr>
          <a:xfrm xmlns:a="http://schemas.openxmlformats.org/drawingml/2006/main">
            <a:off x="1962150" y="3900488"/>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Anfängerfehler</a:t>
            </a:r>
          </a:p>
        </p:txBody>
      </p:sp>
      <p:sp>
        <p:nvSpPr>
          <p:cNvPr id="19" name="">
            <a:extLst xmlns:a="http://schemas.openxmlformats.org/drawingml/2006/main">
              <a:ext uri="{FF2B5EF4-FFF2-40B4-BE49-F238E27FC236}">
                <a16:creationId xmlns:a16="http://schemas.microsoft.com/office/drawing/2014/main" id="{7AA9410B-458B-47DC-81F5-491D003F7AF7}"/>
              </a:ext>
            </a:extLst>
          </p:cNvPr>
          <p:cNvSpPr>
            <a:spLocks xmlns:a="http://schemas.openxmlformats.org/drawingml/2006/main" noGrp="1"/>
          </p:cNvSpPr>
          <p:nvPr/>
        </p:nvSpPr>
        <p:spPr>
          <a:xfrm xmlns:a="http://schemas.openxmlformats.org/drawingml/2006/main">
            <a:off x="1962150" y="4338638"/>
            <a:ext cx="27686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Fehlende Befähigung kann die Ursächlichkeit für den Schaden vermuten lassen.</a:t>
            </a:r>
          </a:p>
        </p:txBody>
      </p:sp>
      <p:sp>
        <p:nvSpPr>
          <p:cNvPr id="20" name="">
            <a:extLst xmlns:a="http://schemas.openxmlformats.org/drawingml/2006/main">
              <a:ext uri="{FF2B5EF4-FFF2-40B4-BE49-F238E27FC236}">
                <a16:creationId xmlns:a16="http://schemas.microsoft.com/office/drawing/2014/main" id="{79337DA8-5397-4E43-9644-2D47CD914C5D}"/>
              </a:ext>
            </a:extLst>
          </p:cNvPr>
          <p:cNvSpPr>
            <a:spLocks xmlns:a="http://schemas.openxmlformats.org/drawingml/2006/main" noGrp="1"/>
          </p:cNvSpPr>
          <p:nvPr/>
        </p:nvSpPr>
        <p:spPr>
          <a:xfrm xmlns:a="http://schemas.openxmlformats.org/drawingml/2006/main">
            <a:off x="5035550" y="3767138"/>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21" name="">
            <a:extLst xmlns:a="http://schemas.openxmlformats.org/drawingml/2006/main">
              <a:ext uri="{FF2B5EF4-FFF2-40B4-BE49-F238E27FC236}">
                <a16:creationId xmlns:a16="http://schemas.microsoft.com/office/drawing/2014/main" id="{74D0EAC3-CEBC-43B5-94FE-C37F44A240D5}"/>
              </a:ext>
            </a:extLst>
          </p:cNvPr>
          <p:cNvSpPr>
            <a:spLocks xmlns:a="http://schemas.openxmlformats.org/drawingml/2006/main" noGrp="1"/>
          </p:cNvSpPr>
          <p:nvPr/>
        </p:nvSpPr>
        <p:spPr>
          <a:xfrm xmlns:a="http://schemas.openxmlformats.org/drawingml/2006/main">
            <a:off x="5035550" y="3767138"/>
            <a:ext cx="30734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22" name="">
            <a:extLst xmlns:a="http://schemas.openxmlformats.org/drawingml/2006/main">
              <a:ext uri="{FF2B5EF4-FFF2-40B4-BE49-F238E27FC236}">
                <a16:creationId xmlns:a16="http://schemas.microsoft.com/office/drawing/2014/main" id="{F72F6B9D-57D8-41FD-B333-9758E8D395C7}"/>
              </a:ext>
            </a:extLst>
          </p:cNvPr>
          <p:cNvSpPr>
            <a:spLocks xmlns:a="http://schemas.openxmlformats.org/drawingml/2006/main" noGrp="1"/>
          </p:cNvSpPr>
          <p:nvPr/>
        </p:nvSpPr>
        <p:spPr>
          <a:xfrm xmlns:a="http://schemas.openxmlformats.org/drawingml/2006/main">
            <a:off x="5187950" y="3900488"/>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Grober Fehler</a:t>
            </a:r>
          </a:p>
        </p:txBody>
      </p:sp>
      <p:sp>
        <p:nvSpPr>
          <p:cNvPr id="23" name="">
            <a:extLst xmlns:a="http://schemas.openxmlformats.org/drawingml/2006/main">
              <a:ext uri="{FF2B5EF4-FFF2-40B4-BE49-F238E27FC236}">
                <a16:creationId xmlns:a16="http://schemas.microsoft.com/office/drawing/2014/main" id="{444B60DE-FC22-4787-AC56-A2F59E13E26F}"/>
              </a:ext>
            </a:extLst>
          </p:cNvPr>
          <p:cNvSpPr>
            <a:spLocks xmlns:a="http://schemas.openxmlformats.org/drawingml/2006/main" noGrp="1"/>
          </p:cNvSpPr>
          <p:nvPr/>
        </p:nvSpPr>
        <p:spPr>
          <a:xfrm xmlns:a="http://schemas.openxmlformats.org/drawingml/2006/main">
            <a:off x="5187950" y="4338638"/>
            <a:ext cx="27686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Bei genereller Eignung für den Schaden kann sich die Kausalitätsbeweislast umkehren.</a:t>
            </a:r>
          </a:p>
        </p:txBody>
      </p:sp>
      <p:sp>
        <p:nvSpPr>
          <p:cNvPr id="24" name="">
            <a:extLst xmlns:a="http://schemas.openxmlformats.org/drawingml/2006/main">
              <a:ext uri="{FF2B5EF4-FFF2-40B4-BE49-F238E27FC236}">
                <a16:creationId xmlns:a16="http://schemas.microsoft.com/office/drawing/2014/main" id="{B6AB6AF8-2331-4A9B-B740-5327381AAEFB}"/>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5" name="">
            <a:extLst xmlns:a="http://schemas.openxmlformats.org/drawingml/2006/main">
              <a:ext uri="{FF2B5EF4-FFF2-40B4-BE49-F238E27FC236}">
                <a16:creationId xmlns:a16="http://schemas.microsoft.com/office/drawing/2014/main" id="{A754364D-ED72-43D3-9E0F-BE0AB1C21977}"/>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Beweislastregeln ersetzen keine gute Behandlung – sie entscheiden aber oft, wer ein nicht mehr aufklärbares Geschehen trägt.</a:t>
            </a:r>
          </a:p>
        </p:txBody>
      </p:sp>
    </p:spTree>
    <p:extLst>
      <p:ext uri="{BB962C8B-B14F-4D97-AF65-F5344CB8AC3E}">
        <p14:creationId xmlns:p14="http://schemas.microsoft.com/office/powerpoint/2010/main" val="43637646"/>
      </p:ext>
    </p:extLst>
  </p:cSld>
</p:sld>
</file>

<file path=ppt/slides/slide101.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Semesterfall: Welche Kettenglieder sind streitig?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AKTENARBEIT</a:t>
            </a:r>
            <a:endParaRPr/>
          </a:p>
        </p:txBody>
      </p:sp>
      <p:sp>
        <p:nvSpPr>
          <p:cNvPr id="4" name="">
            <a:extLst xmlns:a="http://schemas.openxmlformats.org/drawingml/2006/main">
              <a:ext uri="{FF2B5EF4-FFF2-40B4-BE49-F238E27FC236}">
                <a16:creationId xmlns:a16="http://schemas.microsoft.com/office/drawing/2014/main" id="{23D9EFDD-C722-4BE3-B866-DD9D6C4111EC}"/>
              </a:ext>
            </a:extLst>
          </p:cNvPr>
          <p:cNvSpPr>
            <a:spLocks xmlns:a="http://schemas.openxmlformats.org/drawingml/2006/main" noGrp="1"/>
          </p:cNvSpPr>
          <p:nvPr/>
        </p:nvSpPr>
        <p:spPr>
          <a:xfrm xmlns:a="http://schemas.openxmlformats.org/drawingml/2006/main">
            <a:off x="1809750" y="1952625"/>
            <a:ext cx="5381625" cy="3333750"/>
          </a:xfrm>
          <a:prstGeom xmlns:a="http://schemas.openxmlformats.org/drawingml/2006/main" prst="roundRect">
            <a:avLst>
              <a:gd name="adj" fmla="val 2286"/>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1252F3C8-9968-45A4-949D-6F84860E58CD}"/>
              </a:ext>
            </a:extLst>
          </p:cNvPr>
          <p:cNvSpPr>
            <a:spLocks xmlns:a="http://schemas.openxmlformats.org/drawingml/2006/main" noGrp="1"/>
          </p:cNvSpPr>
          <p:nvPr/>
        </p:nvSpPr>
        <p:spPr>
          <a:xfrm xmlns:a="http://schemas.openxmlformats.org/drawingml/2006/main">
            <a:off x="1809750" y="1952625"/>
            <a:ext cx="5381625"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6" name="">
            <a:extLst xmlns:a="http://schemas.openxmlformats.org/drawingml/2006/main">
              <a:ext uri="{FF2B5EF4-FFF2-40B4-BE49-F238E27FC236}">
                <a16:creationId xmlns:a16="http://schemas.microsoft.com/office/drawing/2014/main" id="{4B35F7D5-CAC8-43FD-B83F-98A8C83E3F05}"/>
              </a:ext>
            </a:extLst>
          </p:cNvPr>
          <p:cNvSpPr>
            <a:spLocks xmlns:a="http://schemas.openxmlformats.org/drawingml/2006/main" noGrp="1"/>
          </p:cNvSpPr>
          <p:nvPr/>
        </p:nvSpPr>
        <p:spPr>
          <a:xfrm xmlns:a="http://schemas.openxmlformats.org/drawingml/2006/main">
            <a:off x="1962150" y="2085975"/>
            <a:ext cx="5076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00" b="1">
                <a:solidFill>
                  <a:srgbClr val="003F6B"/>
                </a:solidFill>
              </a:defRPr>
            </a:pPr>
            <a:r>
              <a:rPr sz="1500" b="1">
                <a:solidFill>
                  <a:srgbClr val="003F6B"/>
                </a:solidFill>
              </a:rPr>
              <a:t>Ausgangslage</a:t>
            </a:r>
          </a:p>
        </p:txBody>
      </p:sp>
      <p:sp>
        <p:nvSpPr>
          <p:cNvPr id="7" name="">
            <a:extLst xmlns:a="http://schemas.openxmlformats.org/drawingml/2006/main">
              <a:ext uri="{FF2B5EF4-FFF2-40B4-BE49-F238E27FC236}">
                <a16:creationId xmlns:a16="http://schemas.microsoft.com/office/drawing/2014/main" id="{2AD3C076-A21A-4CEF-9B3D-C67F71487665}"/>
              </a:ext>
            </a:extLst>
          </p:cNvPr>
          <p:cNvSpPr>
            <a:spLocks xmlns:a="http://schemas.openxmlformats.org/drawingml/2006/main" noGrp="1"/>
          </p:cNvSpPr>
          <p:nvPr/>
        </p:nvSpPr>
        <p:spPr>
          <a:xfrm xmlns:a="http://schemas.openxmlformats.org/drawingml/2006/main">
            <a:off x="1962150" y="2524125"/>
            <a:ext cx="5076825" cy="2628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15232B"/>
                </a:solidFill>
              </a:defRPr>
            </a:pPr>
            <a:r>
              <a:rPr sz="1275">
                <a:solidFill>
                  <a:srgbClr val="15232B"/>
                </a:solidFill>
              </a:rPr>
              <a:t>Semesterfall: plötzliche neurologische Symptomatik, verzögerte Diagnostik und widersprüchliche Dokumentation.</a:t>
            </a:r>
          </a:p>
        </p:txBody>
      </p:sp>
      <p:sp>
        <p:nvSpPr>
          <p:cNvPr id="8" name="">
            <a:extLst xmlns:a="http://schemas.openxmlformats.org/drawingml/2006/main">
              <a:ext uri="{FF2B5EF4-FFF2-40B4-BE49-F238E27FC236}">
                <a16:creationId xmlns:a16="http://schemas.microsoft.com/office/drawing/2014/main" id="{6994CB0B-D7DB-421B-A30A-F2AF6DEC185D}"/>
              </a:ext>
            </a:extLst>
          </p:cNvPr>
          <p:cNvSpPr>
            <a:spLocks xmlns:a="http://schemas.openxmlformats.org/drawingml/2006/main" noGrp="1"/>
          </p:cNvSpPr>
          <p:nvPr/>
        </p:nvSpPr>
        <p:spPr>
          <a:xfrm xmlns:a="http://schemas.openxmlformats.org/drawingml/2006/main">
            <a:off x="7429500" y="1990725"/>
            <a:ext cx="323850" cy="323850"/>
          </a:xfrm>
          <a:prstGeom xmlns:a="http://schemas.openxmlformats.org/drawingml/2006/main" prst="roundRect">
            <a:avLst>
              <a:gd name="adj" fmla="val 23529"/>
            </a:avLst>
          </a:prstGeom>
          <a:solidFill xmlns:a="http://schemas.openxmlformats.org/drawingml/2006/main">
            <a:srgbClr val="00B2BB"/>
          </a:solidFill>
          <a:ln xmlns:a="http://schemas.openxmlformats.org/drawingml/2006/main" w="0">
            <a:solidFill>
              <a:srgbClr val="00B2BB"/>
            </a:solidFill>
            <a:prstDash val="solid"/>
          </a:ln>
        </p:spPr>
      </p:sp>
      <p:sp>
        <p:nvSpPr>
          <p:cNvPr id="9" name="">
            <a:extLst xmlns:a="http://schemas.openxmlformats.org/drawingml/2006/main">
              <a:ext uri="{FF2B5EF4-FFF2-40B4-BE49-F238E27FC236}">
                <a16:creationId xmlns:a16="http://schemas.microsoft.com/office/drawing/2014/main" id="{1089A6E4-F654-4FCB-AA39-C106E0F4FEF6}"/>
              </a:ext>
            </a:extLst>
          </p:cNvPr>
          <p:cNvSpPr>
            <a:spLocks xmlns:a="http://schemas.openxmlformats.org/drawingml/2006/main" noGrp="1"/>
          </p:cNvSpPr>
          <p:nvPr/>
        </p:nvSpPr>
        <p:spPr>
          <a:xfrm xmlns:a="http://schemas.openxmlformats.org/drawingml/2006/main">
            <a:off x="7429500" y="1990725"/>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10" name="">
            <a:extLst xmlns:a="http://schemas.openxmlformats.org/drawingml/2006/main">
              <a:ext uri="{FF2B5EF4-FFF2-40B4-BE49-F238E27FC236}">
                <a16:creationId xmlns:a16="http://schemas.microsoft.com/office/drawing/2014/main" id="{C5E01985-42E3-4993-892D-7ACA869190AE}"/>
              </a:ext>
            </a:extLst>
          </p:cNvPr>
          <p:cNvSpPr>
            <a:spLocks xmlns:a="http://schemas.openxmlformats.org/drawingml/2006/main" noGrp="1"/>
          </p:cNvSpPr>
          <p:nvPr/>
        </p:nvSpPr>
        <p:spPr>
          <a:xfrm xmlns:a="http://schemas.openxmlformats.org/drawingml/2006/main">
            <a:off x="7886700" y="1952625"/>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15" b="1">
                <a:solidFill>
                  <a:srgbClr val="15232B"/>
                </a:solidFill>
              </a:defRPr>
            </a:pPr>
            <a:r>
              <a:rPr sz="1215" b="1">
                <a:solidFill>
                  <a:srgbClr val="15232B"/>
                </a:solidFill>
              </a:rPr>
              <a:t>Standard</a:t>
            </a:r>
          </a:p>
        </p:txBody>
      </p:sp>
      <p:sp>
        <p:nvSpPr>
          <p:cNvPr id="11" name="">
            <a:extLst xmlns:a="http://schemas.openxmlformats.org/drawingml/2006/main">
              <a:ext uri="{FF2B5EF4-FFF2-40B4-BE49-F238E27FC236}">
                <a16:creationId xmlns:a16="http://schemas.microsoft.com/office/drawing/2014/main" id="{80F4512D-63ED-445F-95AD-C3C9F5C5729F}"/>
              </a:ext>
            </a:extLst>
          </p:cNvPr>
          <p:cNvSpPr>
            <a:spLocks xmlns:a="http://schemas.openxmlformats.org/drawingml/2006/main" noGrp="1"/>
          </p:cNvSpPr>
          <p:nvPr/>
        </p:nvSpPr>
        <p:spPr>
          <a:xfrm xmlns:a="http://schemas.openxmlformats.org/drawingml/2006/main">
            <a:off x="7886700" y="2238375"/>
            <a:ext cx="3333750" cy="28528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13">
                <a:solidFill>
                  <a:srgbClr val="667680"/>
                </a:solidFill>
              </a:defRPr>
            </a:pPr>
            <a:r>
              <a:rPr sz="1013">
                <a:solidFill>
                  <a:srgbClr val="667680"/>
                </a:solidFill>
              </a:rPr>
              <a:t>Neurologische Untersuchung? Bildgebung? Lyse-/Thrombektomieprüfung?</a:t>
            </a:r>
          </a:p>
        </p:txBody>
      </p:sp>
      <p:sp>
        <p:nvSpPr>
          <p:cNvPr id="12" name="">
            <a:extLst xmlns:a="http://schemas.openxmlformats.org/drawingml/2006/main">
              <a:ext uri="{FF2B5EF4-FFF2-40B4-BE49-F238E27FC236}">
                <a16:creationId xmlns:a16="http://schemas.microsoft.com/office/drawing/2014/main" id="{DCB2BE00-CFEC-466F-8D21-D2DDE13F1F6C}"/>
              </a:ext>
            </a:extLst>
          </p:cNvPr>
          <p:cNvSpPr>
            <a:spLocks xmlns:a="http://schemas.openxmlformats.org/drawingml/2006/main" noGrp="1"/>
          </p:cNvSpPr>
          <p:nvPr/>
        </p:nvSpPr>
        <p:spPr>
          <a:xfrm xmlns:a="http://schemas.openxmlformats.org/drawingml/2006/main">
            <a:off x="7429500" y="2657010"/>
            <a:ext cx="323850" cy="323850"/>
          </a:xfrm>
          <a:prstGeom xmlns:a="http://schemas.openxmlformats.org/drawingml/2006/main" prst="roundRect">
            <a:avLst>
              <a:gd name="adj" fmla="val 23529"/>
            </a:avLst>
          </a:prstGeom>
          <a:solidFill xmlns:a="http://schemas.openxmlformats.org/drawingml/2006/main">
            <a:srgbClr val="003F6B"/>
          </a:solidFill>
          <a:ln xmlns:a="http://schemas.openxmlformats.org/drawingml/2006/main" w="0">
            <a:solidFill>
              <a:srgbClr val="003F6B"/>
            </a:solidFill>
            <a:prstDash val="solid"/>
          </a:ln>
        </p:spPr>
      </p:sp>
      <p:sp>
        <p:nvSpPr>
          <p:cNvPr id="13" name="">
            <a:extLst xmlns:a="http://schemas.openxmlformats.org/drawingml/2006/main">
              <a:ext uri="{FF2B5EF4-FFF2-40B4-BE49-F238E27FC236}">
                <a16:creationId xmlns:a16="http://schemas.microsoft.com/office/drawing/2014/main" id="{7E00BE5F-CE1E-4C2C-B98C-B7CA491F1740}"/>
              </a:ext>
            </a:extLst>
          </p:cNvPr>
          <p:cNvSpPr>
            <a:spLocks xmlns:a="http://schemas.openxmlformats.org/drawingml/2006/main" noGrp="1"/>
          </p:cNvSpPr>
          <p:nvPr/>
        </p:nvSpPr>
        <p:spPr>
          <a:xfrm xmlns:a="http://schemas.openxmlformats.org/drawingml/2006/main">
            <a:off x="7429500" y="265701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4" name="">
            <a:extLst xmlns:a="http://schemas.openxmlformats.org/drawingml/2006/main">
              <a:ext uri="{FF2B5EF4-FFF2-40B4-BE49-F238E27FC236}">
                <a16:creationId xmlns:a16="http://schemas.microsoft.com/office/drawing/2014/main" id="{DD0D4F46-CEF0-41D2-A5F8-596CAAE7B85C}"/>
              </a:ext>
            </a:extLst>
          </p:cNvPr>
          <p:cNvSpPr>
            <a:spLocks xmlns:a="http://schemas.openxmlformats.org/drawingml/2006/main" noGrp="1"/>
          </p:cNvSpPr>
          <p:nvPr/>
        </p:nvSpPr>
        <p:spPr>
          <a:xfrm xmlns:a="http://schemas.openxmlformats.org/drawingml/2006/main">
            <a:off x="7886700" y="261891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15" b="1">
                <a:solidFill>
                  <a:srgbClr val="15232B"/>
                </a:solidFill>
              </a:defRPr>
            </a:pPr>
            <a:r>
              <a:rPr sz="1215" b="1">
                <a:solidFill>
                  <a:srgbClr val="15232B"/>
                </a:solidFill>
              </a:rPr>
              <a:t>Tatsachen</a:t>
            </a:r>
          </a:p>
        </p:txBody>
      </p:sp>
      <p:sp>
        <p:nvSpPr>
          <p:cNvPr id="15" name="">
            <a:extLst xmlns:a="http://schemas.openxmlformats.org/drawingml/2006/main">
              <a:ext uri="{FF2B5EF4-FFF2-40B4-BE49-F238E27FC236}">
                <a16:creationId xmlns:a16="http://schemas.microsoft.com/office/drawing/2014/main" id="{18B6E9CE-AE0A-4E58-8459-510D4EDEB38F}"/>
              </a:ext>
            </a:extLst>
          </p:cNvPr>
          <p:cNvSpPr>
            <a:spLocks xmlns:a="http://schemas.openxmlformats.org/drawingml/2006/main" noGrp="1"/>
          </p:cNvSpPr>
          <p:nvPr/>
        </p:nvSpPr>
        <p:spPr>
          <a:xfrm xmlns:a="http://schemas.openxmlformats.org/drawingml/2006/main">
            <a:off x="7886700" y="290466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13">
                <a:solidFill>
                  <a:srgbClr val="667680"/>
                </a:solidFill>
              </a:defRPr>
            </a:pPr>
            <a:r>
              <a:rPr sz="1013">
                <a:solidFill>
                  <a:srgbClr val="667680"/>
                </a:solidFill>
              </a:rPr>
              <a:t>Welche Symptome wann? Pflegeakte vs. späterer Entlassbrief?</a:t>
            </a:r>
          </a:p>
        </p:txBody>
      </p:sp>
      <p:sp>
        <p:nvSpPr>
          <p:cNvPr id="16" name="">
            <a:extLst xmlns:a="http://schemas.openxmlformats.org/drawingml/2006/main">
              <a:ext uri="{FF2B5EF4-FFF2-40B4-BE49-F238E27FC236}">
                <a16:creationId xmlns:a16="http://schemas.microsoft.com/office/drawing/2014/main" id="{AF7CB0F9-8DEE-47EF-B946-D6E69BD0D557}"/>
              </a:ext>
            </a:extLst>
          </p:cNvPr>
          <p:cNvSpPr>
            <a:spLocks xmlns:a="http://schemas.openxmlformats.org/drawingml/2006/main" noGrp="1"/>
          </p:cNvSpPr>
          <p:nvPr/>
        </p:nvSpPr>
        <p:spPr>
          <a:xfrm xmlns:a="http://schemas.openxmlformats.org/drawingml/2006/main">
            <a:off x="7429500" y="3298865"/>
            <a:ext cx="323850" cy="323850"/>
          </a:xfrm>
          <a:prstGeom xmlns:a="http://schemas.openxmlformats.org/drawingml/2006/main" prst="roundRect">
            <a:avLst>
              <a:gd name="adj" fmla="val 23529"/>
            </a:avLst>
          </a:prstGeom>
          <a:solidFill xmlns:a="http://schemas.openxmlformats.org/drawingml/2006/main">
            <a:srgbClr val="00B2BB"/>
          </a:solidFill>
          <a:ln xmlns:a="http://schemas.openxmlformats.org/drawingml/2006/main" w="0">
            <a:solidFill>
              <a:srgbClr val="00B2BB"/>
            </a:solidFill>
            <a:prstDash val="solid"/>
          </a:ln>
        </p:spPr>
      </p:sp>
      <p:sp>
        <p:nvSpPr>
          <p:cNvPr id="17" name="">
            <a:extLst xmlns:a="http://schemas.openxmlformats.org/drawingml/2006/main">
              <a:ext uri="{FF2B5EF4-FFF2-40B4-BE49-F238E27FC236}">
                <a16:creationId xmlns:a16="http://schemas.microsoft.com/office/drawing/2014/main" id="{37120854-663D-43A5-B54F-223B35D27278}"/>
              </a:ext>
            </a:extLst>
          </p:cNvPr>
          <p:cNvSpPr>
            <a:spLocks xmlns:a="http://schemas.openxmlformats.org/drawingml/2006/main" noGrp="1"/>
          </p:cNvSpPr>
          <p:nvPr/>
        </p:nvSpPr>
        <p:spPr>
          <a:xfrm xmlns:a="http://schemas.openxmlformats.org/drawingml/2006/main">
            <a:off x="7429500" y="3298865"/>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8" name="">
            <a:extLst xmlns:a="http://schemas.openxmlformats.org/drawingml/2006/main">
              <a:ext uri="{FF2B5EF4-FFF2-40B4-BE49-F238E27FC236}">
                <a16:creationId xmlns:a16="http://schemas.microsoft.com/office/drawing/2014/main" id="{7AD3502B-B506-4F8E-B461-AD724F8E62CD}"/>
              </a:ext>
            </a:extLst>
          </p:cNvPr>
          <p:cNvSpPr>
            <a:spLocks xmlns:a="http://schemas.openxmlformats.org/drawingml/2006/main" noGrp="1"/>
          </p:cNvSpPr>
          <p:nvPr/>
        </p:nvSpPr>
        <p:spPr>
          <a:xfrm xmlns:a="http://schemas.openxmlformats.org/drawingml/2006/main">
            <a:off x="7886700" y="3260765"/>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15" b="1">
                <a:solidFill>
                  <a:srgbClr val="15232B"/>
                </a:solidFill>
              </a:defRPr>
            </a:pPr>
            <a:r>
              <a:rPr sz="1215" b="1">
                <a:solidFill>
                  <a:srgbClr val="15232B"/>
                </a:solidFill>
              </a:rPr>
              <a:t>Fehler</a:t>
            </a:r>
          </a:p>
        </p:txBody>
      </p:sp>
      <p:sp>
        <p:nvSpPr>
          <p:cNvPr id="19" name="">
            <a:extLst xmlns:a="http://schemas.openxmlformats.org/drawingml/2006/main">
              <a:ext uri="{FF2B5EF4-FFF2-40B4-BE49-F238E27FC236}">
                <a16:creationId xmlns:a16="http://schemas.microsoft.com/office/drawing/2014/main" id="{D311D5A1-9303-4CFF-A2FB-4904281933C8}"/>
              </a:ext>
            </a:extLst>
          </p:cNvPr>
          <p:cNvSpPr>
            <a:spLocks xmlns:a="http://schemas.openxmlformats.org/drawingml/2006/main" noGrp="1"/>
          </p:cNvSpPr>
          <p:nvPr/>
        </p:nvSpPr>
        <p:spPr>
          <a:xfrm xmlns:a="http://schemas.openxmlformats.org/drawingml/2006/main">
            <a:off x="7886700" y="3546515"/>
            <a:ext cx="3333750" cy="2730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13">
                <a:solidFill>
                  <a:srgbClr val="667680"/>
                </a:solidFill>
              </a:defRPr>
            </a:pPr>
            <a:r>
              <a:rPr sz="1013">
                <a:solidFill>
                  <a:srgbClr val="667680"/>
                </a:solidFill>
              </a:rPr>
              <a:t>War die Verzögerung fachlich unvertretbar oder noch vertretbar?</a:t>
            </a:r>
          </a:p>
        </p:txBody>
      </p:sp>
      <p:sp>
        <p:nvSpPr>
          <p:cNvPr id="20" name="">
            <a:extLst xmlns:a="http://schemas.openxmlformats.org/drawingml/2006/main">
              <a:ext uri="{FF2B5EF4-FFF2-40B4-BE49-F238E27FC236}">
                <a16:creationId xmlns:a16="http://schemas.microsoft.com/office/drawing/2014/main" id="{A480FA62-23BE-4AA0-834A-4DEA442213AE}"/>
              </a:ext>
            </a:extLst>
          </p:cNvPr>
          <p:cNvSpPr>
            <a:spLocks xmlns:a="http://schemas.openxmlformats.org/drawingml/2006/main" noGrp="1"/>
          </p:cNvSpPr>
          <p:nvPr/>
        </p:nvSpPr>
        <p:spPr>
          <a:xfrm xmlns:a="http://schemas.openxmlformats.org/drawingml/2006/main">
            <a:off x="7429500" y="3952936"/>
            <a:ext cx="323850" cy="323850"/>
          </a:xfrm>
          <a:prstGeom xmlns:a="http://schemas.openxmlformats.org/drawingml/2006/main" prst="roundRect">
            <a:avLst>
              <a:gd name="adj" fmla="val 23529"/>
            </a:avLst>
          </a:prstGeom>
          <a:solidFill xmlns:a="http://schemas.openxmlformats.org/drawingml/2006/main">
            <a:srgbClr val="003F6B"/>
          </a:solidFill>
          <a:ln xmlns:a="http://schemas.openxmlformats.org/drawingml/2006/main" w="0">
            <a:solidFill>
              <a:srgbClr val="003F6B"/>
            </a:solidFill>
            <a:prstDash val="solid"/>
          </a:ln>
        </p:spPr>
      </p:sp>
      <p:sp>
        <p:nvSpPr>
          <p:cNvPr id="21" name="">
            <a:extLst xmlns:a="http://schemas.openxmlformats.org/drawingml/2006/main">
              <a:ext uri="{FF2B5EF4-FFF2-40B4-BE49-F238E27FC236}">
                <a16:creationId xmlns:a16="http://schemas.microsoft.com/office/drawing/2014/main" id="{EF5A1EF6-CC83-4EF0-B4BC-CA48BD7C38AF}"/>
              </a:ext>
            </a:extLst>
          </p:cNvPr>
          <p:cNvSpPr>
            <a:spLocks xmlns:a="http://schemas.openxmlformats.org/drawingml/2006/main" noGrp="1"/>
          </p:cNvSpPr>
          <p:nvPr/>
        </p:nvSpPr>
        <p:spPr>
          <a:xfrm xmlns:a="http://schemas.openxmlformats.org/drawingml/2006/main">
            <a:off x="7429500" y="3952936"/>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22" name="">
            <a:extLst xmlns:a="http://schemas.openxmlformats.org/drawingml/2006/main">
              <a:ext uri="{FF2B5EF4-FFF2-40B4-BE49-F238E27FC236}">
                <a16:creationId xmlns:a16="http://schemas.microsoft.com/office/drawing/2014/main" id="{8D66718C-1961-40B1-9DB9-FEF9ACEFB40D}"/>
              </a:ext>
            </a:extLst>
          </p:cNvPr>
          <p:cNvSpPr>
            <a:spLocks xmlns:a="http://schemas.openxmlformats.org/drawingml/2006/main" noGrp="1"/>
          </p:cNvSpPr>
          <p:nvPr/>
        </p:nvSpPr>
        <p:spPr>
          <a:xfrm xmlns:a="http://schemas.openxmlformats.org/drawingml/2006/main">
            <a:off x="7886700" y="3914836"/>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15" b="1">
                <a:solidFill>
                  <a:srgbClr val="15232B"/>
                </a:solidFill>
              </a:defRPr>
            </a:pPr>
            <a:r>
              <a:rPr sz="1215" b="1">
                <a:solidFill>
                  <a:srgbClr val="15232B"/>
                </a:solidFill>
              </a:rPr>
              <a:t>Kausalität</a:t>
            </a:r>
          </a:p>
        </p:txBody>
      </p:sp>
      <p:sp>
        <p:nvSpPr>
          <p:cNvPr id="23" name="">
            <a:extLst xmlns:a="http://schemas.openxmlformats.org/drawingml/2006/main">
              <a:ext uri="{FF2B5EF4-FFF2-40B4-BE49-F238E27FC236}">
                <a16:creationId xmlns:a16="http://schemas.microsoft.com/office/drawing/2014/main" id="{066036A0-3254-4E29-85ED-D4425AEB8C23}"/>
              </a:ext>
            </a:extLst>
          </p:cNvPr>
          <p:cNvSpPr>
            <a:spLocks xmlns:a="http://schemas.openxmlformats.org/drawingml/2006/main" noGrp="1"/>
          </p:cNvSpPr>
          <p:nvPr/>
        </p:nvSpPr>
        <p:spPr>
          <a:xfrm xmlns:a="http://schemas.openxmlformats.org/drawingml/2006/main">
            <a:off x="7886700" y="4200586"/>
            <a:ext cx="3333750" cy="36773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13">
                <a:solidFill>
                  <a:srgbClr val="667680"/>
                </a:solidFill>
              </a:defRPr>
            </a:pPr>
            <a:r>
              <a:rPr sz="1013">
                <a:solidFill>
                  <a:srgbClr val="667680"/>
                </a:solidFill>
              </a:rPr>
              <a:t>Hätte frühere Diagnostik / Therapie den Verlauf mit überwiegender Wahrscheinlichkeit geändert?</a:t>
            </a:r>
          </a:p>
        </p:txBody>
      </p:sp>
      <p:sp>
        <p:nvSpPr>
          <p:cNvPr id="24" name="">
            <a:extLst xmlns:a="http://schemas.openxmlformats.org/drawingml/2006/main">
              <a:ext uri="{FF2B5EF4-FFF2-40B4-BE49-F238E27FC236}">
                <a16:creationId xmlns:a16="http://schemas.microsoft.com/office/drawing/2014/main" id="{891B18EF-A77A-46F8-9080-83B7DE7C88BA}"/>
              </a:ext>
            </a:extLst>
          </p:cNvPr>
          <p:cNvSpPr>
            <a:spLocks xmlns:a="http://schemas.openxmlformats.org/drawingml/2006/main" noGrp="1"/>
          </p:cNvSpPr>
          <p:nvPr/>
        </p:nvSpPr>
        <p:spPr>
          <a:xfrm xmlns:a="http://schemas.openxmlformats.org/drawingml/2006/main">
            <a:off x="7429500" y="4701669"/>
            <a:ext cx="323850" cy="323850"/>
          </a:xfrm>
          <a:prstGeom xmlns:a="http://schemas.openxmlformats.org/drawingml/2006/main" prst="roundRect">
            <a:avLst>
              <a:gd name="adj" fmla="val 23529"/>
            </a:avLst>
          </a:prstGeom>
          <a:solidFill xmlns:a="http://schemas.openxmlformats.org/drawingml/2006/main">
            <a:srgbClr val="00B2BB"/>
          </a:solidFill>
          <a:ln xmlns:a="http://schemas.openxmlformats.org/drawingml/2006/main" w="0">
            <a:solidFill>
              <a:srgbClr val="00B2BB"/>
            </a:solidFill>
            <a:prstDash val="solid"/>
          </a:ln>
        </p:spPr>
      </p:sp>
      <p:sp>
        <p:nvSpPr>
          <p:cNvPr id="25" name="">
            <a:extLst xmlns:a="http://schemas.openxmlformats.org/drawingml/2006/main">
              <a:ext uri="{FF2B5EF4-FFF2-40B4-BE49-F238E27FC236}">
                <a16:creationId xmlns:a16="http://schemas.microsoft.com/office/drawing/2014/main" id="{AC738390-993A-4D81-AE67-8FC1CC2AA7C0}"/>
              </a:ext>
            </a:extLst>
          </p:cNvPr>
          <p:cNvSpPr>
            <a:spLocks xmlns:a="http://schemas.openxmlformats.org/drawingml/2006/main" noGrp="1"/>
          </p:cNvSpPr>
          <p:nvPr/>
        </p:nvSpPr>
        <p:spPr>
          <a:xfrm xmlns:a="http://schemas.openxmlformats.org/drawingml/2006/main">
            <a:off x="7429500" y="4701669"/>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5</a:t>
            </a:r>
          </a:p>
        </p:txBody>
      </p:sp>
      <p:sp>
        <p:nvSpPr>
          <p:cNvPr id="26" name="">
            <a:extLst xmlns:a="http://schemas.openxmlformats.org/drawingml/2006/main">
              <a:ext uri="{FF2B5EF4-FFF2-40B4-BE49-F238E27FC236}">
                <a16:creationId xmlns:a16="http://schemas.microsoft.com/office/drawing/2014/main" id="{081855A0-09B1-45BA-8FF9-A4AB59DE8C45}"/>
              </a:ext>
            </a:extLst>
          </p:cNvPr>
          <p:cNvSpPr>
            <a:spLocks xmlns:a="http://schemas.openxmlformats.org/drawingml/2006/main" noGrp="1"/>
          </p:cNvSpPr>
          <p:nvPr/>
        </p:nvSpPr>
        <p:spPr>
          <a:xfrm xmlns:a="http://schemas.openxmlformats.org/drawingml/2006/main">
            <a:off x="7886700" y="4663569"/>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15" b="1">
                <a:solidFill>
                  <a:srgbClr val="15232B"/>
                </a:solidFill>
              </a:defRPr>
            </a:pPr>
            <a:r>
              <a:rPr sz="1215" b="1">
                <a:solidFill>
                  <a:srgbClr val="15232B"/>
                </a:solidFill>
              </a:rPr>
              <a:t>Beweislast</a:t>
            </a:r>
          </a:p>
        </p:txBody>
      </p:sp>
      <p:sp>
        <p:nvSpPr>
          <p:cNvPr id="27" name="">
            <a:extLst xmlns:a="http://schemas.openxmlformats.org/drawingml/2006/main">
              <a:ext uri="{FF2B5EF4-FFF2-40B4-BE49-F238E27FC236}">
                <a16:creationId xmlns:a16="http://schemas.microsoft.com/office/drawing/2014/main" id="{01A1F771-824D-4B3A-B8CA-72BB3838946B}"/>
              </a:ext>
            </a:extLst>
          </p:cNvPr>
          <p:cNvSpPr>
            <a:spLocks xmlns:a="http://schemas.openxmlformats.org/drawingml/2006/main" noGrp="1"/>
          </p:cNvSpPr>
          <p:nvPr/>
        </p:nvSpPr>
        <p:spPr>
          <a:xfrm xmlns:a="http://schemas.openxmlformats.org/drawingml/2006/main">
            <a:off x="7886700" y="4949319"/>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13">
                <a:solidFill>
                  <a:srgbClr val="667680"/>
                </a:solidFill>
              </a:defRPr>
            </a:pPr>
            <a:r>
              <a:rPr sz="1013">
                <a:solidFill>
                  <a:srgbClr val="667680"/>
                </a:solidFill>
              </a:rPr>
              <a:t>Dokumentationslücke, grober Fehler oder normale Beweislast?</a:t>
            </a:r>
          </a:p>
        </p:txBody>
      </p:sp>
      <p:sp>
        <p:nvSpPr>
          <p:cNvPr id="28" name="">
            <a:extLst xmlns:a="http://schemas.openxmlformats.org/drawingml/2006/main">
              <a:ext uri="{FF2B5EF4-FFF2-40B4-BE49-F238E27FC236}">
                <a16:creationId xmlns:a16="http://schemas.microsoft.com/office/drawing/2014/main" id="{0E74D7C5-B37A-40B9-9EA1-A23A04DDA3E8}"/>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20">
                <a:solidFill>
                  <a:srgbClr val="667680"/>
                </a:solidFill>
              </a:defRPr>
            </a:pPr>
            <a:r>
              <a:rPr sz="720">
                <a:solidFill>
                  <a:srgbClr val="667680"/>
                </a:solidFill>
              </a:rPr>
              <a:t>Didaktischer Transferfall nach BGH, Urt. v. 07.06.2011 – VI ZR 87/10 · https://juris.bundesgerichtshof.de</a:t>
            </a:r>
          </a:p>
        </p:txBody>
      </p:sp>
      <p:sp>
        <p:nvSpPr>
          <p:cNvPr id="29" name="">
            <a:extLst xmlns:a="http://schemas.openxmlformats.org/drawingml/2006/main">
              <a:ext uri="{FF2B5EF4-FFF2-40B4-BE49-F238E27FC236}">
                <a16:creationId xmlns:a16="http://schemas.microsoft.com/office/drawing/2014/main" id="{B22A53AE-B0EE-4267-9AAC-CA1AD217EE2C}"/>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30" name="">
            <a:extLst xmlns:a="http://schemas.openxmlformats.org/drawingml/2006/main">
              <a:ext uri="{FF2B5EF4-FFF2-40B4-BE49-F238E27FC236}">
                <a16:creationId xmlns:a16="http://schemas.microsoft.com/office/drawing/2014/main" id="{43F34D2D-C53D-4F1D-A5A7-53A9290F0DDC}"/>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Das Gericht gibt dem Sachverständigen Tatsachen vor; der Sachverständige entscheidet nicht, wem geglaubt wird.</a:t>
            </a:r>
          </a:p>
        </p:txBody>
      </p:sp>
    </p:spTree>
    <p:extLst>
      <p:ext uri="{BB962C8B-B14F-4D97-AF65-F5344CB8AC3E}">
        <p14:creationId xmlns:p14="http://schemas.microsoft.com/office/powerpoint/2010/main" val="43637646"/>
      </p:ext>
    </p:extLst>
  </p:cSld>
</p:sld>
</file>

<file path=ppt/slides/slide102.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Kurzquiz: Drei Fehlschlüsse</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MYTHEN-CHECK</a:t>
            </a:r>
            <a:endParaRPr/>
          </a:p>
        </p:txBody>
      </p:sp>
      <p:sp>
        <p:nvSpPr>
          <p:cNvPr id="4" name="">
            <a:extLst xmlns:a="http://schemas.openxmlformats.org/drawingml/2006/main">
              <a:ext uri="{FF2B5EF4-FFF2-40B4-BE49-F238E27FC236}">
                <a16:creationId xmlns:a16="http://schemas.microsoft.com/office/drawing/2014/main" id="{41EC82B8-27F8-4F64-BBE1-69CF000BD761}"/>
              </a:ext>
            </a:extLst>
          </p:cNvPr>
          <p:cNvSpPr>
            <a:spLocks xmlns:a="http://schemas.openxmlformats.org/drawingml/2006/main" noGrp="1"/>
          </p:cNvSpPr>
          <p:nvPr/>
        </p:nvSpPr>
        <p:spPr>
          <a:xfrm xmlns:a="http://schemas.openxmlformats.org/drawingml/2006/main">
            <a:off x="1809750" y="1952625"/>
            <a:ext cx="3073400" cy="3495675"/>
          </a:xfrm>
          <a:prstGeom xmlns:a="http://schemas.openxmlformats.org/drawingml/2006/main" prst="roundRect">
            <a:avLst>
              <a:gd name="adj" fmla="val 2479"/>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217BF79C-48F9-4B72-92E3-E75A7722A602}"/>
              </a:ext>
            </a:extLst>
          </p:cNvPr>
          <p:cNvSpPr>
            <a:spLocks xmlns:a="http://schemas.openxmlformats.org/drawingml/2006/main" noGrp="1"/>
          </p:cNvSpPr>
          <p:nvPr/>
        </p:nvSpPr>
        <p:spPr>
          <a:xfrm xmlns:a="http://schemas.openxmlformats.org/drawingml/2006/main">
            <a:off x="1809750" y="1952625"/>
            <a:ext cx="30734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BAA4310A-D782-4E0D-B583-CBC73D1DA238}"/>
              </a:ext>
            </a:extLst>
          </p:cNvPr>
          <p:cNvSpPr>
            <a:spLocks xmlns:a="http://schemas.openxmlformats.org/drawingml/2006/main" noGrp="1"/>
          </p:cNvSpPr>
          <p:nvPr/>
        </p:nvSpPr>
        <p:spPr>
          <a:xfrm xmlns:a="http://schemas.openxmlformats.org/drawingml/2006/main">
            <a:off x="1962150" y="2085975"/>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1</a:t>
            </a:r>
          </a:p>
        </p:txBody>
      </p:sp>
      <p:sp>
        <p:nvSpPr>
          <p:cNvPr id="7" name="">
            <a:extLst xmlns:a="http://schemas.openxmlformats.org/drawingml/2006/main">
              <a:ext uri="{FF2B5EF4-FFF2-40B4-BE49-F238E27FC236}">
                <a16:creationId xmlns:a16="http://schemas.microsoft.com/office/drawing/2014/main" id="{EFFAC9F8-F4E7-4DE9-A50B-0E6CCF91C4FF}"/>
              </a:ext>
            </a:extLst>
          </p:cNvPr>
          <p:cNvSpPr>
            <a:spLocks xmlns:a="http://schemas.openxmlformats.org/drawingml/2006/main" noGrp="1"/>
          </p:cNvSpPr>
          <p:nvPr/>
        </p:nvSpPr>
        <p:spPr>
          <a:xfrm xmlns:a="http://schemas.openxmlformats.org/drawingml/2006/main">
            <a:off x="1962150" y="2524125"/>
            <a:ext cx="2768600" cy="2790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88">
                <a:solidFill>
                  <a:srgbClr val="15232B"/>
                </a:solidFill>
              </a:defRPr>
            </a:pPr>
            <a:r>
              <a:rPr sz="1088">
                <a:solidFill>
                  <a:srgbClr val="15232B"/>
                </a:solidFill>
              </a:rPr>
              <a:t>Falsch: Komplikation und Fehler trennen.</a:t>
            </a:r>
          </a:p>
        </p:txBody>
      </p:sp>
      <p:sp>
        <p:nvSpPr>
          <p:cNvPr id="8" name="">
            <a:extLst xmlns:a="http://schemas.openxmlformats.org/drawingml/2006/main">
              <a:ext uri="{FF2B5EF4-FFF2-40B4-BE49-F238E27FC236}">
                <a16:creationId xmlns:a16="http://schemas.microsoft.com/office/drawing/2014/main" id="{C6D5495A-A4BA-4736-B6CC-F673F714D26B}"/>
              </a:ext>
            </a:extLst>
          </p:cNvPr>
          <p:cNvSpPr>
            <a:spLocks xmlns:a="http://schemas.openxmlformats.org/drawingml/2006/main" noGrp="1"/>
          </p:cNvSpPr>
          <p:nvPr/>
        </p:nvSpPr>
        <p:spPr>
          <a:xfrm xmlns:a="http://schemas.openxmlformats.org/drawingml/2006/main">
            <a:off x="5035550" y="1952625"/>
            <a:ext cx="3073400" cy="3495675"/>
          </a:xfrm>
          <a:prstGeom xmlns:a="http://schemas.openxmlformats.org/drawingml/2006/main" prst="roundRect">
            <a:avLst>
              <a:gd name="adj" fmla="val 2479"/>
            </a:avLst>
          </a:prstGeom>
          <a:noFill xmlns:a="http://schemas.openxmlformats.org/drawingml/2006/main"/>
          <a:ln xmlns:a="http://schemas.openxmlformats.org/drawingml/2006/main" w="9525">
            <a:solidFill>
              <a:srgbClr val="B9CAD2"/>
            </a:solidFill>
            <a:prstDash val="solid"/>
          </a:ln>
        </p:spPr>
      </p:sp>
      <p:sp>
        <p:nvSpPr>
          <p:cNvPr id="9" name="">
            <a:extLst xmlns:a="http://schemas.openxmlformats.org/drawingml/2006/main">
              <a:ext uri="{FF2B5EF4-FFF2-40B4-BE49-F238E27FC236}">
                <a16:creationId xmlns:a16="http://schemas.microsoft.com/office/drawing/2014/main" id="{92DA9D9D-49B3-40AB-AC90-28B18CF5DFBE}"/>
              </a:ext>
            </a:extLst>
          </p:cNvPr>
          <p:cNvSpPr>
            <a:spLocks xmlns:a="http://schemas.openxmlformats.org/drawingml/2006/main" noGrp="1"/>
          </p:cNvSpPr>
          <p:nvPr/>
        </p:nvSpPr>
        <p:spPr>
          <a:xfrm xmlns:a="http://schemas.openxmlformats.org/drawingml/2006/main">
            <a:off x="5035550" y="1952625"/>
            <a:ext cx="307340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1B5D066B-FC3D-4E81-8C66-A32FB8C0BB84}"/>
              </a:ext>
            </a:extLst>
          </p:cNvPr>
          <p:cNvSpPr>
            <a:spLocks xmlns:a="http://schemas.openxmlformats.org/drawingml/2006/main" noGrp="1"/>
          </p:cNvSpPr>
          <p:nvPr/>
        </p:nvSpPr>
        <p:spPr>
          <a:xfrm xmlns:a="http://schemas.openxmlformats.org/drawingml/2006/main">
            <a:off x="5187950" y="2085975"/>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2</a:t>
            </a:r>
          </a:p>
        </p:txBody>
      </p:sp>
      <p:sp>
        <p:nvSpPr>
          <p:cNvPr id="11" name="">
            <a:extLst xmlns:a="http://schemas.openxmlformats.org/drawingml/2006/main">
              <a:ext uri="{FF2B5EF4-FFF2-40B4-BE49-F238E27FC236}">
                <a16:creationId xmlns:a16="http://schemas.microsoft.com/office/drawing/2014/main" id="{47B83DCD-06DB-4BE8-B6AE-43C81FA70BC0}"/>
              </a:ext>
            </a:extLst>
          </p:cNvPr>
          <p:cNvSpPr>
            <a:spLocks xmlns:a="http://schemas.openxmlformats.org/drawingml/2006/main" noGrp="1"/>
          </p:cNvSpPr>
          <p:nvPr/>
        </p:nvSpPr>
        <p:spPr>
          <a:xfrm xmlns:a="http://schemas.openxmlformats.org/drawingml/2006/main">
            <a:off x="5187950" y="2524125"/>
            <a:ext cx="2768600" cy="2790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88">
                <a:solidFill>
                  <a:srgbClr val="15232B"/>
                </a:solidFill>
              </a:defRPr>
            </a:pPr>
            <a:r>
              <a:rPr sz="1088">
                <a:solidFill>
                  <a:srgbClr val="15232B"/>
                </a:solidFill>
              </a:rPr>
              <a:t>Zu pauschal: § 630h Abs. 3 betrifft wesentliche Maßnahmen und ihr Ergebnis.</a:t>
            </a:r>
          </a:p>
        </p:txBody>
      </p:sp>
      <p:sp>
        <p:nvSpPr>
          <p:cNvPr id="12" name="">
            <a:extLst xmlns:a="http://schemas.openxmlformats.org/drawingml/2006/main">
              <a:ext uri="{FF2B5EF4-FFF2-40B4-BE49-F238E27FC236}">
                <a16:creationId xmlns:a16="http://schemas.microsoft.com/office/drawing/2014/main" id="{CC492F7B-5788-41E0-99A4-57C9A9FC7168}"/>
              </a:ext>
            </a:extLst>
          </p:cNvPr>
          <p:cNvSpPr>
            <a:spLocks xmlns:a="http://schemas.openxmlformats.org/drawingml/2006/main" noGrp="1"/>
          </p:cNvSpPr>
          <p:nvPr/>
        </p:nvSpPr>
        <p:spPr>
          <a:xfrm xmlns:a="http://schemas.openxmlformats.org/drawingml/2006/main">
            <a:off x="8261350" y="1952625"/>
            <a:ext cx="3073400" cy="3495675"/>
          </a:xfrm>
          <a:prstGeom xmlns:a="http://schemas.openxmlformats.org/drawingml/2006/main" prst="roundRect">
            <a:avLst>
              <a:gd name="adj" fmla="val 2479"/>
            </a:avLst>
          </a:prstGeom>
          <a:noFill xmlns:a="http://schemas.openxmlformats.org/drawingml/2006/main"/>
          <a:ln xmlns:a="http://schemas.openxmlformats.org/drawingml/2006/main" w="9525">
            <a:solidFill>
              <a:srgbClr val="B9CAD2"/>
            </a:solidFill>
            <a:prstDash val="solid"/>
          </a:ln>
        </p:spPr>
      </p:sp>
      <p:sp>
        <p:nvSpPr>
          <p:cNvPr id="13" name="">
            <a:extLst xmlns:a="http://schemas.openxmlformats.org/drawingml/2006/main">
              <a:ext uri="{FF2B5EF4-FFF2-40B4-BE49-F238E27FC236}">
                <a16:creationId xmlns:a16="http://schemas.microsoft.com/office/drawing/2014/main" id="{BA865700-2249-4F5B-B9C4-43C09A751E3A}"/>
              </a:ext>
            </a:extLst>
          </p:cNvPr>
          <p:cNvSpPr>
            <a:spLocks xmlns:a="http://schemas.openxmlformats.org/drawingml/2006/main" noGrp="1"/>
          </p:cNvSpPr>
          <p:nvPr/>
        </p:nvSpPr>
        <p:spPr>
          <a:xfrm xmlns:a="http://schemas.openxmlformats.org/drawingml/2006/main">
            <a:off x="8261350" y="1952625"/>
            <a:ext cx="30734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6F1DF36F-84C7-4572-87FD-51BA26A95BCA}"/>
              </a:ext>
            </a:extLst>
          </p:cNvPr>
          <p:cNvSpPr>
            <a:spLocks xmlns:a="http://schemas.openxmlformats.org/drawingml/2006/main" noGrp="1"/>
          </p:cNvSpPr>
          <p:nvPr/>
        </p:nvSpPr>
        <p:spPr>
          <a:xfrm xmlns:a="http://schemas.openxmlformats.org/drawingml/2006/main">
            <a:off x="8413750" y="2085975"/>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3</a:t>
            </a:r>
          </a:p>
        </p:txBody>
      </p:sp>
      <p:sp>
        <p:nvSpPr>
          <p:cNvPr id="15" name="">
            <a:extLst xmlns:a="http://schemas.openxmlformats.org/drawingml/2006/main">
              <a:ext uri="{FF2B5EF4-FFF2-40B4-BE49-F238E27FC236}">
                <a16:creationId xmlns:a16="http://schemas.microsoft.com/office/drawing/2014/main" id="{FC04BCDA-96E9-4C2D-869F-ABA58994A5DF}"/>
              </a:ext>
            </a:extLst>
          </p:cNvPr>
          <p:cNvSpPr>
            <a:spLocks xmlns:a="http://schemas.openxmlformats.org/drawingml/2006/main" noGrp="1"/>
          </p:cNvSpPr>
          <p:nvPr/>
        </p:nvSpPr>
        <p:spPr>
          <a:xfrm xmlns:a="http://schemas.openxmlformats.org/drawingml/2006/main">
            <a:off x="8413750" y="2524125"/>
            <a:ext cx="2768600" cy="2790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88">
                <a:solidFill>
                  <a:srgbClr val="15232B"/>
                </a:solidFill>
              </a:defRPr>
            </a:pPr>
            <a:r>
              <a:rPr sz="1088">
                <a:solidFill>
                  <a:srgbClr val="15232B"/>
                </a:solidFill>
              </a:rPr>
              <a:t>Falsch: Der zivilrechtliche Begriff steuert primär die Beweislast, nicht automatisch Schuld.</a:t>
            </a:r>
          </a:p>
        </p:txBody>
      </p:sp>
    </p:spTree>
    <p:extLst>
      <p:ext uri="{BB962C8B-B14F-4D97-AF65-F5344CB8AC3E}">
        <p14:creationId xmlns:p14="http://schemas.microsoft.com/office/powerpoint/2010/main" val="43637646"/>
      </p:ext>
    </p:extLst>
  </p:cSld>
</p:sld>
</file>

<file path=ppt/slides/slide103.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Zum Nachlesen · Termin 03: Arzthaftung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LITERATUR &amp; SICHTBARE QUELLEN</a:t>
            </a:r>
            <a:endParaRPr/>
          </a:p>
        </p:txBody>
      </p:sp>
      <p:sp>
        <p:nvSpPr>
          <p:cNvPr id="4" name="">
            <a:extLst xmlns:a="http://schemas.openxmlformats.org/drawingml/2006/main">
              <a:ext uri="{FF2B5EF4-FFF2-40B4-BE49-F238E27FC236}">
                <a16:creationId xmlns:a16="http://schemas.microsoft.com/office/drawing/2014/main" id="{5965A1E0-0AB8-459D-97C1-1B5A41D776BA}"/>
              </a:ext>
            </a:extLst>
          </p:cNvPr>
          <p:cNvSpPr>
            <a:spLocks xmlns:a="http://schemas.openxmlformats.org/drawingml/2006/main" noGrp="1"/>
          </p:cNvSpPr>
          <p:nvPr/>
        </p:nvSpPr>
        <p:spPr>
          <a:xfrm xmlns:a="http://schemas.openxmlformats.org/drawingml/2006/main">
            <a:off x="1809750" y="1943100"/>
            <a:ext cx="461010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CB086EA4-A3E5-43AD-A0E5-B2C1DE17E692}"/>
              </a:ext>
            </a:extLst>
          </p:cNvPr>
          <p:cNvSpPr>
            <a:spLocks xmlns:a="http://schemas.openxmlformats.org/drawingml/2006/main" noGrp="1"/>
          </p:cNvSpPr>
          <p:nvPr/>
        </p:nvSpPr>
        <p:spPr>
          <a:xfrm xmlns:a="http://schemas.openxmlformats.org/drawingml/2006/main">
            <a:off x="1809750" y="1943100"/>
            <a:ext cx="4610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Vertiefung</a:t>
            </a:r>
          </a:p>
        </p:txBody>
      </p:sp>
      <p:sp>
        <p:nvSpPr>
          <p:cNvPr id="6" name="">
            <a:extLst xmlns:a="http://schemas.openxmlformats.org/drawingml/2006/main">
              <a:ext uri="{FF2B5EF4-FFF2-40B4-BE49-F238E27FC236}">
                <a16:creationId xmlns:a16="http://schemas.microsoft.com/office/drawing/2014/main" id="{F30B7E1B-286D-4995-BEAA-29A417DDEE15}"/>
              </a:ext>
            </a:extLst>
          </p:cNvPr>
          <p:cNvSpPr>
            <a:spLocks xmlns:a="http://schemas.openxmlformats.org/drawingml/2006/main" noGrp="1"/>
          </p:cNvSpPr>
          <p:nvPr/>
        </p:nvSpPr>
        <p:spPr>
          <a:xfrm xmlns:a="http://schemas.openxmlformats.org/drawingml/2006/main">
            <a:off x="1809750" y="30289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7" name="">
            <a:extLst xmlns:a="http://schemas.openxmlformats.org/drawingml/2006/main">
              <a:ext uri="{FF2B5EF4-FFF2-40B4-BE49-F238E27FC236}">
                <a16:creationId xmlns:a16="http://schemas.microsoft.com/office/drawing/2014/main" id="{A5BCCA3C-9BE1-4710-BFCA-DDD918B8C78D}"/>
              </a:ext>
            </a:extLst>
          </p:cNvPr>
          <p:cNvSpPr>
            <a:spLocks xmlns:a="http://schemas.openxmlformats.org/drawingml/2006/main" noGrp="1"/>
          </p:cNvSpPr>
          <p:nvPr/>
        </p:nvSpPr>
        <p:spPr>
          <a:xfrm xmlns:a="http://schemas.openxmlformats.org/drawingml/2006/main">
            <a:off x="1809750" y="24765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9BAB"/>
                </a:solidFill>
              </a:defRPr>
            </a:pPr>
            <a:r>
              <a:rPr sz="960" b="1">
                <a:solidFill>
                  <a:srgbClr val="009BAB"/>
                </a:solidFill>
              </a:rPr>
              <a:t>Systematik</a:t>
            </a:r>
          </a:p>
        </p:txBody>
      </p:sp>
      <p:sp>
        <p:nvSpPr>
          <p:cNvPr id="8" name="">
            <a:extLst xmlns:a="http://schemas.openxmlformats.org/drawingml/2006/main">
              <a:ext uri="{FF2B5EF4-FFF2-40B4-BE49-F238E27FC236}">
                <a16:creationId xmlns:a16="http://schemas.microsoft.com/office/drawing/2014/main" id="{1CB76968-F530-4D47-8293-AD58ACC30C5C}"/>
              </a:ext>
            </a:extLst>
          </p:cNvPr>
          <p:cNvSpPr>
            <a:spLocks xmlns:a="http://schemas.openxmlformats.org/drawingml/2006/main" noGrp="1"/>
          </p:cNvSpPr>
          <p:nvPr/>
        </p:nvSpPr>
        <p:spPr>
          <a:xfrm xmlns:a="http://schemas.openxmlformats.org/drawingml/2006/main">
            <a:off x="2952750" y="24765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MüKoBGB/Wagner, §§ 630a–630h BGB.</a:t>
            </a:r>
          </a:p>
        </p:txBody>
      </p:sp>
      <p:sp>
        <p:nvSpPr>
          <p:cNvPr id="9" name="">
            <a:extLst xmlns:a="http://schemas.openxmlformats.org/drawingml/2006/main">
              <a:ext uri="{FF2B5EF4-FFF2-40B4-BE49-F238E27FC236}">
                <a16:creationId xmlns:a16="http://schemas.microsoft.com/office/drawing/2014/main" id="{64E4F6EB-460F-411F-8659-996060971233}"/>
              </a:ext>
            </a:extLst>
          </p:cNvPr>
          <p:cNvSpPr>
            <a:spLocks xmlns:a="http://schemas.openxmlformats.org/drawingml/2006/main" noGrp="1"/>
          </p:cNvSpPr>
          <p:nvPr/>
        </p:nvSpPr>
        <p:spPr>
          <a:xfrm xmlns:a="http://schemas.openxmlformats.org/drawingml/2006/main">
            <a:off x="1809750" y="36385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10" name="">
            <a:extLst xmlns:a="http://schemas.openxmlformats.org/drawingml/2006/main">
              <a:ext uri="{FF2B5EF4-FFF2-40B4-BE49-F238E27FC236}">
                <a16:creationId xmlns:a16="http://schemas.microsoft.com/office/drawing/2014/main" id="{A7AEDFE3-0501-4D64-87D8-9C6005DFAB4E}"/>
              </a:ext>
            </a:extLst>
          </p:cNvPr>
          <p:cNvSpPr>
            <a:spLocks xmlns:a="http://schemas.openxmlformats.org/drawingml/2006/main" noGrp="1"/>
          </p:cNvSpPr>
          <p:nvPr/>
        </p:nvSpPr>
        <p:spPr>
          <a:xfrm xmlns:a="http://schemas.openxmlformats.org/drawingml/2006/main">
            <a:off x="1809750" y="30861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9BAB"/>
                </a:solidFill>
              </a:defRPr>
            </a:pPr>
            <a:r>
              <a:rPr sz="960" b="1">
                <a:solidFill>
                  <a:srgbClr val="009BAB"/>
                </a:solidFill>
              </a:rPr>
              <a:t>Praxis</a:t>
            </a:r>
          </a:p>
        </p:txBody>
      </p:sp>
      <p:sp>
        <p:nvSpPr>
          <p:cNvPr id="11" name="">
            <a:extLst xmlns:a="http://schemas.openxmlformats.org/drawingml/2006/main">
              <a:ext uri="{FF2B5EF4-FFF2-40B4-BE49-F238E27FC236}">
                <a16:creationId xmlns:a16="http://schemas.microsoft.com/office/drawing/2014/main" id="{E0E3C7B2-1D8E-4F07-BB53-08EDA3510CAD}"/>
              </a:ext>
            </a:extLst>
          </p:cNvPr>
          <p:cNvSpPr>
            <a:spLocks xmlns:a="http://schemas.openxmlformats.org/drawingml/2006/main" noGrp="1"/>
          </p:cNvSpPr>
          <p:nvPr/>
        </p:nvSpPr>
        <p:spPr>
          <a:xfrm xmlns:a="http://schemas.openxmlformats.org/drawingml/2006/main">
            <a:off x="2952750" y="30861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Geiß/Greiner, Arzthaftpflichtrecht, 8. Aufl.</a:t>
            </a:r>
          </a:p>
        </p:txBody>
      </p:sp>
      <p:sp>
        <p:nvSpPr>
          <p:cNvPr id="12" name="">
            <a:extLst xmlns:a="http://schemas.openxmlformats.org/drawingml/2006/main">
              <a:ext uri="{FF2B5EF4-FFF2-40B4-BE49-F238E27FC236}">
                <a16:creationId xmlns:a16="http://schemas.microsoft.com/office/drawing/2014/main" id="{45AC4C6D-0642-4A5A-97A2-4DD4DA79926F}"/>
              </a:ext>
            </a:extLst>
          </p:cNvPr>
          <p:cNvSpPr>
            <a:spLocks xmlns:a="http://schemas.openxmlformats.org/drawingml/2006/main" noGrp="1"/>
          </p:cNvSpPr>
          <p:nvPr/>
        </p:nvSpPr>
        <p:spPr>
          <a:xfrm xmlns:a="http://schemas.openxmlformats.org/drawingml/2006/main">
            <a:off x="1809750" y="42481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13" name="">
            <a:extLst xmlns:a="http://schemas.openxmlformats.org/drawingml/2006/main">
              <a:ext uri="{FF2B5EF4-FFF2-40B4-BE49-F238E27FC236}">
                <a16:creationId xmlns:a16="http://schemas.microsoft.com/office/drawing/2014/main" id="{787963A8-710B-41E1-A31D-F8F7A0BC4355}"/>
              </a:ext>
            </a:extLst>
          </p:cNvPr>
          <p:cNvSpPr>
            <a:spLocks xmlns:a="http://schemas.openxmlformats.org/drawingml/2006/main" noGrp="1"/>
          </p:cNvSpPr>
          <p:nvPr/>
        </p:nvSpPr>
        <p:spPr>
          <a:xfrm xmlns:a="http://schemas.openxmlformats.org/drawingml/2006/main">
            <a:off x="1809750" y="36957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9BAB"/>
                </a:solidFill>
              </a:defRPr>
            </a:pPr>
            <a:r>
              <a:rPr sz="960" b="1">
                <a:solidFill>
                  <a:srgbClr val="009BAB"/>
                </a:solidFill>
              </a:rPr>
              <a:t>Kommentar</a:t>
            </a:r>
          </a:p>
        </p:txBody>
      </p:sp>
      <p:sp>
        <p:nvSpPr>
          <p:cNvPr id="14" name="">
            <a:extLst xmlns:a="http://schemas.openxmlformats.org/drawingml/2006/main">
              <a:ext uri="{FF2B5EF4-FFF2-40B4-BE49-F238E27FC236}">
                <a16:creationId xmlns:a16="http://schemas.microsoft.com/office/drawing/2014/main" id="{D5890B83-5D4F-4900-A949-73D3EE8C848E}"/>
              </a:ext>
            </a:extLst>
          </p:cNvPr>
          <p:cNvSpPr>
            <a:spLocks xmlns:a="http://schemas.openxmlformats.org/drawingml/2006/main" noGrp="1"/>
          </p:cNvSpPr>
          <p:nvPr/>
        </p:nvSpPr>
        <p:spPr>
          <a:xfrm xmlns:a="http://schemas.openxmlformats.org/drawingml/2006/main">
            <a:off x="2952750" y="36957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Spickhoff, Medizinrecht: BGB, Haftung und Aufklärung.</a:t>
            </a:r>
          </a:p>
        </p:txBody>
      </p:sp>
      <p:sp>
        <p:nvSpPr>
          <p:cNvPr id="15" name="">
            <a:extLst xmlns:a="http://schemas.openxmlformats.org/drawingml/2006/main">
              <a:ext uri="{FF2B5EF4-FFF2-40B4-BE49-F238E27FC236}">
                <a16:creationId xmlns:a16="http://schemas.microsoft.com/office/drawing/2014/main" id="{238CA141-ABB7-4D23-BF7E-B7AB30C62F0A}"/>
              </a:ext>
            </a:extLst>
          </p:cNvPr>
          <p:cNvSpPr>
            <a:spLocks xmlns:a="http://schemas.openxmlformats.org/drawingml/2006/main" noGrp="1"/>
          </p:cNvSpPr>
          <p:nvPr/>
        </p:nvSpPr>
        <p:spPr>
          <a:xfrm xmlns:a="http://schemas.openxmlformats.org/drawingml/2006/main">
            <a:off x="1809750" y="48577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16" name="">
            <a:extLst xmlns:a="http://schemas.openxmlformats.org/drawingml/2006/main">
              <a:ext uri="{FF2B5EF4-FFF2-40B4-BE49-F238E27FC236}">
                <a16:creationId xmlns:a16="http://schemas.microsoft.com/office/drawing/2014/main" id="{56C3A8E2-9368-4E29-B5B2-6A34D6435B00}"/>
              </a:ext>
            </a:extLst>
          </p:cNvPr>
          <p:cNvSpPr>
            <a:spLocks xmlns:a="http://schemas.openxmlformats.org/drawingml/2006/main" noGrp="1"/>
          </p:cNvSpPr>
          <p:nvPr/>
        </p:nvSpPr>
        <p:spPr>
          <a:xfrm xmlns:a="http://schemas.openxmlformats.org/drawingml/2006/main">
            <a:off x="1809750" y="43053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9BAB"/>
                </a:solidFill>
              </a:defRPr>
            </a:pPr>
            <a:r>
              <a:rPr sz="960" b="1">
                <a:solidFill>
                  <a:srgbClr val="009BAB"/>
                </a:solidFill>
              </a:rPr>
              <a:t>Evidenz</a:t>
            </a:r>
          </a:p>
        </p:txBody>
      </p:sp>
      <p:sp>
        <p:nvSpPr>
          <p:cNvPr id="17" name="">
            <a:extLst xmlns:a="http://schemas.openxmlformats.org/drawingml/2006/main">
              <a:ext uri="{FF2B5EF4-FFF2-40B4-BE49-F238E27FC236}">
                <a16:creationId xmlns:a16="http://schemas.microsoft.com/office/drawing/2014/main" id="{44D6AC6F-E42B-4B1E-925E-36D84B4BE77A}"/>
              </a:ext>
            </a:extLst>
          </p:cNvPr>
          <p:cNvSpPr>
            <a:spLocks xmlns:a="http://schemas.openxmlformats.org/drawingml/2006/main" noGrp="1"/>
          </p:cNvSpPr>
          <p:nvPr/>
        </p:nvSpPr>
        <p:spPr>
          <a:xfrm xmlns:a="http://schemas.openxmlformats.org/drawingml/2006/main">
            <a:off x="2952750" y="43053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Gunderson et al., BMJ Qual Saf 2020, doi:10.1136/bmjqs-2019-010822.</a:t>
            </a:r>
          </a:p>
        </p:txBody>
      </p:sp>
      <p:sp>
        <p:nvSpPr>
          <p:cNvPr id="18" name="">
            <a:extLst xmlns:a="http://schemas.openxmlformats.org/drawingml/2006/main">
              <a:ext uri="{FF2B5EF4-FFF2-40B4-BE49-F238E27FC236}">
                <a16:creationId xmlns:a16="http://schemas.microsoft.com/office/drawing/2014/main" id="{F8F0F712-4E7E-4090-B00E-42DE18C9678F}"/>
              </a:ext>
            </a:extLst>
          </p:cNvPr>
          <p:cNvSpPr>
            <a:spLocks xmlns:a="http://schemas.openxmlformats.org/drawingml/2006/main" noGrp="1"/>
          </p:cNvSpPr>
          <p:nvPr/>
        </p:nvSpPr>
        <p:spPr>
          <a:xfrm xmlns:a="http://schemas.openxmlformats.org/drawingml/2006/main">
            <a:off x="6724650" y="1943100"/>
            <a:ext cx="461010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9" name="">
            <a:extLst xmlns:a="http://schemas.openxmlformats.org/drawingml/2006/main">
              <a:ext uri="{FF2B5EF4-FFF2-40B4-BE49-F238E27FC236}">
                <a16:creationId xmlns:a16="http://schemas.microsoft.com/office/drawing/2014/main" id="{AA23E189-3404-41D9-8D34-C767B6CD696E}"/>
              </a:ext>
            </a:extLst>
          </p:cNvPr>
          <p:cNvSpPr>
            <a:spLocks xmlns:a="http://schemas.openxmlformats.org/drawingml/2006/main" noGrp="1"/>
          </p:cNvSpPr>
          <p:nvPr/>
        </p:nvSpPr>
        <p:spPr>
          <a:xfrm xmlns:a="http://schemas.openxmlformats.org/drawingml/2006/main">
            <a:off x="6724650" y="1943100"/>
            <a:ext cx="4610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Primärquellen &amp; Rechtsprechung</a:t>
            </a:r>
          </a:p>
        </p:txBody>
      </p:sp>
      <p:sp>
        <p:nvSpPr>
          <p:cNvPr id="20" name="">
            <a:extLst xmlns:a="http://schemas.openxmlformats.org/drawingml/2006/main">
              <a:ext uri="{FF2B5EF4-FFF2-40B4-BE49-F238E27FC236}">
                <a16:creationId xmlns:a16="http://schemas.microsoft.com/office/drawing/2014/main" id="{3C0BC006-3E6B-40DA-8206-84B730E4668D}"/>
              </a:ext>
            </a:extLst>
          </p:cNvPr>
          <p:cNvSpPr>
            <a:spLocks xmlns:a="http://schemas.openxmlformats.org/drawingml/2006/main" noGrp="1"/>
          </p:cNvSpPr>
          <p:nvPr/>
        </p:nvSpPr>
        <p:spPr>
          <a:xfrm xmlns:a="http://schemas.openxmlformats.org/drawingml/2006/main">
            <a:off x="6724650" y="30289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21" name="">
            <a:extLst xmlns:a="http://schemas.openxmlformats.org/drawingml/2006/main">
              <a:ext uri="{FF2B5EF4-FFF2-40B4-BE49-F238E27FC236}">
                <a16:creationId xmlns:a16="http://schemas.microsoft.com/office/drawing/2014/main" id="{661467B6-3D84-4E2C-BCFD-7680E216AA67}"/>
              </a:ext>
            </a:extLst>
          </p:cNvPr>
          <p:cNvSpPr>
            <a:spLocks xmlns:a="http://schemas.openxmlformats.org/drawingml/2006/main" noGrp="1"/>
          </p:cNvSpPr>
          <p:nvPr/>
        </p:nvSpPr>
        <p:spPr>
          <a:xfrm xmlns:a="http://schemas.openxmlformats.org/drawingml/2006/main">
            <a:off x="6724650" y="24765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3F6B"/>
                </a:solidFill>
              </a:defRPr>
            </a:pPr>
            <a:r>
              <a:rPr sz="960" b="1">
                <a:solidFill>
                  <a:srgbClr val="003F6B"/>
                </a:solidFill>
              </a:rPr>
              <a:t>Normen</a:t>
            </a:r>
          </a:p>
        </p:txBody>
      </p:sp>
      <p:sp>
        <p:nvSpPr>
          <p:cNvPr id="22" name="">
            <a:extLst xmlns:a="http://schemas.openxmlformats.org/drawingml/2006/main">
              <a:ext uri="{FF2B5EF4-FFF2-40B4-BE49-F238E27FC236}">
                <a16:creationId xmlns:a16="http://schemas.microsoft.com/office/drawing/2014/main" id="{EFE85A64-0CB1-49ED-9E47-092F36C40A81}"/>
              </a:ext>
            </a:extLst>
          </p:cNvPr>
          <p:cNvSpPr>
            <a:spLocks xmlns:a="http://schemas.openxmlformats.org/drawingml/2006/main" noGrp="1"/>
          </p:cNvSpPr>
          <p:nvPr/>
        </p:nvSpPr>
        <p:spPr>
          <a:xfrm xmlns:a="http://schemas.openxmlformats.org/drawingml/2006/main">
            <a:off x="7867650" y="24765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 280, 276, 249, 253, 823, 630a–630h BGB.</a:t>
            </a:r>
          </a:p>
        </p:txBody>
      </p:sp>
      <p:sp>
        <p:nvSpPr>
          <p:cNvPr id="23" name="">
            <a:extLst xmlns:a="http://schemas.openxmlformats.org/drawingml/2006/main">
              <a:ext uri="{FF2B5EF4-FFF2-40B4-BE49-F238E27FC236}">
                <a16:creationId xmlns:a16="http://schemas.microsoft.com/office/drawing/2014/main" id="{D0962D33-9A56-4FE7-8D62-6CD7F004521A}"/>
              </a:ext>
            </a:extLst>
          </p:cNvPr>
          <p:cNvSpPr>
            <a:spLocks xmlns:a="http://schemas.openxmlformats.org/drawingml/2006/main" noGrp="1"/>
          </p:cNvSpPr>
          <p:nvPr/>
        </p:nvSpPr>
        <p:spPr>
          <a:xfrm xmlns:a="http://schemas.openxmlformats.org/drawingml/2006/main">
            <a:off x="6724650" y="36385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24" name="">
            <a:extLst xmlns:a="http://schemas.openxmlformats.org/drawingml/2006/main">
              <a:ext uri="{FF2B5EF4-FFF2-40B4-BE49-F238E27FC236}">
                <a16:creationId xmlns:a16="http://schemas.microsoft.com/office/drawing/2014/main" id="{8713ACBA-BA01-4176-A038-DB4B025B6A9A}"/>
              </a:ext>
            </a:extLst>
          </p:cNvPr>
          <p:cNvSpPr>
            <a:spLocks xmlns:a="http://schemas.openxmlformats.org/drawingml/2006/main" noGrp="1"/>
          </p:cNvSpPr>
          <p:nvPr/>
        </p:nvSpPr>
        <p:spPr>
          <a:xfrm xmlns:a="http://schemas.openxmlformats.org/drawingml/2006/main">
            <a:off x="6724650" y="30861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3F6B"/>
                </a:solidFill>
              </a:defRPr>
            </a:pPr>
            <a:r>
              <a:rPr sz="960" b="1">
                <a:solidFill>
                  <a:srgbClr val="003F6B"/>
                </a:solidFill>
              </a:rPr>
              <a:t>BGH</a:t>
            </a:r>
          </a:p>
        </p:txBody>
      </p:sp>
      <p:sp>
        <p:nvSpPr>
          <p:cNvPr id="25" name="">
            <a:extLst xmlns:a="http://schemas.openxmlformats.org/drawingml/2006/main">
              <a:ext uri="{FF2B5EF4-FFF2-40B4-BE49-F238E27FC236}">
                <a16:creationId xmlns:a16="http://schemas.microsoft.com/office/drawing/2014/main" id="{C3C59FB2-69B2-4655-93C2-9878827DBB72}"/>
              </a:ext>
            </a:extLst>
          </p:cNvPr>
          <p:cNvSpPr>
            <a:spLocks xmlns:a="http://schemas.openxmlformats.org/drawingml/2006/main" noGrp="1"/>
          </p:cNvSpPr>
          <p:nvPr/>
        </p:nvSpPr>
        <p:spPr>
          <a:xfrm xmlns:a="http://schemas.openxmlformats.org/drawingml/2006/main">
            <a:off x="7867650" y="30861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VI ZR 34/03 · grober Behandlungsfehler.</a:t>
            </a:r>
          </a:p>
        </p:txBody>
      </p:sp>
      <p:sp>
        <p:nvSpPr>
          <p:cNvPr id="26" name="">
            <a:extLst xmlns:a="http://schemas.openxmlformats.org/drawingml/2006/main">
              <a:ext uri="{FF2B5EF4-FFF2-40B4-BE49-F238E27FC236}">
                <a16:creationId xmlns:a16="http://schemas.microsoft.com/office/drawing/2014/main" id="{C0C71A0E-8CE4-4F26-8058-107A539005B7}"/>
              </a:ext>
            </a:extLst>
          </p:cNvPr>
          <p:cNvSpPr>
            <a:spLocks xmlns:a="http://schemas.openxmlformats.org/drawingml/2006/main" noGrp="1"/>
          </p:cNvSpPr>
          <p:nvPr/>
        </p:nvSpPr>
        <p:spPr>
          <a:xfrm xmlns:a="http://schemas.openxmlformats.org/drawingml/2006/main">
            <a:off x="6724650" y="42481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27" name="">
            <a:extLst xmlns:a="http://schemas.openxmlformats.org/drawingml/2006/main">
              <a:ext uri="{FF2B5EF4-FFF2-40B4-BE49-F238E27FC236}">
                <a16:creationId xmlns:a16="http://schemas.microsoft.com/office/drawing/2014/main" id="{149847D7-C1E2-4D07-A894-70FD9F207DDF}"/>
              </a:ext>
            </a:extLst>
          </p:cNvPr>
          <p:cNvSpPr>
            <a:spLocks xmlns:a="http://schemas.openxmlformats.org/drawingml/2006/main" noGrp="1"/>
          </p:cNvSpPr>
          <p:nvPr/>
        </p:nvSpPr>
        <p:spPr>
          <a:xfrm xmlns:a="http://schemas.openxmlformats.org/drawingml/2006/main">
            <a:off x="6724650" y="36957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3F6B"/>
                </a:solidFill>
              </a:defRPr>
            </a:pPr>
            <a:r>
              <a:rPr sz="960" b="1">
                <a:solidFill>
                  <a:srgbClr val="003F6B"/>
                </a:solidFill>
              </a:rPr>
              <a:t>BGH</a:t>
            </a:r>
          </a:p>
        </p:txBody>
      </p:sp>
      <p:sp>
        <p:nvSpPr>
          <p:cNvPr id="28" name="">
            <a:extLst xmlns:a="http://schemas.openxmlformats.org/drawingml/2006/main">
              <a:ext uri="{FF2B5EF4-FFF2-40B4-BE49-F238E27FC236}">
                <a16:creationId xmlns:a16="http://schemas.microsoft.com/office/drawing/2014/main" id="{415E9451-7B95-4E38-841A-E96432B82B29}"/>
              </a:ext>
            </a:extLst>
          </p:cNvPr>
          <p:cNvSpPr>
            <a:spLocks xmlns:a="http://schemas.openxmlformats.org/drawingml/2006/main" noGrp="1"/>
          </p:cNvSpPr>
          <p:nvPr/>
        </p:nvSpPr>
        <p:spPr>
          <a:xfrm xmlns:a="http://schemas.openxmlformats.org/drawingml/2006/main">
            <a:off x="7867650" y="36957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VI ZR 87/10 · Befunderhebungsfehler.</a:t>
            </a:r>
          </a:p>
        </p:txBody>
      </p:sp>
      <p:sp>
        <p:nvSpPr>
          <p:cNvPr id="29" name="">
            <a:extLst xmlns:a="http://schemas.openxmlformats.org/drawingml/2006/main">
              <a:ext uri="{FF2B5EF4-FFF2-40B4-BE49-F238E27FC236}">
                <a16:creationId xmlns:a16="http://schemas.microsoft.com/office/drawing/2014/main" id="{CC94CEBC-3D08-443F-BE37-2625A456520A}"/>
              </a:ext>
            </a:extLst>
          </p:cNvPr>
          <p:cNvSpPr>
            <a:spLocks xmlns:a="http://schemas.openxmlformats.org/drawingml/2006/main" noGrp="1"/>
          </p:cNvSpPr>
          <p:nvPr/>
        </p:nvSpPr>
        <p:spPr>
          <a:xfrm xmlns:a="http://schemas.openxmlformats.org/drawingml/2006/main">
            <a:off x="6724650" y="48577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30" name="">
            <a:extLst xmlns:a="http://schemas.openxmlformats.org/drawingml/2006/main">
              <a:ext uri="{FF2B5EF4-FFF2-40B4-BE49-F238E27FC236}">
                <a16:creationId xmlns:a16="http://schemas.microsoft.com/office/drawing/2014/main" id="{928D7965-E991-4080-AD0F-BE1FBC185FB7}"/>
              </a:ext>
            </a:extLst>
          </p:cNvPr>
          <p:cNvSpPr>
            <a:spLocks xmlns:a="http://schemas.openxmlformats.org/drawingml/2006/main" noGrp="1"/>
          </p:cNvSpPr>
          <p:nvPr/>
        </p:nvSpPr>
        <p:spPr>
          <a:xfrm xmlns:a="http://schemas.openxmlformats.org/drawingml/2006/main">
            <a:off x="6724650" y="43053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3F6B"/>
                </a:solidFill>
              </a:defRPr>
            </a:pPr>
            <a:r>
              <a:rPr sz="960" b="1">
                <a:solidFill>
                  <a:srgbClr val="003F6B"/>
                </a:solidFill>
              </a:rPr>
              <a:t>BGH</a:t>
            </a:r>
          </a:p>
        </p:txBody>
      </p:sp>
      <p:sp>
        <p:nvSpPr>
          <p:cNvPr id="31" name="">
            <a:extLst xmlns:a="http://schemas.openxmlformats.org/drawingml/2006/main">
              <a:ext uri="{FF2B5EF4-FFF2-40B4-BE49-F238E27FC236}">
                <a16:creationId xmlns:a16="http://schemas.microsoft.com/office/drawing/2014/main" id="{CD139A78-DB34-4EAD-9D76-D46358A14E9E}"/>
              </a:ext>
            </a:extLst>
          </p:cNvPr>
          <p:cNvSpPr>
            <a:spLocks xmlns:a="http://schemas.openxmlformats.org/drawingml/2006/main" noGrp="1"/>
          </p:cNvSpPr>
          <p:nvPr/>
        </p:nvSpPr>
        <p:spPr>
          <a:xfrm xmlns:a="http://schemas.openxmlformats.org/drawingml/2006/main">
            <a:off x="7867650" y="43053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VI ZR 476/14 · therapeutische Information vs. Befunderhebung.</a:t>
            </a:r>
          </a:p>
        </p:txBody>
      </p:sp>
      <p:sp>
        <p:nvSpPr>
          <p:cNvPr id="32" name="">
            <a:extLst xmlns:a="http://schemas.openxmlformats.org/drawingml/2006/main">
              <a:ext uri="{FF2B5EF4-FFF2-40B4-BE49-F238E27FC236}">
                <a16:creationId xmlns:a16="http://schemas.microsoft.com/office/drawing/2014/main" id="{541BDDEF-610D-419F-BBC8-F94D504F5A71}"/>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20">
                <a:solidFill>
                  <a:srgbClr val="667680"/>
                </a:solidFill>
              </a:defRPr>
            </a:pPr>
            <a:r>
              <a:rPr sz="720">
                <a:solidFill>
                  <a:srgbClr val="667680"/>
                </a:solidFill>
              </a:rPr>
              <a:t>Alle Internetquellen Abruf/Stand: 20.08.2026. Gesetze: aktuelle Fassung jeweils vor Anwendung prüfen · https://www.rechtsprechung-im-internet.de</a:t>
            </a:r>
          </a:p>
        </p:txBody>
      </p:sp>
    </p:spTree>
    <p:extLst>
      <p:ext uri="{BB962C8B-B14F-4D97-AF65-F5344CB8AC3E}">
        <p14:creationId xmlns:p14="http://schemas.microsoft.com/office/powerpoint/2010/main" val="43637646"/>
      </p:ext>
    </p:extLst>
  </p:cSld>
</p:sld>
</file>

<file path=ppt/slides/slide104.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endParaRPr/>
          </a:p>
        </p:txBody>
      </p:sp>
      <p:sp>
        <p:nvSpPr>
          <p:cNvPr id="4" name="">
            <a:extLst xmlns:a="http://schemas.openxmlformats.org/drawingml/2006/main">
              <a:ext uri="{FF2B5EF4-FFF2-40B4-BE49-F238E27FC236}">
                <a16:creationId xmlns:a16="http://schemas.microsoft.com/office/drawing/2014/main" id="{BA6718B3-B063-4091-9F8C-EDF2D5FF2A39}"/>
              </a:ext>
            </a:extLst>
          </p:cNvPr>
          <p:cNvSpPr>
            <a:spLocks xmlns:a="http://schemas.openxmlformats.org/drawingml/2006/main" noGrp="1"/>
          </p:cNvSpPr>
          <p:nvPr/>
        </p:nvSpPr>
        <p:spPr>
          <a:xfrm xmlns:a="http://schemas.openxmlformats.org/drawingml/2006/main">
            <a:off x="2571750" y="2038350"/>
            <a:ext cx="838200" cy="628650"/>
          </a:xfrm>
          <a:prstGeom xmlns:a="http://schemas.openxmlformats.org/drawingml/2006/main" prst="roundRect">
            <a:avLst>
              <a:gd name="adj" fmla="val 12121"/>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494BF43C-66D9-4141-8D2F-32708158F413}"/>
              </a:ext>
            </a:extLst>
          </p:cNvPr>
          <p:cNvSpPr>
            <a:spLocks xmlns:a="http://schemas.openxmlformats.org/drawingml/2006/main" noGrp="1"/>
          </p:cNvSpPr>
          <p:nvPr/>
        </p:nvSpPr>
        <p:spPr>
          <a:xfrm xmlns:a="http://schemas.openxmlformats.org/drawingml/2006/main">
            <a:off x="2571750" y="2038350"/>
            <a:ext cx="8382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FFFFFF"/>
                </a:solidFill>
              </a:defRPr>
            </a:pPr>
            <a:r>
              <a:rPr sz="2100" b="1">
                <a:solidFill>
                  <a:srgbClr val="FFFFFF"/>
                </a:solidFill>
              </a:rPr>
              <a:t>04</a:t>
            </a:r>
          </a:p>
        </p:txBody>
      </p:sp>
      <p:sp>
        <p:nvSpPr>
          <p:cNvPr id="6" name="">
            <a:extLst xmlns:a="http://schemas.openxmlformats.org/drawingml/2006/main">
              <a:ext uri="{FF2B5EF4-FFF2-40B4-BE49-F238E27FC236}">
                <a16:creationId xmlns:a16="http://schemas.microsoft.com/office/drawing/2014/main" id="{C5E3B8B2-A3CD-4B67-B3D2-6F29675F1210}"/>
              </a:ext>
            </a:extLst>
          </p:cNvPr>
          <p:cNvSpPr>
            <a:spLocks xmlns:a="http://schemas.openxmlformats.org/drawingml/2006/main" noGrp="1"/>
          </p:cNvSpPr>
          <p:nvPr/>
        </p:nvSpPr>
        <p:spPr>
          <a:xfrm xmlns:a="http://schemas.openxmlformats.org/drawingml/2006/main">
            <a:off x="3667125" y="2000250"/>
            <a:ext cx="8096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4400">
                <a:solidFill>
                  <a:srgbClr val="003F6B"/>
                </a:solidFill>
              </a:defRPr>
            </a:pPr>
            <a:r>
              <a:rPr sz="4400">
                <a:solidFill>
                  <a:srgbClr val="003F6B"/>
                </a:solidFill>
              </a:rPr>
              <a:t>Dokumentation als Beweismittel</a:t>
            </a:r>
          </a:p>
        </p:txBody>
      </p:sp>
      <p:sp>
        <p:nvSpPr>
          <p:cNvPr id="7" name="">
            <a:extLst xmlns:a="http://schemas.openxmlformats.org/drawingml/2006/main">
              <a:ext uri="{FF2B5EF4-FFF2-40B4-BE49-F238E27FC236}">
                <a16:creationId xmlns:a16="http://schemas.microsoft.com/office/drawing/2014/main" id="{71A78CE0-F73B-4F8D-8E06-2DC91BB1E452}"/>
              </a:ext>
            </a:extLst>
          </p:cNvPr>
          <p:cNvSpPr>
            <a:spLocks xmlns:a="http://schemas.openxmlformats.org/drawingml/2006/main" noGrp="1"/>
          </p:cNvSpPr>
          <p:nvPr/>
        </p:nvSpPr>
        <p:spPr>
          <a:xfrm xmlns:a="http://schemas.openxmlformats.org/drawingml/2006/main">
            <a:off x="3238500" y="3333750"/>
            <a:ext cx="8524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400">
                <a:solidFill>
                  <a:srgbClr val="003F6B"/>
                </a:solidFill>
              </a:defRPr>
            </a:pPr>
            <a:r>
              <a:rPr sz="2400">
                <a:solidFill>
                  <a:srgbClr val="003F6B"/>
                </a:solidFill>
              </a:rPr>
              <a:t>Termin: 04.11.2026 · 16:30–17:45 · V03 0-C001</a:t>
            </a:r>
          </a:p>
        </p:txBody>
      </p:sp>
      <p:sp>
        <p:nvSpPr>
          <p:cNvPr id="8" name="">
            <a:extLst xmlns:a="http://schemas.openxmlformats.org/drawingml/2006/main">
              <a:ext uri="{FF2B5EF4-FFF2-40B4-BE49-F238E27FC236}">
                <a16:creationId xmlns:a16="http://schemas.microsoft.com/office/drawing/2014/main" id="{B7B75430-5CFF-43AB-832E-1766F44E4787}"/>
              </a:ext>
            </a:extLst>
          </p:cNvPr>
          <p:cNvSpPr>
            <a:spLocks xmlns:a="http://schemas.openxmlformats.org/drawingml/2006/main" noGrp="1"/>
          </p:cNvSpPr>
          <p:nvPr/>
        </p:nvSpPr>
        <p:spPr>
          <a:xfrm xmlns:a="http://schemas.openxmlformats.org/drawingml/2006/main">
            <a:off x="3238500" y="3752850"/>
            <a:ext cx="8524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400">
                <a:solidFill>
                  <a:srgbClr val="003F6B"/>
                </a:solidFill>
              </a:defRPr>
            </a:pPr>
            <a:r>
              <a:rPr sz="2400">
                <a:solidFill>
                  <a:srgbClr val="003F6B"/>
                </a:solidFill>
              </a:rPr>
              <a:t>Wie aus klinischer Realität eine belastbare Akte wird</a:t>
            </a:r>
          </a:p>
        </p:txBody>
      </p:sp>
      <p:sp>
        <p:nvSpPr>
          <p:cNvPr id="9" name="">
            <a:extLst xmlns:a="http://schemas.openxmlformats.org/drawingml/2006/main">
              <a:ext uri="{FF2B5EF4-FFF2-40B4-BE49-F238E27FC236}">
                <a16:creationId xmlns:a16="http://schemas.microsoft.com/office/drawing/2014/main" id="{5FFB331A-AFDF-45B7-9821-E6726A0E024B}"/>
              </a:ext>
            </a:extLst>
          </p:cNvPr>
          <p:cNvSpPr>
            <a:spLocks xmlns:a="http://schemas.openxmlformats.org/drawingml/2006/main" noGrp="1"/>
          </p:cNvSpPr>
          <p:nvPr/>
        </p:nvSpPr>
        <p:spPr>
          <a:xfrm xmlns:a="http://schemas.openxmlformats.org/drawingml/2006/main">
            <a:off x="3238500" y="4552950"/>
            <a:ext cx="8524875"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400">
                <a:solidFill>
                  <a:srgbClr val="003F6B"/>
                </a:solidFill>
              </a:defRPr>
            </a:pPr>
            <a:r>
              <a:rPr sz="2400">
                <a:solidFill>
                  <a:srgbClr val="003F6B"/>
                </a:solidFill>
              </a:rPr>
              <a:t>Wer die Akte liest, war nicht im Behandlungszimmer.</a:t>
            </a:r>
          </a:p>
        </p:txBody>
      </p:sp>
    </p:spTree>
    <p:extLst>
      <p:ext uri="{BB962C8B-B14F-4D97-AF65-F5344CB8AC3E}">
        <p14:creationId xmlns:p14="http://schemas.microsoft.com/office/powerpoint/2010/main" val="43637646"/>
      </p:ext>
    </p:extLst>
  </p:cSld>
</p:sld>
</file>

<file path=ppt/slides/slide105.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Lernziele Termin 04: Dokumentation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CHECKLISTE · AM ENDE DES HEUTIGEN TERMINS KANN ICH …</a:t>
            </a:r>
            <a:endParaRPr/>
          </a:p>
        </p:txBody>
      </p:sp>
      <p:sp>
        <p:nvSpPr>
          <p:cNvPr id="4" name="">
            <a:extLst xmlns:a="http://schemas.openxmlformats.org/drawingml/2006/main">
              <a:ext uri="{FF2B5EF4-FFF2-40B4-BE49-F238E27FC236}">
                <a16:creationId xmlns:a16="http://schemas.microsoft.com/office/drawing/2014/main" id="{67A66C69-6296-4125-956D-EC03C9B42254}"/>
              </a:ext>
            </a:extLst>
          </p:cNvPr>
          <p:cNvSpPr>
            <a:spLocks xmlns:a="http://schemas.openxmlformats.org/drawingml/2006/main" noGrp="1"/>
          </p:cNvSpPr>
          <p:nvPr/>
        </p:nvSpPr>
        <p:spPr>
          <a:xfrm xmlns:a="http://schemas.openxmlformats.org/drawingml/2006/main">
            <a:off x="1809750" y="198120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B2BB"/>
            </a:solidFill>
            <a:prstDash val="solid"/>
          </a:ln>
        </p:spPr>
      </p:sp>
      <p:sp>
        <p:nvSpPr>
          <p:cNvPr id="5" name="">
            <a:extLst xmlns:a="http://schemas.openxmlformats.org/drawingml/2006/main">
              <a:ext uri="{FF2B5EF4-FFF2-40B4-BE49-F238E27FC236}">
                <a16:creationId xmlns:a16="http://schemas.microsoft.com/office/drawing/2014/main" id="{68604F6E-FBB1-489F-8F59-46760726F05E}"/>
              </a:ext>
            </a:extLst>
          </p:cNvPr>
          <p:cNvSpPr>
            <a:spLocks xmlns:a="http://schemas.openxmlformats.org/drawingml/2006/main" noGrp="1"/>
          </p:cNvSpPr>
          <p:nvPr/>
        </p:nvSpPr>
        <p:spPr>
          <a:xfrm xmlns:a="http://schemas.openxmlformats.org/drawingml/2006/main">
            <a:off x="1943100" y="2124075"/>
            <a:ext cx="40005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966B7C6C-6819-4EA2-8E57-E814188D624A}"/>
              </a:ext>
            </a:extLst>
          </p:cNvPr>
          <p:cNvSpPr>
            <a:spLocks xmlns:a="http://schemas.openxmlformats.org/drawingml/2006/main" noGrp="1"/>
          </p:cNvSpPr>
          <p:nvPr/>
        </p:nvSpPr>
        <p:spPr>
          <a:xfrm xmlns:a="http://schemas.openxmlformats.org/drawingml/2006/main">
            <a:off x="1943100" y="21050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7" name="">
            <a:extLst xmlns:a="http://schemas.openxmlformats.org/drawingml/2006/main">
              <a:ext uri="{FF2B5EF4-FFF2-40B4-BE49-F238E27FC236}">
                <a16:creationId xmlns:a16="http://schemas.microsoft.com/office/drawing/2014/main" id="{54987ABE-3473-47C1-9637-E863E6D5CDC6}"/>
              </a:ext>
            </a:extLst>
          </p:cNvPr>
          <p:cNvSpPr>
            <a:spLocks xmlns:a="http://schemas.openxmlformats.org/drawingml/2006/main" noGrp="1"/>
          </p:cNvSpPr>
          <p:nvPr/>
        </p:nvSpPr>
        <p:spPr>
          <a:xfrm xmlns:a="http://schemas.openxmlformats.org/drawingml/2006/main">
            <a:off x="2476500" y="207645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Zweck und Umfang der Dokumentationspflicht bestimmen.</a:t>
            </a:r>
          </a:p>
        </p:txBody>
      </p:sp>
      <p:sp>
        <p:nvSpPr>
          <p:cNvPr id="8" name="">
            <a:extLst xmlns:a="http://schemas.openxmlformats.org/drawingml/2006/main">
              <a:ext uri="{FF2B5EF4-FFF2-40B4-BE49-F238E27FC236}">
                <a16:creationId xmlns:a16="http://schemas.microsoft.com/office/drawing/2014/main" id="{77E0F6FC-8895-42CB-9C20-5ABABB077FBF}"/>
              </a:ext>
            </a:extLst>
          </p:cNvPr>
          <p:cNvSpPr>
            <a:spLocks xmlns:a="http://schemas.openxmlformats.org/drawingml/2006/main" noGrp="1"/>
          </p:cNvSpPr>
          <p:nvPr/>
        </p:nvSpPr>
        <p:spPr>
          <a:xfrm xmlns:a="http://schemas.openxmlformats.org/drawingml/2006/main">
            <a:off x="6696075" y="198120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3F6B"/>
            </a:solidFill>
            <a:prstDash val="solid"/>
          </a:ln>
        </p:spPr>
      </p:sp>
      <p:sp>
        <p:nvSpPr>
          <p:cNvPr id="9" name="">
            <a:extLst xmlns:a="http://schemas.openxmlformats.org/drawingml/2006/main">
              <a:ext uri="{FF2B5EF4-FFF2-40B4-BE49-F238E27FC236}">
                <a16:creationId xmlns:a16="http://schemas.microsoft.com/office/drawing/2014/main" id="{4E090700-D59B-4893-A5F4-E2762DBEC158}"/>
              </a:ext>
            </a:extLst>
          </p:cNvPr>
          <p:cNvSpPr>
            <a:spLocks xmlns:a="http://schemas.openxmlformats.org/drawingml/2006/main" noGrp="1"/>
          </p:cNvSpPr>
          <p:nvPr/>
        </p:nvSpPr>
        <p:spPr>
          <a:xfrm xmlns:a="http://schemas.openxmlformats.org/drawingml/2006/main">
            <a:off x="6829425" y="2124075"/>
            <a:ext cx="4000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38F2FA66-B63E-41C9-A3B0-EAF64F83BA4D}"/>
              </a:ext>
            </a:extLst>
          </p:cNvPr>
          <p:cNvSpPr>
            <a:spLocks xmlns:a="http://schemas.openxmlformats.org/drawingml/2006/main" noGrp="1"/>
          </p:cNvSpPr>
          <p:nvPr/>
        </p:nvSpPr>
        <p:spPr>
          <a:xfrm xmlns:a="http://schemas.openxmlformats.org/drawingml/2006/main">
            <a:off x="6829425" y="21050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11" name="">
            <a:extLst xmlns:a="http://schemas.openxmlformats.org/drawingml/2006/main">
              <a:ext uri="{FF2B5EF4-FFF2-40B4-BE49-F238E27FC236}">
                <a16:creationId xmlns:a16="http://schemas.microsoft.com/office/drawing/2014/main" id="{3A6FE568-7859-4E90-A415-85C4D2FD249D}"/>
              </a:ext>
            </a:extLst>
          </p:cNvPr>
          <p:cNvSpPr>
            <a:spLocks xmlns:a="http://schemas.openxmlformats.org/drawingml/2006/main" noGrp="1"/>
          </p:cNvSpPr>
          <p:nvPr/>
        </p:nvSpPr>
        <p:spPr>
          <a:xfrm xmlns:a="http://schemas.openxmlformats.org/drawingml/2006/main">
            <a:off x="7362825" y="207645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zulässige Berichtigung von unzulässiger Manipulation unterscheiden.</a:t>
            </a:r>
          </a:p>
        </p:txBody>
      </p:sp>
      <p:sp>
        <p:nvSpPr>
          <p:cNvPr id="12" name="">
            <a:extLst xmlns:a="http://schemas.openxmlformats.org/drawingml/2006/main">
              <a:ext uri="{FF2B5EF4-FFF2-40B4-BE49-F238E27FC236}">
                <a16:creationId xmlns:a16="http://schemas.microsoft.com/office/drawing/2014/main" id="{A2439938-1F15-4BD5-A654-6C129025A40E}"/>
              </a:ext>
            </a:extLst>
          </p:cNvPr>
          <p:cNvSpPr>
            <a:spLocks xmlns:a="http://schemas.openxmlformats.org/drawingml/2006/main" noGrp="1"/>
          </p:cNvSpPr>
          <p:nvPr/>
        </p:nvSpPr>
        <p:spPr>
          <a:xfrm xmlns:a="http://schemas.openxmlformats.org/drawingml/2006/main">
            <a:off x="1809750" y="316865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B2BB"/>
            </a:solidFill>
            <a:prstDash val="solid"/>
          </a:ln>
        </p:spPr>
      </p:sp>
      <p:sp>
        <p:nvSpPr>
          <p:cNvPr id="13" name="">
            <a:extLst xmlns:a="http://schemas.openxmlformats.org/drawingml/2006/main">
              <a:ext uri="{FF2B5EF4-FFF2-40B4-BE49-F238E27FC236}">
                <a16:creationId xmlns:a16="http://schemas.microsoft.com/office/drawing/2014/main" id="{28E68AF1-61B5-47F6-9670-E2EC63647708}"/>
              </a:ext>
            </a:extLst>
          </p:cNvPr>
          <p:cNvSpPr>
            <a:spLocks xmlns:a="http://schemas.openxmlformats.org/drawingml/2006/main" noGrp="1"/>
          </p:cNvSpPr>
          <p:nvPr/>
        </p:nvSpPr>
        <p:spPr>
          <a:xfrm xmlns:a="http://schemas.openxmlformats.org/drawingml/2006/main">
            <a:off x="1943100" y="3311525"/>
            <a:ext cx="40005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31FE0348-7C40-4822-85DF-E7D5F183C73B}"/>
              </a:ext>
            </a:extLst>
          </p:cNvPr>
          <p:cNvSpPr>
            <a:spLocks xmlns:a="http://schemas.openxmlformats.org/drawingml/2006/main" noGrp="1"/>
          </p:cNvSpPr>
          <p:nvPr/>
        </p:nvSpPr>
        <p:spPr>
          <a:xfrm xmlns:a="http://schemas.openxmlformats.org/drawingml/2006/main">
            <a:off x="1943100" y="32924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15" name="">
            <a:extLst xmlns:a="http://schemas.openxmlformats.org/drawingml/2006/main">
              <a:ext uri="{FF2B5EF4-FFF2-40B4-BE49-F238E27FC236}">
                <a16:creationId xmlns:a16="http://schemas.microsoft.com/office/drawing/2014/main" id="{188E347B-8F38-4A39-9E2F-81599D7BDE21}"/>
              </a:ext>
            </a:extLst>
          </p:cNvPr>
          <p:cNvSpPr>
            <a:spLocks xmlns:a="http://schemas.openxmlformats.org/drawingml/2006/main" noGrp="1"/>
          </p:cNvSpPr>
          <p:nvPr/>
        </p:nvSpPr>
        <p:spPr>
          <a:xfrm xmlns:a="http://schemas.openxmlformats.org/drawingml/2006/main">
            <a:off x="2476500" y="326390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 630f, 630g und 630h Abs. 3 BGB zusammen lesen.</a:t>
            </a:r>
          </a:p>
        </p:txBody>
      </p:sp>
      <p:sp>
        <p:nvSpPr>
          <p:cNvPr id="16" name="">
            <a:extLst xmlns:a="http://schemas.openxmlformats.org/drawingml/2006/main">
              <a:ext uri="{FF2B5EF4-FFF2-40B4-BE49-F238E27FC236}">
                <a16:creationId xmlns:a16="http://schemas.microsoft.com/office/drawing/2014/main" id="{285C3980-3D23-40DB-8708-1AE14849DDDA}"/>
              </a:ext>
            </a:extLst>
          </p:cNvPr>
          <p:cNvSpPr>
            <a:spLocks xmlns:a="http://schemas.openxmlformats.org/drawingml/2006/main" noGrp="1"/>
          </p:cNvSpPr>
          <p:nvPr/>
        </p:nvSpPr>
        <p:spPr>
          <a:xfrm xmlns:a="http://schemas.openxmlformats.org/drawingml/2006/main">
            <a:off x="6696075" y="316865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3F6B"/>
            </a:solidFill>
            <a:prstDash val="solid"/>
          </a:ln>
        </p:spPr>
      </p:sp>
      <p:sp>
        <p:nvSpPr>
          <p:cNvPr id="17" name="">
            <a:extLst xmlns:a="http://schemas.openxmlformats.org/drawingml/2006/main">
              <a:ext uri="{FF2B5EF4-FFF2-40B4-BE49-F238E27FC236}">
                <a16:creationId xmlns:a16="http://schemas.microsoft.com/office/drawing/2014/main" id="{5634D1AB-5914-4103-B40C-EF0FCFC5F5F4}"/>
              </a:ext>
            </a:extLst>
          </p:cNvPr>
          <p:cNvSpPr>
            <a:spLocks xmlns:a="http://schemas.openxmlformats.org/drawingml/2006/main" noGrp="1"/>
          </p:cNvSpPr>
          <p:nvPr/>
        </p:nvSpPr>
        <p:spPr>
          <a:xfrm xmlns:a="http://schemas.openxmlformats.org/drawingml/2006/main">
            <a:off x="6829425" y="3311525"/>
            <a:ext cx="4000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89A02E1D-856F-422C-A1F3-392A0D9B44D8}"/>
              </a:ext>
            </a:extLst>
          </p:cNvPr>
          <p:cNvSpPr>
            <a:spLocks xmlns:a="http://schemas.openxmlformats.org/drawingml/2006/main" noGrp="1"/>
          </p:cNvSpPr>
          <p:nvPr/>
        </p:nvSpPr>
        <p:spPr>
          <a:xfrm xmlns:a="http://schemas.openxmlformats.org/drawingml/2006/main">
            <a:off x="6829425" y="32924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19" name="">
            <a:extLst xmlns:a="http://schemas.openxmlformats.org/drawingml/2006/main">
              <a:ext uri="{FF2B5EF4-FFF2-40B4-BE49-F238E27FC236}">
                <a16:creationId xmlns:a16="http://schemas.microsoft.com/office/drawing/2014/main" id="{699DE941-D8CA-4AC1-9C07-F9824FAD75AF}"/>
              </a:ext>
            </a:extLst>
          </p:cNvPr>
          <p:cNvSpPr>
            <a:spLocks xmlns:a="http://schemas.openxmlformats.org/drawingml/2006/main" noGrp="1"/>
          </p:cNvSpPr>
          <p:nvPr/>
        </p:nvSpPr>
        <p:spPr>
          <a:xfrm xmlns:a="http://schemas.openxmlformats.org/drawingml/2006/main">
            <a:off x="7362825" y="326390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den Beweiswert einer elektronischen Akte kritisch würdigen.</a:t>
            </a:r>
          </a:p>
        </p:txBody>
      </p:sp>
      <p:sp>
        <p:nvSpPr>
          <p:cNvPr id="20" name="">
            <a:extLst xmlns:a="http://schemas.openxmlformats.org/drawingml/2006/main">
              <a:ext uri="{FF2B5EF4-FFF2-40B4-BE49-F238E27FC236}">
                <a16:creationId xmlns:a16="http://schemas.microsoft.com/office/drawing/2014/main" id="{A0802291-6BDD-47E7-A64D-C7783FCFEA0A}"/>
              </a:ext>
            </a:extLst>
          </p:cNvPr>
          <p:cNvSpPr>
            <a:spLocks xmlns:a="http://schemas.openxmlformats.org/drawingml/2006/main" noGrp="1"/>
          </p:cNvSpPr>
          <p:nvPr/>
        </p:nvSpPr>
        <p:spPr>
          <a:xfrm xmlns:a="http://schemas.openxmlformats.org/drawingml/2006/main">
            <a:off x="1809750" y="435610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B2BB"/>
            </a:solidFill>
            <a:prstDash val="solid"/>
          </a:ln>
        </p:spPr>
      </p:sp>
      <p:sp>
        <p:nvSpPr>
          <p:cNvPr id="21" name="">
            <a:extLst xmlns:a="http://schemas.openxmlformats.org/drawingml/2006/main">
              <a:ext uri="{FF2B5EF4-FFF2-40B4-BE49-F238E27FC236}">
                <a16:creationId xmlns:a16="http://schemas.microsoft.com/office/drawing/2014/main" id="{A69562FA-DF7E-4391-B1CD-65D35DA2CC2F}"/>
              </a:ext>
            </a:extLst>
          </p:cNvPr>
          <p:cNvSpPr>
            <a:spLocks xmlns:a="http://schemas.openxmlformats.org/drawingml/2006/main" noGrp="1"/>
          </p:cNvSpPr>
          <p:nvPr/>
        </p:nvSpPr>
        <p:spPr>
          <a:xfrm xmlns:a="http://schemas.openxmlformats.org/drawingml/2006/main">
            <a:off x="1943100" y="4498975"/>
            <a:ext cx="40005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2" name="">
            <a:extLst xmlns:a="http://schemas.openxmlformats.org/drawingml/2006/main">
              <a:ext uri="{FF2B5EF4-FFF2-40B4-BE49-F238E27FC236}">
                <a16:creationId xmlns:a16="http://schemas.microsoft.com/office/drawing/2014/main" id="{7372572B-3E19-4D58-8373-E1E386BE1BF4}"/>
              </a:ext>
            </a:extLst>
          </p:cNvPr>
          <p:cNvSpPr>
            <a:spLocks xmlns:a="http://schemas.openxmlformats.org/drawingml/2006/main" noGrp="1"/>
          </p:cNvSpPr>
          <p:nvPr/>
        </p:nvSpPr>
        <p:spPr>
          <a:xfrm xmlns:a="http://schemas.openxmlformats.org/drawingml/2006/main">
            <a:off x="1943100" y="44799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23" name="">
            <a:extLst xmlns:a="http://schemas.openxmlformats.org/drawingml/2006/main">
              <a:ext uri="{FF2B5EF4-FFF2-40B4-BE49-F238E27FC236}">
                <a16:creationId xmlns:a16="http://schemas.microsoft.com/office/drawing/2014/main" id="{11F64363-9234-4D69-8C77-2EAFCFEB3A6D}"/>
              </a:ext>
            </a:extLst>
          </p:cNvPr>
          <p:cNvSpPr>
            <a:spLocks xmlns:a="http://schemas.openxmlformats.org/drawingml/2006/main" noGrp="1"/>
          </p:cNvSpPr>
          <p:nvPr/>
        </p:nvSpPr>
        <p:spPr>
          <a:xfrm xmlns:a="http://schemas.openxmlformats.org/drawingml/2006/main">
            <a:off x="2476500" y="445135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eine belastbare Verlaufsnotiz mit Unsicherheit und Plan formulieren.</a:t>
            </a:r>
          </a:p>
        </p:txBody>
      </p:sp>
      <p:sp>
        <p:nvSpPr>
          <p:cNvPr id="24" name="">
            <a:extLst xmlns:a="http://schemas.openxmlformats.org/drawingml/2006/main">
              <a:ext uri="{FF2B5EF4-FFF2-40B4-BE49-F238E27FC236}">
                <a16:creationId xmlns:a16="http://schemas.microsoft.com/office/drawing/2014/main" id="{7A1B6EB3-31AB-4CC5-8031-3BA0A8409FFD}"/>
              </a:ext>
            </a:extLst>
          </p:cNvPr>
          <p:cNvSpPr>
            <a:spLocks xmlns:a="http://schemas.openxmlformats.org/drawingml/2006/main" noGrp="1"/>
          </p:cNvSpPr>
          <p:nvPr/>
        </p:nvSpPr>
        <p:spPr>
          <a:xfrm xmlns:a="http://schemas.openxmlformats.org/drawingml/2006/main">
            <a:off x="6696075" y="435610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3F6B"/>
            </a:solidFill>
            <a:prstDash val="solid"/>
          </a:ln>
        </p:spPr>
      </p:sp>
      <p:sp>
        <p:nvSpPr>
          <p:cNvPr id="25" name="">
            <a:extLst xmlns:a="http://schemas.openxmlformats.org/drawingml/2006/main">
              <a:ext uri="{FF2B5EF4-FFF2-40B4-BE49-F238E27FC236}">
                <a16:creationId xmlns:a16="http://schemas.microsoft.com/office/drawing/2014/main" id="{7C16A7B3-F2DA-459C-842E-07C4C8DC1730}"/>
              </a:ext>
            </a:extLst>
          </p:cNvPr>
          <p:cNvSpPr>
            <a:spLocks xmlns:a="http://schemas.openxmlformats.org/drawingml/2006/main" noGrp="1"/>
          </p:cNvSpPr>
          <p:nvPr/>
        </p:nvSpPr>
        <p:spPr>
          <a:xfrm xmlns:a="http://schemas.openxmlformats.org/drawingml/2006/main">
            <a:off x="6829425" y="4498975"/>
            <a:ext cx="4000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26" name="">
            <a:extLst xmlns:a="http://schemas.openxmlformats.org/drawingml/2006/main">
              <a:ext uri="{FF2B5EF4-FFF2-40B4-BE49-F238E27FC236}">
                <a16:creationId xmlns:a16="http://schemas.microsoft.com/office/drawing/2014/main" id="{1F44C85C-5330-4323-ADA5-9C6A1177D27C}"/>
              </a:ext>
            </a:extLst>
          </p:cNvPr>
          <p:cNvSpPr>
            <a:spLocks xmlns:a="http://schemas.openxmlformats.org/drawingml/2006/main" noGrp="1"/>
          </p:cNvSpPr>
          <p:nvPr/>
        </p:nvSpPr>
        <p:spPr>
          <a:xfrm xmlns:a="http://schemas.openxmlformats.org/drawingml/2006/main">
            <a:off x="6829425" y="44799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27" name="">
            <a:extLst xmlns:a="http://schemas.openxmlformats.org/drawingml/2006/main">
              <a:ext uri="{FF2B5EF4-FFF2-40B4-BE49-F238E27FC236}">
                <a16:creationId xmlns:a16="http://schemas.microsoft.com/office/drawing/2014/main" id="{E9413CCF-1B66-4A39-87F3-95FA8F9550A8}"/>
              </a:ext>
            </a:extLst>
          </p:cNvPr>
          <p:cNvSpPr>
            <a:spLocks xmlns:a="http://schemas.openxmlformats.org/drawingml/2006/main" noGrp="1"/>
          </p:cNvSpPr>
          <p:nvPr/>
        </p:nvSpPr>
        <p:spPr>
          <a:xfrm xmlns:a="http://schemas.openxmlformats.org/drawingml/2006/main">
            <a:off x="7362825" y="445135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Dokumentationslücken prozessual einordnen.</a:t>
            </a:r>
          </a:p>
        </p:txBody>
      </p:sp>
      <p:sp>
        <p:nvSpPr>
          <p:cNvPr id="28" name="">
            <a:extLst xmlns:a="http://schemas.openxmlformats.org/drawingml/2006/main">
              <a:ext uri="{FF2B5EF4-FFF2-40B4-BE49-F238E27FC236}">
                <a16:creationId xmlns:a16="http://schemas.microsoft.com/office/drawing/2014/main" id="{E6D23033-403D-4342-BA42-BEB6D82F7F25}"/>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638">
                <a:solidFill>
                  <a:srgbClr val="667680"/>
                </a:solidFill>
              </a:defRPr>
            </a:pPr>
            <a:r>
              <a:rPr sz="638">
                <a:solidFill>
                  <a:srgbClr val="667680"/>
                </a:solidFill>
              </a:rPr>
              <a:t>Lernziele aus Seminarbeschreibung und Vorlesungsstruktur abgeleitet · https://elearning.uni-oldenburg.de/dispatch.php/course/details/index/64fffee6d869d134c6683909368deed9?cancel_login=1</a:t>
            </a:r>
          </a:p>
        </p:txBody>
      </p:sp>
    </p:spTree>
    <p:extLst>
      <p:ext uri="{BB962C8B-B14F-4D97-AF65-F5344CB8AC3E}">
        <p14:creationId xmlns:p14="http://schemas.microsoft.com/office/powerpoint/2010/main" val="43637646"/>
      </p:ext>
    </p:extLst>
  </p:cSld>
</p:sld>
</file>

<file path=ppt/slides/slide106.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Leitentscheidung · Elektronische Dokumentation und Änderungssicherheit</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ORIGINALENTSCHEIDUNG · TERMIN 04</a:t>
            </a:r>
            <a:endParaRPr/>
          </a:p>
        </p:txBody>
      </p:sp>
      <p:sp>
        <p:nvSpPr>
          <p:cNvPr id="4" name="">
            <a:extLst xmlns:a="http://schemas.openxmlformats.org/drawingml/2006/main">
              <a:ext uri="{FF2B5EF4-FFF2-40B4-BE49-F238E27FC236}">
                <a16:creationId xmlns:a16="http://schemas.microsoft.com/office/drawing/2014/main" id="{7A06616E-F0EF-4ADE-83D9-FF0457F61F08}"/>
              </a:ext>
            </a:extLst>
          </p:cNvPr>
          <p:cNvSpPr>
            <a:spLocks xmlns:a="http://schemas.openxmlformats.org/drawingml/2006/main" noGrp="1"/>
          </p:cNvSpPr>
          <p:nvPr/>
        </p:nvSpPr>
        <p:spPr>
          <a:xfrm xmlns:a="http://schemas.openxmlformats.org/drawingml/2006/main">
            <a:off x="1809750" y="1943100"/>
            <a:ext cx="11239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52FE09C5-81EC-42C0-A1C3-FF0F152523DC}"/>
              </a:ext>
            </a:extLst>
          </p:cNvPr>
          <p:cNvSpPr>
            <a:spLocks xmlns:a="http://schemas.openxmlformats.org/drawingml/2006/main" noGrp="1"/>
          </p:cNvSpPr>
          <p:nvPr/>
        </p:nvSpPr>
        <p:spPr>
          <a:xfrm xmlns:a="http://schemas.openxmlformats.org/drawingml/2006/main">
            <a:off x="1809750" y="1943100"/>
            <a:ext cx="1123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38" b="1">
                <a:solidFill>
                  <a:srgbClr val="FFFFFF"/>
                </a:solidFill>
              </a:defRPr>
            </a:pPr>
            <a:r>
              <a:rPr sz="938" b="1">
                <a:solidFill>
                  <a:srgbClr val="FFFFFF"/>
                </a:solidFill>
              </a:rPr>
              <a:t>BGH</a:t>
            </a:r>
          </a:p>
        </p:txBody>
      </p:sp>
      <p:sp>
        <p:nvSpPr>
          <p:cNvPr id="6" name="">
            <a:extLst xmlns:a="http://schemas.openxmlformats.org/drawingml/2006/main">
              <a:ext uri="{FF2B5EF4-FFF2-40B4-BE49-F238E27FC236}">
                <a16:creationId xmlns:a16="http://schemas.microsoft.com/office/drawing/2014/main" id="{1AE00206-4F61-40B5-BBBE-3905A1A61744}"/>
              </a:ext>
            </a:extLst>
          </p:cNvPr>
          <p:cNvSpPr>
            <a:spLocks xmlns:a="http://schemas.openxmlformats.org/drawingml/2006/main" noGrp="1"/>
          </p:cNvSpPr>
          <p:nvPr/>
        </p:nvSpPr>
        <p:spPr>
          <a:xfrm xmlns:a="http://schemas.openxmlformats.org/drawingml/2006/main">
            <a:off x="312420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27.04.2021 · VI ZR 84/19</a:t>
            </a:r>
          </a:p>
        </p:txBody>
      </p:sp>
      <p:sp>
        <p:nvSpPr>
          <p:cNvPr id="7" name="">
            <a:extLst xmlns:a="http://schemas.openxmlformats.org/drawingml/2006/main">
              <a:ext uri="{FF2B5EF4-FFF2-40B4-BE49-F238E27FC236}">
                <a16:creationId xmlns:a16="http://schemas.microsoft.com/office/drawing/2014/main" id="{F2ACCBA1-01CF-462D-9FD4-4D6B85E7491B}"/>
              </a:ext>
            </a:extLst>
          </p:cNvPr>
          <p:cNvSpPr>
            <a:spLocks xmlns:a="http://schemas.openxmlformats.org/drawingml/2006/main" noGrp="1"/>
          </p:cNvSpPr>
          <p:nvPr/>
        </p:nvSpPr>
        <p:spPr>
          <a:xfrm xmlns:a="http://schemas.openxmlformats.org/drawingml/2006/main">
            <a:off x="733425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050">
                <a:solidFill>
                  <a:srgbClr val="667680"/>
                </a:solidFill>
              </a:defRPr>
            </a:pPr>
            <a:r>
              <a:rPr sz="1050">
                <a:solidFill>
                  <a:srgbClr val="667680"/>
                </a:solidFill>
              </a:rPr>
              <a:t>Audit-Trail beeinflusst die Beweiswirkung</a:t>
            </a:r>
          </a:p>
        </p:txBody>
      </p:sp>
      <p:sp>
        <p:nvSpPr>
          <p:cNvPr id="8" name="">
            <a:extLst xmlns:a="http://schemas.openxmlformats.org/drawingml/2006/main">
              <a:ext uri="{FF2B5EF4-FFF2-40B4-BE49-F238E27FC236}">
                <a16:creationId xmlns:a16="http://schemas.microsoft.com/office/drawing/2014/main" id="{D9DB9093-D011-4D1D-A661-B0522C545AFB}"/>
              </a:ext>
            </a:extLst>
          </p:cNvPr>
          <p:cNvSpPr>
            <a:spLocks xmlns:a="http://schemas.openxmlformats.org/drawingml/2006/main" noGrp="1"/>
          </p:cNvSpPr>
          <p:nvPr/>
        </p:nvSpPr>
        <p:spPr>
          <a:xfrm xmlns:a="http://schemas.openxmlformats.org/drawingml/2006/main">
            <a:off x="1809750" y="2533650"/>
            <a:ext cx="1676400" cy="781050"/>
          </a:xfrm>
          <a:prstGeom xmlns:a="http://schemas.openxmlformats.org/drawingml/2006/main" prst="roundRect">
            <a:avLst>
              <a:gd name="adj" fmla="val 9756"/>
            </a:avLst>
          </a:prstGeom>
          <a:solidFill xmlns:a="http://schemas.openxmlformats.org/drawingml/2006/main">
            <a:srgbClr val="00B2BB"/>
          </a:solidFill>
          <a:ln xmlns:a="http://schemas.openxmlformats.org/drawingml/2006/main" w="0">
            <a:solidFill>
              <a:srgbClr val="00B2BB"/>
            </a:solidFill>
            <a:prstDash val="solid"/>
          </a:ln>
        </p:spPr>
      </p:sp>
      <p:sp>
        <p:nvSpPr>
          <p:cNvPr id="9" name="">
            <a:extLst xmlns:a="http://schemas.openxmlformats.org/drawingml/2006/main">
              <a:ext uri="{FF2B5EF4-FFF2-40B4-BE49-F238E27FC236}">
                <a16:creationId xmlns:a16="http://schemas.microsoft.com/office/drawing/2014/main" id="{672662FF-A9FD-4EF3-819A-53BCBBB90D13}"/>
              </a:ext>
            </a:extLst>
          </p:cNvPr>
          <p:cNvSpPr>
            <a:spLocks xmlns:a="http://schemas.openxmlformats.org/drawingml/2006/main" noGrp="1"/>
          </p:cNvSpPr>
          <p:nvPr/>
        </p:nvSpPr>
        <p:spPr>
          <a:xfrm xmlns:a="http://schemas.openxmlformats.org/drawingml/2006/main">
            <a:off x="1924050" y="25336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Ausgangsfall</a:t>
            </a:r>
          </a:p>
        </p:txBody>
      </p:sp>
      <p:sp>
        <p:nvSpPr>
          <p:cNvPr id="10" name="">
            <a:extLst xmlns:a="http://schemas.openxmlformats.org/drawingml/2006/main">
              <a:ext uri="{FF2B5EF4-FFF2-40B4-BE49-F238E27FC236}">
                <a16:creationId xmlns:a16="http://schemas.microsoft.com/office/drawing/2014/main" id="{ADFE1F57-DC44-4910-A982-B58DFA0AA19C}"/>
              </a:ext>
            </a:extLst>
          </p:cNvPr>
          <p:cNvSpPr>
            <a:spLocks xmlns:a="http://schemas.openxmlformats.org/drawingml/2006/main" noGrp="1"/>
          </p:cNvSpPr>
          <p:nvPr/>
        </p:nvSpPr>
        <p:spPr>
          <a:xfrm xmlns:a="http://schemas.openxmlformats.org/drawingml/2006/main">
            <a:off x="3695700" y="25336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In einem Arzthaftungsprozess war zu bewerten, welche Indizwirkung elektronischen Einträgen zukommt, wenn Änderungen technisch nicht zuverlässig kenntlich gemacht werden.</a:t>
            </a:r>
          </a:p>
        </p:txBody>
      </p:sp>
      <p:sp>
        <p:nvSpPr>
          <p:cNvPr id="11" name="">
            <a:extLst xmlns:a="http://schemas.openxmlformats.org/drawingml/2006/main">
              <a:ext uri="{FF2B5EF4-FFF2-40B4-BE49-F238E27FC236}">
                <a16:creationId xmlns:a16="http://schemas.microsoft.com/office/drawing/2014/main" id="{659B882D-D7F8-4FE2-871C-95C9EEA1B0FC}"/>
              </a:ext>
            </a:extLst>
          </p:cNvPr>
          <p:cNvSpPr>
            <a:spLocks xmlns:a="http://schemas.openxmlformats.org/drawingml/2006/main" noGrp="1"/>
          </p:cNvSpPr>
          <p:nvPr/>
        </p:nvSpPr>
        <p:spPr>
          <a:xfrm xmlns:a="http://schemas.openxmlformats.org/drawingml/2006/main">
            <a:off x="1809750" y="3486150"/>
            <a:ext cx="1676400" cy="781050"/>
          </a:xfrm>
          <a:prstGeom xmlns:a="http://schemas.openxmlformats.org/drawingml/2006/main" prst="roundRect">
            <a:avLst>
              <a:gd name="adj" fmla="val 9756"/>
            </a:avLst>
          </a:prstGeom>
          <a:solidFill xmlns:a="http://schemas.openxmlformats.org/drawingml/2006/main">
            <a:srgbClr val="003F6B"/>
          </a:solidFill>
          <a:ln xmlns:a="http://schemas.openxmlformats.org/drawingml/2006/main" w="0">
            <a:solidFill>
              <a:srgbClr val="003F6B"/>
            </a:solidFill>
            <a:prstDash val="solid"/>
          </a:ln>
        </p:spPr>
      </p:sp>
      <p:sp>
        <p:nvSpPr>
          <p:cNvPr id="12" name="">
            <a:extLst xmlns:a="http://schemas.openxmlformats.org/drawingml/2006/main">
              <a:ext uri="{FF2B5EF4-FFF2-40B4-BE49-F238E27FC236}">
                <a16:creationId xmlns:a16="http://schemas.microsoft.com/office/drawing/2014/main" id="{E34DBD8A-6D20-4F25-A3CB-E51A2BD5E187}"/>
              </a:ext>
            </a:extLst>
          </p:cNvPr>
          <p:cNvSpPr>
            <a:spLocks xmlns:a="http://schemas.openxmlformats.org/drawingml/2006/main" noGrp="1"/>
          </p:cNvSpPr>
          <p:nvPr/>
        </p:nvSpPr>
        <p:spPr>
          <a:xfrm xmlns:a="http://schemas.openxmlformats.org/drawingml/2006/main">
            <a:off x="1924050" y="34861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Leitsatzkern</a:t>
            </a:r>
          </a:p>
        </p:txBody>
      </p:sp>
      <p:sp>
        <p:nvSpPr>
          <p:cNvPr id="13" name="">
            <a:extLst xmlns:a="http://schemas.openxmlformats.org/drawingml/2006/main">
              <a:ext uri="{FF2B5EF4-FFF2-40B4-BE49-F238E27FC236}">
                <a16:creationId xmlns:a16="http://schemas.microsoft.com/office/drawing/2014/main" id="{C5974A1E-01E6-44B9-9DD5-636E3B87A3FD}"/>
              </a:ext>
            </a:extLst>
          </p:cNvPr>
          <p:cNvSpPr>
            <a:spLocks xmlns:a="http://schemas.openxmlformats.org/drawingml/2006/main" noGrp="1"/>
          </p:cNvSpPr>
          <p:nvPr/>
        </p:nvSpPr>
        <p:spPr>
          <a:xfrm xmlns:a="http://schemas.openxmlformats.org/drawingml/2006/main">
            <a:off x="3695700" y="34861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Leitsatzkern (paraphrasiert): Medizinisch nicht erforderliche Maßnahmen müssen nicht allein zu Beweiszwecken dokumentiert werden. Nicht kenntliche Änderbarkeit schwächt die positive Indizwirkung elektronischer Einträge.</a:t>
            </a:r>
          </a:p>
        </p:txBody>
      </p:sp>
      <p:sp>
        <p:nvSpPr>
          <p:cNvPr id="14" name="">
            <a:extLst xmlns:a="http://schemas.openxmlformats.org/drawingml/2006/main">
              <a:ext uri="{FF2B5EF4-FFF2-40B4-BE49-F238E27FC236}">
                <a16:creationId xmlns:a16="http://schemas.microsoft.com/office/drawing/2014/main" id="{74A9462D-BB04-4E79-A2BD-31D0C812AA36}"/>
              </a:ext>
            </a:extLst>
          </p:cNvPr>
          <p:cNvSpPr>
            <a:spLocks xmlns:a="http://schemas.openxmlformats.org/drawingml/2006/main" noGrp="1"/>
          </p:cNvSpPr>
          <p:nvPr/>
        </p:nvSpPr>
        <p:spPr>
          <a:xfrm xmlns:a="http://schemas.openxmlformats.org/drawingml/2006/main">
            <a:off x="1809750" y="4438650"/>
            <a:ext cx="1676400" cy="781050"/>
          </a:xfrm>
          <a:prstGeom xmlns:a="http://schemas.openxmlformats.org/drawingml/2006/main" prst="roundRect">
            <a:avLst>
              <a:gd name="adj" fmla="val 9756"/>
            </a:avLst>
          </a:prstGeom>
          <a:solidFill xmlns:a="http://schemas.openxmlformats.org/drawingml/2006/main">
            <a:srgbClr val="00B2BB"/>
          </a:solidFill>
          <a:ln xmlns:a="http://schemas.openxmlformats.org/drawingml/2006/main" w="0">
            <a:solidFill>
              <a:srgbClr val="00B2BB"/>
            </a:solidFill>
            <a:prstDash val="solid"/>
          </a:ln>
        </p:spPr>
      </p:sp>
      <p:sp>
        <p:nvSpPr>
          <p:cNvPr id="15" name="">
            <a:extLst xmlns:a="http://schemas.openxmlformats.org/drawingml/2006/main">
              <a:ext uri="{FF2B5EF4-FFF2-40B4-BE49-F238E27FC236}">
                <a16:creationId xmlns:a16="http://schemas.microsoft.com/office/drawing/2014/main" id="{85A0EB90-2D50-4004-957F-E62FC7751DDD}"/>
              </a:ext>
            </a:extLst>
          </p:cNvPr>
          <p:cNvSpPr>
            <a:spLocks xmlns:a="http://schemas.openxmlformats.org/drawingml/2006/main" noGrp="1"/>
          </p:cNvSpPr>
          <p:nvPr/>
        </p:nvSpPr>
        <p:spPr>
          <a:xfrm xmlns:a="http://schemas.openxmlformats.org/drawingml/2006/main">
            <a:off x="1924050" y="44386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Für die Praxis</a:t>
            </a:r>
          </a:p>
        </p:txBody>
      </p:sp>
      <p:sp>
        <p:nvSpPr>
          <p:cNvPr id="16" name="">
            <a:extLst xmlns:a="http://schemas.openxmlformats.org/drawingml/2006/main">
              <a:ext uri="{FF2B5EF4-FFF2-40B4-BE49-F238E27FC236}">
                <a16:creationId xmlns:a16="http://schemas.microsoft.com/office/drawing/2014/main" id="{18F2CADB-0673-47BC-8406-61C601F365BB}"/>
              </a:ext>
            </a:extLst>
          </p:cNvPr>
          <p:cNvSpPr>
            <a:spLocks xmlns:a="http://schemas.openxmlformats.org/drawingml/2006/main" noGrp="1"/>
          </p:cNvSpPr>
          <p:nvPr/>
        </p:nvSpPr>
        <p:spPr>
          <a:xfrm xmlns:a="http://schemas.openxmlformats.org/drawingml/2006/main">
            <a:off x="3695700" y="44386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Zeitpunkt, Urheberschaft und Änderung müssen nachvollziehbar bleiben; transparente Nachträge sind besser als verdeckte Korrekturen.</a:t>
            </a:r>
          </a:p>
        </p:txBody>
      </p:sp>
      <p:sp>
        <p:nvSpPr>
          <p:cNvPr id="17" name="">
            <a:extLst xmlns:a="http://schemas.openxmlformats.org/drawingml/2006/main">
              <a:ext uri="{FF2B5EF4-FFF2-40B4-BE49-F238E27FC236}">
                <a16:creationId xmlns:a16="http://schemas.microsoft.com/office/drawing/2014/main" id="{2DDA1E33-799B-4D1E-8E86-4C3D67DEE574}"/>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638">
                <a:solidFill>
                  <a:srgbClr val="667680"/>
                </a:solidFill>
              </a:defRPr>
            </a:pPr>
            <a:r>
              <a:rPr sz="638">
                <a:solidFill>
                  <a:srgbClr val="667680"/>
                </a:solidFill>
              </a:rPr>
              <a:t>BGH, Urt. v. 27.04.2021 – VI ZR 84/19 · https://juris.bundesgerichtshof.de/cgi-bin/rechtsprechung/document.py?Art=en&amp;Blank=1.pdf&amp;Datum=2021-4&amp;Gericht=bgh&amp;Seite=7&amp;Sort=1&amp;anz=308&amp;nr=119134&amp;pos=218</a:t>
            </a:r>
          </a:p>
        </p:txBody>
      </p:sp>
    </p:spTree>
    <p:extLst>
      <p:ext uri="{BB962C8B-B14F-4D97-AF65-F5344CB8AC3E}">
        <p14:creationId xmlns:p14="http://schemas.microsoft.com/office/powerpoint/2010/main" val="43637646"/>
      </p:ext>
    </p:extLst>
  </p:cSld>
</p:sld>
</file>

<file path=ppt/slides/slide107.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Dokumentation und Akteneinsicht</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GESETZESTEXT · GEKÜRZTER LEHRAUSZUG</a:t>
            </a:r>
            <a:endParaRPr/>
          </a:p>
        </p:txBody>
      </p:sp>
      <p:sp>
        <p:nvSpPr>
          <p:cNvPr id="4" name="">
            <a:extLst xmlns:a="http://schemas.openxmlformats.org/drawingml/2006/main">
              <a:ext uri="{FF2B5EF4-FFF2-40B4-BE49-F238E27FC236}">
                <a16:creationId xmlns:a16="http://schemas.microsoft.com/office/drawing/2014/main" id="{2B021704-957B-4BA6-BAEE-49C91D3CB47B}"/>
              </a:ext>
            </a:extLst>
          </p:cNvPr>
          <p:cNvSpPr>
            <a:spLocks xmlns:a="http://schemas.openxmlformats.org/drawingml/2006/main" noGrp="1"/>
          </p:cNvSpPr>
          <p:nvPr/>
        </p:nvSpPr>
        <p:spPr>
          <a:xfrm xmlns:a="http://schemas.openxmlformats.org/drawingml/2006/main">
            <a:off x="1809750" y="1943100"/>
            <a:ext cx="4648200" cy="3371850"/>
          </a:xfrm>
          <a:prstGeom xmlns:a="http://schemas.openxmlformats.org/drawingml/2006/main" prst="roundRect">
            <a:avLst>
              <a:gd name="adj" fmla="val 2260"/>
            </a:avLst>
          </a:prstGeom>
          <a:solidFill xmlns:a="http://schemas.openxmlformats.org/drawingml/2006/main">
            <a:srgbClr val="F3F7F9"/>
          </a:solidFill>
          <a:ln xmlns:a="http://schemas.openxmlformats.org/drawingml/2006/main" w="11430">
            <a:solidFill>
              <a:srgbClr val="00B2BB"/>
            </a:solidFill>
            <a:prstDash val="solid"/>
          </a:ln>
        </p:spPr>
      </p:sp>
      <p:sp>
        <p:nvSpPr>
          <p:cNvPr id="5" name="">
            <a:extLst xmlns:a="http://schemas.openxmlformats.org/drawingml/2006/main">
              <a:ext uri="{FF2B5EF4-FFF2-40B4-BE49-F238E27FC236}">
                <a16:creationId xmlns:a16="http://schemas.microsoft.com/office/drawing/2014/main" id="{AEC02F71-B522-4D92-9638-4FE5D16A1937}"/>
              </a:ext>
            </a:extLst>
          </p:cNvPr>
          <p:cNvSpPr>
            <a:spLocks xmlns:a="http://schemas.openxmlformats.org/drawingml/2006/main" noGrp="1"/>
          </p:cNvSpPr>
          <p:nvPr/>
        </p:nvSpPr>
        <p:spPr>
          <a:xfrm xmlns:a="http://schemas.openxmlformats.org/drawingml/2006/main">
            <a:off x="1943100" y="2076450"/>
            <a:ext cx="1409700" cy="381000"/>
          </a:xfrm>
          <a:prstGeom xmlns:a="http://schemas.openxmlformats.org/drawingml/2006/main" prst="roundRect">
            <a:avLst>
              <a:gd name="adj" fmla="val 20000"/>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B42EA80D-CB35-46FA-B10D-2B4A7FF26FB8}"/>
              </a:ext>
            </a:extLst>
          </p:cNvPr>
          <p:cNvSpPr>
            <a:spLocks xmlns:a="http://schemas.openxmlformats.org/drawingml/2006/main" noGrp="1"/>
          </p:cNvSpPr>
          <p:nvPr/>
        </p:nvSpPr>
        <p:spPr>
          <a:xfrm xmlns:a="http://schemas.openxmlformats.org/drawingml/2006/main">
            <a:off x="1943100" y="207645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 630f BGB</a:t>
            </a:r>
          </a:p>
        </p:txBody>
      </p:sp>
      <p:sp>
        <p:nvSpPr>
          <p:cNvPr id="7" name="">
            <a:extLst xmlns:a="http://schemas.openxmlformats.org/drawingml/2006/main">
              <a:ext uri="{FF2B5EF4-FFF2-40B4-BE49-F238E27FC236}">
                <a16:creationId xmlns:a16="http://schemas.microsoft.com/office/drawing/2014/main" id="{DF25D3B5-109C-4293-A64B-889D8720CC4C}"/>
              </a:ext>
            </a:extLst>
          </p:cNvPr>
          <p:cNvSpPr>
            <a:spLocks xmlns:a="http://schemas.openxmlformats.org/drawingml/2006/main" noGrp="1"/>
          </p:cNvSpPr>
          <p:nvPr/>
        </p:nvSpPr>
        <p:spPr>
          <a:xfrm xmlns:a="http://schemas.openxmlformats.org/drawingml/2006/main">
            <a:off x="3486150" y="2057400"/>
            <a:ext cx="2838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Behandlungsakte</a:t>
            </a:r>
          </a:p>
        </p:txBody>
      </p:sp>
      <p:sp>
        <p:nvSpPr>
          <p:cNvPr id="8" name="">
            <a:extLst xmlns:a="http://schemas.openxmlformats.org/drawingml/2006/main">
              <a:ext uri="{FF2B5EF4-FFF2-40B4-BE49-F238E27FC236}">
                <a16:creationId xmlns:a16="http://schemas.microsoft.com/office/drawing/2014/main" id="{F4334C75-E5D5-4075-8C41-52C3C88F0133}"/>
              </a:ext>
            </a:extLst>
          </p:cNvPr>
          <p:cNvSpPr>
            <a:spLocks xmlns:a="http://schemas.openxmlformats.org/drawingml/2006/main" noGrp="1"/>
          </p:cNvSpPr>
          <p:nvPr/>
        </p:nvSpPr>
        <p:spPr>
          <a:xfrm xmlns:a="http://schemas.openxmlformats.org/drawingml/2006/main">
            <a:off x="1981200" y="2609850"/>
            <a:ext cx="4305300" cy="2533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8">
                <a:solidFill>
                  <a:srgbClr val="15232B"/>
                </a:solidFill>
              </a:defRPr>
            </a:pPr>
            <a:r>
              <a:rPr sz="1148">
                <a:solidFill>
                  <a:srgbClr val="15232B"/>
                </a:solidFill>
              </a:rPr>
              <a:t>Die Behandlungsakte ist in unmittelbarem zeitlichen Zusammenhang zu führen. Änderungen sind nur zulässig, wenn ursprünglicher Inhalt und Änderungszeitpunkt erkennbar bleiben. Aufzuzeichnen sind alle aus fachlicher Sicht für aktuelle und künftige Behandlung wesentlichen Maßnahmen und Ergebnisse, insbesondere Anamnese, Diagnosen, Untersuchungen, Befunde, Therapien, Wirkungen, Eingriffe, Einwilligungen und Aufklärungen. Aufbewahrung grundsätzlich zehn Jahre.</a:t>
            </a:r>
          </a:p>
        </p:txBody>
      </p:sp>
      <p:sp>
        <p:nvSpPr>
          <p:cNvPr id="9" name="">
            <a:extLst xmlns:a="http://schemas.openxmlformats.org/drawingml/2006/main">
              <a:ext uri="{FF2B5EF4-FFF2-40B4-BE49-F238E27FC236}">
                <a16:creationId xmlns:a16="http://schemas.microsoft.com/office/drawing/2014/main" id="{DD0865A7-3233-467A-AF3E-6AC01A11062D}"/>
              </a:ext>
            </a:extLst>
          </p:cNvPr>
          <p:cNvSpPr>
            <a:spLocks xmlns:a="http://schemas.openxmlformats.org/drawingml/2006/main" noGrp="1"/>
          </p:cNvSpPr>
          <p:nvPr/>
        </p:nvSpPr>
        <p:spPr>
          <a:xfrm xmlns:a="http://schemas.openxmlformats.org/drawingml/2006/main">
            <a:off x="6686550" y="1943100"/>
            <a:ext cx="4648200" cy="3371850"/>
          </a:xfrm>
          <a:prstGeom xmlns:a="http://schemas.openxmlformats.org/drawingml/2006/main" prst="roundRect">
            <a:avLst>
              <a:gd name="adj" fmla="val 2260"/>
            </a:avLst>
          </a:prstGeom>
          <a:solidFill xmlns:a="http://schemas.openxmlformats.org/drawingml/2006/main">
            <a:srgbClr val="F3F7F9"/>
          </a:solidFill>
          <a:ln xmlns:a="http://schemas.openxmlformats.org/drawingml/2006/main" w="11430">
            <a:solidFill>
              <a:srgbClr val="003F6B"/>
            </a:solidFill>
            <a:prstDash val="solid"/>
          </a:ln>
        </p:spPr>
      </p:sp>
      <p:sp>
        <p:nvSpPr>
          <p:cNvPr id="10" name="">
            <a:extLst xmlns:a="http://schemas.openxmlformats.org/drawingml/2006/main">
              <a:ext uri="{FF2B5EF4-FFF2-40B4-BE49-F238E27FC236}">
                <a16:creationId xmlns:a16="http://schemas.microsoft.com/office/drawing/2014/main" id="{A5522520-AC48-4034-BC72-74CEE86AA01A}"/>
              </a:ext>
            </a:extLst>
          </p:cNvPr>
          <p:cNvSpPr>
            <a:spLocks xmlns:a="http://schemas.openxmlformats.org/drawingml/2006/main" noGrp="1"/>
          </p:cNvSpPr>
          <p:nvPr/>
        </p:nvSpPr>
        <p:spPr>
          <a:xfrm xmlns:a="http://schemas.openxmlformats.org/drawingml/2006/main">
            <a:off x="6819900" y="2076450"/>
            <a:ext cx="1409700" cy="381000"/>
          </a:xfrm>
          <a:prstGeom xmlns:a="http://schemas.openxmlformats.org/drawingml/2006/main" prst="roundRect">
            <a:avLst>
              <a:gd name="adj" fmla="val 20000"/>
            </a:avLst>
          </a:prstGeom>
          <a:solidFill xmlns:a="http://schemas.openxmlformats.org/drawingml/2006/main">
            <a:srgbClr val="003F6B"/>
          </a:solidFill>
          <a:ln xmlns:a="http://schemas.openxmlformats.org/drawingml/2006/main" w="0">
            <a:solidFill>
              <a:srgbClr val="003F6B"/>
            </a:solidFill>
            <a:prstDash val="solid"/>
          </a:ln>
        </p:spPr>
      </p:sp>
      <p:sp>
        <p:nvSpPr>
          <p:cNvPr id="11" name="">
            <a:extLst xmlns:a="http://schemas.openxmlformats.org/drawingml/2006/main">
              <a:ext uri="{FF2B5EF4-FFF2-40B4-BE49-F238E27FC236}">
                <a16:creationId xmlns:a16="http://schemas.microsoft.com/office/drawing/2014/main" id="{6D71E123-08F1-4331-ADE3-2E3CD539CC6D}"/>
              </a:ext>
            </a:extLst>
          </p:cNvPr>
          <p:cNvSpPr>
            <a:spLocks xmlns:a="http://schemas.openxmlformats.org/drawingml/2006/main" noGrp="1"/>
          </p:cNvSpPr>
          <p:nvPr/>
        </p:nvSpPr>
        <p:spPr>
          <a:xfrm xmlns:a="http://schemas.openxmlformats.org/drawingml/2006/main">
            <a:off x="6819900" y="207645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 630g BGB</a:t>
            </a:r>
          </a:p>
        </p:txBody>
      </p:sp>
      <p:sp>
        <p:nvSpPr>
          <p:cNvPr id="12" name="">
            <a:extLst xmlns:a="http://schemas.openxmlformats.org/drawingml/2006/main">
              <a:ext uri="{FF2B5EF4-FFF2-40B4-BE49-F238E27FC236}">
                <a16:creationId xmlns:a16="http://schemas.microsoft.com/office/drawing/2014/main" id="{08FBA1DF-1A90-41BF-8001-D2284425EF94}"/>
              </a:ext>
            </a:extLst>
          </p:cNvPr>
          <p:cNvSpPr>
            <a:spLocks xmlns:a="http://schemas.openxmlformats.org/drawingml/2006/main" noGrp="1"/>
          </p:cNvSpPr>
          <p:nvPr/>
        </p:nvSpPr>
        <p:spPr>
          <a:xfrm xmlns:a="http://schemas.openxmlformats.org/drawingml/2006/main">
            <a:off x="8362950" y="2057400"/>
            <a:ext cx="2838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Einsicht</a:t>
            </a:r>
          </a:p>
        </p:txBody>
      </p:sp>
      <p:sp>
        <p:nvSpPr>
          <p:cNvPr id="13" name="">
            <a:extLst xmlns:a="http://schemas.openxmlformats.org/drawingml/2006/main">
              <a:ext uri="{FF2B5EF4-FFF2-40B4-BE49-F238E27FC236}">
                <a16:creationId xmlns:a16="http://schemas.microsoft.com/office/drawing/2014/main" id="{44105B7B-0C11-4992-8C92-996F44FE7155}"/>
              </a:ext>
            </a:extLst>
          </p:cNvPr>
          <p:cNvSpPr>
            <a:spLocks xmlns:a="http://schemas.openxmlformats.org/drawingml/2006/main" noGrp="1"/>
          </p:cNvSpPr>
          <p:nvPr/>
        </p:nvSpPr>
        <p:spPr>
          <a:xfrm xmlns:a="http://schemas.openxmlformats.org/drawingml/2006/main">
            <a:off x="6858000" y="2609850"/>
            <a:ext cx="4305300" cy="2533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8">
                <a:solidFill>
                  <a:srgbClr val="15232B"/>
                </a:solidFill>
              </a:defRPr>
            </a:pPr>
            <a:r>
              <a:rPr sz="1148">
                <a:solidFill>
                  <a:srgbClr val="15232B"/>
                </a:solidFill>
              </a:rPr>
              <a:t>Dem Patienten ist auf Verlangen unverzüglich Einsicht in die vollständige Behandlungsakte zu gewähren; er kann Abschriften einschließlich elektronischer Abschriften verlangen. Die erste Abschrift ist unentgeltlich. Einschränkungen bestehen nur bei erheblichen therapeutischen Gründen oder erheblichen Rechten Dritter; die Ablehnung ist zu begründen.</a:t>
            </a:r>
          </a:p>
        </p:txBody>
      </p:sp>
      <p:sp>
        <p:nvSpPr>
          <p:cNvPr id="14" name="">
            <a:extLst xmlns:a="http://schemas.openxmlformats.org/drawingml/2006/main">
              <a:ext uri="{FF2B5EF4-FFF2-40B4-BE49-F238E27FC236}">
                <a16:creationId xmlns:a16="http://schemas.microsoft.com/office/drawing/2014/main" id="{0BD6D368-C4DD-4574-980F-4FA4B4C3DD53}"/>
              </a:ext>
            </a:extLst>
          </p:cNvPr>
          <p:cNvSpPr>
            <a:spLocks xmlns:a="http://schemas.openxmlformats.org/drawingml/2006/main" noGrp="1"/>
          </p:cNvSpPr>
          <p:nvPr/>
        </p:nvSpPr>
        <p:spPr>
          <a:xfrm xmlns:a="http://schemas.openxmlformats.org/drawingml/2006/main">
            <a:off x="1809750" y="5619750"/>
            <a:ext cx="9525000" cy="419100"/>
          </a:xfrm>
          <a:prstGeom xmlns:a="http://schemas.openxmlformats.org/drawingml/2006/main" prst="roundRect">
            <a:avLst>
              <a:gd name="adj" fmla="val 18182"/>
            </a:avLst>
          </a:prstGeom>
          <a:noFill xmlns:a="http://schemas.openxmlformats.org/drawingml/2006/main"/>
          <a:ln xmlns:a="http://schemas.openxmlformats.org/drawingml/2006/main" w="11430">
            <a:solidFill>
              <a:srgbClr val="00B2BB"/>
            </a:solidFill>
            <a:prstDash val="solid"/>
          </a:ln>
        </p:spPr>
      </p:sp>
      <p:sp>
        <p:nvSpPr>
          <p:cNvPr id="15" name="">
            <a:extLst xmlns:a="http://schemas.openxmlformats.org/drawingml/2006/main">
              <a:ext uri="{FF2B5EF4-FFF2-40B4-BE49-F238E27FC236}">
                <a16:creationId xmlns:a16="http://schemas.microsoft.com/office/drawing/2014/main" id="{AF02F349-0747-4114-9C72-9DA3BB63A651}"/>
              </a:ext>
            </a:extLst>
          </p:cNvPr>
          <p:cNvSpPr>
            <a:spLocks xmlns:a="http://schemas.openxmlformats.org/drawingml/2006/main" noGrp="1"/>
          </p:cNvSpPr>
          <p:nvPr/>
        </p:nvSpPr>
        <p:spPr>
          <a:xfrm xmlns:a="http://schemas.openxmlformats.org/drawingml/2006/main">
            <a:off x="1962150" y="5638800"/>
            <a:ext cx="9220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13" b="1">
                <a:solidFill>
                  <a:srgbClr val="003F6B"/>
                </a:solidFill>
              </a:defRPr>
            </a:pPr>
            <a:r>
              <a:rPr sz="1013" b="1">
                <a:solidFill>
                  <a:srgbClr val="003F6B"/>
                </a:solidFill>
              </a:rPr>
              <a:t>Praxislesart: Die Akte dient zuerst der sicheren Weiterbehandlung und Rechenschaft; ihre prozessuale Wirkung folgt daraus.</a:t>
            </a:r>
          </a:p>
        </p:txBody>
      </p:sp>
      <p:sp>
        <p:nvSpPr>
          <p:cNvPr id="16" name="">
            <a:extLst xmlns:a="http://schemas.openxmlformats.org/drawingml/2006/main">
              <a:ext uri="{FF2B5EF4-FFF2-40B4-BE49-F238E27FC236}">
                <a16:creationId xmlns:a16="http://schemas.microsoft.com/office/drawing/2014/main" id="{7C225768-983B-4132-8561-D8E46CE429A1}"/>
              </a:ext>
            </a:extLst>
          </p:cNvPr>
          <p:cNvSpPr>
            <a:spLocks xmlns:a="http://schemas.openxmlformats.org/drawingml/2006/main" noGrp="1"/>
          </p:cNvSpPr>
          <p:nvPr/>
        </p:nvSpPr>
        <p:spPr>
          <a:xfrm xmlns:a="http://schemas.openxmlformats.org/drawingml/2006/main">
            <a:off x="1809750" y="535305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05">
                <a:solidFill>
                  <a:srgbClr val="667680"/>
                </a:solidFill>
              </a:defRPr>
            </a:pPr>
            <a:r>
              <a:rPr sz="705">
                <a:solidFill>
                  <a:srgbClr val="667680"/>
                </a:solidFill>
              </a:rPr>
              <a:t>BMJ/BfJ, gesetze-im-internet.de/bgb/__630f.html und /__630g.html · Abruf/Stand: 20.08.2026 · https://pubmed.ncbi.nlm.nih.gov</a:t>
            </a:r>
          </a:p>
        </p:txBody>
      </p:sp>
    </p:spTree>
    <p:extLst>
      <p:ext uri="{BB962C8B-B14F-4D97-AF65-F5344CB8AC3E}">
        <p14:creationId xmlns:p14="http://schemas.microsoft.com/office/powerpoint/2010/main" val="43637646"/>
      </p:ext>
    </p:extLst>
  </p:cSld>
</p:sld>
</file>

<file path=ppt/slides/slide108.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Elektronische Akte ohne erkennbare Änderungsspur</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REALE ENTSCHEIDUNG</a:t>
            </a:r>
            <a:endParaRPr/>
          </a:p>
        </p:txBody>
      </p:sp>
      <p:sp>
        <p:nvSpPr>
          <p:cNvPr id="4" name="">
            <a:extLst xmlns:a="http://schemas.openxmlformats.org/drawingml/2006/main">
              <a:ext uri="{FF2B5EF4-FFF2-40B4-BE49-F238E27FC236}">
                <a16:creationId xmlns:a16="http://schemas.microsoft.com/office/drawing/2014/main" id="{362883F5-F4F5-4A33-8EBC-B8838C8C1FA5}"/>
              </a:ext>
            </a:extLst>
          </p:cNvPr>
          <p:cNvSpPr>
            <a:spLocks xmlns:a="http://schemas.openxmlformats.org/drawingml/2006/main" noGrp="1"/>
          </p:cNvSpPr>
          <p:nvPr/>
        </p:nvSpPr>
        <p:spPr>
          <a:xfrm xmlns:a="http://schemas.openxmlformats.org/drawingml/2006/main">
            <a:off x="1809750" y="1943100"/>
            <a:ext cx="11239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FE378304-9C6B-46FE-9A49-610B2879D827}"/>
              </a:ext>
            </a:extLst>
          </p:cNvPr>
          <p:cNvSpPr>
            <a:spLocks xmlns:a="http://schemas.openxmlformats.org/drawingml/2006/main" noGrp="1"/>
          </p:cNvSpPr>
          <p:nvPr/>
        </p:nvSpPr>
        <p:spPr>
          <a:xfrm xmlns:a="http://schemas.openxmlformats.org/drawingml/2006/main">
            <a:off x="1809750" y="1943100"/>
            <a:ext cx="1123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BGH</a:t>
            </a:r>
          </a:p>
        </p:txBody>
      </p:sp>
      <p:sp>
        <p:nvSpPr>
          <p:cNvPr id="6" name="">
            <a:extLst xmlns:a="http://schemas.openxmlformats.org/drawingml/2006/main">
              <a:ext uri="{FF2B5EF4-FFF2-40B4-BE49-F238E27FC236}">
                <a16:creationId xmlns:a16="http://schemas.microsoft.com/office/drawing/2014/main" id="{8C6555FC-A78E-4C22-921B-46C06CDBC40F}"/>
              </a:ext>
            </a:extLst>
          </p:cNvPr>
          <p:cNvSpPr>
            <a:spLocks xmlns:a="http://schemas.openxmlformats.org/drawingml/2006/main" noGrp="1"/>
          </p:cNvSpPr>
          <p:nvPr/>
        </p:nvSpPr>
        <p:spPr>
          <a:xfrm xmlns:a="http://schemas.openxmlformats.org/drawingml/2006/main">
            <a:off x="312420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27.04.2021 · VI ZR 84/19 · aus Oldenburg</a:t>
            </a:r>
          </a:p>
        </p:txBody>
      </p:sp>
      <p:sp>
        <p:nvSpPr>
          <p:cNvPr id="7" name="">
            <a:extLst xmlns:a="http://schemas.openxmlformats.org/drawingml/2006/main">
              <a:ext uri="{FF2B5EF4-FFF2-40B4-BE49-F238E27FC236}">
                <a16:creationId xmlns:a16="http://schemas.microsoft.com/office/drawing/2014/main" id="{A5EA0809-9D43-46A2-B744-EFE89273EADC}"/>
              </a:ext>
            </a:extLst>
          </p:cNvPr>
          <p:cNvSpPr>
            <a:spLocks xmlns:a="http://schemas.openxmlformats.org/drawingml/2006/main" noGrp="1"/>
          </p:cNvSpPr>
          <p:nvPr/>
        </p:nvSpPr>
        <p:spPr>
          <a:xfrm xmlns:a="http://schemas.openxmlformats.org/drawingml/2006/main">
            <a:off x="733425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050">
                <a:solidFill>
                  <a:srgbClr val="667680"/>
                </a:solidFill>
              </a:defRPr>
            </a:pPr>
            <a:r>
              <a:rPr sz="1050">
                <a:solidFill>
                  <a:srgbClr val="667680"/>
                </a:solidFill>
              </a:rPr>
              <a:t>Leitentscheidung</a:t>
            </a:r>
          </a:p>
        </p:txBody>
      </p:sp>
      <p:sp>
        <p:nvSpPr>
          <p:cNvPr id="8" name="">
            <a:extLst xmlns:a="http://schemas.openxmlformats.org/drawingml/2006/main">
              <a:ext uri="{FF2B5EF4-FFF2-40B4-BE49-F238E27FC236}">
                <a16:creationId xmlns:a16="http://schemas.microsoft.com/office/drawing/2014/main" id="{DFFCB343-888A-4533-A1EE-23919C65BB7B}"/>
              </a:ext>
            </a:extLst>
          </p:cNvPr>
          <p:cNvSpPr>
            <a:spLocks xmlns:a="http://schemas.openxmlformats.org/drawingml/2006/main" noGrp="1"/>
          </p:cNvSpPr>
          <p:nvPr/>
        </p:nvSpPr>
        <p:spPr>
          <a:xfrm xmlns:a="http://schemas.openxmlformats.org/drawingml/2006/main">
            <a:off x="1809750" y="2533650"/>
            <a:ext cx="1676400" cy="781050"/>
          </a:xfrm>
          <a:prstGeom xmlns:a="http://schemas.openxmlformats.org/drawingml/2006/main" prst="roundRect">
            <a:avLst>
              <a:gd name="adj" fmla="val 9756"/>
            </a:avLst>
          </a:prstGeom>
          <a:solidFill xmlns:a="http://schemas.openxmlformats.org/drawingml/2006/main">
            <a:srgbClr val="00B2BB"/>
          </a:solidFill>
          <a:ln xmlns:a="http://schemas.openxmlformats.org/drawingml/2006/main" w="0">
            <a:solidFill>
              <a:srgbClr val="00B2BB"/>
            </a:solidFill>
            <a:prstDash val="solid"/>
          </a:ln>
        </p:spPr>
      </p:sp>
      <p:sp>
        <p:nvSpPr>
          <p:cNvPr id="9" name="">
            <a:extLst xmlns:a="http://schemas.openxmlformats.org/drawingml/2006/main">
              <a:ext uri="{FF2B5EF4-FFF2-40B4-BE49-F238E27FC236}">
                <a16:creationId xmlns:a16="http://schemas.microsoft.com/office/drawing/2014/main" id="{13E6D59C-8F2C-49C3-8B1D-7621F02D0A60}"/>
              </a:ext>
            </a:extLst>
          </p:cNvPr>
          <p:cNvSpPr>
            <a:spLocks xmlns:a="http://schemas.openxmlformats.org/drawingml/2006/main" noGrp="1"/>
          </p:cNvSpPr>
          <p:nvPr/>
        </p:nvSpPr>
        <p:spPr>
          <a:xfrm xmlns:a="http://schemas.openxmlformats.org/drawingml/2006/main">
            <a:off x="1924050" y="25336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Ausgangsfall</a:t>
            </a:r>
          </a:p>
        </p:txBody>
      </p:sp>
      <p:sp>
        <p:nvSpPr>
          <p:cNvPr id="10" name="">
            <a:extLst xmlns:a="http://schemas.openxmlformats.org/drawingml/2006/main">
              <a:ext uri="{FF2B5EF4-FFF2-40B4-BE49-F238E27FC236}">
                <a16:creationId xmlns:a16="http://schemas.microsoft.com/office/drawing/2014/main" id="{2E6F94E9-1049-45FF-AB9F-5E2EA4B04967}"/>
              </a:ext>
            </a:extLst>
          </p:cNvPr>
          <p:cNvSpPr>
            <a:spLocks xmlns:a="http://schemas.openxmlformats.org/drawingml/2006/main" noGrp="1"/>
          </p:cNvSpPr>
          <p:nvPr/>
        </p:nvSpPr>
        <p:spPr>
          <a:xfrm xmlns:a="http://schemas.openxmlformats.org/drawingml/2006/main">
            <a:off x="3695700" y="25336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88">
                <a:solidFill>
                  <a:srgbClr val="15232B"/>
                </a:solidFill>
              </a:defRPr>
            </a:pPr>
            <a:r>
              <a:rPr sz="1088">
                <a:solidFill>
                  <a:srgbClr val="15232B"/>
                </a:solidFill>
              </a:rPr>
              <a:t>Eine elektronische Dokumentation machte nachträgliche Änderungen entgegen § 630f Abs. 1 nicht erkennbar. Streitig war ihr Beweiswert und der Umfang der Dokumentationspflicht.</a:t>
            </a:r>
          </a:p>
        </p:txBody>
      </p:sp>
      <p:sp>
        <p:nvSpPr>
          <p:cNvPr id="11" name="">
            <a:extLst xmlns:a="http://schemas.openxmlformats.org/drawingml/2006/main">
              <a:ext uri="{FF2B5EF4-FFF2-40B4-BE49-F238E27FC236}">
                <a16:creationId xmlns:a16="http://schemas.microsoft.com/office/drawing/2014/main" id="{EAEE4D96-3DCF-4642-A879-0778917D8965}"/>
              </a:ext>
            </a:extLst>
          </p:cNvPr>
          <p:cNvSpPr>
            <a:spLocks xmlns:a="http://schemas.openxmlformats.org/drawingml/2006/main" noGrp="1"/>
          </p:cNvSpPr>
          <p:nvPr/>
        </p:nvSpPr>
        <p:spPr>
          <a:xfrm xmlns:a="http://schemas.openxmlformats.org/drawingml/2006/main">
            <a:off x="1809750" y="3486150"/>
            <a:ext cx="1676400" cy="781050"/>
          </a:xfrm>
          <a:prstGeom xmlns:a="http://schemas.openxmlformats.org/drawingml/2006/main" prst="roundRect">
            <a:avLst>
              <a:gd name="adj" fmla="val 9756"/>
            </a:avLst>
          </a:prstGeom>
          <a:solidFill xmlns:a="http://schemas.openxmlformats.org/drawingml/2006/main">
            <a:srgbClr val="003F6B"/>
          </a:solidFill>
          <a:ln xmlns:a="http://schemas.openxmlformats.org/drawingml/2006/main" w="0">
            <a:solidFill>
              <a:srgbClr val="003F6B"/>
            </a:solidFill>
            <a:prstDash val="solid"/>
          </a:ln>
        </p:spPr>
      </p:sp>
      <p:sp>
        <p:nvSpPr>
          <p:cNvPr id="12" name="">
            <a:extLst xmlns:a="http://schemas.openxmlformats.org/drawingml/2006/main">
              <a:ext uri="{FF2B5EF4-FFF2-40B4-BE49-F238E27FC236}">
                <a16:creationId xmlns:a16="http://schemas.microsoft.com/office/drawing/2014/main" id="{2C04CAE3-A40F-4723-B61C-67914C680444}"/>
              </a:ext>
            </a:extLst>
          </p:cNvPr>
          <p:cNvSpPr>
            <a:spLocks xmlns:a="http://schemas.openxmlformats.org/drawingml/2006/main" noGrp="1"/>
          </p:cNvSpPr>
          <p:nvPr/>
        </p:nvSpPr>
        <p:spPr>
          <a:xfrm xmlns:a="http://schemas.openxmlformats.org/drawingml/2006/main">
            <a:off x="1924050" y="34861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Kernaussage</a:t>
            </a:r>
          </a:p>
        </p:txBody>
      </p:sp>
      <p:sp>
        <p:nvSpPr>
          <p:cNvPr id="13" name="">
            <a:extLst xmlns:a="http://schemas.openxmlformats.org/drawingml/2006/main">
              <a:ext uri="{FF2B5EF4-FFF2-40B4-BE49-F238E27FC236}">
                <a16:creationId xmlns:a16="http://schemas.microsoft.com/office/drawing/2014/main" id="{5554890F-BF69-4F35-94B2-A4F0396D7B0D}"/>
              </a:ext>
            </a:extLst>
          </p:cNvPr>
          <p:cNvSpPr>
            <a:spLocks xmlns:a="http://schemas.openxmlformats.org/drawingml/2006/main" noGrp="1"/>
          </p:cNvSpPr>
          <p:nvPr/>
        </p:nvSpPr>
        <p:spPr>
          <a:xfrm xmlns:a="http://schemas.openxmlformats.org/drawingml/2006/main">
            <a:off x="3695700" y="34861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88">
                <a:solidFill>
                  <a:srgbClr val="15232B"/>
                </a:solidFill>
              </a:defRPr>
            </a:pPr>
            <a:r>
              <a:rPr sz="1088">
                <a:solidFill>
                  <a:srgbClr val="15232B"/>
                </a:solidFill>
              </a:rPr>
              <a:t>Dokumentiert werden muss, was aus medizinischer Sicht erforderlich ist. Eine nicht änderungssichere elektronische Akte verliert die positive Indizwirkung dafür, dass die eingetragene Maßnahme tatsächlich vorgenommen wurde.</a:t>
            </a:r>
          </a:p>
        </p:txBody>
      </p:sp>
      <p:sp>
        <p:nvSpPr>
          <p:cNvPr id="14" name="">
            <a:extLst xmlns:a="http://schemas.openxmlformats.org/drawingml/2006/main">
              <a:ext uri="{FF2B5EF4-FFF2-40B4-BE49-F238E27FC236}">
                <a16:creationId xmlns:a16="http://schemas.microsoft.com/office/drawing/2014/main" id="{7D22E6C0-9215-4E21-AF58-52B2B188C52E}"/>
              </a:ext>
            </a:extLst>
          </p:cNvPr>
          <p:cNvSpPr>
            <a:spLocks xmlns:a="http://schemas.openxmlformats.org/drawingml/2006/main" noGrp="1"/>
          </p:cNvSpPr>
          <p:nvPr/>
        </p:nvSpPr>
        <p:spPr>
          <a:xfrm xmlns:a="http://schemas.openxmlformats.org/drawingml/2006/main">
            <a:off x="1809750" y="4438650"/>
            <a:ext cx="1676400" cy="781050"/>
          </a:xfrm>
          <a:prstGeom xmlns:a="http://schemas.openxmlformats.org/drawingml/2006/main" prst="roundRect">
            <a:avLst>
              <a:gd name="adj" fmla="val 9756"/>
            </a:avLst>
          </a:prstGeom>
          <a:solidFill xmlns:a="http://schemas.openxmlformats.org/drawingml/2006/main">
            <a:srgbClr val="00B2BB"/>
          </a:solidFill>
          <a:ln xmlns:a="http://schemas.openxmlformats.org/drawingml/2006/main" w="0">
            <a:solidFill>
              <a:srgbClr val="00B2BB"/>
            </a:solidFill>
            <a:prstDash val="solid"/>
          </a:ln>
        </p:spPr>
      </p:sp>
      <p:sp>
        <p:nvSpPr>
          <p:cNvPr id="15" name="">
            <a:extLst xmlns:a="http://schemas.openxmlformats.org/drawingml/2006/main">
              <a:ext uri="{FF2B5EF4-FFF2-40B4-BE49-F238E27FC236}">
                <a16:creationId xmlns:a16="http://schemas.microsoft.com/office/drawing/2014/main" id="{F0ADCFF7-022E-4943-8936-8496CC1F387E}"/>
              </a:ext>
            </a:extLst>
          </p:cNvPr>
          <p:cNvSpPr>
            <a:spLocks xmlns:a="http://schemas.openxmlformats.org/drawingml/2006/main" noGrp="1"/>
          </p:cNvSpPr>
          <p:nvPr/>
        </p:nvSpPr>
        <p:spPr>
          <a:xfrm xmlns:a="http://schemas.openxmlformats.org/drawingml/2006/main">
            <a:off x="1924050" y="44386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Für die Praxis</a:t>
            </a:r>
          </a:p>
        </p:txBody>
      </p:sp>
      <p:sp>
        <p:nvSpPr>
          <p:cNvPr id="16" name="">
            <a:extLst xmlns:a="http://schemas.openxmlformats.org/drawingml/2006/main">
              <a:ext uri="{FF2B5EF4-FFF2-40B4-BE49-F238E27FC236}">
                <a16:creationId xmlns:a16="http://schemas.microsoft.com/office/drawing/2014/main" id="{AE723AD6-562F-41DE-AF94-527AD0AA85C5}"/>
              </a:ext>
            </a:extLst>
          </p:cNvPr>
          <p:cNvSpPr>
            <a:spLocks xmlns:a="http://schemas.openxmlformats.org/drawingml/2006/main" noGrp="1"/>
          </p:cNvSpPr>
          <p:nvPr/>
        </p:nvSpPr>
        <p:spPr>
          <a:xfrm xmlns:a="http://schemas.openxmlformats.org/drawingml/2006/main">
            <a:off x="3695700" y="44386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88">
                <a:solidFill>
                  <a:srgbClr val="15232B"/>
                </a:solidFill>
              </a:defRPr>
            </a:pPr>
            <a:r>
              <a:rPr sz="1088">
                <a:solidFill>
                  <a:srgbClr val="15232B"/>
                </a:solidFill>
              </a:rPr>
              <a:t>Keine ‚Schönschreibung‘: Nachträge transparent als solche kennzeichnen. Zugleich nicht jeden denkbaren Prozessstoff dokumentieren, sondern medizinisch Wesentliches.</a:t>
            </a:r>
          </a:p>
        </p:txBody>
      </p:sp>
      <p:sp>
        <p:nvSpPr>
          <p:cNvPr id="17" name="">
            <a:extLst xmlns:a="http://schemas.openxmlformats.org/drawingml/2006/main">
              <a:ext uri="{FF2B5EF4-FFF2-40B4-BE49-F238E27FC236}">
                <a16:creationId xmlns:a16="http://schemas.microsoft.com/office/drawing/2014/main" id="{60534219-2054-4FC3-8182-BDB4A3FFBD1F}"/>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20">
                <a:solidFill>
                  <a:srgbClr val="667680"/>
                </a:solidFill>
              </a:defRPr>
            </a:pPr>
            <a:r>
              <a:rPr sz="720">
                <a:solidFill>
                  <a:srgbClr val="667680"/>
                </a:solidFill>
              </a:rPr>
              <a:t>BGH, Urteil VI ZR 84/19, ECLI:DE:BGH:2021:270421UVIZR84.19.0 · https://juris.bundesgerichtshof.de</a:t>
            </a:r>
          </a:p>
        </p:txBody>
      </p:sp>
    </p:spTree>
    <p:extLst>
      <p:ext uri="{BB962C8B-B14F-4D97-AF65-F5344CB8AC3E}">
        <p14:creationId xmlns:p14="http://schemas.microsoft.com/office/powerpoint/2010/main" val="43637646"/>
      </p:ext>
    </p:extLst>
  </p:cSld>
</p:sld>
</file>

<file path=ppt/slides/slide109.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ePA, KI-Transkription und Wundfoto folgen demselben Sechs-Fragen-Check</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PODCAST-FALLLABOR · DIGITALE DOKUMENTATION</a:t>
            </a:r>
            <a:endParaRPr/>
          </a:p>
        </p:txBody>
      </p:sp>
      <p:sp>
        <p:nvSpPr>
          <p:cNvPr id="4" name="">
            <a:extLst xmlns:a="http://schemas.openxmlformats.org/drawingml/2006/main">
              <a:ext uri="{FF2B5EF4-FFF2-40B4-BE49-F238E27FC236}">
                <a16:creationId xmlns:a16="http://schemas.microsoft.com/office/drawing/2014/main" id="{4E55C168-8597-43A0-B63F-8E8D97EB6CBA}"/>
              </a:ext>
            </a:extLst>
          </p:cNvPr>
          <p:cNvSpPr>
            <a:spLocks xmlns:a="http://schemas.openxmlformats.org/drawingml/2006/main" noGrp="1"/>
          </p:cNvSpPr>
          <p:nvPr/>
        </p:nvSpPr>
        <p:spPr>
          <a:xfrm xmlns:a="http://schemas.openxmlformats.org/drawingml/2006/main">
            <a:off x="1809750" y="1952625"/>
            <a:ext cx="400050" cy="468313"/>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6C0FAE04-F2A5-4EA8-9643-A4EE5E489DA7}"/>
              </a:ext>
            </a:extLst>
          </p:cNvPr>
          <p:cNvSpPr>
            <a:spLocks xmlns:a="http://schemas.openxmlformats.org/drawingml/2006/main" noGrp="1"/>
          </p:cNvSpPr>
          <p:nvPr/>
        </p:nvSpPr>
        <p:spPr>
          <a:xfrm xmlns:a="http://schemas.openxmlformats.org/drawingml/2006/main">
            <a:off x="1809750" y="1952625"/>
            <a:ext cx="400050" cy="468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6" name="">
            <a:extLst xmlns:a="http://schemas.openxmlformats.org/drawingml/2006/main">
              <a:ext uri="{FF2B5EF4-FFF2-40B4-BE49-F238E27FC236}">
                <a16:creationId xmlns:a16="http://schemas.microsoft.com/office/drawing/2014/main" id="{3DBE78E9-0236-4FE3-BC7F-3B2B0BC6EEAE}"/>
              </a:ext>
            </a:extLst>
          </p:cNvPr>
          <p:cNvSpPr>
            <a:spLocks xmlns:a="http://schemas.openxmlformats.org/drawingml/2006/main" noGrp="1"/>
          </p:cNvSpPr>
          <p:nvPr/>
        </p:nvSpPr>
        <p:spPr>
          <a:xfrm xmlns:a="http://schemas.openxmlformats.org/drawingml/2006/main">
            <a:off x="2324100" y="1962150"/>
            <a:ext cx="2381250" cy="4492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Zweck</a:t>
            </a:r>
          </a:p>
        </p:txBody>
      </p:sp>
      <p:sp>
        <p:nvSpPr>
          <p:cNvPr id="7" name="">
            <a:extLst xmlns:a="http://schemas.openxmlformats.org/drawingml/2006/main">
              <a:ext uri="{FF2B5EF4-FFF2-40B4-BE49-F238E27FC236}">
                <a16:creationId xmlns:a16="http://schemas.microsoft.com/office/drawing/2014/main" id="{E97A3188-E145-474E-907D-ED18BF5C3FBF}"/>
              </a:ext>
            </a:extLst>
          </p:cNvPr>
          <p:cNvSpPr>
            <a:spLocks xmlns:a="http://schemas.openxmlformats.org/drawingml/2006/main" noGrp="1"/>
          </p:cNvSpPr>
          <p:nvPr/>
        </p:nvSpPr>
        <p:spPr>
          <a:xfrm xmlns:a="http://schemas.openxmlformats.org/drawingml/2006/main">
            <a:off x="4819650" y="1962150"/>
            <a:ext cx="6419850" cy="4492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Warum werden Daten erhoben, angesehen, übertragen oder gespeichert – Behandlung, Dokumentation oder Training?</a:t>
            </a:r>
          </a:p>
        </p:txBody>
      </p:sp>
      <p:sp>
        <p:nvSpPr>
          <p:cNvPr id="8" name="">
            <a:extLst xmlns:a="http://schemas.openxmlformats.org/drawingml/2006/main">
              <a:ext uri="{FF2B5EF4-FFF2-40B4-BE49-F238E27FC236}">
                <a16:creationId xmlns:a16="http://schemas.microsoft.com/office/drawing/2014/main" id="{F3231D0A-5284-4923-8395-891A9777B13C}"/>
              </a:ext>
            </a:extLst>
          </p:cNvPr>
          <p:cNvSpPr>
            <a:spLocks xmlns:a="http://schemas.openxmlformats.org/drawingml/2006/main" noGrp="1"/>
          </p:cNvSpPr>
          <p:nvPr/>
        </p:nvSpPr>
        <p:spPr>
          <a:xfrm xmlns:a="http://schemas.openxmlformats.org/drawingml/2006/main">
            <a:off x="1809750" y="2497138"/>
            <a:ext cx="400050" cy="468313"/>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9" name="">
            <a:extLst xmlns:a="http://schemas.openxmlformats.org/drawingml/2006/main">
              <a:ext uri="{FF2B5EF4-FFF2-40B4-BE49-F238E27FC236}">
                <a16:creationId xmlns:a16="http://schemas.microsoft.com/office/drawing/2014/main" id="{DD3D96BA-49CE-43CD-AC7E-191C2F193B18}"/>
              </a:ext>
            </a:extLst>
          </p:cNvPr>
          <p:cNvSpPr>
            <a:spLocks xmlns:a="http://schemas.openxmlformats.org/drawingml/2006/main" noGrp="1"/>
          </p:cNvSpPr>
          <p:nvPr/>
        </p:nvSpPr>
        <p:spPr>
          <a:xfrm xmlns:a="http://schemas.openxmlformats.org/drawingml/2006/main">
            <a:off x="1809750" y="2497138"/>
            <a:ext cx="400050" cy="468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0" name="">
            <a:extLst xmlns:a="http://schemas.openxmlformats.org/drawingml/2006/main">
              <a:ext uri="{FF2B5EF4-FFF2-40B4-BE49-F238E27FC236}">
                <a16:creationId xmlns:a16="http://schemas.microsoft.com/office/drawing/2014/main" id="{1A039731-3C51-4F13-9A5E-AD1F3C11120A}"/>
              </a:ext>
            </a:extLst>
          </p:cNvPr>
          <p:cNvSpPr>
            <a:spLocks xmlns:a="http://schemas.openxmlformats.org/drawingml/2006/main" noGrp="1"/>
          </p:cNvSpPr>
          <p:nvPr/>
        </p:nvSpPr>
        <p:spPr>
          <a:xfrm xmlns:a="http://schemas.openxmlformats.org/drawingml/2006/main">
            <a:off x="2324100" y="2506663"/>
            <a:ext cx="2381250" cy="4492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Rechtsgrundlage</a:t>
            </a:r>
          </a:p>
        </p:txBody>
      </p:sp>
      <p:sp>
        <p:nvSpPr>
          <p:cNvPr id="11" name="">
            <a:extLst xmlns:a="http://schemas.openxmlformats.org/drawingml/2006/main">
              <a:ext uri="{FF2B5EF4-FFF2-40B4-BE49-F238E27FC236}">
                <a16:creationId xmlns:a16="http://schemas.microsoft.com/office/drawing/2014/main" id="{47E39968-E262-44D9-838B-C166688F27C9}"/>
              </a:ext>
            </a:extLst>
          </p:cNvPr>
          <p:cNvSpPr>
            <a:spLocks xmlns:a="http://schemas.openxmlformats.org/drawingml/2006/main" noGrp="1"/>
          </p:cNvSpPr>
          <p:nvPr/>
        </p:nvSpPr>
        <p:spPr>
          <a:xfrm xmlns:a="http://schemas.openxmlformats.org/drawingml/2006/main">
            <a:off x="4819650" y="2506663"/>
            <a:ext cx="6419850" cy="4492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Behandlungskontext, gesetzliche Pflicht/Befugnis, Einwilligung oder Auftragsverarbeitung konkret bestimmen.</a:t>
            </a:r>
          </a:p>
        </p:txBody>
      </p:sp>
      <p:sp>
        <p:nvSpPr>
          <p:cNvPr id="12" name="">
            <a:extLst xmlns:a="http://schemas.openxmlformats.org/drawingml/2006/main">
              <a:ext uri="{FF2B5EF4-FFF2-40B4-BE49-F238E27FC236}">
                <a16:creationId xmlns:a16="http://schemas.microsoft.com/office/drawing/2014/main" id="{F9BF63E6-68D1-4901-9C49-62A1A455F366}"/>
              </a:ext>
            </a:extLst>
          </p:cNvPr>
          <p:cNvSpPr>
            <a:spLocks xmlns:a="http://schemas.openxmlformats.org/drawingml/2006/main" noGrp="1"/>
          </p:cNvSpPr>
          <p:nvPr/>
        </p:nvSpPr>
        <p:spPr>
          <a:xfrm xmlns:a="http://schemas.openxmlformats.org/drawingml/2006/main">
            <a:off x="1809750" y="3041650"/>
            <a:ext cx="400050" cy="468313"/>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3" name="">
            <a:extLst xmlns:a="http://schemas.openxmlformats.org/drawingml/2006/main">
              <a:ext uri="{FF2B5EF4-FFF2-40B4-BE49-F238E27FC236}">
                <a16:creationId xmlns:a16="http://schemas.microsoft.com/office/drawing/2014/main" id="{0E2E97EB-BAA7-49BC-A557-3D3D5881A330}"/>
              </a:ext>
            </a:extLst>
          </p:cNvPr>
          <p:cNvSpPr>
            <a:spLocks xmlns:a="http://schemas.openxmlformats.org/drawingml/2006/main" noGrp="1"/>
          </p:cNvSpPr>
          <p:nvPr/>
        </p:nvSpPr>
        <p:spPr>
          <a:xfrm xmlns:a="http://schemas.openxmlformats.org/drawingml/2006/main">
            <a:off x="1809750" y="3041650"/>
            <a:ext cx="400050" cy="468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4" name="">
            <a:extLst xmlns:a="http://schemas.openxmlformats.org/drawingml/2006/main">
              <a:ext uri="{FF2B5EF4-FFF2-40B4-BE49-F238E27FC236}">
                <a16:creationId xmlns:a16="http://schemas.microsoft.com/office/drawing/2014/main" id="{EDDB8BD1-39E7-4DDA-8C25-8F1312CB42F5}"/>
              </a:ext>
            </a:extLst>
          </p:cNvPr>
          <p:cNvSpPr>
            <a:spLocks xmlns:a="http://schemas.openxmlformats.org/drawingml/2006/main" noGrp="1"/>
          </p:cNvSpPr>
          <p:nvPr/>
        </p:nvSpPr>
        <p:spPr>
          <a:xfrm xmlns:a="http://schemas.openxmlformats.org/drawingml/2006/main">
            <a:off x="2324100" y="3051175"/>
            <a:ext cx="2381250" cy="4492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System</a:t>
            </a:r>
          </a:p>
        </p:txBody>
      </p:sp>
      <p:sp>
        <p:nvSpPr>
          <p:cNvPr id="15" name="">
            <a:extLst xmlns:a="http://schemas.openxmlformats.org/drawingml/2006/main">
              <a:ext uri="{FF2B5EF4-FFF2-40B4-BE49-F238E27FC236}">
                <a16:creationId xmlns:a16="http://schemas.microsoft.com/office/drawing/2014/main" id="{702256B6-D1C6-4EC6-B820-B11FBEC803FB}"/>
              </a:ext>
            </a:extLst>
          </p:cNvPr>
          <p:cNvSpPr>
            <a:spLocks xmlns:a="http://schemas.openxmlformats.org/drawingml/2006/main" noGrp="1"/>
          </p:cNvSpPr>
          <p:nvPr/>
        </p:nvSpPr>
        <p:spPr>
          <a:xfrm xmlns:a="http://schemas.openxmlformats.org/drawingml/2006/main">
            <a:off x="4819650" y="3051175"/>
            <a:ext cx="6419850" cy="4492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Nur freigegebene, sichere Klinik- oder Praxissysteme nutzen; Privattelefon und private Messenger sind regelmäßig ungeeignet.</a:t>
            </a:r>
          </a:p>
        </p:txBody>
      </p:sp>
      <p:sp>
        <p:nvSpPr>
          <p:cNvPr id="16" name="">
            <a:extLst xmlns:a="http://schemas.openxmlformats.org/drawingml/2006/main">
              <a:ext uri="{FF2B5EF4-FFF2-40B4-BE49-F238E27FC236}">
                <a16:creationId xmlns:a16="http://schemas.microsoft.com/office/drawing/2014/main" id="{C70A7C20-A852-4ACE-B8D2-2DB20253A619}"/>
              </a:ext>
            </a:extLst>
          </p:cNvPr>
          <p:cNvSpPr>
            <a:spLocks xmlns:a="http://schemas.openxmlformats.org/drawingml/2006/main" noGrp="1"/>
          </p:cNvSpPr>
          <p:nvPr/>
        </p:nvSpPr>
        <p:spPr>
          <a:xfrm xmlns:a="http://schemas.openxmlformats.org/drawingml/2006/main">
            <a:off x="1809750" y="3586163"/>
            <a:ext cx="400050" cy="468313"/>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7" name="">
            <a:extLst xmlns:a="http://schemas.openxmlformats.org/drawingml/2006/main">
              <a:ext uri="{FF2B5EF4-FFF2-40B4-BE49-F238E27FC236}">
                <a16:creationId xmlns:a16="http://schemas.microsoft.com/office/drawing/2014/main" id="{845818C9-392B-4035-B7A8-F5F5592DE74A}"/>
              </a:ext>
            </a:extLst>
          </p:cNvPr>
          <p:cNvSpPr>
            <a:spLocks xmlns:a="http://schemas.openxmlformats.org/drawingml/2006/main" noGrp="1"/>
          </p:cNvSpPr>
          <p:nvPr/>
        </p:nvSpPr>
        <p:spPr>
          <a:xfrm xmlns:a="http://schemas.openxmlformats.org/drawingml/2006/main">
            <a:off x="1809750" y="3586163"/>
            <a:ext cx="400050" cy="468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18" name="">
            <a:extLst xmlns:a="http://schemas.openxmlformats.org/drawingml/2006/main">
              <a:ext uri="{FF2B5EF4-FFF2-40B4-BE49-F238E27FC236}">
                <a16:creationId xmlns:a16="http://schemas.microsoft.com/office/drawing/2014/main" id="{6726AD74-4B46-4BDF-9F84-F71FB3FA17CF}"/>
              </a:ext>
            </a:extLst>
          </p:cNvPr>
          <p:cNvSpPr>
            <a:spLocks xmlns:a="http://schemas.openxmlformats.org/drawingml/2006/main" noGrp="1"/>
          </p:cNvSpPr>
          <p:nvPr/>
        </p:nvSpPr>
        <p:spPr>
          <a:xfrm xmlns:a="http://schemas.openxmlformats.org/drawingml/2006/main">
            <a:off x="2324100" y="3595688"/>
            <a:ext cx="2381250" cy="4492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Menschliche Kontrolle</a:t>
            </a:r>
          </a:p>
        </p:txBody>
      </p:sp>
      <p:sp>
        <p:nvSpPr>
          <p:cNvPr id="19" name="">
            <a:extLst xmlns:a="http://schemas.openxmlformats.org/drawingml/2006/main">
              <a:ext uri="{FF2B5EF4-FFF2-40B4-BE49-F238E27FC236}">
                <a16:creationId xmlns:a16="http://schemas.microsoft.com/office/drawing/2014/main" id="{702BD879-55BB-487E-9DB1-C20BA3E5A82F}"/>
              </a:ext>
            </a:extLst>
          </p:cNvPr>
          <p:cNvSpPr>
            <a:spLocks xmlns:a="http://schemas.openxmlformats.org/drawingml/2006/main" noGrp="1"/>
          </p:cNvSpPr>
          <p:nvPr/>
        </p:nvSpPr>
        <p:spPr>
          <a:xfrm xmlns:a="http://schemas.openxmlformats.org/drawingml/2006/main">
            <a:off x="4819650" y="3595688"/>
            <a:ext cx="6419850" cy="4492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KI-Ausgaben auf Halluzination, Auslassung, Verwechslung und Automationsbias prüfen; Verantwortung nicht delegieren.</a:t>
            </a:r>
          </a:p>
        </p:txBody>
      </p:sp>
      <p:sp>
        <p:nvSpPr>
          <p:cNvPr id="20" name="">
            <a:extLst xmlns:a="http://schemas.openxmlformats.org/drawingml/2006/main">
              <a:ext uri="{FF2B5EF4-FFF2-40B4-BE49-F238E27FC236}">
                <a16:creationId xmlns:a16="http://schemas.microsoft.com/office/drawing/2014/main" id="{3505E465-A487-4A6D-A17D-3AF2CD6AAA71}"/>
              </a:ext>
            </a:extLst>
          </p:cNvPr>
          <p:cNvSpPr>
            <a:spLocks xmlns:a="http://schemas.openxmlformats.org/drawingml/2006/main" noGrp="1"/>
          </p:cNvSpPr>
          <p:nvPr/>
        </p:nvSpPr>
        <p:spPr>
          <a:xfrm xmlns:a="http://schemas.openxmlformats.org/drawingml/2006/main">
            <a:off x="1809750" y="4130675"/>
            <a:ext cx="400050" cy="468313"/>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1" name="">
            <a:extLst xmlns:a="http://schemas.openxmlformats.org/drawingml/2006/main">
              <a:ext uri="{FF2B5EF4-FFF2-40B4-BE49-F238E27FC236}">
                <a16:creationId xmlns:a16="http://schemas.microsoft.com/office/drawing/2014/main" id="{68999519-DFA9-455F-907E-8AEC88210FEA}"/>
              </a:ext>
            </a:extLst>
          </p:cNvPr>
          <p:cNvSpPr>
            <a:spLocks xmlns:a="http://schemas.openxmlformats.org/drawingml/2006/main" noGrp="1"/>
          </p:cNvSpPr>
          <p:nvPr/>
        </p:nvSpPr>
        <p:spPr>
          <a:xfrm xmlns:a="http://schemas.openxmlformats.org/drawingml/2006/main">
            <a:off x="1809750" y="4130675"/>
            <a:ext cx="400050" cy="468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5</a:t>
            </a:r>
          </a:p>
        </p:txBody>
      </p:sp>
      <p:sp>
        <p:nvSpPr>
          <p:cNvPr id="22" name="">
            <a:extLst xmlns:a="http://schemas.openxmlformats.org/drawingml/2006/main">
              <a:ext uri="{FF2B5EF4-FFF2-40B4-BE49-F238E27FC236}">
                <a16:creationId xmlns:a16="http://schemas.microsoft.com/office/drawing/2014/main" id="{2342BD5C-E23C-43D3-9E4D-378E61AC614C}"/>
              </a:ext>
            </a:extLst>
          </p:cNvPr>
          <p:cNvSpPr>
            <a:spLocks xmlns:a="http://schemas.openxmlformats.org/drawingml/2006/main" noGrp="1"/>
          </p:cNvSpPr>
          <p:nvPr/>
        </p:nvSpPr>
        <p:spPr>
          <a:xfrm xmlns:a="http://schemas.openxmlformats.org/drawingml/2006/main">
            <a:off x="2324100" y="4140200"/>
            <a:ext cx="2381250" cy="4492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Akte</a:t>
            </a:r>
          </a:p>
        </p:txBody>
      </p:sp>
      <p:sp>
        <p:nvSpPr>
          <p:cNvPr id="23" name="">
            <a:extLst xmlns:a="http://schemas.openxmlformats.org/drawingml/2006/main">
              <a:ext uri="{FF2B5EF4-FFF2-40B4-BE49-F238E27FC236}">
                <a16:creationId xmlns:a16="http://schemas.microsoft.com/office/drawing/2014/main" id="{DD1BAC40-F6D6-4DDC-B215-921419E147A5}"/>
              </a:ext>
            </a:extLst>
          </p:cNvPr>
          <p:cNvSpPr>
            <a:spLocks xmlns:a="http://schemas.openxmlformats.org/drawingml/2006/main" noGrp="1"/>
          </p:cNvSpPr>
          <p:nvPr/>
        </p:nvSpPr>
        <p:spPr>
          <a:xfrm xmlns:a="http://schemas.openxmlformats.org/drawingml/2006/main">
            <a:off x="4819650" y="4140200"/>
            <a:ext cx="6419850" cy="4492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Behandlungsrelevante Ergebnisse nachvollziehbar in die führende Dokumentation übernehmen; Quelle und Korrekturspur erhalten.</a:t>
            </a:r>
          </a:p>
        </p:txBody>
      </p:sp>
      <p:sp>
        <p:nvSpPr>
          <p:cNvPr id="24" name="">
            <a:extLst xmlns:a="http://schemas.openxmlformats.org/drawingml/2006/main">
              <a:ext uri="{FF2B5EF4-FFF2-40B4-BE49-F238E27FC236}">
                <a16:creationId xmlns:a16="http://schemas.microsoft.com/office/drawing/2014/main" id="{E19E7359-1C13-4527-BB6A-31774810C38E}"/>
              </a:ext>
            </a:extLst>
          </p:cNvPr>
          <p:cNvSpPr>
            <a:spLocks xmlns:a="http://schemas.openxmlformats.org/drawingml/2006/main" noGrp="1"/>
          </p:cNvSpPr>
          <p:nvPr/>
        </p:nvSpPr>
        <p:spPr>
          <a:xfrm xmlns:a="http://schemas.openxmlformats.org/drawingml/2006/main">
            <a:off x="1809750" y="4675188"/>
            <a:ext cx="400050" cy="468313"/>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25" name="">
            <a:extLst xmlns:a="http://schemas.openxmlformats.org/drawingml/2006/main">
              <a:ext uri="{FF2B5EF4-FFF2-40B4-BE49-F238E27FC236}">
                <a16:creationId xmlns:a16="http://schemas.microsoft.com/office/drawing/2014/main" id="{2DFEB48A-2A94-4EEB-9274-3F10C2135C64}"/>
              </a:ext>
            </a:extLst>
          </p:cNvPr>
          <p:cNvSpPr>
            <a:spLocks xmlns:a="http://schemas.openxmlformats.org/drawingml/2006/main" noGrp="1"/>
          </p:cNvSpPr>
          <p:nvPr/>
        </p:nvSpPr>
        <p:spPr>
          <a:xfrm xmlns:a="http://schemas.openxmlformats.org/drawingml/2006/main">
            <a:off x="1809750" y="4675188"/>
            <a:ext cx="400050" cy="468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6</a:t>
            </a:r>
          </a:p>
        </p:txBody>
      </p:sp>
      <p:sp>
        <p:nvSpPr>
          <p:cNvPr id="26" name="">
            <a:extLst xmlns:a="http://schemas.openxmlformats.org/drawingml/2006/main">
              <a:ext uri="{FF2B5EF4-FFF2-40B4-BE49-F238E27FC236}">
                <a16:creationId xmlns:a16="http://schemas.microsoft.com/office/drawing/2014/main" id="{A59284C3-8B5F-4CC9-A011-7EE4DB80D3D5}"/>
              </a:ext>
            </a:extLst>
          </p:cNvPr>
          <p:cNvSpPr>
            <a:spLocks xmlns:a="http://schemas.openxmlformats.org/drawingml/2006/main" noGrp="1"/>
          </p:cNvSpPr>
          <p:nvPr/>
        </p:nvSpPr>
        <p:spPr>
          <a:xfrm xmlns:a="http://schemas.openxmlformats.org/drawingml/2006/main">
            <a:off x="2324100" y="4684713"/>
            <a:ext cx="2381250" cy="4492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Löschen/Melden</a:t>
            </a:r>
          </a:p>
        </p:txBody>
      </p:sp>
      <p:sp>
        <p:nvSpPr>
          <p:cNvPr id="27" name="">
            <a:extLst xmlns:a="http://schemas.openxmlformats.org/drawingml/2006/main">
              <a:ext uri="{FF2B5EF4-FFF2-40B4-BE49-F238E27FC236}">
                <a16:creationId xmlns:a16="http://schemas.microsoft.com/office/drawing/2014/main" id="{2061A96B-122A-4338-BBC1-5FCC46AFD3ED}"/>
              </a:ext>
            </a:extLst>
          </p:cNvPr>
          <p:cNvSpPr>
            <a:spLocks xmlns:a="http://schemas.openxmlformats.org/drawingml/2006/main" noGrp="1"/>
          </p:cNvSpPr>
          <p:nvPr/>
        </p:nvSpPr>
        <p:spPr>
          <a:xfrm xmlns:a="http://schemas.openxmlformats.org/drawingml/2006/main">
            <a:off x="4819650" y="4684713"/>
            <a:ext cx="6419850" cy="4492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Lokale Kopien datenschutzgerecht entfernen; Fehlversand oder unbefugten Zugriff nach dem internen Prozess melden.</a:t>
            </a:r>
          </a:p>
        </p:txBody>
      </p:sp>
      <p:sp>
        <p:nvSpPr>
          <p:cNvPr id="28" name="">
            <a:extLst xmlns:a="http://schemas.openxmlformats.org/drawingml/2006/main">
              <a:ext uri="{FF2B5EF4-FFF2-40B4-BE49-F238E27FC236}">
                <a16:creationId xmlns:a16="http://schemas.microsoft.com/office/drawing/2014/main" id="{F17EC68D-F587-4CDB-AE19-E308010B2A1B}"/>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638">
                <a:solidFill>
                  <a:srgbClr val="667680"/>
                </a:solidFill>
              </a:defRPr>
            </a:pPr>
            <a:r>
              <a:rPr sz="638">
                <a:solidFill>
                  <a:srgbClr val="667680"/>
                </a:solidFill>
              </a:rPr>
              <a:t>Bundesärztekammer, Von ärztlicher Kunst mit Künstlicher Intelligenz (2025); BÄK/KBV, Schweigepflicht und Datenschutz, Aktualisierung 2025 · https://www.bundesaerztekammer.de/recht</a:t>
            </a:r>
          </a:p>
        </p:txBody>
      </p:sp>
      <p:sp>
        <p:nvSpPr>
          <p:cNvPr id="29" name="">
            <a:extLst xmlns:a="http://schemas.openxmlformats.org/drawingml/2006/main">
              <a:ext uri="{FF2B5EF4-FFF2-40B4-BE49-F238E27FC236}">
                <a16:creationId xmlns:a16="http://schemas.microsoft.com/office/drawing/2014/main" id="{93FB9D12-ADC6-4D0C-BDA4-4CD43703288E}"/>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30" name="">
            <a:extLst xmlns:a="http://schemas.openxmlformats.org/drawingml/2006/main">
              <a:ext uri="{FF2B5EF4-FFF2-40B4-BE49-F238E27FC236}">
                <a16:creationId xmlns:a16="http://schemas.microsoft.com/office/drawing/2014/main" id="{A0080164-D5BF-478A-AC1A-118DB77B2E45}"/>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Digital bequem ist nicht automatisch medizinisch erforderlich, datenschutzrechtlich erlaubt oder beweissicher dokumentiert.</a:t>
            </a:r>
          </a:p>
        </p:txBody>
      </p:sp>
    </p:spTree>
    <p:extLst>
      <p:ext uri="{BB962C8B-B14F-4D97-AF65-F5344CB8AC3E}">
        <p14:creationId xmlns:p14="http://schemas.microsoft.com/office/powerpoint/2010/main" val="43637646"/>
      </p:ext>
    </p:extLst>
  </p:cSld>
</p:sld>
</file>

<file path=ppt/slides/slide110.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Ausschließliche Fernbehandlung ist eine Eignungsentscheidung, kein Technikproblem</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PODCAST-FEATURE · FERNBEHANDLUNG</a:t>
            </a:r>
            <a:endParaRPr/>
          </a:p>
        </p:txBody>
      </p:sp>
      <p:sp>
        <p:nvSpPr>
          <p:cNvPr id="4" name="">
            <a:extLst xmlns:a="http://schemas.openxmlformats.org/drawingml/2006/main">
              <a:ext uri="{FF2B5EF4-FFF2-40B4-BE49-F238E27FC236}">
                <a16:creationId xmlns:a16="http://schemas.microsoft.com/office/drawing/2014/main" id="{55187C8E-B3BC-47FD-9B21-DE245E2BE25F}"/>
              </a:ext>
            </a:extLst>
          </p:cNvPr>
          <p:cNvSpPr>
            <a:spLocks xmlns:a="http://schemas.openxmlformats.org/drawingml/2006/main" noGrp="1"/>
          </p:cNvSpPr>
          <p:nvPr/>
        </p:nvSpPr>
        <p:spPr>
          <a:xfrm xmlns:a="http://schemas.openxmlformats.org/drawingml/2006/main">
            <a:off x="1809750" y="2047875"/>
            <a:ext cx="3073400" cy="3171825"/>
          </a:xfrm>
          <a:prstGeom xmlns:a="http://schemas.openxmlformats.org/drawingml/2006/main" prst="roundRect">
            <a:avLst>
              <a:gd name="adj" fmla="val 2479"/>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AA4395CC-155C-4FCD-AB9F-365607813C03}"/>
              </a:ext>
            </a:extLst>
          </p:cNvPr>
          <p:cNvSpPr>
            <a:spLocks xmlns:a="http://schemas.openxmlformats.org/drawingml/2006/main" noGrp="1"/>
          </p:cNvSpPr>
          <p:nvPr/>
        </p:nvSpPr>
        <p:spPr>
          <a:xfrm xmlns:a="http://schemas.openxmlformats.org/drawingml/2006/main">
            <a:off x="1809750" y="2047875"/>
            <a:ext cx="30734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433B530F-D074-4D68-A09D-E9B5E07CC0EA}"/>
              </a:ext>
            </a:extLst>
          </p:cNvPr>
          <p:cNvSpPr>
            <a:spLocks xmlns:a="http://schemas.openxmlformats.org/drawingml/2006/main" noGrp="1"/>
          </p:cNvSpPr>
          <p:nvPr/>
        </p:nvSpPr>
        <p:spPr>
          <a:xfrm xmlns:a="http://schemas.openxmlformats.org/drawingml/2006/main">
            <a:off x="1962150" y="2181225"/>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b="1">
                <a:solidFill>
                  <a:srgbClr val="003F6B"/>
                </a:solidFill>
              </a:defRPr>
            </a:pPr>
            <a:r>
              <a:rPr sz="1275" b="1">
                <a:solidFill>
                  <a:srgbClr val="003F6B"/>
                </a:solidFill>
              </a:rPr>
              <a:t>Reichen die verfügbaren Informationen?</a:t>
            </a:r>
          </a:p>
        </p:txBody>
      </p:sp>
      <p:sp>
        <p:nvSpPr>
          <p:cNvPr id="7" name="">
            <a:extLst xmlns:a="http://schemas.openxmlformats.org/drawingml/2006/main">
              <a:ext uri="{FF2B5EF4-FFF2-40B4-BE49-F238E27FC236}">
                <a16:creationId xmlns:a16="http://schemas.microsoft.com/office/drawing/2014/main" id="{4822D28D-B6A3-40D9-AB26-3AEFD1E147F7}"/>
              </a:ext>
            </a:extLst>
          </p:cNvPr>
          <p:cNvSpPr>
            <a:spLocks xmlns:a="http://schemas.openxmlformats.org/drawingml/2006/main" noGrp="1"/>
          </p:cNvSpPr>
          <p:nvPr/>
        </p:nvSpPr>
        <p:spPr>
          <a:xfrm xmlns:a="http://schemas.openxmlformats.org/drawingml/2006/main">
            <a:off x="1962150" y="2619375"/>
            <a:ext cx="2768600" cy="2466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25">
                <a:solidFill>
                  <a:srgbClr val="15232B"/>
                </a:solidFill>
              </a:defRPr>
            </a:pPr>
            <a:r>
              <a:rPr sz="1125">
                <a:solidFill>
                  <a:srgbClr val="15232B"/>
                </a:solidFill>
              </a:rPr>
              <a:t>JA → Diagnostik und Beratung können aus der Distanz fachgerecht erfolgen.</a:t>
            </a:r>
          </a:p>
          <a:p xmlns:a="http://schemas.openxmlformats.org/drawingml/2006/main">
            <a:r>
              <a:t/>
            </a:r>
          </a:p>
          <a:p xmlns:a="http://schemas.openxmlformats.org/drawingml/2006/main">
            <a:pPr>
              <a:buNone/>
              <a:defRPr sz="1125">
                <a:solidFill>
                  <a:srgbClr val="15232B"/>
                </a:solidFill>
              </a:defRPr>
            </a:pPr>
            <a:r>
              <a:rPr sz="1125">
                <a:solidFill>
                  <a:srgbClr val="15232B"/>
                </a:solidFill>
              </a:rPr>
              <a:t>NEIN → Präsenzuntersuchung oder Notfallversorgung organisieren.</a:t>
            </a:r>
          </a:p>
        </p:txBody>
      </p:sp>
      <p:sp>
        <p:nvSpPr>
          <p:cNvPr id="8" name="">
            <a:extLst xmlns:a="http://schemas.openxmlformats.org/drawingml/2006/main">
              <a:ext uri="{FF2B5EF4-FFF2-40B4-BE49-F238E27FC236}">
                <a16:creationId xmlns:a16="http://schemas.microsoft.com/office/drawing/2014/main" id="{4316A706-F91B-4977-B78B-2A73B817D070}"/>
              </a:ext>
            </a:extLst>
          </p:cNvPr>
          <p:cNvSpPr>
            <a:spLocks xmlns:a="http://schemas.openxmlformats.org/drawingml/2006/main" noGrp="1"/>
          </p:cNvSpPr>
          <p:nvPr/>
        </p:nvSpPr>
        <p:spPr>
          <a:xfrm xmlns:a="http://schemas.openxmlformats.org/drawingml/2006/main">
            <a:off x="5035550" y="2047875"/>
            <a:ext cx="3073400" cy="3171825"/>
          </a:xfrm>
          <a:prstGeom xmlns:a="http://schemas.openxmlformats.org/drawingml/2006/main" prst="roundRect">
            <a:avLst>
              <a:gd name="adj" fmla="val 2479"/>
            </a:avLst>
          </a:prstGeom>
          <a:noFill xmlns:a="http://schemas.openxmlformats.org/drawingml/2006/main"/>
          <a:ln xmlns:a="http://schemas.openxmlformats.org/drawingml/2006/main" w="9525">
            <a:solidFill>
              <a:srgbClr val="B9CAD2"/>
            </a:solidFill>
            <a:prstDash val="solid"/>
          </a:ln>
        </p:spPr>
      </p:sp>
      <p:sp>
        <p:nvSpPr>
          <p:cNvPr id="9" name="">
            <a:extLst xmlns:a="http://schemas.openxmlformats.org/drawingml/2006/main">
              <a:ext uri="{FF2B5EF4-FFF2-40B4-BE49-F238E27FC236}">
                <a16:creationId xmlns:a16="http://schemas.microsoft.com/office/drawing/2014/main" id="{F01B5B7C-3EAE-45D3-9959-F76BDCEB2152}"/>
              </a:ext>
            </a:extLst>
          </p:cNvPr>
          <p:cNvSpPr>
            <a:spLocks xmlns:a="http://schemas.openxmlformats.org/drawingml/2006/main" noGrp="1"/>
          </p:cNvSpPr>
          <p:nvPr/>
        </p:nvSpPr>
        <p:spPr>
          <a:xfrm xmlns:a="http://schemas.openxmlformats.org/drawingml/2006/main">
            <a:off x="5035550" y="2047875"/>
            <a:ext cx="307340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96AF5CF9-A032-4BE3-885B-FDB2CA44D7EC}"/>
              </a:ext>
            </a:extLst>
          </p:cNvPr>
          <p:cNvSpPr>
            <a:spLocks xmlns:a="http://schemas.openxmlformats.org/drawingml/2006/main" noGrp="1"/>
          </p:cNvSpPr>
          <p:nvPr/>
        </p:nvSpPr>
        <p:spPr>
          <a:xfrm xmlns:a="http://schemas.openxmlformats.org/drawingml/2006/main">
            <a:off x="5187950" y="2181225"/>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b="1">
                <a:solidFill>
                  <a:srgbClr val="003F6B"/>
                </a:solidFill>
              </a:defRPr>
            </a:pPr>
            <a:r>
              <a:rPr sz="1275" b="1">
                <a:solidFill>
                  <a:srgbClr val="003F6B"/>
                </a:solidFill>
              </a:rPr>
              <a:t>Ist der Kommunikationsweg sicher?</a:t>
            </a:r>
          </a:p>
        </p:txBody>
      </p:sp>
      <p:sp>
        <p:nvSpPr>
          <p:cNvPr id="11" name="">
            <a:extLst xmlns:a="http://schemas.openxmlformats.org/drawingml/2006/main">
              <a:ext uri="{FF2B5EF4-FFF2-40B4-BE49-F238E27FC236}">
                <a16:creationId xmlns:a16="http://schemas.microsoft.com/office/drawing/2014/main" id="{FFE489CD-6EBC-40B1-A349-1823A12AF817}"/>
              </a:ext>
            </a:extLst>
          </p:cNvPr>
          <p:cNvSpPr>
            <a:spLocks xmlns:a="http://schemas.openxmlformats.org/drawingml/2006/main" noGrp="1"/>
          </p:cNvSpPr>
          <p:nvPr/>
        </p:nvSpPr>
        <p:spPr>
          <a:xfrm xmlns:a="http://schemas.openxmlformats.org/drawingml/2006/main">
            <a:off x="5187950" y="2619375"/>
            <a:ext cx="2768600" cy="2466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25">
                <a:solidFill>
                  <a:srgbClr val="15232B"/>
                </a:solidFill>
              </a:defRPr>
            </a:pPr>
            <a:r>
              <a:rPr sz="1125">
                <a:solidFill>
                  <a:srgbClr val="15232B"/>
                </a:solidFill>
              </a:rPr>
              <a:t>JA → Identität, Vertraulichkeit und Datenfluss sind beherrscht.</a:t>
            </a:r>
          </a:p>
          <a:p xmlns:a="http://schemas.openxmlformats.org/drawingml/2006/main">
            <a:r>
              <a:t/>
            </a:r>
          </a:p>
          <a:p xmlns:a="http://schemas.openxmlformats.org/drawingml/2006/main">
            <a:pPr>
              <a:buNone/>
              <a:defRPr sz="1125">
                <a:solidFill>
                  <a:srgbClr val="15232B"/>
                </a:solidFill>
              </a:defRPr>
            </a:pPr>
            <a:r>
              <a:rPr sz="1125">
                <a:solidFill>
                  <a:srgbClr val="15232B"/>
                </a:solidFill>
              </a:rPr>
              <a:t>NEIN → Kein Austausch sensibler Daten über ungeeignete Kanäle.</a:t>
            </a:r>
          </a:p>
        </p:txBody>
      </p:sp>
      <p:sp>
        <p:nvSpPr>
          <p:cNvPr id="12" name="">
            <a:extLst xmlns:a="http://schemas.openxmlformats.org/drawingml/2006/main">
              <a:ext uri="{FF2B5EF4-FFF2-40B4-BE49-F238E27FC236}">
                <a16:creationId xmlns:a16="http://schemas.microsoft.com/office/drawing/2014/main" id="{93830D87-0B72-49D0-B586-33B0A2CF1514}"/>
              </a:ext>
            </a:extLst>
          </p:cNvPr>
          <p:cNvSpPr>
            <a:spLocks xmlns:a="http://schemas.openxmlformats.org/drawingml/2006/main" noGrp="1"/>
          </p:cNvSpPr>
          <p:nvPr/>
        </p:nvSpPr>
        <p:spPr>
          <a:xfrm xmlns:a="http://schemas.openxmlformats.org/drawingml/2006/main">
            <a:off x="8261350" y="2047875"/>
            <a:ext cx="3073400" cy="3171825"/>
          </a:xfrm>
          <a:prstGeom xmlns:a="http://schemas.openxmlformats.org/drawingml/2006/main" prst="roundRect">
            <a:avLst>
              <a:gd name="adj" fmla="val 2479"/>
            </a:avLst>
          </a:prstGeom>
          <a:noFill xmlns:a="http://schemas.openxmlformats.org/drawingml/2006/main"/>
          <a:ln xmlns:a="http://schemas.openxmlformats.org/drawingml/2006/main" w="9525">
            <a:solidFill>
              <a:srgbClr val="B9CAD2"/>
            </a:solidFill>
            <a:prstDash val="solid"/>
          </a:ln>
        </p:spPr>
      </p:sp>
      <p:sp>
        <p:nvSpPr>
          <p:cNvPr id="13" name="">
            <a:extLst xmlns:a="http://schemas.openxmlformats.org/drawingml/2006/main">
              <a:ext uri="{FF2B5EF4-FFF2-40B4-BE49-F238E27FC236}">
                <a16:creationId xmlns:a16="http://schemas.microsoft.com/office/drawing/2014/main" id="{7520F764-08E9-4CB0-A349-D0F675D8D6AB}"/>
              </a:ext>
            </a:extLst>
          </p:cNvPr>
          <p:cNvSpPr>
            <a:spLocks xmlns:a="http://schemas.openxmlformats.org/drawingml/2006/main" noGrp="1"/>
          </p:cNvSpPr>
          <p:nvPr/>
        </p:nvSpPr>
        <p:spPr>
          <a:xfrm xmlns:a="http://schemas.openxmlformats.org/drawingml/2006/main">
            <a:off x="8261350" y="2047875"/>
            <a:ext cx="30734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FBE6510C-B40B-4DAB-9602-C63271EF67D5}"/>
              </a:ext>
            </a:extLst>
          </p:cNvPr>
          <p:cNvSpPr>
            <a:spLocks xmlns:a="http://schemas.openxmlformats.org/drawingml/2006/main" noGrp="1"/>
          </p:cNvSpPr>
          <p:nvPr/>
        </p:nvSpPr>
        <p:spPr>
          <a:xfrm xmlns:a="http://schemas.openxmlformats.org/drawingml/2006/main">
            <a:off x="8413750" y="2181225"/>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b="1">
                <a:solidFill>
                  <a:srgbClr val="003F6B"/>
                </a:solidFill>
              </a:defRPr>
            </a:pPr>
            <a:r>
              <a:rPr sz="1275" b="1">
                <a:solidFill>
                  <a:srgbClr val="003F6B"/>
                </a:solidFill>
              </a:rPr>
              <a:t>Ist die Nachsorge gesichert?</a:t>
            </a:r>
          </a:p>
        </p:txBody>
      </p:sp>
      <p:sp>
        <p:nvSpPr>
          <p:cNvPr id="15" name="">
            <a:extLst xmlns:a="http://schemas.openxmlformats.org/drawingml/2006/main">
              <a:ext uri="{FF2B5EF4-FFF2-40B4-BE49-F238E27FC236}">
                <a16:creationId xmlns:a16="http://schemas.microsoft.com/office/drawing/2014/main" id="{57456005-3531-4F28-9DD3-90B06FD99100}"/>
              </a:ext>
            </a:extLst>
          </p:cNvPr>
          <p:cNvSpPr>
            <a:spLocks xmlns:a="http://schemas.openxmlformats.org/drawingml/2006/main" noGrp="1"/>
          </p:cNvSpPr>
          <p:nvPr/>
        </p:nvSpPr>
        <p:spPr>
          <a:xfrm xmlns:a="http://schemas.openxmlformats.org/drawingml/2006/main">
            <a:off x="8413750" y="2619375"/>
            <a:ext cx="2768600" cy="2466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25">
                <a:solidFill>
                  <a:srgbClr val="15232B"/>
                </a:solidFill>
              </a:defRPr>
            </a:pPr>
            <a:r>
              <a:rPr sz="1125">
                <a:solidFill>
                  <a:srgbClr val="15232B"/>
                </a:solidFill>
              </a:rPr>
              <a:t>JA → Warnzeichen, Rückkehrkriterien und Verantwortlichkeit dokumentieren.</a:t>
            </a:r>
          </a:p>
          <a:p xmlns:a="http://schemas.openxmlformats.org/drawingml/2006/main">
            <a:r>
              <a:t/>
            </a:r>
          </a:p>
          <a:p xmlns:a="http://schemas.openxmlformats.org/drawingml/2006/main">
            <a:pPr>
              <a:buNone/>
              <a:defRPr sz="1125">
                <a:solidFill>
                  <a:srgbClr val="15232B"/>
                </a:solidFill>
              </a:defRPr>
            </a:pPr>
            <a:r>
              <a:rPr sz="1125">
                <a:solidFill>
                  <a:srgbClr val="15232B"/>
                </a:solidFill>
              </a:rPr>
              <a:t>NEIN → Fernbehandlung nicht beginnen oder rechtzeitig beenden.</a:t>
            </a:r>
          </a:p>
        </p:txBody>
      </p:sp>
      <p:sp>
        <p:nvSpPr>
          <p:cNvPr id="16" name="">
            <a:extLst xmlns:a="http://schemas.openxmlformats.org/drawingml/2006/main">
              <a:ext uri="{FF2B5EF4-FFF2-40B4-BE49-F238E27FC236}">
                <a16:creationId xmlns:a16="http://schemas.microsoft.com/office/drawing/2014/main" id="{B72E2805-F964-4E49-90B4-4A1873C14D9D}"/>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638">
                <a:solidFill>
                  <a:srgbClr val="667680"/>
                </a:solidFill>
              </a:defRPr>
            </a:pPr>
            <a:r>
              <a:rPr sz="638">
                <a:solidFill>
                  <a:srgbClr val="667680"/>
                </a:solidFill>
              </a:rPr>
              <a:t>Bundesärztekammer, Fragenkatalog zur Fernbehandlung; Berufsordnung der Ärztekammer Niedersachsen, jeweils aktuelle Fassung · https://www.bundesaerztekammer.de/recht</a:t>
            </a:r>
          </a:p>
        </p:txBody>
      </p:sp>
      <p:sp>
        <p:nvSpPr>
          <p:cNvPr id="17" name="">
            <a:extLst xmlns:a="http://schemas.openxmlformats.org/drawingml/2006/main">
              <a:ext uri="{FF2B5EF4-FFF2-40B4-BE49-F238E27FC236}">
                <a16:creationId xmlns:a16="http://schemas.microsoft.com/office/drawing/2014/main" id="{C73EC238-4AC2-496C-AA8F-E737377D6E9B}"/>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18" name="">
            <a:extLst xmlns:a="http://schemas.openxmlformats.org/drawingml/2006/main">
              <a:ext uri="{FF2B5EF4-FFF2-40B4-BE49-F238E27FC236}">
                <a16:creationId xmlns:a16="http://schemas.microsoft.com/office/drawing/2014/main" id="{A37363BC-8017-4DED-B57C-ADE9EAAF01BB}"/>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Die digitale Behandlung muss denselben fachlichen Standard, dieselbe Aufklärung und dieselbe Dokumentationsqualität erreichen.</a:t>
            </a:r>
          </a:p>
        </p:txBody>
      </p:sp>
    </p:spTree>
    <p:extLst>
      <p:ext uri="{BB962C8B-B14F-4D97-AF65-F5344CB8AC3E}">
        <p14:creationId xmlns:p14="http://schemas.microsoft.com/office/powerpoint/2010/main" val="43637646"/>
      </p:ext>
    </p:extLst>
  </p:cSld>
</p:sld>
</file>

<file path=ppt/slides/slide111.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Vom Patientenrecht zum Schadensersatz</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EB7CEBC8-CD5E-49D6-9BFC-0C171367384F}"/>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Eine Pflichtverletzung allein führt noch nicht zur Zahlung. Anspruchsgrundlage, Schaden und Ursächlichkeit müssen zusammenpassen.</a:t>
            </a:r>
          </a:p>
        </p:txBody>
      </p:sp>
      <p:sp>
        <p:nvSpPr>
          <p:cNvPr id="5" name="">
            <a:extLst xmlns:a="http://schemas.openxmlformats.org/drawingml/2006/main">
              <a:ext uri="{FF2B5EF4-FFF2-40B4-BE49-F238E27FC236}">
                <a16:creationId xmlns:a16="http://schemas.microsoft.com/office/drawing/2014/main" id="{FC3E6A78-1F31-452A-894E-5E60E245076A}"/>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95338450-BF9A-4978-912A-DF69F200924E}"/>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AFCC6F2E-B4D4-4063-A599-E7CCF089BC65}"/>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Vertraglicher Weg</a:t>
            </a:r>
          </a:p>
        </p:txBody>
      </p:sp>
      <p:sp>
        <p:nvSpPr>
          <p:cNvPr id="8" name="">
            <a:extLst xmlns:a="http://schemas.openxmlformats.org/drawingml/2006/main">
              <a:ext uri="{FF2B5EF4-FFF2-40B4-BE49-F238E27FC236}">
                <a16:creationId xmlns:a16="http://schemas.microsoft.com/office/drawing/2014/main" id="{F88D9A16-8368-454D-9C0A-C17123171D96}"/>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 280 Abs. 1 BGB knüpft an den Behandlungsvertrag und eine verletzte Vertragspflicht an.</a:t>
            </a:r>
          </a:p>
        </p:txBody>
      </p:sp>
      <p:sp>
        <p:nvSpPr>
          <p:cNvPr id="9" name="">
            <a:extLst xmlns:a="http://schemas.openxmlformats.org/drawingml/2006/main">
              <a:ext uri="{FF2B5EF4-FFF2-40B4-BE49-F238E27FC236}">
                <a16:creationId xmlns:a16="http://schemas.microsoft.com/office/drawing/2014/main" id="{60DA4F65-0006-482F-83A3-173B940B2A87}"/>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D0E9768A-55A1-4595-8F06-17F32BE82C84}"/>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0B39CDAD-816A-4627-9290-7BFFDCCA98C6}"/>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Deliktischer Weg</a:t>
            </a:r>
          </a:p>
        </p:txBody>
      </p:sp>
      <p:sp>
        <p:nvSpPr>
          <p:cNvPr id="12" name="">
            <a:extLst xmlns:a="http://schemas.openxmlformats.org/drawingml/2006/main">
              <a:ext uri="{FF2B5EF4-FFF2-40B4-BE49-F238E27FC236}">
                <a16:creationId xmlns:a16="http://schemas.microsoft.com/office/drawing/2014/main" id="{C4AAF270-2060-456C-B955-654F5EA20329}"/>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 823 Abs. 1 BGB schützt Leben, Körper, Gesundheit und Selbstbestimmung auch unabhängig von einem Vertrag.</a:t>
            </a:r>
          </a:p>
        </p:txBody>
      </p:sp>
      <p:sp>
        <p:nvSpPr>
          <p:cNvPr id="13" name="">
            <a:extLst xmlns:a="http://schemas.openxmlformats.org/drawingml/2006/main">
              <a:ext uri="{FF2B5EF4-FFF2-40B4-BE49-F238E27FC236}">
                <a16:creationId xmlns:a16="http://schemas.microsoft.com/office/drawing/2014/main" id="{63D77181-DE57-4999-9AA5-9A97AC54B254}"/>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5C20B833-DDBE-4D0E-9FE1-F5D96D2BA900}"/>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25ED82DC-4B8C-4007-B8EC-20C88FBF1674}"/>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Beweisfragen</a:t>
            </a:r>
          </a:p>
        </p:txBody>
      </p:sp>
      <p:sp>
        <p:nvSpPr>
          <p:cNvPr id="16" name="">
            <a:extLst xmlns:a="http://schemas.openxmlformats.org/drawingml/2006/main">
              <a:ext uri="{FF2B5EF4-FFF2-40B4-BE49-F238E27FC236}">
                <a16:creationId xmlns:a16="http://schemas.microsoft.com/office/drawing/2014/main" id="{58D6B6D6-0FF5-4A1F-A8D2-605C49F5FB67}"/>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Für Pflichtverletzung und Kausalität gelten Grundregeln sowie besondere Vermutungen aus § 630h BGB.</a:t>
            </a:r>
          </a:p>
        </p:txBody>
      </p:sp>
      <p:sp>
        <p:nvSpPr>
          <p:cNvPr id="17" name="">
            <a:extLst xmlns:a="http://schemas.openxmlformats.org/drawingml/2006/main">
              <a:ext uri="{FF2B5EF4-FFF2-40B4-BE49-F238E27FC236}">
                <a16:creationId xmlns:a16="http://schemas.microsoft.com/office/drawing/2014/main" id="{98CECC8F-654D-42EB-891E-BA4C70A508DA}"/>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6E96D4FB-2410-4486-94D4-42E9FA0FDF51}"/>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77E208C7-95C0-4809-8392-0B05C2147E14}"/>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Rechtsfolge</a:t>
            </a:r>
          </a:p>
        </p:txBody>
      </p:sp>
      <p:sp>
        <p:nvSpPr>
          <p:cNvPr id="20" name="">
            <a:extLst xmlns:a="http://schemas.openxmlformats.org/drawingml/2006/main">
              <a:ext uri="{FF2B5EF4-FFF2-40B4-BE49-F238E27FC236}">
                <a16:creationId xmlns:a16="http://schemas.microsoft.com/office/drawing/2014/main" id="{96EA8378-F938-460A-8402-CAA5411A52CD}"/>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Ersatzfähig sind konkrete materielle und immaterielle Schäden; der schlechte Verlauf als solcher genügt nicht.</a:t>
            </a:r>
          </a:p>
        </p:txBody>
      </p:sp>
      <p:sp>
        <p:nvSpPr>
          <p:cNvPr id="21" name="">
            <a:extLst xmlns:a="http://schemas.openxmlformats.org/drawingml/2006/main">
              <a:ext uri="{FF2B5EF4-FFF2-40B4-BE49-F238E27FC236}">
                <a16:creationId xmlns:a16="http://schemas.microsoft.com/office/drawing/2014/main" id="{5C9C1972-EF2D-4024-99F5-14C7E4446695}"/>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93151C5A-0EC6-4D25-9F90-A30FD5B2A877}"/>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Haftung ist eine Kette: Anspruchsgrundlage – Pflichtverletzung – Zurechnung – Schaden – Beweis.</a:t>
            </a:r>
          </a:p>
        </p:txBody>
      </p:sp>
    </p:spTree>
    <p:extLst>
      <p:ext uri="{BB962C8B-B14F-4D97-AF65-F5344CB8AC3E}">
        <p14:creationId xmlns:p14="http://schemas.microsoft.com/office/powerpoint/2010/main" val="43637646"/>
      </p:ext>
    </p:extLst>
  </p:cSld>
</p:sld>
</file>

<file path=ppt/slides/slide112.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Schadensersatz aus Vertrag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NORM IM FOKUS · § 280 Abs. 1 BGB</a:t>
            </a:r>
            <a:endParaRPr/>
          </a:p>
        </p:txBody>
      </p:sp>
      <p:sp>
        <p:nvSpPr>
          <p:cNvPr id="4" name="">
            <a:extLst xmlns:a="http://schemas.openxmlformats.org/drawingml/2006/main">
              <a:ext uri="{FF2B5EF4-FFF2-40B4-BE49-F238E27FC236}">
                <a16:creationId xmlns:a16="http://schemas.microsoft.com/office/drawing/2014/main" id="{0B389E97-CE51-4E4A-88F9-590BFA7897B1}"/>
              </a:ext>
            </a:extLst>
          </p:cNvPr>
          <p:cNvSpPr>
            <a:spLocks xmlns:a="http://schemas.openxmlformats.org/drawingml/2006/main" noGrp="1"/>
          </p:cNvSpPr>
          <p:nvPr/>
        </p:nvSpPr>
        <p:spPr>
          <a:xfrm xmlns:a="http://schemas.openxmlformats.org/drawingml/2006/main">
            <a:off x="1809750" y="1924050"/>
            <a:ext cx="2286000" cy="704850"/>
          </a:xfrm>
          <a:prstGeom xmlns:a="http://schemas.openxmlformats.org/drawingml/2006/main" prst="roundRect">
            <a:avLst>
              <a:gd name="adj" fmla="val 10811"/>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FD1153B0-F47D-47D9-AE31-9C6E1AC8AFB0}"/>
              </a:ext>
            </a:extLst>
          </p:cNvPr>
          <p:cNvSpPr>
            <a:spLocks xmlns:a="http://schemas.openxmlformats.org/drawingml/2006/main" noGrp="1"/>
          </p:cNvSpPr>
          <p:nvPr/>
        </p:nvSpPr>
        <p:spPr>
          <a:xfrm xmlns:a="http://schemas.openxmlformats.org/drawingml/2006/main">
            <a:off x="1924050" y="1971675"/>
            <a:ext cx="2057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75" b="1">
                <a:solidFill>
                  <a:srgbClr val="FFFFFF"/>
                </a:solidFill>
              </a:defRPr>
            </a:pPr>
            <a:r>
              <a:rPr sz="1875" b="1">
                <a:solidFill>
                  <a:srgbClr val="FFFFFF"/>
                </a:solidFill>
              </a:rPr>
              <a:t>§ 280 Abs. 1 BGB</a:t>
            </a:r>
          </a:p>
        </p:txBody>
      </p:sp>
      <p:sp>
        <p:nvSpPr>
          <p:cNvPr id="6" name="">
            <a:extLst xmlns:a="http://schemas.openxmlformats.org/drawingml/2006/main">
              <a:ext uri="{FF2B5EF4-FFF2-40B4-BE49-F238E27FC236}">
                <a16:creationId xmlns:a16="http://schemas.microsoft.com/office/drawing/2014/main" id="{DBBAD4BA-98F1-45D9-8A5E-BC9C6993A452}"/>
              </a:ext>
            </a:extLst>
          </p:cNvPr>
          <p:cNvSpPr>
            <a:spLocks xmlns:a="http://schemas.openxmlformats.org/drawingml/2006/main" noGrp="1"/>
          </p:cNvSpPr>
          <p:nvPr/>
        </p:nvSpPr>
        <p:spPr>
          <a:xfrm xmlns:a="http://schemas.openxmlformats.org/drawingml/2006/main">
            <a:off x="4362450" y="1924050"/>
            <a:ext cx="6972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15">
                <a:solidFill>
                  <a:srgbClr val="667680"/>
                </a:solidFill>
              </a:defRPr>
            </a:pPr>
            <a:r>
              <a:rPr sz="1215">
                <a:solidFill>
                  <a:srgbClr val="667680"/>
                </a:solidFill>
              </a:rPr>
              <a:t>Die Norm ist die allgemeine Anspruchsgrundlage für Schäden aus der Verletzung einer Pflicht aus einem Schuldverhältnis.</a:t>
            </a:r>
          </a:p>
        </p:txBody>
      </p:sp>
      <p:sp>
        <p:nvSpPr>
          <p:cNvPr id="7" name="">
            <a:extLst xmlns:a="http://schemas.openxmlformats.org/drawingml/2006/main">
              <a:ext uri="{FF2B5EF4-FFF2-40B4-BE49-F238E27FC236}">
                <a16:creationId xmlns:a16="http://schemas.microsoft.com/office/drawing/2014/main" id="{53BB5FAB-BC9C-4387-93A8-EE8177B9D49D}"/>
              </a:ext>
            </a:extLst>
          </p:cNvPr>
          <p:cNvSpPr>
            <a:spLocks xmlns:a="http://schemas.openxmlformats.org/drawingml/2006/main" noGrp="1"/>
          </p:cNvSpPr>
          <p:nvPr/>
        </p:nvSpPr>
        <p:spPr>
          <a:xfrm xmlns:a="http://schemas.openxmlformats.org/drawingml/2006/main">
            <a:off x="1809750" y="2781300"/>
            <a:ext cx="476250" cy="414338"/>
          </a:xfrm>
          <a:prstGeom xmlns:a="http://schemas.openxmlformats.org/drawingml/2006/main" prst="roundRect">
            <a:avLst>
              <a:gd name="adj" fmla="val 18391"/>
            </a:avLst>
          </a:prstGeom>
          <a:solidFill xmlns:a="http://schemas.openxmlformats.org/drawingml/2006/main">
            <a:srgbClr val="00B2BB"/>
          </a:solidFill>
          <a:ln xmlns:a="http://schemas.openxmlformats.org/drawingml/2006/main" w="0">
            <a:solidFill>
              <a:srgbClr val="00B2BB"/>
            </a:solidFill>
            <a:prstDash val="solid"/>
          </a:ln>
        </p:spPr>
      </p:sp>
      <p:sp>
        <p:nvSpPr>
          <p:cNvPr id="8" name="">
            <a:extLst xmlns:a="http://schemas.openxmlformats.org/drawingml/2006/main">
              <a:ext uri="{FF2B5EF4-FFF2-40B4-BE49-F238E27FC236}">
                <a16:creationId xmlns:a16="http://schemas.microsoft.com/office/drawing/2014/main" id="{45308A01-681A-4429-9AF2-34D3AD995E77}"/>
              </a:ext>
            </a:extLst>
          </p:cNvPr>
          <p:cNvSpPr>
            <a:spLocks xmlns:a="http://schemas.openxmlformats.org/drawingml/2006/main" noGrp="1"/>
          </p:cNvSpPr>
          <p:nvPr/>
        </p:nvSpPr>
        <p:spPr>
          <a:xfrm xmlns:a="http://schemas.openxmlformats.org/drawingml/2006/main">
            <a:off x="1809750" y="2781300"/>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9" name="">
            <a:extLst xmlns:a="http://schemas.openxmlformats.org/drawingml/2006/main">
              <a:ext uri="{FF2B5EF4-FFF2-40B4-BE49-F238E27FC236}">
                <a16:creationId xmlns:a16="http://schemas.microsoft.com/office/drawing/2014/main" id="{0C3866D9-DDF3-42F0-9BB8-747A88C3A48B}"/>
              </a:ext>
            </a:extLst>
          </p:cNvPr>
          <p:cNvSpPr>
            <a:spLocks xmlns:a="http://schemas.openxmlformats.org/drawingml/2006/main" noGrp="1"/>
          </p:cNvSpPr>
          <p:nvPr/>
        </p:nvSpPr>
        <p:spPr>
          <a:xfrm xmlns:a="http://schemas.openxmlformats.org/drawingml/2006/main">
            <a:off x="2438400" y="2790825"/>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Schuldverhältnis</a:t>
            </a:r>
          </a:p>
        </p:txBody>
      </p:sp>
      <p:sp>
        <p:nvSpPr>
          <p:cNvPr id="10" name="">
            <a:extLst xmlns:a="http://schemas.openxmlformats.org/drawingml/2006/main">
              <a:ext uri="{FF2B5EF4-FFF2-40B4-BE49-F238E27FC236}">
                <a16:creationId xmlns:a16="http://schemas.microsoft.com/office/drawing/2014/main" id="{40D7185A-0AF7-49D6-AD6C-CF6D31C802DB}"/>
              </a:ext>
            </a:extLst>
          </p:cNvPr>
          <p:cNvSpPr>
            <a:spLocks xmlns:a="http://schemas.openxmlformats.org/drawingml/2006/main" noGrp="1"/>
          </p:cNvSpPr>
          <p:nvPr/>
        </p:nvSpPr>
        <p:spPr>
          <a:xfrm xmlns:a="http://schemas.openxmlformats.org/drawingml/2006/main">
            <a:off x="4591050" y="2790825"/>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Ein wirksamer Behandlungsvertrag oder ein anderes Schuldverhältnis muss zwischen Anspruchsteller und Anspruchsgegner bestehen.</a:t>
            </a:r>
          </a:p>
        </p:txBody>
      </p:sp>
      <p:sp>
        <p:nvSpPr>
          <p:cNvPr id="11" name="">
            <a:extLst xmlns:a="http://schemas.openxmlformats.org/drawingml/2006/main">
              <a:ext uri="{FF2B5EF4-FFF2-40B4-BE49-F238E27FC236}">
                <a16:creationId xmlns:a16="http://schemas.microsoft.com/office/drawing/2014/main" id="{438CF2D2-7A1E-4B1D-BFD8-C5886A7CF38F}"/>
              </a:ext>
            </a:extLst>
          </p:cNvPr>
          <p:cNvSpPr>
            <a:spLocks xmlns:a="http://schemas.openxmlformats.org/drawingml/2006/main" noGrp="1"/>
          </p:cNvSpPr>
          <p:nvPr/>
        </p:nvSpPr>
        <p:spPr>
          <a:xfrm xmlns:a="http://schemas.openxmlformats.org/drawingml/2006/main">
            <a:off x="1809750" y="3271838"/>
            <a:ext cx="476250" cy="414338"/>
          </a:xfrm>
          <a:prstGeom xmlns:a="http://schemas.openxmlformats.org/drawingml/2006/main" prst="roundRect">
            <a:avLst>
              <a:gd name="adj" fmla="val 18391"/>
            </a:avLst>
          </a:prstGeom>
          <a:solidFill xmlns:a="http://schemas.openxmlformats.org/drawingml/2006/main">
            <a:srgbClr val="003F6B"/>
          </a:solidFill>
          <a:ln xmlns:a="http://schemas.openxmlformats.org/drawingml/2006/main" w="0">
            <a:solidFill>
              <a:srgbClr val="003F6B"/>
            </a:solidFill>
            <a:prstDash val="solid"/>
          </a:ln>
        </p:spPr>
      </p:sp>
      <p:sp>
        <p:nvSpPr>
          <p:cNvPr id="12" name="">
            <a:extLst xmlns:a="http://schemas.openxmlformats.org/drawingml/2006/main">
              <a:ext uri="{FF2B5EF4-FFF2-40B4-BE49-F238E27FC236}">
                <a16:creationId xmlns:a16="http://schemas.microsoft.com/office/drawing/2014/main" id="{8CEAD00A-4FBA-47CE-AA91-26B455256F10}"/>
              </a:ext>
            </a:extLst>
          </p:cNvPr>
          <p:cNvSpPr>
            <a:spLocks xmlns:a="http://schemas.openxmlformats.org/drawingml/2006/main" noGrp="1"/>
          </p:cNvSpPr>
          <p:nvPr/>
        </p:nvSpPr>
        <p:spPr>
          <a:xfrm xmlns:a="http://schemas.openxmlformats.org/drawingml/2006/main">
            <a:off x="1809750" y="3271838"/>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3" name="">
            <a:extLst xmlns:a="http://schemas.openxmlformats.org/drawingml/2006/main">
              <a:ext uri="{FF2B5EF4-FFF2-40B4-BE49-F238E27FC236}">
                <a16:creationId xmlns:a16="http://schemas.microsoft.com/office/drawing/2014/main" id="{709DE80E-352C-47C4-B9D3-63322AAEBF76}"/>
              </a:ext>
            </a:extLst>
          </p:cNvPr>
          <p:cNvSpPr>
            <a:spLocks xmlns:a="http://schemas.openxmlformats.org/drawingml/2006/main" noGrp="1"/>
          </p:cNvSpPr>
          <p:nvPr/>
        </p:nvSpPr>
        <p:spPr>
          <a:xfrm xmlns:a="http://schemas.openxmlformats.org/drawingml/2006/main">
            <a:off x="2438400" y="3281363"/>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Pflichtverletzung</a:t>
            </a:r>
          </a:p>
        </p:txBody>
      </p:sp>
      <p:sp>
        <p:nvSpPr>
          <p:cNvPr id="14" name="">
            <a:extLst xmlns:a="http://schemas.openxmlformats.org/drawingml/2006/main">
              <a:ext uri="{FF2B5EF4-FFF2-40B4-BE49-F238E27FC236}">
                <a16:creationId xmlns:a16="http://schemas.microsoft.com/office/drawing/2014/main" id="{97A04E7F-E98D-4561-815D-680951BAD5E0}"/>
              </a:ext>
            </a:extLst>
          </p:cNvPr>
          <p:cNvSpPr>
            <a:spLocks xmlns:a="http://schemas.openxmlformats.org/drawingml/2006/main" noGrp="1"/>
          </p:cNvSpPr>
          <p:nvPr/>
        </p:nvSpPr>
        <p:spPr>
          <a:xfrm xmlns:a="http://schemas.openxmlformats.org/drawingml/2006/main">
            <a:off x="4591050" y="3281363"/>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Eine Leistungs- oder Schutzpflicht wurde objektiv nicht vertragsgemäß erfüllt, etwa der Standard nach § 630a Abs. 2 BGB.</a:t>
            </a:r>
          </a:p>
        </p:txBody>
      </p:sp>
      <p:sp>
        <p:nvSpPr>
          <p:cNvPr id="15" name="">
            <a:extLst xmlns:a="http://schemas.openxmlformats.org/drawingml/2006/main">
              <a:ext uri="{FF2B5EF4-FFF2-40B4-BE49-F238E27FC236}">
                <a16:creationId xmlns:a16="http://schemas.microsoft.com/office/drawing/2014/main" id="{62A72DED-35CA-4481-8D7A-D266F068915D}"/>
              </a:ext>
            </a:extLst>
          </p:cNvPr>
          <p:cNvSpPr>
            <a:spLocks xmlns:a="http://schemas.openxmlformats.org/drawingml/2006/main" noGrp="1"/>
          </p:cNvSpPr>
          <p:nvPr/>
        </p:nvSpPr>
        <p:spPr>
          <a:xfrm xmlns:a="http://schemas.openxmlformats.org/drawingml/2006/main">
            <a:off x="1809750" y="3762375"/>
            <a:ext cx="476250" cy="414338"/>
          </a:xfrm>
          <a:prstGeom xmlns:a="http://schemas.openxmlformats.org/drawingml/2006/main" prst="roundRect">
            <a:avLst>
              <a:gd name="adj" fmla="val 18391"/>
            </a:avLst>
          </a:prstGeom>
          <a:solidFill xmlns:a="http://schemas.openxmlformats.org/drawingml/2006/main">
            <a:srgbClr val="00B2BB"/>
          </a:solidFill>
          <a:ln xmlns:a="http://schemas.openxmlformats.org/drawingml/2006/main" w="0">
            <a:solidFill>
              <a:srgbClr val="00B2BB"/>
            </a:solidFill>
            <a:prstDash val="solid"/>
          </a:ln>
        </p:spPr>
      </p:sp>
      <p:sp>
        <p:nvSpPr>
          <p:cNvPr id="16" name="">
            <a:extLst xmlns:a="http://schemas.openxmlformats.org/drawingml/2006/main">
              <a:ext uri="{FF2B5EF4-FFF2-40B4-BE49-F238E27FC236}">
                <a16:creationId xmlns:a16="http://schemas.microsoft.com/office/drawing/2014/main" id="{6FC24016-B238-4F2E-9E9C-4217492BAAC1}"/>
              </a:ext>
            </a:extLst>
          </p:cNvPr>
          <p:cNvSpPr>
            <a:spLocks xmlns:a="http://schemas.openxmlformats.org/drawingml/2006/main" noGrp="1"/>
          </p:cNvSpPr>
          <p:nvPr/>
        </p:nvSpPr>
        <p:spPr>
          <a:xfrm xmlns:a="http://schemas.openxmlformats.org/drawingml/2006/main">
            <a:off x="1809750" y="3762375"/>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7" name="">
            <a:extLst xmlns:a="http://schemas.openxmlformats.org/drawingml/2006/main">
              <a:ext uri="{FF2B5EF4-FFF2-40B4-BE49-F238E27FC236}">
                <a16:creationId xmlns:a16="http://schemas.microsoft.com/office/drawing/2014/main" id="{C68869E2-398A-4274-9C30-35845F0066B3}"/>
              </a:ext>
            </a:extLst>
          </p:cNvPr>
          <p:cNvSpPr>
            <a:spLocks xmlns:a="http://schemas.openxmlformats.org/drawingml/2006/main" noGrp="1"/>
          </p:cNvSpPr>
          <p:nvPr/>
        </p:nvSpPr>
        <p:spPr>
          <a:xfrm xmlns:a="http://schemas.openxmlformats.org/drawingml/2006/main">
            <a:off x="2438400" y="3771900"/>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Vertretenmüssen</a:t>
            </a:r>
          </a:p>
        </p:txBody>
      </p:sp>
      <p:sp>
        <p:nvSpPr>
          <p:cNvPr id="18" name="">
            <a:extLst xmlns:a="http://schemas.openxmlformats.org/drawingml/2006/main">
              <a:ext uri="{FF2B5EF4-FFF2-40B4-BE49-F238E27FC236}">
                <a16:creationId xmlns:a16="http://schemas.microsoft.com/office/drawing/2014/main" id="{6A5368AC-E3E3-453B-8DBB-0A23D7835566}"/>
              </a:ext>
            </a:extLst>
          </p:cNvPr>
          <p:cNvSpPr>
            <a:spLocks xmlns:a="http://schemas.openxmlformats.org/drawingml/2006/main" noGrp="1"/>
          </p:cNvSpPr>
          <p:nvPr/>
        </p:nvSpPr>
        <p:spPr>
          <a:xfrm xmlns:a="http://schemas.openxmlformats.org/drawingml/2006/main">
            <a:off x="4591050" y="3771900"/>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Vorsatz und Fahrlässigkeit werden erfasst. Nach § 280 Abs. 1 Satz 2 muss sich die Schuldnerseite entlasten, soweit das Gesetz nichts anderes bestimmt.</a:t>
            </a:r>
          </a:p>
        </p:txBody>
      </p:sp>
      <p:sp>
        <p:nvSpPr>
          <p:cNvPr id="19" name="">
            <a:extLst xmlns:a="http://schemas.openxmlformats.org/drawingml/2006/main">
              <a:ext uri="{FF2B5EF4-FFF2-40B4-BE49-F238E27FC236}">
                <a16:creationId xmlns:a16="http://schemas.microsoft.com/office/drawing/2014/main" id="{096D9C28-81B4-4554-8C19-1BDE3DB0846C}"/>
              </a:ext>
            </a:extLst>
          </p:cNvPr>
          <p:cNvSpPr>
            <a:spLocks xmlns:a="http://schemas.openxmlformats.org/drawingml/2006/main" noGrp="1"/>
          </p:cNvSpPr>
          <p:nvPr/>
        </p:nvSpPr>
        <p:spPr>
          <a:xfrm xmlns:a="http://schemas.openxmlformats.org/drawingml/2006/main">
            <a:off x="1809750" y="4252913"/>
            <a:ext cx="476250" cy="414338"/>
          </a:xfrm>
          <a:prstGeom xmlns:a="http://schemas.openxmlformats.org/drawingml/2006/main" prst="roundRect">
            <a:avLst>
              <a:gd name="adj" fmla="val 18391"/>
            </a:avLst>
          </a:prstGeom>
          <a:solidFill xmlns:a="http://schemas.openxmlformats.org/drawingml/2006/main">
            <a:srgbClr val="003F6B"/>
          </a:solidFill>
          <a:ln xmlns:a="http://schemas.openxmlformats.org/drawingml/2006/main" w="0">
            <a:solidFill>
              <a:srgbClr val="003F6B"/>
            </a:solidFill>
            <a:prstDash val="solid"/>
          </a:ln>
        </p:spPr>
      </p:sp>
      <p:sp>
        <p:nvSpPr>
          <p:cNvPr id="20" name="">
            <a:extLst xmlns:a="http://schemas.openxmlformats.org/drawingml/2006/main">
              <a:ext uri="{FF2B5EF4-FFF2-40B4-BE49-F238E27FC236}">
                <a16:creationId xmlns:a16="http://schemas.microsoft.com/office/drawing/2014/main" id="{75259AB0-7F4A-45B2-A38A-52CC5792583B}"/>
              </a:ext>
            </a:extLst>
          </p:cNvPr>
          <p:cNvSpPr>
            <a:spLocks xmlns:a="http://schemas.openxmlformats.org/drawingml/2006/main" noGrp="1"/>
          </p:cNvSpPr>
          <p:nvPr/>
        </p:nvSpPr>
        <p:spPr>
          <a:xfrm xmlns:a="http://schemas.openxmlformats.org/drawingml/2006/main">
            <a:off x="1809750" y="4252913"/>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21" name="">
            <a:extLst xmlns:a="http://schemas.openxmlformats.org/drawingml/2006/main">
              <a:ext uri="{FF2B5EF4-FFF2-40B4-BE49-F238E27FC236}">
                <a16:creationId xmlns:a16="http://schemas.microsoft.com/office/drawing/2014/main" id="{309A05FE-9F2F-441F-88CF-62C8F7A6D12C}"/>
              </a:ext>
            </a:extLst>
          </p:cNvPr>
          <p:cNvSpPr>
            <a:spLocks xmlns:a="http://schemas.openxmlformats.org/drawingml/2006/main" noGrp="1"/>
          </p:cNvSpPr>
          <p:nvPr/>
        </p:nvSpPr>
        <p:spPr>
          <a:xfrm xmlns:a="http://schemas.openxmlformats.org/drawingml/2006/main">
            <a:off x="2438400" y="4262438"/>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Schaden und Kausalität</a:t>
            </a:r>
          </a:p>
        </p:txBody>
      </p:sp>
      <p:sp>
        <p:nvSpPr>
          <p:cNvPr id="22" name="">
            <a:extLst xmlns:a="http://schemas.openxmlformats.org/drawingml/2006/main">
              <a:ext uri="{FF2B5EF4-FFF2-40B4-BE49-F238E27FC236}">
                <a16:creationId xmlns:a16="http://schemas.microsoft.com/office/drawing/2014/main" id="{D083D9DE-4D50-4A18-AB89-04D7D1ABE9A5}"/>
              </a:ext>
            </a:extLst>
          </p:cNvPr>
          <p:cNvSpPr>
            <a:spLocks xmlns:a="http://schemas.openxmlformats.org/drawingml/2006/main" noGrp="1"/>
          </p:cNvSpPr>
          <p:nvPr/>
        </p:nvSpPr>
        <p:spPr>
          <a:xfrm xmlns:a="http://schemas.openxmlformats.org/drawingml/2006/main">
            <a:off x="4591050" y="4262438"/>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Der geltend gemachte Schaden muss gerade durch die Pflichtverletzung verursacht und rechtlich zurechenbar sein.</a:t>
            </a:r>
          </a:p>
        </p:txBody>
      </p:sp>
      <p:sp>
        <p:nvSpPr>
          <p:cNvPr id="23" name="">
            <a:extLst xmlns:a="http://schemas.openxmlformats.org/drawingml/2006/main">
              <a:ext uri="{FF2B5EF4-FFF2-40B4-BE49-F238E27FC236}">
                <a16:creationId xmlns:a16="http://schemas.microsoft.com/office/drawing/2014/main" id="{7B7CAD1A-6155-4681-AF4B-01324F701290}"/>
              </a:ext>
            </a:extLst>
          </p:cNvPr>
          <p:cNvSpPr>
            <a:spLocks xmlns:a="http://schemas.openxmlformats.org/drawingml/2006/main" noGrp="1"/>
          </p:cNvSpPr>
          <p:nvPr/>
        </p:nvSpPr>
        <p:spPr>
          <a:xfrm xmlns:a="http://schemas.openxmlformats.org/drawingml/2006/main">
            <a:off x="1809750" y="4781550"/>
            <a:ext cx="9525000" cy="666750"/>
          </a:xfrm>
          <a:prstGeom xmlns:a="http://schemas.openxmlformats.org/drawingml/2006/main" prst="roundRect">
            <a:avLst>
              <a:gd name="adj" fmla="val 11429"/>
            </a:avLst>
          </a:prstGeom>
          <a:solidFill xmlns:a="http://schemas.openxmlformats.org/drawingml/2006/main">
            <a:srgbClr val="EAF6FB"/>
          </a:solidFill>
          <a:ln xmlns:a="http://schemas.openxmlformats.org/drawingml/2006/main" w="9525">
            <a:solidFill>
              <a:srgbClr val="00B2BB"/>
            </a:solidFill>
            <a:prstDash val="solid"/>
          </a:ln>
        </p:spPr>
      </p:sp>
      <p:sp>
        <p:nvSpPr>
          <p:cNvPr id="24" name="">
            <a:extLst xmlns:a="http://schemas.openxmlformats.org/drawingml/2006/main">
              <a:ext uri="{FF2B5EF4-FFF2-40B4-BE49-F238E27FC236}">
                <a16:creationId xmlns:a16="http://schemas.microsoft.com/office/drawing/2014/main" id="{054F062B-655C-481D-80CA-13F81FF03327}"/>
              </a:ext>
            </a:extLst>
          </p:cNvPr>
          <p:cNvSpPr>
            <a:spLocks xmlns:a="http://schemas.openxmlformats.org/drawingml/2006/main" noGrp="1"/>
          </p:cNvSpPr>
          <p:nvPr/>
        </p:nvSpPr>
        <p:spPr>
          <a:xfrm xmlns:a="http://schemas.openxmlformats.org/drawingml/2006/main">
            <a:off x="1981200" y="4829175"/>
            <a:ext cx="9182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065">
                <a:solidFill>
                  <a:srgbClr val="15232B"/>
                </a:solidFill>
              </a:defRPr>
            </a:pPr>
            <a:r>
              <a:rPr sz="1065">
                <a:solidFill>
                  <a:srgbClr val="15232B"/>
                </a:solidFill>
              </a:rPr>
              <a:t>Beispiel · Beispiel: Der Krankenhausträger verletzt durch unzureichende Organisation eine Vertragspflicht; dadurch wird eine notwendige Kontrolle unterlassen und ein vermeidbarer Schaden tritt ein.</a:t>
            </a:r>
          </a:p>
        </p:txBody>
      </p:sp>
      <p:sp>
        <p:nvSpPr>
          <p:cNvPr id="25" name="">
            <a:extLst xmlns:a="http://schemas.openxmlformats.org/drawingml/2006/main">
              <a:ext uri="{FF2B5EF4-FFF2-40B4-BE49-F238E27FC236}">
                <a16:creationId xmlns:a16="http://schemas.microsoft.com/office/drawing/2014/main" id="{66CE6095-E8F8-4FCB-B690-65BFD67D91F2}"/>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6" name="">
            <a:extLst xmlns:a="http://schemas.openxmlformats.org/drawingml/2006/main">
              <a:ext uri="{FF2B5EF4-FFF2-40B4-BE49-F238E27FC236}">
                <a16:creationId xmlns:a16="http://schemas.microsoft.com/office/drawing/2014/main" id="{882BC3B3-B90B-4CC0-9FE5-7DEFAFF800F0}"/>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 280 BGB wird immer zusammen mit der konkret verletzten Pflicht geprüft.</a:t>
            </a:r>
          </a:p>
        </p:txBody>
      </p:sp>
    </p:spTree>
    <p:extLst>
      <p:ext uri="{BB962C8B-B14F-4D97-AF65-F5344CB8AC3E}">
        <p14:creationId xmlns:p14="http://schemas.microsoft.com/office/powerpoint/2010/main" val="43637646"/>
      </p:ext>
    </p:extLst>
  </p:cSld>
</p:sld>
</file>

<file path=ppt/slides/slide113.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 280 Abs. 1 BGB prüfen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PRÜFUNGSSCHEMA · VERTRAGSHAFTUNG</a:t>
            </a:r>
            <a:endParaRPr/>
          </a:p>
        </p:txBody>
      </p:sp>
      <p:sp>
        <p:nvSpPr>
          <p:cNvPr id="4" name="">
            <a:extLst xmlns:a="http://schemas.openxmlformats.org/drawingml/2006/main">
              <a:ext uri="{FF2B5EF4-FFF2-40B4-BE49-F238E27FC236}">
                <a16:creationId xmlns:a16="http://schemas.microsoft.com/office/drawing/2014/main" id="{D6B8A3FE-B288-4ECE-949A-27015CD3563F}"/>
              </a:ext>
            </a:extLst>
          </p:cNvPr>
          <p:cNvSpPr>
            <a:spLocks xmlns:a="http://schemas.openxmlformats.org/drawingml/2006/main" noGrp="1"/>
          </p:cNvSpPr>
          <p:nvPr/>
        </p:nvSpPr>
        <p:spPr>
          <a:xfrm xmlns:a="http://schemas.openxmlformats.org/drawingml/2006/main">
            <a:off x="1809750" y="195262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CA27D609-DFF8-4F13-90B8-A22F39946D83}"/>
              </a:ext>
            </a:extLst>
          </p:cNvPr>
          <p:cNvSpPr>
            <a:spLocks xmlns:a="http://schemas.openxmlformats.org/drawingml/2006/main" noGrp="1"/>
          </p:cNvSpPr>
          <p:nvPr/>
        </p:nvSpPr>
        <p:spPr>
          <a:xfrm xmlns:a="http://schemas.openxmlformats.org/drawingml/2006/main">
            <a:off x="1809750" y="19526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6" name="">
            <a:extLst xmlns:a="http://schemas.openxmlformats.org/drawingml/2006/main">
              <a:ext uri="{FF2B5EF4-FFF2-40B4-BE49-F238E27FC236}">
                <a16:creationId xmlns:a16="http://schemas.microsoft.com/office/drawing/2014/main" id="{C2414531-551E-42C2-92C6-CD7860017AFE}"/>
              </a:ext>
            </a:extLst>
          </p:cNvPr>
          <p:cNvSpPr>
            <a:spLocks xmlns:a="http://schemas.openxmlformats.org/drawingml/2006/main" noGrp="1"/>
          </p:cNvSpPr>
          <p:nvPr/>
        </p:nvSpPr>
        <p:spPr>
          <a:xfrm xmlns:a="http://schemas.openxmlformats.org/drawingml/2006/main">
            <a:off x="2324100" y="196215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1. Schuldverhältnis</a:t>
            </a:r>
          </a:p>
        </p:txBody>
      </p:sp>
      <p:sp>
        <p:nvSpPr>
          <p:cNvPr id="7" name="">
            <a:extLst xmlns:a="http://schemas.openxmlformats.org/drawingml/2006/main">
              <a:ext uri="{FF2B5EF4-FFF2-40B4-BE49-F238E27FC236}">
                <a16:creationId xmlns:a16="http://schemas.microsoft.com/office/drawing/2014/main" id="{1B7E0533-9429-4387-8787-1636386867C0}"/>
              </a:ext>
            </a:extLst>
          </p:cNvPr>
          <p:cNvSpPr>
            <a:spLocks xmlns:a="http://schemas.openxmlformats.org/drawingml/2006/main" noGrp="1"/>
          </p:cNvSpPr>
          <p:nvPr/>
        </p:nvSpPr>
        <p:spPr>
          <a:xfrm xmlns:a="http://schemas.openxmlformats.org/drawingml/2006/main">
            <a:off x="4819650" y="196215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Zwischen welchen Personen besteht der Behandlungsvertrag?</a:t>
            </a:r>
          </a:p>
        </p:txBody>
      </p:sp>
      <p:sp>
        <p:nvSpPr>
          <p:cNvPr id="8" name="">
            <a:extLst xmlns:a="http://schemas.openxmlformats.org/drawingml/2006/main">
              <a:ext uri="{FF2B5EF4-FFF2-40B4-BE49-F238E27FC236}">
                <a16:creationId xmlns:a16="http://schemas.microsoft.com/office/drawing/2014/main" id="{1D8BFF65-3C76-4DBF-96DF-5CA6CBB915F4}"/>
              </a:ext>
            </a:extLst>
          </p:cNvPr>
          <p:cNvSpPr>
            <a:spLocks xmlns:a="http://schemas.openxmlformats.org/drawingml/2006/main" noGrp="1"/>
          </p:cNvSpPr>
          <p:nvPr/>
        </p:nvSpPr>
        <p:spPr>
          <a:xfrm xmlns:a="http://schemas.openxmlformats.org/drawingml/2006/main">
            <a:off x="1809750" y="255270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9" name="">
            <a:extLst xmlns:a="http://schemas.openxmlformats.org/drawingml/2006/main">
              <a:ext uri="{FF2B5EF4-FFF2-40B4-BE49-F238E27FC236}">
                <a16:creationId xmlns:a16="http://schemas.microsoft.com/office/drawing/2014/main" id="{3B8428E5-AD8F-4266-AD33-14E19F952A35}"/>
              </a:ext>
            </a:extLst>
          </p:cNvPr>
          <p:cNvSpPr>
            <a:spLocks xmlns:a="http://schemas.openxmlformats.org/drawingml/2006/main" noGrp="1"/>
          </p:cNvSpPr>
          <p:nvPr/>
        </p:nvSpPr>
        <p:spPr>
          <a:xfrm xmlns:a="http://schemas.openxmlformats.org/drawingml/2006/main">
            <a:off x="1809750" y="255270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0" name="">
            <a:extLst xmlns:a="http://schemas.openxmlformats.org/drawingml/2006/main">
              <a:ext uri="{FF2B5EF4-FFF2-40B4-BE49-F238E27FC236}">
                <a16:creationId xmlns:a16="http://schemas.microsoft.com/office/drawing/2014/main" id="{7B9F73DF-D98E-44E0-8D06-08D17800F89E}"/>
              </a:ext>
            </a:extLst>
          </p:cNvPr>
          <p:cNvSpPr>
            <a:spLocks xmlns:a="http://schemas.openxmlformats.org/drawingml/2006/main" noGrp="1"/>
          </p:cNvSpPr>
          <p:nvPr/>
        </p:nvSpPr>
        <p:spPr>
          <a:xfrm xmlns:a="http://schemas.openxmlformats.org/drawingml/2006/main">
            <a:off x="2324100" y="256222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2. Pflicht</a:t>
            </a:r>
          </a:p>
        </p:txBody>
      </p:sp>
      <p:sp>
        <p:nvSpPr>
          <p:cNvPr id="11" name="">
            <a:extLst xmlns:a="http://schemas.openxmlformats.org/drawingml/2006/main">
              <a:ext uri="{FF2B5EF4-FFF2-40B4-BE49-F238E27FC236}">
                <a16:creationId xmlns:a16="http://schemas.microsoft.com/office/drawing/2014/main" id="{EC17813F-E330-40C5-96A1-1E1F3B6DB06B}"/>
              </a:ext>
            </a:extLst>
          </p:cNvPr>
          <p:cNvSpPr>
            <a:spLocks xmlns:a="http://schemas.openxmlformats.org/drawingml/2006/main" noGrp="1"/>
          </p:cNvSpPr>
          <p:nvPr/>
        </p:nvSpPr>
        <p:spPr>
          <a:xfrm xmlns:a="http://schemas.openxmlformats.org/drawingml/2006/main">
            <a:off x="4819650" y="256222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Welche Haupt-, Neben- oder Schutzpflicht folgt aus §§ 630a ff., § 241 Abs. 2 BGB oder der konkreten Vereinbarung?</a:t>
            </a:r>
          </a:p>
        </p:txBody>
      </p:sp>
      <p:sp>
        <p:nvSpPr>
          <p:cNvPr id="12" name="">
            <a:extLst xmlns:a="http://schemas.openxmlformats.org/drawingml/2006/main">
              <a:ext uri="{FF2B5EF4-FFF2-40B4-BE49-F238E27FC236}">
                <a16:creationId xmlns:a16="http://schemas.microsoft.com/office/drawing/2014/main" id="{428F2D08-6C0F-426E-99F9-B0B499342801}"/>
              </a:ext>
            </a:extLst>
          </p:cNvPr>
          <p:cNvSpPr>
            <a:spLocks xmlns:a="http://schemas.openxmlformats.org/drawingml/2006/main" noGrp="1"/>
          </p:cNvSpPr>
          <p:nvPr/>
        </p:nvSpPr>
        <p:spPr>
          <a:xfrm xmlns:a="http://schemas.openxmlformats.org/drawingml/2006/main">
            <a:off x="1809750" y="315277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3" name="">
            <a:extLst xmlns:a="http://schemas.openxmlformats.org/drawingml/2006/main">
              <a:ext uri="{FF2B5EF4-FFF2-40B4-BE49-F238E27FC236}">
                <a16:creationId xmlns:a16="http://schemas.microsoft.com/office/drawing/2014/main" id="{6ED077BE-B18E-47AD-8909-07E28BB95258}"/>
              </a:ext>
            </a:extLst>
          </p:cNvPr>
          <p:cNvSpPr>
            <a:spLocks xmlns:a="http://schemas.openxmlformats.org/drawingml/2006/main" noGrp="1"/>
          </p:cNvSpPr>
          <p:nvPr/>
        </p:nvSpPr>
        <p:spPr>
          <a:xfrm xmlns:a="http://schemas.openxmlformats.org/drawingml/2006/main">
            <a:off x="1809750" y="315277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4" name="">
            <a:extLst xmlns:a="http://schemas.openxmlformats.org/drawingml/2006/main">
              <a:ext uri="{FF2B5EF4-FFF2-40B4-BE49-F238E27FC236}">
                <a16:creationId xmlns:a16="http://schemas.microsoft.com/office/drawing/2014/main" id="{11CB37A9-CD35-4291-A354-C2ED59462587}"/>
              </a:ext>
            </a:extLst>
          </p:cNvPr>
          <p:cNvSpPr>
            <a:spLocks xmlns:a="http://schemas.openxmlformats.org/drawingml/2006/main" noGrp="1"/>
          </p:cNvSpPr>
          <p:nvPr/>
        </p:nvSpPr>
        <p:spPr>
          <a:xfrm xmlns:a="http://schemas.openxmlformats.org/drawingml/2006/main">
            <a:off x="2324100" y="316230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3. Pflichtverletzung</a:t>
            </a:r>
          </a:p>
        </p:txBody>
      </p:sp>
      <p:sp>
        <p:nvSpPr>
          <p:cNvPr id="15" name="">
            <a:extLst xmlns:a="http://schemas.openxmlformats.org/drawingml/2006/main">
              <a:ext uri="{FF2B5EF4-FFF2-40B4-BE49-F238E27FC236}">
                <a16:creationId xmlns:a16="http://schemas.microsoft.com/office/drawing/2014/main" id="{A4E2A96C-BA13-49B3-9E6D-B56A518AD984}"/>
              </a:ext>
            </a:extLst>
          </p:cNvPr>
          <p:cNvSpPr>
            <a:spLocks xmlns:a="http://schemas.openxmlformats.org/drawingml/2006/main" noGrp="1"/>
          </p:cNvSpPr>
          <p:nvPr/>
        </p:nvSpPr>
        <p:spPr>
          <a:xfrm xmlns:a="http://schemas.openxmlformats.org/drawingml/2006/main">
            <a:off x="4819650" y="316230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Wie genau weicht das tatsächliche Verhalten vom geschuldeten Zustand ab?</a:t>
            </a:r>
          </a:p>
        </p:txBody>
      </p:sp>
      <p:sp>
        <p:nvSpPr>
          <p:cNvPr id="16" name="">
            <a:extLst xmlns:a="http://schemas.openxmlformats.org/drawingml/2006/main">
              <a:ext uri="{FF2B5EF4-FFF2-40B4-BE49-F238E27FC236}">
                <a16:creationId xmlns:a16="http://schemas.microsoft.com/office/drawing/2014/main" id="{D605E2B7-C200-43AC-ACEE-08D4E0F2063E}"/>
              </a:ext>
            </a:extLst>
          </p:cNvPr>
          <p:cNvSpPr>
            <a:spLocks xmlns:a="http://schemas.openxmlformats.org/drawingml/2006/main" noGrp="1"/>
          </p:cNvSpPr>
          <p:nvPr/>
        </p:nvSpPr>
        <p:spPr>
          <a:xfrm xmlns:a="http://schemas.openxmlformats.org/drawingml/2006/main">
            <a:off x="1809750" y="375285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7" name="">
            <a:extLst xmlns:a="http://schemas.openxmlformats.org/drawingml/2006/main">
              <a:ext uri="{FF2B5EF4-FFF2-40B4-BE49-F238E27FC236}">
                <a16:creationId xmlns:a16="http://schemas.microsoft.com/office/drawing/2014/main" id="{2A32F77E-671E-4363-AAFA-88007157DEC6}"/>
              </a:ext>
            </a:extLst>
          </p:cNvPr>
          <p:cNvSpPr>
            <a:spLocks xmlns:a="http://schemas.openxmlformats.org/drawingml/2006/main" noGrp="1"/>
          </p:cNvSpPr>
          <p:nvPr/>
        </p:nvSpPr>
        <p:spPr>
          <a:xfrm xmlns:a="http://schemas.openxmlformats.org/drawingml/2006/main">
            <a:off x="1809750" y="375285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18" name="">
            <a:extLst xmlns:a="http://schemas.openxmlformats.org/drawingml/2006/main">
              <a:ext uri="{FF2B5EF4-FFF2-40B4-BE49-F238E27FC236}">
                <a16:creationId xmlns:a16="http://schemas.microsoft.com/office/drawing/2014/main" id="{0158C10C-133D-4B39-B34A-C335C3812945}"/>
              </a:ext>
            </a:extLst>
          </p:cNvPr>
          <p:cNvSpPr>
            <a:spLocks xmlns:a="http://schemas.openxmlformats.org/drawingml/2006/main" noGrp="1"/>
          </p:cNvSpPr>
          <p:nvPr/>
        </p:nvSpPr>
        <p:spPr>
          <a:xfrm xmlns:a="http://schemas.openxmlformats.org/drawingml/2006/main">
            <a:off x="2324100" y="376237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4. Vertretenmüssen</a:t>
            </a:r>
          </a:p>
        </p:txBody>
      </p:sp>
      <p:sp>
        <p:nvSpPr>
          <p:cNvPr id="19" name="">
            <a:extLst xmlns:a="http://schemas.openxmlformats.org/drawingml/2006/main">
              <a:ext uri="{FF2B5EF4-FFF2-40B4-BE49-F238E27FC236}">
                <a16:creationId xmlns:a16="http://schemas.microsoft.com/office/drawing/2014/main" id="{DF1A1D56-C5A9-4376-B6D3-0F3CFD1EB97C}"/>
              </a:ext>
            </a:extLst>
          </p:cNvPr>
          <p:cNvSpPr>
            <a:spLocks xmlns:a="http://schemas.openxmlformats.org/drawingml/2006/main" noGrp="1"/>
          </p:cNvSpPr>
          <p:nvPr/>
        </p:nvSpPr>
        <p:spPr>
          <a:xfrm xmlns:a="http://schemas.openxmlformats.org/drawingml/2006/main">
            <a:off x="4819650" y="376237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Vorsatz oder Fahrlässigkeit; Entlastungsmöglichkeit nach § 280 Abs. 1 Satz 2 BGB beachten.</a:t>
            </a:r>
          </a:p>
        </p:txBody>
      </p:sp>
      <p:sp>
        <p:nvSpPr>
          <p:cNvPr id="20" name="">
            <a:extLst xmlns:a="http://schemas.openxmlformats.org/drawingml/2006/main">
              <a:ext uri="{FF2B5EF4-FFF2-40B4-BE49-F238E27FC236}">
                <a16:creationId xmlns:a16="http://schemas.microsoft.com/office/drawing/2014/main" id="{BB6A2E26-44EF-49AD-A984-0A4552722E1E}"/>
              </a:ext>
            </a:extLst>
          </p:cNvPr>
          <p:cNvSpPr>
            <a:spLocks xmlns:a="http://schemas.openxmlformats.org/drawingml/2006/main" noGrp="1"/>
          </p:cNvSpPr>
          <p:nvPr/>
        </p:nvSpPr>
        <p:spPr>
          <a:xfrm xmlns:a="http://schemas.openxmlformats.org/drawingml/2006/main">
            <a:off x="1809750" y="435292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1" name="">
            <a:extLst xmlns:a="http://schemas.openxmlformats.org/drawingml/2006/main">
              <a:ext uri="{FF2B5EF4-FFF2-40B4-BE49-F238E27FC236}">
                <a16:creationId xmlns:a16="http://schemas.microsoft.com/office/drawing/2014/main" id="{17AA5D7B-5D65-4DBD-BE61-101A5FB90249}"/>
              </a:ext>
            </a:extLst>
          </p:cNvPr>
          <p:cNvSpPr>
            <a:spLocks xmlns:a="http://schemas.openxmlformats.org/drawingml/2006/main" noGrp="1"/>
          </p:cNvSpPr>
          <p:nvPr/>
        </p:nvSpPr>
        <p:spPr>
          <a:xfrm xmlns:a="http://schemas.openxmlformats.org/drawingml/2006/main">
            <a:off x="1809750" y="43529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5</a:t>
            </a:r>
          </a:p>
        </p:txBody>
      </p:sp>
      <p:sp>
        <p:nvSpPr>
          <p:cNvPr id="22" name="">
            <a:extLst xmlns:a="http://schemas.openxmlformats.org/drawingml/2006/main">
              <a:ext uri="{FF2B5EF4-FFF2-40B4-BE49-F238E27FC236}">
                <a16:creationId xmlns:a16="http://schemas.microsoft.com/office/drawing/2014/main" id="{029730C8-24A4-40B3-970D-EA0F5054344B}"/>
              </a:ext>
            </a:extLst>
          </p:cNvPr>
          <p:cNvSpPr>
            <a:spLocks xmlns:a="http://schemas.openxmlformats.org/drawingml/2006/main" noGrp="1"/>
          </p:cNvSpPr>
          <p:nvPr/>
        </p:nvSpPr>
        <p:spPr>
          <a:xfrm xmlns:a="http://schemas.openxmlformats.org/drawingml/2006/main">
            <a:off x="2324100" y="436245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5. Schaden</a:t>
            </a:r>
          </a:p>
        </p:txBody>
      </p:sp>
      <p:sp>
        <p:nvSpPr>
          <p:cNvPr id="23" name="">
            <a:extLst xmlns:a="http://schemas.openxmlformats.org/drawingml/2006/main">
              <a:ext uri="{FF2B5EF4-FFF2-40B4-BE49-F238E27FC236}">
                <a16:creationId xmlns:a16="http://schemas.microsoft.com/office/drawing/2014/main" id="{2F46AF5C-D6B3-41AC-8FAA-184442B544FE}"/>
              </a:ext>
            </a:extLst>
          </p:cNvPr>
          <p:cNvSpPr>
            <a:spLocks xmlns:a="http://schemas.openxmlformats.org/drawingml/2006/main" noGrp="1"/>
          </p:cNvSpPr>
          <p:nvPr/>
        </p:nvSpPr>
        <p:spPr>
          <a:xfrm xmlns:a="http://schemas.openxmlformats.org/drawingml/2006/main">
            <a:off x="4819650" y="436245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Welche Vermögens- oder immaterielle Einbuße ist eingetreten?</a:t>
            </a:r>
          </a:p>
        </p:txBody>
      </p:sp>
      <p:sp>
        <p:nvSpPr>
          <p:cNvPr id="24" name="">
            <a:extLst xmlns:a="http://schemas.openxmlformats.org/drawingml/2006/main">
              <a:ext uri="{FF2B5EF4-FFF2-40B4-BE49-F238E27FC236}">
                <a16:creationId xmlns:a16="http://schemas.microsoft.com/office/drawing/2014/main" id="{C7C03FB3-CCB8-4AEF-9D1F-92857D6EF8D9}"/>
              </a:ext>
            </a:extLst>
          </p:cNvPr>
          <p:cNvSpPr>
            <a:spLocks xmlns:a="http://schemas.openxmlformats.org/drawingml/2006/main" noGrp="1"/>
          </p:cNvSpPr>
          <p:nvPr/>
        </p:nvSpPr>
        <p:spPr>
          <a:xfrm xmlns:a="http://schemas.openxmlformats.org/drawingml/2006/main">
            <a:off x="1809750" y="495300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25" name="">
            <a:extLst xmlns:a="http://schemas.openxmlformats.org/drawingml/2006/main">
              <a:ext uri="{FF2B5EF4-FFF2-40B4-BE49-F238E27FC236}">
                <a16:creationId xmlns:a16="http://schemas.microsoft.com/office/drawing/2014/main" id="{A6A62D86-8145-4A7B-9B7B-813FD9B41B6C}"/>
              </a:ext>
            </a:extLst>
          </p:cNvPr>
          <p:cNvSpPr>
            <a:spLocks xmlns:a="http://schemas.openxmlformats.org/drawingml/2006/main" noGrp="1"/>
          </p:cNvSpPr>
          <p:nvPr/>
        </p:nvSpPr>
        <p:spPr>
          <a:xfrm xmlns:a="http://schemas.openxmlformats.org/drawingml/2006/main">
            <a:off x="1809750" y="495300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6</a:t>
            </a:r>
          </a:p>
        </p:txBody>
      </p:sp>
      <p:sp>
        <p:nvSpPr>
          <p:cNvPr id="26" name="">
            <a:extLst xmlns:a="http://schemas.openxmlformats.org/drawingml/2006/main">
              <a:ext uri="{FF2B5EF4-FFF2-40B4-BE49-F238E27FC236}">
                <a16:creationId xmlns:a16="http://schemas.microsoft.com/office/drawing/2014/main" id="{33CAFF7A-B6EF-49CA-9714-FCFEC0371117}"/>
              </a:ext>
            </a:extLst>
          </p:cNvPr>
          <p:cNvSpPr>
            <a:spLocks xmlns:a="http://schemas.openxmlformats.org/drawingml/2006/main" noGrp="1"/>
          </p:cNvSpPr>
          <p:nvPr/>
        </p:nvSpPr>
        <p:spPr>
          <a:xfrm xmlns:a="http://schemas.openxmlformats.org/drawingml/2006/main">
            <a:off x="2324100" y="496252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6. Kausalität/Zurechnung</a:t>
            </a:r>
          </a:p>
        </p:txBody>
      </p:sp>
      <p:sp>
        <p:nvSpPr>
          <p:cNvPr id="27" name="">
            <a:extLst xmlns:a="http://schemas.openxmlformats.org/drawingml/2006/main">
              <a:ext uri="{FF2B5EF4-FFF2-40B4-BE49-F238E27FC236}">
                <a16:creationId xmlns:a16="http://schemas.microsoft.com/office/drawing/2014/main" id="{7379D45F-50BA-422C-B6CA-A1EB70802369}"/>
              </a:ext>
            </a:extLst>
          </p:cNvPr>
          <p:cNvSpPr>
            <a:spLocks xmlns:a="http://schemas.openxmlformats.org/drawingml/2006/main" noGrp="1"/>
          </p:cNvSpPr>
          <p:nvPr/>
        </p:nvSpPr>
        <p:spPr>
          <a:xfrm xmlns:a="http://schemas.openxmlformats.org/drawingml/2006/main">
            <a:off x="4819650" y="496252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Wäre der Schaden ohne Pflichtverletzung entfallen und liegt er im Schutzzweck der Pflicht?</a:t>
            </a:r>
          </a:p>
        </p:txBody>
      </p:sp>
      <p:sp>
        <p:nvSpPr>
          <p:cNvPr id="28" name="">
            <a:extLst xmlns:a="http://schemas.openxmlformats.org/drawingml/2006/main">
              <a:ext uri="{FF2B5EF4-FFF2-40B4-BE49-F238E27FC236}">
                <a16:creationId xmlns:a16="http://schemas.microsoft.com/office/drawing/2014/main" id="{6767A90F-DB6A-4AC2-9500-0AB0081C166F}"/>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9" name="">
            <a:extLst xmlns:a="http://schemas.openxmlformats.org/drawingml/2006/main">
              <a:ext uri="{FF2B5EF4-FFF2-40B4-BE49-F238E27FC236}">
                <a16:creationId xmlns:a16="http://schemas.microsoft.com/office/drawing/2014/main" id="{F802F54D-416E-43DE-AD65-288C93BE34B9}"/>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Jedes Merkmal erhält eigene Tatsachen und eine eigene Beweisfrage.</a:t>
            </a:r>
          </a:p>
        </p:txBody>
      </p:sp>
    </p:spTree>
    <p:extLst>
      <p:ext uri="{BB962C8B-B14F-4D97-AF65-F5344CB8AC3E}">
        <p14:creationId xmlns:p14="http://schemas.microsoft.com/office/powerpoint/2010/main" val="43637646"/>
      </p:ext>
    </p:extLst>
  </p:cSld>
</p:sld>
</file>

<file path=ppt/slides/slide114.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Pflichten und Gehilfen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NORM IM FOKUS · §§ 241, 276, 278 BGB</a:t>
            </a:r>
            <a:endParaRPr/>
          </a:p>
        </p:txBody>
      </p:sp>
      <p:sp>
        <p:nvSpPr>
          <p:cNvPr id="4" name="">
            <a:extLst xmlns:a="http://schemas.openxmlformats.org/drawingml/2006/main">
              <a:ext uri="{FF2B5EF4-FFF2-40B4-BE49-F238E27FC236}">
                <a16:creationId xmlns:a16="http://schemas.microsoft.com/office/drawing/2014/main" id="{4F4025FD-0DDF-44A7-BF9B-35F91372CCBD}"/>
              </a:ext>
            </a:extLst>
          </p:cNvPr>
          <p:cNvSpPr>
            <a:spLocks xmlns:a="http://schemas.openxmlformats.org/drawingml/2006/main" noGrp="1"/>
          </p:cNvSpPr>
          <p:nvPr/>
        </p:nvSpPr>
        <p:spPr>
          <a:xfrm xmlns:a="http://schemas.openxmlformats.org/drawingml/2006/main">
            <a:off x="1809750" y="1924050"/>
            <a:ext cx="2286000" cy="704850"/>
          </a:xfrm>
          <a:prstGeom xmlns:a="http://schemas.openxmlformats.org/drawingml/2006/main" prst="roundRect">
            <a:avLst>
              <a:gd name="adj" fmla="val 10811"/>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79411E6C-6AA2-4397-B239-E9DA203F6B65}"/>
              </a:ext>
            </a:extLst>
          </p:cNvPr>
          <p:cNvSpPr>
            <a:spLocks xmlns:a="http://schemas.openxmlformats.org/drawingml/2006/main" noGrp="1"/>
          </p:cNvSpPr>
          <p:nvPr/>
        </p:nvSpPr>
        <p:spPr>
          <a:xfrm xmlns:a="http://schemas.openxmlformats.org/drawingml/2006/main">
            <a:off x="1924050" y="1971675"/>
            <a:ext cx="2057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75" b="1">
                <a:solidFill>
                  <a:srgbClr val="FFFFFF"/>
                </a:solidFill>
              </a:defRPr>
            </a:pPr>
            <a:r>
              <a:rPr sz="1875" b="1">
                <a:solidFill>
                  <a:srgbClr val="FFFFFF"/>
                </a:solidFill>
              </a:rPr>
              <a:t>§§ 241, 276, 278 BGB</a:t>
            </a:r>
          </a:p>
        </p:txBody>
      </p:sp>
      <p:sp>
        <p:nvSpPr>
          <p:cNvPr id="6" name="">
            <a:extLst xmlns:a="http://schemas.openxmlformats.org/drawingml/2006/main">
              <a:ext uri="{FF2B5EF4-FFF2-40B4-BE49-F238E27FC236}">
                <a16:creationId xmlns:a16="http://schemas.microsoft.com/office/drawing/2014/main" id="{07E48D76-1116-4D70-9179-5E6A6C167115}"/>
              </a:ext>
            </a:extLst>
          </p:cNvPr>
          <p:cNvSpPr>
            <a:spLocks xmlns:a="http://schemas.openxmlformats.org/drawingml/2006/main" noGrp="1"/>
          </p:cNvSpPr>
          <p:nvPr/>
        </p:nvSpPr>
        <p:spPr>
          <a:xfrm xmlns:a="http://schemas.openxmlformats.org/drawingml/2006/main">
            <a:off x="4362450" y="1924050"/>
            <a:ext cx="6972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15">
                <a:solidFill>
                  <a:srgbClr val="667680"/>
                </a:solidFill>
              </a:defRPr>
            </a:pPr>
            <a:r>
              <a:rPr sz="1215">
                <a:solidFill>
                  <a:srgbClr val="667680"/>
                </a:solidFill>
              </a:rPr>
              <a:t>Die allgemeinen Regeln bestimmen Schutzpflichten, Verschuldensmaßstab und die Zurechnung von Hilfspersonen.</a:t>
            </a:r>
          </a:p>
        </p:txBody>
      </p:sp>
      <p:sp>
        <p:nvSpPr>
          <p:cNvPr id="7" name="">
            <a:extLst xmlns:a="http://schemas.openxmlformats.org/drawingml/2006/main">
              <a:ext uri="{FF2B5EF4-FFF2-40B4-BE49-F238E27FC236}">
                <a16:creationId xmlns:a16="http://schemas.microsoft.com/office/drawing/2014/main" id="{2F748EAC-7AF1-40A4-91A0-5441AA1CBBF1}"/>
              </a:ext>
            </a:extLst>
          </p:cNvPr>
          <p:cNvSpPr>
            <a:spLocks xmlns:a="http://schemas.openxmlformats.org/drawingml/2006/main" noGrp="1"/>
          </p:cNvSpPr>
          <p:nvPr/>
        </p:nvSpPr>
        <p:spPr>
          <a:xfrm xmlns:a="http://schemas.openxmlformats.org/drawingml/2006/main">
            <a:off x="1809750" y="2781300"/>
            <a:ext cx="476250" cy="414338"/>
          </a:xfrm>
          <a:prstGeom xmlns:a="http://schemas.openxmlformats.org/drawingml/2006/main" prst="roundRect">
            <a:avLst>
              <a:gd name="adj" fmla="val 18391"/>
            </a:avLst>
          </a:prstGeom>
          <a:solidFill xmlns:a="http://schemas.openxmlformats.org/drawingml/2006/main">
            <a:srgbClr val="00B2BB"/>
          </a:solidFill>
          <a:ln xmlns:a="http://schemas.openxmlformats.org/drawingml/2006/main" w="0">
            <a:solidFill>
              <a:srgbClr val="00B2BB"/>
            </a:solidFill>
            <a:prstDash val="solid"/>
          </a:ln>
        </p:spPr>
      </p:sp>
      <p:sp>
        <p:nvSpPr>
          <p:cNvPr id="8" name="">
            <a:extLst xmlns:a="http://schemas.openxmlformats.org/drawingml/2006/main">
              <a:ext uri="{FF2B5EF4-FFF2-40B4-BE49-F238E27FC236}">
                <a16:creationId xmlns:a16="http://schemas.microsoft.com/office/drawing/2014/main" id="{35CE0D5B-9F52-41B9-ACED-231241522680}"/>
              </a:ext>
            </a:extLst>
          </p:cNvPr>
          <p:cNvSpPr>
            <a:spLocks xmlns:a="http://schemas.openxmlformats.org/drawingml/2006/main" noGrp="1"/>
          </p:cNvSpPr>
          <p:nvPr/>
        </p:nvSpPr>
        <p:spPr>
          <a:xfrm xmlns:a="http://schemas.openxmlformats.org/drawingml/2006/main">
            <a:off x="1809750" y="2781300"/>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9" name="">
            <a:extLst xmlns:a="http://schemas.openxmlformats.org/drawingml/2006/main">
              <a:ext uri="{FF2B5EF4-FFF2-40B4-BE49-F238E27FC236}">
                <a16:creationId xmlns:a16="http://schemas.microsoft.com/office/drawing/2014/main" id="{E9EA937B-C4F7-4EA9-B3D5-492DFD5572FC}"/>
              </a:ext>
            </a:extLst>
          </p:cNvPr>
          <p:cNvSpPr>
            <a:spLocks xmlns:a="http://schemas.openxmlformats.org/drawingml/2006/main" noGrp="1"/>
          </p:cNvSpPr>
          <p:nvPr/>
        </p:nvSpPr>
        <p:spPr>
          <a:xfrm xmlns:a="http://schemas.openxmlformats.org/drawingml/2006/main">
            <a:off x="2438400" y="2790825"/>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 241 Abs. 2</a:t>
            </a:r>
          </a:p>
        </p:txBody>
      </p:sp>
      <p:sp>
        <p:nvSpPr>
          <p:cNvPr id="10" name="">
            <a:extLst xmlns:a="http://schemas.openxmlformats.org/drawingml/2006/main">
              <a:ext uri="{FF2B5EF4-FFF2-40B4-BE49-F238E27FC236}">
                <a16:creationId xmlns:a16="http://schemas.microsoft.com/office/drawing/2014/main" id="{5B9EAC1B-DF2E-4543-B0FF-9576CF50CCE0}"/>
              </a:ext>
            </a:extLst>
          </p:cNvPr>
          <p:cNvSpPr>
            <a:spLocks xmlns:a="http://schemas.openxmlformats.org/drawingml/2006/main" noGrp="1"/>
          </p:cNvSpPr>
          <p:nvPr/>
        </p:nvSpPr>
        <p:spPr>
          <a:xfrm xmlns:a="http://schemas.openxmlformats.org/drawingml/2006/main">
            <a:off x="4591050" y="2790825"/>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Aus dem Schuldverhältnis folgen Rücksichtnahme- und Schutzpflichten für Rechte und Interessen der anderen Seite.</a:t>
            </a:r>
          </a:p>
        </p:txBody>
      </p:sp>
      <p:sp>
        <p:nvSpPr>
          <p:cNvPr id="11" name="">
            <a:extLst xmlns:a="http://schemas.openxmlformats.org/drawingml/2006/main">
              <a:ext uri="{FF2B5EF4-FFF2-40B4-BE49-F238E27FC236}">
                <a16:creationId xmlns:a16="http://schemas.microsoft.com/office/drawing/2014/main" id="{AC2782C0-DC84-4023-9A0D-FF1BAF2CAE44}"/>
              </a:ext>
            </a:extLst>
          </p:cNvPr>
          <p:cNvSpPr>
            <a:spLocks xmlns:a="http://schemas.openxmlformats.org/drawingml/2006/main" noGrp="1"/>
          </p:cNvSpPr>
          <p:nvPr/>
        </p:nvSpPr>
        <p:spPr>
          <a:xfrm xmlns:a="http://schemas.openxmlformats.org/drawingml/2006/main">
            <a:off x="1809750" y="3271838"/>
            <a:ext cx="476250" cy="414338"/>
          </a:xfrm>
          <a:prstGeom xmlns:a="http://schemas.openxmlformats.org/drawingml/2006/main" prst="roundRect">
            <a:avLst>
              <a:gd name="adj" fmla="val 18391"/>
            </a:avLst>
          </a:prstGeom>
          <a:solidFill xmlns:a="http://schemas.openxmlformats.org/drawingml/2006/main">
            <a:srgbClr val="003F6B"/>
          </a:solidFill>
          <a:ln xmlns:a="http://schemas.openxmlformats.org/drawingml/2006/main" w="0">
            <a:solidFill>
              <a:srgbClr val="003F6B"/>
            </a:solidFill>
            <a:prstDash val="solid"/>
          </a:ln>
        </p:spPr>
      </p:sp>
      <p:sp>
        <p:nvSpPr>
          <p:cNvPr id="12" name="">
            <a:extLst xmlns:a="http://schemas.openxmlformats.org/drawingml/2006/main">
              <a:ext uri="{FF2B5EF4-FFF2-40B4-BE49-F238E27FC236}">
                <a16:creationId xmlns:a16="http://schemas.microsoft.com/office/drawing/2014/main" id="{92DE0C8A-494A-43A1-B785-676D7673A4A5}"/>
              </a:ext>
            </a:extLst>
          </p:cNvPr>
          <p:cNvSpPr>
            <a:spLocks xmlns:a="http://schemas.openxmlformats.org/drawingml/2006/main" noGrp="1"/>
          </p:cNvSpPr>
          <p:nvPr/>
        </p:nvSpPr>
        <p:spPr>
          <a:xfrm xmlns:a="http://schemas.openxmlformats.org/drawingml/2006/main">
            <a:off x="1809750" y="3271838"/>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3" name="">
            <a:extLst xmlns:a="http://schemas.openxmlformats.org/drawingml/2006/main">
              <a:ext uri="{FF2B5EF4-FFF2-40B4-BE49-F238E27FC236}">
                <a16:creationId xmlns:a16="http://schemas.microsoft.com/office/drawing/2014/main" id="{ABFE0329-0CE8-4E6B-BCC1-E9FA34990A6E}"/>
              </a:ext>
            </a:extLst>
          </p:cNvPr>
          <p:cNvSpPr>
            <a:spLocks xmlns:a="http://schemas.openxmlformats.org/drawingml/2006/main" noGrp="1"/>
          </p:cNvSpPr>
          <p:nvPr/>
        </p:nvSpPr>
        <p:spPr>
          <a:xfrm xmlns:a="http://schemas.openxmlformats.org/drawingml/2006/main">
            <a:off x="2438400" y="3281363"/>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 276</a:t>
            </a:r>
          </a:p>
        </p:txBody>
      </p:sp>
      <p:sp>
        <p:nvSpPr>
          <p:cNvPr id="14" name="">
            <a:extLst xmlns:a="http://schemas.openxmlformats.org/drawingml/2006/main">
              <a:ext uri="{FF2B5EF4-FFF2-40B4-BE49-F238E27FC236}">
                <a16:creationId xmlns:a16="http://schemas.microsoft.com/office/drawing/2014/main" id="{83EBD6C9-5732-4699-88FE-413B3A7732F6}"/>
              </a:ext>
            </a:extLst>
          </p:cNvPr>
          <p:cNvSpPr>
            <a:spLocks xmlns:a="http://schemas.openxmlformats.org/drawingml/2006/main" noGrp="1"/>
          </p:cNvSpPr>
          <p:nvPr/>
        </p:nvSpPr>
        <p:spPr>
          <a:xfrm xmlns:a="http://schemas.openxmlformats.org/drawingml/2006/main">
            <a:off x="4591050" y="3281363"/>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Zu vertreten sind grundsätzlich Vorsatz und Fahrlässigkeit. Fahrlässig handelt, wer die im Verkehr erforderliche Sorgfalt außer Acht lässt.</a:t>
            </a:r>
          </a:p>
        </p:txBody>
      </p:sp>
      <p:sp>
        <p:nvSpPr>
          <p:cNvPr id="15" name="">
            <a:extLst xmlns:a="http://schemas.openxmlformats.org/drawingml/2006/main">
              <a:ext uri="{FF2B5EF4-FFF2-40B4-BE49-F238E27FC236}">
                <a16:creationId xmlns:a16="http://schemas.microsoft.com/office/drawing/2014/main" id="{9ABB31DD-CB81-4D30-9887-01918F78914B}"/>
              </a:ext>
            </a:extLst>
          </p:cNvPr>
          <p:cNvSpPr>
            <a:spLocks xmlns:a="http://schemas.openxmlformats.org/drawingml/2006/main" noGrp="1"/>
          </p:cNvSpPr>
          <p:nvPr/>
        </p:nvSpPr>
        <p:spPr>
          <a:xfrm xmlns:a="http://schemas.openxmlformats.org/drawingml/2006/main">
            <a:off x="1809750" y="3762375"/>
            <a:ext cx="476250" cy="414338"/>
          </a:xfrm>
          <a:prstGeom xmlns:a="http://schemas.openxmlformats.org/drawingml/2006/main" prst="roundRect">
            <a:avLst>
              <a:gd name="adj" fmla="val 18391"/>
            </a:avLst>
          </a:prstGeom>
          <a:solidFill xmlns:a="http://schemas.openxmlformats.org/drawingml/2006/main">
            <a:srgbClr val="00B2BB"/>
          </a:solidFill>
          <a:ln xmlns:a="http://schemas.openxmlformats.org/drawingml/2006/main" w="0">
            <a:solidFill>
              <a:srgbClr val="00B2BB"/>
            </a:solidFill>
            <a:prstDash val="solid"/>
          </a:ln>
        </p:spPr>
      </p:sp>
      <p:sp>
        <p:nvSpPr>
          <p:cNvPr id="16" name="">
            <a:extLst xmlns:a="http://schemas.openxmlformats.org/drawingml/2006/main">
              <a:ext uri="{FF2B5EF4-FFF2-40B4-BE49-F238E27FC236}">
                <a16:creationId xmlns:a16="http://schemas.microsoft.com/office/drawing/2014/main" id="{1DFF97A9-6D0B-4565-9040-202FC2BDC791}"/>
              </a:ext>
            </a:extLst>
          </p:cNvPr>
          <p:cNvSpPr>
            <a:spLocks xmlns:a="http://schemas.openxmlformats.org/drawingml/2006/main" noGrp="1"/>
          </p:cNvSpPr>
          <p:nvPr/>
        </p:nvSpPr>
        <p:spPr>
          <a:xfrm xmlns:a="http://schemas.openxmlformats.org/drawingml/2006/main">
            <a:off x="1809750" y="3762375"/>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7" name="">
            <a:extLst xmlns:a="http://schemas.openxmlformats.org/drawingml/2006/main">
              <a:ext uri="{FF2B5EF4-FFF2-40B4-BE49-F238E27FC236}">
                <a16:creationId xmlns:a16="http://schemas.microsoft.com/office/drawing/2014/main" id="{FE61F77D-DFCC-4D3F-BD27-EAD7ACFE95A3}"/>
              </a:ext>
            </a:extLst>
          </p:cNvPr>
          <p:cNvSpPr>
            <a:spLocks xmlns:a="http://schemas.openxmlformats.org/drawingml/2006/main" noGrp="1"/>
          </p:cNvSpPr>
          <p:nvPr/>
        </p:nvSpPr>
        <p:spPr>
          <a:xfrm xmlns:a="http://schemas.openxmlformats.org/drawingml/2006/main">
            <a:off x="2438400" y="3771900"/>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 278</a:t>
            </a:r>
          </a:p>
        </p:txBody>
      </p:sp>
      <p:sp>
        <p:nvSpPr>
          <p:cNvPr id="18" name="">
            <a:extLst xmlns:a="http://schemas.openxmlformats.org/drawingml/2006/main">
              <a:ext uri="{FF2B5EF4-FFF2-40B4-BE49-F238E27FC236}">
                <a16:creationId xmlns:a16="http://schemas.microsoft.com/office/drawing/2014/main" id="{1F8B6390-06F4-40FC-92C6-1134BFC1D4E4}"/>
              </a:ext>
            </a:extLst>
          </p:cNvPr>
          <p:cNvSpPr>
            <a:spLocks xmlns:a="http://schemas.openxmlformats.org/drawingml/2006/main" noGrp="1"/>
          </p:cNvSpPr>
          <p:nvPr/>
        </p:nvSpPr>
        <p:spPr>
          <a:xfrm xmlns:a="http://schemas.openxmlformats.org/drawingml/2006/main">
            <a:off x="4591050" y="3771900"/>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Der Vertragsschuldner muss sich Verschulden von Erfüllungsgehilfen im Pflichtenkreis wie eigenes zurechnen lassen.</a:t>
            </a:r>
          </a:p>
        </p:txBody>
      </p:sp>
      <p:sp>
        <p:nvSpPr>
          <p:cNvPr id="19" name="">
            <a:extLst xmlns:a="http://schemas.openxmlformats.org/drawingml/2006/main">
              <a:ext uri="{FF2B5EF4-FFF2-40B4-BE49-F238E27FC236}">
                <a16:creationId xmlns:a16="http://schemas.microsoft.com/office/drawing/2014/main" id="{CE6B6D66-17F1-48F0-BB65-7129150F2631}"/>
              </a:ext>
            </a:extLst>
          </p:cNvPr>
          <p:cNvSpPr>
            <a:spLocks xmlns:a="http://schemas.openxmlformats.org/drawingml/2006/main" noGrp="1"/>
          </p:cNvSpPr>
          <p:nvPr/>
        </p:nvSpPr>
        <p:spPr>
          <a:xfrm xmlns:a="http://schemas.openxmlformats.org/drawingml/2006/main">
            <a:off x="1809750" y="4252913"/>
            <a:ext cx="476250" cy="414338"/>
          </a:xfrm>
          <a:prstGeom xmlns:a="http://schemas.openxmlformats.org/drawingml/2006/main" prst="roundRect">
            <a:avLst>
              <a:gd name="adj" fmla="val 18391"/>
            </a:avLst>
          </a:prstGeom>
          <a:solidFill xmlns:a="http://schemas.openxmlformats.org/drawingml/2006/main">
            <a:srgbClr val="003F6B"/>
          </a:solidFill>
          <a:ln xmlns:a="http://schemas.openxmlformats.org/drawingml/2006/main" w="0">
            <a:solidFill>
              <a:srgbClr val="003F6B"/>
            </a:solidFill>
            <a:prstDash val="solid"/>
          </a:ln>
        </p:spPr>
      </p:sp>
      <p:sp>
        <p:nvSpPr>
          <p:cNvPr id="20" name="">
            <a:extLst xmlns:a="http://schemas.openxmlformats.org/drawingml/2006/main">
              <a:ext uri="{FF2B5EF4-FFF2-40B4-BE49-F238E27FC236}">
                <a16:creationId xmlns:a16="http://schemas.microsoft.com/office/drawing/2014/main" id="{640B7A07-193F-49BE-B73B-E092A20BCA92}"/>
              </a:ext>
            </a:extLst>
          </p:cNvPr>
          <p:cNvSpPr>
            <a:spLocks xmlns:a="http://schemas.openxmlformats.org/drawingml/2006/main" noGrp="1"/>
          </p:cNvSpPr>
          <p:nvPr/>
        </p:nvSpPr>
        <p:spPr>
          <a:xfrm xmlns:a="http://schemas.openxmlformats.org/drawingml/2006/main">
            <a:off x="1809750" y="4252913"/>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21" name="">
            <a:extLst xmlns:a="http://schemas.openxmlformats.org/drawingml/2006/main">
              <a:ext uri="{FF2B5EF4-FFF2-40B4-BE49-F238E27FC236}">
                <a16:creationId xmlns:a16="http://schemas.microsoft.com/office/drawing/2014/main" id="{1EBEEA24-DCFE-4E01-9236-850B8226538F}"/>
              </a:ext>
            </a:extLst>
          </p:cNvPr>
          <p:cNvSpPr>
            <a:spLocks xmlns:a="http://schemas.openxmlformats.org/drawingml/2006/main" noGrp="1"/>
          </p:cNvSpPr>
          <p:nvPr/>
        </p:nvSpPr>
        <p:spPr>
          <a:xfrm xmlns:a="http://schemas.openxmlformats.org/drawingml/2006/main">
            <a:off x="2438400" y="4262438"/>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Organisationsbezug</a:t>
            </a:r>
          </a:p>
        </p:txBody>
      </p:sp>
      <p:sp>
        <p:nvSpPr>
          <p:cNvPr id="22" name="">
            <a:extLst xmlns:a="http://schemas.openxmlformats.org/drawingml/2006/main">
              <a:ext uri="{FF2B5EF4-FFF2-40B4-BE49-F238E27FC236}">
                <a16:creationId xmlns:a16="http://schemas.microsoft.com/office/drawing/2014/main" id="{5D0A9855-B9C3-45F2-809E-B8994CBFAF4D}"/>
              </a:ext>
            </a:extLst>
          </p:cNvPr>
          <p:cNvSpPr>
            <a:spLocks xmlns:a="http://schemas.openxmlformats.org/drawingml/2006/main" noGrp="1"/>
          </p:cNvSpPr>
          <p:nvPr/>
        </p:nvSpPr>
        <p:spPr>
          <a:xfrm xmlns:a="http://schemas.openxmlformats.org/drawingml/2006/main">
            <a:off x="4591050" y="4262438"/>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Der Krankenhausträger kann deshalb für eingesetztes Personal und eigene Strukturpflichten vertraglich einstehen.</a:t>
            </a:r>
          </a:p>
        </p:txBody>
      </p:sp>
      <p:sp>
        <p:nvSpPr>
          <p:cNvPr id="23" name="">
            <a:extLst xmlns:a="http://schemas.openxmlformats.org/drawingml/2006/main">
              <a:ext uri="{FF2B5EF4-FFF2-40B4-BE49-F238E27FC236}">
                <a16:creationId xmlns:a16="http://schemas.microsoft.com/office/drawing/2014/main" id="{D88F4FFB-EB67-409F-BAFF-BA7B76C6DBA3}"/>
              </a:ext>
            </a:extLst>
          </p:cNvPr>
          <p:cNvSpPr>
            <a:spLocks xmlns:a="http://schemas.openxmlformats.org/drawingml/2006/main" noGrp="1"/>
          </p:cNvSpPr>
          <p:nvPr/>
        </p:nvSpPr>
        <p:spPr>
          <a:xfrm xmlns:a="http://schemas.openxmlformats.org/drawingml/2006/main">
            <a:off x="1809750" y="4781550"/>
            <a:ext cx="9525000" cy="666750"/>
          </a:xfrm>
          <a:prstGeom xmlns:a="http://schemas.openxmlformats.org/drawingml/2006/main" prst="roundRect">
            <a:avLst>
              <a:gd name="adj" fmla="val 11429"/>
            </a:avLst>
          </a:prstGeom>
          <a:solidFill xmlns:a="http://schemas.openxmlformats.org/drawingml/2006/main">
            <a:srgbClr val="EAF6FB"/>
          </a:solidFill>
          <a:ln xmlns:a="http://schemas.openxmlformats.org/drawingml/2006/main" w="9525">
            <a:solidFill>
              <a:srgbClr val="00B2BB"/>
            </a:solidFill>
            <a:prstDash val="solid"/>
          </a:ln>
        </p:spPr>
      </p:sp>
      <p:sp>
        <p:nvSpPr>
          <p:cNvPr id="24" name="">
            <a:extLst xmlns:a="http://schemas.openxmlformats.org/drawingml/2006/main">
              <a:ext uri="{FF2B5EF4-FFF2-40B4-BE49-F238E27FC236}">
                <a16:creationId xmlns:a16="http://schemas.microsoft.com/office/drawing/2014/main" id="{F2748701-E26D-4BA0-B949-4F1257754734}"/>
              </a:ext>
            </a:extLst>
          </p:cNvPr>
          <p:cNvSpPr>
            <a:spLocks xmlns:a="http://schemas.openxmlformats.org/drawingml/2006/main" noGrp="1"/>
          </p:cNvSpPr>
          <p:nvPr/>
        </p:nvSpPr>
        <p:spPr>
          <a:xfrm xmlns:a="http://schemas.openxmlformats.org/drawingml/2006/main">
            <a:off x="1981200" y="4829175"/>
            <a:ext cx="9182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065">
                <a:solidFill>
                  <a:srgbClr val="15232B"/>
                </a:solidFill>
              </a:defRPr>
            </a:pPr>
            <a:r>
              <a:rPr sz="1065">
                <a:solidFill>
                  <a:srgbClr val="15232B"/>
                </a:solidFill>
              </a:rPr>
              <a:t>Beispiel · Beispiel: Eine Pflegekraft übersieht aufgrund fahrlässiger Ausführung eine angeordnete Kontrolle; der Krankenhausträger kann sich im Vertragsverhältnis § 278 BGB zurechnen lassen.</a:t>
            </a:r>
          </a:p>
        </p:txBody>
      </p:sp>
      <p:sp>
        <p:nvSpPr>
          <p:cNvPr id="25" name="">
            <a:extLst xmlns:a="http://schemas.openxmlformats.org/drawingml/2006/main">
              <a:ext uri="{FF2B5EF4-FFF2-40B4-BE49-F238E27FC236}">
                <a16:creationId xmlns:a16="http://schemas.microsoft.com/office/drawing/2014/main" id="{4C132F36-1304-42E2-847E-A9F1CA45D8C9}"/>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6" name="">
            <a:extLst xmlns:a="http://schemas.openxmlformats.org/drawingml/2006/main">
              <a:ext uri="{FF2B5EF4-FFF2-40B4-BE49-F238E27FC236}">
                <a16:creationId xmlns:a16="http://schemas.microsoft.com/office/drawing/2014/main" id="{CBBE4647-68D4-40AB-B792-A5BCE058698D}"/>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Vertragliche Haftung erfasst nicht nur die Person am Bett, sondern auch die organisierte Leistungserbringung.</a:t>
            </a:r>
          </a:p>
        </p:txBody>
      </p:sp>
    </p:spTree>
    <p:extLst>
      <p:ext uri="{BB962C8B-B14F-4D97-AF65-F5344CB8AC3E}">
        <p14:creationId xmlns:p14="http://schemas.microsoft.com/office/powerpoint/2010/main" val="43637646"/>
      </p:ext>
    </p:extLst>
  </p:cSld>
</p:sld>
</file>

<file path=ppt/slides/slide115.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Deliktische Grundnorm</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NORM IM FOKUS · § 823 Abs. 1 BGB</a:t>
            </a:r>
            <a:endParaRPr/>
          </a:p>
        </p:txBody>
      </p:sp>
      <p:sp>
        <p:nvSpPr>
          <p:cNvPr id="4" name="">
            <a:extLst xmlns:a="http://schemas.openxmlformats.org/drawingml/2006/main">
              <a:ext uri="{FF2B5EF4-FFF2-40B4-BE49-F238E27FC236}">
                <a16:creationId xmlns:a16="http://schemas.microsoft.com/office/drawing/2014/main" id="{F8AF155F-D3B8-4E09-933A-3575DC205121}"/>
              </a:ext>
            </a:extLst>
          </p:cNvPr>
          <p:cNvSpPr>
            <a:spLocks xmlns:a="http://schemas.openxmlformats.org/drawingml/2006/main" noGrp="1"/>
          </p:cNvSpPr>
          <p:nvPr/>
        </p:nvSpPr>
        <p:spPr>
          <a:xfrm xmlns:a="http://schemas.openxmlformats.org/drawingml/2006/main">
            <a:off x="1809750" y="1924050"/>
            <a:ext cx="2286000" cy="704850"/>
          </a:xfrm>
          <a:prstGeom xmlns:a="http://schemas.openxmlformats.org/drawingml/2006/main" prst="roundRect">
            <a:avLst>
              <a:gd name="adj" fmla="val 10811"/>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951D512F-8673-48C6-87FA-0C6A2CF657AD}"/>
              </a:ext>
            </a:extLst>
          </p:cNvPr>
          <p:cNvSpPr>
            <a:spLocks xmlns:a="http://schemas.openxmlformats.org/drawingml/2006/main" noGrp="1"/>
          </p:cNvSpPr>
          <p:nvPr/>
        </p:nvSpPr>
        <p:spPr>
          <a:xfrm xmlns:a="http://schemas.openxmlformats.org/drawingml/2006/main">
            <a:off x="1924050" y="1971675"/>
            <a:ext cx="2057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75" b="1">
                <a:solidFill>
                  <a:srgbClr val="FFFFFF"/>
                </a:solidFill>
              </a:defRPr>
            </a:pPr>
            <a:r>
              <a:rPr sz="1875" b="1">
                <a:solidFill>
                  <a:srgbClr val="FFFFFF"/>
                </a:solidFill>
              </a:rPr>
              <a:t>§ 823 Abs. 1 BGB</a:t>
            </a:r>
          </a:p>
        </p:txBody>
      </p:sp>
      <p:sp>
        <p:nvSpPr>
          <p:cNvPr id="6" name="">
            <a:extLst xmlns:a="http://schemas.openxmlformats.org/drawingml/2006/main">
              <a:ext uri="{FF2B5EF4-FFF2-40B4-BE49-F238E27FC236}">
                <a16:creationId xmlns:a16="http://schemas.microsoft.com/office/drawing/2014/main" id="{03E23D43-5654-4F46-9D73-C9B9DEDA8100}"/>
              </a:ext>
            </a:extLst>
          </p:cNvPr>
          <p:cNvSpPr>
            <a:spLocks xmlns:a="http://schemas.openxmlformats.org/drawingml/2006/main" noGrp="1"/>
          </p:cNvSpPr>
          <p:nvPr/>
        </p:nvSpPr>
        <p:spPr>
          <a:xfrm xmlns:a="http://schemas.openxmlformats.org/drawingml/2006/main">
            <a:off x="4362450" y="1924050"/>
            <a:ext cx="6972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15">
                <a:solidFill>
                  <a:srgbClr val="667680"/>
                </a:solidFill>
              </a:defRPr>
            </a:pPr>
            <a:r>
              <a:rPr sz="1215">
                <a:solidFill>
                  <a:srgbClr val="667680"/>
                </a:solidFill>
              </a:rPr>
              <a:t>Die Norm gewährt Schadensersatz bei rechtswidriger und schuldhafter Verletzung besonders geschützter Rechte.</a:t>
            </a:r>
          </a:p>
        </p:txBody>
      </p:sp>
      <p:sp>
        <p:nvSpPr>
          <p:cNvPr id="7" name="">
            <a:extLst xmlns:a="http://schemas.openxmlformats.org/drawingml/2006/main">
              <a:ext uri="{FF2B5EF4-FFF2-40B4-BE49-F238E27FC236}">
                <a16:creationId xmlns:a16="http://schemas.microsoft.com/office/drawing/2014/main" id="{DFAB7BEB-E2D2-40B7-BD88-8AA86D48A651}"/>
              </a:ext>
            </a:extLst>
          </p:cNvPr>
          <p:cNvSpPr>
            <a:spLocks xmlns:a="http://schemas.openxmlformats.org/drawingml/2006/main" noGrp="1"/>
          </p:cNvSpPr>
          <p:nvPr/>
        </p:nvSpPr>
        <p:spPr>
          <a:xfrm xmlns:a="http://schemas.openxmlformats.org/drawingml/2006/main">
            <a:off x="1809750" y="2781300"/>
            <a:ext cx="476250" cy="414338"/>
          </a:xfrm>
          <a:prstGeom xmlns:a="http://schemas.openxmlformats.org/drawingml/2006/main" prst="roundRect">
            <a:avLst>
              <a:gd name="adj" fmla="val 18391"/>
            </a:avLst>
          </a:prstGeom>
          <a:solidFill xmlns:a="http://schemas.openxmlformats.org/drawingml/2006/main">
            <a:srgbClr val="00B2BB"/>
          </a:solidFill>
          <a:ln xmlns:a="http://schemas.openxmlformats.org/drawingml/2006/main" w="0">
            <a:solidFill>
              <a:srgbClr val="00B2BB"/>
            </a:solidFill>
            <a:prstDash val="solid"/>
          </a:ln>
        </p:spPr>
      </p:sp>
      <p:sp>
        <p:nvSpPr>
          <p:cNvPr id="8" name="">
            <a:extLst xmlns:a="http://schemas.openxmlformats.org/drawingml/2006/main">
              <a:ext uri="{FF2B5EF4-FFF2-40B4-BE49-F238E27FC236}">
                <a16:creationId xmlns:a16="http://schemas.microsoft.com/office/drawing/2014/main" id="{4F9EEF9E-5096-4F7B-919E-6CC0C0A3FE8D}"/>
              </a:ext>
            </a:extLst>
          </p:cNvPr>
          <p:cNvSpPr>
            <a:spLocks xmlns:a="http://schemas.openxmlformats.org/drawingml/2006/main" noGrp="1"/>
          </p:cNvSpPr>
          <p:nvPr/>
        </p:nvSpPr>
        <p:spPr>
          <a:xfrm xmlns:a="http://schemas.openxmlformats.org/drawingml/2006/main">
            <a:off x="1809750" y="2781300"/>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9" name="">
            <a:extLst xmlns:a="http://schemas.openxmlformats.org/drawingml/2006/main">
              <a:ext uri="{FF2B5EF4-FFF2-40B4-BE49-F238E27FC236}">
                <a16:creationId xmlns:a16="http://schemas.microsoft.com/office/drawing/2014/main" id="{8D5CF180-200B-4AC9-B621-830C71B0C4C5}"/>
              </a:ext>
            </a:extLst>
          </p:cNvPr>
          <p:cNvSpPr>
            <a:spLocks xmlns:a="http://schemas.openxmlformats.org/drawingml/2006/main" noGrp="1"/>
          </p:cNvSpPr>
          <p:nvPr/>
        </p:nvSpPr>
        <p:spPr>
          <a:xfrm xmlns:a="http://schemas.openxmlformats.org/drawingml/2006/main">
            <a:off x="2438400" y="2790825"/>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Geschütztes Rechtsgut</a:t>
            </a:r>
          </a:p>
        </p:txBody>
      </p:sp>
      <p:sp>
        <p:nvSpPr>
          <p:cNvPr id="10" name="">
            <a:extLst xmlns:a="http://schemas.openxmlformats.org/drawingml/2006/main">
              <a:ext uri="{FF2B5EF4-FFF2-40B4-BE49-F238E27FC236}">
                <a16:creationId xmlns:a16="http://schemas.microsoft.com/office/drawing/2014/main" id="{5EB9B3FB-C551-4B8D-8A85-D09DB5ECC9A8}"/>
              </a:ext>
            </a:extLst>
          </p:cNvPr>
          <p:cNvSpPr>
            <a:spLocks xmlns:a="http://schemas.openxmlformats.org/drawingml/2006/main" noGrp="1"/>
          </p:cNvSpPr>
          <p:nvPr/>
        </p:nvSpPr>
        <p:spPr>
          <a:xfrm xmlns:a="http://schemas.openxmlformats.org/drawingml/2006/main">
            <a:off x="4591050" y="2790825"/>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Im Medizinrecht stehen Leben, Körper und Gesundheit sowie das allgemeine Persönlichkeitsrecht im Vordergrund.</a:t>
            </a:r>
          </a:p>
        </p:txBody>
      </p:sp>
      <p:sp>
        <p:nvSpPr>
          <p:cNvPr id="11" name="">
            <a:extLst xmlns:a="http://schemas.openxmlformats.org/drawingml/2006/main">
              <a:ext uri="{FF2B5EF4-FFF2-40B4-BE49-F238E27FC236}">
                <a16:creationId xmlns:a16="http://schemas.microsoft.com/office/drawing/2014/main" id="{3F9388F2-A7CF-4456-8A23-138CF0E8A241}"/>
              </a:ext>
            </a:extLst>
          </p:cNvPr>
          <p:cNvSpPr>
            <a:spLocks xmlns:a="http://schemas.openxmlformats.org/drawingml/2006/main" noGrp="1"/>
          </p:cNvSpPr>
          <p:nvPr/>
        </p:nvSpPr>
        <p:spPr>
          <a:xfrm xmlns:a="http://schemas.openxmlformats.org/drawingml/2006/main">
            <a:off x="1809750" y="3271838"/>
            <a:ext cx="476250" cy="414338"/>
          </a:xfrm>
          <a:prstGeom xmlns:a="http://schemas.openxmlformats.org/drawingml/2006/main" prst="roundRect">
            <a:avLst>
              <a:gd name="adj" fmla="val 18391"/>
            </a:avLst>
          </a:prstGeom>
          <a:solidFill xmlns:a="http://schemas.openxmlformats.org/drawingml/2006/main">
            <a:srgbClr val="003F6B"/>
          </a:solidFill>
          <a:ln xmlns:a="http://schemas.openxmlformats.org/drawingml/2006/main" w="0">
            <a:solidFill>
              <a:srgbClr val="003F6B"/>
            </a:solidFill>
            <a:prstDash val="solid"/>
          </a:ln>
        </p:spPr>
      </p:sp>
      <p:sp>
        <p:nvSpPr>
          <p:cNvPr id="12" name="">
            <a:extLst xmlns:a="http://schemas.openxmlformats.org/drawingml/2006/main">
              <a:ext uri="{FF2B5EF4-FFF2-40B4-BE49-F238E27FC236}">
                <a16:creationId xmlns:a16="http://schemas.microsoft.com/office/drawing/2014/main" id="{948FED3E-02BB-4BD3-A3BE-572762643524}"/>
              </a:ext>
            </a:extLst>
          </p:cNvPr>
          <p:cNvSpPr>
            <a:spLocks xmlns:a="http://schemas.openxmlformats.org/drawingml/2006/main" noGrp="1"/>
          </p:cNvSpPr>
          <p:nvPr/>
        </p:nvSpPr>
        <p:spPr>
          <a:xfrm xmlns:a="http://schemas.openxmlformats.org/drawingml/2006/main">
            <a:off x="1809750" y="3271838"/>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3" name="">
            <a:extLst xmlns:a="http://schemas.openxmlformats.org/drawingml/2006/main">
              <a:ext uri="{FF2B5EF4-FFF2-40B4-BE49-F238E27FC236}">
                <a16:creationId xmlns:a16="http://schemas.microsoft.com/office/drawing/2014/main" id="{141571FE-221C-42AF-BDC7-32CF97C95C59}"/>
              </a:ext>
            </a:extLst>
          </p:cNvPr>
          <p:cNvSpPr>
            <a:spLocks xmlns:a="http://schemas.openxmlformats.org/drawingml/2006/main" noGrp="1"/>
          </p:cNvSpPr>
          <p:nvPr/>
        </p:nvSpPr>
        <p:spPr>
          <a:xfrm xmlns:a="http://schemas.openxmlformats.org/drawingml/2006/main">
            <a:off x="2438400" y="3281363"/>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Handlung oder Unterlassen</a:t>
            </a:r>
          </a:p>
        </p:txBody>
      </p:sp>
      <p:sp>
        <p:nvSpPr>
          <p:cNvPr id="14" name="">
            <a:extLst xmlns:a="http://schemas.openxmlformats.org/drawingml/2006/main">
              <a:ext uri="{FF2B5EF4-FFF2-40B4-BE49-F238E27FC236}">
                <a16:creationId xmlns:a16="http://schemas.microsoft.com/office/drawing/2014/main" id="{AFCC2D1E-ED83-4A93-BA25-C8DD6335650D}"/>
              </a:ext>
            </a:extLst>
          </p:cNvPr>
          <p:cNvSpPr>
            <a:spLocks xmlns:a="http://schemas.openxmlformats.org/drawingml/2006/main" noGrp="1"/>
          </p:cNvSpPr>
          <p:nvPr/>
        </p:nvSpPr>
        <p:spPr>
          <a:xfrm xmlns:a="http://schemas.openxmlformats.org/drawingml/2006/main">
            <a:off x="4591050" y="3281363"/>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Aktives Tun oder pflichtwidriges Nichtstun muss dem Anspruchsgegner persönlich zurechenbar sein.</a:t>
            </a:r>
          </a:p>
        </p:txBody>
      </p:sp>
      <p:sp>
        <p:nvSpPr>
          <p:cNvPr id="15" name="">
            <a:extLst xmlns:a="http://schemas.openxmlformats.org/drawingml/2006/main">
              <a:ext uri="{FF2B5EF4-FFF2-40B4-BE49-F238E27FC236}">
                <a16:creationId xmlns:a16="http://schemas.microsoft.com/office/drawing/2014/main" id="{E253D989-BED9-4D91-8C4A-0FED6C4C7142}"/>
              </a:ext>
            </a:extLst>
          </p:cNvPr>
          <p:cNvSpPr>
            <a:spLocks xmlns:a="http://schemas.openxmlformats.org/drawingml/2006/main" noGrp="1"/>
          </p:cNvSpPr>
          <p:nvPr/>
        </p:nvSpPr>
        <p:spPr>
          <a:xfrm xmlns:a="http://schemas.openxmlformats.org/drawingml/2006/main">
            <a:off x="1809750" y="3762375"/>
            <a:ext cx="476250" cy="414338"/>
          </a:xfrm>
          <a:prstGeom xmlns:a="http://schemas.openxmlformats.org/drawingml/2006/main" prst="roundRect">
            <a:avLst>
              <a:gd name="adj" fmla="val 18391"/>
            </a:avLst>
          </a:prstGeom>
          <a:solidFill xmlns:a="http://schemas.openxmlformats.org/drawingml/2006/main">
            <a:srgbClr val="00B2BB"/>
          </a:solidFill>
          <a:ln xmlns:a="http://schemas.openxmlformats.org/drawingml/2006/main" w="0">
            <a:solidFill>
              <a:srgbClr val="00B2BB"/>
            </a:solidFill>
            <a:prstDash val="solid"/>
          </a:ln>
        </p:spPr>
      </p:sp>
      <p:sp>
        <p:nvSpPr>
          <p:cNvPr id="16" name="">
            <a:extLst xmlns:a="http://schemas.openxmlformats.org/drawingml/2006/main">
              <a:ext uri="{FF2B5EF4-FFF2-40B4-BE49-F238E27FC236}">
                <a16:creationId xmlns:a16="http://schemas.microsoft.com/office/drawing/2014/main" id="{780F4E02-4461-4E75-8C6F-414144AAC30D}"/>
              </a:ext>
            </a:extLst>
          </p:cNvPr>
          <p:cNvSpPr>
            <a:spLocks xmlns:a="http://schemas.openxmlformats.org/drawingml/2006/main" noGrp="1"/>
          </p:cNvSpPr>
          <p:nvPr/>
        </p:nvSpPr>
        <p:spPr>
          <a:xfrm xmlns:a="http://schemas.openxmlformats.org/drawingml/2006/main">
            <a:off x="1809750" y="3762375"/>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7" name="">
            <a:extLst xmlns:a="http://schemas.openxmlformats.org/drawingml/2006/main">
              <a:ext uri="{FF2B5EF4-FFF2-40B4-BE49-F238E27FC236}">
                <a16:creationId xmlns:a16="http://schemas.microsoft.com/office/drawing/2014/main" id="{851C2D21-9385-4C14-905A-835CE007C1F7}"/>
              </a:ext>
            </a:extLst>
          </p:cNvPr>
          <p:cNvSpPr>
            <a:spLocks xmlns:a="http://schemas.openxmlformats.org/drawingml/2006/main" noGrp="1"/>
          </p:cNvSpPr>
          <p:nvPr/>
        </p:nvSpPr>
        <p:spPr>
          <a:xfrm xmlns:a="http://schemas.openxmlformats.org/drawingml/2006/main">
            <a:off x="2438400" y="3771900"/>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Rechtswidrigkeit und Verschulden</a:t>
            </a:r>
          </a:p>
        </p:txBody>
      </p:sp>
      <p:sp>
        <p:nvSpPr>
          <p:cNvPr id="18" name="">
            <a:extLst xmlns:a="http://schemas.openxmlformats.org/drawingml/2006/main">
              <a:ext uri="{FF2B5EF4-FFF2-40B4-BE49-F238E27FC236}">
                <a16:creationId xmlns:a16="http://schemas.microsoft.com/office/drawing/2014/main" id="{B51191AD-7043-437F-828C-7AA2122D1646}"/>
              </a:ext>
            </a:extLst>
          </p:cNvPr>
          <p:cNvSpPr>
            <a:spLocks xmlns:a="http://schemas.openxmlformats.org/drawingml/2006/main" noGrp="1"/>
          </p:cNvSpPr>
          <p:nvPr/>
        </p:nvSpPr>
        <p:spPr>
          <a:xfrm xmlns:a="http://schemas.openxmlformats.org/drawingml/2006/main">
            <a:off x="4591050" y="3771900"/>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Bei Eingriffen wird Rechtswidrigkeit indiziert, kann aber etwa durch wirksame Einwilligung entfallen; Vorsatz oder Fahrlässigkeit ist erforderlich.</a:t>
            </a:r>
          </a:p>
        </p:txBody>
      </p:sp>
      <p:sp>
        <p:nvSpPr>
          <p:cNvPr id="19" name="">
            <a:extLst xmlns:a="http://schemas.openxmlformats.org/drawingml/2006/main">
              <a:ext uri="{FF2B5EF4-FFF2-40B4-BE49-F238E27FC236}">
                <a16:creationId xmlns:a16="http://schemas.microsoft.com/office/drawing/2014/main" id="{CB649713-7745-4FEB-AFA0-B5FAF33BFE16}"/>
              </a:ext>
            </a:extLst>
          </p:cNvPr>
          <p:cNvSpPr>
            <a:spLocks xmlns:a="http://schemas.openxmlformats.org/drawingml/2006/main" noGrp="1"/>
          </p:cNvSpPr>
          <p:nvPr/>
        </p:nvSpPr>
        <p:spPr>
          <a:xfrm xmlns:a="http://schemas.openxmlformats.org/drawingml/2006/main">
            <a:off x="1809750" y="4252913"/>
            <a:ext cx="476250" cy="414338"/>
          </a:xfrm>
          <a:prstGeom xmlns:a="http://schemas.openxmlformats.org/drawingml/2006/main" prst="roundRect">
            <a:avLst>
              <a:gd name="adj" fmla="val 18391"/>
            </a:avLst>
          </a:prstGeom>
          <a:solidFill xmlns:a="http://schemas.openxmlformats.org/drawingml/2006/main">
            <a:srgbClr val="003F6B"/>
          </a:solidFill>
          <a:ln xmlns:a="http://schemas.openxmlformats.org/drawingml/2006/main" w="0">
            <a:solidFill>
              <a:srgbClr val="003F6B"/>
            </a:solidFill>
            <a:prstDash val="solid"/>
          </a:ln>
        </p:spPr>
      </p:sp>
      <p:sp>
        <p:nvSpPr>
          <p:cNvPr id="20" name="">
            <a:extLst xmlns:a="http://schemas.openxmlformats.org/drawingml/2006/main">
              <a:ext uri="{FF2B5EF4-FFF2-40B4-BE49-F238E27FC236}">
                <a16:creationId xmlns:a16="http://schemas.microsoft.com/office/drawing/2014/main" id="{442F15F8-0010-424D-AD53-8A715365600F}"/>
              </a:ext>
            </a:extLst>
          </p:cNvPr>
          <p:cNvSpPr>
            <a:spLocks xmlns:a="http://schemas.openxmlformats.org/drawingml/2006/main" noGrp="1"/>
          </p:cNvSpPr>
          <p:nvPr/>
        </p:nvSpPr>
        <p:spPr>
          <a:xfrm xmlns:a="http://schemas.openxmlformats.org/drawingml/2006/main">
            <a:off x="1809750" y="4252913"/>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21" name="">
            <a:extLst xmlns:a="http://schemas.openxmlformats.org/drawingml/2006/main">
              <a:ext uri="{FF2B5EF4-FFF2-40B4-BE49-F238E27FC236}">
                <a16:creationId xmlns:a16="http://schemas.microsoft.com/office/drawing/2014/main" id="{235E8F3B-0B7B-4A5A-B338-DB441388A801}"/>
              </a:ext>
            </a:extLst>
          </p:cNvPr>
          <p:cNvSpPr>
            <a:spLocks xmlns:a="http://schemas.openxmlformats.org/drawingml/2006/main" noGrp="1"/>
          </p:cNvSpPr>
          <p:nvPr/>
        </p:nvSpPr>
        <p:spPr>
          <a:xfrm xmlns:a="http://schemas.openxmlformats.org/drawingml/2006/main">
            <a:off x="2438400" y="4262438"/>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Schaden und Kausalität</a:t>
            </a:r>
          </a:p>
        </p:txBody>
      </p:sp>
      <p:sp>
        <p:nvSpPr>
          <p:cNvPr id="22" name="">
            <a:extLst xmlns:a="http://schemas.openxmlformats.org/drawingml/2006/main">
              <a:ext uri="{FF2B5EF4-FFF2-40B4-BE49-F238E27FC236}">
                <a16:creationId xmlns:a16="http://schemas.microsoft.com/office/drawing/2014/main" id="{D5B7837A-80CB-439C-AFFC-FB56AEA546BC}"/>
              </a:ext>
            </a:extLst>
          </p:cNvPr>
          <p:cNvSpPr>
            <a:spLocks xmlns:a="http://schemas.openxmlformats.org/drawingml/2006/main" noGrp="1"/>
          </p:cNvSpPr>
          <p:nvPr/>
        </p:nvSpPr>
        <p:spPr>
          <a:xfrm xmlns:a="http://schemas.openxmlformats.org/drawingml/2006/main">
            <a:off x="4591050" y="4262438"/>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Die Rechtsgutsverletzung muss zu einem ersatzfähigen, zurechenbaren Schaden geführt haben.</a:t>
            </a:r>
          </a:p>
        </p:txBody>
      </p:sp>
      <p:sp>
        <p:nvSpPr>
          <p:cNvPr id="23" name="">
            <a:extLst xmlns:a="http://schemas.openxmlformats.org/drawingml/2006/main">
              <a:ext uri="{FF2B5EF4-FFF2-40B4-BE49-F238E27FC236}">
                <a16:creationId xmlns:a16="http://schemas.microsoft.com/office/drawing/2014/main" id="{36899F96-35F5-4FF5-BDCF-6280E0AE5F28}"/>
              </a:ext>
            </a:extLst>
          </p:cNvPr>
          <p:cNvSpPr>
            <a:spLocks xmlns:a="http://schemas.openxmlformats.org/drawingml/2006/main" noGrp="1"/>
          </p:cNvSpPr>
          <p:nvPr/>
        </p:nvSpPr>
        <p:spPr>
          <a:xfrm xmlns:a="http://schemas.openxmlformats.org/drawingml/2006/main">
            <a:off x="1809750" y="4781550"/>
            <a:ext cx="9525000" cy="666750"/>
          </a:xfrm>
          <a:prstGeom xmlns:a="http://schemas.openxmlformats.org/drawingml/2006/main" prst="roundRect">
            <a:avLst>
              <a:gd name="adj" fmla="val 11429"/>
            </a:avLst>
          </a:prstGeom>
          <a:solidFill xmlns:a="http://schemas.openxmlformats.org/drawingml/2006/main">
            <a:srgbClr val="EAF6FB"/>
          </a:solidFill>
          <a:ln xmlns:a="http://schemas.openxmlformats.org/drawingml/2006/main" w="9525">
            <a:solidFill>
              <a:srgbClr val="00B2BB"/>
            </a:solidFill>
            <a:prstDash val="solid"/>
          </a:ln>
        </p:spPr>
      </p:sp>
      <p:sp>
        <p:nvSpPr>
          <p:cNvPr id="24" name="">
            <a:extLst xmlns:a="http://schemas.openxmlformats.org/drawingml/2006/main">
              <a:ext uri="{FF2B5EF4-FFF2-40B4-BE49-F238E27FC236}">
                <a16:creationId xmlns:a16="http://schemas.microsoft.com/office/drawing/2014/main" id="{F324C6D3-8562-47ED-AF3D-97E702B4BAAF}"/>
              </a:ext>
            </a:extLst>
          </p:cNvPr>
          <p:cNvSpPr>
            <a:spLocks xmlns:a="http://schemas.openxmlformats.org/drawingml/2006/main" noGrp="1"/>
          </p:cNvSpPr>
          <p:nvPr/>
        </p:nvSpPr>
        <p:spPr>
          <a:xfrm xmlns:a="http://schemas.openxmlformats.org/drawingml/2006/main">
            <a:off x="1981200" y="4829175"/>
            <a:ext cx="9182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065">
                <a:solidFill>
                  <a:srgbClr val="15232B"/>
                </a:solidFill>
              </a:defRPr>
            </a:pPr>
            <a:r>
              <a:rPr sz="1065">
                <a:solidFill>
                  <a:srgbClr val="15232B"/>
                </a:solidFill>
              </a:rPr>
              <a:t>Beispiel · Beispiel: Eine Ärztin führt ohne wirksame Einwilligung einen Eingriff durch. Auch fachgerechte Technik beseitigt die mögliche Verletzung des Selbstbestimmungsrechts nicht.</a:t>
            </a:r>
          </a:p>
        </p:txBody>
      </p:sp>
      <p:sp>
        <p:nvSpPr>
          <p:cNvPr id="25" name="">
            <a:extLst xmlns:a="http://schemas.openxmlformats.org/drawingml/2006/main">
              <a:ext uri="{FF2B5EF4-FFF2-40B4-BE49-F238E27FC236}">
                <a16:creationId xmlns:a16="http://schemas.microsoft.com/office/drawing/2014/main" id="{4DF138BD-1F3F-488A-9620-AA90AFAF8BB2}"/>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6" name="">
            <a:extLst xmlns:a="http://schemas.openxmlformats.org/drawingml/2006/main">
              <a:ext uri="{FF2B5EF4-FFF2-40B4-BE49-F238E27FC236}">
                <a16:creationId xmlns:a16="http://schemas.microsoft.com/office/drawing/2014/main" id="{4F8F8569-BDD6-4AD2-AA5D-729F3E13B0A9}"/>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 823 Abs. 1 BGB ermöglicht persönliche Haftung auch ohne direkten Behandlungsvertrag.</a:t>
            </a:r>
          </a:p>
        </p:txBody>
      </p:sp>
    </p:spTree>
    <p:extLst>
      <p:ext uri="{BB962C8B-B14F-4D97-AF65-F5344CB8AC3E}">
        <p14:creationId xmlns:p14="http://schemas.microsoft.com/office/powerpoint/2010/main" val="43637646"/>
      </p:ext>
    </p:extLst>
  </p:cSld>
</p:sld>
</file>

<file path=ppt/slides/slide116.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 823 Abs. 1 BGB prüfen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PRÜFUNGSSCHEMA · DELIKT</a:t>
            </a:r>
            <a:endParaRPr/>
          </a:p>
        </p:txBody>
      </p:sp>
      <p:sp>
        <p:nvSpPr>
          <p:cNvPr id="4" name="">
            <a:extLst xmlns:a="http://schemas.openxmlformats.org/drawingml/2006/main">
              <a:ext uri="{FF2B5EF4-FFF2-40B4-BE49-F238E27FC236}">
                <a16:creationId xmlns:a16="http://schemas.microsoft.com/office/drawing/2014/main" id="{5A5C1BA9-F7D9-4418-B255-36AFFF047773}"/>
              </a:ext>
            </a:extLst>
          </p:cNvPr>
          <p:cNvSpPr>
            <a:spLocks xmlns:a="http://schemas.openxmlformats.org/drawingml/2006/main" noGrp="1"/>
          </p:cNvSpPr>
          <p:nvPr/>
        </p:nvSpPr>
        <p:spPr>
          <a:xfrm xmlns:a="http://schemas.openxmlformats.org/drawingml/2006/main">
            <a:off x="1809750" y="195262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EFB17129-E0DB-4728-93CD-6F015B1F2FAE}"/>
              </a:ext>
            </a:extLst>
          </p:cNvPr>
          <p:cNvSpPr>
            <a:spLocks xmlns:a="http://schemas.openxmlformats.org/drawingml/2006/main" noGrp="1"/>
          </p:cNvSpPr>
          <p:nvPr/>
        </p:nvSpPr>
        <p:spPr>
          <a:xfrm xmlns:a="http://schemas.openxmlformats.org/drawingml/2006/main">
            <a:off x="1809750" y="19526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6" name="">
            <a:extLst xmlns:a="http://schemas.openxmlformats.org/drawingml/2006/main">
              <a:ext uri="{FF2B5EF4-FFF2-40B4-BE49-F238E27FC236}">
                <a16:creationId xmlns:a16="http://schemas.microsoft.com/office/drawing/2014/main" id="{3BBE0F4A-C84D-4F64-B519-D67346DCD3CB}"/>
              </a:ext>
            </a:extLst>
          </p:cNvPr>
          <p:cNvSpPr>
            <a:spLocks xmlns:a="http://schemas.openxmlformats.org/drawingml/2006/main" noGrp="1"/>
          </p:cNvSpPr>
          <p:nvPr/>
        </p:nvSpPr>
        <p:spPr>
          <a:xfrm xmlns:a="http://schemas.openxmlformats.org/drawingml/2006/main">
            <a:off x="2324100" y="196215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1. Rechtsgut</a:t>
            </a:r>
          </a:p>
        </p:txBody>
      </p:sp>
      <p:sp>
        <p:nvSpPr>
          <p:cNvPr id="7" name="">
            <a:extLst xmlns:a="http://schemas.openxmlformats.org/drawingml/2006/main">
              <a:ext uri="{FF2B5EF4-FFF2-40B4-BE49-F238E27FC236}">
                <a16:creationId xmlns:a16="http://schemas.microsoft.com/office/drawing/2014/main" id="{07959215-946B-49A9-B59A-EA39A0A9263C}"/>
              </a:ext>
            </a:extLst>
          </p:cNvPr>
          <p:cNvSpPr>
            <a:spLocks xmlns:a="http://schemas.openxmlformats.org/drawingml/2006/main" noGrp="1"/>
          </p:cNvSpPr>
          <p:nvPr/>
        </p:nvSpPr>
        <p:spPr>
          <a:xfrm xmlns:a="http://schemas.openxmlformats.org/drawingml/2006/main">
            <a:off x="4819650" y="196215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Wurde Leben, Körper, Gesundheit, Freiheit, Eigentum oder ein sonstiges Recht verletzt?</a:t>
            </a:r>
          </a:p>
        </p:txBody>
      </p:sp>
      <p:sp>
        <p:nvSpPr>
          <p:cNvPr id="8" name="">
            <a:extLst xmlns:a="http://schemas.openxmlformats.org/drawingml/2006/main">
              <a:ext uri="{FF2B5EF4-FFF2-40B4-BE49-F238E27FC236}">
                <a16:creationId xmlns:a16="http://schemas.microsoft.com/office/drawing/2014/main" id="{608FC555-4B01-4431-93EB-E5EE05E961D0}"/>
              </a:ext>
            </a:extLst>
          </p:cNvPr>
          <p:cNvSpPr>
            <a:spLocks xmlns:a="http://schemas.openxmlformats.org/drawingml/2006/main" noGrp="1"/>
          </p:cNvSpPr>
          <p:nvPr/>
        </p:nvSpPr>
        <p:spPr>
          <a:xfrm xmlns:a="http://schemas.openxmlformats.org/drawingml/2006/main">
            <a:off x="1809750" y="255270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9" name="">
            <a:extLst xmlns:a="http://schemas.openxmlformats.org/drawingml/2006/main">
              <a:ext uri="{FF2B5EF4-FFF2-40B4-BE49-F238E27FC236}">
                <a16:creationId xmlns:a16="http://schemas.microsoft.com/office/drawing/2014/main" id="{3C4E1132-3794-4B4D-BBA5-2191725E53DB}"/>
              </a:ext>
            </a:extLst>
          </p:cNvPr>
          <p:cNvSpPr>
            <a:spLocks xmlns:a="http://schemas.openxmlformats.org/drawingml/2006/main" noGrp="1"/>
          </p:cNvSpPr>
          <p:nvPr/>
        </p:nvSpPr>
        <p:spPr>
          <a:xfrm xmlns:a="http://schemas.openxmlformats.org/drawingml/2006/main">
            <a:off x="1809750" y="255270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0" name="">
            <a:extLst xmlns:a="http://schemas.openxmlformats.org/drawingml/2006/main">
              <a:ext uri="{FF2B5EF4-FFF2-40B4-BE49-F238E27FC236}">
                <a16:creationId xmlns:a16="http://schemas.microsoft.com/office/drawing/2014/main" id="{D0868D06-1658-43DA-AC0D-812B13DB33DB}"/>
              </a:ext>
            </a:extLst>
          </p:cNvPr>
          <p:cNvSpPr>
            <a:spLocks xmlns:a="http://schemas.openxmlformats.org/drawingml/2006/main" noGrp="1"/>
          </p:cNvSpPr>
          <p:nvPr/>
        </p:nvSpPr>
        <p:spPr>
          <a:xfrm xmlns:a="http://schemas.openxmlformats.org/drawingml/2006/main">
            <a:off x="2324100" y="256222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2. Verhalten</a:t>
            </a:r>
          </a:p>
        </p:txBody>
      </p:sp>
      <p:sp>
        <p:nvSpPr>
          <p:cNvPr id="11" name="">
            <a:extLst xmlns:a="http://schemas.openxmlformats.org/drawingml/2006/main">
              <a:ext uri="{FF2B5EF4-FFF2-40B4-BE49-F238E27FC236}">
                <a16:creationId xmlns:a16="http://schemas.microsoft.com/office/drawing/2014/main" id="{E76C28CB-EFB6-4573-8D38-D8F12944A72B}"/>
              </a:ext>
            </a:extLst>
          </p:cNvPr>
          <p:cNvSpPr>
            <a:spLocks xmlns:a="http://schemas.openxmlformats.org/drawingml/2006/main" noGrp="1"/>
          </p:cNvSpPr>
          <p:nvPr/>
        </p:nvSpPr>
        <p:spPr>
          <a:xfrm xmlns:a="http://schemas.openxmlformats.org/drawingml/2006/main">
            <a:off x="4819650" y="256222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Welche Handlung oder welches pflichtwidrige Unterlassen wird welcher Person zugerechnet?</a:t>
            </a:r>
          </a:p>
        </p:txBody>
      </p:sp>
      <p:sp>
        <p:nvSpPr>
          <p:cNvPr id="12" name="">
            <a:extLst xmlns:a="http://schemas.openxmlformats.org/drawingml/2006/main">
              <a:ext uri="{FF2B5EF4-FFF2-40B4-BE49-F238E27FC236}">
                <a16:creationId xmlns:a16="http://schemas.microsoft.com/office/drawing/2014/main" id="{ADDEBA65-95EB-4E78-912E-9FB2BCCDFF97}"/>
              </a:ext>
            </a:extLst>
          </p:cNvPr>
          <p:cNvSpPr>
            <a:spLocks xmlns:a="http://schemas.openxmlformats.org/drawingml/2006/main" noGrp="1"/>
          </p:cNvSpPr>
          <p:nvPr/>
        </p:nvSpPr>
        <p:spPr>
          <a:xfrm xmlns:a="http://schemas.openxmlformats.org/drawingml/2006/main">
            <a:off x="1809750" y="315277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3" name="">
            <a:extLst xmlns:a="http://schemas.openxmlformats.org/drawingml/2006/main">
              <a:ext uri="{FF2B5EF4-FFF2-40B4-BE49-F238E27FC236}">
                <a16:creationId xmlns:a16="http://schemas.microsoft.com/office/drawing/2014/main" id="{87326B09-F408-432D-9204-67F4AA4DF398}"/>
              </a:ext>
            </a:extLst>
          </p:cNvPr>
          <p:cNvSpPr>
            <a:spLocks xmlns:a="http://schemas.openxmlformats.org/drawingml/2006/main" noGrp="1"/>
          </p:cNvSpPr>
          <p:nvPr/>
        </p:nvSpPr>
        <p:spPr>
          <a:xfrm xmlns:a="http://schemas.openxmlformats.org/drawingml/2006/main">
            <a:off x="1809750" y="315277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4" name="">
            <a:extLst xmlns:a="http://schemas.openxmlformats.org/drawingml/2006/main">
              <a:ext uri="{FF2B5EF4-FFF2-40B4-BE49-F238E27FC236}">
                <a16:creationId xmlns:a16="http://schemas.microsoft.com/office/drawing/2014/main" id="{AA5A7499-EBB2-4C45-9E17-BA37882D6683}"/>
              </a:ext>
            </a:extLst>
          </p:cNvPr>
          <p:cNvSpPr>
            <a:spLocks xmlns:a="http://schemas.openxmlformats.org/drawingml/2006/main" noGrp="1"/>
          </p:cNvSpPr>
          <p:nvPr/>
        </p:nvSpPr>
        <p:spPr>
          <a:xfrm xmlns:a="http://schemas.openxmlformats.org/drawingml/2006/main">
            <a:off x="2324100" y="316230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3. Haftungsbegründende Kausalität</a:t>
            </a:r>
          </a:p>
        </p:txBody>
      </p:sp>
      <p:sp>
        <p:nvSpPr>
          <p:cNvPr id="15" name="">
            <a:extLst xmlns:a="http://schemas.openxmlformats.org/drawingml/2006/main">
              <a:ext uri="{FF2B5EF4-FFF2-40B4-BE49-F238E27FC236}">
                <a16:creationId xmlns:a16="http://schemas.microsoft.com/office/drawing/2014/main" id="{C57194BB-7180-4C46-A0BA-888E53D45D9B}"/>
              </a:ext>
            </a:extLst>
          </p:cNvPr>
          <p:cNvSpPr>
            <a:spLocks xmlns:a="http://schemas.openxmlformats.org/drawingml/2006/main" noGrp="1"/>
          </p:cNvSpPr>
          <p:nvPr/>
        </p:nvSpPr>
        <p:spPr>
          <a:xfrm xmlns:a="http://schemas.openxmlformats.org/drawingml/2006/main">
            <a:off x="4819650" y="316230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Hat das Verhalten die Rechtsgutsverletzung verursacht?</a:t>
            </a:r>
          </a:p>
        </p:txBody>
      </p:sp>
      <p:sp>
        <p:nvSpPr>
          <p:cNvPr id="16" name="">
            <a:extLst xmlns:a="http://schemas.openxmlformats.org/drawingml/2006/main">
              <a:ext uri="{FF2B5EF4-FFF2-40B4-BE49-F238E27FC236}">
                <a16:creationId xmlns:a16="http://schemas.microsoft.com/office/drawing/2014/main" id="{6D85E96C-3E43-4876-A2E0-64C0FA3B5D89}"/>
              </a:ext>
            </a:extLst>
          </p:cNvPr>
          <p:cNvSpPr>
            <a:spLocks xmlns:a="http://schemas.openxmlformats.org/drawingml/2006/main" noGrp="1"/>
          </p:cNvSpPr>
          <p:nvPr/>
        </p:nvSpPr>
        <p:spPr>
          <a:xfrm xmlns:a="http://schemas.openxmlformats.org/drawingml/2006/main">
            <a:off x="1809750" y="375285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7" name="">
            <a:extLst xmlns:a="http://schemas.openxmlformats.org/drawingml/2006/main">
              <a:ext uri="{FF2B5EF4-FFF2-40B4-BE49-F238E27FC236}">
                <a16:creationId xmlns:a16="http://schemas.microsoft.com/office/drawing/2014/main" id="{BE44B938-81F8-473F-BDA2-85B00961FD80}"/>
              </a:ext>
            </a:extLst>
          </p:cNvPr>
          <p:cNvSpPr>
            <a:spLocks xmlns:a="http://schemas.openxmlformats.org/drawingml/2006/main" noGrp="1"/>
          </p:cNvSpPr>
          <p:nvPr/>
        </p:nvSpPr>
        <p:spPr>
          <a:xfrm xmlns:a="http://schemas.openxmlformats.org/drawingml/2006/main">
            <a:off x="1809750" y="375285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18" name="">
            <a:extLst xmlns:a="http://schemas.openxmlformats.org/drawingml/2006/main">
              <a:ext uri="{FF2B5EF4-FFF2-40B4-BE49-F238E27FC236}">
                <a16:creationId xmlns:a16="http://schemas.microsoft.com/office/drawing/2014/main" id="{C16117BA-7B0B-4980-BAF3-E147BC00CE71}"/>
              </a:ext>
            </a:extLst>
          </p:cNvPr>
          <p:cNvSpPr>
            <a:spLocks xmlns:a="http://schemas.openxmlformats.org/drawingml/2006/main" noGrp="1"/>
          </p:cNvSpPr>
          <p:nvPr/>
        </p:nvSpPr>
        <p:spPr>
          <a:xfrm xmlns:a="http://schemas.openxmlformats.org/drawingml/2006/main">
            <a:off x="2324100" y="376237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4. Rechtswidrigkeit</a:t>
            </a:r>
          </a:p>
        </p:txBody>
      </p:sp>
      <p:sp>
        <p:nvSpPr>
          <p:cNvPr id="19" name="">
            <a:extLst xmlns:a="http://schemas.openxmlformats.org/drawingml/2006/main">
              <a:ext uri="{FF2B5EF4-FFF2-40B4-BE49-F238E27FC236}">
                <a16:creationId xmlns:a16="http://schemas.microsoft.com/office/drawing/2014/main" id="{9ED11F89-D3CB-4CA9-878C-49FE1C72F474}"/>
              </a:ext>
            </a:extLst>
          </p:cNvPr>
          <p:cNvSpPr>
            <a:spLocks xmlns:a="http://schemas.openxmlformats.org/drawingml/2006/main" noGrp="1"/>
          </p:cNvSpPr>
          <p:nvPr/>
        </p:nvSpPr>
        <p:spPr>
          <a:xfrm xmlns:a="http://schemas.openxmlformats.org/drawingml/2006/main">
            <a:off x="4819650" y="376237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Greift insbesondere eine wirksame Einwilligung oder ein anderer Rechtfertigungsgrund ein?</a:t>
            </a:r>
          </a:p>
        </p:txBody>
      </p:sp>
      <p:sp>
        <p:nvSpPr>
          <p:cNvPr id="20" name="">
            <a:extLst xmlns:a="http://schemas.openxmlformats.org/drawingml/2006/main">
              <a:ext uri="{FF2B5EF4-FFF2-40B4-BE49-F238E27FC236}">
                <a16:creationId xmlns:a16="http://schemas.microsoft.com/office/drawing/2014/main" id="{28F39B06-013A-4B3B-9584-1331D59C87F0}"/>
              </a:ext>
            </a:extLst>
          </p:cNvPr>
          <p:cNvSpPr>
            <a:spLocks xmlns:a="http://schemas.openxmlformats.org/drawingml/2006/main" noGrp="1"/>
          </p:cNvSpPr>
          <p:nvPr/>
        </p:nvSpPr>
        <p:spPr>
          <a:xfrm xmlns:a="http://schemas.openxmlformats.org/drawingml/2006/main">
            <a:off x="1809750" y="435292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1" name="">
            <a:extLst xmlns:a="http://schemas.openxmlformats.org/drawingml/2006/main">
              <a:ext uri="{FF2B5EF4-FFF2-40B4-BE49-F238E27FC236}">
                <a16:creationId xmlns:a16="http://schemas.microsoft.com/office/drawing/2014/main" id="{F6CAEAED-70D9-4497-9449-5E08F8EA35F5}"/>
              </a:ext>
            </a:extLst>
          </p:cNvPr>
          <p:cNvSpPr>
            <a:spLocks xmlns:a="http://schemas.openxmlformats.org/drawingml/2006/main" noGrp="1"/>
          </p:cNvSpPr>
          <p:nvPr/>
        </p:nvSpPr>
        <p:spPr>
          <a:xfrm xmlns:a="http://schemas.openxmlformats.org/drawingml/2006/main">
            <a:off x="1809750" y="43529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5</a:t>
            </a:r>
          </a:p>
        </p:txBody>
      </p:sp>
      <p:sp>
        <p:nvSpPr>
          <p:cNvPr id="22" name="">
            <a:extLst xmlns:a="http://schemas.openxmlformats.org/drawingml/2006/main">
              <a:ext uri="{FF2B5EF4-FFF2-40B4-BE49-F238E27FC236}">
                <a16:creationId xmlns:a16="http://schemas.microsoft.com/office/drawing/2014/main" id="{F3B1D2D3-1231-4F5F-87EE-4C06162460C1}"/>
              </a:ext>
            </a:extLst>
          </p:cNvPr>
          <p:cNvSpPr>
            <a:spLocks xmlns:a="http://schemas.openxmlformats.org/drawingml/2006/main" noGrp="1"/>
          </p:cNvSpPr>
          <p:nvPr/>
        </p:nvSpPr>
        <p:spPr>
          <a:xfrm xmlns:a="http://schemas.openxmlformats.org/drawingml/2006/main">
            <a:off x="2324100" y="436245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5. Verschulden</a:t>
            </a:r>
          </a:p>
        </p:txBody>
      </p:sp>
      <p:sp>
        <p:nvSpPr>
          <p:cNvPr id="23" name="">
            <a:extLst xmlns:a="http://schemas.openxmlformats.org/drawingml/2006/main">
              <a:ext uri="{FF2B5EF4-FFF2-40B4-BE49-F238E27FC236}">
                <a16:creationId xmlns:a16="http://schemas.microsoft.com/office/drawing/2014/main" id="{1F422DFB-B347-4C61-8CAE-9262F05C9873}"/>
              </a:ext>
            </a:extLst>
          </p:cNvPr>
          <p:cNvSpPr>
            <a:spLocks xmlns:a="http://schemas.openxmlformats.org/drawingml/2006/main" noGrp="1"/>
          </p:cNvSpPr>
          <p:nvPr/>
        </p:nvSpPr>
        <p:spPr>
          <a:xfrm xmlns:a="http://schemas.openxmlformats.org/drawingml/2006/main">
            <a:off x="4819650" y="436245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Handelte die Person vorsätzlich oder fahrlässig?</a:t>
            </a:r>
          </a:p>
        </p:txBody>
      </p:sp>
      <p:sp>
        <p:nvSpPr>
          <p:cNvPr id="24" name="">
            <a:extLst xmlns:a="http://schemas.openxmlformats.org/drawingml/2006/main">
              <a:ext uri="{FF2B5EF4-FFF2-40B4-BE49-F238E27FC236}">
                <a16:creationId xmlns:a16="http://schemas.microsoft.com/office/drawing/2014/main" id="{287919A3-604A-4B78-86A4-B379B996E645}"/>
              </a:ext>
            </a:extLst>
          </p:cNvPr>
          <p:cNvSpPr>
            <a:spLocks xmlns:a="http://schemas.openxmlformats.org/drawingml/2006/main" noGrp="1"/>
          </p:cNvSpPr>
          <p:nvPr/>
        </p:nvSpPr>
        <p:spPr>
          <a:xfrm xmlns:a="http://schemas.openxmlformats.org/drawingml/2006/main">
            <a:off x="1809750" y="495300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25" name="">
            <a:extLst xmlns:a="http://schemas.openxmlformats.org/drawingml/2006/main">
              <a:ext uri="{FF2B5EF4-FFF2-40B4-BE49-F238E27FC236}">
                <a16:creationId xmlns:a16="http://schemas.microsoft.com/office/drawing/2014/main" id="{E54BF438-ADC7-4284-A326-55F0DEA5C33F}"/>
              </a:ext>
            </a:extLst>
          </p:cNvPr>
          <p:cNvSpPr>
            <a:spLocks xmlns:a="http://schemas.openxmlformats.org/drawingml/2006/main" noGrp="1"/>
          </p:cNvSpPr>
          <p:nvPr/>
        </p:nvSpPr>
        <p:spPr>
          <a:xfrm xmlns:a="http://schemas.openxmlformats.org/drawingml/2006/main">
            <a:off x="1809750" y="495300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6</a:t>
            </a:r>
          </a:p>
        </p:txBody>
      </p:sp>
      <p:sp>
        <p:nvSpPr>
          <p:cNvPr id="26" name="">
            <a:extLst xmlns:a="http://schemas.openxmlformats.org/drawingml/2006/main">
              <a:ext uri="{FF2B5EF4-FFF2-40B4-BE49-F238E27FC236}">
                <a16:creationId xmlns:a16="http://schemas.microsoft.com/office/drawing/2014/main" id="{F000DBBE-1521-470C-8791-6B16A09ED43F}"/>
              </a:ext>
            </a:extLst>
          </p:cNvPr>
          <p:cNvSpPr>
            <a:spLocks xmlns:a="http://schemas.openxmlformats.org/drawingml/2006/main" noGrp="1"/>
          </p:cNvSpPr>
          <p:nvPr/>
        </p:nvSpPr>
        <p:spPr>
          <a:xfrm xmlns:a="http://schemas.openxmlformats.org/drawingml/2006/main">
            <a:off x="2324100" y="496252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6. Schaden und haftungsausfüllende Kausalität</a:t>
            </a:r>
          </a:p>
        </p:txBody>
      </p:sp>
      <p:sp>
        <p:nvSpPr>
          <p:cNvPr id="27" name="">
            <a:extLst xmlns:a="http://schemas.openxmlformats.org/drawingml/2006/main">
              <a:ext uri="{FF2B5EF4-FFF2-40B4-BE49-F238E27FC236}">
                <a16:creationId xmlns:a16="http://schemas.microsoft.com/office/drawing/2014/main" id="{26E0019D-F3B1-4149-B011-24A04E65B735}"/>
              </a:ext>
            </a:extLst>
          </p:cNvPr>
          <p:cNvSpPr>
            <a:spLocks xmlns:a="http://schemas.openxmlformats.org/drawingml/2006/main" noGrp="1"/>
          </p:cNvSpPr>
          <p:nvPr/>
        </p:nvSpPr>
        <p:spPr>
          <a:xfrm xmlns:a="http://schemas.openxmlformats.org/drawingml/2006/main">
            <a:off x="4819650" y="496252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Welche konkrete Folge ist aus der Rechtsgutsverletzung entstanden?</a:t>
            </a:r>
          </a:p>
        </p:txBody>
      </p:sp>
      <p:sp>
        <p:nvSpPr>
          <p:cNvPr id="28" name="">
            <a:extLst xmlns:a="http://schemas.openxmlformats.org/drawingml/2006/main">
              <a:ext uri="{FF2B5EF4-FFF2-40B4-BE49-F238E27FC236}">
                <a16:creationId xmlns:a16="http://schemas.microsoft.com/office/drawing/2014/main" id="{C7882E6F-CCD8-44F9-9E60-FC06C7F7BD65}"/>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9" name="">
            <a:extLst xmlns:a="http://schemas.openxmlformats.org/drawingml/2006/main">
              <a:ext uri="{FF2B5EF4-FFF2-40B4-BE49-F238E27FC236}">
                <a16:creationId xmlns:a16="http://schemas.microsoft.com/office/drawing/2014/main" id="{13F20507-6201-476E-8CA1-143372FCE5E0}"/>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Vertrags- und Deliktsschema werden getrennt geprüft, auch wenn die Tatsachen teilweise identisch sind.</a:t>
            </a:r>
          </a:p>
        </p:txBody>
      </p:sp>
    </p:spTree>
    <p:extLst>
      <p:ext uri="{BB962C8B-B14F-4D97-AF65-F5344CB8AC3E}">
        <p14:creationId xmlns:p14="http://schemas.microsoft.com/office/powerpoint/2010/main" val="43637646"/>
      </p:ext>
    </p:extLst>
  </p:cSld>
</p:sld>
</file>

<file path=ppt/slides/slide117.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Schutzgesetzverletzung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NORM IM FOKUS · § 823 Abs. 2 BGB</a:t>
            </a:r>
            <a:endParaRPr/>
          </a:p>
        </p:txBody>
      </p:sp>
      <p:sp>
        <p:nvSpPr>
          <p:cNvPr id="4" name="">
            <a:extLst xmlns:a="http://schemas.openxmlformats.org/drawingml/2006/main">
              <a:ext uri="{FF2B5EF4-FFF2-40B4-BE49-F238E27FC236}">
                <a16:creationId xmlns:a16="http://schemas.microsoft.com/office/drawing/2014/main" id="{0312114C-9541-499B-AFFC-E4780480ADED}"/>
              </a:ext>
            </a:extLst>
          </p:cNvPr>
          <p:cNvSpPr>
            <a:spLocks xmlns:a="http://schemas.openxmlformats.org/drawingml/2006/main" noGrp="1"/>
          </p:cNvSpPr>
          <p:nvPr/>
        </p:nvSpPr>
        <p:spPr>
          <a:xfrm xmlns:a="http://schemas.openxmlformats.org/drawingml/2006/main">
            <a:off x="1809750" y="1924050"/>
            <a:ext cx="2286000" cy="704850"/>
          </a:xfrm>
          <a:prstGeom xmlns:a="http://schemas.openxmlformats.org/drawingml/2006/main" prst="roundRect">
            <a:avLst>
              <a:gd name="adj" fmla="val 10811"/>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72724030-C1F5-492E-9234-7C996C59AF2F}"/>
              </a:ext>
            </a:extLst>
          </p:cNvPr>
          <p:cNvSpPr>
            <a:spLocks xmlns:a="http://schemas.openxmlformats.org/drawingml/2006/main" noGrp="1"/>
          </p:cNvSpPr>
          <p:nvPr/>
        </p:nvSpPr>
        <p:spPr>
          <a:xfrm xmlns:a="http://schemas.openxmlformats.org/drawingml/2006/main">
            <a:off x="1924050" y="1971675"/>
            <a:ext cx="2057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75" b="1">
                <a:solidFill>
                  <a:srgbClr val="FFFFFF"/>
                </a:solidFill>
              </a:defRPr>
            </a:pPr>
            <a:r>
              <a:rPr sz="1875" b="1">
                <a:solidFill>
                  <a:srgbClr val="FFFFFF"/>
                </a:solidFill>
              </a:rPr>
              <a:t>§ 823 Abs. 2 BGB</a:t>
            </a:r>
          </a:p>
        </p:txBody>
      </p:sp>
      <p:sp>
        <p:nvSpPr>
          <p:cNvPr id="6" name="">
            <a:extLst xmlns:a="http://schemas.openxmlformats.org/drawingml/2006/main">
              <a:ext uri="{FF2B5EF4-FFF2-40B4-BE49-F238E27FC236}">
                <a16:creationId xmlns:a16="http://schemas.microsoft.com/office/drawing/2014/main" id="{3448519E-B387-47D9-8887-04801821C4BD}"/>
              </a:ext>
            </a:extLst>
          </p:cNvPr>
          <p:cNvSpPr>
            <a:spLocks xmlns:a="http://schemas.openxmlformats.org/drawingml/2006/main" noGrp="1"/>
          </p:cNvSpPr>
          <p:nvPr/>
        </p:nvSpPr>
        <p:spPr>
          <a:xfrm xmlns:a="http://schemas.openxmlformats.org/drawingml/2006/main">
            <a:off x="4362450" y="1924050"/>
            <a:ext cx="6972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15">
                <a:solidFill>
                  <a:srgbClr val="667680"/>
                </a:solidFill>
              </a:defRPr>
            </a:pPr>
            <a:r>
              <a:rPr sz="1215">
                <a:solidFill>
                  <a:srgbClr val="667680"/>
                </a:solidFill>
              </a:rPr>
              <a:t>Die Norm knüpft an die Verletzung eines Gesetzes an, das zumindest auch den Schutz Einzelner bezweckt.</a:t>
            </a:r>
          </a:p>
        </p:txBody>
      </p:sp>
      <p:sp>
        <p:nvSpPr>
          <p:cNvPr id="7" name="">
            <a:extLst xmlns:a="http://schemas.openxmlformats.org/drawingml/2006/main">
              <a:ext uri="{FF2B5EF4-FFF2-40B4-BE49-F238E27FC236}">
                <a16:creationId xmlns:a16="http://schemas.microsoft.com/office/drawing/2014/main" id="{931FE393-E74C-44B3-BAD9-117A6433E5F6}"/>
              </a:ext>
            </a:extLst>
          </p:cNvPr>
          <p:cNvSpPr>
            <a:spLocks xmlns:a="http://schemas.openxmlformats.org/drawingml/2006/main" noGrp="1"/>
          </p:cNvSpPr>
          <p:nvPr/>
        </p:nvSpPr>
        <p:spPr>
          <a:xfrm xmlns:a="http://schemas.openxmlformats.org/drawingml/2006/main">
            <a:off x="1809750" y="2781300"/>
            <a:ext cx="476250" cy="414338"/>
          </a:xfrm>
          <a:prstGeom xmlns:a="http://schemas.openxmlformats.org/drawingml/2006/main" prst="roundRect">
            <a:avLst>
              <a:gd name="adj" fmla="val 18391"/>
            </a:avLst>
          </a:prstGeom>
          <a:solidFill xmlns:a="http://schemas.openxmlformats.org/drawingml/2006/main">
            <a:srgbClr val="00B2BB"/>
          </a:solidFill>
          <a:ln xmlns:a="http://schemas.openxmlformats.org/drawingml/2006/main" w="0">
            <a:solidFill>
              <a:srgbClr val="00B2BB"/>
            </a:solidFill>
            <a:prstDash val="solid"/>
          </a:ln>
        </p:spPr>
      </p:sp>
      <p:sp>
        <p:nvSpPr>
          <p:cNvPr id="8" name="">
            <a:extLst xmlns:a="http://schemas.openxmlformats.org/drawingml/2006/main">
              <a:ext uri="{FF2B5EF4-FFF2-40B4-BE49-F238E27FC236}">
                <a16:creationId xmlns:a16="http://schemas.microsoft.com/office/drawing/2014/main" id="{0D201E26-C3C3-471F-99EC-F548453DBE4B}"/>
              </a:ext>
            </a:extLst>
          </p:cNvPr>
          <p:cNvSpPr>
            <a:spLocks xmlns:a="http://schemas.openxmlformats.org/drawingml/2006/main" noGrp="1"/>
          </p:cNvSpPr>
          <p:nvPr/>
        </p:nvSpPr>
        <p:spPr>
          <a:xfrm xmlns:a="http://schemas.openxmlformats.org/drawingml/2006/main">
            <a:off x="1809750" y="2781300"/>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9" name="">
            <a:extLst xmlns:a="http://schemas.openxmlformats.org/drawingml/2006/main">
              <a:ext uri="{FF2B5EF4-FFF2-40B4-BE49-F238E27FC236}">
                <a16:creationId xmlns:a16="http://schemas.microsoft.com/office/drawing/2014/main" id="{5E0A6339-A750-43B0-BF37-8D07A3ECE40A}"/>
              </a:ext>
            </a:extLst>
          </p:cNvPr>
          <p:cNvSpPr>
            <a:spLocks xmlns:a="http://schemas.openxmlformats.org/drawingml/2006/main" noGrp="1"/>
          </p:cNvSpPr>
          <p:nvPr/>
        </p:nvSpPr>
        <p:spPr>
          <a:xfrm xmlns:a="http://schemas.openxmlformats.org/drawingml/2006/main">
            <a:off x="2438400" y="2790825"/>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Schutzgesetz</a:t>
            </a:r>
          </a:p>
        </p:txBody>
      </p:sp>
      <p:sp>
        <p:nvSpPr>
          <p:cNvPr id="10" name="">
            <a:extLst xmlns:a="http://schemas.openxmlformats.org/drawingml/2006/main">
              <a:ext uri="{FF2B5EF4-FFF2-40B4-BE49-F238E27FC236}">
                <a16:creationId xmlns:a16="http://schemas.microsoft.com/office/drawing/2014/main" id="{7B3A8E65-4BB0-4BC4-8294-81C1BD36611C}"/>
              </a:ext>
            </a:extLst>
          </p:cNvPr>
          <p:cNvSpPr>
            <a:spLocks xmlns:a="http://schemas.openxmlformats.org/drawingml/2006/main" noGrp="1"/>
          </p:cNvSpPr>
          <p:nvPr/>
        </p:nvSpPr>
        <p:spPr>
          <a:xfrm xmlns:a="http://schemas.openxmlformats.org/drawingml/2006/main">
            <a:off x="4591050" y="2790825"/>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Die verletzte Norm muss nach Zweck und Inhalt gerade individuelle Interessen schützen; nicht jede öffentlich-rechtliche Vorschrift genügt.</a:t>
            </a:r>
          </a:p>
        </p:txBody>
      </p:sp>
      <p:sp>
        <p:nvSpPr>
          <p:cNvPr id="11" name="">
            <a:extLst xmlns:a="http://schemas.openxmlformats.org/drawingml/2006/main">
              <a:ext uri="{FF2B5EF4-FFF2-40B4-BE49-F238E27FC236}">
                <a16:creationId xmlns:a16="http://schemas.microsoft.com/office/drawing/2014/main" id="{F61EBCEE-F946-474C-A7AE-07E87A98811C}"/>
              </a:ext>
            </a:extLst>
          </p:cNvPr>
          <p:cNvSpPr>
            <a:spLocks xmlns:a="http://schemas.openxmlformats.org/drawingml/2006/main" noGrp="1"/>
          </p:cNvSpPr>
          <p:nvPr/>
        </p:nvSpPr>
        <p:spPr>
          <a:xfrm xmlns:a="http://schemas.openxmlformats.org/drawingml/2006/main">
            <a:off x="1809750" y="3271838"/>
            <a:ext cx="476250" cy="414338"/>
          </a:xfrm>
          <a:prstGeom xmlns:a="http://schemas.openxmlformats.org/drawingml/2006/main" prst="roundRect">
            <a:avLst>
              <a:gd name="adj" fmla="val 18391"/>
            </a:avLst>
          </a:prstGeom>
          <a:solidFill xmlns:a="http://schemas.openxmlformats.org/drawingml/2006/main">
            <a:srgbClr val="003F6B"/>
          </a:solidFill>
          <a:ln xmlns:a="http://schemas.openxmlformats.org/drawingml/2006/main" w="0">
            <a:solidFill>
              <a:srgbClr val="003F6B"/>
            </a:solidFill>
            <a:prstDash val="solid"/>
          </a:ln>
        </p:spPr>
      </p:sp>
      <p:sp>
        <p:nvSpPr>
          <p:cNvPr id="12" name="">
            <a:extLst xmlns:a="http://schemas.openxmlformats.org/drawingml/2006/main">
              <a:ext uri="{FF2B5EF4-FFF2-40B4-BE49-F238E27FC236}">
                <a16:creationId xmlns:a16="http://schemas.microsoft.com/office/drawing/2014/main" id="{AA653C38-9E30-4019-B0C3-2D3422C6243C}"/>
              </a:ext>
            </a:extLst>
          </p:cNvPr>
          <p:cNvSpPr>
            <a:spLocks xmlns:a="http://schemas.openxmlformats.org/drawingml/2006/main" noGrp="1"/>
          </p:cNvSpPr>
          <p:nvPr/>
        </p:nvSpPr>
        <p:spPr>
          <a:xfrm xmlns:a="http://schemas.openxmlformats.org/drawingml/2006/main">
            <a:off x="1809750" y="3271838"/>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3" name="">
            <a:extLst xmlns:a="http://schemas.openxmlformats.org/drawingml/2006/main">
              <a:ext uri="{FF2B5EF4-FFF2-40B4-BE49-F238E27FC236}">
                <a16:creationId xmlns:a16="http://schemas.microsoft.com/office/drawing/2014/main" id="{A1CF7B57-9D39-4F4B-8629-945BA16DA03A}"/>
              </a:ext>
            </a:extLst>
          </p:cNvPr>
          <p:cNvSpPr>
            <a:spLocks xmlns:a="http://schemas.openxmlformats.org/drawingml/2006/main" noGrp="1"/>
          </p:cNvSpPr>
          <p:nvPr/>
        </p:nvSpPr>
        <p:spPr>
          <a:xfrm xmlns:a="http://schemas.openxmlformats.org/drawingml/2006/main">
            <a:off x="2438400" y="3281363"/>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Tatbestandsverletzung</a:t>
            </a:r>
          </a:p>
        </p:txBody>
      </p:sp>
      <p:sp>
        <p:nvSpPr>
          <p:cNvPr id="14" name="">
            <a:extLst xmlns:a="http://schemas.openxmlformats.org/drawingml/2006/main">
              <a:ext uri="{FF2B5EF4-FFF2-40B4-BE49-F238E27FC236}">
                <a16:creationId xmlns:a16="http://schemas.microsoft.com/office/drawing/2014/main" id="{50BC2037-DAC7-4245-8D16-62231B32BEE6}"/>
              </a:ext>
            </a:extLst>
          </p:cNvPr>
          <p:cNvSpPr>
            <a:spLocks xmlns:a="http://schemas.openxmlformats.org/drawingml/2006/main" noGrp="1"/>
          </p:cNvSpPr>
          <p:nvPr/>
        </p:nvSpPr>
        <p:spPr>
          <a:xfrm xmlns:a="http://schemas.openxmlformats.org/drawingml/2006/main">
            <a:off x="4591050" y="3281363"/>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Alle Voraussetzungen der Schutzgesetzverletzung müssen erfüllt sein.</a:t>
            </a:r>
          </a:p>
        </p:txBody>
      </p:sp>
      <p:sp>
        <p:nvSpPr>
          <p:cNvPr id="15" name="">
            <a:extLst xmlns:a="http://schemas.openxmlformats.org/drawingml/2006/main">
              <a:ext uri="{FF2B5EF4-FFF2-40B4-BE49-F238E27FC236}">
                <a16:creationId xmlns:a16="http://schemas.microsoft.com/office/drawing/2014/main" id="{238E4B29-8E9F-48C6-B1BA-594A329F38DA}"/>
              </a:ext>
            </a:extLst>
          </p:cNvPr>
          <p:cNvSpPr>
            <a:spLocks xmlns:a="http://schemas.openxmlformats.org/drawingml/2006/main" noGrp="1"/>
          </p:cNvSpPr>
          <p:nvPr/>
        </p:nvSpPr>
        <p:spPr>
          <a:xfrm xmlns:a="http://schemas.openxmlformats.org/drawingml/2006/main">
            <a:off x="1809750" y="3762375"/>
            <a:ext cx="476250" cy="414338"/>
          </a:xfrm>
          <a:prstGeom xmlns:a="http://schemas.openxmlformats.org/drawingml/2006/main" prst="roundRect">
            <a:avLst>
              <a:gd name="adj" fmla="val 18391"/>
            </a:avLst>
          </a:prstGeom>
          <a:solidFill xmlns:a="http://schemas.openxmlformats.org/drawingml/2006/main">
            <a:srgbClr val="00B2BB"/>
          </a:solidFill>
          <a:ln xmlns:a="http://schemas.openxmlformats.org/drawingml/2006/main" w="0">
            <a:solidFill>
              <a:srgbClr val="00B2BB"/>
            </a:solidFill>
            <a:prstDash val="solid"/>
          </a:ln>
        </p:spPr>
      </p:sp>
      <p:sp>
        <p:nvSpPr>
          <p:cNvPr id="16" name="">
            <a:extLst xmlns:a="http://schemas.openxmlformats.org/drawingml/2006/main">
              <a:ext uri="{FF2B5EF4-FFF2-40B4-BE49-F238E27FC236}">
                <a16:creationId xmlns:a16="http://schemas.microsoft.com/office/drawing/2014/main" id="{C6892DF8-4615-4B9A-981F-5E347497194A}"/>
              </a:ext>
            </a:extLst>
          </p:cNvPr>
          <p:cNvSpPr>
            <a:spLocks xmlns:a="http://schemas.openxmlformats.org/drawingml/2006/main" noGrp="1"/>
          </p:cNvSpPr>
          <p:nvPr/>
        </p:nvSpPr>
        <p:spPr>
          <a:xfrm xmlns:a="http://schemas.openxmlformats.org/drawingml/2006/main">
            <a:off x="1809750" y="3762375"/>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7" name="">
            <a:extLst xmlns:a="http://schemas.openxmlformats.org/drawingml/2006/main">
              <a:ext uri="{FF2B5EF4-FFF2-40B4-BE49-F238E27FC236}">
                <a16:creationId xmlns:a16="http://schemas.microsoft.com/office/drawing/2014/main" id="{F80F1FC3-A853-41D8-9D0A-2FC7D7195663}"/>
              </a:ext>
            </a:extLst>
          </p:cNvPr>
          <p:cNvSpPr>
            <a:spLocks xmlns:a="http://schemas.openxmlformats.org/drawingml/2006/main" noGrp="1"/>
          </p:cNvSpPr>
          <p:nvPr/>
        </p:nvSpPr>
        <p:spPr>
          <a:xfrm xmlns:a="http://schemas.openxmlformats.org/drawingml/2006/main">
            <a:off x="2438400" y="3771900"/>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Verschulden</a:t>
            </a:r>
          </a:p>
        </p:txBody>
      </p:sp>
      <p:sp>
        <p:nvSpPr>
          <p:cNvPr id="18" name="">
            <a:extLst xmlns:a="http://schemas.openxmlformats.org/drawingml/2006/main">
              <a:ext uri="{FF2B5EF4-FFF2-40B4-BE49-F238E27FC236}">
                <a16:creationId xmlns:a16="http://schemas.microsoft.com/office/drawing/2014/main" id="{D6C2DF98-98F8-4B5D-89F3-9AC355EA4E13}"/>
              </a:ext>
            </a:extLst>
          </p:cNvPr>
          <p:cNvSpPr>
            <a:spLocks xmlns:a="http://schemas.openxmlformats.org/drawingml/2006/main" noGrp="1"/>
          </p:cNvSpPr>
          <p:nvPr/>
        </p:nvSpPr>
        <p:spPr>
          <a:xfrm xmlns:a="http://schemas.openxmlformats.org/drawingml/2006/main">
            <a:off x="4591050" y="3771900"/>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Soweit das Schutzgesetz selbst kein Verschulden verlangt, ist mindestens Fahrlässigkeit nach § 823 Abs. 2 Satz 2 BGB erforderlich.</a:t>
            </a:r>
          </a:p>
        </p:txBody>
      </p:sp>
      <p:sp>
        <p:nvSpPr>
          <p:cNvPr id="19" name="">
            <a:extLst xmlns:a="http://schemas.openxmlformats.org/drawingml/2006/main">
              <a:ext uri="{FF2B5EF4-FFF2-40B4-BE49-F238E27FC236}">
                <a16:creationId xmlns:a16="http://schemas.microsoft.com/office/drawing/2014/main" id="{74B23C88-EF0D-4D80-9464-4FD6EEC58390}"/>
              </a:ext>
            </a:extLst>
          </p:cNvPr>
          <p:cNvSpPr>
            <a:spLocks xmlns:a="http://schemas.openxmlformats.org/drawingml/2006/main" noGrp="1"/>
          </p:cNvSpPr>
          <p:nvPr/>
        </p:nvSpPr>
        <p:spPr>
          <a:xfrm xmlns:a="http://schemas.openxmlformats.org/drawingml/2006/main">
            <a:off x="1809750" y="4252913"/>
            <a:ext cx="476250" cy="414338"/>
          </a:xfrm>
          <a:prstGeom xmlns:a="http://schemas.openxmlformats.org/drawingml/2006/main" prst="roundRect">
            <a:avLst>
              <a:gd name="adj" fmla="val 18391"/>
            </a:avLst>
          </a:prstGeom>
          <a:solidFill xmlns:a="http://schemas.openxmlformats.org/drawingml/2006/main">
            <a:srgbClr val="003F6B"/>
          </a:solidFill>
          <a:ln xmlns:a="http://schemas.openxmlformats.org/drawingml/2006/main" w="0">
            <a:solidFill>
              <a:srgbClr val="003F6B"/>
            </a:solidFill>
            <a:prstDash val="solid"/>
          </a:ln>
        </p:spPr>
      </p:sp>
      <p:sp>
        <p:nvSpPr>
          <p:cNvPr id="20" name="">
            <a:extLst xmlns:a="http://schemas.openxmlformats.org/drawingml/2006/main">
              <a:ext uri="{FF2B5EF4-FFF2-40B4-BE49-F238E27FC236}">
                <a16:creationId xmlns:a16="http://schemas.microsoft.com/office/drawing/2014/main" id="{DAF63B2A-A60C-4C9D-A6D4-82CB50EF4512}"/>
              </a:ext>
            </a:extLst>
          </p:cNvPr>
          <p:cNvSpPr>
            <a:spLocks xmlns:a="http://schemas.openxmlformats.org/drawingml/2006/main" noGrp="1"/>
          </p:cNvSpPr>
          <p:nvPr/>
        </p:nvSpPr>
        <p:spPr>
          <a:xfrm xmlns:a="http://schemas.openxmlformats.org/drawingml/2006/main">
            <a:off x="1809750" y="4252913"/>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21" name="">
            <a:extLst xmlns:a="http://schemas.openxmlformats.org/drawingml/2006/main">
              <a:ext uri="{FF2B5EF4-FFF2-40B4-BE49-F238E27FC236}">
                <a16:creationId xmlns:a16="http://schemas.microsoft.com/office/drawing/2014/main" id="{D6C3E7E5-3474-4CB6-8CAC-A3FA5C7B672D}"/>
              </a:ext>
            </a:extLst>
          </p:cNvPr>
          <p:cNvSpPr>
            <a:spLocks xmlns:a="http://schemas.openxmlformats.org/drawingml/2006/main" noGrp="1"/>
          </p:cNvSpPr>
          <p:nvPr/>
        </p:nvSpPr>
        <p:spPr>
          <a:xfrm xmlns:a="http://schemas.openxmlformats.org/drawingml/2006/main">
            <a:off x="2438400" y="4262438"/>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Schutzzweck</a:t>
            </a:r>
          </a:p>
        </p:txBody>
      </p:sp>
      <p:sp>
        <p:nvSpPr>
          <p:cNvPr id="22" name="">
            <a:extLst xmlns:a="http://schemas.openxmlformats.org/drawingml/2006/main">
              <a:ext uri="{FF2B5EF4-FFF2-40B4-BE49-F238E27FC236}">
                <a16:creationId xmlns:a16="http://schemas.microsoft.com/office/drawing/2014/main" id="{AD5272AA-8882-438B-B536-30481E212AD4}"/>
              </a:ext>
            </a:extLst>
          </p:cNvPr>
          <p:cNvSpPr>
            <a:spLocks xmlns:a="http://schemas.openxmlformats.org/drawingml/2006/main" noGrp="1"/>
          </p:cNvSpPr>
          <p:nvPr/>
        </p:nvSpPr>
        <p:spPr>
          <a:xfrm xmlns:a="http://schemas.openxmlformats.org/drawingml/2006/main">
            <a:off x="4591050" y="4262438"/>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Der eingetretene Schaden muss zu den Gefahren gehören, vor denen die Norm schützen soll.</a:t>
            </a:r>
          </a:p>
        </p:txBody>
      </p:sp>
      <p:sp>
        <p:nvSpPr>
          <p:cNvPr id="23" name="">
            <a:extLst xmlns:a="http://schemas.openxmlformats.org/drawingml/2006/main">
              <a:ext uri="{FF2B5EF4-FFF2-40B4-BE49-F238E27FC236}">
                <a16:creationId xmlns:a16="http://schemas.microsoft.com/office/drawing/2014/main" id="{2378D176-A439-4A2C-AE1F-2481D24D18A3}"/>
              </a:ext>
            </a:extLst>
          </p:cNvPr>
          <p:cNvSpPr>
            <a:spLocks xmlns:a="http://schemas.openxmlformats.org/drawingml/2006/main" noGrp="1"/>
          </p:cNvSpPr>
          <p:nvPr/>
        </p:nvSpPr>
        <p:spPr>
          <a:xfrm xmlns:a="http://schemas.openxmlformats.org/drawingml/2006/main">
            <a:off x="1809750" y="4781550"/>
            <a:ext cx="9525000" cy="666750"/>
          </a:xfrm>
          <a:prstGeom xmlns:a="http://schemas.openxmlformats.org/drawingml/2006/main" prst="roundRect">
            <a:avLst>
              <a:gd name="adj" fmla="val 11429"/>
            </a:avLst>
          </a:prstGeom>
          <a:solidFill xmlns:a="http://schemas.openxmlformats.org/drawingml/2006/main">
            <a:srgbClr val="EAF6FB"/>
          </a:solidFill>
          <a:ln xmlns:a="http://schemas.openxmlformats.org/drawingml/2006/main" w="9525">
            <a:solidFill>
              <a:srgbClr val="00B2BB"/>
            </a:solidFill>
            <a:prstDash val="solid"/>
          </a:ln>
        </p:spPr>
      </p:sp>
      <p:sp>
        <p:nvSpPr>
          <p:cNvPr id="24" name="">
            <a:extLst xmlns:a="http://schemas.openxmlformats.org/drawingml/2006/main">
              <a:ext uri="{FF2B5EF4-FFF2-40B4-BE49-F238E27FC236}">
                <a16:creationId xmlns:a16="http://schemas.microsoft.com/office/drawing/2014/main" id="{2CB5AAFA-E60D-4BE6-BBEE-A8DED1424F56}"/>
              </a:ext>
            </a:extLst>
          </p:cNvPr>
          <p:cNvSpPr>
            <a:spLocks xmlns:a="http://schemas.openxmlformats.org/drawingml/2006/main" noGrp="1"/>
          </p:cNvSpPr>
          <p:nvPr/>
        </p:nvSpPr>
        <p:spPr>
          <a:xfrm xmlns:a="http://schemas.openxmlformats.org/drawingml/2006/main">
            <a:off x="1981200" y="4829175"/>
            <a:ext cx="9182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065">
                <a:solidFill>
                  <a:srgbClr val="15232B"/>
                </a:solidFill>
              </a:defRPr>
            </a:pPr>
            <a:r>
              <a:rPr sz="1065">
                <a:solidFill>
                  <a:srgbClr val="15232B"/>
                </a:solidFill>
              </a:rPr>
              <a:t>Beispiel · Beispiel: Eine Strafnorm kann zugleich Schutzgesetz sein; trotzdem sind ihre Merkmale und der geschützte Personenkreis genau zu prüfen.</a:t>
            </a:r>
          </a:p>
        </p:txBody>
      </p:sp>
      <p:sp>
        <p:nvSpPr>
          <p:cNvPr id="25" name="">
            <a:extLst xmlns:a="http://schemas.openxmlformats.org/drawingml/2006/main">
              <a:ext uri="{FF2B5EF4-FFF2-40B4-BE49-F238E27FC236}">
                <a16:creationId xmlns:a16="http://schemas.microsoft.com/office/drawing/2014/main" id="{0F4E1748-C371-4E5E-AF4D-FBB84A36B28C}"/>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6" name="">
            <a:extLst xmlns:a="http://schemas.openxmlformats.org/drawingml/2006/main">
              <a:ext uri="{FF2B5EF4-FFF2-40B4-BE49-F238E27FC236}">
                <a16:creationId xmlns:a16="http://schemas.microsoft.com/office/drawing/2014/main" id="{23878850-1549-4FB1-A4AA-63C41BA1B0D3}"/>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 823 Abs. 2 BGB ist kein pauschaler Umweg um fehlende Voraussetzungen des § 823 Abs. 1 BGB.</a:t>
            </a:r>
          </a:p>
        </p:txBody>
      </p:sp>
    </p:spTree>
    <p:extLst>
      <p:ext uri="{BB962C8B-B14F-4D97-AF65-F5344CB8AC3E}">
        <p14:creationId xmlns:p14="http://schemas.microsoft.com/office/powerpoint/2010/main" val="43637646"/>
      </p:ext>
    </p:extLst>
  </p:cSld>
</p:sld>
</file>

<file path=ppt/slides/slide118.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Wer kann haften?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49F1297A-FE1A-4952-B515-3477705A210E}"/>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Vor der Detailprüfung wird die mögliche Anspruchsgegnerseite vollständig kartiert.</a:t>
            </a:r>
          </a:p>
        </p:txBody>
      </p:sp>
      <p:sp>
        <p:nvSpPr>
          <p:cNvPr id="5" name="">
            <a:extLst xmlns:a="http://schemas.openxmlformats.org/drawingml/2006/main">
              <a:ext uri="{FF2B5EF4-FFF2-40B4-BE49-F238E27FC236}">
                <a16:creationId xmlns:a16="http://schemas.microsoft.com/office/drawing/2014/main" id="{614C4CBC-0012-44BD-87CA-A2B38D32E442}"/>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8802851B-C1CF-4655-AC26-A6F4CB1F16CA}"/>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E2755564-B2D4-4E05-B93C-8A234FDA1B50}"/>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Behandelnde Person</a:t>
            </a:r>
          </a:p>
        </p:txBody>
      </p:sp>
      <p:sp>
        <p:nvSpPr>
          <p:cNvPr id="8" name="">
            <a:extLst xmlns:a="http://schemas.openxmlformats.org/drawingml/2006/main">
              <a:ext uri="{FF2B5EF4-FFF2-40B4-BE49-F238E27FC236}">
                <a16:creationId xmlns:a16="http://schemas.microsoft.com/office/drawing/2014/main" id="{91329E4A-7848-4E4E-A81A-6073F431AFF2}"/>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Persönliche deliktische Haftung kommt bei eigenem Fehlverhalten in Betracht.</a:t>
            </a:r>
          </a:p>
        </p:txBody>
      </p:sp>
      <p:sp>
        <p:nvSpPr>
          <p:cNvPr id="9" name="">
            <a:extLst xmlns:a="http://schemas.openxmlformats.org/drawingml/2006/main">
              <a:ext uri="{FF2B5EF4-FFF2-40B4-BE49-F238E27FC236}">
                <a16:creationId xmlns:a16="http://schemas.microsoft.com/office/drawing/2014/main" id="{857FC63A-0386-4A79-93C7-E773C4C75DAC}"/>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E9B4B840-457A-488F-9F46-99B81E585929}"/>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26BA4E97-A8BD-4315-978F-16FAA17AF6E2}"/>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Krankenhausträger oder Praxis</a:t>
            </a:r>
          </a:p>
        </p:txBody>
      </p:sp>
      <p:sp>
        <p:nvSpPr>
          <p:cNvPr id="12" name="">
            <a:extLst xmlns:a="http://schemas.openxmlformats.org/drawingml/2006/main">
              <a:ext uri="{FF2B5EF4-FFF2-40B4-BE49-F238E27FC236}">
                <a16:creationId xmlns:a16="http://schemas.microsoft.com/office/drawing/2014/main" id="{042D4326-95E1-4ED2-849A-4FABD37B8E18}"/>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Vertragliche Haftung, Zurechnung von Erfüllungsgehilfen und eigene Organisationspflichten können eingreifen.</a:t>
            </a:r>
          </a:p>
        </p:txBody>
      </p:sp>
      <p:sp>
        <p:nvSpPr>
          <p:cNvPr id="13" name="">
            <a:extLst xmlns:a="http://schemas.openxmlformats.org/drawingml/2006/main">
              <a:ext uri="{FF2B5EF4-FFF2-40B4-BE49-F238E27FC236}">
                <a16:creationId xmlns:a16="http://schemas.microsoft.com/office/drawing/2014/main" id="{A57C1641-B405-4358-BC0C-6FB568E28466}"/>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33038410-784E-415B-9D9C-B7097C50D545}"/>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8CCB0988-2130-4726-81A9-7D16672F5E43}"/>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Weitere Beteiligte</a:t>
            </a:r>
          </a:p>
        </p:txBody>
      </p:sp>
      <p:sp>
        <p:nvSpPr>
          <p:cNvPr id="16" name="">
            <a:extLst xmlns:a="http://schemas.openxmlformats.org/drawingml/2006/main">
              <a:ext uri="{FF2B5EF4-FFF2-40B4-BE49-F238E27FC236}">
                <a16:creationId xmlns:a16="http://schemas.microsoft.com/office/drawing/2014/main" id="{4935564D-C039-4BBB-AF89-7A416FA5E26F}"/>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Mitbehandelnde Fachabteilungen, Hersteller oder externe Leistungserbringer können je nach Sachverhalt eigene Pflichten haben.</a:t>
            </a:r>
          </a:p>
        </p:txBody>
      </p:sp>
      <p:sp>
        <p:nvSpPr>
          <p:cNvPr id="17" name="">
            <a:extLst xmlns:a="http://schemas.openxmlformats.org/drawingml/2006/main">
              <a:ext uri="{FF2B5EF4-FFF2-40B4-BE49-F238E27FC236}">
                <a16:creationId xmlns:a16="http://schemas.microsoft.com/office/drawing/2014/main" id="{A8185E75-B099-4FBD-81BE-E5ACD16A8BFA}"/>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C40994BE-F45B-45B9-9990-0450BCA86F4C}"/>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01FCA4F3-F114-4034-9162-C96F5C05BDA0}"/>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Gesamtschuld</a:t>
            </a:r>
          </a:p>
        </p:txBody>
      </p:sp>
      <p:sp>
        <p:nvSpPr>
          <p:cNvPr id="20" name="">
            <a:extLst xmlns:a="http://schemas.openxmlformats.org/drawingml/2006/main">
              <a:ext uri="{FF2B5EF4-FFF2-40B4-BE49-F238E27FC236}">
                <a16:creationId xmlns:a16="http://schemas.microsoft.com/office/drawing/2014/main" id="{ABDF02DF-393F-4B29-A7C1-7E4E139DC307}"/>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Mehrere Verantwortliche können für denselben Schaden als Gesamtschuldner einstehen; der interne Ausgleich ist eine zweite Frage.</a:t>
            </a:r>
          </a:p>
        </p:txBody>
      </p:sp>
      <p:sp>
        <p:nvSpPr>
          <p:cNvPr id="21" name="">
            <a:extLst xmlns:a="http://schemas.openxmlformats.org/drawingml/2006/main">
              <a:ext uri="{FF2B5EF4-FFF2-40B4-BE49-F238E27FC236}">
                <a16:creationId xmlns:a16="http://schemas.microsoft.com/office/drawing/2014/main" id="{21C3B6EE-A2DA-4A68-A995-86D11D91472D}"/>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E4B6F9D2-7B2D-4665-B348-1A56C737B7A7}"/>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Die richtige Partei ist eine frühe Prozessfrage: Ein guter Anspruch gegen die falsche Person führt nicht zum Ziel.</a:t>
            </a:r>
          </a:p>
        </p:txBody>
      </p:sp>
    </p:spTree>
    <p:extLst>
      <p:ext uri="{BB962C8B-B14F-4D97-AF65-F5344CB8AC3E}">
        <p14:creationId xmlns:p14="http://schemas.microsoft.com/office/powerpoint/2010/main" val="43637646"/>
      </p:ext>
    </p:extLst>
  </p:cSld>
</p:sld>
</file>

<file path=ppt/slides/slide119.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Fachlicher Standard und Behandlungsfehler</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9F9761D8-9D59-48A5-A9C6-DCCD0B7BB92C}"/>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Der medizinische Standard beschreibt das im Zeitpunkt der Behandlung gesicherte und anerkannte Vorgehen für die konkrete Situation.</a:t>
            </a:r>
          </a:p>
        </p:txBody>
      </p:sp>
      <p:sp>
        <p:nvSpPr>
          <p:cNvPr id="5" name="">
            <a:extLst xmlns:a="http://schemas.openxmlformats.org/drawingml/2006/main">
              <a:ext uri="{FF2B5EF4-FFF2-40B4-BE49-F238E27FC236}">
                <a16:creationId xmlns:a16="http://schemas.microsoft.com/office/drawing/2014/main" id="{B889B853-971F-4D45-8E0D-15F6EF92C180}"/>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752543B9-3091-4552-B829-3297D7810F34}"/>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23EE33C2-C169-4D62-A851-523D9C22E4D8}"/>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Wissensstand</a:t>
            </a:r>
          </a:p>
        </p:txBody>
      </p:sp>
      <p:sp>
        <p:nvSpPr>
          <p:cNvPr id="8" name="">
            <a:extLst xmlns:a="http://schemas.openxmlformats.org/drawingml/2006/main">
              <a:ext uri="{FF2B5EF4-FFF2-40B4-BE49-F238E27FC236}">
                <a16:creationId xmlns:a16="http://schemas.microsoft.com/office/drawing/2014/main" id="{F9513587-4BE4-4DE8-866C-96CCCB9B15A9}"/>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Maßgeblich sind gesicherte Erkenntnisse und anerkannte fachliche Praxis im damaligen Zeitpunkt.</a:t>
            </a:r>
          </a:p>
        </p:txBody>
      </p:sp>
      <p:sp>
        <p:nvSpPr>
          <p:cNvPr id="9" name="">
            <a:extLst xmlns:a="http://schemas.openxmlformats.org/drawingml/2006/main">
              <a:ext uri="{FF2B5EF4-FFF2-40B4-BE49-F238E27FC236}">
                <a16:creationId xmlns:a16="http://schemas.microsoft.com/office/drawing/2014/main" id="{E6BC3A04-2C8F-42D4-AEFC-EE9E3F7996FE}"/>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6B8C2ABF-4134-4F52-A6A9-8147ADC27A4A}"/>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B0C2C0E8-F3BF-4F32-9CAE-9392FDC2D2F5}"/>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Konkreter Fall</a:t>
            </a:r>
          </a:p>
        </p:txBody>
      </p:sp>
      <p:sp>
        <p:nvSpPr>
          <p:cNvPr id="12" name="">
            <a:extLst xmlns:a="http://schemas.openxmlformats.org/drawingml/2006/main">
              <a:ext uri="{FF2B5EF4-FFF2-40B4-BE49-F238E27FC236}">
                <a16:creationId xmlns:a16="http://schemas.microsoft.com/office/drawing/2014/main" id="{74B0FD32-123F-4B74-87E3-DF57BC069A23}"/>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Komorbiditäten, Dringlichkeit, Ressourcen und Patientenwille beeinflussen die angemessene Entscheidung.</a:t>
            </a:r>
          </a:p>
        </p:txBody>
      </p:sp>
      <p:sp>
        <p:nvSpPr>
          <p:cNvPr id="13" name="">
            <a:extLst xmlns:a="http://schemas.openxmlformats.org/drawingml/2006/main">
              <a:ext uri="{FF2B5EF4-FFF2-40B4-BE49-F238E27FC236}">
                <a16:creationId xmlns:a16="http://schemas.microsoft.com/office/drawing/2014/main" id="{5EDF115F-57AE-45D5-AC5F-2A0AFE6C6302}"/>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2CF0A4A7-0A16-4619-B7C9-671887336130}"/>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37B600F4-B6EA-4BC7-92B4-E9BF2E15C5AC}"/>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Beurteilung durch Sachverständige</a:t>
            </a:r>
          </a:p>
        </p:txBody>
      </p:sp>
      <p:sp>
        <p:nvSpPr>
          <p:cNvPr id="16" name="">
            <a:extLst xmlns:a="http://schemas.openxmlformats.org/drawingml/2006/main">
              <a:ext uri="{FF2B5EF4-FFF2-40B4-BE49-F238E27FC236}">
                <a16:creationId xmlns:a16="http://schemas.microsoft.com/office/drawing/2014/main" id="{F33D768D-1627-4035-B4E2-2583670C43A6}"/>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Das Gericht benötigt regelmäßig medizinische Expertise, muss den Standard aber selbst rechtlich würdigen.</a:t>
            </a:r>
          </a:p>
        </p:txBody>
      </p:sp>
      <p:sp>
        <p:nvSpPr>
          <p:cNvPr id="17" name="">
            <a:extLst xmlns:a="http://schemas.openxmlformats.org/drawingml/2006/main">
              <a:ext uri="{FF2B5EF4-FFF2-40B4-BE49-F238E27FC236}">
                <a16:creationId xmlns:a16="http://schemas.microsoft.com/office/drawing/2014/main" id="{DEF11648-7263-4010-BC9F-30FF943D35B8}"/>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2A3A0739-1605-4B1F-AEBA-D2AC98CCDB75}"/>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237C0A84-C55B-488B-A9CB-59E71556CE41}"/>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Abweichung begründen</a:t>
            </a:r>
          </a:p>
        </p:txBody>
      </p:sp>
      <p:sp>
        <p:nvSpPr>
          <p:cNvPr id="20" name="">
            <a:extLst xmlns:a="http://schemas.openxmlformats.org/drawingml/2006/main">
              <a:ext uri="{FF2B5EF4-FFF2-40B4-BE49-F238E27FC236}">
                <a16:creationId xmlns:a16="http://schemas.microsoft.com/office/drawing/2014/main" id="{8B744AAB-1CB5-4C6E-A6F6-7DFCD772A8E2}"/>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Eine Abweichung von Leitlinien kann vertretbar sein, wenn sie fachlich nachvollziehbar und patientenbezogen begründet ist.</a:t>
            </a:r>
          </a:p>
        </p:txBody>
      </p:sp>
      <p:sp>
        <p:nvSpPr>
          <p:cNvPr id="21" name="">
            <a:extLst xmlns:a="http://schemas.openxmlformats.org/drawingml/2006/main">
              <a:ext uri="{FF2B5EF4-FFF2-40B4-BE49-F238E27FC236}">
                <a16:creationId xmlns:a16="http://schemas.microsoft.com/office/drawing/2014/main" id="{B6CDA185-6AF6-4026-B7F0-46226C1283EB}"/>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3863A458-A3D5-4ACB-9CD7-E4F979EBD29D}"/>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Standard ist kein starres Kochbuch, aber auch kein freies Ermessen.</a:t>
            </a:r>
          </a:p>
        </p:txBody>
      </p:sp>
    </p:spTree>
    <p:extLst>
      <p:ext uri="{BB962C8B-B14F-4D97-AF65-F5344CB8AC3E}">
        <p14:creationId xmlns:p14="http://schemas.microsoft.com/office/powerpoint/2010/main" val="43637646"/>
      </p:ext>
    </p:extLst>
  </p:cSld>
</p:sld>
</file>

<file path=ppt/slides/slide120.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Kausalität in vier Fragen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885AD930-F09F-4D5C-8B7D-6419DFFEB54F}"/>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Nicht jede Pflichtverletzung verursacht jeden späteren Schaden. Kausalität und Zurechnung begrenzen die Haftung.</a:t>
            </a:r>
          </a:p>
        </p:txBody>
      </p:sp>
      <p:sp>
        <p:nvSpPr>
          <p:cNvPr id="5" name="">
            <a:extLst xmlns:a="http://schemas.openxmlformats.org/drawingml/2006/main">
              <a:ext uri="{FF2B5EF4-FFF2-40B4-BE49-F238E27FC236}">
                <a16:creationId xmlns:a16="http://schemas.microsoft.com/office/drawing/2014/main" id="{687ACA7F-CD93-463F-B161-4853BE47DBBE}"/>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C331AA5A-1790-4CEA-AF4F-3E4A3C9FCB55}"/>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8FD9B79C-BC7D-44B0-9C0B-02CF86136E3D}"/>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Bedingungszusammenhang</a:t>
            </a:r>
          </a:p>
        </p:txBody>
      </p:sp>
      <p:sp>
        <p:nvSpPr>
          <p:cNvPr id="8" name="">
            <a:extLst xmlns:a="http://schemas.openxmlformats.org/drawingml/2006/main">
              <a:ext uri="{FF2B5EF4-FFF2-40B4-BE49-F238E27FC236}">
                <a16:creationId xmlns:a16="http://schemas.microsoft.com/office/drawing/2014/main" id="{83A80B1F-A488-4FDC-A811-FA9015FBB69B}"/>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Entfiele der konkrete Schaden, wenn man die Pflichtverletzung hinwegdenkt? Bei Unterlassen wird die gebotene Handlung hinzugedacht.</a:t>
            </a:r>
          </a:p>
        </p:txBody>
      </p:sp>
      <p:sp>
        <p:nvSpPr>
          <p:cNvPr id="9" name="">
            <a:extLst xmlns:a="http://schemas.openxmlformats.org/drawingml/2006/main">
              <a:ext uri="{FF2B5EF4-FFF2-40B4-BE49-F238E27FC236}">
                <a16:creationId xmlns:a16="http://schemas.microsoft.com/office/drawing/2014/main" id="{88408110-33A9-462B-9B5D-716A751AD86E}"/>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82E63BDB-0BB9-43A1-8613-FF0C7F3CC067}"/>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736F508A-6F63-44B2-8EBF-157AE5EC5381}"/>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Adäquanz</a:t>
            </a:r>
          </a:p>
        </p:txBody>
      </p:sp>
      <p:sp>
        <p:nvSpPr>
          <p:cNvPr id="12" name="">
            <a:extLst xmlns:a="http://schemas.openxmlformats.org/drawingml/2006/main">
              <a:ext uri="{FF2B5EF4-FFF2-40B4-BE49-F238E27FC236}">
                <a16:creationId xmlns:a16="http://schemas.microsoft.com/office/drawing/2014/main" id="{7104C7E2-1E05-485E-BA0C-404ECD6F5DE1}"/>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War der Verlauf nicht völlig außerhalb allgemeiner Lebenserfahrung?</a:t>
            </a:r>
          </a:p>
        </p:txBody>
      </p:sp>
      <p:sp>
        <p:nvSpPr>
          <p:cNvPr id="13" name="">
            <a:extLst xmlns:a="http://schemas.openxmlformats.org/drawingml/2006/main">
              <a:ext uri="{FF2B5EF4-FFF2-40B4-BE49-F238E27FC236}">
                <a16:creationId xmlns:a16="http://schemas.microsoft.com/office/drawing/2014/main" id="{D5A287CB-AFBD-416A-A9E1-8901B32C83B7}"/>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C6544DB2-730E-4FF3-81DC-FD8AEFF65057}"/>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4EDB7A8B-B755-4845-B4E0-68E290C44ACF}"/>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Schutzzweck</a:t>
            </a:r>
          </a:p>
        </p:txBody>
      </p:sp>
      <p:sp>
        <p:nvSpPr>
          <p:cNvPr id="16" name="">
            <a:extLst xmlns:a="http://schemas.openxmlformats.org/drawingml/2006/main">
              <a:ext uri="{FF2B5EF4-FFF2-40B4-BE49-F238E27FC236}">
                <a16:creationId xmlns:a16="http://schemas.microsoft.com/office/drawing/2014/main" id="{936B2969-8EE9-47D2-974E-B09A7C3C8F29}"/>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Sollte gerade die verletzte Pflicht gerade vor diesem Schaden schützen?</a:t>
            </a:r>
          </a:p>
        </p:txBody>
      </p:sp>
      <p:sp>
        <p:nvSpPr>
          <p:cNvPr id="17" name="">
            <a:extLst xmlns:a="http://schemas.openxmlformats.org/drawingml/2006/main">
              <a:ext uri="{FF2B5EF4-FFF2-40B4-BE49-F238E27FC236}">
                <a16:creationId xmlns:a16="http://schemas.microsoft.com/office/drawing/2014/main" id="{2478F51A-7287-4802-B773-4F7B35A13E11}"/>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1122D187-791A-4CF9-A183-D5FCFD13FC30}"/>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664F1EFC-1520-4F21-B61E-31AC18582DD1}"/>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Alternative Verläufe</a:t>
            </a:r>
          </a:p>
        </p:txBody>
      </p:sp>
      <p:sp>
        <p:nvSpPr>
          <p:cNvPr id="20" name="">
            <a:extLst xmlns:a="http://schemas.openxmlformats.org/drawingml/2006/main">
              <a:ext uri="{FF2B5EF4-FFF2-40B4-BE49-F238E27FC236}">
                <a16:creationId xmlns:a16="http://schemas.microsoft.com/office/drawing/2014/main" id="{6ED30045-674D-4CE1-A961-EDCB593EC2D7}"/>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Vorerkrankung, ohnehin eingetretener Schaden und hypothetischer rechtmäßiger Verlauf müssen medizinisch und beweisrechtlich geklärt werden.</a:t>
            </a:r>
          </a:p>
        </p:txBody>
      </p:sp>
      <p:sp>
        <p:nvSpPr>
          <p:cNvPr id="21" name="">
            <a:extLst xmlns:a="http://schemas.openxmlformats.org/drawingml/2006/main">
              <a:ext uri="{FF2B5EF4-FFF2-40B4-BE49-F238E27FC236}">
                <a16:creationId xmlns:a16="http://schemas.microsoft.com/office/drawing/2014/main" id="{6F329D55-8A20-4AB6-B92A-6190ADD6C6AA}"/>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D61A4484-573A-4B07-AF23-AFCAB1F67E14}"/>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Kausalität ist eine eigenständige medizinisch-juristische Prüfung, kein Anhängsel des Fehlers.</a:t>
            </a:r>
          </a:p>
        </p:txBody>
      </p:sp>
    </p:spTree>
    <p:extLst>
      <p:ext uri="{BB962C8B-B14F-4D97-AF65-F5344CB8AC3E}">
        <p14:creationId xmlns:p14="http://schemas.microsoft.com/office/powerpoint/2010/main" val="43637646"/>
      </p:ext>
    </p:extLst>
  </p:cSld>
</p:sld>
</file>

<file path=ppt/slides/slide121.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Unterlassen und hypothetische Kausalität</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PRÜFUNGSSCHEMA · ZIVILRECHT</a:t>
            </a:r>
            <a:endParaRPr/>
          </a:p>
        </p:txBody>
      </p:sp>
      <p:sp>
        <p:nvSpPr>
          <p:cNvPr id="4" name="">
            <a:extLst xmlns:a="http://schemas.openxmlformats.org/drawingml/2006/main">
              <a:ext uri="{FF2B5EF4-FFF2-40B4-BE49-F238E27FC236}">
                <a16:creationId xmlns:a16="http://schemas.microsoft.com/office/drawing/2014/main" id="{F5EFBAE8-35D3-47C3-BF03-696363CA8DE2}"/>
              </a:ext>
            </a:extLst>
          </p:cNvPr>
          <p:cNvSpPr>
            <a:spLocks xmlns:a="http://schemas.openxmlformats.org/drawingml/2006/main" noGrp="1"/>
          </p:cNvSpPr>
          <p:nvPr/>
        </p:nvSpPr>
        <p:spPr>
          <a:xfrm xmlns:a="http://schemas.openxmlformats.org/drawingml/2006/main">
            <a:off x="1809750" y="1952625"/>
            <a:ext cx="400050" cy="64389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EB4F6ADB-4B6E-49E2-83B5-518D654F7EDD}"/>
              </a:ext>
            </a:extLst>
          </p:cNvPr>
          <p:cNvSpPr>
            <a:spLocks xmlns:a="http://schemas.openxmlformats.org/drawingml/2006/main" noGrp="1"/>
          </p:cNvSpPr>
          <p:nvPr/>
        </p:nvSpPr>
        <p:spPr>
          <a:xfrm xmlns:a="http://schemas.openxmlformats.org/drawingml/2006/main">
            <a:off x="1809750" y="1952625"/>
            <a:ext cx="400050" cy="6438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6" name="">
            <a:extLst xmlns:a="http://schemas.openxmlformats.org/drawingml/2006/main">
              <a:ext uri="{FF2B5EF4-FFF2-40B4-BE49-F238E27FC236}">
                <a16:creationId xmlns:a16="http://schemas.microsoft.com/office/drawing/2014/main" id="{2ED20AA0-B053-4CAB-8444-B8B2A88C6F0A}"/>
              </a:ext>
            </a:extLst>
          </p:cNvPr>
          <p:cNvSpPr>
            <a:spLocks xmlns:a="http://schemas.openxmlformats.org/drawingml/2006/main" noGrp="1"/>
          </p:cNvSpPr>
          <p:nvPr/>
        </p:nvSpPr>
        <p:spPr>
          <a:xfrm xmlns:a="http://schemas.openxmlformats.org/drawingml/2006/main">
            <a:off x="2324100" y="1962150"/>
            <a:ext cx="2381250" cy="624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1. Handlungspflicht</a:t>
            </a:r>
          </a:p>
        </p:txBody>
      </p:sp>
      <p:sp>
        <p:nvSpPr>
          <p:cNvPr id="7" name="">
            <a:extLst xmlns:a="http://schemas.openxmlformats.org/drawingml/2006/main">
              <a:ext uri="{FF2B5EF4-FFF2-40B4-BE49-F238E27FC236}">
                <a16:creationId xmlns:a16="http://schemas.microsoft.com/office/drawing/2014/main" id="{2383A84B-E516-4C7A-9AE5-97EC022811A9}"/>
              </a:ext>
            </a:extLst>
          </p:cNvPr>
          <p:cNvSpPr>
            <a:spLocks xmlns:a="http://schemas.openxmlformats.org/drawingml/2006/main" noGrp="1"/>
          </p:cNvSpPr>
          <p:nvPr/>
        </p:nvSpPr>
        <p:spPr>
          <a:xfrm xmlns:a="http://schemas.openxmlformats.org/drawingml/2006/main">
            <a:off x="4819650" y="1962150"/>
            <a:ext cx="6419850" cy="624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Welche konkrete Maßnahme war aufgrund Vertrag, Standard oder Garantenstellung geboten?</a:t>
            </a:r>
          </a:p>
        </p:txBody>
      </p:sp>
      <p:sp>
        <p:nvSpPr>
          <p:cNvPr id="8" name="">
            <a:extLst xmlns:a="http://schemas.openxmlformats.org/drawingml/2006/main">
              <a:ext uri="{FF2B5EF4-FFF2-40B4-BE49-F238E27FC236}">
                <a16:creationId xmlns:a16="http://schemas.microsoft.com/office/drawing/2014/main" id="{F3D65473-8218-4D0A-95CC-BF989A89A9B5}"/>
              </a:ext>
            </a:extLst>
          </p:cNvPr>
          <p:cNvSpPr>
            <a:spLocks xmlns:a="http://schemas.openxmlformats.org/drawingml/2006/main" noGrp="1"/>
          </p:cNvSpPr>
          <p:nvPr/>
        </p:nvSpPr>
        <p:spPr>
          <a:xfrm xmlns:a="http://schemas.openxmlformats.org/drawingml/2006/main">
            <a:off x="1809750" y="2672715"/>
            <a:ext cx="400050" cy="64389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9" name="">
            <a:extLst xmlns:a="http://schemas.openxmlformats.org/drawingml/2006/main">
              <a:ext uri="{FF2B5EF4-FFF2-40B4-BE49-F238E27FC236}">
                <a16:creationId xmlns:a16="http://schemas.microsoft.com/office/drawing/2014/main" id="{970C6DCF-DD36-44D0-B53C-33420F8C2F1D}"/>
              </a:ext>
            </a:extLst>
          </p:cNvPr>
          <p:cNvSpPr>
            <a:spLocks xmlns:a="http://schemas.openxmlformats.org/drawingml/2006/main" noGrp="1"/>
          </p:cNvSpPr>
          <p:nvPr/>
        </p:nvSpPr>
        <p:spPr>
          <a:xfrm xmlns:a="http://schemas.openxmlformats.org/drawingml/2006/main">
            <a:off x="1809750" y="2672715"/>
            <a:ext cx="400050" cy="6438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0" name="">
            <a:extLst xmlns:a="http://schemas.openxmlformats.org/drawingml/2006/main">
              <a:ext uri="{FF2B5EF4-FFF2-40B4-BE49-F238E27FC236}">
                <a16:creationId xmlns:a16="http://schemas.microsoft.com/office/drawing/2014/main" id="{0F1813E3-1425-40D3-9BF8-B42DD573D9D7}"/>
              </a:ext>
            </a:extLst>
          </p:cNvPr>
          <p:cNvSpPr>
            <a:spLocks xmlns:a="http://schemas.openxmlformats.org/drawingml/2006/main" noGrp="1"/>
          </p:cNvSpPr>
          <p:nvPr/>
        </p:nvSpPr>
        <p:spPr>
          <a:xfrm xmlns:a="http://schemas.openxmlformats.org/drawingml/2006/main">
            <a:off x="2324100" y="2682240"/>
            <a:ext cx="2381250" cy="624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2. Unterlassen</a:t>
            </a:r>
          </a:p>
        </p:txBody>
      </p:sp>
      <p:sp>
        <p:nvSpPr>
          <p:cNvPr id="11" name="">
            <a:extLst xmlns:a="http://schemas.openxmlformats.org/drawingml/2006/main">
              <a:ext uri="{FF2B5EF4-FFF2-40B4-BE49-F238E27FC236}">
                <a16:creationId xmlns:a16="http://schemas.microsoft.com/office/drawing/2014/main" id="{4D419497-D2C5-48BC-B1AB-62C6E2E11C32}"/>
              </a:ext>
            </a:extLst>
          </p:cNvPr>
          <p:cNvSpPr>
            <a:spLocks xmlns:a="http://schemas.openxmlformats.org/drawingml/2006/main" noGrp="1"/>
          </p:cNvSpPr>
          <p:nvPr/>
        </p:nvSpPr>
        <p:spPr>
          <a:xfrm xmlns:a="http://schemas.openxmlformats.org/drawingml/2006/main">
            <a:off x="4819650" y="2682240"/>
            <a:ext cx="6419850" cy="624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Wurde diese Maßnahme nicht, zu spät oder unzureichend vorgenommen?</a:t>
            </a:r>
          </a:p>
        </p:txBody>
      </p:sp>
      <p:sp>
        <p:nvSpPr>
          <p:cNvPr id="12" name="">
            <a:extLst xmlns:a="http://schemas.openxmlformats.org/drawingml/2006/main">
              <a:ext uri="{FF2B5EF4-FFF2-40B4-BE49-F238E27FC236}">
                <a16:creationId xmlns:a16="http://schemas.microsoft.com/office/drawing/2014/main" id="{347A2647-84AB-4D0F-84BB-E47223B76076}"/>
              </a:ext>
            </a:extLst>
          </p:cNvPr>
          <p:cNvSpPr>
            <a:spLocks xmlns:a="http://schemas.openxmlformats.org/drawingml/2006/main" noGrp="1"/>
          </p:cNvSpPr>
          <p:nvPr/>
        </p:nvSpPr>
        <p:spPr>
          <a:xfrm xmlns:a="http://schemas.openxmlformats.org/drawingml/2006/main">
            <a:off x="1809750" y="3392805"/>
            <a:ext cx="400050" cy="64389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3" name="">
            <a:extLst xmlns:a="http://schemas.openxmlformats.org/drawingml/2006/main">
              <a:ext uri="{FF2B5EF4-FFF2-40B4-BE49-F238E27FC236}">
                <a16:creationId xmlns:a16="http://schemas.microsoft.com/office/drawing/2014/main" id="{D9B898B6-63F6-450B-8909-42920F8D508C}"/>
              </a:ext>
            </a:extLst>
          </p:cNvPr>
          <p:cNvSpPr>
            <a:spLocks xmlns:a="http://schemas.openxmlformats.org/drawingml/2006/main" noGrp="1"/>
          </p:cNvSpPr>
          <p:nvPr/>
        </p:nvSpPr>
        <p:spPr>
          <a:xfrm xmlns:a="http://schemas.openxmlformats.org/drawingml/2006/main">
            <a:off x="1809750" y="3392805"/>
            <a:ext cx="400050" cy="6438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4" name="">
            <a:extLst xmlns:a="http://schemas.openxmlformats.org/drawingml/2006/main">
              <a:ext uri="{FF2B5EF4-FFF2-40B4-BE49-F238E27FC236}">
                <a16:creationId xmlns:a16="http://schemas.microsoft.com/office/drawing/2014/main" id="{54328C6E-A8F3-49D4-9528-6259FD518D8C}"/>
              </a:ext>
            </a:extLst>
          </p:cNvPr>
          <p:cNvSpPr>
            <a:spLocks xmlns:a="http://schemas.openxmlformats.org/drawingml/2006/main" noGrp="1"/>
          </p:cNvSpPr>
          <p:nvPr/>
        </p:nvSpPr>
        <p:spPr>
          <a:xfrm xmlns:a="http://schemas.openxmlformats.org/drawingml/2006/main">
            <a:off x="2324100" y="3402330"/>
            <a:ext cx="2381250" cy="624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3. Hypothetischer Verlauf</a:t>
            </a:r>
          </a:p>
        </p:txBody>
      </p:sp>
      <p:sp>
        <p:nvSpPr>
          <p:cNvPr id="15" name="">
            <a:extLst xmlns:a="http://schemas.openxmlformats.org/drawingml/2006/main">
              <a:ext uri="{FF2B5EF4-FFF2-40B4-BE49-F238E27FC236}">
                <a16:creationId xmlns:a16="http://schemas.microsoft.com/office/drawing/2014/main" id="{DF997D64-9FF1-4870-8291-0F71C6609DA0}"/>
              </a:ext>
            </a:extLst>
          </p:cNvPr>
          <p:cNvSpPr>
            <a:spLocks xmlns:a="http://schemas.openxmlformats.org/drawingml/2006/main" noGrp="1"/>
          </p:cNvSpPr>
          <p:nvPr/>
        </p:nvSpPr>
        <p:spPr>
          <a:xfrm xmlns:a="http://schemas.openxmlformats.org/drawingml/2006/main">
            <a:off x="4819650" y="3402330"/>
            <a:ext cx="6419850" cy="624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Was wäre bei rechtzeitigem pflichtgemäßem Handeln medizinisch geschehen?</a:t>
            </a:r>
          </a:p>
        </p:txBody>
      </p:sp>
      <p:sp>
        <p:nvSpPr>
          <p:cNvPr id="16" name="">
            <a:extLst xmlns:a="http://schemas.openxmlformats.org/drawingml/2006/main">
              <a:ext uri="{FF2B5EF4-FFF2-40B4-BE49-F238E27FC236}">
                <a16:creationId xmlns:a16="http://schemas.microsoft.com/office/drawing/2014/main" id="{3548F248-D967-45F8-84F9-145C169ECC4B}"/>
              </a:ext>
            </a:extLst>
          </p:cNvPr>
          <p:cNvSpPr>
            <a:spLocks xmlns:a="http://schemas.openxmlformats.org/drawingml/2006/main" noGrp="1"/>
          </p:cNvSpPr>
          <p:nvPr/>
        </p:nvSpPr>
        <p:spPr>
          <a:xfrm xmlns:a="http://schemas.openxmlformats.org/drawingml/2006/main">
            <a:off x="1809750" y="4112895"/>
            <a:ext cx="400050" cy="64389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7" name="">
            <a:extLst xmlns:a="http://schemas.openxmlformats.org/drawingml/2006/main">
              <a:ext uri="{FF2B5EF4-FFF2-40B4-BE49-F238E27FC236}">
                <a16:creationId xmlns:a16="http://schemas.microsoft.com/office/drawing/2014/main" id="{B1266FE1-76A1-4F24-BA24-599526A4C3AF}"/>
              </a:ext>
            </a:extLst>
          </p:cNvPr>
          <p:cNvSpPr>
            <a:spLocks xmlns:a="http://schemas.openxmlformats.org/drawingml/2006/main" noGrp="1"/>
          </p:cNvSpPr>
          <p:nvPr/>
        </p:nvSpPr>
        <p:spPr>
          <a:xfrm xmlns:a="http://schemas.openxmlformats.org/drawingml/2006/main">
            <a:off x="1809750" y="4112895"/>
            <a:ext cx="400050" cy="6438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18" name="">
            <a:extLst xmlns:a="http://schemas.openxmlformats.org/drawingml/2006/main">
              <a:ext uri="{FF2B5EF4-FFF2-40B4-BE49-F238E27FC236}">
                <a16:creationId xmlns:a16="http://schemas.microsoft.com/office/drawing/2014/main" id="{A511E4BE-42D0-42A2-A4F0-240B3A923150}"/>
              </a:ext>
            </a:extLst>
          </p:cNvPr>
          <p:cNvSpPr>
            <a:spLocks xmlns:a="http://schemas.openxmlformats.org/drawingml/2006/main" noGrp="1"/>
          </p:cNvSpPr>
          <p:nvPr/>
        </p:nvSpPr>
        <p:spPr>
          <a:xfrm xmlns:a="http://schemas.openxmlformats.org/drawingml/2006/main">
            <a:off x="2324100" y="4122420"/>
            <a:ext cx="2381250" cy="624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4. Beweismaß</a:t>
            </a:r>
          </a:p>
        </p:txBody>
      </p:sp>
      <p:sp>
        <p:nvSpPr>
          <p:cNvPr id="19" name="">
            <a:extLst xmlns:a="http://schemas.openxmlformats.org/drawingml/2006/main">
              <a:ext uri="{FF2B5EF4-FFF2-40B4-BE49-F238E27FC236}">
                <a16:creationId xmlns:a16="http://schemas.microsoft.com/office/drawing/2014/main" id="{B1CB1B40-2450-4D03-A71C-B55A20F9F583}"/>
              </a:ext>
            </a:extLst>
          </p:cNvPr>
          <p:cNvSpPr>
            <a:spLocks xmlns:a="http://schemas.openxmlformats.org/drawingml/2006/main" noGrp="1"/>
          </p:cNvSpPr>
          <p:nvPr/>
        </p:nvSpPr>
        <p:spPr>
          <a:xfrm xmlns:a="http://schemas.openxmlformats.org/drawingml/2006/main">
            <a:off x="4819650" y="4122420"/>
            <a:ext cx="6419850" cy="624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Welche Wahrscheinlichkeit verlangt das anwendbare Beweisrecht und greift eine Beweiserleichterung ein?</a:t>
            </a:r>
          </a:p>
        </p:txBody>
      </p:sp>
      <p:sp>
        <p:nvSpPr>
          <p:cNvPr id="20" name="">
            <a:extLst xmlns:a="http://schemas.openxmlformats.org/drawingml/2006/main">
              <a:ext uri="{FF2B5EF4-FFF2-40B4-BE49-F238E27FC236}">
                <a16:creationId xmlns:a16="http://schemas.microsoft.com/office/drawing/2014/main" id="{EB931F82-D32B-4524-B508-676AB34FD7F7}"/>
              </a:ext>
            </a:extLst>
          </p:cNvPr>
          <p:cNvSpPr>
            <a:spLocks xmlns:a="http://schemas.openxmlformats.org/drawingml/2006/main" noGrp="1"/>
          </p:cNvSpPr>
          <p:nvPr/>
        </p:nvSpPr>
        <p:spPr>
          <a:xfrm xmlns:a="http://schemas.openxmlformats.org/drawingml/2006/main">
            <a:off x="1809750" y="4832985"/>
            <a:ext cx="400050" cy="64389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1" name="">
            <a:extLst xmlns:a="http://schemas.openxmlformats.org/drawingml/2006/main">
              <a:ext uri="{FF2B5EF4-FFF2-40B4-BE49-F238E27FC236}">
                <a16:creationId xmlns:a16="http://schemas.microsoft.com/office/drawing/2014/main" id="{71B29B4C-BD04-4467-B7C8-5DD1CBA800A6}"/>
              </a:ext>
            </a:extLst>
          </p:cNvPr>
          <p:cNvSpPr>
            <a:spLocks xmlns:a="http://schemas.openxmlformats.org/drawingml/2006/main" noGrp="1"/>
          </p:cNvSpPr>
          <p:nvPr/>
        </p:nvSpPr>
        <p:spPr>
          <a:xfrm xmlns:a="http://schemas.openxmlformats.org/drawingml/2006/main">
            <a:off x="1809750" y="4832985"/>
            <a:ext cx="400050" cy="6438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5</a:t>
            </a:r>
          </a:p>
        </p:txBody>
      </p:sp>
      <p:sp>
        <p:nvSpPr>
          <p:cNvPr id="22" name="">
            <a:extLst xmlns:a="http://schemas.openxmlformats.org/drawingml/2006/main">
              <a:ext uri="{FF2B5EF4-FFF2-40B4-BE49-F238E27FC236}">
                <a16:creationId xmlns:a16="http://schemas.microsoft.com/office/drawing/2014/main" id="{30752900-8169-4A35-8EFB-87D1F6D86EA1}"/>
              </a:ext>
            </a:extLst>
          </p:cNvPr>
          <p:cNvSpPr>
            <a:spLocks xmlns:a="http://schemas.openxmlformats.org/drawingml/2006/main" noGrp="1"/>
          </p:cNvSpPr>
          <p:nvPr/>
        </p:nvSpPr>
        <p:spPr>
          <a:xfrm xmlns:a="http://schemas.openxmlformats.org/drawingml/2006/main">
            <a:off x="2324100" y="4842510"/>
            <a:ext cx="2381250" cy="624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5. Zurechnung</a:t>
            </a:r>
          </a:p>
        </p:txBody>
      </p:sp>
      <p:sp>
        <p:nvSpPr>
          <p:cNvPr id="23" name="">
            <a:extLst xmlns:a="http://schemas.openxmlformats.org/drawingml/2006/main">
              <a:ext uri="{FF2B5EF4-FFF2-40B4-BE49-F238E27FC236}">
                <a16:creationId xmlns:a16="http://schemas.microsoft.com/office/drawing/2014/main" id="{CAF955F0-2C28-46B5-9ADB-D14E2C6CB6BF}"/>
              </a:ext>
            </a:extLst>
          </p:cNvPr>
          <p:cNvSpPr>
            <a:spLocks xmlns:a="http://schemas.openxmlformats.org/drawingml/2006/main" noGrp="1"/>
          </p:cNvSpPr>
          <p:nvPr/>
        </p:nvSpPr>
        <p:spPr>
          <a:xfrm xmlns:a="http://schemas.openxmlformats.org/drawingml/2006/main">
            <a:off x="4819650" y="4842510"/>
            <a:ext cx="6419850" cy="624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Hat die unterlassene Maßnahme gerade vor dem eingetretenen Risiko schützen sollen?</a:t>
            </a:r>
          </a:p>
        </p:txBody>
      </p:sp>
      <p:sp>
        <p:nvSpPr>
          <p:cNvPr id="24" name="">
            <a:extLst xmlns:a="http://schemas.openxmlformats.org/drawingml/2006/main">
              <a:ext uri="{FF2B5EF4-FFF2-40B4-BE49-F238E27FC236}">
                <a16:creationId xmlns:a16="http://schemas.microsoft.com/office/drawing/2014/main" id="{1EF86BF4-47CC-4C16-8544-8C81E8BE4AB1}"/>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5" name="">
            <a:extLst xmlns:a="http://schemas.openxmlformats.org/drawingml/2006/main">
              <a:ext uri="{FF2B5EF4-FFF2-40B4-BE49-F238E27FC236}">
                <a16:creationId xmlns:a16="http://schemas.microsoft.com/office/drawing/2014/main" id="{48F05AB2-06F3-480C-AAF4-124958AFEF01}"/>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Bei Unterlassen ist der Kausalverlauf eine kontrafaktische, gutachterlich zu klärende Frage.</a:t>
            </a:r>
          </a:p>
        </p:txBody>
      </p:sp>
    </p:spTree>
    <p:extLst>
      <p:ext uri="{BB962C8B-B14F-4D97-AF65-F5344CB8AC3E}">
        <p14:creationId xmlns:p14="http://schemas.microsoft.com/office/powerpoint/2010/main" val="43637646"/>
      </p:ext>
    </p:extLst>
  </p:cSld>
</p:sld>
</file>

<file path=ppt/slides/slide122.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Grober Behandlungsfehler</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C4D9E05D-C828-4779-BC6D-DED398FB605B}"/>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Ein grober Fehler ist nicht bloß ein besonders großer Schaden, sondern eine fachlich objektiv nicht mehr verständliche Abweichung.</a:t>
            </a:r>
          </a:p>
        </p:txBody>
      </p:sp>
      <p:sp>
        <p:nvSpPr>
          <p:cNvPr id="5" name="">
            <a:extLst xmlns:a="http://schemas.openxmlformats.org/drawingml/2006/main">
              <a:ext uri="{FF2B5EF4-FFF2-40B4-BE49-F238E27FC236}">
                <a16:creationId xmlns:a16="http://schemas.microsoft.com/office/drawing/2014/main" id="{4086D383-8A55-458E-92E1-67E025FDF525}"/>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0B1E04D7-7457-4138-9C2F-66213806829B}"/>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67A33D36-F133-416F-A3A4-8F5740571C5C}"/>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Qualität des Fehlers</a:t>
            </a:r>
          </a:p>
        </p:txBody>
      </p:sp>
      <p:sp>
        <p:nvSpPr>
          <p:cNvPr id="8" name="">
            <a:extLst xmlns:a="http://schemas.openxmlformats.org/drawingml/2006/main">
              <a:ext uri="{FF2B5EF4-FFF2-40B4-BE49-F238E27FC236}">
                <a16:creationId xmlns:a16="http://schemas.microsoft.com/office/drawing/2014/main" id="{669F85EC-0536-400A-80EF-5C8DEF546F5D}"/>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Erforderlich ist ein eindeutiger Verstoß gegen bewährte Regeln oder gesicherte Erkenntnisse, der aus objektiver ärztlicher Sicht nicht unterlaufen darf.</a:t>
            </a:r>
          </a:p>
        </p:txBody>
      </p:sp>
      <p:sp>
        <p:nvSpPr>
          <p:cNvPr id="9" name="">
            <a:extLst xmlns:a="http://schemas.openxmlformats.org/drawingml/2006/main">
              <a:ext uri="{FF2B5EF4-FFF2-40B4-BE49-F238E27FC236}">
                <a16:creationId xmlns:a16="http://schemas.microsoft.com/office/drawing/2014/main" id="{45D308D4-2699-461F-8FBE-741A86942E9E}"/>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5404EAF4-652E-4106-8D96-80777F8D3295}"/>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AF0DB5AB-6234-4D91-9519-37E25DF2D5DC}"/>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Keine Ergebniswertung</a:t>
            </a:r>
          </a:p>
        </p:txBody>
      </p:sp>
      <p:sp>
        <p:nvSpPr>
          <p:cNvPr id="12" name="">
            <a:extLst xmlns:a="http://schemas.openxmlformats.org/drawingml/2006/main">
              <a:ext uri="{FF2B5EF4-FFF2-40B4-BE49-F238E27FC236}">
                <a16:creationId xmlns:a16="http://schemas.microsoft.com/office/drawing/2014/main" id="{C9DB1D46-CDEE-456D-B3FF-90312934EB83}"/>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Die Schwere des Schadens macht einen Fehler nicht grob; entscheidend ist die Qualität des ärztlichen Verhaltens.</a:t>
            </a:r>
          </a:p>
        </p:txBody>
      </p:sp>
      <p:sp>
        <p:nvSpPr>
          <p:cNvPr id="13" name="">
            <a:extLst xmlns:a="http://schemas.openxmlformats.org/drawingml/2006/main">
              <a:ext uri="{FF2B5EF4-FFF2-40B4-BE49-F238E27FC236}">
                <a16:creationId xmlns:a16="http://schemas.microsoft.com/office/drawing/2014/main" id="{3ABAA810-8AA3-42A7-A9E6-5CF3A634AFDA}"/>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EB76850B-1CE9-430C-A736-CA50FEA7EFF9}"/>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23CCF31E-5B6B-4369-A4A1-0137638BFDEA}"/>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Rechtsfolge</a:t>
            </a:r>
          </a:p>
        </p:txBody>
      </p:sp>
      <p:sp>
        <p:nvSpPr>
          <p:cNvPr id="16" name="">
            <a:extLst xmlns:a="http://schemas.openxmlformats.org/drawingml/2006/main">
              <a:ext uri="{FF2B5EF4-FFF2-40B4-BE49-F238E27FC236}">
                <a16:creationId xmlns:a16="http://schemas.microsoft.com/office/drawing/2014/main" id="{F37082E6-F9C9-4893-8F73-55191CC7DA73}"/>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Ist der Fehler grundsätzlich geeignet, den eingetretenen Schaden zu verursachen, kann § 630h Abs. 5 BGB die Kausalität vermuten.</a:t>
            </a:r>
          </a:p>
        </p:txBody>
      </p:sp>
      <p:sp>
        <p:nvSpPr>
          <p:cNvPr id="17" name="">
            <a:extLst xmlns:a="http://schemas.openxmlformats.org/drawingml/2006/main">
              <a:ext uri="{FF2B5EF4-FFF2-40B4-BE49-F238E27FC236}">
                <a16:creationId xmlns:a16="http://schemas.microsoft.com/office/drawing/2014/main" id="{8173604E-B08C-4C83-8C12-B8B06276A12C}"/>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BB38D4A3-0763-45E2-892D-7A1C9A2D1B14}"/>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7DD415C1-F2B6-49EB-8D13-F03AA212856A}"/>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Gerichtliche Aufgabe</a:t>
            </a:r>
          </a:p>
        </p:txBody>
      </p:sp>
      <p:sp>
        <p:nvSpPr>
          <p:cNvPr id="20" name="">
            <a:extLst xmlns:a="http://schemas.openxmlformats.org/drawingml/2006/main">
              <a:ext uri="{FF2B5EF4-FFF2-40B4-BE49-F238E27FC236}">
                <a16:creationId xmlns:a16="http://schemas.microsoft.com/office/drawing/2014/main" id="{EF187C66-5FFD-47AB-A4AE-8D829BF8B4F8}"/>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Sachverständige liefern medizinische Grundlagen; die rechtliche Einordnung als grob trifft das Gericht.</a:t>
            </a:r>
          </a:p>
        </p:txBody>
      </p:sp>
      <p:sp>
        <p:nvSpPr>
          <p:cNvPr id="21" name="">
            <a:extLst xmlns:a="http://schemas.openxmlformats.org/drawingml/2006/main">
              <a:ext uri="{FF2B5EF4-FFF2-40B4-BE49-F238E27FC236}">
                <a16:creationId xmlns:a16="http://schemas.microsoft.com/office/drawing/2014/main" id="{9BEA8D02-E2B6-4A93-BC6A-35C57B0D8154}"/>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5335A6FF-7B07-4206-A14F-C2DFC3B454EC}"/>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„Grob“ ist eine qualifizierte rechtliche Wertung mit erheblichen Beweisfolgen.</a:t>
            </a:r>
          </a:p>
        </p:txBody>
      </p:sp>
    </p:spTree>
    <p:extLst>
      <p:ext uri="{BB962C8B-B14F-4D97-AF65-F5344CB8AC3E}">
        <p14:creationId xmlns:p14="http://schemas.microsoft.com/office/powerpoint/2010/main" val="43637646"/>
      </p:ext>
    </p:extLst>
  </p:cSld>
</p:sld>
</file>

<file path=ppt/slides/slide123.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Befunderhebungsfehler</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36D9C664-C440-4018-B186-01C2D1A33B14}"/>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Das Unterlassen eines gebotenen Befunds wird von der fehlerhaften Interpretation eines erhobenen Befunds unterschieden.</a:t>
            </a:r>
          </a:p>
        </p:txBody>
      </p:sp>
      <p:sp>
        <p:nvSpPr>
          <p:cNvPr id="5" name="">
            <a:extLst xmlns:a="http://schemas.openxmlformats.org/drawingml/2006/main">
              <a:ext uri="{FF2B5EF4-FFF2-40B4-BE49-F238E27FC236}">
                <a16:creationId xmlns:a16="http://schemas.microsoft.com/office/drawing/2014/main" id="{34352BA2-9896-4575-91CA-3F233783955D}"/>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FCB425D7-C327-492B-9B27-C139BC35CA65}"/>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BF03F993-EF2C-4F4E-9C7A-BCAC73C79470}"/>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Gebotener Befund</a:t>
            </a:r>
          </a:p>
        </p:txBody>
      </p:sp>
      <p:sp>
        <p:nvSpPr>
          <p:cNvPr id="8" name="">
            <a:extLst xmlns:a="http://schemas.openxmlformats.org/drawingml/2006/main">
              <a:ext uri="{FF2B5EF4-FFF2-40B4-BE49-F238E27FC236}">
                <a16:creationId xmlns:a16="http://schemas.microsoft.com/office/drawing/2014/main" id="{4D24DBCF-C2CC-4401-8854-64DFFD3CDF25}"/>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Zuerst muss feststehen, welche Untersuchung oder Kontrolle der Standard verlangte.</a:t>
            </a:r>
          </a:p>
        </p:txBody>
      </p:sp>
      <p:sp>
        <p:nvSpPr>
          <p:cNvPr id="9" name="">
            <a:extLst xmlns:a="http://schemas.openxmlformats.org/drawingml/2006/main">
              <a:ext uri="{FF2B5EF4-FFF2-40B4-BE49-F238E27FC236}">
                <a16:creationId xmlns:a16="http://schemas.microsoft.com/office/drawing/2014/main" id="{CADC9A24-A32E-4C86-AFF0-505B31B0A4C8}"/>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25729134-AD87-42C9-9A7C-F72EDDBEA933}"/>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9D8EE56C-2031-470C-8825-9D5E5E258996}"/>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Hypothetisches Ergebnis</a:t>
            </a:r>
          </a:p>
        </p:txBody>
      </p:sp>
      <p:sp>
        <p:nvSpPr>
          <p:cNvPr id="12" name="">
            <a:extLst xmlns:a="http://schemas.openxmlformats.org/drawingml/2006/main">
              <a:ext uri="{FF2B5EF4-FFF2-40B4-BE49-F238E27FC236}">
                <a16:creationId xmlns:a16="http://schemas.microsoft.com/office/drawing/2014/main" id="{A1E74B42-747A-4305-8769-0FD6326E1C22}"/>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Dann ist zu klären, welches Ergebnis die Befunderhebung mit hinreichender Wahrscheinlichkeit erbracht hätte.</a:t>
            </a:r>
          </a:p>
        </p:txBody>
      </p:sp>
      <p:sp>
        <p:nvSpPr>
          <p:cNvPr id="13" name="">
            <a:extLst xmlns:a="http://schemas.openxmlformats.org/drawingml/2006/main">
              <a:ext uri="{FF2B5EF4-FFF2-40B4-BE49-F238E27FC236}">
                <a16:creationId xmlns:a16="http://schemas.microsoft.com/office/drawing/2014/main" id="{4B30E488-84D8-4468-944C-E9F161747CC3}"/>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E3F7791B-A257-4047-A7BC-B09F69AFA14A}"/>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7F5452D5-93A8-4726-BE3F-F08FFA05E47D}"/>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Reaktion auf den Befund</a:t>
            </a:r>
          </a:p>
        </p:txBody>
      </p:sp>
      <p:sp>
        <p:nvSpPr>
          <p:cNvPr id="16" name="">
            <a:extLst xmlns:a="http://schemas.openxmlformats.org/drawingml/2006/main">
              <a:ext uri="{FF2B5EF4-FFF2-40B4-BE49-F238E27FC236}">
                <a16:creationId xmlns:a16="http://schemas.microsoft.com/office/drawing/2014/main" id="{2900C685-873E-4B66-A300-739B766BFD6F}"/>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Wäre eine Nichtreaktion auf einen ausreichend wahrscheinlichen reaktionspflichtigen Befund fundamental oder grob fehlerhaft gewesen?</a:t>
            </a:r>
          </a:p>
        </p:txBody>
      </p:sp>
      <p:sp>
        <p:nvSpPr>
          <p:cNvPr id="17" name="">
            <a:extLst xmlns:a="http://schemas.openxmlformats.org/drawingml/2006/main">
              <a:ext uri="{FF2B5EF4-FFF2-40B4-BE49-F238E27FC236}">
                <a16:creationId xmlns:a16="http://schemas.microsoft.com/office/drawing/2014/main" id="{C3413865-A39F-4AB0-AD57-E43BEB231C01}"/>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99BAADBA-6B69-4F8F-97C3-F9D9ABC7C880}"/>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0D55E507-E406-47A1-AFFD-0DA68BD61DDA}"/>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Beweisfolge</a:t>
            </a:r>
          </a:p>
        </p:txBody>
      </p:sp>
      <p:sp>
        <p:nvSpPr>
          <p:cNvPr id="20" name="">
            <a:extLst xmlns:a="http://schemas.openxmlformats.org/drawingml/2006/main">
              <a:ext uri="{FF2B5EF4-FFF2-40B4-BE49-F238E27FC236}">
                <a16:creationId xmlns:a16="http://schemas.microsoft.com/office/drawing/2014/main" id="{7B0A747F-06E7-4804-A811-5904EF086319}"/>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Qualifizierte Konstellationen können nach § 630h Abs. 5 Satz 2 BGB die Ursächlichkeit vermuten lassen.</a:t>
            </a:r>
          </a:p>
        </p:txBody>
      </p:sp>
      <p:sp>
        <p:nvSpPr>
          <p:cNvPr id="21" name="">
            <a:extLst xmlns:a="http://schemas.openxmlformats.org/drawingml/2006/main">
              <a:ext uri="{FF2B5EF4-FFF2-40B4-BE49-F238E27FC236}">
                <a16:creationId xmlns:a16="http://schemas.microsoft.com/office/drawing/2014/main" id="{F1305281-6901-4C7F-8C3B-08877EBF3C5E}"/>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218857CF-272A-42E5-A16F-FB32F851F8E5}"/>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Das Schema zwingt dazu, Untersuchung, erwarteten Befund, gebotene Reaktion und Schaden getrennt zu prüfen.</a:t>
            </a:r>
          </a:p>
        </p:txBody>
      </p:sp>
    </p:spTree>
    <p:extLst>
      <p:ext uri="{BB962C8B-B14F-4D97-AF65-F5344CB8AC3E}">
        <p14:creationId xmlns:p14="http://schemas.microsoft.com/office/powerpoint/2010/main" val="43637646"/>
      </p:ext>
    </p:extLst>
  </p:cSld>
</p:sld>
</file>

<file path=ppt/slides/slide124.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Schaden: Was wird ersetzt?</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44A35D6D-0F14-4798-8B43-0D83E1B1CDA9}"/>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Schadensersatz soll den Zustand herstellen, der ohne das schädigende Ereignis bestünde.</a:t>
            </a:r>
          </a:p>
        </p:txBody>
      </p:sp>
      <p:sp>
        <p:nvSpPr>
          <p:cNvPr id="5" name="">
            <a:extLst xmlns:a="http://schemas.openxmlformats.org/drawingml/2006/main">
              <a:ext uri="{FF2B5EF4-FFF2-40B4-BE49-F238E27FC236}">
                <a16:creationId xmlns:a16="http://schemas.microsoft.com/office/drawing/2014/main" id="{559EFCF7-B8C8-4E94-9259-DF2D2C7934F6}"/>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71EDF94B-0148-450C-9332-024436EB5955}"/>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6A010AE3-8481-4A10-86FA-A585F6DE9E6F}"/>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Materielle Schäden</a:t>
            </a:r>
          </a:p>
        </p:txBody>
      </p:sp>
      <p:sp>
        <p:nvSpPr>
          <p:cNvPr id="8" name="">
            <a:extLst xmlns:a="http://schemas.openxmlformats.org/drawingml/2006/main">
              <a:ext uri="{FF2B5EF4-FFF2-40B4-BE49-F238E27FC236}">
                <a16:creationId xmlns:a16="http://schemas.microsoft.com/office/drawing/2014/main" id="{4615340E-0A1E-4C4B-A92F-25110176494D}"/>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Behandlungskosten, Verdienstausfall, Haushaltsführungsschaden, Pflege- und Mehrbedarf können ersatzfähig sein.</a:t>
            </a:r>
          </a:p>
        </p:txBody>
      </p:sp>
      <p:sp>
        <p:nvSpPr>
          <p:cNvPr id="9" name="">
            <a:extLst xmlns:a="http://schemas.openxmlformats.org/drawingml/2006/main">
              <a:ext uri="{FF2B5EF4-FFF2-40B4-BE49-F238E27FC236}">
                <a16:creationId xmlns:a16="http://schemas.microsoft.com/office/drawing/2014/main" id="{07F3409D-9CCA-40DB-8F25-483DA7D0A229}"/>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D862D347-A840-4EEA-8AC1-81FF7AA25431}"/>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741EF3D8-4A22-4A12-B9A3-892014683976}"/>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Immaterieller Schaden</a:t>
            </a:r>
          </a:p>
        </p:txBody>
      </p:sp>
      <p:sp>
        <p:nvSpPr>
          <p:cNvPr id="12" name="">
            <a:extLst xmlns:a="http://schemas.openxmlformats.org/drawingml/2006/main">
              <a:ext uri="{FF2B5EF4-FFF2-40B4-BE49-F238E27FC236}">
                <a16:creationId xmlns:a16="http://schemas.microsoft.com/office/drawing/2014/main" id="{AA5C0FF6-F242-4CE0-BFB1-625705556E88}"/>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Bei Körper- oder Gesundheitsverletzung kann § 253 Abs. 2 BGB ein angemessenes Schmerzensgeld begründen.</a:t>
            </a:r>
          </a:p>
        </p:txBody>
      </p:sp>
      <p:sp>
        <p:nvSpPr>
          <p:cNvPr id="13" name="">
            <a:extLst xmlns:a="http://schemas.openxmlformats.org/drawingml/2006/main">
              <a:ext uri="{FF2B5EF4-FFF2-40B4-BE49-F238E27FC236}">
                <a16:creationId xmlns:a16="http://schemas.microsoft.com/office/drawing/2014/main" id="{B676C356-1473-4827-BBEB-27C98FCA5463}"/>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F925A6D7-C50B-41AD-9921-43136DEF4771}"/>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DB26E8E2-FE07-49B2-B040-F135E3FAD315}"/>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Zukunftsschäden</a:t>
            </a:r>
          </a:p>
        </p:txBody>
      </p:sp>
      <p:sp>
        <p:nvSpPr>
          <p:cNvPr id="16" name="">
            <a:extLst xmlns:a="http://schemas.openxmlformats.org/drawingml/2006/main">
              <a:ext uri="{FF2B5EF4-FFF2-40B4-BE49-F238E27FC236}">
                <a16:creationId xmlns:a16="http://schemas.microsoft.com/office/drawing/2014/main" id="{7E115FD0-DEF7-449B-A8CA-7483E72EACE0}"/>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Bei noch ungewisser Entwicklung kann neben bezifferten Ansprüchen eine Feststellung der Ersatzpflicht für künftige Schäden sinnvoll sein.</a:t>
            </a:r>
          </a:p>
        </p:txBody>
      </p:sp>
      <p:sp>
        <p:nvSpPr>
          <p:cNvPr id="17" name="">
            <a:extLst xmlns:a="http://schemas.openxmlformats.org/drawingml/2006/main">
              <a:ext uri="{FF2B5EF4-FFF2-40B4-BE49-F238E27FC236}">
                <a16:creationId xmlns:a16="http://schemas.microsoft.com/office/drawing/2014/main" id="{462363CD-D0E7-49C1-9CC1-6AFF5125C1EC}"/>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920F8A04-7E55-4BF8-A671-99C069FFD158}"/>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0B249923-733C-406A-9189-DB5BC9828D24}"/>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Vorteile und Mitwirkung</a:t>
            </a:r>
          </a:p>
        </p:txBody>
      </p:sp>
      <p:sp>
        <p:nvSpPr>
          <p:cNvPr id="20" name="">
            <a:extLst xmlns:a="http://schemas.openxmlformats.org/drawingml/2006/main">
              <a:ext uri="{FF2B5EF4-FFF2-40B4-BE49-F238E27FC236}">
                <a16:creationId xmlns:a16="http://schemas.microsoft.com/office/drawing/2014/main" id="{B3A90D37-1BC3-4945-BA5E-04826B9B9DF4}"/>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Ersparte Aufwendungen, Drittleistungen, Mitverschulden und Schadensminderung werden gesondert geprüft.</a:t>
            </a:r>
          </a:p>
        </p:txBody>
      </p:sp>
      <p:sp>
        <p:nvSpPr>
          <p:cNvPr id="21" name="">
            <a:extLst xmlns:a="http://schemas.openxmlformats.org/drawingml/2006/main">
              <a:ext uri="{FF2B5EF4-FFF2-40B4-BE49-F238E27FC236}">
                <a16:creationId xmlns:a16="http://schemas.microsoft.com/office/drawing/2014/main" id="{82C38884-A45C-4F1F-A1FE-3C3D59D78059}"/>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A1CE5398-2B31-4F65-94B9-22270452D11D}"/>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Haftungsgrund und Schadenshöhe sind zwei verschiedene Beweis- und Entscheidungsblöcke.</a:t>
            </a:r>
          </a:p>
        </p:txBody>
      </p:sp>
    </p:spTree>
    <p:extLst>
      <p:ext uri="{BB962C8B-B14F-4D97-AF65-F5344CB8AC3E}">
        <p14:creationId xmlns:p14="http://schemas.microsoft.com/office/powerpoint/2010/main" val="43637646"/>
      </p:ext>
    </p:extLst>
  </p:cSld>
</p:sld>
</file>

<file path=ppt/slides/slide125.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Naturalrestitution und Geldersatz</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NORM IM FOKUS · §§ 249–253 BGB</a:t>
            </a:r>
            <a:endParaRPr/>
          </a:p>
        </p:txBody>
      </p:sp>
      <p:sp>
        <p:nvSpPr>
          <p:cNvPr id="4" name="">
            <a:extLst xmlns:a="http://schemas.openxmlformats.org/drawingml/2006/main">
              <a:ext uri="{FF2B5EF4-FFF2-40B4-BE49-F238E27FC236}">
                <a16:creationId xmlns:a16="http://schemas.microsoft.com/office/drawing/2014/main" id="{4832CB8B-5236-4F1B-BC2E-3A18F31A7113}"/>
              </a:ext>
            </a:extLst>
          </p:cNvPr>
          <p:cNvSpPr>
            <a:spLocks xmlns:a="http://schemas.openxmlformats.org/drawingml/2006/main" noGrp="1"/>
          </p:cNvSpPr>
          <p:nvPr/>
        </p:nvSpPr>
        <p:spPr>
          <a:xfrm xmlns:a="http://schemas.openxmlformats.org/drawingml/2006/main">
            <a:off x="1809750" y="1924050"/>
            <a:ext cx="2286000" cy="704850"/>
          </a:xfrm>
          <a:prstGeom xmlns:a="http://schemas.openxmlformats.org/drawingml/2006/main" prst="roundRect">
            <a:avLst>
              <a:gd name="adj" fmla="val 10811"/>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06BF72DC-4DB9-4C25-A50C-DECEE69CEB37}"/>
              </a:ext>
            </a:extLst>
          </p:cNvPr>
          <p:cNvSpPr>
            <a:spLocks xmlns:a="http://schemas.openxmlformats.org/drawingml/2006/main" noGrp="1"/>
          </p:cNvSpPr>
          <p:nvPr/>
        </p:nvSpPr>
        <p:spPr>
          <a:xfrm xmlns:a="http://schemas.openxmlformats.org/drawingml/2006/main">
            <a:off x="1924050" y="1971675"/>
            <a:ext cx="2057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75" b="1">
                <a:solidFill>
                  <a:srgbClr val="FFFFFF"/>
                </a:solidFill>
              </a:defRPr>
            </a:pPr>
            <a:r>
              <a:rPr sz="1875" b="1">
                <a:solidFill>
                  <a:srgbClr val="FFFFFF"/>
                </a:solidFill>
              </a:rPr>
              <a:t>§§ 249–253 BGB</a:t>
            </a:r>
          </a:p>
        </p:txBody>
      </p:sp>
      <p:sp>
        <p:nvSpPr>
          <p:cNvPr id="6" name="">
            <a:extLst xmlns:a="http://schemas.openxmlformats.org/drawingml/2006/main">
              <a:ext uri="{FF2B5EF4-FFF2-40B4-BE49-F238E27FC236}">
                <a16:creationId xmlns:a16="http://schemas.microsoft.com/office/drawing/2014/main" id="{2A934953-EEDC-4878-BE8E-4E5F5C96A05A}"/>
              </a:ext>
            </a:extLst>
          </p:cNvPr>
          <p:cNvSpPr>
            <a:spLocks xmlns:a="http://schemas.openxmlformats.org/drawingml/2006/main" noGrp="1"/>
          </p:cNvSpPr>
          <p:nvPr/>
        </p:nvSpPr>
        <p:spPr>
          <a:xfrm xmlns:a="http://schemas.openxmlformats.org/drawingml/2006/main">
            <a:off x="4362450" y="1924050"/>
            <a:ext cx="6972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15">
                <a:solidFill>
                  <a:srgbClr val="667680"/>
                </a:solidFill>
              </a:defRPr>
            </a:pPr>
            <a:r>
              <a:rPr sz="1215">
                <a:solidFill>
                  <a:srgbClr val="667680"/>
                </a:solidFill>
              </a:rPr>
              <a:t>Die Vorschriften bestimmen Art und Umfang der Schadenskompensation.</a:t>
            </a:r>
          </a:p>
        </p:txBody>
      </p:sp>
      <p:sp>
        <p:nvSpPr>
          <p:cNvPr id="7" name="">
            <a:extLst xmlns:a="http://schemas.openxmlformats.org/drawingml/2006/main">
              <a:ext uri="{FF2B5EF4-FFF2-40B4-BE49-F238E27FC236}">
                <a16:creationId xmlns:a16="http://schemas.microsoft.com/office/drawing/2014/main" id="{08871D5D-8A97-469E-AEF6-099C1A195C8D}"/>
              </a:ext>
            </a:extLst>
          </p:cNvPr>
          <p:cNvSpPr>
            <a:spLocks xmlns:a="http://schemas.openxmlformats.org/drawingml/2006/main" noGrp="1"/>
          </p:cNvSpPr>
          <p:nvPr/>
        </p:nvSpPr>
        <p:spPr>
          <a:xfrm xmlns:a="http://schemas.openxmlformats.org/drawingml/2006/main">
            <a:off x="1809750" y="2781300"/>
            <a:ext cx="476250" cy="414338"/>
          </a:xfrm>
          <a:prstGeom xmlns:a="http://schemas.openxmlformats.org/drawingml/2006/main" prst="roundRect">
            <a:avLst>
              <a:gd name="adj" fmla="val 18391"/>
            </a:avLst>
          </a:prstGeom>
          <a:solidFill xmlns:a="http://schemas.openxmlformats.org/drawingml/2006/main">
            <a:srgbClr val="00B2BB"/>
          </a:solidFill>
          <a:ln xmlns:a="http://schemas.openxmlformats.org/drawingml/2006/main" w="0">
            <a:solidFill>
              <a:srgbClr val="00B2BB"/>
            </a:solidFill>
            <a:prstDash val="solid"/>
          </a:ln>
        </p:spPr>
      </p:sp>
      <p:sp>
        <p:nvSpPr>
          <p:cNvPr id="8" name="">
            <a:extLst xmlns:a="http://schemas.openxmlformats.org/drawingml/2006/main">
              <a:ext uri="{FF2B5EF4-FFF2-40B4-BE49-F238E27FC236}">
                <a16:creationId xmlns:a16="http://schemas.microsoft.com/office/drawing/2014/main" id="{1EA8CD71-DC99-4FEF-88B1-3CC8ECAD183A}"/>
              </a:ext>
            </a:extLst>
          </p:cNvPr>
          <p:cNvSpPr>
            <a:spLocks xmlns:a="http://schemas.openxmlformats.org/drawingml/2006/main" noGrp="1"/>
          </p:cNvSpPr>
          <p:nvPr/>
        </p:nvSpPr>
        <p:spPr>
          <a:xfrm xmlns:a="http://schemas.openxmlformats.org/drawingml/2006/main">
            <a:off x="1809750" y="2781300"/>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9" name="">
            <a:extLst xmlns:a="http://schemas.openxmlformats.org/drawingml/2006/main">
              <a:ext uri="{FF2B5EF4-FFF2-40B4-BE49-F238E27FC236}">
                <a16:creationId xmlns:a16="http://schemas.microsoft.com/office/drawing/2014/main" id="{96D37CEB-9614-4409-A688-EB396552A141}"/>
              </a:ext>
            </a:extLst>
          </p:cNvPr>
          <p:cNvSpPr>
            <a:spLocks xmlns:a="http://schemas.openxmlformats.org/drawingml/2006/main" noGrp="1"/>
          </p:cNvSpPr>
          <p:nvPr/>
        </p:nvSpPr>
        <p:spPr>
          <a:xfrm xmlns:a="http://schemas.openxmlformats.org/drawingml/2006/main">
            <a:off x="2438400" y="2790825"/>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 249</a:t>
            </a:r>
          </a:p>
        </p:txBody>
      </p:sp>
      <p:sp>
        <p:nvSpPr>
          <p:cNvPr id="10" name="">
            <a:extLst xmlns:a="http://schemas.openxmlformats.org/drawingml/2006/main">
              <a:ext uri="{FF2B5EF4-FFF2-40B4-BE49-F238E27FC236}">
                <a16:creationId xmlns:a16="http://schemas.microsoft.com/office/drawing/2014/main" id="{BFB78F29-5C22-4C31-AE5B-634D6DA53451}"/>
              </a:ext>
            </a:extLst>
          </p:cNvPr>
          <p:cNvSpPr>
            <a:spLocks xmlns:a="http://schemas.openxmlformats.org/drawingml/2006/main" noGrp="1"/>
          </p:cNvSpPr>
          <p:nvPr/>
        </p:nvSpPr>
        <p:spPr>
          <a:xfrm xmlns:a="http://schemas.openxmlformats.org/drawingml/2006/main">
            <a:off x="4591050" y="2790825"/>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Grundidee ist Herstellung des Zustands, der ohne das schädigende Ereignis bestünde; bei Personenschäden erfolgt dies praktisch häufig durch Geldersatz.</a:t>
            </a:r>
          </a:p>
        </p:txBody>
      </p:sp>
      <p:sp>
        <p:nvSpPr>
          <p:cNvPr id="11" name="">
            <a:extLst xmlns:a="http://schemas.openxmlformats.org/drawingml/2006/main">
              <a:ext uri="{FF2B5EF4-FFF2-40B4-BE49-F238E27FC236}">
                <a16:creationId xmlns:a16="http://schemas.microsoft.com/office/drawing/2014/main" id="{5822768C-2B70-432E-B295-C87DB6D8B51A}"/>
              </a:ext>
            </a:extLst>
          </p:cNvPr>
          <p:cNvSpPr>
            <a:spLocks xmlns:a="http://schemas.openxmlformats.org/drawingml/2006/main" noGrp="1"/>
          </p:cNvSpPr>
          <p:nvPr/>
        </p:nvSpPr>
        <p:spPr>
          <a:xfrm xmlns:a="http://schemas.openxmlformats.org/drawingml/2006/main">
            <a:off x="1809750" y="3271838"/>
            <a:ext cx="476250" cy="414338"/>
          </a:xfrm>
          <a:prstGeom xmlns:a="http://schemas.openxmlformats.org/drawingml/2006/main" prst="roundRect">
            <a:avLst>
              <a:gd name="adj" fmla="val 18391"/>
            </a:avLst>
          </a:prstGeom>
          <a:solidFill xmlns:a="http://schemas.openxmlformats.org/drawingml/2006/main">
            <a:srgbClr val="003F6B"/>
          </a:solidFill>
          <a:ln xmlns:a="http://schemas.openxmlformats.org/drawingml/2006/main" w="0">
            <a:solidFill>
              <a:srgbClr val="003F6B"/>
            </a:solidFill>
            <a:prstDash val="solid"/>
          </a:ln>
        </p:spPr>
      </p:sp>
      <p:sp>
        <p:nvSpPr>
          <p:cNvPr id="12" name="">
            <a:extLst xmlns:a="http://schemas.openxmlformats.org/drawingml/2006/main">
              <a:ext uri="{FF2B5EF4-FFF2-40B4-BE49-F238E27FC236}">
                <a16:creationId xmlns:a16="http://schemas.microsoft.com/office/drawing/2014/main" id="{CB295A28-5918-4829-9231-2AFD36929855}"/>
              </a:ext>
            </a:extLst>
          </p:cNvPr>
          <p:cNvSpPr>
            <a:spLocks xmlns:a="http://schemas.openxmlformats.org/drawingml/2006/main" noGrp="1"/>
          </p:cNvSpPr>
          <p:nvPr/>
        </p:nvSpPr>
        <p:spPr>
          <a:xfrm xmlns:a="http://schemas.openxmlformats.org/drawingml/2006/main">
            <a:off x="1809750" y="3271838"/>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3" name="">
            <a:extLst xmlns:a="http://schemas.openxmlformats.org/drawingml/2006/main">
              <a:ext uri="{FF2B5EF4-FFF2-40B4-BE49-F238E27FC236}">
                <a16:creationId xmlns:a16="http://schemas.microsoft.com/office/drawing/2014/main" id="{FD01319A-AC7C-4A06-BA50-EDA105E2DAAF}"/>
              </a:ext>
            </a:extLst>
          </p:cNvPr>
          <p:cNvSpPr>
            <a:spLocks xmlns:a="http://schemas.openxmlformats.org/drawingml/2006/main" noGrp="1"/>
          </p:cNvSpPr>
          <p:nvPr/>
        </p:nvSpPr>
        <p:spPr>
          <a:xfrm xmlns:a="http://schemas.openxmlformats.org/drawingml/2006/main">
            <a:off x="2438400" y="3281363"/>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 250, 251</a:t>
            </a:r>
          </a:p>
        </p:txBody>
      </p:sp>
      <p:sp>
        <p:nvSpPr>
          <p:cNvPr id="14" name="">
            <a:extLst xmlns:a="http://schemas.openxmlformats.org/drawingml/2006/main">
              <a:ext uri="{FF2B5EF4-FFF2-40B4-BE49-F238E27FC236}">
                <a16:creationId xmlns:a16="http://schemas.microsoft.com/office/drawing/2014/main" id="{904A1ED8-2864-480C-96AE-703C803F91CB}"/>
              </a:ext>
            </a:extLst>
          </p:cNvPr>
          <p:cNvSpPr>
            <a:spLocks xmlns:a="http://schemas.openxmlformats.org/drawingml/2006/main" noGrp="1"/>
          </p:cNvSpPr>
          <p:nvPr/>
        </p:nvSpPr>
        <p:spPr>
          <a:xfrm xmlns:a="http://schemas.openxmlformats.org/drawingml/2006/main">
            <a:off x="4591050" y="3281363"/>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Unter Voraussetzungen tritt Geldersatz an die Stelle tatsächlicher Herstellung.</a:t>
            </a:r>
          </a:p>
        </p:txBody>
      </p:sp>
      <p:sp>
        <p:nvSpPr>
          <p:cNvPr id="15" name="">
            <a:extLst xmlns:a="http://schemas.openxmlformats.org/drawingml/2006/main">
              <a:ext uri="{FF2B5EF4-FFF2-40B4-BE49-F238E27FC236}">
                <a16:creationId xmlns:a16="http://schemas.microsoft.com/office/drawing/2014/main" id="{073BC293-FCBF-4AA7-801F-091C62706DA5}"/>
              </a:ext>
            </a:extLst>
          </p:cNvPr>
          <p:cNvSpPr>
            <a:spLocks xmlns:a="http://schemas.openxmlformats.org/drawingml/2006/main" noGrp="1"/>
          </p:cNvSpPr>
          <p:nvPr/>
        </p:nvSpPr>
        <p:spPr>
          <a:xfrm xmlns:a="http://schemas.openxmlformats.org/drawingml/2006/main">
            <a:off x="1809750" y="3762375"/>
            <a:ext cx="476250" cy="414338"/>
          </a:xfrm>
          <a:prstGeom xmlns:a="http://schemas.openxmlformats.org/drawingml/2006/main" prst="roundRect">
            <a:avLst>
              <a:gd name="adj" fmla="val 18391"/>
            </a:avLst>
          </a:prstGeom>
          <a:solidFill xmlns:a="http://schemas.openxmlformats.org/drawingml/2006/main">
            <a:srgbClr val="00B2BB"/>
          </a:solidFill>
          <a:ln xmlns:a="http://schemas.openxmlformats.org/drawingml/2006/main" w="0">
            <a:solidFill>
              <a:srgbClr val="00B2BB"/>
            </a:solidFill>
            <a:prstDash val="solid"/>
          </a:ln>
        </p:spPr>
      </p:sp>
      <p:sp>
        <p:nvSpPr>
          <p:cNvPr id="16" name="">
            <a:extLst xmlns:a="http://schemas.openxmlformats.org/drawingml/2006/main">
              <a:ext uri="{FF2B5EF4-FFF2-40B4-BE49-F238E27FC236}">
                <a16:creationId xmlns:a16="http://schemas.microsoft.com/office/drawing/2014/main" id="{53789925-8EC5-4AEF-9EBF-7B02A7E706E4}"/>
              </a:ext>
            </a:extLst>
          </p:cNvPr>
          <p:cNvSpPr>
            <a:spLocks xmlns:a="http://schemas.openxmlformats.org/drawingml/2006/main" noGrp="1"/>
          </p:cNvSpPr>
          <p:nvPr/>
        </p:nvSpPr>
        <p:spPr>
          <a:xfrm xmlns:a="http://schemas.openxmlformats.org/drawingml/2006/main">
            <a:off x="1809750" y="3762375"/>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7" name="">
            <a:extLst xmlns:a="http://schemas.openxmlformats.org/drawingml/2006/main">
              <a:ext uri="{FF2B5EF4-FFF2-40B4-BE49-F238E27FC236}">
                <a16:creationId xmlns:a16="http://schemas.microsoft.com/office/drawing/2014/main" id="{FF865F6A-3D22-4A4C-B017-FE7BDD023213}"/>
              </a:ext>
            </a:extLst>
          </p:cNvPr>
          <p:cNvSpPr>
            <a:spLocks xmlns:a="http://schemas.openxmlformats.org/drawingml/2006/main" noGrp="1"/>
          </p:cNvSpPr>
          <p:nvPr/>
        </p:nvSpPr>
        <p:spPr>
          <a:xfrm xmlns:a="http://schemas.openxmlformats.org/drawingml/2006/main">
            <a:off x="2438400" y="3771900"/>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 252</a:t>
            </a:r>
          </a:p>
        </p:txBody>
      </p:sp>
      <p:sp>
        <p:nvSpPr>
          <p:cNvPr id="18" name="">
            <a:extLst xmlns:a="http://schemas.openxmlformats.org/drawingml/2006/main">
              <a:ext uri="{FF2B5EF4-FFF2-40B4-BE49-F238E27FC236}">
                <a16:creationId xmlns:a16="http://schemas.microsoft.com/office/drawing/2014/main" id="{565F7926-E6F4-4565-BC35-C56482DF3BC4}"/>
              </a:ext>
            </a:extLst>
          </p:cNvPr>
          <p:cNvSpPr>
            <a:spLocks xmlns:a="http://schemas.openxmlformats.org/drawingml/2006/main" noGrp="1"/>
          </p:cNvSpPr>
          <p:nvPr/>
        </p:nvSpPr>
        <p:spPr>
          <a:xfrm xmlns:a="http://schemas.openxmlformats.org/drawingml/2006/main">
            <a:off x="4591050" y="3771900"/>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Entgangener Gewinn kann ersetzt werden; die Darlegung wird durch Wahrscheinlichkeitsregeln erleichtert.</a:t>
            </a:r>
          </a:p>
        </p:txBody>
      </p:sp>
      <p:sp>
        <p:nvSpPr>
          <p:cNvPr id="19" name="">
            <a:extLst xmlns:a="http://schemas.openxmlformats.org/drawingml/2006/main">
              <a:ext uri="{FF2B5EF4-FFF2-40B4-BE49-F238E27FC236}">
                <a16:creationId xmlns:a16="http://schemas.microsoft.com/office/drawing/2014/main" id="{C85F4680-7CE3-4987-9859-F1B67FC08642}"/>
              </a:ext>
            </a:extLst>
          </p:cNvPr>
          <p:cNvSpPr>
            <a:spLocks xmlns:a="http://schemas.openxmlformats.org/drawingml/2006/main" noGrp="1"/>
          </p:cNvSpPr>
          <p:nvPr/>
        </p:nvSpPr>
        <p:spPr>
          <a:xfrm xmlns:a="http://schemas.openxmlformats.org/drawingml/2006/main">
            <a:off x="1809750" y="4252913"/>
            <a:ext cx="476250" cy="414338"/>
          </a:xfrm>
          <a:prstGeom xmlns:a="http://schemas.openxmlformats.org/drawingml/2006/main" prst="roundRect">
            <a:avLst>
              <a:gd name="adj" fmla="val 18391"/>
            </a:avLst>
          </a:prstGeom>
          <a:solidFill xmlns:a="http://schemas.openxmlformats.org/drawingml/2006/main">
            <a:srgbClr val="003F6B"/>
          </a:solidFill>
          <a:ln xmlns:a="http://schemas.openxmlformats.org/drawingml/2006/main" w="0">
            <a:solidFill>
              <a:srgbClr val="003F6B"/>
            </a:solidFill>
            <a:prstDash val="solid"/>
          </a:ln>
        </p:spPr>
      </p:sp>
      <p:sp>
        <p:nvSpPr>
          <p:cNvPr id="20" name="">
            <a:extLst xmlns:a="http://schemas.openxmlformats.org/drawingml/2006/main">
              <a:ext uri="{FF2B5EF4-FFF2-40B4-BE49-F238E27FC236}">
                <a16:creationId xmlns:a16="http://schemas.microsoft.com/office/drawing/2014/main" id="{9AC54F41-705D-474D-AF31-0871702EE223}"/>
              </a:ext>
            </a:extLst>
          </p:cNvPr>
          <p:cNvSpPr>
            <a:spLocks xmlns:a="http://schemas.openxmlformats.org/drawingml/2006/main" noGrp="1"/>
          </p:cNvSpPr>
          <p:nvPr/>
        </p:nvSpPr>
        <p:spPr>
          <a:xfrm xmlns:a="http://schemas.openxmlformats.org/drawingml/2006/main">
            <a:off x="1809750" y="4252913"/>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21" name="">
            <a:extLst xmlns:a="http://schemas.openxmlformats.org/drawingml/2006/main">
              <a:ext uri="{FF2B5EF4-FFF2-40B4-BE49-F238E27FC236}">
                <a16:creationId xmlns:a16="http://schemas.microsoft.com/office/drawing/2014/main" id="{4D255240-4A97-4228-BDB8-79E2D413E9EA}"/>
              </a:ext>
            </a:extLst>
          </p:cNvPr>
          <p:cNvSpPr>
            <a:spLocks xmlns:a="http://schemas.openxmlformats.org/drawingml/2006/main" noGrp="1"/>
          </p:cNvSpPr>
          <p:nvPr/>
        </p:nvSpPr>
        <p:spPr>
          <a:xfrm xmlns:a="http://schemas.openxmlformats.org/drawingml/2006/main">
            <a:off x="2438400" y="4262438"/>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 253</a:t>
            </a:r>
          </a:p>
        </p:txBody>
      </p:sp>
      <p:sp>
        <p:nvSpPr>
          <p:cNvPr id="22" name="">
            <a:extLst xmlns:a="http://schemas.openxmlformats.org/drawingml/2006/main">
              <a:ext uri="{FF2B5EF4-FFF2-40B4-BE49-F238E27FC236}">
                <a16:creationId xmlns:a16="http://schemas.microsoft.com/office/drawing/2014/main" id="{2FCC2FBE-49F5-4E39-9AA4-C17320EFAF81}"/>
              </a:ext>
            </a:extLst>
          </p:cNvPr>
          <p:cNvSpPr>
            <a:spLocks xmlns:a="http://schemas.openxmlformats.org/drawingml/2006/main" noGrp="1"/>
          </p:cNvSpPr>
          <p:nvPr/>
        </p:nvSpPr>
        <p:spPr>
          <a:xfrm xmlns:a="http://schemas.openxmlformats.org/drawingml/2006/main">
            <a:off x="4591050" y="4262438"/>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Immaterielle Nachteile werden nur in gesetzlich bestimmten Fällen ersetzt, bei Körper- und Gesundheitsverletzung insbesondere durch Schmerzensgeld.</a:t>
            </a:r>
          </a:p>
        </p:txBody>
      </p:sp>
      <p:sp>
        <p:nvSpPr>
          <p:cNvPr id="23" name="">
            <a:extLst xmlns:a="http://schemas.openxmlformats.org/drawingml/2006/main">
              <a:ext uri="{FF2B5EF4-FFF2-40B4-BE49-F238E27FC236}">
                <a16:creationId xmlns:a16="http://schemas.microsoft.com/office/drawing/2014/main" id="{09A1FA68-4FAD-4658-A927-6BC7A3F4B32C}"/>
              </a:ext>
            </a:extLst>
          </p:cNvPr>
          <p:cNvSpPr>
            <a:spLocks xmlns:a="http://schemas.openxmlformats.org/drawingml/2006/main" noGrp="1"/>
          </p:cNvSpPr>
          <p:nvPr/>
        </p:nvSpPr>
        <p:spPr>
          <a:xfrm xmlns:a="http://schemas.openxmlformats.org/drawingml/2006/main">
            <a:off x="1809750" y="4781550"/>
            <a:ext cx="9525000" cy="666750"/>
          </a:xfrm>
          <a:prstGeom xmlns:a="http://schemas.openxmlformats.org/drawingml/2006/main" prst="roundRect">
            <a:avLst>
              <a:gd name="adj" fmla="val 11429"/>
            </a:avLst>
          </a:prstGeom>
          <a:solidFill xmlns:a="http://schemas.openxmlformats.org/drawingml/2006/main">
            <a:srgbClr val="EAF6FB"/>
          </a:solidFill>
          <a:ln xmlns:a="http://schemas.openxmlformats.org/drawingml/2006/main" w="9525">
            <a:solidFill>
              <a:srgbClr val="00B2BB"/>
            </a:solidFill>
            <a:prstDash val="solid"/>
          </a:ln>
        </p:spPr>
      </p:sp>
      <p:sp>
        <p:nvSpPr>
          <p:cNvPr id="24" name="">
            <a:extLst xmlns:a="http://schemas.openxmlformats.org/drawingml/2006/main">
              <a:ext uri="{FF2B5EF4-FFF2-40B4-BE49-F238E27FC236}">
                <a16:creationId xmlns:a16="http://schemas.microsoft.com/office/drawing/2014/main" id="{2E9D14B3-08A2-428B-9CD2-FFDA1E9FA53A}"/>
              </a:ext>
            </a:extLst>
          </p:cNvPr>
          <p:cNvSpPr>
            <a:spLocks xmlns:a="http://schemas.openxmlformats.org/drawingml/2006/main" noGrp="1"/>
          </p:cNvSpPr>
          <p:nvPr/>
        </p:nvSpPr>
        <p:spPr>
          <a:xfrm xmlns:a="http://schemas.openxmlformats.org/drawingml/2006/main">
            <a:off x="1981200" y="4829175"/>
            <a:ext cx="9182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065">
                <a:solidFill>
                  <a:srgbClr val="15232B"/>
                </a:solidFill>
              </a:defRPr>
            </a:pPr>
            <a:r>
              <a:rPr sz="1065">
                <a:solidFill>
                  <a:srgbClr val="15232B"/>
                </a:solidFill>
              </a:rPr>
              <a:t>Beispiel · Beispiel: Neben Schmerzensgeld werden konkrete Pflegekosten und ein nachweisbarer Verdienstausfall geltend gemacht.</a:t>
            </a:r>
          </a:p>
        </p:txBody>
      </p:sp>
      <p:sp>
        <p:nvSpPr>
          <p:cNvPr id="25" name="">
            <a:extLst xmlns:a="http://schemas.openxmlformats.org/drawingml/2006/main">
              <a:ext uri="{FF2B5EF4-FFF2-40B4-BE49-F238E27FC236}">
                <a16:creationId xmlns:a16="http://schemas.microsoft.com/office/drawing/2014/main" id="{06E02CBB-1F07-44F0-99C1-40F2D59F52BE}"/>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6" name="">
            <a:extLst xmlns:a="http://schemas.openxmlformats.org/drawingml/2006/main">
              <a:ext uri="{FF2B5EF4-FFF2-40B4-BE49-F238E27FC236}">
                <a16:creationId xmlns:a16="http://schemas.microsoft.com/office/drawing/2014/main" id="{8B06DE87-56FA-4668-BB16-4AD4A3D8DAF8}"/>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Jede Schadensposition braucht eine eigene Tatsachengrundlage und Berechnung.</a:t>
            </a:r>
          </a:p>
        </p:txBody>
      </p:sp>
    </p:spTree>
    <p:extLst>
      <p:ext uri="{BB962C8B-B14F-4D97-AF65-F5344CB8AC3E}">
        <p14:creationId xmlns:p14="http://schemas.microsoft.com/office/powerpoint/2010/main" val="43637646"/>
      </p:ext>
    </p:extLst>
  </p:cSld>
</p:sld>
</file>

<file path=ppt/slides/slide126.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Mitverschulden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NORM IM FOKUS · § 254 BGB</a:t>
            </a:r>
            <a:endParaRPr/>
          </a:p>
        </p:txBody>
      </p:sp>
      <p:sp>
        <p:nvSpPr>
          <p:cNvPr id="4" name="">
            <a:extLst xmlns:a="http://schemas.openxmlformats.org/drawingml/2006/main">
              <a:ext uri="{FF2B5EF4-FFF2-40B4-BE49-F238E27FC236}">
                <a16:creationId xmlns:a16="http://schemas.microsoft.com/office/drawing/2014/main" id="{38EDA335-EA97-4E71-A414-8DB4A4F5EA96}"/>
              </a:ext>
            </a:extLst>
          </p:cNvPr>
          <p:cNvSpPr>
            <a:spLocks xmlns:a="http://schemas.openxmlformats.org/drawingml/2006/main" noGrp="1"/>
          </p:cNvSpPr>
          <p:nvPr/>
        </p:nvSpPr>
        <p:spPr>
          <a:xfrm xmlns:a="http://schemas.openxmlformats.org/drawingml/2006/main">
            <a:off x="1809750" y="1924050"/>
            <a:ext cx="2286000" cy="704850"/>
          </a:xfrm>
          <a:prstGeom xmlns:a="http://schemas.openxmlformats.org/drawingml/2006/main" prst="roundRect">
            <a:avLst>
              <a:gd name="adj" fmla="val 10811"/>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8E83EBBB-E50B-4007-9E5D-F5B001C52C21}"/>
              </a:ext>
            </a:extLst>
          </p:cNvPr>
          <p:cNvSpPr>
            <a:spLocks xmlns:a="http://schemas.openxmlformats.org/drawingml/2006/main" noGrp="1"/>
          </p:cNvSpPr>
          <p:nvPr/>
        </p:nvSpPr>
        <p:spPr>
          <a:xfrm xmlns:a="http://schemas.openxmlformats.org/drawingml/2006/main">
            <a:off x="1924050" y="1971675"/>
            <a:ext cx="2057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75" b="1">
                <a:solidFill>
                  <a:srgbClr val="FFFFFF"/>
                </a:solidFill>
              </a:defRPr>
            </a:pPr>
            <a:r>
              <a:rPr sz="1875" b="1">
                <a:solidFill>
                  <a:srgbClr val="FFFFFF"/>
                </a:solidFill>
              </a:rPr>
              <a:t>§ 254 BGB</a:t>
            </a:r>
          </a:p>
        </p:txBody>
      </p:sp>
      <p:sp>
        <p:nvSpPr>
          <p:cNvPr id="6" name="">
            <a:extLst xmlns:a="http://schemas.openxmlformats.org/drawingml/2006/main">
              <a:ext uri="{FF2B5EF4-FFF2-40B4-BE49-F238E27FC236}">
                <a16:creationId xmlns:a16="http://schemas.microsoft.com/office/drawing/2014/main" id="{C6EDD18E-B792-4EE3-A158-F151FD1591D1}"/>
              </a:ext>
            </a:extLst>
          </p:cNvPr>
          <p:cNvSpPr>
            <a:spLocks xmlns:a="http://schemas.openxmlformats.org/drawingml/2006/main" noGrp="1"/>
          </p:cNvSpPr>
          <p:nvPr/>
        </p:nvSpPr>
        <p:spPr>
          <a:xfrm xmlns:a="http://schemas.openxmlformats.org/drawingml/2006/main">
            <a:off x="4362450" y="1924050"/>
            <a:ext cx="6972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15">
                <a:solidFill>
                  <a:srgbClr val="667680"/>
                </a:solidFill>
              </a:defRPr>
            </a:pPr>
            <a:r>
              <a:rPr sz="1215">
                <a:solidFill>
                  <a:srgbClr val="667680"/>
                </a:solidFill>
              </a:rPr>
              <a:t>Eigenes schadensursächliches Verhalten der geschädigten Person kann den Ersatzanspruch mindern.</a:t>
            </a:r>
          </a:p>
        </p:txBody>
      </p:sp>
      <p:sp>
        <p:nvSpPr>
          <p:cNvPr id="7" name="">
            <a:extLst xmlns:a="http://schemas.openxmlformats.org/drawingml/2006/main">
              <a:ext uri="{FF2B5EF4-FFF2-40B4-BE49-F238E27FC236}">
                <a16:creationId xmlns:a16="http://schemas.microsoft.com/office/drawing/2014/main" id="{67160D39-69E0-4F3B-A14E-44045ADDEE66}"/>
              </a:ext>
            </a:extLst>
          </p:cNvPr>
          <p:cNvSpPr>
            <a:spLocks xmlns:a="http://schemas.openxmlformats.org/drawingml/2006/main" noGrp="1"/>
          </p:cNvSpPr>
          <p:nvPr/>
        </p:nvSpPr>
        <p:spPr>
          <a:xfrm xmlns:a="http://schemas.openxmlformats.org/drawingml/2006/main">
            <a:off x="1809750" y="2781300"/>
            <a:ext cx="476250" cy="414338"/>
          </a:xfrm>
          <a:prstGeom xmlns:a="http://schemas.openxmlformats.org/drawingml/2006/main" prst="roundRect">
            <a:avLst>
              <a:gd name="adj" fmla="val 18391"/>
            </a:avLst>
          </a:prstGeom>
          <a:solidFill xmlns:a="http://schemas.openxmlformats.org/drawingml/2006/main">
            <a:srgbClr val="00B2BB"/>
          </a:solidFill>
          <a:ln xmlns:a="http://schemas.openxmlformats.org/drawingml/2006/main" w="0">
            <a:solidFill>
              <a:srgbClr val="00B2BB"/>
            </a:solidFill>
            <a:prstDash val="solid"/>
          </a:ln>
        </p:spPr>
      </p:sp>
      <p:sp>
        <p:nvSpPr>
          <p:cNvPr id="8" name="">
            <a:extLst xmlns:a="http://schemas.openxmlformats.org/drawingml/2006/main">
              <a:ext uri="{FF2B5EF4-FFF2-40B4-BE49-F238E27FC236}">
                <a16:creationId xmlns:a16="http://schemas.microsoft.com/office/drawing/2014/main" id="{CC969ECA-96A2-44B4-A6E1-A4D31599B790}"/>
              </a:ext>
            </a:extLst>
          </p:cNvPr>
          <p:cNvSpPr>
            <a:spLocks xmlns:a="http://schemas.openxmlformats.org/drawingml/2006/main" noGrp="1"/>
          </p:cNvSpPr>
          <p:nvPr/>
        </p:nvSpPr>
        <p:spPr>
          <a:xfrm xmlns:a="http://schemas.openxmlformats.org/drawingml/2006/main">
            <a:off x="1809750" y="2781300"/>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9" name="">
            <a:extLst xmlns:a="http://schemas.openxmlformats.org/drawingml/2006/main">
              <a:ext uri="{FF2B5EF4-FFF2-40B4-BE49-F238E27FC236}">
                <a16:creationId xmlns:a16="http://schemas.microsoft.com/office/drawing/2014/main" id="{310F3480-7A48-4F07-834A-E425FA94E3A2}"/>
              </a:ext>
            </a:extLst>
          </p:cNvPr>
          <p:cNvSpPr>
            <a:spLocks xmlns:a="http://schemas.openxmlformats.org/drawingml/2006/main" noGrp="1"/>
          </p:cNvSpPr>
          <p:nvPr/>
        </p:nvSpPr>
        <p:spPr>
          <a:xfrm xmlns:a="http://schemas.openxmlformats.org/drawingml/2006/main">
            <a:off x="2438400" y="2790825"/>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Kein Schuldvorwurf im Alltagssinn</a:t>
            </a:r>
          </a:p>
        </p:txBody>
      </p:sp>
      <p:sp>
        <p:nvSpPr>
          <p:cNvPr id="10" name="">
            <a:extLst xmlns:a="http://schemas.openxmlformats.org/drawingml/2006/main">
              <a:ext uri="{FF2B5EF4-FFF2-40B4-BE49-F238E27FC236}">
                <a16:creationId xmlns:a16="http://schemas.microsoft.com/office/drawing/2014/main" id="{3476192A-2270-45AA-B890-F5EC0F82F92A}"/>
              </a:ext>
            </a:extLst>
          </p:cNvPr>
          <p:cNvSpPr>
            <a:spLocks xmlns:a="http://schemas.openxmlformats.org/drawingml/2006/main" noGrp="1"/>
          </p:cNvSpPr>
          <p:nvPr/>
        </p:nvSpPr>
        <p:spPr>
          <a:xfrm xmlns:a="http://schemas.openxmlformats.org/drawingml/2006/main">
            <a:off x="4591050" y="2790825"/>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Geprüft wird, ob die Person diejenige Sorgfalt außer Acht ließ, die ein verständiger Mensch zum eigenen Schutz anwenden würde.</a:t>
            </a:r>
          </a:p>
        </p:txBody>
      </p:sp>
      <p:sp>
        <p:nvSpPr>
          <p:cNvPr id="11" name="">
            <a:extLst xmlns:a="http://schemas.openxmlformats.org/drawingml/2006/main">
              <a:ext uri="{FF2B5EF4-FFF2-40B4-BE49-F238E27FC236}">
                <a16:creationId xmlns:a16="http://schemas.microsoft.com/office/drawing/2014/main" id="{6BC307E4-FC68-41E7-8A7D-DA09A8612702}"/>
              </a:ext>
            </a:extLst>
          </p:cNvPr>
          <p:cNvSpPr>
            <a:spLocks xmlns:a="http://schemas.openxmlformats.org/drawingml/2006/main" noGrp="1"/>
          </p:cNvSpPr>
          <p:nvPr/>
        </p:nvSpPr>
        <p:spPr>
          <a:xfrm xmlns:a="http://schemas.openxmlformats.org/drawingml/2006/main">
            <a:off x="1809750" y="3271838"/>
            <a:ext cx="476250" cy="414338"/>
          </a:xfrm>
          <a:prstGeom xmlns:a="http://schemas.openxmlformats.org/drawingml/2006/main" prst="roundRect">
            <a:avLst>
              <a:gd name="adj" fmla="val 18391"/>
            </a:avLst>
          </a:prstGeom>
          <a:solidFill xmlns:a="http://schemas.openxmlformats.org/drawingml/2006/main">
            <a:srgbClr val="003F6B"/>
          </a:solidFill>
          <a:ln xmlns:a="http://schemas.openxmlformats.org/drawingml/2006/main" w="0">
            <a:solidFill>
              <a:srgbClr val="003F6B"/>
            </a:solidFill>
            <a:prstDash val="solid"/>
          </a:ln>
        </p:spPr>
      </p:sp>
      <p:sp>
        <p:nvSpPr>
          <p:cNvPr id="12" name="">
            <a:extLst xmlns:a="http://schemas.openxmlformats.org/drawingml/2006/main">
              <a:ext uri="{FF2B5EF4-FFF2-40B4-BE49-F238E27FC236}">
                <a16:creationId xmlns:a16="http://schemas.microsoft.com/office/drawing/2014/main" id="{DCEED7A1-F6E0-407F-9D7A-841FF21AE0D2}"/>
              </a:ext>
            </a:extLst>
          </p:cNvPr>
          <p:cNvSpPr>
            <a:spLocks xmlns:a="http://schemas.openxmlformats.org/drawingml/2006/main" noGrp="1"/>
          </p:cNvSpPr>
          <p:nvPr/>
        </p:nvSpPr>
        <p:spPr>
          <a:xfrm xmlns:a="http://schemas.openxmlformats.org/drawingml/2006/main">
            <a:off x="1809750" y="3271838"/>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3" name="">
            <a:extLst xmlns:a="http://schemas.openxmlformats.org/drawingml/2006/main">
              <a:ext uri="{FF2B5EF4-FFF2-40B4-BE49-F238E27FC236}">
                <a16:creationId xmlns:a16="http://schemas.microsoft.com/office/drawing/2014/main" id="{EB1ADBAC-1EFB-4F20-8216-458E3F2722CA}"/>
              </a:ext>
            </a:extLst>
          </p:cNvPr>
          <p:cNvSpPr>
            <a:spLocks xmlns:a="http://schemas.openxmlformats.org/drawingml/2006/main" noGrp="1"/>
          </p:cNvSpPr>
          <p:nvPr/>
        </p:nvSpPr>
        <p:spPr>
          <a:xfrm xmlns:a="http://schemas.openxmlformats.org/drawingml/2006/main">
            <a:off x="2438400" y="3281363"/>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Kausalität</a:t>
            </a:r>
          </a:p>
        </p:txBody>
      </p:sp>
      <p:sp>
        <p:nvSpPr>
          <p:cNvPr id="14" name="">
            <a:extLst xmlns:a="http://schemas.openxmlformats.org/drawingml/2006/main">
              <a:ext uri="{FF2B5EF4-FFF2-40B4-BE49-F238E27FC236}">
                <a16:creationId xmlns:a16="http://schemas.microsoft.com/office/drawing/2014/main" id="{9217DB5D-878C-4F01-BA8B-453C388ACE37}"/>
              </a:ext>
            </a:extLst>
          </p:cNvPr>
          <p:cNvSpPr>
            <a:spLocks xmlns:a="http://schemas.openxmlformats.org/drawingml/2006/main" noGrp="1"/>
          </p:cNvSpPr>
          <p:nvPr/>
        </p:nvSpPr>
        <p:spPr>
          <a:xfrm xmlns:a="http://schemas.openxmlformats.org/drawingml/2006/main">
            <a:off x="4591050" y="3281363"/>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Das Verhalten muss zur Entstehung oder Vergrößerung des Schadens beigetragen haben.</a:t>
            </a:r>
          </a:p>
        </p:txBody>
      </p:sp>
      <p:sp>
        <p:nvSpPr>
          <p:cNvPr id="15" name="">
            <a:extLst xmlns:a="http://schemas.openxmlformats.org/drawingml/2006/main">
              <a:ext uri="{FF2B5EF4-FFF2-40B4-BE49-F238E27FC236}">
                <a16:creationId xmlns:a16="http://schemas.microsoft.com/office/drawing/2014/main" id="{9213A4AE-1349-47AA-A678-7801F3D04D5F}"/>
              </a:ext>
            </a:extLst>
          </p:cNvPr>
          <p:cNvSpPr>
            <a:spLocks xmlns:a="http://schemas.openxmlformats.org/drawingml/2006/main" noGrp="1"/>
          </p:cNvSpPr>
          <p:nvPr/>
        </p:nvSpPr>
        <p:spPr>
          <a:xfrm xmlns:a="http://schemas.openxmlformats.org/drawingml/2006/main">
            <a:off x="1809750" y="3762375"/>
            <a:ext cx="476250" cy="414338"/>
          </a:xfrm>
          <a:prstGeom xmlns:a="http://schemas.openxmlformats.org/drawingml/2006/main" prst="roundRect">
            <a:avLst>
              <a:gd name="adj" fmla="val 18391"/>
            </a:avLst>
          </a:prstGeom>
          <a:solidFill xmlns:a="http://schemas.openxmlformats.org/drawingml/2006/main">
            <a:srgbClr val="00B2BB"/>
          </a:solidFill>
          <a:ln xmlns:a="http://schemas.openxmlformats.org/drawingml/2006/main" w="0">
            <a:solidFill>
              <a:srgbClr val="00B2BB"/>
            </a:solidFill>
            <a:prstDash val="solid"/>
          </a:ln>
        </p:spPr>
      </p:sp>
      <p:sp>
        <p:nvSpPr>
          <p:cNvPr id="16" name="">
            <a:extLst xmlns:a="http://schemas.openxmlformats.org/drawingml/2006/main">
              <a:ext uri="{FF2B5EF4-FFF2-40B4-BE49-F238E27FC236}">
                <a16:creationId xmlns:a16="http://schemas.microsoft.com/office/drawing/2014/main" id="{12B5B7E6-1378-4B7A-8918-A3C4CABB7281}"/>
              </a:ext>
            </a:extLst>
          </p:cNvPr>
          <p:cNvSpPr>
            <a:spLocks xmlns:a="http://schemas.openxmlformats.org/drawingml/2006/main" noGrp="1"/>
          </p:cNvSpPr>
          <p:nvPr/>
        </p:nvSpPr>
        <p:spPr>
          <a:xfrm xmlns:a="http://schemas.openxmlformats.org/drawingml/2006/main">
            <a:off x="1809750" y="3762375"/>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7" name="">
            <a:extLst xmlns:a="http://schemas.openxmlformats.org/drawingml/2006/main">
              <a:ext uri="{FF2B5EF4-FFF2-40B4-BE49-F238E27FC236}">
                <a16:creationId xmlns:a16="http://schemas.microsoft.com/office/drawing/2014/main" id="{35414F2E-279D-4FA2-B093-0468032C8C55}"/>
              </a:ext>
            </a:extLst>
          </p:cNvPr>
          <p:cNvSpPr>
            <a:spLocks xmlns:a="http://schemas.openxmlformats.org/drawingml/2006/main" noGrp="1"/>
          </p:cNvSpPr>
          <p:nvPr/>
        </p:nvSpPr>
        <p:spPr>
          <a:xfrm xmlns:a="http://schemas.openxmlformats.org/drawingml/2006/main">
            <a:off x="2438400" y="3771900"/>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Informationsbasis</a:t>
            </a:r>
          </a:p>
        </p:txBody>
      </p:sp>
      <p:sp>
        <p:nvSpPr>
          <p:cNvPr id="18" name="">
            <a:extLst xmlns:a="http://schemas.openxmlformats.org/drawingml/2006/main">
              <a:ext uri="{FF2B5EF4-FFF2-40B4-BE49-F238E27FC236}">
                <a16:creationId xmlns:a16="http://schemas.microsoft.com/office/drawing/2014/main" id="{628367ED-B9AA-42CB-AC51-B9DAE1C35F48}"/>
              </a:ext>
            </a:extLst>
          </p:cNvPr>
          <p:cNvSpPr>
            <a:spLocks xmlns:a="http://schemas.openxmlformats.org/drawingml/2006/main" noGrp="1"/>
          </p:cNvSpPr>
          <p:nvPr/>
        </p:nvSpPr>
        <p:spPr>
          <a:xfrm xmlns:a="http://schemas.openxmlformats.org/drawingml/2006/main">
            <a:off x="4591050" y="3771900"/>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Mitwirkung kann nur verlangt werden, wenn die Person ausreichend informiert und handlungsfähig war.</a:t>
            </a:r>
          </a:p>
        </p:txBody>
      </p:sp>
      <p:sp>
        <p:nvSpPr>
          <p:cNvPr id="19" name="">
            <a:extLst xmlns:a="http://schemas.openxmlformats.org/drawingml/2006/main">
              <a:ext uri="{FF2B5EF4-FFF2-40B4-BE49-F238E27FC236}">
                <a16:creationId xmlns:a16="http://schemas.microsoft.com/office/drawing/2014/main" id="{DAD0D060-E5C4-43D4-AC3E-C8B972E6ACAE}"/>
              </a:ext>
            </a:extLst>
          </p:cNvPr>
          <p:cNvSpPr>
            <a:spLocks xmlns:a="http://schemas.openxmlformats.org/drawingml/2006/main" noGrp="1"/>
          </p:cNvSpPr>
          <p:nvPr/>
        </p:nvSpPr>
        <p:spPr>
          <a:xfrm xmlns:a="http://schemas.openxmlformats.org/drawingml/2006/main">
            <a:off x="1809750" y="4252913"/>
            <a:ext cx="476250" cy="414338"/>
          </a:xfrm>
          <a:prstGeom xmlns:a="http://schemas.openxmlformats.org/drawingml/2006/main" prst="roundRect">
            <a:avLst>
              <a:gd name="adj" fmla="val 18391"/>
            </a:avLst>
          </a:prstGeom>
          <a:solidFill xmlns:a="http://schemas.openxmlformats.org/drawingml/2006/main">
            <a:srgbClr val="003F6B"/>
          </a:solidFill>
          <a:ln xmlns:a="http://schemas.openxmlformats.org/drawingml/2006/main" w="0">
            <a:solidFill>
              <a:srgbClr val="003F6B"/>
            </a:solidFill>
            <a:prstDash val="solid"/>
          </a:ln>
        </p:spPr>
      </p:sp>
      <p:sp>
        <p:nvSpPr>
          <p:cNvPr id="20" name="">
            <a:extLst xmlns:a="http://schemas.openxmlformats.org/drawingml/2006/main">
              <a:ext uri="{FF2B5EF4-FFF2-40B4-BE49-F238E27FC236}">
                <a16:creationId xmlns:a16="http://schemas.microsoft.com/office/drawing/2014/main" id="{34D598AF-E115-486E-B30A-5F443DF8C745}"/>
              </a:ext>
            </a:extLst>
          </p:cNvPr>
          <p:cNvSpPr>
            <a:spLocks xmlns:a="http://schemas.openxmlformats.org/drawingml/2006/main" noGrp="1"/>
          </p:cNvSpPr>
          <p:nvPr/>
        </p:nvSpPr>
        <p:spPr>
          <a:xfrm xmlns:a="http://schemas.openxmlformats.org/drawingml/2006/main">
            <a:off x="1809750" y="4252913"/>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21" name="">
            <a:extLst xmlns:a="http://schemas.openxmlformats.org/drawingml/2006/main">
              <a:ext uri="{FF2B5EF4-FFF2-40B4-BE49-F238E27FC236}">
                <a16:creationId xmlns:a16="http://schemas.microsoft.com/office/drawing/2014/main" id="{B3DD0AEC-54D2-452F-A199-B2E77713AB0B}"/>
              </a:ext>
            </a:extLst>
          </p:cNvPr>
          <p:cNvSpPr>
            <a:spLocks xmlns:a="http://schemas.openxmlformats.org/drawingml/2006/main" noGrp="1"/>
          </p:cNvSpPr>
          <p:nvPr/>
        </p:nvSpPr>
        <p:spPr>
          <a:xfrm xmlns:a="http://schemas.openxmlformats.org/drawingml/2006/main">
            <a:off x="2438400" y="4262438"/>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Abwägung</a:t>
            </a:r>
          </a:p>
        </p:txBody>
      </p:sp>
      <p:sp>
        <p:nvSpPr>
          <p:cNvPr id="22" name="">
            <a:extLst xmlns:a="http://schemas.openxmlformats.org/drawingml/2006/main">
              <a:ext uri="{FF2B5EF4-FFF2-40B4-BE49-F238E27FC236}">
                <a16:creationId xmlns:a16="http://schemas.microsoft.com/office/drawing/2014/main" id="{880A30BE-79D3-4FF1-83FB-6600A6ABDCDF}"/>
              </a:ext>
            </a:extLst>
          </p:cNvPr>
          <p:cNvSpPr>
            <a:spLocks xmlns:a="http://schemas.openxmlformats.org/drawingml/2006/main" noGrp="1"/>
          </p:cNvSpPr>
          <p:nvPr/>
        </p:nvSpPr>
        <p:spPr>
          <a:xfrm xmlns:a="http://schemas.openxmlformats.org/drawingml/2006/main">
            <a:off x="4591050" y="4262438"/>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Verursachungs- und Verschuldensbeiträge beider Seiten werden gegeneinander abgewogen.</a:t>
            </a:r>
          </a:p>
        </p:txBody>
      </p:sp>
      <p:sp>
        <p:nvSpPr>
          <p:cNvPr id="23" name="">
            <a:extLst xmlns:a="http://schemas.openxmlformats.org/drawingml/2006/main">
              <a:ext uri="{FF2B5EF4-FFF2-40B4-BE49-F238E27FC236}">
                <a16:creationId xmlns:a16="http://schemas.microsoft.com/office/drawing/2014/main" id="{C1E2D5B3-9A36-4C2C-BAC5-F775E390C265}"/>
              </a:ext>
            </a:extLst>
          </p:cNvPr>
          <p:cNvSpPr>
            <a:spLocks xmlns:a="http://schemas.openxmlformats.org/drawingml/2006/main" noGrp="1"/>
          </p:cNvSpPr>
          <p:nvPr/>
        </p:nvSpPr>
        <p:spPr>
          <a:xfrm xmlns:a="http://schemas.openxmlformats.org/drawingml/2006/main">
            <a:off x="1809750" y="4781550"/>
            <a:ext cx="9525000" cy="666750"/>
          </a:xfrm>
          <a:prstGeom xmlns:a="http://schemas.openxmlformats.org/drawingml/2006/main" prst="roundRect">
            <a:avLst>
              <a:gd name="adj" fmla="val 11429"/>
            </a:avLst>
          </a:prstGeom>
          <a:solidFill xmlns:a="http://schemas.openxmlformats.org/drawingml/2006/main">
            <a:srgbClr val="EAF6FB"/>
          </a:solidFill>
          <a:ln xmlns:a="http://schemas.openxmlformats.org/drawingml/2006/main" w="9525">
            <a:solidFill>
              <a:srgbClr val="00B2BB"/>
            </a:solidFill>
            <a:prstDash val="solid"/>
          </a:ln>
        </p:spPr>
      </p:sp>
      <p:sp>
        <p:nvSpPr>
          <p:cNvPr id="24" name="">
            <a:extLst xmlns:a="http://schemas.openxmlformats.org/drawingml/2006/main">
              <a:ext uri="{FF2B5EF4-FFF2-40B4-BE49-F238E27FC236}">
                <a16:creationId xmlns:a16="http://schemas.microsoft.com/office/drawing/2014/main" id="{C009F0DE-0C18-4AD4-9A61-46FE78D60B27}"/>
              </a:ext>
            </a:extLst>
          </p:cNvPr>
          <p:cNvSpPr>
            <a:spLocks xmlns:a="http://schemas.openxmlformats.org/drawingml/2006/main" noGrp="1"/>
          </p:cNvSpPr>
          <p:nvPr/>
        </p:nvSpPr>
        <p:spPr>
          <a:xfrm xmlns:a="http://schemas.openxmlformats.org/drawingml/2006/main">
            <a:off x="1981200" y="4829175"/>
            <a:ext cx="9182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065">
                <a:solidFill>
                  <a:srgbClr val="15232B"/>
                </a:solidFill>
              </a:defRPr>
            </a:pPr>
            <a:r>
              <a:rPr sz="1065">
                <a:solidFill>
                  <a:srgbClr val="15232B"/>
                </a:solidFill>
              </a:rPr>
              <a:t>Beispiel · Beispiel: Eine klar und verständlich erklärte dringliche Kontrolluntersuchung wird ohne nachvollziehbaren Grund nicht wahrgenommen; ihr Einfluss auf den Schaden wird konkret geprüft.</a:t>
            </a:r>
          </a:p>
        </p:txBody>
      </p:sp>
      <p:sp>
        <p:nvSpPr>
          <p:cNvPr id="25" name="">
            <a:extLst xmlns:a="http://schemas.openxmlformats.org/drawingml/2006/main">
              <a:ext uri="{FF2B5EF4-FFF2-40B4-BE49-F238E27FC236}">
                <a16:creationId xmlns:a16="http://schemas.microsoft.com/office/drawing/2014/main" id="{8F0BAE16-D941-4D56-91A2-58397A733B2C}"/>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6" name="">
            <a:extLst xmlns:a="http://schemas.openxmlformats.org/drawingml/2006/main">
              <a:ext uri="{FF2B5EF4-FFF2-40B4-BE49-F238E27FC236}">
                <a16:creationId xmlns:a16="http://schemas.microsoft.com/office/drawing/2014/main" id="{9ED70925-7FE3-4EEC-B41F-51D607036B12}"/>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 254 BGB darf nicht genutzt werden, um unzureichende ärztliche Information pauschal auf Patienten abzuwälzen.</a:t>
            </a:r>
          </a:p>
        </p:txBody>
      </p:sp>
    </p:spTree>
    <p:extLst>
      <p:ext uri="{BB962C8B-B14F-4D97-AF65-F5344CB8AC3E}">
        <p14:creationId xmlns:p14="http://schemas.microsoft.com/office/powerpoint/2010/main" val="43637646"/>
      </p:ext>
    </p:extLst>
  </p:cSld>
</p:sld>
</file>

<file path=ppt/slides/slide127.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Haftungsfall vollständig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DURCHGEPRÜFTER FALL</a:t>
            </a:r>
            <a:endParaRPr/>
          </a:p>
        </p:txBody>
      </p:sp>
      <p:sp>
        <p:nvSpPr>
          <p:cNvPr id="4" name="">
            <a:extLst xmlns:a="http://schemas.openxmlformats.org/drawingml/2006/main">
              <a:ext uri="{FF2B5EF4-FFF2-40B4-BE49-F238E27FC236}">
                <a16:creationId xmlns:a16="http://schemas.microsoft.com/office/drawing/2014/main" id="{AA280543-F2FE-4D85-997C-46C672F829AE}"/>
              </a:ext>
            </a:extLst>
          </p:cNvPr>
          <p:cNvSpPr>
            <a:spLocks xmlns:a="http://schemas.openxmlformats.org/drawingml/2006/main" noGrp="1"/>
          </p:cNvSpPr>
          <p:nvPr/>
        </p:nvSpPr>
        <p:spPr>
          <a:xfrm xmlns:a="http://schemas.openxmlformats.org/drawingml/2006/main">
            <a:off x="1809750" y="1924050"/>
            <a:ext cx="9525000" cy="838200"/>
          </a:xfrm>
          <a:prstGeom xmlns:a="http://schemas.openxmlformats.org/drawingml/2006/main" prst="roundRect">
            <a:avLst>
              <a:gd name="adj" fmla="val 9091"/>
            </a:avLst>
          </a:prstGeom>
          <a:solidFill xmlns:a="http://schemas.openxmlformats.org/drawingml/2006/main">
            <a:srgbClr val="EAF6FB"/>
          </a:solidFill>
          <a:ln xmlns:a="http://schemas.openxmlformats.org/drawingml/2006/main" w="9525">
            <a:solidFill>
              <a:srgbClr val="00B2BB"/>
            </a:solidFill>
            <a:prstDash val="solid"/>
          </a:ln>
        </p:spPr>
      </p:sp>
      <p:sp>
        <p:nvSpPr>
          <p:cNvPr id="5" name="">
            <a:extLst xmlns:a="http://schemas.openxmlformats.org/drawingml/2006/main">
              <a:ext uri="{FF2B5EF4-FFF2-40B4-BE49-F238E27FC236}">
                <a16:creationId xmlns:a16="http://schemas.microsoft.com/office/drawing/2014/main" id="{C54FA84C-0924-4D11-8847-3D80B2333DA3}"/>
              </a:ext>
            </a:extLst>
          </p:cNvPr>
          <p:cNvSpPr>
            <a:spLocks xmlns:a="http://schemas.openxmlformats.org/drawingml/2006/main" noGrp="1"/>
          </p:cNvSpPr>
          <p:nvPr/>
        </p:nvSpPr>
        <p:spPr>
          <a:xfrm xmlns:a="http://schemas.openxmlformats.org/drawingml/2006/main">
            <a:off x="1981200" y="2000250"/>
            <a:ext cx="9182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55">
                <a:solidFill>
                  <a:srgbClr val="15232B"/>
                </a:solidFill>
              </a:defRPr>
            </a:pPr>
            <a:r>
              <a:rPr sz="1155">
                <a:solidFill>
                  <a:srgbClr val="15232B"/>
                </a:solidFill>
              </a:rPr>
              <a:t>Nach einer Operation werden deutliche Warnzeichen nicht kontrolliert. Eine Nachblutung wird verspätet erkannt; es entsteht ein dauerhafter Schaden.</a:t>
            </a:r>
          </a:p>
        </p:txBody>
      </p:sp>
      <p:sp>
        <p:nvSpPr>
          <p:cNvPr id="6" name="">
            <a:extLst xmlns:a="http://schemas.openxmlformats.org/drawingml/2006/main">
              <a:ext uri="{FF2B5EF4-FFF2-40B4-BE49-F238E27FC236}">
                <a16:creationId xmlns:a16="http://schemas.microsoft.com/office/drawing/2014/main" id="{1338B098-69EB-4DAC-8F45-14B6FEE3A3B9}"/>
              </a:ext>
            </a:extLst>
          </p:cNvPr>
          <p:cNvSpPr>
            <a:spLocks xmlns:a="http://schemas.openxmlformats.org/drawingml/2006/main" noGrp="1"/>
          </p:cNvSpPr>
          <p:nvPr/>
        </p:nvSpPr>
        <p:spPr>
          <a:xfrm xmlns:a="http://schemas.openxmlformats.org/drawingml/2006/main">
            <a:off x="1809750" y="2933700"/>
            <a:ext cx="381000" cy="381000"/>
          </a:xfrm>
          <a:prstGeom xmlns:a="http://schemas.openxmlformats.org/drawingml/2006/main" prst="roundRect">
            <a:avLst>
              <a:gd name="adj" fmla="val 20000"/>
            </a:avLst>
          </a:prstGeom>
          <a:solidFill xmlns:a="http://schemas.openxmlformats.org/drawingml/2006/main">
            <a:srgbClr val="00B2BB"/>
          </a:solidFill>
          <a:ln xmlns:a="http://schemas.openxmlformats.org/drawingml/2006/main" w="0">
            <a:solidFill>
              <a:srgbClr val="00B2BB"/>
            </a:solidFill>
            <a:prstDash val="solid"/>
          </a:ln>
        </p:spPr>
      </p:sp>
      <p:sp>
        <p:nvSpPr>
          <p:cNvPr id="7" name="">
            <a:extLst xmlns:a="http://schemas.openxmlformats.org/drawingml/2006/main">
              <a:ext uri="{FF2B5EF4-FFF2-40B4-BE49-F238E27FC236}">
                <a16:creationId xmlns:a16="http://schemas.microsoft.com/office/drawing/2014/main" id="{21EF68D4-2325-4D8E-BC77-A2ADDADA9571}"/>
              </a:ext>
            </a:extLst>
          </p:cNvPr>
          <p:cNvSpPr>
            <a:spLocks xmlns:a="http://schemas.openxmlformats.org/drawingml/2006/main" noGrp="1"/>
          </p:cNvSpPr>
          <p:nvPr/>
        </p:nvSpPr>
        <p:spPr>
          <a:xfrm xmlns:a="http://schemas.openxmlformats.org/drawingml/2006/main">
            <a:off x="1809750" y="293370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8" name="">
            <a:extLst xmlns:a="http://schemas.openxmlformats.org/drawingml/2006/main">
              <a:ext uri="{FF2B5EF4-FFF2-40B4-BE49-F238E27FC236}">
                <a16:creationId xmlns:a16="http://schemas.microsoft.com/office/drawing/2014/main" id="{CCFB4F0D-E177-4086-8A54-1FB907E4B235}"/>
              </a:ext>
            </a:extLst>
          </p:cNvPr>
          <p:cNvSpPr>
            <a:spLocks xmlns:a="http://schemas.openxmlformats.org/drawingml/2006/main" noGrp="1"/>
          </p:cNvSpPr>
          <p:nvPr/>
        </p:nvSpPr>
        <p:spPr>
          <a:xfrm xmlns:a="http://schemas.openxmlformats.org/drawingml/2006/main">
            <a:off x="2343150" y="2914650"/>
            <a:ext cx="18097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Vertrag</a:t>
            </a:r>
          </a:p>
        </p:txBody>
      </p:sp>
      <p:sp>
        <p:nvSpPr>
          <p:cNvPr id="9" name="">
            <a:extLst xmlns:a="http://schemas.openxmlformats.org/drawingml/2006/main">
              <a:ext uri="{FF2B5EF4-FFF2-40B4-BE49-F238E27FC236}">
                <a16:creationId xmlns:a16="http://schemas.microsoft.com/office/drawing/2014/main" id="{32E9269C-4947-43E1-9F9A-5C0DFB84087E}"/>
              </a:ext>
            </a:extLst>
          </p:cNvPr>
          <p:cNvSpPr>
            <a:spLocks xmlns:a="http://schemas.openxmlformats.org/drawingml/2006/main" noGrp="1"/>
          </p:cNvSpPr>
          <p:nvPr/>
        </p:nvSpPr>
        <p:spPr>
          <a:xfrm xmlns:a="http://schemas.openxmlformats.org/drawingml/2006/main">
            <a:off x="4286250" y="2914650"/>
            <a:ext cx="69532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35">
                <a:solidFill>
                  <a:srgbClr val="15232B"/>
                </a:solidFill>
              </a:defRPr>
            </a:pPr>
            <a:r>
              <a:rPr sz="1035">
                <a:solidFill>
                  <a:srgbClr val="15232B"/>
                </a:solidFill>
              </a:rPr>
              <a:t>Der Behandlungsvertrag mit dem Träger begründet Pflichten aus § 630a BGB; § 280 Abs. 1 BGB ist Anspruchsgrundlage.</a:t>
            </a:r>
          </a:p>
        </p:txBody>
      </p:sp>
      <p:sp>
        <p:nvSpPr>
          <p:cNvPr id="10" name="">
            <a:extLst xmlns:a="http://schemas.openxmlformats.org/drawingml/2006/main">
              <a:ext uri="{FF2B5EF4-FFF2-40B4-BE49-F238E27FC236}">
                <a16:creationId xmlns:a16="http://schemas.microsoft.com/office/drawing/2014/main" id="{157B4852-5AC8-433D-99D6-78D46FBBEF9B}"/>
              </a:ext>
            </a:extLst>
          </p:cNvPr>
          <p:cNvSpPr>
            <a:spLocks xmlns:a="http://schemas.openxmlformats.org/drawingml/2006/main" noGrp="1"/>
          </p:cNvSpPr>
          <p:nvPr/>
        </p:nvSpPr>
        <p:spPr>
          <a:xfrm xmlns:a="http://schemas.openxmlformats.org/drawingml/2006/main">
            <a:off x="1809750" y="3394710"/>
            <a:ext cx="381000" cy="381000"/>
          </a:xfrm>
          <a:prstGeom xmlns:a="http://schemas.openxmlformats.org/drawingml/2006/main" prst="roundRect">
            <a:avLst>
              <a:gd name="adj" fmla="val 20000"/>
            </a:avLst>
          </a:prstGeom>
          <a:solidFill xmlns:a="http://schemas.openxmlformats.org/drawingml/2006/main">
            <a:srgbClr val="003F6B"/>
          </a:solidFill>
          <a:ln xmlns:a="http://schemas.openxmlformats.org/drawingml/2006/main" w="0">
            <a:solidFill>
              <a:srgbClr val="003F6B"/>
            </a:solidFill>
            <a:prstDash val="solid"/>
          </a:ln>
        </p:spPr>
      </p:sp>
      <p:sp>
        <p:nvSpPr>
          <p:cNvPr id="11" name="">
            <a:extLst xmlns:a="http://schemas.openxmlformats.org/drawingml/2006/main">
              <a:ext uri="{FF2B5EF4-FFF2-40B4-BE49-F238E27FC236}">
                <a16:creationId xmlns:a16="http://schemas.microsoft.com/office/drawing/2014/main" id="{9DC6A123-6E37-4F8F-8364-1B1210E00AEA}"/>
              </a:ext>
            </a:extLst>
          </p:cNvPr>
          <p:cNvSpPr>
            <a:spLocks xmlns:a="http://schemas.openxmlformats.org/drawingml/2006/main" noGrp="1"/>
          </p:cNvSpPr>
          <p:nvPr/>
        </p:nvSpPr>
        <p:spPr>
          <a:xfrm xmlns:a="http://schemas.openxmlformats.org/drawingml/2006/main">
            <a:off x="1809750" y="339471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2" name="">
            <a:extLst xmlns:a="http://schemas.openxmlformats.org/drawingml/2006/main">
              <a:ext uri="{FF2B5EF4-FFF2-40B4-BE49-F238E27FC236}">
                <a16:creationId xmlns:a16="http://schemas.microsoft.com/office/drawing/2014/main" id="{30B80317-070C-4691-85A0-C0E5154F4457}"/>
              </a:ext>
            </a:extLst>
          </p:cNvPr>
          <p:cNvSpPr>
            <a:spLocks xmlns:a="http://schemas.openxmlformats.org/drawingml/2006/main" noGrp="1"/>
          </p:cNvSpPr>
          <p:nvPr/>
        </p:nvSpPr>
        <p:spPr>
          <a:xfrm xmlns:a="http://schemas.openxmlformats.org/drawingml/2006/main">
            <a:off x="2343150" y="3375660"/>
            <a:ext cx="18097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Pflichtverletzung</a:t>
            </a:r>
          </a:p>
        </p:txBody>
      </p:sp>
      <p:sp>
        <p:nvSpPr>
          <p:cNvPr id="13" name="">
            <a:extLst xmlns:a="http://schemas.openxmlformats.org/drawingml/2006/main">
              <a:ext uri="{FF2B5EF4-FFF2-40B4-BE49-F238E27FC236}">
                <a16:creationId xmlns:a16="http://schemas.microsoft.com/office/drawing/2014/main" id="{B4143464-17B4-47B1-B182-0FE72E45BBB1}"/>
              </a:ext>
            </a:extLst>
          </p:cNvPr>
          <p:cNvSpPr>
            <a:spLocks xmlns:a="http://schemas.openxmlformats.org/drawingml/2006/main" noGrp="1"/>
          </p:cNvSpPr>
          <p:nvPr/>
        </p:nvSpPr>
        <p:spPr>
          <a:xfrm xmlns:a="http://schemas.openxmlformats.org/drawingml/2006/main">
            <a:off x="4286250" y="3375660"/>
            <a:ext cx="69532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35">
                <a:solidFill>
                  <a:srgbClr val="15232B"/>
                </a:solidFill>
              </a:defRPr>
            </a:pPr>
            <a:r>
              <a:rPr sz="1035">
                <a:solidFill>
                  <a:srgbClr val="15232B"/>
                </a:solidFill>
              </a:rPr>
              <a:t>Sachverständig wird geklärt, welche Kontrollen der Standard verlangte und ob die Organisation ihre Durchführung sicherstellte.</a:t>
            </a:r>
          </a:p>
        </p:txBody>
      </p:sp>
      <p:sp>
        <p:nvSpPr>
          <p:cNvPr id="14" name="">
            <a:extLst xmlns:a="http://schemas.openxmlformats.org/drawingml/2006/main">
              <a:ext uri="{FF2B5EF4-FFF2-40B4-BE49-F238E27FC236}">
                <a16:creationId xmlns:a16="http://schemas.microsoft.com/office/drawing/2014/main" id="{97AED688-AAE5-40CC-97A4-763CDA216DBD}"/>
              </a:ext>
            </a:extLst>
          </p:cNvPr>
          <p:cNvSpPr>
            <a:spLocks xmlns:a="http://schemas.openxmlformats.org/drawingml/2006/main" noGrp="1"/>
          </p:cNvSpPr>
          <p:nvPr/>
        </p:nvSpPr>
        <p:spPr>
          <a:xfrm xmlns:a="http://schemas.openxmlformats.org/drawingml/2006/main">
            <a:off x="1809750" y="3855720"/>
            <a:ext cx="381000" cy="381000"/>
          </a:xfrm>
          <a:prstGeom xmlns:a="http://schemas.openxmlformats.org/drawingml/2006/main" prst="roundRect">
            <a:avLst>
              <a:gd name="adj" fmla="val 20000"/>
            </a:avLst>
          </a:prstGeom>
          <a:solidFill xmlns:a="http://schemas.openxmlformats.org/drawingml/2006/main">
            <a:srgbClr val="00B2BB"/>
          </a:solidFill>
          <a:ln xmlns:a="http://schemas.openxmlformats.org/drawingml/2006/main" w="0">
            <a:solidFill>
              <a:srgbClr val="00B2BB"/>
            </a:solidFill>
            <a:prstDash val="solid"/>
          </a:ln>
        </p:spPr>
      </p:sp>
      <p:sp>
        <p:nvSpPr>
          <p:cNvPr id="15" name="">
            <a:extLst xmlns:a="http://schemas.openxmlformats.org/drawingml/2006/main">
              <a:ext uri="{FF2B5EF4-FFF2-40B4-BE49-F238E27FC236}">
                <a16:creationId xmlns:a16="http://schemas.microsoft.com/office/drawing/2014/main" id="{B041ED4C-2099-4B29-AD3F-7CD0B66FDCA6}"/>
              </a:ext>
            </a:extLst>
          </p:cNvPr>
          <p:cNvSpPr>
            <a:spLocks xmlns:a="http://schemas.openxmlformats.org/drawingml/2006/main" noGrp="1"/>
          </p:cNvSpPr>
          <p:nvPr/>
        </p:nvSpPr>
        <p:spPr>
          <a:xfrm xmlns:a="http://schemas.openxmlformats.org/drawingml/2006/main">
            <a:off x="1809750" y="385572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6" name="">
            <a:extLst xmlns:a="http://schemas.openxmlformats.org/drawingml/2006/main">
              <a:ext uri="{FF2B5EF4-FFF2-40B4-BE49-F238E27FC236}">
                <a16:creationId xmlns:a16="http://schemas.microsoft.com/office/drawing/2014/main" id="{967AB9B6-C055-4A72-964C-27C050D48BE4}"/>
              </a:ext>
            </a:extLst>
          </p:cNvPr>
          <p:cNvSpPr>
            <a:spLocks xmlns:a="http://schemas.openxmlformats.org/drawingml/2006/main" noGrp="1"/>
          </p:cNvSpPr>
          <p:nvPr/>
        </p:nvSpPr>
        <p:spPr>
          <a:xfrm xmlns:a="http://schemas.openxmlformats.org/drawingml/2006/main">
            <a:off x="2343150" y="3836670"/>
            <a:ext cx="18097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Zurechnung</a:t>
            </a:r>
          </a:p>
        </p:txBody>
      </p:sp>
      <p:sp>
        <p:nvSpPr>
          <p:cNvPr id="17" name="">
            <a:extLst xmlns:a="http://schemas.openxmlformats.org/drawingml/2006/main">
              <a:ext uri="{FF2B5EF4-FFF2-40B4-BE49-F238E27FC236}">
                <a16:creationId xmlns:a16="http://schemas.microsoft.com/office/drawing/2014/main" id="{3C530E76-04CA-4B99-8A91-93FF18A810CC}"/>
              </a:ext>
            </a:extLst>
          </p:cNvPr>
          <p:cNvSpPr>
            <a:spLocks xmlns:a="http://schemas.openxmlformats.org/drawingml/2006/main" noGrp="1"/>
          </p:cNvSpPr>
          <p:nvPr/>
        </p:nvSpPr>
        <p:spPr>
          <a:xfrm xmlns:a="http://schemas.openxmlformats.org/drawingml/2006/main">
            <a:off x="4286250" y="3836670"/>
            <a:ext cx="69532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35">
                <a:solidFill>
                  <a:srgbClr val="15232B"/>
                </a:solidFill>
              </a:defRPr>
            </a:pPr>
            <a:r>
              <a:rPr sz="1035">
                <a:solidFill>
                  <a:srgbClr val="15232B"/>
                </a:solidFill>
              </a:rPr>
              <a:t>Eigenes Organisationsverschulden und § 278 BGB für eingesetztes Personal werden getrennt betrachtet.</a:t>
            </a:r>
          </a:p>
        </p:txBody>
      </p:sp>
      <p:sp>
        <p:nvSpPr>
          <p:cNvPr id="18" name="">
            <a:extLst xmlns:a="http://schemas.openxmlformats.org/drawingml/2006/main">
              <a:ext uri="{FF2B5EF4-FFF2-40B4-BE49-F238E27FC236}">
                <a16:creationId xmlns:a16="http://schemas.microsoft.com/office/drawing/2014/main" id="{E4B2BB72-34D8-44E9-8A2E-A9C76CECA773}"/>
              </a:ext>
            </a:extLst>
          </p:cNvPr>
          <p:cNvSpPr>
            <a:spLocks xmlns:a="http://schemas.openxmlformats.org/drawingml/2006/main" noGrp="1"/>
          </p:cNvSpPr>
          <p:nvPr/>
        </p:nvSpPr>
        <p:spPr>
          <a:xfrm xmlns:a="http://schemas.openxmlformats.org/drawingml/2006/main">
            <a:off x="1809750" y="4316730"/>
            <a:ext cx="381000" cy="381000"/>
          </a:xfrm>
          <a:prstGeom xmlns:a="http://schemas.openxmlformats.org/drawingml/2006/main" prst="roundRect">
            <a:avLst>
              <a:gd name="adj" fmla="val 20000"/>
            </a:avLst>
          </a:prstGeom>
          <a:solidFill xmlns:a="http://schemas.openxmlformats.org/drawingml/2006/main">
            <a:srgbClr val="003F6B"/>
          </a:solidFill>
          <a:ln xmlns:a="http://schemas.openxmlformats.org/drawingml/2006/main" w="0">
            <a:solidFill>
              <a:srgbClr val="003F6B"/>
            </a:solidFill>
            <a:prstDash val="solid"/>
          </a:ln>
        </p:spPr>
      </p:sp>
      <p:sp>
        <p:nvSpPr>
          <p:cNvPr id="19" name="">
            <a:extLst xmlns:a="http://schemas.openxmlformats.org/drawingml/2006/main">
              <a:ext uri="{FF2B5EF4-FFF2-40B4-BE49-F238E27FC236}">
                <a16:creationId xmlns:a16="http://schemas.microsoft.com/office/drawing/2014/main" id="{B0956EF4-4FD0-4B23-BB30-1BD60C15691C}"/>
              </a:ext>
            </a:extLst>
          </p:cNvPr>
          <p:cNvSpPr>
            <a:spLocks xmlns:a="http://schemas.openxmlformats.org/drawingml/2006/main" noGrp="1"/>
          </p:cNvSpPr>
          <p:nvPr/>
        </p:nvSpPr>
        <p:spPr>
          <a:xfrm xmlns:a="http://schemas.openxmlformats.org/drawingml/2006/main">
            <a:off x="1809750" y="431673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20" name="">
            <a:extLst xmlns:a="http://schemas.openxmlformats.org/drawingml/2006/main">
              <a:ext uri="{FF2B5EF4-FFF2-40B4-BE49-F238E27FC236}">
                <a16:creationId xmlns:a16="http://schemas.microsoft.com/office/drawing/2014/main" id="{05685648-D9F4-4FC0-8A45-8580CD9F53B8}"/>
              </a:ext>
            </a:extLst>
          </p:cNvPr>
          <p:cNvSpPr>
            <a:spLocks xmlns:a="http://schemas.openxmlformats.org/drawingml/2006/main" noGrp="1"/>
          </p:cNvSpPr>
          <p:nvPr/>
        </p:nvSpPr>
        <p:spPr>
          <a:xfrm xmlns:a="http://schemas.openxmlformats.org/drawingml/2006/main">
            <a:off x="2343150" y="4297680"/>
            <a:ext cx="18097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Kausalität</a:t>
            </a:r>
          </a:p>
        </p:txBody>
      </p:sp>
      <p:sp>
        <p:nvSpPr>
          <p:cNvPr id="21" name="">
            <a:extLst xmlns:a="http://schemas.openxmlformats.org/drawingml/2006/main">
              <a:ext uri="{FF2B5EF4-FFF2-40B4-BE49-F238E27FC236}">
                <a16:creationId xmlns:a16="http://schemas.microsoft.com/office/drawing/2014/main" id="{1A95CFB3-7502-4D57-9F3C-72A2EA3E7093}"/>
              </a:ext>
            </a:extLst>
          </p:cNvPr>
          <p:cNvSpPr>
            <a:spLocks xmlns:a="http://schemas.openxmlformats.org/drawingml/2006/main" noGrp="1"/>
          </p:cNvSpPr>
          <p:nvPr/>
        </p:nvSpPr>
        <p:spPr>
          <a:xfrm xmlns:a="http://schemas.openxmlformats.org/drawingml/2006/main">
            <a:off x="4286250" y="4297680"/>
            <a:ext cx="69532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35">
                <a:solidFill>
                  <a:srgbClr val="15232B"/>
                </a:solidFill>
              </a:defRPr>
            </a:pPr>
            <a:r>
              <a:rPr sz="1035">
                <a:solidFill>
                  <a:srgbClr val="15232B"/>
                </a:solidFill>
              </a:rPr>
              <a:t>Zu beweisen ist, ob rechtzeitige Kontrolle und Revision den Dauerschaden verhindert oder vermindert hätten; § 630h wird geprüft.</a:t>
            </a:r>
          </a:p>
        </p:txBody>
      </p:sp>
      <p:sp>
        <p:nvSpPr>
          <p:cNvPr id="22" name="">
            <a:extLst xmlns:a="http://schemas.openxmlformats.org/drawingml/2006/main">
              <a:ext uri="{FF2B5EF4-FFF2-40B4-BE49-F238E27FC236}">
                <a16:creationId xmlns:a16="http://schemas.microsoft.com/office/drawing/2014/main" id="{60CC94AC-59FD-4D33-96E6-83D409C55EB3}"/>
              </a:ext>
            </a:extLst>
          </p:cNvPr>
          <p:cNvSpPr>
            <a:spLocks xmlns:a="http://schemas.openxmlformats.org/drawingml/2006/main" noGrp="1"/>
          </p:cNvSpPr>
          <p:nvPr/>
        </p:nvSpPr>
        <p:spPr>
          <a:xfrm xmlns:a="http://schemas.openxmlformats.org/drawingml/2006/main">
            <a:off x="1809750" y="4777740"/>
            <a:ext cx="381000" cy="381000"/>
          </a:xfrm>
          <a:prstGeom xmlns:a="http://schemas.openxmlformats.org/drawingml/2006/main" prst="roundRect">
            <a:avLst>
              <a:gd name="adj" fmla="val 20000"/>
            </a:avLst>
          </a:prstGeom>
          <a:solidFill xmlns:a="http://schemas.openxmlformats.org/drawingml/2006/main">
            <a:srgbClr val="00B2BB"/>
          </a:solidFill>
          <a:ln xmlns:a="http://schemas.openxmlformats.org/drawingml/2006/main" w="0">
            <a:solidFill>
              <a:srgbClr val="00B2BB"/>
            </a:solidFill>
            <a:prstDash val="solid"/>
          </a:ln>
        </p:spPr>
      </p:sp>
      <p:sp>
        <p:nvSpPr>
          <p:cNvPr id="23" name="">
            <a:extLst xmlns:a="http://schemas.openxmlformats.org/drawingml/2006/main">
              <a:ext uri="{FF2B5EF4-FFF2-40B4-BE49-F238E27FC236}">
                <a16:creationId xmlns:a16="http://schemas.microsoft.com/office/drawing/2014/main" id="{4DE72F6F-F8C9-44E9-B0FE-01679502AA78}"/>
              </a:ext>
            </a:extLst>
          </p:cNvPr>
          <p:cNvSpPr>
            <a:spLocks xmlns:a="http://schemas.openxmlformats.org/drawingml/2006/main" noGrp="1"/>
          </p:cNvSpPr>
          <p:nvPr/>
        </p:nvSpPr>
        <p:spPr>
          <a:xfrm xmlns:a="http://schemas.openxmlformats.org/drawingml/2006/main">
            <a:off x="1809750" y="477774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5</a:t>
            </a:r>
          </a:p>
        </p:txBody>
      </p:sp>
      <p:sp>
        <p:nvSpPr>
          <p:cNvPr id="24" name="">
            <a:extLst xmlns:a="http://schemas.openxmlformats.org/drawingml/2006/main">
              <a:ext uri="{FF2B5EF4-FFF2-40B4-BE49-F238E27FC236}">
                <a16:creationId xmlns:a16="http://schemas.microsoft.com/office/drawing/2014/main" id="{C28E3285-7A65-41D1-9B2C-9AE01EA0E77A}"/>
              </a:ext>
            </a:extLst>
          </p:cNvPr>
          <p:cNvSpPr>
            <a:spLocks xmlns:a="http://schemas.openxmlformats.org/drawingml/2006/main" noGrp="1"/>
          </p:cNvSpPr>
          <p:nvPr/>
        </p:nvSpPr>
        <p:spPr>
          <a:xfrm xmlns:a="http://schemas.openxmlformats.org/drawingml/2006/main">
            <a:off x="2343150" y="4758690"/>
            <a:ext cx="18097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Schaden</a:t>
            </a:r>
          </a:p>
        </p:txBody>
      </p:sp>
      <p:sp>
        <p:nvSpPr>
          <p:cNvPr id="25" name="">
            <a:extLst xmlns:a="http://schemas.openxmlformats.org/drawingml/2006/main">
              <a:ext uri="{FF2B5EF4-FFF2-40B4-BE49-F238E27FC236}">
                <a16:creationId xmlns:a16="http://schemas.microsoft.com/office/drawing/2014/main" id="{3423E6E6-00CE-4964-9CFA-2429C3DC0E2E}"/>
              </a:ext>
            </a:extLst>
          </p:cNvPr>
          <p:cNvSpPr>
            <a:spLocks xmlns:a="http://schemas.openxmlformats.org/drawingml/2006/main" noGrp="1"/>
          </p:cNvSpPr>
          <p:nvPr/>
        </p:nvSpPr>
        <p:spPr>
          <a:xfrm xmlns:a="http://schemas.openxmlformats.org/drawingml/2006/main">
            <a:off x="4286250" y="4758690"/>
            <a:ext cx="69532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35">
                <a:solidFill>
                  <a:srgbClr val="15232B"/>
                </a:solidFill>
              </a:defRPr>
            </a:pPr>
            <a:r>
              <a:rPr sz="1035">
                <a:solidFill>
                  <a:srgbClr val="15232B"/>
                </a:solidFill>
              </a:rPr>
              <a:t>Schmerzensgeld, Pflegebedarf, Erwerbsschaden und Zukunftsschäden werden einzeln dargelegt.</a:t>
            </a:r>
          </a:p>
        </p:txBody>
      </p:sp>
      <p:sp>
        <p:nvSpPr>
          <p:cNvPr id="26" name="">
            <a:extLst xmlns:a="http://schemas.openxmlformats.org/drawingml/2006/main">
              <a:ext uri="{FF2B5EF4-FFF2-40B4-BE49-F238E27FC236}">
                <a16:creationId xmlns:a16="http://schemas.microsoft.com/office/drawing/2014/main" id="{D2403534-7AC7-4103-8E37-8F1FA79F2814}"/>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20">
                <a:solidFill>
                  <a:srgbClr val="667680"/>
                </a:solidFill>
              </a:defRPr>
            </a:pPr>
            <a:r>
              <a:rPr sz="720">
                <a:solidFill>
                  <a:srgbClr val="667680"/>
                </a:solidFill>
              </a:rPr>
              <a:t>Didaktischer Transferfall nach BGH, Urt. v. 27.04.2004 – VI ZR 34/03 · https://juris.bundesgerichtshof.de</a:t>
            </a:r>
          </a:p>
        </p:txBody>
      </p:sp>
      <p:sp>
        <p:nvSpPr>
          <p:cNvPr id="27" name="">
            <a:extLst xmlns:a="http://schemas.openxmlformats.org/drawingml/2006/main">
              <a:ext uri="{FF2B5EF4-FFF2-40B4-BE49-F238E27FC236}">
                <a16:creationId xmlns:a16="http://schemas.microsoft.com/office/drawing/2014/main" id="{92DCBC6F-86C0-4D3D-B4F7-DA06BCE09AC5}"/>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8" name="">
            <a:extLst xmlns:a="http://schemas.openxmlformats.org/drawingml/2006/main">
              <a:ext uri="{FF2B5EF4-FFF2-40B4-BE49-F238E27FC236}">
                <a16:creationId xmlns:a16="http://schemas.microsoft.com/office/drawing/2014/main" id="{5A1BAF86-3C85-4BAB-87E6-6B488E8CE2A3}"/>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Die vollständige Lösung endet nicht beim Fehler, sondern erst bei Gegner, Beweis und konkreter Rechtsfolge.</a:t>
            </a:r>
          </a:p>
        </p:txBody>
      </p:sp>
    </p:spTree>
    <p:extLst>
      <p:ext uri="{BB962C8B-B14F-4D97-AF65-F5344CB8AC3E}">
        <p14:creationId xmlns:p14="http://schemas.microsoft.com/office/powerpoint/2010/main" val="43637646"/>
      </p:ext>
    </p:extLst>
  </p:cSld>
</p:sld>
</file>

<file path=ppt/slides/slide128.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Eine gute Akte beantwortet fünf Fragen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DOKUMENTATIONSLOGIK</a:t>
            </a:r>
            <a:endParaRPr/>
          </a:p>
        </p:txBody>
      </p:sp>
      <p:sp>
        <p:nvSpPr>
          <p:cNvPr id="4" name="">
            <a:extLst xmlns:a="http://schemas.openxmlformats.org/drawingml/2006/main">
              <a:ext uri="{FF2B5EF4-FFF2-40B4-BE49-F238E27FC236}">
                <a16:creationId xmlns:a16="http://schemas.microsoft.com/office/drawing/2014/main" id="{204B03A6-EF79-4EEA-865D-6FF4D1E2C5DA}"/>
              </a:ext>
            </a:extLst>
          </p:cNvPr>
          <p:cNvSpPr>
            <a:spLocks xmlns:a="http://schemas.openxmlformats.org/drawingml/2006/main" noGrp="1"/>
          </p:cNvSpPr>
          <p:nvPr/>
        </p:nvSpPr>
        <p:spPr>
          <a:xfrm xmlns:a="http://schemas.openxmlformats.org/drawingml/2006/main">
            <a:off x="2491740" y="2000250"/>
            <a:ext cx="419100" cy="419100"/>
          </a:xfrm>
          <a:prstGeom xmlns:a="http://schemas.openxmlformats.org/drawingml/2006/main" prst="roundRect">
            <a:avLst>
              <a:gd name="adj" fmla="val 18182"/>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551CD4A9-346C-49F0-8018-7A4CA79CDD9A}"/>
              </a:ext>
            </a:extLst>
          </p:cNvPr>
          <p:cNvSpPr>
            <a:spLocks xmlns:a="http://schemas.openxmlformats.org/drawingml/2006/main" noGrp="1"/>
          </p:cNvSpPr>
          <p:nvPr/>
        </p:nvSpPr>
        <p:spPr>
          <a:xfrm xmlns:a="http://schemas.openxmlformats.org/drawingml/2006/main">
            <a:off x="2491740" y="2000250"/>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6" name="">
            <a:extLst xmlns:a="http://schemas.openxmlformats.org/drawingml/2006/main">
              <a:ext uri="{FF2B5EF4-FFF2-40B4-BE49-F238E27FC236}">
                <a16:creationId xmlns:a16="http://schemas.microsoft.com/office/drawing/2014/main" id="{BA409176-3B14-45DF-A084-161D6DEDF8D1}"/>
              </a:ext>
            </a:extLst>
          </p:cNvPr>
          <p:cNvSpPr>
            <a:spLocks xmlns:a="http://schemas.openxmlformats.org/drawingml/2006/main" noGrp="1"/>
          </p:cNvSpPr>
          <p:nvPr/>
        </p:nvSpPr>
        <p:spPr>
          <a:xfrm xmlns:a="http://schemas.openxmlformats.org/drawingml/2006/main">
            <a:off x="1809750" y="2571750"/>
            <a:ext cx="178308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38" b="1">
                <a:solidFill>
                  <a:srgbClr val="003F6B"/>
                </a:solidFill>
              </a:defRPr>
            </a:pPr>
            <a:r>
              <a:rPr sz="1238" b="1">
                <a:solidFill>
                  <a:srgbClr val="003F6B"/>
                </a:solidFill>
              </a:rPr>
              <a:t>Was wurde beobachtet?</a:t>
            </a:r>
          </a:p>
        </p:txBody>
      </p:sp>
      <p:sp>
        <p:nvSpPr>
          <p:cNvPr id="7" name="">
            <a:extLst xmlns:a="http://schemas.openxmlformats.org/drawingml/2006/main">
              <a:ext uri="{FF2B5EF4-FFF2-40B4-BE49-F238E27FC236}">
                <a16:creationId xmlns:a16="http://schemas.microsoft.com/office/drawing/2014/main" id="{4C70272F-B50C-4521-912A-F7D54DD8B61D}"/>
              </a:ext>
            </a:extLst>
          </p:cNvPr>
          <p:cNvSpPr>
            <a:spLocks xmlns:a="http://schemas.openxmlformats.org/drawingml/2006/main" noGrp="1"/>
          </p:cNvSpPr>
          <p:nvPr/>
        </p:nvSpPr>
        <p:spPr>
          <a:xfrm xmlns:a="http://schemas.openxmlformats.org/drawingml/2006/main">
            <a:off x="4427220" y="2000250"/>
            <a:ext cx="419100" cy="419100"/>
          </a:xfrm>
          <a:prstGeom xmlns:a="http://schemas.openxmlformats.org/drawingml/2006/main" prst="roundRect">
            <a:avLst>
              <a:gd name="adj" fmla="val 18182"/>
            </a:avLst>
          </a:prstGeom>
          <a:solidFill xmlns:a="http://schemas.openxmlformats.org/drawingml/2006/main">
            <a:srgbClr val="003F6B"/>
          </a:solidFill>
          <a:ln xmlns:a="http://schemas.openxmlformats.org/drawingml/2006/main" w="0">
            <a:solidFill>
              <a:srgbClr val="003F6B"/>
            </a:solidFill>
            <a:prstDash val="solid"/>
          </a:ln>
        </p:spPr>
      </p:sp>
      <p:sp>
        <p:nvSpPr>
          <p:cNvPr id="8" name="">
            <a:extLst xmlns:a="http://schemas.openxmlformats.org/drawingml/2006/main">
              <a:ext uri="{FF2B5EF4-FFF2-40B4-BE49-F238E27FC236}">
                <a16:creationId xmlns:a16="http://schemas.microsoft.com/office/drawing/2014/main" id="{4C9C14FB-2C4C-4215-811B-0AD436EA908C}"/>
              </a:ext>
            </a:extLst>
          </p:cNvPr>
          <p:cNvSpPr>
            <a:spLocks xmlns:a="http://schemas.openxmlformats.org/drawingml/2006/main" noGrp="1"/>
          </p:cNvSpPr>
          <p:nvPr/>
        </p:nvSpPr>
        <p:spPr>
          <a:xfrm xmlns:a="http://schemas.openxmlformats.org/drawingml/2006/main">
            <a:off x="4427220" y="2000250"/>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9" name="">
            <a:extLst xmlns:a="http://schemas.openxmlformats.org/drawingml/2006/main">
              <a:ext uri="{FF2B5EF4-FFF2-40B4-BE49-F238E27FC236}">
                <a16:creationId xmlns:a16="http://schemas.microsoft.com/office/drawing/2014/main" id="{C5CC3A27-1A81-4DC9-B03F-BECD8ABED50A}"/>
              </a:ext>
            </a:extLst>
          </p:cNvPr>
          <p:cNvSpPr>
            <a:spLocks xmlns:a="http://schemas.openxmlformats.org/drawingml/2006/main" noGrp="1"/>
          </p:cNvSpPr>
          <p:nvPr/>
        </p:nvSpPr>
        <p:spPr>
          <a:xfrm xmlns:a="http://schemas.openxmlformats.org/drawingml/2006/main">
            <a:off x="3745230" y="2571750"/>
            <a:ext cx="178308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38" b="1">
                <a:solidFill>
                  <a:srgbClr val="003F6B"/>
                </a:solidFill>
              </a:defRPr>
            </a:pPr>
            <a:r>
              <a:rPr sz="1238" b="1">
                <a:solidFill>
                  <a:srgbClr val="003F6B"/>
                </a:solidFill>
              </a:rPr>
              <a:t>Was wurde entschieden?</a:t>
            </a:r>
          </a:p>
        </p:txBody>
      </p:sp>
      <p:sp>
        <p:nvSpPr>
          <p:cNvPr id="10" name="">
            <a:extLst xmlns:a="http://schemas.openxmlformats.org/drawingml/2006/main">
              <a:ext uri="{FF2B5EF4-FFF2-40B4-BE49-F238E27FC236}">
                <a16:creationId xmlns:a16="http://schemas.microsoft.com/office/drawing/2014/main" id="{6C5CE368-866C-4743-8C51-7C7E4BA4A39A}"/>
              </a:ext>
            </a:extLst>
          </p:cNvPr>
          <p:cNvSpPr>
            <a:spLocks xmlns:a="http://schemas.openxmlformats.org/drawingml/2006/main" noGrp="1"/>
          </p:cNvSpPr>
          <p:nvPr/>
        </p:nvSpPr>
        <p:spPr>
          <a:xfrm xmlns:a="http://schemas.openxmlformats.org/drawingml/2006/main">
            <a:off x="6362700" y="2000250"/>
            <a:ext cx="419100" cy="419100"/>
          </a:xfrm>
          <a:prstGeom xmlns:a="http://schemas.openxmlformats.org/drawingml/2006/main" prst="roundRect">
            <a:avLst>
              <a:gd name="adj" fmla="val 18182"/>
            </a:avLst>
          </a:prstGeom>
          <a:solidFill xmlns:a="http://schemas.openxmlformats.org/drawingml/2006/main">
            <a:srgbClr val="00B2BB"/>
          </a:solidFill>
          <a:ln xmlns:a="http://schemas.openxmlformats.org/drawingml/2006/main" w="0">
            <a:solidFill>
              <a:srgbClr val="00B2BB"/>
            </a:solidFill>
            <a:prstDash val="solid"/>
          </a:ln>
        </p:spPr>
      </p:sp>
      <p:sp>
        <p:nvSpPr>
          <p:cNvPr id="11" name="">
            <a:extLst xmlns:a="http://schemas.openxmlformats.org/drawingml/2006/main">
              <a:ext uri="{FF2B5EF4-FFF2-40B4-BE49-F238E27FC236}">
                <a16:creationId xmlns:a16="http://schemas.microsoft.com/office/drawing/2014/main" id="{018B5887-2988-4E75-8278-3F0CCCF63933}"/>
              </a:ext>
            </a:extLst>
          </p:cNvPr>
          <p:cNvSpPr>
            <a:spLocks xmlns:a="http://schemas.openxmlformats.org/drawingml/2006/main" noGrp="1"/>
          </p:cNvSpPr>
          <p:nvPr/>
        </p:nvSpPr>
        <p:spPr>
          <a:xfrm xmlns:a="http://schemas.openxmlformats.org/drawingml/2006/main">
            <a:off x="6362700" y="2000250"/>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2" name="">
            <a:extLst xmlns:a="http://schemas.openxmlformats.org/drawingml/2006/main">
              <a:ext uri="{FF2B5EF4-FFF2-40B4-BE49-F238E27FC236}">
                <a16:creationId xmlns:a16="http://schemas.microsoft.com/office/drawing/2014/main" id="{3EB50A6A-E1CA-4A9A-AB65-D56752FEC4CC}"/>
              </a:ext>
            </a:extLst>
          </p:cNvPr>
          <p:cNvSpPr>
            <a:spLocks xmlns:a="http://schemas.openxmlformats.org/drawingml/2006/main" noGrp="1"/>
          </p:cNvSpPr>
          <p:nvPr/>
        </p:nvSpPr>
        <p:spPr>
          <a:xfrm xmlns:a="http://schemas.openxmlformats.org/drawingml/2006/main">
            <a:off x="5680710" y="2571750"/>
            <a:ext cx="178308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38" b="1">
                <a:solidFill>
                  <a:srgbClr val="003F6B"/>
                </a:solidFill>
              </a:defRPr>
            </a:pPr>
            <a:r>
              <a:rPr sz="1238" b="1">
                <a:solidFill>
                  <a:srgbClr val="003F6B"/>
                </a:solidFill>
              </a:rPr>
              <a:t>Warum war diese Entscheidung vertretbar?</a:t>
            </a:r>
          </a:p>
        </p:txBody>
      </p:sp>
      <p:sp>
        <p:nvSpPr>
          <p:cNvPr id="13" name="">
            <a:extLst xmlns:a="http://schemas.openxmlformats.org/drawingml/2006/main">
              <a:ext uri="{FF2B5EF4-FFF2-40B4-BE49-F238E27FC236}">
                <a16:creationId xmlns:a16="http://schemas.microsoft.com/office/drawing/2014/main" id="{9B574561-8398-4F3F-B675-1E93B4A21055}"/>
              </a:ext>
            </a:extLst>
          </p:cNvPr>
          <p:cNvSpPr>
            <a:spLocks xmlns:a="http://schemas.openxmlformats.org/drawingml/2006/main" noGrp="1"/>
          </p:cNvSpPr>
          <p:nvPr/>
        </p:nvSpPr>
        <p:spPr>
          <a:xfrm xmlns:a="http://schemas.openxmlformats.org/drawingml/2006/main">
            <a:off x="8298180" y="2000250"/>
            <a:ext cx="419100" cy="419100"/>
          </a:xfrm>
          <a:prstGeom xmlns:a="http://schemas.openxmlformats.org/drawingml/2006/main" prst="roundRect">
            <a:avLst>
              <a:gd name="adj" fmla="val 18182"/>
            </a:avLst>
          </a:prstGeom>
          <a:solidFill xmlns:a="http://schemas.openxmlformats.org/drawingml/2006/main">
            <a:srgbClr val="003F6B"/>
          </a:solidFill>
          <a:ln xmlns:a="http://schemas.openxmlformats.org/drawingml/2006/main" w="0">
            <a:solidFill>
              <a:srgbClr val="003F6B"/>
            </a:solidFill>
            <a:prstDash val="solid"/>
          </a:ln>
        </p:spPr>
      </p:sp>
      <p:sp>
        <p:nvSpPr>
          <p:cNvPr id="14" name="">
            <a:extLst xmlns:a="http://schemas.openxmlformats.org/drawingml/2006/main">
              <a:ext uri="{FF2B5EF4-FFF2-40B4-BE49-F238E27FC236}">
                <a16:creationId xmlns:a16="http://schemas.microsoft.com/office/drawing/2014/main" id="{0E0F06B3-0DC2-4211-A44B-98F84500D1D4}"/>
              </a:ext>
            </a:extLst>
          </p:cNvPr>
          <p:cNvSpPr>
            <a:spLocks xmlns:a="http://schemas.openxmlformats.org/drawingml/2006/main" noGrp="1"/>
          </p:cNvSpPr>
          <p:nvPr/>
        </p:nvSpPr>
        <p:spPr>
          <a:xfrm xmlns:a="http://schemas.openxmlformats.org/drawingml/2006/main">
            <a:off x="8298180" y="2000250"/>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15" name="">
            <a:extLst xmlns:a="http://schemas.openxmlformats.org/drawingml/2006/main">
              <a:ext uri="{FF2B5EF4-FFF2-40B4-BE49-F238E27FC236}">
                <a16:creationId xmlns:a16="http://schemas.microsoft.com/office/drawing/2014/main" id="{936C272B-F900-4887-959B-D980C6812CB9}"/>
              </a:ext>
            </a:extLst>
          </p:cNvPr>
          <p:cNvSpPr>
            <a:spLocks xmlns:a="http://schemas.openxmlformats.org/drawingml/2006/main" noGrp="1"/>
          </p:cNvSpPr>
          <p:nvPr/>
        </p:nvSpPr>
        <p:spPr>
          <a:xfrm xmlns:a="http://schemas.openxmlformats.org/drawingml/2006/main">
            <a:off x="7616190" y="2571750"/>
            <a:ext cx="178308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38" b="1">
                <a:solidFill>
                  <a:srgbClr val="003F6B"/>
                </a:solidFill>
              </a:defRPr>
            </a:pPr>
            <a:r>
              <a:rPr sz="1238" b="1">
                <a:solidFill>
                  <a:srgbClr val="003F6B"/>
                </a:solidFill>
              </a:rPr>
              <a:t>Was wurde getan – und mit welchem Ergebnis?</a:t>
            </a:r>
          </a:p>
        </p:txBody>
      </p:sp>
      <p:sp>
        <p:nvSpPr>
          <p:cNvPr id="16" name="">
            <a:extLst xmlns:a="http://schemas.openxmlformats.org/drawingml/2006/main">
              <a:ext uri="{FF2B5EF4-FFF2-40B4-BE49-F238E27FC236}">
                <a16:creationId xmlns:a16="http://schemas.microsoft.com/office/drawing/2014/main" id="{38AF1205-E16E-4642-B434-7C0DA6513D0A}"/>
              </a:ext>
            </a:extLst>
          </p:cNvPr>
          <p:cNvSpPr>
            <a:spLocks xmlns:a="http://schemas.openxmlformats.org/drawingml/2006/main" noGrp="1"/>
          </p:cNvSpPr>
          <p:nvPr/>
        </p:nvSpPr>
        <p:spPr>
          <a:xfrm xmlns:a="http://schemas.openxmlformats.org/drawingml/2006/main">
            <a:off x="10233660" y="2000250"/>
            <a:ext cx="419100" cy="419100"/>
          </a:xfrm>
          <a:prstGeom xmlns:a="http://schemas.openxmlformats.org/drawingml/2006/main" prst="roundRect">
            <a:avLst>
              <a:gd name="adj" fmla="val 18182"/>
            </a:avLst>
          </a:prstGeom>
          <a:solidFill xmlns:a="http://schemas.openxmlformats.org/drawingml/2006/main">
            <a:srgbClr val="00B2BB"/>
          </a:solidFill>
          <a:ln xmlns:a="http://schemas.openxmlformats.org/drawingml/2006/main" w="0">
            <a:solidFill>
              <a:srgbClr val="00B2BB"/>
            </a:solidFill>
            <a:prstDash val="solid"/>
          </a:ln>
        </p:spPr>
      </p:sp>
      <p:sp>
        <p:nvSpPr>
          <p:cNvPr id="17" name="">
            <a:extLst xmlns:a="http://schemas.openxmlformats.org/drawingml/2006/main">
              <a:ext uri="{FF2B5EF4-FFF2-40B4-BE49-F238E27FC236}">
                <a16:creationId xmlns:a16="http://schemas.microsoft.com/office/drawing/2014/main" id="{3665AB40-85BA-4B12-8D0F-C96E7221E77B}"/>
              </a:ext>
            </a:extLst>
          </p:cNvPr>
          <p:cNvSpPr>
            <a:spLocks xmlns:a="http://schemas.openxmlformats.org/drawingml/2006/main" noGrp="1"/>
          </p:cNvSpPr>
          <p:nvPr/>
        </p:nvSpPr>
        <p:spPr>
          <a:xfrm xmlns:a="http://schemas.openxmlformats.org/drawingml/2006/main">
            <a:off x="10233660" y="2000250"/>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5</a:t>
            </a:r>
          </a:p>
        </p:txBody>
      </p:sp>
      <p:sp>
        <p:nvSpPr>
          <p:cNvPr id="18" name="">
            <a:extLst xmlns:a="http://schemas.openxmlformats.org/drawingml/2006/main">
              <a:ext uri="{FF2B5EF4-FFF2-40B4-BE49-F238E27FC236}">
                <a16:creationId xmlns:a16="http://schemas.microsoft.com/office/drawing/2014/main" id="{C3BED044-7485-4A93-B091-F060C656CF73}"/>
              </a:ext>
            </a:extLst>
          </p:cNvPr>
          <p:cNvSpPr>
            <a:spLocks xmlns:a="http://schemas.openxmlformats.org/drawingml/2006/main" noGrp="1"/>
          </p:cNvSpPr>
          <p:nvPr/>
        </p:nvSpPr>
        <p:spPr>
          <a:xfrm xmlns:a="http://schemas.openxmlformats.org/drawingml/2006/main">
            <a:off x="9551670" y="2571750"/>
            <a:ext cx="178308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38" b="1">
                <a:solidFill>
                  <a:srgbClr val="003F6B"/>
                </a:solidFill>
              </a:defRPr>
            </a:pPr>
            <a:r>
              <a:rPr sz="1238" b="1">
                <a:solidFill>
                  <a:srgbClr val="003F6B"/>
                </a:solidFill>
              </a:rPr>
              <a:t>Was wurde übergeben oder vereinbart?</a:t>
            </a:r>
          </a:p>
        </p:txBody>
      </p:sp>
      <p:sp>
        <p:nvSpPr>
          <p:cNvPr id="19" name="">
            <a:extLst xmlns:a="http://schemas.openxmlformats.org/drawingml/2006/main">
              <a:ext uri="{FF2B5EF4-FFF2-40B4-BE49-F238E27FC236}">
                <a16:creationId xmlns:a16="http://schemas.microsoft.com/office/drawing/2014/main" id="{DE0B1E76-B9DC-46E6-ABD8-F886E8A751EE}"/>
              </a:ext>
            </a:extLst>
          </p:cNvPr>
          <p:cNvSpPr>
            <a:spLocks xmlns:a="http://schemas.openxmlformats.org/drawingml/2006/main" noGrp="1"/>
          </p:cNvSpPr>
          <p:nvPr/>
        </p:nvSpPr>
        <p:spPr>
          <a:xfrm xmlns:a="http://schemas.openxmlformats.org/drawingml/2006/main">
            <a:off x="2190750" y="4238625"/>
            <a:ext cx="8763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1">
                <a:solidFill>
                  <a:srgbClr val="D53D0E"/>
                </a:solidFill>
              </a:defRPr>
            </a:pPr>
            <a:r>
              <a:rPr sz="1275" b="1">
                <a:solidFill>
                  <a:srgbClr val="D53D0E"/>
                </a:solidFill>
              </a:rPr>
              <a:t>Vermeiden: nachträgliche Gewissheit · wertende Etiketten ohne Befund · kopierte Widersprüche · ungekennzeichnete Ergänzungen</a:t>
            </a:r>
          </a:p>
        </p:txBody>
      </p:sp>
      <p:sp>
        <p:nvSpPr>
          <p:cNvPr id="20" name="">
            <a:extLst xmlns:a="http://schemas.openxmlformats.org/drawingml/2006/main">
              <a:ext uri="{FF2B5EF4-FFF2-40B4-BE49-F238E27FC236}">
                <a16:creationId xmlns:a16="http://schemas.microsoft.com/office/drawing/2014/main" id="{2529EAC5-3B09-4421-AC7A-5AD53F69F7A7}"/>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1" name="">
            <a:extLst xmlns:a="http://schemas.openxmlformats.org/drawingml/2006/main">
              <a:ext uri="{FF2B5EF4-FFF2-40B4-BE49-F238E27FC236}">
                <a16:creationId xmlns:a16="http://schemas.microsoft.com/office/drawing/2014/main" id="{ABD4AD14-F165-4EEC-ADE5-C409FA18C288}"/>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Dokumentieren Sie die klinische Denkspur – knapp, zeitnah und überprüfbar.</a:t>
            </a:r>
          </a:p>
        </p:txBody>
      </p:sp>
    </p:spTree>
    <p:extLst>
      <p:ext uri="{BB962C8B-B14F-4D97-AF65-F5344CB8AC3E}">
        <p14:creationId xmlns:p14="http://schemas.microsoft.com/office/powerpoint/2010/main" val="43637646"/>
      </p:ext>
    </p:extLst>
  </p:cSld>
</p:sld>
</file>

<file path=ppt/slides/slide129.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Beweismittel im Arzthaftungsprozess</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ZPO-WERKZEUGKASTEN</a:t>
            </a:r>
            <a:endParaRPr/>
          </a:p>
        </p:txBody>
      </p:sp>
      <p:sp>
        <p:nvSpPr>
          <p:cNvPr id="4" name="">
            <a:extLst xmlns:a="http://schemas.openxmlformats.org/drawingml/2006/main">
              <a:ext uri="{FF2B5EF4-FFF2-40B4-BE49-F238E27FC236}">
                <a16:creationId xmlns:a16="http://schemas.microsoft.com/office/drawing/2014/main" id="{2980E880-47D5-4854-8AB2-B42E84A630D1}"/>
              </a:ext>
            </a:extLst>
          </p:cNvPr>
          <p:cNvSpPr>
            <a:spLocks xmlns:a="http://schemas.openxmlformats.org/drawingml/2006/main" noGrp="1"/>
          </p:cNvSpPr>
          <p:nvPr/>
        </p:nvSpPr>
        <p:spPr>
          <a:xfrm xmlns:a="http://schemas.openxmlformats.org/drawingml/2006/main">
            <a:off x="1809750" y="1952625"/>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E257D4D7-7A7E-44B2-952E-70B068EC5F52}"/>
              </a:ext>
            </a:extLst>
          </p:cNvPr>
          <p:cNvSpPr>
            <a:spLocks xmlns:a="http://schemas.openxmlformats.org/drawingml/2006/main" noGrp="1"/>
          </p:cNvSpPr>
          <p:nvPr/>
        </p:nvSpPr>
        <p:spPr>
          <a:xfrm xmlns:a="http://schemas.openxmlformats.org/drawingml/2006/main">
            <a:off x="1809750" y="1952625"/>
            <a:ext cx="30734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F6FB1F18-BB7D-4E2F-8DA6-ED07E2624DF8}"/>
              </a:ext>
            </a:extLst>
          </p:cNvPr>
          <p:cNvSpPr>
            <a:spLocks xmlns:a="http://schemas.openxmlformats.org/drawingml/2006/main" noGrp="1"/>
          </p:cNvSpPr>
          <p:nvPr/>
        </p:nvSpPr>
        <p:spPr>
          <a:xfrm xmlns:a="http://schemas.openxmlformats.org/drawingml/2006/main">
            <a:off x="1962150" y="2085975"/>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Urkunden / Akten</a:t>
            </a:r>
          </a:p>
        </p:txBody>
      </p:sp>
      <p:sp>
        <p:nvSpPr>
          <p:cNvPr id="7" name="">
            <a:extLst xmlns:a="http://schemas.openxmlformats.org/drawingml/2006/main">
              <a:ext uri="{FF2B5EF4-FFF2-40B4-BE49-F238E27FC236}">
                <a16:creationId xmlns:a16="http://schemas.microsoft.com/office/drawing/2014/main" id="{A5767C3A-65FC-4431-A1A7-98AC3DC881F9}"/>
              </a:ext>
            </a:extLst>
          </p:cNvPr>
          <p:cNvSpPr>
            <a:spLocks xmlns:a="http://schemas.openxmlformats.org/drawingml/2006/main" noGrp="1"/>
          </p:cNvSpPr>
          <p:nvPr/>
        </p:nvSpPr>
        <p:spPr>
          <a:xfrm xmlns:a="http://schemas.openxmlformats.org/drawingml/2006/main">
            <a:off x="1962150" y="2524125"/>
            <a:ext cx="27686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Patientenakte, Befunde, Bildgebung, Medikations- und Zeitprotokolle</a:t>
            </a:r>
          </a:p>
        </p:txBody>
      </p:sp>
      <p:sp>
        <p:nvSpPr>
          <p:cNvPr id="8" name="">
            <a:extLst xmlns:a="http://schemas.openxmlformats.org/drawingml/2006/main">
              <a:ext uri="{FF2B5EF4-FFF2-40B4-BE49-F238E27FC236}">
                <a16:creationId xmlns:a16="http://schemas.microsoft.com/office/drawing/2014/main" id="{A87ED38C-7B9C-4E25-A8AF-205B9A30898C}"/>
              </a:ext>
            </a:extLst>
          </p:cNvPr>
          <p:cNvSpPr>
            <a:spLocks xmlns:a="http://schemas.openxmlformats.org/drawingml/2006/main" noGrp="1"/>
          </p:cNvSpPr>
          <p:nvPr/>
        </p:nvSpPr>
        <p:spPr>
          <a:xfrm xmlns:a="http://schemas.openxmlformats.org/drawingml/2006/main">
            <a:off x="5035550" y="1952625"/>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9" name="">
            <a:extLst xmlns:a="http://schemas.openxmlformats.org/drawingml/2006/main">
              <a:ext uri="{FF2B5EF4-FFF2-40B4-BE49-F238E27FC236}">
                <a16:creationId xmlns:a16="http://schemas.microsoft.com/office/drawing/2014/main" id="{B66EFAFC-3DA8-449E-AE53-18FC60A5F623}"/>
              </a:ext>
            </a:extLst>
          </p:cNvPr>
          <p:cNvSpPr>
            <a:spLocks xmlns:a="http://schemas.openxmlformats.org/drawingml/2006/main" noGrp="1"/>
          </p:cNvSpPr>
          <p:nvPr/>
        </p:nvSpPr>
        <p:spPr>
          <a:xfrm xmlns:a="http://schemas.openxmlformats.org/drawingml/2006/main">
            <a:off x="5035550" y="1952625"/>
            <a:ext cx="307340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FBB232D0-26A0-4697-A1A3-76E27982FDB3}"/>
              </a:ext>
            </a:extLst>
          </p:cNvPr>
          <p:cNvSpPr>
            <a:spLocks xmlns:a="http://schemas.openxmlformats.org/drawingml/2006/main" noGrp="1"/>
          </p:cNvSpPr>
          <p:nvPr/>
        </p:nvSpPr>
        <p:spPr>
          <a:xfrm xmlns:a="http://schemas.openxmlformats.org/drawingml/2006/main">
            <a:off x="5187950" y="2085975"/>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Zeugen</a:t>
            </a:r>
          </a:p>
        </p:txBody>
      </p:sp>
      <p:sp>
        <p:nvSpPr>
          <p:cNvPr id="11" name="">
            <a:extLst xmlns:a="http://schemas.openxmlformats.org/drawingml/2006/main">
              <a:ext uri="{FF2B5EF4-FFF2-40B4-BE49-F238E27FC236}">
                <a16:creationId xmlns:a16="http://schemas.microsoft.com/office/drawing/2014/main" id="{869ABBE8-4D24-4702-ACA9-48B7E0664639}"/>
              </a:ext>
            </a:extLst>
          </p:cNvPr>
          <p:cNvSpPr>
            <a:spLocks xmlns:a="http://schemas.openxmlformats.org/drawingml/2006/main" noGrp="1"/>
          </p:cNvSpPr>
          <p:nvPr/>
        </p:nvSpPr>
        <p:spPr>
          <a:xfrm xmlns:a="http://schemas.openxmlformats.org/drawingml/2006/main">
            <a:off x="5187950" y="2524125"/>
            <a:ext cx="27686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Patient:in, Angehörige, Pflege, Ärzt:innen – Erinnerung und Wahrnehmung</a:t>
            </a:r>
          </a:p>
        </p:txBody>
      </p:sp>
      <p:sp>
        <p:nvSpPr>
          <p:cNvPr id="12" name="">
            <a:extLst xmlns:a="http://schemas.openxmlformats.org/drawingml/2006/main">
              <a:ext uri="{FF2B5EF4-FFF2-40B4-BE49-F238E27FC236}">
                <a16:creationId xmlns:a16="http://schemas.microsoft.com/office/drawing/2014/main" id="{1B00E7EA-4E2D-4329-96B2-30CABB2ECC82}"/>
              </a:ext>
            </a:extLst>
          </p:cNvPr>
          <p:cNvSpPr>
            <a:spLocks xmlns:a="http://schemas.openxmlformats.org/drawingml/2006/main" noGrp="1"/>
          </p:cNvSpPr>
          <p:nvPr/>
        </p:nvSpPr>
        <p:spPr>
          <a:xfrm xmlns:a="http://schemas.openxmlformats.org/drawingml/2006/main">
            <a:off x="8261350" y="1952625"/>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13" name="">
            <a:extLst xmlns:a="http://schemas.openxmlformats.org/drawingml/2006/main">
              <a:ext uri="{FF2B5EF4-FFF2-40B4-BE49-F238E27FC236}">
                <a16:creationId xmlns:a16="http://schemas.microsoft.com/office/drawing/2014/main" id="{020E6A11-7928-4ECC-858C-CF3E1C096ED2}"/>
              </a:ext>
            </a:extLst>
          </p:cNvPr>
          <p:cNvSpPr>
            <a:spLocks xmlns:a="http://schemas.openxmlformats.org/drawingml/2006/main" noGrp="1"/>
          </p:cNvSpPr>
          <p:nvPr/>
        </p:nvSpPr>
        <p:spPr>
          <a:xfrm xmlns:a="http://schemas.openxmlformats.org/drawingml/2006/main">
            <a:off x="8261350" y="1952625"/>
            <a:ext cx="30734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45AC17C8-50DA-4D3D-AE2C-702FAD81D2EC}"/>
              </a:ext>
            </a:extLst>
          </p:cNvPr>
          <p:cNvSpPr>
            <a:spLocks xmlns:a="http://schemas.openxmlformats.org/drawingml/2006/main" noGrp="1"/>
          </p:cNvSpPr>
          <p:nvPr/>
        </p:nvSpPr>
        <p:spPr>
          <a:xfrm xmlns:a="http://schemas.openxmlformats.org/drawingml/2006/main">
            <a:off x="8413750" y="2085975"/>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Sachverständige</a:t>
            </a:r>
          </a:p>
        </p:txBody>
      </p:sp>
      <p:sp>
        <p:nvSpPr>
          <p:cNvPr id="15" name="">
            <a:extLst xmlns:a="http://schemas.openxmlformats.org/drawingml/2006/main">
              <a:ext uri="{FF2B5EF4-FFF2-40B4-BE49-F238E27FC236}">
                <a16:creationId xmlns:a16="http://schemas.microsoft.com/office/drawing/2014/main" id="{AED04CE4-4CB1-4C87-BDAA-6ADE14051D8F}"/>
              </a:ext>
            </a:extLst>
          </p:cNvPr>
          <p:cNvSpPr>
            <a:spLocks xmlns:a="http://schemas.openxmlformats.org/drawingml/2006/main" noGrp="1"/>
          </p:cNvSpPr>
          <p:nvPr/>
        </p:nvSpPr>
        <p:spPr>
          <a:xfrm xmlns:a="http://schemas.openxmlformats.org/drawingml/2006/main">
            <a:off x="8413750" y="2524125"/>
            <a:ext cx="27686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Medizinischer Standard und Kausalitätsfragen</a:t>
            </a:r>
          </a:p>
        </p:txBody>
      </p:sp>
      <p:sp>
        <p:nvSpPr>
          <p:cNvPr id="16" name="">
            <a:extLst xmlns:a="http://schemas.openxmlformats.org/drawingml/2006/main">
              <a:ext uri="{FF2B5EF4-FFF2-40B4-BE49-F238E27FC236}">
                <a16:creationId xmlns:a16="http://schemas.microsoft.com/office/drawing/2014/main" id="{B8C89D38-B30E-458C-B587-F710745AEAD0}"/>
              </a:ext>
            </a:extLst>
          </p:cNvPr>
          <p:cNvSpPr>
            <a:spLocks xmlns:a="http://schemas.openxmlformats.org/drawingml/2006/main" noGrp="1"/>
          </p:cNvSpPr>
          <p:nvPr/>
        </p:nvSpPr>
        <p:spPr>
          <a:xfrm xmlns:a="http://schemas.openxmlformats.org/drawingml/2006/main">
            <a:off x="1809750" y="3767138"/>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17" name="">
            <a:extLst xmlns:a="http://schemas.openxmlformats.org/drawingml/2006/main">
              <a:ext uri="{FF2B5EF4-FFF2-40B4-BE49-F238E27FC236}">
                <a16:creationId xmlns:a16="http://schemas.microsoft.com/office/drawing/2014/main" id="{1AB42411-113F-49B8-8F18-607A89ED37BF}"/>
              </a:ext>
            </a:extLst>
          </p:cNvPr>
          <p:cNvSpPr>
            <a:spLocks xmlns:a="http://schemas.openxmlformats.org/drawingml/2006/main" noGrp="1"/>
          </p:cNvSpPr>
          <p:nvPr/>
        </p:nvSpPr>
        <p:spPr>
          <a:xfrm xmlns:a="http://schemas.openxmlformats.org/drawingml/2006/main">
            <a:off x="1809750" y="3767138"/>
            <a:ext cx="307340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AA415024-DBCE-4DD3-8797-A7F3C2364257}"/>
              </a:ext>
            </a:extLst>
          </p:cNvPr>
          <p:cNvSpPr>
            <a:spLocks xmlns:a="http://schemas.openxmlformats.org/drawingml/2006/main" noGrp="1"/>
          </p:cNvSpPr>
          <p:nvPr/>
        </p:nvSpPr>
        <p:spPr>
          <a:xfrm xmlns:a="http://schemas.openxmlformats.org/drawingml/2006/main">
            <a:off x="1962150" y="3900488"/>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Parteianhörung (§ 141 ZPO)</a:t>
            </a:r>
          </a:p>
        </p:txBody>
      </p:sp>
      <p:sp>
        <p:nvSpPr>
          <p:cNvPr id="19" name="">
            <a:extLst xmlns:a="http://schemas.openxmlformats.org/drawingml/2006/main">
              <a:ext uri="{FF2B5EF4-FFF2-40B4-BE49-F238E27FC236}">
                <a16:creationId xmlns:a16="http://schemas.microsoft.com/office/drawing/2014/main" id="{2A5C22A3-A219-426D-8C31-6254C23BB932}"/>
              </a:ext>
            </a:extLst>
          </p:cNvPr>
          <p:cNvSpPr>
            <a:spLocks xmlns:a="http://schemas.openxmlformats.org/drawingml/2006/main" noGrp="1"/>
          </p:cNvSpPr>
          <p:nvPr/>
        </p:nvSpPr>
        <p:spPr>
          <a:xfrm xmlns:a="http://schemas.openxmlformats.org/drawingml/2006/main">
            <a:off x="1962150" y="4338638"/>
            <a:ext cx="27686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Persönliche Schilderung; kein förmliches Beweismittel. Sie kann dem Gericht aber Erkenntnisse für die Würdigung des Prozessstoffs vermitteln.</a:t>
            </a:r>
          </a:p>
        </p:txBody>
      </p:sp>
      <p:sp>
        <p:nvSpPr>
          <p:cNvPr id="20" name="">
            <a:extLst xmlns:a="http://schemas.openxmlformats.org/drawingml/2006/main">
              <a:ext uri="{FF2B5EF4-FFF2-40B4-BE49-F238E27FC236}">
                <a16:creationId xmlns:a16="http://schemas.microsoft.com/office/drawing/2014/main" id="{004C9A0E-6867-4380-9C9D-5E8FBEEC6E62}"/>
              </a:ext>
            </a:extLst>
          </p:cNvPr>
          <p:cNvSpPr>
            <a:spLocks xmlns:a="http://schemas.openxmlformats.org/drawingml/2006/main" noGrp="1"/>
          </p:cNvSpPr>
          <p:nvPr/>
        </p:nvSpPr>
        <p:spPr>
          <a:xfrm xmlns:a="http://schemas.openxmlformats.org/drawingml/2006/main">
            <a:off x="5035550" y="3767138"/>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21" name="">
            <a:extLst xmlns:a="http://schemas.openxmlformats.org/drawingml/2006/main">
              <a:ext uri="{FF2B5EF4-FFF2-40B4-BE49-F238E27FC236}">
                <a16:creationId xmlns:a16="http://schemas.microsoft.com/office/drawing/2014/main" id="{DC7EDFB8-1779-4754-8258-8A7C77A369DD}"/>
              </a:ext>
            </a:extLst>
          </p:cNvPr>
          <p:cNvSpPr>
            <a:spLocks xmlns:a="http://schemas.openxmlformats.org/drawingml/2006/main" noGrp="1"/>
          </p:cNvSpPr>
          <p:nvPr/>
        </p:nvSpPr>
        <p:spPr>
          <a:xfrm xmlns:a="http://schemas.openxmlformats.org/drawingml/2006/main">
            <a:off x="5035550" y="3767138"/>
            <a:ext cx="30734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22" name="">
            <a:extLst xmlns:a="http://schemas.openxmlformats.org/drawingml/2006/main">
              <a:ext uri="{FF2B5EF4-FFF2-40B4-BE49-F238E27FC236}">
                <a16:creationId xmlns:a16="http://schemas.microsoft.com/office/drawing/2014/main" id="{272F0E24-8B4C-4468-92D0-9CF348460048}"/>
              </a:ext>
            </a:extLst>
          </p:cNvPr>
          <p:cNvSpPr>
            <a:spLocks xmlns:a="http://schemas.openxmlformats.org/drawingml/2006/main" noGrp="1"/>
          </p:cNvSpPr>
          <p:nvPr/>
        </p:nvSpPr>
        <p:spPr>
          <a:xfrm xmlns:a="http://schemas.openxmlformats.org/drawingml/2006/main">
            <a:off x="5187950" y="3900488"/>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Elektronische Spuren</a:t>
            </a:r>
          </a:p>
        </p:txBody>
      </p:sp>
      <p:sp>
        <p:nvSpPr>
          <p:cNvPr id="23" name="">
            <a:extLst xmlns:a="http://schemas.openxmlformats.org/drawingml/2006/main">
              <a:ext uri="{FF2B5EF4-FFF2-40B4-BE49-F238E27FC236}">
                <a16:creationId xmlns:a16="http://schemas.microsoft.com/office/drawing/2014/main" id="{4E9F21A2-B916-4DFA-88AD-67BB504F5AF9}"/>
              </a:ext>
            </a:extLst>
          </p:cNvPr>
          <p:cNvSpPr>
            <a:spLocks xmlns:a="http://schemas.openxmlformats.org/drawingml/2006/main" noGrp="1"/>
          </p:cNvSpPr>
          <p:nvPr/>
        </p:nvSpPr>
        <p:spPr>
          <a:xfrm xmlns:a="http://schemas.openxmlformats.org/drawingml/2006/main">
            <a:off x="5187950" y="4338638"/>
            <a:ext cx="27686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Audit-Trails, Zeitstempel, Kommunikations- und Geräteprotokolle – soweit rechtmäßig verfügbar</a:t>
            </a:r>
          </a:p>
        </p:txBody>
      </p:sp>
      <p:sp>
        <p:nvSpPr>
          <p:cNvPr id="24" name="">
            <a:extLst xmlns:a="http://schemas.openxmlformats.org/drawingml/2006/main">
              <a:ext uri="{FF2B5EF4-FFF2-40B4-BE49-F238E27FC236}">
                <a16:creationId xmlns:a16="http://schemas.microsoft.com/office/drawing/2014/main" id="{A1A54653-A09B-4EBE-AEAF-C4DC65DE32B5}"/>
              </a:ext>
            </a:extLst>
          </p:cNvPr>
          <p:cNvSpPr>
            <a:spLocks xmlns:a="http://schemas.openxmlformats.org/drawingml/2006/main" noGrp="1"/>
          </p:cNvSpPr>
          <p:nvPr/>
        </p:nvSpPr>
        <p:spPr>
          <a:xfrm xmlns:a="http://schemas.openxmlformats.org/drawingml/2006/main">
            <a:off x="8261350" y="3767138"/>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25" name="">
            <a:extLst xmlns:a="http://schemas.openxmlformats.org/drawingml/2006/main">
              <a:ext uri="{FF2B5EF4-FFF2-40B4-BE49-F238E27FC236}">
                <a16:creationId xmlns:a16="http://schemas.microsoft.com/office/drawing/2014/main" id="{C247632E-51E1-4065-A8C5-64164AE12DFE}"/>
              </a:ext>
            </a:extLst>
          </p:cNvPr>
          <p:cNvSpPr>
            <a:spLocks xmlns:a="http://schemas.openxmlformats.org/drawingml/2006/main" noGrp="1"/>
          </p:cNvSpPr>
          <p:nvPr/>
        </p:nvSpPr>
        <p:spPr>
          <a:xfrm xmlns:a="http://schemas.openxmlformats.org/drawingml/2006/main">
            <a:off x="8261350" y="3767138"/>
            <a:ext cx="307340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26" name="">
            <a:extLst xmlns:a="http://schemas.openxmlformats.org/drawingml/2006/main">
              <a:ext uri="{FF2B5EF4-FFF2-40B4-BE49-F238E27FC236}">
                <a16:creationId xmlns:a16="http://schemas.microsoft.com/office/drawing/2014/main" id="{ADEC79D9-30C6-4BF6-A4B3-5AC71DE213A0}"/>
              </a:ext>
            </a:extLst>
          </p:cNvPr>
          <p:cNvSpPr>
            <a:spLocks xmlns:a="http://schemas.openxmlformats.org/drawingml/2006/main" noGrp="1"/>
          </p:cNvSpPr>
          <p:nvPr/>
        </p:nvSpPr>
        <p:spPr>
          <a:xfrm xmlns:a="http://schemas.openxmlformats.org/drawingml/2006/main">
            <a:off x="8413750" y="3900488"/>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Rechtsgrundlagen</a:t>
            </a:r>
          </a:p>
        </p:txBody>
      </p:sp>
      <p:sp>
        <p:nvSpPr>
          <p:cNvPr id="27" name="">
            <a:extLst xmlns:a="http://schemas.openxmlformats.org/drawingml/2006/main">
              <a:ext uri="{FF2B5EF4-FFF2-40B4-BE49-F238E27FC236}">
                <a16:creationId xmlns:a16="http://schemas.microsoft.com/office/drawing/2014/main" id="{5EE898D3-F119-4A6C-873C-AB1B7DE88950}"/>
              </a:ext>
            </a:extLst>
          </p:cNvPr>
          <p:cNvSpPr>
            <a:spLocks xmlns:a="http://schemas.openxmlformats.org/drawingml/2006/main" noGrp="1"/>
          </p:cNvSpPr>
          <p:nvPr/>
        </p:nvSpPr>
        <p:spPr>
          <a:xfrm xmlns:a="http://schemas.openxmlformats.org/drawingml/2006/main">
            <a:off x="8413750" y="4338638"/>
            <a:ext cx="27686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Zeugen §§ 373 ff. · Urkunden §§ 415 ff. · Sachverständige §§ 402 ff. · Parteivernehmung §§ 445 ff. ZPO</a:t>
            </a:r>
          </a:p>
        </p:txBody>
      </p:sp>
      <p:sp>
        <p:nvSpPr>
          <p:cNvPr id="28" name="">
            <a:extLst xmlns:a="http://schemas.openxmlformats.org/drawingml/2006/main">
              <a:ext uri="{FF2B5EF4-FFF2-40B4-BE49-F238E27FC236}">
                <a16:creationId xmlns:a16="http://schemas.microsoft.com/office/drawing/2014/main" id="{AB5DEE39-0F85-43CB-A356-7F0FC8663B50}"/>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9" name="">
            <a:extLst xmlns:a="http://schemas.openxmlformats.org/drawingml/2006/main">
              <a:ext uri="{FF2B5EF4-FFF2-40B4-BE49-F238E27FC236}">
                <a16:creationId xmlns:a16="http://schemas.microsoft.com/office/drawing/2014/main" id="{957C3A75-4840-44E3-AB4A-70AB693E949C}"/>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Beweis entsteht nicht nur in der Arztakte; trotzdem bleibt sie meist das Rückgrat der Rekonstruktion.</a:t>
            </a:r>
          </a:p>
        </p:txBody>
      </p:sp>
    </p:spTree>
    <p:extLst>
      <p:ext uri="{BB962C8B-B14F-4D97-AF65-F5344CB8AC3E}">
        <p14:creationId xmlns:p14="http://schemas.microsoft.com/office/powerpoint/2010/main" val="43637646"/>
      </p:ext>
    </p:extLst>
  </p:cSld>
</p:sld>
</file>

<file path=ppt/slides/slide130.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Zum Nachlesen · Termin 04: Dokumentation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LITERATUR &amp; SICHTBARE QUELLEN</a:t>
            </a:r>
            <a:endParaRPr/>
          </a:p>
        </p:txBody>
      </p:sp>
      <p:sp>
        <p:nvSpPr>
          <p:cNvPr id="4" name="">
            <a:extLst xmlns:a="http://schemas.openxmlformats.org/drawingml/2006/main">
              <a:ext uri="{FF2B5EF4-FFF2-40B4-BE49-F238E27FC236}">
                <a16:creationId xmlns:a16="http://schemas.microsoft.com/office/drawing/2014/main" id="{50747B7D-3DB5-46A0-875F-64B012536616}"/>
              </a:ext>
            </a:extLst>
          </p:cNvPr>
          <p:cNvSpPr>
            <a:spLocks xmlns:a="http://schemas.openxmlformats.org/drawingml/2006/main" noGrp="1"/>
          </p:cNvSpPr>
          <p:nvPr/>
        </p:nvSpPr>
        <p:spPr>
          <a:xfrm xmlns:a="http://schemas.openxmlformats.org/drawingml/2006/main">
            <a:off x="1809750" y="1943100"/>
            <a:ext cx="461010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A754B236-820C-4559-AB53-7CCD304FD392}"/>
              </a:ext>
            </a:extLst>
          </p:cNvPr>
          <p:cNvSpPr>
            <a:spLocks xmlns:a="http://schemas.openxmlformats.org/drawingml/2006/main" noGrp="1"/>
          </p:cNvSpPr>
          <p:nvPr/>
        </p:nvSpPr>
        <p:spPr>
          <a:xfrm xmlns:a="http://schemas.openxmlformats.org/drawingml/2006/main">
            <a:off x="1809750" y="1943100"/>
            <a:ext cx="4610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Vertiefung</a:t>
            </a:r>
          </a:p>
        </p:txBody>
      </p:sp>
      <p:sp>
        <p:nvSpPr>
          <p:cNvPr id="6" name="">
            <a:extLst xmlns:a="http://schemas.openxmlformats.org/drawingml/2006/main">
              <a:ext uri="{FF2B5EF4-FFF2-40B4-BE49-F238E27FC236}">
                <a16:creationId xmlns:a16="http://schemas.microsoft.com/office/drawing/2014/main" id="{5121B7B0-67CA-448B-BB01-FB77BA4406A8}"/>
              </a:ext>
            </a:extLst>
          </p:cNvPr>
          <p:cNvSpPr>
            <a:spLocks xmlns:a="http://schemas.openxmlformats.org/drawingml/2006/main" noGrp="1"/>
          </p:cNvSpPr>
          <p:nvPr/>
        </p:nvSpPr>
        <p:spPr>
          <a:xfrm xmlns:a="http://schemas.openxmlformats.org/drawingml/2006/main">
            <a:off x="1809750" y="30289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7" name="">
            <a:extLst xmlns:a="http://schemas.openxmlformats.org/drawingml/2006/main">
              <a:ext uri="{FF2B5EF4-FFF2-40B4-BE49-F238E27FC236}">
                <a16:creationId xmlns:a16="http://schemas.microsoft.com/office/drawing/2014/main" id="{3F20F09D-0A5C-4561-BD87-6C75F6DA08D8}"/>
              </a:ext>
            </a:extLst>
          </p:cNvPr>
          <p:cNvSpPr>
            <a:spLocks xmlns:a="http://schemas.openxmlformats.org/drawingml/2006/main" noGrp="1"/>
          </p:cNvSpPr>
          <p:nvPr/>
        </p:nvSpPr>
        <p:spPr>
          <a:xfrm xmlns:a="http://schemas.openxmlformats.org/drawingml/2006/main">
            <a:off x="1809750" y="24765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9BAB"/>
                </a:solidFill>
              </a:defRPr>
            </a:pPr>
            <a:r>
              <a:rPr sz="960" b="1">
                <a:solidFill>
                  <a:srgbClr val="009BAB"/>
                </a:solidFill>
              </a:rPr>
              <a:t>Kommentar</a:t>
            </a:r>
          </a:p>
        </p:txBody>
      </p:sp>
      <p:sp>
        <p:nvSpPr>
          <p:cNvPr id="8" name="">
            <a:extLst xmlns:a="http://schemas.openxmlformats.org/drawingml/2006/main">
              <a:ext uri="{FF2B5EF4-FFF2-40B4-BE49-F238E27FC236}">
                <a16:creationId xmlns:a16="http://schemas.microsoft.com/office/drawing/2014/main" id="{19326BF3-5FA9-4A94-AF85-8749A83645CD}"/>
              </a:ext>
            </a:extLst>
          </p:cNvPr>
          <p:cNvSpPr>
            <a:spLocks xmlns:a="http://schemas.openxmlformats.org/drawingml/2006/main" noGrp="1"/>
          </p:cNvSpPr>
          <p:nvPr/>
        </p:nvSpPr>
        <p:spPr>
          <a:xfrm xmlns:a="http://schemas.openxmlformats.org/drawingml/2006/main">
            <a:off x="2952750" y="24765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BeckOGK/Spindler bzw. MüKoBGB/Wagner zu § 630f BGB.</a:t>
            </a:r>
          </a:p>
        </p:txBody>
      </p:sp>
      <p:sp>
        <p:nvSpPr>
          <p:cNvPr id="9" name="">
            <a:extLst xmlns:a="http://schemas.openxmlformats.org/drawingml/2006/main">
              <a:ext uri="{FF2B5EF4-FFF2-40B4-BE49-F238E27FC236}">
                <a16:creationId xmlns:a16="http://schemas.microsoft.com/office/drawing/2014/main" id="{BD240AAF-D04A-44EC-8DE9-0EFCB102162D}"/>
              </a:ext>
            </a:extLst>
          </p:cNvPr>
          <p:cNvSpPr>
            <a:spLocks xmlns:a="http://schemas.openxmlformats.org/drawingml/2006/main" noGrp="1"/>
          </p:cNvSpPr>
          <p:nvPr/>
        </p:nvSpPr>
        <p:spPr>
          <a:xfrm xmlns:a="http://schemas.openxmlformats.org/drawingml/2006/main">
            <a:off x="1809750" y="36385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10" name="">
            <a:extLst xmlns:a="http://schemas.openxmlformats.org/drawingml/2006/main">
              <a:ext uri="{FF2B5EF4-FFF2-40B4-BE49-F238E27FC236}">
                <a16:creationId xmlns:a16="http://schemas.microsoft.com/office/drawing/2014/main" id="{D2B981D0-AB6A-40C9-B7A1-6458F67E7D7E}"/>
              </a:ext>
            </a:extLst>
          </p:cNvPr>
          <p:cNvSpPr>
            <a:spLocks xmlns:a="http://schemas.openxmlformats.org/drawingml/2006/main" noGrp="1"/>
          </p:cNvSpPr>
          <p:nvPr/>
        </p:nvSpPr>
        <p:spPr>
          <a:xfrm xmlns:a="http://schemas.openxmlformats.org/drawingml/2006/main">
            <a:off x="1809750" y="30861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9BAB"/>
                </a:solidFill>
              </a:defRPr>
            </a:pPr>
            <a:r>
              <a:rPr sz="960" b="1">
                <a:solidFill>
                  <a:srgbClr val="009BAB"/>
                </a:solidFill>
              </a:rPr>
              <a:t>Praxis</a:t>
            </a:r>
          </a:p>
        </p:txBody>
      </p:sp>
      <p:sp>
        <p:nvSpPr>
          <p:cNvPr id="11" name="">
            <a:extLst xmlns:a="http://schemas.openxmlformats.org/drawingml/2006/main">
              <a:ext uri="{FF2B5EF4-FFF2-40B4-BE49-F238E27FC236}">
                <a16:creationId xmlns:a16="http://schemas.microsoft.com/office/drawing/2014/main" id="{3483776C-2650-49FB-84F8-5D967CDB11B3}"/>
              </a:ext>
            </a:extLst>
          </p:cNvPr>
          <p:cNvSpPr>
            <a:spLocks xmlns:a="http://schemas.openxmlformats.org/drawingml/2006/main" noGrp="1"/>
          </p:cNvSpPr>
          <p:nvPr/>
        </p:nvSpPr>
        <p:spPr>
          <a:xfrm xmlns:a="http://schemas.openxmlformats.org/drawingml/2006/main">
            <a:off x="2952750" y="30861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AWMF, Medizin und Recht im Dialog: Bedeutung der Behandlungsdokumentation.</a:t>
            </a:r>
          </a:p>
        </p:txBody>
      </p:sp>
      <p:sp>
        <p:nvSpPr>
          <p:cNvPr id="12" name="">
            <a:extLst xmlns:a="http://schemas.openxmlformats.org/drawingml/2006/main">
              <a:ext uri="{FF2B5EF4-FFF2-40B4-BE49-F238E27FC236}">
                <a16:creationId xmlns:a16="http://schemas.microsoft.com/office/drawing/2014/main" id="{FB66143D-FDFE-4BD2-8915-63E1B955225D}"/>
              </a:ext>
            </a:extLst>
          </p:cNvPr>
          <p:cNvSpPr>
            <a:spLocks xmlns:a="http://schemas.openxmlformats.org/drawingml/2006/main" noGrp="1"/>
          </p:cNvSpPr>
          <p:nvPr/>
        </p:nvSpPr>
        <p:spPr>
          <a:xfrm xmlns:a="http://schemas.openxmlformats.org/drawingml/2006/main">
            <a:off x="1809750" y="42481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13" name="">
            <a:extLst xmlns:a="http://schemas.openxmlformats.org/drawingml/2006/main">
              <a:ext uri="{FF2B5EF4-FFF2-40B4-BE49-F238E27FC236}">
                <a16:creationId xmlns:a16="http://schemas.microsoft.com/office/drawing/2014/main" id="{4B8CCB26-0B63-4E51-8BBB-3F208F89CACA}"/>
              </a:ext>
            </a:extLst>
          </p:cNvPr>
          <p:cNvSpPr>
            <a:spLocks xmlns:a="http://schemas.openxmlformats.org/drawingml/2006/main" noGrp="1"/>
          </p:cNvSpPr>
          <p:nvPr/>
        </p:nvSpPr>
        <p:spPr>
          <a:xfrm xmlns:a="http://schemas.openxmlformats.org/drawingml/2006/main">
            <a:off x="1809750" y="36957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9BAB"/>
                </a:solidFill>
              </a:defRPr>
            </a:pPr>
            <a:r>
              <a:rPr sz="960" b="1">
                <a:solidFill>
                  <a:srgbClr val="009BAB"/>
                </a:solidFill>
              </a:rPr>
              <a:t>Aktenrecht</a:t>
            </a:r>
          </a:p>
        </p:txBody>
      </p:sp>
      <p:sp>
        <p:nvSpPr>
          <p:cNvPr id="14" name="">
            <a:extLst xmlns:a="http://schemas.openxmlformats.org/drawingml/2006/main">
              <a:ext uri="{FF2B5EF4-FFF2-40B4-BE49-F238E27FC236}">
                <a16:creationId xmlns:a16="http://schemas.microsoft.com/office/drawing/2014/main" id="{063E9D69-333E-45DB-9C8B-D291EB914746}"/>
              </a:ext>
            </a:extLst>
          </p:cNvPr>
          <p:cNvSpPr>
            <a:spLocks xmlns:a="http://schemas.openxmlformats.org/drawingml/2006/main" noGrp="1"/>
          </p:cNvSpPr>
          <p:nvPr/>
        </p:nvSpPr>
        <p:spPr>
          <a:xfrm xmlns:a="http://schemas.openxmlformats.org/drawingml/2006/main">
            <a:off x="2952750" y="36957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Patientenakte, Einsicht und erste unentgeltliche Abschrift nach § 630g.</a:t>
            </a:r>
          </a:p>
        </p:txBody>
      </p:sp>
      <p:sp>
        <p:nvSpPr>
          <p:cNvPr id="15" name="">
            <a:extLst xmlns:a="http://schemas.openxmlformats.org/drawingml/2006/main">
              <a:ext uri="{FF2B5EF4-FFF2-40B4-BE49-F238E27FC236}">
                <a16:creationId xmlns:a16="http://schemas.microsoft.com/office/drawing/2014/main" id="{495B9375-58BD-4318-A32B-CD2ACE9A70E7}"/>
              </a:ext>
            </a:extLst>
          </p:cNvPr>
          <p:cNvSpPr>
            <a:spLocks xmlns:a="http://schemas.openxmlformats.org/drawingml/2006/main" noGrp="1"/>
          </p:cNvSpPr>
          <p:nvPr/>
        </p:nvSpPr>
        <p:spPr>
          <a:xfrm xmlns:a="http://schemas.openxmlformats.org/drawingml/2006/main">
            <a:off x="1809750" y="48577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16" name="">
            <a:extLst xmlns:a="http://schemas.openxmlformats.org/drawingml/2006/main">
              <a:ext uri="{FF2B5EF4-FFF2-40B4-BE49-F238E27FC236}">
                <a16:creationId xmlns:a16="http://schemas.microsoft.com/office/drawing/2014/main" id="{2A6BD230-683D-4994-9BB6-A43D09A0F7CE}"/>
              </a:ext>
            </a:extLst>
          </p:cNvPr>
          <p:cNvSpPr>
            <a:spLocks xmlns:a="http://schemas.openxmlformats.org/drawingml/2006/main" noGrp="1"/>
          </p:cNvSpPr>
          <p:nvPr/>
        </p:nvSpPr>
        <p:spPr>
          <a:xfrm xmlns:a="http://schemas.openxmlformats.org/drawingml/2006/main">
            <a:off x="1809750" y="43053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9BAB"/>
                </a:solidFill>
              </a:defRPr>
            </a:pPr>
            <a:r>
              <a:rPr sz="960" b="1">
                <a:solidFill>
                  <a:srgbClr val="009BAB"/>
                </a:solidFill>
              </a:rPr>
              <a:t>Digital</a:t>
            </a:r>
          </a:p>
        </p:txBody>
      </p:sp>
      <p:sp>
        <p:nvSpPr>
          <p:cNvPr id="17" name="">
            <a:extLst xmlns:a="http://schemas.openxmlformats.org/drawingml/2006/main">
              <a:ext uri="{FF2B5EF4-FFF2-40B4-BE49-F238E27FC236}">
                <a16:creationId xmlns:a16="http://schemas.microsoft.com/office/drawing/2014/main" id="{F727D37E-C01B-4D1D-A3F0-CB2AEE7865BD}"/>
              </a:ext>
            </a:extLst>
          </p:cNvPr>
          <p:cNvSpPr>
            <a:spLocks xmlns:a="http://schemas.openxmlformats.org/drawingml/2006/main" noGrp="1"/>
          </p:cNvSpPr>
          <p:nvPr/>
        </p:nvSpPr>
        <p:spPr>
          <a:xfrm xmlns:a="http://schemas.openxmlformats.org/drawingml/2006/main">
            <a:off x="2952750" y="43053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Änderungssicherheit und Nachvollziehbarkeit elektronischer Systeme.</a:t>
            </a:r>
          </a:p>
        </p:txBody>
      </p:sp>
      <p:sp>
        <p:nvSpPr>
          <p:cNvPr id="18" name="">
            <a:extLst xmlns:a="http://schemas.openxmlformats.org/drawingml/2006/main">
              <a:ext uri="{FF2B5EF4-FFF2-40B4-BE49-F238E27FC236}">
                <a16:creationId xmlns:a16="http://schemas.microsoft.com/office/drawing/2014/main" id="{1A06A09E-DFD1-41F8-B106-D5C4D32B241E}"/>
              </a:ext>
            </a:extLst>
          </p:cNvPr>
          <p:cNvSpPr>
            <a:spLocks xmlns:a="http://schemas.openxmlformats.org/drawingml/2006/main" noGrp="1"/>
          </p:cNvSpPr>
          <p:nvPr/>
        </p:nvSpPr>
        <p:spPr>
          <a:xfrm xmlns:a="http://schemas.openxmlformats.org/drawingml/2006/main">
            <a:off x="6724650" y="1943100"/>
            <a:ext cx="461010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9" name="">
            <a:extLst xmlns:a="http://schemas.openxmlformats.org/drawingml/2006/main">
              <a:ext uri="{FF2B5EF4-FFF2-40B4-BE49-F238E27FC236}">
                <a16:creationId xmlns:a16="http://schemas.microsoft.com/office/drawing/2014/main" id="{1B0AF4D7-4FCF-42E8-9890-E8B651FF7144}"/>
              </a:ext>
            </a:extLst>
          </p:cNvPr>
          <p:cNvSpPr>
            <a:spLocks xmlns:a="http://schemas.openxmlformats.org/drawingml/2006/main" noGrp="1"/>
          </p:cNvSpPr>
          <p:nvPr/>
        </p:nvSpPr>
        <p:spPr>
          <a:xfrm xmlns:a="http://schemas.openxmlformats.org/drawingml/2006/main">
            <a:off x="6724650" y="1943100"/>
            <a:ext cx="4610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Primärquellen &amp; Rechtsprechung</a:t>
            </a:r>
          </a:p>
        </p:txBody>
      </p:sp>
      <p:sp>
        <p:nvSpPr>
          <p:cNvPr id="20" name="">
            <a:extLst xmlns:a="http://schemas.openxmlformats.org/drawingml/2006/main">
              <a:ext uri="{FF2B5EF4-FFF2-40B4-BE49-F238E27FC236}">
                <a16:creationId xmlns:a16="http://schemas.microsoft.com/office/drawing/2014/main" id="{8DF2A677-B8C8-4DF7-B82F-6B1CA9778456}"/>
              </a:ext>
            </a:extLst>
          </p:cNvPr>
          <p:cNvSpPr>
            <a:spLocks xmlns:a="http://schemas.openxmlformats.org/drawingml/2006/main" noGrp="1"/>
          </p:cNvSpPr>
          <p:nvPr/>
        </p:nvSpPr>
        <p:spPr>
          <a:xfrm xmlns:a="http://schemas.openxmlformats.org/drawingml/2006/main">
            <a:off x="6724650" y="30289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21" name="">
            <a:extLst xmlns:a="http://schemas.openxmlformats.org/drawingml/2006/main">
              <a:ext uri="{FF2B5EF4-FFF2-40B4-BE49-F238E27FC236}">
                <a16:creationId xmlns:a16="http://schemas.microsoft.com/office/drawing/2014/main" id="{0341AC4D-36AC-40B3-8940-6545D12C86E1}"/>
              </a:ext>
            </a:extLst>
          </p:cNvPr>
          <p:cNvSpPr>
            <a:spLocks xmlns:a="http://schemas.openxmlformats.org/drawingml/2006/main" noGrp="1"/>
          </p:cNvSpPr>
          <p:nvPr/>
        </p:nvSpPr>
        <p:spPr>
          <a:xfrm xmlns:a="http://schemas.openxmlformats.org/drawingml/2006/main">
            <a:off x="6724650" y="24765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3F6B"/>
                </a:solidFill>
              </a:defRPr>
            </a:pPr>
            <a:r>
              <a:rPr sz="960" b="1">
                <a:solidFill>
                  <a:srgbClr val="003F6B"/>
                </a:solidFill>
              </a:rPr>
              <a:t>Normen</a:t>
            </a:r>
          </a:p>
        </p:txBody>
      </p:sp>
      <p:sp>
        <p:nvSpPr>
          <p:cNvPr id="22" name="">
            <a:extLst xmlns:a="http://schemas.openxmlformats.org/drawingml/2006/main">
              <a:ext uri="{FF2B5EF4-FFF2-40B4-BE49-F238E27FC236}">
                <a16:creationId xmlns:a16="http://schemas.microsoft.com/office/drawing/2014/main" id="{DD3CB42F-C362-4219-9410-3E0B7DE13C2D}"/>
              </a:ext>
            </a:extLst>
          </p:cNvPr>
          <p:cNvSpPr>
            <a:spLocks xmlns:a="http://schemas.openxmlformats.org/drawingml/2006/main" noGrp="1"/>
          </p:cNvSpPr>
          <p:nvPr/>
        </p:nvSpPr>
        <p:spPr>
          <a:xfrm xmlns:a="http://schemas.openxmlformats.org/drawingml/2006/main">
            <a:off x="7867650" y="24765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 630f, 630g, 630h Abs. 3 BGB.</a:t>
            </a:r>
          </a:p>
        </p:txBody>
      </p:sp>
      <p:sp>
        <p:nvSpPr>
          <p:cNvPr id="23" name="">
            <a:extLst xmlns:a="http://schemas.openxmlformats.org/drawingml/2006/main">
              <a:ext uri="{FF2B5EF4-FFF2-40B4-BE49-F238E27FC236}">
                <a16:creationId xmlns:a16="http://schemas.microsoft.com/office/drawing/2014/main" id="{5E040D02-7158-40E6-B08E-8FA09D40FA47}"/>
              </a:ext>
            </a:extLst>
          </p:cNvPr>
          <p:cNvSpPr>
            <a:spLocks xmlns:a="http://schemas.openxmlformats.org/drawingml/2006/main" noGrp="1"/>
          </p:cNvSpPr>
          <p:nvPr/>
        </p:nvSpPr>
        <p:spPr>
          <a:xfrm xmlns:a="http://schemas.openxmlformats.org/drawingml/2006/main">
            <a:off x="6724650" y="36385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24" name="">
            <a:extLst xmlns:a="http://schemas.openxmlformats.org/drawingml/2006/main">
              <a:ext uri="{FF2B5EF4-FFF2-40B4-BE49-F238E27FC236}">
                <a16:creationId xmlns:a16="http://schemas.microsoft.com/office/drawing/2014/main" id="{A9946184-73D2-4549-98F0-687D6D5EFAB5}"/>
              </a:ext>
            </a:extLst>
          </p:cNvPr>
          <p:cNvSpPr>
            <a:spLocks xmlns:a="http://schemas.openxmlformats.org/drawingml/2006/main" noGrp="1"/>
          </p:cNvSpPr>
          <p:nvPr/>
        </p:nvSpPr>
        <p:spPr>
          <a:xfrm xmlns:a="http://schemas.openxmlformats.org/drawingml/2006/main">
            <a:off x="6724650" y="30861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3F6B"/>
                </a:solidFill>
              </a:defRPr>
            </a:pPr>
            <a:r>
              <a:rPr sz="960" b="1">
                <a:solidFill>
                  <a:srgbClr val="003F6B"/>
                </a:solidFill>
              </a:rPr>
              <a:t>BGH</a:t>
            </a:r>
          </a:p>
        </p:txBody>
      </p:sp>
      <p:sp>
        <p:nvSpPr>
          <p:cNvPr id="25" name="">
            <a:extLst xmlns:a="http://schemas.openxmlformats.org/drawingml/2006/main">
              <a:ext uri="{FF2B5EF4-FFF2-40B4-BE49-F238E27FC236}">
                <a16:creationId xmlns:a16="http://schemas.microsoft.com/office/drawing/2014/main" id="{6E9A391F-4AC7-4B54-8959-0CA8EABD89B5}"/>
              </a:ext>
            </a:extLst>
          </p:cNvPr>
          <p:cNvSpPr>
            <a:spLocks xmlns:a="http://schemas.openxmlformats.org/drawingml/2006/main" noGrp="1"/>
          </p:cNvSpPr>
          <p:nvPr/>
        </p:nvSpPr>
        <p:spPr>
          <a:xfrm xmlns:a="http://schemas.openxmlformats.org/drawingml/2006/main">
            <a:off x="7867650" y="30861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VI ZR 84/19 · elektronische Dokumentation; Vorinstanz OLG Oldenburg.</a:t>
            </a:r>
          </a:p>
        </p:txBody>
      </p:sp>
      <p:sp>
        <p:nvSpPr>
          <p:cNvPr id="26" name="">
            <a:extLst xmlns:a="http://schemas.openxmlformats.org/drawingml/2006/main">
              <a:ext uri="{FF2B5EF4-FFF2-40B4-BE49-F238E27FC236}">
                <a16:creationId xmlns:a16="http://schemas.microsoft.com/office/drawing/2014/main" id="{6199F899-9599-44FC-8B3B-3BEDD343367C}"/>
              </a:ext>
            </a:extLst>
          </p:cNvPr>
          <p:cNvSpPr>
            <a:spLocks xmlns:a="http://schemas.openxmlformats.org/drawingml/2006/main" noGrp="1"/>
          </p:cNvSpPr>
          <p:nvPr/>
        </p:nvSpPr>
        <p:spPr>
          <a:xfrm xmlns:a="http://schemas.openxmlformats.org/drawingml/2006/main">
            <a:off x="6724650" y="42481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27" name="">
            <a:extLst xmlns:a="http://schemas.openxmlformats.org/drawingml/2006/main">
              <a:ext uri="{FF2B5EF4-FFF2-40B4-BE49-F238E27FC236}">
                <a16:creationId xmlns:a16="http://schemas.microsoft.com/office/drawing/2014/main" id="{54DBDB65-5FC8-432C-84FB-774303F8D57A}"/>
              </a:ext>
            </a:extLst>
          </p:cNvPr>
          <p:cNvSpPr>
            <a:spLocks xmlns:a="http://schemas.openxmlformats.org/drawingml/2006/main" noGrp="1"/>
          </p:cNvSpPr>
          <p:nvPr/>
        </p:nvSpPr>
        <p:spPr>
          <a:xfrm xmlns:a="http://schemas.openxmlformats.org/drawingml/2006/main">
            <a:off x="6724650" y="36957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3F6B"/>
                </a:solidFill>
              </a:defRPr>
            </a:pPr>
            <a:r>
              <a:rPr sz="960" b="1">
                <a:solidFill>
                  <a:srgbClr val="003F6B"/>
                </a:solidFill>
              </a:rPr>
              <a:t>Gesetz</a:t>
            </a:r>
          </a:p>
        </p:txBody>
      </p:sp>
      <p:sp>
        <p:nvSpPr>
          <p:cNvPr id="28" name="">
            <a:extLst xmlns:a="http://schemas.openxmlformats.org/drawingml/2006/main">
              <a:ext uri="{FF2B5EF4-FFF2-40B4-BE49-F238E27FC236}">
                <a16:creationId xmlns:a16="http://schemas.microsoft.com/office/drawing/2014/main" id="{42C2F55B-BF93-4A4B-86EB-3B32A0071A48}"/>
              </a:ext>
            </a:extLst>
          </p:cNvPr>
          <p:cNvSpPr>
            <a:spLocks xmlns:a="http://schemas.openxmlformats.org/drawingml/2006/main" noGrp="1"/>
          </p:cNvSpPr>
          <p:nvPr/>
        </p:nvSpPr>
        <p:spPr>
          <a:xfrm xmlns:a="http://schemas.openxmlformats.org/drawingml/2006/main">
            <a:off x="7867650" y="36957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gesetze-im-internet.de/bgb/__630f.html</a:t>
            </a:r>
          </a:p>
        </p:txBody>
      </p:sp>
      <p:sp>
        <p:nvSpPr>
          <p:cNvPr id="29" name="">
            <a:extLst xmlns:a="http://schemas.openxmlformats.org/drawingml/2006/main">
              <a:ext uri="{FF2B5EF4-FFF2-40B4-BE49-F238E27FC236}">
                <a16:creationId xmlns:a16="http://schemas.microsoft.com/office/drawing/2014/main" id="{2CC1309F-F83D-4708-BCFB-591336A8F919}"/>
              </a:ext>
            </a:extLst>
          </p:cNvPr>
          <p:cNvSpPr>
            <a:spLocks xmlns:a="http://schemas.openxmlformats.org/drawingml/2006/main" noGrp="1"/>
          </p:cNvSpPr>
          <p:nvPr/>
        </p:nvSpPr>
        <p:spPr>
          <a:xfrm xmlns:a="http://schemas.openxmlformats.org/drawingml/2006/main">
            <a:off x="6724650" y="48577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30" name="">
            <a:extLst xmlns:a="http://schemas.openxmlformats.org/drawingml/2006/main">
              <a:ext uri="{FF2B5EF4-FFF2-40B4-BE49-F238E27FC236}">
                <a16:creationId xmlns:a16="http://schemas.microsoft.com/office/drawing/2014/main" id="{BB4FE7E2-DBEF-484A-9108-A58DFCF70E78}"/>
              </a:ext>
            </a:extLst>
          </p:cNvPr>
          <p:cNvSpPr>
            <a:spLocks xmlns:a="http://schemas.openxmlformats.org/drawingml/2006/main" noGrp="1"/>
          </p:cNvSpPr>
          <p:nvPr/>
        </p:nvSpPr>
        <p:spPr>
          <a:xfrm xmlns:a="http://schemas.openxmlformats.org/drawingml/2006/main">
            <a:off x="6724650" y="43053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3F6B"/>
                </a:solidFill>
              </a:defRPr>
            </a:pPr>
            <a:r>
              <a:rPr sz="960" b="1">
                <a:solidFill>
                  <a:srgbClr val="003F6B"/>
                </a:solidFill>
              </a:rPr>
              <a:t>Gesetz</a:t>
            </a:r>
          </a:p>
        </p:txBody>
      </p:sp>
      <p:sp>
        <p:nvSpPr>
          <p:cNvPr id="31" name="">
            <a:extLst xmlns:a="http://schemas.openxmlformats.org/drawingml/2006/main">
              <a:ext uri="{FF2B5EF4-FFF2-40B4-BE49-F238E27FC236}">
                <a16:creationId xmlns:a16="http://schemas.microsoft.com/office/drawing/2014/main" id="{51916F9E-BF95-4811-9BD4-69D4D5722AA1}"/>
              </a:ext>
            </a:extLst>
          </p:cNvPr>
          <p:cNvSpPr>
            <a:spLocks xmlns:a="http://schemas.openxmlformats.org/drawingml/2006/main" noGrp="1"/>
          </p:cNvSpPr>
          <p:nvPr/>
        </p:nvSpPr>
        <p:spPr>
          <a:xfrm xmlns:a="http://schemas.openxmlformats.org/drawingml/2006/main">
            <a:off x="7867650" y="43053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gesetze-im-internet.de/bgb/__630g.html</a:t>
            </a:r>
          </a:p>
        </p:txBody>
      </p:sp>
      <p:sp>
        <p:nvSpPr>
          <p:cNvPr id="32" name="">
            <a:extLst xmlns:a="http://schemas.openxmlformats.org/drawingml/2006/main">
              <a:ext uri="{FF2B5EF4-FFF2-40B4-BE49-F238E27FC236}">
                <a16:creationId xmlns:a16="http://schemas.microsoft.com/office/drawing/2014/main" id="{DBB109C5-504B-4925-AE06-FDE05681E54B}"/>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20">
                <a:solidFill>
                  <a:srgbClr val="667680"/>
                </a:solidFill>
              </a:defRPr>
            </a:pPr>
            <a:r>
              <a:rPr sz="720">
                <a:solidFill>
                  <a:srgbClr val="667680"/>
                </a:solidFill>
              </a:rPr>
              <a:t>Alle Internetquellen Abruf/Stand: 20.08.2026. Gesetze: aktuelle Fassung jeweils vor Anwendung prüfen · https://www.rechtsprechung-im-internet.de</a:t>
            </a:r>
          </a:p>
        </p:txBody>
      </p:sp>
    </p:spTree>
    <p:extLst>
      <p:ext uri="{BB962C8B-B14F-4D97-AF65-F5344CB8AC3E}">
        <p14:creationId xmlns:p14="http://schemas.microsoft.com/office/powerpoint/2010/main" val="43637646"/>
      </p:ext>
    </p:extLst>
  </p:cSld>
</p:sld>
</file>

<file path=ppt/slides/slide131.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endParaRPr/>
          </a:p>
        </p:txBody>
      </p:sp>
      <p:sp>
        <p:nvSpPr>
          <p:cNvPr id="4" name="">
            <a:extLst xmlns:a="http://schemas.openxmlformats.org/drawingml/2006/main">
              <a:ext uri="{FF2B5EF4-FFF2-40B4-BE49-F238E27FC236}">
                <a16:creationId xmlns:a16="http://schemas.microsoft.com/office/drawing/2014/main" id="{A63E2639-9D1D-4CC3-912B-7727EB2750B6}"/>
              </a:ext>
            </a:extLst>
          </p:cNvPr>
          <p:cNvSpPr>
            <a:spLocks xmlns:a="http://schemas.openxmlformats.org/drawingml/2006/main" noGrp="1"/>
          </p:cNvSpPr>
          <p:nvPr/>
        </p:nvSpPr>
        <p:spPr>
          <a:xfrm xmlns:a="http://schemas.openxmlformats.org/drawingml/2006/main">
            <a:off x="2571750" y="2038350"/>
            <a:ext cx="838200" cy="628650"/>
          </a:xfrm>
          <a:prstGeom xmlns:a="http://schemas.openxmlformats.org/drawingml/2006/main" prst="roundRect">
            <a:avLst>
              <a:gd name="adj" fmla="val 12121"/>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79181A8F-E0DA-4B41-81F6-AE3DF8CE9F89}"/>
              </a:ext>
            </a:extLst>
          </p:cNvPr>
          <p:cNvSpPr>
            <a:spLocks xmlns:a="http://schemas.openxmlformats.org/drawingml/2006/main" noGrp="1"/>
          </p:cNvSpPr>
          <p:nvPr/>
        </p:nvSpPr>
        <p:spPr>
          <a:xfrm xmlns:a="http://schemas.openxmlformats.org/drawingml/2006/main">
            <a:off x="2571750" y="2038350"/>
            <a:ext cx="8382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FFFFFF"/>
                </a:solidFill>
              </a:defRPr>
            </a:pPr>
            <a:r>
              <a:rPr sz="2100" b="1">
                <a:solidFill>
                  <a:srgbClr val="FFFFFF"/>
                </a:solidFill>
              </a:rPr>
              <a:t>05</a:t>
            </a:r>
          </a:p>
        </p:txBody>
      </p:sp>
      <p:sp>
        <p:nvSpPr>
          <p:cNvPr id="6" name="">
            <a:extLst xmlns:a="http://schemas.openxmlformats.org/drawingml/2006/main">
              <a:ext uri="{FF2B5EF4-FFF2-40B4-BE49-F238E27FC236}">
                <a16:creationId xmlns:a16="http://schemas.microsoft.com/office/drawing/2014/main" id="{AFFE65A9-95B1-4FA2-B5E2-7CC3E5C2E9E3}"/>
              </a:ext>
            </a:extLst>
          </p:cNvPr>
          <p:cNvSpPr>
            <a:spLocks xmlns:a="http://schemas.openxmlformats.org/drawingml/2006/main" noGrp="1"/>
          </p:cNvSpPr>
          <p:nvPr/>
        </p:nvSpPr>
        <p:spPr>
          <a:xfrm xmlns:a="http://schemas.openxmlformats.org/drawingml/2006/main">
            <a:off x="3667125" y="2000250"/>
            <a:ext cx="8096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4400">
                <a:solidFill>
                  <a:srgbClr val="003F6B"/>
                </a:solidFill>
              </a:defRPr>
            </a:pPr>
            <a:r>
              <a:rPr sz="4400">
                <a:solidFill>
                  <a:srgbClr val="003F6B"/>
                </a:solidFill>
              </a:rPr>
              <a:t>Sachverständigenbeweis &amp; Gutachten</a:t>
            </a:r>
          </a:p>
        </p:txBody>
      </p:sp>
      <p:sp>
        <p:nvSpPr>
          <p:cNvPr id="7" name="">
            <a:extLst xmlns:a="http://schemas.openxmlformats.org/drawingml/2006/main">
              <a:ext uri="{FF2B5EF4-FFF2-40B4-BE49-F238E27FC236}">
                <a16:creationId xmlns:a16="http://schemas.microsoft.com/office/drawing/2014/main" id="{DDE553AA-16EE-4EE8-84B4-DF8BCD4119CC}"/>
              </a:ext>
            </a:extLst>
          </p:cNvPr>
          <p:cNvSpPr>
            <a:spLocks xmlns:a="http://schemas.openxmlformats.org/drawingml/2006/main" noGrp="1"/>
          </p:cNvSpPr>
          <p:nvPr/>
        </p:nvSpPr>
        <p:spPr>
          <a:xfrm xmlns:a="http://schemas.openxmlformats.org/drawingml/2006/main">
            <a:off x="3238500" y="3333750"/>
            <a:ext cx="8524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400">
                <a:solidFill>
                  <a:srgbClr val="003F6B"/>
                </a:solidFill>
              </a:defRPr>
            </a:pPr>
            <a:r>
              <a:rPr sz="2400">
                <a:solidFill>
                  <a:srgbClr val="003F6B"/>
                </a:solidFill>
              </a:rPr>
              <a:t>Termin: 11.11.2026 · 16:30–17:45 · V03 0-C001</a:t>
            </a:r>
          </a:p>
        </p:txBody>
      </p:sp>
      <p:sp>
        <p:nvSpPr>
          <p:cNvPr id="8" name="">
            <a:extLst xmlns:a="http://schemas.openxmlformats.org/drawingml/2006/main">
              <a:ext uri="{FF2B5EF4-FFF2-40B4-BE49-F238E27FC236}">
                <a16:creationId xmlns:a16="http://schemas.microsoft.com/office/drawing/2014/main" id="{FB39405C-4F71-4B95-AF98-6A961F00A633}"/>
              </a:ext>
            </a:extLst>
          </p:cNvPr>
          <p:cNvSpPr>
            <a:spLocks xmlns:a="http://schemas.openxmlformats.org/drawingml/2006/main" noGrp="1"/>
          </p:cNvSpPr>
          <p:nvPr/>
        </p:nvSpPr>
        <p:spPr>
          <a:xfrm xmlns:a="http://schemas.openxmlformats.org/drawingml/2006/main">
            <a:off x="3238500" y="3752850"/>
            <a:ext cx="8524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400">
                <a:solidFill>
                  <a:srgbClr val="003F6B"/>
                </a:solidFill>
              </a:defRPr>
            </a:pPr>
            <a:r>
              <a:rPr sz="2400">
                <a:solidFill>
                  <a:srgbClr val="003F6B"/>
                </a:solidFill>
              </a:rPr>
              <a:t>Medizinische Expertise in präzise Beweisfragen übersetzen</a:t>
            </a:r>
          </a:p>
        </p:txBody>
      </p:sp>
      <p:sp>
        <p:nvSpPr>
          <p:cNvPr id="9" name="">
            <a:extLst xmlns:a="http://schemas.openxmlformats.org/drawingml/2006/main">
              <a:ext uri="{FF2B5EF4-FFF2-40B4-BE49-F238E27FC236}">
                <a16:creationId xmlns:a16="http://schemas.microsoft.com/office/drawing/2014/main" id="{100887AC-B8FB-4383-8F58-1D5E75506FF1}"/>
              </a:ext>
            </a:extLst>
          </p:cNvPr>
          <p:cNvSpPr>
            <a:spLocks xmlns:a="http://schemas.openxmlformats.org/drawingml/2006/main" noGrp="1"/>
          </p:cNvSpPr>
          <p:nvPr/>
        </p:nvSpPr>
        <p:spPr>
          <a:xfrm xmlns:a="http://schemas.openxmlformats.org/drawingml/2006/main">
            <a:off x="3238500" y="4552950"/>
            <a:ext cx="8524875"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400">
                <a:solidFill>
                  <a:srgbClr val="003F6B"/>
                </a:solidFill>
              </a:defRPr>
            </a:pPr>
            <a:r>
              <a:rPr sz="2400">
                <a:solidFill>
                  <a:srgbClr val="003F6B"/>
                </a:solidFill>
              </a:rPr>
              <a:t>Das Gericht entscheidet – aber das Gutachten strukturiert den medizinischen Möglichkeitsraum.</a:t>
            </a:r>
          </a:p>
        </p:txBody>
      </p:sp>
    </p:spTree>
    <p:extLst>
      <p:ext uri="{BB962C8B-B14F-4D97-AF65-F5344CB8AC3E}">
        <p14:creationId xmlns:p14="http://schemas.microsoft.com/office/powerpoint/2010/main" val="43637646"/>
      </p:ext>
    </p:extLst>
  </p:cSld>
</p:sld>
</file>

<file path=ppt/slides/slide132.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Lernziele Termin 05: Sachverständigenbeweis</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CHECKLISTE · AM ENDE DES HEUTIGEN TERMINS KANN ICH …</a:t>
            </a:r>
            <a:endParaRPr/>
          </a:p>
        </p:txBody>
      </p:sp>
      <p:sp>
        <p:nvSpPr>
          <p:cNvPr id="4" name="">
            <a:extLst xmlns:a="http://schemas.openxmlformats.org/drawingml/2006/main">
              <a:ext uri="{FF2B5EF4-FFF2-40B4-BE49-F238E27FC236}">
                <a16:creationId xmlns:a16="http://schemas.microsoft.com/office/drawing/2014/main" id="{FF5FE049-6865-456C-A22B-6CD9034A33FB}"/>
              </a:ext>
            </a:extLst>
          </p:cNvPr>
          <p:cNvSpPr>
            <a:spLocks xmlns:a="http://schemas.openxmlformats.org/drawingml/2006/main" noGrp="1"/>
          </p:cNvSpPr>
          <p:nvPr/>
        </p:nvSpPr>
        <p:spPr>
          <a:xfrm xmlns:a="http://schemas.openxmlformats.org/drawingml/2006/main">
            <a:off x="1809750" y="198120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B2BB"/>
            </a:solidFill>
            <a:prstDash val="solid"/>
          </a:ln>
        </p:spPr>
      </p:sp>
      <p:sp>
        <p:nvSpPr>
          <p:cNvPr id="5" name="">
            <a:extLst xmlns:a="http://schemas.openxmlformats.org/drawingml/2006/main">
              <a:ext uri="{FF2B5EF4-FFF2-40B4-BE49-F238E27FC236}">
                <a16:creationId xmlns:a16="http://schemas.microsoft.com/office/drawing/2014/main" id="{FB5D9EAB-831F-4F4E-820D-E7026D74F3FE}"/>
              </a:ext>
            </a:extLst>
          </p:cNvPr>
          <p:cNvSpPr>
            <a:spLocks xmlns:a="http://schemas.openxmlformats.org/drawingml/2006/main" noGrp="1"/>
          </p:cNvSpPr>
          <p:nvPr/>
        </p:nvSpPr>
        <p:spPr>
          <a:xfrm xmlns:a="http://schemas.openxmlformats.org/drawingml/2006/main">
            <a:off x="1943100" y="2124075"/>
            <a:ext cx="40005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4EF60E36-0CC2-427C-AE78-63430F7541E2}"/>
              </a:ext>
            </a:extLst>
          </p:cNvPr>
          <p:cNvSpPr>
            <a:spLocks xmlns:a="http://schemas.openxmlformats.org/drawingml/2006/main" noGrp="1"/>
          </p:cNvSpPr>
          <p:nvPr/>
        </p:nvSpPr>
        <p:spPr>
          <a:xfrm xmlns:a="http://schemas.openxmlformats.org/drawingml/2006/main">
            <a:off x="1943100" y="21050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7" name="">
            <a:extLst xmlns:a="http://schemas.openxmlformats.org/drawingml/2006/main">
              <a:ext uri="{FF2B5EF4-FFF2-40B4-BE49-F238E27FC236}">
                <a16:creationId xmlns:a16="http://schemas.microsoft.com/office/drawing/2014/main" id="{6AE34456-53FF-4A86-A4AD-64AC0FB9F3A2}"/>
              </a:ext>
            </a:extLst>
          </p:cNvPr>
          <p:cNvSpPr>
            <a:spLocks xmlns:a="http://schemas.openxmlformats.org/drawingml/2006/main" noGrp="1"/>
          </p:cNvSpPr>
          <p:nvPr/>
        </p:nvSpPr>
        <p:spPr>
          <a:xfrm xmlns:a="http://schemas.openxmlformats.org/drawingml/2006/main">
            <a:off x="2476500" y="207645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Beweismaß nach §§ 286 und 287 ZPO unterscheiden.</a:t>
            </a:r>
          </a:p>
        </p:txBody>
      </p:sp>
      <p:sp>
        <p:nvSpPr>
          <p:cNvPr id="8" name="">
            <a:extLst xmlns:a="http://schemas.openxmlformats.org/drawingml/2006/main">
              <a:ext uri="{FF2B5EF4-FFF2-40B4-BE49-F238E27FC236}">
                <a16:creationId xmlns:a16="http://schemas.microsoft.com/office/drawing/2014/main" id="{6BD33534-1505-461B-B2B4-D78F29DE685D}"/>
              </a:ext>
            </a:extLst>
          </p:cNvPr>
          <p:cNvSpPr>
            <a:spLocks xmlns:a="http://schemas.openxmlformats.org/drawingml/2006/main" noGrp="1"/>
          </p:cNvSpPr>
          <p:nvPr/>
        </p:nvSpPr>
        <p:spPr>
          <a:xfrm xmlns:a="http://schemas.openxmlformats.org/drawingml/2006/main">
            <a:off x="6696075" y="198120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3F6B"/>
            </a:solidFill>
            <a:prstDash val="solid"/>
          </a:ln>
        </p:spPr>
      </p:sp>
      <p:sp>
        <p:nvSpPr>
          <p:cNvPr id="9" name="">
            <a:extLst xmlns:a="http://schemas.openxmlformats.org/drawingml/2006/main">
              <a:ext uri="{FF2B5EF4-FFF2-40B4-BE49-F238E27FC236}">
                <a16:creationId xmlns:a16="http://schemas.microsoft.com/office/drawing/2014/main" id="{D21A3F5C-E536-4F96-94BF-47B688F85645}"/>
              </a:ext>
            </a:extLst>
          </p:cNvPr>
          <p:cNvSpPr>
            <a:spLocks xmlns:a="http://schemas.openxmlformats.org/drawingml/2006/main" noGrp="1"/>
          </p:cNvSpPr>
          <p:nvPr/>
        </p:nvSpPr>
        <p:spPr>
          <a:xfrm xmlns:a="http://schemas.openxmlformats.org/drawingml/2006/main">
            <a:off x="6829425" y="2124075"/>
            <a:ext cx="4000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3BD8F4C2-6FC1-4F04-B770-9988819F37AF}"/>
              </a:ext>
            </a:extLst>
          </p:cNvPr>
          <p:cNvSpPr>
            <a:spLocks xmlns:a="http://schemas.openxmlformats.org/drawingml/2006/main" noGrp="1"/>
          </p:cNvSpPr>
          <p:nvPr/>
        </p:nvSpPr>
        <p:spPr>
          <a:xfrm xmlns:a="http://schemas.openxmlformats.org/drawingml/2006/main">
            <a:off x="6829425" y="21050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11" name="">
            <a:extLst xmlns:a="http://schemas.openxmlformats.org/drawingml/2006/main">
              <a:ext uri="{FF2B5EF4-FFF2-40B4-BE49-F238E27FC236}">
                <a16:creationId xmlns:a16="http://schemas.microsoft.com/office/drawing/2014/main" id="{371DD098-63A5-44F0-A51D-FF8CFDA6DE52}"/>
              </a:ext>
            </a:extLst>
          </p:cNvPr>
          <p:cNvSpPr>
            <a:spLocks xmlns:a="http://schemas.openxmlformats.org/drawingml/2006/main" noGrp="1"/>
          </p:cNvSpPr>
          <p:nvPr/>
        </p:nvSpPr>
        <p:spPr>
          <a:xfrm xmlns:a="http://schemas.openxmlformats.org/drawingml/2006/main">
            <a:off x="7362825" y="207645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Rolle, Auftrag und Grenzen gerichtlicher Sachverständiger erklären.</a:t>
            </a:r>
          </a:p>
        </p:txBody>
      </p:sp>
      <p:sp>
        <p:nvSpPr>
          <p:cNvPr id="12" name="">
            <a:extLst xmlns:a="http://schemas.openxmlformats.org/drawingml/2006/main">
              <a:ext uri="{FF2B5EF4-FFF2-40B4-BE49-F238E27FC236}">
                <a16:creationId xmlns:a16="http://schemas.microsoft.com/office/drawing/2014/main" id="{B4DEC4CD-03D8-4AB8-BEC3-A133C43A37A3}"/>
              </a:ext>
            </a:extLst>
          </p:cNvPr>
          <p:cNvSpPr>
            <a:spLocks xmlns:a="http://schemas.openxmlformats.org/drawingml/2006/main" noGrp="1"/>
          </p:cNvSpPr>
          <p:nvPr/>
        </p:nvSpPr>
        <p:spPr>
          <a:xfrm xmlns:a="http://schemas.openxmlformats.org/drawingml/2006/main">
            <a:off x="1809750" y="316865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B2BB"/>
            </a:solidFill>
            <a:prstDash val="solid"/>
          </a:ln>
        </p:spPr>
      </p:sp>
      <p:sp>
        <p:nvSpPr>
          <p:cNvPr id="13" name="">
            <a:extLst xmlns:a="http://schemas.openxmlformats.org/drawingml/2006/main">
              <a:ext uri="{FF2B5EF4-FFF2-40B4-BE49-F238E27FC236}">
                <a16:creationId xmlns:a16="http://schemas.microsoft.com/office/drawing/2014/main" id="{51A237FD-E971-4D10-AE72-EB6F0976FCDC}"/>
              </a:ext>
            </a:extLst>
          </p:cNvPr>
          <p:cNvSpPr>
            <a:spLocks xmlns:a="http://schemas.openxmlformats.org/drawingml/2006/main" noGrp="1"/>
          </p:cNvSpPr>
          <p:nvPr/>
        </p:nvSpPr>
        <p:spPr>
          <a:xfrm xmlns:a="http://schemas.openxmlformats.org/drawingml/2006/main">
            <a:off x="1943100" y="3311525"/>
            <a:ext cx="40005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91D7265D-9ADA-4931-958E-E2DAC23E3FD3}"/>
              </a:ext>
            </a:extLst>
          </p:cNvPr>
          <p:cNvSpPr>
            <a:spLocks xmlns:a="http://schemas.openxmlformats.org/drawingml/2006/main" noGrp="1"/>
          </p:cNvSpPr>
          <p:nvPr/>
        </p:nvSpPr>
        <p:spPr>
          <a:xfrm xmlns:a="http://schemas.openxmlformats.org/drawingml/2006/main">
            <a:off x="1943100" y="32924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15" name="">
            <a:extLst xmlns:a="http://schemas.openxmlformats.org/drawingml/2006/main">
              <a:ext uri="{FF2B5EF4-FFF2-40B4-BE49-F238E27FC236}">
                <a16:creationId xmlns:a16="http://schemas.microsoft.com/office/drawing/2014/main" id="{23E6DDE1-88A1-49A6-B844-635C5381B5F6}"/>
              </a:ext>
            </a:extLst>
          </p:cNvPr>
          <p:cNvSpPr>
            <a:spLocks xmlns:a="http://schemas.openxmlformats.org/drawingml/2006/main" noGrp="1"/>
          </p:cNvSpPr>
          <p:nvPr/>
        </p:nvSpPr>
        <p:spPr>
          <a:xfrm xmlns:a="http://schemas.openxmlformats.org/drawingml/2006/main">
            <a:off x="2476500" y="326390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medizinische Tatsachen in präzise Beweisfragen übersetzen.</a:t>
            </a:r>
          </a:p>
        </p:txBody>
      </p:sp>
      <p:sp>
        <p:nvSpPr>
          <p:cNvPr id="16" name="">
            <a:extLst xmlns:a="http://schemas.openxmlformats.org/drawingml/2006/main">
              <a:ext uri="{FF2B5EF4-FFF2-40B4-BE49-F238E27FC236}">
                <a16:creationId xmlns:a16="http://schemas.microsoft.com/office/drawing/2014/main" id="{9C55C791-FC81-4E87-A7A4-BB08603F514D}"/>
              </a:ext>
            </a:extLst>
          </p:cNvPr>
          <p:cNvSpPr>
            <a:spLocks xmlns:a="http://schemas.openxmlformats.org/drawingml/2006/main" noGrp="1"/>
          </p:cNvSpPr>
          <p:nvPr/>
        </p:nvSpPr>
        <p:spPr>
          <a:xfrm xmlns:a="http://schemas.openxmlformats.org/drawingml/2006/main">
            <a:off x="6696075" y="316865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3F6B"/>
            </a:solidFill>
            <a:prstDash val="solid"/>
          </a:ln>
        </p:spPr>
      </p:sp>
      <p:sp>
        <p:nvSpPr>
          <p:cNvPr id="17" name="">
            <a:extLst xmlns:a="http://schemas.openxmlformats.org/drawingml/2006/main">
              <a:ext uri="{FF2B5EF4-FFF2-40B4-BE49-F238E27FC236}">
                <a16:creationId xmlns:a16="http://schemas.microsoft.com/office/drawing/2014/main" id="{AE172A49-F85D-49DB-A0D3-6C3CC36267B1}"/>
              </a:ext>
            </a:extLst>
          </p:cNvPr>
          <p:cNvSpPr>
            <a:spLocks xmlns:a="http://schemas.openxmlformats.org/drawingml/2006/main" noGrp="1"/>
          </p:cNvSpPr>
          <p:nvPr/>
        </p:nvSpPr>
        <p:spPr>
          <a:xfrm xmlns:a="http://schemas.openxmlformats.org/drawingml/2006/main">
            <a:off x="6829425" y="3311525"/>
            <a:ext cx="4000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73BAC487-77B0-414B-A076-10C737BB5027}"/>
              </a:ext>
            </a:extLst>
          </p:cNvPr>
          <p:cNvSpPr>
            <a:spLocks xmlns:a="http://schemas.openxmlformats.org/drawingml/2006/main" noGrp="1"/>
          </p:cNvSpPr>
          <p:nvPr/>
        </p:nvSpPr>
        <p:spPr>
          <a:xfrm xmlns:a="http://schemas.openxmlformats.org/drawingml/2006/main">
            <a:off x="6829425" y="32924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19" name="">
            <a:extLst xmlns:a="http://schemas.openxmlformats.org/drawingml/2006/main">
              <a:ext uri="{FF2B5EF4-FFF2-40B4-BE49-F238E27FC236}">
                <a16:creationId xmlns:a16="http://schemas.microsoft.com/office/drawing/2014/main" id="{CCDBAB7D-510E-49CC-B19C-EB55F0A30099}"/>
              </a:ext>
            </a:extLst>
          </p:cNvPr>
          <p:cNvSpPr>
            <a:spLocks xmlns:a="http://schemas.openxmlformats.org/drawingml/2006/main" noGrp="1"/>
          </p:cNvSpPr>
          <p:nvPr/>
        </p:nvSpPr>
        <p:spPr>
          <a:xfrm xmlns:a="http://schemas.openxmlformats.org/drawingml/2006/main">
            <a:off x="7362825" y="326390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Gutachten auf Methode, Anknüpfungstatsachen und Widersprüche prüfen.</a:t>
            </a:r>
          </a:p>
        </p:txBody>
      </p:sp>
      <p:sp>
        <p:nvSpPr>
          <p:cNvPr id="20" name="">
            <a:extLst xmlns:a="http://schemas.openxmlformats.org/drawingml/2006/main">
              <a:ext uri="{FF2B5EF4-FFF2-40B4-BE49-F238E27FC236}">
                <a16:creationId xmlns:a16="http://schemas.microsoft.com/office/drawing/2014/main" id="{41DCB33D-3625-4FF0-BC3A-ED6E59935EC8}"/>
              </a:ext>
            </a:extLst>
          </p:cNvPr>
          <p:cNvSpPr>
            <a:spLocks xmlns:a="http://schemas.openxmlformats.org/drawingml/2006/main" noGrp="1"/>
          </p:cNvSpPr>
          <p:nvPr/>
        </p:nvSpPr>
        <p:spPr>
          <a:xfrm xmlns:a="http://schemas.openxmlformats.org/drawingml/2006/main">
            <a:off x="1809750" y="435610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B2BB"/>
            </a:solidFill>
            <a:prstDash val="solid"/>
          </a:ln>
        </p:spPr>
      </p:sp>
      <p:sp>
        <p:nvSpPr>
          <p:cNvPr id="21" name="">
            <a:extLst xmlns:a="http://schemas.openxmlformats.org/drawingml/2006/main">
              <a:ext uri="{FF2B5EF4-FFF2-40B4-BE49-F238E27FC236}">
                <a16:creationId xmlns:a16="http://schemas.microsoft.com/office/drawing/2014/main" id="{962D58C2-8D71-4DBE-BFC2-0815288D0BCA}"/>
              </a:ext>
            </a:extLst>
          </p:cNvPr>
          <p:cNvSpPr>
            <a:spLocks xmlns:a="http://schemas.openxmlformats.org/drawingml/2006/main" noGrp="1"/>
          </p:cNvSpPr>
          <p:nvPr/>
        </p:nvSpPr>
        <p:spPr>
          <a:xfrm xmlns:a="http://schemas.openxmlformats.org/drawingml/2006/main">
            <a:off x="1943100" y="4498975"/>
            <a:ext cx="40005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2" name="">
            <a:extLst xmlns:a="http://schemas.openxmlformats.org/drawingml/2006/main">
              <a:ext uri="{FF2B5EF4-FFF2-40B4-BE49-F238E27FC236}">
                <a16:creationId xmlns:a16="http://schemas.microsoft.com/office/drawing/2014/main" id="{5A4C8526-4FFF-4E41-A5CB-03662A1F5D94}"/>
              </a:ext>
            </a:extLst>
          </p:cNvPr>
          <p:cNvSpPr>
            <a:spLocks xmlns:a="http://schemas.openxmlformats.org/drawingml/2006/main" noGrp="1"/>
          </p:cNvSpPr>
          <p:nvPr/>
        </p:nvSpPr>
        <p:spPr>
          <a:xfrm xmlns:a="http://schemas.openxmlformats.org/drawingml/2006/main">
            <a:off x="1943100" y="44799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23" name="">
            <a:extLst xmlns:a="http://schemas.openxmlformats.org/drawingml/2006/main">
              <a:ext uri="{FF2B5EF4-FFF2-40B4-BE49-F238E27FC236}">
                <a16:creationId xmlns:a16="http://schemas.microsoft.com/office/drawing/2014/main" id="{166B1CDA-1F6D-4302-BCFD-C5926F91439C}"/>
              </a:ext>
            </a:extLst>
          </p:cNvPr>
          <p:cNvSpPr>
            <a:spLocks xmlns:a="http://schemas.openxmlformats.org/drawingml/2006/main" noGrp="1"/>
          </p:cNvSpPr>
          <p:nvPr/>
        </p:nvSpPr>
        <p:spPr>
          <a:xfrm xmlns:a="http://schemas.openxmlformats.org/drawingml/2006/main">
            <a:off x="2476500" y="445135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Ergänzungsfragen und einen Anhörungsantrag formulieren.</a:t>
            </a:r>
          </a:p>
        </p:txBody>
      </p:sp>
      <p:sp>
        <p:nvSpPr>
          <p:cNvPr id="24" name="">
            <a:extLst xmlns:a="http://schemas.openxmlformats.org/drawingml/2006/main">
              <a:ext uri="{FF2B5EF4-FFF2-40B4-BE49-F238E27FC236}">
                <a16:creationId xmlns:a16="http://schemas.microsoft.com/office/drawing/2014/main" id="{E20A24D0-5E0A-4BD5-B919-17A727F5FB64}"/>
              </a:ext>
            </a:extLst>
          </p:cNvPr>
          <p:cNvSpPr>
            <a:spLocks xmlns:a="http://schemas.openxmlformats.org/drawingml/2006/main" noGrp="1"/>
          </p:cNvSpPr>
          <p:nvPr/>
        </p:nvSpPr>
        <p:spPr>
          <a:xfrm xmlns:a="http://schemas.openxmlformats.org/drawingml/2006/main">
            <a:off x="6696075" y="435610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3F6B"/>
            </a:solidFill>
            <a:prstDash val="solid"/>
          </a:ln>
        </p:spPr>
      </p:sp>
      <p:sp>
        <p:nvSpPr>
          <p:cNvPr id="25" name="">
            <a:extLst xmlns:a="http://schemas.openxmlformats.org/drawingml/2006/main">
              <a:ext uri="{FF2B5EF4-FFF2-40B4-BE49-F238E27FC236}">
                <a16:creationId xmlns:a16="http://schemas.microsoft.com/office/drawing/2014/main" id="{ED12E5A9-46B1-4484-8A21-92B2C903AB85}"/>
              </a:ext>
            </a:extLst>
          </p:cNvPr>
          <p:cNvSpPr>
            <a:spLocks xmlns:a="http://schemas.openxmlformats.org/drawingml/2006/main" noGrp="1"/>
          </p:cNvSpPr>
          <p:nvPr/>
        </p:nvSpPr>
        <p:spPr>
          <a:xfrm xmlns:a="http://schemas.openxmlformats.org/drawingml/2006/main">
            <a:off x="6829425" y="4498975"/>
            <a:ext cx="4000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26" name="">
            <a:extLst xmlns:a="http://schemas.openxmlformats.org/drawingml/2006/main">
              <a:ext uri="{FF2B5EF4-FFF2-40B4-BE49-F238E27FC236}">
                <a16:creationId xmlns:a16="http://schemas.microsoft.com/office/drawing/2014/main" id="{A3C7C0E0-C6B3-4157-B8F4-1C1F357FDFFB}"/>
              </a:ext>
            </a:extLst>
          </p:cNvPr>
          <p:cNvSpPr>
            <a:spLocks xmlns:a="http://schemas.openxmlformats.org/drawingml/2006/main" noGrp="1"/>
          </p:cNvSpPr>
          <p:nvPr/>
        </p:nvSpPr>
        <p:spPr>
          <a:xfrm xmlns:a="http://schemas.openxmlformats.org/drawingml/2006/main">
            <a:off x="6829425" y="44799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27" name="">
            <a:extLst xmlns:a="http://schemas.openxmlformats.org/drawingml/2006/main">
              <a:ext uri="{FF2B5EF4-FFF2-40B4-BE49-F238E27FC236}">
                <a16:creationId xmlns:a16="http://schemas.microsoft.com/office/drawing/2014/main" id="{CF965BDA-3DCF-402F-A2FD-968364D9BA2A}"/>
              </a:ext>
            </a:extLst>
          </p:cNvPr>
          <p:cNvSpPr>
            <a:spLocks xmlns:a="http://schemas.openxmlformats.org/drawingml/2006/main" noGrp="1"/>
          </p:cNvSpPr>
          <p:nvPr/>
        </p:nvSpPr>
        <p:spPr>
          <a:xfrm xmlns:a="http://schemas.openxmlformats.org/drawingml/2006/main">
            <a:off x="7362825" y="445135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medizinische und juristische Wertungen auseinanderhalten.</a:t>
            </a:r>
          </a:p>
        </p:txBody>
      </p:sp>
      <p:sp>
        <p:nvSpPr>
          <p:cNvPr id="28" name="">
            <a:extLst xmlns:a="http://schemas.openxmlformats.org/drawingml/2006/main">
              <a:ext uri="{FF2B5EF4-FFF2-40B4-BE49-F238E27FC236}">
                <a16:creationId xmlns:a16="http://schemas.microsoft.com/office/drawing/2014/main" id="{BE05BF8B-4C27-4C19-9E6D-2CD8A67005CC}"/>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638">
                <a:solidFill>
                  <a:srgbClr val="667680"/>
                </a:solidFill>
              </a:defRPr>
            </a:pPr>
            <a:r>
              <a:rPr sz="638">
                <a:solidFill>
                  <a:srgbClr val="667680"/>
                </a:solidFill>
              </a:rPr>
              <a:t>Lernziele aus Seminarbeschreibung und Vorlesungsstruktur abgeleitet · https://elearning.uni-oldenburg.de/dispatch.php/course/details/index/64fffee6d869d134c6683909368deed9?cancel_login=1</a:t>
            </a:r>
          </a:p>
        </p:txBody>
      </p:sp>
    </p:spTree>
    <p:extLst>
      <p:ext uri="{BB962C8B-B14F-4D97-AF65-F5344CB8AC3E}">
        <p14:creationId xmlns:p14="http://schemas.microsoft.com/office/powerpoint/2010/main" val="43637646"/>
      </p:ext>
    </p:extLst>
  </p:cSld>
</p:sld>
</file>

<file path=ppt/slides/slide133.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Leitentscheidung · Das Fragerecht gegenüber Sachverständigen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ORIGINALENTSCHEIDUNG · TERMIN 05</a:t>
            </a:r>
            <a:endParaRPr/>
          </a:p>
        </p:txBody>
      </p:sp>
      <p:sp>
        <p:nvSpPr>
          <p:cNvPr id="4" name="">
            <a:extLst xmlns:a="http://schemas.openxmlformats.org/drawingml/2006/main">
              <a:ext uri="{FF2B5EF4-FFF2-40B4-BE49-F238E27FC236}">
                <a16:creationId xmlns:a16="http://schemas.microsoft.com/office/drawing/2014/main" id="{6E5A8FC3-53D9-4277-A7DC-D3061D8D5FC3}"/>
              </a:ext>
            </a:extLst>
          </p:cNvPr>
          <p:cNvSpPr>
            <a:spLocks xmlns:a="http://schemas.openxmlformats.org/drawingml/2006/main" noGrp="1"/>
          </p:cNvSpPr>
          <p:nvPr/>
        </p:nvSpPr>
        <p:spPr>
          <a:xfrm xmlns:a="http://schemas.openxmlformats.org/drawingml/2006/main">
            <a:off x="1809750" y="1943100"/>
            <a:ext cx="11239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26968054-654B-45EB-81AD-0B6F8BEDCF01}"/>
              </a:ext>
            </a:extLst>
          </p:cNvPr>
          <p:cNvSpPr>
            <a:spLocks xmlns:a="http://schemas.openxmlformats.org/drawingml/2006/main" noGrp="1"/>
          </p:cNvSpPr>
          <p:nvPr/>
        </p:nvSpPr>
        <p:spPr>
          <a:xfrm xmlns:a="http://schemas.openxmlformats.org/drawingml/2006/main">
            <a:off x="1809750" y="1943100"/>
            <a:ext cx="1123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38" b="1">
                <a:solidFill>
                  <a:srgbClr val="FFFFFF"/>
                </a:solidFill>
              </a:defRPr>
            </a:pPr>
            <a:r>
              <a:rPr sz="938" b="1">
                <a:solidFill>
                  <a:srgbClr val="FFFFFF"/>
                </a:solidFill>
              </a:rPr>
              <a:t>BGH</a:t>
            </a:r>
          </a:p>
        </p:txBody>
      </p:sp>
      <p:sp>
        <p:nvSpPr>
          <p:cNvPr id="6" name="">
            <a:extLst xmlns:a="http://schemas.openxmlformats.org/drawingml/2006/main">
              <a:ext uri="{FF2B5EF4-FFF2-40B4-BE49-F238E27FC236}">
                <a16:creationId xmlns:a16="http://schemas.microsoft.com/office/drawing/2014/main" id="{95B06091-B522-4E34-AF80-E5D1E8E56D85}"/>
              </a:ext>
            </a:extLst>
          </p:cNvPr>
          <p:cNvSpPr>
            <a:spLocks xmlns:a="http://schemas.openxmlformats.org/drawingml/2006/main" noGrp="1"/>
          </p:cNvSpPr>
          <p:nvPr/>
        </p:nvSpPr>
        <p:spPr>
          <a:xfrm xmlns:a="http://schemas.openxmlformats.org/drawingml/2006/main">
            <a:off x="312420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07.05.2019 · VI ZR 257/17</a:t>
            </a:r>
          </a:p>
        </p:txBody>
      </p:sp>
      <p:sp>
        <p:nvSpPr>
          <p:cNvPr id="7" name="">
            <a:extLst xmlns:a="http://schemas.openxmlformats.org/drawingml/2006/main">
              <a:ext uri="{FF2B5EF4-FFF2-40B4-BE49-F238E27FC236}">
                <a16:creationId xmlns:a16="http://schemas.microsoft.com/office/drawing/2014/main" id="{C5633E64-181E-4881-8745-BC8A82E74665}"/>
              </a:ext>
            </a:extLst>
          </p:cNvPr>
          <p:cNvSpPr>
            <a:spLocks xmlns:a="http://schemas.openxmlformats.org/drawingml/2006/main" noGrp="1"/>
          </p:cNvSpPr>
          <p:nvPr/>
        </p:nvSpPr>
        <p:spPr>
          <a:xfrm xmlns:a="http://schemas.openxmlformats.org/drawingml/2006/main">
            <a:off x="733425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050">
                <a:solidFill>
                  <a:srgbClr val="667680"/>
                </a:solidFill>
              </a:defRPr>
            </a:pPr>
            <a:r>
              <a:rPr sz="1050">
                <a:solidFill>
                  <a:srgbClr val="667680"/>
                </a:solidFill>
              </a:rPr>
              <a:t>Rechtliches Gehör wird in der Anhörung praktisch</a:t>
            </a:r>
          </a:p>
        </p:txBody>
      </p:sp>
      <p:sp>
        <p:nvSpPr>
          <p:cNvPr id="8" name="">
            <a:extLst xmlns:a="http://schemas.openxmlformats.org/drawingml/2006/main">
              <a:ext uri="{FF2B5EF4-FFF2-40B4-BE49-F238E27FC236}">
                <a16:creationId xmlns:a16="http://schemas.microsoft.com/office/drawing/2014/main" id="{280421C9-7ACF-4D7B-BA55-57B98A9758EC}"/>
              </a:ext>
            </a:extLst>
          </p:cNvPr>
          <p:cNvSpPr>
            <a:spLocks xmlns:a="http://schemas.openxmlformats.org/drawingml/2006/main" noGrp="1"/>
          </p:cNvSpPr>
          <p:nvPr/>
        </p:nvSpPr>
        <p:spPr>
          <a:xfrm xmlns:a="http://schemas.openxmlformats.org/drawingml/2006/main">
            <a:off x="1809750" y="2533650"/>
            <a:ext cx="1676400" cy="781050"/>
          </a:xfrm>
          <a:prstGeom xmlns:a="http://schemas.openxmlformats.org/drawingml/2006/main" prst="roundRect">
            <a:avLst>
              <a:gd name="adj" fmla="val 9756"/>
            </a:avLst>
          </a:prstGeom>
          <a:solidFill xmlns:a="http://schemas.openxmlformats.org/drawingml/2006/main">
            <a:srgbClr val="00B2BB"/>
          </a:solidFill>
          <a:ln xmlns:a="http://schemas.openxmlformats.org/drawingml/2006/main" w="0">
            <a:solidFill>
              <a:srgbClr val="00B2BB"/>
            </a:solidFill>
            <a:prstDash val="solid"/>
          </a:ln>
        </p:spPr>
      </p:sp>
      <p:sp>
        <p:nvSpPr>
          <p:cNvPr id="9" name="">
            <a:extLst xmlns:a="http://schemas.openxmlformats.org/drawingml/2006/main">
              <a:ext uri="{FF2B5EF4-FFF2-40B4-BE49-F238E27FC236}">
                <a16:creationId xmlns:a16="http://schemas.microsoft.com/office/drawing/2014/main" id="{8C94BDA4-4FA2-405B-B36A-115D3B9F80BE}"/>
              </a:ext>
            </a:extLst>
          </p:cNvPr>
          <p:cNvSpPr>
            <a:spLocks xmlns:a="http://schemas.openxmlformats.org/drawingml/2006/main" noGrp="1"/>
          </p:cNvSpPr>
          <p:nvPr/>
        </p:nvSpPr>
        <p:spPr>
          <a:xfrm xmlns:a="http://schemas.openxmlformats.org/drawingml/2006/main">
            <a:off x="1924050" y="25336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Ausgangsfall</a:t>
            </a:r>
          </a:p>
        </p:txBody>
      </p:sp>
      <p:sp>
        <p:nvSpPr>
          <p:cNvPr id="10" name="">
            <a:extLst xmlns:a="http://schemas.openxmlformats.org/drawingml/2006/main">
              <a:ext uri="{FF2B5EF4-FFF2-40B4-BE49-F238E27FC236}">
                <a16:creationId xmlns:a16="http://schemas.microsoft.com/office/drawing/2014/main" id="{5EDC1A4A-8BEB-46B7-A7BA-FD14424CD414}"/>
              </a:ext>
            </a:extLst>
          </p:cNvPr>
          <p:cNvSpPr>
            <a:spLocks xmlns:a="http://schemas.openxmlformats.org/drawingml/2006/main" noGrp="1"/>
          </p:cNvSpPr>
          <p:nvPr/>
        </p:nvSpPr>
        <p:spPr>
          <a:xfrm xmlns:a="http://schemas.openxmlformats.org/drawingml/2006/main">
            <a:off x="3695700" y="25336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Eine Partei verlangte nach schriftlicher Begutachtung die mündliche Erläuterung und wollte konkrete Fragen stellen. Das Berufungsgericht sah selbst keinen weiteren Klärungsbedarf.</a:t>
            </a:r>
          </a:p>
        </p:txBody>
      </p:sp>
      <p:sp>
        <p:nvSpPr>
          <p:cNvPr id="11" name="">
            <a:extLst xmlns:a="http://schemas.openxmlformats.org/drawingml/2006/main">
              <a:ext uri="{FF2B5EF4-FFF2-40B4-BE49-F238E27FC236}">
                <a16:creationId xmlns:a16="http://schemas.microsoft.com/office/drawing/2014/main" id="{DB39FAC8-D654-42AD-AD7D-F051EE90B577}"/>
              </a:ext>
            </a:extLst>
          </p:cNvPr>
          <p:cNvSpPr>
            <a:spLocks xmlns:a="http://schemas.openxmlformats.org/drawingml/2006/main" noGrp="1"/>
          </p:cNvSpPr>
          <p:nvPr/>
        </p:nvSpPr>
        <p:spPr>
          <a:xfrm xmlns:a="http://schemas.openxmlformats.org/drawingml/2006/main">
            <a:off x="1809750" y="3486150"/>
            <a:ext cx="1676400" cy="781050"/>
          </a:xfrm>
          <a:prstGeom xmlns:a="http://schemas.openxmlformats.org/drawingml/2006/main" prst="roundRect">
            <a:avLst>
              <a:gd name="adj" fmla="val 9756"/>
            </a:avLst>
          </a:prstGeom>
          <a:solidFill xmlns:a="http://schemas.openxmlformats.org/drawingml/2006/main">
            <a:srgbClr val="003F6B"/>
          </a:solidFill>
          <a:ln xmlns:a="http://schemas.openxmlformats.org/drawingml/2006/main" w="0">
            <a:solidFill>
              <a:srgbClr val="003F6B"/>
            </a:solidFill>
            <a:prstDash val="solid"/>
          </a:ln>
        </p:spPr>
      </p:sp>
      <p:sp>
        <p:nvSpPr>
          <p:cNvPr id="12" name="">
            <a:extLst xmlns:a="http://schemas.openxmlformats.org/drawingml/2006/main">
              <a:ext uri="{FF2B5EF4-FFF2-40B4-BE49-F238E27FC236}">
                <a16:creationId xmlns:a16="http://schemas.microsoft.com/office/drawing/2014/main" id="{EA1FCEE3-1C28-4749-8945-3834E03DAA4C}"/>
              </a:ext>
            </a:extLst>
          </p:cNvPr>
          <p:cNvSpPr>
            <a:spLocks xmlns:a="http://schemas.openxmlformats.org/drawingml/2006/main" noGrp="1"/>
          </p:cNvSpPr>
          <p:nvPr/>
        </p:nvSpPr>
        <p:spPr>
          <a:xfrm xmlns:a="http://schemas.openxmlformats.org/drawingml/2006/main">
            <a:off x="1924050" y="34861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Leitsatzkern</a:t>
            </a:r>
          </a:p>
        </p:txBody>
      </p:sp>
      <p:sp>
        <p:nvSpPr>
          <p:cNvPr id="13" name="">
            <a:extLst xmlns:a="http://schemas.openxmlformats.org/drawingml/2006/main">
              <a:ext uri="{FF2B5EF4-FFF2-40B4-BE49-F238E27FC236}">
                <a16:creationId xmlns:a16="http://schemas.microsoft.com/office/drawing/2014/main" id="{E95122AD-4CFC-49DB-8CB2-CFD2AC7632BF}"/>
              </a:ext>
            </a:extLst>
          </p:cNvPr>
          <p:cNvSpPr>
            <a:spLocks xmlns:a="http://schemas.openxmlformats.org/drawingml/2006/main" noGrp="1"/>
          </p:cNvSpPr>
          <p:nvPr/>
        </p:nvSpPr>
        <p:spPr>
          <a:xfrm xmlns:a="http://schemas.openxmlformats.org/drawingml/2006/main">
            <a:off x="3695700" y="34861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Leitsatzkern (paraphrasiert): Das Fragerecht besteht unabhängig davon, ob das Gericht selbst Erläuterungsbedarf erkennt. Ein rechtzeitig gestellter Antrag darf nicht mit der bereits gebildeten Gerichtsüberzeugung abgetan werden.</a:t>
            </a:r>
          </a:p>
        </p:txBody>
      </p:sp>
      <p:sp>
        <p:nvSpPr>
          <p:cNvPr id="14" name="">
            <a:extLst xmlns:a="http://schemas.openxmlformats.org/drawingml/2006/main">
              <a:ext uri="{FF2B5EF4-FFF2-40B4-BE49-F238E27FC236}">
                <a16:creationId xmlns:a16="http://schemas.microsoft.com/office/drawing/2014/main" id="{20F2CE5D-301B-4F89-AE08-6BA58DF98AF2}"/>
              </a:ext>
            </a:extLst>
          </p:cNvPr>
          <p:cNvSpPr>
            <a:spLocks xmlns:a="http://schemas.openxmlformats.org/drawingml/2006/main" noGrp="1"/>
          </p:cNvSpPr>
          <p:nvPr/>
        </p:nvSpPr>
        <p:spPr>
          <a:xfrm xmlns:a="http://schemas.openxmlformats.org/drawingml/2006/main">
            <a:off x="1809750" y="4438650"/>
            <a:ext cx="1676400" cy="781050"/>
          </a:xfrm>
          <a:prstGeom xmlns:a="http://schemas.openxmlformats.org/drawingml/2006/main" prst="roundRect">
            <a:avLst>
              <a:gd name="adj" fmla="val 9756"/>
            </a:avLst>
          </a:prstGeom>
          <a:solidFill xmlns:a="http://schemas.openxmlformats.org/drawingml/2006/main">
            <a:srgbClr val="00B2BB"/>
          </a:solidFill>
          <a:ln xmlns:a="http://schemas.openxmlformats.org/drawingml/2006/main" w="0">
            <a:solidFill>
              <a:srgbClr val="00B2BB"/>
            </a:solidFill>
            <a:prstDash val="solid"/>
          </a:ln>
        </p:spPr>
      </p:sp>
      <p:sp>
        <p:nvSpPr>
          <p:cNvPr id="15" name="">
            <a:extLst xmlns:a="http://schemas.openxmlformats.org/drawingml/2006/main">
              <a:ext uri="{FF2B5EF4-FFF2-40B4-BE49-F238E27FC236}">
                <a16:creationId xmlns:a16="http://schemas.microsoft.com/office/drawing/2014/main" id="{02A4E49A-4B02-4D31-974B-199672518B60}"/>
              </a:ext>
            </a:extLst>
          </p:cNvPr>
          <p:cNvSpPr>
            <a:spLocks xmlns:a="http://schemas.openxmlformats.org/drawingml/2006/main" noGrp="1"/>
          </p:cNvSpPr>
          <p:nvPr/>
        </p:nvSpPr>
        <p:spPr>
          <a:xfrm xmlns:a="http://schemas.openxmlformats.org/drawingml/2006/main">
            <a:off x="1924050" y="44386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Für die Praxis</a:t>
            </a:r>
          </a:p>
        </p:txBody>
      </p:sp>
      <p:sp>
        <p:nvSpPr>
          <p:cNvPr id="16" name="">
            <a:extLst xmlns:a="http://schemas.openxmlformats.org/drawingml/2006/main">
              <a:ext uri="{FF2B5EF4-FFF2-40B4-BE49-F238E27FC236}">
                <a16:creationId xmlns:a16="http://schemas.microsoft.com/office/drawing/2014/main" id="{CF6B29DE-DBD6-44C6-8DF8-4A9F9AF839BA}"/>
              </a:ext>
            </a:extLst>
          </p:cNvPr>
          <p:cNvSpPr>
            <a:spLocks xmlns:a="http://schemas.openxmlformats.org/drawingml/2006/main" noGrp="1"/>
          </p:cNvSpPr>
          <p:nvPr/>
        </p:nvSpPr>
        <p:spPr>
          <a:xfrm xmlns:a="http://schemas.openxmlformats.org/drawingml/2006/main">
            <a:off x="3695700" y="44386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Fragen zeitbezogen, medizinisch präzise und hypothesenoffen vorbereiten: Standard, Anknüpfungstatsachen, Literatur und Alternativverläufe.</a:t>
            </a:r>
          </a:p>
        </p:txBody>
      </p:sp>
      <p:sp>
        <p:nvSpPr>
          <p:cNvPr id="17" name="">
            <a:extLst xmlns:a="http://schemas.openxmlformats.org/drawingml/2006/main">
              <a:ext uri="{FF2B5EF4-FFF2-40B4-BE49-F238E27FC236}">
                <a16:creationId xmlns:a16="http://schemas.microsoft.com/office/drawing/2014/main" id="{177D3231-2D9D-4BCB-AFFB-35A4D8987737}"/>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638">
                <a:solidFill>
                  <a:srgbClr val="667680"/>
                </a:solidFill>
              </a:defRPr>
            </a:pPr>
            <a:r>
              <a:rPr sz="638">
                <a:solidFill>
                  <a:srgbClr val="667680"/>
                </a:solidFill>
              </a:rPr>
              <a:t>BGH, Beschl. v. 07.05.2019 – VI ZR 257/17 · https://juris.bundesgerichtshof.de/cgi-bin/bgh_notp/document.py?Art=en&amp;Blank=1&amp;Datum=2019-5&amp;Gericht=bgh&amp;Seite=2&amp;Sort=3074&amp;anz=208&amp;nr=56246&amp;pos=75</a:t>
            </a:r>
          </a:p>
        </p:txBody>
      </p:sp>
    </p:spTree>
    <p:extLst>
      <p:ext uri="{BB962C8B-B14F-4D97-AF65-F5344CB8AC3E}">
        <p14:creationId xmlns:p14="http://schemas.microsoft.com/office/powerpoint/2010/main" val="43637646"/>
      </p:ext>
    </p:extLst>
  </p:cSld>
</p:sld>
</file>

<file path=ppt/slides/slide134.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 286 und 287 ZPO: zwei Beweismaße</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GESETZESTEXT · GEKÜRZTER LEHRAUSZUG</a:t>
            </a:r>
            <a:endParaRPr/>
          </a:p>
        </p:txBody>
      </p:sp>
      <p:sp>
        <p:nvSpPr>
          <p:cNvPr id="4" name="">
            <a:extLst xmlns:a="http://schemas.openxmlformats.org/drawingml/2006/main">
              <a:ext uri="{FF2B5EF4-FFF2-40B4-BE49-F238E27FC236}">
                <a16:creationId xmlns:a16="http://schemas.microsoft.com/office/drawing/2014/main" id="{C898BB35-5631-4ECE-98AF-D6EE4C002AFF}"/>
              </a:ext>
            </a:extLst>
          </p:cNvPr>
          <p:cNvSpPr>
            <a:spLocks xmlns:a="http://schemas.openxmlformats.org/drawingml/2006/main" noGrp="1"/>
          </p:cNvSpPr>
          <p:nvPr/>
        </p:nvSpPr>
        <p:spPr>
          <a:xfrm xmlns:a="http://schemas.openxmlformats.org/drawingml/2006/main">
            <a:off x="1809750" y="1943100"/>
            <a:ext cx="4648200" cy="3371850"/>
          </a:xfrm>
          <a:prstGeom xmlns:a="http://schemas.openxmlformats.org/drawingml/2006/main" prst="roundRect">
            <a:avLst>
              <a:gd name="adj" fmla="val 2260"/>
            </a:avLst>
          </a:prstGeom>
          <a:solidFill xmlns:a="http://schemas.openxmlformats.org/drawingml/2006/main">
            <a:srgbClr val="F3F7F9"/>
          </a:solidFill>
          <a:ln xmlns:a="http://schemas.openxmlformats.org/drawingml/2006/main" w="11430">
            <a:solidFill>
              <a:srgbClr val="00B2BB"/>
            </a:solidFill>
            <a:prstDash val="solid"/>
          </a:ln>
        </p:spPr>
      </p:sp>
      <p:sp>
        <p:nvSpPr>
          <p:cNvPr id="5" name="">
            <a:extLst xmlns:a="http://schemas.openxmlformats.org/drawingml/2006/main">
              <a:ext uri="{FF2B5EF4-FFF2-40B4-BE49-F238E27FC236}">
                <a16:creationId xmlns:a16="http://schemas.microsoft.com/office/drawing/2014/main" id="{38E901AB-C78F-4F4A-9B94-B6CAD110AD25}"/>
              </a:ext>
            </a:extLst>
          </p:cNvPr>
          <p:cNvSpPr>
            <a:spLocks xmlns:a="http://schemas.openxmlformats.org/drawingml/2006/main" noGrp="1"/>
          </p:cNvSpPr>
          <p:nvPr/>
        </p:nvSpPr>
        <p:spPr>
          <a:xfrm xmlns:a="http://schemas.openxmlformats.org/drawingml/2006/main">
            <a:off x="1943100" y="2076450"/>
            <a:ext cx="1409700" cy="381000"/>
          </a:xfrm>
          <a:prstGeom xmlns:a="http://schemas.openxmlformats.org/drawingml/2006/main" prst="roundRect">
            <a:avLst>
              <a:gd name="adj" fmla="val 20000"/>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8CEE8851-6C5C-4ACC-A2C5-BDB425668DBC}"/>
              </a:ext>
            </a:extLst>
          </p:cNvPr>
          <p:cNvSpPr>
            <a:spLocks xmlns:a="http://schemas.openxmlformats.org/drawingml/2006/main" noGrp="1"/>
          </p:cNvSpPr>
          <p:nvPr/>
        </p:nvSpPr>
        <p:spPr>
          <a:xfrm xmlns:a="http://schemas.openxmlformats.org/drawingml/2006/main">
            <a:off x="1943100" y="207645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 286 ZPO</a:t>
            </a:r>
          </a:p>
        </p:txBody>
      </p:sp>
      <p:sp>
        <p:nvSpPr>
          <p:cNvPr id="7" name="">
            <a:extLst xmlns:a="http://schemas.openxmlformats.org/drawingml/2006/main">
              <a:ext uri="{FF2B5EF4-FFF2-40B4-BE49-F238E27FC236}">
                <a16:creationId xmlns:a16="http://schemas.microsoft.com/office/drawing/2014/main" id="{55EE8396-5E26-4855-A3E7-339C49CB8F70}"/>
              </a:ext>
            </a:extLst>
          </p:cNvPr>
          <p:cNvSpPr>
            <a:spLocks xmlns:a="http://schemas.openxmlformats.org/drawingml/2006/main" noGrp="1"/>
          </p:cNvSpPr>
          <p:nvPr/>
        </p:nvSpPr>
        <p:spPr>
          <a:xfrm xmlns:a="http://schemas.openxmlformats.org/drawingml/2006/main">
            <a:off x="3486150" y="2057400"/>
            <a:ext cx="2838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Freie Beweiswürdigung</a:t>
            </a:r>
          </a:p>
        </p:txBody>
      </p:sp>
      <p:sp>
        <p:nvSpPr>
          <p:cNvPr id="8" name="">
            <a:extLst xmlns:a="http://schemas.openxmlformats.org/drawingml/2006/main">
              <a:ext uri="{FF2B5EF4-FFF2-40B4-BE49-F238E27FC236}">
                <a16:creationId xmlns:a16="http://schemas.microsoft.com/office/drawing/2014/main" id="{330A7AD4-348B-4D6E-BF9D-599AECD5E68B}"/>
              </a:ext>
            </a:extLst>
          </p:cNvPr>
          <p:cNvSpPr>
            <a:spLocks xmlns:a="http://schemas.openxmlformats.org/drawingml/2006/main" noGrp="1"/>
          </p:cNvSpPr>
          <p:nvPr/>
        </p:nvSpPr>
        <p:spPr>
          <a:xfrm xmlns:a="http://schemas.openxmlformats.org/drawingml/2006/main">
            <a:off x="1981200" y="2609850"/>
            <a:ext cx="4305300" cy="2533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8">
                <a:solidFill>
                  <a:srgbClr val="15232B"/>
                </a:solidFill>
              </a:defRPr>
            </a:pPr>
            <a:r>
              <a:rPr sz="1148">
                <a:solidFill>
                  <a:srgbClr val="15232B"/>
                </a:solidFill>
              </a:rPr>
              <a:t>Das Gericht hat unter Berücksichtigung des gesamten Inhalts der Verhandlungen und des Ergebnisses einer etwaigen Beweisaufnahme nach freier Überzeugung zu entscheiden, ob eine tatsächliche Behauptung für wahr oder für nicht wahr zu erachten sei. Im Urteil sind die leitenden Gründe anzugeben. An gesetzliche Beweisregeln ist das Gericht nur in den bezeichneten Fällen gebunden.</a:t>
            </a:r>
          </a:p>
        </p:txBody>
      </p:sp>
      <p:sp>
        <p:nvSpPr>
          <p:cNvPr id="9" name="">
            <a:extLst xmlns:a="http://schemas.openxmlformats.org/drawingml/2006/main">
              <a:ext uri="{FF2B5EF4-FFF2-40B4-BE49-F238E27FC236}">
                <a16:creationId xmlns:a16="http://schemas.microsoft.com/office/drawing/2014/main" id="{5A7C55CE-FF27-4D04-BE6F-BE4BF2556FB9}"/>
              </a:ext>
            </a:extLst>
          </p:cNvPr>
          <p:cNvSpPr>
            <a:spLocks xmlns:a="http://schemas.openxmlformats.org/drawingml/2006/main" noGrp="1"/>
          </p:cNvSpPr>
          <p:nvPr/>
        </p:nvSpPr>
        <p:spPr>
          <a:xfrm xmlns:a="http://schemas.openxmlformats.org/drawingml/2006/main">
            <a:off x="6686550" y="1943100"/>
            <a:ext cx="4648200" cy="3371850"/>
          </a:xfrm>
          <a:prstGeom xmlns:a="http://schemas.openxmlformats.org/drawingml/2006/main" prst="roundRect">
            <a:avLst>
              <a:gd name="adj" fmla="val 2260"/>
            </a:avLst>
          </a:prstGeom>
          <a:solidFill xmlns:a="http://schemas.openxmlformats.org/drawingml/2006/main">
            <a:srgbClr val="F3F7F9"/>
          </a:solidFill>
          <a:ln xmlns:a="http://schemas.openxmlformats.org/drawingml/2006/main" w="11430">
            <a:solidFill>
              <a:srgbClr val="003F6B"/>
            </a:solidFill>
            <a:prstDash val="solid"/>
          </a:ln>
        </p:spPr>
      </p:sp>
      <p:sp>
        <p:nvSpPr>
          <p:cNvPr id="10" name="">
            <a:extLst xmlns:a="http://schemas.openxmlformats.org/drawingml/2006/main">
              <a:ext uri="{FF2B5EF4-FFF2-40B4-BE49-F238E27FC236}">
                <a16:creationId xmlns:a16="http://schemas.microsoft.com/office/drawing/2014/main" id="{D2B413F2-6B95-4466-B290-E5ED6DCF0325}"/>
              </a:ext>
            </a:extLst>
          </p:cNvPr>
          <p:cNvSpPr>
            <a:spLocks xmlns:a="http://schemas.openxmlformats.org/drawingml/2006/main" noGrp="1"/>
          </p:cNvSpPr>
          <p:nvPr/>
        </p:nvSpPr>
        <p:spPr>
          <a:xfrm xmlns:a="http://schemas.openxmlformats.org/drawingml/2006/main">
            <a:off x="6819900" y="2076450"/>
            <a:ext cx="1409700" cy="381000"/>
          </a:xfrm>
          <a:prstGeom xmlns:a="http://schemas.openxmlformats.org/drawingml/2006/main" prst="roundRect">
            <a:avLst>
              <a:gd name="adj" fmla="val 20000"/>
            </a:avLst>
          </a:prstGeom>
          <a:solidFill xmlns:a="http://schemas.openxmlformats.org/drawingml/2006/main">
            <a:srgbClr val="003F6B"/>
          </a:solidFill>
          <a:ln xmlns:a="http://schemas.openxmlformats.org/drawingml/2006/main" w="0">
            <a:solidFill>
              <a:srgbClr val="003F6B"/>
            </a:solidFill>
            <a:prstDash val="solid"/>
          </a:ln>
        </p:spPr>
      </p:sp>
      <p:sp>
        <p:nvSpPr>
          <p:cNvPr id="11" name="">
            <a:extLst xmlns:a="http://schemas.openxmlformats.org/drawingml/2006/main">
              <a:ext uri="{FF2B5EF4-FFF2-40B4-BE49-F238E27FC236}">
                <a16:creationId xmlns:a16="http://schemas.microsoft.com/office/drawing/2014/main" id="{E8720C22-0AAA-4309-9F50-17A817F752A6}"/>
              </a:ext>
            </a:extLst>
          </p:cNvPr>
          <p:cNvSpPr>
            <a:spLocks xmlns:a="http://schemas.openxmlformats.org/drawingml/2006/main" noGrp="1"/>
          </p:cNvSpPr>
          <p:nvPr/>
        </p:nvSpPr>
        <p:spPr>
          <a:xfrm xmlns:a="http://schemas.openxmlformats.org/drawingml/2006/main">
            <a:off x="6819900" y="207645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 287 ZPO</a:t>
            </a:r>
          </a:p>
        </p:txBody>
      </p:sp>
      <p:sp>
        <p:nvSpPr>
          <p:cNvPr id="12" name="">
            <a:extLst xmlns:a="http://schemas.openxmlformats.org/drawingml/2006/main">
              <a:ext uri="{FF2B5EF4-FFF2-40B4-BE49-F238E27FC236}">
                <a16:creationId xmlns:a16="http://schemas.microsoft.com/office/drawing/2014/main" id="{677C0D67-03B6-4932-8163-4F47C6B4C8F2}"/>
              </a:ext>
            </a:extLst>
          </p:cNvPr>
          <p:cNvSpPr>
            <a:spLocks xmlns:a="http://schemas.openxmlformats.org/drawingml/2006/main" noGrp="1"/>
          </p:cNvSpPr>
          <p:nvPr/>
        </p:nvSpPr>
        <p:spPr>
          <a:xfrm xmlns:a="http://schemas.openxmlformats.org/drawingml/2006/main">
            <a:off x="8362950" y="2057400"/>
            <a:ext cx="2838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Schadensermittlung · Auszug</a:t>
            </a:r>
          </a:p>
        </p:txBody>
      </p:sp>
      <p:sp>
        <p:nvSpPr>
          <p:cNvPr id="13" name="">
            <a:extLst xmlns:a="http://schemas.openxmlformats.org/drawingml/2006/main">
              <a:ext uri="{FF2B5EF4-FFF2-40B4-BE49-F238E27FC236}">
                <a16:creationId xmlns:a16="http://schemas.microsoft.com/office/drawing/2014/main" id="{A3210BA5-3539-428F-BAE4-4A76D3CF5277}"/>
              </a:ext>
            </a:extLst>
          </p:cNvPr>
          <p:cNvSpPr>
            <a:spLocks xmlns:a="http://schemas.openxmlformats.org/drawingml/2006/main" noGrp="1"/>
          </p:cNvSpPr>
          <p:nvPr/>
        </p:nvSpPr>
        <p:spPr>
          <a:xfrm xmlns:a="http://schemas.openxmlformats.org/drawingml/2006/main">
            <a:off x="6858000" y="2609850"/>
            <a:ext cx="4305300" cy="2533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8">
                <a:solidFill>
                  <a:srgbClr val="15232B"/>
                </a:solidFill>
              </a:defRPr>
            </a:pPr>
            <a:r>
              <a:rPr sz="1148">
                <a:solidFill>
                  <a:srgbClr val="15232B"/>
                </a:solidFill>
              </a:rPr>
              <a:t>Ist streitig, ob ein Schaden entstanden ist und wie hoch sich der Schaden oder ein zu ersetzendes Interesse beläuft, entscheidet das Gericht unter Würdigung aller Umstände nach freier Überzeugung. Ob und inwieweit eine Beweisaufnahme oder Begutachtung anzuordnen ist, bleibt dem Ermessen des Gerichts überlassen.</a:t>
            </a:r>
          </a:p>
        </p:txBody>
      </p:sp>
      <p:sp>
        <p:nvSpPr>
          <p:cNvPr id="14" name="">
            <a:extLst xmlns:a="http://schemas.openxmlformats.org/drawingml/2006/main">
              <a:ext uri="{FF2B5EF4-FFF2-40B4-BE49-F238E27FC236}">
                <a16:creationId xmlns:a16="http://schemas.microsoft.com/office/drawing/2014/main" id="{C2B048F6-47E7-4310-B961-FEF3A75CA817}"/>
              </a:ext>
            </a:extLst>
          </p:cNvPr>
          <p:cNvSpPr>
            <a:spLocks xmlns:a="http://schemas.openxmlformats.org/drawingml/2006/main" noGrp="1"/>
          </p:cNvSpPr>
          <p:nvPr/>
        </p:nvSpPr>
        <p:spPr>
          <a:xfrm xmlns:a="http://schemas.openxmlformats.org/drawingml/2006/main">
            <a:off x="1809750" y="5619750"/>
            <a:ext cx="9525000" cy="419100"/>
          </a:xfrm>
          <a:prstGeom xmlns:a="http://schemas.openxmlformats.org/drawingml/2006/main" prst="roundRect">
            <a:avLst>
              <a:gd name="adj" fmla="val 18182"/>
            </a:avLst>
          </a:prstGeom>
          <a:noFill xmlns:a="http://schemas.openxmlformats.org/drawingml/2006/main"/>
          <a:ln xmlns:a="http://schemas.openxmlformats.org/drawingml/2006/main" w="11430">
            <a:solidFill>
              <a:srgbClr val="00B2BB"/>
            </a:solidFill>
            <a:prstDash val="solid"/>
          </a:ln>
        </p:spPr>
      </p:sp>
      <p:sp>
        <p:nvSpPr>
          <p:cNvPr id="15" name="">
            <a:extLst xmlns:a="http://schemas.openxmlformats.org/drawingml/2006/main">
              <a:ext uri="{FF2B5EF4-FFF2-40B4-BE49-F238E27FC236}">
                <a16:creationId xmlns:a16="http://schemas.microsoft.com/office/drawing/2014/main" id="{ADB66391-DB24-4544-9B83-6E50D7F1D230}"/>
              </a:ext>
            </a:extLst>
          </p:cNvPr>
          <p:cNvSpPr>
            <a:spLocks xmlns:a="http://schemas.openxmlformats.org/drawingml/2006/main" noGrp="1"/>
          </p:cNvSpPr>
          <p:nvPr/>
        </p:nvSpPr>
        <p:spPr>
          <a:xfrm xmlns:a="http://schemas.openxmlformats.org/drawingml/2006/main">
            <a:off x="1962150" y="5638800"/>
            <a:ext cx="9220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13" b="1">
                <a:solidFill>
                  <a:srgbClr val="003F6B"/>
                </a:solidFill>
              </a:defRPr>
            </a:pPr>
            <a:r>
              <a:rPr sz="1013" b="1">
                <a:solidFill>
                  <a:srgbClr val="003F6B"/>
                </a:solidFill>
              </a:rPr>
              <a:t>Praxislesart: § 286 gilt typischerweise für Fehler und Primärverletzung; § 287 erleichtert häufig die Feststellung weiterer Schadensfolgen und der Höhe.</a:t>
            </a:r>
          </a:p>
        </p:txBody>
      </p:sp>
      <p:sp>
        <p:nvSpPr>
          <p:cNvPr id="16" name="">
            <a:extLst xmlns:a="http://schemas.openxmlformats.org/drawingml/2006/main">
              <a:ext uri="{FF2B5EF4-FFF2-40B4-BE49-F238E27FC236}">
                <a16:creationId xmlns:a16="http://schemas.microsoft.com/office/drawing/2014/main" id="{1D4BC283-8169-4DED-B25B-3E74DA43C60A}"/>
              </a:ext>
            </a:extLst>
          </p:cNvPr>
          <p:cNvSpPr>
            <a:spLocks xmlns:a="http://schemas.openxmlformats.org/drawingml/2006/main" noGrp="1"/>
          </p:cNvSpPr>
          <p:nvPr/>
        </p:nvSpPr>
        <p:spPr>
          <a:xfrm xmlns:a="http://schemas.openxmlformats.org/drawingml/2006/main">
            <a:off x="1809750" y="535305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05">
                <a:solidFill>
                  <a:srgbClr val="667680"/>
                </a:solidFill>
              </a:defRPr>
            </a:pPr>
            <a:r>
              <a:rPr sz="705">
                <a:solidFill>
                  <a:srgbClr val="667680"/>
                </a:solidFill>
              </a:rPr>
              <a:t>BMJ/BfJ, gesetze-im-internet.de/zpo/__286.html und /__287.html · Abruf/Stand: 20.08.2026 · https://pubmed.ncbi.nlm.nih.gov</a:t>
            </a:r>
          </a:p>
        </p:txBody>
      </p:sp>
    </p:spTree>
    <p:extLst>
      <p:ext uri="{BB962C8B-B14F-4D97-AF65-F5344CB8AC3E}">
        <p14:creationId xmlns:p14="http://schemas.microsoft.com/office/powerpoint/2010/main" val="43637646"/>
      </p:ext>
    </p:extLst>
  </p:cSld>
</p:sld>
</file>

<file path=ppt/slides/slide135.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Sachverständigenbeweis im Gesetz</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GESETZESTEXT · GEKÜRZTER LEHRAUSZUG</a:t>
            </a:r>
            <a:endParaRPr/>
          </a:p>
        </p:txBody>
      </p:sp>
      <p:sp>
        <p:nvSpPr>
          <p:cNvPr id="4" name="">
            <a:extLst xmlns:a="http://schemas.openxmlformats.org/drawingml/2006/main">
              <a:ext uri="{FF2B5EF4-FFF2-40B4-BE49-F238E27FC236}">
                <a16:creationId xmlns:a16="http://schemas.microsoft.com/office/drawing/2014/main" id="{3317D0B4-AF43-46EF-9B4D-9EACAA6D6538}"/>
              </a:ext>
            </a:extLst>
          </p:cNvPr>
          <p:cNvSpPr>
            <a:spLocks xmlns:a="http://schemas.openxmlformats.org/drawingml/2006/main" noGrp="1"/>
          </p:cNvSpPr>
          <p:nvPr/>
        </p:nvSpPr>
        <p:spPr>
          <a:xfrm xmlns:a="http://schemas.openxmlformats.org/drawingml/2006/main">
            <a:off x="1809750" y="1943100"/>
            <a:ext cx="4648200" cy="3371850"/>
          </a:xfrm>
          <a:prstGeom xmlns:a="http://schemas.openxmlformats.org/drawingml/2006/main" prst="roundRect">
            <a:avLst>
              <a:gd name="adj" fmla="val 2260"/>
            </a:avLst>
          </a:prstGeom>
          <a:solidFill xmlns:a="http://schemas.openxmlformats.org/drawingml/2006/main">
            <a:srgbClr val="F3F7F9"/>
          </a:solidFill>
          <a:ln xmlns:a="http://schemas.openxmlformats.org/drawingml/2006/main" w="11430">
            <a:solidFill>
              <a:srgbClr val="00B2BB"/>
            </a:solidFill>
            <a:prstDash val="solid"/>
          </a:ln>
        </p:spPr>
      </p:sp>
      <p:sp>
        <p:nvSpPr>
          <p:cNvPr id="5" name="">
            <a:extLst xmlns:a="http://schemas.openxmlformats.org/drawingml/2006/main">
              <a:ext uri="{FF2B5EF4-FFF2-40B4-BE49-F238E27FC236}">
                <a16:creationId xmlns:a16="http://schemas.microsoft.com/office/drawing/2014/main" id="{20279790-8A54-4672-9BC1-F21308F0A3F1}"/>
              </a:ext>
            </a:extLst>
          </p:cNvPr>
          <p:cNvSpPr>
            <a:spLocks xmlns:a="http://schemas.openxmlformats.org/drawingml/2006/main" noGrp="1"/>
          </p:cNvSpPr>
          <p:nvPr/>
        </p:nvSpPr>
        <p:spPr>
          <a:xfrm xmlns:a="http://schemas.openxmlformats.org/drawingml/2006/main">
            <a:off x="1943100" y="2076450"/>
            <a:ext cx="1409700" cy="381000"/>
          </a:xfrm>
          <a:prstGeom xmlns:a="http://schemas.openxmlformats.org/drawingml/2006/main" prst="roundRect">
            <a:avLst>
              <a:gd name="adj" fmla="val 20000"/>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9AA4B77B-9202-43D5-AAA4-401A10FC546B}"/>
              </a:ext>
            </a:extLst>
          </p:cNvPr>
          <p:cNvSpPr>
            <a:spLocks xmlns:a="http://schemas.openxmlformats.org/drawingml/2006/main" noGrp="1"/>
          </p:cNvSpPr>
          <p:nvPr/>
        </p:nvSpPr>
        <p:spPr>
          <a:xfrm xmlns:a="http://schemas.openxmlformats.org/drawingml/2006/main">
            <a:off x="1943100" y="207645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 402 ZPO</a:t>
            </a:r>
          </a:p>
        </p:txBody>
      </p:sp>
      <p:sp>
        <p:nvSpPr>
          <p:cNvPr id="7" name="">
            <a:extLst xmlns:a="http://schemas.openxmlformats.org/drawingml/2006/main">
              <a:ext uri="{FF2B5EF4-FFF2-40B4-BE49-F238E27FC236}">
                <a16:creationId xmlns:a16="http://schemas.microsoft.com/office/drawing/2014/main" id="{44421216-F8F6-45DD-9D16-B92B36872D60}"/>
              </a:ext>
            </a:extLst>
          </p:cNvPr>
          <p:cNvSpPr>
            <a:spLocks xmlns:a="http://schemas.openxmlformats.org/drawingml/2006/main" noGrp="1"/>
          </p:cNvSpPr>
          <p:nvPr/>
        </p:nvSpPr>
        <p:spPr>
          <a:xfrm xmlns:a="http://schemas.openxmlformats.org/drawingml/2006/main">
            <a:off x="3486150" y="2057400"/>
            <a:ext cx="2838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Zeugenregeln entsprechend</a:t>
            </a:r>
          </a:p>
        </p:txBody>
      </p:sp>
      <p:sp>
        <p:nvSpPr>
          <p:cNvPr id="8" name="">
            <a:extLst xmlns:a="http://schemas.openxmlformats.org/drawingml/2006/main">
              <a:ext uri="{FF2B5EF4-FFF2-40B4-BE49-F238E27FC236}">
                <a16:creationId xmlns:a16="http://schemas.microsoft.com/office/drawing/2014/main" id="{08E492F3-88FA-4E13-AE12-656AA5D52EE4}"/>
              </a:ext>
            </a:extLst>
          </p:cNvPr>
          <p:cNvSpPr>
            <a:spLocks xmlns:a="http://schemas.openxmlformats.org/drawingml/2006/main" noGrp="1"/>
          </p:cNvSpPr>
          <p:nvPr/>
        </p:nvSpPr>
        <p:spPr>
          <a:xfrm xmlns:a="http://schemas.openxmlformats.org/drawingml/2006/main">
            <a:off x="1981200" y="2609850"/>
            <a:ext cx="4305300" cy="2533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8">
                <a:solidFill>
                  <a:srgbClr val="15232B"/>
                </a:solidFill>
              </a:defRPr>
            </a:pPr>
            <a:r>
              <a:rPr sz="1148">
                <a:solidFill>
                  <a:srgbClr val="15232B"/>
                </a:solidFill>
              </a:rPr>
              <a:t>Für den Beweis durch Sachverständige gelten die Vorschriften über den Beweis durch Zeugen entsprechend, insoweit nicht in den folgenden Paragraphen abweichende Vorschriften enthalten sind.</a:t>
            </a:r>
          </a:p>
        </p:txBody>
      </p:sp>
      <p:sp>
        <p:nvSpPr>
          <p:cNvPr id="9" name="">
            <a:extLst xmlns:a="http://schemas.openxmlformats.org/drawingml/2006/main">
              <a:ext uri="{FF2B5EF4-FFF2-40B4-BE49-F238E27FC236}">
                <a16:creationId xmlns:a16="http://schemas.microsoft.com/office/drawing/2014/main" id="{20E4B4D3-C7B7-4B0A-9DD2-F7859362C3C6}"/>
              </a:ext>
            </a:extLst>
          </p:cNvPr>
          <p:cNvSpPr>
            <a:spLocks xmlns:a="http://schemas.openxmlformats.org/drawingml/2006/main" noGrp="1"/>
          </p:cNvSpPr>
          <p:nvPr/>
        </p:nvSpPr>
        <p:spPr>
          <a:xfrm xmlns:a="http://schemas.openxmlformats.org/drawingml/2006/main">
            <a:off x="6686550" y="1943100"/>
            <a:ext cx="4648200" cy="3371850"/>
          </a:xfrm>
          <a:prstGeom xmlns:a="http://schemas.openxmlformats.org/drawingml/2006/main" prst="roundRect">
            <a:avLst>
              <a:gd name="adj" fmla="val 2260"/>
            </a:avLst>
          </a:prstGeom>
          <a:solidFill xmlns:a="http://schemas.openxmlformats.org/drawingml/2006/main">
            <a:srgbClr val="F3F7F9"/>
          </a:solidFill>
          <a:ln xmlns:a="http://schemas.openxmlformats.org/drawingml/2006/main" w="11430">
            <a:solidFill>
              <a:srgbClr val="003F6B"/>
            </a:solidFill>
            <a:prstDash val="solid"/>
          </a:ln>
        </p:spPr>
      </p:sp>
      <p:sp>
        <p:nvSpPr>
          <p:cNvPr id="10" name="">
            <a:extLst xmlns:a="http://schemas.openxmlformats.org/drawingml/2006/main">
              <a:ext uri="{FF2B5EF4-FFF2-40B4-BE49-F238E27FC236}">
                <a16:creationId xmlns:a16="http://schemas.microsoft.com/office/drawing/2014/main" id="{D0EC9B9D-4707-4B76-933C-46D96A544DCA}"/>
              </a:ext>
            </a:extLst>
          </p:cNvPr>
          <p:cNvSpPr>
            <a:spLocks xmlns:a="http://schemas.openxmlformats.org/drawingml/2006/main" noGrp="1"/>
          </p:cNvSpPr>
          <p:nvPr/>
        </p:nvSpPr>
        <p:spPr>
          <a:xfrm xmlns:a="http://schemas.openxmlformats.org/drawingml/2006/main">
            <a:off x="6819900" y="2076450"/>
            <a:ext cx="1409700" cy="381000"/>
          </a:xfrm>
          <a:prstGeom xmlns:a="http://schemas.openxmlformats.org/drawingml/2006/main" prst="roundRect">
            <a:avLst>
              <a:gd name="adj" fmla="val 20000"/>
            </a:avLst>
          </a:prstGeom>
          <a:solidFill xmlns:a="http://schemas.openxmlformats.org/drawingml/2006/main">
            <a:srgbClr val="003F6B"/>
          </a:solidFill>
          <a:ln xmlns:a="http://schemas.openxmlformats.org/drawingml/2006/main" w="0">
            <a:solidFill>
              <a:srgbClr val="003F6B"/>
            </a:solidFill>
            <a:prstDash val="solid"/>
          </a:ln>
        </p:spPr>
      </p:sp>
      <p:sp>
        <p:nvSpPr>
          <p:cNvPr id="11" name="">
            <a:extLst xmlns:a="http://schemas.openxmlformats.org/drawingml/2006/main">
              <a:ext uri="{FF2B5EF4-FFF2-40B4-BE49-F238E27FC236}">
                <a16:creationId xmlns:a16="http://schemas.microsoft.com/office/drawing/2014/main" id="{3749C61B-FAF7-4F22-8C80-BBB0F5486C1A}"/>
              </a:ext>
            </a:extLst>
          </p:cNvPr>
          <p:cNvSpPr>
            <a:spLocks xmlns:a="http://schemas.openxmlformats.org/drawingml/2006/main" noGrp="1"/>
          </p:cNvSpPr>
          <p:nvPr/>
        </p:nvSpPr>
        <p:spPr>
          <a:xfrm xmlns:a="http://schemas.openxmlformats.org/drawingml/2006/main">
            <a:off x="6819900" y="207645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 411 III, IV ZPO</a:t>
            </a:r>
          </a:p>
        </p:txBody>
      </p:sp>
      <p:sp>
        <p:nvSpPr>
          <p:cNvPr id="12" name="">
            <a:extLst xmlns:a="http://schemas.openxmlformats.org/drawingml/2006/main">
              <a:ext uri="{FF2B5EF4-FFF2-40B4-BE49-F238E27FC236}">
                <a16:creationId xmlns:a16="http://schemas.microsoft.com/office/drawing/2014/main" id="{EEDCE159-2A14-4A11-BDF8-40E73BE6279B}"/>
              </a:ext>
            </a:extLst>
          </p:cNvPr>
          <p:cNvSpPr>
            <a:spLocks xmlns:a="http://schemas.openxmlformats.org/drawingml/2006/main" noGrp="1"/>
          </p:cNvSpPr>
          <p:nvPr/>
        </p:nvSpPr>
        <p:spPr>
          <a:xfrm xmlns:a="http://schemas.openxmlformats.org/drawingml/2006/main">
            <a:off x="8362950" y="2057400"/>
            <a:ext cx="2838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Erläuterung und Fragen · Auszug</a:t>
            </a:r>
          </a:p>
        </p:txBody>
      </p:sp>
      <p:sp>
        <p:nvSpPr>
          <p:cNvPr id="13" name="">
            <a:extLst xmlns:a="http://schemas.openxmlformats.org/drawingml/2006/main">
              <a:ext uri="{FF2B5EF4-FFF2-40B4-BE49-F238E27FC236}">
                <a16:creationId xmlns:a16="http://schemas.microsoft.com/office/drawing/2014/main" id="{0987667E-BE5B-4BAE-867B-B38B003E0D98}"/>
              </a:ext>
            </a:extLst>
          </p:cNvPr>
          <p:cNvSpPr>
            <a:spLocks xmlns:a="http://schemas.openxmlformats.org/drawingml/2006/main" noGrp="1"/>
          </p:cNvSpPr>
          <p:nvPr/>
        </p:nvSpPr>
        <p:spPr>
          <a:xfrm xmlns:a="http://schemas.openxmlformats.org/drawingml/2006/main">
            <a:off x="6858000" y="2609850"/>
            <a:ext cx="4305300" cy="2533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8">
                <a:solidFill>
                  <a:srgbClr val="15232B"/>
                </a:solidFill>
              </a:defRPr>
            </a:pPr>
            <a:r>
              <a:rPr sz="1148">
                <a:solidFill>
                  <a:srgbClr val="15232B"/>
                </a:solidFill>
              </a:rPr>
              <a:t>Das Gericht kann das Erscheinen des Sachverständigen zur Erläuterung des schriftlichen Gutachtens anordnen. Die Parteien haben ihre Einwendungen gegen das Gutachten, die Begutachtung betreffende Anträge und Ergänzungsfragen innerhalb der gesetzten Frist mitzuteilen.</a:t>
            </a:r>
          </a:p>
        </p:txBody>
      </p:sp>
      <p:sp>
        <p:nvSpPr>
          <p:cNvPr id="14" name="">
            <a:extLst xmlns:a="http://schemas.openxmlformats.org/drawingml/2006/main">
              <a:ext uri="{FF2B5EF4-FFF2-40B4-BE49-F238E27FC236}">
                <a16:creationId xmlns:a16="http://schemas.microsoft.com/office/drawing/2014/main" id="{BDD1E223-1FB7-4161-965E-BFC209C7759B}"/>
              </a:ext>
            </a:extLst>
          </p:cNvPr>
          <p:cNvSpPr>
            <a:spLocks xmlns:a="http://schemas.openxmlformats.org/drawingml/2006/main" noGrp="1"/>
          </p:cNvSpPr>
          <p:nvPr/>
        </p:nvSpPr>
        <p:spPr>
          <a:xfrm xmlns:a="http://schemas.openxmlformats.org/drawingml/2006/main">
            <a:off x="1809750" y="5619750"/>
            <a:ext cx="9525000" cy="419100"/>
          </a:xfrm>
          <a:prstGeom xmlns:a="http://schemas.openxmlformats.org/drawingml/2006/main" prst="roundRect">
            <a:avLst>
              <a:gd name="adj" fmla="val 18182"/>
            </a:avLst>
          </a:prstGeom>
          <a:noFill xmlns:a="http://schemas.openxmlformats.org/drawingml/2006/main"/>
          <a:ln xmlns:a="http://schemas.openxmlformats.org/drawingml/2006/main" w="11430">
            <a:solidFill>
              <a:srgbClr val="00B2BB"/>
            </a:solidFill>
            <a:prstDash val="solid"/>
          </a:ln>
        </p:spPr>
      </p:sp>
      <p:sp>
        <p:nvSpPr>
          <p:cNvPr id="15" name="">
            <a:extLst xmlns:a="http://schemas.openxmlformats.org/drawingml/2006/main">
              <a:ext uri="{FF2B5EF4-FFF2-40B4-BE49-F238E27FC236}">
                <a16:creationId xmlns:a16="http://schemas.microsoft.com/office/drawing/2014/main" id="{F5901891-2C69-48D0-AA47-34B9B371CBE3}"/>
              </a:ext>
            </a:extLst>
          </p:cNvPr>
          <p:cNvSpPr>
            <a:spLocks xmlns:a="http://schemas.openxmlformats.org/drawingml/2006/main" noGrp="1"/>
          </p:cNvSpPr>
          <p:nvPr/>
        </p:nvSpPr>
        <p:spPr>
          <a:xfrm xmlns:a="http://schemas.openxmlformats.org/drawingml/2006/main">
            <a:off x="1962150" y="5638800"/>
            <a:ext cx="9220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13" b="1">
                <a:solidFill>
                  <a:srgbClr val="003F6B"/>
                </a:solidFill>
              </a:defRPr>
            </a:pPr>
            <a:r>
              <a:rPr sz="1013" b="1">
                <a:solidFill>
                  <a:srgbClr val="003F6B"/>
                </a:solidFill>
              </a:rPr>
              <a:t>Praxislesart: Ein Gutachten entscheidet nicht selbst. Parteien dürfen Einwendungen und konkrete Fragen stellen; das Gericht würdigt das Ergebnis.</a:t>
            </a:r>
          </a:p>
        </p:txBody>
      </p:sp>
      <p:sp>
        <p:nvSpPr>
          <p:cNvPr id="16" name="">
            <a:extLst xmlns:a="http://schemas.openxmlformats.org/drawingml/2006/main">
              <a:ext uri="{FF2B5EF4-FFF2-40B4-BE49-F238E27FC236}">
                <a16:creationId xmlns:a16="http://schemas.microsoft.com/office/drawing/2014/main" id="{69626B4C-14F6-47B5-87E9-2AE04F267EB2}"/>
              </a:ext>
            </a:extLst>
          </p:cNvPr>
          <p:cNvSpPr>
            <a:spLocks xmlns:a="http://schemas.openxmlformats.org/drawingml/2006/main" noGrp="1"/>
          </p:cNvSpPr>
          <p:nvPr/>
        </p:nvSpPr>
        <p:spPr>
          <a:xfrm xmlns:a="http://schemas.openxmlformats.org/drawingml/2006/main">
            <a:off x="1809750" y="535305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05">
                <a:solidFill>
                  <a:srgbClr val="667680"/>
                </a:solidFill>
              </a:defRPr>
            </a:pPr>
            <a:r>
              <a:rPr sz="705">
                <a:solidFill>
                  <a:srgbClr val="667680"/>
                </a:solidFill>
              </a:rPr>
              <a:t>BMJ/BfJ, gesetze-im-internet.de/zpo/__402.html und /__411.html · Abruf/Stand: 20.08.2026 · https://pubmed.ncbi.nlm.nih.gov</a:t>
            </a:r>
          </a:p>
        </p:txBody>
      </p:sp>
    </p:spTree>
    <p:extLst>
      <p:ext uri="{BB962C8B-B14F-4D97-AF65-F5344CB8AC3E}">
        <p14:creationId xmlns:p14="http://schemas.microsoft.com/office/powerpoint/2010/main" val="43637646"/>
      </p:ext>
    </p:extLst>
  </p:cSld>
</p:sld>
</file>

<file path=ppt/slides/slide136.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Sachverständige müssen auf Antrag mündlich antworten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REALE ENTSCHEIDUNG</a:t>
            </a:r>
            <a:endParaRPr/>
          </a:p>
        </p:txBody>
      </p:sp>
      <p:sp>
        <p:nvSpPr>
          <p:cNvPr id="4" name="">
            <a:extLst xmlns:a="http://schemas.openxmlformats.org/drawingml/2006/main">
              <a:ext uri="{FF2B5EF4-FFF2-40B4-BE49-F238E27FC236}">
                <a16:creationId xmlns:a16="http://schemas.microsoft.com/office/drawing/2014/main" id="{9023CC7C-D2F3-4A8F-B9EF-958E678456C1}"/>
              </a:ext>
            </a:extLst>
          </p:cNvPr>
          <p:cNvSpPr>
            <a:spLocks xmlns:a="http://schemas.openxmlformats.org/drawingml/2006/main" noGrp="1"/>
          </p:cNvSpPr>
          <p:nvPr/>
        </p:nvSpPr>
        <p:spPr>
          <a:xfrm xmlns:a="http://schemas.openxmlformats.org/drawingml/2006/main">
            <a:off x="1809750" y="1943100"/>
            <a:ext cx="11239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903C2038-4B67-4E24-A4DE-236C3784F7F2}"/>
              </a:ext>
            </a:extLst>
          </p:cNvPr>
          <p:cNvSpPr>
            <a:spLocks xmlns:a="http://schemas.openxmlformats.org/drawingml/2006/main" noGrp="1"/>
          </p:cNvSpPr>
          <p:nvPr/>
        </p:nvSpPr>
        <p:spPr>
          <a:xfrm xmlns:a="http://schemas.openxmlformats.org/drawingml/2006/main">
            <a:off x="1809750" y="1943100"/>
            <a:ext cx="1123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BGH</a:t>
            </a:r>
          </a:p>
        </p:txBody>
      </p:sp>
      <p:sp>
        <p:nvSpPr>
          <p:cNvPr id="6" name="">
            <a:extLst xmlns:a="http://schemas.openxmlformats.org/drawingml/2006/main">
              <a:ext uri="{FF2B5EF4-FFF2-40B4-BE49-F238E27FC236}">
                <a16:creationId xmlns:a16="http://schemas.microsoft.com/office/drawing/2014/main" id="{D13891B3-E244-4EDB-ADE3-FF66533486FC}"/>
              </a:ext>
            </a:extLst>
          </p:cNvPr>
          <p:cNvSpPr>
            <a:spLocks xmlns:a="http://schemas.openxmlformats.org/drawingml/2006/main" noGrp="1"/>
          </p:cNvSpPr>
          <p:nvPr/>
        </p:nvSpPr>
        <p:spPr>
          <a:xfrm xmlns:a="http://schemas.openxmlformats.org/drawingml/2006/main">
            <a:off x="312420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07.05.2019 · VI ZR 257/17</a:t>
            </a:r>
          </a:p>
        </p:txBody>
      </p:sp>
      <p:sp>
        <p:nvSpPr>
          <p:cNvPr id="7" name="">
            <a:extLst xmlns:a="http://schemas.openxmlformats.org/drawingml/2006/main">
              <a:ext uri="{FF2B5EF4-FFF2-40B4-BE49-F238E27FC236}">
                <a16:creationId xmlns:a16="http://schemas.microsoft.com/office/drawing/2014/main" id="{E0E413CE-B520-4887-9ADE-49E328699DC4}"/>
              </a:ext>
            </a:extLst>
          </p:cNvPr>
          <p:cNvSpPr>
            <a:spLocks xmlns:a="http://schemas.openxmlformats.org/drawingml/2006/main" noGrp="1"/>
          </p:cNvSpPr>
          <p:nvPr/>
        </p:nvSpPr>
        <p:spPr>
          <a:xfrm xmlns:a="http://schemas.openxmlformats.org/drawingml/2006/main">
            <a:off x="733425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050">
                <a:solidFill>
                  <a:srgbClr val="667680"/>
                </a:solidFill>
              </a:defRPr>
            </a:pPr>
            <a:r>
              <a:rPr sz="1050">
                <a:solidFill>
                  <a:srgbClr val="667680"/>
                </a:solidFill>
              </a:rPr>
              <a:t>Leitentscheidung</a:t>
            </a:r>
          </a:p>
        </p:txBody>
      </p:sp>
      <p:sp>
        <p:nvSpPr>
          <p:cNvPr id="8" name="">
            <a:extLst xmlns:a="http://schemas.openxmlformats.org/drawingml/2006/main">
              <a:ext uri="{FF2B5EF4-FFF2-40B4-BE49-F238E27FC236}">
                <a16:creationId xmlns:a16="http://schemas.microsoft.com/office/drawing/2014/main" id="{F0C8BD6B-18BD-4EF9-BD17-6512E1B86404}"/>
              </a:ext>
            </a:extLst>
          </p:cNvPr>
          <p:cNvSpPr>
            <a:spLocks xmlns:a="http://schemas.openxmlformats.org/drawingml/2006/main" noGrp="1"/>
          </p:cNvSpPr>
          <p:nvPr/>
        </p:nvSpPr>
        <p:spPr>
          <a:xfrm xmlns:a="http://schemas.openxmlformats.org/drawingml/2006/main">
            <a:off x="1809750" y="2533650"/>
            <a:ext cx="1676400" cy="781050"/>
          </a:xfrm>
          <a:prstGeom xmlns:a="http://schemas.openxmlformats.org/drawingml/2006/main" prst="roundRect">
            <a:avLst>
              <a:gd name="adj" fmla="val 9756"/>
            </a:avLst>
          </a:prstGeom>
          <a:solidFill xmlns:a="http://schemas.openxmlformats.org/drawingml/2006/main">
            <a:srgbClr val="00B2BB"/>
          </a:solidFill>
          <a:ln xmlns:a="http://schemas.openxmlformats.org/drawingml/2006/main" w="0">
            <a:solidFill>
              <a:srgbClr val="00B2BB"/>
            </a:solidFill>
            <a:prstDash val="solid"/>
          </a:ln>
        </p:spPr>
      </p:sp>
      <p:sp>
        <p:nvSpPr>
          <p:cNvPr id="9" name="">
            <a:extLst xmlns:a="http://schemas.openxmlformats.org/drawingml/2006/main">
              <a:ext uri="{FF2B5EF4-FFF2-40B4-BE49-F238E27FC236}">
                <a16:creationId xmlns:a16="http://schemas.microsoft.com/office/drawing/2014/main" id="{093EB591-9AD4-49AF-9628-5BEA9988096B}"/>
              </a:ext>
            </a:extLst>
          </p:cNvPr>
          <p:cNvSpPr>
            <a:spLocks xmlns:a="http://schemas.openxmlformats.org/drawingml/2006/main" noGrp="1"/>
          </p:cNvSpPr>
          <p:nvPr/>
        </p:nvSpPr>
        <p:spPr>
          <a:xfrm xmlns:a="http://schemas.openxmlformats.org/drawingml/2006/main">
            <a:off x="1924050" y="25336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Ausgangsfall</a:t>
            </a:r>
          </a:p>
        </p:txBody>
      </p:sp>
      <p:sp>
        <p:nvSpPr>
          <p:cNvPr id="10" name="">
            <a:extLst xmlns:a="http://schemas.openxmlformats.org/drawingml/2006/main">
              <a:ext uri="{FF2B5EF4-FFF2-40B4-BE49-F238E27FC236}">
                <a16:creationId xmlns:a16="http://schemas.microsoft.com/office/drawing/2014/main" id="{08744B04-8D08-4E73-8938-190DAA92A943}"/>
              </a:ext>
            </a:extLst>
          </p:cNvPr>
          <p:cNvSpPr>
            <a:spLocks xmlns:a="http://schemas.openxmlformats.org/drawingml/2006/main" noGrp="1"/>
          </p:cNvSpPr>
          <p:nvPr/>
        </p:nvSpPr>
        <p:spPr>
          <a:xfrm xmlns:a="http://schemas.openxmlformats.org/drawingml/2006/main">
            <a:off x="3695700" y="25336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88">
                <a:solidFill>
                  <a:srgbClr val="15232B"/>
                </a:solidFill>
              </a:defRPr>
            </a:pPr>
            <a:r>
              <a:rPr sz="1088">
                <a:solidFill>
                  <a:srgbClr val="15232B"/>
                </a:solidFill>
              </a:rPr>
              <a:t>Nach einer Wirbelsäulenoperation verblieb ein abgebrochenes Instrumententeil. Das Gericht wollte dem schriftlichen Gutachten folgen, ohne den Sachverständigen mündlich anzuhören.</a:t>
            </a:r>
          </a:p>
        </p:txBody>
      </p:sp>
      <p:sp>
        <p:nvSpPr>
          <p:cNvPr id="11" name="">
            <a:extLst xmlns:a="http://schemas.openxmlformats.org/drawingml/2006/main">
              <a:ext uri="{FF2B5EF4-FFF2-40B4-BE49-F238E27FC236}">
                <a16:creationId xmlns:a16="http://schemas.microsoft.com/office/drawing/2014/main" id="{B545A8FD-292A-4CF3-B651-C737761768DE}"/>
              </a:ext>
            </a:extLst>
          </p:cNvPr>
          <p:cNvSpPr>
            <a:spLocks xmlns:a="http://schemas.openxmlformats.org/drawingml/2006/main" noGrp="1"/>
          </p:cNvSpPr>
          <p:nvPr/>
        </p:nvSpPr>
        <p:spPr>
          <a:xfrm xmlns:a="http://schemas.openxmlformats.org/drawingml/2006/main">
            <a:off x="1809750" y="3486150"/>
            <a:ext cx="1676400" cy="781050"/>
          </a:xfrm>
          <a:prstGeom xmlns:a="http://schemas.openxmlformats.org/drawingml/2006/main" prst="roundRect">
            <a:avLst>
              <a:gd name="adj" fmla="val 9756"/>
            </a:avLst>
          </a:prstGeom>
          <a:solidFill xmlns:a="http://schemas.openxmlformats.org/drawingml/2006/main">
            <a:srgbClr val="003F6B"/>
          </a:solidFill>
          <a:ln xmlns:a="http://schemas.openxmlformats.org/drawingml/2006/main" w="0">
            <a:solidFill>
              <a:srgbClr val="003F6B"/>
            </a:solidFill>
            <a:prstDash val="solid"/>
          </a:ln>
        </p:spPr>
      </p:sp>
      <p:sp>
        <p:nvSpPr>
          <p:cNvPr id="12" name="">
            <a:extLst xmlns:a="http://schemas.openxmlformats.org/drawingml/2006/main">
              <a:ext uri="{FF2B5EF4-FFF2-40B4-BE49-F238E27FC236}">
                <a16:creationId xmlns:a16="http://schemas.microsoft.com/office/drawing/2014/main" id="{78EFDDCA-7415-4873-BFD0-EDC642ABAFFB}"/>
              </a:ext>
            </a:extLst>
          </p:cNvPr>
          <p:cNvSpPr>
            <a:spLocks xmlns:a="http://schemas.openxmlformats.org/drawingml/2006/main" noGrp="1"/>
          </p:cNvSpPr>
          <p:nvPr/>
        </p:nvSpPr>
        <p:spPr>
          <a:xfrm xmlns:a="http://schemas.openxmlformats.org/drawingml/2006/main">
            <a:off x="1924050" y="34861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Kernaussage</a:t>
            </a:r>
          </a:p>
        </p:txBody>
      </p:sp>
      <p:sp>
        <p:nvSpPr>
          <p:cNvPr id="13" name="">
            <a:extLst xmlns:a="http://schemas.openxmlformats.org/drawingml/2006/main">
              <a:ext uri="{FF2B5EF4-FFF2-40B4-BE49-F238E27FC236}">
                <a16:creationId xmlns:a16="http://schemas.microsoft.com/office/drawing/2014/main" id="{70987270-15ED-407A-ADFA-2AC0A16FAAF9}"/>
              </a:ext>
            </a:extLst>
          </p:cNvPr>
          <p:cNvSpPr>
            <a:spLocks xmlns:a="http://schemas.openxmlformats.org/drawingml/2006/main" noGrp="1"/>
          </p:cNvSpPr>
          <p:nvPr/>
        </p:nvSpPr>
        <p:spPr>
          <a:xfrm xmlns:a="http://schemas.openxmlformats.org/drawingml/2006/main">
            <a:off x="3695700" y="34861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88">
                <a:solidFill>
                  <a:srgbClr val="15232B"/>
                </a:solidFill>
              </a:defRPr>
            </a:pPr>
            <a:r>
              <a:rPr sz="1088">
                <a:solidFill>
                  <a:srgbClr val="15232B"/>
                </a:solidFill>
              </a:rPr>
              <a:t>Beantragt eine Partei die mündliche Erläuterung, hängt die Ladung nicht davon ab, ob das Gericht selbst noch Erläuterungsbedarf sieht oder die Partei den Bedarf bereits überzeugend dargelegt hat.</a:t>
            </a:r>
          </a:p>
        </p:txBody>
      </p:sp>
      <p:sp>
        <p:nvSpPr>
          <p:cNvPr id="14" name="">
            <a:extLst xmlns:a="http://schemas.openxmlformats.org/drawingml/2006/main">
              <a:ext uri="{FF2B5EF4-FFF2-40B4-BE49-F238E27FC236}">
                <a16:creationId xmlns:a16="http://schemas.microsoft.com/office/drawing/2014/main" id="{0AB44558-9E05-44A0-AA01-F4517C865885}"/>
              </a:ext>
            </a:extLst>
          </p:cNvPr>
          <p:cNvSpPr>
            <a:spLocks xmlns:a="http://schemas.openxmlformats.org/drawingml/2006/main" noGrp="1"/>
          </p:cNvSpPr>
          <p:nvPr/>
        </p:nvSpPr>
        <p:spPr>
          <a:xfrm xmlns:a="http://schemas.openxmlformats.org/drawingml/2006/main">
            <a:off x="1809750" y="4438650"/>
            <a:ext cx="1676400" cy="781050"/>
          </a:xfrm>
          <a:prstGeom xmlns:a="http://schemas.openxmlformats.org/drawingml/2006/main" prst="roundRect">
            <a:avLst>
              <a:gd name="adj" fmla="val 9756"/>
            </a:avLst>
          </a:prstGeom>
          <a:solidFill xmlns:a="http://schemas.openxmlformats.org/drawingml/2006/main">
            <a:srgbClr val="00B2BB"/>
          </a:solidFill>
          <a:ln xmlns:a="http://schemas.openxmlformats.org/drawingml/2006/main" w="0">
            <a:solidFill>
              <a:srgbClr val="00B2BB"/>
            </a:solidFill>
            <a:prstDash val="solid"/>
          </a:ln>
        </p:spPr>
      </p:sp>
      <p:sp>
        <p:nvSpPr>
          <p:cNvPr id="15" name="">
            <a:extLst xmlns:a="http://schemas.openxmlformats.org/drawingml/2006/main">
              <a:ext uri="{FF2B5EF4-FFF2-40B4-BE49-F238E27FC236}">
                <a16:creationId xmlns:a16="http://schemas.microsoft.com/office/drawing/2014/main" id="{24681C0F-AAFB-49BD-B6F4-938EA21CF97F}"/>
              </a:ext>
            </a:extLst>
          </p:cNvPr>
          <p:cNvSpPr>
            <a:spLocks xmlns:a="http://schemas.openxmlformats.org/drawingml/2006/main" noGrp="1"/>
          </p:cNvSpPr>
          <p:nvPr/>
        </p:nvSpPr>
        <p:spPr>
          <a:xfrm xmlns:a="http://schemas.openxmlformats.org/drawingml/2006/main">
            <a:off x="1924050" y="44386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Für die Praxis</a:t>
            </a:r>
          </a:p>
        </p:txBody>
      </p:sp>
      <p:sp>
        <p:nvSpPr>
          <p:cNvPr id="16" name="">
            <a:extLst xmlns:a="http://schemas.openxmlformats.org/drawingml/2006/main">
              <a:ext uri="{FF2B5EF4-FFF2-40B4-BE49-F238E27FC236}">
                <a16:creationId xmlns:a16="http://schemas.microsoft.com/office/drawing/2014/main" id="{482048E4-7310-4B55-BDCE-3317C941E618}"/>
              </a:ext>
            </a:extLst>
          </p:cNvPr>
          <p:cNvSpPr>
            <a:spLocks xmlns:a="http://schemas.openxmlformats.org/drawingml/2006/main" noGrp="1"/>
          </p:cNvSpPr>
          <p:nvPr/>
        </p:nvSpPr>
        <p:spPr>
          <a:xfrm xmlns:a="http://schemas.openxmlformats.org/drawingml/2006/main">
            <a:off x="3695700" y="44386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88">
                <a:solidFill>
                  <a:srgbClr val="15232B"/>
                </a:solidFill>
              </a:defRPr>
            </a:pPr>
            <a:r>
              <a:rPr sz="1088">
                <a:solidFill>
                  <a:srgbClr val="15232B"/>
                </a:solidFill>
              </a:rPr>
              <a:t>Fragen schriftlich präzisieren und die Anhörung ausdrücklich beantragen. Medizinische Einwände werden so prozessual hörbar.</a:t>
            </a:r>
          </a:p>
        </p:txBody>
      </p:sp>
      <p:sp>
        <p:nvSpPr>
          <p:cNvPr id="17" name="">
            <a:extLst xmlns:a="http://schemas.openxmlformats.org/drawingml/2006/main">
              <a:ext uri="{FF2B5EF4-FFF2-40B4-BE49-F238E27FC236}">
                <a16:creationId xmlns:a16="http://schemas.microsoft.com/office/drawing/2014/main" id="{5D2FA0A1-EAB5-4B8E-8213-0FDE668CF496}"/>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20">
                <a:solidFill>
                  <a:srgbClr val="667680"/>
                </a:solidFill>
              </a:defRPr>
            </a:pPr>
            <a:r>
              <a:rPr sz="720">
                <a:solidFill>
                  <a:srgbClr val="667680"/>
                </a:solidFill>
              </a:rPr>
              <a:t>BGH, Beschluss VI ZR 257/17, juris.bundesgerichtshof.de · https://juris.bundesgerichtshof.de</a:t>
            </a:r>
          </a:p>
        </p:txBody>
      </p:sp>
    </p:spTree>
    <p:extLst>
      <p:ext uri="{BB962C8B-B14F-4D97-AF65-F5344CB8AC3E}">
        <p14:creationId xmlns:p14="http://schemas.microsoft.com/office/powerpoint/2010/main" val="43637646"/>
      </p:ext>
    </p:extLst>
  </p:cSld>
</p:sld>
</file>

<file path=ppt/slides/slide137.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Beweislast: Wer trägt das Risiko des Nichtwissens?</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A34C774A-DA23-418A-B472-C3E1FC501D87}"/>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Bleibt eine entscheidungserhebliche Tatsache ungeklärt, entscheidet die Beweislast, zu wessen Nachteil dies wirkt.</a:t>
            </a:r>
          </a:p>
        </p:txBody>
      </p:sp>
      <p:sp>
        <p:nvSpPr>
          <p:cNvPr id="5" name="">
            <a:extLst xmlns:a="http://schemas.openxmlformats.org/drawingml/2006/main">
              <a:ext uri="{FF2B5EF4-FFF2-40B4-BE49-F238E27FC236}">
                <a16:creationId xmlns:a16="http://schemas.microsoft.com/office/drawing/2014/main" id="{8F827494-3BD7-46FE-B952-753C6080EC9E}"/>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5B8F13C9-5D2D-4533-A712-4B657F68A580}"/>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7EEDB5F0-5858-4490-8858-93B9991FEDC4}"/>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Grundsatz</a:t>
            </a:r>
          </a:p>
        </p:txBody>
      </p:sp>
      <p:sp>
        <p:nvSpPr>
          <p:cNvPr id="8" name="">
            <a:extLst xmlns:a="http://schemas.openxmlformats.org/drawingml/2006/main">
              <a:ext uri="{FF2B5EF4-FFF2-40B4-BE49-F238E27FC236}">
                <a16:creationId xmlns:a16="http://schemas.microsoft.com/office/drawing/2014/main" id="{A02CEF53-E1D9-4C84-97E8-31D63CF32C96}"/>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Wer einen Anspruch geltend macht, beweist grundsätzlich dessen anspruchsbegründende Tatsachen.</a:t>
            </a:r>
          </a:p>
        </p:txBody>
      </p:sp>
      <p:sp>
        <p:nvSpPr>
          <p:cNvPr id="9" name="">
            <a:extLst xmlns:a="http://schemas.openxmlformats.org/drawingml/2006/main">
              <a:ext uri="{FF2B5EF4-FFF2-40B4-BE49-F238E27FC236}">
                <a16:creationId xmlns:a16="http://schemas.microsoft.com/office/drawing/2014/main" id="{C5363931-8516-497A-952D-632BDE5C8B3B}"/>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CCD27B78-79E7-4C77-BEB2-B7202DFA787B}"/>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A571AA05-7682-481E-8E17-64C1F2DBD008}"/>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Gegenrechte</a:t>
            </a:r>
          </a:p>
        </p:txBody>
      </p:sp>
      <p:sp>
        <p:nvSpPr>
          <p:cNvPr id="12" name="">
            <a:extLst xmlns:a="http://schemas.openxmlformats.org/drawingml/2006/main">
              <a:ext uri="{FF2B5EF4-FFF2-40B4-BE49-F238E27FC236}">
                <a16:creationId xmlns:a16="http://schemas.microsoft.com/office/drawing/2014/main" id="{6AE69538-69EC-4FDD-BC0A-737CE418AAAF}"/>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Die Gegenseite beweist grundsätzlich Tatsachen, aus denen Einwendungen oder Einreden folgen.</a:t>
            </a:r>
          </a:p>
        </p:txBody>
      </p:sp>
      <p:sp>
        <p:nvSpPr>
          <p:cNvPr id="13" name="">
            <a:extLst xmlns:a="http://schemas.openxmlformats.org/drawingml/2006/main">
              <a:ext uri="{FF2B5EF4-FFF2-40B4-BE49-F238E27FC236}">
                <a16:creationId xmlns:a16="http://schemas.microsoft.com/office/drawing/2014/main" id="{82A998A3-C34B-4801-BE29-F36BD22F7600}"/>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924A1DDF-77B0-44AA-BC62-B3A7842A20EC}"/>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6EEF1B38-7749-4FB7-8EA4-D524B246FF1F}"/>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Arzthaftungsbesonderheiten</a:t>
            </a:r>
          </a:p>
        </p:txBody>
      </p:sp>
      <p:sp>
        <p:nvSpPr>
          <p:cNvPr id="16" name="">
            <a:extLst xmlns:a="http://schemas.openxmlformats.org/drawingml/2006/main">
              <a:ext uri="{FF2B5EF4-FFF2-40B4-BE49-F238E27FC236}">
                <a16:creationId xmlns:a16="http://schemas.microsoft.com/office/drawing/2014/main" id="{6E2D5269-C40B-4A1E-905E-6FA2275E8C79}"/>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 630h BGB und richterrechtlich konkretisierte Fallgruppen erleichtern in bestimmten Situationen den Patientenbeweis.</a:t>
            </a:r>
          </a:p>
        </p:txBody>
      </p:sp>
      <p:sp>
        <p:nvSpPr>
          <p:cNvPr id="17" name="">
            <a:extLst xmlns:a="http://schemas.openxmlformats.org/drawingml/2006/main">
              <a:ext uri="{FF2B5EF4-FFF2-40B4-BE49-F238E27FC236}">
                <a16:creationId xmlns:a16="http://schemas.microsoft.com/office/drawing/2014/main" id="{E9F4A7A4-2697-48E4-9AC2-DBDEAF59C744}"/>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C945AB5C-9A03-4C7D-BC28-8FDA643339A1}"/>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2C6A884F-02FE-4695-AEA7-31E91BA9E0F1}"/>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Keine Beweislast ohne Streit</a:t>
            </a:r>
          </a:p>
        </p:txBody>
      </p:sp>
      <p:sp>
        <p:nvSpPr>
          <p:cNvPr id="20" name="">
            <a:extLst xmlns:a="http://schemas.openxmlformats.org/drawingml/2006/main">
              <a:ext uri="{FF2B5EF4-FFF2-40B4-BE49-F238E27FC236}">
                <a16:creationId xmlns:a16="http://schemas.microsoft.com/office/drawing/2014/main" id="{6F8291FF-F495-4203-A992-ACBEE853E465}"/>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Nur streitige, erhebliche Tatsachen müssen bewiesen werden; unstreitiger Vortrag wird zugrunde gelegt.</a:t>
            </a:r>
          </a:p>
        </p:txBody>
      </p:sp>
      <p:sp>
        <p:nvSpPr>
          <p:cNvPr id="21" name="">
            <a:extLst xmlns:a="http://schemas.openxmlformats.org/drawingml/2006/main">
              <a:ext uri="{FF2B5EF4-FFF2-40B4-BE49-F238E27FC236}">
                <a16:creationId xmlns:a16="http://schemas.microsoft.com/office/drawing/2014/main" id="{30FC727F-CB3D-4730-8BCA-75A69DD4A0CE}"/>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171FE83B-3396-4F8C-B80E-DF1E0E418466}"/>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Beweislast ist nicht die Pflicht, ständig Beweise vorzulegen, sondern das Risiko verbleibender Unaufklärbarkeit.</a:t>
            </a:r>
          </a:p>
        </p:txBody>
      </p:sp>
    </p:spTree>
    <p:extLst>
      <p:ext uri="{BB962C8B-B14F-4D97-AF65-F5344CB8AC3E}">
        <p14:creationId xmlns:p14="http://schemas.microsoft.com/office/powerpoint/2010/main" val="43637646"/>
      </p:ext>
    </p:extLst>
  </p:cSld>
</p:sld>
</file>

<file path=ppt/slides/slide138.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Darlegungslast und Beweislast</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UNTERSCHEIDEN KÖNNEN</a:t>
            </a:r>
            <a:endParaRPr/>
          </a:p>
        </p:txBody>
      </p:sp>
      <p:sp>
        <p:nvSpPr>
          <p:cNvPr id="4" name="">
            <a:extLst xmlns:a="http://schemas.openxmlformats.org/drawingml/2006/main">
              <a:ext uri="{FF2B5EF4-FFF2-40B4-BE49-F238E27FC236}">
                <a16:creationId xmlns:a16="http://schemas.microsoft.com/office/drawing/2014/main" id="{38F0956C-DD8E-43BB-9BB7-9919720A45BA}"/>
              </a:ext>
            </a:extLst>
          </p:cNvPr>
          <p:cNvSpPr>
            <a:spLocks xmlns:a="http://schemas.openxmlformats.org/drawingml/2006/main" noGrp="1"/>
          </p:cNvSpPr>
          <p:nvPr/>
        </p:nvSpPr>
        <p:spPr>
          <a:xfrm xmlns:a="http://schemas.openxmlformats.org/drawingml/2006/main">
            <a:off x="1809750" y="2000250"/>
            <a:ext cx="4619625" cy="3286125"/>
          </a:xfrm>
          <a:prstGeom xmlns:a="http://schemas.openxmlformats.org/drawingml/2006/main" prst="roundRect">
            <a:avLst>
              <a:gd name="adj" fmla="val 2319"/>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3706709A-5DDE-4E19-88A3-6EA290362360}"/>
              </a:ext>
            </a:extLst>
          </p:cNvPr>
          <p:cNvSpPr>
            <a:spLocks xmlns:a="http://schemas.openxmlformats.org/drawingml/2006/main" noGrp="1"/>
          </p:cNvSpPr>
          <p:nvPr/>
        </p:nvSpPr>
        <p:spPr>
          <a:xfrm xmlns:a="http://schemas.openxmlformats.org/drawingml/2006/main">
            <a:off x="1809750" y="2000250"/>
            <a:ext cx="4619625"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EB2739F5-C35C-4351-9C88-CCAFE607038D}"/>
              </a:ext>
            </a:extLst>
          </p:cNvPr>
          <p:cNvSpPr>
            <a:spLocks xmlns:a="http://schemas.openxmlformats.org/drawingml/2006/main" noGrp="1"/>
          </p:cNvSpPr>
          <p:nvPr/>
        </p:nvSpPr>
        <p:spPr>
          <a:xfrm xmlns:a="http://schemas.openxmlformats.org/drawingml/2006/main">
            <a:off x="1962150" y="2133600"/>
            <a:ext cx="4314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75" b="1">
                <a:solidFill>
                  <a:srgbClr val="003F6B"/>
                </a:solidFill>
              </a:defRPr>
            </a:pPr>
            <a:r>
              <a:rPr sz="1575" b="1">
                <a:solidFill>
                  <a:srgbClr val="003F6B"/>
                </a:solidFill>
              </a:rPr>
              <a:t>Darlegung</a:t>
            </a:r>
          </a:p>
        </p:txBody>
      </p:sp>
      <p:sp>
        <p:nvSpPr>
          <p:cNvPr id="7" name="">
            <a:extLst xmlns:a="http://schemas.openxmlformats.org/drawingml/2006/main">
              <a:ext uri="{FF2B5EF4-FFF2-40B4-BE49-F238E27FC236}">
                <a16:creationId xmlns:a16="http://schemas.microsoft.com/office/drawing/2014/main" id="{2667E01E-C7FB-4476-A896-B0F81AB2D254}"/>
              </a:ext>
            </a:extLst>
          </p:cNvPr>
          <p:cNvSpPr>
            <a:spLocks xmlns:a="http://schemas.openxmlformats.org/drawingml/2006/main" noGrp="1"/>
          </p:cNvSpPr>
          <p:nvPr/>
        </p:nvSpPr>
        <p:spPr>
          <a:xfrm xmlns:a="http://schemas.openxmlformats.org/drawingml/2006/main">
            <a:off x="1962150" y="2571750"/>
            <a:ext cx="4314825"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15232B"/>
                </a:solidFill>
              </a:defRPr>
            </a:pPr>
            <a:r>
              <a:rPr sz="1200">
                <a:solidFill>
                  <a:srgbClr val="15232B"/>
                </a:solidFill>
              </a:rPr>
              <a:t>• Parteien müssen tatsächliche Geschehensabläufe konkret behaupten.</a:t>
            </a:r>
          </a:p>
          <a:p xmlns:a="http://schemas.openxmlformats.org/drawingml/2006/main">
            <a:pPr>
              <a:buNone/>
              <a:defRPr sz="1200">
                <a:solidFill>
                  <a:srgbClr val="15232B"/>
                </a:solidFill>
              </a:defRPr>
            </a:pPr>
            <a:r>
              <a:rPr sz="1200">
                <a:solidFill>
                  <a:srgbClr val="15232B"/>
                </a:solidFill>
              </a:rPr>
              <a:t>• Die Patientenseite darf wegen Informationsgefälle zunächst maßvolle Anforderungen erfüllen; die Behandlungsseite muss sich substantiiert erklären.</a:t>
            </a:r>
          </a:p>
          <a:p xmlns:a="http://schemas.openxmlformats.org/drawingml/2006/main">
            <a:pPr>
              <a:buNone/>
              <a:defRPr sz="1200">
                <a:solidFill>
                  <a:srgbClr val="15232B"/>
                </a:solidFill>
              </a:defRPr>
            </a:pPr>
            <a:r>
              <a:rPr sz="1200">
                <a:solidFill>
                  <a:srgbClr val="15232B"/>
                </a:solidFill>
              </a:rPr>
              <a:t>• Unspezifische Wertungen wie „alles falsch“ reichen nicht für jede Frage.</a:t>
            </a:r>
          </a:p>
        </p:txBody>
      </p:sp>
      <p:sp>
        <p:nvSpPr>
          <p:cNvPr id="8" name="">
            <a:extLst xmlns:a="http://schemas.openxmlformats.org/drawingml/2006/main">
              <a:ext uri="{FF2B5EF4-FFF2-40B4-BE49-F238E27FC236}">
                <a16:creationId xmlns:a16="http://schemas.microsoft.com/office/drawing/2014/main" id="{60A775CE-D40D-491A-80D9-5B2D6A7CBF38}"/>
              </a:ext>
            </a:extLst>
          </p:cNvPr>
          <p:cNvSpPr>
            <a:spLocks xmlns:a="http://schemas.openxmlformats.org/drawingml/2006/main" noGrp="1"/>
          </p:cNvSpPr>
          <p:nvPr/>
        </p:nvSpPr>
        <p:spPr>
          <a:xfrm xmlns:a="http://schemas.openxmlformats.org/drawingml/2006/main">
            <a:off x="6715125" y="2000250"/>
            <a:ext cx="4619625" cy="3286125"/>
          </a:xfrm>
          <a:prstGeom xmlns:a="http://schemas.openxmlformats.org/drawingml/2006/main" prst="roundRect">
            <a:avLst>
              <a:gd name="adj" fmla="val 2319"/>
            </a:avLst>
          </a:prstGeom>
          <a:noFill xmlns:a="http://schemas.openxmlformats.org/drawingml/2006/main"/>
          <a:ln xmlns:a="http://schemas.openxmlformats.org/drawingml/2006/main" w="9525">
            <a:solidFill>
              <a:srgbClr val="B9CAD2"/>
            </a:solidFill>
            <a:prstDash val="solid"/>
          </a:ln>
        </p:spPr>
      </p:sp>
      <p:sp>
        <p:nvSpPr>
          <p:cNvPr id="9" name="">
            <a:extLst xmlns:a="http://schemas.openxmlformats.org/drawingml/2006/main">
              <a:ext uri="{FF2B5EF4-FFF2-40B4-BE49-F238E27FC236}">
                <a16:creationId xmlns:a16="http://schemas.microsoft.com/office/drawing/2014/main" id="{19EA7041-D6A5-4E79-B86E-BC793AB93067}"/>
              </a:ext>
            </a:extLst>
          </p:cNvPr>
          <p:cNvSpPr>
            <a:spLocks xmlns:a="http://schemas.openxmlformats.org/drawingml/2006/main" noGrp="1"/>
          </p:cNvSpPr>
          <p:nvPr/>
        </p:nvSpPr>
        <p:spPr>
          <a:xfrm xmlns:a="http://schemas.openxmlformats.org/drawingml/2006/main">
            <a:off x="6715125" y="2000250"/>
            <a:ext cx="4619625"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43026C01-A2B2-43B3-94E6-9A14A1B24EEE}"/>
              </a:ext>
            </a:extLst>
          </p:cNvPr>
          <p:cNvSpPr>
            <a:spLocks xmlns:a="http://schemas.openxmlformats.org/drawingml/2006/main" noGrp="1"/>
          </p:cNvSpPr>
          <p:nvPr/>
        </p:nvSpPr>
        <p:spPr>
          <a:xfrm xmlns:a="http://schemas.openxmlformats.org/drawingml/2006/main">
            <a:off x="6867525" y="2133600"/>
            <a:ext cx="4314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75" b="1">
                <a:solidFill>
                  <a:srgbClr val="003F6B"/>
                </a:solidFill>
              </a:defRPr>
            </a:pPr>
            <a:r>
              <a:rPr sz="1575" b="1">
                <a:solidFill>
                  <a:srgbClr val="003F6B"/>
                </a:solidFill>
              </a:rPr>
              <a:t>Beweis</a:t>
            </a:r>
          </a:p>
        </p:txBody>
      </p:sp>
      <p:sp>
        <p:nvSpPr>
          <p:cNvPr id="11" name="">
            <a:extLst xmlns:a="http://schemas.openxmlformats.org/drawingml/2006/main">
              <a:ext uri="{FF2B5EF4-FFF2-40B4-BE49-F238E27FC236}">
                <a16:creationId xmlns:a16="http://schemas.microsoft.com/office/drawing/2014/main" id="{CF2D7BC2-159C-4521-A39C-469246C6FD20}"/>
              </a:ext>
            </a:extLst>
          </p:cNvPr>
          <p:cNvSpPr>
            <a:spLocks xmlns:a="http://schemas.openxmlformats.org/drawingml/2006/main" noGrp="1"/>
          </p:cNvSpPr>
          <p:nvPr/>
        </p:nvSpPr>
        <p:spPr>
          <a:xfrm xmlns:a="http://schemas.openxmlformats.org/drawingml/2006/main">
            <a:off x="6867525" y="2571750"/>
            <a:ext cx="4314825"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15232B"/>
                </a:solidFill>
              </a:defRPr>
            </a:pPr>
            <a:r>
              <a:rPr sz="1200">
                <a:solidFill>
                  <a:srgbClr val="15232B"/>
                </a:solidFill>
              </a:rPr>
              <a:t>• Erst streitige, erhebliche Tatsachen werden durch zulässige Beweismittel geklärt.</a:t>
            </a:r>
          </a:p>
          <a:p xmlns:a="http://schemas.openxmlformats.org/drawingml/2006/main">
            <a:pPr>
              <a:buNone/>
              <a:defRPr sz="1200">
                <a:solidFill>
                  <a:srgbClr val="15232B"/>
                </a:solidFill>
              </a:defRPr>
            </a:pPr>
            <a:r>
              <a:rPr sz="1200">
                <a:solidFill>
                  <a:srgbClr val="15232B"/>
                </a:solidFill>
              </a:rPr>
              <a:t>• Das Gericht bestimmt das Beweisthema und würdigt das Ergebnis.</a:t>
            </a:r>
          </a:p>
          <a:p xmlns:a="http://schemas.openxmlformats.org/drawingml/2006/main">
            <a:pPr>
              <a:buNone/>
              <a:defRPr sz="1200">
                <a:solidFill>
                  <a:srgbClr val="15232B"/>
                </a:solidFill>
              </a:defRPr>
            </a:pPr>
            <a:r>
              <a:rPr sz="1200">
                <a:solidFill>
                  <a:srgbClr val="15232B"/>
                </a:solidFill>
              </a:rPr>
              <a:t>• Beweislast entscheidet, wenn Überzeugung nicht erreicht wird.</a:t>
            </a:r>
          </a:p>
        </p:txBody>
      </p:sp>
      <p:sp>
        <p:nvSpPr>
          <p:cNvPr id="12" name="">
            <a:extLst xmlns:a="http://schemas.openxmlformats.org/drawingml/2006/main">
              <a:ext uri="{FF2B5EF4-FFF2-40B4-BE49-F238E27FC236}">
                <a16:creationId xmlns:a16="http://schemas.microsoft.com/office/drawing/2014/main" id="{61DC5DF4-DDBC-465C-A677-430C5BE38A01}"/>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13" name="">
            <a:extLst xmlns:a="http://schemas.openxmlformats.org/drawingml/2006/main">
              <a:ext uri="{FF2B5EF4-FFF2-40B4-BE49-F238E27FC236}">
                <a16:creationId xmlns:a16="http://schemas.microsoft.com/office/drawing/2014/main" id="{6E8E747A-4D0D-417C-8E1C-6A0215285905}"/>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Ein Gutachten kann fehlenden Tatsachenvortrag nicht beliebig ersetzen.</a:t>
            </a:r>
          </a:p>
        </p:txBody>
      </p:sp>
    </p:spTree>
    <p:extLst>
      <p:ext uri="{BB962C8B-B14F-4D97-AF65-F5344CB8AC3E}">
        <p14:creationId xmlns:p14="http://schemas.microsoft.com/office/powerpoint/2010/main" val="43637646"/>
      </p:ext>
    </p:extLst>
  </p:cSld>
</p:sld>
</file>

<file path=ppt/slides/slide139.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Das Beweismaß nach § 286 ZPO</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3FBCBF0A-7FA4-4883-88E3-12E08F22DCDE}"/>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Das Gericht muss sich eine persönliche Überzeugung von der Wahrheit streitiger Tatsachen bilden.</a:t>
            </a:r>
          </a:p>
        </p:txBody>
      </p:sp>
      <p:sp>
        <p:nvSpPr>
          <p:cNvPr id="5" name="">
            <a:extLst xmlns:a="http://schemas.openxmlformats.org/drawingml/2006/main">
              <a:ext uri="{FF2B5EF4-FFF2-40B4-BE49-F238E27FC236}">
                <a16:creationId xmlns:a16="http://schemas.microsoft.com/office/drawing/2014/main" id="{53DDACD8-612A-41A8-9D4F-BBC8C194C882}"/>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96051F76-7863-4738-BAF7-2F3A5761FAEC}"/>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E2A3397C-E185-4899-ADB8-80CC13FE609E}"/>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Keine mathematische Gewissheit</a:t>
            </a:r>
          </a:p>
        </p:txBody>
      </p:sp>
      <p:sp>
        <p:nvSpPr>
          <p:cNvPr id="8" name="">
            <a:extLst xmlns:a="http://schemas.openxmlformats.org/drawingml/2006/main">
              <a:ext uri="{FF2B5EF4-FFF2-40B4-BE49-F238E27FC236}">
                <a16:creationId xmlns:a16="http://schemas.microsoft.com/office/drawing/2014/main" id="{D7AA7307-142B-4670-8423-6FEF0CBD0B90}"/>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Erforderlich ist ein für das praktische Leben brauchbarer Grad an Gewissheit, der vernünftigen Zweifeln Schweigen gebietet.</a:t>
            </a:r>
          </a:p>
        </p:txBody>
      </p:sp>
      <p:sp>
        <p:nvSpPr>
          <p:cNvPr id="9" name="">
            <a:extLst xmlns:a="http://schemas.openxmlformats.org/drawingml/2006/main">
              <a:ext uri="{FF2B5EF4-FFF2-40B4-BE49-F238E27FC236}">
                <a16:creationId xmlns:a16="http://schemas.microsoft.com/office/drawing/2014/main" id="{8222E82C-6258-4291-B316-BA458CF13086}"/>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5F658BB3-52AE-47C4-B662-D30F0A2DDDE7}"/>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24AF8F7B-E2C4-4139-87B6-6659C69A6832}"/>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Gesamtschau</a:t>
            </a:r>
          </a:p>
        </p:txBody>
      </p:sp>
      <p:sp>
        <p:nvSpPr>
          <p:cNvPr id="12" name="">
            <a:extLst xmlns:a="http://schemas.openxmlformats.org/drawingml/2006/main">
              <a:ext uri="{FF2B5EF4-FFF2-40B4-BE49-F238E27FC236}">
                <a16:creationId xmlns:a16="http://schemas.microsoft.com/office/drawing/2014/main" id="{DC3FA3F1-20CE-4A11-BE70-F9AC54433998}"/>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Akte, Zeugenaussagen, Gutachten, Parteivortrag und Indizien werden gemeinsam gewürdigt.</a:t>
            </a:r>
          </a:p>
        </p:txBody>
      </p:sp>
      <p:sp>
        <p:nvSpPr>
          <p:cNvPr id="13" name="">
            <a:extLst xmlns:a="http://schemas.openxmlformats.org/drawingml/2006/main">
              <a:ext uri="{FF2B5EF4-FFF2-40B4-BE49-F238E27FC236}">
                <a16:creationId xmlns:a16="http://schemas.microsoft.com/office/drawing/2014/main" id="{F8EA0CCD-39F2-4929-B399-46613BCFEEA6}"/>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303E96CD-048B-4EE5-ACE3-3F358FCCABAA}"/>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055852DC-8086-4A31-80F8-ED2184195A1D}"/>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Begründung</a:t>
            </a:r>
          </a:p>
        </p:txBody>
      </p:sp>
      <p:sp>
        <p:nvSpPr>
          <p:cNvPr id="16" name="">
            <a:extLst xmlns:a="http://schemas.openxmlformats.org/drawingml/2006/main">
              <a:ext uri="{FF2B5EF4-FFF2-40B4-BE49-F238E27FC236}">
                <a16:creationId xmlns:a16="http://schemas.microsoft.com/office/drawing/2014/main" id="{F389A170-E102-4E2C-AFF1-D4FB4F7D41D8}"/>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Das Urteil muss erkennen lassen, weshalb das Gericht überzeugt oder nicht überzeugt ist.</a:t>
            </a:r>
          </a:p>
        </p:txBody>
      </p:sp>
      <p:sp>
        <p:nvSpPr>
          <p:cNvPr id="17" name="">
            <a:extLst xmlns:a="http://schemas.openxmlformats.org/drawingml/2006/main">
              <a:ext uri="{FF2B5EF4-FFF2-40B4-BE49-F238E27FC236}">
                <a16:creationId xmlns:a16="http://schemas.microsoft.com/office/drawing/2014/main" id="{926A54DB-0295-487B-A7D0-6E358BB3D3A9}"/>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B698466E-AE6E-4EFB-8911-8C81AB872048}"/>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870D7820-3A68-498A-9BDF-F27B46ED7DFB}"/>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Beweislastfolge</a:t>
            </a:r>
          </a:p>
        </p:txBody>
      </p:sp>
      <p:sp>
        <p:nvSpPr>
          <p:cNvPr id="20" name="">
            <a:extLst xmlns:a="http://schemas.openxmlformats.org/drawingml/2006/main">
              <a:ext uri="{FF2B5EF4-FFF2-40B4-BE49-F238E27FC236}">
                <a16:creationId xmlns:a16="http://schemas.microsoft.com/office/drawing/2014/main" id="{07070DD8-480F-4E14-ABE4-A704409D0450}"/>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Kann die Überzeugung nicht gewonnen werden, unterliegt die beweisbelastete Partei zu diesem Punkt.</a:t>
            </a:r>
          </a:p>
        </p:txBody>
      </p:sp>
      <p:sp>
        <p:nvSpPr>
          <p:cNvPr id="21" name="">
            <a:extLst xmlns:a="http://schemas.openxmlformats.org/drawingml/2006/main">
              <a:ext uri="{FF2B5EF4-FFF2-40B4-BE49-F238E27FC236}">
                <a16:creationId xmlns:a16="http://schemas.microsoft.com/office/drawing/2014/main" id="{EA5BBE16-C51D-4458-A6A6-F0AD8A317260}"/>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41B2F772-C5E0-4606-9274-62E7104FDF79}"/>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„Wahrscheinlich“ und „bewiesen“ sind nicht identisch; das erforderliche Beweismaß hängt von der Rechtsfrage ab.</a:t>
            </a:r>
          </a:p>
        </p:txBody>
      </p:sp>
    </p:spTree>
    <p:extLst>
      <p:ext uri="{BB962C8B-B14F-4D97-AF65-F5344CB8AC3E}">
        <p14:creationId xmlns:p14="http://schemas.microsoft.com/office/powerpoint/2010/main" val="43637646"/>
      </p:ext>
    </p:extLst>
  </p:cSld>
</p:sld>
</file>

<file path=ppt/slides/slide140.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 287 ZPO: Schaden und Schadenshöhe</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56DA47F1-8C17-4E2D-B502-BF2214A86AA5}"/>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Für Schadensentstehung und -höhe erlaubt § 287 ZPO dem Gericht eine freiere Überzeugungsbildung und Schätzung.</a:t>
            </a:r>
          </a:p>
        </p:txBody>
      </p:sp>
      <p:sp>
        <p:nvSpPr>
          <p:cNvPr id="5" name="">
            <a:extLst xmlns:a="http://schemas.openxmlformats.org/drawingml/2006/main">
              <a:ext uri="{FF2B5EF4-FFF2-40B4-BE49-F238E27FC236}">
                <a16:creationId xmlns:a16="http://schemas.microsoft.com/office/drawing/2014/main" id="{EC019564-E8D4-460B-B94F-F16902BA56B5}"/>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A01F1BA4-D5D7-4F70-B293-361748C53CB5}"/>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70575A3E-F30E-47BE-B567-D87AB181EA18}"/>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Anwendungsbereich</a:t>
            </a:r>
          </a:p>
        </p:txBody>
      </p:sp>
      <p:sp>
        <p:nvSpPr>
          <p:cNvPr id="8" name="">
            <a:extLst xmlns:a="http://schemas.openxmlformats.org/drawingml/2006/main">
              <a:ext uri="{FF2B5EF4-FFF2-40B4-BE49-F238E27FC236}">
                <a16:creationId xmlns:a16="http://schemas.microsoft.com/office/drawing/2014/main" id="{05A7518D-3404-4F2D-8089-EE01010237E4}"/>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Die Norm betrifft insbesondere die Höhe eines bereits dem Grunde nach zurechenbaren Schadens und bestimmte Kausalitätsfragen.</a:t>
            </a:r>
          </a:p>
        </p:txBody>
      </p:sp>
      <p:sp>
        <p:nvSpPr>
          <p:cNvPr id="9" name="">
            <a:extLst xmlns:a="http://schemas.openxmlformats.org/drawingml/2006/main">
              <a:ext uri="{FF2B5EF4-FFF2-40B4-BE49-F238E27FC236}">
                <a16:creationId xmlns:a16="http://schemas.microsoft.com/office/drawing/2014/main" id="{00EADE6D-70EA-4D38-BB59-657C98C2173F}"/>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9DC84C75-C6AA-49FB-A503-B0180D6E11CA}"/>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AB548A1B-B9A8-4448-B65C-01D6080BD776}"/>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Tatsachengrundlage nötig</a:t>
            </a:r>
          </a:p>
        </p:txBody>
      </p:sp>
      <p:sp>
        <p:nvSpPr>
          <p:cNvPr id="12" name="">
            <a:extLst xmlns:a="http://schemas.openxmlformats.org/drawingml/2006/main">
              <a:ext uri="{FF2B5EF4-FFF2-40B4-BE49-F238E27FC236}">
                <a16:creationId xmlns:a16="http://schemas.microsoft.com/office/drawing/2014/main" id="{A18BB088-35B0-4D4E-BEAF-13282E12D7D3}"/>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Schätzung bedeutet nicht freie Erfindung; es müssen belastbare Anknüpfungstatsachen vorgetragen werden.</a:t>
            </a:r>
          </a:p>
        </p:txBody>
      </p:sp>
      <p:sp>
        <p:nvSpPr>
          <p:cNvPr id="13" name="">
            <a:extLst xmlns:a="http://schemas.openxmlformats.org/drawingml/2006/main">
              <a:ext uri="{FF2B5EF4-FFF2-40B4-BE49-F238E27FC236}">
                <a16:creationId xmlns:a16="http://schemas.microsoft.com/office/drawing/2014/main" id="{E5E178DC-4304-4D61-AE28-A25F3550A486}"/>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8E5390C7-D490-458B-A0CE-E8E8F7E5D0FD}"/>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64BB72DF-A3C5-490A-B65A-3AAFE1B5B6FB}"/>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Geringere Anforderungen</a:t>
            </a:r>
          </a:p>
        </p:txBody>
      </p:sp>
      <p:sp>
        <p:nvSpPr>
          <p:cNvPr id="16" name="">
            <a:extLst xmlns:a="http://schemas.openxmlformats.org/drawingml/2006/main">
              <a:ext uri="{FF2B5EF4-FFF2-40B4-BE49-F238E27FC236}">
                <a16:creationId xmlns:a16="http://schemas.microsoft.com/office/drawing/2014/main" id="{3D7226A5-B018-4E08-A4A9-19541BB07356}"/>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Das Gericht darf Wahrscheinlichkeiten stärker nutzen als im Vollbeweis nach § 286 ZPO.</a:t>
            </a:r>
          </a:p>
        </p:txBody>
      </p:sp>
      <p:sp>
        <p:nvSpPr>
          <p:cNvPr id="17" name="">
            <a:extLst xmlns:a="http://schemas.openxmlformats.org/drawingml/2006/main">
              <a:ext uri="{FF2B5EF4-FFF2-40B4-BE49-F238E27FC236}">
                <a16:creationId xmlns:a16="http://schemas.microsoft.com/office/drawing/2014/main" id="{A29EDD4A-8B72-40CB-8977-2A8CE88550FD}"/>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44F57A9E-A544-4FF4-AC21-D78CF5662F58}"/>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A344C2CF-9318-4791-B9E7-8636FAFA72C2}"/>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Abgrenzung</a:t>
            </a:r>
          </a:p>
        </p:txBody>
      </p:sp>
      <p:sp>
        <p:nvSpPr>
          <p:cNvPr id="20" name="">
            <a:extLst xmlns:a="http://schemas.openxmlformats.org/drawingml/2006/main">
              <a:ext uri="{FF2B5EF4-FFF2-40B4-BE49-F238E27FC236}">
                <a16:creationId xmlns:a16="http://schemas.microsoft.com/office/drawing/2014/main" id="{E8706FF0-CCBE-4594-9678-9E1B2CDE526B}"/>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Ob überhaupt eine haftungsbegründende Primärverletzung vorliegt, bleibt regelmäßig § 286 ZPO unterstellt.</a:t>
            </a:r>
          </a:p>
        </p:txBody>
      </p:sp>
      <p:sp>
        <p:nvSpPr>
          <p:cNvPr id="21" name="">
            <a:extLst xmlns:a="http://schemas.openxmlformats.org/drawingml/2006/main">
              <a:ext uri="{FF2B5EF4-FFF2-40B4-BE49-F238E27FC236}">
                <a16:creationId xmlns:a16="http://schemas.microsoft.com/office/drawing/2014/main" id="{D5CFC606-A099-4D45-AE25-BCE84CF21688}"/>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445A8609-136F-457D-83CC-616BEDEA9C9F}"/>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 287 ZPO erleichtert die Quantifizierung, beseitigt aber nicht die Pflicht zu konkretem Tatsachenvortrag.</a:t>
            </a:r>
          </a:p>
        </p:txBody>
      </p:sp>
    </p:spTree>
    <p:extLst>
      <p:ext uri="{BB962C8B-B14F-4D97-AF65-F5344CB8AC3E}">
        <p14:creationId xmlns:p14="http://schemas.microsoft.com/office/powerpoint/2010/main" val="43637646"/>
      </p:ext>
    </p:extLst>
  </p:cSld>
</p:sld>
</file>

<file path=ppt/slides/slide141.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Die fünf klassischen Beweismittel</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FF472048-29A1-46DA-8C47-7E1092B70AF6}"/>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Der Zivilprozess kennt unterschiedliche Beweismittel; in Arzthaftungssachen dominiert oft der Sachverständigenbeweis.</a:t>
            </a:r>
          </a:p>
        </p:txBody>
      </p:sp>
      <p:sp>
        <p:nvSpPr>
          <p:cNvPr id="5" name="">
            <a:extLst xmlns:a="http://schemas.openxmlformats.org/drawingml/2006/main">
              <a:ext uri="{FF2B5EF4-FFF2-40B4-BE49-F238E27FC236}">
                <a16:creationId xmlns:a16="http://schemas.microsoft.com/office/drawing/2014/main" id="{27406AC1-76C8-4988-9C7A-46A29CF6826D}"/>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6A26672B-D82B-4777-A8AA-11AFF465C5D7}"/>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1167468D-3623-4805-AA3A-FD8145B55F2C}"/>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Zeugen</a:t>
            </a:r>
          </a:p>
        </p:txBody>
      </p:sp>
      <p:sp>
        <p:nvSpPr>
          <p:cNvPr id="8" name="">
            <a:extLst xmlns:a="http://schemas.openxmlformats.org/drawingml/2006/main">
              <a:ext uri="{FF2B5EF4-FFF2-40B4-BE49-F238E27FC236}">
                <a16:creationId xmlns:a16="http://schemas.microsoft.com/office/drawing/2014/main" id="{FD59CC8F-C89D-4E02-8A2C-73C5A0250182}"/>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Sie berichten eigene Wahrnehmungen, nicht medizinische Sollstandards. Erinnerung, Wahrnehmungsbedingungen und Widersprüche werden gewürdigt.</a:t>
            </a:r>
          </a:p>
        </p:txBody>
      </p:sp>
      <p:sp>
        <p:nvSpPr>
          <p:cNvPr id="9" name="">
            <a:extLst xmlns:a="http://schemas.openxmlformats.org/drawingml/2006/main">
              <a:ext uri="{FF2B5EF4-FFF2-40B4-BE49-F238E27FC236}">
                <a16:creationId xmlns:a16="http://schemas.microsoft.com/office/drawing/2014/main" id="{37166012-87CD-4C3C-B7D5-00EFE249F3BE}"/>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FD9D793D-7E99-4D94-A35F-4D53CEE18973}"/>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E2CE6DB3-2A69-4C3E-9BE1-62B606B13EA4}"/>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Sachverständige</a:t>
            </a:r>
          </a:p>
        </p:txBody>
      </p:sp>
      <p:sp>
        <p:nvSpPr>
          <p:cNvPr id="12" name="">
            <a:extLst xmlns:a="http://schemas.openxmlformats.org/drawingml/2006/main">
              <a:ext uri="{FF2B5EF4-FFF2-40B4-BE49-F238E27FC236}">
                <a16:creationId xmlns:a16="http://schemas.microsoft.com/office/drawing/2014/main" id="{6EF25424-2B4C-4A66-A899-D13C630CB4D1}"/>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Sie vermitteln Fachwissen und beantworten medizinische Beweisfragen; sie ersetzen nicht die rechtliche Entscheidung.</a:t>
            </a:r>
          </a:p>
        </p:txBody>
      </p:sp>
      <p:sp>
        <p:nvSpPr>
          <p:cNvPr id="13" name="">
            <a:extLst xmlns:a="http://schemas.openxmlformats.org/drawingml/2006/main">
              <a:ext uri="{FF2B5EF4-FFF2-40B4-BE49-F238E27FC236}">
                <a16:creationId xmlns:a16="http://schemas.microsoft.com/office/drawing/2014/main" id="{E6DF0A4F-B9E4-4797-AB58-555B7563EFE6}"/>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327FC0EE-CC96-4A6A-93C0-868A8B2F8666}"/>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069CFDEC-2C2A-4F14-9458-03EB0563AFF1}"/>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Urkunden</a:t>
            </a:r>
          </a:p>
        </p:txBody>
      </p:sp>
      <p:sp>
        <p:nvSpPr>
          <p:cNvPr id="16" name="">
            <a:extLst xmlns:a="http://schemas.openxmlformats.org/drawingml/2006/main">
              <a:ext uri="{FF2B5EF4-FFF2-40B4-BE49-F238E27FC236}">
                <a16:creationId xmlns:a16="http://schemas.microsoft.com/office/drawing/2014/main" id="{596F830A-EB73-4C3C-9580-FA78E2E969C4}"/>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Behandlungsakte, Briefe und Formulare können verkörperte Erklärungen beweisen; Inhalt und Beweiswert sind zu unterscheiden.</a:t>
            </a:r>
          </a:p>
        </p:txBody>
      </p:sp>
      <p:sp>
        <p:nvSpPr>
          <p:cNvPr id="17" name="">
            <a:extLst xmlns:a="http://schemas.openxmlformats.org/drawingml/2006/main">
              <a:ext uri="{FF2B5EF4-FFF2-40B4-BE49-F238E27FC236}">
                <a16:creationId xmlns:a16="http://schemas.microsoft.com/office/drawing/2014/main" id="{24566638-E84C-47A2-BD15-E5FC9EC45913}"/>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0BC6C721-7A93-4333-9B0C-5F135A39DE5F}"/>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7C4FD6AC-5804-4595-A6EC-14961EA426F6}"/>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Augenschein und Partei</a:t>
            </a:r>
          </a:p>
        </p:txBody>
      </p:sp>
      <p:sp>
        <p:nvSpPr>
          <p:cNvPr id="20" name="">
            <a:extLst xmlns:a="http://schemas.openxmlformats.org/drawingml/2006/main">
              <a:ext uri="{FF2B5EF4-FFF2-40B4-BE49-F238E27FC236}">
                <a16:creationId xmlns:a16="http://schemas.microsoft.com/office/drawing/2014/main" id="{E4DAE71D-8FEC-4130-BB80-44B0661E0A9D}"/>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Das Gericht kann Gegenstände oder Zustände wahrnehmen; Parteivernehmung ist unter besonderen Voraussetzungen möglich.</a:t>
            </a:r>
          </a:p>
        </p:txBody>
      </p:sp>
      <p:sp>
        <p:nvSpPr>
          <p:cNvPr id="21" name="">
            <a:extLst xmlns:a="http://schemas.openxmlformats.org/drawingml/2006/main">
              <a:ext uri="{FF2B5EF4-FFF2-40B4-BE49-F238E27FC236}">
                <a16:creationId xmlns:a16="http://schemas.microsoft.com/office/drawing/2014/main" id="{C5825591-587F-444C-BCB3-47B60923847F}"/>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631C9BCA-6CD5-4C44-9ECF-CBD467ACB516}"/>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Für jede streitige Tatsache wird das passende Beweismittel benannt.</a:t>
            </a:r>
          </a:p>
        </p:txBody>
      </p:sp>
    </p:spTree>
    <p:extLst>
      <p:ext uri="{BB962C8B-B14F-4D97-AF65-F5344CB8AC3E}">
        <p14:creationId xmlns:p14="http://schemas.microsoft.com/office/powerpoint/2010/main" val="43637646"/>
      </p:ext>
    </p:extLst>
  </p:cSld>
</p:sld>
</file>

<file path=ppt/slides/slide142.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Die Patientenakte als Beweismittel</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950F7F94-81CA-495C-9315-B2F63F61FD57}"/>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Die Akte ist zentral, aber kein unfehlbares Protokoll der Wirklichkeit.</a:t>
            </a:r>
          </a:p>
        </p:txBody>
      </p:sp>
      <p:sp>
        <p:nvSpPr>
          <p:cNvPr id="5" name="">
            <a:extLst xmlns:a="http://schemas.openxmlformats.org/drawingml/2006/main">
              <a:ext uri="{FF2B5EF4-FFF2-40B4-BE49-F238E27FC236}">
                <a16:creationId xmlns:a16="http://schemas.microsoft.com/office/drawing/2014/main" id="{968F7EE2-67D1-4B15-9520-FC049B8347C0}"/>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65C12509-D113-4822-942F-E10DD93CACD2}"/>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E3C46948-1CC7-4D42-B845-0055BBDF6A23}"/>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Dokumentierter Befund</a:t>
            </a:r>
          </a:p>
        </p:txBody>
      </p:sp>
      <p:sp>
        <p:nvSpPr>
          <p:cNvPr id="8" name="">
            <a:extLst xmlns:a="http://schemas.openxmlformats.org/drawingml/2006/main">
              <a:ext uri="{FF2B5EF4-FFF2-40B4-BE49-F238E27FC236}">
                <a16:creationId xmlns:a16="http://schemas.microsoft.com/office/drawing/2014/main" id="{92EC18F8-685F-4500-8C82-5B8D12E0BE72}"/>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Zeitnahe fachliche Einträge können erhebliches Gewicht haben, werden aber im Kontext geprüft.</a:t>
            </a:r>
          </a:p>
        </p:txBody>
      </p:sp>
      <p:sp>
        <p:nvSpPr>
          <p:cNvPr id="9" name="">
            <a:extLst xmlns:a="http://schemas.openxmlformats.org/drawingml/2006/main">
              <a:ext uri="{FF2B5EF4-FFF2-40B4-BE49-F238E27FC236}">
                <a16:creationId xmlns:a16="http://schemas.microsoft.com/office/drawing/2014/main" id="{809DE60D-075F-4997-A1CC-66CE3230F9CF}"/>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12D49738-8D96-4A57-B21B-4435EE41F64E}"/>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003394CE-61B2-4A69-864F-57438FD14714}"/>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Dokumentationslücke</a:t>
            </a:r>
          </a:p>
        </p:txBody>
      </p:sp>
      <p:sp>
        <p:nvSpPr>
          <p:cNvPr id="12" name="">
            <a:extLst xmlns:a="http://schemas.openxmlformats.org/drawingml/2006/main">
              <a:ext uri="{FF2B5EF4-FFF2-40B4-BE49-F238E27FC236}">
                <a16:creationId xmlns:a16="http://schemas.microsoft.com/office/drawing/2014/main" id="{85661BE1-082D-47EF-AAEB-A6CAE4233C2B}"/>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Bei einer wesentlichen, dokumentationspflichtigen Maßnahme kann § 630h Abs. 3 BGB die Nichtdurchführung vermuten.</a:t>
            </a:r>
          </a:p>
        </p:txBody>
      </p:sp>
      <p:sp>
        <p:nvSpPr>
          <p:cNvPr id="13" name="">
            <a:extLst xmlns:a="http://schemas.openxmlformats.org/drawingml/2006/main">
              <a:ext uri="{FF2B5EF4-FFF2-40B4-BE49-F238E27FC236}">
                <a16:creationId xmlns:a16="http://schemas.microsoft.com/office/drawing/2014/main" id="{C45679CA-8A62-44AE-BE87-9BF1756E80A4}"/>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4B6A1F8A-484F-4639-940D-CFCF7A98519D}"/>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07620CE8-708C-4DD4-B23E-A84ECF1CF7A9}"/>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Widerspruch</a:t>
            </a:r>
          </a:p>
        </p:txBody>
      </p:sp>
      <p:sp>
        <p:nvSpPr>
          <p:cNvPr id="16" name="">
            <a:extLst xmlns:a="http://schemas.openxmlformats.org/drawingml/2006/main">
              <a:ext uri="{FF2B5EF4-FFF2-40B4-BE49-F238E27FC236}">
                <a16:creationId xmlns:a16="http://schemas.microsoft.com/office/drawing/2014/main" id="{091D21A1-9FF2-4EC9-9A32-B73AB6DEFC93}"/>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Widersprüche zu Bilddaten, Kurven, Metadaten oder Zeugenaussagen mindern den Beweiswert.</a:t>
            </a:r>
          </a:p>
        </p:txBody>
      </p:sp>
      <p:sp>
        <p:nvSpPr>
          <p:cNvPr id="17" name="">
            <a:extLst xmlns:a="http://schemas.openxmlformats.org/drawingml/2006/main">
              <a:ext uri="{FF2B5EF4-FFF2-40B4-BE49-F238E27FC236}">
                <a16:creationId xmlns:a16="http://schemas.microsoft.com/office/drawing/2014/main" id="{42016502-77F2-429B-B704-B68A01E77CC1}"/>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17ACE159-B2CE-4C73-925A-C9102456843E}"/>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A495F651-FA9A-455D-AD66-4C9550DCF7FA}"/>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Änderungshistorie</a:t>
            </a:r>
          </a:p>
        </p:txBody>
      </p:sp>
      <p:sp>
        <p:nvSpPr>
          <p:cNvPr id="20" name="">
            <a:extLst xmlns:a="http://schemas.openxmlformats.org/drawingml/2006/main">
              <a:ext uri="{FF2B5EF4-FFF2-40B4-BE49-F238E27FC236}">
                <a16:creationId xmlns:a16="http://schemas.microsoft.com/office/drawing/2014/main" id="{1381E388-35C7-4148-8E8B-0142CED7E2B6}"/>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Elektronische Protokolle können zeigen, wann Inhalte angelegt oder geändert wurden; technische Systeme sind zu erklären.</a:t>
            </a:r>
          </a:p>
        </p:txBody>
      </p:sp>
      <p:sp>
        <p:nvSpPr>
          <p:cNvPr id="21" name="">
            <a:extLst xmlns:a="http://schemas.openxmlformats.org/drawingml/2006/main">
              <a:ext uri="{FF2B5EF4-FFF2-40B4-BE49-F238E27FC236}">
                <a16:creationId xmlns:a16="http://schemas.microsoft.com/office/drawing/2014/main" id="{E7B57869-898E-47CC-9689-E938F9C83892}"/>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DE631D1D-26B9-4BD8-B9C7-7B572F8C90C9}"/>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Die Akte beantwortet nicht automatisch, was geschehen ist; sie ist Teil einer Beweisgesamtschau.</a:t>
            </a:r>
          </a:p>
        </p:txBody>
      </p:sp>
    </p:spTree>
    <p:extLst>
      <p:ext uri="{BB962C8B-B14F-4D97-AF65-F5344CB8AC3E}">
        <p14:creationId xmlns:p14="http://schemas.microsoft.com/office/powerpoint/2010/main" val="43637646"/>
      </p:ext>
    </p:extLst>
  </p:cSld>
</p:sld>
</file>

<file path=ppt/slides/slide143.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Sachverständige: Aufgabe und Grenzen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919AC9F2-5F95-4FB2-A19C-5AD58FFFE3D7}"/>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Medizinische Fachkunde ist unverzichtbar, aber der Sachverständige bleibt Helfer des Gerichts.</a:t>
            </a:r>
          </a:p>
        </p:txBody>
      </p:sp>
      <p:sp>
        <p:nvSpPr>
          <p:cNvPr id="5" name="">
            <a:extLst xmlns:a="http://schemas.openxmlformats.org/drawingml/2006/main">
              <a:ext uri="{FF2B5EF4-FFF2-40B4-BE49-F238E27FC236}">
                <a16:creationId xmlns:a16="http://schemas.microsoft.com/office/drawing/2014/main" id="{D8D29824-4C18-431B-92B4-88958846E04C}"/>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5B474295-655E-4101-9EE0-86688F9DD981}"/>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262771B4-A85C-47CC-9549-C438770F55BB}"/>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Aufgabe</a:t>
            </a:r>
          </a:p>
        </p:txBody>
      </p:sp>
      <p:sp>
        <p:nvSpPr>
          <p:cNvPr id="8" name="">
            <a:extLst xmlns:a="http://schemas.openxmlformats.org/drawingml/2006/main">
              <a:ext uri="{FF2B5EF4-FFF2-40B4-BE49-F238E27FC236}">
                <a16:creationId xmlns:a16="http://schemas.microsoft.com/office/drawing/2014/main" id="{087C5069-5C4E-46B9-AC9D-2DD1457D3182}"/>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Er beschreibt Standard, medizinische Befunde, Handlungsoptionen und Kausalzusammenhänge auf Basis des Beweisbeschlusses.</a:t>
            </a:r>
          </a:p>
        </p:txBody>
      </p:sp>
      <p:sp>
        <p:nvSpPr>
          <p:cNvPr id="9" name="">
            <a:extLst xmlns:a="http://schemas.openxmlformats.org/drawingml/2006/main">
              <a:ext uri="{FF2B5EF4-FFF2-40B4-BE49-F238E27FC236}">
                <a16:creationId xmlns:a16="http://schemas.microsoft.com/office/drawing/2014/main" id="{3C2FE067-A7D8-4343-A18F-82214E54E513}"/>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41C4816D-8555-493A-BC3B-3C8849ABA952}"/>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40509C78-F8FA-4AA9-9949-54680F7A4EAA}"/>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Keine Rechtsentscheidung</a:t>
            </a:r>
          </a:p>
        </p:txBody>
      </p:sp>
      <p:sp>
        <p:nvSpPr>
          <p:cNvPr id="12" name="">
            <a:extLst xmlns:a="http://schemas.openxmlformats.org/drawingml/2006/main">
              <a:ext uri="{FF2B5EF4-FFF2-40B4-BE49-F238E27FC236}">
                <a16:creationId xmlns:a16="http://schemas.microsoft.com/office/drawing/2014/main" id="{9D39C84D-5A99-4087-87CA-57A88047AD3D}"/>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Ob ein Anspruch besteht, ein Fehler „grob“ im Rechtssinn ist oder eine Partei gewinnt, entscheidet das Gericht.</a:t>
            </a:r>
          </a:p>
        </p:txBody>
      </p:sp>
      <p:sp>
        <p:nvSpPr>
          <p:cNvPr id="13" name="">
            <a:extLst xmlns:a="http://schemas.openxmlformats.org/drawingml/2006/main">
              <a:ext uri="{FF2B5EF4-FFF2-40B4-BE49-F238E27FC236}">
                <a16:creationId xmlns:a16="http://schemas.microsoft.com/office/drawing/2014/main" id="{07A3B78B-45E8-49A6-9BCE-ABB29246080C}"/>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9DB48AA9-C9E4-472A-8828-CCFB6B062388}"/>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8AB004BA-1A3A-40F0-83FB-3F833879265F}"/>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Anknüpfungstatsachen</a:t>
            </a:r>
          </a:p>
        </p:txBody>
      </p:sp>
      <p:sp>
        <p:nvSpPr>
          <p:cNvPr id="16" name="">
            <a:extLst xmlns:a="http://schemas.openxmlformats.org/drawingml/2006/main">
              <a:ext uri="{FF2B5EF4-FFF2-40B4-BE49-F238E27FC236}">
                <a16:creationId xmlns:a16="http://schemas.microsoft.com/office/drawing/2014/main" id="{D73E6E69-CCB6-463C-B981-18E960B9AE6B}"/>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Das Gutachten muss kenntlich machen, welche Tatsachen als gegeben unterstellt werden und wie alternative Sachverhalte wirken.</a:t>
            </a:r>
          </a:p>
        </p:txBody>
      </p:sp>
      <p:sp>
        <p:nvSpPr>
          <p:cNvPr id="17" name="">
            <a:extLst xmlns:a="http://schemas.openxmlformats.org/drawingml/2006/main">
              <a:ext uri="{FF2B5EF4-FFF2-40B4-BE49-F238E27FC236}">
                <a16:creationId xmlns:a16="http://schemas.microsoft.com/office/drawing/2014/main" id="{AE44358F-4BBD-4D4F-B0AD-26E2FD1B7E69}"/>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544C944B-95EB-4C30-98C6-BA85ADB7DF6A}"/>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B02F044E-A285-49DC-B9FE-921466F3A426}"/>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Transparenz</a:t>
            </a:r>
          </a:p>
        </p:txBody>
      </p:sp>
      <p:sp>
        <p:nvSpPr>
          <p:cNvPr id="20" name="">
            <a:extLst xmlns:a="http://schemas.openxmlformats.org/drawingml/2006/main">
              <a:ext uri="{FF2B5EF4-FFF2-40B4-BE49-F238E27FC236}">
                <a16:creationId xmlns:a16="http://schemas.microsoft.com/office/drawing/2014/main" id="{7C805710-636D-447E-A9DC-9336ED44DBFC}"/>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Methode, Fachgebiet, Literaturbezug und Unsicherheiten müssen nachvollziehbar sein.</a:t>
            </a:r>
          </a:p>
        </p:txBody>
      </p:sp>
      <p:sp>
        <p:nvSpPr>
          <p:cNvPr id="21" name="">
            <a:extLst xmlns:a="http://schemas.openxmlformats.org/drawingml/2006/main">
              <a:ext uri="{FF2B5EF4-FFF2-40B4-BE49-F238E27FC236}">
                <a16:creationId xmlns:a16="http://schemas.microsoft.com/office/drawing/2014/main" id="{4D9DB775-ED5F-4D14-9760-655DFCFB4D88}"/>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2037CB2D-7CA3-4EEA-B84F-5D7C2A47A7FA}"/>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Ein gutes Gutachten beantwortet präzise medizinische Fragen und zeigt Grenzen der Aussagekraft offen.</a:t>
            </a:r>
          </a:p>
        </p:txBody>
      </p:sp>
    </p:spTree>
    <p:extLst>
      <p:ext uri="{BB962C8B-B14F-4D97-AF65-F5344CB8AC3E}">
        <p14:creationId xmlns:p14="http://schemas.microsoft.com/office/powerpoint/2010/main" val="43637646"/>
      </p:ext>
    </p:extLst>
  </p:cSld>
</p:sld>
</file>

<file path=ppt/slides/slide144.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Ein Gutachten kritisch lesen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PRÜFUNGSSCHEMA · QUALITÄTSCHECK</a:t>
            </a:r>
            <a:endParaRPr/>
          </a:p>
        </p:txBody>
      </p:sp>
      <p:sp>
        <p:nvSpPr>
          <p:cNvPr id="4" name="">
            <a:extLst xmlns:a="http://schemas.openxmlformats.org/drawingml/2006/main">
              <a:ext uri="{FF2B5EF4-FFF2-40B4-BE49-F238E27FC236}">
                <a16:creationId xmlns:a16="http://schemas.microsoft.com/office/drawing/2014/main" id="{3525E98A-C26D-4831-8A71-AE4858FCA56C}"/>
              </a:ext>
            </a:extLst>
          </p:cNvPr>
          <p:cNvSpPr>
            <a:spLocks xmlns:a="http://schemas.openxmlformats.org/drawingml/2006/main" noGrp="1"/>
          </p:cNvSpPr>
          <p:nvPr/>
        </p:nvSpPr>
        <p:spPr>
          <a:xfrm xmlns:a="http://schemas.openxmlformats.org/drawingml/2006/main">
            <a:off x="1809750" y="195262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1E7EC75A-EB0E-40C8-8E72-2C9EB5F0C36A}"/>
              </a:ext>
            </a:extLst>
          </p:cNvPr>
          <p:cNvSpPr>
            <a:spLocks xmlns:a="http://schemas.openxmlformats.org/drawingml/2006/main" noGrp="1"/>
          </p:cNvSpPr>
          <p:nvPr/>
        </p:nvSpPr>
        <p:spPr>
          <a:xfrm xmlns:a="http://schemas.openxmlformats.org/drawingml/2006/main">
            <a:off x="1809750" y="19526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6" name="">
            <a:extLst xmlns:a="http://schemas.openxmlformats.org/drawingml/2006/main">
              <a:ext uri="{FF2B5EF4-FFF2-40B4-BE49-F238E27FC236}">
                <a16:creationId xmlns:a16="http://schemas.microsoft.com/office/drawing/2014/main" id="{4E6C8141-D072-4AE7-96E5-99838EC2C9E8}"/>
              </a:ext>
            </a:extLst>
          </p:cNvPr>
          <p:cNvSpPr>
            <a:spLocks xmlns:a="http://schemas.openxmlformats.org/drawingml/2006/main" noGrp="1"/>
          </p:cNvSpPr>
          <p:nvPr/>
        </p:nvSpPr>
        <p:spPr>
          <a:xfrm xmlns:a="http://schemas.openxmlformats.org/drawingml/2006/main">
            <a:off x="2324100" y="196215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1. Richtige Fachkunde</a:t>
            </a:r>
          </a:p>
        </p:txBody>
      </p:sp>
      <p:sp>
        <p:nvSpPr>
          <p:cNvPr id="7" name="">
            <a:extLst xmlns:a="http://schemas.openxmlformats.org/drawingml/2006/main">
              <a:ext uri="{FF2B5EF4-FFF2-40B4-BE49-F238E27FC236}">
                <a16:creationId xmlns:a16="http://schemas.microsoft.com/office/drawing/2014/main" id="{023F6C73-BA4A-4F8C-8294-FAE6E9C22C4F}"/>
              </a:ext>
            </a:extLst>
          </p:cNvPr>
          <p:cNvSpPr>
            <a:spLocks xmlns:a="http://schemas.openxmlformats.org/drawingml/2006/main" noGrp="1"/>
          </p:cNvSpPr>
          <p:nvPr/>
        </p:nvSpPr>
        <p:spPr>
          <a:xfrm xmlns:a="http://schemas.openxmlformats.org/drawingml/2006/main">
            <a:off x="4819650" y="196215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Passt Fachgebiet und Erfahrung der sachverständigen Person zur konkreten Behandlung?</a:t>
            </a:r>
          </a:p>
        </p:txBody>
      </p:sp>
      <p:sp>
        <p:nvSpPr>
          <p:cNvPr id="8" name="">
            <a:extLst xmlns:a="http://schemas.openxmlformats.org/drawingml/2006/main">
              <a:ext uri="{FF2B5EF4-FFF2-40B4-BE49-F238E27FC236}">
                <a16:creationId xmlns:a16="http://schemas.microsoft.com/office/drawing/2014/main" id="{553F136D-ED6A-4E64-824F-B54016144166}"/>
              </a:ext>
            </a:extLst>
          </p:cNvPr>
          <p:cNvSpPr>
            <a:spLocks xmlns:a="http://schemas.openxmlformats.org/drawingml/2006/main" noGrp="1"/>
          </p:cNvSpPr>
          <p:nvPr/>
        </p:nvSpPr>
        <p:spPr>
          <a:xfrm xmlns:a="http://schemas.openxmlformats.org/drawingml/2006/main">
            <a:off x="1809750" y="255270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9" name="">
            <a:extLst xmlns:a="http://schemas.openxmlformats.org/drawingml/2006/main">
              <a:ext uri="{FF2B5EF4-FFF2-40B4-BE49-F238E27FC236}">
                <a16:creationId xmlns:a16="http://schemas.microsoft.com/office/drawing/2014/main" id="{2AF9B6B3-4684-46DA-A730-4DF924BD414A}"/>
              </a:ext>
            </a:extLst>
          </p:cNvPr>
          <p:cNvSpPr>
            <a:spLocks xmlns:a="http://schemas.openxmlformats.org/drawingml/2006/main" noGrp="1"/>
          </p:cNvSpPr>
          <p:nvPr/>
        </p:nvSpPr>
        <p:spPr>
          <a:xfrm xmlns:a="http://schemas.openxmlformats.org/drawingml/2006/main">
            <a:off x="1809750" y="255270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0" name="">
            <a:extLst xmlns:a="http://schemas.openxmlformats.org/drawingml/2006/main">
              <a:ext uri="{FF2B5EF4-FFF2-40B4-BE49-F238E27FC236}">
                <a16:creationId xmlns:a16="http://schemas.microsoft.com/office/drawing/2014/main" id="{B626DB0A-D55F-420B-B38B-81122E4A3EB9}"/>
              </a:ext>
            </a:extLst>
          </p:cNvPr>
          <p:cNvSpPr>
            <a:spLocks xmlns:a="http://schemas.openxmlformats.org/drawingml/2006/main" noGrp="1"/>
          </p:cNvSpPr>
          <p:nvPr/>
        </p:nvSpPr>
        <p:spPr>
          <a:xfrm xmlns:a="http://schemas.openxmlformats.org/drawingml/2006/main">
            <a:off x="2324100" y="256222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2. Richtige Tatsachenbasis</a:t>
            </a:r>
          </a:p>
        </p:txBody>
      </p:sp>
      <p:sp>
        <p:nvSpPr>
          <p:cNvPr id="11" name="">
            <a:extLst xmlns:a="http://schemas.openxmlformats.org/drawingml/2006/main">
              <a:ext uri="{FF2B5EF4-FFF2-40B4-BE49-F238E27FC236}">
                <a16:creationId xmlns:a16="http://schemas.microsoft.com/office/drawing/2014/main" id="{3E0D00F4-7205-4DE2-A6E8-62766214F018}"/>
              </a:ext>
            </a:extLst>
          </p:cNvPr>
          <p:cNvSpPr>
            <a:spLocks xmlns:a="http://schemas.openxmlformats.org/drawingml/2006/main" noGrp="1"/>
          </p:cNvSpPr>
          <p:nvPr/>
        </p:nvSpPr>
        <p:spPr>
          <a:xfrm xmlns:a="http://schemas.openxmlformats.org/drawingml/2006/main">
            <a:off x="4819650" y="256222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Welche Akteninhalte und streitigen Varianten wurden zugrunde gelegt?</a:t>
            </a:r>
          </a:p>
        </p:txBody>
      </p:sp>
      <p:sp>
        <p:nvSpPr>
          <p:cNvPr id="12" name="">
            <a:extLst xmlns:a="http://schemas.openxmlformats.org/drawingml/2006/main">
              <a:ext uri="{FF2B5EF4-FFF2-40B4-BE49-F238E27FC236}">
                <a16:creationId xmlns:a16="http://schemas.microsoft.com/office/drawing/2014/main" id="{FA2369E3-9A64-4046-A112-358C467ADACE}"/>
              </a:ext>
            </a:extLst>
          </p:cNvPr>
          <p:cNvSpPr>
            <a:spLocks xmlns:a="http://schemas.openxmlformats.org/drawingml/2006/main" noGrp="1"/>
          </p:cNvSpPr>
          <p:nvPr/>
        </p:nvSpPr>
        <p:spPr>
          <a:xfrm xmlns:a="http://schemas.openxmlformats.org/drawingml/2006/main">
            <a:off x="1809750" y="315277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3" name="">
            <a:extLst xmlns:a="http://schemas.openxmlformats.org/drawingml/2006/main">
              <a:ext uri="{FF2B5EF4-FFF2-40B4-BE49-F238E27FC236}">
                <a16:creationId xmlns:a16="http://schemas.microsoft.com/office/drawing/2014/main" id="{44E2D56A-0CAB-4703-89E6-300B1DF74B37}"/>
              </a:ext>
            </a:extLst>
          </p:cNvPr>
          <p:cNvSpPr>
            <a:spLocks xmlns:a="http://schemas.openxmlformats.org/drawingml/2006/main" noGrp="1"/>
          </p:cNvSpPr>
          <p:nvPr/>
        </p:nvSpPr>
        <p:spPr>
          <a:xfrm xmlns:a="http://schemas.openxmlformats.org/drawingml/2006/main">
            <a:off x="1809750" y="315277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4" name="">
            <a:extLst xmlns:a="http://schemas.openxmlformats.org/drawingml/2006/main">
              <a:ext uri="{FF2B5EF4-FFF2-40B4-BE49-F238E27FC236}">
                <a16:creationId xmlns:a16="http://schemas.microsoft.com/office/drawing/2014/main" id="{475ECC0E-62DA-4F6D-92AD-02D36273D947}"/>
              </a:ext>
            </a:extLst>
          </p:cNvPr>
          <p:cNvSpPr>
            <a:spLocks xmlns:a="http://schemas.openxmlformats.org/drawingml/2006/main" noGrp="1"/>
          </p:cNvSpPr>
          <p:nvPr/>
        </p:nvSpPr>
        <p:spPr>
          <a:xfrm xmlns:a="http://schemas.openxmlformats.org/drawingml/2006/main">
            <a:off x="2324100" y="316230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3. Richtiger Zeitpunkt</a:t>
            </a:r>
          </a:p>
        </p:txBody>
      </p:sp>
      <p:sp>
        <p:nvSpPr>
          <p:cNvPr id="15" name="">
            <a:extLst xmlns:a="http://schemas.openxmlformats.org/drawingml/2006/main">
              <a:ext uri="{FF2B5EF4-FFF2-40B4-BE49-F238E27FC236}">
                <a16:creationId xmlns:a16="http://schemas.microsoft.com/office/drawing/2014/main" id="{862407F7-2997-4412-9ED0-740291F23F2C}"/>
              </a:ext>
            </a:extLst>
          </p:cNvPr>
          <p:cNvSpPr>
            <a:spLocks xmlns:a="http://schemas.openxmlformats.org/drawingml/2006/main" noGrp="1"/>
          </p:cNvSpPr>
          <p:nvPr/>
        </p:nvSpPr>
        <p:spPr>
          <a:xfrm xmlns:a="http://schemas.openxmlformats.org/drawingml/2006/main">
            <a:off x="4819650" y="316230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Wird der Standard zum Behandlungszeitpunkt statt heutiges Wissen angewandt?</a:t>
            </a:r>
          </a:p>
        </p:txBody>
      </p:sp>
      <p:sp>
        <p:nvSpPr>
          <p:cNvPr id="16" name="">
            <a:extLst xmlns:a="http://schemas.openxmlformats.org/drawingml/2006/main">
              <a:ext uri="{FF2B5EF4-FFF2-40B4-BE49-F238E27FC236}">
                <a16:creationId xmlns:a16="http://schemas.microsoft.com/office/drawing/2014/main" id="{4470581E-5ECD-4C0C-8843-19DA0B4854E7}"/>
              </a:ext>
            </a:extLst>
          </p:cNvPr>
          <p:cNvSpPr>
            <a:spLocks xmlns:a="http://schemas.openxmlformats.org/drawingml/2006/main" noGrp="1"/>
          </p:cNvSpPr>
          <p:nvPr/>
        </p:nvSpPr>
        <p:spPr>
          <a:xfrm xmlns:a="http://schemas.openxmlformats.org/drawingml/2006/main">
            <a:off x="1809750" y="375285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7" name="">
            <a:extLst xmlns:a="http://schemas.openxmlformats.org/drawingml/2006/main">
              <a:ext uri="{FF2B5EF4-FFF2-40B4-BE49-F238E27FC236}">
                <a16:creationId xmlns:a16="http://schemas.microsoft.com/office/drawing/2014/main" id="{0E443369-BB83-4955-8F98-F95FD4D58D86}"/>
              </a:ext>
            </a:extLst>
          </p:cNvPr>
          <p:cNvSpPr>
            <a:spLocks xmlns:a="http://schemas.openxmlformats.org/drawingml/2006/main" noGrp="1"/>
          </p:cNvSpPr>
          <p:nvPr/>
        </p:nvSpPr>
        <p:spPr>
          <a:xfrm xmlns:a="http://schemas.openxmlformats.org/drawingml/2006/main">
            <a:off x="1809750" y="375285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18" name="">
            <a:extLst xmlns:a="http://schemas.openxmlformats.org/drawingml/2006/main">
              <a:ext uri="{FF2B5EF4-FFF2-40B4-BE49-F238E27FC236}">
                <a16:creationId xmlns:a16="http://schemas.microsoft.com/office/drawing/2014/main" id="{239571EB-E7A3-49ED-B352-990BB1292740}"/>
              </a:ext>
            </a:extLst>
          </p:cNvPr>
          <p:cNvSpPr>
            <a:spLocks xmlns:a="http://schemas.openxmlformats.org/drawingml/2006/main" noGrp="1"/>
          </p:cNvSpPr>
          <p:nvPr/>
        </p:nvSpPr>
        <p:spPr>
          <a:xfrm xmlns:a="http://schemas.openxmlformats.org/drawingml/2006/main">
            <a:off x="2324100" y="376237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4. Vollständige Fragen</a:t>
            </a:r>
          </a:p>
        </p:txBody>
      </p:sp>
      <p:sp>
        <p:nvSpPr>
          <p:cNvPr id="19" name="">
            <a:extLst xmlns:a="http://schemas.openxmlformats.org/drawingml/2006/main">
              <a:ext uri="{FF2B5EF4-FFF2-40B4-BE49-F238E27FC236}">
                <a16:creationId xmlns:a16="http://schemas.microsoft.com/office/drawing/2014/main" id="{3C7F089A-0CB7-4BC9-8781-9EC2D4BA257A}"/>
              </a:ext>
            </a:extLst>
          </p:cNvPr>
          <p:cNvSpPr>
            <a:spLocks xmlns:a="http://schemas.openxmlformats.org/drawingml/2006/main" noGrp="1"/>
          </p:cNvSpPr>
          <p:nvPr/>
        </p:nvSpPr>
        <p:spPr>
          <a:xfrm xmlns:a="http://schemas.openxmlformats.org/drawingml/2006/main">
            <a:off x="4819650" y="376237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Sind Pflicht, Abweichung, Kausalität und Alternativverlauf getrennt beantwortet?</a:t>
            </a:r>
          </a:p>
        </p:txBody>
      </p:sp>
      <p:sp>
        <p:nvSpPr>
          <p:cNvPr id="20" name="">
            <a:extLst xmlns:a="http://schemas.openxmlformats.org/drawingml/2006/main">
              <a:ext uri="{FF2B5EF4-FFF2-40B4-BE49-F238E27FC236}">
                <a16:creationId xmlns:a16="http://schemas.microsoft.com/office/drawing/2014/main" id="{C1DF2C6A-1111-498F-BF6D-7C00A6D5D1CB}"/>
              </a:ext>
            </a:extLst>
          </p:cNvPr>
          <p:cNvSpPr>
            <a:spLocks xmlns:a="http://schemas.openxmlformats.org/drawingml/2006/main" noGrp="1"/>
          </p:cNvSpPr>
          <p:nvPr/>
        </p:nvSpPr>
        <p:spPr>
          <a:xfrm xmlns:a="http://schemas.openxmlformats.org/drawingml/2006/main">
            <a:off x="1809750" y="435292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1" name="">
            <a:extLst xmlns:a="http://schemas.openxmlformats.org/drawingml/2006/main">
              <a:ext uri="{FF2B5EF4-FFF2-40B4-BE49-F238E27FC236}">
                <a16:creationId xmlns:a16="http://schemas.microsoft.com/office/drawing/2014/main" id="{BFF11276-4322-452C-857E-A6E12C6442AD}"/>
              </a:ext>
            </a:extLst>
          </p:cNvPr>
          <p:cNvSpPr>
            <a:spLocks xmlns:a="http://schemas.openxmlformats.org/drawingml/2006/main" noGrp="1"/>
          </p:cNvSpPr>
          <p:nvPr/>
        </p:nvSpPr>
        <p:spPr>
          <a:xfrm xmlns:a="http://schemas.openxmlformats.org/drawingml/2006/main">
            <a:off x="1809750" y="43529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5</a:t>
            </a:r>
          </a:p>
        </p:txBody>
      </p:sp>
      <p:sp>
        <p:nvSpPr>
          <p:cNvPr id="22" name="">
            <a:extLst xmlns:a="http://schemas.openxmlformats.org/drawingml/2006/main">
              <a:ext uri="{FF2B5EF4-FFF2-40B4-BE49-F238E27FC236}">
                <a16:creationId xmlns:a16="http://schemas.microsoft.com/office/drawing/2014/main" id="{539CFCDE-D03D-4837-85BB-1BCC24084F5D}"/>
              </a:ext>
            </a:extLst>
          </p:cNvPr>
          <p:cNvSpPr>
            <a:spLocks xmlns:a="http://schemas.openxmlformats.org/drawingml/2006/main" noGrp="1"/>
          </p:cNvSpPr>
          <p:nvPr/>
        </p:nvSpPr>
        <p:spPr>
          <a:xfrm xmlns:a="http://schemas.openxmlformats.org/drawingml/2006/main">
            <a:off x="2324100" y="436245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5. Begründung</a:t>
            </a:r>
          </a:p>
        </p:txBody>
      </p:sp>
      <p:sp>
        <p:nvSpPr>
          <p:cNvPr id="23" name="">
            <a:extLst xmlns:a="http://schemas.openxmlformats.org/drawingml/2006/main">
              <a:ext uri="{FF2B5EF4-FFF2-40B4-BE49-F238E27FC236}">
                <a16:creationId xmlns:a16="http://schemas.microsoft.com/office/drawing/2014/main" id="{4BF3772C-C3F3-447D-9363-D7A06869F1E1}"/>
              </a:ext>
            </a:extLst>
          </p:cNvPr>
          <p:cNvSpPr>
            <a:spLocks xmlns:a="http://schemas.openxmlformats.org/drawingml/2006/main" noGrp="1"/>
          </p:cNvSpPr>
          <p:nvPr/>
        </p:nvSpPr>
        <p:spPr>
          <a:xfrm xmlns:a="http://schemas.openxmlformats.org/drawingml/2006/main">
            <a:off x="4819650" y="436245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Werden Schlussfolgerungen medizinisch erklärt oder nur behauptet?</a:t>
            </a:r>
          </a:p>
        </p:txBody>
      </p:sp>
      <p:sp>
        <p:nvSpPr>
          <p:cNvPr id="24" name="">
            <a:extLst xmlns:a="http://schemas.openxmlformats.org/drawingml/2006/main">
              <a:ext uri="{FF2B5EF4-FFF2-40B4-BE49-F238E27FC236}">
                <a16:creationId xmlns:a16="http://schemas.microsoft.com/office/drawing/2014/main" id="{D859A6BE-7675-4464-B543-3A66924229AB}"/>
              </a:ext>
            </a:extLst>
          </p:cNvPr>
          <p:cNvSpPr>
            <a:spLocks xmlns:a="http://schemas.openxmlformats.org/drawingml/2006/main" noGrp="1"/>
          </p:cNvSpPr>
          <p:nvPr/>
        </p:nvSpPr>
        <p:spPr>
          <a:xfrm xmlns:a="http://schemas.openxmlformats.org/drawingml/2006/main">
            <a:off x="1809750" y="495300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25" name="">
            <a:extLst xmlns:a="http://schemas.openxmlformats.org/drawingml/2006/main">
              <a:ext uri="{FF2B5EF4-FFF2-40B4-BE49-F238E27FC236}">
                <a16:creationId xmlns:a16="http://schemas.microsoft.com/office/drawing/2014/main" id="{CD1A35C6-D6A7-4205-BB6B-CE6259C2ED45}"/>
              </a:ext>
            </a:extLst>
          </p:cNvPr>
          <p:cNvSpPr>
            <a:spLocks xmlns:a="http://schemas.openxmlformats.org/drawingml/2006/main" noGrp="1"/>
          </p:cNvSpPr>
          <p:nvPr/>
        </p:nvSpPr>
        <p:spPr>
          <a:xfrm xmlns:a="http://schemas.openxmlformats.org/drawingml/2006/main">
            <a:off x="1809750" y="495300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6</a:t>
            </a:r>
          </a:p>
        </p:txBody>
      </p:sp>
      <p:sp>
        <p:nvSpPr>
          <p:cNvPr id="26" name="">
            <a:extLst xmlns:a="http://schemas.openxmlformats.org/drawingml/2006/main">
              <a:ext uri="{FF2B5EF4-FFF2-40B4-BE49-F238E27FC236}">
                <a16:creationId xmlns:a16="http://schemas.microsoft.com/office/drawing/2014/main" id="{0D9AE2C8-67C0-4319-A368-A866FDF302B9}"/>
              </a:ext>
            </a:extLst>
          </p:cNvPr>
          <p:cNvSpPr>
            <a:spLocks xmlns:a="http://schemas.openxmlformats.org/drawingml/2006/main" noGrp="1"/>
          </p:cNvSpPr>
          <p:nvPr/>
        </p:nvSpPr>
        <p:spPr>
          <a:xfrm xmlns:a="http://schemas.openxmlformats.org/drawingml/2006/main">
            <a:off x="2324100" y="496252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6. Unsicherheit</a:t>
            </a:r>
          </a:p>
        </p:txBody>
      </p:sp>
      <p:sp>
        <p:nvSpPr>
          <p:cNvPr id="27" name="">
            <a:extLst xmlns:a="http://schemas.openxmlformats.org/drawingml/2006/main">
              <a:ext uri="{FF2B5EF4-FFF2-40B4-BE49-F238E27FC236}">
                <a16:creationId xmlns:a16="http://schemas.microsoft.com/office/drawing/2014/main" id="{9145F67F-5585-46ED-8DB7-0D080892BBAF}"/>
              </a:ext>
            </a:extLst>
          </p:cNvPr>
          <p:cNvSpPr>
            <a:spLocks xmlns:a="http://schemas.openxmlformats.org/drawingml/2006/main" noGrp="1"/>
          </p:cNvSpPr>
          <p:nvPr/>
        </p:nvSpPr>
        <p:spPr>
          <a:xfrm xmlns:a="http://schemas.openxmlformats.org/drawingml/2006/main">
            <a:off x="4819650" y="496252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Sind Wahrscheinlichkeiten, Datenlücken und abweichende Lehrmeinungen kenntlich gemacht?</a:t>
            </a:r>
          </a:p>
        </p:txBody>
      </p:sp>
      <p:sp>
        <p:nvSpPr>
          <p:cNvPr id="28" name="">
            <a:extLst xmlns:a="http://schemas.openxmlformats.org/drawingml/2006/main">
              <a:ext uri="{FF2B5EF4-FFF2-40B4-BE49-F238E27FC236}">
                <a16:creationId xmlns:a16="http://schemas.microsoft.com/office/drawing/2014/main" id="{325CA7D7-64AC-454E-BF88-0C99CDA037CE}"/>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9" name="">
            <a:extLst xmlns:a="http://schemas.openxmlformats.org/drawingml/2006/main">
              <a:ext uri="{FF2B5EF4-FFF2-40B4-BE49-F238E27FC236}">
                <a16:creationId xmlns:a16="http://schemas.microsoft.com/office/drawing/2014/main" id="{A96686D6-3C2C-4700-8818-833606A3459D}"/>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Kritik zielt auf konkrete methodische oder tatsächliche Lücken, nicht auf das unerwünschte Ergebnis.</a:t>
            </a:r>
          </a:p>
        </p:txBody>
      </p:sp>
    </p:spTree>
    <p:extLst>
      <p:ext uri="{BB962C8B-B14F-4D97-AF65-F5344CB8AC3E}">
        <p14:creationId xmlns:p14="http://schemas.microsoft.com/office/powerpoint/2010/main" val="43637646"/>
      </p:ext>
    </p:extLst>
  </p:cSld>
</p:sld>
</file>

<file path=ppt/slides/slide145.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Beweisbeschluss und Beweisfrage</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1BAB00D8-9680-427C-8B63-56EC9E9F9E27}"/>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Das Gericht übersetzt den Parteienstreit in konkrete Fragen, die ein Sachverständiger fachlich beantworten kann.</a:t>
            </a:r>
          </a:p>
        </p:txBody>
      </p:sp>
      <p:sp>
        <p:nvSpPr>
          <p:cNvPr id="5" name="">
            <a:extLst xmlns:a="http://schemas.openxmlformats.org/drawingml/2006/main">
              <a:ext uri="{FF2B5EF4-FFF2-40B4-BE49-F238E27FC236}">
                <a16:creationId xmlns:a16="http://schemas.microsoft.com/office/drawing/2014/main" id="{B330D313-92FB-488E-8F7D-47C2C77A0692}"/>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869B15BD-4561-461A-8FEC-FE71A30ABE8A}"/>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2578E815-084F-45FF-9034-B44D86C2335F}"/>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Tatsachen statt Rechtsurteil</a:t>
            </a:r>
          </a:p>
        </p:txBody>
      </p:sp>
      <p:sp>
        <p:nvSpPr>
          <p:cNvPr id="8" name="">
            <a:extLst xmlns:a="http://schemas.openxmlformats.org/drawingml/2006/main">
              <a:ext uri="{FF2B5EF4-FFF2-40B4-BE49-F238E27FC236}">
                <a16:creationId xmlns:a16="http://schemas.microsoft.com/office/drawing/2014/main" id="{A92EE4CF-F611-4653-83F9-71927283B4FE}"/>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Statt „Liegt ein Behandlungsfehler vor?“ ist genauer zu fragen, welches Vorgehen im Zeitpunkt fachlich geboten war.</a:t>
            </a:r>
          </a:p>
        </p:txBody>
      </p:sp>
      <p:sp>
        <p:nvSpPr>
          <p:cNvPr id="9" name="">
            <a:extLst xmlns:a="http://schemas.openxmlformats.org/drawingml/2006/main">
              <a:ext uri="{FF2B5EF4-FFF2-40B4-BE49-F238E27FC236}">
                <a16:creationId xmlns:a16="http://schemas.microsoft.com/office/drawing/2014/main" id="{ABC38E31-6A66-4F97-AF66-E894D0D2217B}"/>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33F2515C-E10B-445F-ABA1-545ADD96D4DC}"/>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45DF16AC-53E0-4212-94B5-4A083C6E1BFF}"/>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Zeit und Kontext</a:t>
            </a:r>
          </a:p>
        </p:txBody>
      </p:sp>
      <p:sp>
        <p:nvSpPr>
          <p:cNvPr id="12" name="">
            <a:extLst xmlns:a="http://schemas.openxmlformats.org/drawingml/2006/main">
              <a:ext uri="{FF2B5EF4-FFF2-40B4-BE49-F238E27FC236}">
                <a16:creationId xmlns:a16="http://schemas.microsoft.com/office/drawing/2014/main" id="{63C2BDDB-86D3-4BD5-B728-E21EA506AF08}"/>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Symptome, Befunde, Ressourcen und Zeitpunkt werden in der Frage konkret bezeichnet.</a:t>
            </a:r>
          </a:p>
        </p:txBody>
      </p:sp>
      <p:sp>
        <p:nvSpPr>
          <p:cNvPr id="13" name="">
            <a:extLst xmlns:a="http://schemas.openxmlformats.org/drawingml/2006/main">
              <a:ext uri="{FF2B5EF4-FFF2-40B4-BE49-F238E27FC236}">
                <a16:creationId xmlns:a16="http://schemas.microsoft.com/office/drawing/2014/main" id="{A402CD67-1D58-4614-ADBF-092B76CB559D}"/>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BDA2FE33-80D8-486B-A3BA-E6E1E3A17181}"/>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DBA755DE-F677-4333-AA45-397CFF631601}"/>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Alternativsachverhalte</a:t>
            </a:r>
          </a:p>
        </p:txBody>
      </p:sp>
      <p:sp>
        <p:nvSpPr>
          <p:cNvPr id="16" name="">
            <a:extLst xmlns:a="http://schemas.openxmlformats.org/drawingml/2006/main">
              <a:ext uri="{FF2B5EF4-FFF2-40B4-BE49-F238E27FC236}">
                <a16:creationId xmlns:a16="http://schemas.microsoft.com/office/drawing/2014/main" id="{14E9D529-D40C-4A97-80C1-872C1CCA85C0}"/>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Wenn Tatsachen streitig sind, können getrennte Varianten geprüft werden.</a:t>
            </a:r>
          </a:p>
        </p:txBody>
      </p:sp>
      <p:sp>
        <p:nvSpPr>
          <p:cNvPr id="17" name="">
            <a:extLst xmlns:a="http://schemas.openxmlformats.org/drawingml/2006/main">
              <a:ext uri="{FF2B5EF4-FFF2-40B4-BE49-F238E27FC236}">
                <a16:creationId xmlns:a16="http://schemas.microsoft.com/office/drawing/2014/main" id="{F5E0CC4C-E211-4CD3-83F6-64DC6E3B9877}"/>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14AF5257-8BA2-4B1C-BDBB-40F9E96543CA}"/>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7ACE1985-1D55-414D-B790-F3CC6D7FF33A}"/>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Kausalität präzisieren</a:t>
            </a:r>
          </a:p>
        </p:txBody>
      </p:sp>
      <p:sp>
        <p:nvSpPr>
          <p:cNvPr id="20" name="">
            <a:extLst xmlns:a="http://schemas.openxmlformats.org/drawingml/2006/main">
              <a:ext uri="{FF2B5EF4-FFF2-40B4-BE49-F238E27FC236}">
                <a16:creationId xmlns:a16="http://schemas.microsoft.com/office/drawing/2014/main" id="{E5089386-EEA6-40F9-895E-ADD5C47F0E8A}"/>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Gefragt wird, welche Folgen bei pflichtgemäßem Vorgehen mit welcher medizinischen Wahrscheinlichkeit vermieden worden wären.</a:t>
            </a:r>
          </a:p>
        </p:txBody>
      </p:sp>
      <p:sp>
        <p:nvSpPr>
          <p:cNvPr id="21" name="">
            <a:extLst xmlns:a="http://schemas.openxmlformats.org/drawingml/2006/main">
              <a:ext uri="{FF2B5EF4-FFF2-40B4-BE49-F238E27FC236}">
                <a16:creationId xmlns:a16="http://schemas.microsoft.com/office/drawing/2014/main" id="{577EA547-9286-4DA8-B17B-9CBD6AF07258}"/>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15B1AB23-1B1E-4190-9AD7-6614A038C1BF}"/>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Je präziser die Beweisfrage, desto geringer das Risiko eines Gutachtens an der eigentlichen Streitfrage vorbei.</a:t>
            </a:r>
          </a:p>
        </p:txBody>
      </p:sp>
    </p:spTree>
    <p:extLst>
      <p:ext uri="{BB962C8B-B14F-4D97-AF65-F5344CB8AC3E}">
        <p14:creationId xmlns:p14="http://schemas.microsoft.com/office/powerpoint/2010/main" val="43637646"/>
      </p:ext>
    </p:extLst>
  </p:cSld>
</p:sld>
</file>

<file path=ppt/slides/slide146.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Zeugin oder Sachverständige?</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UNTERSCHEIDEN KÖNNEN</a:t>
            </a:r>
            <a:endParaRPr/>
          </a:p>
        </p:txBody>
      </p:sp>
      <p:sp>
        <p:nvSpPr>
          <p:cNvPr id="4" name="">
            <a:extLst xmlns:a="http://schemas.openxmlformats.org/drawingml/2006/main">
              <a:ext uri="{FF2B5EF4-FFF2-40B4-BE49-F238E27FC236}">
                <a16:creationId xmlns:a16="http://schemas.microsoft.com/office/drawing/2014/main" id="{61BD3704-6F1E-418F-B0D9-06D67CC8D56E}"/>
              </a:ext>
            </a:extLst>
          </p:cNvPr>
          <p:cNvSpPr>
            <a:spLocks xmlns:a="http://schemas.openxmlformats.org/drawingml/2006/main" noGrp="1"/>
          </p:cNvSpPr>
          <p:nvPr/>
        </p:nvSpPr>
        <p:spPr>
          <a:xfrm xmlns:a="http://schemas.openxmlformats.org/drawingml/2006/main">
            <a:off x="1809750" y="2000250"/>
            <a:ext cx="4619625" cy="3286125"/>
          </a:xfrm>
          <a:prstGeom xmlns:a="http://schemas.openxmlformats.org/drawingml/2006/main" prst="roundRect">
            <a:avLst>
              <a:gd name="adj" fmla="val 2319"/>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9F9FD363-92AA-4806-99AB-9AE67DFB037A}"/>
              </a:ext>
            </a:extLst>
          </p:cNvPr>
          <p:cNvSpPr>
            <a:spLocks xmlns:a="http://schemas.openxmlformats.org/drawingml/2006/main" noGrp="1"/>
          </p:cNvSpPr>
          <p:nvPr/>
        </p:nvSpPr>
        <p:spPr>
          <a:xfrm xmlns:a="http://schemas.openxmlformats.org/drawingml/2006/main">
            <a:off x="1809750" y="2000250"/>
            <a:ext cx="4619625"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A6ACA4FF-888C-4DDA-BCD1-EA237BAE0E56}"/>
              </a:ext>
            </a:extLst>
          </p:cNvPr>
          <p:cNvSpPr>
            <a:spLocks xmlns:a="http://schemas.openxmlformats.org/drawingml/2006/main" noGrp="1"/>
          </p:cNvSpPr>
          <p:nvPr/>
        </p:nvSpPr>
        <p:spPr>
          <a:xfrm xmlns:a="http://schemas.openxmlformats.org/drawingml/2006/main">
            <a:off x="1962150" y="2133600"/>
            <a:ext cx="4314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75" b="1">
                <a:solidFill>
                  <a:srgbClr val="003F6B"/>
                </a:solidFill>
              </a:defRPr>
            </a:pPr>
            <a:r>
              <a:rPr sz="1575" b="1">
                <a:solidFill>
                  <a:srgbClr val="003F6B"/>
                </a:solidFill>
              </a:rPr>
              <a:t>Zeugin/Zeuge</a:t>
            </a:r>
          </a:p>
        </p:txBody>
      </p:sp>
      <p:sp>
        <p:nvSpPr>
          <p:cNvPr id="7" name="">
            <a:extLst xmlns:a="http://schemas.openxmlformats.org/drawingml/2006/main">
              <a:ext uri="{FF2B5EF4-FFF2-40B4-BE49-F238E27FC236}">
                <a16:creationId xmlns:a16="http://schemas.microsoft.com/office/drawing/2014/main" id="{21618B61-587F-465F-8E0B-37BD1F742A4B}"/>
              </a:ext>
            </a:extLst>
          </p:cNvPr>
          <p:cNvSpPr>
            <a:spLocks xmlns:a="http://schemas.openxmlformats.org/drawingml/2006/main" noGrp="1"/>
          </p:cNvSpPr>
          <p:nvPr/>
        </p:nvSpPr>
        <p:spPr>
          <a:xfrm xmlns:a="http://schemas.openxmlformats.org/drawingml/2006/main">
            <a:off x="1962150" y="2571750"/>
            <a:ext cx="4314825"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15232B"/>
                </a:solidFill>
              </a:defRPr>
            </a:pPr>
            <a:r>
              <a:rPr sz="1200">
                <a:solidFill>
                  <a:srgbClr val="15232B"/>
                </a:solidFill>
              </a:rPr>
              <a:t>• Berichtet eigene Wahrnehmungen aus der konkreten Behandlung.</a:t>
            </a:r>
          </a:p>
          <a:p xmlns:a="http://schemas.openxmlformats.org/drawingml/2006/main">
            <a:pPr>
              <a:buNone/>
              <a:defRPr sz="1200">
                <a:solidFill>
                  <a:srgbClr val="15232B"/>
                </a:solidFill>
              </a:defRPr>
            </a:pPr>
            <a:r>
              <a:rPr sz="1200">
                <a:solidFill>
                  <a:srgbClr val="15232B"/>
                </a:solidFill>
              </a:rPr>
              <a:t>• Darf Erinnerungslücken offenlegen und muss wahrheitsgemäß aussagen.</a:t>
            </a:r>
          </a:p>
          <a:p xmlns:a="http://schemas.openxmlformats.org/drawingml/2006/main">
            <a:pPr>
              <a:buNone/>
              <a:defRPr sz="1200">
                <a:solidFill>
                  <a:srgbClr val="15232B"/>
                </a:solidFill>
              </a:defRPr>
            </a:pPr>
            <a:r>
              <a:rPr sz="1200">
                <a:solidFill>
                  <a:srgbClr val="15232B"/>
                </a:solidFill>
              </a:rPr>
              <a:t>• Soll nicht nachträglich medizinische Standards gutachterlich bewerten.</a:t>
            </a:r>
          </a:p>
        </p:txBody>
      </p:sp>
      <p:sp>
        <p:nvSpPr>
          <p:cNvPr id="8" name="">
            <a:extLst xmlns:a="http://schemas.openxmlformats.org/drawingml/2006/main">
              <a:ext uri="{FF2B5EF4-FFF2-40B4-BE49-F238E27FC236}">
                <a16:creationId xmlns:a16="http://schemas.microsoft.com/office/drawing/2014/main" id="{4674DB2D-A9A5-4619-A404-9DE64C983672}"/>
              </a:ext>
            </a:extLst>
          </p:cNvPr>
          <p:cNvSpPr>
            <a:spLocks xmlns:a="http://schemas.openxmlformats.org/drawingml/2006/main" noGrp="1"/>
          </p:cNvSpPr>
          <p:nvPr/>
        </p:nvSpPr>
        <p:spPr>
          <a:xfrm xmlns:a="http://schemas.openxmlformats.org/drawingml/2006/main">
            <a:off x="6715125" y="2000250"/>
            <a:ext cx="4619625" cy="3286125"/>
          </a:xfrm>
          <a:prstGeom xmlns:a="http://schemas.openxmlformats.org/drawingml/2006/main" prst="roundRect">
            <a:avLst>
              <a:gd name="adj" fmla="val 2319"/>
            </a:avLst>
          </a:prstGeom>
          <a:noFill xmlns:a="http://schemas.openxmlformats.org/drawingml/2006/main"/>
          <a:ln xmlns:a="http://schemas.openxmlformats.org/drawingml/2006/main" w="9525">
            <a:solidFill>
              <a:srgbClr val="B9CAD2"/>
            </a:solidFill>
            <a:prstDash val="solid"/>
          </a:ln>
        </p:spPr>
      </p:sp>
      <p:sp>
        <p:nvSpPr>
          <p:cNvPr id="9" name="">
            <a:extLst xmlns:a="http://schemas.openxmlformats.org/drawingml/2006/main">
              <a:ext uri="{FF2B5EF4-FFF2-40B4-BE49-F238E27FC236}">
                <a16:creationId xmlns:a16="http://schemas.microsoft.com/office/drawing/2014/main" id="{28B9534D-2CFE-49DC-8487-79E0EECFB885}"/>
              </a:ext>
            </a:extLst>
          </p:cNvPr>
          <p:cNvSpPr>
            <a:spLocks xmlns:a="http://schemas.openxmlformats.org/drawingml/2006/main" noGrp="1"/>
          </p:cNvSpPr>
          <p:nvPr/>
        </p:nvSpPr>
        <p:spPr>
          <a:xfrm xmlns:a="http://schemas.openxmlformats.org/drawingml/2006/main">
            <a:off x="6715125" y="2000250"/>
            <a:ext cx="4619625"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4882850F-E562-4229-9263-581958EA7718}"/>
              </a:ext>
            </a:extLst>
          </p:cNvPr>
          <p:cNvSpPr>
            <a:spLocks xmlns:a="http://schemas.openxmlformats.org/drawingml/2006/main" noGrp="1"/>
          </p:cNvSpPr>
          <p:nvPr/>
        </p:nvSpPr>
        <p:spPr>
          <a:xfrm xmlns:a="http://schemas.openxmlformats.org/drawingml/2006/main">
            <a:off x="6867525" y="2133600"/>
            <a:ext cx="4314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75" b="1">
                <a:solidFill>
                  <a:srgbClr val="003F6B"/>
                </a:solidFill>
              </a:defRPr>
            </a:pPr>
            <a:r>
              <a:rPr sz="1575" b="1">
                <a:solidFill>
                  <a:srgbClr val="003F6B"/>
                </a:solidFill>
              </a:rPr>
              <a:t>Sachverständige Person</a:t>
            </a:r>
          </a:p>
        </p:txBody>
      </p:sp>
      <p:sp>
        <p:nvSpPr>
          <p:cNvPr id="11" name="">
            <a:extLst xmlns:a="http://schemas.openxmlformats.org/drawingml/2006/main">
              <a:ext uri="{FF2B5EF4-FFF2-40B4-BE49-F238E27FC236}">
                <a16:creationId xmlns:a16="http://schemas.microsoft.com/office/drawing/2014/main" id="{2FE34035-A83B-468F-9AF7-35DF03D34F88}"/>
              </a:ext>
            </a:extLst>
          </p:cNvPr>
          <p:cNvSpPr>
            <a:spLocks xmlns:a="http://schemas.openxmlformats.org/drawingml/2006/main" noGrp="1"/>
          </p:cNvSpPr>
          <p:nvPr/>
        </p:nvSpPr>
        <p:spPr>
          <a:xfrm xmlns:a="http://schemas.openxmlformats.org/drawingml/2006/main">
            <a:off x="6867525" y="2571750"/>
            <a:ext cx="4314825"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15232B"/>
                </a:solidFill>
              </a:defRPr>
            </a:pPr>
            <a:r>
              <a:rPr sz="1200">
                <a:solidFill>
                  <a:srgbClr val="15232B"/>
                </a:solidFill>
              </a:rPr>
              <a:t>• Wird wegen besonderer Fachkunde vom Gericht beauftragt.</a:t>
            </a:r>
          </a:p>
          <a:p xmlns:a="http://schemas.openxmlformats.org/drawingml/2006/main">
            <a:pPr>
              <a:buNone/>
              <a:defRPr sz="1200">
                <a:solidFill>
                  <a:srgbClr val="15232B"/>
                </a:solidFill>
              </a:defRPr>
            </a:pPr>
            <a:r>
              <a:rPr sz="1200">
                <a:solidFill>
                  <a:srgbClr val="15232B"/>
                </a:solidFill>
              </a:rPr>
              <a:t>• Bewertet vorgegebene Tatsachen nach medizinischem Fachwissen.</a:t>
            </a:r>
          </a:p>
          <a:p xmlns:a="http://schemas.openxmlformats.org/drawingml/2006/main">
            <a:pPr>
              <a:buNone/>
              <a:defRPr sz="1200">
                <a:solidFill>
                  <a:srgbClr val="15232B"/>
                </a:solidFill>
              </a:defRPr>
            </a:pPr>
            <a:r>
              <a:rPr sz="1200">
                <a:solidFill>
                  <a:srgbClr val="15232B"/>
                </a:solidFill>
              </a:rPr>
              <a:t>• Muss neutral sein und mögliche Befangenheitsgründe offenlegen.</a:t>
            </a:r>
          </a:p>
        </p:txBody>
      </p:sp>
      <p:sp>
        <p:nvSpPr>
          <p:cNvPr id="12" name="">
            <a:extLst xmlns:a="http://schemas.openxmlformats.org/drawingml/2006/main">
              <a:ext uri="{FF2B5EF4-FFF2-40B4-BE49-F238E27FC236}">
                <a16:creationId xmlns:a16="http://schemas.microsoft.com/office/drawing/2014/main" id="{552CBA7E-9F1A-45DD-8674-97B45556984B}"/>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13" name="">
            <a:extLst xmlns:a="http://schemas.openxmlformats.org/drawingml/2006/main">
              <a:ext uri="{FF2B5EF4-FFF2-40B4-BE49-F238E27FC236}">
                <a16:creationId xmlns:a16="http://schemas.microsoft.com/office/drawing/2014/main" id="{C31CCA94-A736-4910-B45E-EE8550B450C6}"/>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Dieselbe Ärztin kann nicht beliebig zwischen Erinnerung und fachlicher Bewertung wechseln.</a:t>
            </a:r>
          </a:p>
        </p:txBody>
      </p:sp>
    </p:spTree>
    <p:extLst>
      <p:ext uri="{BB962C8B-B14F-4D97-AF65-F5344CB8AC3E}">
        <p14:creationId xmlns:p14="http://schemas.microsoft.com/office/powerpoint/2010/main" val="43637646"/>
      </p:ext>
    </p:extLst>
  </p:cSld>
</p:sld>
</file>

<file path=ppt/slides/slide147.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Befangenheit und Ergänzungsfragen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5D477369-B383-45C0-A621-04DF5D4B1500}"/>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Parteien dürfen die Neutralität und Vollständigkeit des Gutachtens prozessual prüfen.</a:t>
            </a:r>
          </a:p>
        </p:txBody>
      </p:sp>
      <p:sp>
        <p:nvSpPr>
          <p:cNvPr id="5" name="">
            <a:extLst xmlns:a="http://schemas.openxmlformats.org/drawingml/2006/main">
              <a:ext uri="{FF2B5EF4-FFF2-40B4-BE49-F238E27FC236}">
                <a16:creationId xmlns:a16="http://schemas.microsoft.com/office/drawing/2014/main" id="{98DF8B2C-1876-4397-BA3E-9A9F96FCCADB}"/>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E1917525-64F4-452D-A859-364253578222}"/>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2F72594B-A95D-495B-A8A5-5C8AF068ECBD}"/>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Befangenheitsgrund</a:t>
            </a:r>
          </a:p>
        </p:txBody>
      </p:sp>
      <p:sp>
        <p:nvSpPr>
          <p:cNvPr id="8" name="">
            <a:extLst xmlns:a="http://schemas.openxmlformats.org/drawingml/2006/main">
              <a:ext uri="{FF2B5EF4-FFF2-40B4-BE49-F238E27FC236}">
                <a16:creationId xmlns:a16="http://schemas.microsoft.com/office/drawing/2014/main" id="{54FF4471-651E-4188-B83E-9A9EC68515BC}"/>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Entscheidend ist, ob objektive Umstände Misstrauen gegen Unparteilichkeit rechtfertigen; bloße fachliche Ablehnung genügt nicht.</a:t>
            </a:r>
          </a:p>
        </p:txBody>
      </p:sp>
      <p:sp>
        <p:nvSpPr>
          <p:cNvPr id="9" name="">
            <a:extLst xmlns:a="http://schemas.openxmlformats.org/drawingml/2006/main">
              <a:ext uri="{FF2B5EF4-FFF2-40B4-BE49-F238E27FC236}">
                <a16:creationId xmlns:a16="http://schemas.microsoft.com/office/drawing/2014/main" id="{A1BB1F7B-D2C2-4115-B875-CF3170358AE3}"/>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437458AB-0A9C-42A7-B425-F2EE594F917F}"/>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D492421F-FB21-4848-8688-925CC46FB053}"/>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Frist und Konkretisierung</a:t>
            </a:r>
          </a:p>
        </p:txBody>
      </p:sp>
      <p:sp>
        <p:nvSpPr>
          <p:cNvPr id="12" name="">
            <a:extLst xmlns:a="http://schemas.openxmlformats.org/drawingml/2006/main">
              <a:ext uri="{FF2B5EF4-FFF2-40B4-BE49-F238E27FC236}">
                <a16:creationId xmlns:a16="http://schemas.microsoft.com/office/drawing/2014/main" id="{8CCAC6F0-E926-4438-833F-A9EF2FE0AEA9}"/>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Ein Ablehnungsgesuch oder Einwendungen müssen rechtzeitig und auf konkrete Umstände gestützt werden.</a:t>
            </a:r>
          </a:p>
        </p:txBody>
      </p:sp>
      <p:sp>
        <p:nvSpPr>
          <p:cNvPr id="13" name="">
            <a:extLst xmlns:a="http://schemas.openxmlformats.org/drawingml/2006/main">
              <a:ext uri="{FF2B5EF4-FFF2-40B4-BE49-F238E27FC236}">
                <a16:creationId xmlns:a16="http://schemas.microsoft.com/office/drawing/2014/main" id="{0E99D397-B2A8-49D9-B5EC-29A624040670}"/>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E06C60F0-C9F2-41C8-AEA3-EE6C9BFE0986}"/>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BC8FC3AC-DD48-4759-9108-C16959176734}"/>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Ergänzungsfragen</a:t>
            </a:r>
          </a:p>
        </p:txBody>
      </p:sp>
      <p:sp>
        <p:nvSpPr>
          <p:cNvPr id="16" name="">
            <a:extLst xmlns:a="http://schemas.openxmlformats.org/drawingml/2006/main">
              <a:ext uri="{FF2B5EF4-FFF2-40B4-BE49-F238E27FC236}">
                <a16:creationId xmlns:a16="http://schemas.microsoft.com/office/drawing/2014/main" id="{79DE9948-8DC0-4C1F-A0EB-0F8F8FD93535}"/>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Unklarheiten, Widersprüche und ausgelassene Tatsachenvarianten werden präzise benannt.</a:t>
            </a:r>
          </a:p>
        </p:txBody>
      </p:sp>
      <p:sp>
        <p:nvSpPr>
          <p:cNvPr id="17" name="">
            <a:extLst xmlns:a="http://schemas.openxmlformats.org/drawingml/2006/main">
              <a:ext uri="{FF2B5EF4-FFF2-40B4-BE49-F238E27FC236}">
                <a16:creationId xmlns:a16="http://schemas.microsoft.com/office/drawing/2014/main" id="{B4FA6617-8363-42E1-BA15-E203B89014AF}"/>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995AD402-B752-487C-AECB-11951F9B556A}"/>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6E926490-E7E0-4C53-AFE4-4BB96299A9BE}"/>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Mündliche Erläuterung</a:t>
            </a:r>
          </a:p>
        </p:txBody>
      </p:sp>
      <p:sp>
        <p:nvSpPr>
          <p:cNvPr id="20" name="">
            <a:extLst xmlns:a="http://schemas.openxmlformats.org/drawingml/2006/main">
              <a:ext uri="{FF2B5EF4-FFF2-40B4-BE49-F238E27FC236}">
                <a16:creationId xmlns:a16="http://schemas.microsoft.com/office/drawing/2014/main" id="{C8937874-6A51-4E1F-8EBA-4C2A8CC03E82}"/>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Das Gericht kann die sachverständige Person laden; Parteien können sachbezogene Fragen stellen.</a:t>
            </a:r>
          </a:p>
        </p:txBody>
      </p:sp>
      <p:sp>
        <p:nvSpPr>
          <p:cNvPr id="21" name="">
            <a:extLst xmlns:a="http://schemas.openxmlformats.org/drawingml/2006/main">
              <a:ext uri="{FF2B5EF4-FFF2-40B4-BE49-F238E27FC236}">
                <a16:creationId xmlns:a16="http://schemas.microsoft.com/office/drawing/2014/main" id="{3AE68F3D-5539-4D81-ABF2-E620CB4E1253}"/>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CB58BC75-7C59-4310-AD9D-D5597A5FA46A}"/>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Verfahrensrechte wirken am besten, wenn Kritik früh, konkret und fachlich begründet wird.</a:t>
            </a:r>
          </a:p>
        </p:txBody>
      </p:sp>
    </p:spTree>
    <p:extLst>
      <p:ext uri="{BB962C8B-B14F-4D97-AF65-F5344CB8AC3E}">
        <p14:creationId xmlns:p14="http://schemas.microsoft.com/office/powerpoint/2010/main" val="43637646"/>
      </p:ext>
    </p:extLst>
  </p:cSld>
</p:sld>
</file>

<file path=ppt/slides/slide148.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Beweisfall: widersprüchliche Dokumentation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DURCHGEPRÜFTER FALL</a:t>
            </a:r>
            <a:endParaRPr/>
          </a:p>
        </p:txBody>
      </p:sp>
      <p:sp>
        <p:nvSpPr>
          <p:cNvPr id="4" name="">
            <a:extLst xmlns:a="http://schemas.openxmlformats.org/drawingml/2006/main">
              <a:ext uri="{FF2B5EF4-FFF2-40B4-BE49-F238E27FC236}">
                <a16:creationId xmlns:a16="http://schemas.microsoft.com/office/drawing/2014/main" id="{D26E3D81-99D1-48A8-8B6F-39F030C2C555}"/>
              </a:ext>
            </a:extLst>
          </p:cNvPr>
          <p:cNvSpPr>
            <a:spLocks xmlns:a="http://schemas.openxmlformats.org/drawingml/2006/main" noGrp="1"/>
          </p:cNvSpPr>
          <p:nvPr/>
        </p:nvSpPr>
        <p:spPr>
          <a:xfrm xmlns:a="http://schemas.openxmlformats.org/drawingml/2006/main">
            <a:off x="1809750" y="1924050"/>
            <a:ext cx="9525000" cy="838200"/>
          </a:xfrm>
          <a:prstGeom xmlns:a="http://schemas.openxmlformats.org/drawingml/2006/main" prst="roundRect">
            <a:avLst>
              <a:gd name="adj" fmla="val 9091"/>
            </a:avLst>
          </a:prstGeom>
          <a:solidFill xmlns:a="http://schemas.openxmlformats.org/drawingml/2006/main">
            <a:srgbClr val="EAF6FB"/>
          </a:solidFill>
          <a:ln xmlns:a="http://schemas.openxmlformats.org/drawingml/2006/main" w="9525">
            <a:solidFill>
              <a:srgbClr val="00B2BB"/>
            </a:solidFill>
            <a:prstDash val="solid"/>
          </a:ln>
        </p:spPr>
      </p:sp>
      <p:sp>
        <p:nvSpPr>
          <p:cNvPr id="5" name="">
            <a:extLst xmlns:a="http://schemas.openxmlformats.org/drawingml/2006/main">
              <a:ext uri="{FF2B5EF4-FFF2-40B4-BE49-F238E27FC236}">
                <a16:creationId xmlns:a16="http://schemas.microsoft.com/office/drawing/2014/main" id="{AAB25B29-E61E-49A5-A1C7-84F78A21A8C4}"/>
              </a:ext>
            </a:extLst>
          </p:cNvPr>
          <p:cNvSpPr>
            <a:spLocks xmlns:a="http://schemas.openxmlformats.org/drawingml/2006/main" noGrp="1"/>
          </p:cNvSpPr>
          <p:nvPr/>
        </p:nvSpPr>
        <p:spPr>
          <a:xfrm xmlns:a="http://schemas.openxmlformats.org/drawingml/2006/main">
            <a:off x="1981200" y="2000250"/>
            <a:ext cx="9182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55">
                <a:solidFill>
                  <a:srgbClr val="15232B"/>
                </a:solidFill>
              </a:defRPr>
            </a:pPr>
            <a:r>
              <a:rPr sz="1155">
                <a:solidFill>
                  <a:srgbClr val="15232B"/>
                </a:solidFill>
              </a:rPr>
              <a:t>Die Kurve vermerkt um 18:00 Uhr einen unauffälligen Befund; digitale Metadaten zeigen, dass der Eintrag erst am Folgetag ergänzt wurde. Eine Pflegekraft erinnert eine deutliche Verschlechterung.</a:t>
            </a:r>
          </a:p>
        </p:txBody>
      </p:sp>
      <p:sp>
        <p:nvSpPr>
          <p:cNvPr id="6" name="">
            <a:extLst xmlns:a="http://schemas.openxmlformats.org/drawingml/2006/main">
              <a:ext uri="{FF2B5EF4-FFF2-40B4-BE49-F238E27FC236}">
                <a16:creationId xmlns:a16="http://schemas.microsoft.com/office/drawing/2014/main" id="{34135FB1-6CE5-48CD-82BD-99A2FD1D6292}"/>
              </a:ext>
            </a:extLst>
          </p:cNvPr>
          <p:cNvSpPr>
            <a:spLocks xmlns:a="http://schemas.openxmlformats.org/drawingml/2006/main" noGrp="1"/>
          </p:cNvSpPr>
          <p:nvPr/>
        </p:nvSpPr>
        <p:spPr>
          <a:xfrm xmlns:a="http://schemas.openxmlformats.org/drawingml/2006/main">
            <a:off x="1809750" y="2933700"/>
            <a:ext cx="381000" cy="381000"/>
          </a:xfrm>
          <a:prstGeom xmlns:a="http://schemas.openxmlformats.org/drawingml/2006/main" prst="roundRect">
            <a:avLst>
              <a:gd name="adj" fmla="val 20000"/>
            </a:avLst>
          </a:prstGeom>
          <a:solidFill xmlns:a="http://schemas.openxmlformats.org/drawingml/2006/main">
            <a:srgbClr val="00B2BB"/>
          </a:solidFill>
          <a:ln xmlns:a="http://schemas.openxmlformats.org/drawingml/2006/main" w="0">
            <a:solidFill>
              <a:srgbClr val="00B2BB"/>
            </a:solidFill>
            <a:prstDash val="solid"/>
          </a:ln>
        </p:spPr>
      </p:sp>
      <p:sp>
        <p:nvSpPr>
          <p:cNvPr id="7" name="">
            <a:extLst xmlns:a="http://schemas.openxmlformats.org/drawingml/2006/main">
              <a:ext uri="{FF2B5EF4-FFF2-40B4-BE49-F238E27FC236}">
                <a16:creationId xmlns:a16="http://schemas.microsoft.com/office/drawing/2014/main" id="{D5866191-77C7-4435-8CE8-CF07EFEB36F2}"/>
              </a:ext>
            </a:extLst>
          </p:cNvPr>
          <p:cNvSpPr>
            <a:spLocks xmlns:a="http://schemas.openxmlformats.org/drawingml/2006/main" noGrp="1"/>
          </p:cNvSpPr>
          <p:nvPr/>
        </p:nvSpPr>
        <p:spPr>
          <a:xfrm xmlns:a="http://schemas.openxmlformats.org/drawingml/2006/main">
            <a:off x="1809750" y="293370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8" name="">
            <a:extLst xmlns:a="http://schemas.openxmlformats.org/drawingml/2006/main">
              <a:ext uri="{FF2B5EF4-FFF2-40B4-BE49-F238E27FC236}">
                <a16:creationId xmlns:a16="http://schemas.microsoft.com/office/drawing/2014/main" id="{2324E1C4-25B1-4CE9-8511-B99C3032CD60}"/>
              </a:ext>
            </a:extLst>
          </p:cNvPr>
          <p:cNvSpPr>
            <a:spLocks xmlns:a="http://schemas.openxmlformats.org/drawingml/2006/main" noGrp="1"/>
          </p:cNvSpPr>
          <p:nvPr/>
        </p:nvSpPr>
        <p:spPr>
          <a:xfrm xmlns:a="http://schemas.openxmlformats.org/drawingml/2006/main">
            <a:off x="2343150" y="2914650"/>
            <a:ext cx="18097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Beweisthemen</a:t>
            </a:r>
          </a:p>
        </p:txBody>
      </p:sp>
      <p:sp>
        <p:nvSpPr>
          <p:cNvPr id="9" name="">
            <a:extLst xmlns:a="http://schemas.openxmlformats.org/drawingml/2006/main">
              <a:ext uri="{FF2B5EF4-FFF2-40B4-BE49-F238E27FC236}">
                <a16:creationId xmlns:a16="http://schemas.microsoft.com/office/drawing/2014/main" id="{54636005-4016-4C78-89AD-18D86508D09B}"/>
              </a:ext>
            </a:extLst>
          </p:cNvPr>
          <p:cNvSpPr>
            <a:spLocks xmlns:a="http://schemas.openxmlformats.org/drawingml/2006/main" noGrp="1"/>
          </p:cNvSpPr>
          <p:nvPr/>
        </p:nvSpPr>
        <p:spPr>
          <a:xfrm xmlns:a="http://schemas.openxmlformats.org/drawingml/2006/main">
            <a:off x="4286250" y="2914650"/>
            <a:ext cx="69532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35">
                <a:solidFill>
                  <a:srgbClr val="15232B"/>
                </a:solidFill>
              </a:defRPr>
            </a:pPr>
            <a:r>
              <a:rPr sz="1035">
                <a:solidFill>
                  <a:srgbClr val="15232B"/>
                </a:solidFill>
              </a:rPr>
              <a:t>Zu trennen sind tatsächlicher Zustand, Zeitpunkt der Untersuchung, Inhalt der Wahrnehmung und Zeitpunkt des Eintrags.</a:t>
            </a:r>
          </a:p>
        </p:txBody>
      </p:sp>
      <p:sp>
        <p:nvSpPr>
          <p:cNvPr id="10" name="">
            <a:extLst xmlns:a="http://schemas.openxmlformats.org/drawingml/2006/main">
              <a:ext uri="{FF2B5EF4-FFF2-40B4-BE49-F238E27FC236}">
                <a16:creationId xmlns:a16="http://schemas.microsoft.com/office/drawing/2014/main" id="{01E5B639-952A-4D1C-89B0-171BCA942A42}"/>
              </a:ext>
            </a:extLst>
          </p:cNvPr>
          <p:cNvSpPr>
            <a:spLocks xmlns:a="http://schemas.openxmlformats.org/drawingml/2006/main" noGrp="1"/>
          </p:cNvSpPr>
          <p:nvPr/>
        </p:nvSpPr>
        <p:spPr>
          <a:xfrm xmlns:a="http://schemas.openxmlformats.org/drawingml/2006/main">
            <a:off x="1809750" y="3394710"/>
            <a:ext cx="381000" cy="381000"/>
          </a:xfrm>
          <a:prstGeom xmlns:a="http://schemas.openxmlformats.org/drawingml/2006/main" prst="roundRect">
            <a:avLst>
              <a:gd name="adj" fmla="val 20000"/>
            </a:avLst>
          </a:prstGeom>
          <a:solidFill xmlns:a="http://schemas.openxmlformats.org/drawingml/2006/main">
            <a:srgbClr val="003F6B"/>
          </a:solidFill>
          <a:ln xmlns:a="http://schemas.openxmlformats.org/drawingml/2006/main" w="0">
            <a:solidFill>
              <a:srgbClr val="003F6B"/>
            </a:solidFill>
            <a:prstDash val="solid"/>
          </a:ln>
        </p:spPr>
      </p:sp>
      <p:sp>
        <p:nvSpPr>
          <p:cNvPr id="11" name="">
            <a:extLst xmlns:a="http://schemas.openxmlformats.org/drawingml/2006/main">
              <a:ext uri="{FF2B5EF4-FFF2-40B4-BE49-F238E27FC236}">
                <a16:creationId xmlns:a16="http://schemas.microsoft.com/office/drawing/2014/main" id="{F9FB3C06-DA63-455F-B029-A21E6C365B1E}"/>
              </a:ext>
            </a:extLst>
          </p:cNvPr>
          <p:cNvSpPr>
            <a:spLocks xmlns:a="http://schemas.openxmlformats.org/drawingml/2006/main" noGrp="1"/>
          </p:cNvSpPr>
          <p:nvPr/>
        </p:nvSpPr>
        <p:spPr>
          <a:xfrm xmlns:a="http://schemas.openxmlformats.org/drawingml/2006/main">
            <a:off x="1809750" y="339471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2" name="">
            <a:extLst xmlns:a="http://schemas.openxmlformats.org/drawingml/2006/main">
              <a:ext uri="{FF2B5EF4-FFF2-40B4-BE49-F238E27FC236}">
                <a16:creationId xmlns:a16="http://schemas.microsoft.com/office/drawing/2014/main" id="{E4D9B6ED-D6F0-4750-BFDA-26DBD8765770}"/>
              </a:ext>
            </a:extLst>
          </p:cNvPr>
          <p:cNvSpPr>
            <a:spLocks xmlns:a="http://schemas.openxmlformats.org/drawingml/2006/main" noGrp="1"/>
          </p:cNvSpPr>
          <p:nvPr/>
        </p:nvSpPr>
        <p:spPr>
          <a:xfrm xmlns:a="http://schemas.openxmlformats.org/drawingml/2006/main">
            <a:off x="2343150" y="3375660"/>
            <a:ext cx="18097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Beweismittel</a:t>
            </a:r>
          </a:p>
        </p:txBody>
      </p:sp>
      <p:sp>
        <p:nvSpPr>
          <p:cNvPr id="13" name="">
            <a:extLst xmlns:a="http://schemas.openxmlformats.org/drawingml/2006/main">
              <a:ext uri="{FF2B5EF4-FFF2-40B4-BE49-F238E27FC236}">
                <a16:creationId xmlns:a16="http://schemas.microsoft.com/office/drawing/2014/main" id="{2A8C045C-FE4F-4F66-A356-E19647F4287F}"/>
              </a:ext>
            </a:extLst>
          </p:cNvPr>
          <p:cNvSpPr>
            <a:spLocks xmlns:a="http://schemas.openxmlformats.org/drawingml/2006/main" noGrp="1"/>
          </p:cNvSpPr>
          <p:nvPr/>
        </p:nvSpPr>
        <p:spPr>
          <a:xfrm xmlns:a="http://schemas.openxmlformats.org/drawingml/2006/main">
            <a:off x="4286250" y="3375660"/>
            <a:ext cx="69532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35">
                <a:solidFill>
                  <a:srgbClr val="15232B"/>
                </a:solidFill>
              </a:defRPr>
            </a:pPr>
            <a:r>
              <a:rPr sz="1035">
                <a:solidFill>
                  <a:srgbClr val="15232B"/>
                </a:solidFill>
              </a:rPr>
              <a:t>Kurve, Änderungshistorie, Zeugenaussage und weitere objektive Befunde werden gemeinsam gewürdigt.</a:t>
            </a:r>
          </a:p>
        </p:txBody>
      </p:sp>
      <p:sp>
        <p:nvSpPr>
          <p:cNvPr id="14" name="">
            <a:extLst xmlns:a="http://schemas.openxmlformats.org/drawingml/2006/main">
              <a:ext uri="{FF2B5EF4-FFF2-40B4-BE49-F238E27FC236}">
                <a16:creationId xmlns:a16="http://schemas.microsoft.com/office/drawing/2014/main" id="{933D2675-6BBC-416F-B22B-C344D226376D}"/>
              </a:ext>
            </a:extLst>
          </p:cNvPr>
          <p:cNvSpPr>
            <a:spLocks xmlns:a="http://schemas.openxmlformats.org/drawingml/2006/main" noGrp="1"/>
          </p:cNvSpPr>
          <p:nvPr/>
        </p:nvSpPr>
        <p:spPr>
          <a:xfrm xmlns:a="http://schemas.openxmlformats.org/drawingml/2006/main">
            <a:off x="1809750" y="3855720"/>
            <a:ext cx="381000" cy="381000"/>
          </a:xfrm>
          <a:prstGeom xmlns:a="http://schemas.openxmlformats.org/drawingml/2006/main" prst="roundRect">
            <a:avLst>
              <a:gd name="adj" fmla="val 20000"/>
            </a:avLst>
          </a:prstGeom>
          <a:solidFill xmlns:a="http://schemas.openxmlformats.org/drawingml/2006/main">
            <a:srgbClr val="00B2BB"/>
          </a:solidFill>
          <a:ln xmlns:a="http://schemas.openxmlformats.org/drawingml/2006/main" w="0">
            <a:solidFill>
              <a:srgbClr val="00B2BB"/>
            </a:solidFill>
            <a:prstDash val="solid"/>
          </a:ln>
        </p:spPr>
      </p:sp>
      <p:sp>
        <p:nvSpPr>
          <p:cNvPr id="15" name="">
            <a:extLst xmlns:a="http://schemas.openxmlformats.org/drawingml/2006/main">
              <a:ext uri="{FF2B5EF4-FFF2-40B4-BE49-F238E27FC236}">
                <a16:creationId xmlns:a16="http://schemas.microsoft.com/office/drawing/2014/main" id="{46C8D95B-7C4E-4D3E-9070-41CE97E0866D}"/>
              </a:ext>
            </a:extLst>
          </p:cNvPr>
          <p:cNvSpPr>
            <a:spLocks xmlns:a="http://schemas.openxmlformats.org/drawingml/2006/main" noGrp="1"/>
          </p:cNvSpPr>
          <p:nvPr/>
        </p:nvSpPr>
        <p:spPr>
          <a:xfrm xmlns:a="http://schemas.openxmlformats.org/drawingml/2006/main">
            <a:off x="1809750" y="385572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6" name="">
            <a:extLst xmlns:a="http://schemas.openxmlformats.org/drawingml/2006/main">
              <a:ext uri="{FF2B5EF4-FFF2-40B4-BE49-F238E27FC236}">
                <a16:creationId xmlns:a16="http://schemas.microsoft.com/office/drawing/2014/main" id="{E3732E6A-448F-4BE9-830E-535E1646E067}"/>
              </a:ext>
            </a:extLst>
          </p:cNvPr>
          <p:cNvSpPr>
            <a:spLocks xmlns:a="http://schemas.openxmlformats.org/drawingml/2006/main" noGrp="1"/>
          </p:cNvSpPr>
          <p:nvPr/>
        </p:nvSpPr>
        <p:spPr>
          <a:xfrm xmlns:a="http://schemas.openxmlformats.org/drawingml/2006/main">
            <a:off x="2343150" y="3836670"/>
            <a:ext cx="18097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 630h Abs. 3</a:t>
            </a:r>
          </a:p>
        </p:txBody>
      </p:sp>
      <p:sp>
        <p:nvSpPr>
          <p:cNvPr id="17" name="">
            <a:extLst xmlns:a="http://schemas.openxmlformats.org/drawingml/2006/main">
              <a:ext uri="{FF2B5EF4-FFF2-40B4-BE49-F238E27FC236}">
                <a16:creationId xmlns:a16="http://schemas.microsoft.com/office/drawing/2014/main" id="{5E7F2F74-B1EA-4855-A9E5-3F536BCA2C7F}"/>
              </a:ext>
            </a:extLst>
          </p:cNvPr>
          <p:cNvSpPr>
            <a:spLocks xmlns:a="http://schemas.openxmlformats.org/drawingml/2006/main" noGrp="1"/>
          </p:cNvSpPr>
          <p:nvPr/>
        </p:nvSpPr>
        <p:spPr>
          <a:xfrm xmlns:a="http://schemas.openxmlformats.org/drawingml/2006/main">
            <a:off x="4286250" y="3836670"/>
            <a:ext cx="69532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35">
                <a:solidFill>
                  <a:srgbClr val="15232B"/>
                </a:solidFill>
              </a:defRPr>
            </a:pPr>
            <a:r>
              <a:rPr sz="1035">
                <a:solidFill>
                  <a:srgbClr val="15232B"/>
                </a:solidFill>
              </a:rPr>
              <a:t>Die Vermutung betrifft eine nicht dokumentierte wesentliche Maßnahme; hier muss zusätzlich der Beweiswert eines verspäteten Eintrags bewertet werden.</a:t>
            </a:r>
          </a:p>
        </p:txBody>
      </p:sp>
      <p:sp>
        <p:nvSpPr>
          <p:cNvPr id="18" name="">
            <a:extLst xmlns:a="http://schemas.openxmlformats.org/drawingml/2006/main">
              <a:ext uri="{FF2B5EF4-FFF2-40B4-BE49-F238E27FC236}">
                <a16:creationId xmlns:a16="http://schemas.microsoft.com/office/drawing/2014/main" id="{BAAF7C80-0DE5-4E71-A3DA-1FBC388C80CC}"/>
              </a:ext>
            </a:extLst>
          </p:cNvPr>
          <p:cNvSpPr>
            <a:spLocks xmlns:a="http://schemas.openxmlformats.org/drawingml/2006/main" noGrp="1"/>
          </p:cNvSpPr>
          <p:nvPr/>
        </p:nvSpPr>
        <p:spPr>
          <a:xfrm xmlns:a="http://schemas.openxmlformats.org/drawingml/2006/main">
            <a:off x="1809750" y="4316730"/>
            <a:ext cx="381000" cy="381000"/>
          </a:xfrm>
          <a:prstGeom xmlns:a="http://schemas.openxmlformats.org/drawingml/2006/main" prst="roundRect">
            <a:avLst>
              <a:gd name="adj" fmla="val 20000"/>
            </a:avLst>
          </a:prstGeom>
          <a:solidFill xmlns:a="http://schemas.openxmlformats.org/drawingml/2006/main">
            <a:srgbClr val="003F6B"/>
          </a:solidFill>
          <a:ln xmlns:a="http://schemas.openxmlformats.org/drawingml/2006/main" w="0">
            <a:solidFill>
              <a:srgbClr val="003F6B"/>
            </a:solidFill>
            <a:prstDash val="solid"/>
          </a:ln>
        </p:spPr>
      </p:sp>
      <p:sp>
        <p:nvSpPr>
          <p:cNvPr id="19" name="">
            <a:extLst xmlns:a="http://schemas.openxmlformats.org/drawingml/2006/main">
              <a:ext uri="{FF2B5EF4-FFF2-40B4-BE49-F238E27FC236}">
                <a16:creationId xmlns:a16="http://schemas.microsoft.com/office/drawing/2014/main" id="{42934804-A6D8-43E2-8ADD-7980F481D794}"/>
              </a:ext>
            </a:extLst>
          </p:cNvPr>
          <p:cNvSpPr>
            <a:spLocks xmlns:a="http://schemas.openxmlformats.org/drawingml/2006/main" noGrp="1"/>
          </p:cNvSpPr>
          <p:nvPr/>
        </p:nvSpPr>
        <p:spPr>
          <a:xfrm xmlns:a="http://schemas.openxmlformats.org/drawingml/2006/main">
            <a:off x="1809750" y="431673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20" name="">
            <a:extLst xmlns:a="http://schemas.openxmlformats.org/drawingml/2006/main">
              <a:ext uri="{FF2B5EF4-FFF2-40B4-BE49-F238E27FC236}">
                <a16:creationId xmlns:a16="http://schemas.microsoft.com/office/drawing/2014/main" id="{CB5201CD-D81A-405A-82C8-AB93D2245878}"/>
              </a:ext>
            </a:extLst>
          </p:cNvPr>
          <p:cNvSpPr>
            <a:spLocks xmlns:a="http://schemas.openxmlformats.org/drawingml/2006/main" noGrp="1"/>
          </p:cNvSpPr>
          <p:nvPr/>
        </p:nvSpPr>
        <p:spPr>
          <a:xfrm xmlns:a="http://schemas.openxmlformats.org/drawingml/2006/main">
            <a:off x="2343150" y="4297680"/>
            <a:ext cx="18097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Sachverständiger</a:t>
            </a:r>
          </a:p>
        </p:txBody>
      </p:sp>
      <p:sp>
        <p:nvSpPr>
          <p:cNvPr id="21" name="">
            <a:extLst xmlns:a="http://schemas.openxmlformats.org/drawingml/2006/main">
              <a:ext uri="{FF2B5EF4-FFF2-40B4-BE49-F238E27FC236}">
                <a16:creationId xmlns:a16="http://schemas.microsoft.com/office/drawing/2014/main" id="{877BA404-3677-4B28-8781-C7664162F99B}"/>
              </a:ext>
            </a:extLst>
          </p:cNvPr>
          <p:cNvSpPr>
            <a:spLocks xmlns:a="http://schemas.openxmlformats.org/drawingml/2006/main" noGrp="1"/>
          </p:cNvSpPr>
          <p:nvPr/>
        </p:nvSpPr>
        <p:spPr>
          <a:xfrm xmlns:a="http://schemas.openxmlformats.org/drawingml/2006/main">
            <a:off x="4286250" y="4297680"/>
            <a:ext cx="69532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35">
                <a:solidFill>
                  <a:srgbClr val="15232B"/>
                </a:solidFill>
              </a:defRPr>
            </a:pPr>
            <a:r>
              <a:rPr sz="1035">
                <a:solidFill>
                  <a:srgbClr val="15232B"/>
                </a:solidFill>
              </a:rPr>
              <a:t>Er kann erklären, welche Befunde medizinisch zu erwarten wären, aber nicht entscheiden, wer wahr sagt.</a:t>
            </a:r>
          </a:p>
        </p:txBody>
      </p:sp>
      <p:sp>
        <p:nvSpPr>
          <p:cNvPr id="22" name="">
            <a:extLst xmlns:a="http://schemas.openxmlformats.org/drawingml/2006/main">
              <a:ext uri="{FF2B5EF4-FFF2-40B4-BE49-F238E27FC236}">
                <a16:creationId xmlns:a16="http://schemas.microsoft.com/office/drawing/2014/main" id="{326C3485-2669-4220-B7E6-10C8DA651368}"/>
              </a:ext>
            </a:extLst>
          </p:cNvPr>
          <p:cNvSpPr>
            <a:spLocks xmlns:a="http://schemas.openxmlformats.org/drawingml/2006/main" noGrp="1"/>
          </p:cNvSpPr>
          <p:nvPr/>
        </p:nvSpPr>
        <p:spPr>
          <a:xfrm xmlns:a="http://schemas.openxmlformats.org/drawingml/2006/main">
            <a:off x="1809750" y="4777740"/>
            <a:ext cx="381000" cy="381000"/>
          </a:xfrm>
          <a:prstGeom xmlns:a="http://schemas.openxmlformats.org/drawingml/2006/main" prst="roundRect">
            <a:avLst>
              <a:gd name="adj" fmla="val 20000"/>
            </a:avLst>
          </a:prstGeom>
          <a:solidFill xmlns:a="http://schemas.openxmlformats.org/drawingml/2006/main">
            <a:srgbClr val="00B2BB"/>
          </a:solidFill>
          <a:ln xmlns:a="http://schemas.openxmlformats.org/drawingml/2006/main" w="0">
            <a:solidFill>
              <a:srgbClr val="00B2BB"/>
            </a:solidFill>
            <a:prstDash val="solid"/>
          </a:ln>
        </p:spPr>
      </p:sp>
      <p:sp>
        <p:nvSpPr>
          <p:cNvPr id="23" name="">
            <a:extLst xmlns:a="http://schemas.openxmlformats.org/drawingml/2006/main">
              <a:ext uri="{FF2B5EF4-FFF2-40B4-BE49-F238E27FC236}">
                <a16:creationId xmlns:a16="http://schemas.microsoft.com/office/drawing/2014/main" id="{15F087C8-DE1C-4BCA-A768-414275F039D2}"/>
              </a:ext>
            </a:extLst>
          </p:cNvPr>
          <p:cNvSpPr>
            <a:spLocks xmlns:a="http://schemas.openxmlformats.org/drawingml/2006/main" noGrp="1"/>
          </p:cNvSpPr>
          <p:nvPr/>
        </p:nvSpPr>
        <p:spPr>
          <a:xfrm xmlns:a="http://schemas.openxmlformats.org/drawingml/2006/main">
            <a:off x="1809750" y="477774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5</a:t>
            </a:r>
          </a:p>
        </p:txBody>
      </p:sp>
      <p:sp>
        <p:nvSpPr>
          <p:cNvPr id="24" name="">
            <a:extLst xmlns:a="http://schemas.openxmlformats.org/drawingml/2006/main">
              <a:ext uri="{FF2B5EF4-FFF2-40B4-BE49-F238E27FC236}">
                <a16:creationId xmlns:a16="http://schemas.microsoft.com/office/drawing/2014/main" id="{1421032C-E6E8-4D92-B0A1-87A828D1E3E9}"/>
              </a:ext>
            </a:extLst>
          </p:cNvPr>
          <p:cNvSpPr>
            <a:spLocks xmlns:a="http://schemas.openxmlformats.org/drawingml/2006/main" noGrp="1"/>
          </p:cNvSpPr>
          <p:nvPr/>
        </p:nvSpPr>
        <p:spPr>
          <a:xfrm xmlns:a="http://schemas.openxmlformats.org/drawingml/2006/main">
            <a:off x="2343150" y="4758690"/>
            <a:ext cx="18097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Ergebnisoffenheit</a:t>
            </a:r>
          </a:p>
        </p:txBody>
      </p:sp>
      <p:sp>
        <p:nvSpPr>
          <p:cNvPr id="25" name="">
            <a:extLst xmlns:a="http://schemas.openxmlformats.org/drawingml/2006/main">
              <a:ext uri="{FF2B5EF4-FFF2-40B4-BE49-F238E27FC236}">
                <a16:creationId xmlns:a16="http://schemas.microsoft.com/office/drawing/2014/main" id="{DDEA2A2C-7202-44AC-BC23-5FCD88CA68D4}"/>
              </a:ext>
            </a:extLst>
          </p:cNvPr>
          <p:cNvSpPr>
            <a:spLocks xmlns:a="http://schemas.openxmlformats.org/drawingml/2006/main" noGrp="1"/>
          </p:cNvSpPr>
          <p:nvPr/>
        </p:nvSpPr>
        <p:spPr>
          <a:xfrm xmlns:a="http://schemas.openxmlformats.org/drawingml/2006/main">
            <a:off x="4286250" y="4758690"/>
            <a:ext cx="69532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35">
                <a:solidFill>
                  <a:srgbClr val="15232B"/>
                </a:solidFill>
              </a:defRPr>
            </a:pPr>
            <a:r>
              <a:rPr sz="1035">
                <a:solidFill>
                  <a:srgbClr val="15232B"/>
                </a:solidFill>
              </a:rPr>
              <a:t>Das Gericht bildet nach § 286 ZPO eine Gesamtüberzeugung und legt die Gründe offen.</a:t>
            </a:r>
          </a:p>
        </p:txBody>
      </p:sp>
      <p:sp>
        <p:nvSpPr>
          <p:cNvPr id="26" name="">
            <a:extLst xmlns:a="http://schemas.openxmlformats.org/drawingml/2006/main">
              <a:ext uri="{FF2B5EF4-FFF2-40B4-BE49-F238E27FC236}">
                <a16:creationId xmlns:a16="http://schemas.microsoft.com/office/drawing/2014/main" id="{8281A1B5-C274-4383-84A4-37AD2F1FD88C}"/>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20">
                <a:solidFill>
                  <a:srgbClr val="667680"/>
                </a:solidFill>
              </a:defRPr>
            </a:pPr>
            <a:r>
              <a:rPr sz="720">
                <a:solidFill>
                  <a:srgbClr val="667680"/>
                </a:solidFill>
              </a:rPr>
              <a:t>Lehrfall nach BGH, Urt. v. 27.04.2021 – VI ZR 84/19 (elektronische Dokumentation und Beweiswert) · https://juris.bundesgerichtshof.de</a:t>
            </a:r>
          </a:p>
        </p:txBody>
      </p:sp>
      <p:sp>
        <p:nvSpPr>
          <p:cNvPr id="27" name="">
            <a:extLst xmlns:a="http://schemas.openxmlformats.org/drawingml/2006/main">
              <a:ext uri="{FF2B5EF4-FFF2-40B4-BE49-F238E27FC236}">
                <a16:creationId xmlns:a16="http://schemas.microsoft.com/office/drawing/2014/main" id="{B3891AAA-40FA-403F-BCD4-39CE512EC65D}"/>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8" name="">
            <a:extLst xmlns:a="http://schemas.openxmlformats.org/drawingml/2006/main">
              <a:ext uri="{FF2B5EF4-FFF2-40B4-BE49-F238E27FC236}">
                <a16:creationId xmlns:a16="http://schemas.microsoft.com/office/drawing/2014/main" id="{BE45CA54-6830-4447-84D6-14216F3E3C92}"/>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Beweiswürdigung verbindet technische, medizinische und personale Beweisquellen; keine davon ist automatisch absolut.</a:t>
            </a:r>
          </a:p>
        </p:txBody>
      </p:sp>
    </p:spTree>
    <p:extLst>
      <p:ext uri="{BB962C8B-B14F-4D97-AF65-F5344CB8AC3E}">
        <p14:creationId xmlns:p14="http://schemas.microsoft.com/office/powerpoint/2010/main" val="43637646"/>
      </p:ext>
    </p:extLst>
  </p:cSld>
</p:sld>
</file>

<file path=ppt/slides/slide149.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Privatgutachten und Gerichtsgutachten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DF8D2F0A-2A6D-49DF-B428-32DE52EC614A}"/>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Beide können medizinische Expertise liefern, haben aber unterschiedliche prozessuale Rollen.</a:t>
            </a:r>
          </a:p>
        </p:txBody>
      </p:sp>
      <p:sp>
        <p:nvSpPr>
          <p:cNvPr id="5" name="">
            <a:extLst xmlns:a="http://schemas.openxmlformats.org/drawingml/2006/main">
              <a:ext uri="{FF2B5EF4-FFF2-40B4-BE49-F238E27FC236}">
                <a16:creationId xmlns:a16="http://schemas.microsoft.com/office/drawing/2014/main" id="{F7EB122C-70C5-4E52-AAFC-BC9EBCB24F54}"/>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BA165EE1-5060-45B1-8928-5B4D7878E0C9}"/>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BC363448-909D-4C0E-B992-EAA7657CA9AB}"/>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Privatgutachten</a:t>
            </a:r>
          </a:p>
        </p:txBody>
      </p:sp>
      <p:sp>
        <p:nvSpPr>
          <p:cNvPr id="8" name="">
            <a:extLst xmlns:a="http://schemas.openxmlformats.org/drawingml/2006/main">
              <a:ext uri="{FF2B5EF4-FFF2-40B4-BE49-F238E27FC236}">
                <a16:creationId xmlns:a16="http://schemas.microsoft.com/office/drawing/2014/main" id="{2EC1B97B-DAF3-49E7-BD56-6812A2A2793F}"/>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Es ist qualifizierter Parteivortrag. Es kann Tatsachen und fachliche Einwände substantiieren, ersetzt aber grundsätzlich nicht den gerichtlichen Sachverständigenbeweis.</a:t>
            </a:r>
          </a:p>
        </p:txBody>
      </p:sp>
      <p:sp>
        <p:nvSpPr>
          <p:cNvPr id="9" name="">
            <a:extLst xmlns:a="http://schemas.openxmlformats.org/drawingml/2006/main">
              <a:ext uri="{FF2B5EF4-FFF2-40B4-BE49-F238E27FC236}">
                <a16:creationId xmlns:a16="http://schemas.microsoft.com/office/drawing/2014/main" id="{D672EAD2-9CDD-4EBC-AFB5-FB5C80E21D16}"/>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9042DD1D-ADD8-4369-923A-A768432CD141}"/>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B8B6C960-6600-4AA3-A36A-2E8CAC7BF394}"/>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Gerichtsgutachten</a:t>
            </a:r>
          </a:p>
        </p:txBody>
      </p:sp>
      <p:sp>
        <p:nvSpPr>
          <p:cNvPr id="12" name="">
            <a:extLst xmlns:a="http://schemas.openxmlformats.org/drawingml/2006/main">
              <a:ext uri="{FF2B5EF4-FFF2-40B4-BE49-F238E27FC236}">
                <a16:creationId xmlns:a16="http://schemas.microsoft.com/office/drawing/2014/main" id="{BD6F786B-D2C4-4F22-9F58-1ECF0DC24B6F}"/>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Es wird vom Gericht beauftragt, folgt dem Beweisbeschluss und unterliegt den Regeln der §§ 402 ff. ZPO.</a:t>
            </a:r>
          </a:p>
        </p:txBody>
      </p:sp>
      <p:sp>
        <p:nvSpPr>
          <p:cNvPr id="13" name="">
            <a:extLst xmlns:a="http://schemas.openxmlformats.org/drawingml/2006/main">
              <a:ext uri="{FF2B5EF4-FFF2-40B4-BE49-F238E27FC236}">
                <a16:creationId xmlns:a16="http://schemas.microsoft.com/office/drawing/2014/main" id="{8A02AFDD-5CB6-4DF1-9D48-66C298D4E21D}"/>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9A18B627-DE4B-468E-98A0-33045C809862}"/>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FDE5AE58-29D9-4697-A8CC-323EB5878D46}"/>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Widerspruch</a:t>
            </a:r>
          </a:p>
        </p:txBody>
      </p:sp>
      <p:sp>
        <p:nvSpPr>
          <p:cNvPr id="16" name="">
            <a:extLst xmlns:a="http://schemas.openxmlformats.org/drawingml/2006/main">
              <a:ext uri="{FF2B5EF4-FFF2-40B4-BE49-F238E27FC236}">
                <a16:creationId xmlns:a16="http://schemas.microsoft.com/office/drawing/2014/main" id="{834E55D2-AFF9-457B-863A-077E7A0B996D}"/>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Ein fundiertes Privatgutachten kann das Gericht verpflichten, Widersprüche aufzuklären und Ergänzungsfragen zu stellen.</a:t>
            </a:r>
          </a:p>
        </p:txBody>
      </p:sp>
      <p:sp>
        <p:nvSpPr>
          <p:cNvPr id="17" name="">
            <a:extLst xmlns:a="http://schemas.openxmlformats.org/drawingml/2006/main">
              <a:ext uri="{FF2B5EF4-FFF2-40B4-BE49-F238E27FC236}">
                <a16:creationId xmlns:a16="http://schemas.microsoft.com/office/drawing/2014/main" id="{DE212F76-0BEE-4722-B76B-EE19BE4B6189}"/>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0905233A-D2CC-466E-8DD9-69A210858671}"/>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522570AF-787A-45D0-BF3A-EF8993FCEEBE}"/>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Strategie</a:t>
            </a:r>
          </a:p>
        </p:txBody>
      </p:sp>
      <p:sp>
        <p:nvSpPr>
          <p:cNvPr id="20" name="">
            <a:extLst xmlns:a="http://schemas.openxmlformats.org/drawingml/2006/main">
              <a:ext uri="{FF2B5EF4-FFF2-40B4-BE49-F238E27FC236}">
                <a16:creationId xmlns:a16="http://schemas.microsoft.com/office/drawing/2014/main" id="{149F9AE4-65D7-4D30-9583-74E58A9D92AF}"/>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Entscheidend sind präzise Fragen, vollständige Unterlagen und transparente abweichende Annahmen.</a:t>
            </a:r>
          </a:p>
        </p:txBody>
      </p:sp>
      <p:sp>
        <p:nvSpPr>
          <p:cNvPr id="21" name="">
            <a:extLst xmlns:a="http://schemas.openxmlformats.org/drawingml/2006/main">
              <a:ext uri="{FF2B5EF4-FFF2-40B4-BE49-F238E27FC236}">
                <a16:creationId xmlns:a16="http://schemas.microsoft.com/office/drawing/2014/main" id="{F7BDFFBE-EE59-4C6F-BAB5-2B8C7841AC63}"/>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52B93AF8-0EB7-441B-8BD5-9237CA6BA985}"/>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Nicht die Bezeichnung, sondern die prozessuale Einordnung bestimmt den Beweiswert.</a:t>
            </a:r>
          </a:p>
        </p:txBody>
      </p:sp>
    </p:spTree>
    <p:extLst>
      <p:ext uri="{BB962C8B-B14F-4D97-AF65-F5344CB8AC3E}">
        <p14:creationId xmlns:p14="http://schemas.microsoft.com/office/powerpoint/2010/main" val="43637646"/>
      </p:ext>
    </p:extLst>
  </p:cSld>
</p:sld>
</file>

<file path=ppt/slides/slide150.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Beweis-Matrix für jeden Fall</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PRÜFUNGSSCHEMA · TATSACHE – LAST – MITTEL</a:t>
            </a:r>
            <a:endParaRPr/>
          </a:p>
        </p:txBody>
      </p:sp>
      <p:sp>
        <p:nvSpPr>
          <p:cNvPr id="4" name="">
            <a:extLst xmlns:a="http://schemas.openxmlformats.org/drawingml/2006/main">
              <a:ext uri="{FF2B5EF4-FFF2-40B4-BE49-F238E27FC236}">
                <a16:creationId xmlns:a16="http://schemas.microsoft.com/office/drawing/2014/main" id="{0F16A2B8-AFE3-4389-9B4B-343E6EE6D3F3}"/>
              </a:ext>
            </a:extLst>
          </p:cNvPr>
          <p:cNvSpPr>
            <a:spLocks xmlns:a="http://schemas.openxmlformats.org/drawingml/2006/main" noGrp="1"/>
          </p:cNvSpPr>
          <p:nvPr/>
        </p:nvSpPr>
        <p:spPr>
          <a:xfrm xmlns:a="http://schemas.openxmlformats.org/drawingml/2006/main">
            <a:off x="1809750" y="195262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078E82FD-793A-4B0F-9B75-7256F610011D}"/>
              </a:ext>
            </a:extLst>
          </p:cNvPr>
          <p:cNvSpPr>
            <a:spLocks xmlns:a="http://schemas.openxmlformats.org/drawingml/2006/main" noGrp="1"/>
          </p:cNvSpPr>
          <p:nvPr/>
        </p:nvSpPr>
        <p:spPr>
          <a:xfrm xmlns:a="http://schemas.openxmlformats.org/drawingml/2006/main">
            <a:off x="1809750" y="19526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6" name="">
            <a:extLst xmlns:a="http://schemas.openxmlformats.org/drawingml/2006/main">
              <a:ext uri="{FF2B5EF4-FFF2-40B4-BE49-F238E27FC236}">
                <a16:creationId xmlns:a16="http://schemas.microsoft.com/office/drawing/2014/main" id="{3C69051E-6C16-4835-8B6A-44C9D4A8B22F}"/>
              </a:ext>
            </a:extLst>
          </p:cNvPr>
          <p:cNvSpPr>
            <a:spLocks xmlns:a="http://schemas.openxmlformats.org/drawingml/2006/main" noGrp="1"/>
          </p:cNvSpPr>
          <p:nvPr/>
        </p:nvSpPr>
        <p:spPr>
          <a:xfrm xmlns:a="http://schemas.openxmlformats.org/drawingml/2006/main">
            <a:off x="2324100" y="196215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1. Tatsache</a:t>
            </a:r>
          </a:p>
        </p:txBody>
      </p:sp>
      <p:sp>
        <p:nvSpPr>
          <p:cNvPr id="7" name="">
            <a:extLst xmlns:a="http://schemas.openxmlformats.org/drawingml/2006/main">
              <a:ext uri="{FF2B5EF4-FFF2-40B4-BE49-F238E27FC236}">
                <a16:creationId xmlns:a16="http://schemas.microsoft.com/office/drawing/2014/main" id="{2ACF73B4-F8FC-48F5-8E18-9E563B66522C}"/>
              </a:ext>
            </a:extLst>
          </p:cNvPr>
          <p:cNvSpPr>
            <a:spLocks xmlns:a="http://schemas.openxmlformats.org/drawingml/2006/main" noGrp="1"/>
          </p:cNvSpPr>
          <p:nvPr/>
        </p:nvSpPr>
        <p:spPr>
          <a:xfrm xmlns:a="http://schemas.openxmlformats.org/drawingml/2006/main">
            <a:off x="4819650" y="196215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Welche konkrete Behauptung ist für ein Tatbestandsmerkmal entscheidend?</a:t>
            </a:r>
          </a:p>
        </p:txBody>
      </p:sp>
      <p:sp>
        <p:nvSpPr>
          <p:cNvPr id="8" name="">
            <a:extLst xmlns:a="http://schemas.openxmlformats.org/drawingml/2006/main">
              <a:ext uri="{FF2B5EF4-FFF2-40B4-BE49-F238E27FC236}">
                <a16:creationId xmlns:a16="http://schemas.microsoft.com/office/drawing/2014/main" id="{3AE062DD-0AD0-41A7-BCD6-10813678462E}"/>
              </a:ext>
            </a:extLst>
          </p:cNvPr>
          <p:cNvSpPr>
            <a:spLocks xmlns:a="http://schemas.openxmlformats.org/drawingml/2006/main" noGrp="1"/>
          </p:cNvSpPr>
          <p:nvPr/>
        </p:nvSpPr>
        <p:spPr>
          <a:xfrm xmlns:a="http://schemas.openxmlformats.org/drawingml/2006/main">
            <a:off x="1809750" y="255270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9" name="">
            <a:extLst xmlns:a="http://schemas.openxmlformats.org/drawingml/2006/main">
              <a:ext uri="{FF2B5EF4-FFF2-40B4-BE49-F238E27FC236}">
                <a16:creationId xmlns:a16="http://schemas.microsoft.com/office/drawing/2014/main" id="{70F74510-DFA9-4004-8E78-A22DD355CC45}"/>
              </a:ext>
            </a:extLst>
          </p:cNvPr>
          <p:cNvSpPr>
            <a:spLocks xmlns:a="http://schemas.openxmlformats.org/drawingml/2006/main" noGrp="1"/>
          </p:cNvSpPr>
          <p:nvPr/>
        </p:nvSpPr>
        <p:spPr>
          <a:xfrm xmlns:a="http://schemas.openxmlformats.org/drawingml/2006/main">
            <a:off x="1809750" y="255270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0" name="">
            <a:extLst xmlns:a="http://schemas.openxmlformats.org/drawingml/2006/main">
              <a:ext uri="{FF2B5EF4-FFF2-40B4-BE49-F238E27FC236}">
                <a16:creationId xmlns:a16="http://schemas.microsoft.com/office/drawing/2014/main" id="{3C314B61-18A1-4A8F-BC65-275293E61AB2}"/>
              </a:ext>
            </a:extLst>
          </p:cNvPr>
          <p:cNvSpPr>
            <a:spLocks xmlns:a="http://schemas.openxmlformats.org/drawingml/2006/main" noGrp="1"/>
          </p:cNvSpPr>
          <p:nvPr/>
        </p:nvSpPr>
        <p:spPr>
          <a:xfrm xmlns:a="http://schemas.openxmlformats.org/drawingml/2006/main">
            <a:off x="2324100" y="256222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2. Erheblichkeit</a:t>
            </a:r>
          </a:p>
        </p:txBody>
      </p:sp>
      <p:sp>
        <p:nvSpPr>
          <p:cNvPr id="11" name="">
            <a:extLst xmlns:a="http://schemas.openxmlformats.org/drawingml/2006/main">
              <a:ext uri="{FF2B5EF4-FFF2-40B4-BE49-F238E27FC236}">
                <a16:creationId xmlns:a16="http://schemas.microsoft.com/office/drawing/2014/main" id="{02DE3839-F990-4034-B123-D43B44224AA5}"/>
              </a:ext>
            </a:extLst>
          </p:cNvPr>
          <p:cNvSpPr>
            <a:spLocks xmlns:a="http://schemas.openxmlformats.org/drawingml/2006/main" noGrp="1"/>
          </p:cNvSpPr>
          <p:nvPr/>
        </p:nvSpPr>
        <p:spPr>
          <a:xfrm xmlns:a="http://schemas.openxmlformats.org/drawingml/2006/main">
            <a:off x="4819650" y="256222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Würde eine andere Feststellung das rechtliche Ergebnis verändern?</a:t>
            </a:r>
          </a:p>
        </p:txBody>
      </p:sp>
      <p:sp>
        <p:nvSpPr>
          <p:cNvPr id="12" name="">
            <a:extLst xmlns:a="http://schemas.openxmlformats.org/drawingml/2006/main">
              <a:ext uri="{FF2B5EF4-FFF2-40B4-BE49-F238E27FC236}">
                <a16:creationId xmlns:a16="http://schemas.microsoft.com/office/drawing/2014/main" id="{C47C7C86-FD36-4A8C-8BFE-61EB5DE7157F}"/>
              </a:ext>
            </a:extLst>
          </p:cNvPr>
          <p:cNvSpPr>
            <a:spLocks xmlns:a="http://schemas.openxmlformats.org/drawingml/2006/main" noGrp="1"/>
          </p:cNvSpPr>
          <p:nvPr/>
        </p:nvSpPr>
        <p:spPr>
          <a:xfrm xmlns:a="http://schemas.openxmlformats.org/drawingml/2006/main">
            <a:off x="1809750" y="315277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3" name="">
            <a:extLst xmlns:a="http://schemas.openxmlformats.org/drawingml/2006/main">
              <a:ext uri="{FF2B5EF4-FFF2-40B4-BE49-F238E27FC236}">
                <a16:creationId xmlns:a16="http://schemas.microsoft.com/office/drawing/2014/main" id="{06E2D5CC-F9A4-4EA9-ACA3-EC6AC0D4F727}"/>
              </a:ext>
            </a:extLst>
          </p:cNvPr>
          <p:cNvSpPr>
            <a:spLocks xmlns:a="http://schemas.openxmlformats.org/drawingml/2006/main" noGrp="1"/>
          </p:cNvSpPr>
          <p:nvPr/>
        </p:nvSpPr>
        <p:spPr>
          <a:xfrm xmlns:a="http://schemas.openxmlformats.org/drawingml/2006/main">
            <a:off x="1809750" y="315277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4" name="">
            <a:extLst xmlns:a="http://schemas.openxmlformats.org/drawingml/2006/main">
              <a:ext uri="{FF2B5EF4-FFF2-40B4-BE49-F238E27FC236}">
                <a16:creationId xmlns:a16="http://schemas.microsoft.com/office/drawing/2014/main" id="{B32D7271-38F3-4468-B633-818C3F74D4EC}"/>
              </a:ext>
            </a:extLst>
          </p:cNvPr>
          <p:cNvSpPr>
            <a:spLocks xmlns:a="http://schemas.openxmlformats.org/drawingml/2006/main" noGrp="1"/>
          </p:cNvSpPr>
          <p:nvPr/>
        </p:nvSpPr>
        <p:spPr>
          <a:xfrm xmlns:a="http://schemas.openxmlformats.org/drawingml/2006/main">
            <a:off x="2324100" y="316230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3. Beweislast</a:t>
            </a:r>
          </a:p>
        </p:txBody>
      </p:sp>
      <p:sp>
        <p:nvSpPr>
          <p:cNvPr id="15" name="">
            <a:extLst xmlns:a="http://schemas.openxmlformats.org/drawingml/2006/main">
              <a:ext uri="{FF2B5EF4-FFF2-40B4-BE49-F238E27FC236}">
                <a16:creationId xmlns:a16="http://schemas.microsoft.com/office/drawing/2014/main" id="{CD65D9FA-26F0-4E70-8B44-81A6C069745E}"/>
              </a:ext>
            </a:extLst>
          </p:cNvPr>
          <p:cNvSpPr>
            <a:spLocks xmlns:a="http://schemas.openxmlformats.org/drawingml/2006/main" noGrp="1"/>
          </p:cNvSpPr>
          <p:nvPr/>
        </p:nvSpPr>
        <p:spPr>
          <a:xfrm xmlns:a="http://schemas.openxmlformats.org/drawingml/2006/main">
            <a:off x="4819650" y="316230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Welche Partei trägt das Risiko verbleibender Ungewissheit?</a:t>
            </a:r>
          </a:p>
        </p:txBody>
      </p:sp>
      <p:sp>
        <p:nvSpPr>
          <p:cNvPr id="16" name="">
            <a:extLst xmlns:a="http://schemas.openxmlformats.org/drawingml/2006/main">
              <a:ext uri="{FF2B5EF4-FFF2-40B4-BE49-F238E27FC236}">
                <a16:creationId xmlns:a16="http://schemas.microsoft.com/office/drawing/2014/main" id="{97528E24-BD37-45CD-8EB2-94F8C35A77AA}"/>
              </a:ext>
            </a:extLst>
          </p:cNvPr>
          <p:cNvSpPr>
            <a:spLocks xmlns:a="http://schemas.openxmlformats.org/drawingml/2006/main" noGrp="1"/>
          </p:cNvSpPr>
          <p:nvPr/>
        </p:nvSpPr>
        <p:spPr>
          <a:xfrm xmlns:a="http://schemas.openxmlformats.org/drawingml/2006/main">
            <a:off x="1809750" y="375285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7" name="">
            <a:extLst xmlns:a="http://schemas.openxmlformats.org/drawingml/2006/main">
              <a:ext uri="{FF2B5EF4-FFF2-40B4-BE49-F238E27FC236}">
                <a16:creationId xmlns:a16="http://schemas.microsoft.com/office/drawing/2014/main" id="{DFF979C0-D6ED-44B8-A8A8-328C7AAF97A9}"/>
              </a:ext>
            </a:extLst>
          </p:cNvPr>
          <p:cNvSpPr>
            <a:spLocks xmlns:a="http://schemas.openxmlformats.org/drawingml/2006/main" noGrp="1"/>
          </p:cNvSpPr>
          <p:nvPr/>
        </p:nvSpPr>
        <p:spPr>
          <a:xfrm xmlns:a="http://schemas.openxmlformats.org/drawingml/2006/main">
            <a:off x="1809750" y="375285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18" name="">
            <a:extLst xmlns:a="http://schemas.openxmlformats.org/drawingml/2006/main">
              <a:ext uri="{FF2B5EF4-FFF2-40B4-BE49-F238E27FC236}">
                <a16:creationId xmlns:a16="http://schemas.microsoft.com/office/drawing/2014/main" id="{8BB58AD0-56DD-4767-95E1-0787808664BD}"/>
              </a:ext>
            </a:extLst>
          </p:cNvPr>
          <p:cNvSpPr>
            <a:spLocks xmlns:a="http://schemas.openxmlformats.org/drawingml/2006/main" noGrp="1"/>
          </p:cNvSpPr>
          <p:nvPr/>
        </p:nvSpPr>
        <p:spPr>
          <a:xfrm xmlns:a="http://schemas.openxmlformats.org/drawingml/2006/main">
            <a:off x="2324100" y="376237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4. Beweismittel</a:t>
            </a:r>
          </a:p>
        </p:txBody>
      </p:sp>
      <p:sp>
        <p:nvSpPr>
          <p:cNvPr id="19" name="">
            <a:extLst xmlns:a="http://schemas.openxmlformats.org/drawingml/2006/main">
              <a:ext uri="{FF2B5EF4-FFF2-40B4-BE49-F238E27FC236}">
                <a16:creationId xmlns:a16="http://schemas.microsoft.com/office/drawing/2014/main" id="{53986636-C5EE-4340-A4FB-425519DE0D03}"/>
              </a:ext>
            </a:extLst>
          </p:cNvPr>
          <p:cNvSpPr>
            <a:spLocks xmlns:a="http://schemas.openxmlformats.org/drawingml/2006/main" noGrp="1"/>
          </p:cNvSpPr>
          <p:nvPr/>
        </p:nvSpPr>
        <p:spPr>
          <a:xfrm xmlns:a="http://schemas.openxmlformats.org/drawingml/2006/main">
            <a:off x="4819650" y="376237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Welche Person, Urkunde, Datei, Untersuchung oder Expertise kann die Tatsache klären?</a:t>
            </a:r>
          </a:p>
        </p:txBody>
      </p:sp>
      <p:sp>
        <p:nvSpPr>
          <p:cNvPr id="20" name="">
            <a:extLst xmlns:a="http://schemas.openxmlformats.org/drawingml/2006/main">
              <a:ext uri="{FF2B5EF4-FFF2-40B4-BE49-F238E27FC236}">
                <a16:creationId xmlns:a16="http://schemas.microsoft.com/office/drawing/2014/main" id="{78272775-EEA8-4F8B-83FC-1C045DB4BF9C}"/>
              </a:ext>
            </a:extLst>
          </p:cNvPr>
          <p:cNvSpPr>
            <a:spLocks xmlns:a="http://schemas.openxmlformats.org/drawingml/2006/main" noGrp="1"/>
          </p:cNvSpPr>
          <p:nvPr/>
        </p:nvSpPr>
        <p:spPr>
          <a:xfrm xmlns:a="http://schemas.openxmlformats.org/drawingml/2006/main">
            <a:off x="1809750" y="435292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1" name="">
            <a:extLst xmlns:a="http://schemas.openxmlformats.org/drawingml/2006/main">
              <a:ext uri="{FF2B5EF4-FFF2-40B4-BE49-F238E27FC236}">
                <a16:creationId xmlns:a16="http://schemas.microsoft.com/office/drawing/2014/main" id="{8B32ADA5-AC59-4032-AA6F-BF1428D71FF0}"/>
              </a:ext>
            </a:extLst>
          </p:cNvPr>
          <p:cNvSpPr>
            <a:spLocks xmlns:a="http://schemas.openxmlformats.org/drawingml/2006/main" noGrp="1"/>
          </p:cNvSpPr>
          <p:nvPr/>
        </p:nvSpPr>
        <p:spPr>
          <a:xfrm xmlns:a="http://schemas.openxmlformats.org/drawingml/2006/main">
            <a:off x="1809750" y="43529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5</a:t>
            </a:r>
          </a:p>
        </p:txBody>
      </p:sp>
      <p:sp>
        <p:nvSpPr>
          <p:cNvPr id="22" name="">
            <a:extLst xmlns:a="http://schemas.openxmlformats.org/drawingml/2006/main">
              <a:ext uri="{FF2B5EF4-FFF2-40B4-BE49-F238E27FC236}">
                <a16:creationId xmlns:a16="http://schemas.microsoft.com/office/drawing/2014/main" id="{CB5723D2-6FD4-4815-9E15-EA9AFD458BAA}"/>
              </a:ext>
            </a:extLst>
          </p:cNvPr>
          <p:cNvSpPr>
            <a:spLocks xmlns:a="http://schemas.openxmlformats.org/drawingml/2006/main" noGrp="1"/>
          </p:cNvSpPr>
          <p:nvPr/>
        </p:nvSpPr>
        <p:spPr>
          <a:xfrm xmlns:a="http://schemas.openxmlformats.org/drawingml/2006/main">
            <a:off x="2324100" y="436245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5. Beweismaß</a:t>
            </a:r>
          </a:p>
        </p:txBody>
      </p:sp>
      <p:sp>
        <p:nvSpPr>
          <p:cNvPr id="23" name="">
            <a:extLst xmlns:a="http://schemas.openxmlformats.org/drawingml/2006/main">
              <a:ext uri="{FF2B5EF4-FFF2-40B4-BE49-F238E27FC236}">
                <a16:creationId xmlns:a16="http://schemas.microsoft.com/office/drawing/2014/main" id="{ED19CEC3-4ED5-4EAF-AACD-6FC9CB762BDC}"/>
              </a:ext>
            </a:extLst>
          </p:cNvPr>
          <p:cNvSpPr>
            <a:spLocks xmlns:a="http://schemas.openxmlformats.org/drawingml/2006/main" noGrp="1"/>
          </p:cNvSpPr>
          <p:nvPr/>
        </p:nvSpPr>
        <p:spPr>
          <a:xfrm xmlns:a="http://schemas.openxmlformats.org/drawingml/2006/main">
            <a:off x="4819650" y="436245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Gilt Vollbeweis, eine gesetzliche Vermutung oder erleichterte Schadensschätzung?</a:t>
            </a:r>
          </a:p>
        </p:txBody>
      </p:sp>
      <p:sp>
        <p:nvSpPr>
          <p:cNvPr id="24" name="">
            <a:extLst xmlns:a="http://schemas.openxmlformats.org/drawingml/2006/main">
              <a:ext uri="{FF2B5EF4-FFF2-40B4-BE49-F238E27FC236}">
                <a16:creationId xmlns:a16="http://schemas.microsoft.com/office/drawing/2014/main" id="{CB2300CA-3BAB-417B-8AF4-68BF31372ED9}"/>
              </a:ext>
            </a:extLst>
          </p:cNvPr>
          <p:cNvSpPr>
            <a:spLocks xmlns:a="http://schemas.openxmlformats.org/drawingml/2006/main" noGrp="1"/>
          </p:cNvSpPr>
          <p:nvPr/>
        </p:nvSpPr>
        <p:spPr>
          <a:xfrm xmlns:a="http://schemas.openxmlformats.org/drawingml/2006/main">
            <a:off x="1809750" y="495300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25" name="">
            <a:extLst xmlns:a="http://schemas.openxmlformats.org/drawingml/2006/main">
              <a:ext uri="{FF2B5EF4-FFF2-40B4-BE49-F238E27FC236}">
                <a16:creationId xmlns:a16="http://schemas.microsoft.com/office/drawing/2014/main" id="{9E2A9DAD-9066-40CB-B1D8-7DFA7E2FB209}"/>
              </a:ext>
            </a:extLst>
          </p:cNvPr>
          <p:cNvSpPr>
            <a:spLocks xmlns:a="http://schemas.openxmlformats.org/drawingml/2006/main" noGrp="1"/>
          </p:cNvSpPr>
          <p:nvPr/>
        </p:nvSpPr>
        <p:spPr>
          <a:xfrm xmlns:a="http://schemas.openxmlformats.org/drawingml/2006/main">
            <a:off x="1809750" y="495300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6</a:t>
            </a:r>
          </a:p>
        </p:txBody>
      </p:sp>
      <p:sp>
        <p:nvSpPr>
          <p:cNvPr id="26" name="">
            <a:extLst xmlns:a="http://schemas.openxmlformats.org/drawingml/2006/main">
              <a:ext uri="{FF2B5EF4-FFF2-40B4-BE49-F238E27FC236}">
                <a16:creationId xmlns:a16="http://schemas.microsoft.com/office/drawing/2014/main" id="{15BDCC6E-36D2-4C7A-AF2A-69A200236B31}"/>
              </a:ext>
            </a:extLst>
          </p:cNvPr>
          <p:cNvSpPr>
            <a:spLocks xmlns:a="http://schemas.openxmlformats.org/drawingml/2006/main" noGrp="1"/>
          </p:cNvSpPr>
          <p:nvPr/>
        </p:nvSpPr>
        <p:spPr>
          <a:xfrm xmlns:a="http://schemas.openxmlformats.org/drawingml/2006/main">
            <a:off x="2324100" y="496252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6. Ergebnis</a:t>
            </a:r>
          </a:p>
        </p:txBody>
      </p:sp>
      <p:sp>
        <p:nvSpPr>
          <p:cNvPr id="27" name="">
            <a:extLst xmlns:a="http://schemas.openxmlformats.org/drawingml/2006/main">
              <a:ext uri="{FF2B5EF4-FFF2-40B4-BE49-F238E27FC236}">
                <a16:creationId xmlns:a16="http://schemas.microsoft.com/office/drawing/2014/main" id="{3712FDFB-6C32-44EB-A808-1CF38AF87B1D}"/>
              </a:ext>
            </a:extLst>
          </p:cNvPr>
          <p:cNvSpPr>
            <a:spLocks xmlns:a="http://schemas.openxmlformats.org/drawingml/2006/main" noGrp="1"/>
          </p:cNvSpPr>
          <p:nvPr/>
        </p:nvSpPr>
        <p:spPr>
          <a:xfrm xmlns:a="http://schemas.openxmlformats.org/drawingml/2006/main">
            <a:off x="4819650" y="496252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Was gilt, wenn die Überzeugung erreicht – und was, wenn sie nicht erreicht wird?</a:t>
            </a:r>
          </a:p>
        </p:txBody>
      </p:sp>
      <p:sp>
        <p:nvSpPr>
          <p:cNvPr id="28" name="">
            <a:extLst xmlns:a="http://schemas.openxmlformats.org/drawingml/2006/main">
              <a:ext uri="{FF2B5EF4-FFF2-40B4-BE49-F238E27FC236}">
                <a16:creationId xmlns:a16="http://schemas.microsoft.com/office/drawing/2014/main" id="{118EABB4-9941-4568-B3F1-CB6A902791D4}"/>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9" name="">
            <a:extLst xmlns:a="http://schemas.openxmlformats.org/drawingml/2006/main">
              <a:ext uri="{FF2B5EF4-FFF2-40B4-BE49-F238E27FC236}">
                <a16:creationId xmlns:a16="http://schemas.microsoft.com/office/drawing/2014/main" id="{2F04FF7F-874A-4147-9037-432908ABA64B}"/>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Die Beweis-Matrix macht aus einer abstrakten Haftungsfrage einen bearbeitbaren Prozessplan.</a:t>
            </a:r>
          </a:p>
        </p:txBody>
      </p:sp>
    </p:spTree>
    <p:extLst>
      <p:ext uri="{BB962C8B-B14F-4D97-AF65-F5344CB8AC3E}">
        <p14:creationId xmlns:p14="http://schemas.microsoft.com/office/powerpoint/2010/main" val="43637646"/>
      </p:ext>
    </p:extLst>
  </p:cSld>
</p:sld>
</file>

<file path=ppt/slides/slide151.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Wer entscheidet was? Gericht und Sachverständige</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ROLLENTRENNUNG</a:t>
            </a:r>
            <a:endParaRPr/>
          </a:p>
        </p:txBody>
      </p:sp>
      <p:sp>
        <p:nvSpPr>
          <p:cNvPr id="4" name="">
            <a:extLst xmlns:a="http://schemas.openxmlformats.org/drawingml/2006/main">
              <a:ext uri="{FF2B5EF4-FFF2-40B4-BE49-F238E27FC236}">
                <a16:creationId xmlns:a16="http://schemas.microsoft.com/office/drawing/2014/main" id="{5A6C41E1-CD95-4AA9-B9E9-7B55D0E207AD}"/>
              </a:ext>
            </a:extLst>
          </p:cNvPr>
          <p:cNvSpPr>
            <a:spLocks xmlns:a="http://schemas.openxmlformats.org/drawingml/2006/main" noGrp="1"/>
          </p:cNvSpPr>
          <p:nvPr/>
        </p:nvSpPr>
        <p:spPr>
          <a:xfrm xmlns:a="http://schemas.openxmlformats.org/drawingml/2006/main">
            <a:off x="1809750" y="2000250"/>
            <a:ext cx="4619625" cy="3286125"/>
          </a:xfrm>
          <a:prstGeom xmlns:a="http://schemas.openxmlformats.org/drawingml/2006/main" prst="roundRect">
            <a:avLst>
              <a:gd name="adj" fmla="val 2319"/>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95A22A42-4D2C-487F-983A-88539602B350}"/>
              </a:ext>
            </a:extLst>
          </p:cNvPr>
          <p:cNvSpPr>
            <a:spLocks xmlns:a="http://schemas.openxmlformats.org/drawingml/2006/main" noGrp="1"/>
          </p:cNvSpPr>
          <p:nvPr/>
        </p:nvSpPr>
        <p:spPr>
          <a:xfrm xmlns:a="http://schemas.openxmlformats.org/drawingml/2006/main">
            <a:off x="1809750" y="2000250"/>
            <a:ext cx="4619625"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DBF9FD2C-F7EF-42EB-9CAF-906763910187}"/>
              </a:ext>
            </a:extLst>
          </p:cNvPr>
          <p:cNvSpPr>
            <a:spLocks xmlns:a="http://schemas.openxmlformats.org/drawingml/2006/main" noGrp="1"/>
          </p:cNvSpPr>
          <p:nvPr/>
        </p:nvSpPr>
        <p:spPr>
          <a:xfrm xmlns:a="http://schemas.openxmlformats.org/drawingml/2006/main">
            <a:off x="1962150" y="2133600"/>
            <a:ext cx="4314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75" b="1">
                <a:solidFill>
                  <a:srgbClr val="003F6B"/>
                </a:solidFill>
              </a:defRPr>
            </a:pPr>
            <a:r>
              <a:rPr sz="1575" b="1">
                <a:solidFill>
                  <a:srgbClr val="003F6B"/>
                </a:solidFill>
              </a:rPr>
              <a:t>Gericht</a:t>
            </a:r>
          </a:p>
        </p:txBody>
      </p:sp>
      <p:sp>
        <p:nvSpPr>
          <p:cNvPr id="7" name="">
            <a:extLst xmlns:a="http://schemas.openxmlformats.org/drawingml/2006/main">
              <a:ext uri="{FF2B5EF4-FFF2-40B4-BE49-F238E27FC236}">
                <a16:creationId xmlns:a16="http://schemas.microsoft.com/office/drawing/2014/main" id="{FAE4471D-DB0B-4275-A0DE-D5C56E9132AC}"/>
              </a:ext>
            </a:extLst>
          </p:cNvPr>
          <p:cNvSpPr>
            <a:spLocks xmlns:a="http://schemas.openxmlformats.org/drawingml/2006/main" noGrp="1"/>
          </p:cNvSpPr>
          <p:nvPr/>
        </p:nvSpPr>
        <p:spPr>
          <a:xfrm xmlns:a="http://schemas.openxmlformats.org/drawingml/2006/main">
            <a:off x="1962150" y="2571750"/>
            <a:ext cx="4314825"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15232B"/>
                </a:solidFill>
              </a:defRPr>
            </a:pPr>
            <a:r>
              <a:rPr sz="1200">
                <a:solidFill>
                  <a:srgbClr val="15232B"/>
                </a:solidFill>
              </a:rPr>
              <a:t>• entscheidet streitige Tatsachen</a:t>
            </a:r>
          </a:p>
          <a:p xmlns:a="http://schemas.openxmlformats.org/drawingml/2006/main">
            <a:pPr>
              <a:buNone/>
              <a:defRPr sz="1200">
                <a:solidFill>
                  <a:srgbClr val="15232B"/>
                </a:solidFill>
              </a:defRPr>
            </a:pPr>
            <a:r>
              <a:rPr sz="1200">
                <a:solidFill>
                  <a:srgbClr val="15232B"/>
                </a:solidFill>
              </a:rPr>
              <a:t>• formuliert Beweisfragen</a:t>
            </a:r>
          </a:p>
          <a:p xmlns:a="http://schemas.openxmlformats.org/drawingml/2006/main">
            <a:pPr>
              <a:buNone/>
              <a:defRPr sz="1200">
                <a:solidFill>
                  <a:srgbClr val="15232B"/>
                </a:solidFill>
              </a:defRPr>
            </a:pPr>
            <a:r>
              <a:rPr sz="1200">
                <a:solidFill>
                  <a:srgbClr val="15232B"/>
                </a:solidFill>
              </a:rPr>
              <a:t>• wendet Recht und Beweislast an</a:t>
            </a:r>
          </a:p>
          <a:p xmlns:a="http://schemas.openxmlformats.org/drawingml/2006/main">
            <a:pPr>
              <a:buNone/>
              <a:defRPr sz="1200">
                <a:solidFill>
                  <a:srgbClr val="15232B"/>
                </a:solidFill>
              </a:defRPr>
            </a:pPr>
            <a:r>
              <a:rPr sz="1200">
                <a:solidFill>
                  <a:srgbClr val="15232B"/>
                </a:solidFill>
              </a:rPr>
              <a:t>• würdigt Gutachten kritisch</a:t>
            </a:r>
          </a:p>
        </p:txBody>
      </p:sp>
      <p:sp>
        <p:nvSpPr>
          <p:cNvPr id="8" name="">
            <a:extLst xmlns:a="http://schemas.openxmlformats.org/drawingml/2006/main">
              <a:ext uri="{FF2B5EF4-FFF2-40B4-BE49-F238E27FC236}">
                <a16:creationId xmlns:a16="http://schemas.microsoft.com/office/drawing/2014/main" id="{264B8917-1F1B-4E49-BFCE-9F4BBE1A93CE}"/>
              </a:ext>
            </a:extLst>
          </p:cNvPr>
          <p:cNvSpPr>
            <a:spLocks xmlns:a="http://schemas.openxmlformats.org/drawingml/2006/main" noGrp="1"/>
          </p:cNvSpPr>
          <p:nvPr/>
        </p:nvSpPr>
        <p:spPr>
          <a:xfrm xmlns:a="http://schemas.openxmlformats.org/drawingml/2006/main">
            <a:off x="6715125" y="2000250"/>
            <a:ext cx="4619625" cy="3286125"/>
          </a:xfrm>
          <a:prstGeom xmlns:a="http://schemas.openxmlformats.org/drawingml/2006/main" prst="roundRect">
            <a:avLst>
              <a:gd name="adj" fmla="val 2319"/>
            </a:avLst>
          </a:prstGeom>
          <a:noFill xmlns:a="http://schemas.openxmlformats.org/drawingml/2006/main"/>
          <a:ln xmlns:a="http://schemas.openxmlformats.org/drawingml/2006/main" w="9525">
            <a:solidFill>
              <a:srgbClr val="B9CAD2"/>
            </a:solidFill>
            <a:prstDash val="solid"/>
          </a:ln>
        </p:spPr>
      </p:sp>
      <p:sp>
        <p:nvSpPr>
          <p:cNvPr id="9" name="">
            <a:extLst xmlns:a="http://schemas.openxmlformats.org/drawingml/2006/main">
              <a:ext uri="{FF2B5EF4-FFF2-40B4-BE49-F238E27FC236}">
                <a16:creationId xmlns:a16="http://schemas.microsoft.com/office/drawing/2014/main" id="{33A6BF3A-BB9D-4947-BBA7-7776C4C72AD2}"/>
              </a:ext>
            </a:extLst>
          </p:cNvPr>
          <p:cNvSpPr>
            <a:spLocks xmlns:a="http://schemas.openxmlformats.org/drawingml/2006/main" noGrp="1"/>
          </p:cNvSpPr>
          <p:nvPr/>
        </p:nvSpPr>
        <p:spPr>
          <a:xfrm xmlns:a="http://schemas.openxmlformats.org/drawingml/2006/main">
            <a:off x="6715125" y="2000250"/>
            <a:ext cx="4619625"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8B36DF79-7A77-4EED-81C1-CE9533FF9D5B}"/>
              </a:ext>
            </a:extLst>
          </p:cNvPr>
          <p:cNvSpPr>
            <a:spLocks xmlns:a="http://schemas.openxmlformats.org/drawingml/2006/main" noGrp="1"/>
          </p:cNvSpPr>
          <p:nvPr/>
        </p:nvSpPr>
        <p:spPr>
          <a:xfrm xmlns:a="http://schemas.openxmlformats.org/drawingml/2006/main">
            <a:off x="6867525" y="2133600"/>
            <a:ext cx="4314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75" b="1">
                <a:solidFill>
                  <a:srgbClr val="003F6B"/>
                </a:solidFill>
              </a:defRPr>
            </a:pPr>
            <a:r>
              <a:rPr sz="1575" b="1">
                <a:solidFill>
                  <a:srgbClr val="003F6B"/>
                </a:solidFill>
              </a:rPr>
              <a:t>Sachverständige</a:t>
            </a:r>
          </a:p>
        </p:txBody>
      </p:sp>
      <p:sp>
        <p:nvSpPr>
          <p:cNvPr id="11" name="">
            <a:extLst xmlns:a="http://schemas.openxmlformats.org/drawingml/2006/main">
              <a:ext uri="{FF2B5EF4-FFF2-40B4-BE49-F238E27FC236}">
                <a16:creationId xmlns:a16="http://schemas.microsoft.com/office/drawing/2014/main" id="{FF3E1E65-AD5E-44E8-81A9-8ED4EBFAE08B}"/>
              </a:ext>
            </a:extLst>
          </p:cNvPr>
          <p:cNvSpPr>
            <a:spLocks xmlns:a="http://schemas.openxmlformats.org/drawingml/2006/main" noGrp="1"/>
          </p:cNvSpPr>
          <p:nvPr/>
        </p:nvSpPr>
        <p:spPr>
          <a:xfrm xmlns:a="http://schemas.openxmlformats.org/drawingml/2006/main">
            <a:off x="6867525" y="2571750"/>
            <a:ext cx="4314825"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15232B"/>
                </a:solidFill>
              </a:defRPr>
            </a:pPr>
            <a:r>
              <a:rPr sz="1200">
                <a:solidFill>
                  <a:srgbClr val="15232B"/>
                </a:solidFill>
              </a:rPr>
              <a:t>• erläutern medizinischen Standard</a:t>
            </a:r>
          </a:p>
          <a:p xmlns:a="http://schemas.openxmlformats.org/drawingml/2006/main">
            <a:pPr>
              <a:buNone/>
              <a:defRPr sz="1200">
                <a:solidFill>
                  <a:srgbClr val="15232B"/>
                </a:solidFill>
              </a:defRPr>
            </a:pPr>
            <a:r>
              <a:rPr sz="1200">
                <a:solidFill>
                  <a:srgbClr val="15232B"/>
                </a:solidFill>
              </a:rPr>
              <a:t>• bewerten Abweichung und Eignung</a:t>
            </a:r>
          </a:p>
          <a:p xmlns:a="http://schemas.openxmlformats.org/drawingml/2006/main">
            <a:pPr>
              <a:buNone/>
              <a:defRPr sz="1200">
                <a:solidFill>
                  <a:srgbClr val="15232B"/>
                </a:solidFill>
              </a:defRPr>
            </a:pPr>
            <a:r>
              <a:rPr sz="1200">
                <a:solidFill>
                  <a:srgbClr val="15232B"/>
                </a:solidFill>
              </a:rPr>
              <a:t>• beantworten Kausalitätsfragen</a:t>
            </a:r>
          </a:p>
          <a:p xmlns:a="http://schemas.openxmlformats.org/drawingml/2006/main">
            <a:pPr>
              <a:buNone/>
              <a:defRPr sz="1200">
                <a:solidFill>
                  <a:srgbClr val="15232B"/>
                </a:solidFill>
              </a:defRPr>
            </a:pPr>
            <a:r>
              <a:rPr sz="1200">
                <a:solidFill>
                  <a:srgbClr val="15232B"/>
                </a:solidFill>
              </a:rPr>
              <a:t>• dürfen keine Rechtsentscheidung übernehmen</a:t>
            </a:r>
          </a:p>
        </p:txBody>
      </p:sp>
      <p:sp>
        <p:nvSpPr>
          <p:cNvPr id="12" name="">
            <a:extLst xmlns:a="http://schemas.openxmlformats.org/drawingml/2006/main">
              <a:ext uri="{FF2B5EF4-FFF2-40B4-BE49-F238E27FC236}">
                <a16:creationId xmlns:a16="http://schemas.microsoft.com/office/drawing/2014/main" id="{885B9E32-BFAA-4CF4-B085-BC5844CB10C8}"/>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13" name="">
            <a:extLst xmlns:a="http://schemas.openxmlformats.org/drawingml/2006/main">
              <a:ext uri="{FF2B5EF4-FFF2-40B4-BE49-F238E27FC236}">
                <a16:creationId xmlns:a16="http://schemas.microsoft.com/office/drawing/2014/main" id="{666795A2-156A-4526-B95F-E57E923E8F4F}"/>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Ein Gutachten ist Beweismittel, nicht Urteil. Gute Fragen sind eng, zeitbezogen und tatsachenbasiert.</a:t>
            </a:r>
          </a:p>
        </p:txBody>
      </p:sp>
    </p:spTree>
    <p:extLst>
      <p:ext uri="{BB962C8B-B14F-4D97-AF65-F5344CB8AC3E}">
        <p14:creationId xmlns:p14="http://schemas.microsoft.com/office/powerpoint/2010/main" val="43637646"/>
      </p:ext>
    </p:extLst>
  </p:cSld>
</p:sld>
</file>

<file path=ppt/slides/slide152.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Werkstatt: Aus Vorwürfen werden Beweisfragen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FRAGEN AN SACHVERSTÄNDIGE</a:t>
            </a:r>
            <a:endParaRPr/>
          </a:p>
        </p:txBody>
      </p:sp>
      <p:sp>
        <p:nvSpPr>
          <p:cNvPr id="4" name="">
            <a:extLst xmlns:a="http://schemas.openxmlformats.org/drawingml/2006/main">
              <a:ext uri="{FF2B5EF4-FFF2-40B4-BE49-F238E27FC236}">
                <a16:creationId xmlns:a16="http://schemas.microsoft.com/office/drawing/2014/main" id="{DC07C833-0495-44A5-AA6C-D4F2FBB2474E}"/>
              </a:ext>
            </a:extLst>
          </p:cNvPr>
          <p:cNvSpPr>
            <a:spLocks xmlns:a="http://schemas.openxmlformats.org/drawingml/2006/main" noGrp="1"/>
          </p:cNvSpPr>
          <p:nvPr/>
        </p:nvSpPr>
        <p:spPr>
          <a:xfrm xmlns:a="http://schemas.openxmlformats.org/drawingml/2006/main">
            <a:off x="1809750" y="1952625"/>
            <a:ext cx="5381625" cy="3333750"/>
          </a:xfrm>
          <a:prstGeom xmlns:a="http://schemas.openxmlformats.org/drawingml/2006/main" prst="roundRect">
            <a:avLst>
              <a:gd name="adj" fmla="val 2286"/>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25E8EE54-6068-4DC5-B9BA-03C610403FF8}"/>
              </a:ext>
            </a:extLst>
          </p:cNvPr>
          <p:cNvSpPr>
            <a:spLocks xmlns:a="http://schemas.openxmlformats.org/drawingml/2006/main" noGrp="1"/>
          </p:cNvSpPr>
          <p:nvPr/>
        </p:nvSpPr>
        <p:spPr>
          <a:xfrm xmlns:a="http://schemas.openxmlformats.org/drawingml/2006/main">
            <a:off x="1809750" y="1952625"/>
            <a:ext cx="5381625"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6" name="">
            <a:extLst xmlns:a="http://schemas.openxmlformats.org/drawingml/2006/main">
              <a:ext uri="{FF2B5EF4-FFF2-40B4-BE49-F238E27FC236}">
                <a16:creationId xmlns:a16="http://schemas.microsoft.com/office/drawing/2014/main" id="{4D2A9DEB-8AC7-411C-A624-4C0DAD23A10F}"/>
              </a:ext>
            </a:extLst>
          </p:cNvPr>
          <p:cNvSpPr>
            <a:spLocks xmlns:a="http://schemas.openxmlformats.org/drawingml/2006/main" noGrp="1"/>
          </p:cNvSpPr>
          <p:nvPr/>
        </p:nvSpPr>
        <p:spPr>
          <a:xfrm xmlns:a="http://schemas.openxmlformats.org/drawingml/2006/main">
            <a:off x="1962150" y="2085975"/>
            <a:ext cx="5076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00" b="1">
                <a:solidFill>
                  <a:srgbClr val="003F6B"/>
                </a:solidFill>
              </a:defRPr>
            </a:pPr>
            <a:r>
              <a:rPr sz="1500" b="1">
                <a:solidFill>
                  <a:srgbClr val="003F6B"/>
                </a:solidFill>
              </a:rPr>
              <a:t>Ausgangslage</a:t>
            </a:r>
          </a:p>
        </p:txBody>
      </p:sp>
      <p:sp>
        <p:nvSpPr>
          <p:cNvPr id="7" name="">
            <a:extLst xmlns:a="http://schemas.openxmlformats.org/drawingml/2006/main">
              <a:ext uri="{FF2B5EF4-FFF2-40B4-BE49-F238E27FC236}">
                <a16:creationId xmlns:a16="http://schemas.microsoft.com/office/drawing/2014/main" id="{6FE29350-75EA-4689-BA5A-C3B6BD854FFD}"/>
              </a:ext>
            </a:extLst>
          </p:cNvPr>
          <p:cNvSpPr>
            <a:spLocks xmlns:a="http://schemas.openxmlformats.org/drawingml/2006/main" noGrp="1"/>
          </p:cNvSpPr>
          <p:nvPr/>
        </p:nvSpPr>
        <p:spPr>
          <a:xfrm xmlns:a="http://schemas.openxmlformats.org/drawingml/2006/main">
            <a:off x="1962150" y="2524125"/>
            <a:ext cx="5076825" cy="2628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15232B"/>
                </a:solidFill>
              </a:defRPr>
            </a:pPr>
            <a:r>
              <a:rPr sz="1275">
                <a:solidFill>
                  <a:srgbClr val="15232B"/>
                </a:solidFill>
              </a:rPr>
              <a:t>Überarbeiten Sie pauschale oder rechtlich aufgeladene Fragen zu medizinisch präzisen, zeitbezogenen Beweisfragen.</a:t>
            </a:r>
          </a:p>
        </p:txBody>
      </p:sp>
      <p:sp>
        <p:nvSpPr>
          <p:cNvPr id="8" name="">
            <a:extLst xmlns:a="http://schemas.openxmlformats.org/drawingml/2006/main">
              <a:ext uri="{FF2B5EF4-FFF2-40B4-BE49-F238E27FC236}">
                <a16:creationId xmlns:a16="http://schemas.microsoft.com/office/drawing/2014/main" id="{2DCDBE5B-AF4D-4F22-93A4-7BC5469307A2}"/>
              </a:ext>
            </a:extLst>
          </p:cNvPr>
          <p:cNvSpPr>
            <a:spLocks xmlns:a="http://schemas.openxmlformats.org/drawingml/2006/main" noGrp="1"/>
          </p:cNvSpPr>
          <p:nvPr/>
        </p:nvSpPr>
        <p:spPr>
          <a:xfrm xmlns:a="http://schemas.openxmlformats.org/drawingml/2006/main">
            <a:off x="7429500" y="1990725"/>
            <a:ext cx="323850" cy="323850"/>
          </a:xfrm>
          <a:prstGeom xmlns:a="http://schemas.openxmlformats.org/drawingml/2006/main" prst="roundRect">
            <a:avLst>
              <a:gd name="adj" fmla="val 23529"/>
            </a:avLst>
          </a:prstGeom>
          <a:solidFill xmlns:a="http://schemas.openxmlformats.org/drawingml/2006/main">
            <a:srgbClr val="00B2BB"/>
          </a:solidFill>
          <a:ln xmlns:a="http://schemas.openxmlformats.org/drawingml/2006/main" w="0">
            <a:solidFill>
              <a:srgbClr val="00B2BB"/>
            </a:solidFill>
            <a:prstDash val="solid"/>
          </a:ln>
        </p:spPr>
      </p:sp>
      <p:sp>
        <p:nvSpPr>
          <p:cNvPr id="9" name="">
            <a:extLst xmlns:a="http://schemas.openxmlformats.org/drawingml/2006/main">
              <a:ext uri="{FF2B5EF4-FFF2-40B4-BE49-F238E27FC236}">
                <a16:creationId xmlns:a16="http://schemas.microsoft.com/office/drawing/2014/main" id="{AB2DB486-EBC0-43B3-BCA3-71AEF97255DC}"/>
              </a:ext>
            </a:extLst>
          </p:cNvPr>
          <p:cNvSpPr>
            <a:spLocks xmlns:a="http://schemas.openxmlformats.org/drawingml/2006/main" noGrp="1"/>
          </p:cNvSpPr>
          <p:nvPr/>
        </p:nvSpPr>
        <p:spPr>
          <a:xfrm xmlns:a="http://schemas.openxmlformats.org/drawingml/2006/main">
            <a:off x="7429500" y="1990725"/>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10" name="">
            <a:extLst xmlns:a="http://schemas.openxmlformats.org/drawingml/2006/main">
              <a:ext uri="{FF2B5EF4-FFF2-40B4-BE49-F238E27FC236}">
                <a16:creationId xmlns:a16="http://schemas.microsoft.com/office/drawing/2014/main" id="{1FA7358D-0E3F-42AF-AA14-732DFF4824F3}"/>
              </a:ext>
            </a:extLst>
          </p:cNvPr>
          <p:cNvSpPr>
            <a:spLocks xmlns:a="http://schemas.openxmlformats.org/drawingml/2006/main" noGrp="1"/>
          </p:cNvSpPr>
          <p:nvPr/>
        </p:nvSpPr>
        <p:spPr>
          <a:xfrm xmlns:a="http://schemas.openxmlformats.org/drawingml/2006/main">
            <a:off x="7886700" y="1952625"/>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15" b="1">
                <a:solidFill>
                  <a:srgbClr val="15232B"/>
                </a:solidFill>
              </a:defRPr>
            </a:pPr>
            <a:r>
              <a:rPr sz="1215" b="1">
                <a:solidFill>
                  <a:srgbClr val="15232B"/>
                </a:solidFill>
              </a:rPr>
              <a:t>Ungeeignet</a:t>
            </a:r>
          </a:p>
        </p:txBody>
      </p:sp>
      <p:sp>
        <p:nvSpPr>
          <p:cNvPr id="11" name="">
            <a:extLst xmlns:a="http://schemas.openxmlformats.org/drawingml/2006/main">
              <a:ext uri="{FF2B5EF4-FFF2-40B4-BE49-F238E27FC236}">
                <a16:creationId xmlns:a16="http://schemas.microsoft.com/office/drawing/2014/main" id="{2BD55B18-6110-4BC3-8B19-01EEE2A950F6}"/>
              </a:ext>
            </a:extLst>
          </p:cNvPr>
          <p:cNvSpPr>
            <a:spLocks xmlns:a="http://schemas.openxmlformats.org/drawingml/2006/main" noGrp="1"/>
          </p:cNvSpPr>
          <p:nvPr/>
        </p:nvSpPr>
        <p:spPr>
          <a:xfrm xmlns:a="http://schemas.openxmlformats.org/drawingml/2006/main">
            <a:off x="7886700" y="2238375"/>
            <a:ext cx="3333750" cy="74149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13">
                <a:solidFill>
                  <a:srgbClr val="667680"/>
                </a:solidFill>
              </a:defRPr>
            </a:pPr>
            <a:r>
              <a:rPr sz="1013">
                <a:solidFill>
                  <a:srgbClr val="667680"/>
                </a:solidFill>
              </a:rPr>
              <a:t>‚Hat das Krankenhaus grob fahrlässig gehandelt?‘</a:t>
            </a:r>
          </a:p>
          <a:p xmlns:a="http://schemas.openxmlformats.org/drawingml/2006/main">
            <a:pPr>
              <a:buNone/>
              <a:defRPr sz="1013">
                <a:solidFill>
                  <a:srgbClr val="667680"/>
                </a:solidFill>
              </a:defRPr>
            </a:pPr>
            <a:r>
              <a:rPr sz="1013">
                <a:solidFill>
                  <a:srgbClr val="667680"/>
                </a:solidFill>
              </a:rPr>
              <a:t>‚Wäre der Patient gesund geworden?‘</a:t>
            </a:r>
          </a:p>
        </p:txBody>
      </p:sp>
      <p:sp>
        <p:nvSpPr>
          <p:cNvPr id="12" name="">
            <a:extLst xmlns:a="http://schemas.openxmlformats.org/drawingml/2006/main">
              <a:ext uri="{FF2B5EF4-FFF2-40B4-BE49-F238E27FC236}">
                <a16:creationId xmlns:a16="http://schemas.microsoft.com/office/drawing/2014/main" id="{1F2AEE03-8789-4FCC-BC93-0A32261966C1}"/>
              </a:ext>
            </a:extLst>
          </p:cNvPr>
          <p:cNvSpPr>
            <a:spLocks xmlns:a="http://schemas.openxmlformats.org/drawingml/2006/main" noGrp="1"/>
          </p:cNvSpPr>
          <p:nvPr/>
        </p:nvSpPr>
        <p:spPr>
          <a:xfrm xmlns:a="http://schemas.openxmlformats.org/drawingml/2006/main">
            <a:off x="7429500" y="3113219"/>
            <a:ext cx="323850" cy="323850"/>
          </a:xfrm>
          <a:prstGeom xmlns:a="http://schemas.openxmlformats.org/drawingml/2006/main" prst="roundRect">
            <a:avLst>
              <a:gd name="adj" fmla="val 23529"/>
            </a:avLst>
          </a:prstGeom>
          <a:solidFill xmlns:a="http://schemas.openxmlformats.org/drawingml/2006/main">
            <a:srgbClr val="003F6B"/>
          </a:solidFill>
          <a:ln xmlns:a="http://schemas.openxmlformats.org/drawingml/2006/main" w="0">
            <a:solidFill>
              <a:srgbClr val="003F6B"/>
            </a:solidFill>
            <a:prstDash val="solid"/>
          </a:ln>
        </p:spPr>
      </p:sp>
      <p:sp>
        <p:nvSpPr>
          <p:cNvPr id="13" name="">
            <a:extLst xmlns:a="http://schemas.openxmlformats.org/drawingml/2006/main">
              <a:ext uri="{FF2B5EF4-FFF2-40B4-BE49-F238E27FC236}">
                <a16:creationId xmlns:a16="http://schemas.microsoft.com/office/drawing/2014/main" id="{D63ABB9F-6EC3-4637-A45E-D4AA5A6E388A}"/>
              </a:ext>
            </a:extLst>
          </p:cNvPr>
          <p:cNvSpPr>
            <a:spLocks xmlns:a="http://schemas.openxmlformats.org/drawingml/2006/main" noGrp="1"/>
          </p:cNvSpPr>
          <p:nvPr/>
        </p:nvSpPr>
        <p:spPr>
          <a:xfrm xmlns:a="http://schemas.openxmlformats.org/drawingml/2006/main">
            <a:off x="7429500" y="3113219"/>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4" name="">
            <a:extLst xmlns:a="http://schemas.openxmlformats.org/drawingml/2006/main">
              <a:ext uri="{FF2B5EF4-FFF2-40B4-BE49-F238E27FC236}">
                <a16:creationId xmlns:a16="http://schemas.microsoft.com/office/drawing/2014/main" id="{968A0132-EE50-4B80-B225-D8D183230342}"/>
              </a:ext>
            </a:extLst>
          </p:cNvPr>
          <p:cNvSpPr>
            <a:spLocks xmlns:a="http://schemas.openxmlformats.org/drawingml/2006/main" noGrp="1"/>
          </p:cNvSpPr>
          <p:nvPr/>
        </p:nvSpPr>
        <p:spPr>
          <a:xfrm xmlns:a="http://schemas.openxmlformats.org/drawingml/2006/main">
            <a:off x="7886700" y="3075119"/>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15" b="1">
                <a:solidFill>
                  <a:srgbClr val="15232B"/>
                </a:solidFill>
              </a:defRPr>
            </a:pPr>
            <a:r>
              <a:rPr sz="1215" b="1">
                <a:solidFill>
                  <a:srgbClr val="15232B"/>
                </a:solidFill>
              </a:rPr>
              <a:t>Präziser</a:t>
            </a:r>
          </a:p>
        </p:txBody>
      </p:sp>
      <p:sp>
        <p:nvSpPr>
          <p:cNvPr id="15" name="">
            <a:extLst xmlns:a="http://schemas.openxmlformats.org/drawingml/2006/main">
              <a:ext uri="{FF2B5EF4-FFF2-40B4-BE49-F238E27FC236}">
                <a16:creationId xmlns:a16="http://schemas.microsoft.com/office/drawing/2014/main" id="{F1A1D94C-93D8-474A-A48B-72E5B42ECADD}"/>
              </a:ext>
            </a:extLst>
          </p:cNvPr>
          <p:cNvSpPr>
            <a:spLocks xmlns:a="http://schemas.openxmlformats.org/drawingml/2006/main" noGrp="1"/>
          </p:cNvSpPr>
          <p:nvPr/>
        </p:nvSpPr>
        <p:spPr>
          <a:xfrm xmlns:a="http://schemas.openxmlformats.org/drawingml/2006/main">
            <a:off x="7886700" y="3360869"/>
            <a:ext cx="3333750" cy="184930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53">
                <a:solidFill>
                  <a:srgbClr val="667680"/>
                </a:solidFill>
              </a:defRPr>
            </a:pPr>
            <a:r>
              <a:rPr sz="953">
                <a:solidFill>
                  <a:srgbClr val="667680"/>
                </a:solidFill>
              </a:rPr>
              <a:t>‚Welcher fachärztliche Standard bestand am 26.04.2015 bei dokumentierter beidseitiger Beinschwäche?‘</a:t>
            </a:r>
          </a:p>
          <a:p xmlns:a="http://schemas.openxmlformats.org/drawingml/2006/main">
            <a:pPr>
              <a:buNone/>
              <a:defRPr sz="953">
                <a:solidFill>
                  <a:srgbClr val="667680"/>
                </a:solidFill>
              </a:defRPr>
            </a:pPr>
            <a:r>
              <a:rPr sz="953">
                <a:solidFill>
                  <a:srgbClr val="667680"/>
                </a:solidFill>
              </a:rPr>
              <a:t>‚War die unterlassene kraniale Bildgebung generell geeignet, den eingetretenen Schaden zu verursachen?‘</a:t>
            </a:r>
          </a:p>
          <a:p xmlns:a="http://schemas.openxmlformats.org/drawingml/2006/main">
            <a:pPr>
              <a:buNone/>
              <a:defRPr sz="953">
                <a:solidFill>
                  <a:srgbClr val="667680"/>
                </a:solidFill>
              </a:defRPr>
            </a:pPr>
            <a:r>
              <a:rPr sz="953">
                <a:solidFill>
                  <a:srgbClr val="667680"/>
                </a:solidFill>
              </a:rPr>
              <a:t>‚Mit welcher Wahrscheinlichkeit wäre der Verlauf bei standardgerechtem Vorgehen günstiger gewesen?‘</a:t>
            </a:r>
          </a:p>
        </p:txBody>
      </p:sp>
      <p:sp>
        <p:nvSpPr>
          <p:cNvPr id="16" name="">
            <a:extLst xmlns:a="http://schemas.openxmlformats.org/drawingml/2006/main">
              <a:ext uri="{FF2B5EF4-FFF2-40B4-BE49-F238E27FC236}">
                <a16:creationId xmlns:a16="http://schemas.microsoft.com/office/drawing/2014/main" id="{59735CA7-B0C8-4AFE-A0AF-BD88319E09E4}"/>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17" name="">
            <a:extLst xmlns:a="http://schemas.openxmlformats.org/drawingml/2006/main">
              <a:ext uri="{FF2B5EF4-FFF2-40B4-BE49-F238E27FC236}">
                <a16:creationId xmlns:a16="http://schemas.microsoft.com/office/drawing/2014/main" id="{C210E144-25F5-4F81-B7B4-12A3794605D0}"/>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Rechtsbegriffe, Tatsachen und medizinische Bewertung nicht in einer suggestiven Frage vermischen.</a:t>
            </a:r>
          </a:p>
        </p:txBody>
      </p:sp>
    </p:spTree>
    <p:extLst>
      <p:ext uri="{BB962C8B-B14F-4D97-AF65-F5344CB8AC3E}">
        <p14:creationId xmlns:p14="http://schemas.microsoft.com/office/powerpoint/2010/main" val="43637646"/>
      </p:ext>
    </p:extLst>
  </p:cSld>
</p:sld>
</file>

<file path=ppt/slides/slide153.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Vor einer Stellungnahme: sechs Stoppschilder</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PRAXIS</a:t>
            </a:r>
            <a:endParaRPr/>
          </a:p>
        </p:txBody>
      </p:sp>
      <p:sp>
        <p:nvSpPr>
          <p:cNvPr id="4" name="">
            <a:extLst xmlns:a="http://schemas.openxmlformats.org/drawingml/2006/main">
              <a:ext uri="{FF2B5EF4-FFF2-40B4-BE49-F238E27FC236}">
                <a16:creationId xmlns:a16="http://schemas.microsoft.com/office/drawing/2014/main" id="{4396B7CD-F423-4C63-A58B-C435A066B13F}"/>
              </a:ext>
            </a:extLst>
          </p:cNvPr>
          <p:cNvSpPr>
            <a:spLocks xmlns:a="http://schemas.openxmlformats.org/drawingml/2006/main" noGrp="1"/>
          </p:cNvSpPr>
          <p:nvPr/>
        </p:nvSpPr>
        <p:spPr>
          <a:xfrm xmlns:a="http://schemas.openxmlformats.org/drawingml/2006/main">
            <a:off x="1809750" y="2038350"/>
            <a:ext cx="323850" cy="323850"/>
          </a:xfrm>
          <a:prstGeom xmlns:a="http://schemas.openxmlformats.org/drawingml/2006/main" prst="ellipse">
            <a:avLst/>
          </a:prstGeom>
          <a:solidFill xmlns:a="http://schemas.openxmlformats.org/drawingml/2006/main">
            <a:srgbClr val="00B2BB"/>
          </a:solidFill>
          <a:ln xmlns:a="http://schemas.openxmlformats.org/drawingml/2006/main" w="0">
            <a:solidFill>
              <a:srgbClr val="FFFFFF"/>
            </a:solidFill>
            <a:prstDash val="solid"/>
          </a:ln>
        </p:spPr>
      </p:sp>
      <p:sp>
        <p:nvSpPr>
          <p:cNvPr id="5" name="">
            <a:extLst xmlns:a="http://schemas.openxmlformats.org/drawingml/2006/main">
              <a:ext uri="{FF2B5EF4-FFF2-40B4-BE49-F238E27FC236}">
                <a16:creationId xmlns:a16="http://schemas.microsoft.com/office/drawing/2014/main" id="{CC7ECD79-4FB9-479D-BB33-9D3E0BE6BB7B}"/>
              </a:ext>
            </a:extLst>
          </p:cNvPr>
          <p:cNvSpPr>
            <a:spLocks xmlns:a="http://schemas.openxmlformats.org/drawingml/2006/main" noGrp="1"/>
          </p:cNvSpPr>
          <p:nvPr/>
        </p:nvSpPr>
        <p:spPr>
          <a:xfrm xmlns:a="http://schemas.openxmlformats.org/drawingml/2006/main">
            <a:off x="1809750" y="20383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713" b="1">
                <a:solidFill>
                  <a:srgbClr val="FFFFFF"/>
                </a:solidFill>
              </a:defRPr>
            </a:pPr>
            <a:r>
              <a:rPr sz="713" b="1">
                <a:solidFill>
                  <a:srgbClr val="FFFFFF"/>
                </a:solidFill>
              </a:rPr>
              <a:t>1</a:t>
            </a:r>
          </a:p>
        </p:txBody>
      </p:sp>
      <p:sp>
        <p:nvSpPr>
          <p:cNvPr id="6" name="">
            <a:extLst xmlns:a="http://schemas.openxmlformats.org/drawingml/2006/main">
              <a:ext uri="{FF2B5EF4-FFF2-40B4-BE49-F238E27FC236}">
                <a16:creationId xmlns:a16="http://schemas.microsoft.com/office/drawing/2014/main" id="{6D822265-721C-4046-8E1E-322C27D2D5C4}"/>
              </a:ext>
            </a:extLst>
          </p:cNvPr>
          <p:cNvSpPr>
            <a:spLocks xmlns:a="http://schemas.openxmlformats.org/drawingml/2006/main" noGrp="1"/>
          </p:cNvSpPr>
          <p:nvPr/>
        </p:nvSpPr>
        <p:spPr>
          <a:xfrm xmlns:a="http://schemas.openxmlformats.org/drawingml/2006/main">
            <a:off x="2266950" y="2000250"/>
            <a:ext cx="9067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a:solidFill>
                  <a:srgbClr val="15232B"/>
                </a:solidFill>
              </a:defRPr>
            </a:pPr>
            <a:r>
              <a:rPr sz="1275">
                <a:solidFill>
                  <a:srgbClr val="15232B"/>
                </a:solidFill>
              </a:rPr>
              <a:t>Wer hat mich beauftragt – und wofür?</a:t>
            </a:r>
          </a:p>
        </p:txBody>
      </p:sp>
      <p:sp>
        <p:nvSpPr>
          <p:cNvPr id="7" name="">
            <a:extLst xmlns:a="http://schemas.openxmlformats.org/drawingml/2006/main">
              <a:ext uri="{FF2B5EF4-FFF2-40B4-BE49-F238E27FC236}">
                <a16:creationId xmlns:a16="http://schemas.microsoft.com/office/drawing/2014/main" id="{F90748AC-F6B9-4A38-A846-2B9CD78DDE44}"/>
              </a:ext>
            </a:extLst>
          </p:cNvPr>
          <p:cNvSpPr>
            <a:spLocks xmlns:a="http://schemas.openxmlformats.org/drawingml/2006/main" noGrp="1"/>
          </p:cNvSpPr>
          <p:nvPr/>
        </p:nvSpPr>
        <p:spPr>
          <a:xfrm xmlns:a="http://schemas.openxmlformats.org/drawingml/2006/main">
            <a:off x="1809750" y="2590800"/>
            <a:ext cx="323850" cy="323850"/>
          </a:xfrm>
          <a:prstGeom xmlns:a="http://schemas.openxmlformats.org/drawingml/2006/main" prst="ellipse">
            <a:avLst/>
          </a:prstGeom>
          <a:solidFill xmlns:a="http://schemas.openxmlformats.org/drawingml/2006/main">
            <a:srgbClr val="003F6B"/>
          </a:solidFill>
          <a:ln xmlns:a="http://schemas.openxmlformats.org/drawingml/2006/main" w="0">
            <a:solidFill>
              <a:srgbClr val="FFFFFF"/>
            </a:solidFill>
            <a:prstDash val="solid"/>
          </a:ln>
        </p:spPr>
      </p:sp>
      <p:sp>
        <p:nvSpPr>
          <p:cNvPr id="8" name="">
            <a:extLst xmlns:a="http://schemas.openxmlformats.org/drawingml/2006/main">
              <a:ext uri="{FF2B5EF4-FFF2-40B4-BE49-F238E27FC236}">
                <a16:creationId xmlns:a16="http://schemas.microsoft.com/office/drawing/2014/main" id="{51A269D5-357E-4441-80E9-7642F0EE7FCE}"/>
              </a:ext>
            </a:extLst>
          </p:cNvPr>
          <p:cNvSpPr>
            <a:spLocks xmlns:a="http://schemas.openxmlformats.org/drawingml/2006/main" noGrp="1"/>
          </p:cNvSpPr>
          <p:nvPr/>
        </p:nvSpPr>
        <p:spPr>
          <a:xfrm xmlns:a="http://schemas.openxmlformats.org/drawingml/2006/main">
            <a:off x="1809750" y="259080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713" b="1">
                <a:solidFill>
                  <a:srgbClr val="FFFFFF"/>
                </a:solidFill>
              </a:defRPr>
            </a:pPr>
            <a:r>
              <a:rPr sz="713" b="1">
                <a:solidFill>
                  <a:srgbClr val="FFFFFF"/>
                </a:solidFill>
              </a:rPr>
              <a:t>2</a:t>
            </a:r>
          </a:p>
        </p:txBody>
      </p:sp>
      <p:sp>
        <p:nvSpPr>
          <p:cNvPr id="9" name="">
            <a:extLst xmlns:a="http://schemas.openxmlformats.org/drawingml/2006/main">
              <a:ext uri="{FF2B5EF4-FFF2-40B4-BE49-F238E27FC236}">
                <a16:creationId xmlns:a16="http://schemas.microsoft.com/office/drawing/2014/main" id="{B33CADD1-239D-4238-9ADB-87584778B567}"/>
              </a:ext>
            </a:extLst>
          </p:cNvPr>
          <p:cNvSpPr>
            <a:spLocks xmlns:a="http://schemas.openxmlformats.org/drawingml/2006/main" noGrp="1"/>
          </p:cNvSpPr>
          <p:nvPr/>
        </p:nvSpPr>
        <p:spPr>
          <a:xfrm xmlns:a="http://schemas.openxmlformats.org/drawingml/2006/main">
            <a:off x="2266950" y="2552700"/>
            <a:ext cx="9067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a:solidFill>
                  <a:srgbClr val="15232B"/>
                </a:solidFill>
              </a:defRPr>
            </a:pPr>
            <a:r>
              <a:rPr sz="1275">
                <a:solidFill>
                  <a:srgbClr val="15232B"/>
                </a:solidFill>
              </a:rPr>
              <a:t>Bin ich Behandelnde, Zeuge, Beschuldigte oder Gutachter?</a:t>
            </a:r>
          </a:p>
        </p:txBody>
      </p:sp>
      <p:sp>
        <p:nvSpPr>
          <p:cNvPr id="10" name="">
            <a:extLst xmlns:a="http://schemas.openxmlformats.org/drawingml/2006/main">
              <a:ext uri="{FF2B5EF4-FFF2-40B4-BE49-F238E27FC236}">
                <a16:creationId xmlns:a16="http://schemas.microsoft.com/office/drawing/2014/main" id="{07508633-8110-4186-B683-DBC24254172A}"/>
              </a:ext>
            </a:extLst>
          </p:cNvPr>
          <p:cNvSpPr>
            <a:spLocks xmlns:a="http://schemas.openxmlformats.org/drawingml/2006/main" noGrp="1"/>
          </p:cNvSpPr>
          <p:nvPr/>
        </p:nvSpPr>
        <p:spPr>
          <a:xfrm xmlns:a="http://schemas.openxmlformats.org/drawingml/2006/main">
            <a:off x="1809750" y="3143250"/>
            <a:ext cx="323850" cy="323850"/>
          </a:xfrm>
          <a:prstGeom xmlns:a="http://schemas.openxmlformats.org/drawingml/2006/main" prst="ellipse">
            <a:avLst/>
          </a:prstGeom>
          <a:solidFill xmlns:a="http://schemas.openxmlformats.org/drawingml/2006/main">
            <a:srgbClr val="00B2BB"/>
          </a:solidFill>
          <a:ln xmlns:a="http://schemas.openxmlformats.org/drawingml/2006/main" w="0">
            <a:solidFill>
              <a:srgbClr val="FFFFFF"/>
            </a:solidFill>
            <a:prstDash val="solid"/>
          </a:ln>
        </p:spPr>
      </p:sp>
      <p:sp>
        <p:nvSpPr>
          <p:cNvPr id="11" name="">
            <a:extLst xmlns:a="http://schemas.openxmlformats.org/drawingml/2006/main">
              <a:ext uri="{FF2B5EF4-FFF2-40B4-BE49-F238E27FC236}">
                <a16:creationId xmlns:a16="http://schemas.microsoft.com/office/drawing/2014/main" id="{DC859C16-F1FD-483E-964D-F9D4847C28F0}"/>
              </a:ext>
            </a:extLst>
          </p:cNvPr>
          <p:cNvSpPr>
            <a:spLocks xmlns:a="http://schemas.openxmlformats.org/drawingml/2006/main" noGrp="1"/>
          </p:cNvSpPr>
          <p:nvPr/>
        </p:nvSpPr>
        <p:spPr>
          <a:xfrm xmlns:a="http://schemas.openxmlformats.org/drawingml/2006/main">
            <a:off x="1809750" y="31432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713" b="1">
                <a:solidFill>
                  <a:srgbClr val="FFFFFF"/>
                </a:solidFill>
              </a:defRPr>
            </a:pPr>
            <a:r>
              <a:rPr sz="713" b="1">
                <a:solidFill>
                  <a:srgbClr val="FFFFFF"/>
                </a:solidFill>
              </a:rPr>
              <a:t>3</a:t>
            </a:r>
          </a:p>
        </p:txBody>
      </p:sp>
      <p:sp>
        <p:nvSpPr>
          <p:cNvPr id="12" name="">
            <a:extLst xmlns:a="http://schemas.openxmlformats.org/drawingml/2006/main">
              <a:ext uri="{FF2B5EF4-FFF2-40B4-BE49-F238E27FC236}">
                <a16:creationId xmlns:a16="http://schemas.microsoft.com/office/drawing/2014/main" id="{9066D9B5-BB88-4A2F-B01C-E7CA735159B9}"/>
              </a:ext>
            </a:extLst>
          </p:cNvPr>
          <p:cNvSpPr>
            <a:spLocks xmlns:a="http://schemas.openxmlformats.org/drawingml/2006/main" noGrp="1"/>
          </p:cNvSpPr>
          <p:nvPr/>
        </p:nvSpPr>
        <p:spPr>
          <a:xfrm xmlns:a="http://schemas.openxmlformats.org/drawingml/2006/main">
            <a:off x="2266950" y="3105150"/>
            <a:ext cx="9067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a:solidFill>
                  <a:srgbClr val="15232B"/>
                </a:solidFill>
              </a:defRPr>
            </a:pPr>
            <a:r>
              <a:rPr sz="1275">
                <a:solidFill>
                  <a:srgbClr val="15232B"/>
                </a:solidFill>
              </a:rPr>
              <a:t>Welche Unterlagen darf ich einsehen und verwenden?</a:t>
            </a:r>
          </a:p>
        </p:txBody>
      </p:sp>
      <p:sp>
        <p:nvSpPr>
          <p:cNvPr id="13" name="">
            <a:extLst xmlns:a="http://schemas.openxmlformats.org/drawingml/2006/main">
              <a:ext uri="{FF2B5EF4-FFF2-40B4-BE49-F238E27FC236}">
                <a16:creationId xmlns:a16="http://schemas.microsoft.com/office/drawing/2014/main" id="{D156C4EE-DBDB-48A6-B0BB-7F0E39ECF91E}"/>
              </a:ext>
            </a:extLst>
          </p:cNvPr>
          <p:cNvSpPr>
            <a:spLocks xmlns:a="http://schemas.openxmlformats.org/drawingml/2006/main" noGrp="1"/>
          </p:cNvSpPr>
          <p:nvPr/>
        </p:nvSpPr>
        <p:spPr>
          <a:xfrm xmlns:a="http://schemas.openxmlformats.org/drawingml/2006/main">
            <a:off x="1809750" y="3695700"/>
            <a:ext cx="323850" cy="323850"/>
          </a:xfrm>
          <a:prstGeom xmlns:a="http://schemas.openxmlformats.org/drawingml/2006/main" prst="ellipse">
            <a:avLst/>
          </a:prstGeom>
          <a:solidFill xmlns:a="http://schemas.openxmlformats.org/drawingml/2006/main">
            <a:srgbClr val="003F6B"/>
          </a:solidFill>
          <a:ln xmlns:a="http://schemas.openxmlformats.org/drawingml/2006/main" w="0">
            <a:solidFill>
              <a:srgbClr val="FFFFFF"/>
            </a:solidFill>
            <a:prstDash val="solid"/>
          </a:ln>
        </p:spPr>
      </p:sp>
      <p:sp>
        <p:nvSpPr>
          <p:cNvPr id="14" name="">
            <a:extLst xmlns:a="http://schemas.openxmlformats.org/drawingml/2006/main">
              <a:ext uri="{FF2B5EF4-FFF2-40B4-BE49-F238E27FC236}">
                <a16:creationId xmlns:a16="http://schemas.microsoft.com/office/drawing/2014/main" id="{566F9C21-E026-4A8A-9479-9CB1EC1A3C5A}"/>
              </a:ext>
            </a:extLst>
          </p:cNvPr>
          <p:cNvSpPr>
            <a:spLocks xmlns:a="http://schemas.openxmlformats.org/drawingml/2006/main" noGrp="1"/>
          </p:cNvSpPr>
          <p:nvPr/>
        </p:nvSpPr>
        <p:spPr>
          <a:xfrm xmlns:a="http://schemas.openxmlformats.org/drawingml/2006/main">
            <a:off x="1809750" y="369570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713" b="1">
                <a:solidFill>
                  <a:srgbClr val="FFFFFF"/>
                </a:solidFill>
              </a:defRPr>
            </a:pPr>
            <a:r>
              <a:rPr sz="713" b="1">
                <a:solidFill>
                  <a:srgbClr val="FFFFFF"/>
                </a:solidFill>
              </a:rPr>
              <a:t>4</a:t>
            </a:r>
          </a:p>
        </p:txBody>
      </p:sp>
      <p:sp>
        <p:nvSpPr>
          <p:cNvPr id="15" name="">
            <a:extLst xmlns:a="http://schemas.openxmlformats.org/drawingml/2006/main">
              <a:ext uri="{FF2B5EF4-FFF2-40B4-BE49-F238E27FC236}">
                <a16:creationId xmlns:a16="http://schemas.microsoft.com/office/drawing/2014/main" id="{7B2F3FC2-272E-48FD-825F-572C0134A72E}"/>
              </a:ext>
            </a:extLst>
          </p:cNvPr>
          <p:cNvSpPr>
            <a:spLocks xmlns:a="http://schemas.openxmlformats.org/drawingml/2006/main" noGrp="1"/>
          </p:cNvSpPr>
          <p:nvPr/>
        </p:nvSpPr>
        <p:spPr>
          <a:xfrm xmlns:a="http://schemas.openxmlformats.org/drawingml/2006/main">
            <a:off x="2266950" y="3657600"/>
            <a:ext cx="9067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a:solidFill>
                  <a:srgbClr val="15232B"/>
                </a:solidFill>
              </a:defRPr>
            </a:pPr>
            <a:r>
              <a:rPr sz="1275">
                <a:solidFill>
                  <a:srgbClr val="15232B"/>
                </a:solidFill>
              </a:rPr>
              <a:t>Was weiß ich sicher aus eigener Erinnerung – was nur aus der Akte?</a:t>
            </a:r>
          </a:p>
        </p:txBody>
      </p:sp>
      <p:sp>
        <p:nvSpPr>
          <p:cNvPr id="16" name="">
            <a:extLst xmlns:a="http://schemas.openxmlformats.org/drawingml/2006/main">
              <a:ext uri="{FF2B5EF4-FFF2-40B4-BE49-F238E27FC236}">
                <a16:creationId xmlns:a16="http://schemas.microsoft.com/office/drawing/2014/main" id="{B006BD7B-0611-4421-9372-C56FEAEF68B3}"/>
              </a:ext>
            </a:extLst>
          </p:cNvPr>
          <p:cNvSpPr>
            <a:spLocks xmlns:a="http://schemas.openxmlformats.org/drawingml/2006/main" noGrp="1"/>
          </p:cNvSpPr>
          <p:nvPr/>
        </p:nvSpPr>
        <p:spPr>
          <a:xfrm xmlns:a="http://schemas.openxmlformats.org/drawingml/2006/main">
            <a:off x="1809750" y="4248150"/>
            <a:ext cx="323850" cy="323850"/>
          </a:xfrm>
          <a:prstGeom xmlns:a="http://schemas.openxmlformats.org/drawingml/2006/main" prst="ellipse">
            <a:avLst/>
          </a:prstGeom>
          <a:solidFill xmlns:a="http://schemas.openxmlformats.org/drawingml/2006/main">
            <a:srgbClr val="00B2BB"/>
          </a:solidFill>
          <a:ln xmlns:a="http://schemas.openxmlformats.org/drawingml/2006/main" w="0">
            <a:solidFill>
              <a:srgbClr val="FFFFFF"/>
            </a:solidFill>
            <a:prstDash val="solid"/>
          </a:ln>
        </p:spPr>
      </p:sp>
      <p:sp>
        <p:nvSpPr>
          <p:cNvPr id="17" name="">
            <a:extLst xmlns:a="http://schemas.openxmlformats.org/drawingml/2006/main">
              <a:ext uri="{FF2B5EF4-FFF2-40B4-BE49-F238E27FC236}">
                <a16:creationId xmlns:a16="http://schemas.microsoft.com/office/drawing/2014/main" id="{D8CFC28C-3026-4003-BEEC-EDAF45EA5C12}"/>
              </a:ext>
            </a:extLst>
          </p:cNvPr>
          <p:cNvSpPr>
            <a:spLocks xmlns:a="http://schemas.openxmlformats.org/drawingml/2006/main" noGrp="1"/>
          </p:cNvSpPr>
          <p:nvPr/>
        </p:nvSpPr>
        <p:spPr>
          <a:xfrm xmlns:a="http://schemas.openxmlformats.org/drawingml/2006/main">
            <a:off x="1809750" y="42481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713" b="1">
                <a:solidFill>
                  <a:srgbClr val="FFFFFF"/>
                </a:solidFill>
              </a:defRPr>
            </a:pPr>
            <a:r>
              <a:rPr sz="713" b="1">
                <a:solidFill>
                  <a:srgbClr val="FFFFFF"/>
                </a:solidFill>
              </a:rPr>
              <a:t>5</a:t>
            </a:r>
          </a:p>
        </p:txBody>
      </p:sp>
      <p:sp>
        <p:nvSpPr>
          <p:cNvPr id="18" name="">
            <a:extLst xmlns:a="http://schemas.openxmlformats.org/drawingml/2006/main">
              <a:ext uri="{FF2B5EF4-FFF2-40B4-BE49-F238E27FC236}">
                <a16:creationId xmlns:a16="http://schemas.microsoft.com/office/drawing/2014/main" id="{710C88EF-826A-4D6A-95B9-B5C6AF7EC676}"/>
              </a:ext>
            </a:extLst>
          </p:cNvPr>
          <p:cNvSpPr>
            <a:spLocks xmlns:a="http://schemas.openxmlformats.org/drawingml/2006/main" noGrp="1"/>
          </p:cNvSpPr>
          <p:nvPr/>
        </p:nvSpPr>
        <p:spPr>
          <a:xfrm xmlns:a="http://schemas.openxmlformats.org/drawingml/2006/main">
            <a:off x="2266950" y="4210050"/>
            <a:ext cx="9067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a:solidFill>
                  <a:srgbClr val="15232B"/>
                </a:solidFill>
              </a:defRPr>
            </a:pPr>
            <a:r>
              <a:rPr sz="1275">
                <a:solidFill>
                  <a:srgbClr val="15232B"/>
                </a:solidFill>
              </a:rPr>
              <a:t>Ist anwaltliche / versicherungsrechtliche Koordination nötig?</a:t>
            </a:r>
          </a:p>
        </p:txBody>
      </p:sp>
      <p:sp>
        <p:nvSpPr>
          <p:cNvPr id="19" name="">
            <a:extLst xmlns:a="http://schemas.openxmlformats.org/drawingml/2006/main">
              <a:ext uri="{FF2B5EF4-FFF2-40B4-BE49-F238E27FC236}">
                <a16:creationId xmlns:a16="http://schemas.microsoft.com/office/drawing/2014/main" id="{CEF6AD34-91AD-4045-87C2-EDD8CF68E35A}"/>
              </a:ext>
            </a:extLst>
          </p:cNvPr>
          <p:cNvSpPr>
            <a:spLocks xmlns:a="http://schemas.openxmlformats.org/drawingml/2006/main" noGrp="1"/>
          </p:cNvSpPr>
          <p:nvPr/>
        </p:nvSpPr>
        <p:spPr>
          <a:xfrm xmlns:a="http://schemas.openxmlformats.org/drawingml/2006/main">
            <a:off x="1809750" y="4800600"/>
            <a:ext cx="323850" cy="323850"/>
          </a:xfrm>
          <a:prstGeom xmlns:a="http://schemas.openxmlformats.org/drawingml/2006/main" prst="ellipse">
            <a:avLst/>
          </a:prstGeom>
          <a:solidFill xmlns:a="http://schemas.openxmlformats.org/drawingml/2006/main">
            <a:srgbClr val="003F6B"/>
          </a:solidFill>
          <a:ln xmlns:a="http://schemas.openxmlformats.org/drawingml/2006/main" w="0">
            <a:solidFill>
              <a:srgbClr val="FFFFFF"/>
            </a:solidFill>
            <a:prstDash val="solid"/>
          </a:ln>
        </p:spPr>
      </p:sp>
      <p:sp>
        <p:nvSpPr>
          <p:cNvPr id="20" name="">
            <a:extLst xmlns:a="http://schemas.openxmlformats.org/drawingml/2006/main">
              <a:ext uri="{FF2B5EF4-FFF2-40B4-BE49-F238E27FC236}">
                <a16:creationId xmlns:a16="http://schemas.microsoft.com/office/drawing/2014/main" id="{B4075E72-FE14-4D1A-9CC3-0BCA5D52585D}"/>
              </a:ext>
            </a:extLst>
          </p:cNvPr>
          <p:cNvSpPr>
            <a:spLocks xmlns:a="http://schemas.openxmlformats.org/drawingml/2006/main" noGrp="1"/>
          </p:cNvSpPr>
          <p:nvPr/>
        </p:nvSpPr>
        <p:spPr>
          <a:xfrm xmlns:a="http://schemas.openxmlformats.org/drawingml/2006/main">
            <a:off x="1809750" y="480060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713" b="1">
                <a:solidFill>
                  <a:srgbClr val="FFFFFF"/>
                </a:solidFill>
              </a:defRPr>
            </a:pPr>
            <a:r>
              <a:rPr sz="713" b="1">
                <a:solidFill>
                  <a:srgbClr val="FFFFFF"/>
                </a:solidFill>
              </a:rPr>
              <a:t>6</a:t>
            </a:r>
          </a:p>
        </p:txBody>
      </p:sp>
      <p:sp>
        <p:nvSpPr>
          <p:cNvPr id="21" name="">
            <a:extLst xmlns:a="http://schemas.openxmlformats.org/drawingml/2006/main">
              <a:ext uri="{FF2B5EF4-FFF2-40B4-BE49-F238E27FC236}">
                <a16:creationId xmlns:a16="http://schemas.microsoft.com/office/drawing/2014/main" id="{22224BD0-7AF2-44F2-B83C-606A442C5AEB}"/>
              </a:ext>
            </a:extLst>
          </p:cNvPr>
          <p:cNvSpPr>
            <a:spLocks xmlns:a="http://schemas.openxmlformats.org/drawingml/2006/main" noGrp="1"/>
          </p:cNvSpPr>
          <p:nvPr/>
        </p:nvSpPr>
        <p:spPr>
          <a:xfrm xmlns:a="http://schemas.openxmlformats.org/drawingml/2006/main">
            <a:off x="2266950" y="4762500"/>
            <a:ext cx="9067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a:solidFill>
                  <a:srgbClr val="15232B"/>
                </a:solidFill>
              </a:defRPr>
            </a:pPr>
            <a:r>
              <a:rPr sz="1275">
                <a:solidFill>
                  <a:srgbClr val="15232B"/>
                </a:solidFill>
              </a:rPr>
              <a:t>Bleibt die Patientenakte unverändert und nachvollziehbar?</a:t>
            </a:r>
          </a:p>
        </p:txBody>
      </p:sp>
      <p:sp>
        <p:nvSpPr>
          <p:cNvPr id="22" name="">
            <a:extLst xmlns:a="http://schemas.openxmlformats.org/drawingml/2006/main">
              <a:ext uri="{FF2B5EF4-FFF2-40B4-BE49-F238E27FC236}">
                <a16:creationId xmlns:a16="http://schemas.microsoft.com/office/drawing/2014/main" id="{8D6A4AAF-8D5A-4C44-AFD9-80E2074989CE}"/>
              </a:ext>
            </a:extLst>
          </p:cNvPr>
          <p:cNvSpPr>
            <a:spLocks xmlns:a="http://schemas.openxmlformats.org/drawingml/2006/main" noGrp="1"/>
          </p:cNvSpPr>
          <p:nvPr/>
        </p:nvSpPr>
        <p:spPr>
          <a:xfrm xmlns:a="http://schemas.openxmlformats.org/drawingml/2006/main">
            <a:off x="2095500" y="5143500"/>
            <a:ext cx="895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0786B"/>
                </a:solidFill>
              </a:defRPr>
            </a:pPr>
            <a:r>
              <a:rPr sz="1200" b="1">
                <a:solidFill>
                  <a:srgbClr val="00786B"/>
                </a:solidFill>
              </a:rPr>
              <a:t>Keine spontane ‚Rechtfertigung‘ aus dem Gedächtnis an unbekannte Adressaten schicken.</a:t>
            </a:r>
          </a:p>
        </p:txBody>
      </p:sp>
    </p:spTree>
    <p:extLst>
      <p:ext uri="{BB962C8B-B14F-4D97-AF65-F5344CB8AC3E}">
        <p14:creationId xmlns:p14="http://schemas.microsoft.com/office/powerpoint/2010/main" val="43637646"/>
      </p:ext>
    </p:extLst>
  </p:cSld>
</p:sld>
</file>

<file path=ppt/slides/slide154.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Zum Nachlesen · Termin 05: Sachverständigenbeweis</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LITERATUR &amp; SICHTBARE QUELLEN</a:t>
            </a:r>
            <a:endParaRPr/>
          </a:p>
        </p:txBody>
      </p:sp>
      <p:sp>
        <p:nvSpPr>
          <p:cNvPr id="4" name="">
            <a:extLst xmlns:a="http://schemas.openxmlformats.org/drawingml/2006/main">
              <a:ext uri="{FF2B5EF4-FFF2-40B4-BE49-F238E27FC236}">
                <a16:creationId xmlns:a16="http://schemas.microsoft.com/office/drawing/2014/main" id="{276B97D0-1F01-4AD2-BE8D-067F88D0B874}"/>
              </a:ext>
            </a:extLst>
          </p:cNvPr>
          <p:cNvSpPr>
            <a:spLocks xmlns:a="http://schemas.openxmlformats.org/drawingml/2006/main" noGrp="1"/>
          </p:cNvSpPr>
          <p:nvPr/>
        </p:nvSpPr>
        <p:spPr>
          <a:xfrm xmlns:a="http://schemas.openxmlformats.org/drawingml/2006/main">
            <a:off x="1809750" y="1943100"/>
            <a:ext cx="461010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D5D23D4F-A0A3-4C14-B0CA-FB8F495660B0}"/>
              </a:ext>
            </a:extLst>
          </p:cNvPr>
          <p:cNvSpPr>
            <a:spLocks xmlns:a="http://schemas.openxmlformats.org/drawingml/2006/main" noGrp="1"/>
          </p:cNvSpPr>
          <p:nvPr/>
        </p:nvSpPr>
        <p:spPr>
          <a:xfrm xmlns:a="http://schemas.openxmlformats.org/drawingml/2006/main">
            <a:off x="1809750" y="1943100"/>
            <a:ext cx="4610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Vertiefung</a:t>
            </a:r>
          </a:p>
        </p:txBody>
      </p:sp>
      <p:sp>
        <p:nvSpPr>
          <p:cNvPr id="6" name="">
            <a:extLst xmlns:a="http://schemas.openxmlformats.org/drawingml/2006/main">
              <a:ext uri="{FF2B5EF4-FFF2-40B4-BE49-F238E27FC236}">
                <a16:creationId xmlns:a16="http://schemas.microsoft.com/office/drawing/2014/main" id="{1E867CF4-F545-4873-80A5-AABDB08DAEEB}"/>
              </a:ext>
            </a:extLst>
          </p:cNvPr>
          <p:cNvSpPr>
            <a:spLocks xmlns:a="http://schemas.openxmlformats.org/drawingml/2006/main" noGrp="1"/>
          </p:cNvSpPr>
          <p:nvPr/>
        </p:nvSpPr>
        <p:spPr>
          <a:xfrm xmlns:a="http://schemas.openxmlformats.org/drawingml/2006/main">
            <a:off x="1809750" y="30289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7" name="">
            <a:extLst xmlns:a="http://schemas.openxmlformats.org/drawingml/2006/main">
              <a:ext uri="{FF2B5EF4-FFF2-40B4-BE49-F238E27FC236}">
                <a16:creationId xmlns:a16="http://schemas.microsoft.com/office/drawing/2014/main" id="{F93D4557-C6DB-4E91-86CB-FA48417454A9}"/>
              </a:ext>
            </a:extLst>
          </p:cNvPr>
          <p:cNvSpPr>
            <a:spLocks xmlns:a="http://schemas.openxmlformats.org/drawingml/2006/main" noGrp="1"/>
          </p:cNvSpPr>
          <p:nvPr/>
        </p:nvSpPr>
        <p:spPr>
          <a:xfrm xmlns:a="http://schemas.openxmlformats.org/drawingml/2006/main">
            <a:off x="1809750" y="24765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9BAB"/>
                </a:solidFill>
              </a:defRPr>
            </a:pPr>
            <a:r>
              <a:rPr sz="960" b="1">
                <a:solidFill>
                  <a:srgbClr val="009BAB"/>
                </a:solidFill>
              </a:rPr>
              <a:t>ZPO</a:t>
            </a:r>
          </a:p>
        </p:txBody>
      </p:sp>
      <p:sp>
        <p:nvSpPr>
          <p:cNvPr id="8" name="">
            <a:extLst xmlns:a="http://schemas.openxmlformats.org/drawingml/2006/main">
              <a:ext uri="{FF2B5EF4-FFF2-40B4-BE49-F238E27FC236}">
                <a16:creationId xmlns:a16="http://schemas.microsoft.com/office/drawing/2014/main" id="{285A1C2D-93AC-4206-8BBF-FEE6BDC19EC9}"/>
              </a:ext>
            </a:extLst>
          </p:cNvPr>
          <p:cNvSpPr>
            <a:spLocks xmlns:a="http://schemas.openxmlformats.org/drawingml/2006/main" noGrp="1"/>
          </p:cNvSpPr>
          <p:nvPr/>
        </p:nvSpPr>
        <p:spPr>
          <a:xfrm xmlns:a="http://schemas.openxmlformats.org/drawingml/2006/main">
            <a:off x="2952750" y="24765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Zöller/Greger, §§ 286, 402–414 ZPO.</a:t>
            </a:r>
          </a:p>
        </p:txBody>
      </p:sp>
      <p:sp>
        <p:nvSpPr>
          <p:cNvPr id="9" name="">
            <a:extLst xmlns:a="http://schemas.openxmlformats.org/drawingml/2006/main">
              <a:ext uri="{FF2B5EF4-FFF2-40B4-BE49-F238E27FC236}">
                <a16:creationId xmlns:a16="http://schemas.microsoft.com/office/drawing/2014/main" id="{6411DC7C-A7FC-42CD-8C25-2CA28FB6E8E6}"/>
              </a:ext>
            </a:extLst>
          </p:cNvPr>
          <p:cNvSpPr>
            <a:spLocks xmlns:a="http://schemas.openxmlformats.org/drawingml/2006/main" noGrp="1"/>
          </p:cNvSpPr>
          <p:nvPr/>
        </p:nvSpPr>
        <p:spPr>
          <a:xfrm xmlns:a="http://schemas.openxmlformats.org/drawingml/2006/main">
            <a:off x="1809750" y="36385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10" name="">
            <a:extLst xmlns:a="http://schemas.openxmlformats.org/drawingml/2006/main">
              <a:ext uri="{FF2B5EF4-FFF2-40B4-BE49-F238E27FC236}">
                <a16:creationId xmlns:a16="http://schemas.microsoft.com/office/drawing/2014/main" id="{D0DE821C-82E4-42A5-A54C-61115BF74559}"/>
              </a:ext>
            </a:extLst>
          </p:cNvPr>
          <p:cNvSpPr>
            <a:spLocks xmlns:a="http://schemas.openxmlformats.org/drawingml/2006/main" noGrp="1"/>
          </p:cNvSpPr>
          <p:nvPr/>
        </p:nvSpPr>
        <p:spPr>
          <a:xfrm xmlns:a="http://schemas.openxmlformats.org/drawingml/2006/main">
            <a:off x="1809750" y="30861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9BAB"/>
                </a:solidFill>
              </a:defRPr>
            </a:pPr>
            <a:r>
              <a:rPr sz="960" b="1">
                <a:solidFill>
                  <a:srgbClr val="009BAB"/>
                </a:solidFill>
              </a:rPr>
              <a:t>Beweismaß</a:t>
            </a:r>
          </a:p>
        </p:txBody>
      </p:sp>
      <p:sp>
        <p:nvSpPr>
          <p:cNvPr id="11" name="">
            <a:extLst xmlns:a="http://schemas.openxmlformats.org/drawingml/2006/main">
              <a:ext uri="{FF2B5EF4-FFF2-40B4-BE49-F238E27FC236}">
                <a16:creationId xmlns:a16="http://schemas.microsoft.com/office/drawing/2014/main" id="{84F56786-8D94-41EE-B0CF-87ED15B18163}"/>
              </a:ext>
            </a:extLst>
          </p:cNvPr>
          <p:cNvSpPr>
            <a:spLocks xmlns:a="http://schemas.openxmlformats.org/drawingml/2006/main" noGrp="1"/>
          </p:cNvSpPr>
          <p:nvPr/>
        </p:nvSpPr>
        <p:spPr>
          <a:xfrm xmlns:a="http://schemas.openxmlformats.org/drawingml/2006/main">
            <a:off x="2952750" y="30861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Musielak/Voit, § 286 und § 287 ZPO.</a:t>
            </a:r>
          </a:p>
        </p:txBody>
      </p:sp>
      <p:sp>
        <p:nvSpPr>
          <p:cNvPr id="12" name="">
            <a:extLst xmlns:a="http://schemas.openxmlformats.org/drawingml/2006/main">
              <a:ext uri="{FF2B5EF4-FFF2-40B4-BE49-F238E27FC236}">
                <a16:creationId xmlns:a16="http://schemas.microsoft.com/office/drawing/2014/main" id="{9F8A01EC-D896-4DAB-B1E1-305F1A44A63A}"/>
              </a:ext>
            </a:extLst>
          </p:cNvPr>
          <p:cNvSpPr>
            <a:spLocks xmlns:a="http://schemas.openxmlformats.org/drawingml/2006/main" noGrp="1"/>
          </p:cNvSpPr>
          <p:nvPr/>
        </p:nvSpPr>
        <p:spPr>
          <a:xfrm xmlns:a="http://schemas.openxmlformats.org/drawingml/2006/main">
            <a:off x="1809750" y="42481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13" name="">
            <a:extLst xmlns:a="http://schemas.openxmlformats.org/drawingml/2006/main">
              <a:ext uri="{FF2B5EF4-FFF2-40B4-BE49-F238E27FC236}">
                <a16:creationId xmlns:a16="http://schemas.microsoft.com/office/drawing/2014/main" id="{5D590BD6-F718-495E-925B-6B38234A2AEB}"/>
              </a:ext>
            </a:extLst>
          </p:cNvPr>
          <p:cNvSpPr>
            <a:spLocks xmlns:a="http://schemas.openxmlformats.org/drawingml/2006/main" noGrp="1"/>
          </p:cNvSpPr>
          <p:nvPr/>
        </p:nvSpPr>
        <p:spPr>
          <a:xfrm xmlns:a="http://schemas.openxmlformats.org/drawingml/2006/main">
            <a:off x="1809750" y="36957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9BAB"/>
                </a:solidFill>
              </a:defRPr>
            </a:pPr>
            <a:r>
              <a:rPr sz="960" b="1">
                <a:solidFill>
                  <a:srgbClr val="009BAB"/>
                </a:solidFill>
              </a:rPr>
              <a:t>Praxis</a:t>
            </a:r>
          </a:p>
        </p:txBody>
      </p:sp>
      <p:sp>
        <p:nvSpPr>
          <p:cNvPr id="14" name="">
            <a:extLst xmlns:a="http://schemas.openxmlformats.org/drawingml/2006/main">
              <a:ext uri="{FF2B5EF4-FFF2-40B4-BE49-F238E27FC236}">
                <a16:creationId xmlns:a16="http://schemas.microsoft.com/office/drawing/2014/main" id="{9AEAE699-29A8-40EA-A926-BA660C19B89E}"/>
              </a:ext>
            </a:extLst>
          </p:cNvPr>
          <p:cNvSpPr>
            <a:spLocks xmlns:a="http://schemas.openxmlformats.org/drawingml/2006/main" noGrp="1"/>
          </p:cNvSpPr>
          <p:nvPr/>
        </p:nvSpPr>
        <p:spPr>
          <a:xfrm xmlns:a="http://schemas.openxmlformats.org/drawingml/2006/main">
            <a:off x="2952750" y="36957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Geiß/Greiner: Zusammenarbeit von Gericht und medizinischem Sachverständigen.</a:t>
            </a:r>
          </a:p>
        </p:txBody>
      </p:sp>
      <p:sp>
        <p:nvSpPr>
          <p:cNvPr id="15" name="">
            <a:extLst xmlns:a="http://schemas.openxmlformats.org/drawingml/2006/main">
              <a:ext uri="{FF2B5EF4-FFF2-40B4-BE49-F238E27FC236}">
                <a16:creationId xmlns:a16="http://schemas.microsoft.com/office/drawing/2014/main" id="{A857A0A0-0A29-4B16-B9F8-E70AB24B1CD8}"/>
              </a:ext>
            </a:extLst>
          </p:cNvPr>
          <p:cNvSpPr>
            <a:spLocks xmlns:a="http://schemas.openxmlformats.org/drawingml/2006/main" noGrp="1"/>
          </p:cNvSpPr>
          <p:nvPr/>
        </p:nvSpPr>
        <p:spPr>
          <a:xfrm xmlns:a="http://schemas.openxmlformats.org/drawingml/2006/main">
            <a:off x="1809750" y="48577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16" name="">
            <a:extLst xmlns:a="http://schemas.openxmlformats.org/drawingml/2006/main">
              <a:ext uri="{FF2B5EF4-FFF2-40B4-BE49-F238E27FC236}">
                <a16:creationId xmlns:a16="http://schemas.microsoft.com/office/drawing/2014/main" id="{23231922-D15D-4B69-90B9-0F7F80022FA1}"/>
              </a:ext>
            </a:extLst>
          </p:cNvPr>
          <p:cNvSpPr>
            <a:spLocks xmlns:a="http://schemas.openxmlformats.org/drawingml/2006/main" noGrp="1"/>
          </p:cNvSpPr>
          <p:nvPr/>
        </p:nvSpPr>
        <p:spPr>
          <a:xfrm xmlns:a="http://schemas.openxmlformats.org/drawingml/2006/main">
            <a:off x="1809750" y="43053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9BAB"/>
                </a:solidFill>
              </a:defRPr>
            </a:pPr>
            <a:r>
              <a:rPr sz="960" b="1">
                <a:solidFill>
                  <a:srgbClr val="009BAB"/>
                </a:solidFill>
              </a:rPr>
              <a:t>Methodik</a:t>
            </a:r>
          </a:p>
        </p:txBody>
      </p:sp>
      <p:sp>
        <p:nvSpPr>
          <p:cNvPr id="17" name="">
            <a:extLst xmlns:a="http://schemas.openxmlformats.org/drawingml/2006/main">
              <a:ext uri="{FF2B5EF4-FFF2-40B4-BE49-F238E27FC236}">
                <a16:creationId xmlns:a16="http://schemas.microsoft.com/office/drawing/2014/main" id="{E14735CD-AF86-457B-AC78-A316A81A1602}"/>
              </a:ext>
            </a:extLst>
          </p:cNvPr>
          <p:cNvSpPr>
            <a:spLocks xmlns:a="http://schemas.openxmlformats.org/drawingml/2006/main" noGrp="1"/>
          </p:cNvSpPr>
          <p:nvPr/>
        </p:nvSpPr>
        <p:spPr>
          <a:xfrm xmlns:a="http://schemas.openxmlformats.org/drawingml/2006/main">
            <a:off x="2952750" y="43053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MD Bund, Begutachtungsleitfaden Behandlungs- und Pflegefehler, Stand 16.04.2026.</a:t>
            </a:r>
          </a:p>
        </p:txBody>
      </p:sp>
      <p:sp>
        <p:nvSpPr>
          <p:cNvPr id="18" name="">
            <a:extLst xmlns:a="http://schemas.openxmlformats.org/drawingml/2006/main">
              <a:ext uri="{FF2B5EF4-FFF2-40B4-BE49-F238E27FC236}">
                <a16:creationId xmlns:a16="http://schemas.microsoft.com/office/drawing/2014/main" id="{87558837-FD17-4DFF-8F90-9E71A0C36557}"/>
              </a:ext>
            </a:extLst>
          </p:cNvPr>
          <p:cNvSpPr>
            <a:spLocks xmlns:a="http://schemas.openxmlformats.org/drawingml/2006/main" noGrp="1"/>
          </p:cNvSpPr>
          <p:nvPr/>
        </p:nvSpPr>
        <p:spPr>
          <a:xfrm xmlns:a="http://schemas.openxmlformats.org/drawingml/2006/main">
            <a:off x="6724650" y="1943100"/>
            <a:ext cx="461010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9" name="">
            <a:extLst xmlns:a="http://schemas.openxmlformats.org/drawingml/2006/main">
              <a:ext uri="{FF2B5EF4-FFF2-40B4-BE49-F238E27FC236}">
                <a16:creationId xmlns:a16="http://schemas.microsoft.com/office/drawing/2014/main" id="{EEA11AC3-B2D9-4F18-BAD0-EE2AB65713B7}"/>
              </a:ext>
            </a:extLst>
          </p:cNvPr>
          <p:cNvSpPr>
            <a:spLocks xmlns:a="http://schemas.openxmlformats.org/drawingml/2006/main" noGrp="1"/>
          </p:cNvSpPr>
          <p:nvPr/>
        </p:nvSpPr>
        <p:spPr>
          <a:xfrm xmlns:a="http://schemas.openxmlformats.org/drawingml/2006/main">
            <a:off x="6724650" y="1943100"/>
            <a:ext cx="4610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Primärquellen &amp; Rechtsprechung</a:t>
            </a:r>
          </a:p>
        </p:txBody>
      </p:sp>
      <p:sp>
        <p:nvSpPr>
          <p:cNvPr id="20" name="">
            <a:extLst xmlns:a="http://schemas.openxmlformats.org/drawingml/2006/main">
              <a:ext uri="{FF2B5EF4-FFF2-40B4-BE49-F238E27FC236}">
                <a16:creationId xmlns:a16="http://schemas.microsoft.com/office/drawing/2014/main" id="{20A4A936-DF47-4FA7-8E70-4410CBDE7590}"/>
              </a:ext>
            </a:extLst>
          </p:cNvPr>
          <p:cNvSpPr>
            <a:spLocks xmlns:a="http://schemas.openxmlformats.org/drawingml/2006/main" noGrp="1"/>
          </p:cNvSpPr>
          <p:nvPr/>
        </p:nvSpPr>
        <p:spPr>
          <a:xfrm xmlns:a="http://schemas.openxmlformats.org/drawingml/2006/main">
            <a:off x="6724650" y="30289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21" name="">
            <a:extLst xmlns:a="http://schemas.openxmlformats.org/drawingml/2006/main">
              <a:ext uri="{FF2B5EF4-FFF2-40B4-BE49-F238E27FC236}">
                <a16:creationId xmlns:a16="http://schemas.microsoft.com/office/drawing/2014/main" id="{0B314677-BF9D-4C9F-8A5C-EBA635471717}"/>
              </a:ext>
            </a:extLst>
          </p:cNvPr>
          <p:cNvSpPr>
            <a:spLocks xmlns:a="http://schemas.openxmlformats.org/drawingml/2006/main" noGrp="1"/>
          </p:cNvSpPr>
          <p:nvPr/>
        </p:nvSpPr>
        <p:spPr>
          <a:xfrm xmlns:a="http://schemas.openxmlformats.org/drawingml/2006/main">
            <a:off x="6724650" y="24765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3F6B"/>
                </a:solidFill>
              </a:defRPr>
            </a:pPr>
            <a:r>
              <a:rPr sz="960" b="1">
                <a:solidFill>
                  <a:srgbClr val="003F6B"/>
                </a:solidFill>
              </a:rPr>
              <a:t>Normen</a:t>
            </a:r>
          </a:p>
        </p:txBody>
      </p:sp>
      <p:sp>
        <p:nvSpPr>
          <p:cNvPr id="22" name="">
            <a:extLst xmlns:a="http://schemas.openxmlformats.org/drawingml/2006/main">
              <a:ext uri="{FF2B5EF4-FFF2-40B4-BE49-F238E27FC236}">
                <a16:creationId xmlns:a16="http://schemas.microsoft.com/office/drawing/2014/main" id="{9DD4D8C7-584C-40F2-BEA6-2E9573F0F79F}"/>
              </a:ext>
            </a:extLst>
          </p:cNvPr>
          <p:cNvSpPr>
            <a:spLocks xmlns:a="http://schemas.openxmlformats.org/drawingml/2006/main" noGrp="1"/>
          </p:cNvSpPr>
          <p:nvPr/>
        </p:nvSpPr>
        <p:spPr>
          <a:xfrm xmlns:a="http://schemas.openxmlformats.org/drawingml/2006/main">
            <a:off x="7867650" y="24765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 286, 287, 402, 411 ZPO.</a:t>
            </a:r>
          </a:p>
        </p:txBody>
      </p:sp>
      <p:sp>
        <p:nvSpPr>
          <p:cNvPr id="23" name="">
            <a:extLst xmlns:a="http://schemas.openxmlformats.org/drawingml/2006/main">
              <a:ext uri="{FF2B5EF4-FFF2-40B4-BE49-F238E27FC236}">
                <a16:creationId xmlns:a16="http://schemas.microsoft.com/office/drawing/2014/main" id="{CD91153D-88E1-4D72-ABA7-828011A40579}"/>
              </a:ext>
            </a:extLst>
          </p:cNvPr>
          <p:cNvSpPr>
            <a:spLocks xmlns:a="http://schemas.openxmlformats.org/drawingml/2006/main" noGrp="1"/>
          </p:cNvSpPr>
          <p:nvPr/>
        </p:nvSpPr>
        <p:spPr>
          <a:xfrm xmlns:a="http://schemas.openxmlformats.org/drawingml/2006/main">
            <a:off x="6724650" y="36385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24" name="">
            <a:extLst xmlns:a="http://schemas.openxmlformats.org/drawingml/2006/main">
              <a:ext uri="{FF2B5EF4-FFF2-40B4-BE49-F238E27FC236}">
                <a16:creationId xmlns:a16="http://schemas.microsoft.com/office/drawing/2014/main" id="{545C979B-7DE5-4384-A1A7-EA4C83E204E2}"/>
              </a:ext>
            </a:extLst>
          </p:cNvPr>
          <p:cNvSpPr>
            <a:spLocks xmlns:a="http://schemas.openxmlformats.org/drawingml/2006/main" noGrp="1"/>
          </p:cNvSpPr>
          <p:nvPr/>
        </p:nvSpPr>
        <p:spPr>
          <a:xfrm xmlns:a="http://schemas.openxmlformats.org/drawingml/2006/main">
            <a:off x="6724650" y="30861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3F6B"/>
                </a:solidFill>
              </a:defRPr>
            </a:pPr>
            <a:r>
              <a:rPr sz="960" b="1">
                <a:solidFill>
                  <a:srgbClr val="003F6B"/>
                </a:solidFill>
              </a:rPr>
              <a:t>BGH</a:t>
            </a:r>
          </a:p>
        </p:txBody>
      </p:sp>
      <p:sp>
        <p:nvSpPr>
          <p:cNvPr id="25" name="">
            <a:extLst xmlns:a="http://schemas.openxmlformats.org/drawingml/2006/main">
              <a:ext uri="{FF2B5EF4-FFF2-40B4-BE49-F238E27FC236}">
                <a16:creationId xmlns:a16="http://schemas.microsoft.com/office/drawing/2014/main" id="{BDD2660F-9AFD-4467-B845-752783099866}"/>
              </a:ext>
            </a:extLst>
          </p:cNvPr>
          <p:cNvSpPr>
            <a:spLocks xmlns:a="http://schemas.openxmlformats.org/drawingml/2006/main" noGrp="1"/>
          </p:cNvSpPr>
          <p:nvPr/>
        </p:nvSpPr>
        <p:spPr>
          <a:xfrm xmlns:a="http://schemas.openxmlformats.org/drawingml/2006/main">
            <a:off x="7867650" y="30861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VI ZR 257/17 · mündliche Erläuterung auf Antrag.</a:t>
            </a:r>
          </a:p>
        </p:txBody>
      </p:sp>
      <p:sp>
        <p:nvSpPr>
          <p:cNvPr id="26" name="">
            <a:extLst xmlns:a="http://schemas.openxmlformats.org/drawingml/2006/main">
              <a:ext uri="{FF2B5EF4-FFF2-40B4-BE49-F238E27FC236}">
                <a16:creationId xmlns:a16="http://schemas.microsoft.com/office/drawing/2014/main" id="{A4DE7448-8868-43FB-A7D2-AC6C4436E393}"/>
              </a:ext>
            </a:extLst>
          </p:cNvPr>
          <p:cNvSpPr>
            <a:spLocks xmlns:a="http://schemas.openxmlformats.org/drawingml/2006/main" noGrp="1"/>
          </p:cNvSpPr>
          <p:nvPr/>
        </p:nvSpPr>
        <p:spPr>
          <a:xfrm xmlns:a="http://schemas.openxmlformats.org/drawingml/2006/main">
            <a:off x="6724650" y="42481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27" name="">
            <a:extLst xmlns:a="http://schemas.openxmlformats.org/drawingml/2006/main">
              <a:ext uri="{FF2B5EF4-FFF2-40B4-BE49-F238E27FC236}">
                <a16:creationId xmlns:a16="http://schemas.microsoft.com/office/drawing/2014/main" id="{22AFABD7-537A-4C27-9E43-518478450E4E}"/>
              </a:ext>
            </a:extLst>
          </p:cNvPr>
          <p:cNvSpPr>
            <a:spLocks xmlns:a="http://schemas.openxmlformats.org/drawingml/2006/main" noGrp="1"/>
          </p:cNvSpPr>
          <p:nvPr/>
        </p:nvSpPr>
        <p:spPr>
          <a:xfrm xmlns:a="http://schemas.openxmlformats.org/drawingml/2006/main">
            <a:off x="6724650" y="36957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3F6B"/>
                </a:solidFill>
              </a:defRPr>
            </a:pPr>
            <a:r>
              <a:rPr sz="960" b="1">
                <a:solidFill>
                  <a:srgbClr val="003F6B"/>
                </a:solidFill>
              </a:rPr>
              <a:t>GG</a:t>
            </a:r>
          </a:p>
        </p:txBody>
      </p:sp>
      <p:sp>
        <p:nvSpPr>
          <p:cNvPr id="28" name="">
            <a:extLst xmlns:a="http://schemas.openxmlformats.org/drawingml/2006/main">
              <a:ext uri="{FF2B5EF4-FFF2-40B4-BE49-F238E27FC236}">
                <a16:creationId xmlns:a16="http://schemas.microsoft.com/office/drawing/2014/main" id="{1FC08F9E-A14C-4985-800D-44C79563B688}"/>
              </a:ext>
            </a:extLst>
          </p:cNvPr>
          <p:cNvSpPr>
            <a:spLocks xmlns:a="http://schemas.openxmlformats.org/drawingml/2006/main" noGrp="1"/>
          </p:cNvSpPr>
          <p:nvPr/>
        </p:nvSpPr>
        <p:spPr>
          <a:xfrm xmlns:a="http://schemas.openxmlformats.org/drawingml/2006/main">
            <a:off x="7867650" y="36957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Art. 103 Abs. 1 GG · rechtliches Gehör.</a:t>
            </a:r>
          </a:p>
        </p:txBody>
      </p:sp>
      <p:sp>
        <p:nvSpPr>
          <p:cNvPr id="29" name="">
            <a:extLst xmlns:a="http://schemas.openxmlformats.org/drawingml/2006/main">
              <a:ext uri="{FF2B5EF4-FFF2-40B4-BE49-F238E27FC236}">
                <a16:creationId xmlns:a16="http://schemas.microsoft.com/office/drawing/2014/main" id="{6D193E3A-534E-45EE-9C17-8EDDA4CE654F}"/>
              </a:ext>
            </a:extLst>
          </p:cNvPr>
          <p:cNvSpPr>
            <a:spLocks xmlns:a="http://schemas.openxmlformats.org/drawingml/2006/main" noGrp="1"/>
          </p:cNvSpPr>
          <p:nvPr/>
        </p:nvSpPr>
        <p:spPr>
          <a:xfrm xmlns:a="http://schemas.openxmlformats.org/drawingml/2006/main">
            <a:off x="6724650" y="48577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30" name="">
            <a:extLst xmlns:a="http://schemas.openxmlformats.org/drawingml/2006/main">
              <a:ext uri="{FF2B5EF4-FFF2-40B4-BE49-F238E27FC236}">
                <a16:creationId xmlns:a16="http://schemas.microsoft.com/office/drawing/2014/main" id="{5250B6B0-44C2-4427-99AF-9E0338D2B1BF}"/>
              </a:ext>
            </a:extLst>
          </p:cNvPr>
          <p:cNvSpPr>
            <a:spLocks xmlns:a="http://schemas.openxmlformats.org/drawingml/2006/main" noGrp="1"/>
          </p:cNvSpPr>
          <p:nvPr/>
        </p:nvSpPr>
        <p:spPr>
          <a:xfrm xmlns:a="http://schemas.openxmlformats.org/drawingml/2006/main">
            <a:off x="6724650" y="43053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3F6B"/>
                </a:solidFill>
              </a:defRPr>
            </a:pPr>
            <a:r>
              <a:rPr sz="960" b="1">
                <a:solidFill>
                  <a:srgbClr val="003F6B"/>
                </a:solidFill>
              </a:rPr>
              <a:t>Amtlich</a:t>
            </a:r>
          </a:p>
        </p:txBody>
      </p:sp>
      <p:sp>
        <p:nvSpPr>
          <p:cNvPr id="31" name="">
            <a:extLst xmlns:a="http://schemas.openxmlformats.org/drawingml/2006/main">
              <a:ext uri="{FF2B5EF4-FFF2-40B4-BE49-F238E27FC236}">
                <a16:creationId xmlns:a16="http://schemas.microsoft.com/office/drawing/2014/main" id="{8318DC65-3BA9-40A6-A1CE-1DC80C54B033}"/>
              </a:ext>
            </a:extLst>
          </p:cNvPr>
          <p:cNvSpPr>
            <a:spLocks xmlns:a="http://schemas.openxmlformats.org/drawingml/2006/main" noGrp="1"/>
          </p:cNvSpPr>
          <p:nvPr/>
        </p:nvSpPr>
        <p:spPr>
          <a:xfrm xmlns:a="http://schemas.openxmlformats.org/drawingml/2006/main">
            <a:off x="7867650" y="43053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gesetze-im-internet.de/zpo/</a:t>
            </a:r>
          </a:p>
        </p:txBody>
      </p:sp>
      <p:sp>
        <p:nvSpPr>
          <p:cNvPr id="32" name="">
            <a:extLst xmlns:a="http://schemas.openxmlformats.org/drawingml/2006/main">
              <a:ext uri="{FF2B5EF4-FFF2-40B4-BE49-F238E27FC236}">
                <a16:creationId xmlns:a16="http://schemas.microsoft.com/office/drawing/2014/main" id="{FC2F1CF7-EB90-4BC2-902F-972A9311DE9F}"/>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20">
                <a:solidFill>
                  <a:srgbClr val="667680"/>
                </a:solidFill>
              </a:defRPr>
            </a:pPr>
            <a:r>
              <a:rPr sz="720">
                <a:solidFill>
                  <a:srgbClr val="667680"/>
                </a:solidFill>
              </a:rPr>
              <a:t>Alle Internetquellen Abruf/Stand: 20.08.2026. Gesetze: aktuelle Fassung jeweils vor Anwendung prüfen · https://www.rechtsprechung-im-internet.de</a:t>
            </a:r>
          </a:p>
        </p:txBody>
      </p:sp>
    </p:spTree>
    <p:extLst>
      <p:ext uri="{BB962C8B-B14F-4D97-AF65-F5344CB8AC3E}">
        <p14:creationId xmlns:p14="http://schemas.microsoft.com/office/powerpoint/2010/main" val="43637646"/>
      </p:ext>
    </p:extLst>
  </p:cSld>
</p:sld>
</file>

<file path=ppt/slides/slide155.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endParaRPr/>
          </a:p>
        </p:txBody>
      </p:sp>
      <p:sp>
        <p:nvSpPr>
          <p:cNvPr id="4" name="">
            <a:extLst xmlns:a="http://schemas.openxmlformats.org/drawingml/2006/main">
              <a:ext uri="{FF2B5EF4-FFF2-40B4-BE49-F238E27FC236}">
                <a16:creationId xmlns:a16="http://schemas.microsoft.com/office/drawing/2014/main" id="{7CBA0C2A-08C1-4921-951A-F9ACAC749C16}"/>
              </a:ext>
            </a:extLst>
          </p:cNvPr>
          <p:cNvSpPr>
            <a:spLocks xmlns:a="http://schemas.openxmlformats.org/drawingml/2006/main" noGrp="1"/>
          </p:cNvSpPr>
          <p:nvPr/>
        </p:nvSpPr>
        <p:spPr>
          <a:xfrm xmlns:a="http://schemas.openxmlformats.org/drawingml/2006/main">
            <a:off x="2571750" y="2038350"/>
            <a:ext cx="838200" cy="628650"/>
          </a:xfrm>
          <a:prstGeom xmlns:a="http://schemas.openxmlformats.org/drawingml/2006/main" prst="roundRect">
            <a:avLst>
              <a:gd name="adj" fmla="val 12121"/>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9D72383F-A359-4721-914E-7767E76C27B4}"/>
              </a:ext>
            </a:extLst>
          </p:cNvPr>
          <p:cNvSpPr>
            <a:spLocks xmlns:a="http://schemas.openxmlformats.org/drawingml/2006/main" noGrp="1"/>
          </p:cNvSpPr>
          <p:nvPr/>
        </p:nvSpPr>
        <p:spPr>
          <a:xfrm xmlns:a="http://schemas.openxmlformats.org/drawingml/2006/main">
            <a:off x="2571750" y="2038350"/>
            <a:ext cx="8382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FFFFFF"/>
                </a:solidFill>
              </a:defRPr>
            </a:pPr>
            <a:r>
              <a:rPr sz="2100" b="1">
                <a:solidFill>
                  <a:srgbClr val="FFFFFF"/>
                </a:solidFill>
              </a:rPr>
              <a:t>06</a:t>
            </a:r>
          </a:p>
        </p:txBody>
      </p:sp>
      <p:sp>
        <p:nvSpPr>
          <p:cNvPr id="6" name="">
            <a:extLst xmlns:a="http://schemas.openxmlformats.org/drawingml/2006/main">
              <a:ext uri="{FF2B5EF4-FFF2-40B4-BE49-F238E27FC236}">
                <a16:creationId xmlns:a16="http://schemas.microsoft.com/office/drawing/2014/main" id="{6270D3BB-BFCF-437E-9DB5-A07FB2871BAD}"/>
              </a:ext>
            </a:extLst>
          </p:cNvPr>
          <p:cNvSpPr>
            <a:spLocks xmlns:a="http://schemas.openxmlformats.org/drawingml/2006/main" noGrp="1"/>
          </p:cNvSpPr>
          <p:nvPr/>
        </p:nvSpPr>
        <p:spPr>
          <a:xfrm xmlns:a="http://schemas.openxmlformats.org/drawingml/2006/main">
            <a:off x="3667125" y="2000250"/>
            <a:ext cx="8096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4400">
                <a:solidFill>
                  <a:srgbClr val="003F6B"/>
                </a:solidFill>
              </a:defRPr>
            </a:pPr>
            <a:r>
              <a:rPr sz="4400">
                <a:solidFill>
                  <a:srgbClr val="003F6B"/>
                </a:solidFill>
              </a:rPr>
              <a:t>Außergerichtlich</a:t>
            </a:r>
          </a:p>
        </p:txBody>
      </p:sp>
      <p:sp>
        <p:nvSpPr>
          <p:cNvPr id="7" name="">
            <a:extLst xmlns:a="http://schemas.openxmlformats.org/drawingml/2006/main">
              <a:ext uri="{FF2B5EF4-FFF2-40B4-BE49-F238E27FC236}">
                <a16:creationId xmlns:a16="http://schemas.microsoft.com/office/drawing/2014/main" id="{13E119D1-8103-4C29-AA44-4FBDF58880E2}"/>
              </a:ext>
            </a:extLst>
          </p:cNvPr>
          <p:cNvSpPr>
            <a:spLocks xmlns:a="http://schemas.openxmlformats.org/drawingml/2006/main" noGrp="1"/>
          </p:cNvSpPr>
          <p:nvPr/>
        </p:nvSpPr>
        <p:spPr>
          <a:xfrm xmlns:a="http://schemas.openxmlformats.org/drawingml/2006/main">
            <a:off x="3238500" y="3333750"/>
            <a:ext cx="8524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400">
                <a:solidFill>
                  <a:srgbClr val="003F6B"/>
                </a:solidFill>
              </a:defRPr>
            </a:pPr>
            <a:r>
              <a:rPr sz="2400">
                <a:solidFill>
                  <a:srgbClr val="003F6B"/>
                </a:solidFill>
              </a:rPr>
              <a:t>Termin: 18.11.2026 · 16:30–17:45 · V03 0-C001</a:t>
            </a:r>
          </a:p>
        </p:txBody>
      </p:sp>
      <p:sp>
        <p:nvSpPr>
          <p:cNvPr id="8" name="">
            <a:extLst xmlns:a="http://schemas.openxmlformats.org/drawingml/2006/main">
              <a:ext uri="{FF2B5EF4-FFF2-40B4-BE49-F238E27FC236}">
                <a16:creationId xmlns:a16="http://schemas.microsoft.com/office/drawing/2014/main" id="{4F29D527-FC9B-428D-B3F3-70EFA28F017B}"/>
              </a:ext>
            </a:extLst>
          </p:cNvPr>
          <p:cNvSpPr>
            <a:spLocks xmlns:a="http://schemas.openxmlformats.org/drawingml/2006/main" noGrp="1"/>
          </p:cNvSpPr>
          <p:nvPr/>
        </p:nvSpPr>
        <p:spPr>
          <a:xfrm xmlns:a="http://schemas.openxmlformats.org/drawingml/2006/main">
            <a:off x="3238500" y="3752850"/>
            <a:ext cx="8524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400">
                <a:solidFill>
                  <a:srgbClr val="003F6B"/>
                </a:solidFill>
              </a:defRPr>
            </a:pPr>
            <a:r>
              <a:rPr sz="2400">
                <a:solidFill>
                  <a:srgbClr val="003F6B"/>
                </a:solidFill>
              </a:rPr>
              <a:t>Beschwerde, Versicherer, MD, Schlichtungsstelle und Vergleich</a:t>
            </a:r>
          </a:p>
        </p:txBody>
      </p:sp>
      <p:sp>
        <p:nvSpPr>
          <p:cNvPr id="9" name="">
            <a:extLst xmlns:a="http://schemas.openxmlformats.org/drawingml/2006/main">
              <a:ext uri="{FF2B5EF4-FFF2-40B4-BE49-F238E27FC236}">
                <a16:creationId xmlns:a16="http://schemas.microsoft.com/office/drawing/2014/main" id="{67CA60C1-0D7D-403B-86D1-7943DE4982C6}"/>
              </a:ext>
            </a:extLst>
          </p:cNvPr>
          <p:cNvSpPr>
            <a:spLocks xmlns:a="http://schemas.openxmlformats.org/drawingml/2006/main" noGrp="1"/>
          </p:cNvSpPr>
          <p:nvPr/>
        </p:nvSpPr>
        <p:spPr>
          <a:xfrm xmlns:a="http://schemas.openxmlformats.org/drawingml/2006/main">
            <a:off x="3238500" y="4552950"/>
            <a:ext cx="8524875"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400">
                <a:solidFill>
                  <a:srgbClr val="003F6B"/>
                </a:solidFill>
              </a:defRPr>
            </a:pPr>
            <a:r>
              <a:rPr sz="2400">
                <a:solidFill>
                  <a:srgbClr val="003F6B"/>
                </a:solidFill>
              </a:rPr>
              <a:t>Die meisten Konflikte müssen nicht mit einem Urteil enden.</a:t>
            </a:r>
          </a:p>
        </p:txBody>
      </p:sp>
    </p:spTree>
    <p:extLst>
      <p:ext uri="{BB962C8B-B14F-4D97-AF65-F5344CB8AC3E}">
        <p14:creationId xmlns:p14="http://schemas.microsoft.com/office/powerpoint/2010/main" val="43637646"/>
      </p:ext>
    </p:extLst>
  </p:cSld>
</p:sld>
</file>

<file path=ppt/slides/slide156.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Lernziele Termin 06: Außergerichtliche Wege</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CHECKLISTE · AM ENDE DES HEUTIGEN TERMINS KANN ICH …</a:t>
            </a:r>
            <a:endParaRPr/>
          </a:p>
        </p:txBody>
      </p:sp>
      <p:sp>
        <p:nvSpPr>
          <p:cNvPr id="4" name="">
            <a:extLst xmlns:a="http://schemas.openxmlformats.org/drawingml/2006/main">
              <a:ext uri="{FF2B5EF4-FFF2-40B4-BE49-F238E27FC236}">
                <a16:creationId xmlns:a16="http://schemas.microsoft.com/office/drawing/2014/main" id="{B0C39301-6A45-4A72-B849-AF76FB73ADA3}"/>
              </a:ext>
            </a:extLst>
          </p:cNvPr>
          <p:cNvSpPr>
            <a:spLocks xmlns:a="http://schemas.openxmlformats.org/drawingml/2006/main" noGrp="1"/>
          </p:cNvSpPr>
          <p:nvPr/>
        </p:nvSpPr>
        <p:spPr>
          <a:xfrm xmlns:a="http://schemas.openxmlformats.org/drawingml/2006/main">
            <a:off x="1809750" y="198120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B2BB"/>
            </a:solidFill>
            <a:prstDash val="solid"/>
          </a:ln>
        </p:spPr>
      </p:sp>
      <p:sp>
        <p:nvSpPr>
          <p:cNvPr id="5" name="">
            <a:extLst xmlns:a="http://schemas.openxmlformats.org/drawingml/2006/main">
              <a:ext uri="{FF2B5EF4-FFF2-40B4-BE49-F238E27FC236}">
                <a16:creationId xmlns:a16="http://schemas.microsoft.com/office/drawing/2014/main" id="{DE3AF82D-F5F9-47C9-8D23-8BBF831F3469}"/>
              </a:ext>
            </a:extLst>
          </p:cNvPr>
          <p:cNvSpPr>
            <a:spLocks xmlns:a="http://schemas.openxmlformats.org/drawingml/2006/main" noGrp="1"/>
          </p:cNvSpPr>
          <p:nvPr/>
        </p:nvSpPr>
        <p:spPr>
          <a:xfrm xmlns:a="http://schemas.openxmlformats.org/drawingml/2006/main">
            <a:off x="1943100" y="2124075"/>
            <a:ext cx="40005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262240B4-7D8A-4DC6-967F-E48A1F6E66FD}"/>
              </a:ext>
            </a:extLst>
          </p:cNvPr>
          <p:cNvSpPr>
            <a:spLocks xmlns:a="http://schemas.openxmlformats.org/drawingml/2006/main" noGrp="1"/>
          </p:cNvSpPr>
          <p:nvPr/>
        </p:nvSpPr>
        <p:spPr>
          <a:xfrm xmlns:a="http://schemas.openxmlformats.org/drawingml/2006/main">
            <a:off x="1943100" y="21050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7" name="">
            <a:extLst xmlns:a="http://schemas.openxmlformats.org/drawingml/2006/main">
              <a:ext uri="{FF2B5EF4-FFF2-40B4-BE49-F238E27FC236}">
                <a16:creationId xmlns:a16="http://schemas.microsoft.com/office/drawing/2014/main" id="{A9FD0F55-CC19-4CA7-A451-3AD87E26D60A}"/>
              </a:ext>
            </a:extLst>
          </p:cNvPr>
          <p:cNvSpPr>
            <a:spLocks xmlns:a="http://schemas.openxmlformats.org/drawingml/2006/main" noGrp="1"/>
          </p:cNvSpPr>
          <p:nvPr/>
        </p:nvSpPr>
        <p:spPr>
          <a:xfrm xmlns:a="http://schemas.openxmlformats.org/drawingml/2006/main">
            <a:off x="2476500" y="207645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Beschwerde, Versicherer, MD und Schlichtungsstelle sinnvoll staffeln.</a:t>
            </a:r>
          </a:p>
        </p:txBody>
      </p:sp>
      <p:sp>
        <p:nvSpPr>
          <p:cNvPr id="8" name="">
            <a:extLst xmlns:a="http://schemas.openxmlformats.org/drawingml/2006/main">
              <a:ext uri="{FF2B5EF4-FFF2-40B4-BE49-F238E27FC236}">
                <a16:creationId xmlns:a16="http://schemas.microsoft.com/office/drawing/2014/main" id="{219EC282-0197-4C9C-95D1-1585B2D5D6D3}"/>
              </a:ext>
            </a:extLst>
          </p:cNvPr>
          <p:cNvSpPr>
            <a:spLocks xmlns:a="http://schemas.openxmlformats.org/drawingml/2006/main" noGrp="1"/>
          </p:cNvSpPr>
          <p:nvPr/>
        </p:nvSpPr>
        <p:spPr>
          <a:xfrm xmlns:a="http://schemas.openxmlformats.org/drawingml/2006/main">
            <a:off x="6696075" y="198120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3F6B"/>
            </a:solidFill>
            <a:prstDash val="solid"/>
          </a:ln>
        </p:spPr>
      </p:sp>
      <p:sp>
        <p:nvSpPr>
          <p:cNvPr id="9" name="">
            <a:extLst xmlns:a="http://schemas.openxmlformats.org/drawingml/2006/main">
              <a:ext uri="{FF2B5EF4-FFF2-40B4-BE49-F238E27FC236}">
                <a16:creationId xmlns:a16="http://schemas.microsoft.com/office/drawing/2014/main" id="{BDE192B1-3F3C-4B1F-BA55-F956A56673B5}"/>
              </a:ext>
            </a:extLst>
          </p:cNvPr>
          <p:cNvSpPr>
            <a:spLocks xmlns:a="http://schemas.openxmlformats.org/drawingml/2006/main" noGrp="1"/>
          </p:cNvSpPr>
          <p:nvPr/>
        </p:nvSpPr>
        <p:spPr>
          <a:xfrm xmlns:a="http://schemas.openxmlformats.org/drawingml/2006/main">
            <a:off x="6829425" y="2124075"/>
            <a:ext cx="4000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782DE858-7ABB-404A-8DBF-0B60B54FE861}"/>
              </a:ext>
            </a:extLst>
          </p:cNvPr>
          <p:cNvSpPr>
            <a:spLocks xmlns:a="http://schemas.openxmlformats.org/drawingml/2006/main" noGrp="1"/>
          </p:cNvSpPr>
          <p:nvPr/>
        </p:nvSpPr>
        <p:spPr>
          <a:xfrm xmlns:a="http://schemas.openxmlformats.org/drawingml/2006/main">
            <a:off x="6829425" y="21050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11" name="">
            <a:extLst xmlns:a="http://schemas.openxmlformats.org/drawingml/2006/main">
              <a:ext uri="{FF2B5EF4-FFF2-40B4-BE49-F238E27FC236}">
                <a16:creationId xmlns:a16="http://schemas.microsoft.com/office/drawing/2014/main" id="{20E6289A-E3CC-485D-803D-472EF17C2EFE}"/>
              </a:ext>
            </a:extLst>
          </p:cNvPr>
          <p:cNvSpPr>
            <a:spLocks xmlns:a="http://schemas.openxmlformats.org/drawingml/2006/main" noGrp="1"/>
          </p:cNvSpPr>
          <p:nvPr/>
        </p:nvSpPr>
        <p:spPr>
          <a:xfrm xmlns:a="http://schemas.openxmlformats.org/drawingml/2006/main">
            <a:off x="7362825" y="207645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Unterstützung nach § 66 SGB V erklären.</a:t>
            </a:r>
          </a:p>
        </p:txBody>
      </p:sp>
      <p:sp>
        <p:nvSpPr>
          <p:cNvPr id="12" name="">
            <a:extLst xmlns:a="http://schemas.openxmlformats.org/drawingml/2006/main">
              <a:ext uri="{FF2B5EF4-FFF2-40B4-BE49-F238E27FC236}">
                <a16:creationId xmlns:a16="http://schemas.microsoft.com/office/drawing/2014/main" id="{F7F7D080-452C-4662-9595-96551E493DD4}"/>
              </a:ext>
            </a:extLst>
          </p:cNvPr>
          <p:cNvSpPr>
            <a:spLocks xmlns:a="http://schemas.openxmlformats.org/drawingml/2006/main" noGrp="1"/>
          </p:cNvSpPr>
          <p:nvPr/>
        </p:nvSpPr>
        <p:spPr>
          <a:xfrm xmlns:a="http://schemas.openxmlformats.org/drawingml/2006/main">
            <a:off x="1809750" y="316865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B2BB"/>
            </a:solidFill>
            <a:prstDash val="solid"/>
          </a:ln>
        </p:spPr>
      </p:sp>
      <p:sp>
        <p:nvSpPr>
          <p:cNvPr id="13" name="">
            <a:extLst xmlns:a="http://schemas.openxmlformats.org/drawingml/2006/main">
              <a:ext uri="{FF2B5EF4-FFF2-40B4-BE49-F238E27FC236}">
                <a16:creationId xmlns:a16="http://schemas.microsoft.com/office/drawing/2014/main" id="{BF97596D-145A-4D13-8BA2-F3200FFAA661}"/>
              </a:ext>
            </a:extLst>
          </p:cNvPr>
          <p:cNvSpPr>
            <a:spLocks xmlns:a="http://schemas.openxmlformats.org/drawingml/2006/main" noGrp="1"/>
          </p:cNvSpPr>
          <p:nvPr/>
        </p:nvSpPr>
        <p:spPr>
          <a:xfrm xmlns:a="http://schemas.openxmlformats.org/drawingml/2006/main">
            <a:off x="1943100" y="3311525"/>
            <a:ext cx="40005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34739103-71A9-4496-8EB8-331E9418A03E}"/>
              </a:ext>
            </a:extLst>
          </p:cNvPr>
          <p:cNvSpPr>
            <a:spLocks xmlns:a="http://schemas.openxmlformats.org/drawingml/2006/main" noGrp="1"/>
          </p:cNvSpPr>
          <p:nvPr/>
        </p:nvSpPr>
        <p:spPr>
          <a:xfrm xmlns:a="http://schemas.openxmlformats.org/drawingml/2006/main">
            <a:off x="1943100" y="32924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15" name="">
            <a:extLst xmlns:a="http://schemas.openxmlformats.org/drawingml/2006/main">
              <a:ext uri="{FF2B5EF4-FFF2-40B4-BE49-F238E27FC236}">
                <a16:creationId xmlns:a16="http://schemas.microsoft.com/office/drawing/2014/main" id="{E8DC6B88-5F3C-4156-896A-B484B825E6E9}"/>
              </a:ext>
            </a:extLst>
          </p:cNvPr>
          <p:cNvSpPr>
            <a:spLocks xmlns:a="http://schemas.openxmlformats.org/drawingml/2006/main" noGrp="1"/>
          </p:cNvSpPr>
          <p:nvPr/>
        </p:nvSpPr>
        <p:spPr>
          <a:xfrm xmlns:a="http://schemas.openxmlformats.org/drawingml/2006/main">
            <a:off x="2476500" y="326390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Verjährungsbeginn, Hemmung und Anerkenntnis prüfen.</a:t>
            </a:r>
          </a:p>
        </p:txBody>
      </p:sp>
      <p:sp>
        <p:nvSpPr>
          <p:cNvPr id="16" name="">
            <a:extLst xmlns:a="http://schemas.openxmlformats.org/drawingml/2006/main">
              <a:ext uri="{FF2B5EF4-FFF2-40B4-BE49-F238E27FC236}">
                <a16:creationId xmlns:a16="http://schemas.microsoft.com/office/drawing/2014/main" id="{AC3DCE8D-1FEA-4355-985B-2A2CDC77A86C}"/>
              </a:ext>
            </a:extLst>
          </p:cNvPr>
          <p:cNvSpPr>
            <a:spLocks xmlns:a="http://schemas.openxmlformats.org/drawingml/2006/main" noGrp="1"/>
          </p:cNvSpPr>
          <p:nvPr/>
        </p:nvSpPr>
        <p:spPr>
          <a:xfrm xmlns:a="http://schemas.openxmlformats.org/drawingml/2006/main">
            <a:off x="6696075" y="316865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3F6B"/>
            </a:solidFill>
            <a:prstDash val="solid"/>
          </a:ln>
        </p:spPr>
      </p:sp>
      <p:sp>
        <p:nvSpPr>
          <p:cNvPr id="17" name="">
            <a:extLst xmlns:a="http://schemas.openxmlformats.org/drawingml/2006/main">
              <a:ext uri="{FF2B5EF4-FFF2-40B4-BE49-F238E27FC236}">
                <a16:creationId xmlns:a16="http://schemas.microsoft.com/office/drawing/2014/main" id="{7FAD367A-232D-449A-820A-1DFD2C5DB0D5}"/>
              </a:ext>
            </a:extLst>
          </p:cNvPr>
          <p:cNvSpPr>
            <a:spLocks xmlns:a="http://schemas.openxmlformats.org/drawingml/2006/main" noGrp="1"/>
          </p:cNvSpPr>
          <p:nvPr/>
        </p:nvSpPr>
        <p:spPr>
          <a:xfrm xmlns:a="http://schemas.openxmlformats.org/drawingml/2006/main">
            <a:off x="6829425" y="3311525"/>
            <a:ext cx="4000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29436D02-B76E-4C7E-84C5-D4C1418328CC}"/>
              </a:ext>
            </a:extLst>
          </p:cNvPr>
          <p:cNvSpPr>
            <a:spLocks xmlns:a="http://schemas.openxmlformats.org/drawingml/2006/main" noGrp="1"/>
          </p:cNvSpPr>
          <p:nvPr/>
        </p:nvSpPr>
        <p:spPr>
          <a:xfrm xmlns:a="http://schemas.openxmlformats.org/drawingml/2006/main">
            <a:off x="6829425" y="32924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19" name="">
            <a:extLst xmlns:a="http://schemas.openxmlformats.org/drawingml/2006/main">
              <a:ext uri="{FF2B5EF4-FFF2-40B4-BE49-F238E27FC236}">
                <a16:creationId xmlns:a16="http://schemas.microsoft.com/office/drawing/2014/main" id="{581745C6-5F2B-40B8-812E-AAD5773765B5}"/>
              </a:ext>
            </a:extLst>
          </p:cNvPr>
          <p:cNvSpPr>
            <a:spLocks xmlns:a="http://schemas.openxmlformats.org/drawingml/2006/main" noGrp="1"/>
          </p:cNvSpPr>
          <p:nvPr/>
        </p:nvSpPr>
        <p:spPr>
          <a:xfrm xmlns:a="http://schemas.openxmlformats.org/drawingml/2006/main">
            <a:off x="7362825" y="326390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Chancen und Grenzen außergerichtlicher Gutachten bewerten.</a:t>
            </a:r>
          </a:p>
        </p:txBody>
      </p:sp>
      <p:sp>
        <p:nvSpPr>
          <p:cNvPr id="20" name="">
            <a:extLst xmlns:a="http://schemas.openxmlformats.org/drawingml/2006/main">
              <a:ext uri="{FF2B5EF4-FFF2-40B4-BE49-F238E27FC236}">
                <a16:creationId xmlns:a16="http://schemas.microsoft.com/office/drawing/2014/main" id="{705BC0F2-C4E7-4C00-A4F7-1AB486AEA269}"/>
              </a:ext>
            </a:extLst>
          </p:cNvPr>
          <p:cNvSpPr>
            <a:spLocks xmlns:a="http://schemas.openxmlformats.org/drawingml/2006/main" noGrp="1"/>
          </p:cNvSpPr>
          <p:nvPr/>
        </p:nvSpPr>
        <p:spPr>
          <a:xfrm xmlns:a="http://schemas.openxmlformats.org/drawingml/2006/main">
            <a:off x="1809750" y="435610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B2BB"/>
            </a:solidFill>
            <a:prstDash val="solid"/>
          </a:ln>
        </p:spPr>
      </p:sp>
      <p:sp>
        <p:nvSpPr>
          <p:cNvPr id="21" name="">
            <a:extLst xmlns:a="http://schemas.openxmlformats.org/drawingml/2006/main">
              <a:ext uri="{FF2B5EF4-FFF2-40B4-BE49-F238E27FC236}">
                <a16:creationId xmlns:a16="http://schemas.microsoft.com/office/drawing/2014/main" id="{9CD1EF2A-0CFD-445B-99A9-B47B69972587}"/>
              </a:ext>
            </a:extLst>
          </p:cNvPr>
          <p:cNvSpPr>
            <a:spLocks xmlns:a="http://schemas.openxmlformats.org/drawingml/2006/main" noGrp="1"/>
          </p:cNvSpPr>
          <p:nvPr/>
        </p:nvSpPr>
        <p:spPr>
          <a:xfrm xmlns:a="http://schemas.openxmlformats.org/drawingml/2006/main">
            <a:off x="1943100" y="4498975"/>
            <a:ext cx="40005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2" name="">
            <a:extLst xmlns:a="http://schemas.openxmlformats.org/drawingml/2006/main">
              <a:ext uri="{FF2B5EF4-FFF2-40B4-BE49-F238E27FC236}">
                <a16:creationId xmlns:a16="http://schemas.microsoft.com/office/drawing/2014/main" id="{BB6F399F-36CD-4414-B5B6-CEFBA8CF6704}"/>
              </a:ext>
            </a:extLst>
          </p:cNvPr>
          <p:cNvSpPr>
            <a:spLocks xmlns:a="http://schemas.openxmlformats.org/drawingml/2006/main" noGrp="1"/>
          </p:cNvSpPr>
          <p:nvPr/>
        </p:nvSpPr>
        <p:spPr>
          <a:xfrm xmlns:a="http://schemas.openxmlformats.org/drawingml/2006/main">
            <a:off x="1943100" y="44799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23" name="">
            <a:extLst xmlns:a="http://schemas.openxmlformats.org/drawingml/2006/main">
              <a:ext uri="{FF2B5EF4-FFF2-40B4-BE49-F238E27FC236}">
                <a16:creationId xmlns:a16="http://schemas.microsoft.com/office/drawing/2014/main" id="{B49D0B15-78B1-4331-A703-16121EE1FB6B}"/>
              </a:ext>
            </a:extLst>
          </p:cNvPr>
          <p:cNvSpPr>
            <a:spLocks xmlns:a="http://schemas.openxmlformats.org/drawingml/2006/main" noGrp="1"/>
          </p:cNvSpPr>
          <p:nvPr/>
        </p:nvSpPr>
        <p:spPr>
          <a:xfrm xmlns:a="http://schemas.openxmlformats.org/drawingml/2006/main">
            <a:off x="2476500" y="445135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Vergleichsinteressen jenseits von ‚Gewinnen/Verlieren‘ erfassen.</a:t>
            </a:r>
          </a:p>
        </p:txBody>
      </p:sp>
      <p:sp>
        <p:nvSpPr>
          <p:cNvPr id="24" name="">
            <a:extLst xmlns:a="http://schemas.openxmlformats.org/drawingml/2006/main">
              <a:ext uri="{FF2B5EF4-FFF2-40B4-BE49-F238E27FC236}">
                <a16:creationId xmlns:a16="http://schemas.microsoft.com/office/drawing/2014/main" id="{BE8B70D8-68DC-49AC-A274-35D57BCA32F6}"/>
              </a:ext>
            </a:extLst>
          </p:cNvPr>
          <p:cNvSpPr>
            <a:spLocks xmlns:a="http://schemas.openxmlformats.org/drawingml/2006/main" noGrp="1"/>
          </p:cNvSpPr>
          <p:nvPr/>
        </p:nvSpPr>
        <p:spPr>
          <a:xfrm xmlns:a="http://schemas.openxmlformats.org/drawingml/2006/main">
            <a:off x="6696075" y="435610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3F6B"/>
            </a:solidFill>
            <a:prstDash val="solid"/>
          </a:ln>
        </p:spPr>
      </p:sp>
      <p:sp>
        <p:nvSpPr>
          <p:cNvPr id="25" name="">
            <a:extLst xmlns:a="http://schemas.openxmlformats.org/drawingml/2006/main">
              <a:ext uri="{FF2B5EF4-FFF2-40B4-BE49-F238E27FC236}">
                <a16:creationId xmlns:a16="http://schemas.microsoft.com/office/drawing/2014/main" id="{E117E3A2-3294-4FAA-9C80-3D6B1FF0F8F7}"/>
              </a:ext>
            </a:extLst>
          </p:cNvPr>
          <p:cNvSpPr>
            <a:spLocks xmlns:a="http://schemas.openxmlformats.org/drawingml/2006/main" noGrp="1"/>
          </p:cNvSpPr>
          <p:nvPr/>
        </p:nvSpPr>
        <p:spPr>
          <a:xfrm xmlns:a="http://schemas.openxmlformats.org/drawingml/2006/main">
            <a:off x="6829425" y="4498975"/>
            <a:ext cx="4000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26" name="">
            <a:extLst xmlns:a="http://schemas.openxmlformats.org/drawingml/2006/main">
              <a:ext uri="{FF2B5EF4-FFF2-40B4-BE49-F238E27FC236}">
                <a16:creationId xmlns:a16="http://schemas.microsoft.com/office/drawing/2014/main" id="{673FBCDB-1432-4D53-9A12-3FE25AF73B59}"/>
              </a:ext>
            </a:extLst>
          </p:cNvPr>
          <p:cNvSpPr>
            <a:spLocks xmlns:a="http://schemas.openxmlformats.org/drawingml/2006/main" noGrp="1"/>
          </p:cNvSpPr>
          <p:nvPr/>
        </p:nvSpPr>
        <p:spPr>
          <a:xfrm xmlns:a="http://schemas.openxmlformats.org/drawingml/2006/main">
            <a:off x="6829425" y="44799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27" name="">
            <a:extLst xmlns:a="http://schemas.openxmlformats.org/drawingml/2006/main">
              <a:ext uri="{FF2B5EF4-FFF2-40B4-BE49-F238E27FC236}">
                <a16:creationId xmlns:a16="http://schemas.microsoft.com/office/drawing/2014/main" id="{C843B1E2-9073-4652-8DAF-4F2E8A62FBC4}"/>
              </a:ext>
            </a:extLst>
          </p:cNvPr>
          <p:cNvSpPr>
            <a:spLocks xmlns:a="http://schemas.openxmlformats.org/drawingml/2006/main" noGrp="1"/>
          </p:cNvSpPr>
          <p:nvPr/>
        </p:nvSpPr>
        <p:spPr>
          <a:xfrm xmlns:a="http://schemas.openxmlformats.org/drawingml/2006/main">
            <a:off x="7362825" y="445135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eine fallbezogene Eskalationsstrategie begründen.</a:t>
            </a:r>
          </a:p>
        </p:txBody>
      </p:sp>
      <p:sp>
        <p:nvSpPr>
          <p:cNvPr id="28" name="">
            <a:extLst xmlns:a="http://schemas.openxmlformats.org/drawingml/2006/main">
              <a:ext uri="{FF2B5EF4-FFF2-40B4-BE49-F238E27FC236}">
                <a16:creationId xmlns:a16="http://schemas.microsoft.com/office/drawing/2014/main" id="{5CDC0FB9-0C21-4634-BC44-068B66F49D0E}"/>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638">
                <a:solidFill>
                  <a:srgbClr val="667680"/>
                </a:solidFill>
              </a:defRPr>
            </a:pPr>
            <a:r>
              <a:rPr sz="638">
                <a:solidFill>
                  <a:srgbClr val="667680"/>
                </a:solidFill>
              </a:rPr>
              <a:t>Lernziele aus Seminarbeschreibung und Vorlesungsstruktur abgeleitet · https://elearning.uni-oldenburg.de/dispatch.php/course/details/index/64fffee6d869d134c6683909368deed9?cancel_login=1</a:t>
            </a:r>
          </a:p>
        </p:txBody>
      </p:sp>
    </p:spTree>
    <p:extLst>
      <p:ext uri="{BB962C8B-B14F-4D97-AF65-F5344CB8AC3E}">
        <p14:creationId xmlns:p14="http://schemas.microsoft.com/office/powerpoint/2010/main" val="43637646"/>
      </p:ext>
    </p:extLst>
  </p:cSld>
</p:sld>
</file>

<file path=ppt/slides/slide157.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Leitentscheidung · Kenntnis und Verjährungsbeginn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ORIGINALENTSCHEIDUNG · TERMIN 06</a:t>
            </a:r>
            <a:endParaRPr/>
          </a:p>
        </p:txBody>
      </p:sp>
      <p:sp>
        <p:nvSpPr>
          <p:cNvPr id="4" name="">
            <a:extLst xmlns:a="http://schemas.openxmlformats.org/drawingml/2006/main">
              <a:ext uri="{FF2B5EF4-FFF2-40B4-BE49-F238E27FC236}">
                <a16:creationId xmlns:a16="http://schemas.microsoft.com/office/drawing/2014/main" id="{354583BA-C0E5-4EC5-B655-DD21390F4064}"/>
              </a:ext>
            </a:extLst>
          </p:cNvPr>
          <p:cNvSpPr>
            <a:spLocks xmlns:a="http://schemas.openxmlformats.org/drawingml/2006/main" noGrp="1"/>
          </p:cNvSpPr>
          <p:nvPr/>
        </p:nvSpPr>
        <p:spPr>
          <a:xfrm xmlns:a="http://schemas.openxmlformats.org/drawingml/2006/main">
            <a:off x="1809750" y="1943100"/>
            <a:ext cx="11239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6D12E59E-5996-46B8-BAE8-C445428DA20A}"/>
              </a:ext>
            </a:extLst>
          </p:cNvPr>
          <p:cNvSpPr>
            <a:spLocks xmlns:a="http://schemas.openxmlformats.org/drawingml/2006/main" noGrp="1"/>
          </p:cNvSpPr>
          <p:nvPr/>
        </p:nvSpPr>
        <p:spPr>
          <a:xfrm xmlns:a="http://schemas.openxmlformats.org/drawingml/2006/main">
            <a:off x="1809750" y="1943100"/>
            <a:ext cx="1123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38" b="1">
                <a:solidFill>
                  <a:srgbClr val="FFFFFF"/>
                </a:solidFill>
              </a:defRPr>
            </a:pPr>
            <a:r>
              <a:rPr sz="938" b="1">
                <a:solidFill>
                  <a:srgbClr val="FFFFFF"/>
                </a:solidFill>
              </a:rPr>
              <a:t>BGH</a:t>
            </a:r>
          </a:p>
        </p:txBody>
      </p:sp>
      <p:sp>
        <p:nvSpPr>
          <p:cNvPr id="6" name="">
            <a:extLst xmlns:a="http://schemas.openxmlformats.org/drawingml/2006/main">
              <a:ext uri="{FF2B5EF4-FFF2-40B4-BE49-F238E27FC236}">
                <a16:creationId xmlns:a16="http://schemas.microsoft.com/office/drawing/2014/main" id="{E02AD1F1-BE69-44ED-9052-FD334CE98886}"/>
              </a:ext>
            </a:extLst>
          </p:cNvPr>
          <p:cNvSpPr>
            <a:spLocks xmlns:a="http://schemas.openxmlformats.org/drawingml/2006/main" noGrp="1"/>
          </p:cNvSpPr>
          <p:nvPr/>
        </p:nvSpPr>
        <p:spPr>
          <a:xfrm xmlns:a="http://schemas.openxmlformats.org/drawingml/2006/main">
            <a:off x="312420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10.11.2009 · VI ZR 247/08</a:t>
            </a:r>
          </a:p>
        </p:txBody>
      </p:sp>
      <p:sp>
        <p:nvSpPr>
          <p:cNvPr id="7" name="">
            <a:extLst xmlns:a="http://schemas.openxmlformats.org/drawingml/2006/main">
              <a:ext uri="{FF2B5EF4-FFF2-40B4-BE49-F238E27FC236}">
                <a16:creationId xmlns:a16="http://schemas.microsoft.com/office/drawing/2014/main" id="{3F992E4C-29FC-4B18-8ED1-1FB5B645DCF9}"/>
              </a:ext>
            </a:extLst>
          </p:cNvPr>
          <p:cNvSpPr>
            <a:spLocks xmlns:a="http://schemas.openxmlformats.org/drawingml/2006/main" noGrp="1"/>
          </p:cNvSpPr>
          <p:nvPr/>
        </p:nvSpPr>
        <p:spPr>
          <a:xfrm xmlns:a="http://schemas.openxmlformats.org/drawingml/2006/main">
            <a:off x="733425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050">
                <a:solidFill>
                  <a:srgbClr val="667680"/>
                </a:solidFill>
              </a:defRPr>
            </a:pPr>
            <a:r>
              <a:rPr sz="1050">
                <a:solidFill>
                  <a:srgbClr val="667680"/>
                </a:solidFill>
              </a:rPr>
              <a:t>Ein schlechter Ausgang ist noch keine Fehlerkenntnis</a:t>
            </a:r>
          </a:p>
        </p:txBody>
      </p:sp>
      <p:sp>
        <p:nvSpPr>
          <p:cNvPr id="8" name="">
            <a:extLst xmlns:a="http://schemas.openxmlformats.org/drawingml/2006/main">
              <a:ext uri="{FF2B5EF4-FFF2-40B4-BE49-F238E27FC236}">
                <a16:creationId xmlns:a16="http://schemas.microsoft.com/office/drawing/2014/main" id="{A2CB25AA-282B-47AE-9393-F88BFF25D928}"/>
              </a:ext>
            </a:extLst>
          </p:cNvPr>
          <p:cNvSpPr>
            <a:spLocks xmlns:a="http://schemas.openxmlformats.org/drawingml/2006/main" noGrp="1"/>
          </p:cNvSpPr>
          <p:nvPr/>
        </p:nvSpPr>
        <p:spPr>
          <a:xfrm xmlns:a="http://schemas.openxmlformats.org/drawingml/2006/main">
            <a:off x="1809750" y="2533650"/>
            <a:ext cx="1676400" cy="781050"/>
          </a:xfrm>
          <a:prstGeom xmlns:a="http://schemas.openxmlformats.org/drawingml/2006/main" prst="roundRect">
            <a:avLst>
              <a:gd name="adj" fmla="val 9756"/>
            </a:avLst>
          </a:prstGeom>
          <a:solidFill xmlns:a="http://schemas.openxmlformats.org/drawingml/2006/main">
            <a:srgbClr val="00B2BB"/>
          </a:solidFill>
          <a:ln xmlns:a="http://schemas.openxmlformats.org/drawingml/2006/main" w="0">
            <a:solidFill>
              <a:srgbClr val="00B2BB"/>
            </a:solidFill>
            <a:prstDash val="solid"/>
          </a:ln>
        </p:spPr>
      </p:sp>
      <p:sp>
        <p:nvSpPr>
          <p:cNvPr id="9" name="">
            <a:extLst xmlns:a="http://schemas.openxmlformats.org/drawingml/2006/main">
              <a:ext uri="{FF2B5EF4-FFF2-40B4-BE49-F238E27FC236}">
                <a16:creationId xmlns:a16="http://schemas.microsoft.com/office/drawing/2014/main" id="{BD659584-279D-418A-B0AC-BCA5454012B6}"/>
              </a:ext>
            </a:extLst>
          </p:cNvPr>
          <p:cNvSpPr>
            <a:spLocks xmlns:a="http://schemas.openxmlformats.org/drawingml/2006/main" noGrp="1"/>
          </p:cNvSpPr>
          <p:nvPr/>
        </p:nvSpPr>
        <p:spPr>
          <a:xfrm xmlns:a="http://schemas.openxmlformats.org/drawingml/2006/main">
            <a:off x="1924050" y="25336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Ausgangsfall</a:t>
            </a:r>
          </a:p>
        </p:txBody>
      </p:sp>
      <p:sp>
        <p:nvSpPr>
          <p:cNvPr id="10" name="">
            <a:extLst xmlns:a="http://schemas.openxmlformats.org/drawingml/2006/main">
              <a:ext uri="{FF2B5EF4-FFF2-40B4-BE49-F238E27FC236}">
                <a16:creationId xmlns:a16="http://schemas.microsoft.com/office/drawing/2014/main" id="{E5D52F7E-2AD7-45E1-8E36-980887C04C91}"/>
              </a:ext>
            </a:extLst>
          </p:cNvPr>
          <p:cNvSpPr>
            <a:spLocks xmlns:a="http://schemas.openxmlformats.org/drawingml/2006/main" noGrp="1"/>
          </p:cNvSpPr>
          <p:nvPr/>
        </p:nvSpPr>
        <p:spPr>
          <a:xfrm xmlns:a="http://schemas.openxmlformats.org/drawingml/2006/main">
            <a:off x="3695700" y="25336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Die Patientenseite kannte den negativen Behandlungsausgang, hatte aber noch keine konkreten Anhaltspunkte für eine Abweichung vom geschuldeten Vorgehen.</a:t>
            </a:r>
          </a:p>
        </p:txBody>
      </p:sp>
      <p:sp>
        <p:nvSpPr>
          <p:cNvPr id="11" name="">
            <a:extLst xmlns:a="http://schemas.openxmlformats.org/drawingml/2006/main">
              <a:ext uri="{FF2B5EF4-FFF2-40B4-BE49-F238E27FC236}">
                <a16:creationId xmlns:a16="http://schemas.microsoft.com/office/drawing/2014/main" id="{B361B8FF-3DDD-462A-AA9B-0812EBB8289B}"/>
              </a:ext>
            </a:extLst>
          </p:cNvPr>
          <p:cNvSpPr>
            <a:spLocks xmlns:a="http://schemas.openxmlformats.org/drawingml/2006/main" noGrp="1"/>
          </p:cNvSpPr>
          <p:nvPr/>
        </p:nvSpPr>
        <p:spPr>
          <a:xfrm xmlns:a="http://schemas.openxmlformats.org/drawingml/2006/main">
            <a:off x="1809750" y="3486150"/>
            <a:ext cx="1676400" cy="781050"/>
          </a:xfrm>
          <a:prstGeom xmlns:a="http://schemas.openxmlformats.org/drawingml/2006/main" prst="roundRect">
            <a:avLst>
              <a:gd name="adj" fmla="val 9756"/>
            </a:avLst>
          </a:prstGeom>
          <a:solidFill xmlns:a="http://schemas.openxmlformats.org/drawingml/2006/main">
            <a:srgbClr val="003F6B"/>
          </a:solidFill>
          <a:ln xmlns:a="http://schemas.openxmlformats.org/drawingml/2006/main" w="0">
            <a:solidFill>
              <a:srgbClr val="003F6B"/>
            </a:solidFill>
            <a:prstDash val="solid"/>
          </a:ln>
        </p:spPr>
      </p:sp>
      <p:sp>
        <p:nvSpPr>
          <p:cNvPr id="12" name="">
            <a:extLst xmlns:a="http://schemas.openxmlformats.org/drawingml/2006/main">
              <a:ext uri="{FF2B5EF4-FFF2-40B4-BE49-F238E27FC236}">
                <a16:creationId xmlns:a16="http://schemas.microsoft.com/office/drawing/2014/main" id="{0D72A46E-F8C4-4C14-B144-AD13B31B3317}"/>
              </a:ext>
            </a:extLst>
          </p:cNvPr>
          <p:cNvSpPr>
            <a:spLocks xmlns:a="http://schemas.openxmlformats.org/drawingml/2006/main" noGrp="1"/>
          </p:cNvSpPr>
          <p:nvPr/>
        </p:nvSpPr>
        <p:spPr>
          <a:xfrm xmlns:a="http://schemas.openxmlformats.org/drawingml/2006/main">
            <a:off x="1924050" y="34861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Leitsatzkern</a:t>
            </a:r>
          </a:p>
        </p:txBody>
      </p:sp>
      <p:sp>
        <p:nvSpPr>
          <p:cNvPr id="13" name="">
            <a:extLst xmlns:a="http://schemas.openxmlformats.org/drawingml/2006/main">
              <a:ext uri="{FF2B5EF4-FFF2-40B4-BE49-F238E27FC236}">
                <a16:creationId xmlns:a16="http://schemas.microsoft.com/office/drawing/2014/main" id="{71ABD8DE-90C0-4B2D-BE3C-097E4A03B1E9}"/>
              </a:ext>
            </a:extLst>
          </p:cNvPr>
          <p:cNvSpPr>
            <a:spLocks xmlns:a="http://schemas.openxmlformats.org/drawingml/2006/main" noGrp="1"/>
          </p:cNvSpPr>
          <p:nvPr/>
        </p:nvSpPr>
        <p:spPr>
          <a:xfrm xmlns:a="http://schemas.openxmlformats.org/drawingml/2006/main">
            <a:off x="3695700" y="34861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Leitsatzkern (paraphrasiert): Die Kenntnis des Misserfolgs genügt nicht automatisch. Erforderlich sind Tatsachen, aus denen ein medizinischer Laie auf eine mögliche Standardabweichung schließen kann.</a:t>
            </a:r>
          </a:p>
        </p:txBody>
      </p:sp>
      <p:sp>
        <p:nvSpPr>
          <p:cNvPr id="14" name="">
            <a:extLst xmlns:a="http://schemas.openxmlformats.org/drawingml/2006/main">
              <a:ext uri="{FF2B5EF4-FFF2-40B4-BE49-F238E27FC236}">
                <a16:creationId xmlns:a16="http://schemas.microsoft.com/office/drawing/2014/main" id="{DBE126B6-6DC1-4A6E-BC2F-E06409DDB786}"/>
              </a:ext>
            </a:extLst>
          </p:cNvPr>
          <p:cNvSpPr>
            <a:spLocks xmlns:a="http://schemas.openxmlformats.org/drawingml/2006/main" noGrp="1"/>
          </p:cNvSpPr>
          <p:nvPr/>
        </p:nvSpPr>
        <p:spPr>
          <a:xfrm xmlns:a="http://schemas.openxmlformats.org/drawingml/2006/main">
            <a:off x="1809750" y="4438650"/>
            <a:ext cx="1676400" cy="781050"/>
          </a:xfrm>
          <a:prstGeom xmlns:a="http://schemas.openxmlformats.org/drawingml/2006/main" prst="roundRect">
            <a:avLst>
              <a:gd name="adj" fmla="val 9756"/>
            </a:avLst>
          </a:prstGeom>
          <a:solidFill xmlns:a="http://schemas.openxmlformats.org/drawingml/2006/main">
            <a:srgbClr val="00B2BB"/>
          </a:solidFill>
          <a:ln xmlns:a="http://schemas.openxmlformats.org/drawingml/2006/main" w="0">
            <a:solidFill>
              <a:srgbClr val="00B2BB"/>
            </a:solidFill>
            <a:prstDash val="solid"/>
          </a:ln>
        </p:spPr>
      </p:sp>
      <p:sp>
        <p:nvSpPr>
          <p:cNvPr id="15" name="">
            <a:extLst xmlns:a="http://schemas.openxmlformats.org/drawingml/2006/main">
              <a:ext uri="{FF2B5EF4-FFF2-40B4-BE49-F238E27FC236}">
                <a16:creationId xmlns:a16="http://schemas.microsoft.com/office/drawing/2014/main" id="{CA0EA213-1A70-4F4C-8923-5539F9D5B763}"/>
              </a:ext>
            </a:extLst>
          </p:cNvPr>
          <p:cNvSpPr>
            <a:spLocks xmlns:a="http://schemas.openxmlformats.org/drawingml/2006/main" noGrp="1"/>
          </p:cNvSpPr>
          <p:nvPr/>
        </p:nvSpPr>
        <p:spPr>
          <a:xfrm xmlns:a="http://schemas.openxmlformats.org/drawingml/2006/main">
            <a:off x="1924050" y="44386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Für die Praxis</a:t>
            </a:r>
          </a:p>
        </p:txBody>
      </p:sp>
      <p:sp>
        <p:nvSpPr>
          <p:cNvPr id="16" name="">
            <a:extLst xmlns:a="http://schemas.openxmlformats.org/drawingml/2006/main">
              <a:ext uri="{FF2B5EF4-FFF2-40B4-BE49-F238E27FC236}">
                <a16:creationId xmlns:a16="http://schemas.microsoft.com/office/drawing/2014/main" id="{3B2FCA59-BE42-4F3D-8784-7067349C61F3}"/>
              </a:ext>
            </a:extLst>
          </p:cNvPr>
          <p:cNvSpPr>
            <a:spLocks xmlns:a="http://schemas.openxmlformats.org/drawingml/2006/main" noGrp="1"/>
          </p:cNvSpPr>
          <p:nvPr/>
        </p:nvSpPr>
        <p:spPr>
          <a:xfrm xmlns:a="http://schemas.openxmlformats.org/drawingml/2006/main">
            <a:off x="3695700" y="44386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Kenntnisstand, Datum, Verhandlungen und Hemmungstatbestände in einer belastbaren Fristenakte dokumentieren.</a:t>
            </a:r>
          </a:p>
        </p:txBody>
      </p:sp>
      <p:sp>
        <p:nvSpPr>
          <p:cNvPr id="17" name="">
            <a:extLst xmlns:a="http://schemas.openxmlformats.org/drawingml/2006/main">
              <a:ext uri="{FF2B5EF4-FFF2-40B4-BE49-F238E27FC236}">
                <a16:creationId xmlns:a16="http://schemas.microsoft.com/office/drawing/2014/main" id="{9CC7A089-9965-46A5-BB47-3B0073C01DAD}"/>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20">
                <a:solidFill>
                  <a:srgbClr val="667680"/>
                </a:solidFill>
              </a:defRPr>
            </a:pPr>
            <a:r>
              <a:rPr sz="720">
                <a:solidFill>
                  <a:srgbClr val="667680"/>
                </a:solidFill>
              </a:rPr>
              <a:t>BGH, Urt. v. 10.11.2009 – VI ZR 247/08 · https://dejure.org/dienste/vernetzung/rechtsprechung?Text=VI%20ZR%20247%2F08</a:t>
            </a:r>
          </a:p>
        </p:txBody>
      </p:sp>
    </p:spTree>
    <p:extLst>
      <p:ext uri="{BB962C8B-B14F-4D97-AF65-F5344CB8AC3E}">
        <p14:creationId xmlns:p14="http://schemas.microsoft.com/office/powerpoint/2010/main" val="43637646"/>
      </p:ext>
    </p:extLst>
  </p:cSld>
</p:sld>
</file>

<file path=ppt/slides/slide158.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Unterstützung durch die Krankenkasse</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GESETZESTEXT · GEKÜRZTER LEHRAUSZUG</a:t>
            </a:r>
            <a:endParaRPr/>
          </a:p>
        </p:txBody>
      </p:sp>
      <p:sp>
        <p:nvSpPr>
          <p:cNvPr id="4" name="">
            <a:extLst xmlns:a="http://schemas.openxmlformats.org/drawingml/2006/main">
              <a:ext uri="{FF2B5EF4-FFF2-40B4-BE49-F238E27FC236}">
                <a16:creationId xmlns:a16="http://schemas.microsoft.com/office/drawing/2014/main" id="{B8EEF307-8E3E-4F72-ABB3-DA7B75DC5E9F}"/>
              </a:ext>
            </a:extLst>
          </p:cNvPr>
          <p:cNvSpPr>
            <a:spLocks xmlns:a="http://schemas.openxmlformats.org/drawingml/2006/main" noGrp="1"/>
          </p:cNvSpPr>
          <p:nvPr/>
        </p:nvSpPr>
        <p:spPr>
          <a:xfrm xmlns:a="http://schemas.openxmlformats.org/drawingml/2006/main">
            <a:off x="1809750" y="1943100"/>
            <a:ext cx="1809750" cy="457200"/>
          </a:xfrm>
          <a:prstGeom xmlns:a="http://schemas.openxmlformats.org/drawingml/2006/main" prst="roundRect">
            <a:avLst>
              <a:gd name="adj" fmla="val 16667"/>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A653539C-C338-4C27-8DAD-C5CFC4A37074}"/>
              </a:ext>
            </a:extLst>
          </p:cNvPr>
          <p:cNvSpPr>
            <a:spLocks xmlns:a="http://schemas.openxmlformats.org/drawingml/2006/main" noGrp="1"/>
          </p:cNvSpPr>
          <p:nvPr/>
        </p:nvSpPr>
        <p:spPr>
          <a:xfrm xmlns:a="http://schemas.openxmlformats.org/drawingml/2006/main">
            <a:off x="1809750" y="1943100"/>
            <a:ext cx="1809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 66 SGB V</a:t>
            </a:r>
          </a:p>
        </p:txBody>
      </p:sp>
      <p:sp>
        <p:nvSpPr>
          <p:cNvPr id="6" name="">
            <a:extLst xmlns:a="http://schemas.openxmlformats.org/drawingml/2006/main">
              <a:ext uri="{FF2B5EF4-FFF2-40B4-BE49-F238E27FC236}">
                <a16:creationId xmlns:a16="http://schemas.microsoft.com/office/drawing/2014/main" id="{96E7C389-D414-4A74-9F61-5538246318B3}"/>
              </a:ext>
            </a:extLst>
          </p:cNvPr>
          <p:cNvSpPr>
            <a:spLocks xmlns:a="http://schemas.openxmlformats.org/drawingml/2006/main" noGrp="1"/>
          </p:cNvSpPr>
          <p:nvPr/>
        </p:nvSpPr>
        <p:spPr>
          <a:xfrm xmlns:a="http://schemas.openxmlformats.org/drawingml/2006/main">
            <a:off x="3867150" y="1943100"/>
            <a:ext cx="7467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500" b="1">
                <a:solidFill>
                  <a:srgbClr val="003F6B"/>
                </a:solidFill>
              </a:defRPr>
            </a:pPr>
            <a:r>
              <a:rPr sz="1500" b="1">
                <a:solidFill>
                  <a:srgbClr val="003F6B"/>
                </a:solidFill>
              </a:rPr>
              <a:t>Behandlungsfehler · gekürzter Kern</a:t>
            </a:r>
          </a:p>
        </p:txBody>
      </p:sp>
      <p:sp>
        <p:nvSpPr>
          <p:cNvPr id="7" name="">
            <a:extLst xmlns:a="http://schemas.openxmlformats.org/drawingml/2006/main">
              <a:ext uri="{FF2B5EF4-FFF2-40B4-BE49-F238E27FC236}">
                <a16:creationId xmlns:a16="http://schemas.microsoft.com/office/drawing/2014/main" id="{BDE92EE2-7FA7-4FB2-B81B-A08BBCBABF70}"/>
              </a:ext>
            </a:extLst>
          </p:cNvPr>
          <p:cNvSpPr>
            <a:spLocks xmlns:a="http://schemas.openxmlformats.org/drawingml/2006/main" noGrp="1"/>
          </p:cNvSpPr>
          <p:nvPr/>
        </p:nvSpPr>
        <p:spPr>
          <a:xfrm xmlns:a="http://schemas.openxmlformats.org/drawingml/2006/main">
            <a:off x="1809750" y="2552700"/>
            <a:ext cx="9525000" cy="2419350"/>
          </a:xfrm>
          <a:prstGeom xmlns:a="http://schemas.openxmlformats.org/drawingml/2006/main" prst="roundRect">
            <a:avLst>
              <a:gd name="adj" fmla="val 3150"/>
            </a:avLst>
          </a:prstGeom>
          <a:solidFill xmlns:a="http://schemas.openxmlformats.org/drawingml/2006/main">
            <a:srgbClr val="F3F7F9"/>
          </a:solidFill>
          <a:ln xmlns:a="http://schemas.openxmlformats.org/drawingml/2006/main" w="11430">
            <a:solidFill>
              <a:srgbClr val="00B2BB"/>
            </a:solidFill>
            <a:prstDash val="solid"/>
          </a:ln>
        </p:spPr>
      </p:sp>
      <p:sp>
        <p:nvSpPr>
          <p:cNvPr id="8" name="">
            <a:extLst xmlns:a="http://schemas.openxmlformats.org/drawingml/2006/main">
              <a:ext uri="{FF2B5EF4-FFF2-40B4-BE49-F238E27FC236}">
                <a16:creationId xmlns:a16="http://schemas.microsoft.com/office/drawing/2014/main" id="{668DD2BD-5255-44A5-9784-0CA20FC3CC41}"/>
              </a:ext>
            </a:extLst>
          </p:cNvPr>
          <p:cNvSpPr>
            <a:spLocks xmlns:a="http://schemas.openxmlformats.org/drawingml/2006/main" noGrp="1"/>
          </p:cNvSpPr>
          <p:nvPr/>
        </p:nvSpPr>
        <p:spPr>
          <a:xfrm xmlns:a="http://schemas.openxmlformats.org/drawingml/2006/main">
            <a:off x="2019300" y="2724150"/>
            <a:ext cx="910590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15232B"/>
                </a:solidFill>
              </a:defRPr>
            </a:pPr>
            <a:r>
              <a:rPr sz="1275">
                <a:solidFill>
                  <a:srgbClr val="15232B"/>
                </a:solidFill>
              </a:rPr>
              <a:t>Die Krankenkassen sollen Versicherte bei der Verfolgung von Schadensersatzansprüchen aus Behandlungsfehlern unterstützen. Die Unterstützung kann insbesondere die Prüfung vorgelegter Unterlagen auf Vollständigkeit und Plausibilität, die Anforderung weiterer Unterlagen mit Einwilligung, die Veranlassung einer sozialmedizinischen Begutachtung durch den Medizinischen Dienst sowie eine abschließende Gesamtbewertung umfassen. Die erhobenen Daten dürfen ausschließlich zu diesem Zweck verarbeitet werden.</a:t>
            </a:r>
          </a:p>
        </p:txBody>
      </p:sp>
      <p:sp>
        <p:nvSpPr>
          <p:cNvPr id="9" name="">
            <a:extLst xmlns:a="http://schemas.openxmlformats.org/drawingml/2006/main">
              <a:ext uri="{FF2B5EF4-FFF2-40B4-BE49-F238E27FC236}">
                <a16:creationId xmlns:a16="http://schemas.microsoft.com/office/drawing/2014/main" id="{3FD88037-EB7A-48AA-8AB1-FE081C934DAB}"/>
              </a:ext>
            </a:extLst>
          </p:cNvPr>
          <p:cNvSpPr>
            <a:spLocks xmlns:a="http://schemas.openxmlformats.org/drawingml/2006/main" noGrp="1"/>
          </p:cNvSpPr>
          <p:nvPr/>
        </p:nvSpPr>
        <p:spPr>
          <a:xfrm xmlns:a="http://schemas.openxmlformats.org/drawingml/2006/main">
            <a:off x="1809750" y="5619750"/>
            <a:ext cx="9525000" cy="419100"/>
          </a:xfrm>
          <a:prstGeom xmlns:a="http://schemas.openxmlformats.org/drawingml/2006/main" prst="roundRect">
            <a:avLst>
              <a:gd name="adj" fmla="val 18182"/>
            </a:avLst>
          </a:prstGeom>
          <a:noFill xmlns:a="http://schemas.openxmlformats.org/drawingml/2006/main"/>
          <a:ln xmlns:a="http://schemas.openxmlformats.org/drawingml/2006/main" w="11430">
            <a:solidFill>
              <a:srgbClr val="00B2BB"/>
            </a:solidFill>
            <a:prstDash val="solid"/>
          </a:ln>
        </p:spPr>
      </p:sp>
      <p:sp>
        <p:nvSpPr>
          <p:cNvPr id="10" name="">
            <a:extLst xmlns:a="http://schemas.openxmlformats.org/drawingml/2006/main">
              <a:ext uri="{FF2B5EF4-FFF2-40B4-BE49-F238E27FC236}">
                <a16:creationId xmlns:a16="http://schemas.microsoft.com/office/drawing/2014/main" id="{A503B64F-63DB-449A-A30F-8E8722C5BDA8}"/>
              </a:ext>
            </a:extLst>
          </p:cNvPr>
          <p:cNvSpPr>
            <a:spLocks xmlns:a="http://schemas.openxmlformats.org/drawingml/2006/main" noGrp="1"/>
          </p:cNvSpPr>
          <p:nvPr/>
        </p:nvSpPr>
        <p:spPr>
          <a:xfrm xmlns:a="http://schemas.openxmlformats.org/drawingml/2006/main">
            <a:off x="1962150" y="5638800"/>
            <a:ext cx="9220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13" b="1">
                <a:solidFill>
                  <a:srgbClr val="003F6B"/>
                </a:solidFill>
              </a:defRPr>
            </a:pPr>
            <a:r>
              <a:rPr sz="1013" b="1">
                <a:solidFill>
                  <a:srgbClr val="003F6B"/>
                </a:solidFill>
              </a:rPr>
              <a:t>Praxislesart: Der MD-Weg kann eine kostenfreie medizinische Klärung liefern, ersetzt aber weder Verhandlung noch gerichtliche Beweisaufnahme.</a:t>
            </a:r>
          </a:p>
        </p:txBody>
      </p:sp>
      <p:sp>
        <p:nvSpPr>
          <p:cNvPr id="11" name="">
            <a:extLst xmlns:a="http://schemas.openxmlformats.org/drawingml/2006/main">
              <a:ext uri="{FF2B5EF4-FFF2-40B4-BE49-F238E27FC236}">
                <a16:creationId xmlns:a16="http://schemas.microsoft.com/office/drawing/2014/main" id="{01BCD53A-C335-458B-B4C4-E72246B4D9C5}"/>
              </a:ext>
            </a:extLst>
          </p:cNvPr>
          <p:cNvSpPr>
            <a:spLocks xmlns:a="http://schemas.openxmlformats.org/drawingml/2006/main" noGrp="1"/>
          </p:cNvSpPr>
          <p:nvPr/>
        </p:nvSpPr>
        <p:spPr>
          <a:xfrm xmlns:a="http://schemas.openxmlformats.org/drawingml/2006/main">
            <a:off x="1809750" y="535305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05">
                <a:solidFill>
                  <a:srgbClr val="667680"/>
                </a:solidFill>
              </a:defRPr>
            </a:pPr>
            <a:r>
              <a:rPr sz="705">
                <a:solidFill>
                  <a:srgbClr val="667680"/>
                </a:solidFill>
              </a:rPr>
              <a:t>BMJ/BfJ, gesetze-im-internet.de/sgb_5/__66.html · Abruf/Stand: 20.08.2026 · https://pubmed.ncbi.nlm.nih.gov</a:t>
            </a:r>
          </a:p>
        </p:txBody>
      </p:sp>
    </p:spTree>
    <p:extLst>
      <p:ext uri="{BB962C8B-B14F-4D97-AF65-F5344CB8AC3E}">
        <p14:creationId xmlns:p14="http://schemas.microsoft.com/office/powerpoint/2010/main" val="43637646"/>
      </p:ext>
    </p:extLst>
  </p:cSld>
</p:sld>
</file>

<file path=ppt/slides/slide159.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Verjährung: Frist und Kenntnis</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GESETZESTEXT · GEKÜRZTER LEHRAUSZUG</a:t>
            </a:r>
            <a:endParaRPr/>
          </a:p>
        </p:txBody>
      </p:sp>
      <p:sp>
        <p:nvSpPr>
          <p:cNvPr id="4" name="">
            <a:extLst xmlns:a="http://schemas.openxmlformats.org/drawingml/2006/main">
              <a:ext uri="{FF2B5EF4-FFF2-40B4-BE49-F238E27FC236}">
                <a16:creationId xmlns:a16="http://schemas.microsoft.com/office/drawing/2014/main" id="{9609706F-80A4-497A-9E95-361643CB9407}"/>
              </a:ext>
            </a:extLst>
          </p:cNvPr>
          <p:cNvSpPr>
            <a:spLocks xmlns:a="http://schemas.openxmlformats.org/drawingml/2006/main" noGrp="1"/>
          </p:cNvSpPr>
          <p:nvPr/>
        </p:nvSpPr>
        <p:spPr>
          <a:xfrm xmlns:a="http://schemas.openxmlformats.org/drawingml/2006/main">
            <a:off x="1809750" y="1943100"/>
            <a:ext cx="4648200" cy="3371850"/>
          </a:xfrm>
          <a:prstGeom xmlns:a="http://schemas.openxmlformats.org/drawingml/2006/main" prst="roundRect">
            <a:avLst>
              <a:gd name="adj" fmla="val 2260"/>
            </a:avLst>
          </a:prstGeom>
          <a:solidFill xmlns:a="http://schemas.openxmlformats.org/drawingml/2006/main">
            <a:srgbClr val="F3F7F9"/>
          </a:solidFill>
          <a:ln xmlns:a="http://schemas.openxmlformats.org/drawingml/2006/main" w="11430">
            <a:solidFill>
              <a:srgbClr val="00B2BB"/>
            </a:solidFill>
            <a:prstDash val="solid"/>
          </a:ln>
        </p:spPr>
      </p:sp>
      <p:sp>
        <p:nvSpPr>
          <p:cNvPr id="5" name="">
            <a:extLst xmlns:a="http://schemas.openxmlformats.org/drawingml/2006/main">
              <a:ext uri="{FF2B5EF4-FFF2-40B4-BE49-F238E27FC236}">
                <a16:creationId xmlns:a16="http://schemas.microsoft.com/office/drawing/2014/main" id="{DDBF9675-93DA-4E1D-BDE5-A5B80A091498}"/>
              </a:ext>
            </a:extLst>
          </p:cNvPr>
          <p:cNvSpPr>
            <a:spLocks xmlns:a="http://schemas.openxmlformats.org/drawingml/2006/main" noGrp="1"/>
          </p:cNvSpPr>
          <p:nvPr/>
        </p:nvSpPr>
        <p:spPr>
          <a:xfrm xmlns:a="http://schemas.openxmlformats.org/drawingml/2006/main">
            <a:off x="1943100" y="2076450"/>
            <a:ext cx="1409700" cy="381000"/>
          </a:xfrm>
          <a:prstGeom xmlns:a="http://schemas.openxmlformats.org/drawingml/2006/main" prst="roundRect">
            <a:avLst>
              <a:gd name="adj" fmla="val 20000"/>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99620E3D-C68D-45BE-AEA0-226A8E040830}"/>
              </a:ext>
            </a:extLst>
          </p:cNvPr>
          <p:cNvSpPr>
            <a:spLocks xmlns:a="http://schemas.openxmlformats.org/drawingml/2006/main" noGrp="1"/>
          </p:cNvSpPr>
          <p:nvPr/>
        </p:nvSpPr>
        <p:spPr>
          <a:xfrm xmlns:a="http://schemas.openxmlformats.org/drawingml/2006/main">
            <a:off x="1943100" y="207645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 195 BGB</a:t>
            </a:r>
          </a:p>
        </p:txBody>
      </p:sp>
      <p:sp>
        <p:nvSpPr>
          <p:cNvPr id="7" name="">
            <a:extLst xmlns:a="http://schemas.openxmlformats.org/drawingml/2006/main">
              <a:ext uri="{FF2B5EF4-FFF2-40B4-BE49-F238E27FC236}">
                <a16:creationId xmlns:a16="http://schemas.microsoft.com/office/drawing/2014/main" id="{D291A0D3-C539-443E-B3A9-B235496B1346}"/>
              </a:ext>
            </a:extLst>
          </p:cNvPr>
          <p:cNvSpPr>
            <a:spLocks xmlns:a="http://schemas.openxmlformats.org/drawingml/2006/main" noGrp="1"/>
          </p:cNvSpPr>
          <p:nvPr/>
        </p:nvSpPr>
        <p:spPr>
          <a:xfrm xmlns:a="http://schemas.openxmlformats.org/drawingml/2006/main">
            <a:off x="3486150" y="2057400"/>
            <a:ext cx="2838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Regelverjährung</a:t>
            </a:r>
          </a:p>
        </p:txBody>
      </p:sp>
      <p:sp>
        <p:nvSpPr>
          <p:cNvPr id="8" name="">
            <a:extLst xmlns:a="http://schemas.openxmlformats.org/drawingml/2006/main">
              <a:ext uri="{FF2B5EF4-FFF2-40B4-BE49-F238E27FC236}">
                <a16:creationId xmlns:a16="http://schemas.microsoft.com/office/drawing/2014/main" id="{0954C11B-C2B7-4CDD-BEC1-694E00D0B8EA}"/>
              </a:ext>
            </a:extLst>
          </p:cNvPr>
          <p:cNvSpPr>
            <a:spLocks xmlns:a="http://schemas.openxmlformats.org/drawingml/2006/main" noGrp="1"/>
          </p:cNvSpPr>
          <p:nvPr/>
        </p:nvSpPr>
        <p:spPr>
          <a:xfrm xmlns:a="http://schemas.openxmlformats.org/drawingml/2006/main">
            <a:off x="1981200" y="2609850"/>
            <a:ext cx="4305300" cy="2533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8">
                <a:solidFill>
                  <a:srgbClr val="15232B"/>
                </a:solidFill>
              </a:defRPr>
            </a:pPr>
            <a:r>
              <a:rPr sz="1148">
                <a:solidFill>
                  <a:srgbClr val="15232B"/>
                </a:solidFill>
              </a:rPr>
              <a:t>Die regelmäßige Verjährungsfrist beträgt drei Jahre.</a:t>
            </a:r>
          </a:p>
        </p:txBody>
      </p:sp>
      <p:sp>
        <p:nvSpPr>
          <p:cNvPr id="9" name="">
            <a:extLst xmlns:a="http://schemas.openxmlformats.org/drawingml/2006/main">
              <a:ext uri="{FF2B5EF4-FFF2-40B4-BE49-F238E27FC236}">
                <a16:creationId xmlns:a16="http://schemas.microsoft.com/office/drawing/2014/main" id="{46AAC87B-3030-472A-939E-B52C4C96A38D}"/>
              </a:ext>
            </a:extLst>
          </p:cNvPr>
          <p:cNvSpPr>
            <a:spLocks xmlns:a="http://schemas.openxmlformats.org/drawingml/2006/main" noGrp="1"/>
          </p:cNvSpPr>
          <p:nvPr/>
        </p:nvSpPr>
        <p:spPr>
          <a:xfrm xmlns:a="http://schemas.openxmlformats.org/drawingml/2006/main">
            <a:off x="6686550" y="1943100"/>
            <a:ext cx="4648200" cy="3371850"/>
          </a:xfrm>
          <a:prstGeom xmlns:a="http://schemas.openxmlformats.org/drawingml/2006/main" prst="roundRect">
            <a:avLst>
              <a:gd name="adj" fmla="val 2260"/>
            </a:avLst>
          </a:prstGeom>
          <a:solidFill xmlns:a="http://schemas.openxmlformats.org/drawingml/2006/main">
            <a:srgbClr val="F3F7F9"/>
          </a:solidFill>
          <a:ln xmlns:a="http://schemas.openxmlformats.org/drawingml/2006/main" w="11430">
            <a:solidFill>
              <a:srgbClr val="003F6B"/>
            </a:solidFill>
            <a:prstDash val="solid"/>
          </a:ln>
        </p:spPr>
      </p:sp>
      <p:sp>
        <p:nvSpPr>
          <p:cNvPr id="10" name="">
            <a:extLst xmlns:a="http://schemas.openxmlformats.org/drawingml/2006/main">
              <a:ext uri="{FF2B5EF4-FFF2-40B4-BE49-F238E27FC236}">
                <a16:creationId xmlns:a16="http://schemas.microsoft.com/office/drawing/2014/main" id="{DC5830E6-1518-40EC-8477-6BA3D012B565}"/>
              </a:ext>
            </a:extLst>
          </p:cNvPr>
          <p:cNvSpPr>
            <a:spLocks xmlns:a="http://schemas.openxmlformats.org/drawingml/2006/main" noGrp="1"/>
          </p:cNvSpPr>
          <p:nvPr/>
        </p:nvSpPr>
        <p:spPr>
          <a:xfrm xmlns:a="http://schemas.openxmlformats.org/drawingml/2006/main">
            <a:off x="6819900" y="2076450"/>
            <a:ext cx="1409700" cy="381000"/>
          </a:xfrm>
          <a:prstGeom xmlns:a="http://schemas.openxmlformats.org/drawingml/2006/main" prst="roundRect">
            <a:avLst>
              <a:gd name="adj" fmla="val 20000"/>
            </a:avLst>
          </a:prstGeom>
          <a:solidFill xmlns:a="http://schemas.openxmlformats.org/drawingml/2006/main">
            <a:srgbClr val="003F6B"/>
          </a:solidFill>
          <a:ln xmlns:a="http://schemas.openxmlformats.org/drawingml/2006/main" w="0">
            <a:solidFill>
              <a:srgbClr val="003F6B"/>
            </a:solidFill>
            <a:prstDash val="solid"/>
          </a:ln>
        </p:spPr>
      </p:sp>
      <p:sp>
        <p:nvSpPr>
          <p:cNvPr id="11" name="">
            <a:extLst xmlns:a="http://schemas.openxmlformats.org/drawingml/2006/main">
              <a:ext uri="{FF2B5EF4-FFF2-40B4-BE49-F238E27FC236}">
                <a16:creationId xmlns:a16="http://schemas.microsoft.com/office/drawing/2014/main" id="{DB208A15-A99B-4EB9-BCF2-8813C23BA019}"/>
              </a:ext>
            </a:extLst>
          </p:cNvPr>
          <p:cNvSpPr>
            <a:spLocks xmlns:a="http://schemas.openxmlformats.org/drawingml/2006/main" noGrp="1"/>
          </p:cNvSpPr>
          <p:nvPr/>
        </p:nvSpPr>
        <p:spPr>
          <a:xfrm xmlns:a="http://schemas.openxmlformats.org/drawingml/2006/main">
            <a:off x="6819900" y="207645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 199 I BGB</a:t>
            </a:r>
          </a:p>
        </p:txBody>
      </p:sp>
      <p:sp>
        <p:nvSpPr>
          <p:cNvPr id="12" name="">
            <a:extLst xmlns:a="http://schemas.openxmlformats.org/drawingml/2006/main">
              <a:ext uri="{FF2B5EF4-FFF2-40B4-BE49-F238E27FC236}">
                <a16:creationId xmlns:a16="http://schemas.microsoft.com/office/drawing/2014/main" id="{8F0155C9-1BC0-4B72-9308-4C760E2D8BA5}"/>
              </a:ext>
            </a:extLst>
          </p:cNvPr>
          <p:cNvSpPr>
            <a:spLocks xmlns:a="http://schemas.openxmlformats.org/drawingml/2006/main" noGrp="1"/>
          </p:cNvSpPr>
          <p:nvPr/>
        </p:nvSpPr>
        <p:spPr>
          <a:xfrm xmlns:a="http://schemas.openxmlformats.org/drawingml/2006/main">
            <a:off x="8362950" y="2057400"/>
            <a:ext cx="2838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Beginn</a:t>
            </a:r>
          </a:p>
        </p:txBody>
      </p:sp>
      <p:sp>
        <p:nvSpPr>
          <p:cNvPr id="13" name="">
            <a:extLst xmlns:a="http://schemas.openxmlformats.org/drawingml/2006/main">
              <a:ext uri="{FF2B5EF4-FFF2-40B4-BE49-F238E27FC236}">
                <a16:creationId xmlns:a16="http://schemas.microsoft.com/office/drawing/2014/main" id="{AEDA4668-FD0F-470B-820F-A9BF32CA37EB}"/>
              </a:ext>
            </a:extLst>
          </p:cNvPr>
          <p:cNvSpPr>
            <a:spLocks xmlns:a="http://schemas.openxmlformats.org/drawingml/2006/main" noGrp="1"/>
          </p:cNvSpPr>
          <p:nvPr/>
        </p:nvSpPr>
        <p:spPr>
          <a:xfrm xmlns:a="http://schemas.openxmlformats.org/drawingml/2006/main">
            <a:off x="6858000" y="2609850"/>
            <a:ext cx="4305300" cy="2533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8">
                <a:solidFill>
                  <a:srgbClr val="15232B"/>
                </a:solidFill>
              </a:defRPr>
            </a:pPr>
            <a:r>
              <a:rPr sz="1148">
                <a:solidFill>
                  <a:srgbClr val="15232B"/>
                </a:solidFill>
              </a:rPr>
              <a:t>Die regelmäßige Verjährungsfrist beginnt mit dem Schluss des Jahres, in dem der Anspruch entstanden ist und der Gläubiger von den anspruchsbegründenden Umständen und der Person des Schuldners Kenntnis erlangt oder ohne grobe Fahrlässigkeit erlangen müsste.</a:t>
            </a:r>
          </a:p>
        </p:txBody>
      </p:sp>
      <p:sp>
        <p:nvSpPr>
          <p:cNvPr id="14" name="">
            <a:extLst xmlns:a="http://schemas.openxmlformats.org/drawingml/2006/main">
              <a:ext uri="{FF2B5EF4-FFF2-40B4-BE49-F238E27FC236}">
                <a16:creationId xmlns:a16="http://schemas.microsoft.com/office/drawing/2014/main" id="{217FBFCE-865A-4536-A161-233A672BA09D}"/>
              </a:ext>
            </a:extLst>
          </p:cNvPr>
          <p:cNvSpPr>
            <a:spLocks xmlns:a="http://schemas.openxmlformats.org/drawingml/2006/main" noGrp="1"/>
          </p:cNvSpPr>
          <p:nvPr/>
        </p:nvSpPr>
        <p:spPr>
          <a:xfrm xmlns:a="http://schemas.openxmlformats.org/drawingml/2006/main">
            <a:off x="1809750" y="5619750"/>
            <a:ext cx="9525000" cy="419100"/>
          </a:xfrm>
          <a:prstGeom xmlns:a="http://schemas.openxmlformats.org/drawingml/2006/main" prst="roundRect">
            <a:avLst>
              <a:gd name="adj" fmla="val 18182"/>
            </a:avLst>
          </a:prstGeom>
          <a:noFill xmlns:a="http://schemas.openxmlformats.org/drawingml/2006/main"/>
          <a:ln xmlns:a="http://schemas.openxmlformats.org/drawingml/2006/main" w="11430">
            <a:solidFill>
              <a:srgbClr val="00B2BB"/>
            </a:solidFill>
            <a:prstDash val="solid"/>
          </a:ln>
        </p:spPr>
      </p:sp>
      <p:sp>
        <p:nvSpPr>
          <p:cNvPr id="15" name="">
            <a:extLst xmlns:a="http://schemas.openxmlformats.org/drawingml/2006/main">
              <a:ext uri="{FF2B5EF4-FFF2-40B4-BE49-F238E27FC236}">
                <a16:creationId xmlns:a16="http://schemas.microsoft.com/office/drawing/2014/main" id="{487AE8D8-B627-4AF9-A64B-22D287C1D2CD}"/>
              </a:ext>
            </a:extLst>
          </p:cNvPr>
          <p:cNvSpPr>
            <a:spLocks xmlns:a="http://schemas.openxmlformats.org/drawingml/2006/main" noGrp="1"/>
          </p:cNvSpPr>
          <p:nvPr/>
        </p:nvSpPr>
        <p:spPr>
          <a:xfrm xmlns:a="http://schemas.openxmlformats.org/drawingml/2006/main">
            <a:off x="1962150" y="5638800"/>
            <a:ext cx="9220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13" b="1">
                <a:solidFill>
                  <a:srgbClr val="003F6B"/>
                </a:solidFill>
              </a:defRPr>
            </a:pPr>
            <a:r>
              <a:rPr sz="1013" b="1">
                <a:solidFill>
                  <a:srgbClr val="003F6B"/>
                </a:solidFill>
              </a:rPr>
              <a:t>Praxislesart: Negativer Behandlungsausgang allein bedeutet nicht automatisch Kenntnis eines Fehlers. Aktenzugang und fachliche Einordnung können entscheidend werden.</a:t>
            </a:r>
          </a:p>
        </p:txBody>
      </p:sp>
      <p:sp>
        <p:nvSpPr>
          <p:cNvPr id="16" name="">
            <a:extLst xmlns:a="http://schemas.openxmlformats.org/drawingml/2006/main">
              <a:ext uri="{FF2B5EF4-FFF2-40B4-BE49-F238E27FC236}">
                <a16:creationId xmlns:a16="http://schemas.microsoft.com/office/drawing/2014/main" id="{D2129F5A-1244-4504-8EF6-33A5BCDDAC4A}"/>
              </a:ext>
            </a:extLst>
          </p:cNvPr>
          <p:cNvSpPr>
            <a:spLocks xmlns:a="http://schemas.openxmlformats.org/drawingml/2006/main" noGrp="1"/>
          </p:cNvSpPr>
          <p:nvPr/>
        </p:nvSpPr>
        <p:spPr>
          <a:xfrm xmlns:a="http://schemas.openxmlformats.org/drawingml/2006/main">
            <a:off x="1809750" y="535305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05">
                <a:solidFill>
                  <a:srgbClr val="667680"/>
                </a:solidFill>
              </a:defRPr>
            </a:pPr>
            <a:r>
              <a:rPr sz="705">
                <a:solidFill>
                  <a:srgbClr val="667680"/>
                </a:solidFill>
              </a:rPr>
              <a:t>BMJ/BfJ, gesetze-im-internet.de/bgb/__195.html und /__199.html · Abruf/Stand: 20.08.2026 · https://pubmed.ncbi.nlm.nih.gov</a:t>
            </a:r>
          </a:p>
        </p:txBody>
      </p:sp>
    </p:spTree>
    <p:extLst>
      <p:ext uri="{BB962C8B-B14F-4D97-AF65-F5344CB8AC3E}">
        <p14:creationId xmlns:p14="http://schemas.microsoft.com/office/powerpoint/2010/main" val="43637646"/>
      </p:ext>
    </p:extLst>
  </p:cSld>
</p:sld>
</file>

<file path=ppt/slides/slide160.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Hemmung und Anerkenntnis</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GESETZESTEXT · GEKÜRZTER LEHRAUSZUG</a:t>
            </a:r>
            <a:endParaRPr/>
          </a:p>
        </p:txBody>
      </p:sp>
      <p:sp>
        <p:nvSpPr>
          <p:cNvPr id="4" name="">
            <a:extLst xmlns:a="http://schemas.openxmlformats.org/drawingml/2006/main">
              <a:ext uri="{FF2B5EF4-FFF2-40B4-BE49-F238E27FC236}">
                <a16:creationId xmlns:a16="http://schemas.microsoft.com/office/drawing/2014/main" id="{D25EB74C-A9E9-4284-8CD5-416815FF6412}"/>
              </a:ext>
            </a:extLst>
          </p:cNvPr>
          <p:cNvSpPr>
            <a:spLocks xmlns:a="http://schemas.openxmlformats.org/drawingml/2006/main" noGrp="1"/>
          </p:cNvSpPr>
          <p:nvPr/>
        </p:nvSpPr>
        <p:spPr>
          <a:xfrm xmlns:a="http://schemas.openxmlformats.org/drawingml/2006/main">
            <a:off x="1809750" y="1943100"/>
            <a:ext cx="4648200" cy="3371850"/>
          </a:xfrm>
          <a:prstGeom xmlns:a="http://schemas.openxmlformats.org/drawingml/2006/main" prst="roundRect">
            <a:avLst>
              <a:gd name="adj" fmla="val 2260"/>
            </a:avLst>
          </a:prstGeom>
          <a:solidFill xmlns:a="http://schemas.openxmlformats.org/drawingml/2006/main">
            <a:srgbClr val="F3F7F9"/>
          </a:solidFill>
          <a:ln xmlns:a="http://schemas.openxmlformats.org/drawingml/2006/main" w="11430">
            <a:solidFill>
              <a:srgbClr val="00B2BB"/>
            </a:solidFill>
            <a:prstDash val="solid"/>
          </a:ln>
        </p:spPr>
      </p:sp>
      <p:sp>
        <p:nvSpPr>
          <p:cNvPr id="5" name="">
            <a:extLst xmlns:a="http://schemas.openxmlformats.org/drawingml/2006/main">
              <a:ext uri="{FF2B5EF4-FFF2-40B4-BE49-F238E27FC236}">
                <a16:creationId xmlns:a16="http://schemas.microsoft.com/office/drawing/2014/main" id="{60034332-D914-470D-AFC2-E264A8E965F2}"/>
              </a:ext>
            </a:extLst>
          </p:cNvPr>
          <p:cNvSpPr>
            <a:spLocks xmlns:a="http://schemas.openxmlformats.org/drawingml/2006/main" noGrp="1"/>
          </p:cNvSpPr>
          <p:nvPr/>
        </p:nvSpPr>
        <p:spPr>
          <a:xfrm xmlns:a="http://schemas.openxmlformats.org/drawingml/2006/main">
            <a:off x="1943100" y="2076450"/>
            <a:ext cx="1409700" cy="381000"/>
          </a:xfrm>
          <a:prstGeom xmlns:a="http://schemas.openxmlformats.org/drawingml/2006/main" prst="roundRect">
            <a:avLst>
              <a:gd name="adj" fmla="val 20000"/>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A62068DF-33C4-408D-83E9-01F68192772F}"/>
              </a:ext>
            </a:extLst>
          </p:cNvPr>
          <p:cNvSpPr>
            <a:spLocks xmlns:a="http://schemas.openxmlformats.org/drawingml/2006/main" noGrp="1"/>
          </p:cNvSpPr>
          <p:nvPr/>
        </p:nvSpPr>
        <p:spPr>
          <a:xfrm xmlns:a="http://schemas.openxmlformats.org/drawingml/2006/main">
            <a:off x="1943100" y="207645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 203 BGB</a:t>
            </a:r>
          </a:p>
        </p:txBody>
      </p:sp>
      <p:sp>
        <p:nvSpPr>
          <p:cNvPr id="7" name="">
            <a:extLst xmlns:a="http://schemas.openxmlformats.org/drawingml/2006/main">
              <a:ext uri="{FF2B5EF4-FFF2-40B4-BE49-F238E27FC236}">
                <a16:creationId xmlns:a16="http://schemas.microsoft.com/office/drawing/2014/main" id="{10D07D2B-F1DD-4B09-84D3-04289277224D}"/>
              </a:ext>
            </a:extLst>
          </p:cNvPr>
          <p:cNvSpPr>
            <a:spLocks xmlns:a="http://schemas.openxmlformats.org/drawingml/2006/main" noGrp="1"/>
          </p:cNvSpPr>
          <p:nvPr/>
        </p:nvSpPr>
        <p:spPr>
          <a:xfrm xmlns:a="http://schemas.openxmlformats.org/drawingml/2006/main">
            <a:off x="3486150" y="2057400"/>
            <a:ext cx="2838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Verhandlungen</a:t>
            </a:r>
          </a:p>
        </p:txBody>
      </p:sp>
      <p:sp>
        <p:nvSpPr>
          <p:cNvPr id="8" name="">
            <a:extLst xmlns:a="http://schemas.openxmlformats.org/drawingml/2006/main">
              <a:ext uri="{FF2B5EF4-FFF2-40B4-BE49-F238E27FC236}">
                <a16:creationId xmlns:a16="http://schemas.microsoft.com/office/drawing/2014/main" id="{72DCDE0F-595D-449B-87F2-F3B54446E119}"/>
              </a:ext>
            </a:extLst>
          </p:cNvPr>
          <p:cNvSpPr>
            <a:spLocks xmlns:a="http://schemas.openxmlformats.org/drawingml/2006/main" noGrp="1"/>
          </p:cNvSpPr>
          <p:nvPr/>
        </p:nvSpPr>
        <p:spPr>
          <a:xfrm xmlns:a="http://schemas.openxmlformats.org/drawingml/2006/main">
            <a:off x="1981200" y="2609850"/>
            <a:ext cx="4305300" cy="2533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8">
                <a:solidFill>
                  <a:srgbClr val="15232B"/>
                </a:solidFill>
              </a:defRPr>
            </a:pPr>
            <a:r>
              <a:rPr sz="1148">
                <a:solidFill>
                  <a:srgbClr val="15232B"/>
                </a:solidFill>
              </a:rPr>
              <a:t>Schweben zwischen Schuldner und Gläubiger Verhandlungen über den Anspruch oder die ihn begründenden Umstände, ist die Verjährung gehemmt, bis eine Partei die Fortsetzung der Verhandlungen verweigert. Verjährung tritt frühestens drei Monate nach Ende der Hemmung ein.</a:t>
            </a:r>
          </a:p>
        </p:txBody>
      </p:sp>
      <p:sp>
        <p:nvSpPr>
          <p:cNvPr id="9" name="">
            <a:extLst xmlns:a="http://schemas.openxmlformats.org/drawingml/2006/main">
              <a:ext uri="{FF2B5EF4-FFF2-40B4-BE49-F238E27FC236}">
                <a16:creationId xmlns:a16="http://schemas.microsoft.com/office/drawing/2014/main" id="{9B84B00D-2EB1-4CD2-A151-27C0CB814673}"/>
              </a:ext>
            </a:extLst>
          </p:cNvPr>
          <p:cNvSpPr>
            <a:spLocks xmlns:a="http://schemas.openxmlformats.org/drawingml/2006/main" noGrp="1"/>
          </p:cNvSpPr>
          <p:nvPr/>
        </p:nvSpPr>
        <p:spPr>
          <a:xfrm xmlns:a="http://schemas.openxmlformats.org/drawingml/2006/main">
            <a:off x="6686550" y="1943100"/>
            <a:ext cx="4648200" cy="3371850"/>
          </a:xfrm>
          <a:prstGeom xmlns:a="http://schemas.openxmlformats.org/drawingml/2006/main" prst="roundRect">
            <a:avLst>
              <a:gd name="adj" fmla="val 2260"/>
            </a:avLst>
          </a:prstGeom>
          <a:solidFill xmlns:a="http://schemas.openxmlformats.org/drawingml/2006/main">
            <a:srgbClr val="F3F7F9"/>
          </a:solidFill>
          <a:ln xmlns:a="http://schemas.openxmlformats.org/drawingml/2006/main" w="11430">
            <a:solidFill>
              <a:srgbClr val="003F6B"/>
            </a:solidFill>
            <a:prstDash val="solid"/>
          </a:ln>
        </p:spPr>
      </p:sp>
      <p:sp>
        <p:nvSpPr>
          <p:cNvPr id="10" name="">
            <a:extLst xmlns:a="http://schemas.openxmlformats.org/drawingml/2006/main">
              <a:ext uri="{FF2B5EF4-FFF2-40B4-BE49-F238E27FC236}">
                <a16:creationId xmlns:a16="http://schemas.microsoft.com/office/drawing/2014/main" id="{D55DB4CF-33E6-48AF-9E8C-65ED281326A6}"/>
              </a:ext>
            </a:extLst>
          </p:cNvPr>
          <p:cNvSpPr>
            <a:spLocks xmlns:a="http://schemas.openxmlformats.org/drawingml/2006/main" noGrp="1"/>
          </p:cNvSpPr>
          <p:nvPr/>
        </p:nvSpPr>
        <p:spPr>
          <a:xfrm xmlns:a="http://schemas.openxmlformats.org/drawingml/2006/main">
            <a:off x="6819900" y="2076450"/>
            <a:ext cx="1409700" cy="381000"/>
          </a:xfrm>
          <a:prstGeom xmlns:a="http://schemas.openxmlformats.org/drawingml/2006/main" prst="roundRect">
            <a:avLst>
              <a:gd name="adj" fmla="val 20000"/>
            </a:avLst>
          </a:prstGeom>
          <a:solidFill xmlns:a="http://schemas.openxmlformats.org/drawingml/2006/main">
            <a:srgbClr val="003F6B"/>
          </a:solidFill>
          <a:ln xmlns:a="http://schemas.openxmlformats.org/drawingml/2006/main" w="0">
            <a:solidFill>
              <a:srgbClr val="003F6B"/>
            </a:solidFill>
            <a:prstDash val="solid"/>
          </a:ln>
        </p:spPr>
      </p:sp>
      <p:sp>
        <p:nvSpPr>
          <p:cNvPr id="11" name="">
            <a:extLst xmlns:a="http://schemas.openxmlformats.org/drawingml/2006/main">
              <a:ext uri="{FF2B5EF4-FFF2-40B4-BE49-F238E27FC236}">
                <a16:creationId xmlns:a16="http://schemas.microsoft.com/office/drawing/2014/main" id="{A2594EC0-F45B-4A0F-A486-3EAD3CB88FD7}"/>
              </a:ext>
            </a:extLst>
          </p:cNvPr>
          <p:cNvSpPr>
            <a:spLocks xmlns:a="http://schemas.openxmlformats.org/drawingml/2006/main" noGrp="1"/>
          </p:cNvSpPr>
          <p:nvPr/>
        </p:nvSpPr>
        <p:spPr>
          <a:xfrm xmlns:a="http://schemas.openxmlformats.org/drawingml/2006/main">
            <a:off x="6819900" y="207645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 204 I BGB</a:t>
            </a:r>
          </a:p>
        </p:txBody>
      </p:sp>
      <p:sp>
        <p:nvSpPr>
          <p:cNvPr id="12" name="">
            <a:extLst xmlns:a="http://schemas.openxmlformats.org/drawingml/2006/main">
              <a:ext uri="{FF2B5EF4-FFF2-40B4-BE49-F238E27FC236}">
                <a16:creationId xmlns:a16="http://schemas.microsoft.com/office/drawing/2014/main" id="{82E7E947-6A8D-482E-A9EA-D437E72C8B18}"/>
              </a:ext>
            </a:extLst>
          </p:cNvPr>
          <p:cNvSpPr>
            <a:spLocks xmlns:a="http://schemas.openxmlformats.org/drawingml/2006/main" noGrp="1"/>
          </p:cNvSpPr>
          <p:nvPr/>
        </p:nvSpPr>
        <p:spPr>
          <a:xfrm xmlns:a="http://schemas.openxmlformats.org/drawingml/2006/main">
            <a:off x="8362950" y="2057400"/>
            <a:ext cx="2838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Rechtsverfolgung · Auszug</a:t>
            </a:r>
          </a:p>
        </p:txBody>
      </p:sp>
      <p:sp>
        <p:nvSpPr>
          <p:cNvPr id="13" name="">
            <a:extLst xmlns:a="http://schemas.openxmlformats.org/drawingml/2006/main">
              <a:ext uri="{FF2B5EF4-FFF2-40B4-BE49-F238E27FC236}">
                <a16:creationId xmlns:a16="http://schemas.microsoft.com/office/drawing/2014/main" id="{ECFF8C5B-6EEF-4577-A491-9B472FB5E699}"/>
              </a:ext>
            </a:extLst>
          </p:cNvPr>
          <p:cNvSpPr>
            <a:spLocks xmlns:a="http://schemas.openxmlformats.org/drawingml/2006/main" noGrp="1"/>
          </p:cNvSpPr>
          <p:nvPr/>
        </p:nvSpPr>
        <p:spPr>
          <a:xfrm xmlns:a="http://schemas.openxmlformats.org/drawingml/2006/main">
            <a:off x="6858000" y="2609850"/>
            <a:ext cx="4305300" cy="2533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8">
                <a:solidFill>
                  <a:srgbClr val="15232B"/>
                </a:solidFill>
              </a:defRPr>
            </a:pPr>
            <a:r>
              <a:rPr sz="1148">
                <a:solidFill>
                  <a:srgbClr val="15232B"/>
                </a:solidFill>
              </a:rPr>
              <a:t>Die Verjährung wird insbesondere gehemmt durch Erhebung der Leistungs- oder Feststellungsklage, Zustellung des Mahnbescheids und – bei den anerkannten Stellen – durch Antrag auf außergerichtliche Streitbeilegung oder Begutachtung, soweit die gesetzlichen Voraussetzungen erfüllt sind.</a:t>
            </a:r>
          </a:p>
        </p:txBody>
      </p:sp>
      <p:sp>
        <p:nvSpPr>
          <p:cNvPr id="14" name="">
            <a:extLst xmlns:a="http://schemas.openxmlformats.org/drawingml/2006/main">
              <a:ext uri="{FF2B5EF4-FFF2-40B4-BE49-F238E27FC236}">
                <a16:creationId xmlns:a16="http://schemas.microsoft.com/office/drawing/2014/main" id="{8738FD40-00F6-4C1E-9A4F-90B8538A7208}"/>
              </a:ext>
            </a:extLst>
          </p:cNvPr>
          <p:cNvSpPr>
            <a:spLocks xmlns:a="http://schemas.openxmlformats.org/drawingml/2006/main" noGrp="1"/>
          </p:cNvSpPr>
          <p:nvPr/>
        </p:nvSpPr>
        <p:spPr>
          <a:xfrm xmlns:a="http://schemas.openxmlformats.org/drawingml/2006/main">
            <a:off x="1809750" y="5619750"/>
            <a:ext cx="9525000" cy="419100"/>
          </a:xfrm>
          <a:prstGeom xmlns:a="http://schemas.openxmlformats.org/drawingml/2006/main" prst="roundRect">
            <a:avLst>
              <a:gd name="adj" fmla="val 18182"/>
            </a:avLst>
          </a:prstGeom>
          <a:noFill xmlns:a="http://schemas.openxmlformats.org/drawingml/2006/main"/>
          <a:ln xmlns:a="http://schemas.openxmlformats.org/drawingml/2006/main" w="11430">
            <a:solidFill>
              <a:srgbClr val="00B2BB"/>
            </a:solidFill>
            <a:prstDash val="solid"/>
          </a:ln>
        </p:spPr>
      </p:sp>
      <p:sp>
        <p:nvSpPr>
          <p:cNvPr id="15" name="">
            <a:extLst xmlns:a="http://schemas.openxmlformats.org/drawingml/2006/main">
              <a:ext uri="{FF2B5EF4-FFF2-40B4-BE49-F238E27FC236}">
                <a16:creationId xmlns:a16="http://schemas.microsoft.com/office/drawing/2014/main" id="{7D29CDCB-4144-4187-A504-06521734E47C}"/>
              </a:ext>
            </a:extLst>
          </p:cNvPr>
          <p:cNvSpPr>
            <a:spLocks xmlns:a="http://schemas.openxmlformats.org/drawingml/2006/main" noGrp="1"/>
          </p:cNvSpPr>
          <p:nvPr/>
        </p:nvSpPr>
        <p:spPr>
          <a:xfrm xmlns:a="http://schemas.openxmlformats.org/drawingml/2006/main">
            <a:off x="1962150" y="5638800"/>
            <a:ext cx="9220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13" b="1">
                <a:solidFill>
                  <a:srgbClr val="003F6B"/>
                </a:solidFill>
              </a:defRPr>
            </a:pPr>
            <a:r>
              <a:rPr sz="1013" b="1">
                <a:solidFill>
                  <a:srgbClr val="003F6B"/>
                </a:solidFill>
              </a:rPr>
              <a:t>Praxislesart: Nicht auf informelle Hoffnung verlassen: Hemmungstatbestand, Beginn und Ende schriftlich festhalten.</a:t>
            </a:r>
          </a:p>
        </p:txBody>
      </p:sp>
      <p:sp>
        <p:nvSpPr>
          <p:cNvPr id="16" name="">
            <a:extLst xmlns:a="http://schemas.openxmlformats.org/drawingml/2006/main">
              <a:ext uri="{FF2B5EF4-FFF2-40B4-BE49-F238E27FC236}">
                <a16:creationId xmlns:a16="http://schemas.microsoft.com/office/drawing/2014/main" id="{38C5E814-986B-4AB2-BBBD-5C555CC34C8F}"/>
              </a:ext>
            </a:extLst>
          </p:cNvPr>
          <p:cNvSpPr>
            <a:spLocks xmlns:a="http://schemas.openxmlformats.org/drawingml/2006/main" noGrp="1"/>
          </p:cNvSpPr>
          <p:nvPr/>
        </p:nvSpPr>
        <p:spPr>
          <a:xfrm xmlns:a="http://schemas.openxmlformats.org/drawingml/2006/main">
            <a:off x="1809750" y="535305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05">
                <a:solidFill>
                  <a:srgbClr val="667680"/>
                </a:solidFill>
              </a:defRPr>
            </a:pPr>
            <a:r>
              <a:rPr sz="705">
                <a:solidFill>
                  <a:srgbClr val="667680"/>
                </a:solidFill>
              </a:rPr>
              <a:t>BMJ/BfJ, gesetze-im-internet.de/bgb/__203.html und /__204.html · Abruf/Stand: 20.08.2026 · https://pubmed.ncbi.nlm.nih.gov</a:t>
            </a:r>
          </a:p>
        </p:txBody>
      </p:sp>
    </p:spTree>
    <p:extLst>
      <p:ext uri="{BB962C8B-B14F-4D97-AF65-F5344CB8AC3E}">
        <p14:creationId xmlns:p14="http://schemas.microsoft.com/office/powerpoint/2010/main" val="43637646"/>
      </p:ext>
    </p:extLst>
  </p:cSld>
</p:sld>
</file>

<file path=ppt/slides/slide161.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MD-Gutachten: realistische Erwartung an den außergerichtlichen Weg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WISSENSCHAFTLICHE EVIDENZ</a:t>
            </a:r>
            <a:endParaRPr/>
          </a:p>
        </p:txBody>
      </p:sp>
      <p:sp>
        <p:nvSpPr>
          <p:cNvPr id="4" name="">
            <a:extLst xmlns:a="http://schemas.openxmlformats.org/drawingml/2006/main">
              <a:ext uri="{FF2B5EF4-FFF2-40B4-BE49-F238E27FC236}">
                <a16:creationId xmlns:a16="http://schemas.microsoft.com/office/drawing/2014/main" id="{46C3B563-B68D-4847-9455-47C14A4CD472}"/>
              </a:ext>
            </a:extLst>
          </p:cNvPr>
          <p:cNvSpPr>
            <a:spLocks xmlns:a="http://schemas.openxmlformats.org/drawingml/2006/main" noGrp="1"/>
          </p:cNvSpPr>
          <p:nvPr/>
        </p:nvSpPr>
        <p:spPr>
          <a:xfrm xmlns:a="http://schemas.openxmlformats.org/drawingml/2006/main">
            <a:off x="1809750" y="1962150"/>
            <a:ext cx="2381250" cy="1428750"/>
          </a:xfrm>
          <a:prstGeom xmlns:a="http://schemas.openxmlformats.org/drawingml/2006/main" prst="roundRect">
            <a:avLst>
              <a:gd name="adj" fmla="val 5333"/>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E24A283E-C167-489F-9577-59B616A6BACC}"/>
              </a:ext>
            </a:extLst>
          </p:cNvPr>
          <p:cNvSpPr>
            <a:spLocks xmlns:a="http://schemas.openxmlformats.org/drawingml/2006/main" noGrp="1"/>
          </p:cNvSpPr>
          <p:nvPr/>
        </p:nvSpPr>
        <p:spPr>
          <a:xfrm xmlns:a="http://schemas.openxmlformats.org/drawingml/2006/main">
            <a:off x="1981200" y="2095500"/>
            <a:ext cx="20383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FFFFFF"/>
                </a:solidFill>
              </a:defRPr>
            </a:pPr>
            <a:r>
              <a:rPr sz="2550" b="1">
                <a:solidFill>
                  <a:srgbClr val="FFFFFF"/>
                </a:solidFill>
              </a:rPr>
              <a:t>23,0 %</a:t>
            </a:r>
          </a:p>
        </p:txBody>
      </p:sp>
      <p:sp>
        <p:nvSpPr>
          <p:cNvPr id="6" name="">
            <a:extLst xmlns:a="http://schemas.openxmlformats.org/drawingml/2006/main">
              <a:ext uri="{FF2B5EF4-FFF2-40B4-BE49-F238E27FC236}">
                <a16:creationId xmlns:a16="http://schemas.microsoft.com/office/drawing/2014/main" id="{7E4A4339-4DF7-4C00-BC73-FE9FDCF68FC5}"/>
              </a:ext>
            </a:extLst>
          </p:cNvPr>
          <p:cNvSpPr>
            <a:spLocks xmlns:a="http://schemas.openxmlformats.org/drawingml/2006/main" noGrp="1"/>
          </p:cNvSpPr>
          <p:nvPr/>
        </p:nvSpPr>
        <p:spPr>
          <a:xfrm xmlns:a="http://schemas.openxmlformats.org/drawingml/2006/main">
            <a:off x="1981200" y="2762250"/>
            <a:ext cx="2038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88">
                <a:solidFill>
                  <a:srgbClr val="FFFFFF"/>
                </a:solidFill>
              </a:defRPr>
            </a:pPr>
            <a:r>
              <a:rPr sz="1088">
                <a:solidFill>
                  <a:srgbClr val="FFFFFF"/>
                </a:solidFill>
              </a:rPr>
              <a:t>Fehler kausal bestätigt</a:t>
            </a:r>
          </a:p>
        </p:txBody>
      </p:sp>
      <p:sp>
        <p:nvSpPr>
          <p:cNvPr id="7" name="">
            <a:extLst xmlns:a="http://schemas.openxmlformats.org/drawingml/2006/main">
              <a:ext uri="{FF2B5EF4-FFF2-40B4-BE49-F238E27FC236}">
                <a16:creationId xmlns:a16="http://schemas.microsoft.com/office/drawing/2014/main" id="{FBF3680D-372E-4B89-BE45-0ECD170C3386}"/>
              </a:ext>
            </a:extLst>
          </p:cNvPr>
          <p:cNvSpPr>
            <a:spLocks xmlns:a="http://schemas.openxmlformats.org/drawingml/2006/main" noGrp="1"/>
          </p:cNvSpPr>
          <p:nvPr/>
        </p:nvSpPr>
        <p:spPr>
          <a:xfrm xmlns:a="http://schemas.openxmlformats.org/drawingml/2006/main">
            <a:off x="4495800" y="1981200"/>
            <a:ext cx="683895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500" b="1">
                <a:solidFill>
                  <a:srgbClr val="003F6B"/>
                </a:solidFill>
              </a:defRPr>
            </a:pPr>
            <a:r>
              <a:rPr sz="1500" b="1">
                <a:solidFill>
                  <a:srgbClr val="003F6B"/>
                </a:solidFill>
              </a:rPr>
              <a:t>Von 12.304 begutachteten Verdachtsfällen 2024 wurde in 2.825 Fällen ein kausaler Behandlungsfehler bestätigt. 69,7 % endeten ohne festgestellten Behandlungsfehler.</a:t>
            </a:r>
          </a:p>
        </p:txBody>
      </p:sp>
      <p:sp>
        <p:nvSpPr>
          <p:cNvPr id="8" name="">
            <a:extLst xmlns:a="http://schemas.openxmlformats.org/drawingml/2006/main">
              <a:ext uri="{FF2B5EF4-FFF2-40B4-BE49-F238E27FC236}">
                <a16:creationId xmlns:a16="http://schemas.microsoft.com/office/drawing/2014/main" id="{8950CAED-46CA-4FA0-96D2-4D34C77B60CA}"/>
              </a:ext>
            </a:extLst>
          </p:cNvPr>
          <p:cNvSpPr>
            <a:spLocks xmlns:a="http://schemas.openxmlformats.org/drawingml/2006/main" noGrp="1"/>
          </p:cNvSpPr>
          <p:nvPr/>
        </p:nvSpPr>
        <p:spPr>
          <a:xfrm xmlns:a="http://schemas.openxmlformats.org/drawingml/2006/main">
            <a:off x="1809750" y="3638550"/>
            <a:ext cx="133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40" b="1">
                <a:solidFill>
                  <a:srgbClr val="003F6B"/>
                </a:solidFill>
              </a:defRPr>
            </a:pPr>
            <a:r>
              <a:rPr sz="1140" b="1">
                <a:solidFill>
                  <a:srgbClr val="003F6B"/>
                </a:solidFill>
              </a:rPr>
              <a:t>Studientyp</a:t>
            </a:r>
          </a:p>
        </p:txBody>
      </p:sp>
      <p:sp>
        <p:nvSpPr>
          <p:cNvPr id="9" name="">
            <a:extLst xmlns:a="http://schemas.openxmlformats.org/drawingml/2006/main">
              <a:ext uri="{FF2B5EF4-FFF2-40B4-BE49-F238E27FC236}">
                <a16:creationId xmlns:a16="http://schemas.microsoft.com/office/drawing/2014/main" id="{0CABA819-1903-479B-A449-F7AC1CA60A23}"/>
              </a:ext>
            </a:extLst>
          </p:cNvPr>
          <p:cNvSpPr>
            <a:spLocks xmlns:a="http://schemas.openxmlformats.org/drawingml/2006/main" noGrp="1"/>
          </p:cNvSpPr>
          <p:nvPr/>
        </p:nvSpPr>
        <p:spPr>
          <a:xfrm xmlns:a="http://schemas.openxmlformats.org/drawingml/2006/main">
            <a:off x="3276600" y="3638550"/>
            <a:ext cx="805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Deskriptive Vollerhebung der von Medizinischen Diensten begutachteten Fälle.</a:t>
            </a:r>
          </a:p>
        </p:txBody>
      </p:sp>
      <p:sp>
        <p:nvSpPr>
          <p:cNvPr id="10" name="">
            <a:extLst xmlns:a="http://schemas.openxmlformats.org/drawingml/2006/main">
              <a:ext uri="{FF2B5EF4-FFF2-40B4-BE49-F238E27FC236}">
                <a16:creationId xmlns:a16="http://schemas.microsoft.com/office/drawing/2014/main" id="{64B125A2-D6F4-405A-8DCC-7723DF08EA66}"/>
              </a:ext>
            </a:extLst>
          </p:cNvPr>
          <p:cNvSpPr>
            <a:spLocks xmlns:a="http://schemas.openxmlformats.org/drawingml/2006/main" noGrp="1"/>
          </p:cNvSpPr>
          <p:nvPr/>
        </p:nvSpPr>
        <p:spPr>
          <a:xfrm xmlns:a="http://schemas.openxmlformats.org/drawingml/2006/main">
            <a:off x="1809750" y="4257675"/>
            <a:ext cx="133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40" b="1">
                <a:solidFill>
                  <a:srgbClr val="003F6B"/>
                </a:solidFill>
              </a:defRPr>
            </a:pPr>
            <a:r>
              <a:rPr sz="1140" b="1">
                <a:solidFill>
                  <a:srgbClr val="003F6B"/>
                </a:solidFill>
              </a:rPr>
              <a:t>Grenze</a:t>
            </a:r>
          </a:p>
        </p:txBody>
      </p:sp>
      <p:sp>
        <p:nvSpPr>
          <p:cNvPr id="11" name="">
            <a:extLst xmlns:a="http://schemas.openxmlformats.org/drawingml/2006/main">
              <a:ext uri="{FF2B5EF4-FFF2-40B4-BE49-F238E27FC236}">
                <a16:creationId xmlns:a16="http://schemas.microsoft.com/office/drawing/2014/main" id="{7A8FF42F-A769-4395-BB96-D4A8856A3EA3}"/>
              </a:ext>
            </a:extLst>
          </p:cNvPr>
          <p:cNvSpPr>
            <a:spLocks xmlns:a="http://schemas.openxmlformats.org/drawingml/2006/main" noGrp="1"/>
          </p:cNvSpPr>
          <p:nvPr/>
        </p:nvSpPr>
        <p:spPr>
          <a:xfrm xmlns:a="http://schemas.openxmlformats.org/drawingml/2006/main">
            <a:off x="3276600" y="4257675"/>
            <a:ext cx="805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Keine repräsentative Inzidenz; Auswahl durch Antrag, Fachgebiete und Erkennbarkeit beeinflusst.</a:t>
            </a:r>
          </a:p>
        </p:txBody>
      </p:sp>
      <p:sp>
        <p:nvSpPr>
          <p:cNvPr id="12" name="">
            <a:extLst xmlns:a="http://schemas.openxmlformats.org/drawingml/2006/main">
              <a:ext uri="{FF2B5EF4-FFF2-40B4-BE49-F238E27FC236}">
                <a16:creationId xmlns:a16="http://schemas.microsoft.com/office/drawing/2014/main" id="{43ED0967-0E88-4407-80DC-EE81AA4CDD09}"/>
              </a:ext>
            </a:extLst>
          </p:cNvPr>
          <p:cNvSpPr>
            <a:spLocks xmlns:a="http://schemas.openxmlformats.org/drawingml/2006/main" noGrp="1"/>
          </p:cNvSpPr>
          <p:nvPr/>
        </p:nvSpPr>
        <p:spPr>
          <a:xfrm xmlns:a="http://schemas.openxmlformats.org/drawingml/2006/main">
            <a:off x="1809750" y="4876800"/>
            <a:ext cx="133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40" b="1">
                <a:solidFill>
                  <a:srgbClr val="003F6B"/>
                </a:solidFill>
              </a:defRPr>
            </a:pPr>
            <a:r>
              <a:rPr sz="1140" b="1">
                <a:solidFill>
                  <a:srgbClr val="003F6B"/>
                </a:solidFill>
              </a:rPr>
              <a:t>Konsequenz</a:t>
            </a:r>
          </a:p>
        </p:txBody>
      </p:sp>
      <p:sp>
        <p:nvSpPr>
          <p:cNvPr id="13" name="">
            <a:extLst xmlns:a="http://schemas.openxmlformats.org/drawingml/2006/main">
              <a:ext uri="{FF2B5EF4-FFF2-40B4-BE49-F238E27FC236}">
                <a16:creationId xmlns:a16="http://schemas.microsoft.com/office/drawing/2014/main" id="{4432F229-4BB3-40D1-9105-25C6B9A91C85}"/>
              </a:ext>
            </a:extLst>
          </p:cNvPr>
          <p:cNvSpPr>
            <a:spLocks xmlns:a="http://schemas.openxmlformats.org/drawingml/2006/main" noGrp="1"/>
          </p:cNvSpPr>
          <p:nvPr/>
        </p:nvSpPr>
        <p:spPr>
          <a:xfrm xmlns:a="http://schemas.openxmlformats.org/drawingml/2006/main">
            <a:off x="3276600" y="4876800"/>
            <a:ext cx="805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Ein negatives Gutachten beendet Rechte nicht automatisch; ein positives Gutachten schafft noch keinen vollstreckbaren Titel.</a:t>
            </a:r>
          </a:p>
        </p:txBody>
      </p:sp>
      <p:sp>
        <p:nvSpPr>
          <p:cNvPr id="14" name="">
            <a:extLst xmlns:a="http://schemas.openxmlformats.org/drawingml/2006/main">
              <a:ext uri="{FF2B5EF4-FFF2-40B4-BE49-F238E27FC236}">
                <a16:creationId xmlns:a16="http://schemas.microsoft.com/office/drawing/2014/main" id="{79242A3C-AB88-4206-B999-AC2656095DF4}"/>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20">
                <a:solidFill>
                  <a:srgbClr val="667680"/>
                </a:solidFill>
              </a:defRPr>
            </a:pPr>
            <a:r>
              <a:rPr sz="720">
                <a:solidFill>
                  <a:srgbClr val="667680"/>
                </a:solidFill>
              </a:rPr>
              <a:t>Medizinischer Dienst Bund, Statistik 2024, md-bund.de/statistik/behandlungsfehlergutachten.html · https://md-bund.de/statistik/behandlungsfehlergutachten.html</a:t>
            </a:r>
          </a:p>
        </p:txBody>
      </p:sp>
    </p:spTree>
    <p:extLst>
      <p:ext uri="{BB962C8B-B14F-4D97-AF65-F5344CB8AC3E}">
        <p14:creationId xmlns:p14="http://schemas.microsoft.com/office/powerpoint/2010/main" val="43637646"/>
      </p:ext>
    </p:extLst>
  </p:cSld>
</p:sld>
</file>

<file path=ppt/slides/slide162.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Außergerichtliche Wege im Überblick</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VERFAHREN VERSTEHEN</a:t>
            </a:r>
            <a:endParaRPr/>
          </a:p>
        </p:txBody>
      </p:sp>
      <p:sp>
        <p:nvSpPr>
          <p:cNvPr id="4" name="">
            <a:extLst xmlns:a="http://schemas.openxmlformats.org/drawingml/2006/main">
              <a:ext uri="{FF2B5EF4-FFF2-40B4-BE49-F238E27FC236}">
                <a16:creationId xmlns:a16="http://schemas.microsoft.com/office/drawing/2014/main" id="{3E768048-A2CF-4380-9AB5-AB84DB64930D}"/>
              </a:ext>
            </a:extLst>
          </p:cNvPr>
          <p:cNvSpPr>
            <a:spLocks xmlns:a="http://schemas.openxmlformats.org/drawingml/2006/main" noGrp="1"/>
          </p:cNvSpPr>
          <p:nvPr/>
        </p:nvSpPr>
        <p:spPr>
          <a:xfrm xmlns:a="http://schemas.openxmlformats.org/drawingml/2006/main">
            <a:off x="1809750" y="1885950"/>
            <a:ext cx="9525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15">
                <a:solidFill>
                  <a:srgbClr val="667680"/>
                </a:solidFill>
              </a:defRPr>
            </a:pPr>
            <a:r>
              <a:rPr sz="1215">
                <a:solidFill>
                  <a:srgbClr val="667680"/>
                </a:solidFill>
              </a:rPr>
              <a:t>Vor einer Klage können mehrere Stellen Tatsachen, Haftung oder Regulierung prüfen.</a:t>
            </a:r>
          </a:p>
        </p:txBody>
      </p:sp>
      <p:sp>
        <p:nvSpPr>
          <p:cNvPr id="5" name="">
            <a:extLst xmlns:a="http://schemas.openxmlformats.org/drawingml/2006/main">
              <a:ext uri="{FF2B5EF4-FFF2-40B4-BE49-F238E27FC236}">
                <a16:creationId xmlns:a16="http://schemas.microsoft.com/office/drawing/2014/main" id="{625FF07D-D05F-41C7-9683-CE19FED2DA3D}"/>
              </a:ext>
            </a:extLst>
          </p:cNvPr>
          <p:cNvSpPr>
            <a:spLocks xmlns:a="http://schemas.openxmlformats.org/drawingml/2006/main" noGrp="1"/>
          </p:cNvSpPr>
          <p:nvPr/>
        </p:nvSpPr>
        <p:spPr>
          <a:xfrm xmlns:a="http://schemas.openxmlformats.org/drawingml/2006/main">
            <a:off x="1981200" y="2952750"/>
            <a:ext cx="9182100" cy="0"/>
          </a:xfrm>
          <a:prstGeom xmlns:a="http://schemas.openxmlformats.org/drawingml/2006/main" prst="line">
            <a:avLst/>
          </a:prstGeom>
          <a:noFill xmlns:a="http://schemas.openxmlformats.org/drawingml/2006/main"/>
          <a:ln xmlns:a="http://schemas.openxmlformats.org/drawingml/2006/main" w="28575">
            <a:solidFill>
              <a:srgbClr val="B9CAD2"/>
            </a:solidFill>
            <a:prstDash val="solid"/>
          </a:ln>
        </p:spPr>
      </p:sp>
      <p:sp>
        <p:nvSpPr>
          <p:cNvPr id="6" name="">
            <a:extLst xmlns:a="http://schemas.openxmlformats.org/drawingml/2006/main">
              <a:ext uri="{FF2B5EF4-FFF2-40B4-BE49-F238E27FC236}">
                <a16:creationId xmlns:a16="http://schemas.microsoft.com/office/drawing/2014/main" id="{17E9C834-446E-47CE-8D50-3A57DDDB8C6A}"/>
              </a:ext>
            </a:extLst>
          </p:cNvPr>
          <p:cNvSpPr>
            <a:spLocks xmlns:a="http://schemas.openxmlformats.org/drawingml/2006/main" noGrp="1"/>
          </p:cNvSpPr>
          <p:nvPr/>
        </p:nvSpPr>
        <p:spPr>
          <a:xfrm xmlns:a="http://schemas.openxmlformats.org/drawingml/2006/main">
            <a:off x="1809750" y="2495550"/>
            <a:ext cx="1828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Direkte Anfrage</a:t>
            </a:r>
          </a:p>
        </p:txBody>
      </p:sp>
      <p:sp>
        <p:nvSpPr>
          <p:cNvPr id="7" name="">
            <a:extLst xmlns:a="http://schemas.openxmlformats.org/drawingml/2006/main">
              <a:ext uri="{FF2B5EF4-FFF2-40B4-BE49-F238E27FC236}">
                <a16:creationId xmlns:a16="http://schemas.microsoft.com/office/drawing/2014/main" id="{F4B1F5EB-32FD-4DB0-A734-873162DC3ACC}"/>
              </a:ext>
            </a:extLst>
          </p:cNvPr>
          <p:cNvSpPr>
            <a:spLocks xmlns:a="http://schemas.openxmlformats.org/drawingml/2006/main" noGrp="1"/>
          </p:cNvSpPr>
          <p:nvPr/>
        </p:nvSpPr>
        <p:spPr>
          <a:xfrm xmlns:a="http://schemas.openxmlformats.org/drawingml/2006/main">
            <a:off x="2600325" y="2838450"/>
            <a:ext cx="247650" cy="247650"/>
          </a:xfrm>
          <a:prstGeom xmlns:a="http://schemas.openxmlformats.org/drawingml/2006/main" prst="ellipse">
            <a:avLst/>
          </a:prstGeom>
          <a:solidFill xmlns:a="http://schemas.openxmlformats.org/drawingml/2006/main">
            <a:srgbClr val="003F6B"/>
          </a:solidFill>
          <a:ln xmlns:a="http://schemas.openxmlformats.org/drawingml/2006/main" w="19050">
            <a:solidFill>
              <a:srgbClr val="FFFFFF"/>
            </a:solidFill>
            <a:prstDash val="solid"/>
          </a:ln>
        </p:spPr>
      </p:sp>
      <p:sp>
        <p:nvSpPr>
          <p:cNvPr id="8" name="">
            <a:extLst xmlns:a="http://schemas.openxmlformats.org/drawingml/2006/main">
              <a:ext uri="{FF2B5EF4-FFF2-40B4-BE49-F238E27FC236}">
                <a16:creationId xmlns:a16="http://schemas.microsoft.com/office/drawing/2014/main" id="{DA57AABA-6498-4811-8AE5-FCAAB8C73E70}"/>
              </a:ext>
            </a:extLst>
          </p:cNvPr>
          <p:cNvSpPr>
            <a:spLocks xmlns:a="http://schemas.openxmlformats.org/drawingml/2006/main" noGrp="1"/>
          </p:cNvSpPr>
          <p:nvPr/>
        </p:nvSpPr>
        <p:spPr>
          <a:xfrm xmlns:a="http://schemas.openxmlformats.org/drawingml/2006/main">
            <a:off x="1809750" y="3219450"/>
            <a:ext cx="1828800" cy="2000250"/>
          </a:xfrm>
          <a:prstGeom xmlns:a="http://schemas.openxmlformats.org/drawingml/2006/main" prst="roundRect">
            <a:avLst>
              <a:gd name="adj" fmla="val 4167"/>
            </a:avLst>
          </a:prstGeom>
          <a:noFill xmlns:a="http://schemas.openxmlformats.org/drawingml/2006/main"/>
          <a:ln xmlns:a="http://schemas.openxmlformats.org/drawingml/2006/main" w="9525">
            <a:solidFill>
              <a:srgbClr val="00B2BB"/>
            </a:solidFill>
            <a:prstDash val="solid"/>
          </a:ln>
        </p:spPr>
      </p:sp>
      <p:sp>
        <p:nvSpPr>
          <p:cNvPr id="9" name="">
            <a:extLst xmlns:a="http://schemas.openxmlformats.org/drawingml/2006/main">
              <a:ext uri="{FF2B5EF4-FFF2-40B4-BE49-F238E27FC236}">
                <a16:creationId xmlns:a16="http://schemas.microsoft.com/office/drawing/2014/main" id="{0D07BD8D-13D4-489A-AA70-1A9B6F958672}"/>
              </a:ext>
            </a:extLst>
          </p:cNvPr>
          <p:cNvSpPr>
            <a:spLocks xmlns:a="http://schemas.openxmlformats.org/drawingml/2006/main" noGrp="1"/>
          </p:cNvSpPr>
          <p:nvPr/>
        </p:nvSpPr>
        <p:spPr>
          <a:xfrm xmlns:a="http://schemas.openxmlformats.org/drawingml/2006/main">
            <a:off x="1905000" y="3314700"/>
            <a:ext cx="16383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Patientenseite verlangt Akte, Erläuterung und gegebenenfalls Zahlung vom Behandelnden oder Versicherer.</a:t>
            </a:r>
          </a:p>
        </p:txBody>
      </p:sp>
      <p:sp>
        <p:nvSpPr>
          <p:cNvPr id="10" name="">
            <a:extLst xmlns:a="http://schemas.openxmlformats.org/drawingml/2006/main">
              <a:ext uri="{FF2B5EF4-FFF2-40B4-BE49-F238E27FC236}">
                <a16:creationId xmlns:a16="http://schemas.microsoft.com/office/drawing/2014/main" id="{6C66945C-634D-4B10-AF86-4211F8AC33B8}"/>
              </a:ext>
            </a:extLst>
          </p:cNvPr>
          <p:cNvSpPr>
            <a:spLocks xmlns:a="http://schemas.openxmlformats.org/drawingml/2006/main" noGrp="1"/>
          </p:cNvSpPr>
          <p:nvPr/>
        </p:nvSpPr>
        <p:spPr>
          <a:xfrm xmlns:a="http://schemas.openxmlformats.org/drawingml/2006/main">
            <a:off x="3733800" y="2495550"/>
            <a:ext cx="1828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Krankenkasse/MD</a:t>
            </a:r>
          </a:p>
        </p:txBody>
      </p:sp>
      <p:sp>
        <p:nvSpPr>
          <p:cNvPr id="11" name="">
            <a:extLst xmlns:a="http://schemas.openxmlformats.org/drawingml/2006/main">
              <a:ext uri="{FF2B5EF4-FFF2-40B4-BE49-F238E27FC236}">
                <a16:creationId xmlns:a16="http://schemas.microsoft.com/office/drawing/2014/main" id="{E0187032-FB8A-40C3-95C5-402B457F44A1}"/>
              </a:ext>
            </a:extLst>
          </p:cNvPr>
          <p:cNvSpPr>
            <a:spLocks xmlns:a="http://schemas.openxmlformats.org/drawingml/2006/main" noGrp="1"/>
          </p:cNvSpPr>
          <p:nvPr/>
        </p:nvSpPr>
        <p:spPr>
          <a:xfrm xmlns:a="http://schemas.openxmlformats.org/drawingml/2006/main">
            <a:off x="4524375" y="2838450"/>
            <a:ext cx="247650" cy="24765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12" name="">
            <a:extLst xmlns:a="http://schemas.openxmlformats.org/drawingml/2006/main">
              <a:ext uri="{FF2B5EF4-FFF2-40B4-BE49-F238E27FC236}">
                <a16:creationId xmlns:a16="http://schemas.microsoft.com/office/drawing/2014/main" id="{BD234F59-886A-43ED-8208-34247B106CA7}"/>
              </a:ext>
            </a:extLst>
          </p:cNvPr>
          <p:cNvSpPr>
            <a:spLocks xmlns:a="http://schemas.openxmlformats.org/drawingml/2006/main" noGrp="1"/>
          </p:cNvSpPr>
          <p:nvPr/>
        </p:nvSpPr>
        <p:spPr>
          <a:xfrm xmlns:a="http://schemas.openxmlformats.org/drawingml/2006/main">
            <a:off x="3733800" y="3219450"/>
            <a:ext cx="1828800" cy="2000250"/>
          </a:xfrm>
          <a:prstGeom xmlns:a="http://schemas.openxmlformats.org/drawingml/2006/main" prst="roundRect">
            <a:avLst>
              <a:gd name="adj" fmla="val 4167"/>
            </a:avLst>
          </a:prstGeom>
          <a:noFill xmlns:a="http://schemas.openxmlformats.org/drawingml/2006/main"/>
          <a:ln xmlns:a="http://schemas.openxmlformats.org/drawingml/2006/main" w="9525">
            <a:solidFill>
              <a:srgbClr val="003F6B"/>
            </a:solidFill>
            <a:prstDash val="solid"/>
          </a:ln>
        </p:spPr>
      </p:sp>
      <p:sp>
        <p:nvSpPr>
          <p:cNvPr id="13" name="">
            <a:extLst xmlns:a="http://schemas.openxmlformats.org/drawingml/2006/main">
              <a:ext uri="{FF2B5EF4-FFF2-40B4-BE49-F238E27FC236}">
                <a16:creationId xmlns:a16="http://schemas.microsoft.com/office/drawing/2014/main" id="{9621EDBA-8F50-4CD3-A5DB-FC633437AB42}"/>
              </a:ext>
            </a:extLst>
          </p:cNvPr>
          <p:cNvSpPr>
            <a:spLocks xmlns:a="http://schemas.openxmlformats.org/drawingml/2006/main" noGrp="1"/>
          </p:cNvSpPr>
          <p:nvPr/>
        </p:nvSpPr>
        <p:spPr>
          <a:xfrm xmlns:a="http://schemas.openxmlformats.org/drawingml/2006/main">
            <a:off x="3829050" y="3314700"/>
            <a:ext cx="16383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Die Krankenkasse unterstützt unter § 66 SGB V und kann mit Einwilligung Unterlagen sowie eine medizinische Bewertung einholen.</a:t>
            </a:r>
          </a:p>
        </p:txBody>
      </p:sp>
      <p:sp>
        <p:nvSpPr>
          <p:cNvPr id="14" name="">
            <a:extLst xmlns:a="http://schemas.openxmlformats.org/drawingml/2006/main">
              <a:ext uri="{FF2B5EF4-FFF2-40B4-BE49-F238E27FC236}">
                <a16:creationId xmlns:a16="http://schemas.microsoft.com/office/drawing/2014/main" id="{AB7D35D1-441C-4959-89B5-6119DEC9A86D}"/>
              </a:ext>
            </a:extLst>
          </p:cNvPr>
          <p:cNvSpPr>
            <a:spLocks xmlns:a="http://schemas.openxmlformats.org/drawingml/2006/main" noGrp="1"/>
          </p:cNvSpPr>
          <p:nvPr/>
        </p:nvSpPr>
        <p:spPr>
          <a:xfrm xmlns:a="http://schemas.openxmlformats.org/drawingml/2006/main">
            <a:off x="5657850" y="2495550"/>
            <a:ext cx="1828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Schlichtungsstelle</a:t>
            </a:r>
          </a:p>
        </p:txBody>
      </p:sp>
      <p:sp>
        <p:nvSpPr>
          <p:cNvPr id="15" name="">
            <a:extLst xmlns:a="http://schemas.openxmlformats.org/drawingml/2006/main">
              <a:ext uri="{FF2B5EF4-FFF2-40B4-BE49-F238E27FC236}">
                <a16:creationId xmlns:a16="http://schemas.microsoft.com/office/drawing/2014/main" id="{25A0C5B1-C0D7-4BAF-99F3-41EBDCEFAC88}"/>
              </a:ext>
            </a:extLst>
          </p:cNvPr>
          <p:cNvSpPr>
            <a:spLocks xmlns:a="http://schemas.openxmlformats.org/drawingml/2006/main" noGrp="1"/>
          </p:cNvSpPr>
          <p:nvPr/>
        </p:nvSpPr>
        <p:spPr>
          <a:xfrm xmlns:a="http://schemas.openxmlformats.org/drawingml/2006/main">
            <a:off x="6448425" y="2838450"/>
            <a:ext cx="247650" cy="24765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16" name="">
            <a:extLst xmlns:a="http://schemas.openxmlformats.org/drawingml/2006/main">
              <a:ext uri="{FF2B5EF4-FFF2-40B4-BE49-F238E27FC236}">
                <a16:creationId xmlns:a16="http://schemas.microsoft.com/office/drawing/2014/main" id="{75B11B37-8AB7-49C4-846F-276A2B7A337E}"/>
              </a:ext>
            </a:extLst>
          </p:cNvPr>
          <p:cNvSpPr>
            <a:spLocks xmlns:a="http://schemas.openxmlformats.org/drawingml/2006/main" noGrp="1"/>
          </p:cNvSpPr>
          <p:nvPr/>
        </p:nvSpPr>
        <p:spPr>
          <a:xfrm xmlns:a="http://schemas.openxmlformats.org/drawingml/2006/main">
            <a:off x="5657850" y="3219450"/>
            <a:ext cx="1828800" cy="2000250"/>
          </a:xfrm>
          <a:prstGeom xmlns:a="http://schemas.openxmlformats.org/drawingml/2006/main" prst="roundRect">
            <a:avLst>
              <a:gd name="adj" fmla="val 4167"/>
            </a:avLst>
          </a:prstGeom>
          <a:noFill xmlns:a="http://schemas.openxmlformats.org/drawingml/2006/main"/>
          <a:ln xmlns:a="http://schemas.openxmlformats.org/drawingml/2006/main" w="9525">
            <a:solidFill>
              <a:srgbClr val="00B2BB"/>
            </a:solidFill>
            <a:prstDash val="solid"/>
          </a:ln>
        </p:spPr>
      </p:sp>
      <p:sp>
        <p:nvSpPr>
          <p:cNvPr id="17" name="">
            <a:extLst xmlns:a="http://schemas.openxmlformats.org/drawingml/2006/main">
              <a:ext uri="{FF2B5EF4-FFF2-40B4-BE49-F238E27FC236}">
                <a16:creationId xmlns:a16="http://schemas.microsoft.com/office/drawing/2014/main" id="{48E1F697-814C-4EFA-89DD-B8315B6E873F}"/>
              </a:ext>
            </a:extLst>
          </p:cNvPr>
          <p:cNvSpPr>
            <a:spLocks xmlns:a="http://schemas.openxmlformats.org/drawingml/2006/main" noGrp="1"/>
          </p:cNvSpPr>
          <p:nvPr/>
        </p:nvSpPr>
        <p:spPr>
          <a:xfrm xmlns:a="http://schemas.openxmlformats.org/drawingml/2006/main">
            <a:off x="5753100" y="3314700"/>
            <a:ext cx="16383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Die ÄKN bietet ein freiwilliges, neutrales Verfahren mit medizinischer Begutachtung und juristischer Einschätzung.</a:t>
            </a:r>
          </a:p>
        </p:txBody>
      </p:sp>
      <p:sp>
        <p:nvSpPr>
          <p:cNvPr id="18" name="">
            <a:extLst xmlns:a="http://schemas.openxmlformats.org/drawingml/2006/main">
              <a:ext uri="{FF2B5EF4-FFF2-40B4-BE49-F238E27FC236}">
                <a16:creationId xmlns:a16="http://schemas.microsoft.com/office/drawing/2014/main" id="{FE49EAF9-CB44-4BAF-8A91-08CC85424DEF}"/>
              </a:ext>
            </a:extLst>
          </p:cNvPr>
          <p:cNvSpPr>
            <a:spLocks xmlns:a="http://schemas.openxmlformats.org/drawingml/2006/main" noGrp="1"/>
          </p:cNvSpPr>
          <p:nvPr/>
        </p:nvSpPr>
        <p:spPr>
          <a:xfrm xmlns:a="http://schemas.openxmlformats.org/drawingml/2006/main">
            <a:off x="7581900" y="2495550"/>
            <a:ext cx="1828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Versicherungsverhandlung</a:t>
            </a:r>
          </a:p>
        </p:txBody>
      </p:sp>
      <p:sp>
        <p:nvSpPr>
          <p:cNvPr id="19" name="">
            <a:extLst xmlns:a="http://schemas.openxmlformats.org/drawingml/2006/main">
              <a:ext uri="{FF2B5EF4-FFF2-40B4-BE49-F238E27FC236}">
                <a16:creationId xmlns:a16="http://schemas.microsoft.com/office/drawing/2014/main" id="{1E2AB7DC-768F-49C1-84E4-BC305C494498}"/>
              </a:ext>
            </a:extLst>
          </p:cNvPr>
          <p:cNvSpPr>
            <a:spLocks xmlns:a="http://schemas.openxmlformats.org/drawingml/2006/main" noGrp="1"/>
          </p:cNvSpPr>
          <p:nvPr/>
        </p:nvSpPr>
        <p:spPr>
          <a:xfrm xmlns:a="http://schemas.openxmlformats.org/drawingml/2006/main">
            <a:off x="8372475" y="2838450"/>
            <a:ext cx="247650" cy="24765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20" name="">
            <a:extLst xmlns:a="http://schemas.openxmlformats.org/drawingml/2006/main">
              <a:ext uri="{FF2B5EF4-FFF2-40B4-BE49-F238E27FC236}">
                <a16:creationId xmlns:a16="http://schemas.microsoft.com/office/drawing/2014/main" id="{01A7153E-F387-4A46-8CC8-D2381A91CAE1}"/>
              </a:ext>
            </a:extLst>
          </p:cNvPr>
          <p:cNvSpPr>
            <a:spLocks xmlns:a="http://schemas.openxmlformats.org/drawingml/2006/main" noGrp="1"/>
          </p:cNvSpPr>
          <p:nvPr/>
        </p:nvSpPr>
        <p:spPr>
          <a:xfrm xmlns:a="http://schemas.openxmlformats.org/drawingml/2006/main">
            <a:off x="7581900" y="3219450"/>
            <a:ext cx="1828800" cy="2000250"/>
          </a:xfrm>
          <a:prstGeom xmlns:a="http://schemas.openxmlformats.org/drawingml/2006/main" prst="roundRect">
            <a:avLst>
              <a:gd name="adj" fmla="val 4167"/>
            </a:avLst>
          </a:prstGeom>
          <a:noFill xmlns:a="http://schemas.openxmlformats.org/drawingml/2006/main"/>
          <a:ln xmlns:a="http://schemas.openxmlformats.org/drawingml/2006/main" w="9525">
            <a:solidFill>
              <a:srgbClr val="003F6B"/>
            </a:solidFill>
            <a:prstDash val="solid"/>
          </a:ln>
        </p:spPr>
      </p:sp>
      <p:sp>
        <p:nvSpPr>
          <p:cNvPr id="21" name="">
            <a:extLst xmlns:a="http://schemas.openxmlformats.org/drawingml/2006/main">
              <a:ext uri="{FF2B5EF4-FFF2-40B4-BE49-F238E27FC236}">
                <a16:creationId xmlns:a16="http://schemas.microsoft.com/office/drawing/2014/main" id="{D9EEC468-CA21-4991-9753-1B00972785DC}"/>
              </a:ext>
            </a:extLst>
          </p:cNvPr>
          <p:cNvSpPr>
            <a:spLocks xmlns:a="http://schemas.openxmlformats.org/drawingml/2006/main" noGrp="1"/>
          </p:cNvSpPr>
          <p:nvPr/>
        </p:nvSpPr>
        <p:spPr>
          <a:xfrm xmlns:a="http://schemas.openxmlformats.org/drawingml/2006/main">
            <a:off x="7677150" y="3314700"/>
            <a:ext cx="16383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Haftpflichtversicherer prüfen Deckung, Haftungsgrund und Schadenshöhe und verhandeln gegebenenfalls einen Vergleich.</a:t>
            </a:r>
          </a:p>
        </p:txBody>
      </p:sp>
      <p:sp>
        <p:nvSpPr>
          <p:cNvPr id="22" name="">
            <a:extLst xmlns:a="http://schemas.openxmlformats.org/drawingml/2006/main">
              <a:ext uri="{FF2B5EF4-FFF2-40B4-BE49-F238E27FC236}">
                <a16:creationId xmlns:a16="http://schemas.microsoft.com/office/drawing/2014/main" id="{4900A0EB-AA82-4D5A-9683-990A4E121BA9}"/>
              </a:ext>
            </a:extLst>
          </p:cNvPr>
          <p:cNvSpPr>
            <a:spLocks xmlns:a="http://schemas.openxmlformats.org/drawingml/2006/main" noGrp="1"/>
          </p:cNvSpPr>
          <p:nvPr/>
        </p:nvSpPr>
        <p:spPr>
          <a:xfrm xmlns:a="http://schemas.openxmlformats.org/drawingml/2006/main">
            <a:off x="9505950" y="2495550"/>
            <a:ext cx="1828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Klage</a:t>
            </a:r>
          </a:p>
        </p:txBody>
      </p:sp>
      <p:sp>
        <p:nvSpPr>
          <p:cNvPr id="23" name="">
            <a:extLst xmlns:a="http://schemas.openxmlformats.org/drawingml/2006/main">
              <a:ext uri="{FF2B5EF4-FFF2-40B4-BE49-F238E27FC236}">
                <a16:creationId xmlns:a16="http://schemas.microsoft.com/office/drawing/2014/main" id="{3DC88A9C-5D7D-4655-B2FE-E0751B2D63EB}"/>
              </a:ext>
            </a:extLst>
          </p:cNvPr>
          <p:cNvSpPr>
            <a:spLocks xmlns:a="http://schemas.openxmlformats.org/drawingml/2006/main" noGrp="1"/>
          </p:cNvSpPr>
          <p:nvPr/>
        </p:nvSpPr>
        <p:spPr>
          <a:xfrm xmlns:a="http://schemas.openxmlformats.org/drawingml/2006/main">
            <a:off x="10296525" y="2838450"/>
            <a:ext cx="247650" cy="24765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24" name="">
            <a:extLst xmlns:a="http://schemas.openxmlformats.org/drawingml/2006/main">
              <a:ext uri="{FF2B5EF4-FFF2-40B4-BE49-F238E27FC236}">
                <a16:creationId xmlns:a16="http://schemas.microsoft.com/office/drawing/2014/main" id="{4531DB01-6F57-4897-8AE3-24E73F49E080}"/>
              </a:ext>
            </a:extLst>
          </p:cNvPr>
          <p:cNvSpPr>
            <a:spLocks xmlns:a="http://schemas.openxmlformats.org/drawingml/2006/main" noGrp="1"/>
          </p:cNvSpPr>
          <p:nvPr/>
        </p:nvSpPr>
        <p:spPr>
          <a:xfrm xmlns:a="http://schemas.openxmlformats.org/drawingml/2006/main">
            <a:off x="9505950" y="3219450"/>
            <a:ext cx="1828800" cy="2000250"/>
          </a:xfrm>
          <a:prstGeom xmlns:a="http://schemas.openxmlformats.org/drawingml/2006/main" prst="roundRect">
            <a:avLst>
              <a:gd name="adj" fmla="val 4167"/>
            </a:avLst>
          </a:prstGeom>
          <a:noFill xmlns:a="http://schemas.openxmlformats.org/drawingml/2006/main"/>
          <a:ln xmlns:a="http://schemas.openxmlformats.org/drawingml/2006/main" w="9525">
            <a:solidFill>
              <a:srgbClr val="00B2BB"/>
            </a:solidFill>
            <a:prstDash val="solid"/>
          </a:ln>
        </p:spPr>
      </p:sp>
      <p:sp>
        <p:nvSpPr>
          <p:cNvPr id="25" name="">
            <a:extLst xmlns:a="http://schemas.openxmlformats.org/drawingml/2006/main">
              <a:ext uri="{FF2B5EF4-FFF2-40B4-BE49-F238E27FC236}">
                <a16:creationId xmlns:a16="http://schemas.microsoft.com/office/drawing/2014/main" id="{EEE103DE-CC78-4B96-96F0-07E50F453C19}"/>
              </a:ext>
            </a:extLst>
          </p:cNvPr>
          <p:cNvSpPr>
            <a:spLocks xmlns:a="http://schemas.openxmlformats.org/drawingml/2006/main" noGrp="1"/>
          </p:cNvSpPr>
          <p:nvPr/>
        </p:nvSpPr>
        <p:spPr>
          <a:xfrm xmlns:a="http://schemas.openxmlformats.org/drawingml/2006/main">
            <a:off x="9601200" y="3314700"/>
            <a:ext cx="16383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Wenn Aufklärung oder Einigung scheitern, bleibt der Zivilprozess; Verjährung muss auf jedem Weg gesichert werden.</a:t>
            </a:r>
          </a:p>
        </p:txBody>
      </p:sp>
      <p:sp>
        <p:nvSpPr>
          <p:cNvPr id="26" name="">
            <a:extLst xmlns:a="http://schemas.openxmlformats.org/drawingml/2006/main">
              <a:ext uri="{FF2B5EF4-FFF2-40B4-BE49-F238E27FC236}">
                <a16:creationId xmlns:a16="http://schemas.microsoft.com/office/drawing/2014/main" id="{C48CB9C3-3B90-441D-9CD4-D1B1E952944D}"/>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7" name="">
            <a:extLst xmlns:a="http://schemas.openxmlformats.org/drawingml/2006/main">
              <a:ext uri="{FF2B5EF4-FFF2-40B4-BE49-F238E27FC236}">
                <a16:creationId xmlns:a16="http://schemas.microsoft.com/office/drawing/2014/main" id="{24D77460-5E7F-40AB-95F3-DD262E79109A}"/>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Außergerichtlich heißt nicht rechtsfrei: Zuständigkeit, Einwilligung, Verjährung und Beweis bleiben zentral.</a:t>
            </a:r>
          </a:p>
        </p:txBody>
      </p:sp>
    </p:spTree>
    <p:extLst>
      <p:ext uri="{BB962C8B-B14F-4D97-AF65-F5344CB8AC3E}">
        <p14:creationId xmlns:p14="http://schemas.microsoft.com/office/powerpoint/2010/main" val="43637646"/>
      </p:ext>
    </p:extLst>
  </p:cSld>
</p:sld>
</file>

<file path=ppt/slides/slide163.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 66 SGB V in der Praxis</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NORM IM FOKUS · § 66 SGB V</a:t>
            </a:r>
            <a:endParaRPr/>
          </a:p>
        </p:txBody>
      </p:sp>
      <p:sp>
        <p:nvSpPr>
          <p:cNvPr id="4" name="">
            <a:extLst xmlns:a="http://schemas.openxmlformats.org/drawingml/2006/main">
              <a:ext uri="{FF2B5EF4-FFF2-40B4-BE49-F238E27FC236}">
                <a16:creationId xmlns:a16="http://schemas.microsoft.com/office/drawing/2014/main" id="{DDF5D077-06E2-483A-8B73-B974467815A5}"/>
              </a:ext>
            </a:extLst>
          </p:cNvPr>
          <p:cNvSpPr>
            <a:spLocks xmlns:a="http://schemas.openxmlformats.org/drawingml/2006/main" noGrp="1"/>
          </p:cNvSpPr>
          <p:nvPr/>
        </p:nvSpPr>
        <p:spPr>
          <a:xfrm xmlns:a="http://schemas.openxmlformats.org/drawingml/2006/main">
            <a:off x="1809750" y="1924050"/>
            <a:ext cx="2286000" cy="704850"/>
          </a:xfrm>
          <a:prstGeom xmlns:a="http://schemas.openxmlformats.org/drawingml/2006/main" prst="roundRect">
            <a:avLst>
              <a:gd name="adj" fmla="val 10811"/>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4C923E42-A966-41D1-AD26-23BC83AD915B}"/>
              </a:ext>
            </a:extLst>
          </p:cNvPr>
          <p:cNvSpPr>
            <a:spLocks xmlns:a="http://schemas.openxmlformats.org/drawingml/2006/main" noGrp="1"/>
          </p:cNvSpPr>
          <p:nvPr/>
        </p:nvSpPr>
        <p:spPr>
          <a:xfrm xmlns:a="http://schemas.openxmlformats.org/drawingml/2006/main">
            <a:off x="1924050" y="1971675"/>
            <a:ext cx="2057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75" b="1">
                <a:solidFill>
                  <a:srgbClr val="FFFFFF"/>
                </a:solidFill>
              </a:defRPr>
            </a:pPr>
            <a:r>
              <a:rPr sz="1875" b="1">
                <a:solidFill>
                  <a:srgbClr val="FFFFFF"/>
                </a:solidFill>
              </a:rPr>
              <a:t>§ 66 SGB V</a:t>
            </a:r>
          </a:p>
        </p:txBody>
      </p:sp>
      <p:sp>
        <p:nvSpPr>
          <p:cNvPr id="6" name="">
            <a:extLst xmlns:a="http://schemas.openxmlformats.org/drawingml/2006/main">
              <a:ext uri="{FF2B5EF4-FFF2-40B4-BE49-F238E27FC236}">
                <a16:creationId xmlns:a16="http://schemas.microsoft.com/office/drawing/2014/main" id="{A863D75E-0675-4965-95BE-C97CD03D965B}"/>
              </a:ext>
            </a:extLst>
          </p:cNvPr>
          <p:cNvSpPr>
            <a:spLocks xmlns:a="http://schemas.openxmlformats.org/drawingml/2006/main" noGrp="1"/>
          </p:cNvSpPr>
          <p:nvPr/>
        </p:nvSpPr>
        <p:spPr>
          <a:xfrm xmlns:a="http://schemas.openxmlformats.org/drawingml/2006/main">
            <a:off x="4362450" y="1924050"/>
            <a:ext cx="6972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15">
                <a:solidFill>
                  <a:srgbClr val="667680"/>
                </a:solidFill>
              </a:defRPr>
            </a:pPr>
            <a:r>
              <a:rPr sz="1215">
                <a:solidFill>
                  <a:srgbClr val="667680"/>
                </a:solidFill>
              </a:rPr>
              <a:t>Gesetzliche Krankenkassen sollen Versicherte bei der Verfolgung von Schadensersatzansprüchen aus Behandlungsfehlern unterstützen.</a:t>
            </a:r>
          </a:p>
        </p:txBody>
      </p:sp>
      <p:sp>
        <p:nvSpPr>
          <p:cNvPr id="7" name="">
            <a:extLst xmlns:a="http://schemas.openxmlformats.org/drawingml/2006/main">
              <a:ext uri="{FF2B5EF4-FFF2-40B4-BE49-F238E27FC236}">
                <a16:creationId xmlns:a16="http://schemas.microsoft.com/office/drawing/2014/main" id="{67398561-F9A8-499D-8A23-7757F74101DF}"/>
              </a:ext>
            </a:extLst>
          </p:cNvPr>
          <p:cNvSpPr>
            <a:spLocks xmlns:a="http://schemas.openxmlformats.org/drawingml/2006/main" noGrp="1"/>
          </p:cNvSpPr>
          <p:nvPr/>
        </p:nvSpPr>
        <p:spPr>
          <a:xfrm xmlns:a="http://schemas.openxmlformats.org/drawingml/2006/main">
            <a:off x="1809750" y="2781300"/>
            <a:ext cx="476250" cy="414338"/>
          </a:xfrm>
          <a:prstGeom xmlns:a="http://schemas.openxmlformats.org/drawingml/2006/main" prst="roundRect">
            <a:avLst>
              <a:gd name="adj" fmla="val 18391"/>
            </a:avLst>
          </a:prstGeom>
          <a:solidFill xmlns:a="http://schemas.openxmlformats.org/drawingml/2006/main">
            <a:srgbClr val="00B2BB"/>
          </a:solidFill>
          <a:ln xmlns:a="http://schemas.openxmlformats.org/drawingml/2006/main" w="0">
            <a:solidFill>
              <a:srgbClr val="00B2BB"/>
            </a:solidFill>
            <a:prstDash val="solid"/>
          </a:ln>
        </p:spPr>
      </p:sp>
      <p:sp>
        <p:nvSpPr>
          <p:cNvPr id="8" name="">
            <a:extLst xmlns:a="http://schemas.openxmlformats.org/drawingml/2006/main">
              <a:ext uri="{FF2B5EF4-FFF2-40B4-BE49-F238E27FC236}">
                <a16:creationId xmlns:a16="http://schemas.microsoft.com/office/drawing/2014/main" id="{B58BD9E8-6929-4BC6-98FD-6B478CD2EDF4}"/>
              </a:ext>
            </a:extLst>
          </p:cNvPr>
          <p:cNvSpPr>
            <a:spLocks xmlns:a="http://schemas.openxmlformats.org/drawingml/2006/main" noGrp="1"/>
          </p:cNvSpPr>
          <p:nvPr/>
        </p:nvSpPr>
        <p:spPr>
          <a:xfrm xmlns:a="http://schemas.openxmlformats.org/drawingml/2006/main">
            <a:off x="1809750" y="2781300"/>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9" name="">
            <a:extLst xmlns:a="http://schemas.openxmlformats.org/drawingml/2006/main">
              <a:ext uri="{FF2B5EF4-FFF2-40B4-BE49-F238E27FC236}">
                <a16:creationId xmlns:a16="http://schemas.microsoft.com/office/drawing/2014/main" id="{6E3B00E4-8C21-4B4B-865F-9CB08D7EC262}"/>
              </a:ext>
            </a:extLst>
          </p:cNvPr>
          <p:cNvSpPr>
            <a:spLocks xmlns:a="http://schemas.openxmlformats.org/drawingml/2006/main" noGrp="1"/>
          </p:cNvSpPr>
          <p:nvPr/>
        </p:nvSpPr>
        <p:spPr>
          <a:xfrm xmlns:a="http://schemas.openxmlformats.org/drawingml/2006/main">
            <a:off x="2438400" y="2790825"/>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Unterlagen</a:t>
            </a:r>
          </a:p>
        </p:txBody>
      </p:sp>
      <p:sp>
        <p:nvSpPr>
          <p:cNvPr id="10" name="">
            <a:extLst xmlns:a="http://schemas.openxmlformats.org/drawingml/2006/main">
              <a:ext uri="{FF2B5EF4-FFF2-40B4-BE49-F238E27FC236}">
                <a16:creationId xmlns:a16="http://schemas.microsoft.com/office/drawing/2014/main" id="{A3E7A36C-B937-4CFE-9713-3FCDAC942A10}"/>
              </a:ext>
            </a:extLst>
          </p:cNvPr>
          <p:cNvSpPr>
            <a:spLocks xmlns:a="http://schemas.openxmlformats.org/drawingml/2006/main" noGrp="1"/>
          </p:cNvSpPr>
          <p:nvPr/>
        </p:nvSpPr>
        <p:spPr>
          <a:xfrm xmlns:a="http://schemas.openxmlformats.org/drawingml/2006/main">
            <a:off x="4591050" y="2790825"/>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Mit Einwilligung können erforderliche Dokumente bei Leistungserbringern angefordert werden.</a:t>
            </a:r>
          </a:p>
        </p:txBody>
      </p:sp>
      <p:sp>
        <p:nvSpPr>
          <p:cNvPr id="11" name="">
            <a:extLst xmlns:a="http://schemas.openxmlformats.org/drawingml/2006/main">
              <a:ext uri="{FF2B5EF4-FFF2-40B4-BE49-F238E27FC236}">
                <a16:creationId xmlns:a16="http://schemas.microsoft.com/office/drawing/2014/main" id="{6BD68E5C-1F0C-4798-85C7-D53547389F4F}"/>
              </a:ext>
            </a:extLst>
          </p:cNvPr>
          <p:cNvSpPr>
            <a:spLocks xmlns:a="http://schemas.openxmlformats.org/drawingml/2006/main" noGrp="1"/>
          </p:cNvSpPr>
          <p:nvPr/>
        </p:nvSpPr>
        <p:spPr>
          <a:xfrm xmlns:a="http://schemas.openxmlformats.org/drawingml/2006/main">
            <a:off x="1809750" y="3271838"/>
            <a:ext cx="476250" cy="414338"/>
          </a:xfrm>
          <a:prstGeom xmlns:a="http://schemas.openxmlformats.org/drawingml/2006/main" prst="roundRect">
            <a:avLst>
              <a:gd name="adj" fmla="val 18391"/>
            </a:avLst>
          </a:prstGeom>
          <a:solidFill xmlns:a="http://schemas.openxmlformats.org/drawingml/2006/main">
            <a:srgbClr val="003F6B"/>
          </a:solidFill>
          <a:ln xmlns:a="http://schemas.openxmlformats.org/drawingml/2006/main" w="0">
            <a:solidFill>
              <a:srgbClr val="003F6B"/>
            </a:solidFill>
            <a:prstDash val="solid"/>
          </a:ln>
        </p:spPr>
      </p:sp>
      <p:sp>
        <p:nvSpPr>
          <p:cNvPr id="12" name="">
            <a:extLst xmlns:a="http://schemas.openxmlformats.org/drawingml/2006/main">
              <a:ext uri="{FF2B5EF4-FFF2-40B4-BE49-F238E27FC236}">
                <a16:creationId xmlns:a16="http://schemas.microsoft.com/office/drawing/2014/main" id="{E1386960-64B8-42D2-8A8F-30C24F7C16A2}"/>
              </a:ext>
            </a:extLst>
          </p:cNvPr>
          <p:cNvSpPr>
            <a:spLocks xmlns:a="http://schemas.openxmlformats.org/drawingml/2006/main" noGrp="1"/>
          </p:cNvSpPr>
          <p:nvPr/>
        </p:nvSpPr>
        <p:spPr>
          <a:xfrm xmlns:a="http://schemas.openxmlformats.org/drawingml/2006/main">
            <a:off x="1809750" y="3271838"/>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3" name="">
            <a:extLst xmlns:a="http://schemas.openxmlformats.org/drawingml/2006/main">
              <a:ext uri="{FF2B5EF4-FFF2-40B4-BE49-F238E27FC236}">
                <a16:creationId xmlns:a16="http://schemas.microsoft.com/office/drawing/2014/main" id="{C1FE3BB8-3133-4EBB-9F2A-5460FE441EBC}"/>
              </a:ext>
            </a:extLst>
          </p:cNvPr>
          <p:cNvSpPr>
            <a:spLocks xmlns:a="http://schemas.openxmlformats.org/drawingml/2006/main" noGrp="1"/>
          </p:cNvSpPr>
          <p:nvPr/>
        </p:nvSpPr>
        <p:spPr>
          <a:xfrm xmlns:a="http://schemas.openxmlformats.org/drawingml/2006/main">
            <a:off x="2438400" y="3281363"/>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Medizinische Bewertung</a:t>
            </a:r>
          </a:p>
        </p:txBody>
      </p:sp>
      <p:sp>
        <p:nvSpPr>
          <p:cNvPr id="14" name="">
            <a:extLst xmlns:a="http://schemas.openxmlformats.org/drawingml/2006/main">
              <a:ext uri="{FF2B5EF4-FFF2-40B4-BE49-F238E27FC236}">
                <a16:creationId xmlns:a16="http://schemas.microsoft.com/office/drawing/2014/main" id="{BD073F0E-8FA3-403C-8482-17CF8B56F9E7}"/>
              </a:ext>
            </a:extLst>
          </p:cNvPr>
          <p:cNvSpPr>
            <a:spLocks xmlns:a="http://schemas.openxmlformats.org/drawingml/2006/main" noGrp="1"/>
          </p:cNvSpPr>
          <p:nvPr/>
        </p:nvSpPr>
        <p:spPr>
          <a:xfrm xmlns:a="http://schemas.openxmlformats.org/drawingml/2006/main">
            <a:off x="4591050" y="3281363"/>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Die Krankenkasse kann eine gutachtliche Stellungnahme des Medizinischen Dienstes veranlassen.</a:t>
            </a:r>
          </a:p>
        </p:txBody>
      </p:sp>
      <p:sp>
        <p:nvSpPr>
          <p:cNvPr id="15" name="">
            <a:extLst xmlns:a="http://schemas.openxmlformats.org/drawingml/2006/main">
              <a:ext uri="{FF2B5EF4-FFF2-40B4-BE49-F238E27FC236}">
                <a16:creationId xmlns:a16="http://schemas.microsoft.com/office/drawing/2014/main" id="{4085473D-C142-4DD3-9226-1189B150DEC2}"/>
              </a:ext>
            </a:extLst>
          </p:cNvPr>
          <p:cNvSpPr>
            <a:spLocks xmlns:a="http://schemas.openxmlformats.org/drawingml/2006/main" noGrp="1"/>
          </p:cNvSpPr>
          <p:nvPr/>
        </p:nvSpPr>
        <p:spPr>
          <a:xfrm xmlns:a="http://schemas.openxmlformats.org/drawingml/2006/main">
            <a:off x="1809750" y="3762375"/>
            <a:ext cx="476250" cy="414338"/>
          </a:xfrm>
          <a:prstGeom xmlns:a="http://schemas.openxmlformats.org/drawingml/2006/main" prst="roundRect">
            <a:avLst>
              <a:gd name="adj" fmla="val 18391"/>
            </a:avLst>
          </a:prstGeom>
          <a:solidFill xmlns:a="http://schemas.openxmlformats.org/drawingml/2006/main">
            <a:srgbClr val="00B2BB"/>
          </a:solidFill>
          <a:ln xmlns:a="http://schemas.openxmlformats.org/drawingml/2006/main" w="0">
            <a:solidFill>
              <a:srgbClr val="00B2BB"/>
            </a:solidFill>
            <a:prstDash val="solid"/>
          </a:ln>
        </p:spPr>
      </p:sp>
      <p:sp>
        <p:nvSpPr>
          <p:cNvPr id="16" name="">
            <a:extLst xmlns:a="http://schemas.openxmlformats.org/drawingml/2006/main">
              <a:ext uri="{FF2B5EF4-FFF2-40B4-BE49-F238E27FC236}">
                <a16:creationId xmlns:a16="http://schemas.microsoft.com/office/drawing/2014/main" id="{E6D1A259-96FB-41D7-9274-CE287A62491B}"/>
              </a:ext>
            </a:extLst>
          </p:cNvPr>
          <p:cNvSpPr>
            <a:spLocks xmlns:a="http://schemas.openxmlformats.org/drawingml/2006/main" noGrp="1"/>
          </p:cNvSpPr>
          <p:nvPr/>
        </p:nvSpPr>
        <p:spPr>
          <a:xfrm xmlns:a="http://schemas.openxmlformats.org/drawingml/2006/main">
            <a:off x="1809750" y="3762375"/>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7" name="">
            <a:extLst xmlns:a="http://schemas.openxmlformats.org/drawingml/2006/main">
              <a:ext uri="{FF2B5EF4-FFF2-40B4-BE49-F238E27FC236}">
                <a16:creationId xmlns:a16="http://schemas.microsoft.com/office/drawing/2014/main" id="{3C791459-1DB2-4053-BAFB-679856A344CF}"/>
              </a:ext>
            </a:extLst>
          </p:cNvPr>
          <p:cNvSpPr>
            <a:spLocks xmlns:a="http://schemas.openxmlformats.org/drawingml/2006/main" noGrp="1"/>
          </p:cNvSpPr>
          <p:nvPr/>
        </p:nvSpPr>
        <p:spPr>
          <a:xfrm xmlns:a="http://schemas.openxmlformats.org/drawingml/2006/main">
            <a:off x="2438400" y="3771900"/>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Abschließende Bewertung</a:t>
            </a:r>
          </a:p>
        </p:txBody>
      </p:sp>
      <p:sp>
        <p:nvSpPr>
          <p:cNvPr id="18" name="">
            <a:extLst xmlns:a="http://schemas.openxmlformats.org/drawingml/2006/main">
              <a:ext uri="{FF2B5EF4-FFF2-40B4-BE49-F238E27FC236}">
                <a16:creationId xmlns:a16="http://schemas.microsoft.com/office/drawing/2014/main" id="{BE513D0F-7D2E-4C82-9DD3-18237FE4CD8B}"/>
              </a:ext>
            </a:extLst>
          </p:cNvPr>
          <p:cNvSpPr>
            <a:spLocks xmlns:a="http://schemas.openxmlformats.org/drawingml/2006/main" noGrp="1"/>
          </p:cNvSpPr>
          <p:nvPr/>
        </p:nvSpPr>
        <p:spPr>
          <a:xfrm xmlns:a="http://schemas.openxmlformats.org/drawingml/2006/main">
            <a:off x="4591050" y="3771900"/>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Unterlagen und Stellungnahme können der versicherten Person für die weitere Rechtsverfolgung zugänglich gemacht werden.</a:t>
            </a:r>
          </a:p>
        </p:txBody>
      </p:sp>
      <p:sp>
        <p:nvSpPr>
          <p:cNvPr id="19" name="">
            <a:extLst xmlns:a="http://schemas.openxmlformats.org/drawingml/2006/main">
              <a:ext uri="{FF2B5EF4-FFF2-40B4-BE49-F238E27FC236}">
                <a16:creationId xmlns:a16="http://schemas.microsoft.com/office/drawing/2014/main" id="{8418F512-856C-465A-9E65-517D743720CD}"/>
              </a:ext>
            </a:extLst>
          </p:cNvPr>
          <p:cNvSpPr>
            <a:spLocks xmlns:a="http://schemas.openxmlformats.org/drawingml/2006/main" noGrp="1"/>
          </p:cNvSpPr>
          <p:nvPr/>
        </p:nvSpPr>
        <p:spPr>
          <a:xfrm xmlns:a="http://schemas.openxmlformats.org/drawingml/2006/main">
            <a:off x="1809750" y="4252913"/>
            <a:ext cx="476250" cy="414338"/>
          </a:xfrm>
          <a:prstGeom xmlns:a="http://schemas.openxmlformats.org/drawingml/2006/main" prst="roundRect">
            <a:avLst>
              <a:gd name="adj" fmla="val 18391"/>
            </a:avLst>
          </a:prstGeom>
          <a:solidFill xmlns:a="http://schemas.openxmlformats.org/drawingml/2006/main">
            <a:srgbClr val="003F6B"/>
          </a:solidFill>
          <a:ln xmlns:a="http://schemas.openxmlformats.org/drawingml/2006/main" w="0">
            <a:solidFill>
              <a:srgbClr val="003F6B"/>
            </a:solidFill>
            <a:prstDash val="solid"/>
          </a:ln>
        </p:spPr>
      </p:sp>
      <p:sp>
        <p:nvSpPr>
          <p:cNvPr id="20" name="">
            <a:extLst xmlns:a="http://schemas.openxmlformats.org/drawingml/2006/main">
              <a:ext uri="{FF2B5EF4-FFF2-40B4-BE49-F238E27FC236}">
                <a16:creationId xmlns:a16="http://schemas.microsoft.com/office/drawing/2014/main" id="{49D2F1EE-ACA3-4186-B403-B15406CE5E29}"/>
              </a:ext>
            </a:extLst>
          </p:cNvPr>
          <p:cNvSpPr>
            <a:spLocks xmlns:a="http://schemas.openxmlformats.org/drawingml/2006/main" noGrp="1"/>
          </p:cNvSpPr>
          <p:nvPr/>
        </p:nvSpPr>
        <p:spPr>
          <a:xfrm xmlns:a="http://schemas.openxmlformats.org/drawingml/2006/main">
            <a:off x="1809750" y="4252913"/>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21" name="">
            <a:extLst xmlns:a="http://schemas.openxmlformats.org/drawingml/2006/main">
              <a:ext uri="{FF2B5EF4-FFF2-40B4-BE49-F238E27FC236}">
                <a16:creationId xmlns:a16="http://schemas.microsoft.com/office/drawing/2014/main" id="{CC04A82C-8378-4AA7-A767-6AB3542FB63B}"/>
              </a:ext>
            </a:extLst>
          </p:cNvPr>
          <p:cNvSpPr>
            <a:spLocks xmlns:a="http://schemas.openxmlformats.org/drawingml/2006/main" noGrp="1"/>
          </p:cNvSpPr>
          <p:nvPr/>
        </p:nvSpPr>
        <p:spPr>
          <a:xfrm xmlns:a="http://schemas.openxmlformats.org/drawingml/2006/main">
            <a:off x="2438400" y="4262438"/>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Grenze</a:t>
            </a:r>
          </a:p>
        </p:txBody>
      </p:sp>
      <p:sp>
        <p:nvSpPr>
          <p:cNvPr id="22" name="">
            <a:extLst xmlns:a="http://schemas.openxmlformats.org/drawingml/2006/main">
              <a:ext uri="{FF2B5EF4-FFF2-40B4-BE49-F238E27FC236}">
                <a16:creationId xmlns:a16="http://schemas.microsoft.com/office/drawing/2014/main" id="{454A6145-DAFA-4692-863D-A1A2237A65FF}"/>
              </a:ext>
            </a:extLst>
          </p:cNvPr>
          <p:cNvSpPr>
            <a:spLocks xmlns:a="http://schemas.openxmlformats.org/drawingml/2006/main" noGrp="1"/>
          </p:cNvSpPr>
          <p:nvPr/>
        </p:nvSpPr>
        <p:spPr>
          <a:xfrm xmlns:a="http://schemas.openxmlformats.org/drawingml/2006/main">
            <a:off x="4591050" y="4262438"/>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Die Krankenkasse entscheidet nicht verbindlich über zivilrechtliche Haftung und ersetzt keine individuelle Rechtsberatung.</a:t>
            </a:r>
          </a:p>
        </p:txBody>
      </p:sp>
      <p:sp>
        <p:nvSpPr>
          <p:cNvPr id="23" name="">
            <a:extLst xmlns:a="http://schemas.openxmlformats.org/drawingml/2006/main">
              <a:ext uri="{FF2B5EF4-FFF2-40B4-BE49-F238E27FC236}">
                <a16:creationId xmlns:a16="http://schemas.microsoft.com/office/drawing/2014/main" id="{71C1FA48-E452-4643-B7E7-D9AAE4613FEC}"/>
              </a:ext>
            </a:extLst>
          </p:cNvPr>
          <p:cNvSpPr>
            <a:spLocks xmlns:a="http://schemas.openxmlformats.org/drawingml/2006/main" noGrp="1"/>
          </p:cNvSpPr>
          <p:nvPr/>
        </p:nvSpPr>
        <p:spPr>
          <a:xfrm xmlns:a="http://schemas.openxmlformats.org/drawingml/2006/main">
            <a:off x="1809750" y="4781550"/>
            <a:ext cx="9525000" cy="666750"/>
          </a:xfrm>
          <a:prstGeom xmlns:a="http://schemas.openxmlformats.org/drawingml/2006/main" prst="roundRect">
            <a:avLst>
              <a:gd name="adj" fmla="val 11429"/>
            </a:avLst>
          </a:prstGeom>
          <a:solidFill xmlns:a="http://schemas.openxmlformats.org/drawingml/2006/main">
            <a:srgbClr val="EAF6FB"/>
          </a:solidFill>
          <a:ln xmlns:a="http://schemas.openxmlformats.org/drawingml/2006/main" w="9525">
            <a:solidFill>
              <a:srgbClr val="00B2BB"/>
            </a:solidFill>
            <a:prstDash val="solid"/>
          </a:ln>
        </p:spPr>
      </p:sp>
      <p:sp>
        <p:nvSpPr>
          <p:cNvPr id="24" name="">
            <a:extLst xmlns:a="http://schemas.openxmlformats.org/drawingml/2006/main">
              <a:ext uri="{FF2B5EF4-FFF2-40B4-BE49-F238E27FC236}">
                <a16:creationId xmlns:a16="http://schemas.microsoft.com/office/drawing/2014/main" id="{0E4CBB3E-87EC-431D-BFDA-9B694CB1CA32}"/>
              </a:ext>
            </a:extLst>
          </p:cNvPr>
          <p:cNvSpPr>
            <a:spLocks xmlns:a="http://schemas.openxmlformats.org/drawingml/2006/main" noGrp="1"/>
          </p:cNvSpPr>
          <p:nvPr/>
        </p:nvSpPr>
        <p:spPr>
          <a:xfrm xmlns:a="http://schemas.openxmlformats.org/drawingml/2006/main">
            <a:off x="1981200" y="4829175"/>
            <a:ext cx="9182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065">
                <a:solidFill>
                  <a:srgbClr val="15232B"/>
                </a:solidFill>
              </a:defRPr>
            </a:pPr>
            <a:r>
              <a:rPr sz="1065">
                <a:solidFill>
                  <a:srgbClr val="15232B"/>
                </a:solidFill>
              </a:rPr>
              <a:t>Beispiel · Beispiel: Die Krankenkasse beschafft Behandlungsunterlagen und beauftragt den MD mit der Prüfung, ob eine Standardabweichung plausibel ist.</a:t>
            </a:r>
          </a:p>
        </p:txBody>
      </p:sp>
      <p:sp>
        <p:nvSpPr>
          <p:cNvPr id="25" name="">
            <a:extLst xmlns:a="http://schemas.openxmlformats.org/drawingml/2006/main">
              <a:ext uri="{FF2B5EF4-FFF2-40B4-BE49-F238E27FC236}">
                <a16:creationId xmlns:a16="http://schemas.microsoft.com/office/drawing/2014/main" id="{62B0D4C4-CEDF-48E5-969D-B2C7088C1E72}"/>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6" name="">
            <a:extLst xmlns:a="http://schemas.openxmlformats.org/drawingml/2006/main">
              <a:ext uri="{FF2B5EF4-FFF2-40B4-BE49-F238E27FC236}">
                <a16:creationId xmlns:a16="http://schemas.microsoft.com/office/drawing/2014/main" id="{7A2FBB71-C546-410D-AE27-245D3A88BBB3}"/>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 66 SGB V erleichtert die Sachaufklärung, führt aber nicht selbst zu einem vollstreckbaren Titel.</a:t>
            </a:r>
          </a:p>
        </p:txBody>
      </p:sp>
    </p:spTree>
    <p:extLst>
      <p:ext uri="{BB962C8B-B14F-4D97-AF65-F5344CB8AC3E}">
        <p14:creationId xmlns:p14="http://schemas.microsoft.com/office/powerpoint/2010/main" val="43637646"/>
      </p:ext>
    </p:extLst>
  </p:cSld>
</p:sld>
</file>

<file path=ppt/slides/slide164.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Die Schlichtungsstelle der ÄKN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FA2ECF42-E67A-42F5-9691-B3D4C54EF1BB}"/>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Das niedersächsische Verfahren soll Behandlungsfehlervorwürfe außergerichtlich, neutral und unabhängig medizinisch sowie juristisch bewerten.</a:t>
            </a:r>
          </a:p>
        </p:txBody>
      </p:sp>
      <p:sp>
        <p:nvSpPr>
          <p:cNvPr id="5" name="">
            <a:extLst xmlns:a="http://schemas.openxmlformats.org/drawingml/2006/main">
              <a:ext uri="{FF2B5EF4-FFF2-40B4-BE49-F238E27FC236}">
                <a16:creationId xmlns:a16="http://schemas.microsoft.com/office/drawing/2014/main" id="{51309AF6-501F-47EC-87E6-B76CB112B7C3}"/>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C05E2DCD-F06E-47E4-BDBA-D38C8EF183EF}"/>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107897A2-7504-4339-B7EE-BDEAA9651A70}"/>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Freiwilligkeit</a:t>
            </a:r>
          </a:p>
        </p:txBody>
      </p:sp>
      <p:sp>
        <p:nvSpPr>
          <p:cNvPr id="8" name="">
            <a:extLst xmlns:a="http://schemas.openxmlformats.org/drawingml/2006/main">
              <a:ext uri="{FF2B5EF4-FFF2-40B4-BE49-F238E27FC236}">
                <a16:creationId xmlns:a16="http://schemas.microsoft.com/office/drawing/2014/main" id="{E2BEF7C2-9D82-4383-861B-8EF9BADFCD8D}"/>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Alle Beteiligten müssen dem Verfahren zustimmen; ohne Zustimmung findet keine Prüfung statt.</a:t>
            </a:r>
          </a:p>
        </p:txBody>
      </p:sp>
      <p:sp>
        <p:nvSpPr>
          <p:cNvPr id="9" name="">
            <a:extLst xmlns:a="http://schemas.openxmlformats.org/drawingml/2006/main">
              <a:ext uri="{FF2B5EF4-FFF2-40B4-BE49-F238E27FC236}">
                <a16:creationId xmlns:a16="http://schemas.microsoft.com/office/drawing/2014/main" id="{55E212FE-B871-4E0C-8A09-D8B3794CEB28}"/>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C941CE8A-1BB9-492F-AB62-E9BDC26A1DB4}"/>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1C4A985A-EC12-4F90-BE46-027739296B22}"/>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Begutachtung</a:t>
            </a:r>
          </a:p>
        </p:txBody>
      </p:sp>
      <p:sp>
        <p:nvSpPr>
          <p:cNvPr id="12" name="">
            <a:extLst xmlns:a="http://schemas.openxmlformats.org/drawingml/2006/main">
              <a:ext uri="{FF2B5EF4-FFF2-40B4-BE49-F238E27FC236}">
                <a16:creationId xmlns:a16="http://schemas.microsoft.com/office/drawing/2014/main" id="{0013A857-D220-435C-B34A-BE97F699F1B6}"/>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Ein externes medizinisches Gutachten und eine juristisch begründete Einschätzung klären Fehler, Kausalität und mögliche Ansprüche.</a:t>
            </a:r>
          </a:p>
        </p:txBody>
      </p:sp>
      <p:sp>
        <p:nvSpPr>
          <p:cNvPr id="13" name="">
            <a:extLst xmlns:a="http://schemas.openxmlformats.org/drawingml/2006/main">
              <a:ext uri="{FF2B5EF4-FFF2-40B4-BE49-F238E27FC236}">
                <a16:creationId xmlns:a16="http://schemas.microsoft.com/office/drawing/2014/main" id="{C029A7C8-66C0-4051-879F-08DDD6BF17E3}"/>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18384856-E8A5-4B2C-842F-9FE9DBF2DE3D}"/>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A4CA748D-9DD1-4A62-8B7C-203A254E429C}"/>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Grenzen</a:t>
            </a:r>
          </a:p>
        </p:txBody>
      </p:sp>
      <p:sp>
        <p:nvSpPr>
          <p:cNvPr id="16" name="">
            <a:extLst xmlns:a="http://schemas.openxmlformats.org/drawingml/2006/main">
              <a:ext uri="{FF2B5EF4-FFF2-40B4-BE49-F238E27FC236}">
                <a16:creationId xmlns:a16="http://schemas.microsoft.com/office/drawing/2014/main" id="{FD857C05-EC46-4AA6-AE03-228C947D2139}"/>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Die Stelle wird nach ihren veröffentlichten Bedingungen etwa nicht tätig, wenn bereits Strafanzeige erstattet oder Klage anhängig ist.</a:t>
            </a:r>
          </a:p>
        </p:txBody>
      </p:sp>
      <p:sp>
        <p:nvSpPr>
          <p:cNvPr id="17" name="">
            <a:extLst xmlns:a="http://schemas.openxmlformats.org/drawingml/2006/main">
              <a:ext uri="{FF2B5EF4-FFF2-40B4-BE49-F238E27FC236}">
                <a16:creationId xmlns:a16="http://schemas.microsoft.com/office/drawing/2014/main" id="{9CE2183A-9995-4724-8551-26AAFA52DD7F}"/>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B7A538DE-9105-4643-A886-FFF1AAE241B2}"/>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F173AE3F-3B52-4A22-A592-F51F8DFAFCC1}"/>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Wirkung</a:t>
            </a:r>
          </a:p>
        </p:txBody>
      </p:sp>
      <p:sp>
        <p:nvSpPr>
          <p:cNvPr id="20" name="">
            <a:extLst xmlns:a="http://schemas.openxmlformats.org/drawingml/2006/main">
              <a:ext uri="{FF2B5EF4-FFF2-40B4-BE49-F238E27FC236}">
                <a16:creationId xmlns:a16="http://schemas.microsoft.com/office/drawing/2014/main" id="{3FD53DE3-98CF-4667-9038-D2B58E619EAE}"/>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Das Ergebnis ist kein vollstreckbares Urteil, kann aber Aufklärung, Regulierung oder eine spätere Prozessentscheidung fördern.</a:t>
            </a:r>
          </a:p>
        </p:txBody>
      </p:sp>
      <p:sp>
        <p:nvSpPr>
          <p:cNvPr id="21" name="">
            <a:extLst xmlns:a="http://schemas.openxmlformats.org/drawingml/2006/main">
              <a:ext uri="{FF2B5EF4-FFF2-40B4-BE49-F238E27FC236}">
                <a16:creationId xmlns:a16="http://schemas.microsoft.com/office/drawing/2014/main" id="{F46CA6DE-4FE1-48C2-B53F-E7315DA949B0}"/>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271B8B25-0BEF-40E9-B0C0-398D4E9C4A6F}"/>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Vor Antragstellung werden aktuelle Zuständigkeits- und Verfahrensbedingungen der ÄKN geprüft.</a:t>
            </a:r>
          </a:p>
        </p:txBody>
      </p:sp>
    </p:spTree>
    <p:extLst>
      <p:ext uri="{BB962C8B-B14F-4D97-AF65-F5344CB8AC3E}">
        <p14:creationId xmlns:p14="http://schemas.microsoft.com/office/powerpoint/2010/main" val="43637646"/>
      </p:ext>
    </p:extLst>
  </p:cSld>
</p:sld>
</file>

<file path=ppt/slides/slide165.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Haftpflichtversicherung: Was sie prüft</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EE45256A-22F3-4E10-A4FE-CC70879F8014}"/>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Der Versicherer verbindet Deckungsprüfung, Haftungsprüfung und Regulierung; versicherte Person und Versicherungsnehmer sind nicht immer identisch.</a:t>
            </a:r>
          </a:p>
        </p:txBody>
      </p:sp>
      <p:sp>
        <p:nvSpPr>
          <p:cNvPr id="5" name="">
            <a:extLst xmlns:a="http://schemas.openxmlformats.org/drawingml/2006/main">
              <a:ext uri="{FF2B5EF4-FFF2-40B4-BE49-F238E27FC236}">
                <a16:creationId xmlns:a16="http://schemas.microsoft.com/office/drawing/2014/main" id="{A76A0954-A85F-471C-B1C3-7C2736D6BF66}"/>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5D0B1251-1087-4EDB-BE70-132198D63912}"/>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5BB40EB3-B1A1-4592-B486-4C25174FB632}"/>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Deckung</a:t>
            </a:r>
          </a:p>
        </p:txBody>
      </p:sp>
      <p:sp>
        <p:nvSpPr>
          <p:cNvPr id="8" name="">
            <a:extLst xmlns:a="http://schemas.openxmlformats.org/drawingml/2006/main">
              <a:ext uri="{FF2B5EF4-FFF2-40B4-BE49-F238E27FC236}">
                <a16:creationId xmlns:a16="http://schemas.microsoft.com/office/drawing/2014/main" id="{F3F72CBC-6D61-4874-A629-B2C548639D35}"/>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Zuerst wird geprüft, ob Vertrag, Person, Tätigkeit und Zeitraum vom Versicherungsschutz erfasst sind.</a:t>
            </a:r>
          </a:p>
        </p:txBody>
      </p:sp>
      <p:sp>
        <p:nvSpPr>
          <p:cNvPr id="9" name="">
            <a:extLst xmlns:a="http://schemas.openxmlformats.org/drawingml/2006/main">
              <a:ext uri="{FF2B5EF4-FFF2-40B4-BE49-F238E27FC236}">
                <a16:creationId xmlns:a16="http://schemas.microsoft.com/office/drawing/2014/main" id="{0049AD5D-8D4D-4B03-BB57-F289A9B32F86}"/>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3A35924A-022F-48EB-A1DA-C89A867356ED}"/>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2874A572-193F-40A6-BCA3-34073438BC37}"/>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Haftungsgrund</a:t>
            </a:r>
          </a:p>
        </p:txBody>
      </p:sp>
      <p:sp>
        <p:nvSpPr>
          <p:cNvPr id="12" name="">
            <a:extLst xmlns:a="http://schemas.openxmlformats.org/drawingml/2006/main">
              <a:ext uri="{FF2B5EF4-FFF2-40B4-BE49-F238E27FC236}">
                <a16:creationId xmlns:a16="http://schemas.microsoft.com/office/drawing/2014/main" id="{D8A004B0-8957-4B32-B84B-5430503CCFC1}"/>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Dann werden Pflichtverletzung, Verschulden, Kausalität und mögliche Einwendungen bewertet.</a:t>
            </a:r>
          </a:p>
        </p:txBody>
      </p:sp>
      <p:sp>
        <p:nvSpPr>
          <p:cNvPr id="13" name="">
            <a:extLst xmlns:a="http://schemas.openxmlformats.org/drawingml/2006/main">
              <a:ext uri="{FF2B5EF4-FFF2-40B4-BE49-F238E27FC236}">
                <a16:creationId xmlns:a16="http://schemas.microsoft.com/office/drawing/2014/main" id="{7ED3AB66-835C-4C96-BAA4-A70431AF6B5D}"/>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09573CE2-9FD6-414F-B6BA-232DEF5DDFEF}"/>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C18664CB-045E-4F75-B301-DAAE3CBBC898}"/>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Schadenshöhe</a:t>
            </a:r>
          </a:p>
        </p:txBody>
      </p:sp>
      <p:sp>
        <p:nvSpPr>
          <p:cNvPr id="16" name="">
            <a:extLst xmlns:a="http://schemas.openxmlformats.org/drawingml/2006/main">
              <a:ext uri="{FF2B5EF4-FFF2-40B4-BE49-F238E27FC236}">
                <a16:creationId xmlns:a16="http://schemas.microsoft.com/office/drawing/2014/main" id="{ADDF52D1-07C1-4B1C-9D7F-9058A0420401}"/>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Einzelne Positionen werden belegt, prognostiziert und gegebenenfalls kapitalisiert.</a:t>
            </a:r>
          </a:p>
        </p:txBody>
      </p:sp>
      <p:sp>
        <p:nvSpPr>
          <p:cNvPr id="17" name="">
            <a:extLst xmlns:a="http://schemas.openxmlformats.org/drawingml/2006/main">
              <a:ext uri="{FF2B5EF4-FFF2-40B4-BE49-F238E27FC236}">
                <a16:creationId xmlns:a16="http://schemas.microsoft.com/office/drawing/2014/main" id="{33BDA607-680E-4AD7-92E9-2F839E8D2925}"/>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F3DF8B7A-A259-4D2C-9B30-7ED75B4E2077}"/>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03E1BDCD-B586-4D04-BCFF-7F90A6879058}"/>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Abwehr und Regulierung</a:t>
            </a:r>
          </a:p>
        </p:txBody>
      </p:sp>
      <p:sp>
        <p:nvSpPr>
          <p:cNvPr id="20" name="">
            <a:extLst xmlns:a="http://schemas.openxmlformats.org/drawingml/2006/main">
              <a:ext uri="{FF2B5EF4-FFF2-40B4-BE49-F238E27FC236}">
                <a16:creationId xmlns:a16="http://schemas.microsoft.com/office/drawing/2014/main" id="{27B389E8-6946-429C-8440-FACC504C32DC}"/>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Unbegründete Ansprüche werden abgewehrt, begründete reguliert; Erklärungen der Versicherten werden deshalb abgestimmt.</a:t>
            </a:r>
          </a:p>
        </p:txBody>
      </p:sp>
      <p:sp>
        <p:nvSpPr>
          <p:cNvPr id="21" name="">
            <a:extLst xmlns:a="http://schemas.openxmlformats.org/drawingml/2006/main">
              <a:ext uri="{FF2B5EF4-FFF2-40B4-BE49-F238E27FC236}">
                <a16:creationId xmlns:a16="http://schemas.microsoft.com/office/drawing/2014/main" id="{4D5D1BC5-903B-4E35-A80E-6950F3547F8F}"/>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3A601447-7FC9-4D61-9BC6-CFDE8C1E0B97}"/>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Frühe Meldung und vollständige Unterlagen erleichtern eine konsistente Prüfung.</a:t>
            </a:r>
          </a:p>
        </p:txBody>
      </p:sp>
    </p:spTree>
    <p:extLst>
      <p:ext uri="{BB962C8B-B14F-4D97-AF65-F5344CB8AC3E}">
        <p14:creationId xmlns:p14="http://schemas.microsoft.com/office/powerpoint/2010/main" val="43637646"/>
      </p:ext>
    </p:extLst>
  </p:cSld>
</p:sld>
</file>

<file path=ppt/slides/slide166.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Vergleich: Chance und Bindung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0EBE1829-1318-4DCD-9B04-6276AFED263B}"/>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Ein Vergleich beendet Unsicherheit durch gegenseitiges Nachgeben, kann aber zukünftige Ansprüche abschneiden.</a:t>
            </a:r>
          </a:p>
        </p:txBody>
      </p:sp>
      <p:sp>
        <p:nvSpPr>
          <p:cNvPr id="5" name="">
            <a:extLst xmlns:a="http://schemas.openxmlformats.org/drawingml/2006/main">
              <a:ext uri="{FF2B5EF4-FFF2-40B4-BE49-F238E27FC236}">
                <a16:creationId xmlns:a16="http://schemas.microsoft.com/office/drawing/2014/main" id="{5A1394B2-F992-43D8-9C02-CEC279E22BFF}"/>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CDE852FC-C2A5-4511-8609-48628B885110}"/>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6FF9E8ED-A2C5-464C-B942-C2AEA9CFCA6B}"/>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Gegenstand</a:t>
            </a:r>
          </a:p>
        </p:txBody>
      </p:sp>
      <p:sp>
        <p:nvSpPr>
          <p:cNvPr id="8" name="">
            <a:extLst xmlns:a="http://schemas.openxmlformats.org/drawingml/2006/main">
              <a:ext uri="{FF2B5EF4-FFF2-40B4-BE49-F238E27FC236}">
                <a16:creationId xmlns:a16="http://schemas.microsoft.com/office/drawing/2014/main" id="{F4361F5A-C4BB-473E-B624-7C36CC01C7D9}"/>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Es muss klar sein, welche Schäden, Zeiträume und Personen geregelt werden.</a:t>
            </a:r>
          </a:p>
        </p:txBody>
      </p:sp>
      <p:sp>
        <p:nvSpPr>
          <p:cNvPr id="9" name="">
            <a:extLst xmlns:a="http://schemas.openxmlformats.org/drawingml/2006/main">
              <a:ext uri="{FF2B5EF4-FFF2-40B4-BE49-F238E27FC236}">
                <a16:creationId xmlns:a16="http://schemas.microsoft.com/office/drawing/2014/main" id="{6025E74F-1FB1-4308-AAC8-540FC7E1FE0B}"/>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369E63FF-B790-4CA0-8501-B0DD7C346E55}"/>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63A348FB-FB50-4744-B141-7C2D30CCBC16}"/>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Abfindungsklausel</a:t>
            </a:r>
          </a:p>
        </p:txBody>
      </p:sp>
      <p:sp>
        <p:nvSpPr>
          <p:cNvPr id="12" name="">
            <a:extLst xmlns:a="http://schemas.openxmlformats.org/drawingml/2006/main">
              <a:ext uri="{FF2B5EF4-FFF2-40B4-BE49-F238E27FC236}">
                <a16:creationId xmlns:a16="http://schemas.microsoft.com/office/drawing/2014/main" id="{6486C4F8-CA2C-4539-8FC2-9ECDFDFEB3D3}"/>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Eine umfassende Erledigung kann auch unbekannte Zukunftsschäden erfassen; Formulierung und Prognose sind deshalb zentral.</a:t>
            </a:r>
          </a:p>
        </p:txBody>
      </p:sp>
      <p:sp>
        <p:nvSpPr>
          <p:cNvPr id="13" name="">
            <a:extLst xmlns:a="http://schemas.openxmlformats.org/drawingml/2006/main">
              <a:ext uri="{FF2B5EF4-FFF2-40B4-BE49-F238E27FC236}">
                <a16:creationId xmlns:a16="http://schemas.microsoft.com/office/drawing/2014/main" id="{8D4C58F0-861B-47C9-8EA5-2B2D4E05685B}"/>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F3F28274-5F20-4614-A392-EA3D2B34B839}"/>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A1AD5E92-6BC8-4739-8B54-970BFE65AB29}"/>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Beweisrisiko</a:t>
            </a:r>
          </a:p>
        </p:txBody>
      </p:sp>
      <p:sp>
        <p:nvSpPr>
          <p:cNvPr id="16" name="">
            <a:extLst xmlns:a="http://schemas.openxmlformats.org/drawingml/2006/main">
              <a:ext uri="{FF2B5EF4-FFF2-40B4-BE49-F238E27FC236}">
                <a16:creationId xmlns:a16="http://schemas.microsoft.com/office/drawing/2014/main" id="{0D7BBC34-9D01-4065-930C-CE88DCDA1D69}"/>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Parteien tauschen Prozessrisiken, Dauer und Kosten gegen Planungssicherheit.</a:t>
            </a:r>
          </a:p>
        </p:txBody>
      </p:sp>
      <p:sp>
        <p:nvSpPr>
          <p:cNvPr id="17" name="">
            <a:extLst xmlns:a="http://schemas.openxmlformats.org/drawingml/2006/main">
              <a:ext uri="{FF2B5EF4-FFF2-40B4-BE49-F238E27FC236}">
                <a16:creationId xmlns:a16="http://schemas.microsoft.com/office/drawing/2014/main" id="{0B103EDA-C1BE-41DA-8ED3-80DBEB0D9036}"/>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726BE689-CEF2-4C83-B870-20ABA4A4EA05}"/>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1145C4E4-853C-4686-B0BE-02ABF63DC951}"/>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Kein Wahrheitsurteil</a:t>
            </a:r>
          </a:p>
        </p:txBody>
      </p:sp>
      <p:sp>
        <p:nvSpPr>
          <p:cNvPr id="20" name="">
            <a:extLst xmlns:a="http://schemas.openxmlformats.org/drawingml/2006/main">
              <a:ext uri="{FF2B5EF4-FFF2-40B4-BE49-F238E27FC236}">
                <a16:creationId xmlns:a16="http://schemas.microsoft.com/office/drawing/2014/main" id="{F8525115-9DA0-41D6-B92D-42BCA5393229}"/>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Ein Vergleich entscheidet nicht verbindlich, wer medizinisch oder moralisch „recht hatte“.</a:t>
            </a:r>
          </a:p>
        </p:txBody>
      </p:sp>
      <p:sp>
        <p:nvSpPr>
          <p:cNvPr id="21" name="">
            <a:extLst xmlns:a="http://schemas.openxmlformats.org/drawingml/2006/main">
              <a:ext uri="{FF2B5EF4-FFF2-40B4-BE49-F238E27FC236}">
                <a16:creationId xmlns:a16="http://schemas.microsoft.com/office/drawing/2014/main" id="{8A31465A-CFA1-408E-B078-FB3BC8B0A96F}"/>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6846824D-F902-4450-B579-1ECEFE5FC7BB}"/>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Ein guter Vergleich benennt Reichweite, Zahlungsmodalitäten und den Umgang mit Zukunftsschäden eindeutig.</a:t>
            </a:r>
          </a:p>
        </p:txBody>
      </p:sp>
    </p:spTree>
    <p:extLst>
      <p:ext uri="{BB962C8B-B14F-4D97-AF65-F5344CB8AC3E}">
        <p14:creationId xmlns:p14="http://schemas.microsoft.com/office/powerpoint/2010/main" val="43637646"/>
      </p:ext>
    </p:extLst>
  </p:cSld>
</p:sld>
</file>

<file path=ppt/slides/slide167.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Regelmäßige Verjährung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NORM IM FOKUS · §§ 195, 199 BGB</a:t>
            </a:r>
            <a:endParaRPr/>
          </a:p>
        </p:txBody>
      </p:sp>
      <p:sp>
        <p:nvSpPr>
          <p:cNvPr id="4" name="">
            <a:extLst xmlns:a="http://schemas.openxmlformats.org/drawingml/2006/main">
              <a:ext uri="{FF2B5EF4-FFF2-40B4-BE49-F238E27FC236}">
                <a16:creationId xmlns:a16="http://schemas.microsoft.com/office/drawing/2014/main" id="{E88000E0-F428-4CAF-A9FF-9C1DDEB30C4A}"/>
              </a:ext>
            </a:extLst>
          </p:cNvPr>
          <p:cNvSpPr>
            <a:spLocks xmlns:a="http://schemas.openxmlformats.org/drawingml/2006/main" noGrp="1"/>
          </p:cNvSpPr>
          <p:nvPr/>
        </p:nvSpPr>
        <p:spPr>
          <a:xfrm xmlns:a="http://schemas.openxmlformats.org/drawingml/2006/main">
            <a:off x="1809750" y="1924050"/>
            <a:ext cx="2286000" cy="704850"/>
          </a:xfrm>
          <a:prstGeom xmlns:a="http://schemas.openxmlformats.org/drawingml/2006/main" prst="roundRect">
            <a:avLst>
              <a:gd name="adj" fmla="val 10811"/>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FF344F08-9340-4D59-911C-637DF973B9C4}"/>
              </a:ext>
            </a:extLst>
          </p:cNvPr>
          <p:cNvSpPr>
            <a:spLocks xmlns:a="http://schemas.openxmlformats.org/drawingml/2006/main" noGrp="1"/>
          </p:cNvSpPr>
          <p:nvPr/>
        </p:nvSpPr>
        <p:spPr>
          <a:xfrm xmlns:a="http://schemas.openxmlformats.org/drawingml/2006/main">
            <a:off x="1924050" y="1971675"/>
            <a:ext cx="2057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75" b="1">
                <a:solidFill>
                  <a:srgbClr val="FFFFFF"/>
                </a:solidFill>
              </a:defRPr>
            </a:pPr>
            <a:r>
              <a:rPr sz="1875" b="1">
                <a:solidFill>
                  <a:srgbClr val="FFFFFF"/>
                </a:solidFill>
              </a:rPr>
              <a:t>§§ 195, 199 BGB</a:t>
            </a:r>
          </a:p>
        </p:txBody>
      </p:sp>
      <p:sp>
        <p:nvSpPr>
          <p:cNvPr id="6" name="">
            <a:extLst xmlns:a="http://schemas.openxmlformats.org/drawingml/2006/main">
              <a:ext uri="{FF2B5EF4-FFF2-40B4-BE49-F238E27FC236}">
                <a16:creationId xmlns:a16="http://schemas.microsoft.com/office/drawing/2014/main" id="{4467F13B-50A9-439C-9F48-F96DDFF9CF8D}"/>
              </a:ext>
            </a:extLst>
          </p:cNvPr>
          <p:cNvSpPr>
            <a:spLocks xmlns:a="http://schemas.openxmlformats.org/drawingml/2006/main" noGrp="1"/>
          </p:cNvSpPr>
          <p:nvPr/>
        </p:nvSpPr>
        <p:spPr>
          <a:xfrm xmlns:a="http://schemas.openxmlformats.org/drawingml/2006/main">
            <a:off x="4362450" y="1924050"/>
            <a:ext cx="6972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15">
                <a:solidFill>
                  <a:srgbClr val="667680"/>
                </a:solidFill>
              </a:defRPr>
            </a:pPr>
            <a:r>
              <a:rPr sz="1215">
                <a:solidFill>
                  <a:srgbClr val="667680"/>
                </a:solidFill>
              </a:rPr>
              <a:t>Ansprüche verjähren grundsätzlich in drei Jahren; der Beginn hängt regelmäßig von Jahresende, Entstehung und Kenntnis ab.</a:t>
            </a:r>
          </a:p>
        </p:txBody>
      </p:sp>
      <p:sp>
        <p:nvSpPr>
          <p:cNvPr id="7" name="">
            <a:extLst xmlns:a="http://schemas.openxmlformats.org/drawingml/2006/main">
              <a:ext uri="{FF2B5EF4-FFF2-40B4-BE49-F238E27FC236}">
                <a16:creationId xmlns:a16="http://schemas.microsoft.com/office/drawing/2014/main" id="{98C590C2-A038-40F4-81E8-CC5EFB67F07D}"/>
              </a:ext>
            </a:extLst>
          </p:cNvPr>
          <p:cNvSpPr>
            <a:spLocks xmlns:a="http://schemas.openxmlformats.org/drawingml/2006/main" noGrp="1"/>
          </p:cNvSpPr>
          <p:nvPr/>
        </p:nvSpPr>
        <p:spPr>
          <a:xfrm xmlns:a="http://schemas.openxmlformats.org/drawingml/2006/main">
            <a:off x="1809750" y="2781300"/>
            <a:ext cx="476250" cy="414338"/>
          </a:xfrm>
          <a:prstGeom xmlns:a="http://schemas.openxmlformats.org/drawingml/2006/main" prst="roundRect">
            <a:avLst>
              <a:gd name="adj" fmla="val 18391"/>
            </a:avLst>
          </a:prstGeom>
          <a:solidFill xmlns:a="http://schemas.openxmlformats.org/drawingml/2006/main">
            <a:srgbClr val="00B2BB"/>
          </a:solidFill>
          <a:ln xmlns:a="http://schemas.openxmlformats.org/drawingml/2006/main" w="0">
            <a:solidFill>
              <a:srgbClr val="00B2BB"/>
            </a:solidFill>
            <a:prstDash val="solid"/>
          </a:ln>
        </p:spPr>
      </p:sp>
      <p:sp>
        <p:nvSpPr>
          <p:cNvPr id="8" name="">
            <a:extLst xmlns:a="http://schemas.openxmlformats.org/drawingml/2006/main">
              <a:ext uri="{FF2B5EF4-FFF2-40B4-BE49-F238E27FC236}">
                <a16:creationId xmlns:a16="http://schemas.microsoft.com/office/drawing/2014/main" id="{7813470B-719B-42E7-9B12-2800715F40DA}"/>
              </a:ext>
            </a:extLst>
          </p:cNvPr>
          <p:cNvSpPr>
            <a:spLocks xmlns:a="http://schemas.openxmlformats.org/drawingml/2006/main" noGrp="1"/>
          </p:cNvSpPr>
          <p:nvPr/>
        </p:nvSpPr>
        <p:spPr>
          <a:xfrm xmlns:a="http://schemas.openxmlformats.org/drawingml/2006/main">
            <a:off x="1809750" y="2781300"/>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9" name="">
            <a:extLst xmlns:a="http://schemas.openxmlformats.org/drawingml/2006/main">
              <a:ext uri="{FF2B5EF4-FFF2-40B4-BE49-F238E27FC236}">
                <a16:creationId xmlns:a16="http://schemas.microsoft.com/office/drawing/2014/main" id="{3A77CECA-46CF-4770-9432-E7441DEE3A35}"/>
              </a:ext>
            </a:extLst>
          </p:cNvPr>
          <p:cNvSpPr>
            <a:spLocks xmlns:a="http://schemas.openxmlformats.org/drawingml/2006/main" noGrp="1"/>
          </p:cNvSpPr>
          <p:nvPr/>
        </p:nvSpPr>
        <p:spPr>
          <a:xfrm xmlns:a="http://schemas.openxmlformats.org/drawingml/2006/main">
            <a:off x="2438400" y="2790825"/>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Dauer</a:t>
            </a:r>
          </a:p>
        </p:txBody>
      </p:sp>
      <p:sp>
        <p:nvSpPr>
          <p:cNvPr id="10" name="">
            <a:extLst xmlns:a="http://schemas.openxmlformats.org/drawingml/2006/main">
              <a:ext uri="{FF2B5EF4-FFF2-40B4-BE49-F238E27FC236}">
                <a16:creationId xmlns:a16="http://schemas.microsoft.com/office/drawing/2014/main" id="{C3260A48-9282-4610-9AC8-2A31EEFE4CFF}"/>
              </a:ext>
            </a:extLst>
          </p:cNvPr>
          <p:cNvSpPr>
            <a:spLocks xmlns:a="http://schemas.openxmlformats.org/drawingml/2006/main" noGrp="1"/>
          </p:cNvSpPr>
          <p:nvPr/>
        </p:nvSpPr>
        <p:spPr>
          <a:xfrm xmlns:a="http://schemas.openxmlformats.org/drawingml/2006/main">
            <a:off x="4591050" y="2790825"/>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 195 BGB bestimmt die regelmäßige Frist von drei Jahren.</a:t>
            </a:r>
          </a:p>
        </p:txBody>
      </p:sp>
      <p:sp>
        <p:nvSpPr>
          <p:cNvPr id="11" name="">
            <a:extLst xmlns:a="http://schemas.openxmlformats.org/drawingml/2006/main">
              <a:ext uri="{FF2B5EF4-FFF2-40B4-BE49-F238E27FC236}">
                <a16:creationId xmlns:a16="http://schemas.microsoft.com/office/drawing/2014/main" id="{0ABDD891-2D49-4BB9-8BC5-F8A5CEE31596}"/>
              </a:ext>
            </a:extLst>
          </p:cNvPr>
          <p:cNvSpPr>
            <a:spLocks xmlns:a="http://schemas.openxmlformats.org/drawingml/2006/main" noGrp="1"/>
          </p:cNvSpPr>
          <p:nvPr/>
        </p:nvSpPr>
        <p:spPr>
          <a:xfrm xmlns:a="http://schemas.openxmlformats.org/drawingml/2006/main">
            <a:off x="1809750" y="3271838"/>
            <a:ext cx="476250" cy="414338"/>
          </a:xfrm>
          <a:prstGeom xmlns:a="http://schemas.openxmlformats.org/drawingml/2006/main" prst="roundRect">
            <a:avLst>
              <a:gd name="adj" fmla="val 18391"/>
            </a:avLst>
          </a:prstGeom>
          <a:solidFill xmlns:a="http://schemas.openxmlformats.org/drawingml/2006/main">
            <a:srgbClr val="003F6B"/>
          </a:solidFill>
          <a:ln xmlns:a="http://schemas.openxmlformats.org/drawingml/2006/main" w="0">
            <a:solidFill>
              <a:srgbClr val="003F6B"/>
            </a:solidFill>
            <a:prstDash val="solid"/>
          </a:ln>
        </p:spPr>
      </p:sp>
      <p:sp>
        <p:nvSpPr>
          <p:cNvPr id="12" name="">
            <a:extLst xmlns:a="http://schemas.openxmlformats.org/drawingml/2006/main">
              <a:ext uri="{FF2B5EF4-FFF2-40B4-BE49-F238E27FC236}">
                <a16:creationId xmlns:a16="http://schemas.microsoft.com/office/drawing/2014/main" id="{6236DCB5-2187-4B99-A296-4D7521D651F6}"/>
              </a:ext>
            </a:extLst>
          </p:cNvPr>
          <p:cNvSpPr>
            <a:spLocks xmlns:a="http://schemas.openxmlformats.org/drawingml/2006/main" noGrp="1"/>
          </p:cNvSpPr>
          <p:nvPr/>
        </p:nvSpPr>
        <p:spPr>
          <a:xfrm xmlns:a="http://schemas.openxmlformats.org/drawingml/2006/main">
            <a:off x="1809750" y="3271838"/>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3" name="">
            <a:extLst xmlns:a="http://schemas.openxmlformats.org/drawingml/2006/main">
              <a:ext uri="{FF2B5EF4-FFF2-40B4-BE49-F238E27FC236}">
                <a16:creationId xmlns:a16="http://schemas.microsoft.com/office/drawing/2014/main" id="{5A0B7EB7-6C8B-494F-902B-760325E1A23F}"/>
              </a:ext>
            </a:extLst>
          </p:cNvPr>
          <p:cNvSpPr>
            <a:spLocks xmlns:a="http://schemas.openxmlformats.org/drawingml/2006/main" noGrp="1"/>
          </p:cNvSpPr>
          <p:nvPr/>
        </p:nvSpPr>
        <p:spPr>
          <a:xfrm xmlns:a="http://schemas.openxmlformats.org/drawingml/2006/main">
            <a:off x="2438400" y="3281363"/>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Beginn</a:t>
            </a:r>
          </a:p>
        </p:txBody>
      </p:sp>
      <p:sp>
        <p:nvSpPr>
          <p:cNvPr id="14" name="">
            <a:extLst xmlns:a="http://schemas.openxmlformats.org/drawingml/2006/main">
              <a:ext uri="{FF2B5EF4-FFF2-40B4-BE49-F238E27FC236}">
                <a16:creationId xmlns:a16="http://schemas.microsoft.com/office/drawing/2014/main" id="{C160E339-9589-4ED7-9C81-E798296B97C1}"/>
              </a:ext>
            </a:extLst>
          </p:cNvPr>
          <p:cNvSpPr>
            <a:spLocks xmlns:a="http://schemas.openxmlformats.org/drawingml/2006/main" noGrp="1"/>
          </p:cNvSpPr>
          <p:nvPr/>
        </p:nvSpPr>
        <p:spPr>
          <a:xfrm xmlns:a="http://schemas.openxmlformats.org/drawingml/2006/main">
            <a:off x="4591050" y="3281363"/>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Nach § 199 Abs. 1 beginnt sie grundsätzlich mit dem Schluss des Jahres, in dem Anspruch entstand und Gläubiger Kenntnis von anspruchsbegründenden Umständen und Person des Schuldners erlangte oder grob fahrlässig nicht erlangte.</a:t>
            </a:r>
          </a:p>
        </p:txBody>
      </p:sp>
      <p:sp>
        <p:nvSpPr>
          <p:cNvPr id="15" name="">
            <a:extLst xmlns:a="http://schemas.openxmlformats.org/drawingml/2006/main">
              <a:ext uri="{FF2B5EF4-FFF2-40B4-BE49-F238E27FC236}">
                <a16:creationId xmlns:a16="http://schemas.microsoft.com/office/drawing/2014/main" id="{A2145145-D14D-4E3B-875E-F1026894391D}"/>
              </a:ext>
            </a:extLst>
          </p:cNvPr>
          <p:cNvSpPr>
            <a:spLocks xmlns:a="http://schemas.openxmlformats.org/drawingml/2006/main" noGrp="1"/>
          </p:cNvSpPr>
          <p:nvPr/>
        </p:nvSpPr>
        <p:spPr>
          <a:xfrm xmlns:a="http://schemas.openxmlformats.org/drawingml/2006/main">
            <a:off x="1809750" y="3762375"/>
            <a:ext cx="476250" cy="414338"/>
          </a:xfrm>
          <a:prstGeom xmlns:a="http://schemas.openxmlformats.org/drawingml/2006/main" prst="roundRect">
            <a:avLst>
              <a:gd name="adj" fmla="val 18391"/>
            </a:avLst>
          </a:prstGeom>
          <a:solidFill xmlns:a="http://schemas.openxmlformats.org/drawingml/2006/main">
            <a:srgbClr val="00B2BB"/>
          </a:solidFill>
          <a:ln xmlns:a="http://schemas.openxmlformats.org/drawingml/2006/main" w="0">
            <a:solidFill>
              <a:srgbClr val="00B2BB"/>
            </a:solidFill>
            <a:prstDash val="solid"/>
          </a:ln>
        </p:spPr>
      </p:sp>
      <p:sp>
        <p:nvSpPr>
          <p:cNvPr id="16" name="">
            <a:extLst xmlns:a="http://schemas.openxmlformats.org/drawingml/2006/main">
              <a:ext uri="{FF2B5EF4-FFF2-40B4-BE49-F238E27FC236}">
                <a16:creationId xmlns:a16="http://schemas.microsoft.com/office/drawing/2014/main" id="{34412CD2-4AFD-4690-94FC-151D8802ECB0}"/>
              </a:ext>
            </a:extLst>
          </p:cNvPr>
          <p:cNvSpPr>
            <a:spLocks xmlns:a="http://schemas.openxmlformats.org/drawingml/2006/main" noGrp="1"/>
          </p:cNvSpPr>
          <p:nvPr/>
        </p:nvSpPr>
        <p:spPr>
          <a:xfrm xmlns:a="http://schemas.openxmlformats.org/drawingml/2006/main">
            <a:off x="1809750" y="3762375"/>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7" name="">
            <a:extLst xmlns:a="http://schemas.openxmlformats.org/drawingml/2006/main">
              <a:ext uri="{FF2B5EF4-FFF2-40B4-BE49-F238E27FC236}">
                <a16:creationId xmlns:a16="http://schemas.microsoft.com/office/drawing/2014/main" id="{BE31B96D-BFE5-43ED-8B7D-B7C1678BBB15}"/>
              </a:ext>
            </a:extLst>
          </p:cNvPr>
          <p:cNvSpPr>
            <a:spLocks xmlns:a="http://schemas.openxmlformats.org/drawingml/2006/main" noGrp="1"/>
          </p:cNvSpPr>
          <p:nvPr/>
        </p:nvSpPr>
        <p:spPr>
          <a:xfrm xmlns:a="http://schemas.openxmlformats.org/drawingml/2006/main">
            <a:off x="2438400" y="3771900"/>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Kenntnisumfang</a:t>
            </a:r>
          </a:p>
        </p:txBody>
      </p:sp>
      <p:sp>
        <p:nvSpPr>
          <p:cNvPr id="18" name="">
            <a:extLst xmlns:a="http://schemas.openxmlformats.org/drawingml/2006/main">
              <a:ext uri="{FF2B5EF4-FFF2-40B4-BE49-F238E27FC236}">
                <a16:creationId xmlns:a16="http://schemas.microsoft.com/office/drawing/2014/main" id="{8AB71939-5BE1-4CDC-A5D4-D515C16F3159}"/>
              </a:ext>
            </a:extLst>
          </p:cNvPr>
          <p:cNvSpPr>
            <a:spLocks xmlns:a="http://schemas.openxmlformats.org/drawingml/2006/main" noGrp="1"/>
          </p:cNvSpPr>
          <p:nvPr/>
        </p:nvSpPr>
        <p:spPr>
          <a:xfrm xmlns:a="http://schemas.openxmlformats.org/drawingml/2006/main">
            <a:off x="4591050" y="3771900"/>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Erforderlich ist nicht vollständige rechtliche Gewissheit, aber eine Tatsachengrundlage, die eine Klage zumutbar erscheinen lässt.</a:t>
            </a:r>
          </a:p>
        </p:txBody>
      </p:sp>
      <p:sp>
        <p:nvSpPr>
          <p:cNvPr id="19" name="">
            <a:extLst xmlns:a="http://schemas.openxmlformats.org/drawingml/2006/main">
              <a:ext uri="{FF2B5EF4-FFF2-40B4-BE49-F238E27FC236}">
                <a16:creationId xmlns:a16="http://schemas.microsoft.com/office/drawing/2014/main" id="{77B8F4CA-9B30-4629-A062-2EEE544B482C}"/>
              </a:ext>
            </a:extLst>
          </p:cNvPr>
          <p:cNvSpPr>
            <a:spLocks xmlns:a="http://schemas.openxmlformats.org/drawingml/2006/main" noGrp="1"/>
          </p:cNvSpPr>
          <p:nvPr/>
        </p:nvSpPr>
        <p:spPr>
          <a:xfrm xmlns:a="http://schemas.openxmlformats.org/drawingml/2006/main">
            <a:off x="1809750" y="4252913"/>
            <a:ext cx="476250" cy="414338"/>
          </a:xfrm>
          <a:prstGeom xmlns:a="http://schemas.openxmlformats.org/drawingml/2006/main" prst="roundRect">
            <a:avLst>
              <a:gd name="adj" fmla="val 18391"/>
            </a:avLst>
          </a:prstGeom>
          <a:solidFill xmlns:a="http://schemas.openxmlformats.org/drawingml/2006/main">
            <a:srgbClr val="003F6B"/>
          </a:solidFill>
          <a:ln xmlns:a="http://schemas.openxmlformats.org/drawingml/2006/main" w="0">
            <a:solidFill>
              <a:srgbClr val="003F6B"/>
            </a:solidFill>
            <a:prstDash val="solid"/>
          </a:ln>
        </p:spPr>
      </p:sp>
      <p:sp>
        <p:nvSpPr>
          <p:cNvPr id="20" name="">
            <a:extLst xmlns:a="http://schemas.openxmlformats.org/drawingml/2006/main">
              <a:ext uri="{FF2B5EF4-FFF2-40B4-BE49-F238E27FC236}">
                <a16:creationId xmlns:a16="http://schemas.microsoft.com/office/drawing/2014/main" id="{37B8B606-8DC8-4ED3-82CD-5E73FE118678}"/>
              </a:ext>
            </a:extLst>
          </p:cNvPr>
          <p:cNvSpPr>
            <a:spLocks xmlns:a="http://schemas.openxmlformats.org/drawingml/2006/main" noGrp="1"/>
          </p:cNvSpPr>
          <p:nvPr/>
        </p:nvSpPr>
        <p:spPr>
          <a:xfrm xmlns:a="http://schemas.openxmlformats.org/drawingml/2006/main">
            <a:off x="1809750" y="4252913"/>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21" name="">
            <a:extLst xmlns:a="http://schemas.openxmlformats.org/drawingml/2006/main">
              <a:ext uri="{FF2B5EF4-FFF2-40B4-BE49-F238E27FC236}">
                <a16:creationId xmlns:a16="http://schemas.microsoft.com/office/drawing/2014/main" id="{8327CC47-0E16-41C6-B7D5-4EB756FEA06A}"/>
              </a:ext>
            </a:extLst>
          </p:cNvPr>
          <p:cNvSpPr>
            <a:spLocks xmlns:a="http://schemas.openxmlformats.org/drawingml/2006/main" noGrp="1"/>
          </p:cNvSpPr>
          <p:nvPr/>
        </p:nvSpPr>
        <p:spPr>
          <a:xfrm xmlns:a="http://schemas.openxmlformats.org/drawingml/2006/main">
            <a:off x="2438400" y="4262438"/>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Höchstfristen</a:t>
            </a:r>
          </a:p>
        </p:txBody>
      </p:sp>
      <p:sp>
        <p:nvSpPr>
          <p:cNvPr id="22" name="">
            <a:extLst xmlns:a="http://schemas.openxmlformats.org/drawingml/2006/main">
              <a:ext uri="{FF2B5EF4-FFF2-40B4-BE49-F238E27FC236}">
                <a16:creationId xmlns:a16="http://schemas.microsoft.com/office/drawing/2014/main" id="{9FE99BA5-5A0B-4A1D-B664-56E1D7DC6A9F}"/>
              </a:ext>
            </a:extLst>
          </p:cNvPr>
          <p:cNvSpPr>
            <a:spLocks xmlns:a="http://schemas.openxmlformats.org/drawingml/2006/main" noGrp="1"/>
          </p:cNvSpPr>
          <p:nvPr/>
        </p:nvSpPr>
        <p:spPr>
          <a:xfrm xmlns:a="http://schemas.openxmlformats.org/drawingml/2006/main">
            <a:off x="4591050" y="4262438"/>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Unabhängig von Kenntnis gelten gesetzliche absolute Grenzen, die im Einzelfall gesondert geprüft werden.</a:t>
            </a:r>
          </a:p>
        </p:txBody>
      </p:sp>
      <p:sp>
        <p:nvSpPr>
          <p:cNvPr id="23" name="">
            <a:extLst xmlns:a="http://schemas.openxmlformats.org/drawingml/2006/main">
              <a:ext uri="{FF2B5EF4-FFF2-40B4-BE49-F238E27FC236}">
                <a16:creationId xmlns:a16="http://schemas.microsoft.com/office/drawing/2014/main" id="{A97C6D1F-3C39-4635-88EC-2C50923F2EC4}"/>
              </a:ext>
            </a:extLst>
          </p:cNvPr>
          <p:cNvSpPr>
            <a:spLocks xmlns:a="http://schemas.openxmlformats.org/drawingml/2006/main" noGrp="1"/>
          </p:cNvSpPr>
          <p:nvPr/>
        </p:nvSpPr>
        <p:spPr>
          <a:xfrm xmlns:a="http://schemas.openxmlformats.org/drawingml/2006/main">
            <a:off x="1809750" y="4781550"/>
            <a:ext cx="9525000" cy="666750"/>
          </a:xfrm>
          <a:prstGeom xmlns:a="http://schemas.openxmlformats.org/drawingml/2006/main" prst="roundRect">
            <a:avLst>
              <a:gd name="adj" fmla="val 11429"/>
            </a:avLst>
          </a:prstGeom>
          <a:solidFill xmlns:a="http://schemas.openxmlformats.org/drawingml/2006/main">
            <a:srgbClr val="EAF6FB"/>
          </a:solidFill>
          <a:ln xmlns:a="http://schemas.openxmlformats.org/drawingml/2006/main" w="9525">
            <a:solidFill>
              <a:srgbClr val="00B2BB"/>
            </a:solidFill>
            <a:prstDash val="solid"/>
          </a:ln>
        </p:spPr>
      </p:sp>
      <p:sp>
        <p:nvSpPr>
          <p:cNvPr id="24" name="">
            <a:extLst xmlns:a="http://schemas.openxmlformats.org/drawingml/2006/main">
              <a:ext uri="{FF2B5EF4-FFF2-40B4-BE49-F238E27FC236}">
                <a16:creationId xmlns:a16="http://schemas.microsoft.com/office/drawing/2014/main" id="{B7EAB17A-6E08-4955-A40B-975B0319C7AF}"/>
              </a:ext>
            </a:extLst>
          </p:cNvPr>
          <p:cNvSpPr>
            <a:spLocks xmlns:a="http://schemas.openxmlformats.org/drawingml/2006/main" noGrp="1"/>
          </p:cNvSpPr>
          <p:nvPr/>
        </p:nvSpPr>
        <p:spPr>
          <a:xfrm xmlns:a="http://schemas.openxmlformats.org/drawingml/2006/main">
            <a:off x="1981200" y="4829175"/>
            <a:ext cx="9182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065">
                <a:solidFill>
                  <a:srgbClr val="15232B"/>
                </a:solidFill>
              </a:defRPr>
            </a:pPr>
            <a:r>
              <a:rPr sz="1065">
                <a:solidFill>
                  <a:srgbClr val="15232B"/>
                </a:solidFill>
              </a:rPr>
              <a:t>Beispiel · Beispiel: Behandlung und Schaden 2026, ausreichende Kenntnis 2027: Der regelmäßige Lauf wird vom Schluss des Jahres 2027 aus berechnet, vorbehaltlich Hemmung und Sonderregeln.</a:t>
            </a:r>
          </a:p>
        </p:txBody>
      </p:sp>
      <p:sp>
        <p:nvSpPr>
          <p:cNvPr id="25" name="">
            <a:extLst xmlns:a="http://schemas.openxmlformats.org/drawingml/2006/main">
              <a:ext uri="{FF2B5EF4-FFF2-40B4-BE49-F238E27FC236}">
                <a16:creationId xmlns:a16="http://schemas.microsoft.com/office/drawing/2014/main" id="{A9B72A7D-25D3-4B52-BD73-A8F6DDB50014}"/>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6" name="">
            <a:extLst xmlns:a="http://schemas.openxmlformats.org/drawingml/2006/main">
              <a:ext uri="{FF2B5EF4-FFF2-40B4-BE49-F238E27FC236}">
                <a16:creationId xmlns:a16="http://schemas.microsoft.com/office/drawing/2014/main" id="{6C60507A-FBE7-408A-8121-14B8E9047B31}"/>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Verjährung wird mit exakten Daten und Ereignissen gerechnet, nie nur nach Gefühl.</a:t>
            </a:r>
          </a:p>
        </p:txBody>
      </p:sp>
    </p:spTree>
    <p:extLst>
      <p:ext uri="{BB962C8B-B14F-4D97-AF65-F5344CB8AC3E}">
        <p14:creationId xmlns:p14="http://schemas.microsoft.com/office/powerpoint/2010/main" val="43637646"/>
      </p:ext>
    </p:extLst>
  </p:cSld>
</p:sld>
</file>

<file path=ppt/slides/slide168.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Hemmung und Neubeginn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8C256280-1D27-4022-B9C2-77E83BF6A86A}"/>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Nicht jede Kommunikation stoppt die Verjährung. Die konkrete gesetzliche Wirkung muss feststehen.</a:t>
            </a:r>
          </a:p>
        </p:txBody>
      </p:sp>
      <p:sp>
        <p:nvSpPr>
          <p:cNvPr id="5" name="">
            <a:extLst xmlns:a="http://schemas.openxmlformats.org/drawingml/2006/main">
              <a:ext uri="{FF2B5EF4-FFF2-40B4-BE49-F238E27FC236}">
                <a16:creationId xmlns:a16="http://schemas.microsoft.com/office/drawing/2014/main" id="{B2F3D21E-6347-4595-B216-999D969036FE}"/>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53B1338E-CEE6-4758-AD8C-B5C2C52F1231}"/>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8C2DC230-9D0E-4831-B3A5-85FF5653FCAF}"/>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Verhandlungen</a:t>
            </a:r>
          </a:p>
        </p:txBody>
      </p:sp>
      <p:sp>
        <p:nvSpPr>
          <p:cNvPr id="8" name="">
            <a:extLst xmlns:a="http://schemas.openxmlformats.org/drawingml/2006/main">
              <a:ext uri="{FF2B5EF4-FFF2-40B4-BE49-F238E27FC236}">
                <a16:creationId xmlns:a16="http://schemas.microsoft.com/office/drawing/2014/main" id="{FE15DDB5-5832-419D-AD6D-AE5B98814A10}"/>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 203 BGB kann den Lauf hemmen, solange ernsthafte Verhandlungen über Anspruch oder Umstände schweben.</a:t>
            </a:r>
          </a:p>
        </p:txBody>
      </p:sp>
      <p:sp>
        <p:nvSpPr>
          <p:cNvPr id="9" name="">
            <a:extLst xmlns:a="http://schemas.openxmlformats.org/drawingml/2006/main">
              <a:ext uri="{FF2B5EF4-FFF2-40B4-BE49-F238E27FC236}">
                <a16:creationId xmlns:a16="http://schemas.microsoft.com/office/drawing/2014/main" id="{CBAE3F63-5BB5-4C1C-8569-2D7D61CB22D9}"/>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BD13A15E-3135-4505-AA11-01F1DA4F4ED5}"/>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32A076E2-E448-4452-87B3-BD73659CF1D4}"/>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Rechtsverfolgung</a:t>
            </a:r>
          </a:p>
        </p:txBody>
      </p:sp>
      <p:sp>
        <p:nvSpPr>
          <p:cNvPr id="12" name="">
            <a:extLst xmlns:a="http://schemas.openxmlformats.org/drawingml/2006/main">
              <a:ext uri="{FF2B5EF4-FFF2-40B4-BE49-F238E27FC236}">
                <a16:creationId xmlns:a16="http://schemas.microsoft.com/office/drawing/2014/main" id="{1FDD289D-15F2-40EA-B59C-52C4C5C424AF}"/>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 204 BGB nennt unter anderem Klage und bestimmte anerkannte Streitbeilegungsverfahren als Hemmungstatbestände.</a:t>
            </a:r>
          </a:p>
        </p:txBody>
      </p:sp>
      <p:sp>
        <p:nvSpPr>
          <p:cNvPr id="13" name="">
            <a:extLst xmlns:a="http://schemas.openxmlformats.org/drawingml/2006/main">
              <a:ext uri="{FF2B5EF4-FFF2-40B4-BE49-F238E27FC236}">
                <a16:creationId xmlns:a16="http://schemas.microsoft.com/office/drawing/2014/main" id="{00541B81-0926-4DEC-B266-E0739C460B84}"/>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69A611F1-A277-47C9-8F27-C59812754EC8}"/>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865D6137-13CC-4001-B624-9E486386D349}"/>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Wirkung der Hemmung</a:t>
            </a:r>
          </a:p>
        </p:txBody>
      </p:sp>
      <p:sp>
        <p:nvSpPr>
          <p:cNvPr id="16" name="">
            <a:extLst xmlns:a="http://schemas.openxmlformats.org/drawingml/2006/main">
              <a:ext uri="{FF2B5EF4-FFF2-40B4-BE49-F238E27FC236}">
                <a16:creationId xmlns:a16="http://schemas.microsoft.com/office/drawing/2014/main" id="{0E5A6695-5D39-4382-8519-A8FDDD17093F}"/>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Der gehemmte Zeitraum wird nicht in die Frist eingerechnet; Nachlaufregeln sind zu beachten.</a:t>
            </a:r>
          </a:p>
        </p:txBody>
      </p:sp>
      <p:sp>
        <p:nvSpPr>
          <p:cNvPr id="17" name="">
            <a:extLst xmlns:a="http://schemas.openxmlformats.org/drawingml/2006/main">
              <a:ext uri="{FF2B5EF4-FFF2-40B4-BE49-F238E27FC236}">
                <a16:creationId xmlns:a16="http://schemas.microsoft.com/office/drawing/2014/main" id="{6F273AEE-AFB5-4A74-B3F1-761C63F7F5E5}"/>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157677E9-69E5-4709-8C30-7674C7DDA079}"/>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F38C1AD8-F854-46CD-850E-F92622609A6A}"/>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Neubeginn</a:t>
            </a:r>
          </a:p>
        </p:txBody>
      </p:sp>
      <p:sp>
        <p:nvSpPr>
          <p:cNvPr id="20" name="">
            <a:extLst xmlns:a="http://schemas.openxmlformats.org/drawingml/2006/main">
              <a:ext uri="{FF2B5EF4-FFF2-40B4-BE49-F238E27FC236}">
                <a16:creationId xmlns:a16="http://schemas.microsoft.com/office/drawing/2014/main" id="{E522C499-1DCB-476A-9108-AFA181F1C424}"/>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 212 BGB lässt die Frist insbesondere bei Anerkenntnis oder Vollstreckungshandlungen neu beginnen; das ist von Hemmung zu unterscheiden.</a:t>
            </a:r>
          </a:p>
        </p:txBody>
      </p:sp>
      <p:sp>
        <p:nvSpPr>
          <p:cNvPr id="21" name="">
            <a:extLst xmlns:a="http://schemas.openxmlformats.org/drawingml/2006/main">
              <a:ext uri="{FF2B5EF4-FFF2-40B4-BE49-F238E27FC236}">
                <a16:creationId xmlns:a16="http://schemas.microsoft.com/office/drawing/2014/main" id="{E2D267AD-D4F4-49BE-AA17-C3B911AD1760}"/>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F76B9AC3-D62B-4642-B6C8-A07FAAE2F5A0}"/>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Vor Ablauf wird ein sicherer gesetzlicher Hemmungstatbestand geschaffen und dokumentiert.</a:t>
            </a:r>
          </a:p>
        </p:txBody>
      </p:sp>
    </p:spTree>
    <p:extLst>
      <p:ext uri="{BB962C8B-B14F-4D97-AF65-F5344CB8AC3E}">
        <p14:creationId xmlns:p14="http://schemas.microsoft.com/office/powerpoint/2010/main" val="43637646"/>
      </p:ext>
    </p:extLst>
  </p:cSld>
</p:sld>
</file>

<file path=ppt/slides/slide169.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Außergerichtliche Fallakte</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PRÜFUNGSSCHEMA · VORBEREITUNG</a:t>
            </a:r>
            <a:endParaRPr/>
          </a:p>
        </p:txBody>
      </p:sp>
      <p:sp>
        <p:nvSpPr>
          <p:cNvPr id="4" name="">
            <a:extLst xmlns:a="http://schemas.openxmlformats.org/drawingml/2006/main">
              <a:ext uri="{FF2B5EF4-FFF2-40B4-BE49-F238E27FC236}">
                <a16:creationId xmlns:a16="http://schemas.microsoft.com/office/drawing/2014/main" id="{6FC3B3BE-66AD-4D6F-9076-07D51EF947ED}"/>
              </a:ext>
            </a:extLst>
          </p:cNvPr>
          <p:cNvSpPr>
            <a:spLocks xmlns:a="http://schemas.openxmlformats.org/drawingml/2006/main" noGrp="1"/>
          </p:cNvSpPr>
          <p:nvPr/>
        </p:nvSpPr>
        <p:spPr>
          <a:xfrm xmlns:a="http://schemas.openxmlformats.org/drawingml/2006/main">
            <a:off x="1809750" y="195262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1964DD7C-91BF-44B9-BD70-B8F1EBE4DA00}"/>
              </a:ext>
            </a:extLst>
          </p:cNvPr>
          <p:cNvSpPr>
            <a:spLocks xmlns:a="http://schemas.openxmlformats.org/drawingml/2006/main" noGrp="1"/>
          </p:cNvSpPr>
          <p:nvPr/>
        </p:nvSpPr>
        <p:spPr>
          <a:xfrm xmlns:a="http://schemas.openxmlformats.org/drawingml/2006/main">
            <a:off x="1809750" y="19526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6" name="">
            <a:extLst xmlns:a="http://schemas.openxmlformats.org/drawingml/2006/main">
              <a:ext uri="{FF2B5EF4-FFF2-40B4-BE49-F238E27FC236}">
                <a16:creationId xmlns:a16="http://schemas.microsoft.com/office/drawing/2014/main" id="{A3C1FE73-102B-4203-9B78-0641469E2803}"/>
              </a:ext>
            </a:extLst>
          </p:cNvPr>
          <p:cNvSpPr>
            <a:spLocks xmlns:a="http://schemas.openxmlformats.org/drawingml/2006/main" noGrp="1"/>
          </p:cNvSpPr>
          <p:nvPr/>
        </p:nvSpPr>
        <p:spPr>
          <a:xfrm xmlns:a="http://schemas.openxmlformats.org/drawingml/2006/main">
            <a:off x="2324100" y="196215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1. Chronologie</a:t>
            </a:r>
          </a:p>
        </p:txBody>
      </p:sp>
      <p:sp>
        <p:nvSpPr>
          <p:cNvPr id="7" name="">
            <a:extLst xmlns:a="http://schemas.openxmlformats.org/drawingml/2006/main">
              <a:ext uri="{FF2B5EF4-FFF2-40B4-BE49-F238E27FC236}">
                <a16:creationId xmlns:a16="http://schemas.microsoft.com/office/drawing/2014/main" id="{A647DC90-E5B0-4BC6-8B16-7094F0F7A69D}"/>
              </a:ext>
            </a:extLst>
          </p:cNvPr>
          <p:cNvSpPr>
            <a:spLocks xmlns:a="http://schemas.openxmlformats.org/drawingml/2006/main" noGrp="1"/>
          </p:cNvSpPr>
          <p:nvPr/>
        </p:nvSpPr>
        <p:spPr>
          <a:xfrm xmlns:a="http://schemas.openxmlformats.org/drawingml/2006/main">
            <a:off x="4819650" y="196215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Behandlung, Symptome, Kommunikation, Schaden und Kenntnisdaten werden mit Quellen geordnet.</a:t>
            </a:r>
          </a:p>
        </p:txBody>
      </p:sp>
      <p:sp>
        <p:nvSpPr>
          <p:cNvPr id="8" name="">
            <a:extLst xmlns:a="http://schemas.openxmlformats.org/drawingml/2006/main">
              <a:ext uri="{FF2B5EF4-FFF2-40B4-BE49-F238E27FC236}">
                <a16:creationId xmlns:a16="http://schemas.microsoft.com/office/drawing/2014/main" id="{700C7E56-8D59-476D-AFB3-E51A90B65AA2}"/>
              </a:ext>
            </a:extLst>
          </p:cNvPr>
          <p:cNvSpPr>
            <a:spLocks xmlns:a="http://schemas.openxmlformats.org/drawingml/2006/main" noGrp="1"/>
          </p:cNvSpPr>
          <p:nvPr/>
        </p:nvSpPr>
        <p:spPr>
          <a:xfrm xmlns:a="http://schemas.openxmlformats.org/drawingml/2006/main">
            <a:off x="1809750" y="255270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9" name="">
            <a:extLst xmlns:a="http://schemas.openxmlformats.org/drawingml/2006/main">
              <a:ext uri="{FF2B5EF4-FFF2-40B4-BE49-F238E27FC236}">
                <a16:creationId xmlns:a16="http://schemas.microsoft.com/office/drawing/2014/main" id="{10486F3C-3612-4008-94AF-E8E8BC6E142B}"/>
              </a:ext>
            </a:extLst>
          </p:cNvPr>
          <p:cNvSpPr>
            <a:spLocks xmlns:a="http://schemas.openxmlformats.org/drawingml/2006/main" noGrp="1"/>
          </p:cNvSpPr>
          <p:nvPr/>
        </p:nvSpPr>
        <p:spPr>
          <a:xfrm xmlns:a="http://schemas.openxmlformats.org/drawingml/2006/main">
            <a:off x="1809750" y="255270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0" name="">
            <a:extLst xmlns:a="http://schemas.openxmlformats.org/drawingml/2006/main">
              <a:ext uri="{FF2B5EF4-FFF2-40B4-BE49-F238E27FC236}">
                <a16:creationId xmlns:a16="http://schemas.microsoft.com/office/drawing/2014/main" id="{A515EBD6-DB1C-4416-9C48-AFFA1A744E9A}"/>
              </a:ext>
            </a:extLst>
          </p:cNvPr>
          <p:cNvSpPr>
            <a:spLocks xmlns:a="http://schemas.openxmlformats.org/drawingml/2006/main" noGrp="1"/>
          </p:cNvSpPr>
          <p:nvPr/>
        </p:nvSpPr>
        <p:spPr>
          <a:xfrm xmlns:a="http://schemas.openxmlformats.org/drawingml/2006/main">
            <a:off x="2324100" y="256222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2. Beteiligte</a:t>
            </a:r>
          </a:p>
        </p:txBody>
      </p:sp>
      <p:sp>
        <p:nvSpPr>
          <p:cNvPr id="11" name="">
            <a:extLst xmlns:a="http://schemas.openxmlformats.org/drawingml/2006/main">
              <a:ext uri="{FF2B5EF4-FFF2-40B4-BE49-F238E27FC236}">
                <a16:creationId xmlns:a16="http://schemas.microsoft.com/office/drawing/2014/main" id="{4ACDDD8E-5242-447F-BF8E-F9076AEB80C2}"/>
              </a:ext>
            </a:extLst>
          </p:cNvPr>
          <p:cNvSpPr>
            <a:spLocks xmlns:a="http://schemas.openxmlformats.org/drawingml/2006/main" noGrp="1"/>
          </p:cNvSpPr>
          <p:nvPr/>
        </p:nvSpPr>
        <p:spPr>
          <a:xfrm xmlns:a="http://schemas.openxmlformats.org/drawingml/2006/main">
            <a:off x="4819650" y="256222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Vertragspartner, behandelnde Personen, Träger, Versicherer und weitere mögliche Verantwortliche werden identifiziert.</a:t>
            </a:r>
          </a:p>
        </p:txBody>
      </p:sp>
      <p:sp>
        <p:nvSpPr>
          <p:cNvPr id="12" name="">
            <a:extLst xmlns:a="http://schemas.openxmlformats.org/drawingml/2006/main">
              <a:ext uri="{FF2B5EF4-FFF2-40B4-BE49-F238E27FC236}">
                <a16:creationId xmlns:a16="http://schemas.microsoft.com/office/drawing/2014/main" id="{4C78CE6C-6490-4B6A-8ADD-40DABA5FB7AA}"/>
              </a:ext>
            </a:extLst>
          </p:cNvPr>
          <p:cNvSpPr>
            <a:spLocks xmlns:a="http://schemas.openxmlformats.org/drawingml/2006/main" noGrp="1"/>
          </p:cNvSpPr>
          <p:nvPr/>
        </p:nvSpPr>
        <p:spPr>
          <a:xfrm xmlns:a="http://schemas.openxmlformats.org/drawingml/2006/main">
            <a:off x="1809750" y="315277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3" name="">
            <a:extLst xmlns:a="http://schemas.openxmlformats.org/drawingml/2006/main">
              <a:ext uri="{FF2B5EF4-FFF2-40B4-BE49-F238E27FC236}">
                <a16:creationId xmlns:a16="http://schemas.microsoft.com/office/drawing/2014/main" id="{FBD361EF-F523-4BAB-AA3F-3740A033C33E}"/>
              </a:ext>
            </a:extLst>
          </p:cNvPr>
          <p:cNvSpPr>
            <a:spLocks xmlns:a="http://schemas.openxmlformats.org/drawingml/2006/main" noGrp="1"/>
          </p:cNvSpPr>
          <p:nvPr/>
        </p:nvSpPr>
        <p:spPr>
          <a:xfrm xmlns:a="http://schemas.openxmlformats.org/drawingml/2006/main">
            <a:off x="1809750" y="315277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4" name="">
            <a:extLst xmlns:a="http://schemas.openxmlformats.org/drawingml/2006/main">
              <a:ext uri="{FF2B5EF4-FFF2-40B4-BE49-F238E27FC236}">
                <a16:creationId xmlns:a16="http://schemas.microsoft.com/office/drawing/2014/main" id="{37E0145F-6378-4C56-9E88-A9C88C2E74A1}"/>
              </a:ext>
            </a:extLst>
          </p:cNvPr>
          <p:cNvSpPr>
            <a:spLocks xmlns:a="http://schemas.openxmlformats.org/drawingml/2006/main" noGrp="1"/>
          </p:cNvSpPr>
          <p:nvPr/>
        </p:nvSpPr>
        <p:spPr>
          <a:xfrm xmlns:a="http://schemas.openxmlformats.org/drawingml/2006/main">
            <a:off x="2324100" y="316230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3. Unterlagen</a:t>
            </a:r>
          </a:p>
        </p:txBody>
      </p:sp>
      <p:sp>
        <p:nvSpPr>
          <p:cNvPr id="15" name="">
            <a:extLst xmlns:a="http://schemas.openxmlformats.org/drawingml/2006/main">
              <a:ext uri="{FF2B5EF4-FFF2-40B4-BE49-F238E27FC236}">
                <a16:creationId xmlns:a16="http://schemas.microsoft.com/office/drawing/2014/main" id="{85FAD639-1629-4F85-95CB-82C7460D4771}"/>
              </a:ext>
            </a:extLst>
          </p:cNvPr>
          <p:cNvSpPr>
            <a:spLocks xmlns:a="http://schemas.openxmlformats.org/drawingml/2006/main" noGrp="1"/>
          </p:cNvSpPr>
          <p:nvPr/>
        </p:nvSpPr>
        <p:spPr>
          <a:xfrm xmlns:a="http://schemas.openxmlformats.org/drawingml/2006/main">
            <a:off x="4819650" y="316230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Vollständige Akte, Bildgebung, Abrechnungs- und Schadensbelege sowie Vor- und Nachbehandlung werden gesichert.</a:t>
            </a:r>
          </a:p>
        </p:txBody>
      </p:sp>
      <p:sp>
        <p:nvSpPr>
          <p:cNvPr id="16" name="">
            <a:extLst xmlns:a="http://schemas.openxmlformats.org/drawingml/2006/main">
              <a:ext uri="{FF2B5EF4-FFF2-40B4-BE49-F238E27FC236}">
                <a16:creationId xmlns:a16="http://schemas.microsoft.com/office/drawing/2014/main" id="{2773CDDB-57A6-4F2E-A9DD-A5ABF1E1D69C}"/>
              </a:ext>
            </a:extLst>
          </p:cNvPr>
          <p:cNvSpPr>
            <a:spLocks xmlns:a="http://schemas.openxmlformats.org/drawingml/2006/main" noGrp="1"/>
          </p:cNvSpPr>
          <p:nvPr/>
        </p:nvSpPr>
        <p:spPr>
          <a:xfrm xmlns:a="http://schemas.openxmlformats.org/drawingml/2006/main">
            <a:off x="1809750" y="375285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7" name="">
            <a:extLst xmlns:a="http://schemas.openxmlformats.org/drawingml/2006/main">
              <a:ext uri="{FF2B5EF4-FFF2-40B4-BE49-F238E27FC236}">
                <a16:creationId xmlns:a16="http://schemas.microsoft.com/office/drawing/2014/main" id="{11898822-FF08-4E64-9F9B-11A960F58C12}"/>
              </a:ext>
            </a:extLst>
          </p:cNvPr>
          <p:cNvSpPr>
            <a:spLocks xmlns:a="http://schemas.openxmlformats.org/drawingml/2006/main" noGrp="1"/>
          </p:cNvSpPr>
          <p:nvPr/>
        </p:nvSpPr>
        <p:spPr>
          <a:xfrm xmlns:a="http://schemas.openxmlformats.org/drawingml/2006/main">
            <a:off x="1809750" y="375285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18" name="">
            <a:extLst xmlns:a="http://schemas.openxmlformats.org/drawingml/2006/main">
              <a:ext uri="{FF2B5EF4-FFF2-40B4-BE49-F238E27FC236}">
                <a16:creationId xmlns:a16="http://schemas.microsoft.com/office/drawing/2014/main" id="{BB7A5552-E82E-4216-B2D0-3600EFEDB99D}"/>
              </a:ext>
            </a:extLst>
          </p:cNvPr>
          <p:cNvSpPr>
            <a:spLocks xmlns:a="http://schemas.openxmlformats.org/drawingml/2006/main" noGrp="1"/>
          </p:cNvSpPr>
          <p:nvPr/>
        </p:nvSpPr>
        <p:spPr>
          <a:xfrm xmlns:a="http://schemas.openxmlformats.org/drawingml/2006/main">
            <a:off x="2324100" y="376237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4. Medizinische Frage</a:t>
            </a:r>
          </a:p>
        </p:txBody>
      </p:sp>
      <p:sp>
        <p:nvSpPr>
          <p:cNvPr id="19" name="">
            <a:extLst xmlns:a="http://schemas.openxmlformats.org/drawingml/2006/main">
              <a:ext uri="{FF2B5EF4-FFF2-40B4-BE49-F238E27FC236}">
                <a16:creationId xmlns:a16="http://schemas.microsoft.com/office/drawing/2014/main" id="{8374FF40-DE04-494E-B19E-1217885B9A59}"/>
              </a:ext>
            </a:extLst>
          </p:cNvPr>
          <p:cNvSpPr>
            <a:spLocks xmlns:a="http://schemas.openxmlformats.org/drawingml/2006/main" noGrp="1"/>
          </p:cNvSpPr>
          <p:nvPr/>
        </p:nvSpPr>
        <p:spPr>
          <a:xfrm xmlns:a="http://schemas.openxmlformats.org/drawingml/2006/main">
            <a:off x="4819650" y="376237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Standardabweichung und Alternativverlauf werden präzise für Gutachten formuliert.</a:t>
            </a:r>
          </a:p>
        </p:txBody>
      </p:sp>
      <p:sp>
        <p:nvSpPr>
          <p:cNvPr id="20" name="">
            <a:extLst xmlns:a="http://schemas.openxmlformats.org/drawingml/2006/main">
              <a:ext uri="{FF2B5EF4-FFF2-40B4-BE49-F238E27FC236}">
                <a16:creationId xmlns:a16="http://schemas.microsoft.com/office/drawing/2014/main" id="{EAABAFD7-840A-45EC-AD63-25AB888AF914}"/>
              </a:ext>
            </a:extLst>
          </p:cNvPr>
          <p:cNvSpPr>
            <a:spLocks xmlns:a="http://schemas.openxmlformats.org/drawingml/2006/main" noGrp="1"/>
          </p:cNvSpPr>
          <p:nvPr/>
        </p:nvSpPr>
        <p:spPr>
          <a:xfrm xmlns:a="http://schemas.openxmlformats.org/drawingml/2006/main">
            <a:off x="1809750" y="435292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1" name="">
            <a:extLst xmlns:a="http://schemas.openxmlformats.org/drawingml/2006/main">
              <a:ext uri="{FF2B5EF4-FFF2-40B4-BE49-F238E27FC236}">
                <a16:creationId xmlns:a16="http://schemas.microsoft.com/office/drawing/2014/main" id="{34D99C25-00F2-4C09-B3CF-5AAD9C7AF4A4}"/>
              </a:ext>
            </a:extLst>
          </p:cNvPr>
          <p:cNvSpPr>
            <a:spLocks xmlns:a="http://schemas.openxmlformats.org/drawingml/2006/main" noGrp="1"/>
          </p:cNvSpPr>
          <p:nvPr/>
        </p:nvSpPr>
        <p:spPr>
          <a:xfrm xmlns:a="http://schemas.openxmlformats.org/drawingml/2006/main">
            <a:off x="1809750" y="43529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5</a:t>
            </a:r>
          </a:p>
        </p:txBody>
      </p:sp>
      <p:sp>
        <p:nvSpPr>
          <p:cNvPr id="22" name="">
            <a:extLst xmlns:a="http://schemas.openxmlformats.org/drawingml/2006/main">
              <a:ext uri="{FF2B5EF4-FFF2-40B4-BE49-F238E27FC236}">
                <a16:creationId xmlns:a16="http://schemas.microsoft.com/office/drawing/2014/main" id="{E4E2C20C-6DC3-4462-A649-F11F287595E6}"/>
              </a:ext>
            </a:extLst>
          </p:cNvPr>
          <p:cNvSpPr>
            <a:spLocks xmlns:a="http://schemas.openxmlformats.org/drawingml/2006/main" noGrp="1"/>
          </p:cNvSpPr>
          <p:nvPr/>
        </p:nvSpPr>
        <p:spPr>
          <a:xfrm xmlns:a="http://schemas.openxmlformats.org/drawingml/2006/main">
            <a:off x="2324100" y="436245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5. Verjährung</a:t>
            </a:r>
          </a:p>
        </p:txBody>
      </p:sp>
      <p:sp>
        <p:nvSpPr>
          <p:cNvPr id="23" name="">
            <a:extLst xmlns:a="http://schemas.openxmlformats.org/drawingml/2006/main">
              <a:ext uri="{FF2B5EF4-FFF2-40B4-BE49-F238E27FC236}">
                <a16:creationId xmlns:a16="http://schemas.microsoft.com/office/drawing/2014/main" id="{450296A7-C95E-4F9D-8CB2-9762593C3201}"/>
              </a:ext>
            </a:extLst>
          </p:cNvPr>
          <p:cNvSpPr>
            <a:spLocks xmlns:a="http://schemas.openxmlformats.org/drawingml/2006/main" noGrp="1"/>
          </p:cNvSpPr>
          <p:nvPr/>
        </p:nvSpPr>
        <p:spPr>
          <a:xfrm xmlns:a="http://schemas.openxmlformats.org/drawingml/2006/main">
            <a:off x="4819650" y="436245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Fristbeginn, Höchstfristen, Hemmung und Nachlauf werden taggenau kontrolliert.</a:t>
            </a:r>
          </a:p>
        </p:txBody>
      </p:sp>
      <p:sp>
        <p:nvSpPr>
          <p:cNvPr id="24" name="">
            <a:extLst xmlns:a="http://schemas.openxmlformats.org/drawingml/2006/main">
              <a:ext uri="{FF2B5EF4-FFF2-40B4-BE49-F238E27FC236}">
                <a16:creationId xmlns:a16="http://schemas.microsoft.com/office/drawing/2014/main" id="{D9728267-6BD1-443A-BA69-7860B8D8D9AC}"/>
              </a:ext>
            </a:extLst>
          </p:cNvPr>
          <p:cNvSpPr>
            <a:spLocks xmlns:a="http://schemas.openxmlformats.org/drawingml/2006/main" noGrp="1"/>
          </p:cNvSpPr>
          <p:nvPr/>
        </p:nvSpPr>
        <p:spPr>
          <a:xfrm xmlns:a="http://schemas.openxmlformats.org/drawingml/2006/main">
            <a:off x="1809750" y="495300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25" name="">
            <a:extLst xmlns:a="http://schemas.openxmlformats.org/drawingml/2006/main">
              <a:ext uri="{FF2B5EF4-FFF2-40B4-BE49-F238E27FC236}">
                <a16:creationId xmlns:a16="http://schemas.microsoft.com/office/drawing/2014/main" id="{6073576F-24BD-487A-B930-16CBBB45119D}"/>
              </a:ext>
            </a:extLst>
          </p:cNvPr>
          <p:cNvSpPr>
            <a:spLocks xmlns:a="http://schemas.openxmlformats.org/drawingml/2006/main" noGrp="1"/>
          </p:cNvSpPr>
          <p:nvPr/>
        </p:nvSpPr>
        <p:spPr>
          <a:xfrm xmlns:a="http://schemas.openxmlformats.org/drawingml/2006/main">
            <a:off x="1809750" y="495300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6</a:t>
            </a:r>
          </a:p>
        </p:txBody>
      </p:sp>
      <p:sp>
        <p:nvSpPr>
          <p:cNvPr id="26" name="">
            <a:extLst xmlns:a="http://schemas.openxmlformats.org/drawingml/2006/main">
              <a:ext uri="{FF2B5EF4-FFF2-40B4-BE49-F238E27FC236}">
                <a16:creationId xmlns:a16="http://schemas.microsoft.com/office/drawing/2014/main" id="{1380F4F2-5AA6-42E6-B962-FC46C47EA4DF}"/>
              </a:ext>
            </a:extLst>
          </p:cNvPr>
          <p:cNvSpPr>
            <a:spLocks xmlns:a="http://schemas.openxmlformats.org/drawingml/2006/main" noGrp="1"/>
          </p:cNvSpPr>
          <p:nvPr/>
        </p:nvSpPr>
        <p:spPr>
          <a:xfrm xmlns:a="http://schemas.openxmlformats.org/drawingml/2006/main">
            <a:off x="2324100" y="496252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6. Ziel</a:t>
            </a:r>
          </a:p>
        </p:txBody>
      </p:sp>
      <p:sp>
        <p:nvSpPr>
          <p:cNvPr id="27" name="">
            <a:extLst xmlns:a="http://schemas.openxmlformats.org/drawingml/2006/main">
              <a:ext uri="{FF2B5EF4-FFF2-40B4-BE49-F238E27FC236}">
                <a16:creationId xmlns:a16="http://schemas.microsoft.com/office/drawing/2014/main" id="{09B396E7-3ED1-4820-A54A-B1443B183BFC}"/>
              </a:ext>
            </a:extLst>
          </p:cNvPr>
          <p:cNvSpPr>
            <a:spLocks xmlns:a="http://schemas.openxmlformats.org/drawingml/2006/main" noGrp="1"/>
          </p:cNvSpPr>
          <p:nvPr/>
        </p:nvSpPr>
        <p:spPr>
          <a:xfrm xmlns:a="http://schemas.openxmlformats.org/drawingml/2006/main">
            <a:off x="4819650" y="496252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Aufklärung, Entschuldigung, Leistung, Zukunftssicherung oder verbindliche Entscheidung werden voneinander unterschieden.</a:t>
            </a:r>
          </a:p>
        </p:txBody>
      </p:sp>
      <p:sp>
        <p:nvSpPr>
          <p:cNvPr id="28" name="">
            <a:extLst xmlns:a="http://schemas.openxmlformats.org/drawingml/2006/main">
              <a:ext uri="{FF2B5EF4-FFF2-40B4-BE49-F238E27FC236}">
                <a16:creationId xmlns:a16="http://schemas.microsoft.com/office/drawing/2014/main" id="{0A489641-0AE4-4EC6-BA72-21E598A4731E}"/>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9" name="">
            <a:extLst xmlns:a="http://schemas.openxmlformats.org/drawingml/2006/main">
              <a:ext uri="{FF2B5EF4-FFF2-40B4-BE49-F238E27FC236}">
                <a16:creationId xmlns:a16="http://schemas.microsoft.com/office/drawing/2014/main" id="{45DC440D-EDC7-4462-B4E3-CBB40AF8ECB9}"/>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Ein klar definiertes Ziel bestimmt, welcher außergerichtliche Weg sinnvoll ist.</a:t>
            </a:r>
          </a:p>
        </p:txBody>
      </p:sp>
    </p:spTree>
    <p:extLst>
      <p:ext uri="{BB962C8B-B14F-4D97-AF65-F5344CB8AC3E}">
        <p14:creationId xmlns:p14="http://schemas.microsoft.com/office/powerpoint/2010/main" val="43637646"/>
      </p:ext>
    </p:extLst>
  </p:cSld>
</p:sld>
</file>

<file path=ppt/slides/slide170.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Wann außergerichtlich – wann Klage?</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UNTERSCHEIDEN KÖNNEN</a:t>
            </a:r>
            <a:endParaRPr/>
          </a:p>
        </p:txBody>
      </p:sp>
      <p:sp>
        <p:nvSpPr>
          <p:cNvPr id="4" name="">
            <a:extLst xmlns:a="http://schemas.openxmlformats.org/drawingml/2006/main">
              <a:ext uri="{FF2B5EF4-FFF2-40B4-BE49-F238E27FC236}">
                <a16:creationId xmlns:a16="http://schemas.microsoft.com/office/drawing/2014/main" id="{EC15B381-2DE9-4BCC-892C-4F9E21C7C019}"/>
              </a:ext>
            </a:extLst>
          </p:cNvPr>
          <p:cNvSpPr>
            <a:spLocks xmlns:a="http://schemas.openxmlformats.org/drawingml/2006/main" noGrp="1"/>
          </p:cNvSpPr>
          <p:nvPr/>
        </p:nvSpPr>
        <p:spPr>
          <a:xfrm xmlns:a="http://schemas.openxmlformats.org/drawingml/2006/main">
            <a:off x="1809750" y="2000250"/>
            <a:ext cx="4619625" cy="3286125"/>
          </a:xfrm>
          <a:prstGeom xmlns:a="http://schemas.openxmlformats.org/drawingml/2006/main" prst="roundRect">
            <a:avLst>
              <a:gd name="adj" fmla="val 2319"/>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0C17B96B-D675-4B85-936A-174B353FBA3C}"/>
              </a:ext>
            </a:extLst>
          </p:cNvPr>
          <p:cNvSpPr>
            <a:spLocks xmlns:a="http://schemas.openxmlformats.org/drawingml/2006/main" noGrp="1"/>
          </p:cNvSpPr>
          <p:nvPr/>
        </p:nvSpPr>
        <p:spPr>
          <a:xfrm xmlns:a="http://schemas.openxmlformats.org/drawingml/2006/main">
            <a:off x="1809750" y="2000250"/>
            <a:ext cx="4619625"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EBF06A34-D17B-4FD3-AB6F-A032724350AE}"/>
              </a:ext>
            </a:extLst>
          </p:cNvPr>
          <p:cNvSpPr>
            <a:spLocks xmlns:a="http://schemas.openxmlformats.org/drawingml/2006/main" noGrp="1"/>
          </p:cNvSpPr>
          <p:nvPr/>
        </p:nvSpPr>
        <p:spPr>
          <a:xfrm xmlns:a="http://schemas.openxmlformats.org/drawingml/2006/main">
            <a:off x="1962150" y="2133600"/>
            <a:ext cx="4314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75" b="1">
                <a:solidFill>
                  <a:srgbClr val="003F6B"/>
                </a:solidFill>
              </a:defRPr>
            </a:pPr>
            <a:r>
              <a:rPr sz="1575" b="1">
                <a:solidFill>
                  <a:srgbClr val="003F6B"/>
                </a:solidFill>
              </a:rPr>
              <a:t>Außergerichtlich spricht dafür</a:t>
            </a:r>
          </a:p>
        </p:txBody>
      </p:sp>
      <p:sp>
        <p:nvSpPr>
          <p:cNvPr id="7" name="">
            <a:extLst xmlns:a="http://schemas.openxmlformats.org/drawingml/2006/main">
              <a:ext uri="{FF2B5EF4-FFF2-40B4-BE49-F238E27FC236}">
                <a16:creationId xmlns:a16="http://schemas.microsoft.com/office/drawing/2014/main" id="{44F43A33-B5B4-4182-8E2D-1CAD97230CB2}"/>
              </a:ext>
            </a:extLst>
          </p:cNvPr>
          <p:cNvSpPr>
            <a:spLocks xmlns:a="http://schemas.openxmlformats.org/drawingml/2006/main" noGrp="1"/>
          </p:cNvSpPr>
          <p:nvPr/>
        </p:nvSpPr>
        <p:spPr>
          <a:xfrm xmlns:a="http://schemas.openxmlformats.org/drawingml/2006/main">
            <a:off x="1962150" y="2571750"/>
            <a:ext cx="4314825"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15232B"/>
                </a:solidFill>
              </a:defRPr>
            </a:pPr>
            <a:r>
              <a:rPr sz="1200">
                <a:solidFill>
                  <a:srgbClr val="15232B"/>
                </a:solidFill>
              </a:rPr>
              <a:t>• Sachverhalt und medizinische Bewertung können kostengünstiger geklärt werden.</a:t>
            </a:r>
          </a:p>
          <a:p xmlns:a="http://schemas.openxmlformats.org/drawingml/2006/main">
            <a:pPr>
              <a:buNone/>
              <a:defRPr sz="1200">
                <a:solidFill>
                  <a:srgbClr val="15232B"/>
                </a:solidFill>
              </a:defRPr>
            </a:pPr>
            <a:r>
              <a:rPr sz="1200">
                <a:solidFill>
                  <a:srgbClr val="15232B"/>
                </a:solidFill>
              </a:rPr>
              <a:t>• Kommunikation und Vergleichslösung bleiben flexibler.</a:t>
            </a:r>
          </a:p>
          <a:p xmlns:a="http://schemas.openxmlformats.org/drawingml/2006/main">
            <a:pPr>
              <a:buNone/>
              <a:defRPr sz="1200">
                <a:solidFill>
                  <a:srgbClr val="15232B"/>
                </a:solidFill>
              </a:defRPr>
            </a:pPr>
            <a:r>
              <a:rPr sz="1200">
                <a:solidFill>
                  <a:srgbClr val="15232B"/>
                </a:solidFill>
              </a:rPr>
              <a:t>• Ein freiwilliges Verfahren kann Beziehungen weniger eskalieren lassen.</a:t>
            </a:r>
          </a:p>
        </p:txBody>
      </p:sp>
      <p:sp>
        <p:nvSpPr>
          <p:cNvPr id="8" name="">
            <a:extLst xmlns:a="http://schemas.openxmlformats.org/drawingml/2006/main">
              <a:ext uri="{FF2B5EF4-FFF2-40B4-BE49-F238E27FC236}">
                <a16:creationId xmlns:a16="http://schemas.microsoft.com/office/drawing/2014/main" id="{F4C42736-A0F5-4E66-B4AF-D5249B7D151F}"/>
              </a:ext>
            </a:extLst>
          </p:cNvPr>
          <p:cNvSpPr>
            <a:spLocks xmlns:a="http://schemas.openxmlformats.org/drawingml/2006/main" noGrp="1"/>
          </p:cNvSpPr>
          <p:nvPr/>
        </p:nvSpPr>
        <p:spPr>
          <a:xfrm xmlns:a="http://schemas.openxmlformats.org/drawingml/2006/main">
            <a:off x="6715125" y="2000250"/>
            <a:ext cx="4619625" cy="3286125"/>
          </a:xfrm>
          <a:prstGeom xmlns:a="http://schemas.openxmlformats.org/drawingml/2006/main" prst="roundRect">
            <a:avLst>
              <a:gd name="adj" fmla="val 2319"/>
            </a:avLst>
          </a:prstGeom>
          <a:noFill xmlns:a="http://schemas.openxmlformats.org/drawingml/2006/main"/>
          <a:ln xmlns:a="http://schemas.openxmlformats.org/drawingml/2006/main" w="9525">
            <a:solidFill>
              <a:srgbClr val="B9CAD2"/>
            </a:solidFill>
            <a:prstDash val="solid"/>
          </a:ln>
        </p:spPr>
      </p:sp>
      <p:sp>
        <p:nvSpPr>
          <p:cNvPr id="9" name="">
            <a:extLst xmlns:a="http://schemas.openxmlformats.org/drawingml/2006/main">
              <a:ext uri="{FF2B5EF4-FFF2-40B4-BE49-F238E27FC236}">
                <a16:creationId xmlns:a16="http://schemas.microsoft.com/office/drawing/2014/main" id="{95F3191E-6713-435A-8895-1D9E4DDC1623}"/>
              </a:ext>
            </a:extLst>
          </p:cNvPr>
          <p:cNvSpPr>
            <a:spLocks xmlns:a="http://schemas.openxmlformats.org/drawingml/2006/main" noGrp="1"/>
          </p:cNvSpPr>
          <p:nvPr/>
        </p:nvSpPr>
        <p:spPr>
          <a:xfrm xmlns:a="http://schemas.openxmlformats.org/drawingml/2006/main">
            <a:off x="6715125" y="2000250"/>
            <a:ext cx="4619625"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72216751-992B-48E0-B685-E1E7EE2F38B2}"/>
              </a:ext>
            </a:extLst>
          </p:cNvPr>
          <p:cNvSpPr>
            <a:spLocks xmlns:a="http://schemas.openxmlformats.org/drawingml/2006/main" noGrp="1"/>
          </p:cNvSpPr>
          <p:nvPr/>
        </p:nvSpPr>
        <p:spPr>
          <a:xfrm xmlns:a="http://schemas.openxmlformats.org/drawingml/2006/main">
            <a:off x="6867525" y="2133600"/>
            <a:ext cx="4314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75" b="1">
                <a:solidFill>
                  <a:srgbClr val="003F6B"/>
                </a:solidFill>
              </a:defRPr>
            </a:pPr>
            <a:r>
              <a:rPr sz="1575" b="1">
                <a:solidFill>
                  <a:srgbClr val="003F6B"/>
                </a:solidFill>
              </a:rPr>
              <a:t>Klage kann nötig sein</a:t>
            </a:r>
          </a:p>
        </p:txBody>
      </p:sp>
      <p:sp>
        <p:nvSpPr>
          <p:cNvPr id="11" name="">
            <a:extLst xmlns:a="http://schemas.openxmlformats.org/drawingml/2006/main">
              <a:ext uri="{FF2B5EF4-FFF2-40B4-BE49-F238E27FC236}">
                <a16:creationId xmlns:a16="http://schemas.microsoft.com/office/drawing/2014/main" id="{E00D8531-0B6B-47E6-9EBC-EB18CA7C593F}"/>
              </a:ext>
            </a:extLst>
          </p:cNvPr>
          <p:cNvSpPr>
            <a:spLocks xmlns:a="http://schemas.openxmlformats.org/drawingml/2006/main" noGrp="1"/>
          </p:cNvSpPr>
          <p:nvPr/>
        </p:nvSpPr>
        <p:spPr>
          <a:xfrm xmlns:a="http://schemas.openxmlformats.org/drawingml/2006/main">
            <a:off x="6867525" y="2571750"/>
            <a:ext cx="4314825"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15232B"/>
                </a:solidFill>
              </a:defRPr>
            </a:pPr>
            <a:r>
              <a:rPr sz="1200">
                <a:solidFill>
                  <a:srgbClr val="15232B"/>
                </a:solidFill>
              </a:rPr>
              <a:t>• Verjährung lässt sich anders nicht rechtssicher hemmen.</a:t>
            </a:r>
          </a:p>
          <a:p xmlns:a="http://schemas.openxmlformats.org/drawingml/2006/main">
            <a:pPr>
              <a:buNone/>
              <a:defRPr sz="1200">
                <a:solidFill>
                  <a:srgbClr val="15232B"/>
                </a:solidFill>
              </a:defRPr>
            </a:pPr>
            <a:r>
              <a:rPr sz="1200">
                <a:solidFill>
                  <a:srgbClr val="15232B"/>
                </a:solidFill>
              </a:rPr>
              <a:t>• Die Gegenseite verweigert Unterlagen, Haftung oder ernsthafte Verhandlung.</a:t>
            </a:r>
          </a:p>
          <a:p xmlns:a="http://schemas.openxmlformats.org/drawingml/2006/main">
            <a:pPr>
              <a:buNone/>
              <a:defRPr sz="1200">
                <a:solidFill>
                  <a:srgbClr val="15232B"/>
                </a:solidFill>
              </a:defRPr>
            </a:pPr>
            <a:r>
              <a:rPr sz="1200">
                <a:solidFill>
                  <a:srgbClr val="15232B"/>
                </a:solidFill>
              </a:rPr>
              <a:t>• Eine verbindliche Beweisaufnahme, Entscheidung oder Vollstreckung wird benötigt.</a:t>
            </a:r>
          </a:p>
        </p:txBody>
      </p:sp>
      <p:sp>
        <p:nvSpPr>
          <p:cNvPr id="12" name="">
            <a:extLst xmlns:a="http://schemas.openxmlformats.org/drawingml/2006/main">
              <a:ext uri="{FF2B5EF4-FFF2-40B4-BE49-F238E27FC236}">
                <a16:creationId xmlns:a16="http://schemas.microsoft.com/office/drawing/2014/main" id="{34C1291E-E43E-44F1-B083-9DAF899FD717}"/>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13" name="">
            <a:extLst xmlns:a="http://schemas.openxmlformats.org/drawingml/2006/main">
              <a:ext uri="{FF2B5EF4-FFF2-40B4-BE49-F238E27FC236}">
                <a16:creationId xmlns:a16="http://schemas.microsoft.com/office/drawing/2014/main" id="{901E3C88-5097-4557-BFB3-1739E00C478F}"/>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Die Entscheidung folgt Ziel, Beweislage, Zeit, Kosten und Kooperationsbereitschaft – nicht einem abstrakten Vorrang.</a:t>
            </a:r>
          </a:p>
        </p:txBody>
      </p:sp>
    </p:spTree>
    <p:extLst>
      <p:ext uri="{BB962C8B-B14F-4D97-AF65-F5344CB8AC3E}">
        <p14:creationId xmlns:p14="http://schemas.microsoft.com/office/powerpoint/2010/main" val="43637646"/>
      </p:ext>
    </p:extLst>
  </p:cSld>
</p:sld>
</file>

<file path=ppt/slides/slide171.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Wegwahl im Semesterfall</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DURCHGEPRÜFTER FALL</a:t>
            </a:r>
            <a:endParaRPr/>
          </a:p>
        </p:txBody>
      </p:sp>
      <p:sp>
        <p:nvSpPr>
          <p:cNvPr id="4" name="">
            <a:extLst xmlns:a="http://schemas.openxmlformats.org/drawingml/2006/main">
              <a:ext uri="{FF2B5EF4-FFF2-40B4-BE49-F238E27FC236}">
                <a16:creationId xmlns:a16="http://schemas.microsoft.com/office/drawing/2014/main" id="{9118332D-FE5B-4D58-BBDC-A5D2F9AA1F0F}"/>
              </a:ext>
            </a:extLst>
          </p:cNvPr>
          <p:cNvSpPr>
            <a:spLocks xmlns:a="http://schemas.openxmlformats.org/drawingml/2006/main" noGrp="1"/>
          </p:cNvSpPr>
          <p:nvPr/>
        </p:nvSpPr>
        <p:spPr>
          <a:xfrm xmlns:a="http://schemas.openxmlformats.org/drawingml/2006/main">
            <a:off x="1809750" y="1924050"/>
            <a:ext cx="9525000" cy="838200"/>
          </a:xfrm>
          <a:prstGeom xmlns:a="http://schemas.openxmlformats.org/drawingml/2006/main" prst="roundRect">
            <a:avLst>
              <a:gd name="adj" fmla="val 9091"/>
            </a:avLst>
          </a:prstGeom>
          <a:solidFill xmlns:a="http://schemas.openxmlformats.org/drawingml/2006/main">
            <a:srgbClr val="EAF6FB"/>
          </a:solidFill>
          <a:ln xmlns:a="http://schemas.openxmlformats.org/drawingml/2006/main" w="9525">
            <a:solidFill>
              <a:srgbClr val="00B2BB"/>
            </a:solidFill>
            <a:prstDash val="solid"/>
          </a:ln>
        </p:spPr>
      </p:sp>
      <p:sp>
        <p:nvSpPr>
          <p:cNvPr id="5" name="">
            <a:extLst xmlns:a="http://schemas.openxmlformats.org/drawingml/2006/main">
              <a:ext uri="{FF2B5EF4-FFF2-40B4-BE49-F238E27FC236}">
                <a16:creationId xmlns:a16="http://schemas.microsoft.com/office/drawing/2014/main" id="{4A44C90C-11A9-4866-81E3-39AF1C01A696}"/>
              </a:ext>
            </a:extLst>
          </p:cNvPr>
          <p:cNvSpPr>
            <a:spLocks xmlns:a="http://schemas.openxmlformats.org/drawingml/2006/main" noGrp="1"/>
          </p:cNvSpPr>
          <p:nvPr/>
        </p:nvSpPr>
        <p:spPr>
          <a:xfrm xmlns:a="http://schemas.openxmlformats.org/drawingml/2006/main">
            <a:off x="1981200" y="2000250"/>
            <a:ext cx="9182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55">
                <a:solidFill>
                  <a:srgbClr val="15232B"/>
                </a:solidFill>
              </a:defRPr>
            </a:pPr>
            <a:r>
              <a:rPr sz="1155">
                <a:solidFill>
                  <a:srgbClr val="15232B"/>
                </a:solidFill>
              </a:rPr>
              <a:t>Die Patientin hat die Akte, aber kein unabhängiges Gutachten. Der Versicherer bestreitet einen Fehler; in acht Monaten droht Verjährung.</a:t>
            </a:r>
          </a:p>
        </p:txBody>
      </p:sp>
      <p:sp>
        <p:nvSpPr>
          <p:cNvPr id="6" name="">
            <a:extLst xmlns:a="http://schemas.openxmlformats.org/drawingml/2006/main">
              <a:ext uri="{FF2B5EF4-FFF2-40B4-BE49-F238E27FC236}">
                <a16:creationId xmlns:a16="http://schemas.microsoft.com/office/drawing/2014/main" id="{46F09A0A-5BC0-4FC1-ABF2-40A4AEED97ED}"/>
              </a:ext>
            </a:extLst>
          </p:cNvPr>
          <p:cNvSpPr>
            <a:spLocks xmlns:a="http://schemas.openxmlformats.org/drawingml/2006/main" noGrp="1"/>
          </p:cNvSpPr>
          <p:nvPr/>
        </p:nvSpPr>
        <p:spPr>
          <a:xfrm xmlns:a="http://schemas.openxmlformats.org/drawingml/2006/main">
            <a:off x="1809750" y="2933700"/>
            <a:ext cx="381000" cy="381000"/>
          </a:xfrm>
          <a:prstGeom xmlns:a="http://schemas.openxmlformats.org/drawingml/2006/main" prst="roundRect">
            <a:avLst>
              <a:gd name="adj" fmla="val 20000"/>
            </a:avLst>
          </a:prstGeom>
          <a:solidFill xmlns:a="http://schemas.openxmlformats.org/drawingml/2006/main">
            <a:srgbClr val="00B2BB"/>
          </a:solidFill>
          <a:ln xmlns:a="http://schemas.openxmlformats.org/drawingml/2006/main" w="0">
            <a:solidFill>
              <a:srgbClr val="00B2BB"/>
            </a:solidFill>
            <a:prstDash val="solid"/>
          </a:ln>
        </p:spPr>
      </p:sp>
      <p:sp>
        <p:nvSpPr>
          <p:cNvPr id="7" name="">
            <a:extLst xmlns:a="http://schemas.openxmlformats.org/drawingml/2006/main">
              <a:ext uri="{FF2B5EF4-FFF2-40B4-BE49-F238E27FC236}">
                <a16:creationId xmlns:a16="http://schemas.microsoft.com/office/drawing/2014/main" id="{424BDD4D-4865-471A-A9EE-607095F98A0B}"/>
              </a:ext>
            </a:extLst>
          </p:cNvPr>
          <p:cNvSpPr>
            <a:spLocks xmlns:a="http://schemas.openxmlformats.org/drawingml/2006/main" noGrp="1"/>
          </p:cNvSpPr>
          <p:nvPr/>
        </p:nvSpPr>
        <p:spPr>
          <a:xfrm xmlns:a="http://schemas.openxmlformats.org/drawingml/2006/main">
            <a:off x="1809750" y="293370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8" name="">
            <a:extLst xmlns:a="http://schemas.openxmlformats.org/drawingml/2006/main">
              <a:ext uri="{FF2B5EF4-FFF2-40B4-BE49-F238E27FC236}">
                <a16:creationId xmlns:a16="http://schemas.microsoft.com/office/drawing/2014/main" id="{6F7D2AD3-4BFB-46AA-BA70-16A0E5D3B856}"/>
              </a:ext>
            </a:extLst>
          </p:cNvPr>
          <p:cNvSpPr>
            <a:spLocks xmlns:a="http://schemas.openxmlformats.org/drawingml/2006/main" noGrp="1"/>
          </p:cNvSpPr>
          <p:nvPr/>
        </p:nvSpPr>
        <p:spPr>
          <a:xfrm xmlns:a="http://schemas.openxmlformats.org/drawingml/2006/main">
            <a:off x="2343150" y="2914650"/>
            <a:ext cx="18097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Ziel klären</a:t>
            </a:r>
          </a:p>
        </p:txBody>
      </p:sp>
      <p:sp>
        <p:nvSpPr>
          <p:cNvPr id="9" name="">
            <a:extLst xmlns:a="http://schemas.openxmlformats.org/drawingml/2006/main">
              <a:ext uri="{FF2B5EF4-FFF2-40B4-BE49-F238E27FC236}">
                <a16:creationId xmlns:a16="http://schemas.microsoft.com/office/drawing/2014/main" id="{BDE96102-D1D5-416E-A60D-53C407DC31AE}"/>
              </a:ext>
            </a:extLst>
          </p:cNvPr>
          <p:cNvSpPr>
            <a:spLocks xmlns:a="http://schemas.openxmlformats.org/drawingml/2006/main" noGrp="1"/>
          </p:cNvSpPr>
          <p:nvPr/>
        </p:nvSpPr>
        <p:spPr>
          <a:xfrm xmlns:a="http://schemas.openxmlformats.org/drawingml/2006/main">
            <a:off x="4286250" y="2914650"/>
            <a:ext cx="69532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35">
                <a:solidFill>
                  <a:srgbClr val="15232B"/>
                </a:solidFill>
              </a:defRPr>
            </a:pPr>
            <a:r>
              <a:rPr sz="1035">
                <a:solidFill>
                  <a:srgbClr val="15232B"/>
                </a:solidFill>
              </a:rPr>
              <a:t>Soll zunächst medizinisch geklärt oder bereits Zahlung verlangt werden? Zukunftsschäden müssen mitgedacht werden.</a:t>
            </a:r>
          </a:p>
        </p:txBody>
      </p:sp>
      <p:sp>
        <p:nvSpPr>
          <p:cNvPr id="10" name="">
            <a:extLst xmlns:a="http://schemas.openxmlformats.org/drawingml/2006/main">
              <a:ext uri="{FF2B5EF4-FFF2-40B4-BE49-F238E27FC236}">
                <a16:creationId xmlns:a16="http://schemas.microsoft.com/office/drawing/2014/main" id="{1F9DC9CA-1DFB-43DF-98B0-6992D5FD48F7}"/>
              </a:ext>
            </a:extLst>
          </p:cNvPr>
          <p:cNvSpPr>
            <a:spLocks xmlns:a="http://schemas.openxmlformats.org/drawingml/2006/main" noGrp="1"/>
          </p:cNvSpPr>
          <p:nvPr/>
        </p:nvSpPr>
        <p:spPr>
          <a:xfrm xmlns:a="http://schemas.openxmlformats.org/drawingml/2006/main">
            <a:off x="1809750" y="3394710"/>
            <a:ext cx="381000" cy="381000"/>
          </a:xfrm>
          <a:prstGeom xmlns:a="http://schemas.openxmlformats.org/drawingml/2006/main" prst="roundRect">
            <a:avLst>
              <a:gd name="adj" fmla="val 20000"/>
            </a:avLst>
          </a:prstGeom>
          <a:solidFill xmlns:a="http://schemas.openxmlformats.org/drawingml/2006/main">
            <a:srgbClr val="003F6B"/>
          </a:solidFill>
          <a:ln xmlns:a="http://schemas.openxmlformats.org/drawingml/2006/main" w="0">
            <a:solidFill>
              <a:srgbClr val="003F6B"/>
            </a:solidFill>
            <a:prstDash val="solid"/>
          </a:ln>
        </p:spPr>
      </p:sp>
      <p:sp>
        <p:nvSpPr>
          <p:cNvPr id="11" name="">
            <a:extLst xmlns:a="http://schemas.openxmlformats.org/drawingml/2006/main">
              <a:ext uri="{FF2B5EF4-FFF2-40B4-BE49-F238E27FC236}">
                <a16:creationId xmlns:a16="http://schemas.microsoft.com/office/drawing/2014/main" id="{E4391022-8E38-42F7-98D3-9C3E1D5498E5}"/>
              </a:ext>
            </a:extLst>
          </p:cNvPr>
          <p:cNvSpPr>
            <a:spLocks xmlns:a="http://schemas.openxmlformats.org/drawingml/2006/main" noGrp="1"/>
          </p:cNvSpPr>
          <p:nvPr/>
        </p:nvSpPr>
        <p:spPr>
          <a:xfrm xmlns:a="http://schemas.openxmlformats.org/drawingml/2006/main">
            <a:off x="1809750" y="339471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2" name="">
            <a:extLst xmlns:a="http://schemas.openxmlformats.org/drawingml/2006/main">
              <a:ext uri="{FF2B5EF4-FFF2-40B4-BE49-F238E27FC236}">
                <a16:creationId xmlns:a16="http://schemas.microsoft.com/office/drawing/2014/main" id="{48C827DB-FB1A-4952-8711-B054E0776B2E}"/>
              </a:ext>
            </a:extLst>
          </p:cNvPr>
          <p:cNvSpPr>
            <a:spLocks xmlns:a="http://schemas.openxmlformats.org/drawingml/2006/main" noGrp="1"/>
          </p:cNvSpPr>
          <p:nvPr/>
        </p:nvSpPr>
        <p:spPr>
          <a:xfrm xmlns:a="http://schemas.openxmlformats.org/drawingml/2006/main">
            <a:off x="2343150" y="3375660"/>
            <a:ext cx="18097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Gutachtenweg</a:t>
            </a:r>
          </a:p>
        </p:txBody>
      </p:sp>
      <p:sp>
        <p:nvSpPr>
          <p:cNvPr id="13" name="">
            <a:extLst xmlns:a="http://schemas.openxmlformats.org/drawingml/2006/main">
              <a:ext uri="{FF2B5EF4-FFF2-40B4-BE49-F238E27FC236}">
                <a16:creationId xmlns:a16="http://schemas.microsoft.com/office/drawing/2014/main" id="{05F881E1-4C4B-4F5B-A267-116EA1153789}"/>
              </a:ext>
            </a:extLst>
          </p:cNvPr>
          <p:cNvSpPr>
            <a:spLocks xmlns:a="http://schemas.openxmlformats.org/drawingml/2006/main" noGrp="1"/>
          </p:cNvSpPr>
          <p:nvPr/>
        </p:nvSpPr>
        <p:spPr>
          <a:xfrm xmlns:a="http://schemas.openxmlformats.org/drawingml/2006/main">
            <a:off x="4286250" y="3375660"/>
            <a:ext cx="69532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35">
                <a:solidFill>
                  <a:srgbClr val="15232B"/>
                </a:solidFill>
              </a:defRPr>
            </a:pPr>
            <a:r>
              <a:rPr sz="1035">
                <a:solidFill>
                  <a:srgbClr val="15232B"/>
                </a:solidFill>
              </a:rPr>
              <a:t>§ 66 SGB V oder ein Schlichtungsverfahren können Fachbewertung ermöglichen, wenn Voraussetzungen und Zeitrahmen passen.</a:t>
            </a:r>
          </a:p>
        </p:txBody>
      </p:sp>
      <p:sp>
        <p:nvSpPr>
          <p:cNvPr id="14" name="">
            <a:extLst xmlns:a="http://schemas.openxmlformats.org/drawingml/2006/main">
              <a:ext uri="{FF2B5EF4-FFF2-40B4-BE49-F238E27FC236}">
                <a16:creationId xmlns:a16="http://schemas.microsoft.com/office/drawing/2014/main" id="{C3A18820-2003-4183-B488-37C8E5225BD9}"/>
              </a:ext>
            </a:extLst>
          </p:cNvPr>
          <p:cNvSpPr>
            <a:spLocks xmlns:a="http://schemas.openxmlformats.org/drawingml/2006/main" noGrp="1"/>
          </p:cNvSpPr>
          <p:nvPr/>
        </p:nvSpPr>
        <p:spPr>
          <a:xfrm xmlns:a="http://schemas.openxmlformats.org/drawingml/2006/main">
            <a:off x="1809750" y="3855720"/>
            <a:ext cx="381000" cy="381000"/>
          </a:xfrm>
          <a:prstGeom xmlns:a="http://schemas.openxmlformats.org/drawingml/2006/main" prst="roundRect">
            <a:avLst>
              <a:gd name="adj" fmla="val 20000"/>
            </a:avLst>
          </a:prstGeom>
          <a:solidFill xmlns:a="http://schemas.openxmlformats.org/drawingml/2006/main">
            <a:srgbClr val="00B2BB"/>
          </a:solidFill>
          <a:ln xmlns:a="http://schemas.openxmlformats.org/drawingml/2006/main" w="0">
            <a:solidFill>
              <a:srgbClr val="00B2BB"/>
            </a:solidFill>
            <a:prstDash val="solid"/>
          </a:ln>
        </p:spPr>
      </p:sp>
      <p:sp>
        <p:nvSpPr>
          <p:cNvPr id="15" name="">
            <a:extLst xmlns:a="http://schemas.openxmlformats.org/drawingml/2006/main">
              <a:ext uri="{FF2B5EF4-FFF2-40B4-BE49-F238E27FC236}">
                <a16:creationId xmlns:a16="http://schemas.microsoft.com/office/drawing/2014/main" id="{10CB5C7B-D0A6-42C4-8B8D-779501FDB8F3}"/>
              </a:ext>
            </a:extLst>
          </p:cNvPr>
          <p:cNvSpPr>
            <a:spLocks xmlns:a="http://schemas.openxmlformats.org/drawingml/2006/main" noGrp="1"/>
          </p:cNvSpPr>
          <p:nvPr/>
        </p:nvSpPr>
        <p:spPr>
          <a:xfrm xmlns:a="http://schemas.openxmlformats.org/drawingml/2006/main">
            <a:off x="1809750" y="385572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6" name="">
            <a:extLst xmlns:a="http://schemas.openxmlformats.org/drawingml/2006/main">
              <a:ext uri="{FF2B5EF4-FFF2-40B4-BE49-F238E27FC236}">
                <a16:creationId xmlns:a16="http://schemas.microsoft.com/office/drawing/2014/main" id="{798F51FA-A0D4-4066-BBF4-30C1AB91536E}"/>
              </a:ext>
            </a:extLst>
          </p:cNvPr>
          <p:cNvSpPr>
            <a:spLocks xmlns:a="http://schemas.openxmlformats.org/drawingml/2006/main" noGrp="1"/>
          </p:cNvSpPr>
          <p:nvPr/>
        </p:nvSpPr>
        <p:spPr>
          <a:xfrm xmlns:a="http://schemas.openxmlformats.org/drawingml/2006/main">
            <a:off x="2343150" y="3836670"/>
            <a:ext cx="18097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Verjährung</a:t>
            </a:r>
          </a:p>
        </p:txBody>
      </p:sp>
      <p:sp>
        <p:nvSpPr>
          <p:cNvPr id="17" name="">
            <a:extLst xmlns:a="http://schemas.openxmlformats.org/drawingml/2006/main">
              <a:ext uri="{FF2B5EF4-FFF2-40B4-BE49-F238E27FC236}">
                <a16:creationId xmlns:a16="http://schemas.microsoft.com/office/drawing/2014/main" id="{93F77B3D-FD91-4922-992D-BD90DCE32F18}"/>
              </a:ext>
            </a:extLst>
          </p:cNvPr>
          <p:cNvSpPr>
            <a:spLocks xmlns:a="http://schemas.openxmlformats.org/drawingml/2006/main" noGrp="1"/>
          </p:cNvSpPr>
          <p:nvPr/>
        </p:nvSpPr>
        <p:spPr>
          <a:xfrm xmlns:a="http://schemas.openxmlformats.org/drawingml/2006/main">
            <a:off x="4286250" y="3836670"/>
            <a:ext cx="69532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35">
                <a:solidFill>
                  <a:srgbClr val="15232B"/>
                </a:solidFill>
              </a:defRPr>
            </a:pPr>
            <a:r>
              <a:rPr sz="1035">
                <a:solidFill>
                  <a:srgbClr val="15232B"/>
                </a:solidFill>
              </a:rPr>
              <a:t>Es wird nicht auf unverbindliche Kommunikation vertraut; ein sicherer Hemmungstatbestand wird rechtzeitig geschaffen.</a:t>
            </a:r>
          </a:p>
        </p:txBody>
      </p:sp>
      <p:sp>
        <p:nvSpPr>
          <p:cNvPr id="18" name="">
            <a:extLst xmlns:a="http://schemas.openxmlformats.org/drawingml/2006/main">
              <a:ext uri="{FF2B5EF4-FFF2-40B4-BE49-F238E27FC236}">
                <a16:creationId xmlns:a16="http://schemas.microsoft.com/office/drawing/2014/main" id="{1711F1EE-2416-463F-A3AE-B3FBE5F595C0}"/>
              </a:ext>
            </a:extLst>
          </p:cNvPr>
          <p:cNvSpPr>
            <a:spLocks xmlns:a="http://schemas.openxmlformats.org/drawingml/2006/main" noGrp="1"/>
          </p:cNvSpPr>
          <p:nvPr/>
        </p:nvSpPr>
        <p:spPr>
          <a:xfrm xmlns:a="http://schemas.openxmlformats.org/drawingml/2006/main">
            <a:off x="1809750" y="4316730"/>
            <a:ext cx="381000" cy="381000"/>
          </a:xfrm>
          <a:prstGeom xmlns:a="http://schemas.openxmlformats.org/drawingml/2006/main" prst="roundRect">
            <a:avLst>
              <a:gd name="adj" fmla="val 20000"/>
            </a:avLst>
          </a:prstGeom>
          <a:solidFill xmlns:a="http://schemas.openxmlformats.org/drawingml/2006/main">
            <a:srgbClr val="003F6B"/>
          </a:solidFill>
          <a:ln xmlns:a="http://schemas.openxmlformats.org/drawingml/2006/main" w="0">
            <a:solidFill>
              <a:srgbClr val="003F6B"/>
            </a:solidFill>
            <a:prstDash val="solid"/>
          </a:ln>
        </p:spPr>
      </p:sp>
      <p:sp>
        <p:nvSpPr>
          <p:cNvPr id="19" name="">
            <a:extLst xmlns:a="http://schemas.openxmlformats.org/drawingml/2006/main">
              <a:ext uri="{FF2B5EF4-FFF2-40B4-BE49-F238E27FC236}">
                <a16:creationId xmlns:a16="http://schemas.microsoft.com/office/drawing/2014/main" id="{6A6864ED-82C9-4CE3-B49F-6B1A4AD18459}"/>
              </a:ext>
            </a:extLst>
          </p:cNvPr>
          <p:cNvSpPr>
            <a:spLocks xmlns:a="http://schemas.openxmlformats.org/drawingml/2006/main" noGrp="1"/>
          </p:cNvSpPr>
          <p:nvPr/>
        </p:nvSpPr>
        <p:spPr>
          <a:xfrm xmlns:a="http://schemas.openxmlformats.org/drawingml/2006/main">
            <a:off x="1809750" y="431673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20" name="">
            <a:extLst xmlns:a="http://schemas.openxmlformats.org/drawingml/2006/main">
              <a:ext uri="{FF2B5EF4-FFF2-40B4-BE49-F238E27FC236}">
                <a16:creationId xmlns:a16="http://schemas.microsoft.com/office/drawing/2014/main" id="{52E267A7-5548-4C7F-AF80-EF7987B2C785}"/>
              </a:ext>
            </a:extLst>
          </p:cNvPr>
          <p:cNvSpPr>
            <a:spLocks xmlns:a="http://schemas.openxmlformats.org/drawingml/2006/main" noGrp="1"/>
          </p:cNvSpPr>
          <p:nvPr/>
        </p:nvSpPr>
        <p:spPr>
          <a:xfrm xmlns:a="http://schemas.openxmlformats.org/drawingml/2006/main">
            <a:off x="2343150" y="4297680"/>
            <a:ext cx="18097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Klagevorbereitung</a:t>
            </a:r>
          </a:p>
        </p:txBody>
      </p:sp>
      <p:sp>
        <p:nvSpPr>
          <p:cNvPr id="21" name="">
            <a:extLst xmlns:a="http://schemas.openxmlformats.org/drawingml/2006/main">
              <a:ext uri="{FF2B5EF4-FFF2-40B4-BE49-F238E27FC236}">
                <a16:creationId xmlns:a16="http://schemas.microsoft.com/office/drawing/2014/main" id="{44A93B96-B509-421B-9EC4-85DC504EFBB2}"/>
              </a:ext>
            </a:extLst>
          </p:cNvPr>
          <p:cNvSpPr>
            <a:spLocks xmlns:a="http://schemas.openxmlformats.org/drawingml/2006/main" noGrp="1"/>
          </p:cNvSpPr>
          <p:nvPr/>
        </p:nvSpPr>
        <p:spPr>
          <a:xfrm xmlns:a="http://schemas.openxmlformats.org/drawingml/2006/main">
            <a:off x="4286250" y="4297680"/>
            <a:ext cx="69532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35">
                <a:solidFill>
                  <a:srgbClr val="15232B"/>
                </a:solidFill>
              </a:defRPr>
            </a:pPr>
            <a:r>
              <a:rPr sz="1035">
                <a:solidFill>
                  <a:srgbClr val="15232B"/>
                </a:solidFill>
              </a:rPr>
              <a:t>Parteien, Anträge, Schadenspositionen, Beweistatsachen und Beweismittel werden parallel vorbereitet.</a:t>
            </a:r>
          </a:p>
        </p:txBody>
      </p:sp>
      <p:sp>
        <p:nvSpPr>
          <p:cNvPr id="22" name="">
            <a:extLst xmlns:a="http://schemas.openxmlformats.org/drawingml/2006/main">
              <a:ext uri="{FF2B5EF4-FFF2-40B4-BE49-F238E27FC236}">
                <a16:creationId xmlns:a16="http://schemas.microsoft.com/office/drawing/2014/main" id="{D91ADB73-3BFD-4791-9458-47359E526575}"/>
              </a:ext>
            </a:extLst>
          </p:cNvPr>
          <p:cNvSpPr>
            <a:spLocks xmlns:a="http://schemas.openxmlformats.org/drawingml/2006/main" noGrp="1"/>
          </p:cNvSpPr>
          <p:nvPr/>
        </p:nvSpPr>
        <p:spPr>
          <a:xfrm xmlns:a="http://schemas.openxmlformats.org/drawingml/2006/main">
            <a:off x="1809750" y="4777740"/>
            <a:ext cx="381000" cy="381000"/>
          </a:xfrm>
          <a:prstGeom xmlns:a="http://schemas.openxmlformats.org/drawingml/2006/main" prst="roundRect">
            <a:avLst>
              <a:gd name="adj" fmla="val 20000"/>
            </a:avLst>
          </a:prstGeom>
          <a:solidFill xmlns:a="http://schemas.openxmlformats.org/drawingml/2006/main">
            <a:srgbClr val="00B2BB"/>
          </a:solidFill>
          <a:ln xmlns:a="http://schemas.openxmlformats.org/drawingml/2006/main" w="0">
            <a:solidFill>
              <a:srgbClr val="00B2BB"/>
            </a:solidFill>
            <a:prstDash val="solid"/>
          </a:ln>
        </p:spPr>
      </p:sp>
      <p:sp>
        <p:nvSpPr>
          <p:cNvPr id="23" name="">
            <a:extLst xmlns:a="http://schemas.openxmlformats.org/drawingml/2006/main">
              <a:ext uri="{FF2B5EF4-FFF2-40B4-BE49-F238E27FC236}">
                <a16:creationId xmlns:a16="http://schemas.microsoft.com/office/drawing/2014/main" id="{928FC80C-7074-4C8E-A029-3E46EFC6658F}"/>
              </a:ext>
            </a:extLst>
          </p:cNvPr>
          <p:cNvSpPr>
            <a:spLocks xmlns:a="http://schemas.openxmlformats.org/drawingml/2006/main" noGrp="1"/>
          </p:cNvSpPr>
          <p:nvPr/>
        </p:nvSpPr>
        <p:spPr>
          <a:xfrm xmlns:a="http://schemas.openxmlformats.org/drawingml/2006/main">
            <a:off x="1809750" y="477774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5</a:t>
            </a:r>
          </a:p>
        </p:txBody>
      </p:sp>
      <p:sp>
        <p:nvSpPr>
          <p:cNvPr id="24" name="">
            <a:extLst xmlns:a="http://schemas.openxmlformats.org/drawingml/2006/main">
              <a:ext uri="{FF2B5EF4-FFF2-40B4-BE49-F238E27FC236}">
                <a16:creationId xmlns:a16="http://schemas.microsoft.com/office/drawing/2014/main" id="{214744A0-AD33-4491-8534-C7DBD4D9AC9E}"/>
              </a:ext>
            </a:extLst>
          </p:cNvPr>
          <p:cNvSpPr>
            <a:spLocks xmlns:a="http://schemas.openxmlformats.org/drawingml/2006/main" noGrp="1"/>
          </p:cNvSpPr>
          <p:nvPr/>
        </p:nvSpPr>
        <p:spPr>
          <a:xfrm xmlns:a="http://schemas.openxmlformats.org/drawingml/2006/main">
            <a:off x="2343150" y="4758690"/>
            <a:ext cx="18097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Entscheidung</a:t>
            </a:r>
          </a:p>
        </p:txBody>
      </p:sp>
      <p:sp>
        <p:nvSpPr>
          <p:cNvPr id="25" name="">
            <a:extLst xmlns:a="http://schemas.openxmlformats.org/drawingml/2006/main">
              <a:ext uri="{FF2B5EF4-FFF2-40B4-BE49-F238E27FC236}">
                <a16:creationId xmlns:a16="http://schemas.microsoft.com/office/drawing/2014/main" id="{72F1E757-1484-4548-9F02-D0F85C4295CB}"/>
              </a:ext>
            </a:extLst>
          </p:cNvPr>
          <p:cNvSpPr>
            <a:spLocks xmlns:a="http://schemas.openxmlformats.org/drawingml/2006/main" noGrp="1"/>
          </p:cNvSpPr>
          <p:nvPr/>
        </p:nvSpPr>
        <p:spPr>
          <a:xfrm xmlns:a="http://schemas.openxmlformats.org/drawingml/2006/main">
            <a:off x="4286250" y="4758690"/>
            <a:ext cx="69532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35">
                <a:solidFill>
                  <a:srgbClr val="15232B"/>
                </a:solidFill>
              </a:defRPr>
            </a:pPr>
            <a:r>
              <a:rPr sz="1035">
                <a:solidFill>
                  <a:srgbClr val="15232B"/>
                </a:solidFill>
              </a:rPr>
              <a:t>Der außergerichtliche Weg wird nur gewählt, wenn er Ziel und Fristmanagement tatsächlich unterstützt.</a:t>
            </a:r>
          </a:p>
        </p:txBody>
      </p:sp>
      <p:sp>
        <p:nvSpPr>
          <p:cNvPr id="26" name="">
            <a:extLst xmlns:a="http://schemas.openxmlformats.org/drawingml/2006/main">
              <a:ext uri="{FF2B5EF4-FFF2-40B4-BE49-F238E27FC236}">
                <a16:creationId xmlns:a16="http://schemas.microsoft.com/office/drawing/2014/main" id="{4B2892F3-95BB-49A6-BDA8-3D0763328F5F}"/>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20">
                <a:solidFill>
                  <a:srgbClr val="667680"/>
                </a:solidFill>
              </a:defRPr>
            </a:pPr>
            <a:r>
              <a:rPr sz="720">
                <a:solidFill>
                  <a:srgbClr val="667680"/>
                </a:solidFill>
              </a:rPr>
              <a:t>Verfahrensfall in Anlehnung an BGH, Beschl. v. 07.05.2019 – VI ZR 257/17 · https://juris.bundesgerichtshof.de</a:t>
            </a:r>
          </a:p>
        </p:txBody>
      </p:sp>
      <p:sp>
        <p:nvSpPr>
          <p:cNvPr id="27" name="">
            <a:extLst xmlns:a="http://schemas.openxmlformats.org/drawingml/2006/main">
              <a:ext uri="{FF2B5EF4-FFF2-40B4-BE49-F238E27FC236}">
                <a16:creationId xmlns:a16="http://schemas.microsoft.com/office/drawing/2014/main" id="{EC7C8A4C-39D5-4B9B-B253-002E5D7FCCB3}"/>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8" name="">
            <a:extLst xmlns:a="http://schemas.openxmlformats.org/drawingml/2006/main">
              <a:ext uri="{FF2B5EF4-FFF2-40B4-BE49-F238E27FC236}">
                <a16:creationId xmlns:a16="http://schemas.microsoft.com/office/drawing/2014/main" id="{D7A60659-3182-4F66-9E08-F1E2877437E4}"/>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Außergerichtliche Aufklärung und Prozessvorbereitung können parallel laufen.</a:t>
            </a:r>
          </a:p>
        </p:txBody>
      </p:sp>
    </p:spTree>
    <p:extLst>
      <p:ext uri="{BB962C8B-B14F-4D97-AF65-F5344CB8AC3E}">
        <p14:creationId xmlns:p14="http://schemas.microsoft.com/office/powerpoint/2010/main" val="43637646"/>
      </p:ext>
    </p:extLst>
  </p:cSld>
</p:sld>
</file>

<file path=ppt/slides/slide172.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Vier außergerichtliche Zugänge</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WEGEWAHL</a:t>
            </a:r>
            <a:endParaRPr/>
          </a:p>
        </p:txBody>
      </p:sp>
      <p:sp>
        <p:nvSpPr>
          <p:cNvPr id="4" name="">
            <a:extLst xmlns:a="http://schemas.openxmlformats.org/drawingml/2006/main">
              <a:ext uri="{FF2B5EF4-FFF2-40B4-BE49-F238E27FC236}">
                <a16:creationId xmlns:a16="http://schemas.microsoft.com/office/drawing/2014/main" id="{9D7CD430-0C8A-4FDA-A662-925C97C360C2}"/>
              </a:ext>
            </a:extLst>
          </p:cNvPr>
          <p:cNvSpPr>
            <a:spLocks xmlns:a="http://schemas.openxmlformats.org/drawingml/2006/main" noGrp="1"/>
          </p:cNvSpPr>
          <p:nvPr/>
        </p:nvSpPr>
        <p:spPr>
          <a:xfrm xmlns:a="http://schemas.openxmlformats.org/drawingml/2006/main">
            <a:off x="1809750" y="1952625"/>
            <a:ext cx="46863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481FFBAB-C51F-47B9-B07E-63D0A1569F7B}"/>
              </a:ext>
            </a:extLst>
          </p:cNvPr>
          <p:cNvSpPr>
            <a:spLocks xmlns:a="http://schemas.openxmlformats.org/drawingml/2006/main" noGrp="1"/>
          </p:cNvSpPr>
          <p:nvPr/>
        </p:nvSpPr>
        <p:spPr>
          <a:xfrm xmlns:a="http://schemas.openxmlformats.org/drawingml/2006/main">
            <a:off x="1809750" y="1952625"/>
            <a:ext cx="46863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2384A579-B786-4103-B869-B5834A000DEF}"/>
              </a:ext>
            </a:extLst>
          </p:cNvPr>
          <p:cNvSpPr>
            <a:spLocks xmlns:a="http://schemas.openxmlformats.org/drawingml/2006/main" noGrp="1"/>
          </p:cNvSpPr>
          <p:nvPr/>
        </p:nvSpPr>
        <p:spPr>
          <a:xfrm xmlns:a="http://schemas.openxmlformats.org/drawingml/2006/main">
            <a:off x="1962150" y="2085975"/>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Direktes Gespräch</a:t>
            </a:r>
          </a:p>
        </p:txBody>
      </p:sp>
      <p:sp>
        <p:nvSpPr>
          <p:cNvPr id="7" name="">
            <a:extLst xmlns:a="http://schemas.openxmlformats.org/drawingml/2006/main">
              <a:ext uri="{FF2B5EF4-FFF2-40B4-BE49-F238E27FC236}">
                <a16:creationId xmlns:a16="http://schemas.microsoft.com/office/drawing/2014/main" id="{2B52581F-2C24-453B-AC45-44DBD70C7064}"/>
              </a:ext>
            </a:extLst>
          </p:cNvPr>
          <p:cNvSpPr>
            <a:spLocks xmlns:a="http://schemas.openxmlformats.org/drawingml/2006/main" noGrp="1"/>
          </p:cNvSpPr>
          <p:nvPr/>
        </p:nvSpPr>
        <p:spPr>
          <a:xfrm xmlns:a="http://schemas.openxmlformats.org/drawingml/2006/main">
            <a:off x="1962150" y="2524125"/>
            <a:ext cx="43815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Klärung, Versorgung, Vertrauen</a:t>
            </a:r>
          </a:p>
          <a:p xmlns:a="http://schemas.openxmlformats.org/drawingml/2006/main">
            <a:pPr>
              <a:buNone/>
              <a:defRPr sz="1050">
                <a:solidFill>
                  <a:srgbClr val="15232B"/>
                </a:solidFill>
              </a:defRPr>
            </a:pPr>
            <a:r>
              <a:rPr sz="1050">
                <a:solidFill>
                  <a:srgbClr val="15232B"/>
                </a:solidFill>
              </a:rPr>
              <a:t>keine neutrale Anspruchsentscheidung</a:t>
            </a:r>
          </a:p>
        </p:txBody>
      </p:sp>
      <p:sp>
        <p:nvSpPr>
          <p:cNvPr id="8" name="">
            <a:extLst xmlns:a="http://schemas.openxmlformats.org/drawingml/2006/main">
              <a:ext uri="{FF2B5EF4-FFF2-40B4-BE49-F238E27FC236}">
                <a16:creationId xmlns:a16="http://schemas.microsoft.com/office/drawing/2014/main" id="{BEA869FB-6E46-4DB5-BEAF-7C9E41F5F248}"/>
              </a:ext>
            </a:extLst>
          </p:cNvPr>
          <p:cNvSpPr>
            <a:spLocks xmlns:a="http://schemas.openxmlformats.org/drawingml/2006/main" noGrp="1"/>
          </p:cNvSpPr>
          <p:nvPr/>
        </p:nvSpPr>
        <p:spPr>
          <a:xfrm xmlns:a="http://schemas.openxmlformats.org/drawingml/2006/main">
            <a:off x="6648450" y="1952625"/>
            <a:ext cx="46863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9" name="">
            <a:extLst xmlns:a="http://schemas.openxmlformats.org/drawingml/2006/main">
              <a:ext uri="{FF2B5EF4-FFF2-40B4-BE49-F238E27FC236}">
                <a16:creationId xmlns:a16="http://schemas.microsoft.com/office/drawing/2014/main" id="{D9FE303E-E99B-4211-91DE-B30E88AF2463}"/>
              </a:ext>
            </a:extLst>
          </p:cNvPr>
          <p:cNvSpPr>
            <a:spLocks xmlns:a="http://schemas.openxmlformats.org/drawingml/2006/main" noGrp="1"/>
          </p:cNvSpPr>
          <p:nvPr/>
        </p:nvSpPr>
        <p:spPr>
          <a:xfrm xmlns:a="http://schemas.openxmlformats.org/drawingml/2006/main">
            <a:off x="6648450" y="1952625"/>
            <a:ext cx="468630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2B660A4D-0D14-41D3-8C22-03274F985D57}"/>
              </a:ext>
            </a:extLst>
          </p:cNvPr>
          <p:cNvSpPr>
            <a:spLocks xmlns:a="http://schemas.openxmlformats.org/drawingml/2006/main" noGrp="1"/>
          </p:cNvSpPr>
          <p:nvPr/>
        </p:nvSpPr>
        <p:spPr>
          <a:xfrm xmlns:a="http://schemas.openxmlformats.org/drawingml/2006/main">
            <a:off x="6800850" y="2085975"/>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Haftpflicht / Regulierung</a:t>
            </a:r>
          </a:p>
        </p:txBody>
      </p:sp>
      <p:sp>
        <p:nvSpPr>
          <p:cNvPr id="11" name="">
            <a:extLst xmlns:a="http://schemas.openxmlformats.org/drawingml/2006/main">
              <a:ext uri="{FF2B5EF4-FFF2-40B4-BE49-F238E27FC236}">
                <a16:creationId xmlns:a16="http://schemas.microsoft.com/office/drawing/2014/main" id="{07ACC83F-EAF9-4188-8551-15FA1757F801}"/>
              </a:ext>
            </a:extLst>
          </p:cNvPr>
          <p:cNvSpPr>
            <a:spLocks xmlns:a="http://schemas.openxmlformats.org/drawingml/2006/main" noGrp="1"/>
          </p:cNvSpPr>
          <p:nvPr/>
        </p:nvSpPr>
        <p:spPr>
          <a:xfrm xmlns:a="http://schemas.openxmlformats.org/drawingml/2006/main">
            <a:off x="6800850" y="2524125"/>
            <a:ext cx="43815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professionelle Prüfung und Vergleich</a:t>
            </a:r>
          </a:p>
          <a:p xmlns:a="http://schemas.openxmlformats.org/drawingml/2006/main">
            <a:pPr>
              <a:buNone/>
              <a:defRPr sz="1050">
                <a:solidFill>
                  <a:srgbClr val="15232B"/>
                </a:solidFill>
              </a:defRPr>
            </a:pPr>
            <a:r>
              <a:rPr sz="1050">
                <a:solidFill>
                  <a:srgbClr val="15232B"/>
                </a:solidFill>
              </a:rPr>
              <a:t>Interessen- und Deckungslage beachten</a:t>
            </a:r>
          </a:p>
        </p:txBody>
      </p:sp>
      <p:sp>
        <p:nvSpPr>
          <p:cNvPr id="12" name="">
            <a:extLst xmlns:a="http://schemas.openxmlformats.org/drawingml/2006/main">
              <a:ext uri="{FF2B5EF4-FFF2-40B4-BE49-F238E27FC236}">
                <a16:creationId xmlns:a16="http://schemas.microsoft.com/office/drawing/2014/main" id="{E0C85E72-CE04-45E3-846D-3AB8DCD70471}"/>
              </a:ext>
            </a:extLst>
          </p:cNvPr>
          <p:cNvSpPr>
            <a:spLocks xmlns:a="http://schemas.openxmlformats.org/drawingml/2006/main" noGrp="1"/>
          </p:cNvSpPr>
          <p:nvPr/>
        </p:nvSpPr>
        <p:spPr>
          <a:xfrm xmlns:a="http://schemas.openxmlformats.org/drawingml/2006/main">
            <a:off x="1809750" y="3767138"/>
            <a:ext cx="46863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13" name="">
            <a:extLst xmlns:a="http://schemas.openxmlformats.org/drawingml/2006/main">
              <a:ext uri="{FF2B5EF4-FFF2-40B4-BE49-F238E27FC236}">
                <a16:creationId xmlns:a16="http://schemas.microsoft.com/office/drawing/2014/main" id="{C4756D3E-304B-4EA1-8A7A-976F0AEF5766}"/>
              </a:ext>
            </a:extLst>
          </p:cNvPr>
          <p:cNvSpPr>
            <a:spLocks xmlns:a="http://schemas.openxmlformats.org/drawingml/2006/main" noGrp="1"/>
          </p:cNvSpPr>
          <p:nvPr/>
        </p:nvSpPr>
        <p:spPr>
          <a:xfrm xmlns:a="http://schemas.openxmlformats.org/drawingml/2006/main">
            <a:off x="1809750" y="3767138"/>
            <a:ext cx="46863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A1D8A0DE-4E1C-4F6B-AF97-33CEA36F6C3E}"/>
              </a:ext>
            </a:extLst>
          </p:cNvPr>
          <p:cNvSpPr>
            <a:spLocks xmlns:a="http://schemas.openxmlformats.org/drawingml/2006/main" noGrp="1"/>
          </p:cNvSpPr>
          <p:nvPr/>
        </p:nvSpPr>
        <p:spPr>
          <a:xfrm xmlns:a="http://schemas.openxmlformats.org/drawingml/2006/main">
            <a:off x="1962150" y="3900488"/>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Krankenkasse / MD</a:t>
            </a:r>
          </a:p>
        </p:txBody>
      </p:sp>
      <p:sp>
        <p:nvSpPr>
          <p:cNvPr id="15" name="">
            <a:extLst xmlns:a="http://schemas.openxmlformats.org/drawingml/2006/main">
              <a:ext uri="{FF2B5EF4-FFF2-40B4-BE49-F238E27FC236}">
                <a16:creationId xmlns:a16="http://schemas.microsoft.com/office/drawing/2014/main" id="{987A7DB5-48EB-4058-8514-77FF44BF8905}"/>
              </a:ext>
            </a:extLst>
          </p:cNvPr>
          <p:cNvSpPr>
            <a:spLocks xmlns:a="http://schemas.openxmlformats.org/drawingml/2006/main" noGrp="1"/>
          </p:cNvSpPr>
          <p:nvPr/>
        </p:nvSpPr>
        <p:spPr>
          <a:xfrm xmlns:a="http://schemas.openxmlformats.org/drawingml/2006/main">
            <a:off x="1962150" y="4338638"/>
            <a:ext cx="43815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Gutachtenunterstützung nach § 66 SGB V</a:t>
            </a:r>
          </a:p>
          <a:p xmlns:a="http://schemas.openxmlformats.org/drawingml/2006/main">
            <a:pPr>
              <a:buNone/>
              <a:defRPr sz="1050">
                <a:solidFill>
                  <a:srgbClr val="15232B"/>
                </a:solidFill>
              </a:defRPr>
            </a:pPr>
            <a:r>
              <a:rPr sz="1050">
                <a:solidFill>
                  <a:srgbClr val="15232B"/>
                </a:solidFill>
              </a:rPr>
              <a:t>nur für Versicherte und selektierte Fälle</a:t>
            </a:r>
          </a:p>
        </p:txBody>
      </p:sp>
      <p:sp>
        <p:nvSpPr>
          <p:cNvPr id="16" name="">
            <a:extLst xmlns:a="http://schemas.openxmlformats.org/drawingml/2006/main">
              <a:ext uri="{FF2B5EF4-FFF2-40B4-BE49-F238E27FC236}">
                <a16:creationId xmlns:a16="http://schemas.microsoft.com/office/drawing/2014/main" id="{FC028D7B-CBE9-459D-A3C0-735130D48552}"/>
              </a:ext>
            </a:extLst>
          </p:cNvPr>
          <p:cNvSpPr>
            <a:spLocks xmlns:a="http://schemas.openxmlformats.org/drawingml/2006/main" noGrp="1"/>
          </p:cNvSpPr>
          <p:nvPr/>
        </p:nvSpPr>
        <p:spPr>
          <a:xfrm xmlns:a="http://schemas.openxmlformats.org/drawingml/2006/main">
            <a:off x="6648450" y="3767138"/>
            <a:ext cx="46863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17" name="">
            <a:extLst xmlns:a="http://schemas.openxmlformats.org/drawingml/2006/main">
              <a:ext uri="{FF2B5EF4-FFF2-40B4-BE49-F238E27FC236}">
                <a16:creationId xmlns:a16="http://schemas.microsoft.com/office/drawing/2014/main" id="{A72FD058-2570-44FE-A79D-8CA2D58E2E5A}"/>
              </a:ext>
            </a:extLst>
          </p:cNvPr>
          <p:cNvSpPr>
            <a:spLocks xmlns:a="http://schemas.openxmlformats.org/drawingml/2006/main" noGrp="1"/>
          </p:cNvSpPr>
          <p:nvPr/>
        </p:nvSpPr>
        <p:spPr>
          <a:xfrm xmlns:a="http://schemas.openxmlformats.org/drawingml/2006/main">
            <a:off x="6648450" y="3767138"/>
            <a:ext cx="468630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5A04275D-A856-41E0-8205-FFCC53DEC97E}"/>
              </a:ext>
            </a:extLst>
          </p:cNvPr>
          <p:cNvSpPr>
            <a:spLocks xmlns:a="http://schemas.openxmlformats.org/drawingml/2006/main" noGrp="1"/>
          </p:cNvSpPr>
          <p:nvPr/>
        </p:nvSpPr>
        <p:spPr>
          <a:xfrm xmlns:a="http://schemas.openxmlformats.org/drawingml/2006/main">
            <a:off x="6800850" y="3900488"/>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ÄKN-Schlichtung</a:t>
            </a:r>
          </a:p>
        </p:txBody>
      </p:sp>
      <p:sp>
        <p:nvSpPr>
          <p:cNvPr id="19" name="">
            <a:extLst xmlns:a="http://schemas.openxmlformats.org/drawingml/2006/main">
              <a:ext uri="{FF2B5EF4-FFF2-40B4-BE49-F238E27FC236}">
                <a16:creationId xmlns:a16="http://schemas.microsoft.com/office/drawing/2014/main" id="{4BA6FB68-7224-4A60-8F0B-CD875BDD3767}"/>
              </a:ext>
            </a:extLst>
          </p:cNvPr>
          <p:cNvSpPr>
            <a:spLocks xmlns:a="http://schemas.openxmlformats.org/drawingml/2006/main" noGrp="1"/>
          </p:cNvSpPr>
          <p:nvPr/>
        </p:nvSpPr>
        <p:spPr>
          <a:xfrm xmlns:a="http://schemas.openxmlformats.org/drawingml/2006/main">
            <a:off x="6800850" y="4338638"/>
            <a:ext cx="43815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neutral, kostenfrei für Patient:innen</a:t>
            </a:r>
          </a:p>
          <a:p xmlns:a="http://schemas.openxmlformats.org/drawingml/2006/main">
            <a:pPr>
              <a:buNone/>
              <a:defRPr sz="1050">
                <a:solidFill>
                  <a:srgbClr val="15232B"/>
                </a:solidFill>
              </a:defRPr>
            </a:pPr>
            <a:r>
              <a:rPr sz="1050">
                <a:solidFill>
                  <a:srgbClr val="15232B"/>
                </a:solidFill>
              </a:rPr>
              <a:t>freiwillig; Zulässigkeitsgrenzen</a:t>
            </a:r>
          </a:p>
        </p:txBody>
      </p:sp>
      <p:sp>
        <p:nvSpPr>
          <p:cNvPr id="20" name="">
            <a:extLst xmlns:a="http://schemas.openxmlformats.org/drawingml/2006/main">
              <a:ext uri="{FF2B5EF4-FFF2-40B4-BE49-F238E27FC236}">
                <a16:creationId xmlns:a16="http://schemas.microsoft.com/office/drawing/2014/main" id="{2B0564BD-1B11-47A1-95F4-55AAE518C76C}"/>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1" name="">
            <a:extLst xmlns:a="http://schemas.openxmlformats.org/drawingml/2006/main">
              <a:ext uri="{FF2B5EF4-FFF2-40B4-BE49-F238E27FC236}">
                <a16:creationId xmlns:a16="http://schemas.microsoft.com/office/drawing/2014/main" id="{519D8C8D-6D4A-4A14-8ECC-17427A325C4B}"/>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Der beste Weg hängt vom Ziel ab: Erklärung, Versorgung, neutrale Begutachtung, Entschädigung oder Sanktion.</a:t>
            </a:r>
          </a:p>
        </p:txBody>
      </p:sp>
    </p:spTree>
    <p:extLst>
      <p:ext uri="{BB962C8B-B14F-4D97-AF65-F5344CB8AC3E}">
        <p14:creationId xmlns:p14="http://schemas.microsoft.com/office/powerpoint/2010/main" val="43637646"/>
      </p:ext>
    </p:extLst>
  </p:cSld>
</p:sld>
</file>

<file path=ppt/slides/slide173.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Schlichtungsstelle der ÄKN: wann sie passt</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NIEDERSACHSEN</a:t>
            </a:r>
            <a:endParaRPr/>
          </a:p>
        </p:txBody>
      </p:sp>
      <p:sp>
        <p:nvSpPr>
          <p:cNvPr id="4" name="">
            <a:extLst xmlns:a="http://schemas.openxmlformats.org/drawingml/2006/main">
              <a:ext uri="{FF2B5EF4-FFF2-40B4-BE49-F238E27FC236}">
                <a16:creationId xmlns:a16="http://schemas.microsoft.com/office/drawing/2014/main" id="{E52A64C3-9C54-4438-BF2B-8D9CCBD70A2D}"/>
              </a:ext>
            </a:extLst>
          </p:cNvPr>
          <p:cNvSpPr>
            <a:spLocks xmlns:a="http://schemas.openxmlformats.org/drawingml/2006/main" noGrp="1"/>
          </p:cNvSpPr>
          <p:nvPr/>
        </p:nvSpPr>
        <p:spPr>
          <a:xfrm xmlns:a="http://schemas.openxmlformats.org/drawingml/2006/main">
            <a:off x="1809750" y="2000250"/>
            <a:ext cx="4619625" cy="3286125"/>
          </a:xfrm>
          <a:prstGeom xmlns:a="http://schemas.openxmlformats.org/drawingml/2006/main" prst="roundRect">
            <a:avLst>
              <a:gd name="adj" fmla="val 2319"/>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75BD6E72-1C63-4F9D-A469-F53050AE4994}"/>
              </a:ext>
            </a:extLst>
          </p:cNvPr>
          <p:cNvSpPr>
            <a:spLocks xmlns:a="http://schemas.openxmlformats.org/drawingml/2006/main" noGrp="1"/>
          </p:cNvSpPr>
          <p:nvPr/>
        </p:nvSpPr>
        <p:spPr>
          <a:xfrm xmlns:a="http://schemas.openxmlformats.org/drawingml/2006/main">
            <a:off x="1809750" y="2000250"/>
            <a:ext cx="4619625"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0AFA530A-23A8-4E46-8B75-0A39654BF614}"/>
              </a:ext>
            </a:extLst>
          </p:cNvPr>
          <p:cNvSpPr>
            <a:spLocks xmlns:a="http://schemas.openxmlformats.org/drawingml/2006/main" noGrp="1"/>
          </p:cNvSpPr>
          <p:nvPr/>
        </p:nvSpPr>
        <p:spPr>
          <a:xfrm xmlns:a="http://schemas.openxmlformats.org/drawingml/2006/main">
            <a:off x="1962150" y="2133600"/>
            <a:ext cx="4314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75" b="1">
                <a:solidFill>
                  <a:srgbClr val="003F6B"/>
                </a:solidFill>
              </a:defRPr>
            </a:pPr>
            <a:r>
              <a:rPr sz="1575" b="1">
                <a:solidFill>
                  <a:srgbClr val="003F6B"/>
                </a:solidFill>
              </a:rPr>
              <a:t>Dafür</a:t>
            </a:r>
          </a:p>
        </p:txBody>
      </p:sp>
      <p:sp>
        <p:nvSpPr>
          <p:cNvPr id="7" name="">
            <a:extLst xmlns:a="http://schemas.openxmlformats.org/drawingml/2006/main">
              <a:ext uri="{FF2B5EF4-FFF2-40B4-BE49-F238E27FC236}">
                <a16:creationId xmlns:a16="http://schemas.microsoft.com/office/drawing/2014/main" id="{513C812B-E0B9-4026-AECB-957255DC9B67}"/>
              </a:ext>
            </a:extLst>
          </p:cNvPr>
          <p:cNvSpPr>
            <a:spLocks xmlns:a="http://schemas.openxmlformats.org/drawingml/2006/main" noGrp="1"/>
          </p:cNvSpPr>
          <p:nvPr/>
        </p:nvSpPr>
        <p:spPr>
          <a:xfrm xmlns:a="http://schemas.openxmlformats.org/drawingml/2006/main">
            <a:off x="1962150" y="2571750"/>
            <a:ext cx="4314825"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15232B"/>
                </a:solidFill>
              </a:defRPr>
            </a:pPr>
            <a:r>
              <a:rPr sz="1200">
                <a:solidFill>
                  <a:srgbClr val="15232B"/>
                </a:solidFill>
              </a:rPr>
              <a:t>• Behandlung in Niedersachsen</a:t>
            </a:r>
          </a:p>
          <a:p xmlns:a="http://schemas.openxmlformats.org/drawingml/2006/main">
            <a:pPr>
              <a:buNone/>
              <a:defRPr sz="1200">
                <a:solidFill>
                  <a:srgbClr val="15232B"/>
                </a:solidFill>
              </a:defRPr>
            </a:pPr>
            <a:r>
              <a:rPr sz="1200">
                <a:solidFill>
                  <a:srgbClr val="15232B"/>
                </a:solidFill>
              </a:rPr>
              <a:t>• Behandlung grundsätzlich nicht länger als fünf Jahre zurück</a:t>
            </a:r>
          </a:p>
          <a:p xmlns:a="http://schemas.openxmlformats.org/drawingml/2006/main">
            <a:pPr>
              <a:buNone/>
              <a:defRPr sz="1200">
                <a:solidFill>
                  <a:srgbClr val="15232B"/>
                </a:solidFill>
              </a:defRPr>
            </a:pPr>
            <a:r>
              <a:rPr sz="1200">
                <a:solidFill>
                  <a:srgbClr val="15232B"/>
                </a:solidFill>
              </a:rPr>
              <a:t>• medizinische und rechtliche Bewertung gewünscht</a:t>
            </a:r>
          </a:p>
          <a:p xmlns:a="http://schemas.openxmlformats.org/drawingml/2006/main">
            <a:pPr>
              <a:buNone/>
              <a:defRPr sz="1200">
                <a:solidFill>
                  <a:srgbClr val="15232B"/>
                </a:solidFill>
              </a:defRPr>
            </a:pPr>
            <a:r>
              <a:rPr sz="1200">
                <a:solidFill>
                  <a:srgbClr val="15232B"/>
                </a:solidFill>
              </a:rPr>
              <a:t>• alle Beteiligten stimmen dem freiwilligen Verfahren zu</a:t>
            </a:r>
          </a:p>
        </p:txBody>
      </p:sp>
      <p:sp>
        <p:nvSpPr>
          <p:cNvPr id="8" name="">
            <a:extLst xmlns:a="http://schemas.openxmlformats.org/drawingml/2006/main">
              <a:ext uri="{FF2B5EF4-FFF2-40B4-BE49-F238E27FC236}">
                <a16:creationId xmlns:a16="http://schemas.microsoft.com/office/drawing/2014/main" id="{4B0FEC54-E666-444A-A50D-689896E8F14D}"/>
              </a:ext>
            </a:extLst>
          </p:cNvPr>
          <p:cNvSpPr>
            <a:spLocks xmlns:a="http://schemas.openxmlformats.org/drawingml/2006/main" noGrp="1"/>
          </p:cNvSpPr>
          <p:nvPr/>
        </p:nvSpPr>
        <p:spPr>
          <a:xfrm xmlns:a="http://schemas.openxmlformats.org/drawingml/2006/main">
            <a:off x="6715125" y="2000250"/>
            <a:ext cx="4619625" cy="3286125"/>
          </a:xfrm>
          <a:prstGeom xmlns:a="http://schemas.openxmlformats.org/drawingml/2006/main" prst="roundRect">
            <a:avLst>
              <a:gd name="adj" fmla="val 2319"/>
            </a:avLst>
          </a:prstGeom>
          <a:noFill xmlns:a="http://schemas.openxmlformats.org/drawingml/2006/main"/>
          <a:ln xmlns:a="http://schemas.openxmlformats.org/drawingml/2006/main" w="9525">
            <a:solidFill>
              <a:srgbClr val="B9CAD2"/>
            </a:solidFill>
            <a:prstDash val="solid"/>
          </a:ln>
        </p:spPr>
      </p:sp>
      <p:sp>
        <p:nvSpPr>
          <p:cNvPr id="9" name="">
            <a:extLst xmlns:a="http://schemas.openxmlformats.org/drawingml/2006/main">
              <a:ext uri="{FF2B5EF4-FFF2-40B4-BE49-F238E27FC236}">
                <a16:creationId xmlns:a16="http://schemas.microsoft.com/office/drawing/2014/main" id="{AB704769-7D7F-406E-B11F-98B1ADFA60E2}"/>
              </a:ext>
            </a:extLst>
          </p:cNvPr>
          <p:cNvSpPr>
            <a:spLocks xmlns:a="http://schemas.openxmlformats.org/drawingml/2006/main" noGrp="1"/>
          </p:cNvSpPr>
          <p:nvPr/>
        </p:nvSpPr>
        <p:spPr>
          <a:xfrm xmlns:a="http://schemas.openxmlformats.org/drawingml/2006/main">
            <a:off x="6715125" y="2000250"/>
            <a:ext cx="4619625"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2B15139E-F9B3-464D-BDCD-793FC53DA625}"/>
              </a:ext>
            </a:extLst>
          </p:cNvPr>
          <p:cNvSpPr>
            <a:spLocks xmlns:a="http://schemas.openxmlformats.org/drawingml/2006/main" noGrp="1"/>
          </p:cNvSpPr>
          <p:nvPr/>
        </p:nvSpPr>
        <p:spPr>
          <a:xfrm xmlns:a="http://schemas.openxmlformats.org/drawingml/2006/main">
            <a:off x="6867525" y="2133600"/>
            <a:ext cx="4314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75" b="1">
                <a:solidFill>
                  <a:srgbClr val="003F6B"/>
                </a:solidFill>
              </a:defRPr>
            </a:pPr>
            <a:r>
              <a:rPr sz="1575" b="1">
                <a:solidFill>
                  <a:srgbClr val="003F6B"/>
                </a:solidFill>
              </a:rPr>
              <a:t>Dagegen</a:t>
            </a:r>
          </a:p>
        </p:txBody>
      </p:sp>
      <p:sp>
        <p:nvSpPr>
          <p:cNvPr id="11" name="">
            <a:extLst xmlns:a="http://schemas.openxmlformats.org/drawingml/2006/main">
              <a:ext uri="{FF2B5EF4-FFF2-40B4-BE49-F238E27FC236}">
                <a16:creationId xmlns:a16="http://schemas.microsoft.com/office/drawing/2014/main" id="{05AA4798-A229-4E00-96E9-C72F32FAD40D}"/>
              </a:ext>
            </a:extLst>
          </p:cNvPr>
          <p:cNvSpPr>
            <a:spLocks xmlns:a="http://schemas.openxmlformats.org/drawingml/2006/main" noGrp="1"/>
          </p:cNvSpPr>
          <p:nvPr/>
        </p:nvSpPr>
        <p:spPr>
          <a:xfrm xmlns:a="http://schemas.openxmlformats.org/drawingml/2006/main">
            <a:off x="6867525" y="2571750"/>
            <a:ext cx="4314825"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15232B"/>
                </a:solidFill>
              </a:defRPr>
            </a:pPr>
            <a:r>
              <a:rPr sz="1200">
                <a:solidFill>
                  <a:srgbClr val="15232B"/>
                </a:solidFill>
              </a:rPr>
              <a:t>• Schadensersatzklage bereits anhängig</a:t>
            </a:r>
          </a:p>
          <a:p xmlns:a="http://schemas.openxmlformats.org/drawingml/2006/main">
            <a:pPr>
              <a:buNone/>
              <a:defRPr sz="1200">
                <a:solidFill>
                  <a:srgbClr val="15232B"/>
                </a:solidFill>
              </a:defRPr>
            </a:pPr>
            <a:r>
              <a:rPr sz="1200">
                <a:solidFill>
                  <a:srgbClr val="15232B"/>
                </a:solidFill>
              </a:rPr>
              <a:t>• strafrechtliche Anzeige bereits erstattet</a:t>
            </a:r>
          </a:p>
          <a:p xmlns:a="http://schemas.openxmlformats.org/drawingml/2006/main">
            <a:pPr>
              <a:buNone/>
              <a:defRPr sz="1200">
                <a:solidFill>
                  <a:srgbClr val="15232B"/>
                </a:solidFill>
              </a:defRPr>
            </a:pPr>
            <a:r>
              <a:rPr sz="1200">
                <a:solidFill>
                  <a:srgbClr val="15232B"/>
                </a:solidFill>
              </a:rPr>
              <a:t>• notwendige Beteiligte verweigern Zustimmung</a:t>
            </a:r>
          </a:p>
        </p:txBody>
      </p:sp>
      <p:sp>
        <p:nvSpPr>
          <p:cNvPr id="12" name="">
            <a:extLst xmlns:a="http://schemas.openxmlformats.org/drawingml/2006/main">
              <a:ext uri="{FF2B5EF4-FFF2-40B4-BE49-F238E27FC236}">
                <a16:creationId xmlns:a16="http://schemas.microsoft.com/office/drawing/2014/main" id="{0AC16C13-357E-45E1-8566-2ECF3A85FAC8}"/>
              </a:ext>
            </a:extLst>
          </p:cNvPr>
          <p:cNvSpPr>
            <a:spLocks xmlns:a="http://schemas.openxmlformats.org/drawingml/2006/main" noGrp="1"/>
          </p:cNvSpPr>
          <p:nvPr/>
        </p:nvSpPr>
        <p:spPr>
          <a:xfrm xmlns:a="http://schemas.openxmlformats.org/drawingml/2006/main">
            <a:off x="2095500" y="5048250"/>
            <a:ext cx="2762250" cy="361950"/>
          </a:xfrm>
          <a:prstGeom xmlns:a="http://schemas.openxmlformats.org/drawingml/2006/main" prst="roundRect">
            <a:avLst>
              <a:gd name="adj" fmla="val 21053"/>
            </a:avLst>
          </a:prstGeom>
          <a:solidFill xmlns:a="http://schemas.openxmlformats.org/drawingml/2006/main">
            <a:srgbClr val="00B2BB"/>
          </a:solidFill>
          <a:ln xmlns:a="http://schemas.openxmlformats.org/drawingml/2006/main" w="0">
            <a:solidFill>
              <a:srgbClr val="00B2BB"/>
            </a:solidFill>
            <a:prstDash val="solid"/>
          </a:ln>
        </p:spPr>
      </p:sp>
      <p:sp>
        <p:nvSpPr>
          <p:cNvPr id="13" name="">
            <a:extLst xmlns:a="http://schemas.openxmlformats.org/drawingml/2006/main">
              <a:ext uri="{FF2B5EF4-FFF2-40B4-BE49-F238E27FC236}">
                <a16:creationId xmlns:a16="http://schemas.microsoft.com/office/drawing/2014/main" id="{8BD3CAA7-C564-4383-B279-8ED8F279AB29}"/>
              </a:ext>
            </a:extLst>
          </p:cNvPr>
          <p:cNvSpPr>
            <a:spLocks xmlns:a="http://schemas.openxmlformats.org/drawingml/2006/main" noGrp="1"/>
          </p:cNvSpPr>
          <p:nvPr/>
        </p:nvSpPr>
        <p:spPr>
          <a:xfrm xmlns:a="http://schemas.openxmlformats.org/drawingml/2006/main">
            <a:off x="2095500" y="5048250"/>
            <a:ext cx="276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677 Anträge 2025</a:t>
            </a:r>
          </a:p>
        </p:txBody>
      </p:sp>
      <p:sp>
        <p:nvSpPr>
          <p:cNvPr id="14" name="">
            <a:extLst xmlns:a="http://schemas.openxmlformats.org/drawingml/2006/main">
              <a:ext uri="{FF2B5EF4-FFF2-40B4-BE49-F238E27FC236}">
                <a16:creationId xmlns:a16="http://schemas.microsoft.com/office/drawing/2014/main" id="{A7FBF73E-30D1-4662-A7EE-7AC7D9CB428F}"/>
              </a:ext>
            </a:extLst>
          </p:cNvPr>
          <p:cNvSpPr>
            <a:spLocks xmlns:a="http://schemas.openxmlformats.org/drawingml/2006/main" noGrp="1"/>
          </p:cNvSpPr>
          <p:nvPr/>
        </p:nvSpPr>
        <p:spPr>
          <a:xfrm xmlns:a="http://schemas.openxmlformats.org/drawingml/2006/main">
            <a:off x="5143500" y="5048250"/>
            <a:ext cx="2762250" cy="361950"/>
          </a:xfrm>
          <a:prstGeom xmlns:a="http://schemas.openxmlformats.org/drawingml/2006/main" prst="roundRect">
            <a:avLst>
              <a:gd name="adj" fmla="val 21053"/>
            </a:avLst>
          </a:prstGeom>
          <a:solidFill xmlns:a="http://schemas.openxmlformats.org/drawingml/2006/main">
            <a:srgbClr val="003F6B"/>
          </a:solidFill>
          <a:ln xmlns:a="http://schemas.openxmlformats.org/drawingml/2006/main" w="0">
            <a:solidFill>
              <a:srgbClr val="003F6B"/>
            </a:solidFill>
            <a:prstDash val="solid"/>
          </a:ln>
        </p:spPr>
      </p:sp>
      <p:sp>
        <p:nvSpPr>
          <p:cNvPr id="15" name="">
            <a:extLst xmlns:a="http://schemas.openxmlformats.org/drawingml/2006/main">
              <a:ext uri="{FF2B5EF4-FFF2-40B4-BE49-F238E27FC236}">
                <a16:creationId xmlns:a16="http://schemas.microsoft.com/office/drawing/2014/main" id="{18F062D8-B2EF-431A-AAF1-09EEA20A604C}"/>
              </a:ext>
            </a:extLst>
          </p:cNvPr>
          <p:cNvSpPr>
            <a:spLocks xmlns:a="http://schemas.openxmlformats.org/drawingml/2006/main" noGrp="1"/>
          </p:cNvSpPr>
          <p:nvPr/>
        </p:nvSpPr>
        <p:spPr>
          <a:xfrm xmlns:a="http://schemas.openxmlformats.org/drawingml/2006/main">
            <a:off x="5143500" y="5048250"/>
            <a:ext cx="276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243 Entscheidungen</a:t>
            </a:r>
          </a:p>
        </p:txBody>
      </p:sp>
      <p:sp>
        <p:nvSpPr>
          <p:cNvPr id="16" name="">
            <a:extLst xmlns:a="http://schemas.openxmlformats.org/drawingml/2006/main">
              <a:ext uri="{FF2B5EF4-FFF2-40B4-BE49-F238E27FC236}">
                <a16:creationId xmlns:a16="http://schemas.microsoft.com/office/drawing/2014/main" id="{4725A18D-9C66-43C9-9185-E55FDFC258E5}"/>
              </a:ext>
            </a:extLst>
          </p:cNvPr>
          <p:cNvSpPr>
            <a:spLocks xmlns:a="http://schemas.openxmlformats.org/drawingml/2006/main" noGrp="1"/>
          </p:cNvSpPr>
          <p:nvPr/>
        </p:nvSpPr>
        <p:spPr>
          <a:xfrm xmlns:a="http://schemas.openxmlformats.org/drawingml/2006/main">
            <a:off x="8191500" y="5048250"/>
            <a:ext cx="2762250" cy="361950"/>
          </a:xfrm>
          <a:prstGeom xmlns:a="http://schemas.openxmlformats.org/drawingml/2006/main" prst="roundRect">
            <a:avLst>
              <a:gd name="adj" fmla="val 21053"/>
            </a:avLst>
          </a:prstGeom>
          <a:solidFill xmlns:a="http://schemas.openxmlformats.org/drawingml/2006/main">
            <a:srgbClr val="00B2BB"/>
          </a:solidFill>
          <a:ln xmlns:a="http://schemas.openxmlformats.org/drawingml/2006/main" w="0">
            <a:solidFill>
              <a:srgbClr val="00B2BB"/>
            </a:solidFill>
            <a:prstDash val="solid"/>
          </a:ln>
        </p:spPr>
      </p:sp>
      <p:sp>
        <p:nvSpPr>
          <p:cNvPr id="17" name="">
            <a:extLst xmlns:a="http://schemas.openxmlformats.org/drawingml/2006/main">
              <a:ext uri="{FF2B5EF4-FFF2-40B4-BE49-F238E27FC236}">
                <a16:creationId xmlns:a16="http://schemas.microsoft.com/office/drawing/2014/main" id="{D167B87C-BEA6-43BB-B923-7F2C8E44326B}"/>
              </a:ext>
            </a:extLst>
          </p:cNvPr>
          <p:cNvSpPr>
            <a:spLocks xmlns:a="http://schemas.openxmlformats.org/drawingml/2006/main" noGrp="1"/>
          </p:cNvSpPr>
          <p:nvPr/>
        </p:nvSpPr>
        <p:spPr>
          <a:xfrm xmlns:a="http://schemas.openxmlformats.org/drawingml/2006/main">
            <a:off x="8191500" y="5048250"/>
            <a:ext cx="276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71 kausale Gesundheitsschäden</a:t>
            </a:r>
          </a:p>
        </p:txBody>
      </p:sp>
      <p:sp>
        <p:nvSpPr>
          <p:cNvPr id="18" name="">
            <a:extLst xmlns:a="http://schemas.openxmlformats.org/drawingml/2006/main">
              <a:ext uri="{FF2B5EF4-FFF2-40B4-BE49-F238E27FC236}">
                <a16:creationId xmlns:a16="http://schemas.microsoft.com/office/drawing/2014/main" id="{53D58A93-4671-4BF1-9222-AA165342D1E3}"/>
              </a:ext>
            </a:extLst>
          </p:cNvPr>
          <p:cNvSpPr>
            <a:spLocks xmlns:a="http://schemas.openxmlformats.org/drawingml/2006/main" noGrp="1"/>
          </p:cNvSpPr>
          <p:nvPr/>
        </p:nvSpPr>
        <p:spPr>
          <a:xfrm xmlns:a="http://schemas.openxmlformats.org/drawingml/2006/main">
            <a:off x="1809750" y="5429250"/>
            <a:ext cx="95250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660">
                <a:solidFill>
                  <a:srgbClr val="667680"/>
                </a:solidFill>
              </a:defRPr>
            </a:pPr>
            <a:r>
              <a:rPr sz="660">
                <a:solidFill>
                  <a:srgbClr val="667680"/>
                </a:solidFill>
              </a:rPr>
              <a:t>Ärztekammer Niedersachsen, Jahresbilanz 2025 der Schlichtungsstelle, veröffentlicht 15.07.2026 · Abruf/Stand: 20.08.2026 · https://www.rechtsprechung-im-internet.de</a:t>
            </a:r>
          </a:p>
        </p:txBody>
      </p:sp>
      <p:sp>
        <p:nvSpPr>
          <p:cNvPr id="19" name="">
            <a:extLst xmlns:a="http://schemas.openxmlformats.org/drawingml/2006/main">
              <a:ext uri="{FF2B5EF4-FFF2-40B4-BE49-F238E27FC236}">
                <a16:creationId xmlns:a16="http://schemas.microsoft.com/office/drawing/2014/main" id="{8AFB0EDA-C17B-4A2C-ACC2-618D94D5CF4E}"/>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0" name="">
            <a:extLst xmlns:a="http://schemas.openxmlformats.org/drawingml/2006/main">
              <a:ext uri="{FF2B5EF4-FFF2-40B4-BE49-F238E27FC236}">
                <a16:creationId xmlns:a16="http://schemas.microsoft.com/office/drawing/2014/main" id="{708D6A1D-3985-4AE0-8615-82795B88209B}"/>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Das Verfahren kann Verjährung hemmen; Zulässigkeit und Fristen im Einzelfall früh prüfen.</a:t>
            </a:r>
          </a:p>
        </p:txBody>
      </p:sp>
    </p:spTree>
    <p:extLst>
      <p:ext uri="{BB962C8B-B14F-4D97-AF65-F5344CB8AC3E}">
        <p14:creationId xmlns:p14="http://schemas.microsoft.com/office/powerpoint/2010/main" val="43637646"/>
      </p:ext>
    </p:extLst>
  </p:cSld>
</p:sld>
</file>

<file path=ppt/slides/slide174.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Verjährung: Kalender statt Bauchgefühl</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FRISTENLOGIK</a:t>
            </a:r>
            <a:endParaRPr/>
          </a:p>
        </p:txBody>
      </p:sp>
      <p:sp>
        <p:nvSpPr>
          <p:cNvPr id="4" name="">
            <a:extLst xmlns:a="http://schemas.openxmlformats.org/drawingml/2006/main">
              <a:ext uri="{FF2B5EF4-FFF2-40B4-BE49-F238E27FC236}">
                <a16:creationId xmlns:a16="http://schemas.microsoft.com/office/drawing/2014/main" id="{EB88278B-258E-4763-8A50-74211EF4295F}"/>
              </a:ext>
            </a:extLst>
          </p:cNvPr>
          <p:cNvSpPr>
            <a:spLocks xmlns:a="http://schemas.openxmlformats.org/drawingml/2006/main" noGrp="1"/>
          </p:cNvSpPr>
          <p:nvPr/>
        </p:nvSpPr>
        <p:spPr>
          <a:xfrm xmlns:a="http://schemas.openxmlformats.org/drawingml/2006/main">
            <a:off x="1809750" y="1952625"/>
            <a:ext cx="3073400" cy="3495675"/>
          </a:xfrm>
          <a:prstGeom xmlns:a="http://schemas.openxmlformats.org/drawingml/2006/main" prst="roundRect">
            <a:avLst>
              <a:gd name="adj" fmla="val 2479"/>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70432B26-6B02-4DF9-91B7-5DCE8706FE44}"/>
              </a:ext>
            </a:extLst>
          </p:cNvPr>
          <p:cNvSpPr>
            <a:spLocks xmlns:a="http://schemas.openxmlformats.org/drawingml/2006/main" noGrp="1"/>
          </p:cNvSpPr>
          <p:nvPr/>
        </p:nvSpPr>
        <p:spPr>
          <a:xfrm xmlns:a="http://schemas.openxmlformats.org/drawingml/2006/main">
            <a:off x="1809750" y="1952625"/>
            <a:ext cx="30734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D8EBC1C8-C246-4993-9200-8EC7D48E0081}"/>
              </a:ext>
            </a:extLst>
          </p:cNvPr>
          <p:cNvSpPr>
            <a:spLocks xmlns:a="http://schemas.openxmlformats.org/drawingml/2006/main" noGrp="1"/>
          </p:cNvSpPr>
          <p:nvPr/>
        </p:nvSpPr>
        <p:spPr>
          <a:xfrm xmlns:a="http://schemas.openxmlformats.org/drawingml/2006/main">
            <a:off x="1962150" y="2085975"/>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Regel</a:t>
            </a:r>
          </a:p>
        </p:txBody>
      </p:sp>
      <p:sp>
        <p:nvSpPr>
          <p:cNvPr id="7" name="">
            <a:extLst xmlns:a="http://schemas.openxmlformats.org/drawingml/2006/main">
              <a:ext uri="{FF2B5EF4-FFF2-40B4-BE49-F238E27FC236}">
                <a16:creationId xmlns:a16="http://schemas.microsoft.com/office/drawing/2014/main" id="{09C0B1FE-78FE-49D6-B007-40951318E1EF}"/>
              </a:ext>
            </a:extLst>
          </p:cNvPr>
          <p:cNvSpPr>
            <a:spLocks xmlns:a="http://schemas.openxmlformats.org/drawingml/2006/main" noGrp="1"/>
          </p:cNvSpPr>
          <p:nvPr/>
        </p:nvSpPr>
        <p:spPr>
          <a:xfrm xmlns:a="http://schemas.openxmlformats.org/drawingml/2006/main">
            <a:off x="1962150" y="2524125"/>
            <a:ext cx="2768600" cy="2790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25">
                <a:solidFill>
                  <a:srgbClr val="15232B"/>
                </a:solidFill>
              </a:defRPr>
            </a:pPr>
            <a:r>
              <a:rPr sz="1125">
                <a:solidFill>
                  <a:srgbClr val="15232B"/>
                </a:solidFill>
              </a:rPr>
              <a:t>Drei Jahre ab Schluss des Jahres, in dem Anspruch entstand und Kenntnis / grob fahrlässige Unkenntnis vorlag.</a:t>
            </a:r>
          </a:p>
        </p:txBody>
      </p:sp>
      <p:sp>
        <p:nvSpPr>
          <p:cNvPr id="8" name="">
            <a:extLst xmlns:a="http://schemas.openxmlformats.org/drawingml/2006/main">
              <a:ext uri="{FF2B5EF4-FFF2-40B4-BE49-F238E27FC236}">
                <a16:creationId xmlns:a16="http://schemas.microsoft.com/office/drawing/2014/main" id="{B5416324-9B56-4873-BC28-19E3B40AD6FE}"/>
              </a:ext>
            </a:extLst>
          </p:cNvPr>
          <p:cNvSpPr>
            <a:spLocks xmlns:a="http://schemas.openxmlformats.org/drawingml/2006/main" noGrp="1"/>
          </p:cNvSpPr>
          <p:nvPr/>
        </p:nvSpPr>
        <p:spPr>
          <a:xfrm xmlns:a="http://schemas.openxmlformats.org/drawingml/2006/main">
            <a:off x="5035550" y="1952625"/>
            <a:ext cx="3073400" cy="3495675"/>
          </a:xfrm>
          <a:prstGeom xmlns:a="http://schemas.openxmlformats.org/drawingml/2006/main" prst="roundRect">
            <a:avLst>
              <a:gd name="adj" fmla="val 2479"/>
            </a:avLst>
          </a:prstGeom>
          <a:noFill xmlns:a="http://schemas.openxmlformats.org/drawingml/2006/main"/>
          <a:ln xmlns:a="http://schemas.openxmlformats.org/drawingml/2006/main" w="9525">
            <a:solidFill>
              <a:srgbClr val="B9CAD2"/>
            </a:solidFill>
            <a:prstDash val="solid"/>
          </a:ln>
        </p:spPr>
      </p:sp>
      <p:sp>
        <p:nvSpPr>
          <p:cNvPr id="9" name="">
            <a:extLst xmlns:a="http://schemas.openxmlformats.org/drawingml/2006/main">
              <a:ext uri="{FF2B5EF4-FFF2-40B4-BE49-F238E27FC236}">
                <a16:creationId xmlns:a16="http://schemas.microsoft.com/office/drawing/2014/main" id="{5946656C-6A5A-4592-8763-8F3043AF37A6}"/>
              </a:ext>
            </a:extLst>
          </p:cNvPr>
          <p:cNvSpPr>
            <a:spLocks xmlns:a="http://schemas.openxmlformats.org/drawingml/2006/main" noGrp="1"/>
          </p:cNvSpPr>
          <p:nvPr/>
        </p:nvSpPr>
        <p:spPr>
          <a:xfrm xmlns:a="http://schemas.openxmlformats.org/drawingml/2006/main">
            <a:off x="5035550" y="1952625"/>
            <a:ext cx="307340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0B96A094-9E8D-4E37-8191-4CAC6647A3A1}"/>
              </a:ext>
            </a:extLst>
          </p:cNvPr>
          <p:cNvSpPr>
            <a:spLocks xmlns:a="http://schemas.openxmlformats.org/drawingml/2006/main" noGrp="1"/>
          </p:cNvSpPr>
          <p:nvPr/>
        </p:nvSpPr>
        <p:spPr>
          <a:xfrm xmlns:a="http://schemas.openxmlformats.org/drawingml/2006/main">
            <a:off x="5187950" y="2085975"/>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Höchstfrist</a:t>
            </a:r>
          </a:p>
        </p:txBody>
      </p:sp>
      <p:sp>
        <p:nvSpPr>
          <p:cNvPr id="11" name="">
            <a:extLst xmlns:a="http://schemas.openxmlformats.org/drawingml/2006/main">
              <a:ext uri="{FF2B5EF4-FFF2-40B4-BE49-F238E27FC236}">
                <a16:creationId xmlns:a16="http://schemas.microsoft.com/office/drawing/2014/main" id="{C7B71FBD-1B1F-4E0F-BFE1-7990E9530307}"/>
              </a:ext>
            </a:extLst>
          </p:cNvPr>
          <p:cNvSpPr>
            <a:spLocks xmlns:a="http://schemas.openxmlformats.org/drawingml/2006/main" noGrp="1"/>
          </p:cNvSpPr>
          <p:nvPr/>
        </p:nvSpPr>
        <p:spPr>
          <a:xfrm xmlns:a="http://schemas.openxmlformats.org/drawingml/2006/main">
            <a:off x="5187950" y="2524125"/>
            <a:ext cx="2768600" cy="2790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25">
                <a:solidFill>
                  <a:srgbClr val="15232B"/>
                </a:solidFill>
              </a:defRPr>
            </a:pPr>
            <a:r>
              <a:rPr sz="1125">
                <a:solidFill>
                  <a:srgbClr val="15232B"/>
                </a:solidFill>
              </a:rPr>
              <a:t>Bei Verletzung von Leben, Körper, Gesundheit grundsätzlich längstens 30 Jahre ab schädigendem Ereignis.</a:t>
            </a:r>
          </a:p>
        </p:txBody>
      </p:sp>
      <p:sp>
        <p:nvSpPr>
          <p:cNvPr id="12" name="">
            <a:extLst xmlns:a="http://schemas.openxmlformats.org/drawingml/2006/main">
              <a:ext uri="{FF2B5EF4-FFF2-40B4-BE49-F238E27FC236}">
                <a16:creationId xmlns:a16="http://schemas.microsoft.com/office/drawing/2014/main" id="{A6728015-828D-498E-8B69-2B45A9A1075D}"/>
              </a:ext>
            </a:extLst>
          </p:cNvPr>
          <p:cNvSpPr>
            <a:spLocks xmlns:a="http://schemas.openxmlformats.org/drawingml/2006/main" noGrp="1"/>
          </p:cNvSpPr>
          <p:nvPr/>
        </p:nvSpPr>
        <p:spPr>
          <a:xfrm xmlns:a="http://schemas.openxmlformats.org/drawingml/2006/main">
            <a:off x="8261350" y="1952625"/>
            <a:ext cx="3073400" cy="3495675"/>
          </a:xfrm>
          <a:prstGeom xmlns:a="http://schemas.openxmlformats.org/drawingml/2006/main" prst="roundRect">
            <a:avLst>
              <a:gd name="adj" fmla="val 2479"/>
            </a:avLst>
          </a:prstGeom>
          <a:noFill xmlns:a="http://schemas.openxmlformats.org/drawingml/2006/main"/>
          <a:ln xmlns:a="http://schemas.openxmlformats.org/drawingml/2006/main" w="9525">
            <a:solidFill>
              <a:srgbClr val="B9CAD2"/>
            </a:solidFill>
            <a:prstDash val="solid"/>
          </a:ln>
        </p:spPr>
      </p:sp>
      <p:sp>
        <p:nvSpPr>
          <p:cNvPr id="13" name="">
            <a:extLst xmlns:a="http://schemas.openxmlformats.org/drawingml/2006/main">
              <a:ext uri="{FF2B5EF4-FFF2-40B4-BE49-F238E27FC236}">
                <a16:creationId xmlns:a16="http://schemas.microsoft.com/office/drawing/2014/main" id="{57D96056-F5F9-4A2E-BF7F-D12B3CE112EC}"/>
              </a:ext>
            </a:extLst>
          </p:cNvPr>
          <p:cNvSpPr>
            <a:spLocks xmlns:a="http://schemas.openxmlformats.org/drawingml/2006/main" noGrp="1"/>
          </p:cNvSpPr>
          <p:nvPr/>
        </p:nvSpPr>
        <p:spPr>
          <a:xfrm xmlns:a="http://schemas.openxmlformats.org/drawingml/2006/main">
            <a:off x="8261350" y="1952625"/>
            <a:ext cx="30734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FF48482C-957A-4C2C-AF3F-3029A873F96C}"/>
              </a:ext>
            </a:extLst>
          </p:cNvPr>
          <p:cNvSpPr>
            <a:spLocks xmlns:a="http://schemas.openxmlformats.org/drawingml/2006/main" noGrp="1"/>
          </p:cNvSpPr>
          <p:nvPr/>
        </p:nvSpPr>
        <p:spPr>
          <a:xfrm xmlns:a="http://schemas.openxmlformats.org/drawingml/2006/main">
            <a:off x="8413750" y="2085975"/>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Hemmung</a:t>
            </a:r>
          </a:p>
        </p:txBody>
      </p:sp>
      <p:sp>
        <p:nvSpPr>
          <p:cNvPr id="15" name="">
            <a:extLst xmlns:a="http://schemas.openxmlformats.org/drawingml/2006/main">
              <a:ext uri="{FF2B5EF4-FFF2-40B4-BE49-F238E27FC236}">
                <a16:creationId xmlns:a16="http://schemas.microsoft.com/office/drawing/2014/main" id="{ABD3FD1B-671C-4E23-BE4B-3068A1635486}"/>
              </a:ext>
            </a:extLst>
          </p:cNvPr>
          <p:cNvSpPr>
            <a:spLocks xmlns:a="http://schemas.openxmlformats.org/drawingml/2006/main" noGrp="1"/>
          </p:cNvSpPr>
          <p:nvPr/>
        </p:nvSpPr>
        <p:spPr>
          <a:xfrm xmlns:a="http://schemas.openxmlformats.org/drawingml/2006/main">
            <a:off x="8413750" y="2524125"/>
            <a:ext cx="2768600" cy="2790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25">
                <a:solidFill>
                  <a:srgbClr val="15232B"/>
                </a:solidFill>
              </a:defRPr>
            </a:pPr>
            <a:r>
              <a:rPr sz="1125">
                <a:solidFill>
                  <a:srgbClr val="15232B"/>
                </a:solidFill>
              </a:rPr>
              <a:t>Zum Beispiel durch Klage, selbständiges Beweisverfahren oder anerkanntes Streitbeilegungsverfahren – Voraussetzungen genau prüfen.</a:t>
            </a:r>
          </a:p>
        </p:txBody>
      </p:sp>
      <p:sp>
        <p:nvSpPr>
          <p:cNvPr id="16" name="">
            <a:extLst xmlns:a="http://schemas.openxmlformats.org/drawingml/2006/main">
              <a:ext uri="{FF2B5EF4-FFF2-40B4-BE49-F238E27FC236}">
                <a16:creationId xmlns:a16="http://schemas.microsoft.com/office/drawing/2014/main" id="{98017350-A5E1-461B-A16B-276A8E33FCFD}"/>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17" name="">
            <a:extLst xmlns:a="http://schemas.openxmlformats.org/drawingml/2006/main">
              <a:ext uri="{FF2B5EF4-FFF2-40B4-BE49-F238E27FC236}">
                <a16:creationId xmlns:a16="http://schemas.microsoft.com/office/drawing/2014/main" id="{D40D23E6-9B69-4A45-9E38-BF341FA2B44E}"/>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Ein laufendes Gespräch hemmt nicht automatisch jede Frist. Fristprüfung gehört früh in professionelle Hände.</a:t>
            </a:r>
          </a:p>
        </p:txBody>
      </p:sp>
    </p:spTree>
    <p:extLst>
      <p:ext uri="{BB962C8B-B14F-4D97-AF65-F5344CB8AC3E}">
        <p14:creationId xmlns:p14="http://schemas.microsoft.com/office/powerpoint/2010/main" val="43637646"/>
      </p:ext>
    </p:extLst>
  </p:cSld>
</p:sld>
</file>

<file path=ppt/slides/slide175.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Vergleich: nicht Sieg oder Niederlage, sondern Risikosteuerung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VERHANDLUNG</a:t>
            </a:r>
            <a:endParaRPr/>
          </a:p>
        </p:txBody>
      </p:sp>
      <p:sp>
        <p:nvSpPr>
          <p:cNvPr id="4" name="">
            <a:extLst xmlns:a="http://schemas.openxmlformats.org/drawingml/2006/main">
              <a:ext uri="{FF2B5EF4-FFF2-40B4-BE49-F238E27FC236}">
                <a16:creationId xmlns:a16="http://schemas.microsoft.com/office/drawing/2014/main" id="{D68EDC33-A4C0-40D1-8A07-40A7406994AB}"/>
              </a:ext>
            </a:extLst>
          </p:cNvPr>
          <p:cNvSpPr>
            <a:spLocks xmlns:a="http://schemas.openxmlformats.org/drawingml/2006/main" noGrp="1"/>
          </p:cNvSpPr>
          <p:nvPr/>
        </p:nvSpPr>
        <p:spPr>
          <a:xfrm xmlns:a="http://schemas.openxmlformats.org/drawingml/2006/main">
            <a:off x="1809750" y="1952625"/>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9A3B3700-4775-4E93-ADB0-7E68C9BCBE3B}"/>
              </a:ext>
            </a:extLst>
          </p:cNvPr>
          <p:cNvSpPr>
            <a:spLocks xmlns:a="http://schemas.openxmlformats.org/drawingml/2006/main" noGrp="1"/>
          </p:cNvSpPr>
          <p:nvPr/>
        </p:nvSpPr>
        <p:spPr>
          <a:xfrm xmlns:a="http://schemas.openxmlformats.org/drawingml/2006/main">
            <a:off x="1809750" y="1952625"/>
            <a:ext cx="30734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5ED17269-39D1-414B-868C-766A74B5E33F}"/>
              </a:ext>
            </a:extLst>
          </p:cNvPr>
          <p:cNvSpPr>
            <a:spLocks xmlns:a="http://schemas.openxmlformats.org/drawingml/2006/main" noGrp="1"/>
          </p:cNvSpPr>
          <p:nvPr/>
        </p:nvSpPr>
        <p:spPr>
          <a:xfrm xmlns:a="http://schemas.openxmlformats.org/drawingml/2006/main">
            <a:off x="1962150" y="2085975"/>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Beweisrisiko</a:t>
            </a:r>
          </a:p>
        </p:txBody>
      </p:sp>
      <p:sp>
        <p:nvSpPr>
          <p:cNvPr id="7" name="">
            <a:extLst xmlns:a="http://schemas.openxmlformats.org/drawingml/2006/main">
              <a:ext uri="{FF2B5EF4-FFF2-40B4-BE49-F238E27FC236}">
                <a16:creationId xmlns:a16="http://schemas.microsoft.com/office/drawing/2014/main" id="{5B1856E5-5DC2-41F7-8DD7-797C86E226EB}"/>
              </a:ext>
            </a:extLst>
          </p:cNvPr>
          <p:cNvSpPr>
            <a:spLocks xmlns:a="http://schemas.openxmlformats.org/drawingml/2006/main" noGrp="1"/>
          </p:cNvSpPr>
          <p:nvPr/>
        </p:nvSpPr>
        <p:spPr>
          <a:xfrm xmlns:a="http://schemas.openxmlformats.org/drawingml/2006/main">
            <a:off x="5035550" y="1952625"/>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8" name="">
            <a:extLst xmlns:a="http://schemas.openxmlformats.org/drawingml/2006/main">
              <a:ext uri="{FF2B5EF4-FFF2-40B4-BE49-F238E27FC236}">
                <a16:creationId xmlns:a16="http://schemas.microsoft.com/office/drawing/2014/main" id="{6A3936D0-272C-4BB4-8199-855079019DF9}"/>
              </a:ext>
            </a:extLst>
          </p:cNvPr>
          <p:cNvSpPr>
            <a:spLocks xmlns:a="http://schemas.openxmlformats.org/drawingml/2006/main" noGrp="1"/>
          </p:cNvSpPr>
          <p:nvPr/>
        </p:nvSpPr>
        <p:spPr>
          <a:xfrm xmlns:a="http://schemas.openxmlformats.org/drawingml/2006/main">
            <a:off x="5035550" y="1952625"/>
            <a:ext cx="307340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9" name="">
            <a:extLst xmlns:a="http://schemas.openxmlformats.org/drawingml/2006/main">
              <a:ext uri="{FF2B5EF4-FFF2-40B4-BE49-F238E27FC236}">
                <a16:creationId xmlns:a16="http://schemas.microsoft.com/office/drawing/2014/main" id="{36D40A08-CC62-4BAB-9955-75F915E7B09B}"/>
              </a:ext>
            </a:extLst>
          </p:cNvPr>
          <p:cNvSpPr>
            <a:spLocks xmlns:a="http://schemas.openxmlformats.org/drawingml/2006/main" noGrp="1"/>
          </p:cNvSpPr>
          <p:nvPr/>
        </p:nvSpPr>
        <p:spPr>
          <a:xfrm xmlns:a="http://schemas.openxmlformats.org/drawingml/2006/main">
            <a:off x="5187950" y="2085975"/>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Zeit und Belastung</a:t>
            </a:r>
          </a:p>
        </p:txBody>
      </p:sp>
      <p:sp>
        <p:nvSpPr>
          <p:cNvPr id="10" name="">
            <a:extLst xmlns:a="http://schemas.openxmlformats.org/drawingml/2006/main">
              <a:ext uri="{FF2B5EF4-FFF2-40B4-BE49-F238E27FC236}">
                <a16:creationId xmlns:a16="http://schemas.microsoft.com/office/drawing/2014/main" id="{58A9A7CB-BC6C-4CD2-974D-A77B005E6BE5}"/>
              </a:ext>
            </a:extLst>
          </p:cNvPr>
          <p:cNvSpPr>
            <a:spLocks xmlns:a="http://schemas.openxmlformats.org/drawingml/2006/main" noGrp="1"/>
          </p:cNvSpPr>
          <p:nvPr/>
        </p:nvSpPr>
        <p:spPr>
          <a:xfrm xmlns:a="http://schemas.openxmlformats.org/drawingml/2006/main">
            <a:off x="8261350" y="1952625"/>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11" name="">
            <a:extLst xmlns:a="http://schemas.openxmlformats.org/drawingml/2006/main">
              <a:ext uri="{FF2B5EF4-FFF2-40B4-BE49-F238E27FC236}">
                <a16:creationId xmlns:a16="http://schemas.microsoft.com/office/drawing/2014/main" id="{03DDC502-959F-46A1-A080-363D7338BBAE}"/>
              </a:ext>
            </a:extLst>
          </p:cNvPr>
          <p:cNvSpPr>
            <a:spLocks xmlns:a="http://schemas.openxmlformats.org/drawingml/2006/main" noGrp="1"/>
          </p:cNvSpPr>
          <p:nvPr/>
        </p:nvSpPr>
        <p:spPr>
          <a:xfrm xmlns:a="http://schemas.openxmlformats.org/drawingml/2006/main">
            <a:off x="8261350" y="1952625"/>
            <a:ext cx="30734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12" name="">
            <a:extLst xmlns:a="http://schemas.openxmlformats.org/drawingml/2006/main">
              <a:ext uri="{FF2B5EF4-FFF2-40B4-BE49-F238E27FC236}">
                <a16:creationId xmlns:a16="http://schemas.microsoft.com/office/drawing/2014/main" id="{F8A95DD3-1984-438C-B8A8-690AA95B0E90}"/>
              </a:ext>
            </a:extLst>
          </p:cNvPr>
          <p:cNvSpPr>
            <a:spLocks xmlns:a="http://schemas.openxmlformats.org/drawingml/2006/main" noGrp="1"/>
          </p:cNvSpPr>
          <p:nvPr/>
        </p:nvSpPr>
        <p:spPr>
          <a:xfrm xmlns:a="http://schemas.openxmlformats.org/drawingml/2006/main">
            <a:off x="8413750" y="2085975"/>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künftiger Versorgungsbedarf</a:t>
            </a:r>
          </a:p>
        </p:txBody>
      </p:sp>
      <p:sp>
        <p:nvSpPr>
          <p:cNvPr id="13" name="">
            <a:extLst xmlns:a="http://schemas.openxmlformats.org/drawingml/2006/main">
              <a:ext uri="{FF2B5EF4-FFF2-40B4-BE49-F238E27FC236}">
                <a16:creationId xmlns:a16="http://schemas.microsoft.com/office/drawing/2014/main" id="{733325FA-24A3-41E2-9E22-8FA5FAF1B879}"/>
              </a:ext>
            </a:extLst>
          </p:cNvPr>
          <p:cNvSpPr>
            <a:spLocks xmlns:a="http://schemas.openxmlformats.org/drawingml/2006/main" noGrp="1"/>
          </p:cNvSpPr>
          <p:nvPr/>
        </p:nvSpPr>
        <p:spPr>
          <a:xfrm xmlns:a="http://schemas.openxmlformats.org/drawingml/2006/main">
            <a:off x="1809750" y="3767138"/>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14" name="">
            <a:extLst xmlns:a="http://schemas.openxmlformats.org/drawingml/2006/main">
              <a:ext uri="{FF2B5EF4-FFF2-40B4-BE49-F238E27FC236}">
                <a16:creationId xmlns:a16="http://schemas.microsoft.com/office/drawing/2014/main" id="{CEB88378-A50E-46A5-AF55-AA25DCA5E60C}"/>
              </a:ext>
            </a:extLst>
          </p:cNvPr>
          <p:cNvSpPr>
            <a:spLocks xmlns:a="http://schemas.openxmlformats.org/drawingml/2006/main" noGrp="1"/>
          </p:cNvSpPr>
          <p:nvPr/>
        </p:nvSpPr>
        <p:spPr>
          <a:xfrm xmlns:a="http://schemas.openxmlformats.org/drawingml/2006/main">
            <a:off x="1809750" y="3767138"/>
            <a:ext cx="307340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5" name="">
            <a:extLst xmlns:a="http://schemas.openxmlformats.org/drawingml/2006/main">
              <a:ext uri="{FF2B5EF4-FFF2-40B4-BE49-F238E27FC236}">
                <a16:creationId xmlns:a16="http://schemas.microsoft.com/office/drawing/2014/main" id="{394DCA13-5200-44BB-AAB6-B50F19A87D73}"/>
              </a:ext>
            </a:extLst>
          </p:cNvPr>
          <p:cNvSpPr>
            <a:spLocks xmlns:a="http://schemas.openxmlformats.org/drawingml/2006/main" noGrp="1"/>
          </p:cNvSpPr>
          <p:nvPr/>
        </p:nvSpPr>
        <p:spPr>
          <a:xfrm xmlns:a="http://schemas.openxmlformats.org/drawingml/2006/main">
            <a:off x="1962150" y="3900488"/>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Geld und Kosten</a:t>
            </a:r>
          </a:p>
        </p:txBody>
      </p:sp>
      <p:sp>
        <p:nvSpPr>
          <p:cNvPr id="16" name="">
            <a:extLst xmlns:a="http://schemas.openxmlformats.org/drawingml/2006/main">
              <a:ext uri="{FF2B5EF4-FFF2-40B4-BE49-F238E27FC236}">
                <a16:creationId xmlns:a16="http://schemas.microsoft.com/office/drawing/2014/main" id="{DBA950E7-9DC6-495C-A264-7BA687F3D829}"/>
              </a:ext>
            </a:extLst>
          </p:cNvPr>
          <p:cNvSpPr>
            <a:spLocks xmlns:a="http://schemas.openxmlformats.org/drawingml/2006/main" noGrp="1"/>
          </p:cNvSpPr>
          <p:nvPr/>
        </p:nvSpPr>
        <p:spPr>
          <a:xfrm xmlns:a="http://schemas.openxmlformats.org/drawingml/2006/main">
            <a:off x="5035550" y="3767138"/>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17" name="">
            <a:extLst xmlns:a="http://schemas.openxmlformats.org/drawingml/2006/main">
              <a:ext uri="{FF2B5EF4-FFF2-40B4-BE49-F238E27FC236}">
                <a16:creationId xmlns:a16="http://schemas.microsoft.com/office/drawing/2014/main" id="{9A63FD52-51C4-4B92-AAA3-06A92A1CD46C}"/>
              </a:ext>
            </a:extLst>
          </p:cNvPr>
          <p:cNvSpPr>
            <a:spLocks xmlns:a="http://schemas.openxmlformats.org/drawingml/2006/main" noGrp="1"/>
          </p:cNvSpPr>
          <p:nvPr/>
        </p:nvSpPr>
        <p:spPr>
          <a:xfrm xmlns:a="http://schemas.openxmlformats.org/drawingml/2006/main">
            <a:off x="5035550" y="3767138"/>
            <a:ext cx="30734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18" name="">
            <a:extLst xmlns:a="http://schemas.openxmlformats.org/drawingml/2006/main">
              <a:ext uri="{FF2B5EF4-FFF2-40B4-BE49-F238E27FC236}">
                <a16:creationId xmlns:a16="http://schemas.microsoft.com/office/drawing/2014/main" id="{02B1C8F4-6393-4230-83C4-9A842002ECD3}"/>
              </a:ext>
            </a:extLst>
          </p:cNvPr>
          <p:cNvSpPr>
            <a:spLocks xmlns:a="http://schemas.openxmlformats.org/drawingml/2006/main" noGrp="1"/>
          </p:cNvSpPr>
          <p:nvPr/>
        </p:nvSpPr>
        <p:spPr>
          <a:xfrm xmlns:a="http://schemas.openxmlformats.org/drawingml/2006/main">
            <a:off x="5187950" y="3900488"/>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Vertraulichkeit / Kommunikation</a:t>
            </a:r>
          </a:p>
        </p:txBody>
      </p:sp>
      <p:sp>
        <p:nvSpPr>
          <p:cNvPr id="19" name="">
            <a:extLst xmlns:a="http://schemas.openxmlformats.org/drawingml/2006/main">
              <a:ext uri="{FF2B5EF4-FFF2-40B4-BE49-F238E27FC236}">
                <a16:creationId xmlns:a16="http://schemas.microsoft.com/office/drawing/2014/main" id="{033F74A4-D749-468A-B83B-F40D830A5281}"/>
              </a:ext>
            </a:extLst>
          </p:cNvPr>
          <p:cNvSpPr>
            <a:spLocks xmlns:a="http://schemas.openxmlformats.org/drawingml/2006/main" noGrp="1"/>
          </p:cNvSpPr>
          <p:nvPr/>
        </p:nvSpPr>
        <p:spPr>
          <a:xfrm xmlns:a="http://schemas.openxmlformats.org/drawingml/2006/main">
            <a:off x="8261350" y="3767138"/>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20" name="">
            <a:extLst xmlns:a="http://schemas.openxmlformats.org/drawingml/2006/main">
              <a:ext uri="{FF2B5EF4-FFF2-40B4-BE49-F238E27FC236}">
                <a16:creationId xmlns:a16="http://schemas.microsoft.com/office/drawing/2014/main" id="{0A99018F-14B2-4A60-BAE5-968289E2C461}"/>
              </a:ext>
            </a:extLst>
          </p:cNvPr>
          <p:cNvSpPr>
            <a:spLocks xmlns:a="http://schemas.openxmlformats.org/drawingml/2006/main" noGrp="1"/>
          </p:cNvSpPr>
          <p:nvPr/>
        </p:nvSpPr>
        <p:spPr>
          <a:xfrm xmlns:a="http://schemas.openxmlformats.org/drawingml/2006/main">
            <a:off x="8261350" y="3767138"/>
            <a:ext cx="307340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21" name="">
            <a:extLst xmlns:a="http://schemas.openxmlformats.org/drawingml/2006/main">
              <a:ext uri="{FF2B5EF4-FFF2-40B4-BE49-F238E27FC236}">
                <a16:creationId xmlns:a16="http://schemas.microsoft.com/office/drawing/2014/main" id="{9239CD83-2D01-4ABB-A790-75B079D7CB3E}"/>
              </a:ext>
            </a:extLst>
          </p:cNvPr>
          <p:cNvSpPr>
            <a:spLocks xmlns:a="http://schemas.openxmlformats.org/drawingml/2006/main" noGrp="1"/>
          </p:cNvSpPr>
          <p:nvPr/>
        </p:nvSpPr>
        <p:spPr>
          <a:xfrm xmlns:a="http://schemas.openxmlformats.org/drawingml/2006/main">
            <a:off x="8413750" y="3900488"/>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Prävention und Entschuldigung</a:t>
            </a:r>
          </a:p>
        </p:txBody>
      </p:sp>
      <p:sp>
        <p:nvSpPr>
          <p:cNvPr id="22" name="">
            <a:extLst xmlns:a="http://schemas.openxmlformats.org/drawingml/2006/main">
              <a:ext uri="{FF2B5EF4-FFF2-40B4-BE49-F238E27FC236}">
                <a16:creationId xmlns:a16="http://schemas.microsoft.com/office/drawing/2014/main" id="{751DB3F4-52F2-4544-B1C0-5F57634BBC9A}"/>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3" name="">
            <a:extLst xmlns:a="http://schemas.openxmlformats.org/drawingml/2006/main">
              <a:ext uri="{FF2B5EF4-FFF2-40B4-BE49-F238E27FC236}">
                <a16:creationId xmlns:a16="http://schemas.microsoft.com/office/drawing/2014/main" id="{323FBAC0-B7F7-48DB-BCA0-D94AEB3FE14F}"/>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Position: ‚Ich hafte nicht.‘ Interesse: ‚Ich brauche Klärung, Planbarkeit und eine tragfähige Lösung.‘</a:t>
            </a:r>
          </a:p>
        </p:txBody>
      </p:sp>
    </p:spTree>
    <p:extLst>
      <p:ext uri="{BB962C8B-B14F-4D97-AF65-F5344CB8AC3E}">
        <p14:creationId xmlns:p14="http://schemas.microsoft.com/office/powerpoint/2010/main" val="43637646"/>
      </p:ext>
    </p:extLst>
  </p:cSld>
</p:sld>
</file>

<file path=ppt/slides/slide176.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Wegweiser: Gespräch, Schlichtung oder Klage?</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ENTSCHEIDUNGSBAUM</a:t>
            </a:r>
            <a:endParaRPr/>
          </a:p>
        </p:txBody>
      </p:sp>
      <p:sp>
        <p:nvSpPr>
          <p:cNvPr id="4" name="">
            <a:extLst xmlns:a="http://schemas.openxmlformats.org/drawingml/2006/main">
              <a:ext uri="{FF2B5EF4-FFF2-40B4-BE49-F238E27FC236}">
                <a16:creationId xmlns:a16="http://schemas.microsoft.com/office/drawing/2014/main" id="{DBDB5D29-0B07-49BE-979F-3344FEB8236C}"/>
              </a:ext>
            </a:extLst>
          </p:cNvPr>
          <p:cNvSpPr>
            <a:spLocks xmlns:a="http://schemas.openxmlformats.org/drawingml/2006/main" noGrp="1"/>
          </p:cNvSpPr>
          <p:nvPr/>
        </p:nvSpPr>
        <p:spPr>
          <a:xfrm xmlns:a="http://schemas.openxmlformats.org/drawingml/2006/main">
            <a:off x="1809750" y="2047875"/>
            <a:ext cx="3073400" cy="3171825"/>
          </a:xfrm>
          <a:prstGeom xmlns:a="http://schemas.openxmlformats.org/drawingml/2006/main" prst="roundRect">
            <a:avLst>
              <a:gd name="adj" fmla="val 2479"/>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B8599CC8-2DF3-427A-A3BB-5F39473A40C0}"/>
              </a:ext>
            </a:extLst>
          </p:cNvPr>
          <p:cNvSpPr>
            <a:spLocks xmlns:a="http://schemas.openxmlformats.org/drawingml/2006/main" noGrp="1"/>
          </p:cNvSpPr>
          <p:nvPr/>
        </p:nvSpPr>
        <p:spPr>
          <a:xfrm xmlns:a="http://schemas.openxmlformats.org/drawingml/2006/main">
            <a:off x="1809750" y="2047875"/>
            <a:ext cx="30734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715F8C7B-9AEB-49E0-A4A3-A10BC572C3AB}"/>
              </a:ext>
            </a:extLst>
          </p:cNvPr>
          <p:cNvSpPr>
            <a:spLocks xmlns:a="http://schemas.openxmlformats.org/drawingml/2006/main" noGrp="1"/>
          </p:cNvSpPr>
          <p:nvPr/>
        </p:nvSpPr>
        <p:spPr>
          <a:xfrm xmlns:a="http://schemas.openxmlformats.org/drawingml/2006/main">
            <a:off x="1962150" y="2181225"/>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b="1">
                <a:solidFill>
                  <a:srgbClr val="003F6B"/>
                </a:solidFill>
              </a:defRPr>
            </a:pPr>
            <a:r>
              <a:rPr sz="1275" b="1">
                <a:solidFill>
                  <a:srgbClr val="003F6B"/>
                </a:solidFill>
              </a:rPr>
              <a:t>Akute Versorgung offen?</a:t>
            </a:r>
          </a:p>
        </p:txBody>
      </p:sp>
      <p:sp>
        <p:nvSpPr>
          <p:cNvPr id="7" name="">
            <a:extLst xmlns:a="http://schemas.openxmlformats.org/drawingml/2006/main">
              <a:ext uri="{FF2B5EF4-FFF2-40B4-BE49-F238E27FC236}">
                <a16:creationId xmlns:a16="http://schemas.microsoft.com/office/drawing/2014/main" id="{9BF0F0EA-294E-49FC-9D59-3652D876043F}"/>
              </a:ext>
            </a:extLst>
          </p:cNvPr>
          <p:cNvSpPr>
            <a:spLocks xmlns:a="http://schemas.openxmlformats.org/drawingml/2006/main" noGrp="1"/>
          </p:cNvSpPr>
          <p:nvPr/>
        </p:nvSpPr>
        <p:spPr>
          <a:xfrm xmlns:a="http://schemas.openxmlformats.org/drawingml/2006/main">
            <a:off x="1962150" y="2619375"/>
            <a:ext cx="2768600" cy="2466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25">
                <a:solidFill>
                  <a:srgbClr val="15232B"/>
                </a:solidFill>
              </a:defRPr>
            </a:pPr>
            <a:r>
              <a:rPr sz="1125">
                <a:solidFill>
                  <a:srgbClr val="15232B"/>
                </a:solidFill>
              </a:rPr>
              <a:t>JA → Versorgung / Kommunikation zuerst</a:t>
            </a:r>
          </a:p>
          <a:p xmlns:a="http://schemas.openxmlformats.org/drawingml/2006/main">
            <a:r>
              <a:t/>
            </a:r>
          </a:p>
          <a:p xmlns:a="http://schemas.openxmlformats.org/drawingml/2006/main">
            <a:pPr>
              <a:buNone/>
              <a:defRPr sz="1125">
                <a:solidFill>
                  <a:srgbClr val="15232B"/>
                </a:solidFill>
              </a:defRPr>
            </a:pPr>
            <a:r>
              <a:rPr sz="1125">
                <a:solidFill>
                  <a:srgbClr val="15232B"/>
                </a:solidFill>
              </a:rPr>
              <a:t>NEIN → Ziel klären</a:t>
            </a:r>
          </a:p>
        </p:txBody>
      </p:sp>
      <p:sp>
        <p:nvSpPr>
          <p:cNvPr id="8" name="">
            <a:extLst xmlns:a="http://schemas.openxmlformats.org/drawingml/2006/main">
              <a:ext uri="{FF2B5EF4-FFF2-40B4-BE49-F238E27FC236}">
                <a16:creationId xmlns:a16="http://schemas.microsoft.com/office/drawing/2014/main" id="{AA285B6C-3165-4981-8380-9B29B73F2D52}"/>
              </a:ext>
            </a:extLst>
          </p:cNvPr>
          <p:cNvSpPr>
            <a:spLocks xmlns:a="http://schemas.openxmlformats.org/drawingml/2006/main" noGrp="1"/>
          </p:cNvSpPr>
          <p:nvPr/>
        </p:nvSpPr>
        <p:spPr>
          <a:xfrm xmlns:a="http://schemas.openxmlformats.org/drawingml/2006/main">
            <a:off x="5035550" y="2047875"/>
            <a:ext cx="3073400" cy="3171825"/>
          </a:xfrm>
          <a:prstGeom xmlns:a="http://schemas.openxmlformats.org/drawingml/2006/main" prst="roundRect">
            <a:avLst>
              <a:gd name="adj" fmla="val 2479"/>
            </a:avLst>
          </a:prstGeom>
          <a:noFill xmlns:a="http://schemas.openxmlformats.org/drawingml/2006/main"/>
          <a:ln xmlns:a="http://schemas.openxmlformats.org/drawingml/2006/main" w="9525">
            <a:solidFill>
              <a:srgbClr val="B9CAD2"/>
            </a:solidFill>
            <a:prstDash val="solid"/>
          </a:ln>
        </p:spPr>
      </p:sp>
      <p:sp>
        <p:nvSpPr>
          <p:cNvPr id="9" name="">
            <a:extLst xmlns:a="http://schemas.openxmlformats.org/drawingml/2006/main">
              <a:ext uri="{FF2B5EF4-FFF2-40B4-BE49-F238E27FC236}">
                <a16:creationId xmlns:a16="http://schemas.microsoft.com/office/drawing/2014/main" id="{F4B389EC-B835-451B-9424-6B719680618B}"/>
              </a:ext>
            </a:extLst>
          </p:cNvPr>
          <p:cNvSpPr>
            <a:spLocks xmlns:a="http://schemas.openxmlformats.org/drawingml/2006/main" noGrp="1"/>
          </p:cNvSpPr>
          <p:nvPr/>
        </p:nvSpPr>
        <p:spPr>
          <a:xfrm xmlns:a="http://schemas.openxmlformats.org/drawingml/2006/main">
            <a:off x="5035550" y="2047875"/>
            <a:ext cx="307340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20957FF8-D6C9-42B3-AAC9-494872E82910}"/>
              </a:ext>
            </a:extLst>
          </p:cNvPr>
          <p:cNvSpPr>
            <a:spLocks xmlns:a="http://schemas.openxmlformats.org/drawingml/2006/main" noGrp="1"/>
          </p:cNvSpPr>
          <p:nvPr/>
        </p:nvSpPr>
        <p:spPr>
          <a:xfrm xmlns:a="http://schemas.openxmlformats.org/drawingml/2006/main">
            <a:off x="5187950" y="2181225"/>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b="1">
                <a:solidFill>
                  <a:srgbClr val="003F6B"/>
                </a:solidFill>
              </a:defRPr>
            </a:pPr>
            <a:r>
              <a:rPr sz="1275" b="1">
                <a:solidFill>
                  <a:srgbClr val="003F6B"/>
                </a:solidFill>
              </a:rPr>
              <a:t>Neutrale medizinische Bewertung zentral?</a:t>
            </a:r>
          </a:p>
        </p:txBody>
      </p:sp>
      <p:sp>
        <p:nvSpPr>
          <p:cNvPr id="11" name="">
            <a:extLst xmlns:a="http://schemas.openxmlformats.org/drawingml/2006/main">
              <a:ext uri="{FF2B5EF4-FFF2-40B4-BE49-F238E27FC236}">
                <a16:creationId xmlns:a16="http://schemas.microsoft.com/office/drawing/2014/main" id="{A383D9D3-5F4D-487D-9908-D4B13AA117E6}"/>
              </a:ext>
            </a:extLst>
          </p:cNvPr>
          <p:cNvSpPr>
            <a:spLocks xmlns:a="http://schemas.openxmlformats.org/drawingml/2006/main" noGrp="1"/>
          </p:cNvSpPr>
          <p:nvPr/>
        </p:nvSpPr>
        <p:spPr>
          <a:xfrm xmlns:a="http://schemas.openxmlformats.org/drawingml/2006/main">
            <a:off x="5187950" y="2619375"/>
            <a:ext cx="2768600" cy="2466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25">
                <a:solidFill>
                  <a:srgbClr val="15232B"/>
                </a:solidFill>
              </a:defRPr>
            </a:pPr>
            <a:r>
              <a:rPr sz="1125">
                <a:solidFill>
                  <a:srgbClr val="15232B"/>
                </a:solidFill>
              </a:rPr>
              <a:t>JA → MD / Schlichtung erwägen</a:t>
            </a:r>
          </a:p>
          <a:p xmlns:a="http://schemas.openxmlformats.org/drawingml/2006/main">
            <a:r>
              <a:t/>
            </a:r>
          </a:p>
          <a:p xmlns:a="http://schemas.openxmlformats.org/drawingml/2006/main">
            <a:pPr>
              <a:buNone/>
              <a:defRPr sz="1125">
                <a:solidFill>
                  <a:srgbClr val="15232B"/>
                </a:solidFill>
              </a:defRPr>
            </a:pPr>
            <a:r>
              <a:rPr sz="1125">
                <a:solidFill>
                  <a:srgbClr val="15232B"/>
                </a:solidFill>
              </a:rPr>
              <a:t>NEIN → direkte Regulierung möglich</a:t>
            </a:r>
          </a:p>
        </p:txBody>
      </p:sp>
      <p:sp>
        <p:nvSpPr>
          <p:cNvPr id="12" name="">
            <a:extLst xmlns:a="http://schemas.openxmlformats.org/drawingml/2006/main">
              <a:ext uri="{FF2B5EF4-FFF2-40B4-BE49-F238E27FC236}">
                <a16:creationId xmlns:a16="http://schemas.microsoft.com/office/drawing/2014/main" id="{5EE4040E-3DB8-449C-BF9A-3AD26D1BC632}"/>
              </a:ext>
            </a:extLst>
          </p:cNvPr>
          <p:cNvSpPr>
            <a:spLocks xmlns:a="http://schemas.openxmlformats.org/drawingml/2006/main" noGrp="1"/>
          </p:cNvSpPr>
          <p:nvPr/>
        </p:nvSpPr>
        <p:spPr>
          <a:xfrm xmlns:a="http://schemas.openxmlformats.org/drawingml/2006/main">
            <a:off x="8261350" y="2047875"/>
            <a:ext cx="3073400" cy="3171825"/>
          </a:xfrm>
          <a:prstGeom xmlns:a="http://schemas.openxmlformats.org/drawingml/2006/main" prst="roundRect">
            <a:avLst>
              <a:gd name="adj" fmla="val 2479"/>
            </a:avLst>
          </a:prstGeom>
          <a:noFill xmlns:a="http://schemas.openxmlformats.org/drawingml/2006/main"/>
          <a:ln xmlns:a="http://schemas.openxmlformats.org/drawingml/2006/main" w="9525">
            <a:solidFill>
              <a:srgbClr val="B9CAD2"/>
            </a:solidFill>
            <a:prstDash val="solid"/>
          </a:ln>
        </p:spPr>
      </p:sp>
      <p:sp>
        <p:nvSpPr>
          <p:cNvPr id="13" name="">
            <a:extLst xmlns:a="http://schemas.openxmlformats.org/drawingml/2006/main">
              <a:ext uri="{FF2B5EF4-FFF2-40B4-BE49-F238E27FC236}">
                <a16:creationId xmlns:a16="http://schemas.microsoft.com/office/drawing/2014/main" id="{811E0A07-1F84-4617-AA40-16A216E754D8}"/>
              </a:ext>
            </a:extLst>
          </p:cNvPr>
          <p:cNvSpPr>
            <a:spLocks xmlns:a="http://schemas.openxmlformats.org/drawingml/2006/main" noGrp="1"/>
          </p:cNvSpPr>
          <p:nvPr/>
        </p:nvSpPr>
        <p:spPr>
          <a:xfrm xmlns:a="http://schemas.openxmlformats.org/drawingml/2006/main">
            <a:off x="8261350" y="2047875"/>
            <a:ext cx="30734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69E9D183-160A-4685-B7A4-010D883FCE1E}"/>
              </a:ext>
            </a:extLst>
          </p:cNvPr>
          <p:cNvSpPr>
            <a:spLocks xmlns:a="http://schemas.openxmlformats.org/drawingml/2006/main" noGrp="1"/>
          </p:cNvSpPr>
          <p:nvPr/>
        </p:nvSpPr>
        <p:spPr>
          <a:xfrm xmlns:a="http://schemas.openxmlformats.org/drawingml/2006/main">
            <a:off x="8413750" y="2181225"/>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b="1">
                <a:solidFill>
                  <a:srgbClr val="003F6B"/>
                </a:solidFill>
              </a:defRPr>
            </a:pPr>
            <a:r>
              <a:rPr sz="1275" b="1">
                <a:solidFill>
                  <a:srgbClr val="003F6B"/>
                </a:solidFill>
              </a:rPr>
              <a:t>Freiwilligkeit oder Frist problematisch?</a:t>
            </a:r>
          </a:p>
        </p:txBody>
      </p:sp>
      <p:sp>
        <p:nvSpPr>
          <p:cNvPr id="15" name="">
            <a:extLst xmlns:a="http://schemas.openxmlformats.org/drawingml/2006/main">
              <a:ext uri="{FF2B5EF4-FFF2-40B4-BE49-F238E27FC236}">
                <a16:creationId xmlns:a16="http://schemas.microsoft.com/office/drawing/2014/main" id="{9D4002FE-70B0-46C0-B439-3F0CA1122A67}"/>
              </a:ext>
            </a:extLst>
          </p:cNvPr>
          <p:cNvSpPr>
            <a:spLocks xmlns:a="http://schemas.openxmlformats.org/drawingml/2006/main" noGrp="1"/>
          </p:cNvSpPr>
          <p:nvPr/>
        </p:nvSpPr>
        <p:spPr>
          <a:xfrm xmlns:a="http://schemas.openxmlformats.org/drawingml/2006/main">
            <a:off x="8413750" y="2619375"/>
            <a:ext cx="2768600" cy="2466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25">
                <a:solidFill>
                  <a:srgbClr val="15232B"/>
                </a:solidFill>
              </a:defRPr>
            </a:pPr>
            <a:r>
              <a:rPr sz="1125">
                <a:solidFill>
                  <a:srgbClr val="15232B"/>
                </a:solidFill>
              </a:rPr>
              <a:t>JA → anwaltliche Prüfung / gerichtlicher Weg</a:t>
            </a:r>
          </a:p>
          <a:p xmlns:a="http://schemas.openxmlformats.org/drawingml/2006/main">
            <a:r>
              <a:t/>
            </a:r>
          </a:p>
          <a:p xmlns:a="http://schemas.openxmlformats.org/drawingml/2006/main">
            <a:pPr>
              <a:buNone/>
              <a:defRPr sz="1125">
                <a:solidFill>
                  <a:srgbClr val="15232B"/>
                </a:solidFill>
              </a:defRPr>
            </a:pPr>
            <a:r>
              <a:rPr sz="1125">
                <a:solidFill>
                  <a:srgbClr val="15232B"/>
                </a:solidFill>
              </a:rPr>
              <a:t>NEIN → außergerichtlich versuchen</a:t>
            </a:r>
          </a:p>
        </p:txBody>
      </p:sp>
      <p:sp>
        <p:nvSpPr>
          <p:cNvPr id="16" name="">
            <a:extLst xmlns:a="http://schemas.openxmlformats.org/drawingml/2006/main">
              <a:ext uri="{FF2B5EF4-FFF2-40B4-BE49-F238E27FC236}">
                <a16:creationId xmlns:a16="http://schemas.microsoft.com/office/drawing/2014/main" id="{5F5E9C14-3775-490C-BBE8-056D9CAF0958}"/>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17" name="">
            <a:extLst xmlns:a="http://schemas.openxmlformats.org/drawingml/2006/main">
              <a:ext uri="{FF2B5EF4-FFF2-40B4-BE49-F238E27FC236}">
                <a16:creationId xmlns:a16="http://schemas.microsoft.com/office/drawing/2014/main" id="{4AD39369-C91F-45AB-8E63-F5BCDF9F4B01}"/>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Sanktion ist kein Ersatz für Entschädigung; Entschädigung ist kein Ersatz für Patientensicherheit.</a:t>
            </a:r>
          </a:p>
        </p:txBody>
      </p:sp>
    </p:spTree>
    <p:extLst>
      <p:ext uri="{BB962C8B-B14F-4D97-AF65-F5344CB8AC3E}">
        <p14:creationId xmlns:p14="http://schemas.microsoft.com/office/powerpoint/2010/main" val="43637646"/>
      </p:ext>
    </p:extLst>
  </p:cSld>
</p:sld>
</file>

<file path=ppt/slides/slide177.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Zum Nachlesen · Termin 06: Außergerichtliche Wege</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LITERATUR &amp; SICHTBARE QUELLEN</a:t>
            </a:r>
            <a:endParaRPr/>
          </a:p>
        </p:txBody>
      </p:sp>
      <p:sp>
        <p:nvSpPr>
          <p:cNvPr id="4" name="">
            <a:extLst xmlns:a="http://schemas.openxmlformats.org/drawingml/2006/main">
              <a:ext uri="{FF2B5EF4-FFF2-40B4-BE49-F238E27FC236}">
                <a16:creationId xmlns:a16="http://schemas.microsoft.com/office/drawing/2014/main" id="{AAF48209-0C92-44F6-BB28-3120244AF2A7}"/>
              </a:ext>
            </a:extLst>
          </p:cNvPr>
          <p:cNvSpPr>
            <a:spLocks xmlns:a="http://schemas.openxmlformats.org/drawingml/2006/main" noGrp="1"/>
          </p:cNvSpPr>
          <p:nvPr/>
        </p:nvSpPr>
        <p:spPr>
          <a:xfrm xmlns:a="http://schemas.openxmlformats.org/drawingml/2006/main">
            <a:off x="1809750" y="1943100"/>
            <a:ext cx="461010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41275899-98E2-41DC-B5B2-A16EBC0C49D1}"/>
              </a:ext>
            </a:extLst>
          </p:cNvPr>
          <p:cNvSpPr>
            <a:spLocks xmlns:a="http://schemas.openxmlformats.org/drawingml/2006/main" noGrp="1"/>
          </p:cNvSpPr>
          <p:nvPr/>
        </p:nvSpPr>
        <p:spPr>
          <a:xfrm xmlns:a="http://schemas.openxmlformats.org/drawingml/2006/main">
            <a:off x="1809750" y="1943100"/>
            <a:ext cx="4610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Vertiefung</a:t>
            </a:r>
          </a:p>
        </p:txBody>
      </p:sp>
      <p:sp>
        <p:nvSpPr>
          <p:cNvPr id="6" name="">
            <a:extLst xmlns:a="http://schemas.openxmlformats.org/drawingml/2006/main">
              <a:ext uri="{FF2B5EF4-FFF2-40B4-BE49-F238E27FC236}">
                <a16:creationId xmlns:a16="http://schemas.microsoft.com/office/drawing/2014/main" id="{4D0266F0-4598-4D19-9E29-22DB359C5E8E}"/>
              </a:ext>
            </a:extLst>
          </p:cNvPr>
          <p:cNvSpPr>
            <a:spLocks xmlns:a="http://schemas.openxmlformats.org/drawingml/2006/main" noGrp="1"/>
          </p:cNvSpPr>
          <p:nvPr/>
        </p:nvSpPr>
        <p:spPr>
          <a:xfrm xmlns:a="http://schemas.openxmlformats.org/drawingml/2006/main">
            <a:off x="1809750" y="30289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7" name="">
            <a:extLst xmlns:a="http://schemas.openxmlformats.org/drawingml/2006/main">
              <a:ext uri="{FF2B5EF4-FFF2-40B4-BE49-F238E27FC236}">
                <a16:creationId xmlns:a16="http://schemas.microsoft.com/office/drawing/2014/main" id="{9D30CE12-6C05-4C70-94ED-686D8E66AABF}"/>
              </a:ext>
            </a:extLst>
          </p:cNvPr>
          <p:cNvSpPr>
            <a:spLocks xmlns:a="http://schemas.openxmlformats.org/drawingml/2006/main" noGrp="1"/>
          </p:cNvSpPr>
          <p:nvPr/>
        </p:nvSpPr>
        <p:spPr>
          <a:xfrm xmlns:a="http://schemas.openxmlformats.org/drawingml/2006/main">
            <a:off x="1809750" y="24765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9BAB"/>
                </a:solidFill>
              </a:defRPr>
            </a:pPr>
            <a:r>
              <a:rPr sz="960" b="1">
                <a:solidFill>
                  <a:srgbClr val="009BAB"/>
                </a:solidFill>
              </a:rPr>
              <a:t>MD</a:t>
            </a:r>
          </a:p>
        </p:txBody>
      </p:sp>
      <p:sp>
        <p:nvSpPr>
          <p:cNvPr id="8" name="">
            <a:extLst xmlns:a="http://schemas.openxmlformats.org/drawingml/2006/main">
              <a:ext uri="{FF2B5EF4-FFF2-40B4-BE49-F238E27FC236}">
                <a16:creationId xmlns:a16="http://schemas.microsoft.com/office/drawing/2014/main" id="{45EFC6C4-5905-4C01-8693-2E0ED4A016C6}"/>
              </a:ext>
            </a:extLst>
          </p:cNvPr>
          <p:cNvSpPr>
            <a:spLocks xmlns:a="http://schemas.openxmlformats.org/drawingml/2006/main" noGrp="1"/>
          </p:cNvSpPr>
          <p:nvPr/>
        </p:nvSpPr>
        <p:spPr>
          <a:xfrm xmlns:a="http://schemas.openxmlformats.org/drawingml/2006/main">
            <a:off x="2952750" y="24765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Begutachtungsleitfaden Behandlungsfehler und Pflegefehler, 16.04.2026.</a:t>
            </a:r>
          </a:p>
        </p:txBody>
      </p:sp>
      <p:sp>
        <p:nvSpPr>
          <p:cNvPr id="9" name="">
            <a:extLst xmlns:a="http://schemas.openxmlformats.org/drawingml/2006/main">
              <a:ext uri="{FF2B5EF4-FFF2-40B4-BE49-F238E27FC236}">
                <a16:creationId xmlns:a16="http://schemas.microsoft.com/office/drawing/2014/main" id="{A77F0674-3FB6-41DA-A81D-CA86286751CF}"/>
              </a:ext>
            </a:extLst>
          </p:cNvPr>
          <p:cNvSpPr>
            <a:spLocks xmlns:a="http://schemas.openxmlformats.org/drawingml/2006/main" noGrp="1"/>
          </p:cNvSpPr>
          <p:nvPr/>
        </p:nvSpPr>
        <p:spPr>
          <a:xfrm xmlns:a="http://schemas.openxmlformats.org/drawingml/2006/main">
            <a:off x="1809750" y="36385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10" name="">
            <a:extLst xmlns:a="http://schemas.openxmlformats.org/drawingml/2006/main">
              <a:ext uri="{FF2B5EF4-FFF2-40B4-BE49-F238E27FC236}">
                <a16:creationId xmlns:a16="http://schemas.microsoft.com/office/drawing/2014/main" id="{7A32EEBD-11FB-48B0-90FF-EFB61F3A0048}"/>
              </a:ext>
            </a:extLst>
          </p:cNvPr>
          <p:cNvSpPr>
            <a:spLocks xmlns:a="http://schemas.openxmlformats.org/drawingml/2006/main" noGrp="1"/>
          </p:cNvSpPr>
          <p:nvPr/>
        </p:nvSpPr>
        <p:spPr>
          <a:xfrm xmlns:a="http://schemas.openxmlformats.org/drawingml/2006/main">
            <a:off x="1809750" y="30861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9BAB"/>
                </a:solidFill>
              </a:defRPr>
            </a:pPr>
            <a:r>
              <a:rPr sz="960" b="1">
                <a:solidFill>
                  <a:srgbClr val="009BAB"/>
                </a:solidFill>
              </a:rPr>
              <a:t>Schlichtung</a:t>
            </a:r>
          </a:p>
        </p:txBody>
      </p:sp>
      <p:sp>
        <p:nvSpPr>
          <p:cNvPr id="11" name="">
            <a:extLst xmlns:a="http://schemas.openxmlformats.org/drawingml/2006/main">
              <a:ext uri="{FF2B5EF4-FFF2-40B4-BE49-F238E27FC236}">
                <a16:creationId xmlns:a16="http://schemas.microsoft.com/office/drawing/2014/main" id="{72181E3C-B388-475D-8AE6-9E1F7867C8F0}"/>
              </a:ext>
            </a:extLst>
          </p:cNvPr>
          <p:cNvSpPr>
            <a:spLocks xmlns:a="http://schemas.openxmlformats.org/drawingml/2006/main" noGrp="1"/>
          </p:cNvSpPr>
          <p:nvPr/>
        </p:nvSpPr>
        <p:spPr>
          <a:xfrm xmlns:a="http://schemas.openxmlformats.org/drawingml/2006/main">
            <a:off x="2952750" y="30861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Bundesärztekammer: Gutachterkommissionen und Schlichtungsstellen.</a:t>
            </a:r>
          </a:p>
        </p:txBody>
      </p:sp>
      <p:sp>
        <p:nvSpPr>
          <p:cNvPr id="12" name="">
            <a:extLst xmlns:a="http://schemas.openxmlformats.org/drawingml/2006/main">
              <a:ext uri="{FF2B5EF4-FFF2-40B4-BE49-F238E27FC236}">
                <a16:creationId xmlns:a16="http://schemas.microsoft.com/office/drawing/2014/main" id="{3AF54E28-552A-4156-B91E-F95A951CDD7C}"/>
              </a:ext>
            </a:extLst>
          </p:cNvPr>
          <p:cNvSpPr>
            <a:spLocks xmlns:a="http://schemas.openxmlformats.org/drawingml/2006/main" noGrp="1"/>
          </p:cNvSpPr>
          <p:nvPr/>
        </p:nvSpPr>
        <p:spPr>
          <a:xfrm xmlns:a="http://schemas.openxmlformats.org/drawingml/2006/main">
            <a:off x="1809750" y="42481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13" name="">
            <a:extLst xmlns:a="http://schemas.openxmlformats.org/drawingml/2006/main">
              <a:ext uri="{FF2B5EF4-FFF2-40B4-BE49-F238E27FC236}">
                <a16:creationId xmlns:a16="http://schemas.microsoft.com/office/drawing/2014/main" id="{CC964123-6B78-41A2-95B0-42783220D1E8}"/>
              </a:ext>
            </a:extLst>
          </p:cNvPr>
          <p:cNvSpPr>
            <a:spLocks xmlns:a="http://schemas.openxmlformats.org/drawingml/2006/main" noGrp="1"/>
          </p:cNvSpPr>
          <p:nvPr/>
        </p:nvSpPr>
        <p:spPr>
          <a:xfrm xmlns:a="http://schemas.openxmlformats.org/drawingml/2006/main">
            <a:off x="1809750" y="36957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9BAB"/>
                </a:solidFill>
              </a:defRPr>
            </a:pPr>
            <a:r>
              <a:rPr sz="960" b="1">
                <a:solidFill>
                  <a:srgbClr val="009BAB"/>
                </a:solidFill>
              </a:rPr>
              <a:t>Verjährung</a:t>
            </a:r>
          </a:p>
        </p:txBody>
      </p:sp>
      <p:sp>
        <p:nvSpPr>
          <p:cNvPr id="14" name="">
            <a:extLst xmlns:a="http://schemas.openxmlformats.org/drawingml/2006/main">
              <a:ext uri="{FF2B5EF4-FFF2-40B4-BE49-F238E27FC236}">
                <a16:creationId xmlns:a16="http://schemas.microsoft.com/office/drawing/2014/main" id="{41AB9C75-1BBD-457E-8971-5AAD0FA8654C}"/>
              </a:ext>
            </a:extLst>
          </p:cNvPr>
          <p:cNvSpPr>
            <a:spLocks xmlns:a="http://schemas.openxmlformats.org/drawingml/2006/main" noGrp="1"/>
          </p:cNvSpPr>
          <p:nvPr/>
        </p:nvSpPr>
        <p:spPr>
          <a:xfrm xmlns:a="http://schemas.openxmlformats.org/drawingml/2006/main">
            <a:off x="2952750" y="36957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MüKoBGB/Grothe, §§ 195, 199, 203, 204 BGB.</a:t>
            </a:r>
          </a:p>
        </p:txBody>
      </p:sp>
      <p:sp>
        <p:nvSpPr>
          <p:cNvPr id="15" name="">
            <a:extLst xmlns:a="http://schemas.openxmlformats.org/drawingml/2006/main">
              <a:ext uri="{FF2B5EF4-FFF2-40B4-BE49-F238E27FC236}">
                <a16:creationId xmlns:a16="http://schemas.microsoft.com/office/drawing/2014/main" id="{9E6C3055-88F5-4687-8FF6-1DAFEC14529E}"/>
              </a:ext>
            </a:extLst>
          </p:cNvPr>
          <p:cNvSpPr>
            <a:spLocks xmlns:a="http://schemas.openxmlformats.org/drawingml/2006/main" noGrp="1"/>
          </p:cNvSpPr>
          <p:nvPr/>
        </p:nvSpPr>
        <p:spPr>
          <a:xfrm xmlns:a="http://schemas.openxmlformats.org/drawingml/2006/main">
            <a:off x="1809750" y="48577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16" name="">
            <a:extLst xmlns:a="http://schemas.openxmlformats.org/drawingml/2006/main">
              <a:ext uri="{FF2B5EF4-FFF2-40B4-BE49-F238E27FC236}">
                <a16:creationId xmlns:a16="http://schemas.microsoft.com/office/drawing/2014/main" id="{5B5A9AA2-F836-4476-8916-87D40C53BE3F}"/>
              </a:ext>
            </a:extLst>
          </p:cNvPr>
          <p:cNvSpPr>
            <a:spLocks xmlns:a="http://schemas.openxmlformats.org/drawingml/2006/main" noGrp="1"/>
          </p:cNvSpPr>
          <p:nvPr/>
        </p:nvSpPr>
        <p:spPr>
          <a:xfrm xmlns:a="http://schemas.openxmlformats.org/drawingml/2006/main">
            <a:off x="1809750" y="43053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9BAB"/>
                </a:solidFill>
              </a:defRPr>
            </a:pPr>
            <a:r>
              <a:rPr sz="960" b="1">
                <a:solidFill>
                  <a:srgbClr val="009BAB"/>
                </a:solidFill>
              </a:rPr>
              <a:t>Vergleich</a:t>
            </a:r>
          </a:p>
        </p:txBody>
      </p:sp>
      <p:sp>
        <p:nvSpPr>
          <p:cNvPr id="17" name="">
            <a:extLst xmlns:a="http://schemas.openxmlformats.org/drawingml/2006/main">
              <a:ext uri="{FF2B5EF4-FFF2-40B4-BE49-F238E27FC236}">
                <a16:creationId xmlns:a16="http://schemas.microsoft.com/office/drawing/2014/main" id="{7305FCA4-7F20-4ABB-8999-5EF1624D8F35}"/>
              </a:ext>
            </a:extLst>
          </p:cNvPr>
          <p:cNvSpPr>
            <a:spLocks xmlns:a="http://schemas.openxmlformats.org/drawingml/2006/main" noGrp="1"/>
          </p:cNvSpPr>
          <p:nvPr/>
        </p:nvSpPr>
        <p:spPr>
          <a:xfrm xmlns:a="http://schemas.openxmlformats.org/drawingml/2006/main">
            <a:off x="2952750" y="43053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Interessenbasierte Verhandlung: Risiko, Zeit, Kosten und Nicht-Geld-Ziele.</a:t>
            </a:r>
          </a:p>
        </p:txBody>
      </p:sp>
      <p:sp>
        <p:nvSpPr>
          <p:cNvPr id="18" name="">
            <a:extLst xmlns:a="http://schemas.openxmlformats.org/drawingml/2006/main">
              <a:ext uri="{FF2B5EF4-FFF2-40B4-BE49-F238E27FC236}">
                <a16:creationId xmlns:a16="http://schemas.microsoft.com/office/drawing/2014/main" id="{31CB1348-18C1-4C46-B91C-86647992B9D2}"/>
              </a:ext>
            </a:extLst>
          </p:cNvPr>
          <p:cNvSpPr>
            <a:spLocks xmlns:a="http://schemas.openxmlformats.org/drawingml/2006/main" noGrp="1"/>
          </p:cNvSpPr>
          <p:nvPr/>
        </p:nvSpPr>
        <p:spPr>
          <a:xfrm xmlns:a="http://schemas.openxmlformats.org/drawingml/2006/main">
            <a:off x="6724650" y="1943100"/>
            <a:ext cx="461010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9" name="">
            <a:extLst xmlns:a="http://schemas.openxmlformats.org/drawingml/2006/main">
              <a:ext uri="{FF2B5EF4-FFF2-40B4-BE49-F238E27FC236}">
                <a16:creationId xmlns:a16="http://schemas.microsoft.com/office/drawing/2014/main" id="{C98B2E39-41D0-4321-82A5-FEBF3F66D2BD}"/>
              </a:ext>
            </a:extLst>
          </p:cNvPr>
          <p:cNvSpPr>
            <a:spLocks xmlns:a="http://schemas.openxmlformats.org/drawingml/2006/main" noGrp="1"/>
          </p:cNvSpPr>
          <p:nvPr/>
        </p:nvSpPr>
        <p:spPr>
          <a:xfrm xmlns:a="http://schemas.openxmlformats.org/drawingml/2006/main">
            <a:off x="6724650" y="1943100"/>
            <a:ext cx="4610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Primärquellen &amp; Rechtsprechung</a:t>
            </a:r>
          </a:p>
        </p:txBody>
      </p:sp>
      <p:sp>
        <p:nvSpPr>
          <p:cNvPr id="20" name="">
            <a:extLst xmlns:a="http://schemas.openxmlformats.org/drawingml/2006/main">
              <a:ext uri="{FF2B5EF4-FFF2-40B4-BE49-F238E27FC236}">
                <a16:creationId xmlns:a16="http://schemas.microsoft.com/office/drawing/2014/main" id="{FB7D5686-90A4-4738-ADEC-092B19DA35FD}"/>
              </a:ext>
            </a:extLst>
          </p:cNvPr>
          <p:cNvSpPr>
            <a:spLocks xmlns:a="http://schemas.openxmlformats.org/drawingml/2006/main" noGrp="1"/>
          </p:cNvSpPr>
          <p:nvPr/>
        </p:nvSpPr>
        <p:spPr>
          <a:xfrm xmlns:a="http://schemas.openxmlformats.org/drawingml/2006/main">
            <a:off x="6724650" y="30289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21" name="">
            <a:extLst xmlns:a="http://schemas.openxmlformats.org/drawingml/2006/main">
              <a:ext uri="{FF2B5EF4-FFF2-40B4-BE49-F238E27FC236}">
                <a16:creationId xmlns:a16="http://schemas.microsoft.com/office/drawing/2014/main" id="{5E041D00-F17F-450A-BD70-6226732BEAA9}"/>
              </a:ext>
            </a:extLst>
          </p:cNvPr>
          <p:cNvSpPr>
            <a:spLocks xmlns:a="http://schemas.openxmlformats.org/drawingml/2006/main" noGrp="1"/>
          </p:cNvSpPr>
          <p:nvPr/>
        </p:nvSpPr>
        <p:spPr>
          <a:xfrm xmlns:a="http://schemas.openxmlformats.org/drawingml/2006/main">
            <a:off x="6724650" y="24765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3F6B"/>
                </a:solidFill>
              </a:defRPr>
            </a:pPr>
            <a:r>
              <a:rPr sz="960" b="1">
                <a:solidFill>
                  <a:srgbClr val="003F6B"/>
                </a:solidFill>
              </a:rPr>
              <a:t>Normen</a:t>
            </a:r>
          </a:p>
        </p:txBody>
      </p:sp>
      <p:sp>
        <p:nvSpPr>
          <p:cNvPr id="22" name="">
            <a:extLst xmlns:a="http://schemas.openxmlformats.org/drawingml/2006/main">
              <a:ext uri="{FF2B5EF4-FFF2-40B4-BE49-F238E27FC236}">
                <a16:creationId xmlns:a16="http://schemas.microsoft.com/office/drawing/2014/main" id="{8AA109EE-F6F5-4C96-AD1F-D5A33846EE72}"/>
              </a:ext>
            </a:extLst>
          </p:cNvPr>
          <p:cNvSpPr>
            <a:spLocks xmlns:a="http://schemas.openxmlformats.org/drawingml/2006/main" noGrp="1"/>
          </p:cNvSpPr>
          <p:nvPr/>
        </p:nvSpPr>
        <p:spPr>
          <a:xfrm xmlns:a="http://schemas.openxmlformats.org/drawingml/2006/main">
            <a:off x="7867650" y="24765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 66 SGB V; §§ 195, 199, 203, 204 BGB.</a:t>
            </a:r>
          </a:p>
        </p:txBody>
      </p:sp>
      <p:sp>
        <p:nvSpPr>
          <p:cNvPr id="23" name="">
            <a:extLst xmlns:a="http://schemas.openxmlformats.org/drawingml/2006/main">
              <a:ext uri="{FF2B5EF4-FFF2-40B4-BE49-F238E27FC236}">
                <a16:creationId xmlns:a16="http://schemas.microsoft.com/office/drawing/2014/main" id="{0C01E91C-29A9-42E6-A287-FA68DB43857B}"/>
              </a:ext>
            </a:extLst>
          </p:cNvPr>
          <p:cNvSpPr>
            <a:spLocks xmlns:a="http://schemas.openxmlformats.org/drawingml/2006/main" noGrp="1"/>
          </p:cNvSpPr>
          <p:nvPr/>
        </p:nvSpPr>
        <p:spPr>
          <a:xfrm xmlns:a="http://schemas.openxmlformats.org/drawingml/2006/main">
            <a:off x="6724650" y="36385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24" name="">
            <a:extLst xmlns:a="http://schemas.openxmlformats.org/drawingml/2006/main">
              <a:ext uri="{FF2B5EF4-FFF2-40B4-BE49-F238E27FC236}">
                <a16:creationId xmlns:a16="http://schemas.microsoft.com/office/drawing/2014/main" id="{E69ADE84-0CC0-4F35-ABD5-B6F7F61EABD1}"/>
              </a:ext>
            </a:extLst>
          </p:cNvPr>
          <p:cNvSpPr>
            <a:spLocks xmlns:a="http://schemas.openxmlformats.org/drawingml/2006/main" noGrp="1"/>
          </p:cNvSpPr>
          <p:nvPr/>
        </p:nvSpPr>
        <p:spPr>
          <a:xfrm xmlns:a="http://schemas.openxmlformats.org/drawingml/2006/main">
            <a:off x="6724650" y="30861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3F6B"/>
                </a:solidFill>
              </a:defRPr>
            </a:pPr>
            <a:r>
              <a:rPr sz="960" b="1">
                <a:solidFill>
                  <a:srgbClr val="003F6B"/>
                </a:solidFill>
              </a:rPr>
              <a:t>Daten</a:t>
            </a:r>
          </a:p>
        </p:txBody>
      </p:sp>
      <p:sp>
        <p:nvSpPr>
          <p:cNvPr id="25" name="">
            <a:extLst xmlns:a="http://schemas.openxmlformats.org/drawingml/2006/main">
              <a:ext uri="{FF2B5EF4-FFF2-40B4-BE49-F238E27FC236}">
                <a16:creationId xmlns:a16="http://schemas.microsoft.com/office/drawing/2014/main" id="{96D88069-E822-4A37-AEEE-E3AB1FA9FFE3}"/>
              </a:ext>
            </a:extLst>
          </p:cNvPr>
          <p:cNvSpPr>
            <a:spLocks xmlns:a="http://schemas.openxmlformats.org/drawingml/2006/main" noGrp="1"/>
          </p:cNvSpPr>
          <p:nvPr/>
        </p:nvSpPr>
        <p:spPr>
          <a:xfrm xmlns:a="http://schemas.openxmlformats.org/drawingml/2006/main">
            <a:off x="7867650" y="30861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MD Bund, Behandlungsfehlerstatistik 2024.</a:t>
            </a:r>
          </a:p>
        </p:txBody>
      </p:sp>
      <p:sp>
        <p:nvSpPr>
          <p:cNvPr id="26" name="">
            <a:extLst xmlns:a="http://schemas.openxmlformats.org/drawingml/2006/main">
              <a:ext uri="{FF2B5EF4-FFF2-40B4-BE49-F238E27FC236}">
                <a16:creationId xmlns:a16="http://schemas.microsoft.com/office/drawing/2014/main" id="{8FF754EE-7BE4-4FC1-8B65-E5360592397A}"/>
              </a:ext>
            </a:extLst>
          </p:cNvPr>
          <p:cNvSpPr>
            <a:spLocks xmlns:a="http://schemas.openxmlformats.org/drawingml/2006/main" noGrp="1"/>
          </p:cNvSpPr>
          <p:nvPr/>
        </p:nvSpPr>
        <p:spPr>
          <a:xfrm xmlns:a="http://schemas.openxmlformats.org/drawingml/2006/main">
            <a:off x="6724650" y="42481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27" name="">
            <a:extLst xmlns:a="http://schemas.openxmlformats.org/drawingml/2006/main">
              <a:ext uri="{FF2B5EF4-FFF2-40B4-BE49-F238E27FC236}">
                <a16:creationId xmlns:a16="http://schemas.microsoft.com/office/drawing/2014/main" id="{3B2A5DE0-C13D-4B23-9A1D-A5F71D712E06}"/>
              </a:ext>
            </a:extLst>
          </p:cNvPr>
          <p:cNvSpPr>
            <a:spLocks xmlns:a="http://schemas.openxmlformats.org/drawingml/2006/main" noGrp="1"/>
          </p:cNvSpPr>
          <p:nvPr/>
        </p:nvSpPr>
        <p:spPr>
          <a:xfrm xmlns:a="http://schemas.openxmlformats.org/drawingml/2006/main">
            <a:off x="6724650" y="36957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3F6B"/>
                </a:solidFill>
              </a:defRPr>
            </a:pPr>
            <a:r>
              <a:rPr sz="960" b="1">
                <a:solidFill>
                  <a:srgbClr val="003F6B"/>
                </a:solidFill>
              </a:rPr>
              <a:t>BÄK</a:t>
            </a:r>
          </a:p>
        </p:txBody>
      </p:sp>
      <p:sp>
        <p:nvSpPr>
          <p:cNvPr id="28" name="">
            <a:extLst xmlns:a="http://schemas.openxmlformats.org/drawingml/2006/main">
              <a:ext uri="{FF2B5EF4-FFF2-40B4-BE49-F238E27FC236}">
                <a16:creationId xmlns:a16="http://schemas.microsoft.com/office/drawing/2014/main" id="{7D79A4AF-DFCC-4E1D-8568-DB7E587B8721}"/>
              </a:ext>
            </a:extLst>
          </p:cNvPr>
          <p:cNvSpPr>
            <a:spLocks xmlns:a="http://schemas.openxmlformats.org/drawingml/2006/main" noGrp="1"/>
          </p:cNvSpPr>
          <p:nvPr/>
        </p:nvSpPr>
        <p:spPr>
          <a:xfrm xmlns:a="http://schemas.openxmlformats.org/drawingml/2006/main">
            <a:off x="7867650" y="36957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Gutachterkommissionen und Schlichtungsstellen der Landesärztekammern; freiwillige außergerichtliche Klärung.</a:t>
            </a:r>
          </a:p>
        </p:txBody>
      </p:sp>
      <p:sp>
        <p:nvSpPr>
          <p:cNvPr id="29" name="">
            <a:extLst xmlns:a="http://schemas.openxmlformats.org/drawingml/2006/main">
              <a:ext uri="{FF2B5EF4-FFF2-40B4-BE49-F238E27FC236}">
                <a16:creationId xmlns:a16="http://schemas.microsoft.com/office/drawing/2014/main" id="{5B1F3AB8-95BD-4C5B-9CB9-51483AC6F393}"/>
              </a:ext>
            </a:extLst>
          </p:cNvPr>
          <p:cNvSpPr>
            <a:spLocks xmlns:a="http://schemas.openxmlformats.org/drawingml/2006/main" noGrp="1"/>
          </p:cNvSpPr>
          <p:nvPr/>
        </p:nvSpPr>
        <p:spPr>
          <a:xfrm xmlns:a="http://schemas.openxmlformats.org/drawingml/2006/main">
            <a:off x="6724650" y="48577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30" name="">
            <a:extLst xmlns:a="http://schemas.openxmlformats.org/drawingml/2006/main">
              <a:ext uri="{FF2B5EF4-FFF2-40B4-BE49-F238E27FC236}">
                <a16:creationId xmlns:a16="http://schemas.microsoft.com/office/drawing/2014/main" id="{4617DD5D-8D0C-43AA-B6B8-75CD58172463}"/>
              </a:ext>
            </a:extLst>
          </p:cNvPr>
          <p:cNvSpPr>
            <a:spLocks xmlns:a="http://schemas.openxmlformats.org/drawingml/2006/main" noGrp="1"/>
          </p:cNvSpPr>
          <p:nvPr/>
        </p:nvSpPr>
        <p:spPr>
          <a:xfrm xmlns:a="http://schemas.openxmlformats.org/drawingml/2006/main">
            <a:off x="6724650" y="43053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3F6B"/>
                </a:solidFill>
              </a:defRPr>
            </a:pPr>
            <a:r>
              <a:rPr sz="960" b="1">
                <a:solidFill>
                  <a:srgbClr val="003F6B"/>
                </a:solidFill>
              </a:rPr>
              <a:t>Amtlich</a:t>
            </a:r>
          </a:p>
        </p:txBody>
      </p:sp>
      <p:sp>
        <p:nvSpPr>
          <p:cNvPr id="31" name="">
            <a:extLst xmlns:a="http://schemas.openxmlformats.org/drawingml/2006/main">
              <a:ext uri="{FF2B5EF4-FFF2-40B4-BE49-F238E27FC236}">
                <a16:creationId xmlns:a16="http://schemas.microsoft.com/office/drawing/2014/main" id="{BB16DFAA-585C-4E0C-95FC-A6A68B27DD46}"/>
              </a:ext>
            </a:extLst>
          </p:cNvPr>
          <p:cNvSpPr>
            <a:spLocks xmlns:a="http://schemas.openxmlformats.org/drawingml/2006/main" noGrp="1"/>
          </p:cNvSpPr>
          <p:nvPr/>
        </p:nvSpPr>
        <p:spPr>
          <a:xfrm xmlns:a="http://schemas.openxmlformats.org/drawingml/2006/main">
            <a:off x="7867650" y="43053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md-bund.de/themen/patientensicherheit/behandlungsfehlergutachten</a:t>
            </a:r>
          </a:p>
        </p:txBody>
      </p:sp>
      <p:sp>
        <p:nvSpPr>
          <p:cNvPr id="32" name="">
            <a:extLst xmlns:a="http://schemas.openxmlformats.org/drawingml/2006/main">
              <a:ext uri="{FF2B5EF4-FFF2-40B4-BE49-F238E27FC236}">
                <a16:creationId xmlns:a16="http://schemas.microsoft.com/office/drawing/2014/main" id="{CF5B3D59-B8A1-417C-B24B-62CFB29EE2B5}"/>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20">
                <a:solidFill>
                  <a:srgbClr val="667680"/>
                </a:solidFill>
              </a:defRPr>
            </a:pPr>
            <a:r>
              <a:rPr sz="720">
                <a:solidFill>
                  <a:srgbClr val="667680"/>
                </a:solidFill>
              </a:rPr>
              <a:t>Alle Internetquellen Abruf/Stand: 20.08.2026. Gesetze: aktuelle Fassung jeweils vor Anwendung prüfen · https://www.rechtsprechung-im-internet.de</a:t>
            </a:r>
          </a:p>
        </p:txBody>
      </p:sp>
    </p:spTree>
    <p:extLst>
      <p:ext uri="{BB962C8B-B14F-4D97-AF65-F5344CB8AC3E}">
        <p14:creationId xmlns:p14="http://schemas.microsoft.com/office/powerpoint/2010/main" val="43637646"/>
      </p:ext>
    </p:extLst>
  </p:cSld>
</p:sld>
</file>

<file path=ppt/slides/slide178.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endParaRPr/>
          </a:p>
        </p:txBody>
      </p:sp>
      <p:sp>
        <p:nvSpPr>
          <p:cNvPr id="4" name="">
            <a:extLst xmlns:a="http://schemas.openxmlformats.org/drawingml/2006/main">
              <a:ext uri="{FF2B5EF4-FFF2-40B4-BE49-F238E27FC236}">
                <a16:creationId xmlns:a16="http://schemas.microsoft.com/office/drawing/2014/main" id="{D7951C36-F036-4D01-8D05-54D80DA3DBA6}"/>
              </a:ext>
            </a:extLst>
          </p:cNvPr>
          <p:cNvSpPr>
            <a:spLocks xmlns:a="http://schemas.openxmlformats.org/drawingml/2006/main" noGrp="1"/>
          </p:cNvSpPr>
          <p:nvPr/>
        </p:nvSpPr>
        <p:spPr>
          <a:xfrm xmlns:a="http://schemas.openxmlformats.org/drawingml/2006/main">
            <a:off x="2571750" y="2038350"/>
            <a:ext cx="838200" cy="628650"/>
          </a:xfrm>
          <a:prstGeom xmlns:a="http://schemas.openxmlformats.org/drawingml/2006/main" prst="roundRect">
            <a:avLst>
              <a:gd name="adj" fmla="val 12121"/>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4FC8C4D4-14A1-4126-AB97-5F149A34B8FD}"/>
              </a:ext>
            </a:extLst>
          </p:cNvPr>
          <p:cNvSpPr>
            <a:spLocks xmlns:a="http://schemas.openxmlformats.org/drawingml/2006/main" noGrp="1"/>
          </p:cNvSpPr>
          <p:nvPr/>
        </p:nvSpPr>
        <p:spPr>
          <a:xfrm xmlns:a="http://schemas.openxmlformats.org/drawingml/2006/main">
            <a:off x="2571750" y="2038350"/>
            <a:ext cx="8382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FFFFFF"/>
                </a:solidFill>
              </a:defRPr>
            </a:pPr>
            <a:r>
              <a:rPr sz="2100" b="1">
                <a:solidFill>
                  <a:srgbClr val="FFFFFF"/>
                </a:solidFill>
              </a:rPr>
              <a:t>07</a:t>
            </a:r>
          </a:p>
        </p:txBody>
      </p:sp>
      <p:sp>
        <p:nvSpPr>
          <p:cNvPr id="6" name="">
            <a:extLst xmlns:a="http://schemas.openxmlformats.org/drawingml/2006/main">
              <a:ext uri="{FF2B5EF4-FFF2-40B4-BE49-F238E27FC236}">
                <a16:creationId xmlns:a16="http://schemas.microsoft.com/office/drawing/2014/main" id="{C595FD96-E2C2-4A5D-92ED-23C49DA3471F}"/>
              </a:ext>
            </a:extLst>
          </p:cNvPr>
          <p:cNvSpPr>
            <a:spLocks xmlns:a="http://schemas.openxmlformats.org/drawingml/2006/main" noGrp="1"/>
          </p:cNvSpPr>
          <p:nvPr/>
        </p:nvSpPr>
        <p:spPr>
          <a:xfrm xmlns:a="http://schemas.openxmlformats.org/drawingml/2006/main">
            <a:off x="3667125" y="2000250"/>
            <a:ext cx="8096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4400">
                <a:solidFill>
                  <a:srgbClr val="003F6B"/>
                </a:solidFill>
              </a:defRPr>
            </a:pPr>
            <a:r>
              <a:rPr sz="4400">
                <a:solidFill>
                  <a:srgbClr val="003F6B"/>
                </a:solidFill>
              </a:rPr>
              <a:t>Zivilprozess</a:t>
            </a:r>
          </a:p>
        </p:txBody>
      </p:sp>
      <p:sp>
        <p:nvSpPr>
          <p:cNvPr id="7" name="">
            <a:extLst xmlns:a="http://schemas.openxmlformats.org/drawingml/2006/main">
              <a:ext uri="{FF2B5EF4-FFF2-40B4-BE49-F238E27FC236}">
                <a16:creationId xmlns:a16="http://schemas.microsoft.com/office/drawing/2014/main" id="{3ADD9151-383A-42A9-BDDE-8008A49A35E1}"/>
              </a:ext>
            </a:extLst>
          </p:cNvPr>
          <p:cNvSpPr>
            <a:spLocks xmlns:a="http://schemas.openxmlformats.org/drawingml/2006/main" noGrp="1"/>
          </p:cNvSpPr>
          <p:nvPr/>
        </p:nvSpPr>
        <p:spPr>
          <a:xfrm xmlns:a="http://schemas.openxmlformats.org/drawingml/2006/main">
            <a:off x="3238500" y="3333750"/>
            <a:ext cx="8524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400">
                <a:solidFill>
                  <a:srgbClr val="003F6B"/>
                </a:solidFill>
              </a:defRPr>
            </a:pPr>
            <a:r>
              <a:rPr sz="2400">
                <a:solidFill>
                  <a:srgbClr val="003F6B"/>
                </a:solidFill>
              </a:rPr>
              <a:t>Termin: 25.11.2026 · 16:30–17:45 · V03 0-C001</a:t>
            </a:r>
          </a:p>
        </p:txBody>
      </p:sp>
      <p:sp>
        <p:nvSpPr>
          <p:cNvPr id="8" name="">
            <a:extLst xmlns:a="http://schemas.openxmlformats.org/drawingml/2006/main">
              <a:ext uri="{FF2B5EF4-FFF2-40B4-BE49-F238E27FC236}">
                <a16:creationId xmlns:a16="http://schemas.microsoft.com/office/drawing/2014/main" id="{86713E86-2093-4F92-AF4C-39BCEDF4F25C}"/>
              </a:ext>
            </a:extLst>
          </p:cNvPr>
          <p:cNvSpPr>
            <a:spLocks xmlns:a="http://schemas.openxmlformats.org/drawingml/2006/main" noGrp="1"/>
          </p:cNvSpPr>
          <p:nvPr/>
        </p:nvSpPr>
        <p:spPr>
          <a:xfrm xmlns:a="http://schemas.openxmlformats.org/drawingml/2006/main">
            <a:off x="3238500" y="3752850"/>
            <a:ext cx="8524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400">
                <a:solidFill>
                  <a:srgbClr val="003F6B"/>
                </a:solidFill>
              </a:defRPr>
            </a:pPr>
            <a:r>
              <a:rPr sz="2400">
                <a:solidFill>
                  <a:srgbClr val="003F6B"/>
                </a:solidFill>
              </a:rPr>
              <a:t>Von der Klageschrift über das Gutachten zum Vergleich oder Urteil</a:t>
            </a:r>
          </a:p>
        </p:txBody>
      </p:sp>
      <p:sp>
        <p:nvSpPr>
          <p:cNvPr id="9" name="">
            <a:extLst xmlns:a="http://schemas.openxmlformats.org/drawingml/2006/main">
              <a:ext uri="{FF2B5EF4-FFF2-40B4-BE49-F238E27FC236}">
                <a16:creationId xmlns:a16="http://schemas.microsoft.com/office/drawing/2014/main" id="{AAEB7C82-3260-4226-9EC0-D8A39B8C9FC2}"/>
              </a:ext>
            </a:extLst>
          </p:cNvPr>
          <p:cNvSpPr>
            <a:spLocks xmlns:a="http://schemas.openxmlformats.org/drawingml/2006/main" noGrp="1"/>
          </p:cNvSpPr>
          <p:nvPr/>
        </p:nvSpPr>
        <p:spPr>
          <a:xfrm xmlns:a="http://schemas.openxmlformats.org/drawingml/2006/main">
            <a:off x="3238500" y="4552950"/>
            <a:ext cx="8524875"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400">
                <a:solidFill>
                  <a:srgbClr val="003F6B"/>
                </a:solidFill>
              </a:defRPr>
            </a:pPr>
            <a:r>
              <a:rPr sz="2400">
                <a:solidFill>
                  <a:srgbClr val="003F6B"/>
                </a:solidFill>
              </a:rPr>
              <a:t>Wie arbeitet eine Arzthaftungskammer wirklich?</a:t>
            </a:r>
          </a:p>
        </p:txBody>
      </p:sp>
    </p:spTree>
    <p:extLst>
      <p:ext uri="{BB962C8B-B14F-4D97-AF65-F5344CB8AC3E}">
        <p14:creationId xmlns:p14="http://schemas.microsoft.com/office/powerpoint/2010/main" val="43637646"/>
      </p:ext>
    </p:extLst>
  </p:cSld>
</p:sld>
</file>

<file path=ppt/slides/slide179.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Lernziele Termin 07: Zivilprozess</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CHECKLISTE · AM ENDE DES HEUTIGEN TERMINS KANN ICH …</a:t>
            </a:r>
            <a:endParaRPr/>
          </a:p>
        </p:txBody>
      </p:sp>
      <p:sp>
        <p:nvSpPr>
          <p:cNvPr id="4" name="">
            <a:extLst xmlns:a="http://schemas.openxmlformats.org/drawingml/2006/main">
              <a:ext uri="{FF2B5EF4-FFF2-40B4-BE49-F238E27FC236}">
                <a16:creationId xmlns:a16="http://schemas.microsoft.com/office/drawing/2014/main" id="{912A9F55-9113-474D-8D83-460A3D462B69}"/>
              </a:ext>
            </a:extLst>
          </p:cNvPr>
          <p:cNvSpPr>
            <a:spLocks xmlns:a="http://schemas.openxmlformats.org/drawingml/2006/main" noGrp="1"/>
          </p:cNvSpPr>
          <p:nvPr/>
        </p:nvSpPr>
        <p:spPr>
          <a:xfrm xmlns:a="http://schemas.openxmlformats.org/drawingml/2006/main">
            <a:off x="1809750" y="198120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B2BB"/>
            </a:solidFill>
            <a:prstDash val="solid"/>
          </a:ln>
        </p:spPr>
      </p:sp>
      <p:sp>
        <p:nvSpPr>
          <p:cNvPr id="5" name="">
            <a:extLst xmlns:a="http://schemas.openxmlformats.org/drawingml/2006/main">
              <a:ext uri="{FF2B5EF4-FFF2-40B4-BE49-F238E27FC236}">
                <a16:creationId xmlns:a16="http://schemas.microsoft.com/office/drawing/2014/main" id="{1B5F647A-2D86-4DF2-86D8-AADC4890D6C4}"/>
              </a:ext>
            </a:extLst>
          </p:cNvPr>
          <p:cNvSpPr>
            <a:spLocks xmlns:a="http://schemas.openxmlformats.org/drawingml/2006/main" noGrp="1"/>
          </p:cNvSpPr>
          <p:nvPr/>
        </p:nvSpPr>
        <p:spPr>
          <a:xfrm xmlns:a="http://schemas.openxmlformats.org/drawingml/2006/main">
            <a:off x="1943100" y="2124075"/>
            <a:ext cx="40005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4867881F-0A37-4E33-B82C-36AD620FA17E}"/>
              </a:ext>
            </a:extLst>
          </p:cNvPr>
          <p:cNvSpPr>
            <a:spLocks xmlns:a="http://schemas.openxmlformats.org/drawingml/2006/main" noGrp="1"/>
          </p:cNvSpPr>
          <p:nvPr/>
        </p:nvSpPr>
        <p:spPr>
          <a:xfrm xmlns:a="http://schemas.openxmlformats.org/drawingml/2006/main">
            <a:off x="1943100" y="21050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7" name="">
            <a:extLst xmlns:a="http://schemas.openxmlformats.org/drawingml/2006/main">
              <a:ext uri="{FF2B5EF4-FFF2-40B4-BE49-F238E27FC236}">
                <a16:creationId xmlns:a16="http://schemas.microsoft.com/office/drawing/2014/main" id="{0AFAFDA5-8213-47CB-B389-FF8636E2B6D3}"/>
              </a:ext>
            </a:extLst>
          </p:cNvPr>
          <p:cNvSpPr>
            <a:spLocks xmlns:a="http://schemas.openxmlformats.org/drawingml/2006/main" noGrp="1"/>
          </p:cNvSpPr>
          <p:nvPr/>
        </p:nvSpPr>
        <p:spPr>
          <a:xfrm xmlns:a="http://schemas.openxmlformats.org/drawingml/2006/main">
            <a:off x="2476500" y="207645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den Zivilprozess von Klage bis Urteil vollständig nachzeichnen.</a:t>
            </a:r>
          </a:p>
        </p:txBody>
      </p:sp>
      <p:sp>
        <p:nvSpPr>
          <p:cNvPr id="8" name="">
            <a:extLst xmlns:a="http://schemas.openxmlformats.org/drawingml/2006/main">
              <a:ext uri="{FF2B5EF4-FFF2-40B4-BE49-F238E27FC236}">
                <a16:creationId xmlns:a16="http://schemas.microsoft.com/office/drawing/2014/main" id="{F25F32FE-24BE-4E3C-B49E-D849BF884CDC}"/>
              </a:ext>
            </a:extLst>
          </p:cNvPr>
          <p:cNvSpPr>
            <a:spLocks xmlns:a="http://schemas.openxmlformats.org/drawingml/2006/main" noGrp="1"/>
          </p:cNvSpPr>
          <p:nvPr/>
        </p:nvSpPr>
        <p:spPr>
          <a:xfrm xmlns:a="http://schemas.openxmlformats.org/drawingml/2006/main">
            <a:off x="6696075" y="198120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3F6B"/>
            </a:solidFill>
            <a:prstDash val="solid"/>
          </a:ln>
        </p:spPr>
      </p:sp>
      <p:sp>
        <p:nvSpPr>
          <p:cNvPr id="9" name="">
            <a:extLst xmlns:a="http://schemas.openxmlformats.org/drawingml/2006/main">
              <a:ext uri="{FF2B5EF4-FFF2-40B4-BE49-F238E27FC236}">
                <a16:creationId xmlns:a16="http://schemas.microsoft.com/office/drawing/2014/main" id="{6C54E9A5-1288-4D0D-8F6F-F450821CACDE}"/>
              </a:ext>
            </a:extLst>
          </p:cNvPr>
          <p:cNvSpPr>
            <a:spLocks xmlns:a="http://schemas.openxmlformats.org/drawingml/2006/main" noGrp="1"/>
          </p:cNvSpPr>
          <p:nvPr/>
        </p:nvSpPr>
        <p:spPr>
          <a:xfrm xmlns:a="http://schemas.openxmlformats.org/drawingml/2006/main">
            <a:off x="6829425" y="2124075"/>
            <a:ext cx="4000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0E8C4609-3F8B-4075-8AAE-835CA2DCB6A6}"/>
              </a:ext>
            </a:extLst>
          </p:cNvPr>
          <p:cNvSpPr>
            <a:spLocks xmlns:a="http://schemas.openxmlformats.org/drawingml/2006/main" noGrp="1"/>
          </p:cNvSpPr>
          <p:nvPr/>
        </p:nvSpPr>
        <p:spPr>
          <a:xfrm xmlns:a="http://schemas.openxmlformats.org/drawingml/2006/main">
            <a:off x="6829425" y="21050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11" name="">
            <a:extLst xmlns:a="http://schemas.openxmlformats.org/drawingml/2006/main">
              <a:ext uri="{FF2B5EF4-FFF2-40B4-BE49-F238E27FC236}">
                <a16:creationId xmlns:a16="http://schemas.microsoft.com/office/drawing/2014/main" id="{6423E27F-766E-4018-86D3-1ACB6F9C8FF1}"/>
              </a:ext>
            </a:extLst>
          </p:cNvPr>
          <p:cNvSpPr>
            <a:spLocks xmlns:a="http://schemas.openxmlformats.org/drawingml/2006/main" noGrp="1"/>
          </p:cNvSpPr>
          <p:nvPr/>
        </p:nvSpPr>
        <p:spPr>
          <a:xfrm xmlns:a="http://schemas.openxmlformats.org/drawingml/2006/main">
            <a:off x="7362825" y="207645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Klageschrift, Klageerwiderung und Beweisangebot einordnen.</a:t>
            </a:r>
          </a:p>
        </p:txBody>
      </p:sp>
      <p:sp>
        <p:nvSpPr>
          <p:cNvPr id="12" name="">
            <a:extLst xmlns:a="http://schemas.openxmlformats.org/drawingml/2006/main">
              <a:ext uri="{FF2B5EF4-FFF2-40B4-BE49-F238E27FC236}">
                <a16:creationId xmlns:a16="http://schemas.microsoft.com/office/drawing/2014/main" id="{A51355BD-9671-4D40-98DB-7761579DF299}"/>
              </a:ext>
            </a:extLst>
          </p:cNvPr>
          <p:cNvSpPr>
            <a:spLocks xmlns:a="http://schemas.openxmlformats.org/drawingml/2006/main" noGrp="1"/>
          </p:cNvSpPr>
          <p:nvPr/>
        </p:nvSpPr>
        <p:spPr>
          <a:xfrm xmlns:a="http://schemas.openxmlformats.org/drawingml/2006/main">
            <a:off x="1809750" y="316865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B2BB"/>
            </a:solidFill>
            <a:prstDash val="solid"/>
          </a:ln>
        </p:spPr>
      </p:sp>
      <p:sp>
        <p:nvSpPr>
          <p:cNvPr id="13" name="">
            <a:extLst xmlns:a="http://schemas.openxmlformats.org/drawingml/2006/main">
              <a:ext uri="{FF2B5EF4-FFF2-40B4-BE49-F238E27FC236}">
                <a16:creationId xmlns:a16="http://schemas.microsoft.com/office/drawing/2014/main" id="{40D3FD92-05BB-48E4-9164-FACA206E6BF1}"/>
              </a:ext>
            </a:extLst>
          </p:cNvPr>
          <p:cNvSpPr>
            <a:spLocks xmlns:a="http://schemas.openxmlformats.org/drawingml/2006/main" noGrp="1"/>
          </p:cNvSpPr>
          <p:nvPr/>
        </p:nvSpPr>
        <p:spPr>
          <a:xfrm xmlns:a="http://schemas.openxmlformats.org/drawingml/2006/main">
            <a:off x="1943100" y="3311525"/>
            <a:ext cx="40005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EC0E7405-5C0C-4D12-AA24-6656AB3036D4}"/>
              </a:ext>
            </a:extLst>
          </p:cNvPr>
          <p:cNvSpPr>
            <a:spLocks xmlns:a="http://schemas.openxmlformats.org/drawingml/2006/main" noGrp="1"/>
          </p:cNvSpPr>
          <p:nvPr/>
        </p:nvSpPr>
        <p:spPr>
          <a:xfrm xmlns:a="http://schemas.openxmlformats.org/drawingml/2006/main">
            <a:off x="1943100" y="32924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15" name="">
            <a:extLst xmlns:a="http://schemas.openxmlformats.org/drawingml/2006/main">
              <a:ext uri="{FF2B5EF4-FFF2-40B4-BE49-F238E27FC236}">
                <a16:creationId xmlns:a16="http://schemas.microsoft.com/office/drawing/2014/main" id="{70DA8EBB-DD04-4D0A-9092-7E09821DE877}"/>
              </a:ext>
            </a:extLst>
          </p:cNvPr>
          <p:cNvSpPr>
            <a:spLocks xmlns:a="http://schemas.openxmlformats.org/drawingml/2006/main" noGrp="1"/>
          </p:cNvSpPr>
          <p:nvPr/>
        </p:nvSpPr>
        <p:spPr>
          <a:xfrm xmlns:a="http://schemas.openxmlformats.org/drawingml/2006/main">
            <a:off x="2476500" y="326390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Darlegungs- und Beweislast praktisch anwenden.</a:t>
            </a:r>
          </a:p>
        </p:txBody>
      </p:sp>
      <p:sp>
        <p:nvSpPr>
          <p:cNvPr id="16" name="">
            <a:extLst xmlns:a="http://schemas.openxmlformats.org/drawingml/2006/main">
              <a:ext uri="{FF2B5EF4-FFF2-40B4-BE49-F238E27FC236}">
                <a16:creationId xmlns:a16="http://schemas.microsoft.com/office/drawing/2014/main" id="{86F9BF18-572D-479F-9BCD-731FA821B3D2}"/>
              </a:ext>
            </a:extLst>
          </p:cNvPr>
          <p:cNvSpPr>
            <a:spLocks xmlns:a="http://schemas.openxmlformats.org/drawingml/2006/main" noGrp="1"/>
          </p:cNvSpPr>
          <p:nvPr/>
        </p:nvSpPr>
        <p:spPr>
          <a:xfrm xmlns:a="http://schemas.openxmlformats.org/drawingml/2006/main">
            <a:off x="6696075" y="316865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3F6B"/>
            </a:solidFill>
            <a:prstDash val="solid"/>
          </a:ln>
        </p:spPr>
      </p:sp>
      <p:sp>
        <p:nvSpPr>
          <p:cNvPr id="17" name="">
            <a:extLst xmlns:a="http://schemas.openxmlformats.org/drawingml/2006/main">
              <a:ext uri="{FF2B5EF4-FFF2-40B4-BE49-F238E27FC236}">
                <a16:creationId xmlns:a16="http://schemas.microsoft.com/office/drawing/2014/main" id="{20846F48-F356-4035-B7C4-64464F512D5F}"/>
              </a:ext>
            </a:extLst>
          </p:cNvPr>
          <p:cNvSpPr>
            <a:spLocks xmlns:a="http://schemas.openxmlformats.org/drawingml/2006/main" noGrp="1"/>
          </p:cNvSpPr>
          <p:nvPr/>
        </p:nvSpPr>
        <p:spPr>
          <a:xfrm xmlns:a="http://schemas.openxmlformats.org/drawingml/2006/main">
            <a:off x="6829425" y="3311525"/>
            <a:ext cx="4000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AB4F42A4-561F-45E8-8FCC-A2B8D176BE59}"/>
              </a:ext>
            </a:extLst>
          </p:cNvPr>
          <p:cNvSpPr>
            <a:spLocks xmlns:a="http://schemas.openxmlformats.org/drawingml/2006/main" noGrp="1"/>
          </p:cNvSpPr>
          <p:nvPr/>
        </p:nvSpPr>
        <p:spPr>
          <a:xfrm xmlns:a="http://schemas.openxmlformats.org/drawingml/2006/main">
            <a:off x="6829425" y="32924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19" name="">
            <a:extLst xmlns:a="http://schemas.openxmlformats.org/drawingml/2006/main">
              <a:ext uri="{FF2B5EF4-FFF2-40B4-BE49-F238E27FC236}">
                <a16:creationId xmlns:a16="http://schemas.microsoft.com/office/drawing/2014/main" id="{5BBD95C8-8B00-457B-A5B4-C394310736DE}"/>
              </a:ext>
            </a:extLst>
          </p:cNvPr>
          <p:cNvSpPr>
            <a:spLocks xmlns:a="http://schemas.openxmlformats.org/drawingml/2006/main" noGrp="1"/>
          </p:cNvSpPr>
          <p:nvPr/>
        </p:nvSpPr>
        <p:spPr>
          <a:xfrm xmlns:a="http://schemas.openxmlformats.org/drawingml/2006/main">
            <a:off x="7362825" y="326390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Güteverhandlung, Beweisaufnahme und Vergleich unterscheiden.</a:t>
            </a:r>
          </a:p>
        </p:txBody>
      </p:sp>
      <p:sp>
        <p:nvSpPr>
          <p:cNvPr id="20" name="">
            <a:extLst xmlns:a="http://schemas.openxmlformats.org/drawingml/2006/main">
              <a:ext uri="{FF2B5EF4-FFF2-40B4-BE49-F238E27FC236}">
                <a16:creationId xmlns:a16="http://schemas.microsoft.com/office/drawing/2014/main" id="{FD8642B0-7EFE-4DFE-898A-A5401C2172B1}"/>
              </a:ext>
            </a:extLst>
          </p:cNvPr>
          <p:cNvSpPr>
            <a:spLocks xmlns:a="http://schemas.openxmlformats.org/drawingml/2006/main" noGrp="1"/>
          </p:cNvSpPr>
          <p:nvPr/>
        </p:nvSpPr>
        <p:spPr>
          <a:xfrm xmlns:a="http://schemas.openxmlformats.org/drawingml/2006/main">
            <a:off x="1809750" y="435610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B2BB"/>
            </a:solidFill>
            <a:prstDash val="solid"/>
          </a:ln>
        </p:spPr>
      </p:sp>
      <p:sp>
        <p:nvSpPr>
          <p:cNvPr id="21" name="">
            <a:extLst xmlns:a="http://schemas.openxmlformats.org/drawingml/2006/main">
              <a:ext uri="{FF2B5EF4-FFF2-40B4-BE49-F238E27FC236}">
                <a16:creationId xmlns:a16="http://schemas.microsoft.com/office/drawing/2014/main" id="{FA299934-C284-48AF-A8CD-D638F88ABF2B}"/>
              </a:ext>
            </a:extLst>
          </p:cNvPr>
          <p:cNvSpPr>
            <a:spLocks xmlns:a="http://schemas.openxmlformats.org/drawingml/2006/main" noGrp="1"/>
          </p:cNvSpPr>
          <p:nvPr/>
        </p:nvSpPr>
        <p:spPr>
          <a:xfrm xmlns:a="http://schemas.openxmlformats.org/drawingml/2006/main">
            <a:off x="1943100" y="4498975"/>
            <a:ext cx="40005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2" name="">
            <a:extLst xmlns:a="http://schemas.openxmlformats.org/drawingml/2006/main">
              <a:ext uri="{FF2B5EF4-FFF2-40B4-BE49-F238E27FC236}">
                <a16:creationId xmlns:a16="http://schemas.microsoft.com/office/drawing/2014/main" id="{27743E62-B15F-44F6-866E-D7B5C79B0C30}"/>
              </a:ext>
            </a:extLst>
          </p:cNvPr>
          <p:cNvSpPr>
            <a:spLocks xmlns:a="http://schemas.openxmlformats.org/drawingml/2006/main" noGrp="1"/>
          </p:cNvSpPr>
          <p:nvPr/>
        </p:nvSpPr>
        <p:spPr>
          <a:xfrm xmlns:a="http://schemas.openxmlformats.org/drawingml/2006/main">
            <a:off x="1943100" y="44799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23" name="">
            <a:extLst xmlns:a="http://schemas.openxmlformats.org/drawingml/2006/main">
              <a:ext uri="{FF2B5EF4-FFF2-40B4-BE49-F238E27FC236}">
                <a16:creationId xmlns:a16="http://schemas.microsoft.com/office/drawing/2014/main" id="{74E7AE6C-D0CF-46A8-A20C-F4941B00019C}"/>
              </a:ext>
            </a:extLst>
          </p:cNvPr>
          <p:cNvSpPr>
            <a:spLocks xmlns:a="http://schemas.openxmlformats.org/drawingml/2006/main" noGrp="1"/>
          </p:cNvSpPr>
          <p:nvPr/>
        </p:nvSpPr>
        <p:spPr>
          <a:xfrm xmlns:a="http://schemas.openxmlformats.org/drawingml/2006/main">
            <a:off x="2476500" y="445135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Kosten-, Rechtsmittel- und Vollstreckungsrisiken benennen.</a:t>
            </a:r>
          </a:p>
        </p:txBody>
      </p:sp>
      <p:sp>
        <p:nvSpPr>
          <p:cNvPr id="24" name="">
            <a:extLst xmlns:a="http://schemas.openxmlformats.org/drawingml/2006/main">
              <a:ext uri="{FF2B5EF4-FFF2-40B4-BE49-F238E27FC236}">
                <a16:creationId xmlns:a16="http://schemas.microsoft.com/office/drawing/2014/main" id="{0CF9BEA1-7F8A-480E-8944-C71207AB8FEF}"/>
              </a:ext>
            </a:extLst>
          </p:cNvPr>
          <p:cNvSpPr>
            <a:spLocks xmlns:a="http://schemas.openxmlformats.org/drawingml/2006/main" noGrp="1"/>
          </p:cNvSpPr>
          <p:nvPr/>
        </p:nvSpPr>
        <p:spPr>
          <a:xfrm xmlns:a="http://schemas.openxmlformats.org/drawingml/2006/main">
            <a:off x="6696075" y="435610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3F6B"/>
            </a:solidFill>
            <a:prstDash val="solid"/>
          </a:ln>
        </p:spPr>
      </p:sp>
      <p:sp>
        <p:nvSpPr>
          <p:cNvPr id="25" name="">
            <a:extLst xmlns:a="http://schemas.openxmlformats.org/drawingml/2006/main">
              <a:ext uri="{FF2B5EF4-FFF2-40B4-BE49-F238E27FC236}">
                <a16:creationId xmlns:a16="http://schemas.microsoft.com/office/drawing/2014/main" id="{788A8407-680F-4CF3-9540-D552E5FFEA17}"/>
              </a:ext>
            </a:extLst>
          </p:cNvPr>
          <p:cNvSpPr>
            <a:spLocks xmlns:a="http://schemas.openxmlformats.org/drawingml/2006/main" noGrp="1"/>
          </p:cNvSpPr>
          <p:nvPr/>
        </p:nvSpPr>
        <p:spPr>
          <a:xfrm xmlns:a="http://schemas.openxmlformats.org/drawingml/2006/main">
            <a:off x="6829425" y="4498975"/>
            <a:ext cx="4000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26" name="">
            <a:extLst xmlns:a="http://schemas.openxmlformats.org/drawingml/2006/main">
              <a:ext uri="{FF2B5EF4-FFF2-40B4-BE49-F238E27FC236}">
                <a16:creationId xmlns:a16="http://schemas.microsoft.com/office/drawing/2014/main" id="{97C0E0C1-87C4-404C-BE9C-A6C39BF39DB9}"/>
              </a:ext>
            </a:extLst>
          </p:cNvPr>
          <p:cNvSpPr>
            <a:spLocks xmlns:a="http://schemas.openxmlformats.org/drawingml/2006/main" noGrp="1"/>
          </p:cNvSpPr>
          <p:nvPr/>
        </p:nvSpPr>
        <p:spPr>
          <a:xfrm xmlns:a="http://schemas.openxmlformats.org/drawingml/2006/main">
            <a:off x="6829425" y="44799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27" name="">
            <a:extLst xmlns:a="http://schemas.openxmlformats.org/drawingml/2006/main">
              <a:ext uri="{FF2B5EF4-FFF2-40B4-BE49-F238E27FC236}">
                <a16:creationId xmlns:a16="http://schemas.microsoft.com/office/drawing/2014/main" id="{3E61B948-206F-495D-BD7D-1DAED962800A}"/>
              </a:ext>
            </a:extLst>
          </p:cNvPr>
          <p:cNvSpPr>
            <a:spLocks xmlns:a="http://schemas.openxmlformats.org/drawingml/2006/main" noGrp="1"/>
          </p:cNvSpPr>
          <p:nvPr/>
        </p:nvSpPr>
        <p:spPr>
          <a:xfrm xmlns:a="http://schemas.openxmlformats.org/drawingml/2006/main">
            <a:off x="7362825" y="445135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den Gerichtsbesuch mit einer Beobachtungsmatrix vorbereiten.</a:t>
            </a:r>
          </a:p>
        </p:txBody>
      </p:sp>
      <p:sp>
        <p:nvSpPr>
          <p:cNvPr id="28" name="">
            <a:extLst xmlns:a="http://schemas.openxmlformats.org/drawingml/2006/main">
              <a:ext uri="{FF2B5EF4-FFF2-40B4-BE49-F238E27FC236}">
                <a16:creationId xmlns:a16="http://schemas.microsoft.com/office/drawing/2014/main" id="{D1EEEF26-FDAA-429A-BE6C-69A92FEA8F44}"/>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638">
                <a:solidFill>
                  <a:srgbClr val="667680"/>
                </a:solidFill>
              </a:defRPr>
            </a:pPr>
            <a:r>
              <a:rPr sz="638">
                <a:solidFill>
                  <a:srgbClr val="667680"/>
                </a:solidFill>
              </a:rPr>
              <a:t>Lernziele aus Seminarbeschreibung und Vorlesungsstruktur abgeleitet · https://elearning.uni-oldenburg.de/dispatch.php/course/details/index/64fffee6d869d134c6683909368deed9?cancel_login=1</a:t>
            </a:r>
          </a:p>
        </p:txBody>
      </p:sp>
    </p:spTree>
    <p:extLst>
      <p:ext uri="{BB962C8B-B14F-4D97-AF65-F5344CB8AC3E}">
        <p14:creationId xmlns:p14="http://schemas.microsoft.com/office/powerpoint/2010/main" val="43637646"/>
      </p:ext>
    </p:extLst>
  </p:cSld>
</p:sld>
</file>

<file path=ppt/slides/slide180.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Leitentscheidung · Verfahrensrecht ist kein Aktenautomat</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ORIGINALENTSCHEIDUNG · TERMIN 07</a:t>
            </a:r>
            <a:endParaRPr/>
          </a:p>
        </p:txBody>
      </p:sp>
      <p:sp>
        <p:nvSpPr>
          <p:cNvPr id="4" name="">
            <a:extLst xmlns:a="http://schemas.openxmlformats.org/drawingml/2006/main">
              <a:ext uri="{FF2B5EF4-FFF2-40B4-BE49-F238E27FC236}">
                <a16:creationId xmlns:a16="http://schemas.microsoft.com/office/drawing/2014/main" id="{4ABA7A0F-7417-4587-B0D6-82270612CD60}"/>
              </a:ext>
            </a:extLst>
          </p:cNvPr>
          <p:cNvSpPr>
            <a:spLocks xmlns:a="http://schemas.openxmlformats.org/drawingml/2006/main" noGrp="1"/>
          </p:cNvSpPr>
          <p:nvPr/>
        </p:nvSpPr>
        <p:spPr>
          <a:xfrm xmlns:a="http://schemas.openxmlformats.org/drawingml/2006/main">
            <a:off x="1809750" y="1943100"/>
            <a:ext cx="11239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D996AE4C-6676-40D4-91E2-735625C1687F}"/>
              </a:ext>
            </a:extLst>
          </p:cNvPr>
          <p:cNvSpPr>
            <a:spLocks xmlns:a="http://schemas.openxmlformats.org/drawingml/2006/main" noGrp="1"/>
          </p:cNvSpPr>
          <p:nvPr/>
        </p:nvSpPr>
        <p:spPr>
          <a:xfrm xmlns:a="http://schemas.openxmlformats.org/drawingml/2006/main">
            <a:off x="1809750" y="1943100"/>
            <a:ext cx="1123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38" b="1">
                <a:solidFill>
                  <a:srgbClr val="FFFFFF"/>
                </a:solidFill>
              </a:defRPr>
            </a:pPr>
            <a:r>
              <a:rPr sz="938" b="1">
                <a:solidFill>
                  <a:srgbClr val="FFFFFF"/>
                </a:solidFill>
              </a:rPr>
              <a:t>BGH</a:t>
            </a:r>
          </a:p>
        </p:txBody>
      </p:sp>
      <p:sp>
        <p:nvSpPr>
          <p:cNvPr id="6" name="">
            <a:extLst xmlns:a="http://schemas.openxmlformats.org/drawingml/2006/main">
              <a:ext uri="{FF2B5EF4-FFF2-40B4-BE49-F238E27FC236}">
                <a16:creationId xmlns:a16="http://schemas.microsoft.com/office/drawing/2014/main" id="{CD6F230A-37C7-44A3-B994-18468882496B}"/>
              </a:ext>
            </a:extLst>
          </p:cNvPr>
          <p:cNvSpPr>
            <a:spLocks xmlns:a="http://schemas.openxmlformats.org/drawingml/2006/main" noGrp="1"/>
          </p:cNvSpPr>
          <p:nvPr/>
        </p:nvSpPr>
        <p:spPr>
          <a:xfrm xmlns:a="http://schemas.openxmlformats.org/drawingml/2006/main">
            <a:off x="312420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07.05.2019 · VI ZR 257/17</a:t>
            </a:r>
          </a:p>
        </p:txBody>
      </p:sp>
      <p:sp>
        <p:nvSpPr>
          <p:cNvPr id="7" name="">
            <a:extLst xmlns:a="http://schemas.openxmlformats.org/drawingml/2006/main">
              <a:ext uri="{FF2B5EF4-FFF2-40B4-BE49-F238E27FC236}">
                <a16:creationId xmlns:a16="http://schemas.microsoft.com/office/drawing/2014/main" id="{025C5A2F-920F-4799-8A39-3734B6963FC4}"/>
              </a:ext>
            </a:extLst>
          </p:cNvPr>
          <p:cNvSpPr>
            <a:spLocks xmlns:a="http://schemas.openxmlformats.org/drawingml/2006/main" noGrp="1"/>
          </p:cNvSpPr>
          <p:nvPr/>
        </p:nvSpPr>
        <p:spPr>
          <a:xfrm xmlns:a="http://schemas.openxmlformats.org/drawingml/2006/main">
            <a:off x="733425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050">
                <a:solidFill>
                  <a:srgbClr val="667680"/>
                </a:solidFill>
              </a:defRPr>
            </a:pPr>
            <a:r>
              <a:rPr sz="1050">
                <a:solidFill>
                  <a:srgbClr val="667680"/>
                </a:solidFill>
              </a:rPr>
              <a:t>Vom Vortrag zur mündlichen Beweisaufnahme</a:t>
            </a:r>
          </a:p>
        </p:txBody>
      </p:sp>
      <p:sp>
        <p:nvSpPr>
          <p:cNvPr id="8" name="">
            <a:extLst xmlns:a="http://schemas.openxmlformats.org/drawingml/2006/main">
              <a:ext uri="{FF2B5EF4-FFF2-40B4-BE49-F238E27FC236}">
                <a16:creationId xmlns:a16="http://schemas.microsoft.com/office/drawing/2014/main" id="{F1F1C4AC-6A72-4EE7-AE26-DAC0D112716D}"/>
              </a:ext>
            </a:extLst>
          </p:cNvPr>
          <p:cNvSpPr>
            <a:spLocks xmlns:a="http://schemas.openxmlformats.org/drawingml/2006/main" noGrp="1"/>
          </p:cNvSpPr>
          <p:nvPr/>
        </p:nvSpPr>
        <p:spPr>
          <a:xfrm xmlns:a="http://schemas.openxmlformats.org/drawingml/2006/main">
            <a:off x="1809750" y="2533650"/>
            <a:ext cx="1676400" cy="781050"/>
          </a:xfrm>
          <a:prstGeom xmlns:a="http://schemas.openxmlformats.org/drawingml/2006/main" prst="roundRect">
            <a:avLst>
              <a:gd name="adj" fmla="val 9756"/>
            </a:avLst>
          </a:prstGeom>
          <a:solidFill xmlns:a="http://schemas.openxmlformats.org/drawingml/2006/main">
            <a:srgbClr val="00B2BB"/>
          </a:solidFill>
          <a:ln xmlns:a="http://schemas.openxmlformats.org/drawingml/2006/main" w="0">
            <a:solidFill>
              <a:srgbClr val="00B2BB"/>
            </a:solidFill>
            <a:prstDash val="solid"/>
          </a:ln>
        </p:spPr>
      </p:sp>
      <p:sp>
        <p:nvSpPr>
          <p:cNvPr id="9" name="">
            <a:extLst xmlns:a="http://schemas.openxmlformats.org/drawingml/2006/main">
              <a:ext uri="{FF2B5EF4-FFF2-40B4-BE49-F238E27FC236}">
                <a16:creationId xmlns:a16="http://schemas.microsoft.com/office/drawing/2014/main" id="{D4730AD4-73A9-484B-88FD-1498F7BE1663}"/>
              </a:ext>
            </a:extLst>
          </p:cNvPr>
          <p:cNvSpPr>
            <a:spLocks xmlns:a="http://schemas.openxmlformats.org/drawingml/2006/main" noGrp="1"/>
          </p:cNvSpPr>
          <p:nvPr/>
        </p:nvSpPr>
        <p:spPr>
          <a:xfrm xmlns:a="http://schemas.openxmlformats.org/drawingml/2006/main">
            <a:off x="1924050" y="25336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Ausgangsfall</a:t>
            </a:r>
          </a:p>
        </p:txBody>
      </p:sp>
      <p:sp>
        <p:nvSpPr>
          <p:cNvPr id="10" name="">
            <a:extLst xmlns:a="http://schemas.openxmlformats.org/drawingml/2006/main">
              <a:ext uri="{FF2B5EF4-FFF2-40B4-BE49-F238E27FC236}">
                <a16:creationId xmlns:a16="http://schemas.microsoft.com/office/drawing/2014/main" id="{22298C46-88F3-4A2B-8EC6-9E0AD7F281D3}"/>
              </a:ext>
            </a:extLst>
          </p:cNvPr>
          <p:cNvSpPr>
            <a:spLocks xmlns:a="http://schemas.openxmlformats.org/drawingml/2006/main" noGrp="1"/>
          </p:cNvSpPr>
          <p:nvPr/>
        </p:nvSpPr>
        <p:spPr>
          <a:xfrm xmlns:a="http://schemas.openxmlformats.org/drawingml/2006/main">
            <a:off x="3695700" y="25336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Das Gericht wollte auf Grundlage des schriftlichen Gutachtens entscheiden, obwohl eine Partei die Anhörung des Sachverständigen und konkrete Rückfragen beantragt hatte.</a:t>
            </a:r>
          </a:p>
        </p:txBody>
      </p:sp>
      <p:sp>
        <p:nvSpPr>
          <p:cNvPr id="11" name="">
            <a:extLst xmlns:a="http://schemas.openxmlformats.org/drawingml/2006/main">
              <a:ext uri="{FF2B5EF4-FFF2-40B4-BE49-F238E27FC236}">
                <a16:creationId xmlns:a16="http://schemas.microsoft.com/office/drawing/2014/main" id="{0CB6806E-6DD5-4B3A-A28C-3B98ADAED282}"/>
              </a:ext>
            </a:extLst>
          </p:cNvPr>
          <p:cNvSpPr>
            <a:spLocks xmlns:a="http://schemas.openxmlformats.org/drawingml/2006/main" noGrp="1"/>
          </p:cNvSpPr>
          <p:nvPr/>
        </p:nvSpPr>
        <p:spPr>
          <a:xfrm xmlns:a="http://schemas.openxmlformats.org/drawingml/2006/main">
            <a:off x="1809750" y="3486150"/>
            <a:ext cx="1676400" cy="781050"/>
          </a:xfrm>
          <a:prstGeom xmlns:a="http://schemas.openxmlformats.org/drawingml/2006/main" prst="roundRect">
            <a:avLst>
              <a:gd name="adj" fmla="val 9756"/>
            </a:avLst>
          </a:prstGeom>
          <a:solidFill xmlns:a="http://schemas.openxmlformats.org/drawingml/2006/main">
            <a:srgbClr val="003F6B"/>
          </a:solidFill>
          <a:ln xmlns:a="http://schemas.openxmlformats.org/drawingml/2006/main" w="0">
            <a:solidFill>
              <a:srgbClr val="003F6B"/>
            </a:solidFill>
            <a:prstDash val="solid"/>
          </a:ln>
        </p:spPr>
      </p:sp>
      <p:sp>
        <p:nvSpPr>
          <p:cNvPr id="12" name="">
            <a:extLst xmlns:a="http://schemas.openxmlformats.org/drawingml/2006/main">
              <a:ext uri="{FF2B5EF4-FFF2-40B4-BE49-F238E27FC236}">
                <a16:creationId xmlns:a16="http://schemas.microsoft.com/office/drawing/2014/main" id="{E2367B52-7186-423E-8141-E2A55CC1002A}"/>
              </a:ext>
            </a:extLst>
          </p:cNvPr>
          <p:cNvSpPr>
            <a:spLocks xmlns:a="http://schemas.openxmlformats.org/drawingml/2006/main" noGrp="1"/>
          </p:cNvSpPr>
          <p:nvPr/>
        </p:nvSpPr>
        <p:spPr>
          <a:xfrm xmlns:a="http://schemas.openxmlformats.org/drawingml/2006/main">
            <a:off x="1924050" y="34861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Leitsatzkern</a:t>
            </a:r>
          </a:p>
        </p:txBody>
      </p:sp>
      <p:sp>
        <p:nvSpPr>
          <p:cNvPr id="13" name="">
            <a:extLst xmlns:a="http://schemas.openxmlformats.org/drawingml/2006/main">
              <a:ext uri="{FF2B5EF4-FFF2-40B4-BE49-F238E27FC236}">
                <a16:creationId xmlns:a16="http://schemas.microsoft.com/office/drawing/2014/main" id="{93F601CF-A3FB-4E52-AD24-03E975D7579C}"/>
              </a:ext>
            </a:extLst>
          </p:cNvPr>
          <p:cNvSpPr>
            <a:spLocks xmlns:a="http://schemas.openxmlformats.org/drawingml/2006/main" noGrp="1"/>
          </p:cNvSpPr>
          <p:nvPr/>
        </p:nvSpPr>
        <p:spPr>
          <a:xfrm xmlns:a="http://schemas.openxmlformats.org/drawingml/2006/main">
            <a:off x="3695700" y="34861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Leitsatzkern (paraphrasiert): Art. 103 Abs. 1 GG und §§ 397, 402 ZPO sichern das konkrete Fragerecht. Prozessökonomie rechtfertigt nicht, ordnungsgemäße Fragen zu übergehen.</a:t>
            </a:r>
          </a:p>
        </p:txBody>
      </p:sp>
      <p:sp>
        <p:nvSpPr>
          <p:cNvPr id="14" name="">
            <a:extLst xmlns:a="http://schemas.openxmlformats.org/drawingml/2006/main">
              <a:ext uri="{FF2B5EF4-FFF2-40B4-BE49-F238E27FC236}">
                <a16:creationId xmlns:a16="http://schemas.microsoft.com/office/drawing/2014/main" id="{9C136046-1DBC-4EB2-B991-1359038E7EAB}"/>
              </a:ext>
            </a:extLst>
          </p:cNvPr>
          <p:cNvSpPr>
            <a:spLocks xmlns:a="http://schemas.openxmlformats.org/drawingml/2006/main" noGrp="1"/>
          </p:cNvSpPr>
          <p:nvPr/>
        </p:nvSpPr>
        <p:spPr>
          <a:xfrm xmlns:a="http://schemas.openxmlformats.org/drawingml/2006/main">
            <a:off x="1809750" y="4438650"/>
            <a:ext cx="1676400" cy="781050"/>
          </a:xfrm>
          <a:prstGeom xmlns:a="http://schemas.openxmlformats.org/drawingml/2006/main" prst="roundRect">
            <a:avLst>
              <a:gd name="adj" fmla="val 9756"/>
            </a:avLst>
          </a:prstGeom>
          <a:solidFill xmlns:a="http://schemas.openxmlformats.org/drawingml/2006/main">
            <a:srgbClr val="00B2BB"/>
          </a:solidFill>
          <a:ln xmlns:a="http://schemas.openxmlformats.org/drawingml/2006/main" w="0">
            <a:solidFill>
              <a:srgbClr val="00B2BB"/>
            </a:solidFill>
            <a:prstDash val="solid"/>
          </a:ln>
        </p:spPr>
      </p:sp>
      <p:sp>
        <p:nvSpPr>
          <p:cNvPr id="15" name="">
            <a:extLst xmlns:a="http://schemas.openxmlformats.org/drawingml/2006/main">
              <a:ext uri="{FF2B5EF4-FFF2-40B4-BE49-F238E27FC236}">
                <a16:creationId xmlns:a16="http://schemas.microsoft.com/office/drawing/2014/main" id="{B49EFA2B-75FF-435E-9FB5-FD5B808165BE}"/>
              </a:ext>
            </a:extLst>
          </p:cNvPr>
          <p:cNvSpPr>
            <a:spLocks xmlns:a="http://schemas.openxmlformats.org/drawingml/2006/main" noGrp="1"/>
          </p:cNvSpPr>
          <p:nvPr/>
        </p:nvSpPr>
        <p:spPr>
          <a:xfrm xmlns:a="http://schemas.openxmlformats.org/drawingml/2006/main">
            <a:off x="1924050" y="44386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Für die Praxis</a:t>
            </a:r>
          </a:p>
        </p:txBody>
      </p:sp>
      <p:sp>
        <p:nvSpPr>
          <p:cNvPr id="16" name="">
            <a:extLst xmlns:a="http://schemas.openxmlformats.org/drawingml/2006/main">
              <a:ext uri="{FF2B5EF4-FFF2-40B4-BE49-F238E27FC236}">
                <a16:creationId xmlns:a16="http://schemas.microsoft.com/office/drawing/2014/main" id="{E7CD6F65-59DA-463C-B855-6C5227670036}"/>
              </a:ext>
            </a:extLst>
          </p:cNvPr>
          <p:cNvSpPr>
            <a:spLocks xmlns:a="http://schemas.openxmlformats.org/drawingml/2006/main" noGrp="1"/>
          </p:cNvSpPr>
          <p:nvPr/>
        </p:nvSpPr>
        <p:spPr>
          <a:xfrm xmlns:a="http://schemas.openxmlformats.org/drawingml/2006/main">
            <a:off x="3695700" y="44386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Klage, Erwiderung, Beweisbeschluss, Gutachten, Anhörung, Urteil und Rechtsmittel als zusammenhängende Entscheidungskette lesen.</a:t>
            </a:r>
          </a:p>
        </p:txBody>
      </p:sp>
      <p:sp>
        <p:nvSpPr>
          <p:cNvPr id="17" name="">
            <a:extLst xmlns:a="http://schemas.openxmlformats.org/drawingml/2006/main">
              <a:ext uri="{FF2B5EF4-FFF2-40B4-BE49-F238E27FC236}">
                <a16:creationId xmlns:a16="http://schemas.microsoft.com/office/drawing/2014/main" id="{798D5A50-8906-46AF-AEEB-B0448B096B67}"/>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638">
                <a:solidFill>
                  <a:srgbClr val="667680"/>
                </a:solidFill>
              </a:defRPr>
            </a:pPr>
            <a:r>
              <a:rPr sz="638">
                <a:solidFill>
                  <a:srgbClr val="667680"/>
                </a:solidFill>
              </a:rPr>
              <a:t>BGH, Beschl. v. 07.05.2019 – VI ZR 257/17 · https://juris.bundesgerichtshof.de/cgi-bin/bgh_notp/document.py?Art=en&amp;Blank=1&amp;Datum=2019-5&amp;Gericht=bgh&amp;Seite=2&amp;Sort=3074&amp;anz=208&amp;nr=56246&amp;pos=75</a:t>
            </a:r>
          </a:p>
        </p:txBody>
      </p:sp>
    </p:spTree>
    <p:extLst>
      <p:ext uri="{BB962C8B-B14F-4D97-AF65-F5344CB8AC3E}">
        <p14:creationId xmlns:p14="http://schemas.microsoft.com/office/powerpoint/2010/main" val="43637646"/>
      </p:ext>
    </p:extLst>
  </p:cSld>
</p:sld>
</file>

<file path=ppt/slides/slide181.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Klage und Vergleich im Wortlaut</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GESETZESTEXT · GEKÜRZTER LEHRAUSZUG</a:t>
            </a:r>
            <a:endParaRPr/>
          </a:p>
        </p:txBody>
      </p:sp>
      <p:sp>
        <p:nvSpPr>
          <p:cNvPr id="4" name="">
            <a:extLst xmlns:a="http://schemas.openxmlformats.org/drawingml/2006/main">
              <a:ext uri="{FF2B5EF4-FFF2-40B4-BE49-F238E27FC236}">
                <a16:creationId xmlns:a16="http://schemas.microsoft.com/office/drawing/2014/main" id="{E4E3A78F-F67B-45D2-8594-B3C844BF958F}"/>
              </a:ext>
            </a:extLst>
          </p:cNvPr>
          <p:cNvSpPr>
            <a:spLocks xmlns:a="http://schemas.openxmlformats.org/drawingml/2006/main" noGrp="1"/>
          </p:cNvSpPr>
          <p:nvPr/>
        </p:nvSpPr>
        <p:spPr>
          <a:xfrm xmlns:a="http://schemas.openxmlformats.org/drawingml/2006/main">
            <a:off x="1809750" y="1943100"/>
            <a:ext cx="4648200" cy="3371850"/>
          </a:xfrm>
          <a:prstGeom xmlns:a="http://schemas.openxmlformats.org/drawingml/2006/main" prst="roundRect">
            <a:avLst>
              <a:gd name="adj" fmla="val 2260"/>
            </a:avLst>
          </a:prstGeom>
          <a:solidFill xmlns:a="http://schemas.openxmlformats.org/drawingml/2006/main">
            <a:srgbClr val="F3F7F9"/>
          </a:solidFill>
          <a:ln xmlns:a="http://schemas.openxmlformats.org/drawingml/2006/main" w="11430">
            <a:solidFill>
              <a:srgbClr val="00B2BB"/>
            </a:solidFill>
            <a:prstDash val="solid"/>
          </a:ln>
        </p:spPr>
      </p:sp>
      <p:sp>
        <p:nvSpPr>
          <p:cNvPr id="5" name="">
            <a:extLst xmlns:a="http://schemas.openxmlformats.org/drawingml/2006/main">
              <a:ext uri="{FF2B5EF4-FFF2-40B4-BE49-F238E27FC236}">
                <a16:creationId xmlns:a16="http://schemas.microsoft.com/office/drawing/2014/main" id="{1FBF2D9E-8793-4D4E-A9E8-18F428EDFA2D}"/>
              </a:ext>
            </a:extLst>
          </p:cNvPr>
          <p:cNvSpPr>
            <a:spLocks xmlns:a="http://schemas.openxmlformats.org/drawingml/2006/main" noGrp="1"/>
          </p:cNvSpPr>
          <p:nvPr/>
        </p:nvSpPr>
        <p:spPr>
          <a:xfrm xmlns:a="http://schemas.openxmlformats.org/drawingml/2006/main">
            <a:off x="1943100" y="2076450"/>
            <a:ext cx="1409700" cy="381000"/>
          </a:xfrm>
          <a:prstGeom xmlns:a="http://schemas.openxmlformats.org/drawingml/2006/main" prst="roundRect">
            <a:avLst>
              <a:gd name="adj" fmla="val 20000"/>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49FBAC35-C760-46FF-831C-E5EE9411FCB2}"/>
              </a:ext>
            </a:extLst>
          </p:cNvPr>
          <p:cNvSpPr>
            <a:spLocks xmlns:a="http://schemas.openxmlformats.org/drawingml/2006/main" noGrp="1"/>
          </p:cNvSpPr>
          <p:nvPr/>
        </p:nvSpPr>
        <p:spPr>
          <a:xfrm xmlns:a="http://schemas.openxmlformats.org/drawingml/2006/main">
            <a:off x="1943100" y="207645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 253 I, II ZPO</a:t>
            </a:r>
          </a:p>
        </p:txBody>
      </p:sp>
      <p:sp>
        <p:nvSpPr>
          <p:cNvPr id="7" name="">
            <a:extLst xmlns:a="http://schemas.openxmlformats.org/drawingml/2006/main">
              <a:ext uri="{FF2B5EF4-FFF2-40B4-BE49-F238E27FC236}">
                <a16:creationId xmlns:a16="http://schemas.microsoft.com/office/drawing/2014/main" id="{9C628277-58FA-4394-865E-B832A05B1DBC}"/>
              </a:ext>
            </a:extLst>
          </p:cNvPr>
          <p:cNvSpPr>
            <a:spLocks xmlns:a="http://schemas.openxmlformats.org/drawingml/2006/main" noGrp="1"/>
          </p:cNvSpPr>
          <p:nvPr/>
        </p:nvSpPr>
        <p:spPr>
          <a:xfrm xmlns:a="http://schemas.openxmlformats.org/drawingml/2006/main">
            <a:off x="3486150" y="2057400"/>
            <a:ext cx="2838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Klageschrift · Kern</a:t>
            </a:r>
          </a:p>
        </p:txBody>
      </p:sp>
      <p:sp>
        <p:nvSpPr>
          <p:cNvPr id="8" name="">
            <a:extLst xmlns:a="http://schemas.openxmlformats.org/drawingml/2006/main">
              <a:ext uri="{FF2B5EF4-FFF2-40B4-BE49-F238E27FC236}">
                <a16:creationId xmlns:a16="http://schemas.microsoft.com/office/drawing/2014/main" id="{18AE5922-4C74-41AA-B195-D0FFF81B32C9}"/>
              </a:ext>
            </a:extLst>
          </p:cNvPr>
          <p:cNvSpPr>
            <a:spLocks xmlns:a="http://schemas.openxmlformats.org/drawingml/2006/main" noGrp="1"/>
          </p:cNvSpPr>
          <p:nvPr/>
        </p:nvSpPr>
        <p:spPr>
          <a:xfrm xmlns:a="http://schemas.openxmlformats.org/drawingml/2006/main">
            <a:off x="1981200" y="2609850"/>
            <a:ext cx="4305300" cy="2533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8">
                <a:solidFill>
                  <a:srgbClr val="15232B"/>
                </a:solidFill>
              </a:defRPr>
            </a:pPr>
            <a:r>
              <a:rPr sz="1148">
                <a:solidFill>
                  <a:srgbClr val="15232B"/>
                </a:solidFill>
              </a:rPr>
              <a:t>Die Erhebung der Klage erfolgt durch Zustellung der Klageschrift. Sie muss Parteien und Gericht sowie Gegenstand und Grund des Anspruchs und einen bestimmten Antrag bezeichnen.</a:t>
            </a:r>
          </a:p>
        </p:txBody>
      </p:sp>
      <p:sp>
        <p:nvSpPr>
          <p:cNvPr id="9" name="">
            <a:extLst xmlns:a="http://schemas.openxmlformats.org/drawingml/2006/main">
              <a:ext uri="{FF2B5EF4-FFF2-40B4-BE49-F238E27FC236}">
                <a16:creationId xmlns:a16="http://schemas.microsoft.com/office/drawing/2014/main" id="{360D3984-A4B4-4723-AF40-2D1AC4AA9388}"/>
              </a:ext>
            </a:extLst>
          </p:cNvPr>
          <p:cNvSpPr>
            <a:spLocks xmlns:a="http://schemas.openxmlformats.org/drawingml/2006/main" noGrp="1"/>
          </p:cNvSpPr>
          <p:nvPr/>
        </p:nvSpPr>
        <p:spPr>
          <a:xfrm xmlns:a="http://schemas.openxmlformats.org/drawingml/2006/main">
            <a:off x="6686550" y="1943100"/>
            <a:ext cx="4648200" cy="3371850"/>
          </a:xfrm>
          <a:prstGeom xmlns:a="http://schemas.openxmlformats.org/drawingml/2006/main" prst="roundRect">
            <a:avLst>
              <a:gd name="adj" fmla="val 2260"/>
            </a:avLst>
          </a:prstGeom>
          <a:solidFill xmlns:a="http://schemas.openxmlformats.org/drawingml/2006/main">
            <a:srgbClr val="F3F7F9"/>
          </a:solidFill>
          <a:ln xmlns:a="http://schemas.openxmlformats.org/drawingml/2006/main" w="11430">
            <a:solidFill>
              <a:srgbClr val="003F6B"/>
            </a:solidFill>
            <a:prstDash val="solid"/>
          </a:ln>
        </p:spPr>
      </p:sp>
      <p:sp>
        <p:nvSpPr>
          <p:cNvPr id="10" name="">
            <a:extLst xmlns:a="http://schemas.openxmlformats.org/drawingml/2006/main">
              <a:ext uri="{FF2B5EF4-FFF2-40B4-BE49-F238E27FC236}">
                <a16:creationId xmlns:a16="http://schemas.microsoft.com/office/drawing/2014/main" id="{8D58E8D1-9A8C-48B2-99C1-7A3C8440021D}"/>
              </a:ext>
            </a:extLst>
          </p:cNvPr>
          <p:cNvSpPr>
            <a:spLocks xmlns:a="http://schemas.openxmlformats.org/drawingml/2006/main" noGrp="1"/>
          </p:cNvSpPr>
          <p:nvPr/>
        </p:nvSpPr>
        <p:spPr>
          <a:xfrm xmlns:a="http://schemas.openxmlformats.org/drawingml/2006/main">
            <a:off x="6819900" y="2076450"/>
            <a:ext cx="1409700" cy="381000"/>
          </a:xfrm>
          <a:prstGeom xmlns:a="http://schemas.openxmlformats.org/drawingml/2006/main" prst="roundRect">
            <a:avLst>
              <a:gd name="adj" fmla="val 20000"/>
            </a:avLst>
          </a:prstGeom>
          <a:solidFill xmlns:a="http://schemas.openxmlformats.org/drawingml/2006/main">
            <a:srgbClr val="003F6B"/>
          </a:solidFill>
          <a:ln xmlns:a="http://schemas.openxmlformats.org/drawingml/2006/main" w="0">
            <a:solidFill>
              <a:srgbClr val="003F6B"/>
            </a:solidFill>
            <a:prstDash val="solid"/>
          </a:ln>
        </p:spPr>
      </p:sp>
      <p:sp>
        <p:nvSpPr>
          <p:cNvPr id="11" name="">
            <a:extLst xmlns:a="http://schemas.openxmlformats.org/drawingml/2006/main">
              <a:ext uri="{FF2B5EF4-FFF2-40B4-BE49-F238E27FC236}">
                <a16:creationId xmlns:a16="http://schemas.microsoft.com/office/drawing/2014/main" id="{EE278B58-E949-45BA-A18B-F0E2049361EF}"/>
              </a:ext>
            </a:extLst>
          </p:cNvPr>
          <p:cNvSpPr>
            <a:spLocks xmlns:a="http://schemas.openxmlformats.org/drawingml/2006/main" noGrp="1"/>
          </p:cNvSpPr>
          <p:nvPr/>
        </p:nvSpPr>
        <p:spPr>
          <a:xfrm xmlns:a="http://schemas.openxmlformats.org/drawingml/2006/main">
            <a:off x="6819900" y="207645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 278 I, II ZPO</a:t>
            </a:r>
          </a:p>
        </p:txBody>
      </p:sp>
      <p:sp>
        <p:nvSpPr>
          <p:cNvPr id="12" name="">
            <a:extLst xmlns:a="http://schemas.openxmlformats.org/drawingml/2006/main">
              <a:ext uri="{FF2B5EF4-FFF2-40B4-BE49-F238E27FC236}">
                <a16:creationId xmlns:a16="http://schemas.microsoft.com/office/drawing/2014/main" id="{7EDA39C2-4CF2-46C0-A5BC-67F8CE0C48FB}"/>
              </a:ext>
            </a:extLst>
          </p:cNvPr>
          <p:cNvSpPr>
            <a:spLocks xmlns:a="http://schemas.openxmlformats.org/drawingml/2006/main" noGrp="1"/>
          </p:cNvSpPr>
          <p:nvPr/>
        </p:nvSpPr>
        <p:spPr>
          <a:xfrm xmlns:a="http://schemas.openxmlformats.org/drawingml/2006/main">
            <a:off x="8362950" y="2057400"/>
            <a:ext cx="2838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Gütliche Streitbeilegung</a:t>
            </a:r>
          </a:p>
        </p:txBody>
      </p:sp>
      <p:sp>
        <p:nvSpPr>
          <p:cNvPr id="13" name="">
            <a:extLst xmlns:a="http://schemas.openxmlformats.org/drawingml/2006/main">
              <a:ext uri="{FF2B5EF4-FFF2-40B4-BE49-F238E27FC236}">
                <a16:creationId xmlns:a16="http://schemas.microsoft.com/office/drawing/2014/main" id="{DB85A4D7-B54E-4A22-A9E9-1D0D7AD45D88}"/>
              </a:ext>
            </a:extLst>
          </p:cNvPr>
          <p:cNvSpPr>
            <a:spLocks xmlns:a="http://schemas.openxmlformats.org/drawingml/2006/main" noGrp="1"/>
          </p:cNvSpPr>
          <p:nvPr/>
        </p:nvSpPr>
        <p:spPr>
          <a:xfrm xmlns:a="http://schemas.openxmlformats.org/drawingml/2006/main">
            <a:off x="6858000" y="2609850"/>
            <a:ext cx="4305300" cy="2533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8">
                <a:solidFill>
                  <a:srgbClr val="15232B"/>
                </a:solidFill>
              </a:defRPr>
            </a:pPr>
            <a:r>
              <a:rPr sz="1148">
                <a:solidFill>
                  <a:srgbClr val="15232B"/>
                </a:solidFill>
              </a:rPr>
              <a:t>Das Gericht soll in jeder Lage auf eine gütliche Beilegung bedacht sein. Der mündlichen Verhandlung geht grundsätzlich eine Güteverhandlung voraus; das Gericht erörtert dort Sach- und Streitstand unter freier Würdigung und stellt erforderliche Fragen.</a:t>
            </a:r>
          </a:p>
        </p:txBody>
      </p:sp>
      <p:sp>
        <p:nvSpPr>
          <p:cNvPr id="14" name="">
            <a:extLst xmlns:a="http://schemas.openxmlformats.org/drawingml/2006/main">
              <a:ext uri="{FF2B5EF4-FFF2-40B4-BE49-F238E27FC236}">
                <a16:creationId xmlns:a16="http://schemas.microsoft.com/office/drawing/2014/main" id="{2E11BCDB-D2DF-4A2D-96BE-139424E712F2}"/>
              </a:ext>
            </a:extLst>
          </p:cNvPr>
          <p:cNvSpPr>
            <a:spLocks xmlns:a="http://schemas.openxmlformats.org/drawingml/2006/main" noGrp="1"/>
          </p:cNvSpPr>
          <p:nvPr/>
        </p:nvSpPr>
        <p:spPr>
          <a:xfrm xmlns:a="http://schemas.openxmlformats.org/drawingml/2006/main">
            <a:off x="1809750" y="5619750"/>
            <a:ext cx="9525000" cy="419100"/>
          </a:xfrm>
          <a:prstGeom xmlns:a="http://schemas.openxmlformats.org/drawingml/2006/main" prst="roundRect">
            <a:avLst>
              <a:gd name="adj" fmla="val 18182"/>
            </a:avLst>
          </a:prstGeom>
          <a:noFill xmlns:a="http://schemas.openxmlformats.org/drawingml/2006/main"/>
          <a:ln xmlns:a="http://schemas.openxmlformats.org/drawingml/2006/main" w="11430">
            <a:solidFill>
              <a:srgbClr val="00B2BB"/>
            </a:solidFill>
            <a:prstDash val="solid"/>
          </a:ln>
        </p:spPr>
      </p:sp>
      <p:sp>
        <p:nvSpPr>
          <p:cNvPr id="15" name="">
            <a:extLst xmlns:a="http://schemas.openxmlformats.org/drawingml/2006/main">
              <a:ext uri="{FF2B5EF4-FFF2-40B4-BE49-F238E27FC236}">
                <a16:creationId xmlns:a16="http://schemas.microsoft.com/office/drawing/2014/main" id="{32271161-AB88-4CCA-987A-9255E0159BC2}"/>
              </a:ext>
            </a:extLst>
          </p:cNvPr>
          <p:cNvSpPr>
            <a:spLocks xmlns:a="http://schemas.openxmlformats.org/drawingml/2006/main" noGrp="1"/>
          </p:cNvSpPr>
          <p:nvPr/>
        </p:nvSpPr>
        <p:spPr>
          <a:xfrm xmlns:a="http://schemas.openxmlformats.org/drawingml/2006/main">
            <a:off x="1962150" y="5638800"/>
            <a:ext cx="9220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13" b="1">
                <a:solidFill>
                  <a:srgbClr val="003F6B"/>
                </a:solidFill>
              </a:defRPr>
            </a:pPr>
            <a:r>
              <a:rPr sz="1013" b="1">
                <a:solidFill>
                  <a:srgbClr val="003F6B"/>
                </a:solidFill>
              </a:rPr>
              <a:t>Praxislesart: Der Prozess beginnt mit einem bestimmten Antrag und bleibt dennoch jederzeit vergleichsoffen.</a:t>
            </a:r>
          </a:p>
        </p:txBody>
      </p:sp>
      <p:sp>
        <p:nvSpPr>
          <p:cNvPr id="16" name="">
            <a:extLst xmlns:a="http://schemas.openxmlformats.org/drawingml/2006/main">
              <a:ext uri="{FF2B5EF4-FFF2-40B4-BE49-F238E27FC236}">
                <a16:creationId xmlns:a16="http://schemas.microsoft.com/office/drawing/2014/main" id="{C1547470-4FDD-468E-AD42-4F5DC2F57EB0}"/>
              </a:ext>
            </a:extLst>
          </p:cNvPr>
          <p:cNvSpPr>
            <a:spLocks xmlns:a="http://schemas.openxmlformats.org/drawingml/2006/main" noGrp="1"/>
          </p:cNvSpPr>
          <p:nvPr/>
        </p:nvSpPr>
        <p:spPr>
          <a:xfrm xmlns:a="http://schemas.openxmlformats.org/drawingml/2006/main">
            <a:off x="1809750" y="535305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05">
                <a:solidFill>
                  <a:srgbClr val="667680"/>
                </a:solidFill>
              </a:defRPr>
            </a:pPr>
            <a:r>
              <a:rPr sz="705">
                <a:solidFill>
                  <a:srgbClr val="667680"/>
                </a:solidFill>
              </a:rPr>
              <a:t>BMJ/BfJ, gesetze-im-internet.de/zpo/__253.html und /__278.html · Abruf/Stand: 20.08.2026 · https://pubmed.ncbi.nlm.nih.gov</a:t>
            </a:r>
          </a:p>
        </p:txBody>
      </p:sp>
    </p:spTree>
    <p:extLst>
      <p:ext uri="{BB962C8B-B14F-4D97-AF65-F5344CB8AC3E}">
        <p14:creationId xmlns:p14="http://schemas.microsoft.com/office/powerpoint/2010/main" val="43637646"/>
      </p:ext>
    </p:extLst>
  </p:cSld>
</p:sld>
</file>

<file path=ppt/slides/slide182.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Kosten und Berufung: die nächste Entscheidungsebene</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GESETZESTEXT · GEKÜRZTER LEHRAUSZUG</a:t>
            </a:r>
            <a:endParaRPr/>
          </a:p>
        </p:txBody>
      </p:sp>
      <p:sp>
        <p:nvSpPr>
          <p:cNvPr id="4" name="">
            <a:extLst xmlns:a="http://schemas.openxmlformats.org/drawingml/2006/main">
              <a:ext uri="{FF2B5EF4-FFF2-40B4-BE49-F238E27FC236}">
                <a16:creationId xmlns:a16="http://schemas.microsoft.com/office/drawing/2014/main" id="{CE784741-1359-4973-BEA4-E9278951F306}"/>
              </a:ext>
            </a:extLst>
          </p:cNvPr>
          <p:cNvSpPr>
            <a:spLocks xmlns:a="http://schemas.openxmlformats.org/drawingml/2006/main" noGrp="1"/>
          </p:cNvSpPr>
          <p:nvPr/>
        </p:nvSpPr>
        <p:spPr>
          <a:xfrm xmlns:a="http://schemas.openxmlformats.org/drawingml/2006/main">
            <a:off x="1809750" y="1943100"/>
            <a:ext cx="4648200" cy="3371850"/>
          </a:xfrm>
          <a:prstGeom xmlns:a="http://schemas.openxmlformats.org/drawingml/2006/main" prst="roundRect">
            <a:avLst>
              <a:gd name="adj" fmla="val 2260"/>
            </a:avLst>
          </a:prstGeom>
          <a:solidFill xmlns:a="http://schemas.openxmlformats.org/drawingml/2006/main">
            <a:srgbClr val="F3F7F9"/>
          </a:solidFill>
          <a:ln xmlns:a="http://schemas.openxmlformats.org/drawingml/2006/main" w="11430">
            <a:solidFill>
              <a:srgbClr val="00B2BB"/>
            </a:solidFill>
            <a:prstDash val="solid"/>
          </a:ln>
        </p:spPr>
      </p:sp>
      <p:sp>
        <p:nvSpPr>
          <p:cNvPr id="5" name="">
            <a:extLst xmlns:a="http://schemas.openxmlformats.org/drawingml/2006/main">
              <a:ext uri="{FF2B5EF4-FFF2-40B4-BE49-F238E27FC236}">
                <a16:creationId xmlns:a16="http://schemas.microsoft.com/office/drawing/2014/main" id="{D0FDCFB3-8A5D-467F-B5A6-BE0824A4ABE2}"/>
              </a:ext>
            </a:extLst>
          </p:cNvPr>
          <p:cNvSpPr>
            <a:spLocks xmlns:a="http://schemas.openxmlformats.org/drawingml/2006/main" noGrp="1"/>
          </p:cNvSpPr>
          <p:nvPr/>
        </p:nvSpPr>
        <p:spPr>
          <a:xfrm xmlns:a="http://schemas.openxmlformats.org/drawingml/2006/main">
            <a:off x="1943100" y="2076450"/>
            <a:ext cx="1409700" cy="381000"/>
          </a:xfrm>
          <a:prstGeom xmlns:a="http://schemas.openxmlformats.org/drawingml/2006/main" prst="roundRect">
            <a:avLst>
              <a:gd name="adj" fmla="val 20000"/>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972AB943-7ACA-46B8-98E3-DB92C19E439D}"/>
              </a:ext>
            </a:extLst>
          </p:cNvPr>
          <p:cNvSpPr>
            <a:spLocks xmlns:a="http://schemas.openxmlformats.org/drawingml/2006/main" noGrp="1"/>
          </p:cNvSpPr>
          <p:nvPr/>
        </p:nvSpPr>
        <p:spPr>
          <a:xfrm xmlns:a="http://schemas.openxmlformats.org/drawingml/2006/main">
            <a:off x="1943100" y="207645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 91 I ZPO</a:t>
            </a:r>
          </a:p>
        </p:txBody>
      </p:sp>
      <p:sp>
        <p:nvSpPr>
          <p:cNvPr id="7" name="">
            <a:extLst xmlns:a="http://schemas.openxmlformats.org/drawingml/2006/main">
              <a:ext uri="{FF2B5EF4-FFF2-40B4-BE49-F238E27FC236}">
                <a16:creationId xmlns:a16="http://schemas.microsoft.com/office/drawing/2014/main" id="{7A5D8514-6E4F-497C-AB6F-488597EFA0D0}"/>
              </a:ext>
            </a:extLst>
          </p:cNvPr>
          <p:cNvSpPr>
            <a:spLocks xmlns:a="http://schemas.openxmlformats.org/drawingml/2006/main" noGrp="1"/>
          </p:cNvSpPr>
          <p:nvPr/>
        </p:nvSpPr>
        <p:spPr>
          <a:xfrm xmlns:a="http://schemas.openxmlformats.org/drawingml/2006/main">
            <a:off x="3486150" y="2057400"/>
            <a:ext cx="2838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Unterliegensprinzip · Auszug</a:t>
            </a:r>
          </a:p>
        </p:txBody>
      </p:sp>
      <p:sp>
        <p:nvSpPr>
          <p:cNvPr id="8" name="">
            <a:extLst xmlns:a="http://schemas.openxmlformats.org/drawingml/2006/main">
              <a:ext uri="{FF2B5EF4-FFF2-40B4-BE49-F238E27FC236}">
                <a16:creationId xmlns:a16="http://schemas.microsoft.com/office/drawing/2014/main" id="{FA6DE1F1-A9F9-4059-B398-B7033CEA9540}"/>
              </a:ext>
            </a:extLst>
          </p:cNvPr>
          <p:cNvSpPr>
            <a:spLocks xmlns:a="http://schemas.openxmlformats.org/drawingml/2006/main" noGrp="1"/>
          </p:cNvSpPr>
          <p:nvPr/>
        </p:nvSpPr>
        <p:spPr>
          <a:xfrm xmlns:a="http://schemas.openxmlformats.org/drawingml/2006/main">
            <a:off x="1981200" y="2609850"/>
            <a:ext cx="4305300" cy="2533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8">
                <a:solidFill>
                  <a:srgbClr val="15232B"/>
                </a:solidFill>
              </a:defRPr>
            </a:pPr>
            <a:r>
              <a:rPr sz="1148">
                <a:solidFill>
                  <a:srgbClr val="15232B"/>
                </a:solidFill>
              </a:rPr>
              <a:t>Die unterliegende Partei hat die Kosten des Rechtsstreits zu tragen, insbesondere die dem Gegner erwachsenen Kosten zu erstatten, soweit sie zur zweckentsprechenden Rechtsverfolgung oder Rechtsverteidigung notwendig waren.</a:t>
            </a:r>
          </a:p>
        </p:txBody>
      </p:sp>
      <p:sp>
        <p:nvSpPr>
          <p:cNvPr id="9" name="">
            <a:extLst xmlns:a="http://schemas.openxmlformats.org/drawingml/2006/main">
              <a:ext uri="{FF2B5EF4-FFF2-40B4-BE49-F238E27FC236}">
                <a16:creationId xmlns:a16="http://schemas.microsoft.com/office/drawing/2014/main" id="{34EAB8CD-FA6C-479C-85DA-2304ED8C92A5}"/>
              </a:ext>
            </a:extLst>
          </p:cNvPr>
          <p:cNvSpPr>
            <a:spLocks xmlns:a="http://schemas.openxmlformats.org/drawingml/2006/main" noGrp="1"/>
          </p:cNvSpPr>
          <p:nvPr/>
        </p:nvSpPr>
        <p:spPr>
          <a:xfrm xmlns:a="http://schemas.openxmlformats.org/drawingml/2006/main">
            <a:off x="6686550" y="1943100"/>
            <a:ext cx="4648200" cy="3371850"/>
          </a:xfrm>
          <a:prstGeom xmlns:a="http://schemas.openxmlformats.org/drawingml/2006/main" prst="roundRect">
            <a:avLst>
              <a:gd name="adj" fmla="val 2260"/>
            </a:avLst>
          </a:prstGeom>
          <a:solidFill xmlns:a="http://schemas.openxmlformats.org/drawingml/2006/main">
            <a:srgbClr val="F3F7F9"/>
          </a:solidFill>
          <a:ln xmlns:a="http://schemas.openxmlformats.org/drawingml/2006/main" w="11430">
            <a:solidFill>
              <a:srgbClr val="003F6B"/>
            </a:solidFill>
            <a:prstDash val="solid"/>
          </a:ln>
        </p:spPr>
      </p:sp>
      <p:sp>
        <p:nvSpPr>
          <p:cNvPr id="10" name="">
            <a:extLst xmlns:a="http://schemas.openxmlformats.org/drawingml/2006/main">
              <a:ext uri="{FF2B5EF4-FFF2-40B4-BE49-F238E27FC236}">
                <a16:creationId xmlns:a16="http://schemas.microsoft.com/office/drawing/2014/main" id="{9657FA7A-D3E4-48DF-B427-2543F3B698D6}"/>
              </a:ext>
            </a:extLst>
          </p:cNvPr>
          <p:cNvSpPr>
            <a:spLocks xmlns:a="http://schemas.openxmlformats.org/drawingml/2006/main" noGrp="1"/>
          </p:cNvSpPr>
          <p:nvPr/>
        </p:nvSpPr>
        <p:spPr>
          <a:xfrm xmlns:a="http://schemas.openxmlformats.org/drawingml/2006/main">
            <a:off x="6819900" y="2076450"/>
            <a:ext cx="1409700" cy="381000"/>
          </a:xfrm>
          <a:prstGeom xmlns:a="http://schemas.openxmlformats.org/drawingml/2006/main" prst="roundRect">
            <a:avLst>
              <a:gd name="adj" fmla="val 20000"/>
            </a:avLst>
          </a:prstGeom>
          <a:solidFill xmlns:a="http://schemas.openxmlformats.org/drawingml/2006/main">
            <a:srgbClr val="003F6B"/>
          </a:solidFill>
          <a:ln xmlns:a="http://schemas.openxmlformats.org/drawingml/2006/main" w="0">
            <a:solidFill>
              <a:srgbClr val="003F6B"/>
            </a:solidFill>
            <a:prstDash val="solid"/>
          </a:ln>
        </p:spPr>
      </p:sp>
      <p:sp>
        <p:nvSpPr>
          <p:cNvPr id="11" name="">
            <a:extLst xmlns:a="http://schemas.openxmlformats.org/drawingml/2006/main">
              <a:ext uri="{FF2B5EF4-FFF2-40B4-BE49-F238E27FC236}">
                <a16:creationId xmlns:a16="http://schemas.microsoft.com/office/drawing/2014/main" id="{3AE4BDF1-A4A0-42B3-BB92-87BDDD4A15EE}"/>
              </a:ext>
            </a:extLst>
          </p:cNvPr>
          <p:cNvSpPr>
            <a:spLocks xmlns:a="http://schemas.openxmlformats.org/drawingml/2006/main" noGrp="1"/>
          </p:cNvSpPr>
          <p:nvPr/>
        </p:nvSpPr>
        <p:spPr>
          <a:xfrm xmlns:a="http://schemas.openxmlformats.org/drawingml/2006/main">
            <a:off x="6819900" y="207645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 511 ZPO</a:t>
            </a:r>
          </a:p>
        </p:txBody>
      </p:sp>
      <p:sp>
        <p:nvSpPr>
          <p:cNvPr id="12" name="">
            <a:extLst xmlns:a="http://schemas.openxmlformats.org/drawingml/2006/main">
              <a:ext uri="{FF2B5EF4-FFF2-40B4-BE49-F238E27FC236}">
                <a16:creationId xmlns:a16="http://schemas.microsoft.com/office/drawing/2014/main" id="{0A5AD2AE-440E-4A53-A0D8-1E43DD1D5BEA}"/>
              </a:ext>
            </a:extLst>
          </p:cNvPr>
          <p:cNvSpPr>
            <a:spLocks xmlns:a="http://schemas.openxmlformats.org/drawingml/2006/main" noGrp="1"/>
          </p:cNvSpPr>
          <p:nvPr/>
        </p:nvSpPr>
        <p:spPr>
          <a:xfrm xmlns:a="http://schemas.openxmlformats.org/drawingml/2006/main">
            <a:off x="8362950" y="2057400"/>
            <a:ext cx="2838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Berufung · Kern</a:t>
            </a:r>
          </a:p>
        </p:txBody>
      </p:sp>
      <p:sp>
        <p:nvSpPr>
          <p:cNvPr id="13" name="">
            <a:extLst xmlns:a="http://schemas.openxmlformats.org/drawingml/2006/main">
              <a:ext uri="{FF2B5EF4-FFF2-40B4-BE49-F238E27FC236}">
                <a16:creationId xmlns:a16="http://schemas.microsoft.com/office/drawing/2014/main" id="{F73DEBE4-D3D1-494C-8A4F-F51286D2CAA2}"/>
              </a:ext>
            </a:extLst>
          </p:cNvPr>
          <p:cNvSpPr>
            <a:spLocks xmlns:a="http://schemas.openxmlformats.org/drawingml/2006/main" noGrp="1"/>
          </p:cNvSpPr>
          <p:nvPr/>
        </p:nvSpPr>
        <p:spPr>
          <a:xfrm xmlns:a="http://schemas.openxmlformats.org/drawingml/2006/main">
            <a:off x="6858000" y="2609850"/>
            <a:ext cx="4305300" cy="2533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8">
                <a:solidFill>
                  <a:srgbClr val="15232B"/>
                </a:solidFill>
              </a:defRPr>
            </a:pPr>
            <a:r>
              <a:rPr sz="1148">
                <a:solidFill>
                  <a:srgbClr val="15232B"/>
                </a:solidFill>
              </a:rPr>
              <a:t>Die Berufung findet gegen erstinstanzliche Endurteile statt. Sie ist grundsätzlich nur zulässig, wenn der Wert des Beschwerdegegenstands 1.000 Euro übersteigt oder das Gericht des ersten Rechtszugs die Berufung zugelassen hat.</a:t>
            </a:r>
          </a:p>
        </p:txBody>
      </p:sp>
      <p:sp>
        <p:nvSpPr>
          <p:cNvPr id="14" name="">
            <a:extLst xmlns:a="http://schemas.openxmlformats.org/drawingml/2006/main">
              <a:ext uri="{FF2B5EF4-FFF2-40B4-BE49-F238E27FC236}">
                <a16:creationId xmlns:a16="http://schemas.microsoft.com/office/drawing/2014/main" id="{51B8BFD6-CF0F-4BFD-9CB2-C5B5843C0E45}"/>
              </a:ext>
            </a:extLst>
          </p:cNvPr>
          <p:cNvSpPr>
            <a:spLocks xmlns:a="http://schemas.openxmlformats.org/drawingml/2006/main" noGrp="1"/>
          </p:cNvSpPr>
          <p:nvPr/>
        </p:nvSpPr>
        <p:spPr>
          <a:xfrm xmlns:a="http://schemas.openxmlformats.org/drawingml/2006/main">
            <a:off x="1809750" y="5619750"/>
            <a:ext cx="9525000" cy="419100"/>
          </a:xfrm>
          <a:prstGeom xmlns:a="http://schemas.openxmlformats.org/drawingml/2006/main" prst="roundRect">
            <a:avLst>
              <a:gd name="adj" fmla="val 18182"/>
            </a:avLst>
          </a:prstGeom>
          <a:noFill xmlns:a="http://schemas.openxmlformats.org/drawingml/2006/main"/>
          <a:ln xmlns:a="http://schemas.openxmlformats.org/drawingml/2006/main" w="11430">
            <a:solidFill>
              <a:srgbClr val="00B2BB"/>
            </a:solidFill>
            <a:prstDash val="solid"/>
          </a:ln>
        </p:spPr>
      </p:sp>
      <p:sp>
        <p:nvSpPr>
          <p:cNvPr id="15" name="">
            <a:extLst xmlns:a="http://schemas.openxmlformats.org/drawingml/2006/main">
              <a:ext uri="{FF2B5EF4-FFF2-40B4-BE49-F238E27FC236}">
                <a16:creationId xmlns:a16="http://schemas.microsoft.com/office/drawing/2014/main" id="{424CE88C-2A94-48AE-8250-978EDE0FBC70}"/>
              </a:ext>
            </a:extLst>
          </p:cNvPr>
          <p:cNvSpPr>
            <a:spLocks xmlns:a="http://schemas.openxmlformats.org/drawingml/2006/main" noGrp="1"/>
          </p:cNvSpPr>
          <p:nvPr/>
        </p:nvSpPr>
        <p:spPr>
          <a:xfrm xmlns:a="http://schemas.openxmlformats.org/drawingml/2006/main">
            <a:off x="1962150" y="5638800"/>
            <a:ext cx="9220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13" b="1">
                <a:solidFill>
                  <a:srgbClr val="003F6B"/>
                </a:solidFill>
              </a:defRPr>
            </a:pPr>
            <a:r>
              <a:rPr sz="1013" b="1">
                <a:solidFill>
                  <a:srgbClr val="003F6B"/>
                </a:solidFill>
              </a:rPr>
              <a:t>Praxislesart: Prozessstrategie ist auch Kosten- und Rechtsmittelstrategie; ein Urteil ist nicht immer der letzte Schritt.</a:t>
            </a:r>
          </a:p>
        </p:txBody>
      </p:sp>
      <p:sp>
        <p:nvSpPr>
          <p:cNvPr id="16" name="">
            <a:extLst xmlns:a="http://schemas.openxmlformats.org/drawingml/2006/main">
              <a:ext uri="{FF2B5EF4-FFF2-40B4-BE49-F238E27FC236}">
                <a16:creationId xmlns:a16="http://schemas.microsoft.com/office/drawing/2014/main" id="{8AF28633-0D89-4B2C-8C4B-23064570E245}"/>
              </a:ext>
            </a:extLst>
          </p:cNvPr>
          <p:cNvSpPr>
            <a:spLocks xmlns:a="http://schemas.openxmlformats.org/drawingml/2006/main" noGrp="1"/>
          </p:cNvSpPr>
          <p:nvPr/>
        </p:nvSpPr>
        <p:spPr>
          <a:xfrm xmlns:a="http://schemas.openxmlformats.org/drawingml/2006/main">
            <a:off x="1809750" y="535305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05">
                <a:solidFill>
                  <a:srgbClr val="667680"/>
                </a:solidFill>
              </a:defRPr>
            </a:pPr>
            <a:r>
              <a:rPr sz="705">
                <a:solidFill>
                  <a:srgbClr val="667680"/>
                </a:solidFill>
              </a:rPr>
              <a:t>BMJ/BfJ, gesetze-im-internet.de/zpo/__91.html und /__511.html · Abruf/Stand: 20.08.2026 · https://pubmed.ncbi.nlm.nih.gov</a:t>
            </a:r>
          </a:p>
        </p:txBody>
      </p:sp>
    </p:spTree>
    <p:extLst>
      <p:ext uri="{BB962C8B-B14F-4D97-AF65-F5344CB8AC3E}">
        <p14:creationId xmlns:p14="http://schemas.microsoft.com/office/powerpoint/2010/main" val="43637646"/>
      </p:ext>
    </p:extLst>
  </p:cSld>
</p:sld>
</file>

<file path=ppt/slides/slide183.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Was ist ein Zivilprozess?</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21DC6134-A6FF-46D7-8C6F-83BDDD0E3DEA}"/>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Im Zivilprozess entscheidet ein unabhängiges Gericht über private Ansprüche auf Grundlage der Anträge, des Parteivortrags und der erhobenen Beweise.</a:t>
            </a:r>
          </a:p>
        </p:txBody>
      </p:sp>
      <p:sp>
        <p:nvSpPr>
          <p:cNvPr id="5" name="">
            <a:extLst xmlns:a="http://schemas.openxmlformats.org/drawingml/2006/main">
              <a:ext uri="{FF2B5EF4-FFF2-40B4-BE49-F238E27FC236}">
                <a16:creationId xmlns:a16="http://schemas.microsoft.com/office/drawing/2014/main" id="{A95507FB-0291-476E-A699-780AC1E9161E}"/>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62D57B8B-336C-485B-BB0E-9D6EAC8A64CD}"/>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908724AB-B764-4EDC-932C-8C23D8C5E129}"/>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Parteiherrschaft</a:t>
            </a:r>
          </a:p>
        </p:txBody>
      </p:sp>
      <p:sp>
        <p:nvSpPr>
          <p:cNvPr id="8" name="">
            <a:extLst xmlns:a="http://schemas.openxmlformats.org/drawingml/2006/main">
              <a:ext uri="{FF2B5EF4-FFF2-40B4-BE49-F238E27FC236}">
                <a16:creationId xmlns:a16="http://schemas.microsoft.com/office/drawing/2014/main" id="{67F935BF-C89F-486D-9191-360C3F6DF75A}"/>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Die Parteien bestimmen grundsätzlich Beginn, Gegenstand und Ende des Rechtsstreits.</a:t>
            </a:r>
          </a:p>
        </p:txBody>
      </p:sp>
      <p:sp>
        <p:nvSpPr>
          <p:cNvPr id="9" name="">
            <a:extLst xmlns:a="http://schemas.openxmlformats.org/drawingml/2006/main">
              <a:ext uri="{FF2B5EF4-FFF2-40B4-BE49-F238E27FC236}">
                <a16:creationId xmlns:a16="http://schemas.microsoft.com/office/drawing/2014/main" id="{DA199789-9C94-43A8-B027-060D60C5CEB8}"/>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6CB28C37-2166-437F-AD29-BAD706E722BB}"/>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5C5A67AF-4245-4AE8-9D47-FEEFB22D799B}"/>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Beibringungsgrundsatz</a:t>
            </a:r>
          </a:p>
        </p:txBody>
      </p:sp>
      <p:sp>
        <p:nvSpPr>
          <p:cNvPr id="12" name="">
            <a:extLst xmlns:a="http://schemas.openxmlformats.org/drawingml/2006/main">
              <a:ext uri="{FF2B5EF4-FFF2-40B4-BE49-F238E27FC236}">
                <a16:creationId xmlns:a16="http://schemas.microsoft.com/office/drawing/2014/main" id="{A0491CE5-377C-4247-9E75-A648CF0983EC}"/>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Die Parteien tragen die Tatsachen vor; das Gericht ermittelt nicht wie im Strafverfahren frei den gesamten Sachverhalt.</a:t>
            </a:r>
          </a:p>
        </p:txBody>
      </p:sp>
      <p:sp>
        <p:nvSpPr>
          <p:cNvPr id="13" name="">
            <a:extLst xmlns:a="http://schemas.openxmlformats.org/drawingml/2006/main">
              <a:ext uri="{FF2B5EF4-FFF2-40B4-BE49-F238E27FC236}">
                <a16:creationId xmlns:a16="http://schemas.microsoft.com/office/drawing/2014/main" id="{DE12BBC8-BE43-42CA-ACCF-54A5807050B5}"/>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909FC7E3-EEFC-44B4-BA67-36713EA525EA}"/>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70906FD1-A92E-46F8-9F93-89646F5C7AB6}"/>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Rechtliches Gehör</a:t>
            </a:r>
          </a:p>
        </p:txBody>
      </p:sp>
      <p:sp>
        <p:nvSpPr>
          <p:cNvPr id="16" name="">
            <a:extLst xmlns:a="http://schemas.openxmlformats.org/drawingml/2006/main">
              <a:ext uri="{FF2B5EF4-FFF2-40B4-BE49-F238E27FC236}">
                <a16:creationId xmlns:a16="http://schemas.microsoft.com/office/drawing/2014/main" id="{F25CCE95-0664-4DF8-9F8D-5532E50F8652}"/>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Beide Seiten müssen zu entscheidungserheblichen Tatsachen und Beweisen Stellung nehmen können.</a:t>
            </a:r>
          </a:p>
        </p:txBody>
      </p:sp>
      <p:sp>
        <p:nvSpPr>
          <p:cNvPr id="17" name="">
            <a:extLst xmlns:a="http://schemas.openxmlformats.org/drawingml/2006/main">
              <a:ext uri="{FF2B5EF4-FFF2-40B4-BE49-F238E27FC236}">
                <a16:creationId xmlns:a16="http://schemas.microsoft.com/office/drawing/2014/main" id="{775E3B71-F513-446F-9D89-1093E68205AD}"/>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3CB214E2-2B12-4025-A49F-10E4D405DCDD}"/>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8A01DEFB-4CA8-46D4-880E-DDDEE44BABF9}"/>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Bindung an Anträge</a:t>
            </a:r>
          </a:p>
        </p:txBody>
      </p:sp>
      <p:sp>
        <p:nvSpPr>
          <p:cNvPr id="20" name="">
            <a:extLst xmlns:a="http://schemas.openxmlformats.org/drawingml/2006/main">
              <a:ext uri="{FF2B5EF4-FFF2-40B4-BE49-F238E27FC236}">
                <a16:creationId xmlns:a16="http://schemas.microsoft.com/office/drawing/2014/main" id="{56B80049-1459-42EC-9F94-27C761293BC9}"/>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Das Gericht spricht grundsätzlich nicht mehr oder etwas anderes zu, als beantragt wurde.</a:t>
            </a:r>
          </a:p>
        </p:txBody>
      </p:sp>
      <p:sp>
        <p:nvSpPr>
          <p:cNvPr id="21" name="">
            <a:extLst xmlns:a="http://schemas.openxmlformats.org/drawingml/2006/main">
              <a:ext uri="{FF2B5EF4-FFF2-40B4-BE49-F238E27FC236}">
                <a16:creationId xmlns:a16="http://schemas.microsoft.com/office/drawing/2014/main" id="{78EED938-074C-41D9-9A03-CBAE433DB397}"/>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C75CF713-DCFA-43A1-92AB-AAD68CA144AB}"/>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Wer im Zivilprozess Recht bekommen will, muss einen vollständigen Antrag, Tatsachenvortrag und Beweisplan liefern.</a:t>
            </a:r>
          </a:p>
        </p:txBody>
      </p:sp>
    </p:spTree>
    <p:extLst>
      <p:ext uri="{BB962C8B-B14F-4D97-AF65-F5344CB8AC3E}">
        <p14:creationId xmlns:p14="http://schemas.microsoft.com/office/powerpoint/2010/main" val="43637646"/>
      </p:ext>
    </p:extLst>
  </p:cSld>
</p:sld>
</file>

<file path=ppt/slides/slide184.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Der Zivilprozess von Anfang bis Ende</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VERFAHREN VERSTEHEN</a:t>
            </a:r>
            <a:endParaRPr/>
          </a:p>
        </p:txBody>
      </p:sp>
      <p:sp>
        <p:nvSpPr>
          <p:cNvPr id="4" name="">
            <a:extLst xmlns:a="http://schemas.openxmlformats.org/drawingml/2006/main">
              <a:ext uri="{FF2B5EF4-FFF2-40B4-BE49-F238E27FC236}">
                <a16:creationId xmlns:a16="http://schemas.microsoft.com/office/drawing/2014/main" id="{D4EFB7C4-552A-4399-B417-71EB57D56292}"/>
              </a:ext>
            </a:extLst>
          </p:cNvPr>
          <p:cNvSpPr>
            <a:spLocks xmlns:a="http://schemas.openxmlformats.org/drawingml/2006/main" noGrp="1"/>
          </p:cNvSpPr>
          <p:nvPr/>
        </p:nvSpPr>
        <p:spPr>
          <a:xfrm xmlns:a="http://schemas.openxmlformats.org/drawingml/2006/main">
            <a:off x="1809750" y="1885950"/>
            <a:ext cx="9525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15">
                <a:solidFill>
                  <a:srgbClr val="667680"/>
                </a:solidFill>
              </a:defRPr>
            </a:pPr>
            <a:r>
              <a:rPr sz="1215">
                <a:solidFill>
                  <a:srgbClr val="667680"/>
                </a:solidFill>
              </a:rPr>
              <a:t>Das Verfahren lässt sich als Folge klarer Stationen lesen.</a:t>
            </a:r>
          </a:p>
        </p:txBody>
      </p:sp>
      <p:sp>
        <p:nvSpPr>
          <p:cNvPr id="5" name="">
            <a:extLst xmlns:a="http://schemas.openxmlformats.org/drawingml/2006/main">
              <a:ext uri="{FF2B5EF4-FFF2-40B4-BE49-F238E27FC236}">
                <a16:creationId xmlns:a16="http://schemas.microsoft.com/office/drawing/2014/main" id="{1E3408DE-2CEB-485B-98DB-65329A4BACB4}"/>
              </a:ext>
            </a:extLst>
          </p:cNvPr>
          <p:cNvSpPr>
            <a:spLocks xmlns:a="http://schemas.openxmlformats.org/drawingml/2006/main" noGrp="1"/>
          </p:cNvSpPr>
          <p:nvPr/>
        </p:nvSpPr>
        <p:spPr>
          <a:xfrm xmlns:a="http://schemas.openxmlformats.org/drawingml/2006/main">
            <a:off x="1981200" y="2952750"/>
            <a:ext cx="9182100" cy="0"/>
          </a:xfrm>
          <a:prstGeom xmlns:a="http://schemas.openxmlformats.org/drawingml/2006/main" prst="line">
            <a:avLst/>
          </a:prstGeom>
          <a:noFill xmlns:a="http://schemas.openxmlformats.org/drawingml/2006/main"/>
          <a:ln xmlns:a="http://schemas.openxmlformats.org/drawingml/2006/main" w="28575">
            <a:solidFill>
              <a:srgbClr val="B9CAD2"/>
            </a:solidFill>
            <a:prstDash val="solid"/>
          </a:ln>
        </p:spPr>
      </p:sp>
      <p:sp>
        <p:nvSpPr>
          <p:cNvPr id="6" name="">
            <a:extLst xmlns:a="http://schemas.openxmlformats.org/drawingml/2006/main">
              <a:ext uri="{FF2B5EF4-FFF2-40B4-BE49-F238E27FC236}">
                <a16:creationId xmlns:a16="http://schemas.microsoft.com/office/drawing/2014/main" id="{634C21D6-69D2-4499-8B30-7696A2BCAC72}"/>
              </a:ext>
            </a:extLst>
          </p:cNvPr>
          <p:cNvSpPr>
            <a:spLocks xmlns:a="http://schemas.openxmlformats.org/drawingml/2006/main" noGrp="1"/>
          </p:cNvSpPr>
          <p:nvPr/>
        </p:nvSpPr>
        <p:spPr>
          <a:xfrm xmlns:a="http://schemas.openxmlformats.org/drawingml/2006/main">
            <a:off x="1809750" y="2495550"/>
            <a:ext cx="1508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Vorbereitung</a:t>
            </a:r>
          </a:p>
        </p:txBody>
      </p:sp>
      <p:sp>
        <p:nvSpPr>
          <p:cNvPr id="7" name="">
            <a:extLst xmlns:a="http://schemas.openxmlformats.org/drawingml/2006/main">
              <a:ext uri="{FF2B5EF4-FFF2-40B4-BE49-F238E27FC236}">
                <a16:creationId xmlns:a16="http://schemas.microsoft.com/office/drawing/2014/main" id="{23B87335-E297-4775-9B35-3A6C83CFE922}"/>
              </a:ext>
            </a:extLst>
          </p:cNvPr>
          <p:cNvSpPr>
            <a:spLocks xmlns:a="http://schemas.openxmlformats.org/drawingml/2006/main" noGrp="1"/>
          </p:cNvSpPr>
          <p:nvPr/>
        </p:nvSpPr>
        <p:spPr>
          <a:xfrm xmlns:a="http://schemas.openxmlformats.org/drawingml/2006/main">
            <a:off x="2439988" y="2838450"/>
            <a:ext cx="247650" cy="247650"/>
          </a:xfrm>
          <a:prstGeom xmlns:a="http://schemas.openxmlformats.org/drawingml/2006/main" prst="ellipse">
            <a:avLst/>
          </a:prstGeom>
          <a:solidFill xmlns:a="http://schemas.openxmlformats.org/drawingml/2006/main">
            <a:srgbClr val="003F6B"/>
          </a:solidFill>
          <a:ln xmlns:a="http://schemas.openxmlformats.org/drawingml/2006/main" w="19050">
            <a:solidFill>
              <a:srgbClr val="FFFFFF"/>
            </a:solidFill>
            <a:prstDash val="solid"/>
          </a:ln>
        </p:spPr>
      </p:sp>
      <p:sp>
        <p:nvSpPr>
          <p:cNvPr id="8" name="">
            <a:extLst xmlns:a="http://schemas.openxmlformats.org/drawingml/2006/main">
              <a:ext uri="{FF2B5EF4-FFF2-40B4-BE49-F238E27FC236}">
                <a16:creationId xmlns:a16="http://schemas.microsoft.com/office/drawing/2014/main" id="{27614463-C7B7-4327-B12B-7C6322129076}"/>
              </a:ext>
            </a:extLst>
          </p:cNvPr>
          <p:cNvSpPr>
            <a:spLocks xmlns:a="http://schemas.openxmlformats.org/drawingml/2006/main" noGrp="1"/>
          </p:cNvSpPr>
          <p:nvPr/>
        </p:nvSpPr>
        <p:spPr>
          <a:xfrm xmlns:a="http://schemas.openxmlformats.org/drawingml/2006/main">
            <a:off x="1809750" y="3219450"/>
            <a:ext cx="1508125" cy="2000250"/>
          </a:xfrm>
          <a:prstGeom xmlns:a="http://schemas.openxmlformats.org/drawingml/2006/main" prst="roundRect">
            <a:avLst>
              <a:gd name="adj" fmla="val 5053"/>
            </a:avLst>
          </a:prstGeom>
          <a:noFill xmlns:a="http://schemas.openxmlformats.org/drawingml/2006/main"/>
          <a:ln xmlns:a="http://schemas.openxmlformats.org/drawingml/2006/main" w="9525">
            <a:solidFill>
              <a:srgbClr val="00B2BB"/>
            </a:solidFill>
            <a:prstDash val="solid"/>
          </a:ln>
        </p:spPr>
      </p:sp>
      <p:sp>
        <p:nvSpPr>
          <p:cNvPr id="9" name="">
            <a:extLst xmlns:a="http://schemas.openxmlformats.org/drawingml/2006/main">
              <a:ext uri="{FF2B5EF4-FFF2-40B4-BE49-F238E27FC236}">
                <a16:creationId xmlns:a16="http://schemas.microsoft.com/office/drawing/2014/main" id="{6CB632CB-1DAC-47E4-843A-48BE0DE16224}"/>
              </a:ext>
            </a:extLst>
          </p:cNvPr>
          <p:cNvSpPr>
            <a:spLocks xmlns:a="http://schemas.openxmlformats.org/drawingml/2006/main" noGrp="1"/>
          </p:cNvSpPr>
          <p:nvPr/>
        </p:nvSpPr>
        <p:spPr>
          <a:xfrm xmlns:a="http://schemas.openxmlformats.org/drawingml/2006/main">
            <a:off x="1905000" y="3314700"/>
            <a:ext cx="13176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Ansprüche, Parteien, Zuständigkeit, Verjährung, Unterlagen und Kosten werden geprüft.</a:t>
            </a:r>
          </a:p>
        </p:txBody>
      </p:sp>
      <p:sp>
        <p:nvSpPr>
          <p:cNvPr id="10" name="">
            <a:extLst xmlns:a="http://schemas.openxmlformats.org/drawingml/2006/main">
              <a:ext uri="{FF2B5EF4-FFF2-40B4-BE49-F238E27FC236}">
                <a16:creationId xmlns:a16="http://schemas.microsoft.com/office/drawing/2014/main" id="{33439D64-190D-4ABE-A9FA-225665172FDC}"/>
              </a:ext>
            </a:extLst>
          </p:cNvPr>
          <p:cNvSpPr>
            <a:spLocks xmlns:a="http://schemas.openxmlformats.org/drawingml/2006/main" noGrp="1"/>
          </p:cNvSpPr>
          <p:nvPr/>
        </p:nvSpPr>
        <p:spPr>
          <a:xfrm xmlns:a="http://schemas.openxmlformats.org/drawingml/2006/main">
            <a:off x="3413125" y="2495550"/>
            <a:ext cx="1508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Klage und Zustellung</a:t>
            </a:r>
          </a:p>
        </p:txBody>
      </p:sp>
      <p:sp>
        <p:nvSpPr>
          <p:cNvPr id="11" name="">
            <a:extLst xmlns:a="http://schemas.openxmlformats.org/drawingml/2006/main">
              <a:ext uri="{FF2B5EF4-FFF2-40B4-BE49-F238E27FC236}">
                <a16:creationId xmlns:a16="http://schemas.microsoft.com/office/drawing/2014/main" id="{D8768BDD-7043-4E3F-A01E-2582E2BBEB8D}"/>
              </a:ext>
            </a:extLst>
          </p:cNvPr>
          <p:cNvSpPr>
            <a:spLocks xmlns:a="http://schemas.openxmlformats.org/drawingml/2006/main" noGrp="1"/>
          </p:cNvSpPr>
          <p:nvPr/>
        </p:nvSpPr>
        <p:spPr>
          <a:xfrm xmlns:a="http://schemas.openxmlformats.org/drawingml/2006/main">
            <a:off x="4043363" y="2838450"/>
            <a:ext cx="247650" cy="24765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12" name="">
            <a:extLst xmlns:a="http://schemas.openxmlformats.org/drawingml/2006/main">
              <a:ext uri="{FF2B5EF4-FFF2-40B4-BE49-F238E27FC236}">
                <a16:creationId xmlns:a16="http://schemas.microsoft.com/office/drawing/2014/main" id="{2F404DCE-D87A-4C22-B19F-AFFD47374ADE}"/>
              </a:ext>
            </a:extLst>
          </p:cNvPr>
          <p:cNvSpPr>
            <a:spLocks xmlns:a="http://schemas.openxmlformats.org/drawingml/2006/main" noGrp="1"/>
          </p:cNvSpPr>
          <p:nvPr/>
        </p:nvSpPr>
        <p:spPr>
          <a:xfrm xmlns:a="http://schemas.openxmlformats.org/drawingml/2006/main">
            <a:off x="3413125" y="3219450"/>
            <a:ext cx="1508125" cy="2000250"/>
          </a:xfrm>
          <a:prstGeom xmlns:a="http://schemas.openxmlformats.org/drawingml/2006/main" prst="roundRect">
            <a:avLst>
              <a:gd name="adj" fmla="val 5053"/>
            </a:avLst>
          </a:prstGeom>
          <a:noFill xmlns:a="http://schemas.openxmlformats.org/drawingml/2006/main"/>
          <a:ln xmlns:a="http://schemas.openxmlformats.org/drawingml/2006/main" w="9525">
            <a:solidFill>
              <a:srgbClr val="003F6B"/>
            </a:solidFill>
            <a:prstDash val="solid"/>
          </a:ln>
        </p:spPr>
      </p:sp>
      <p:sp>
        <p:nvSpPr>
          <p:cNvPr id="13" name="">
            <a:extLst xmlns:a="http://schemas.openxmlformats.org/drawingml/2006/main">
              <a:ext uri="{FF2B5EF4-FFF2-40B4-BE49-F238E27FC236}">
                <a16:creationId xmlns:a16="http://schemas.microsoft.com/office/drawing/2014/main" id="{65A16369-F360-4E50-8F50-B762779970E0}"/>
              </a:ext>
            </a:extLst>
          </p:cNvPr>
          <p:cNvSpPr>
            <a:spLocks xmlns:a="http://schemas.openxmlformats.org/drawingml/2006/main" noGrp="1"/>
          </p:cNvSpPr>
          <p:nvPr/>
        </p:nvSpPr>
        <p:spPr>
          <a:xfrm xmlns:a="http://schemas.openxmlformats.org/drawingml/2006/main">
            <a:off x="3508375" y="3314700"/>
            <a:ext cx="13176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Die Klageschrift bezeichnet Anträge, Lebenssachverhalt und Beweismittel; Zustellung macht das Verfahren rechtshängig.</a:t>
            </a:r>
          </a:p>
        </p:txBody>
      </p:sp>
      <p:sp>
        <p:nvSpPr>
          <p:cNvPr id="14" name="">
            <a:extLst xmlns:a="http://schemas.openxmlformats.org/drawingml/2006/main">
              <a:ext uri="{FF2B5EF4-FFF2-40B4-BE49-F238E27FC236}">
                <a16:creationId xmlns:a16="http://schemas.microsoft.com/office/drawing/2014/main" id="{F46C1BEC-03BC-4534-B704-DACADD05F88F}"/>
              </a:ext>
            </a:extLst>
          </p:cNvPr>
          <p:cNvSpPr>
            <a:spLocks xmlns:a="http://schemas.openxmlformats.org/drawingml/2006/main" noGrp="1"/>
          </p:cNvSpPr>
          <p:nvPr/>
        </p:nvSpPr>
        <p:spPr>
          <a:xfrm xmlns:a="http://schemas.openxmlformats.org/drawingml/2006/main">
            <a:off x="5016500" y="2495550"/>
            <a:ext cx="1508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Schriftliche Vorbereitung</a:t>
            </a:r>
          </a:p>
        </p:txBody>
      </p:sp>
      <p:sp>
        <p:nvSpPr>
          <p:cNvPr id="15" name="">
            <a:extLst xmlns:a="http://schemas.openxmlformats.org/drawingml/2006/main">
              <a:ext uri="{FF2B5EF4-FFF2-40B4-BE49-F238E27FC236}">
                <a16:creationId xmlns:a16="http://schemas.microsoft.com/office/drawing/2014/main" id="{E00B4E65-FA11-4060-8A3C-4819432F31BD}"/>
              </a:ext>
            </a:extLst>
          </p:cNvPr>
          <p:cNvSpPr>
            <a:spLocks xmlns:a="http://schemas.openxmlformats.org/drawingml/2006/main" noGrp="1"/>
          </p:cNvSpPr>
          <p:nvPr/>
        </p:nvSpPr>
        <p:spPr>
          <a:xfrm xmlns:a="http://schemas.openxmlformats.org/drawingml/2006/main">
            <a:off x="5646738" y="2838450"/>
            <a:ext cx="247650" cy="24765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16" name="">
            <a:extLst xmlns:a="http://schemas.openxmlformats.org/drawingml/2006/main">
              <a:ext uri="{FF2B5EF4-FFF2-40B4-BE49-F238E27FC236}">
                <a16:creationId xmlns:a16="http://schemas.microsoft.com/office/drawing/2014/main" id="{EAC20EA0-92FA-4F2B-A67F-CAAA676A0E33}"/>
              </a:ext>
            </a:extLst>
          </p:cNvPr>
          <p:cNvSpPr>
            <a:spLocks xmlns:a="http://schemas.openxmlformats.org/drawingml/2006/main" noGrp="1"/>
          </p:cNvSpPr>
          <p:nvPr/>
        </p:nvSpPr>
        <p:spPr>
          <a:xfrm xmlns:a="http://schemas.openxmlformats.org/drawingml/2006/main">
            <a:off x="5016500" y="3219450"/>
            <a:ext cx="1508125" cy="2000250"/>
          </a:xfrm>
          <a:prstGeom xmlns:a="http://schemas.openxmlformats.org/drawingml/2006/main" prst="roundRect">
            <a:avLst>
              <a:gd name="adj" fmla="val 5053"/>
            </a:avLst>
          </a:prstGeom>
          <a:noFill xmlns:a="http://schemas.openxmlformats.org/drawingml/2006/main"/>
          <a:ln xmlns:a="http://schemas.openxmlformats.org/drawingml/2006/main" w="9525">
            <a:solidFill>
              <a:srgbClr val="00B2BB"/>
            </a:solidFill>
            <a:prstDash val="solid"/>
          </a:ln>
        </p:spPr>
      </p:sp>
      <p:sp>
        <p:nvSpPr>
          <p:cNvPr id="17" name="">
            <a:extLst xmlns:a="http://schemas.openxmlformats.org/drawingml/2006/main">
              <a:ext uri="{FF2B5EF4-FFF2-40B4-BE49-F238E27FC236}">
                <a16:creationId xmlns:a16="http://schemas.microsoft.com/office/drawing/2014/main" id="{7F4AC592-E2A1-45DC-8E07-5BBF15CAD4CE}"/>
              </a:ext>
            </a:extLst>
          </p:cNvPr>
          <p:cNvSpPr>
            <a:spLocks xmlns:a="http://schemas.openxmlformats.org/drawingml/2006/main" noGrp="1"/>
          </p:cNvSpPr>
          <p:nvPr/>
        </p:nvSpPr>
        <p:spPr>
          <a:xfrm xmlns:a="http://schemas.openxmlformats.org/drawingml/2006/main">
            <a:off x="5111750" y="3314700"/>
            <a:ext cx="13176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Klageerwiderung, Replik und weitere Schriftsätze grenzen unstreitige und streitige Punkte ein.</a:t>
            </a:r>
          </a:p>
        </p:txBody>
      </p:sp>
      <p:sp>
        <p:nvSpPr>
          <p:cNvPr id="18" name="">
            <a:extLst xmlns:a="http://schemas.openxmlformats.org/drawingml/2006/main">
              <a:ext uri="{FF2B5EF4-FFF2-40B4-BE49-F238E27FC236}">
                <a16:creationId xmlns:a16="http://schemas.microsoft.com/office/drawing/2014/main" id="{0DB5AE73-37B6-47CB-9B90-F6CED1C0F376}"/>
              </a:ext>
            </a:extLst>
          </p:cNvPr>
          <p:cNvSpPr>
            <a:spLocks xmlns:a="http://schemas.openxmlformats.org/drawingml/2006/main" noGrp="1"/>
          </p:cNvSpPr>
          <p:nvPr/>
        </p:nvSpPr>
        <p:spPr>
          <a:xfrm xmlns:a="http://schemas.openxmlformats.org/drawingml/2006/main">
            <a:off x="6619875" y="2495550"/>
            <a:ext cx="1508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Mündliche Verhandlung</a:t>
            </a:r>
          </a:p>
        </p:txBody>
      </p:sp>
      <p:sp>
        <p:nvSpPr>
          <p:cNvPr id="19" name="">
            <a:extLst xmlns:a="http://schemas.openxmlformats.org/drawingml/2006/main">
              <a:ext uri="{FF2B5EF4-FFF2-40B4-BE49-F238E27FC236}">
                <a16:creationId xmlns:a16="http://schemas.microsoft.com/office/drawing/2014/main" id="{5497E4AB-62AF-4211-B545-20244D0CFE85}"/>
              </a:ext>
            </a:extLst>
          </p:cNvPr>
          <p:cNvSpPr>
            <a:spLocks xmlns:a="http://schemas.openxmlformats.org/drawingml/2006/main" noGrp="1"/>
          </p:cNvSpPr>
          <p:nvPr/>
        </p:nvSpPr>
        <p:spPr>
          <a:xfrm xmlns:a="http://schemas.openxmlformats.org/drawingml/2006/main">
            <a:off x="7250113" y="2838450"/>
            <a:ext cx="247650" cy="24765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20" name="">
            <a:extLst xmlns:a="http://schemas.openxmlformats.org/drawingml/2006/main">
              <a:ext uri="{FF2B5EF4-FFF2-40B4-BE49-F238E27FC236}">
                <a16:creationId xmlns:a16="http://schemas.microsoft.com/office/drawing/2014/main" id="{B18C8A4B-65A5-454A-97B7-3DB73276F848}"/>
              </a:ext>
            </a:extLst>
          </p:cNvPr>
          <p:cNvSpPr>
            <a:spLocks xmlns:a="http://schemas.openxmlformats.org/drawingml/2006/main" noGrp="1"/>
          </p:cNvSpPr>
          <p:nvPr/>
        </p:nvSpPr>
        <p:spPr>
          <a:xfrm xmlns:a="http://schemas.openxmlformats.org/drawingml/2006/main">
            <a:off x="6619875" y="3219450"/>
            <a:ext cx="1508125" cy="2000250"/>
          </a:xfrm>
          <a:prstGeom xmlns:a="http://schemas.openxmlformats.org/drawingml/2006/main" prst="roundRect">
            <a:avLst>
              <a:gd name="adj" fmla="val 5053"/>
            </a:avLst>
          </a:prstGeom>
          <a:noFill xmlns:a="http://schemas.openxmlformats.org/drawingml/2006/main"/>
          <a:ln xmlns:a="http://schemas.openxmlformats.org/drawingml/2006/main" w="9525">
            <a:solidFill>
              <a:srgbClr val="003F6B"/>
            </a:solidFill>
            <a:prstDash val="solid"/>
          </a:ln>
        </p:spPr>
      </p:sp>
      <p:sp>
        <p:nvSpPr>
          <p:cNvPr id="21" name="">
            <a:extLst xmlns:a="http://schemas.openxmlformats.org/drawingml/2006/main">
              <a:ext uri="{FF2B5EF4-FFF2-40B4-BE49-F238E27FC236}">
                <a16:creationId xmlns:a16="http://schemas.microsoft.com/office/drawing/2014/main" id="{E58F87E0-00EB-453C-93D1-11105E1AECC5}"/>
              </a:ext>
            </a:extLst>
          </p:cNvPr>
          <p:cNvSpPr>
            <a:spLocks xmlns:a="http://schemas.openxmlformats.org/drawingml/2006/main" noGrp="1"/>
          </p:cNvSpPr>
          <p:nvPr/>
        </p:nvSpPr>
        <p:spPr>
          <a:xfrm xmlns:a="http://schemas.openxmlformats.org/drawingml/2006/main">
            <a:off x="6715125" y="3314700"/>
            <a:ext cx="13176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Das Gericht erörtert Sach- und Rechtslage, versucht eine Güteentscheidung und strukturiert den Streit.</a:t>
            </a:r>
          </a:p>
        </p:txBody>
      </p:sp>
      <p:sp>
        <p:nvSpPr>
          <p:cNvPr id="22" name="">
            <a:extLst xmlns:a="http://schemas.openxmlformats.org/drawingml/2006/main">
              <a:ext uri="{FF2B5EF4-FFF2-40B4-BE49-F238E27FC236}">
                <a16:creationId xmlns:a16="http://schemas.microsoft.com/office/drawing/2014/main" id="{E5DDDE67-4DB9-46F1-AA7F-235F2BB7567F}"/>
              </a:ext>
            </a:extLst>
          </p:cNvPr>
          <p:cNvSpPr>
            <a:spLocks xmlns:a="http://schemas.openxmlformats.org/drawingml/2006/main" noGrp="1"/>
          </p:cNvSpPr>
          <p:nvPr/>
        </p:nvSpPr>
        <p:spPr>
          <a:xfrm xmlns:a="http://schemas.openxmlformats.org/drawingml/2006/main">
            <a:off x="8223250" y="2495550"/>
            <a:ext cx="1508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Beweisaufnahme</a:t>
            </a:r>
          </a:p>
        </p:txBody>
      </p:sp>
      <p:sp>
        <p:nvSpPr>
          <p:cNvPr id="23" name="">
            <a:extLst xmlns:a="http://schemas.openxmlformats.org/drawingml/2006/main">
              <a:ext uri="{FF2B5EF4-FFF2-40B4-BE49-F238E27FC236}">
                <a16:creationId xmlns:a16="http://schemas.microsoft.com/office/drawing/2014/main" id="{35A61C6F-BFEC-4F94-9F99-E2CA4C3BB21A}"/>
              </a:ext>
            </a:extLst>
          </p:cNvPr>
          <p:cNvSpPr>
            <a:spLocks xmlns:a="http://schemas.openxmlformats.org/drawingml/2006/main" noGrp="1"/>
          </p:cNvSpPr>
          <p:nvPr/>
        </p:nvSpPr>
        <p:spPr>
          <a:xfrm xmlns:a="http://schemas.openxmlformats.org/drawingml/2006/main">
            <a:off x="8853488" y="2838450"/>
            <a:ext cx="247650" cy="24765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24" name="">
            <a:extLst xmlns:a="http://schemas.openxmlformats.org/drawingml/2006/main">
              <a:ext uri="{FF2B5EF4-FFF2-40B4-BE49-F238E27FC236}">
                <a16:creationId xmlns:a16="http://schemas.microsoft.com/office/drawing/2014/main" id="{1812757F-95AE-46A2-825D-53D7ADE91C5B}"/>
              </a:ext>
            </a:extLst>
          </p:cNvPr>
          <p:cNvSpPr>
            <a:spLocks xmlns:a="http://schemas.openxmlformats.org/drawingml/2006/main" noGrp="1"/>
          </p:cNvSpPr>
          <p:nvPr/>
        </p:nvSpPr>
        <p:spPr>
          <a:xfrm xmlns:a="http://schemas.openxmlformats.org/drawingml/2006/main">
            <a:off x="8223250" y="3219450"/>
            <a:ext cx="1508125" cy="2000250"/>
          </a:xfrm>
          <a:prstGeom xmlns:a="http://schemas.openxmlformats.org/drawingml/2006/main" prst="roundRect">
            <a:avLst>
              <a:gd name="adj" fmla="val 5053"/>
            </a:avLst>
          </a:prstGeom>
          <a:noFill xmlns:a="http://schemas.openxmlformats.org/drawingml/2006/main"/>
          <a:ln xmlns:a="http://schemas.openxmlformats.org/drawingml/2006/main" w="9525">
            <a:solidFill>
              <a:srgbClr val="00B2BB"/>
            </a:solidFill>
            <a:prstDash val="solid"/>
          </a:ln>
        </p:spPr>
      </p:sp>
      <p:sp>
        <p:nvSpPr>
          <p:cNvPr id="25" name="">
            <a:extLst xmlns:a="http://schemas.openxmlformats.org/drawingml/2006/main">
              <a:ext uri="{FF2B5EF4-FFF2-40B4-BE49-F238E27FC236}">
                <a16:creationId xmlns:a16="http://schemas.microsoft.com/office/drawing/2014/main" id="{ECEFC6CC-0BAC-41F7-AEDE-168C1B4CEA0B}"/>
              </a:ext>
            </a:extLst>
          </p:cNvPr>
          <p:cNvSpPr>
            <a:spLocks xmlns:a="http://schemas.openxmlformats.org/drawingml/2006/main" noGrp="1"/>
          </p:cNvSpPr>
          <p:nvPr/>
        </p:nvSpPr>
        <p:spPr>
          <a:xfrm xmlns:a="http://schemas.openxmlformats.org/drawingml/2006/main">
            <a:off x="8318500" y="3314700"/>
            <a:ext cx="13176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Zeugen, Urkunden und insbesondere Sachverständige klären streitige erhebliche Tatsachen.</a:t>
            </a:r>
          </a:p>
        </p:txBody>
      </p:sp>
      <p:sp>
        <p:nvSpPr>
          <p:cNvPr id="26" name="">
            <a:extLst xmlns:a="http://schemas.openxmlformats.org/drawingml/2006/main">
              <a:ext uri="{FF2B5EF4-FFF2-40B4-BE49-F238E27FC236}">
                <a16:creationId xmlns:a16="http://schemas.microsoft.com/office/drawing/2014/main" id="{FCC79461-90E4-457E-8F00-27EEFDCC8123}"/>
              </a:ext>
            </a:extLst>
          </p:cNvPr>
          <p:cNvSpPr>
            <a:spLocks xmlns:a="http://schemas.openxmlformats.org/drawingml/2006/main" noGrp="1"/>
          </p:cNvSpPr>
          <p:nvPr/>
        </p:nvSpPr>
        <p:spPr>
          <a:xfrm xmlns:a="http://schemas.openxmlformats.org/drawingml/2006/main">
            <a:off x="9826625" y="2495550"/>
            <a:ext cx="1508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Entscheidung und Vollstreckung</a:t>
            </a:r>
          </a:p>
        </p:txBody>
      </p:sp>
      <p:sp>
        <p:nvSpPr>
          <p:cNvPr id="27" name="">
            <a:extLst xmlns:a="http://schemas.openxmlformats.org/drawingml/2006/main">
              <a:ext uri="{FF2B5EF4-FFF2-40B4-BE49-F238E27FC236}">
                <a16:creationId xmlns:a16="http://schemas.microsoft.com/office/drawing/2014/main" id="{A3DD33EB-A6CF-4BAD-B388-D7669DC28E6C}"/>
              </a:ext>
            </a:extLst>
          </p:cNvPr>
          <p:cNvSpPr>
            <a:spLocks xmlns:a="http://schemas.openxmlformats.org/drawingml/2006/main" noGrp="1"/>
          </p:cNvSpPr>
          <p:nvPr/>
        </p:nvSpPr>
        <p:spPr>
          <a:xfrm xmlns:a="http://schemas.openxmlformats.org/drawingml/2006/main">
            <a:off x="10456863" y="2838450"/>
            <a:ext cx="247650" cy="24765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28" name="">
            <a:extLst xmlns:a="http://schemas.openxmlformats.org/drawingml/2006/main">
              <a:ext uri="{FF2B5EF4-FFF2-40B4-BE49-F238E27FC236}">
                <a16:creationId xmlns:a16="http://schemas.microsoft.com/office/drawing/2014/main" id="{B893D076-CD2B-4069-9D0A-C3595832D1A2}"/>
              </a:ext>
            </a:extLst>
          </p:cNvPr>
          <p:cNvSpPr>
            <a:spLocks xmlns:a="http://schemas.openxmlformats.org/drawingml/2006/main" noGrp="1"/>
          </p:cNvSpPr>
          <p:nvPr/>
        </p:nvSpPr>
        <p:spPr>
          <a:xfrm xmlns:a="http://schemas.openxmlformats.org/drawingml/2006/main">
            <a:off x="9826625" y="3219450"/>
            <a:ext cx="1508125" cy="2000250"/>
          </a:xfrm>
          <a:prstGeom xmlns:a="http://schemas.openxmlformats.org/drawingml/2006/main" prst="roundRect">
            <a:avLst>
              <a:gd name="adj" fmla="val 5053"/>
            </a:avLst>
          </a:prstGeom>
          <a:noFill xmlns:a="http://schemas.openxmlformats.org/drawingml/2006/main"/>
          <a:ln xmlns:a="http://schemas.openxmlformats.org/drawingml/2006/main" w="9525">
            <a:solidFill>
              <a:srgbClr val="003F6B"/>
            </a:solidFill>
            <a:prstDash val="solid"/>
          </a:ln>
        </p:spPr>
      </p:sp>
      <p:sp>
        <p:nvSpPr>
          <p:cNvPr id="29" name="">
            <a:extLst xmlns:a="http://schemas.openxmlformats.org/drawingml/2006/main">
              <a:ext uri="{FF2B5EF4-FFF2-40B4-BE49-F238E27FC236}">
                <a16:creationId xmlns:a16="http://schemas.microsoft.com/office/drawing/2014/main" id="{CBEB7807-0B34-4681-8A5F-3D436ACB4EE2}"/>
              </a:ext>
            </a:extLst>
          </p:cNvPr>
          <p:cNvSpPr>
            <a:spLocks xmlns:a="http://schemas.openxmlformats.org/drawingml/2006/main" noGrp="1"/>
          </p:cNvSpPr>
          <p:nvPr/>
        </p:nvSpPr>
        <p:spPr>
          <a:xfrm xmlns:a="http://schemas.openxmlformats.org/drawingml/2006/main">
            <a:off x="9921875" y="3314700"/>
            <a:ext cx="13176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Vergleich oder Urteil beenden die Instanz; Rechtsmittel und gegebenenfalls Zwangsvollstreckung folgen.</a:t>
            </a:r>
          </a:p>
        </p:txBody>
      </p:sp>
      <p:sp>
        <p:nvSpPr>
          <p:cNvPr id="30" name="">
            <a:extLst xmlns:a="http://schemas.openxmlformats.org/drawingml/2006/main">
              <a:ext uri="{FF2B5EF4-FFF2-40B4-BE49-F238E27FC236}">
                <a16:creationId xmlns:a16="http://schemas.microsoft.com/office/drawing/2014/main" id="{BB3E1D7B-7765-492A-9DA0-AFBB9F6CCFBD}"/>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31" name="">
            <a:extLst xmlns:a="http://schemas.openxmlformats.org/drawingml/2006/main">
              <a:ext uri="{FF2B5EF4-FFF2-40B4-BE49-F238E27FC236}">
                <a16:creationId xmlns:a16="http://schemas.microsoft.com/office/drawing/2014/main" id="{488EB964-F4A0-4F78-B204-B4AB5704714E}"/>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Jede Station hat eigene Fristen, Rollen und strategische Entscheidungen.</a:t>
            </a:r>
          </a:p>
        </p:txBody>
      </p:sp>
    </p:spTree>
    <p:extLst>
      <p:ext uri="{BB962C8B-B14F-4D97-AF65-F5344CB8AC3E}">
        <p14:creationId xmlns:p14="http://schemas.microsoft.com/office/powerpoint/2010/main" val="43637646"/>
      </p:ext>
    </p:extLst>
  </p:cSld>
</p:sld>
</file>

<file path=ppt/slides/slide185.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Parteien und Prozessfähigkeit</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A79BE013-43A1-4AE8-8A91-2036265C0887}"/>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Das Gericht muss wissen, wer klagt, wer verklagt wird und wer wirksam Prozesshandlungen vornehmen kann.</a:t>
            </a:r>
          </a:p>
        </p:txBody>
      </p:sp>
      <p:sp>
        <p:nvSpPr>
          <p:cNvPr id="5" name="">
            <a:extLst xmlns:a="http://schemas.openxmlformats.org/drawingml/2006/main">
              <a:ext uri="{FF2B5EF4-FFF2-40B4-BE49-F238E27FC236}">
                <a16:creationId xmlns:a16="http://schemas.microsoft.com/office/drawing/2014/main" id="{A1C4D943-F34A-4850-AE4C-780B4940BC4D}"/>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65596F39-7843-45FA-AB5E-CC17BA08CCA3}"/>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44B2E356-7280-431B-903C-6BF6C3267B2D}"/>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Parteifähigkeit</a:t>
            </a:r>
          </a:p>
        </p:txBody>
      </p:sp>
      <p:sp>
        <p:nvSpPr>
          <p:cNvPr id="8" name="">
            <a:extLst xmlns:a="http://schemas.openxmlformats.org/drawingml/2006/main">
              <a:ext uri="{FF2B5EF4-FFF2-40B4-BE49-F238E27FC236}">
                <a16:creationId xmlns:a16="http://schemas.microsoft.com/office/drawing/2014/main" id="{C99858DD-D3F4-4358-8BC3-8DA59B83CC45}"/>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Natürliche und juristische Personen können grundsätzlich Partei sein.</a:t>
            </a:r>
          </a:p>
        </p:txBody>
      </p:sp>
      <p:sp>
        <p:nvSpPr>
          <p:cNvPr id="9" name="">
            <a:extLst xmlns:a="http://schemas.openxmlformats.org/drawingml/2006/main">
              <a:ext uri="{FF2B5EF4-FFF2-40B4-BE49-F238E27FC236}">
                <a16:creationId xmlns:a16="http://schemas.microsoft.com/office/drawing/2014/main" id="{BA969D6C-3130-4189-A06E-08FCFDACFE7D}"/>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B36BA94F-2DF9-40B8-9745-E9F0C862082C}"/>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2DF9C66B-AECA-460D-991E-87628E89479A}"/>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Prozessfähigkeit</a:t>
            </a:r>
          </a:p>
        </p:txBody>
      </p:sp>
      <p:sp>
        <p:nvSpPr>
          <p:cNvPr id="12" name="">
            <a:extLst xmlns:a="http://schemas.openxmlformats.org/drawingml/2006/main">
              <a:ext uri="{FF2B5EF4-FFF2-40B4-BE49-F238E27FC236}">
                <a16:creationId xmlns:a16="http://schemas.microsoft.com/office/drawing/2014/main" id="{E7D9D757-202D-4481-8CB3-E86FB828B571}"/>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Sie betrifft die Fähigkeit, Prozesshandlungen selbst oder durch Vertreter wirksam vorzunehmen.</a:t>
            </a:r>
          </a:p>
        </p:txBody>
      </p:sp>
      <p:sp>
        <p:nvSpPr>
          <p:cNvPr id="13" name="">
            <a:extLst xmlns:a="http://schemas.openxmlformats.org/drawingml/2006/main">
              <a:ext uri="{FF2B5EF4-FFF2-40B4-BE49-F238E27FC236}">
                <a16:creationId xmlns:a16="http://schemas.microsoft.com/office/drawing/2014/main" id="{13911512-C3D3-4071-8FBF-A300EBEE3E51}"/>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57C7D29E-4B81-4C74-96F5-FF131BB9F4BE}"/>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27CB1492-9E05-4473-BA6E-4C5759BF3E39}"/>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Richtige Partei</a:t>
            </a:r>
          </a:p>
        </p:txBody>
      </p:sp>
      <p:sp>
        <p:nvSpPr>
          <p:cNvPr id="16" name="">
            <a:extLst xmlns:a="http://schemas.openxmlformats.org/drawingml/2006/main">
              <a:ext uri="{FF2B5EF4-FFF2-40B4-BE49-F238E27FC236}">
                <a16:creationId xmlns:a16="http://schemas.microsoft.com/office/drawing/2014/main" id="{80AF26C0-69BC-479B-9A24-CEF4F8747B7A}"/>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Vertragspartner, behandelnde Person und Krankenhausträger dürfen nicht verwechselt werden.</a:t>
            </a:r>
          </a:p>
        </p:txBody>
      </p:sp>
      <p:sp>
        <p:nvSpPr>
          <p:cNvPr id="17" name="">
            <a:extLst xmlns:a="http://schemas.openxmlformats.org/drawingml/2006/main">
              <a:ext uri="{FF2B5EF4-FFF2-40B4-BE49-F238E27FC236}">
                <a16:creationId xmlns:a16="http://schemas.microsoft.com/office/drawing/2014/main" id="{3833AC18-2034-47F7-9556-1147818BE94F}"/>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459E18D9-F6AB-41E1-95D6-F7170E880ABF}"/>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0D42537E-A6C6-42F0-889C-5F48FE062119}"/>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Streitverkündung/weitere Beteiligte</a:t>
            </a:r>
          </a:p>
        </p:txBody>
      </p:sp>
      <p:sp>
        <p:nvSpPr>
          <p:cNvPr id="20" name="">
            <a:extLst xmlns:a="http://schemas.openxmlformats.org/drawingml/2006/main">
              <a:ext uri="{FF2B5EF4-FFF2-40B4-BE49-F238E27FC236}">
                <a16:creationId xmlns:a16="http://schemas.microsoft.com/office/drawing/2014/main" id="{DCEECD29-92CD-4E6F-A479-9F7E550F4923}"/>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Bei möglichen Regress- oder Bindungswirkungen können Dritte prozessual einbezogen werden; Voraussetzungen sind gesondert zu prüfen.</a:t>
            </a:r>
          </a:p>
        </p:txBody>
      </p:sp>
      <p:sp>
        <p:nvSpPr>
          <p:cNvPr id="21" name="">
            <a:extLst xmlns:a="http://schemas.openxmlformats.org/drawingml/2006/main">
              <a:ext uri="{FF2B5EF4-FFF2-40B4-BE49-F238E27FC236}">
                <a16:creationId xmlns:a16="http://schemas.microsoft.com/office/drawing/2014/main" id="{8900E68C-F6E4-443D-B572-FF0B63B8E9ED}"/>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6BF8A6A9-8FC6-47F0-8BC1-C79A797B6FC3}"/>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Die Auswahl der beklagten Partei ist Teil der Haftungsanalyse, nicht bloße Formalität.</a:t>
            </a:r>
          </a:p>
        </p:txBody>
      </p:sp>
    </p:spTree>
    <p:extLst>
      <p:ext uri="{BB962C8B-B14F-4D97-AF65-F5344CB8AC3E}">
        <p14:creationId xmlns:p14="http://schemas.microsoft.com/office/powerpoint/2010/main" val="43637646"/>
      </p:ext>
    </p:extLst>
  </p:cSld>
</p:sld>
</file>

<file path=ppt/slides/slide186.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Welches Gericht ist zuständig?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54684040-0C30-44EC-A074-83BE4F1A0840}"/>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Zuständigkeit wird sachlich, örtlich und funktionell geprüft.</a:t>
            </a:r>
          </a:p>
        </p:txBody>
      </p:sp>
      <p:sp>
        <p:nvSpPr>
          <p:cNvPr id="5" name="">
            <a:extLst xmlns:a="http://schemas.openxmlformats.org/drawingml/2006/main">
              <a:ext uri="{FF2B5EF4-FFF2-40B4-BE49-F238E27FC236}">
                <a16:creationId xmlns:a16="http://schemas.microsoft.com/office/drawing/2014/main" id="{BE8729F6-E64A-47F0-8C65-6F0E36216A5A}"/>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2BBE6537-DAFC-45B5-8376-E2C65FCFCA60}"/>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14B6F83C-15AE-4E96-8087-63967BDBD968}"/>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Sachlich</a:t>
            </a:r>
          </a:p>
        </p:txBody>
      </p:sp>
      <p:sp>
        <p:nvSpPr>
          <p:cNvPr id="8" name="">
            <a:extLst xmlns:a="http://schemas.openxmlformats.org/drawingml/2006/main">
              <a:ext uri="{FF2B5EF4-FFF2-40B4-BE49-F238E27FC236}">
                <a16:creationId xmlns:a16="http://schemas.microsoft.com/office/drawing/2014/main" id="{2E1236FA-589C-4A5B-9A18-AD9654958251}"/>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Für Streitigkeiten aus Heilbehandlungen gilt seit 1. Januar 2026 die ausschließliche Zuständigkeit der Landgerichte (§ 71 Abs. 2 Nr. 9 GVG); sonst entscheiden Streitwert und weitere gesetzliche Sonderzuweisungen. Vor dem Landgericht besteht Anwaltszwang.</a:t>
            </a:r>
          </a:p>
        </p:txBody>
      </p:sp>
      <p:sp>
        <p:nvSpPr>
          <p:cNvPr id="9" name="">
            <a:extLst xmlns:a="http://schemas.openxmlformats.org/drawingml/2006/main">
              <a:ext uri="{FF2B5EF4-FFF2-40B4-BE49-F238E27FC236}">
                <a16:creationId xmlns:a16="http://schemas.microsoft.com/office/drawing/2014/main" id="{ECA4752D-C2DC-441D-A621-4F12FDD3CB53}"/>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AD59FD7C-3F39-4D0D-B985-583853AE485D}"/>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0EA9BDA9-0304-4495-AFCB-3DB094C658A3}"/>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Örtlich</a:t>
            </a:r>
          </a:p>
        </p:txBody>
      </p:sp>
      <p:sp>
        <p:nvSpPr>
          <p:cNvPr id="12" name="">
            <a:extLst xmlns:a="http://schemas.openxmlformats.org/drawingml/2006/main">
              <a:ext uri="{FF2B5EF4-FFF2-40B4-BE49-F238E27FC236}">
                <a16:creationId xmlns:a16="http://schemas.microsoft.com/office/drawing/2014/main" id="{24AE6F48-DA83-4D35-B602-9B0182757600}"/>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Allgemeiner Gerichtsstand, Erfüllungsort und Deliktsort können relevant sein; mehrere Gerichtsstände können zur Wahl stehen.</a:t>
            </a:r>
          </a:p>
        </p:txBody>
      </p:sp>
      <p:sp>
        <p:nvSpPr>
          <p:cNvPr id="13" name="">
            <a:extLst xmlns:a="http://schemas.openxmlformats.org/drawingml/2006/main">
              <a:ext uri="{FF2B5EF4-FFF2-40B4-BE49-F238E27FC236}">
                <a16:creationId xmlns:a16="http://schemas.microsoft.com/office/drawing/2014/main" id="{A2AFF3C2-0092-4D3E-8176-8C6B1A19474F}"/>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F63F6A95-B62E-44AF-90AA-054A0CAB8E85}"/>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416CB2EB-55BA-4CA4-BF79-D5301036967F}"/>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Geschäftsverteilung</a:t>
            </a:r>
          </a:p>
        </p:txBody>
      </p:sp>
      <p:sp>
        <p:nvSpPr>
          <p:cNvPr id="16" name="">
            <a:extLst xmlns:a="http://schemas.openxmlformats.org/drawingml/2006/main">
              <a:ext uri="{FF2B5EF4-FFF2-40B4-BE49-F238E27FC236}">
                <a16:creationId xmlns:a16="http://schemas.microsoft.com/office/drawing/2014/main" id="{FCDD6B89-CD58-44E3-A270-BC33E7D82019}"/>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Innerhalb des Gerichts weist der Geschäftsverteilungsplan die Sache einer spezialisierten Kammer zu.</a:t>
            </a:r>
          </a:p>
        </p:txBody>
      </p:sp>
      <p:sp>
        <p:nvSpPr>
          <p:cNvPr id="17" name="">
            <a:extLst xmlns:a="http://schemas.openxmlformats.org/drawingml/2006/main">
              <a:ext uri="{FF2B5EF4-FFF2-40B4-BE49-F238E27FC236}">
                <a16:creationId xmlns:a16="http://schemas.microsoft.com/office/drawing/2014/main" id="{1A2270DE-6F47-4F7C-A450-AC7CF242B4CC}"/>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1D1A3F1C-56AF-4665-9B16-9C8189827AD9}"/>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7583D65C-BE82-44F1-81E6-0786C8B8BBCC}"/>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Prüfungszeitpunkt</a:t>
            </a:r>
          </a:p>
        </p:txBody>
      </p:sp>
      <p:sp>
        <p:nvSpPr>
          <p:cNvPr id="20" name="">
            <a:extLst xmlns:a="http://schemas.openxmlformats.org/drawingml/2006/main">
              <a:ext uri="{FF2B5EF4-FFF2-40B4-BE49-F238E27FC236}">
                <a16:creationId xmlns:a16="http://schemas.microsoft.com/office/drawing/2014/main" id="{F99CFCA3-DE97-4F3E-AC89-F4DCE82A619D}"/>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Zuständigkeit wird vor Klage erhoben, weil Verweisung Zeit und Kosten verursacht.</a:t>
            </a:r>
          </a:p>
        </p:txBody>
      </p:sp>
      <p:sp>
        <p:nvSpPr>
          <p:cNvPr id="21" name="">
            <a:extLst xmlns:a="http://schemas.openxmlformats.org/drawingml/2006/main">
              <a:ext uri="{FF2B5EF4-FFF2-40B4-BE49-F238E27FC236}">
                <a16:creationId xmlns:a16="http://schemas.microsoft.com/office/drawing/2014/main" id="{2CE4E197-B576-4734-ADF1-66A43ED775D7}"/>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C06F71B2-25D8-424E-8559-AD2CE9B5DCF5}"/>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„Arzthaftungskammer“ bezeichnet regelmäßig eine spezialisierte Spruchkörperzuständigkeit innerhalb des Landgerichts.</a:t>
            </a:r>
          </a:p>
        </p:txBody>
      </p:sp>
    </p:spTree>
    <p:extLst>
      <p:ext uri="{BB962C8B-B14F-4D97-AF65-F5344CB8AC3E}">
        <p14:creationId xmlns:p14="http://schemas.microsoft.com/office/powerpoint/2010/main" val="43637646"/>
      </p:ext>
    </p:extLst>
  </p:cSld>
</p:sld>
</file>

<file path=ppt/slides/slide187.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Anwaltszwang, Kosten und Prozesskostenhilfe</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19F3F5BA-0276-4042-ABC4-F04382987B3E}"/>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Der Zugang zum Zivilprozess hängt auch von Vertretung und Kostenrisiko ab.</a:t>
            </a:r>
          </a:p>
        </p:txBody>
      </p:sp>
      <p:sp>
        <p:nvSpPr>
          <p:cNvPr id="5" name="">
            <a:extLst xmlns:a="http://schemas.openxmlformats.org/drawingml/2006/main">
              <a:ext uri="{FF2B5EF4-FFF2-40B4-BE49-F238E27FC236}">
                <a16:creationId xmlns:a16="http://schemas.microsoft.com/office/drawing/2014/main" id="{DF83E56D-ADA4-4BD9-819F-32BD2C498189}"/>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5B821BCD-959F-487C-9D19-8EA021228363}"/>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8158B853-426C-48AB-B8AE-4D5528A48EFA}"/>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Anwaltszwang</a:t>
            </a:r>
          </a:p>
        </p:txBody>
      </p:sp>
      <p:sp>
        <p:nvSpPr>
          <p:cNvPr id="8" name="">
            <a:extLst xmlns:a="http://schemas.openxmlformats.org/drawingml/2006/main">
              <a:ext uri="{FF2B5EF4-FFF2-40B4-BE49-F238E27FC236}">
                <a16:creationId xmlns:a16="http://schemas.microsoft.com/office/drawing/2014/main" id="{FD1302DF-C25D-473E-AE3B-DFBC1D0892CA}"/>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Vor Landgerichten müssen Parteien sich grundsätzlich durch zugelassene Rechtsanwältinnen oder Rechtsanwälte vertreten lassen.</a:t>
            </a:r>
          </a:p>
        </p:txBody>
      </p:sp>
      <p:sp>
        <p:nvSpPr>
          <p:cNvPr id="9" name="">
            <a:extLst xmlns:a="http://schemas.openxmlformats.org/drawingml/2006/main">
              <a:ext uri="{FF2B5EF4-FFF2-40B4-BE49-F238E27FC236}">
                <a16:creationId xmlns:a16="http://schemas.microsoft.com/office/drawing/2014/main" id="{A39B3301-38C3-4D96-905D-1262CFA24B1A}"/>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C283C17F-870B-4B2B-A6BF-8D66F2F501E4}"/>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61B16359-AA92-4280-9EE6-D74178404804}"/>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Kostenrisiko</a:t>
            </a:r>
          </a:p>
        </p:txBody>
      </p:sp>
      <p:sp>
        <p:nvSpPr>
          <p:cNvPr id="12" name="">
            <a:extLst xmlns:a="http://schemas.openxmlformats.org/drawingml/2006/main">
              <a:ext uri="{FF2B5EF4-FFF2-40B4-BE49-F238E27FC236}">
                <a16:creationId xmlns:a16="http://schemas.microsoft.com/office/drawing/2014/main" id="{397F8A4D-2AB1-42C8-87E8-612B23D16E0B}"/>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Gerichts- und Anwaltskosten hängen insbesondere vom Streitwert ab; Sachverständigenkosten können erheblich sein.</a:t>
            </a:r>
          </a:p>
        </p:txBody>
      </p:sp>
      <p:sp>
        <p:nvSpPr>
          <p:cNvPr id="13" name="">
            <a:extLst xmlns:a="http://schemas.openxmlformats.org/drawingml/2006/main">
              <a:ext uri="{FF2B5EF4-FFF2-40B4-BE49-F238E27FC236}">
                <a16:creationId xmlns:a16="http://schemas.microsoft.com/office/drawing/2014/main" id="{93A10AC3-50BA-45C7-9B0F-D915C417234E}"/>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E820D109-5ADE-47F9-BAC3-E395FCC68144}"/>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6A96C6F2-4BE4-4765-A5DE-DA12B38B901D}"/>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Unterliegen</a:t>
            </a:r>
          </a:p>
        </p:txBody>
      </p:sp>
      <p:sp>
        <p:nvSpPr>
          <p:cNvPr id="16" name="">
            <a:extLst xmlns:a="http://schemas.openxmlformats.org/drawingml/2006/main">
              <a:ext uri="{FF2B5EF4-FFF2-40B4-BE49-F238E27FC236}">
                <a16:creationId xmlns:a16="http://schemas.microsoft.com/office/drawing/2014/main" id="{4FF40281-5E08-49B4-B96C-FC1E60DEDEB7}"/>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Grundsätzlich trägt die unterliegende Partei die Kosten; Teilunterliegen führt zu einer Quote.</a:t>
            </a:r>
          </a:p>
        </p:txBody>
      </p:sp>
      <p:sp>
        <p:nvSpPr>
          <p:cNvPr id="17" name="">
            <a:extLst xmlns:a="http://schemas.openxmlformats.org/drawingml/2006/main">
              <a:ext uri="{FF2B5EF4-FFF2-40B4-BE49-F238E27FC236}">
                <a16:creationId xmlns:a16="http://schemas.microsoft.com/office/drawing/2014/main" id="{0950BB2E-7B35-4C95-9534-7E6280194A21}"/>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0AC5AC13-C13B-4A18-8221-DC8ADA924989}"/>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D2B575D4-A213-49DA-A344-42E4BAE08A90}"/>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Prozesskostenhilfe</a:t>
            </a:r>
          </a:p>
        </p:txBody>
      </p:sp>
      <p:sp>
        <p:nvSpPr>
          <p:cNvPr id="20" name="">
            <a:extLst xmlns:a="http://schemas.openxmlformats.org/drawingml/2006/main">
              <a:ext uri="{FF2B5EF4-FFF2-40B4-BE49-F238E27FC236}">
                <a16:creationId xmlns:a16="http://schemas.microsoft.com/office/drawing/2014/main" id="{2DCD893C-8F45-4862-BB83-5B7174F20903}"/>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Bei persönlichen und wirtschaftlichen Voraussetzungen sowie hinreichender Erfolgsaussicht kann staatliche Unterstützung gewährt werden; eigene Mitwirkung bleibt nötig.</a:t>
            </a:r>
          </a:p>
        </p:txBody>
      </p:sp>
      <p:sp>
        <p:nvSpPr>
          <p:cNvPr id="21" name="">
            <a:extLst xmlns:a="http://schemas.openxmlformats.org/drawingml/2006/main">
              <a:ext uri="{FF2B5EF4-FFF2-40B4-BE49-F238E27FC236}">
                <a16:creationId xmlns:a16="http://schemas.microsoft.com/office/drawing/2014/main" id="{BB2B1747-772D-44D3-AEA1-5DC902981849}"/>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F31D02BB-0E7F-46FA-923B-982B8FF532FF}"/>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Kosten sind Teil der Wegentscheidung, ändern aber nicht die materiellrechtliche Prüfung.</a:t>
            </a:r>
          </a:p>
        </p:txBody>
      </p:sp>
    </p:spTree>
    <p:extLst>
      <p:ext uri="{BB962C8B-B14F-4D97-AF65-F5344CB8AC3E}">
        <p14:creationId xmlns:p14="http://schemas.microsoft.com/office/powerpoint/2010/main" val="43637646"/>
      </p:ext>
    </p:extLst>
  </p:cSld>
</p:sld>
</file>

<file path=ppt/slides/slide188.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Klagevorbereitung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PRÜFUNGSSCHEMA · CHECK VOR EINREICHUNG</a:t>
            </a:r>
            <a:endParaRPr/>
          </a:p>
        </p:txBody>
      </p:sp>
      <p:sp>
        <p:nvSpPr>
          <p:cNvPr id="4" name="">
            <a:extLst xmlns:a="http://schemas.openxmlformats.org/drawingml/2006/main">
              <a:ext uri="{FF2B5EF4-FFF2-40B4-BE49-F238E27FC236}">
                <a16:creationId xmlns:a16="http://schemas.microsoft.com/office/drawing/2014/main" id="{7402937E-8CA5-427C-8F58-16CC0D4E6641}"/>
              </a:ext>
            </a:extLst>
          </p:cNvPr>
          <p:cNvSpPr>
            <a:spLocks xmlns:a="http://schemas.openxmlformats.org/drawingml/2006/main" noGrp="1"/>
          </p:cNvSpPr>
          <p:nvPr/>
        </p:nvSpPr>
        <p:spPr>
          <a:xfrm xmlns:a="http://schemas.openxmlformats.org/drawingml/2006/main">
            <a:off x="1809750" y="195262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F5C791F3-AC69-4A53-BC6E-04EB9D5715B5}"/>
              </a:ext>
            </a:extLst>
          </p:cNvPr>
          <p:cNvSpPr>
            <a:spLocks xmlns:a="http://schemas.openxmlformats.org/drawingml/2006/main" noGrp="1"/>
          </p:cNvSpPr>
          <p:nvPr/>
        </p:nvSpPr>
        <p:spPr>
          <a:xfrm xmlns:a="http://schemas.openxmlformats.org/drawingml/2006/main">
            <a:off x="1809750" y="19526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6" name="">
            <a:extLst xmlns:a="http://schemas.openxmlformats.org/drawingml/2006/main">
              <a:ext uri="{FF2B5EF4-FFF2-40B4-BE49-F238E27FC236}">
                <a16:creationId xmlns:a16="http://schemas.microsoft.com/office/drawing/2014/main" id="{48FB6645-9949-4056-A1CF-35B9162FA959}"/>
              </a:ext>
            </a:extLst>
          </p:cNvPr>
          <p:cNvSpPr>
            <a:spLocks xmlns:a="http://schemas.openxmlformats.org/drawingml/2006/main" noGrp="1"/>
          </p:cNvSpPr>
          <p:nvPr/>
        </p:nvSpPr>
        <p:spPr>
          <a:xfrm xmlns:a="http://schemas.openxmlformats.org/drawingml/2006/main">
            <a:off x="2324100" y="196215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1. Anspruch und Ziel</a:t>
            </a:r>
          </a:p>
        </p:txBody>
      </p:sp>
      <p:sp>
        <p:nvSpPr>
          <p:cNvPr id="7" name="">
            <a:extLst xmlns:a="http://schemas.openxmlformats.org/drawingml/2006/main">
              <a:ext uri="{FF2B5EF4-FFF2-40B4-BE49-F238E27FC236}">
                <a16:creationId xmlns:a16="http://schemas.microsoft.com/office/drawing/2014/main" id="{2BC3BCC9-C9B6-453A-8AF0-A7974D423D9D}"/>
              </a:ext>
            </a:extLst>
          </p:cNvPr>
          <p:cNvSpPr>
            <a:spLocks xmlns:a="http://schemas.openxmlformats.org/drawingml/2006/main" noGrp="1"/>
          </p:cNvSpPr>
          <p:nvPr/>
        </p:nvSpPr>
        <p:spPr>
          <a:xfrm xmlns:a="http://schemas.openxmlformats.org/drawingml/2006/main">
            <a:off x="4819650" y="196215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Welche Leistung oder Feststellung wird genau begehrt?</a:t>
            </a:r>
          </a:p>
        </p:txBody>
      </p:sp>
      <p:sp>
        <p:nvSpPr>
          <p:cNvPr id="8" name="">
            <a:extLst xmlns:a="http://schemas.openxmlformats.org/drawingml/2006/main">
              <a:ext uri="{FF2B5EF4-FFF2-40B4-BE49-F238E27FC236}">
                <a16:creationId xmlns:a16="http://schemas.microsoft.com/office/drawing/2014/main" id="{F42C7BCC-E509-4F39-84FD-170B7DFD4305}"/>
              </a:ext>
            </a:extLst>
          </p:cNvPr>
          <p:cNvSpPr>
            <a:spLocks xmlns:a="http://schemas.openxmlformats.org/drawingml/2006/main" noGrp="1"/>
          </p:cNvSpPr>
          <p:nvPr/>
        </p:nvSpPr>
        <p:spPr>
          <a:xfrm xmlns:a="http://schemas.openxmlformats.org/drawingml/2006/main">
            <a:off x="1809750" y="255270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9" name="">
            <a:extLst xmlns:a="http://schemas.openxmlformats.org/drawingml/2006/main">
              <a:ext uri="{FF2B5EF4-FFF2-40B4-BE49-F238E27FC236}">
                <a16:creationId xmlns:a16="http://schemas.microsoft.com/office/drawing/2014/main" id="{372E763F-947E-4814-AF13-0D22D6B67E32}"/>
              </a:ext>
            </a:extLst>
          </p:cNvPr>
          <p:cNvSpPr>
            <a:spLocks xmlns:a="http://schemas.openxmlformats.org/drawingml/2006/main" noGrp="1"/>
          </p:cNvSpPr>
          <p:nvPr/>
        </p:nvSpPr>
        <p:spPr>
          <a:xfrm xmlns:a="http://schemas.openxmlformats.org/drawingml/2006/main">
            <a:off x="1809750" y="255270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0" name="">
            <a:extLst xmlns:a="http://schemas.openxmlformats.org/drawingml/2006/main">
              <a:ext uri="{FF2B5EF4-FFF2-40B4-BE49-F238E27FC236}">
                <a16:creationId xmlns:a16="http://schemas.microsoft.com/office/drawing/2014/main" id="{E5C11F47-F264-4EA3-BF99-BD9AD2B2E4C0}"/>
              </a:ext>
            </a:extLst>
          </p:cNvPr>
          <p:cNvSpPr>
            <a:spLocks xmlns:a="http://schemas.openxmlformats.org/drawingml/2006/main" noGrp="1"/>
          </p:cNvSpPr>
          <p:nvPr/>
        </p:nvSpPr>
        <p:spPr>
          <a:xfrm xmlns:a="http://schemas.openxmlformats.org/drawingml/2006/main">
            <a:off x="2324100" y="256222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2. Parteien</a:t>
            </a:r>
          </a:p>
        </p:txBody>
      </p:sp>
      <p:sp>
        <p:nvSpPr>
          <p:cNvPr id="11" name="">
            <a:extLst xmlns:a="http://schemas.openxmlformats.org/drawingml/2006/main">
              <a:ext uri="{FF2B5EF4-FFF2-40B4-BE49-F238E27FC236}">
                <a16:creationId xmlns:a16="http://schemas.microsoft.com/office/drawing/2014/main" id="{E08137C6-EFD7-4B7D-B248-BBAC1EC55625}"/>
              </a:ext>
            </a:extLst>
          </p:cNvPr>
          <p:cNvSpPr>
            <a:spLocks xmlns:a="http://schemas.openxmlformats.org/drawingml/2006/main" noGrp="1"/>
          </p:cNvSpPr>
          <p:nvPr/>
        </p:nvSpPr>
        <p:spPr>
          <a:xfrm xmlns:a="http://schemas.openxmlformats.org/drawingml/2006/main">
            <a:off x="4819650" y="256222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Sind Kläger, Beklagte, gesetzliche Vertreter und Anschriften korrekt bestimmt?</a:t>
            </a:r>
          </a:p>
        </p:txBody>
      </p:sp>
      <p:sp>
        <p:nvSpPr>
          <p:cNvPr id="12" name="">
            <a:extLst xmlns:a="http://schemas.openxmlformats.org/drawingml/2006/main">
              <a:ext uri="{FF2B5EF4-FFF2-40B4-BE49-F238E27FC236}">
                <a16:creationId xmlns:a16="http://schemas.microsoft.com/office/drawing/2014/main" id="{1E172AB9-E976-41DA-B44B-D5E7D19554AC}"/>
              </a:ext>
            </a:extLst>
          </p:cNvPr>
          <p:cNvSpPr>
            <a:spLocks xmlns:a="http://schemas.openxmlformats.org/drawingml/2006/main" noGrp="1"/>
          </p:cNvSpPr>
          <p:nvPr/>
        </p:nvSpPr>
        <p:spPr>
          <a:xfrm xmlns:a="http://schemas.openxmlformats.org/drawingml/2006/main">
            <a:off x="1809750" y="315277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3" name="">
            <a:extLst xmlns:a="http://schemas.openxmlformats.org/drawingml/2006/main">
              <a:ext uri="{FF2B5EF4-FFF2-40B4-BE49-F238E27FC236}">
                <a16:creationId xmlns:a16="http://schemas.microsoft.com/office/drawing/2014/main" id="{8D5995EE-5158-45C0-B409-921865F9516F}"/>
              </a:ext>
            </a:extLst>
          </p:cNvPr>
          <p:cNvSpPr>
            <a:spLocks xmlns:a="http://schemas.openxmlformats.org/drawingml/2006/main" noGrp="1"/>
          </p:cNvSpPr>
          <p:nvPr/>
        </p:nvSpPr>
        <p:spPr>
          <a:xfrm xmlns:a="http://schemas.openxmlformats.org/drawingml/2006/main">
            <a:off x="1809750" y="315277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4" name="">
            <a:extLst xmlns:a="http://schemas.openxmlformats.org/drawingml/2006/main">
              <a:ext uri="{FF2B5EF4-FFF2-40B4-BE49-F238E27FC236}">
                <a16:creationId xmlns:a16="http://schemas.microsoft.com/office/drawing/2014/main" id="{6C39D80D-AF27-40E6-AB9D-BF80A035DB28}"/>
              </a:ext>
            </a:extLst>
          </p:cNvPr>
          <p:cNvSpPr>
            <a:spLocks xmlns:a="http://schemas.openxmlformats.org/drawingml/2006/main" noGrp="1"/>
          </p:cNvSpPr>
          <p:nvPr/>
        </p:nvSpPr>
        <p:spPr>
          <a:xfrm xmlns:a="http://schemas.openxmlformats.org/drawingml/2006/main">
            <a:off x="2324100" y="316230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3. Zuständigkeit</a:t>
            </a:r>
          </a:p>
        </p:txBody>
      </p:sp>
      <p:sp>
        <p:nvSpPr>
          <p:cNvPr id="15" name="">
            <a:extLst xmlns:a="http://schemas.openxmlformats.org/drawingml/2006/main">
              <a:ext uri="{FF2B5EF4-FFF2-40B4-BE49-F238E27FC236}">
                <a16:creationId xmlns:a16="http://schemas.microsoft.com/office/drawing/2014/main" id="{9886AECB-695F-4C63-B676-82AAC87B31B3}"/>
              </a:ext>
            </a:extLst>
          </p:cNvPr>
          <p:cNvSpPr>
            <a:spLocks xmlns:a="http://schemas.openxmlformats.org/drawingml/2006/main" noGrp="1"/>
          </p:cNvSpPr>
          <p:nvPr/>
        </p:nvSpPr>
        <p:spPr>
          <a:xfrm xmlns:a="http://schemas.openxmlformats.org/drawingml/2006/main">
            <a:off x="4819650" y="316230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Welches Gericht ist sachlich und örtlich zuständig?</a:t>
            </a:r>
          </a:p>
        </p:txBody>
      </p:sp>
      <p:sp>
        <p:nvSpPr>
          <p:cNvPr id="16" name="">
            <a:extLst xmlns:a="http://schemas.openxmlformats.org/drawingml/2006/main">
              <a:ext uri="{FF2B5EF4-FFF2-40B4-BE49-F238E27FC236}">
                <a16:creationId xmlns:a16="http://schemas.microsoft.com/office/drawing/2014/main" id="{0881AD7B-498A-4665-87AD-AA5021A18E1C}"/>
              </a:ext>
            </a:extLst>
          </p:cNvPr>
          <p:cNvSpPr>
            <a:spLocks xmlns:a="http://schemas.openxmlformats.org/drawingml/2006/main" noGrp="1"/>
          </p:cNvSpPr>
          <p:nvPr/>
        </p:nvSpPr>
        <p:spPr>
          <a:xfrm xmlns:a="http://schemas.openxmlformats.org/drawingml/2006/main">
            <a:off x="1809750" y="375285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7" name="">
            <a:extLst xmlns:a="http://schemas.openxmlformats.org/drawingml/2006/main">
              <a:ext uri="{FF2B5EF4-FFF2-40B4-BE49-F238E27FC236}">
                <a16:creationId xmlns:a16="http://schemas.microsoft.com/office/drawing/2014/main" id="{EFEDB0E5-774C-4164-AEE7-6AFB741A876F}"/>
              </a:ext>
            </a:extLst>
          </p:cNvPr>
          <p:cNvSpPr>
            <a:spLocks xmlns:a="http://schemas.openxmlformats.org/drawingml/2006/main" noGrp="1"/>
          </p:cNvSpPr>
          <p:nvPr/>
        </p:nvSpPr>
        <p:spPr>
          <a:xfrm xmlns:a="http://schemas.openxmlformats.org/drawingml/2006/main">
            <a:off x="1809750" y="375285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18" name="">
            <a:extLst xmlns:a="http://schemas.openxmlformats.org/drawingml/2006/main">
              <a:ext uri="{FF2B5EF4-FFF2-40B4-BE49-F238E27FC236}">
                <a16:creationId xmlns:a16="http://schemas.microsoft.com/office/drawing/2014/main" id="{B54EE69C-DB29-4D51-AD6A-2D4A0E833946}"/>
              </a:ext>
            </a:extLst>
          </p:cNvPr>
          <p:cNvSpPr>
            <a:spLocks xmlns:a="http://schemas.openxmlformats.org/drawingml/2006/main" noGrp="1"/>
          </p:cNvSpPr>
          <p:nvPr/>
        </p:nvSpPr>
        <p:spPr>
          <a:xfrm xmlns:a="http://schemas.openxmlformats.org/drawingml/2006/main">
            <a:off x="2324100" y="376237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4. Verjährung</a:t>
            </a:r>
          </a:p>
        </p:txBody>
      </p:sp>
      <p:sp>
        <p:nvSpPr>
          <p:cNvPr id="19" name="">
            <a:extLst xmlns:a="http://schemas.openxmlformats.org/drawingml/2006/main">
              <a:ext uri="{FF2B5EF4-FFF2-40B4-BE49-F238E27FC236}">
                <a16:creationId xmlns:a16="http://schemas.microsoft.com/office/drawing/2014/main" id="{17BB2FDD-C7F3-4DA5-82CF-4FEA4217F566}"/>
              </a:ext>
            </a:extLst>
          </p:cNvPr>
          <p:cNvSpPr>
            <a:spLocks xmlns:a="http://schemas.openxmlformats.org/drawingml/2006/main" noGrp="1"/>
          </p:cNvSpPr>
          <p:nvPr/>
        </p:nvSpPr>
        <p:spPr>
          <a:xfrm xmlns:a="http://schemas.openxmlformats.org/drawingml/2006/main">
            <a:off x="4819650" y="376237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Welche Frist läuft und wann tritt sichere Hemmung ein?</a:t>
            </a:r>
          </a:p>
        </p:txBody>
      </p:sp>
      <p:sp>
        <p:nvSpPr>
          <p:cNvPr id="20" name="">
            <a:extLst xmlns:a="http://schemas.openxmlformats.org/drawingml/2006/main">
              <a:ext uri="{FF2B5EF4-FFF2-40B4-BE49-F238E27FC236}">
                <a16:creationId xmlns:a16="http://schemas.microsoft.com/office/drawing/2014/main" id="{92AAFA82-0041-446B-AC4F-ABF6D7E736E2}"/>
              </a:ext>
            </a:extLst>
          </p:cNvPr>
          <p:cNvSpPr>
            <a:spLocks xmlns:a="http://schemas.openxmlformats.org/drawingml/2006/main" noGrp="1"/>
          </p:cNvSpPr>
          <p:nvPr/>
        </p:nvSpPr>
        <p:spPr>
          <a:xfrm xmlns:a="http://schemas.openxmlformats.org/drawingml/2006/main">
            <a:off x="1809750" y="435292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1" name="">
            <a:extLst xmlns:a="http://schemas.openxmlformats.org/drawingml/2006/main">
              <a:ext uri="{FF2B5EF4-FFF2-40B4-BE49-F238E27FC236}">
                <a16:creationId xmlns:a16="http://schemas.microsoft.com/office/drawing/2014/main" id="{65746BA5-9F4A-4EF0-AE3F-7E1C403833FA}"/>
              </a:ext>
            </a:extLst>
          </p:cNvPr>
          <p:cNvSpPr>
            <a:spLocks xmlns:a="http://schemas.openxmlformats.org/drawingml/2006/main" noGrp="1"/>
          </p:cNvSpPr>
          <p:nvPr/>
        </p:nvSpPr>
        <p:spPr>
          <a:xfrm xmlns:a="http://schemas.openxmlformats.org/drawingml/2006/main">
            <a:off x="1809750" y="43529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5</a:t>
            </a:r>
          </a:p>
        </p:txBody>
      </p:sp>
      <p:sp>
        <p:nvSpPr>
          <p:cNvPr id="22" name="">
            <a:extLst xmlns:a="http://schemas.openxmlformats.org/drawingml/2006/main">
              <a:ext uri="{FF2B5EF4-FFF2-40B4-BE49-F238E27FC236}">
                <a16:creationId xmlns:a16="http://schemas.microsoft.com/office/drawing/2014/main" id="{F086E946-2B42-40F0-A49C-5F44545AED54}"/>
              </a:ext>
            </a:extLst>
          </p:cNvPr>
          <p:cNvSpPr>
            <a:spLocks xmlns:a="http://schemas.openxmlformats.org/drawingml/2006/main" noGrp="1"/>
          </p:cNvSpPr>
          <p:nvPr/>
        </p:nvSpPr>
        <p:spPr>
          <a:xfrm xmlns:a="http://schemas.openxmlformats.org/drawingml/2006/main">
            <a:off x="2324100" y="436245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5. Tatsachen</a:t>
            </a:r>
          </a:p>
        </p:txBody>
      </p:sp>
      <p:sp>
        <p:nvSpPr>
          <p:cNvPr id="23" name="">
            <a:extLst xmlns:a="http://schemas.openxmlformats.org/drawingml/2006/main">
              <a:ext uri="{FF2B5EF4-FFF2-40B4-BE49-F238E27FC236}">
                <a16:creationId xmlns:a16="http://schemas.microsoft.com/office/drawing/2014/main" id="{13C76908-1ACC-437E-B03A-A26BE258DF2B}"/>
              </a:ext>
            </a:extLst>
          </p:cNvPr>
          <p:cNvSpPr>
            <a:spLocks xmlns:a="http://schemas.openxmlformats.org/drawingml/2006/main" noGrp="1"/>
          </p:cNvSpPr>
          <p:nvPr/>
        </p:nvSpPr>
        <p:spPr>
          <a:xfrm xmlns:a="http://schemas.openxmlformats.org/drawingml/2006/main">
            <a:off x="4819650" y="436245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Ist der Lebenssachverhalt chronologisch, konkret und widerspruchsfrei vorgetragen?</a:t>
            </a:r>
          </a:p>
        </p:txBody>
      </p:sp>
      <p:sp>
        <p:nvSpPr>
          <p:cNvPr id="24" name="">
            <a:extLst xmlns:a="http://schemas.openxmlformats.org/drawingml/2006/main">
              <a:ext uri="{FF2B5EF4-FFF2-40B4-BE49-F238E27FC236}">
                <a16:creationId xmlns:a16="http://schemas.microsoft.com/office/drawing/2014/main" id="{7FAB4273-FABF-485F-A712-D4438BFC6116}"/>
              </a:ext>
            </a:extLst>
          </p:cNvPr>
          <p:cNvSpPr>
            <a:spLocks xmlns:a="http://schemas.openxmlformats.org/drawingml/2006/main" noGrp="1"/>
          </p:cNvSpPr>
          <p:nvPr/>
        </p:nvSpPr>
        <p:spPr>
          <a:xfrm xmlns:a="http://schemas.openxmlformats.org/drawingml/2006/main">
            <a:off x="1809750" y="495300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25" name="">
            <a:extLst xmlns:a="http://schemas.openxmlformats.org/drawingml/2006/main">
              <a:ext uri="{FF2B5EF4-FFF2-40B4-BE49-F238E27FC236}">
                <a16:creationId xmlns:a16="http://schemas.microsoft.com/office/drawing/2014/main" id="{2DF2FBC9-67A3-430D-9CE0-10108A13EAC5}"/>
              </a:ext>
            </a:extLst>
          </p:cNvPr>
          <p:cNvSpPr>
            <a:spLocks xmlns:a="http://schemas.openxmlformats.org/drawingml/2006/main" noGrp="1"/>
          </p:cNvSpPr>
          <p:nvPr/>
        </p:nvSpPr>
        <p:spPr>
          <a:xfrm xmlns:a="http://schemas.openxmlformats.org/drawingml/2006/main">
            <a:off x="1809750" y="495300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6</a:t>
            </a:r>
          </a:p>
        </p:txBody>
      </p:sp>
      <p:sp>
        <p:nvSpPr>
          <p:cNvPr id="26" name="">
            <a:extLst xmlns:a="http://schemas.openxmlformats.org/drawingml/2006/main">
              <a:ext uri="{FF2B5EF4-FFF2-40B4-BE49-F238E27FC236}">
                <a16:creationId xmlns:a16="http://schemas.microsoft.com/office/drawing/2014/main" id="{AE1F2656-ABA0-4DF9-BFFD-6E03CB5E624A}"/>
              </a:ext>
            </a:extLst>
          </p:cNvPr>
          <p:cNvSpPr>
            <a:spLocks xmlns:a="http://schemas.openxmlformats.org/drawingml/2006/main" noGrp="1"/>
          </p:cNvSpPr>
          <p:nvPr/>
        </p:nvSpPr>
        <p:spPr>
          <a:xfrm xmlns:a="http://schemas.openxmlformats.org/drawingml/2006/main">
            <a:off x="2324100" y="496252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6. Beweise und Schaden</a:t>
            </a:r>
          </a:p>
        </p:txBody>
      </p:sp>
      <p:sp>
        <p:nvSpPr>
          <p:cNvPr id="27" name="">
            <a:extLst xmlns:a="http://schemas.openxmlformats.org/drawingml/2006/main">
              <a:ext uri="{FF2B5EF4-FFF2-40B4-BE49-F238E27FC236}">
                <a16:creationId xmlns:a16="http://schemas.microsoft.com/office/drawing/2014/main" id="{53876469-23FC-41B1-A790-10D47A95065A}"/>
              </a:ext>
            </a:extLst>
          </p:cNvPr>
          <p:cNvSpPr>
            <a:spLocks xmlns:a="http://schemas.openxmlformats.org/drawingml/2006/main" noGrp="1"/>
          </p:cNvSpPr>
          <p:nvPr/>
        </p:nvSpPr>
        <p:spPr>
          <a:xfrm xmlns:a="http://schemas.openxmlformats.org/drawingml/2006/main">
            <a:off x="4819650" y="496252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Ist jede streitige Tatsache einem Beweismittel und jede Schadensposition einem Beleg zugeordnet?</a:t>
            </a:r>
          </a:p>
        </p:txBody>
      </p:sp>
      <p:sp>
        <p:nvSpPr>
          <p:cNvPr id="28" name="">
            <a:extLst xmlns:a="http://schemas.openxmlformats.org/drawingml/2006/main">
              <a:ext uri="{FF2B5EF4-FFF2-40B4-BE49-F238E27FC236}">
                <a16:creationId xmlns:a16="http://schemas.microsoft.com/office/drawing/2014/main" id="{CB20F939-8C48-4AA7-8F24-D46374990C84}"/>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9" name="">
            <a:extLst xmlns:a="http://schemas.openxmlformats.org/drawingml/2006/main">
              <a:ext uri="{FF2B5EF4-FFF2-40B4-BE49-F238E27FC236}">
                <a16:creationId xmlns:a16="http://schemas.microsoft.com/office/drawing/2014/main" id="{48777D0E-DB6D-4813-B059-0418652DCF16}"/>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Eine Klage ist ein strukturierter Entscheidungsentwurf, keine bloße Beschwerdeschrift.</a:t>
            </a:r>
          </a:p>
        </p:txBody>
      </p:sp>
    </p:spTree>
    <p:extLst>
      <p:ext uri="{BB962C8B-B14F-4D97-AF65-F5344CB8AC3E}">
        <p14:creationId xmlns:p14="http://schemas.microsoft.com/office/powerpoint/2010/main" val="43637646"/>
      </p:ext>
    </p:extLst>
  </p:cSld>
</p:sld>
</file>

<file path=ppt/slides/slide189.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Leistungs-, Feststellungs- und Stufenantrag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681C963E-0E75-43C9-B385-FB459536FA1A}"/>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Die Antragsart muss zum Ziel und zur Bezifferbarkeit passen.</a:t>
            </a:r>
          </a:p>
        </p:txBody>
      </p:sp>
      <p:sp>
        <p:nvSpPr>
          <p:cNvPr id="5" name="">
            <a:extLst xmlns:a="http://schemas.openxmlformats.org/drawingml/2006/main">
              <a:ext uri="{FF2B5EF4-FFF2-40B4-BE49-F238E27FC236}">
                <a16:creationId xmlns:a16="http://schemas.microsoft.com/office/drawing/2014/main" id="{3FC041A6-BD18-4110-9C16-DD0B2F14FDCF}"/>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810DFE58-AFA4-43C5-8A48-047AB86CE5B6}"/>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13727528-FD5E-4F8C-9254-B6E50D0B60B9}"/>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Leistungsklage</a:t>
            </a:r>
          </a:p>
        </p:txBody>
      </p:sp>
      <p:sp>
        <p:nvSpPr>
          <p:cNvPr id="8" name="">
            <a:extLst xmlns:a="http://schemas.openxmlformats.org/drawingml/2006/main">
              <a:ext uri="{FF2B5EF4-FFF2-40B4-BE49-F238E27FC236}">
                <a16:creationId xmlns:a16="http://schemas.microsoft.com/office/drawing/2014/main" id="{11859982-1692-4EC1-9359-C8338C451444}"/>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Sie verlangt eine bestimmte Leistung, etwa Zahlung eines bezifferten Betrags; ein obsiegendes Urteil kann vollstreckt werden.</a:t>
            </a:r>
          </a:p>
        </p:txBody>
      </p:sp>
      <p:sp>
        <p:nvSpPr>
          <p:cNvPr id="9" name="">
            <a:extLst xmlns:a="http://schemas.openxmlformats.org/drawingml/2006/main">
              <a:ext uri="{FF2B5EF4-FFF2-40B4-BE49-F238E27FC236}">
                <a16:creationId xmlns:a16="http://schemas.microsoft.com/office/drawing/2014/main" id="{4F6771E6-3DD7-4AB6-947C-269D911FD7BC}"/>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A5CABCAE-94FE-44BE-BEF7-BB67E6E39737}"/>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BB51FAC6-08D3-49E5-A407-AFC4DDCFBBBC}"/>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Feststellungsklage</a:t>
            </a:r>
          </a:p>
        </p:txBody>
      </p:sp>
      <p:sp>
        <p:nvSpPr>
          <p:cNvPr id="12" name="">
            <a:extLst xmlns:a="http://schemas.openxmlformats.org/drawingml/2006/main">
              <a:ext uri="{FF2B5EF4-FFF2-40B4-BE49-F238E27FC236}">
                <a16:creationId xmlns:a16="http://schemas.microsoft.com/office/drawing/2014/main" id="{E5A04B22-BA92-4D71-A156-52B17879EE8D}"/>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Sie klärt ein Rechtsverhältnis, etwa Ersatzpflicht für künftige Schäden, wenn ein Feststellungsinteresse besteht.</a:t>
            </a:r>
          </a:p>
        </p:txBody>
      </p:sp>
      <p:sp>
        <p:nvSpPr>
          <p:cNvPr id="13" name="">
            <a:extLst xmlns:a="http://schemas.openxmlformats.org/drawingml/2006/main">
              <a:ext uri="{FF2B5EF4-FFF2-40B4-BE49-F238E27FC236}">
                <a16:creationId xmlns:a16="http://schemas.microsoft.com/office/drawing/2014/main" id="{FDD147A9-77D7-49BF-B945-B2B382A8C227}"/>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C5322579-8033-4945-AE8A-7C6BFB7D686B}"/>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E9A02F42-3ACE-462C-BAA6-139F0BA297F9}"/>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Unbeziffertes Schmerzensgeld</a:t>
            </a:r>
          </a:p>
        </p:txBody>
      </p:sp>
      <p:sp>
        <p:nvSpPr>
          <p:cNvPr id="16" name="">
            <a:extLst xmlns:a="http://schemas.openxmlformats.org/drawingml/2006/main">
              <a:ext uri="{FF2B5EF4-FFF2-40B4-BE49-F238E27FC236}">
                <a16:creationId xmlns:a16="http://schemas.microsoft.com/office/drawing/2014/main" id="{84429B6A-DAB1-416F-9B78-7CB34483283D}"/>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Das Gericht kann bei benannten Bemessungsgrundlagen einen angemessenen Betrag bestimmen; Größenordnung und Mindestvorstellung werden prozessual sorgfältig behandelt.</a:t>
            </a:r>
          </a:p>
        </p:txBody>
      </p:sp>
      <p:sp>
        <p:nvSpPr>
          <p:cNvPr id="17" name="">
            <a:extLst xmlns:a="http://schemas.openxmlformats.org/drawingml/2006/main">
              <a:ext uri="{FF2B5EF4-FFF2-40B4-BE49-F238E27FC236}">
                <a16:creationId xmlns:a16="http://schemas.microsoft.com/office/drawing/2014/main" id="{837B225D-8117-42B0-81A5-8A972ED8D4F1}"/>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8D499313-D53F-46BD-BB3D-08F8865472BB}"/>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4BBB2F2D-FFF0-4E33-997F-75D34D8A67AD}"/>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Kombination</a:t>
            </a:r>
          </a:p>
        </p:txBody>
      </p:sp>
      <p:sp>
        <p:nvSpPr>
          <p:cNvPr id="20" name="">
            <a:extLst xmlns:a="http://schemas.openxmlformats.org/drawingml/2006/main">
              <a:ext uri="{FF2B5EF4-FFF2-40B4-BE49-F238E27FC236}">
                <a16:creationId xmlns:a16="http://schemas.microsoft.com/office/drawing/2014/main" id="{C9D83FA5-BDB2-448C-86C0-2FA94B38EC08}"/>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Bereits entstandene Schäden werden beziffert, während ungewisse Zukunftsschäden zusätzlich festgestellt werden können.</a:t>
            </a:r>
          </a:p>
        </p:txBody>
      </p:sp>
      <p:sp>
        <p:nvSpPr>
          <p:cNvPr id="21" name="">
            <a:extLst xmlns:a="http://schemas.openxmlformats.org/drawingml/2006/main">
              <a:ext uri="{FF2B5EF4-FFF2-40B4-BE49-F238E27FC236}">
                <a16:creationId xmlns:a16="http://schemas.microsoft.com/office/drawing/2014/main" id="{3E099B0B-9783-4EE5-BBDB-AF39E0803AB9}"/>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9F3BF41B-1474-4E5F-B29D-6DD9B6F3DA3C}"/>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Der Antrag definiert, worüber das Gericht entscheiden und was später vollstreckt werden kann.</a:t>
            </a:r>
          </a:p>
        </p:txBody>
      </p:sp>
    </p:spTree>
    <p:extLst>
      <p:ext uri="{BB962C8B-B14F-4D97-AF65-F5344CB8AC3E}">
        <p14:creationId xmlns:p14="http://schemas.microsoft.com/office/powerpoint/2010/main" val="43637646"/>
      </p:ext>
    </p:extLst>
  </p:cSld>
</p:sld>
</file>

<file path=ppt/slides/slide190.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Was gehört in die Klageschrift?</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7C829833-2826-47E2-B7A9-3E6346A6B397}"/>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Die Klage muss Gericht, Parteien, Gegenstand und Grund des Anspruchs sowie einen bestimmten Antrag enthalten.</a:t>
            </a:r>
          </a:p>
        </p:txBody>
      </p:sp>
      <p:sp>
        <p:nvSpPr>
          <p:cNvPr id="5" name="">
            <a:extLst xmlns:a="http://schemas.openxmlformats.org/drawingml/2006/main">
              <a:ext uri="{FF2B5EF4-FFF2-40B4-BE49-F238E27FC236}">
                <a16:creationId xmlns:a16="http://schemas.microsoft.com/office/drawing/2014/main" id="{3C94AEA6-AC09-48A7-93E1-D3883191F00C}"/>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2B708BC5-9CF8-4131-81D6-6EAF4D3CE4D6}"/>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811C13E6-9189-44BE-9F16-BD90891E8572}"/>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Rubrum</a:t>
            </a:r>
          </a:p>
        </p:txBody>
      </p:sp>
      <p:sp>
        <p:nvSpPr>
          <p:cNvPr id="8" name="">
            <a:extLst xmlns:a="http://schemas.openxmlformats.org/drawingml/2006/main">
              <a:ext uri="{FF2B5EF4-FFF2-40B4-BE49-F238E27FC236}">
                <a16:creationId xmlns:a16="http://schemas.microsoft.com/office/drawing/2014/main" id="{DBF2CFD3-A282-4FB9-BD32-83C29ABB81E8}"/>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Gericht, Parteien und Vertretung werden eindeutig bezeichnet.</a:t>
            </a:r>
          </a:p>
        </p:txBody>
      </p:sp>
      <p:sp>
        <p:nvSpPr>
          <p:cNvPr id="9" name="">
            <a:extLst xmlns:a="http://schemas.openxmlformats.org/drawingml/2006/main">
              <a:ext uri="{FF2B5EF4-FFF2-40B4-BE49-F238E27FC236}">
                <a16:creationId xmlns:a16="http://schemas.microsoft.com/office/drawing/2014/main" id="{867A5AF7-49F8-4730-900B-F8671AB39567}"/>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B6312001-DEED-437E-8BE7-861588BD4B83}"/>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7285D020-3E44-4FD8-8A10-1BD5AEFD77BA}"/>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Anträge</a:t>
            </a:r>
          </a:p>
        </p:txBody>
      </p:sp>
      <p:sp>
        <p:nvSpPr>
          <p:cNvPr id="12" name="">
            <a:extLst xmlns:a="http://schemas.openxmlformats.org/drawingml/2006/main">
              <a:ext uri="{FF2B5EF4-FFF2-40B4-BE49-F238E27FC236}">
                <a16:creationId xmlns:a16="http://schemas.microsoft.com/office/drawing/2014/main" id="{BAFDA05F-F2F6-4D55-AC6B-A55B44DC1DB7}"/>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Leistung und gegebenenfalls Feststellung werden vollstreckungsfähig formuliert.</a:t>
            </a:r>
          </a:p>
        </p:txBody>
      </p:sp>
      <p:sp>
        <p:nvSpPr>
          <p:cNvPr id="13" name="">
            <a:extLst xmlns:a="http://schemas.openxmlformats.org/drawingml/2006/main">
              <a:ext uri="{FF2B5EF4-FFF2-40B4-BE49-F238E27FC236}">
                <a16:creationId xmlns:a16="http://schemas.microsoft.com/office/drawing/2014/main" id="{4F27EE8E-5055-47B7-84F4-1A34D91D92D1}"/>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DEF6770D-261D-47CF-AA57-2F161CB5EF2F}"/>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218C159A-54DC-4A96-80D3-AB71C7B9C9A9}"/>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Lebenssachverhalt</a:t>
            </a:r>
          </a:p>
        </p:txBody>
      </p:sp>
      <p:sp>
        <p:nvSpPr>
          <p:cNvPr id="16" name="">
            <a:extLst xmlns:a="http://schemas.openxmlformats.org/drawingml/2006/main">
              <a:ext uri="{FF2B5EF4-FFF2-40B4-BE49-F238E27FC236}">
                <a16:creationId xmlns:a16="http://schemas.microsoft.com/office/drawing/2014/main" id="{116B6434-F194-4AE9-B9BC-4B843BD4D6A2}"/>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Behandlung, Pflichtverletzung, Schaden und Kausalität werden zeitlich und logisch dargestellt.</a:t>
            </a:r>
          </a:p>
        </p:txBody>
      </p:sp>
      <p:sp>
        <p:nvSpPr>
          <p:cNvPr id="17" name="">
            <a:extLst xmlns:a="http://schemas.openxmlformats.org/drawingml/2006/main">
              <a:ext uri="{FF2B5EF4-FFF2-40B4-BE49-F238E27FC236}">
                <a16:creationId xmlns:a16="http://schemas.microsoft.com/office/drawing/2014/main" id="{5A7DDC40-FEA5-4D0E-B033-60B342D695D0}"/>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286C7AB5-A0BE-4F4D-A4CB-F8DAAAE819A1}"/>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A0D912DA-0A08-4285-B729-8B8CFADDCD97}"/>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Beweisangebote</a:t>
            </a:r>
          </a:p>
        </p:txBody>
      </p:sp>
      <p:sp>
        <p:nvSpPr>
          <p:cNvPr id="20" name="">
            <a:extLst xmlns:a="http://schemas.openxmlformats.org/drawingml/2006/main">
              <a:ext uri="{FF2B5EF4-FFF2-40B4-BE49-F238E27FC236}">
                <a16:creationId xmlns:a16="http://schemas.microsoft.com/office/drawing/2014/main" id="{58FA5623-4F86-4135-9181-3E0D2B43B8AD}"/>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Zu streitigen Tatsachen werden passende Zeugen, Urkunden, Sachverständigenbeweis oder andere Beweismittel benannt.</a:t>
            </a:r>
          </a:p>
        </p:txBody>
      </p:sp>
      <p:sp>
        <p:nvSpPr>
          <p:cNvPr id="21" name="">
            <a:extLst xmlns:a="http://schemas.openxmlformats.org/drawingml/2006/main">
              <a:ext uri="{FF2B5EF4-FFF2-40B4-BE49-F238E27FC236}">
                <a16:creationId xmlns:a16="http://schemas.microsoft.com/office/drawing/2014/main" id="{86A7244B-196B-4A82-A1BB-3C055443CB99}"/>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EF90CB66-EB17-4026-B0F9-8B308F29D8CB}"/>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Rechtsausführungen helfen; unverzichtbar sind aber bestimmte Anträge und konkrete Tatsachen.</a:t>
            </a:r>
          </a:p>
        </p:txBody>
      </p:sp>
    </p:spTree>
    <p:extLst>
      <p:ext uri="{BB962C8B-B14F-4D97-AF65-F5344CB8AC3E}">
        <p14:creationId xmlns:p14="http://schemas.microsoft.com/office/powerpoint/2010/main" val="43637646"/>
      </p:ext>
    </p:extLst>
  </p:cSld>
</p:sld>
</file>

<file path=ppt/slides/slide191.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Zustellung und Rechtshängigkeit</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81697045-B134-41F0-AC79-16BB28D7B6DF}"/>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Mit förmlicher Zustellung erhält die Gegenseite die Klage und das Verfahren entfaltet besondere Wirkungen.</a:t>
            </a:r>
          </a:p>
        </p:txBody>
      </p:sp>
      <p:sp>
        <p:nvSpPr>
          <p:cNvPr id="5" name="">
            <a:extLst xmlns:a="http://schemas.openxmlformats.org/drawingml/2006/main">
              <a:ext uri="{FF2B5EF4-FFF2-40B4-BE49-F238E27FC236}">
                <a16:creationId xmlns:a16="http://schemas.microsoft.com/office/drawing/2014/main" id="{4279CCC9-8672-451C-A2DC-42FDE9DB963F}"/>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330081D2-6910-41B5-919E-469075D146C7}"/>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A95BE5C0-0461-4EAA-8E86-03F6C1A27B11}"/>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Gerichtliche Zustellung</a:t>
            </a:r>
          </a:p>
        </p:txBody>
      </p:sp>
      <p:sp>
        <p:nvSpPr>
          <p:cNvPr id="8" name="">
            <a:extLst xmlns:a="http://schemas.openxmlformats.org/drawingml/2006/main">
              <a:ext uri="{FF2B5EF4-FFF2-40B4-BE49-F238E27FC236}">
                <a16:creationId xmlns:a16="http://schemas.microsoft.com/office/drawing/2014/main" id="{27FA6BAC-994E-421D-A932-780B69BD0D98}"/>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Die Klage wird grundsätzlich durch das Gericht zugestellt; ein bloß privat übersandter Entwurf genügt nicht.</a:t>
            </a:r>
          </a:p>
        </p:txBody>
      </p:sp>
      <p:sp>
        <p:nvSpPr>
          <p:cNvPr id="9" name="">
            <a:extLst xmlns:a="http://schemas.openxmlformats.org/drawingml/2006/main">
              <a:ext uri="{FF2B5EF4-FFF2-40B4-BE49-F238E27FC236}">
                <a16:creationId xmlns:a16="http://schemas.microsoft.com/office/drawing/2014/main" id="{5B2F47D9-75A8-4D61-8E0B-655BEB9B6CCA}"/>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DCACABDF-8271-4F30-BC3D-A0FCE64BC494}"/>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55E888F2-A4DB-4C9F-8115-EA46EC6C0244}"/>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Rechtshängigkeit</a:t>
            </a:r>
          </a:p>
        </p:txBody>
      </p:sp>
      <p:sp>
        <p:nvSpPr>
          <p:cNvPr id="12" name="">
            <a:extLst xmlns:a="http://schemas.openxmlformats.org/drawingml/2006/main">
              <a:ext uri="{FF2B5EF4-FFF2-40B4-BE49-F238E27FC236}">
                <a16:creationId xmlns:a16="http://schemas.microsoft.com/office/drawing/2014/main" id="{0A646C0D-98DB-43E1-AA7B-4F100D4BF3BC}"/>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Der konkrete Streitgegenstand ist nun gerichtlich anhängig und kann nicht beliebig parallel erneut eingeklagt werden.</a:t>
            </a:r>
          </a:p>
        </p:txBody>
      </p:sp>
      <p:sp>
        <p:nvSpPr>
          <p:cNvPr id="13" name="">
            <a:extLst xmlns:a="http://schemas.openxmlformats.org/drawingml/2006/main">
              <a:ext uri="{FF2B5EF4-FFF2-40B4-BE49-F238E27FC236}">
                <a16:creationId xmlns:a16="http://schemas.microsoft.com/office/drawing/2014/main" id="{38A37604-A5A2-4969-8CF8-C181C55EB3AD}"/>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F835094A-125F-46F7-AE66-66C003A9B333}"/>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F8CBFF1E-3671-4762-A26D-A30D782676E2}"/>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Verjährung</a:t>
            </a:r>
          </a:p>
        </p:txBody>
      </p:sp>
      <p:sp>
        <p:nvSpPr>
          <p:cNvPr id="16" name="">
            <a:extLst xmlns:a="http://schemas.openxmlformats.org/drawingml/2006/main">
              <a:ext uri="{FF2B5EF4-FFF2-40B4-BE49-F238E27FC236}">
                <a16:creationId xmlns:a16="http://schemas.microsoft.com/office/drawing/2014/main" id="{1F51EFF6-F9FB-491F-94E0-19BFAF61429F}"/>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Klageerhebung kann nach § 204 BGB hemmen; für Rückwirkung auf Einreichung ist demnächstige Zustellung wichtig.</a:t>
            </a:r>
          </a:p>
        </p:txBody>
      </p:sp>
      <p:sp>
        <p:nvSpPr>
          <p:cNvPr id="17" name="">
            <a:extLst xmlns:a="http://schemas.openxmlformats.org/drawingml/2006/main">
              <a:ext uri="{FF2B5EF4-FFF2-40B4-BE49-F238E27FC236}">
                <a16:creationId xmlns:a16="http://schemas.microsoft.com/office/drawing/2014/main" id="{C93286CA-ECB9-4854-AC16-B7F7DA3085F2}"/>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0AC4FCB9-2F1A-4E30-911E-8DD481803C70}"/>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1FEABAD9-537C-474A-9397-678C27DBD75E}"/>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Reaktion</a:t>
            </a:r>
          </a:p>
        </p:txBody>
      </p:sp>
      <p:sp>
        <p:nvSpPr>
          <p:cNvPr id="20" name="">
            <a:extLst xmlns:a="http://schemas.openxmlformats.org/drawingml/2006/main">
              <a:ext uri="{FF2B5EF4-FFF2-40B4-BE49-F238E27FC236}">
                <a16:creationId xmlns:a16="http://schemas.microsoft.com/office/drawing/2014/main" id="{6FABD133-8FE4-4A27-B86D-70C453D921C0}"/>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Das Gericht setzt Fristen und bestimmt schriftliches Vorverfahren oder frühen ersten Termin.</a:t>
            </a:r>
          </a:p>
        </p:txBody>
      </p:sp>
      <p:sp>
        <p:nvSpPr>
          <p:cNvPr id="21" name="">
            <a:extLst xmlns:a="http://schemas.openxmlformats.org/drawingml/2006/main">
              <a:ext uri="{FF2B5EF4-FFF2-40B4-BE49-F238E27FC236}">
                <a16:creationId xmlns:a16="http://schemas.microsoft.com/office/drawing/2014/main" id="{F778CFEE-41A5-4EF7-9259-C4303808D44A}"/>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0BAD0138-0925-408E-B81E-C8BD715F5C6B}"/>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Einreichung und Zustellung sind zu unterscheiden; beide Zeitpunkte können rechtlich relevant sein.</a:t>
            </a:r>
          </a:p>
        </p:txBody>
      </p:sp>
    </p:spTree>
    <p:extLst>
      <p:ext uri="{BB962C8B-B14F-4D97-AF65-F5344CB8AC3E}">
        <p14:creationId xmlns:p14="http://schemas.microsoft.com/office/powerpoint/2010/main" val="43637646"/>
      </p:ext>
    </p:extLst>
  </p:cSld>
</p:sld>
</file>

<file path=ppt/slides/slide192.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Schriftliches Vorverfahren und Versäumnis</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24733B7B-F695-4B7F-8E75-1DD3804AA2EE}"/>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Die beklagte Seite muss fristgerecht Verteidigungsbereitschaft anzeigen und sachlich erwidern.</a:t>
            </a:r>
          </a:p>
        </p:txBody>
      </p:sp>
      <p:sp>
        <p:nvSpPr>
          <p:cNvPr id="5" name="">
            <a:extLst xmlns:a="http://schemas.openxmlformats.org/drawingml/2006/main">
              <a:ext uri="{FF2B5EF4-FFF2-40B4-BE49-F238E27FC236}">
                <a16:creationId xmlns:a16="http://schemas.microsoft.com/office/drawing/2014/main" id="{6DD7A7EF-8DB0-4F58-A7C0-08756782951A}"/>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9B927BBB-7B86-4DA8-9985-4D6AB1A189E8}"/>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F7436461-7054-4EB9-ACB2-D4619A8A47C6}"/>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Anzeige</a:t>
            </a:r>
          </a:p>
        </p:txBody>
      </p:sp>
      <p:sp>
        <p:nvSpPr>
          <p:cNvPr id="8" name="">
            <a:extLst xmlns:a="http://schemas.openxmlformats.org/drawingml/2006/main">
              <a:ext uri="{FF2B5EF4-FFF2-40B4-BE49-F238E27FC236}">
                <a16:creationId xmlns:a16="http://schemas.microsoft.com/office/drawing/2014/main" id="{C713B3CC-3991-4F98-ABD7-52CB544148D3}"/>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Im schriftlichen Vorverfahren wird zunächst angezeigt, dass man sich verteidigen will.</a:t>
            </a:r>
          </a:p>
        </p:txBody>
      </p:sp>
      <p:sp>
        <p:nvSpPr>
          <p:cNvPr id="9" name="">
            <a:extLst xmlns:a="http://schemas.openxmlformats.org/drawingml/2006/main">
              <a:ext uri="{FF2B5EF4-FFF2-40B4-BE49-F238E27FC236}">
                <a16:creationId xmlns:a16="http://schemas.microsoft.com/office/drawing/2014/main" id="{586850C7-1195-4E5D-8962-0E90EDCDC960}"/>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D446F222-3D98-4E2C-BC60-984982D87A26}"/>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9B549D59-FBF2-407C-BF1A-DE905AF07F81}"/>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Klageerwiderung</a:t>
            </a:r>
          </a:p>
        </p:txBody>
      </p:sp>
      <p:sp>
        <p:nvSpPr>
          <p:cNvPr id="12" name="">
            <a:extLst xmlns:a="http://schemas.openxmlformats.org/drawingml/2006/main">
              <a:ext uri="{FF2B5EF4-FFF2-40B4-BE49-F238E27FC236}">
                <a16:creationId xmlns:a16="http://schemas.microsoft.com/office/drawing/2014/main" id="{22ABA172-0C14-4A9C-8083-A160309FA0FB}"/>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Danach werden Anträge, Einwendungen, Bestreiten und eigene Beweismittel strukturiert vorgetragen.</a:t>
            </a:r>
          </a:p>
        </p:txBody>
      </p:sp>
      <p:sp>
        <p:nvSpPr>
          <p:cNvPr id="13" name="">
            <a:extLst xmlns:a="http://schemas.openxmlformats.org/drawingml/2006/main">
              <a:ext uri="{FF2B5EF4-FFF2-40B4-BE49-F238E27FC236}">
                <a16:creationId xmlns:a16="http://schemas.microsoft.com/office/drawing/2014/main" id="{9A7AD3C5-2EE2-4074-B7F1-E9CD2214D972}"/>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B1DAB6B7-F677-439F-AD53-11A67484F92E}"/>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778E56AA-4D46-4309-B45E-CB57355562EA}"/>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Fristen</a:t>
            </a:r>
          </a:p>
        </p:txBody>
      </p:sp>
      <p:sp>
        <p:nvSpPr>
          <p:cNvPr id="16" name="">
            <a:extLst xmlns:a="http://schemas.openxmlformats.org/drawingml/2006/main">
              <a:ext uri="{FF2B5EF4-FFF2-40B4-BE49-F238E27FC236}">
                <a16:creationId xmlns:a16="http://schemas.microsoft.com/office/drawing/2014/main" id="{D3623907-F215-401F-B78B-8ACB1C343563}"/>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Verspätung kann Präklusions- oder Versäumnisfolgen haben; Fristverlängerung wird rechtzeitig beantragt.</a:t>
            </a:r>
          </a:p>
        </p:txBody>
      </p:sp>
      <p:sp>
        <p:nvSpPr>
          <p:cNvPr id="17" name="">
            <a:extLst xmlns:a="http://schemas.openxmlformats.org/drawingml/2006/main">
              <a:ext uri="{FF2B5EF4-FFF2-40B4-BE49-F238E27FC236}">
                <a16:creationId xmlns:a16="http://schemas.microsoft.com/office/drawing/2014/main" id="{F81C3CC5-A6EA-4DF0-99D3-4262528D17CC}"/>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E5A129B2-B52F-422E-8DFA-BA6600FB4587}"/>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6CF184C9-FE77-4FE0-B011-B5A3E9D8DCF0}"/>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Versäumnisurteil</a:t>
            </a:r>
          </a:p>
        </p:txBody>
      </p:sp>
      <p:sp>
        <p:nvSpPr>
          <p:cNvPr id="20" name="">
            <a:extLst xmlns:a="http://schemas.openxmlformats.org/drawingml/2006/main">
              <a:ext uri="{FF2B5EF4-FFF2-40B4-BE49-F238E27FC236}">
                <a16:creationId xmlns:a16="http://schemas.microsoft.com/office/drawing/2014/main" id="{BBB2F389-535A-4DBB-A7BE-531411596121}"/>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Reagiert eine Partei nicht oder erscheint nicht, kann unter gesetzlichen Voraussetzungen ein Versäumnisurteil ergehen; Einspruchsfristen sind kurz.</a:t>
            </a:r>
          </a:p>
        </p:txBody>
      </p:sp>
      <p:sp>
        <p:nvSpPr>
          <p:cNvPr id="21" name="">
            <a:extLst xmlns:a="http://schemas.openxmlformats.org/drawingml/2006/main">
              <a:ext uri="{FF2B5EF4-FFF2-40B4-BE49-F238E27FC236}">
                <a16:creationId xmlns:a16="http://schemas.microsoft.com/office/drawing/2014/main" id="{A00B60D1-AB04-4AC7-9633-97845EC0A7F4}"/>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B576768A-0708-41FB-B808-ADEA6C135EC2}"/>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Gerichtspost wird am Eingangstag einer verantwortlichen Person mit Fristkontrolle zugeordnet.</a:t>
            </a:r>
          </a:p>
        </p:txBody>
      </p:sp>
    </p:spTree>
    <p:extLst>
      <p:ext uri="{BB962C8B-B14F-4D97-AF65-F5344CB8AC3E}">
        <p14:creationId xmlns:p14="http://schemas.microsoft.com/office/powerpoint/2010/main" val="43637646"/>
      </p:ext>
    </p:extLst>
  </p:cSld>
</p:sld>
</file>

<file path=ppt/slides/slide193.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Bestreiten im Zivilprozess</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UNTERSCHEIDEN KÖNNEN</a:t>
            </a:r>
            <a:endParaRPr/>
          </a:p>
        </p:txBody>
      </p:sp>
      <p:sp>
        <p:nvSpPr>
          <p:cNvPr id="4" name="">
            <a:extLst xmlns:a="http://schemas.openxmlformats.org/drawingml/2006/main">
              <a:ext uri="{FF2B5EF4-FFF2-40B4-BE49-F238E27FC236}">
                <a16:creationId xmlns:a16="http://schemas.microsoft.com/office/drawing/2014/main" id="{79A93A04-DF67-4BF2-9495-991E66BA8CF6}"/>
              </a:ext>
            </a:extLst>
          </p:cNvPr>
          <p:cNvSpPr>
            <a:spLocks xmlns:a="http://schemas.openxmlformats.org/drawingml/2006/main" noGrp="1"/>
          </p:cNvSpPr>
          <p:nvPr/>
        </p:nvSpPr>
        <p:spPr>
          <a:xfrm xmlns:a="http://schemas.openxmlformats.org/drawingml/2006/main">
            <a:off x="1809750" y="2000250"/>
            <a:ext cx="4619625" cy="3286125"/>
          </a:xfrm>
          <a:prstGeom xmlns:a="http://schemas.openxmlformats.org/drawingml/2006/main" prst="roundRect">
            <a:avLst>
              <a:gd name="adj" fmla="val 2319"/>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90C5C3B3-C611-4599-8203-FF40D011C97D}"/>
              </a:ext>
            </a:extLst>
          </p:cNvPr>
          <p:cNvSpPr>
            <a:spLocks xmlns:a="http://schemas.openxmlformats.org/drawingml/2006/main" noGrp="1"/>
          </p:cNvSpPr>
          <p:nvPr/>
        </p:nvSpPr>
        <p:spPr>
          <a:xfrm xmlns:a="http://schemas.openxmlformats.org/drawingml/2006/main">
            <a:off x="1809750" y="2000250"/>
            <a:ext cx="4619625"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92AB417F-92BE-4070-A47C-729A489F2720}"/>
              </a:ext>
            </a:extLst>
          </p:cNvPr>
          <p:cNvSpPr>
            <a:spLocks xmlns:a="http://schemas.openxmlformats.org/drawingml/2006/main" noGrp="1"/>
          </p:cNvSpPr>
          <p:nvPr/>
        </p:nvSpPr>
        <p:spPr>
          <a:xfrm xmlns:a="http://schemas.openxmlformats.org/drawingml/2006/main">
            <a:off x="1962150" y="2133600"/>
            <a:ext cx="4314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75" b="1">
                <a:solidFill>
                  <a:srgbClr val="003F6B"/>
                </a:solidFill>
              </a:defRPr>
            </a:pPr>
            <a:r>
              <a:rPr sz="1575" b="1">
                <a:solidFill>
                  <a:srgbClr val="003F6B"/>
                </a:solidFill>
              </a:rPr>
              <a:t>Unzureichend</a:t>
            </a:r>
          </a:p>
        </p:txBody>
      </p:sp>
      <p:sp>
        <p:nvSpPr>
          <p:cNvPr id="7" name="">
            <a:extLst xmlns:a="http://schemas.openxmlformats.org/drawingml/2006/main">
              <a:ext uri="{FF2B5EF4-FFF2-40B4-BE49-F238E27FC236}">
                <a16:creationId xmlns:a16="http://schemas.microsoft.com/office/drawing/2014/main" id="{B03B10A4-7A9D-4F35-A356-6C3849308C9A}"/>
              </a:ext>
            </a:extLst>
          </p:cNvPr>
          <p:cNvSpPr>
            <a:spLocks xmlns:a="http://schemas.openxmlformats.org/drawingml/2006/main" noGrp="1"/>
          </p:cNvSpPr>
          <p:nvPr/>
        </p:nvSpPr>
        <p:spPr>
          <a:xfrm xmlns:a="http://schemas.openxmlformats.org/drawingml/2006/main">
            <a:off x="1962150" y="2571750"/>
            <a:ext cx="4314825"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15232B"/>
                </a:solidFill>
              </a:defRPr>
            </a:pPr>
            <a:r>
              <a:rPr sz="1200">
                <a:solidFill>
                  <a:srgbClr val="15232B"/>
                </a:solidFill>
              </a:rPr>
              <a:t>• „Alles wird bestritten“ trennt keine konkreten Tatsachen.</a:t>
            </a:r>
          </a:p>
          <a:p xmlns:a="http://schemas.openxmlformats.org/drawingml/2006/main">
            <a:pPr>
              <a:buNone/>
              <a:defRPr sz="1200">
                <a:solidFill>
                  <a:srgbClr val="15232B"/>
                </a:solidFill>
              </a:defRPr>
            </a:pPr>
            <a:r>
              <a:rPr sz="1200">
                <a:solidFill>
                  <a:srgbClr val="15232B"/>
                </a:solidFill>
              </a:rPr>
              <a:t>• Bestreiten wider besseres Wissen ist unzulässig.</a:t>
            </a:r>
          </a:p>
          <a:p xmlns:a="http://schemas.openxmlformats.org/drawingml/2006/main">
            <a:pPr>
              <a:buNone/>
              <a:defRPr sz="1200">
                <a:solidFill>
                  <a:srgbClr val="15232B"/>
                </a:solidFill>
              </a:defRPr>
            </a:pPr>
            <a:r>
              <a:rPr sz="1200">
                <a:solidFill>
                  <a:srgbClr val="15232B"/>
                </a:solidFill>
              </a:rPr>
              <a:t>• Eigene Wahrnehmungs- und Dokumentationsmöglichkeiten werden nicht offengelegt.</a:t>
            </a:r>
          </a:p>
        </p:txBody>
      </p:sp>
      <p:sp>
        <p:nvSpPr>
          <p:cNvPr id="8" name="">
            <a:extLst xmlns:a="http://schemas.openxmlformats.org/drawingml/2006/main">
              <a:ext uri="{FF2B5EF4-FFF2-40B4-BE49-F238E27FC236}">
                <a16:creationId xmlns:a16="http://schemas.microsoft.com/office/drawing/2014/main" id="{7A08C444-764B-45AC-9A82-99B09BB0A5F1}"/>
              </a:ext>
            </a:extLst>
          </p:cNvPr>
          <p:cNvSpPr>
            <a:spLocks xmlns:a="http://schemas.openxmlformats.org/drawingml/2006/main" noGrp="1"/>
          </p:cNvSpPr>
          <p:nvPr/>
        </p:nvSpPr>
        <p:spPr>
          <a:xfrm xmlns:a="http://schemas.openxmlformats.org/drawingml/2006/main">
            <a:off x="6715125" y="2000250"/>
            <a:ext cx="4619625" cy="3286125"/>
          </a:xfrm>
          <a:prstGeom xmlns:a="http://schemas.openxmlformats.org/drawingml/2006/main" prst="roundRect">
            <a:avLst>
              <a:gd name="adj" fmla="val 2319"/>
            </a:avLst>
          </a:prstGeom>
          <a:noFill xmlns:a="http://schemas.openxmlformats.org/drawingml/2006/main"/>
          <a:ln xmlns:a="http://schemas.openxmlformats.org/drawingml/2006/main" w="9525">
            <a:solidFill>
              <a:srgbClr val="B9CAD2"/>
            </a:solidFill>
            <a:prstDash val="solid"/>
          </a:ln>
        </p:spPr>
      </p:sp>
      <p:sp>
        <p:nvSpPr>
          <p:cNvPr id="9" name="">
            <a:extLst xmlns:a="http://schemas.openxmlformats.org/drawingml/2006/main">
              <a:ext uri="{FF2B5EF4-FFF2-40B4-BE49-F238E27FC236}">
                <a16:creationId xmlns:a16="http://schemas.microsoft.com/office/drawing/2014/main" id="{B3070E3F-593A-42D9-BD21-CAD5631CFF61}"/>
              </a:ext>
            </a:extLst>
          </p:cNvPr>
          <p:cNvSpPr>
            <a:spLocks xmlns:a="http://schemas.openxmlformats.org/drawingml/2006/main" noGrp="1"/>
          </p:cNvSpPr>
          <p:nvPr/>
        </p:nvSpPr>
        <p:spPr>
          <a:xfrm xmlns:a="http://schemas.openxmlformats.org/drawingml/2006/main">
            <a:off x="6715125" y="2000250"/>
            <a:ext cx="4619625"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B263957D-B4FB-4E93-A29D-51EAABCFDF49}"/>
              </a:ext>
            </a:extLst>
          </p:cNvPr>
          <p:cNvSpPr>
            <a:spLocks xmlns:a="http://schemas.openxmlformats.org/drawingml/2006/main" noGrp="1"/>
          </p:cNvSpPr>
          <p:nvPr/>
        </p:nvSpPr>
        <p:spPr>
          <a:xfrm xmlns:a="http://schemas.openxmlformats.org/drawingml/2006/main">
            <a:off x="6867525" y="2133600"/>
            <a:ext cx="4314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75" b="1">
                <a:solidFill>
                  <a:srgbClr val="003F6B"/>
                </a:solidFill>
              </a:defRPr>
            </a:pPr>
            <a:r>
              <a:rPr sz="1575" b="1">
                <a:solidFill>
                  <a:srgbClr val="003F6B"/>
                </a:solidFill>
              </a:rPr>
              <a:t>Substantiiert</a:t>
            </a:r>
          </a:p>
        </p:txBody>
      </p:sp>
      <p:sp>
        <p:nvSpPr>
          <p:cNvPr id="11" name="">
            <a:extLst xmlns:a="http://schemas.openxmlformats.org/drawingml/2006/main">
              <a:ext uri="{FF2B5EF4-FFF2-40B4-BE49-F238E27FC236}">
                <a16:creationId xmlns:a16="http://schemas.microsoft.com/office/drawing/2014/main" id="{760D5001-4E49-418D-9E33-175A82CFC59F}"/>
              </a:ext>
            </a:extLst>
          </p:cNvPr>
          <p:cNvSpPr>
            <a:spLocks xmlns:a="http://schemas.openxmlformats.org/drawingml/2006/main" noGrp="1"/>
          </p:cNvSpPr>
          <p:nvPr/>
        </p:nvSpPr>
        <p:spPr>
          <a:xfrm xmlns:a="http://schemas.openxmlformats.org/drawingml/2006/main">
            <a:off x="6867525" y="2571750"/>
            <a:ext cx="4314825"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15232B"/>
                </a:solidFill>
              </a:defRPr>
            </a:pPr>
            <a:r>
              <a:rPr sz="1200">
                <a:solidFill>
                  <a:srgbClr val="15232B"/>
                </a:solidFill>
              </a:rPr>
              <a:t>• Jede relevante Behauptung wird zugestanden, konkret bestritten oder mit Nichtwissen zulässig behandelt.</a:t>
            </a:r>
          </a:p>
          <a:p xmlns:a="http://schemas.openxmlformats.org/drawingml/2006/main">
            <a:pPr>
              <a:buNone/>
              <a:defRPr sz="1200">
                <a:solidFill>
                  <a:srgbClr val="15232B"/>
                </a:solidFill>
              </a:defRPr>
            </a:pPr>
            <a:r>
              <a:rPr sz="1200">
                <a:solidFill>
                  <a:srgbClr val="15232B"/>
                </a:solidFill>
              </a:rPr>
              <a:t>• Der eigene Ablauf wird positiv und chronologisch dargestellt.</a:t>
            </a:r>
          </a:p>
          <a:p xmlns:a="http://schemas.openxmlformats.org/drawingml/2006/main">
            <a:pPr>
              <a:buNone/>
              <a:defRPr sz="1200">
                <a:solidFill>
                  <a:srgbClr val="15232B"/>
                </a:solidFill>
              </a:defRPr>
            </a:pPr>
            <a:r>
              <a:rPr sz="1200">
                <a:solidFill>
                  <a:srgbClr val="15232B"/>
                </a:solidFill>
              </a:rPr>
              <a:t>• Unterlagen und Beweisangebote werden der jeweiligen Tatsache zugeordnet.</a:t>
            </a:r>
          </a:p>
        </p:txBody>
      </p:sp>
      <p:sp>
        <p:nvSpPr>
          <p:cNvPr id="12" name="">
            <a:extLst xmlns:a="http://schemas.openxmlformats.org/drawingml/2006/main">
              <a:ext uri="{FF2B5EF4-FFF2-40B4-BE49-F238E27FC236}">
                <a16:creationId xmlns:a16="http://schemas.microsoft.com/office/drawing/2014/main" id="{D555B8AD-4861-420E-A8F0-6261E6EBE14E}"/>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13" name="">
            <a:extLst xmlns:a="http://schemas.openxmlformats.org/drawingml/2006/main">
              <a:ext uri="{FF2B5EF4-FFF2-40B4-BE49-F238E27FC236}">
                <a16:creationId xmlns:a16="http://schemas.microsoft.com/office/drawing/2014/main" id="{F635C9D7-129E-45A9-886F-B889D4815C8D}"/>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Gutes Bestreiten macht sichtbar, worüber das Gericht tatsächlich Beweis erheben muss.</a:t>
            </a:r>
          </a:p>
        </p:txBody>
      </p:sp>
    </p:spTree>
    <p:extLst>
      <p:ext uri="{BB962C8B-B14F-4D97-AF65-F5344CB8AC3E}">
        <p14:creationId xmlns:p14="http://schemas.microsoft.com/office/powerpoint/2010/main" val="43637646"/>
      </p:ext>
    </p:extLst>
  </p:cSld>
</p:sld>
</file>

<file path=ppt/slides/slide194.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Früher erster Termin und Güteverhandlung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46D88DD1-2451-47DE-9837-C242F2B9DE22}"/>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Das Gericht soll den Rechtsstreit früh strukturieren und eine einvernehmliche Lösung prüfen.</a:t>
            </a:r>
          </a:p>
        </p:txBody>
      </p:sp>
      <p:sp>
        <p:nvSpPr>
          <p:cNvPr id="5" name="">
            <a:extLst xmlns:a="http://schemas.openxmlformats.org/drawingml/2006/main">
              <a:ext uri="{FF2B5EF4-FFF2-40B4-BE49-F238E27FC236}">
                <a16:creationId xmlns:a16="http://schemas.microsoft.com/office/drawing/2014/main" id="{90B23874-0655-4256-87F5-1EBB02305061}"/>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71C9C429-F99A-4EE7-8A17-090B301439CA}"/>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5CD47991-125E-4E05-AC89-3A0B8A4E1AFC}"/>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Vorbereitung</a:t>
            </a:r>
          </a:p>
        </p:txBody>
      </p:sp>
      <p:sp>
        <p:nvSpPr>
          <p:cNvPr id="8" name="">
            <a:extLst xmlns:a="http://schemas.openxmlformats.org/drawingml/2006/main">
              <a:ext uri="{FF2B5EF4-FFF2-40B4-BE49-F238E27FC236}">
                <a16:creationId xmlns:a16="http://schemas.microsoft.com/office/drawing/2014/main" id="{85DC6A59-4BEC-4C9B-9772-CCF01409176F}"/>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Die Parteien kennen Anträge, Kernstreitpunkte, Beweislücken und Vergleichskorridor.</a:t>
            </a:r>
          </a:p>
        </p:txBody>
      </p:sp>
      <p:sp>
        <p:nvSpPr>
          <p:cNvPr id="9" name="">
            <a:extLst xmlns:a="http://schemas.openxmlformats.org/drawingml/2006/main">
              <a:ext uri="{FF2B5EF4-FFF2-40B4-BE49-F238E27FC236}">
                <a16:creationId xmlns:a16="http://schemas.microsoft.com/office/drawing/2014/main" id="{75CDCE38-9E09-44CD-8434-25102C376449}"/>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4D0E2416-1014-4CC8-9FFC-BACDCA802B43}"/>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4A7CD87C-35DB-4929-8438-B121EDE717E0}"/>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Güteversuch</a:t>
            </a:r>
          </a:p>
        </p:txBody>
      </p:sp>
      <p:sp>
        <p:nvSpPr>
          <p:cNvPr id="12" name="">
            <a:extLst xmlns:a="http://schemas.openxmlformats.org/drawingml/2006/main">
              <a:ext uri="{FF2B5EF4-FFF2-40B4-BE49-F238E27FC236}">
                <a16:creationId xmlns:a16="http://schemas.microsoft.com/office/drawing/2014/main" id="{535B2A09-4CEC-4141-BE08-F52CFB02B95C}"/>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Das Gericht erörtert Interessen und Risiken; eine Einigung bleibt freiwillig.</a:t>
            </a:r>
          </a:p>
        </p:txBody>
      </p:sp>
      <p:sp>
        <p:nvSpPr>
          <p:cNvPr id="13" name="">
            <a:extLst xmlns:a="http://schemas.openxmlformats.org/drawingml/2006/main">
              <a:ext uri="{FF2B5EF4-FFF2-40B4-BE49-F238E27FC236}">
                <a16:creationId xmlns:a16="http://schemas.microsoft.com/office/drawing/2014/main" id="{B72B5808-1D6A-49B5-B0BB-33B185B713A8}"/>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6229A257-EF73-43F3-90A2-1A557D1F61D1}"/>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4EEEB9A1-0279-483B-BDDA-D4B2DD9F728C}"/>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Hinweise</a:t>
            </a:r>
          </a:p>
        </p:txBody>
      </p:sp>
      <p:sp>
        <p:nvSpPr>
          <p:cNvPr id="16" name="">
            <a:extLst xmlns:a="http://schemas.openxmlformats.org/drawingml/2006/main">
              <a:ext uri="{FF2B5EF4-FFF2-40B4-BE49-F238E27FC236}">
                <a16:creationId xmlns:a16="http://schemas.microsoft.com/office/drawing/2014/main" id="{5907C86A-F242-42D1-BF92-AD31DB0E0548}"/>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Gerichtliche Hinweise können fehlenden Vortrag, unklare Anträge oder rechtliche Gesichtspunkte betreffen.</a:t>
            </a:r>
          </a:p>
        </p:txBody>
      </p:sp>
      <p:sp>
        <p:nvSpPr>
          <p:cNvPr id="17" name="">
            <a:extLst xmlns:a="http://schemas.openxmlformats.org/drawingml/2006/main">
              <a:ext uri="{FF2B5EF4-FFF2-40B4-BE49-F238E27FC236}">
                <a16:creationId xmlns:a16="http://schemas.microsoft.com/office/drawing/2014/main" id="{6C900952-F788-4998-A8B2-81219EC9DCD9}"/>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8E916BA0-0471-4870-912C-D6CA783FF784}"/>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593A3052-02C4-4106-80F8-CAF979F4A906}"/>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Protokoll</a:t>
            </a:r>
          </a:p>
        </p:txBody>
      </p:sp>
      <p:sp>
        <p:nvSpPr>
          <p:cNvPr id="20" name="">
            <a:extLst xmlns:a="http://schemas.openxmlformats.org/drawingml/2006/main">
              <a:ext uri="{FF2B5EF4-FFF2-40B4-BE49-F238E27FC236}">
                <a16:creationId xmlns:a16="http://schemas.microsoft.com/office/drawing/2014/main" id="{AC2A147F-AC27-40F1-8345-77A257C27392}"/>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Anträge, Erklärungen und ein möglicher Vergleich werden protokolliert; der genaue Wortlaut ist bindend.</a:t>
            </a:r>
          </a:p>
        </p:txBody>
      </p:sp>
      <p:sp>
        <p:nvSpPr>
          <p:cNvPr id="21" name="">
            <a:extLst xmlns:a="http://schemas.openxmlformats.org/drawingml/2006/main">
              <a:ext uri="{FF2B5EF4-FFF2-40B4-BE49-F238E27FC236}">
                <a16:creationId xmlns:a16="http://schemas.microsoft.com/office/drawing/2014/main" id="{29D49EDD-E263-4F2D-8914-259AB416AE37}"/>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C40C3FD9-07FF-42A7-9A6C-7AAEF0FF8F62}"/>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Der erste Termin ist kein informelles Gespräch, sondern eine prozessentscheidende Verdichtung.</a:t>
            </a:r>
          </a:p>
        </p:txBody>
      </p:sp>
    </p:spTree>
    <p:extLst>
      <p:ext uri="{BB962C8B-B14F-4D97-AF65-F5344CB8AC3E}">
        <p14:creationId xmlns:p14="http://schemas.microsoft.com/office/powerpoint/2010/main" val="43637646"/>
      </p:ext>
    </p:extLst>
  </p:cSld>
</p:sld>
</file>

<file path=ppt/slides/slide195.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Mündlichkeitsgrundsatz und Schriftsätze</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58421F0D-8391-4642-9E18-F58AD4535680}"/>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Entschieden wird grundsätzlich aufgrund der mündlichen Verhandlung; Schriftsätze bereiten sie vor.</a:t>
            </a:r>
          </a:p>
        </p:txBody>
      </p:sp>
      <p:sp>
        <p:nvSpPr>
          <p:cNvPr id="5" name="">
            <a:extLst xmlns:a="http://schemas.openxmlformats.org/drawingml/2006/main">
              <a:ext uri="{FF2B5EF4-FFF2-40B4-BE49-F238E27FC236}">
                <a16:creationId xmlns:a16="http://schemas.microsoft.com/office/drawing/2014/main" id="{C84F28A3-603C-4C33-B5AF-7BCB31AB3605}"/>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B19AB9CC-BEBE-406F-8B55-21B0CD0BB0E7}"/>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D270DE3C-12FC-4762-A940-085B6F56A0F5}"/>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Anträge stellen</a:t>
            </a:r>
          </a:p>
        </p:txBody>
      </p:sp>
      <p:sp>
        <p:nvSpPr>
          <p:cNvPr id="8" name="">
            <a:extLst xmlns:a="http://schemas.openxmlformats.org/drawingml/2006/main">
              <a:ext uri="{FF2B5EF4-FFF2-40B4-BE49-F238E27FC236}">
                <a16:creationId xmlns:a16="http://schemas.microsoft.com/office/drawing/2014/main" id="{5F473EBC-4ECA-4AD0-8625-B8C1C9D8CD26}"/>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Die vorbereiteten Anträge werden in der Verhandlung wirksam gestellt.</a:t>
            </a:r>
          </a:p>
        </p:txBody>
      </p:sp>
      <p:sp>
        <p:nvSpPr>
          <p:cNvPr id="9" name="">
            <a:extLst xmlns:a="http://schemas.openxmlformats.org/drawingml/2006/main">
              <a:ext uri="{FF2B5EF4-FFF2-40B4-BE49-F238E27FC236}">
                <a16:creationId xmlns:a16="http://schemas.microsoft.com/office/drawing/2014/main" id="{AD30B26F-F0F3-4808-B39C-5FA6E46DD4DD}"/>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DE1F5DE8-773E-4479-B186-4616DCE18D13}"/>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4297CEDF-5696-410A-B450-F04D8E3196A1}"/>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Bezugnahme</a:t>
            </a:r>
          </a:p>
        </p:txBody>
      </p:sp>
      <p:sp>
        <p:nvSpPr>
          <p:cNvPr id="12" name="">
            <a:extLst xmlns:a="http://schemas.openxmlformats.org/drawingml/2006/main">
              <a:ext uri="{FF2B5EF4-FFF2-40B4-BE49-F238E27FC236}">
                <a16:creationId xmlns:a16="http://schemas.microsoft.com/office/drawing/2014/main" id="{1B1C04CE-2DE1-410A-9AFD-233F25589A30}"/>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Schriftlicher Vortrag wird einbezogen, aber das Gericht kann Erläuterung und Präzisierung verlangen.</a:t>
            </a:r>
          </a:p>
        </p:txBody>
      </p:sp>
      <p:sp>
        <p:nvSpPr>
          <p:cNvPr id="13" name="">
            <a:extLst xmlns:a="http://schemas.openxmlformats.org/drawingml/2006/main">
              <a:ext uri="{FF2B5EF4-FFF2-40B4-BE49-F238E27FC236}">
                <a16:creationId xmlns:a16="http://schemas.microsoft.com/office/drawing/2014/main" id="{7EB7417E-0892-414B-8808-077B560B3DFF}"/>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AB2F5341-0E20-4C11-AF9B-9DCBC9D1AEC6}"/>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5F69D656-058D-45A7-82CB-330356AF4FEB}"/>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Rechtliches Gehör</a:t>
            </a:r>
          </a:p>
        </p:txBody>
      </p:sp>
      <p:sp>
        <p:nvSpPr>
          <p:cNvPr id="16" name="">
            <a:extLst xmlns:a="http://schemas.openxmlformats.org/drawingml/2006/main">
              <a:ext uri="{FF2B5EF4-FFF2-40B4-BE49-F238E27FC236}">
                <a16:creationId xmlns:a16="http://schemas.microsoft.com/office/drawing/2014/main" id="{E78A8675-CE38-415E-AC6C-BBCFDC0AEF40}"/>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Neue entscheidungserhebliche Gesichtspunkte dürfen nicht überraschend ohne Stellungnahmemöglichkeit verwertet werden.</a:t>
            </a:r>
          </a:p>
        </p:txBody>
      </p:sp>
      <p:sp>
        <p:nvSpPr>
          <p:cNvPr id="17" name="">
            <a:extLst xmlns:a="http://schemas.openxmlformats.org/drawingml/2006/main">
              <a:ext uri="{FF2B5EF4-FFF2-40B4-BE49-F238E27FC236}">
                <a16:creationId xmlns:a16="http://schemas.microsoft.com/office/drawing/2014/main" id="{BBF795A1-8F71-4E0B-A92A-C8AF86973664}"/>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A8B3A619-457B-4C54-8E8C-00E67CF499EB}"/>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30EBCCF0-514B-490D-9439-95E0AF9AF071}"/>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Nachlass</a:t>
            </a:r>
          </a:p>
        </p:txBody>
      </p:sp>
      <p:sp>
        <p:nvSpPr>
          <p:cNvPr id="20" name="">
            <a:extLst xmlns:a="http://schemas.openxmlformats.org/drawingml/2006/main">
              <a:ext uri="{FF2B5EF4-FFF2-40B4-BE49-F238E27FC236}">
                <a16:creationId xmlns:a16="http://schemas.microsoft.com/office/drawing/2014/main" id="{E4A901FB-E2B2-4FB8-8D7F-241BD2E6189F}"/>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Bei neuem Vorbringen kann eine Schriftsatzfrist beantragt werden; sie wird nicht automatisch gewährt.</a:t>
            </a:r>
          </a:p>
        </p:txBody>
      </p:sp>
      <p:sp>
        <p:nvSpPr>
          <p:cNvPr id="21" name="">
            <a:extLst xmlns:a="http://schemas.openxmlformats.org/drawingml/2006/main">
              <a:ext uri="{FF2B5EF4-FFF2-40B4-BE49-F238E27FC236}">
                <a16:creationId xmlns:a16="http://schemas.microsoft.com/office/drawing/2014/main" id="{0545715A-3AC9-461B-8A53-B22500F22A25}"/>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4F59A200-623D-4B33-90CA-4C9100ED221C}"/>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Aktenkenntnis und klare mündliche Kernbotschaft gehören zusammen.</a:t>
            </a:r>
          </a:p>
        </p:txBody>
      </p:sp>
    </p:spTree>
    <p:extLst>
      <p:ext uri="{BB962C8B-B14F-4D97-AF65-F5344CB8AC3E}">
        <p14:creationId xmlns:p14="http://schemas.microsoft.com/office/powerpoint/2010/main" val="43637646"/>
      </p:ext>
    </p:extLst>
  </p:cSld>
</p:sld>
</file>

<file path=ppt/slides/slide196.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Beweisbeschluss</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67D3B1EA-9823-413F-923A-2962E4E0C289}"/>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Das Gericht bestimmt, welche konkrete streitige Tatsache durch welches Beweismittel geklärt wird.</a:t>
            </a:r>
          </a:p>
        </p:txBody>
      </p:sp>
      <p:sp>
        <p:nvSpPr>
          <p:cNvPr id="5" name="">
            <a:extLst xmlns:a="http://schemas.openxmlformats.org/drawingml/2006/main">
              <a:ext uri="{FF2B5EF4-FFF2-40B4-BE49-F238E27FC236}">
                <a16:creationId xmlns:a16="http://schemas.microsoft.com/office/drawing/2014/main" id="{C39507AE-0F88-440D-A399-E1623E9D25AC}"/>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D7D49AC0-A431-4026-AF64-358B247958F2}"/>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5BED45F0-1410-48A4-9724-CE798C9533FA}"/>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Beweisthema</a:t>
            </a:r>
          </a:p>
        </p:txBody>
      </p:sp>
      <p:sp>
        <p:nvSpPr>
          <p:cNvPr id="8" name="">
            <a:extLst xmlns:a="http://schemas.openxmlformats.org/drawingml/2006/main">
              <a:ext uri="{FF2B5EF4-FFF2-40B4-BE49-F238E27FC236}">
                <a16:creationId xmlns:a16="http://schemas.microsoft.com/office/drawing/2014/main" id="{0CE4F6F6-8436-47D9-8ACE-CC700DDB8EBF}"/>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Die zu beweisende Tatsache muss entscheidungserheblich und konkret sein.</a:t>
            </a:r>
          </a:p>
        </p:txBody>
      </p:sp>
      <p:sp>
        <p:nvSpPr>
          <p:cNvPr id="9" name="">
            <a:extLst xmlns:a="http://schemas.openxmlformats.org/drawingml/2006/main">
              <a:ext uri="{FF2B5EF4-FFF2-40B4-BE49-F238E27FC236}">
                <a16:creationId xmlns:a16="http://schemas.microsoft.com/office/drawing/2014/main" id="{17F9A1EC-BA9E-4EA6-BDDD-8B28D5CA022E}"/>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F3C64F45-EB0C-4700-A82F-F222BBB0BF2C}"/>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A7310A71-C5C9-4123-9D5F-EF5755FAB1AE}"/>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Beweismittel</a:t>
            </a:r>
          </a:p>
        </p:txBody>
      </p:sp>
      <p:sp>
        <p:nvSpPr>
          <p:cNvPr id="12" name="">
            <a:extLst xmlns:a="http://schemas.openxmlformats.org/drawingml/2006/main">
              <a:ext uri="{FF2B5EF4-FFF2-40B4-BE49-F238E27FC236}">
                <a16:creationId xmlns:a16="http://schemas.microsoft.com/office/drawing/2014/main" id="{3CDB5DC6-7C9A-4D7D-AA60-B98CE3A5C647}"/>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Das Gericht ordnet etwa Zeugenvernehmung oder Sachverständigengutachten an.</a:t>
            </a:r>
          </a:p>
        </p:txBody>
      </p:sp>
      <p:sp>
        <p:nvSpPr>
          <p:cNvPr id="13" name="">
            <a:extLst xmlns:a="http://schemas.openxmlformats.org/drawingml/2006/main">
              <a:ext uri="{FF2B5EF4-FFF2-40B4-BE49-F238E27FC236}">
                <a16:creationId xmlns:a16="http://schemas.microsoft.com/office/drawing/2014/main" id="{14BCC789-A177-480C-B13F-470F0BA3880C}"/>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23C2A3B2-6534-4E1B-BA62-01D6BD349B49}"/>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522A8177-A874-4820-B006-7617BD610B8D}"/>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Anknüpfungstatsachen</a:t>
            </a:r>
          </a:p>
        </p:txBody>
      </p:sp>
      <p:sp>
        <p:nvSpPr>
          <p:cNvPr id="16" name="">
            <a:extLst xmlns:a="http://schemas.openxmlformats.org/drawingml/2006/main">
              <a:ext uri="{FF2B5EF4-FFF2-40B4-BE49-F238E27FC236}">
                <a16:creationId xmlns:a16="http://schemas.microsoft.com/office/drawing/2014/main" id="{B9E1A836-7F35-4CAF-B65C-A73FAB8DEDFE}"/>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Streitige Tatsachenvarianten werden kenntlich gemacht, damit das Gutachten sie nicht eigenmächtig festlegt.</a:t>
            </a:r>
          </a:p>
        </p:txBody>
      </p:sp>
      <p:sp>
        <p:nvSpPr>
          <p:cNvPr id="17" name="">
            <a:extLst xmlns:a="http://schemas.openxmlformats.org/drawingml/2006/main">
              <a:ext uri="{FF2B5EF4-FFF2-40B4-BE49-F238E27FC236}">
                <a16:creationId xmlns:a16="http://schemas.microsoft.com/office/drawing/2014/main" id="{4FAD30F4-DE03-4894-97F2-04ED22556D2B}"/>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AAE4F7E5-3707-406C-9739-B3358C519F3A}"/>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12F2BF1D-E9BE-4E3B-A08E-73A30A2D0527}"/>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Kosten</a:t>
            </a:r>
          </a:p>
        </p:txBody>
      </p:sp>
      <p:sp>
        <p:nvSpPr>
          <p:cNvPr id="20" name="">
            <a:extLst xmlns:a="http://schemas.openxmlformats.org/drawingml/2006/main">
              <a:ext uri="{FF2B5EF4-FFF2-40B4-BE49-F238E27FC236}">
                <a16:creationId xmlns:a16="http://schemas.microsoft.com/office/drawing/2014/main" id="{53A60FD7-35E8-4A94-88B6-8DAD2E047EC6}"/>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Für Sachverständige kann ein Vorschuss angefordert werden; Nichtzahlung kann Folgen für die Beweiserhebung haben.</a:t>
            </a:r>
          </a:p>
        </p:txBody>
      </p:sp>
      <p:sp>
        <p:nvSpPr>
          <p:cNvPr id="21" name="">
            <a:extLst xmlns:a="http://schemas.openxmlformats.org/drawingml/2006/main">
              <a:ext uri="{FF2B5EF4-FFF2-40B4-BE49-F238E27FC236}">
                <a16:creationId xmlns:a16="http://schemas.microsoft.com/office/drawing/2014/main" id="{A1FD2645-2E92-42F9-B936-5B137E533ED1}"/>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4580EB76-F6EE-4442-A669-14B44F0A5404}"/>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Der Beweisbeschluss ist die Schnittstelle zwischen juristischer Streitfrage und medizinischer Expertise.</a:t>
            </a:r>
          </a:p>
        </p:txBody>
      </p:sp>
    </p:spTree>
    <p:extLst>
      <p:ext uri="{BB962C8B-B14F-4D97-AF65-F5344CB8AC3E}">
        <p14:creationId xmlns:p14="http://schemas.microsoft.com/office/powerpoint/2010/main" val="43637646"/>
      </p:ext>
    </p:extLst>
  </p:cSld>
</p:sld>
</file>

<file path=ppt/slides/slide197.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Sachverständigenbeweis nach §§ 402 ff. ZPO</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VERFAHREN VERSTEHEN</a:t>
            </a:r>
            <a:endParaRPr/>
          </a:p>
        </p:txBody>
      </p:sp>
      <p:sp>
        <p:nvSpPr>
          <p:cNvPr id="4" name="">
            <a:extLst xmlns:a="http://schemas.openxmlformats.org/drawingml/2006/main">
              <a:ext uri="{FF2B5EF4-FFF2-40B4-BE49-F238E27FC236}">
                <a16:creationId xmlns:a16="http://schemas.microsoft.com/office/drawing/2014/main" id="{2C005E3D-9F68-4966-BFB4-91308C456CE2}"/>
              </a:ext>
            </a:extLst>
          </p:cNvPr>
          <p:cNvSpPr>
            <a:spLocks xmlns:a="http://schemas.openxmlformats.org/drawingml/2006/main" noGrp="1"/>
          </p:cNvSpPr>
          <p:nvPr/>
        </p:nvSpPr>
        <p:spPr>
          <a:xfrm xmlns:a="http://schemas.openxmlformats.org/drawingml/2006/main">
            <a:off x="1809750" y="1885950"/>
            <a:ext cx="9525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15">
                <a:solidFill>
                  <a:srgbClr val="667680"/>
                </a:solidFill>
              </a:defRPr>
            </a:pPr>
            <a:r>
              <a:rPr sz="1215">
                <a:solidFill>
                  <a:srgbClr val="667680"/>
                </a:solidFill>
              </a:rPr>
              <a:t>Der gerichtliche Gutachtenprozess hat mehrere überprüfbare Schritte.</a:t>
            </a:r>
          </a:p>
        </p:txBody>
      </p:sp>
      <p:sp>
        <p:nvSpPr>
          <p:cNvPr id="5" name="">
            <a:extLst xmlns:a="http://schemas.openxmlformats.org/drawingml/2006/main">
              <a:ext uri="{FF2B5EF4-FFF2-40B4-BE49-F238E27FC236}">
                <a16:creationId xmlns:a16="http://schemas.microsoft.com/office/drawing/2014/main" id="{DE690531-722F-4FE5-BCEF-66D1B8FA5E2D}"/>
              </a:ext>
            </a:extLst>
          </p:cNvPr>
          <p:cNvSpPr>
            <a:spLocks xmlns:a="http://schemas.openxmlformats.org/drawingml/2006/main" noGrp="1"/>
          </p:cNvSpPr>
          <p:nvPr/>
        </p:nvSpPr>
        <p:spPr>
          <a:xfrm xmlns:a="http://schemas.openxmlformats.org/drawingml/2006/main">
            <a:off x="1981200" y="2952750"/>
            <a:ext cx="9182100" cy="0"/>
          </a:xfrm>
          <a:prstGeom xmlns:a="http://schemas.openxmlformats.org/drawingml/2006/main" prst="line">
            <a:avLst/>
          </a:prstGeom>
          <a:noFill xmlns:a="http://schemas.openxmlformats.org/drawingml/2006/main"/>
          <a:ln xmlns:a="http://schemas.openxmlformats.org/drawingml/2006/main" w="28575">
            <a:solidFill>
              <a:srgbClr val="B9CAD2"/>
            </a:solidFill>
            <a:prstDash val="solid"/>
          </a:ln>
        </p:spPr>
      </p:sp>
      <p:sp>
        <p:nvSpPr>
          <p:cNvPr id="6" name="">
            <a:extLst xmlns:a="http://schemas.openxmlformats.org/drawingml/2006/main">
              <a:ext uri="{FF2B5EF4-FFF2-40B4-BE49-F238E27FC236}">
                <a16:creationId xmlns:a16="http://schemas.microsoft.com/office/drawing/2014/main" id="{29CAEB65-08A2-49A2-B207-5554D01193EB}"/>
              </a:ext>
            </a:extLst>
          </p:cNvPr>
          <p:cNvSpPr>
            <a:spLocks xmlns:a="http://schemas.openxmlformats.org/drawingml/2006/main" noGrp="1"/>
          </p:cNvSpPr>
          <p:nvPr/>
        </p:nvSpPr>
        <p:spPr>
          <a:xfrm xmlns:a="http://schemas.openxmlformats.org/drawingml/2006/main">
            <a:off x="1809750" y="2495550"/>
            <a:ext cx="1828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Auswahl und Auftrag</a:t>
            </a:r>
          </a:p>
        </p:txBody>
      </p:sp>
      <p:sp>
        <p:nvSpPr>
          <p:cNvPr id="7" name="">
            <a:extLst xmlns:a="http://schemas.openxmlformats.org/drawingml/2006/main">
              <a:ext uri="{FF2B5EF4-FFF2-40B4-BE49-F238E27FC236}">
                <a16:creationId xmlns:a16="http://schemas.microsoft.com/office/drawing/2014/main" id="{B1150F51-30DC-4EB7-942C-246390C75F1A}"/>
              </a:ext>
            </a:extLst>
          </p:cNvPr>
          <p:cNvSpPr>
            <a:spLocks xmlns:a="http://schemas.openxmlformats.org/drawingml/2006/main" noGrp="1"/>
          </p:cNvSpPr>
          <p:nvPr/>
        </p:nvSpPr>
        <p:spPr>
          <a:xfrm xmlns:a="http://schemas.openxmlformats.org/drawingml/2006/main">
            <a:off x="2600325" y="2838450"/>
            <a:ext cx="247650" cy="247650"/>
          </a:xfrm>
          <a:prstGeom xmlns:a="http://schemas.openxmlformats.org/drawingml/2006/main" prst="ellipse">
            <a:avLst/>
          </a:prstGeom>
          <a:solidFill xmlns:a="http://schemas.openxmlformats.org/drawingml/2006/main">
            <a:srgbClr val="003F6B"/>
          </a:solidFill>
          <a:ln xmlns:a="http://schemas.openxmlformats.org/drawingml/2006/main" w="19050">
            <a:solidFill>
              <a:srgbClr val="FFFFFF"/>
            </a:solidFill>
            <a:prstDash val="solid"/>
          </a:ln>
        </p:spPr>
      </p:sp>
      <p:sp>
        <p:nvSpPr>
          <p:cNvPr id="8" name="">
            <a:extLst xmlns:a="http://schemas.openxmlformats.org/drawingml/2006/main">
              <a:ext uri="{FF2B5EF4-FFF2-40B4-BE49-F238E27FC236}">
                <a16:creationId xmlns:a16="http://schemas.microsoft.com/office/drawing/2014/main" id="{4B9015BA-706E-4A8B-B510-8844866C20E8}"/>
              </a:ext>
            </a:extLst>
          </p:cNvPr>
          <p:cNvSpPr>
            <a:spLocks xmlns:a="http://schemas.openxmlformats.org/drawingml/2006/main" noGrp="1"/>
          </p:cNvSpPr>
          <p:nvPr/>
        </p:nvSpPr>
        <p:spPr>
          <a:xfrm xmlns:a="http://schemas.openxmlformats.org/drawingml/2006/main">
            <a:off x="1809750" y="3219450"/>
            <a:ext cx="1828800" cy="2000250"/>
          </a:xfrm>
          <a:prstGeom xmlns:a="http://schemas.openxmlformats.org/drawingml/2006/main" prst="roundRect">
            <a:avLst>
              <a:gd name="adj" fmla="val 4167"/>
            </a:avLst>
          </a:prstGeom>
          <a:noFill xmlns:a="http://schemas.openxmlformats.org/drawingml/2006/main"/>
          <a:ln xmlns:a="http://schemas.openxmlformats.org/drawingml/2006/main" w="9525">
            <a:solidFill>
              <a:srgbClr val="00B2BB"/>
            </a:solidFill>
            <a:prstDash val="solid"/>
          </a:ln>
        </p:spPr>
      </p:sp>
      <p:sp>
        <p:nvSpPr>
          <p:cNvPr id="9" name="">
            <a:extLst xmlns:a="http://schemas.openxmlformats.org/drawingml/2006/main">
              <a:ext uri="{FF2B5EF4-FFF2-40B4-BE49-F238E27FC236}">
                <a16:creationId xmlns:a16="http://schemas.microsoft.com/office/drawing/2014/main" id="{5D93D1C5-FC4B-4AAD-B854-4BBAC694F43B}"/>
              </a:ext>
            </a:extLst>
          </p:cNvPr>
          <p:cNvSpPr>
            <a:spLocks xmlns:a="http://schemas.openxmlformats.org/drawingml/2006/main" noGrp="1"/>
          </p:cNvSpPr>
          <p:nvPr/>
        </p:nvSpPr>
        <p:spPr>
          <a:xfrm xmlns:a="http://schemas.openxmlformats.org/drawingml/2006/main">
            <a:off x="1905000" y="3314700"/>
            <a:ext cx="16383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Das Gericht wählt eine fachkundige, unparteiische Person und übermittelt Beweisfragen sowie Unterlagen.</a:t>
            </a:r>
          </a:p>
        </p:txBody>
      </p:sp>
      <p:sp>
        <p:nvSpPr>
          <p:cNvPr id="10" name="">
            <a:extLst xmlns:a="http://schemas.openxmlformats.org/drawingml/2006/main">
              <a:ext uri="{FF2B5EF4-FFF2-40B4-BE49-F238E27FC236}">
                <a16:creationId xmlns:a16="http://schemas.microsoft.com/office/drawing/2014/main" id="{B5658D05-2FBC-47BE-8435-358D2EB21561}"/>
              </a:ext>
            </a:extLst>
          </p:cNvPr>
          <p:cNvSpPr>
            <a:spLocks xmlns:a="http://schemas.openxmlformats.org/drawingml/2006/main" noGrp="1"/>
          </p:cNvSpPr>
          <p:nvPr/>
        </p:nvSpPr>
        <p:spPr>
          <a:xfrm xmlns:a="http://schemas.openxmlformats.org/drawingml/2006/main">
            <a:off x="3733800" y="2495550"/>
            <a:ext cx="1828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Gutachtenerstellung</a:t>
            </a:r>
          </a:p>
        </p:txBody>
      </p:sp>
      <p:sp>
        <p:nvSpPr>
          <p:cNvPr id="11" name="">
            <a:extLst xmlns:a="http://schemas.openxmlformats.org/drawingml/2006/main">
              <a:ext uri="{FF2B5EF4-FFF2-40B4-BE49-F238E27FC236}">
                <a16:creationId xmlns:a16="http://schemas.microsoft.com/office/drawing/2014/main" id="{AD85054D-729A-4C39-9D2A-9843D4BF3272}"/>
              </a:ext>
            </a:extLst>
          </p:cNvPr>
          <p:cNvSpPr>
            <a:spLocks xmlns:a="http://schemas.openxmlformats.org/drawingml/2006/main" noGrp="1"/>
          </p:cNvSpPr>
          <p:nvPr/>
        </p:nvSpPr>
        <p:spPr>
          <a:xfrm xmlns:a="http://schemas.openxmlformats.org/drawingml/2006/main">
            <a:off x="4524375" y="2838450"/>
            <a:ext cx="247650" cy="24765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12" name="">
            <a:extLst xmlns:a="http://schemas.openxmlformats.org/drawingml/2006/main">
              <a:ext uri="{FF2B5EF4-FFF2-40B4-BE49-F238E27FC236}">
                <a16:creationId xmlns:a16="http://schemas.microsoft.com/office/drawing/2014/main" id="{7A4022B8-756B-40C6-8985-2F2FE4187B48}"/>
              </a:ext>
            </a:extLst>
          </p:cNvPr>
          <p:cNvSpPr>
            <a:spLocks xmlns:a="http://schemas.openxmlformats.org/drawingml/2006/main" noGrp="1"/>
          </p:cNvSpPr>
          <p:nvPr/>
        </p:nvSpPr>
        <p:spPr>
          <a:xfrm xmlns:a="http://schemas.openxmlformats.org/drawingml/2006/main">
            <a:off x="3733800" y="3219450"/>
            <a:ext cx="1828800" cy="2000250"/>
          </a:xfrm>
          <a:prstGeom xmlns:a="http://schemas.openxmlformats.org/drawingml/2006/main" prst="roundRect">
            <a:avLst>
              <a:gd name="adj" fmla="val 4167"/>
            </a:avLst>
          </a:prstGeom>
          <a:noFill xmlns:a="http://schemas.openxmlformats.org/drawingml/2006/main"/>
          <a:ln xmlns:a="http://schemas.openxmlformats.org/drawingml/2006/main" w="9525">
            <a:solidFill>
              <a:srgbClr val="003F6B"/>
            </a:solidFill>
            <a:prstDash val="solid"/>
          </a:ln>
        </p:spPr>
      </p:sp>
      <p:sp>
        <p:nvSpPr>
          <p:cNvPr id="13" name="">
            <a:extLst xmlns:a="http://schemas.openxmlformats.org/drawingml/2006/main">
              <a:ext uri="{FF2B5EF4-FFF2-40B4-BE49-F238E27FC236}">
                <a16:creationId xmlns:a16="http://schemas.microsoft.com/office/drawing/2014/main" id="{0C3D865B-FCF9-4119-B9E5-A7C1D620DC80}"/>
              </a:ext>
            </a:extLst>
          </p:cNvPr>
          <p:cNvSpPr>
            <a:spLocks xmlns:a="http://schemas.openxmlformats.org/drawingml/2006/main" noGrp="1"/>
          </p:cNvSpPr>
          <p:nvPr/>
        </p:nvSpPr>
        <p:spPr>
          <a:xfrm xmlns:a="http://schemas.openxmlformats.org/drawingml/2006/main">
            <a:off x="3829050" y="3314700"/>
            <a:ext cx="16383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Anknüpfungstatsachen, Standard, Bewertung und Unsicherheiten werden schriftlich oder mündlich erläutert.</a:t>
            </a:r>
          </a:p>
        </p:txBody>
      </p:sp>
      <p:sp>
        <p:nvSpPr>
          <p:cNvPr id="14" name="">
            <a:extLst xmlns:a="http://schemas.openxmlformats.org/drawingml/2006/main">
              <a:ext uri="{FF2B5EF4-FFF2-40B4-BE49-F238E27FC236}">
                <a16:creationId xmlns:a16="http://schemas.microsoft.com/office/drawing/2014/main" id="{E7765BEC-2E7B-4701-BBBE-02F562DBA2B4}"/>
              </a:ext>
            </a:extLst>
          </p:cNvPr>
          <p:cNvSpPr>
            <a:spLocks xmlns:a="http://schemas.openxmlformats.org/drawingml/2006/main" noGrp="1"/>
          </p:cNvSpPr>
          <p:nvPr/>
        </p:nvSpPr>
        <p:spPr>
          <a:xfrm xmlns:a="http://schemas.openxmlformats.org/drawingml/2006/main">
            <a:off x="5657850" y="2495550"/>
            <a:ext cx="1828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Stellungnahmen</a:t>
            </a:r>
          </a:p>
        </p:txBody>
      </p:sp>
      <p:sp>
        <p:nvSpPr>
          <p:cNvPr id="15" name="">
            <a:extLst xmlns:a="http://schemas.openxmlformats.org/drawingml/2006/main">
              <a:ext uri="{FF2B5EF4-FFF2-40B4-BE49-F238E27FC236}">
                <a16:creationId xmlns:a16="http://schemas.microsoft.com/office/drawing/2014/main" id="{B02B7FCB-AAA0-4923-9505-732D6ABCEEB9}"/>
              </a:ext>
            </a:extLst>
          </p:cNvPr>
          <p:cNvSpPr>
            <a:spLocks xmlns:a="http://schemas.openxmlformats.org/drawingml/2006/main" noGrp="1"/>
          </p:cNvSpPr>
          <p:nvPr/>
        </p:nvSpPr>
        <p:spPr>
          <a:xfrm xmlns:a="http://schemas.openxmlformats.org/drawingml/2006/main">
            <a:off x="6448425" y="2838450"/>
            <a:ext cx="247650" cy="24765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16" name="">
            <a:extLst xmlns:a="http://schemas.openxmlformats.org/drawingml/2006/main">
              <a:ext uri="{FF2B5EF4-FFF2-40B4-BE49-F238E27FC236}">
                <a16:creationId xmlns:a16="http://schemas.microsoft.com/office/drawing/2014/main" id="{C2D9B13A-A520-470E-B6BF-0E0029D049F1}"/>
              </a:ext>
            </a:extLst>
          </p:cNvPr>
          <p:cNvSpPr>
            <a:spLocks xmlns:a="http://schemas.openxmlformats.org/drawingml/2006/main" noGrp="1"/>
          </p:cNvSpPr>
          <p:nvPr/>
        </p:nvSpPr>
        <p:spPr>
          <a:xfrm xmlns:a="http://schemas.openxmlformats.org/drawingml/2006/main">
            <a:off x="5657850" y="3219450"/>
            <a:ext cx="1828800" cy="2000250"/>
          </a:xfrm>
          <a:prstGeom xmlns:a="http://schemas.openxmlformats.org/drawingml/2006/main" prst="roundRect">
            <a:avLst>
              <a:gd name="adj" fmla="val 4167"/>
            </a:avLst>
          </a:prstGeom>
          <a:noFill xmlns:a="http://schemas.openxmlformats.org/drawingml/2006/main"/>
          <a:ln xmlns:a="http://schemas.openxmlformats.org/drawingml/2006/main" w="9525">
            <a:solidFill>
              <a:srgbClr val="00B2BB"/>
            </a:solidFill>
            <a:prstDash val="solid"/>
          </a:ln>
        </p:spPr>
      </p:sp>
      <p:sp>
        <p:nvSpPr>
          <p:cNvPr id="17" name="">
            <a:extLst xmlns:a="http://schemas.openxmlformats.org/drawingml/2006/main">
              <a:ext uri="{FF2B5EF4-FFF2-40B4-BE49-F238E27FC236}">
                <a16:creationId xmlns:a16="http://schemas.microsoft.com/office/drawing/2014/main" id="{274358BC-2B3C-435F-A740-CF08CB45CE69}"/>
              </a:ext>
            </a:extLst>
          </p:cNvPr>
          <p:cNvSpPr>
            <a:spLocks xmlns:a="http://schemas.openxmlformats.org/drawingml/2006/main" noGrp="1"/>
          </p:cNvSpPr>
          <p:nvPr/>
        </p:nvSpPr>
        <p:spPr>
          <a:xfrm xmlns:a="http://schemas.openxmlformats.org/drawingml/2006/main">
            <a:off x="5753100" y="3314700"/>
            <a:ext cx="16383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Parteien prüfen Tatsachenbasis, Fachgebiet, Logik und Vollständigkeit und formulieren Einwendungen.</a:t>
            </a:r>
          </a:p>
        </p:txBody>
      </p:sp>
      <p:sp>
        <p:nvSpPr>
          <p:cNvPr id="18" name="">
            <a:extLst xmlns:a="http://schemas.openxmlformats.org/drawingml/2006/main">
              <a:ext uri="{FF2B5EF4-FFF2-40B4-BE49-F238E27FC236}">
                <a16:creationId xmlns:a16="http://schemas.microsoft.com/office/drawing/2014/main" id="{9CD5DDE0-51C8-417F-89E4-619EAF69DDB4}"/>
              </a:ext>
            </a:extLst>
          </p:cNvPr>
          <p:cNvSpPr>
            <a:spLocks xmlns:a="http://schemas.openxmlformats.org/drawingml/2006/main" noGrp="1"/>
          </p:cNvSpPr>
          <p:nvPr/>
        </p:nvSpPr>
        <p:spPr>
          <a:xfrm xmlns:a="http://schemas.openxmlformats.org/drawingml/2006/main">
            <a:off x="7581900" y="2495550"/>
            <a:ext cx="1828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Ergänzung/Anhörung</a:t>
            </a:r>
          </a:p>
        </p:txBody>
      </p:sp>
      <p:sp>
        <p:nvSpPr>
          <p:cNvPr id="19" name="">
            <a:extLst xmlns:a="http://schemas.openxmlformats.org/drawingml/2006/main">
              <a:ext uri="{FF2B5EF4-FFF2-40B4-BE49-F238E27FC236}">
                <a16:creationId xmlns:a16="http://schemas.microsoft.com/office/drawing/2014/main" id="{38B2CB71-3ECB-4CC8-B5DA-858BBF8AA64E}"/>
              </a:ext>
            </a:extLst>
          </p:cNvPr>
          <p:cNvSpPr>
            <a:spLocks xmlns:a="http://schemas.openxmlformats.org/drawingml/2006/main" noGrp="1"/>
          </p:cNvSpPr>
          <p:nvPr/>
        </p:nvSpPr>
        <p:spPr>
          <a:xfrm xmlns:a="http://schemas.openxmlformats.org/drawingml/2006/main">
            <a:off x="8372475" y="2838450"/>
            <a:ext cx="247650" cy="24765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20" name="">
            <a:extLst xmlns:a="http://schemas.openxmlformats.org/drawingml/2006/main">
              <a:ext uri="{FF2B5EF4-FFF2-40B4-BE49-F238E27FC236}">
                <a16:creationId xmlns:a16="http://schemas.microsoft.com/office/drawing/2014/main" id="{840214F9-87AC-4145-9D0D-FF82CD984C5E}"/>
              </a:ext>
            </a:extLst>
          </p:cNvPr>
          <p:cNvSpPr>
            <a:spLocks xmlns:a="http://schemas.openxmlformats.org/drawingml/2006/main" noGrp="1"/>
          </p:cNvSpPr>
          <p:nvPr/>
        </p:nvSpPr>
        <p:spPr>
          <a:xfrm xmlns:a="http://schemas.openxmlformats.org/drawingml/2006/main">
            <a:off x="7581900" y="3219450"/>
            <a:ext cx="1828800" cy="2000250"/>
          </a:xfrm>
          <a:prstGeom xmlns:a="http://schemas.openxmlformats.org/drawingml/2006/main" prst="roundRect">
            <a:avLst>
              <a:gd name="adj" fmla="val 4167"/>
            </a:avLst>
          </a:prstGeom>
          <a:noFill xmlns:a="http://schemas.openxmlformats.org/drawingml/2006/main"/>
          <a:ln xmlns:a="http://schemas.openxmlformats.org/drawingml/2006/main" w="9525">
            <a:solidFill>
              <a:srgbClr val="003F6B"/>
            </a:solidFill>
            <a:prstDash val="solid"/>
          </a:ln>
        </p:spPr>
      </p:sp>
      <p:sp>
        <p:nvSpPr>
          <p:cNvPr id="21" name="">
            <a:extLst xmlns:a="http://schemas.openxmlformats.org/drawingml/2006/main">
              <a:ext uri="{FF2B5EF4-FFF2-40B4-BE49-F238E27FC236}">
                <a16:creationId xmlns:a16="http://schemas.microsoft.com/office/drawing/2014/main" id="{A7ED2AFC-1907-4508-8B6C-0166C9E1ADDA}"/>
              </a:ext>
            </a:extLst>
          </p:cNvPr>
          <p:cNvSpPr>
            <a:spLocks xmlns:a="http://schemas.openxmlformats.org/drawingml/2006/main" noGrp="1"/>
          </p:cNvSpPr>
          <p:nvPr/>
        </p:nvSpPr>
        <p:spPr>
          <a:xfrm xmlns:a="http://schemas.openxmlformats.org/drawingml/2006/main">
            <a:off x="7677150" y="3314700"/>
            <a:ext cx="16383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Das Gericht kann Ergänzungsgutachten anfordern oder die Person zur mündlichen Erläuterung laden.</a:t>
            </a:r>
          </a:p>
        </p:txBody>
      </p:sp>
      <p:sp>
        <p:nvSpPr>
          <p:cNvPr id="22" name="">
            <a:extLst xmlns:a="http://schemas.openxmlformats.org/drawingml/2006/main">
              <a:ext uri="{FF2B5EF4-FFF2-40B4-BE49-F238E27FC236}">
                <a16:creationId xmlns:a16="http://schemas.microsoft.com/office/drawing/2014/main" id="{B717DF05-F03B-4455-B475-AB70BF8630B8}"/>
              </a:ext>
            </a:extLst>
          </p:cNvPr>
          <p:cNvSpPr>
            <a:spLocks xmlns:a="http://schemas.openxmlformats.org/drawingml/2006/main" noGrp="1"/>
          </p:cNvSpPr>
          <p:nvPr/>
        </p:nvSpPr>
        <p:spPr>
          <a:xfrm xmlns:a="http://schemas.openxmlformats.org/drawingml/2006/main">
            <a:off x="9505950" y="2495550"/>
            <a:ext cx="1828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Würdigung</a:t>
            </a:r>
          </a:p>
        </p:txBody>
      </p:sp>
      <p:sp>
        <p:nvSpPr>
          <p:cNvPr id="23" name="">
            <a:extLst xmlns:a="http://schemas.openxmlformats.org/drawingml/2006/main">
              <a:ext uri="{FF2B5EF4-FFF2-40B4-BE49-F238E27FC236}">
                <a16:creationId xmlns:a16="http://schemas.microsoft.com/office/drawing/2014/main" id="{2335775F-5787-4454-A980-8B13979C7323}"/>
              </a:ext>
            </a:extLst>
          </p:cNvPr>
          <p:cNvSpPr>
            <a:spLocks xmlns:a="http://schemas.openxmlformats.org/drawingml/2006/main" noGrp="1"/>
          </p:cNvSpPr>
          <p:nvPr/>
        </p:nvSpPr>
        <p:spPr>
          <a:xfrm xmlns:a="http://schemas.openxmlformats.org/drawingml/2006/main">
            <a:off x="10296525" y="2838450"/>
            <a:ext cx="247650" cy="24765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24" name="">
            <a:extLst xmlns:a="http://schemas.openxmlformats.org/drawingml/2006/main">
              <a:ext uri="{FF2B5EF4-FFF2-40B4-BE49-F238E27FC236}">
                <a16:creationId xmlns:a16="http://schemas.microsoft.com/office/drawing/2014/main" id="{1E8AFB54-D503-4B6B-AADA-CB9479F1BC84}"/>
              </a:ext>
            </a:extLst>
          </p:cNvPr>
          <p:cNvSpPr>
            <a:spLocks xmlns:a="http://schemas.openxmlformats.org/drawingml/2006/main" noGrp="1"/>
          </p:cNvSpPr>
          <p:nvPr/>
        </p:nvSpPr>
        <p:spPr>
          <a:xfrm xmlns:a="http://schemas.openxmlformats.org/drawingml/2006/main">
            <a:off x="9505950" y="3219450"/>
            <a:ext cx="1828800" cy="2000250"/>
          </a:xfrm>
          <a:prstGeom xmlns:a="http://schemas.openxmlformats.org/drawingml/2006/main" prst="roundRect">
            <a:avLst>
              <a:gd name="adj" fmla="val 4167"/>
            </a:avLst>
          </a:prstGeom>
          <a:noFill xmlns:a="http://schemas.openxmlformats.org/drawingml/2006/main"/>
          <a:ln xmlns:a="http://schemas.openxmlformats.org/drawingml/2006/main" w="9525">
            <a:solidFill>
              <a:srgbClr val="00B2BB"/>
            </a:solidFill>
            <a:prstDash val="solid"/>
          </a:ln>
        </p:spPr>
      </p:sp>
      <p:sp>
        <p:nvSpPr>
          <p:cNvPr id="25" name="">
            <a:extLst xmlns:a="http://schemas.openxmlformats.org/drawingml/2006/main">
              <a:ext uri="{FF2B5EF4-FFF2-40B4-BE49-F238E27FC236}">
                <a16:creationId xmlns:a16="http://schemas.microsoft.com/office/drawing/2014/main" id="{9EFB7344-7A33-455F-8BC2-E007748FB741}"/>
              </a:ext>
            </a:extLst>
          </p:cNvPr>
          <p:cNvSpPr>
            <a:spLocks xmlns:a="http://schemas.openxmlformats.org/drawingml/2006/main" noGrp="1"/>
          </p:cNvSpPr>
          <p:nvPr/>
        </p:nvSpPr>
        <p:spPr>
          <a:xfrm xmlns:a="http://schemas.openxmlformats.org/drawingml/2006/main">
            <a:off x="9601200" y="3314700"/>
            <a:ext cx="16383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Das Gericht muss das Gutachten kritisch nachvollziehen und mit anderen Beweisen zusammen bewerten.</a:t>
            </a:r>
          </a:p>
        </p:txBody>
      </p:sp>
      <p:sp>
        <p:nvSpPr>
          <p:cNvPr id="26" name="">
            <a:extLst xmlns:a="http://schemas.openxmlformats.org/drawingml/2006/main">
              <a:ext uri="{FF2B5EF4-FFF2-40B4-BE49-F238E27FC236}">
                <a16:creationId xmlns:a16="http://schemas.microsoft.com/office/drawing/2014/main" id="{0FAA43DF-3B66-47D7-918D-23CC8E73ADA1}"/>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7" name="">
            <a:extLst xmlns:a="http://schemas.openxmlformats.org/drawingml/2006/main">
              <a:ext uri="{FF2B5EF4-FFF2-40B4-BE49-F238E27FC236}">
                <a16:creationId xmlns:a16="http://schemas.microsoft.com/office/drawing/2014/main" id="{612BFEE1-1C18-46CB-A743-C9F14C72DEA1}"/>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Das Gutachten ist Beweismittel, nicht das Urteil.</a:t>
            </a:r>
          </a:p>
        </p:txBody>
      </p:sp>
    </p:spTree>
    <p:extLst>
      <p:ext uri="{BB962C8B-B14F-4D97-AF65-F5344CB8AC3E}">
        <p14:creationId xmlns:p14="http://schemas.microsoft.com/office/powerpoint/2010/main" val="43637646"/>
      </p:ext>
    </p:extLst>
  </p:cSld>
</p:sld>
</file>

<file path=ppt/slides/slide198.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Zeugenvernehmung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EBD3B800-2CA9-4780-BE1B-A8939AC33610}"/>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Zeugen berichten über eigene Wahrnehmungen; das Gericht prüft Ergiebigkeit und Glaubhaftigkeit.</a:t>
            </a:r>
          </a:p>
        </p:txBody>
      </p:sp>
      <p:sp>
        <p:nvSpPr>
          <p:cNvPr id="5" name="">
            <a:extLst xmlns:a="http://schemas.openxmlformats.org/drawingml/2006/main">
              <a:ext uri="{FF2B5EF4-FFF2-40B4-BE49-F238E27FC236}">
                <a16:creationId xmlns:a16="http://schemas.microsoft.com/office/drawing/2014/main" id="{EFD4C0E7-AA15-42F0-843C-D8DBA00E5065}"/>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56F3007D-69C3-413A-9C10-A2F800D994AA}"/>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B7C82BC6-5066-4BA1-BDFE-6FF670C9F217}"/>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Ladung und Pflicht</a:t>
            </a:r>
          </a:p>
        </p:txBody>
      </p:sp>
      <p:sp>
        <p:nvSpPr>
          <p:cNvPr id="8" name="">
            <a:extLst xmlns:a="http://schemas.openxmlformats.org/drawingml/2006/main">
              <a:ext uri="{FF2B5EF4-FFF2-40B4-BE49-F238E27FC236}">
                <a16:creationId xmlns:a16="http://schemas.microsoft.com/office/drawing/2014/main" id="{5ADC7BE2-5850-4E47-B3D6-F9238E22152F}"/>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Geladene Zeugen müssen grundsätzlich erscheinen und wahrheitsgemäß aussagen, soweit kein Zeugnis- oder Auskunftsverweigerungsrecht besteht.</a:t>
            </a:r>
          </a:p>
        </p:txBody>
      </p:sp>
      <p:sp>
        <p:nvSpPr>
          <p:cNvPr id="9" name="">
            <a:extLst xmlns:a="http://schemas.openxmlformats.org/drawingml/2006/main">
              <a:ext uri="{FF2B5EF4-FFF2-40B4-BE49-F238E27FC236}">
                <a16:creationId xmlns:a16="http://schemas.microsoft.com/office/drawing/2014/main" id="{AFBFB8F1-F735-43F7-9385-9ADFC9D7EA16}"/>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741F8470-41E4-4F87-837E-3B48FECA6B9A}"/>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99B541D3-F50D-4C45-9BF1-C07BA9EEE890}"/>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Freier Bericht</a:t>
            </a:r>
          </a:p>
        </p:txBody>
      </p:sp>
      <p:sp>
        <p:nvSpPr>
          <p:cNvPr id="12" name="">
            <a:extLst xmlns:a="http://schemas.openxmlformats.org/drawingml/2006/main">
              <a:ext uri="{FF2B5EF4-FFF2-40B4-BE49-F238E27FC236}">
                <a16:creationId xmlns:a16="http://schemas.microsoft.com/office/drawing/2014/main" id="{273A6DC7-23C6-42D0-8694-23422E577101}"/>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Zunächst wird möglichst zusammenhängend berichtet; anschließend folgen konkrete Fragen.</a:t>
            </a:r>
          </a:p>
        </p:txBody>
      </p:sp>
      <p:sp>
        <p:nvSpPr>
          <p:cNvPr id="13" name="">
            <a:extLst xmlns:a="http://schemas.openxmlformats.org/drawingml/2006/main">
              <a:ext uri="{FF2B5EF4-FFF2-40B4-BE49-F238E27FC236}">
                <a16:creationId xmlns:a16="http://schemas.microsoft.com/office/drawing/2014/main" id="{69611287-C236-4ABF-AB39-50C61A9151A9}"/>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B5CA10FC-1968-4113-814A-0FE81B768055}"/>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03C9233D-20F7-4A0C-B1D2-D21E979E64C6}"/>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Erinnerung</a:t>
            </a:r>
          </a:p>
        </p:txBody>
      </p:sp>
      <p:sp>
        <p:nvSpPr>
          <p:cNvPr id="16" name="">
            <a:extLst xmlns:a="http://schemas.openxmlformats.org/drawingml/2006/main">
              <a:ext uri="{FF2B5EF4-FFF2-40B4-BE49-F238E27FC236}">
                <a16:creationId xmlns:a16="http://schemas.microsoft.com/office/drawing/2014/main" id="{83D78BFE-F9F4-4A93-B9E1-33EE35D62E80}"/>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Unsicherheit und Erinnerungslücken sind zulässig und oft glaubwürdiger als nachträglich geschlossene Geschichten.</a:t>
            </a:r>
          </a:p>
        </p:txBody>
      </p:sp>
      <p:sp>
        <p:nvSpPr>
          <p:cNvPr id="17" name="">
            <a:extLst xmlns:a="http://schemas.openxmlformats.org/drawingml/2006/main">
              <a:ext uri="{FF2B5EF4-FFF2-40B4-BE49-F238E27FC236}">
                <a16:creationId xmlns:a16="http://schemas.microsoft.com/office/drawing/2014/main" id="{3DD49349-2255-48DA-974D-1C576422D6FF}"/>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FA870004-89D6-44A1-92EC-91B350E7A0FC}"/>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86005368-C6DB-4E5F-BD38-3AB9EB1C6EAD}"/>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Dokumente</a:t>
            </a:r>
          </a:p>
        </p:txBody>
      </p:sp>
      <p:sp>
        <p:nvSpPr>
          <p:cNvPr id="20" name="">
            <a:extLst xmlns:a="http://schemas.openxmlformats.org/drawingml/2006/main">
              <a:ext uri="{FF2B5EF4-FFF2-40B4-BE49-F238E27FC236}">
                <a16:creationId xmlns:a16="http://schemas.microsoft.com/office/drawing/2014/main" id="{1F85F633-EB78-4C0C-8878-6CD43C04A8F3}"/>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Vorhalte können Erinnerung prüfen; der Zeuge soll zwischen eigener Erinnerung und Aktenwissen unterscheiden.</a:t>
            </a:r>
          </a:p>
        </p:txBody>
      </p:sp>
      <p:sp>
        <p:nvSpPr>
          <p:cNvPr id="21" name="">
            <a:extLst xmlns:a="http://schemas.openxmlformats.org/drawingml/2006/main">
              <a:ext uri="{FF2B5EF4-FFF2-40B4-BE49-F238E27FC236}">
                <a16:creationId xmlns:a16="http://schemas.microsoft.com/office/drawing/2014/main" id="{6185C4B6-5087-4896-9E53-342881DF2E6B}"/>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32804D2F-8344-45A8-A9B2-58A0333B5DF3}"/>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Vorbereitung bedeutet Rollen- und Ablaufklärung, nicht Einüben einer gewünschten Aussage.</a:t>
            </a:r>
          </a:p>
        </p:txBody>
      </p:sp>
    </p:spTree>
    <p:extLst>
      <p:ext uri="{BB962C8B-B14F-4D97-AF65-F5344CB8AC3E}">
        <p14:creationId xmlns:p14="http://schemas.microsoft.com/office/powerpoint/2010/main" val="43637646"/>
      </p:ext>
    </p:extLst>
  </p:cSld>
</p:sld>
</file>

<file path=ppt/slides/slide199.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Urkunden, Bilddaten und elektronische Akte</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0D9B9BF0-B1F7-479D-A101-405B0E5B7A62}"/>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Digitale und papiergebundene Dokumente können verschiedene Tatsachen belegen.</a:t>
            </a:r>
          </a:p>
        </p:txBody>
      </p:sp>
      <p:sp>
        <p:nvSpPr>
          <p:cNvPr id="5" name="">
            <a:extLst xmlns:a="http://schemas.openxmlformats.org/drawingml/2006/main">
              <a:ext uri="{FF2B5EF4-FFF2-40B4-BE49-F238E27FC236}">
                <a16:creationId xmlns:a16="http://schemas.microsoft.com/office/drawing/2014/main" id="{ED402506-D6EF-489A-9C3D-8E616C44BAFB}"/>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34D6D77D-809F-428B-982D-EAACBCDAF88A}"/>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493F869A-D827-4754-AC90-0DAB3572C96C}"/>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Authentizität</a:t>
            </a:r>
          </a:p>
        </p:txBody>
      </p:sp>
      <p:sp>
        <p:nvSpPr>
          <p:cNvPr id="8" name="">
            <a:extLst xmlns:a="http://schemas.openxmlformats.org/drawingml/2006/main">
              <a:ext uri="{FF2B5EF4-FFF2-40B4-BE49-F238E27FC236}">
                <a16:creationId xmlns:a16="http://schemas.microsoft.com/office/drawing/2014/main" id="{BB9BAB58-0F33-4F7F-BD47-09441DFACAA9}"/>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Es wird geprüft, von wem das Dokument stammt und ob es unverändert ist.</a:t>
            </a:r>
          </a:p>
        </p:txBody>
      </p:sp>
      <p:sp>
        <p:nvSpPr>
          <p:cNvPr id="9" name="">
            <a:extLst xmlns:a="http://schemas.openxmlformats.org/drawingml/2006/main">
              <a:ext uri="{FF2B5EF4-FFF2-40B4-BE49-F238E27FC236}">
                <a16:creationId xmlns:a16="http://schemas.microsoft.com/office/drawing/2014/main" id="{EC11997E-C299-4628-B5A2-E1BC90E51A91}"/>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2724AC20-1235-46D1-9C15-1AD644B9D0B6}"/>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AA0E2634-1ACD-4EE0-B65F-AB2F078B3791}"/>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Inhalt</a:t>
            </a:r>
          </a:p>
        </p:txBody>
      </p:sp>
      <p:sp>
        <p:nvSpPr>
          <p:cNvPr id="12" name="">
            <a:extLst xmlns:a="http://schemas.openxmlformats.org/drawingml/2006/main">
              <a:ext uri="{FF2B5EF4-FFF2-40B4-BE49-F238E27FC236}">
                <a16:creationId xmlns:a16="http://schemas.microsoft.com/office/drawing/2014/main" id="{9BFEEE63-2907-4914-83F4-86ADAC082938}"/>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Eine Urkunde beweist zunächst eine Erklärung; ob deren Inhalt wahr ist, kann eine weitere Frage sein.</a:t>
            </a:r>
          </a:p>
        </p:txBody>
      </p:sp>
      <p:sp>
        <p:nvSpPr>
          <p:cNvPr id="13" name="">
            <a:extLst xmlns:a="http://schemas.openxmlformats.org/drawingml/2006/main">
              <a:ext uri="{FF2B5EF4-FFF2-40B4-BE49-F238E27FC236}">
                <a16:creationId xmlns:a16="http://schemas.microsoft.com/office/drawing/2014/main" id="{1AB81C3E-D67A-4625-80F1-360EFB4CDD92}"/>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F1221C3C-74FA-4712-B843-4E4BB10386BD}"/>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6FE5AB8C-514C-403C-9A2C-A5541426106B}"/>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Metadaten</a:t>
            </a:r>
          </a:p>
        </p:txBody>
      </p:sp>
      <p:sp>
        <p:nvSpPr>
          <p:cNvPr id="16" name="">
            <a:extLst xmlns:a="http://schemas.openxmlformats.org/drawingml/2006/main">
              <a:ext uri="{FF2B5EF4-FFF2-40B4-BE49-F238E27FC236}">
                <a16:creationId xmlns:a16="http://schemas.microsoft.com/office/drawing/2014/main" id="{85E64CD5-70B0-41F1-AEBB-06E1C0756EC7}"/>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Zeitstempel, Änderungshistorie und Systemlogik können Eintragungszeitpunkte erklären.</a:t>
            </a:r>
          </a:p>
        </p:txBody>
      </p:sp>
      <p:sp>
        <p:nvSpPr>
          <p:cNvPr id="17" name="">
            <a:extLst xmlns:a="http://schemas.openxmlformats.org/drawingml/2006/main">
              <a:ext uri="{FF2B5EF4-FFF2-40B4-BE49-F238E27FC236}">
                <a16:creationId xmlns:a16="http://schemas.microsoft.com/office/drawing/2014/main" id="{CDE33B1D-9F83-468B-93B5-5F352489C598}"/>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D54B50AF-7A2B-40D8-B873-E1B5520D8E32}"/>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7DD61F41-C726-4892-AB6C-65848F48C2D6}"/>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Vollständigkeit</a:t>
            </a:r>
          </a:p>
        </p:txBody>
      </p:sp>
      <p:sp>
        <p:nvSpPr>
          <p:cNvPr id="20" name="">
            <a:extLst xmlns:a="http://schemas.openxmlformats.org/drawingml/2006/main">
              <a:ext uri="{FF2B5EF4-FFF2-40B4-BE49-F238E27FC236}">
                <a16:creationId xmlns:a16="http://schemas.microsoft.com/office/drawing/2014/main" id="{8C2C06DB-B9FC-435C-9DBB-B7A21514974B}"/>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Auszüge ohne Kontext können irreführen; Originaldaten, Serien und Befundberichte werden zusammen betrachtet.</a:t>
            </a:r>
          </a:p>
        </p:txBody>
      </p:sp>
      <p:sp>
        <p:nvSpPr>
          <p:cNvPr id="21" name="">
            <a:extLst xmlns:a="http://schemas.openxmlformats.org/drawingml/2006/main">
              <a:ext uri="{FF2B5EF4-FFF2-40B4-BE49-F238E27FC236}">
                <a16:creationId xmlns:a16="http://schemas.microsoft.com/office/drawing/2014/main" id="{6E6542E9-289D-4BF4-9F4D-1FFED608DF6D}"/>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38F5D056-FC3F-49E7-B8EB-2F86592419F1}"/>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Digitale Dokumentation braucht technische Erklärung, damit ihr Beweiswert richtig verstanden wird.</a:t>
            </a:r>
          </a:p>
        </p:txBody>
      </p:sp>
    </p:spTree>
    <p:extLst>
      <p:ext uri="{BB962C8B-B14F-4D97-AF65-F5344CB8AC3E}">
        <p14:creationId xmlns:p14="http://schemas.microsoft.com/office/powerpoint/2010/main" val="43637646"/>
      </p:ext>
    </p:extLst>
  </p:cSld>
</p:sld>
</file>

<file path=ppt/slides/slide200.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Gerichtlicher Vergleich</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527834CA-7951-475A-820F-17C2A36C8CE6}"/>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Der Prozess kann jederzeit durch einen wirksamen Vergleich beendet werden.</a:t>
            </a:r>
          </a:p>
        </p:txBody>
      </p:sp>
      <p:sp>
        <p:nvSpPr>
          <p:cNvPr id="5" name="">
            <a:extLst xmlns:a="http://schemas.openxmlformats.org/drawingml/2006/main">
              <a:ext uri="{FF2B5EF4-FFF2-40B4-BE49-F238E27FC236}">
                <a16:creationId xmlns:a16="http://schemas.microsoft.com/office/drawing/2014/main" id="{8B1410DA-847B-4689-A6D5-39E4D9E1D53E}"/>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2CD08F33-7834-408D-B41C-D0F4543669F0}"/>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D3903B96-DC65-49EB-832F-233688EA4D1F}"/>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Titelwirkung</a:t>
            </a:r>
          </a:p>
        </p:txBody>
      </p:sp>
      <p:sp>
        <p:nvSpPr>
          <p:cNvPr id="8" name="">
            <a:extLst xmlns:a="http://schemas.openxmlformats.org/drawingml/2006/main">
              <a:ext uri="{FF2B5EF4-FFF2-40B4-BE49-F238E27FC236}">
                <a16:creationId xmlns:a16="http://schemas.microsoft.com/office/drawing/2014/main" id="{0386F43C-108B-446B-836A-2950788727B9}"/>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Ein protokollierter gerichtlicher Vergleich ist grundsätzlich vollstreckbar.</a:t>
            </a:r>
          </a:p>
        </p:txBody>
      </p:sp>
      <p:sp>
        <p:nvSpPr>
          <p:cNvPr id="9" name="">
            <a:extLst xmlns:a="http://schemas.openxmlformats.org/drawingml/2006/main">
              <a:ext uri="{FF2B5EF4-FFF2-40B4-BE49-F238E27FC236}">
                <a16:creationId xmlns:a16="http://schemas.microsoft.com/office/drawing/2014/main" id="{238212FA-8EF2-4E08-831D-304B46B70879}"/>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A3206964-8045-4C76-8FB5-DF493C5B234E}"/>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10BCCB30-19E6-452F-BBC2-5C82FD8BDC27}"/>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Regelungsumfang</a:t>
            </a:r>
          </a:p>
        </p:txBody>
      </p:sp>
      <p:sp>
        <p:nvSpPr>
          <p:cNvPr id="12" name="">
            <a:extLst xmlns:a="http://schemas.openxmlformats.org/drawingml/2006/main">
              <a:ext uri="{FF2B5EF4-FFF2-40B4-BE49-F238E27FC236}">
                <a16:creationId xmlns:a16="http://schemas.microsoft.com/office/drawing/2014/main" id="{57A1E0EF-81B8-417D-84F9-159274BCD8A5}"/>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Zahlung, Kosten, Erledigung, Vertraulichkeit und Zukunftsschäden müssen eindeutig formuliert sein.</a:t>
            </a:r>
          </a:p>
        </p:txBody>
      </p:sp>
      <p:sp>
        <p:nvSpPr>
          <p:cNvPr id="13" name="">
            <a:extLst xmlns:a="http://schemas.openxmlformats.org/drawingml/2006/main">
              <a:ext uri="{FF2B5EF4-FFF2-40B4-BE49-F238E27FC236}">
                <a16:creationId xmlns:a16="http://schemas.microsoft.com/office/drawing/2014/main" id="{8F9D2397-D6C4-457D-8F3D-29FF26B40838}"/>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EAC551AC-61FC-4CBF-807D-3ED45D2B7EDF}"/>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9397AD27-2944-4FE7-B39B-679727F94EF1}"/>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Widerrufsvorbehalt</a:t>
            </a:r>
          </a:p>
        </p:txBody>
      </p:sp>
      <p:sp>
        <p:nvSpPr>
          <p:cNvPr id="16" name="">
            <a:extLst xmlns:a="http://schemas.openxmlformats.org/drawingml/2006/main">
              <a:ext uri="{FF2B5EF4-FFF2-40B4-BE49-F238E27FC236}">
                <a16:creationId xmlns:a16="http://schemas.microsoft.com/office/drawing/2014/main" id="{45032934-BEA4-4D38-8545-366B4CA1D3BB}"/>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Ein Vergleich kann unter Vorbehalt geschlossen werden; Frist und Form des Widerrufs sind genau zu beachten.</a:t>
            </a:r>
          </a:p>
        </p:txBody>
      </p:sp>
      <p:sp>
        <p:nvSpPr>
          <p:cNvPr id="17" name="">
            <a:extLst xmlns:a="http://schemas.openxmlformats.org/drawingml/2006/main">
              <a:ext uri="{FF2B5EF4-FFF2-40B4-BE49-F238E27FC236}">
                <a16:creationId xmlns:a16="http://schemas.microsoft.com/office/drawing/2014/main" id="{0245B5E9-965F-4E00-B485-803951264D4D}"/>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C3F8DCA0-CCCF-4039-8885-252C3AD297B7}"/>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82209662-607B-4A7C-BA35-F153CA774A2F}"/>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Abwägung</a:t>
            </a:r>
          </a:p>
        </p:txBody>
      </p:sp>
      <p:sp>
        <p:nvSpPr>
          <p:cNvPr id="20" name="">
            <a:extLst xmlns:a="http://schemas.openxmlformats.org/drawingml/2006/main">
              <a:ext uri="{FF2B5EF4-FFF2-40B4-BE49-F238E27FC236}">
                <a16:creationId xmlns:a16="http://schemas.microsoft.com/office/drawing/2014/main" id="{5529EC21-2696-4E08-A59E-E4A8F6D83375}"/>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Beweisrisiko, Dauer, Kosten, Belastung und Präzedenzinteressen fließen in die Entscheidung ein.</a:t>
            </a:r>
          </a:p>
        </p:txBody>
      </p:sp>
      <p:sp>
        <p:nvSpPr>
          <p:cNvPr id="21" name="">
            <a:extLst xmlns:a="http://schemas.openxmlformats.org/drawingml/2006/main">
              <a:ext uri="{FF2B5EF4-FFF2-40B4-BE49-F238E27FC236}">
                <a16:creationId xmlns:a16="http://schemas.microsoft.com/office/drawing/2014/main" id="{120488AB-8C4E-446D-A5D8-FA9F331C370D}"/>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60573AEA-B5CE-4B00-B090-CA858B9ECBE9}"/>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Vor Zustimmung wird jeder Satz des Vergleichs auf praktische Wirkung geprüft.</a:t>
            </a:r>
          </a:p>
        </p:txBody>
      </p:sp>
    </p:spTree>
    <p:extLst>
      <p:ext uri="{BB962C8B-B14F-4D97-AF65-F5344CB8AC3E}">
        <p14:creationId xmlns:p14="http://schemas.microsoft.com/office/powerpoint/2010/main" val="43637646"/>
      </p:ext>
    </p:extLst>
  </p:cSld>
</p:sld>
</file>

<file path=ppt/slides/slide201.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Urteil: Aufbau und Wirkung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59EEEC2C-6EAE-4901-A104-9EB478862BD9}"/>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Ein Urteil beantwortet Zulässigkeit, Begründetheit, Kosten und Vollstreckbarkeit.</a:t>
            </a:r>
          </a:p>
        </p:txBody>
      </p:sp>
      <p:sp>
        <p:nvSpPr>
          <p:cNvPr id="5" name="">
            <a:extLst xmlns:a="http://schemas.openxmlformats.org/drawingml/2006/main">
              <a:ext uri="{FF2B5EF4-FFF2-40B4-BE49-F238E27FC236}">
                <a16:creationId xmlns:a16="http://schemas.microsoft.com/office/drawing/2014/main" id="{788EA376-6D25-4606-BAF9-188462E420C7}"/>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7EC16821-C103-40BA-B901-71BCF5BC167A}"/>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B5BCFEC5-48EA-46DA-AB17-F592CB96F2A3}"/>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Tenor</a:t>
            </a:r>
          </a:p>
        </p:txBody>
      </p:sp>
      <p:sp>
        <p:nvSpPr>
          <p:cNvPr id="8" name="">
            <a:extLst xmlns:a="http://schemas.openxmlformats.org/drawingml/2006/main">
              <a:ext uri="{FF2B5EF4-FFF2-40B4-BE49-F238E27FC236}">
                <a16:creationId xmlns:a16="http://schemas.microsoft.com/office/drawing/2014/main" id="{BAB2D2A0-BC29-4855-9925-0B03CDBA8927}"/>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Er enthält die verbindliche Entscheidung über Anträge, Kosten und vorläufige Vollstreckbarkeit.</a:t>
            </a:r>
          </a:p>
        </p:txBody>
      </p:sp>
      <p:sp>
        <p:nvSpPr>
          <p:cNvPr id="9" name="">
            <a:extLst xmlns:a="http://schemas.openxmlformats.org/drawingml/2006/main">
              <a:ext uri="{FF2B5EF4-FFF2-40B4-BE49-F238E27FC236}">
                <a16:creationId xmlns:a16="http://schemas.microsoft.com/office/drawing/2014/main" id="{18011135-63AB-413C-8419-E6834B11B18C}"/>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572ACDC6-9AC1-40A1-96A6-326286487DCD}"/>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0EC38AB6-EE90-49BA-9DB0-9AC381993029}"/>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Tatbestand und Gründe</a:t>
            </a:r>
          </a:p>
        </p:txBody>
      </p:sp>
      <p:sp>
        <p:nvSpPr>
          <p:cNvPr id="12" name="">
            <a:extLst xmlns:a="http://schemas.openxmlformats.org/drawingml/2006/main">
              <a:ext uri="{FF2B5EF4-FFF2-40B4-BE49-F238E27FC236}">
                <a16:creationId xmlns:a16="http://schemas.microsoft.com/office/drawing/2014/main" id="{D8265F1D-941E-4106-96E7-834F869B4689}"/>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Das Gericht stellt Streitstoff dar und erklärt Tatsachenfeststellung sowie rechtliche Würdigung.</a:t>
            </a:r>
          </a:p>
        </p:txBody>
      </p:sp>
      <p:sp>
        <p:nvSpPr>
          <p:cNvPr id="13" name="">
            <a:extLst xmlns:a="http://schemas.openxmlformats.org/drawingml/2006/main">
              <a:ext uri="{FF2B5EF4-FFF2-40B4-BE49-F238E27FC236}">
                <a16:creationId xmlns:a16="http://schemas.microsoft.com/office/drawing/2014/main" id="{CF3D844F-4708-40F2-AEA4-0B7BD6FC90A4}"/>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1455328E-572A-42BB-B210-432B0CCAEC94}"/>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01BC0A81-3506-4DC3-B95A-8709EAD44159}"/>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Rechtskraft</a:t>
            </a:r>
          </a:p>
        </p:txBody>
      </p:sp>
      <p:sp>
        <p:nvSpPr>
          <p:cNvPr id="16" name="">
            <a:extLst xmlns:a="http://schemas.openxmlformats.org/drawingml/2006/main">
              <a:ext uri="{FF2B5EF4-FFF2-40B4-BE49-F238E27FC236}">
                <a16:creationId xmlns:a16="http://schemas.microsoft.com/office/drawing/2014/main" id="{B207CB24-62D7-4374-985B-73361D87D3F8}"/>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Nach Eintritt der Rechtskraft ist der entschiedene Streitgegenstand grundsätzlich bindend abgeschlossen.</a:t>
            </a:r>
          </a:p>
        </p:txBody>
      </p:sp>
      <p:sp>
        <p:nvSpPr>
          <p:cNvPr id="17" name="">
            <a:extLst xmlns:a="http://schemas.openxmlformats.org/drawingml/2006/main">
              <a:ext uri="{FF2B5EF4-FFF2-40B4-BE49-F238E27FC236}">
                <a16:creationId xmlns:a16="http://schemas.microsoft.com/office/drawing/2014/main" id="{797DF572-5C55-4549-8251-1B3D1C585EEE}"/>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03A9A1ED-3800-4ED3-B172-6862626A5508}"/>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3D6BFA37-B1A8-4DD4-9F4E-E30411B97527}"/>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Vollstreckbarkeit</a:t>
            </a:r>
          </a:p>
        </p:txBody>
      </p:sp>
      <p:sp>
        <p:nvSpPr>
          <p:cNvPr id="20" name="">
            <a:extLst xmlns:a="http://schemas.openxmlformats.org/drawingml/2006/main">
              <a:ext uri="{FF2B5EF4-FFF2-40B4-BE49-F238E27FC236}">
                <a16:creationId xmlns:a16="http://schemas.microsoft.com/office/drawing/2014/main" id="{D64D1D77-24A0-46C1-AF78-19FF08E68EBB}"/>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Rechtskraft und Vollstreckbarkeit sind nicht identisch; vorläufige Vollstreckung kann Sicherheiten erfordern.</a:t>
            </a:r>
          </a:p>
        </p:txBody>
      </p:sp>
      <p:sp>
        <p:nvSpPr>
          <p:cNvPr id="21" name="">
            <a:extLst xmlns:a="http://schemas.openxmlformats.org/drawingml/2006/main">
              <a:ext uri="{FF2B5EF4-FFF2-40B4-BE49-F238E27FC236}">
                <a16:creationId xmlns:a16="http://schemas.microsoft.com/office/drawing/2014/main" id="{8B8C3F34-4D96-486D-A651-16B8AB983DBD}"/>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97B73590-DBCD-4A4C-8B81-2BDE27DE4A82}"/>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Für die Praxis ist der Tenor entscheidend; die Gründe erklären, wie das Gericht dorthin gelangt ist.</a:t>
            </a:r>
          </a:p>
        </p:txBody>
      </p:sp>
    </p:spTree>
    <p:extLst>
      <p:ext uri="{BB962C8B-B14F-4D97-AF65-F5344CB8AC3E}">
        <p14:creationId xmlns:p14="http://schemas.microsoft.com/office/powerpoint/2010/main" val="43637646"/>
      </p:ext>
    </p:extLst>
  </p:cSld>
</p:sld>
</file>

<file path=ppt/slides/slide202.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Berufung und Revision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9C43F4C9-719E-4194-9817-01DC740244FB}"/>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Rechtsmittel korrigieren nicht jede Unzufriedenheit, sondern folgen spezifischen Zulässigkeits- und Prüfungsgrenzen.</a:t>
            </a:r>
          </a:p>
        </p:txBody>
      </p:sp>
      <p:sp>
        <p:nvSpPr>
          <p:cNvPr id="5" name="">
            <a:extLst xmlns:a="http://schemas.openxmlformats.org/drawingml/2006/main">
              <a:ext uri="{FF2B5EF4-FFF2-40B4-BE49-F238E27FC236}">
                <a16:creationId xmlns:a16="http://schemas.microsoft.com/office/drawing/2014/main" id="{5AB2DB5E-9878-4D11-8CBD-1316FDAFBE32}"/>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7C3B3BBE-0DCB-4C41-804B-9276FBA90D7C}"/>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27D4A0C7-A1EC-4067-BC99-8A0E467D85EA}"/>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Berufung</a:t>
            </a:r>
          </a:p>
        </p:txBody>
      </p:sp>
      <p:sp>
        <p:nvSpPr>
          <p:cNvPr id="8" name="">
            <a:extLst xmlns:a="http://schemas.openxmlformats.org/drawingml/2006/main">
              <a:ext uri="{FF2B5EF4-FFF2-40B4-BE49-F238E27FC236}">
                <a16:creationId xmlns:a16="http://schemas.microsoft.com/office/drawing/2014/main" id="{87358F08-B773-481D-9C21-9A4FB5815211}"/>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Sie ermöglicht unter gesetzlichen Voraussetzungen eine Überprüfung von Rechtsanwendung und begrenzt auch Tatsachenfeststellungen.</a:t>
            </a:r>
          </a:p>
        </p:txBody>
      </p:sp>
      <p:sp>
        <p:nvSpPr>
          <p:cNvPr id="9" name="">
            <a:extLst xmlns:a="http://schemas.openxmlformats.org/drawingml/2006/main">
              <a:ext uri="{FF2B5EF4-FFF2-40B4-BE49-F238E27FC236}">
                <a16:creationId xmlns:a16="http://schemas.microsoft.com/office/drawing/2014/main" id="{7AF4D75F-B331-4E91-B4C4-B39E90E574E0}"/>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0BFADA49-D546-4C72-9641-5FA657BA6184}"/>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4BEB08BE-2F7C-47B5-9469-AEC3B6A6AEB8}"/>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Fristen und Begründung</a:t>
            </a:r>
          </a:p>
        </p:txBody>
      </p:sp>
      <p:sp>
        <p:nvSpPr>
          <p:cNvPr id="12" name="">
            <a:extLst xmlns:a="http://schemas.openxmlformats.org/drawingml/2006/main">
              <a:ext uri="{FF2B5EF4-FFF2-40B4-BE49-F238E27FC236}">
                <a16:creationId xmlns:a16="http://schemas.microsoft.com/office/drawing/2014/main" id="{16054284-B6CD-43D0-B739-FC0CC1BED09C}"/>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Einlegung und Begründung haben eigenständige Fristen; Fristkontrolle beginnt mit Zustellung der Entscheidung.</a:t>
            </a:r>
          </a:p>
        </p:txBody>
      </p:sp>
      <p:sp>
        <p:nvSpPr>
          <p:cNvPr id="13" name="">
            <a:extLst xmlns:a="http://schemas.openxmlformats.org/drawingml/2006/main">
              <a:ext uri="{FF2B5EF4-FFF2-40B4-BE49-F238E27FC236}">
                <a16:creationId xmlns:a16="http://schemas.microsoft.com/office/drawing/2014/main" id="{55C3C325-E1F5-4548-8137-E539E21CB781}"/>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1C1F8A0F-6D51-43C3-AD45-3BFC6E4F043C}"/>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A384C298-BA55-482C-A93F-74B824DCB792}"/>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Neue Tatsachen</a:t>
            </a:r>
          </a:p>
        </p:txBody>
      </p:sp>
      <p:sp>
        <p:nvSpPr>
          <p:cNvPr id="16" name="">
            <a:extLst xmlns:a="http://schemas.openxmlformats.org/drawingml/2006/main">
              <a:ext uri="{FF2B5EF4-FFF2-40B4-BE49-F238E27FC236}">
                <a16:creationId xmlns:a16="http://schemas.microsoft.com/office/drawing/2014/main" id="{8FEAF76D-DDD2-48AA-AC12-F719CF01CEC4}"/>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Neuer Vortrag ist in der Berufung nur unter gesetzlichen Voraussetzungen zulässig.</a:t>
            </a:r>
          </a:p>
        </p:txBody>
      </p:sp>
      <p:sp>
        <p:nvSpPr>
          <p:cNvPr id="17" name="">
            <a:extLst xmlns:a="http://schemas.openxmlformats.org/drawingml/2006/main">
              <a:ext uri="{FF2B5EF4-FFF2-40B4-BE49-F238E27FC236}">
                <a16:creationId xmlns:a16="http://schemas.microsoft.com/office/drawing/2014/main" id="{94317567-954B-4F68-A752-0044E1D18DEA}"/>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4A7701EE-44A6-4973-B62A-A4D98AE9BD99}"/>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19E112A2-EEAB-4973-89B0-CB0F1B679C1F}"/>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Revision</a:t>
            </a:r>
          </a:p>
        </p:txBody>
      </p:sp>
      <p:sp>
        <p:nvSpPr>
          <p:cNvPr id="20" name="">
            <a:extLst xmlns:a="http://schemas.openxmlformats.org/drawingml/2006/main">
              <a:ext uri="{FF2B5EF4-FFF2-40B4-BE49-F238E27FC236}">
                <a16:creationId xmlns:a16="http://schemas.microsoft.com/office/drawing/2014/main" id="{A34D62CF-04F3-4B5F-B17E-80EEB4848635}"/>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Sie konzentriert sich grundsätzlich auf Rechtsfehler und bedarf der Zulassung; eine neue medizinische Beweisaufnahme findet regelmäßig nicht statt.</a:t>
            </a:r>
          </a:p>
        </p:txBody>
      </p:sp>
      <p:sp>
        <p:nvSpPr>
          <p:cNvPr id="21" name="">
            <a:extLst xmlns:a="http://schemas.openxmlformats.org/drawingml/2006/main">
              <a:ext uri="{FF2B5EF4-FFF2-40B4-BE49-F238E27FC236}">
                <a16:creationId xmlns:a16="http://schemas.microsoft.com/office/drawing/2014/main" id="{A9377150-6A40-4BB9-B212-2578595C9CD4}"/>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0E5A0725-23AE-4DE8-8A2A-E504A7852761}"/>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Rechtsmittelarbeit beginnt im ersten Rechtszug: vollständiger Vortrag, Anträge und Einwendungen müssen rechtzeitig in die Akte.</a:t>
            </a:r>
          </a:p>
        </p:txBody>
      </p:sp>
    </p:spTree>
    <p:extLst>
      <p:ext uri="{BB962C8B-B14F-4D97-AF65-F5344CB8AC3E}">
        <p14:creationId xmlns:p14="http://schemas.microsoft.com/office/powerpoint/2010/main" val="43637646"/>
      </p:ext>
    </p:extLst>
  </p:cSld>
</p:sld>
</file>

<file path=ppt/slides/slide203.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Zwangsvollstreckung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D3A70159-FD3C-4AE4-B2AA-ADEBA2F2E4C2}"/>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Ein obsiegendes Urteil realisiert sich nicht immer von selbst. Vollstreckung setzt Titel, Klausel und Zustellung voraus.</a:t>
            </a:r>
          </a:p>
        </p:txBody>
      </p:sp>
      <p:sp>
        <p:nvSpPr>
          <p:cNvPr id="5" name="">
            <a:extLst xmlns:a="http://schemas.openxmlformats.org/drawingml/2006/main">
              <a:ext uri="{FF2B5EF4-FFF2-40B4-BE49-F238E27FC236}">
                <a16:creationId xmlns:a16="http://schemas.microsoft.com/office/drawing/2014/main" id="{8A7D30D3-25BA-483E-80F1-648CE49CDCC1}"/>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28D3E2BC-99AE-46A5-83FE-95777DE4A871}"/>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EFF8FD62-DB97-4428-AA94-4FD31EFC81CD}"/>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Titel</a:t>
            </a:r>
          </a:p>
        </p:txBody>
      </p:sp>
      <p:sp>
        <p:nvSpPr>
          <p:cNvPr id="8" name="">
            <a:extLst xmlns:a="http://schemas.openxmlformats.org/drawingml/2006/main">
              <a:ext uri="{FF2B5EF4-FFF2-40B4-BE49-F238E27FC236}">
                <a16:creationId xmlns:a16="http://schemas.microsoft.com/office/drawing/2014/main" id="{42C7F43D-0AC3-485B-91EC-6D632DF689E0}"/>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Urteil, Vergleich oder anderer Vollstreckungstitel bezeichnet die geschuldete Leistung.</a:t>
            </a:r>
          </a:p>
        </p:txBody>
      </p:sp>
      <p:sp>
        <p:nvSpPr>
          <p:cNvPr id="9" name="">
            <a:extLst xmlns:a="http://schemas.openxmlformats.org/drawingml/2006/main">
              <a:ext uri="{FF2B5EF4-FFF2-40B4-BE49-F238E27FC236}">
                <a16:creationId xmlns:a16="http://schemas.microsoft.com/office/drawing/2014/main" id="{81D0623B-C288-4A58-89F1-95CD0A8FD04C}"/>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EC5C14F0-4304-4ED0-9D37-1A2314D4538B}"/>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8C8D1296-D0AC-4961-A38E-6794A034BF79}"/>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Klausel und Zustellung</a:t>
            </a:r>
          </a:p>
        </p:txBody>
      </p:sp>
      <p:sp>
        <p:nvSpPr>
          <p:cNvPr id="12" name="">
            <a:extLst xmlns:a="http://schemas.openxmlformats.org/drawingml/2006/main">
              <a:ext uri="{FF2B5EF4-FFF2-40B4-BE49-F238E27FC236}">
                <a16:creationId xmlns:a16="http://schemas.microsoft.com/office/drawing/2014/main" id="{2107E979-1788-4D02-BBE9-F49991AC040E}"/>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Die vollstreckbare Ausfertigung und Zustellung sichern, dass aus dem Titel vollstreckt werden darf.</a:t>
            </a:r>
          </a:p>
        </p:txBody>
      </p:sp>
      <p:sp>
        <p:nvSpPr>
          <p:cNvPr id="13" name="">
            <a:extLst xmlns:a="http://schemas.openxmlformats.org/drawingml/2006/main">
              <a:ext uri="{FF2B5EF4-FFF2-40B4-BE49-F238E27FC236}">
                <a16:creationId xmlns:a16="http://schemas.microsoft.com/office/drawing/2014/main" id="{F7EBF050-7816-4F7E-92E2-3CADB67FB570}"/>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DF3C2F82-2EA3-4218-830F-D19F06E03278}"/>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DDFF3AAD-829C-4F1C-80D8-CD0A8C5BE167}"/>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Vollstreckungsart</a:t>
            </a:r>
          </a:p>
        </p:txBody>
      </p:sp>
      <p:sp>
        <p:nvSpPr>
          <p:cNvPr id="16" name="">
            <a:extLst xmlns:a="http://schemas.openxmlformats.org/drawingml/2006/main">
              <a:ext uri="{FF2B5EF4-FFF2-40B4-BE49-F238E27FC236}">
                <a16:creationId xmlns:a16="http://schemas.microsoft.com/office/drawing/2014/main" id="{2CBB5250-0CBF-4E34-99E1-3C2CCAA79BD5}"/>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Geldforderungen werden etwa durch Gerichtsvollzieher oder Forderungspfändung vollstreckt.</a:t>
            </a:r>
          </a:p>
        </p:txBody>
      </p:sp>
      <p:sp>
        <p:nvSpPr>
          <p:cNvPr id="17" name="">
            <a:extLst xmlns:a="http://schemas.openxmlformats.org/drawingml/2006/main">
              <a:ext uri="{FF2B5EF4-FFF2-40B4-BE49-F238E27FC236}">
                <a16:creationId xmlns:a16="http://schemas.microsoft.com/office/drawing/2014/main" id="{EFB0D6EE-7E46-4F28-B0A7-C49A570E5190}"/>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DB02DDC5-87FF-4870-94F9-D3D636BC4C19}"/>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E6F05F47-A8C8-48B6-89FE-A881DEC8CA3A}"/>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Abwehr</a:t>
            </a:r>
          </a:p>
        </p:txBody>
      </p:sp>
      <p:sp>
        <p:nvSpPr>
          <p:cNvPr id="20" name="">
            <a:extLst xmlns:a="http://schemas.openxmlformats.org/drawingml/2006/main">
              <a:ext uri="{FF2B5EF4-FFF2-40B4-BE49-F238E27FC236}">
                <a16:creationId xmlns:a16="http://schemas.microsoft.com/office/drawing/2014/main" id="{766F7EB6-E7D7-41B4-B086-E5E95ACA96E4}"/>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Schuldner können je nach Einwand Vollstreckungsschutz oder besondere Rechtsbehelfe nutzen.</a:t>
            </a:r>
          </a:p>
        </p:txBody>
      </p:sp>
      <p:sp>
        <p:nvSpPr>
          <p:cNvPr id="21" name="">
            <a:extLst xmlns:a="http://schemas.openxmlformats.org/drawingml/2006/main">
              <a:ext uri="{FF2B5EF4-FFF2-40B4-BE49-F238E27FC236}">
                <a16:creationId xmlns:a16="http://schemas.microsoft.com/office/drawing/2014/main" id="{FD73270A-145D-4425-BAF5-588FD56A919A}"/>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AD84C068-8768-4B33-A533-D2E55D637F53}"/>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Recht bekommen endet praktisch erst, wenn die titulierte Leistung erfüllt oder vollstreckt ist.</a:t>
            </a:r>
          </a:p>
        </p:txBody>
      </p:sp>
    </p:spTree>
    <p:extLst>
      <p:ext uri="{BB962C8B-B14F-4D97-AF65-F5344CB8AC3E}">
        <p14:creationId xmlns:p14="http://schemas.microsoft.com/office/powerpoint/2010/main" val="43637646"/>
      </p:ext>
    </p:extLst>
  </p:cSld>
</p:sld>
</file>

<file path=ppt/slides/slide204.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ZPO-Fall: von der Klage zum Urteil</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DURCHGEPRÜFTER FALL</a:t>
            </a:r>
            <a:endParaRPr/>
          </a:p>
        </p:txBody>
      </p:sp>
      <p:sp>
        <p:nvSpPr>
          <p:cNvPr id="4" name="">
            <a:extLst xmlns:a="http://schemas.openxmlformats.org/drawingml/2006/main">
              <a:ext uri="{FF2B5EF4-FFF2-40B4-BE49-F238E27FC236}">
                <a16:creationId xmlns:a16="http://schemas.microsoft.com/office/drawing/2014/main" id="{9C2EF1C9-9084-4E8D-B54C-ADBD428BFA5C}"/>
              </a:ext>
            </a:extLst>
          </p:cNvPr>
          <p:cNvSpPr>
            <a:spLocks xmlns:a="http://schemas.openxmlformats.org/drawingml/2006/main" noGrp="1"/>
          </p:cNvSpPr>
          <p:nvPr/>
        </p:nvSpPr>
        <p:spPr>
          <a:xfrm xmlns:a="http://schemas.openxmlformats.org/drawingml/2006/main">
            <a:off x="1809750" y="1924050"/>
            <a:ext cx="9525000" cy="838200"/>
          </a:xfrm>
          <a:prstGeom xmlns:a="http://schemas.openxmlformats.org/drawingml/2006/main" prst="roundRect">
            <a:avLst>
              <a:gd name="adj" fmla="val 9091"/>
            </a:avLst>
          </a:prstGeom>
          <a:solidFill xmlns:a="http://schemas.openxmlformats.org/drawingml/2006/main">
            <a:srgbClr val="EAF6FB"/>
          </a:solidFill>
          <a:ln xmlns:a="http://schemas.openxmlformats.org/drawingml/2006/main" w="9525">
            <a:solidFill>
              <a:srgbClr val="00B2BB"/>
            </a:solidFill>
            <a:prstDash val="solid"/>
          </a:ln>
        </p:spPr>
      </p:sp>
      <p:sp>
        <p:nvSpPr>
          <p:cNvPr id="5" name="">
            <a:extLst xmlns:a="http://schemas.openxmlformats.org/drawingml/2006/main">
              <a:ext uri="{FF2B5EF4-FFF2-40B4-BE49-F238E27FC236}">
                <a16:creationId xmlns:a16="http://schemas.microsoft.com/office/drawing/2014/main" id="{02683BFA-C19A-4605-8562-8836355002DE}"/>
              </a:ext>
            </a:extLst>
          </p:cNvPr>
          <p:cNvSpPr>
            <a:spLocks xmlns:a="http://schemas.openxmlformats.org/drawingml/2006/main" noGrp="1"/>
          </p:cNvSpPr>
          <p:nvPr/>
        </p:nvSpPr>
        <p:spPr>
          <a:xfrm xmlns:a="http://schemas.openxmlformats.org/drawingml/2006/main">
            <a:off x="1981200" y="2000250"/>
            <a:ext cx="9182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55">
                <a:solidFill>
                  <a:srgbClr val="15232B"/>
                </a:solidFill>
              </a:defRPr>
            </a:pPr>
            <a:r>
              <a:rPr sz="1155">
                <a:solidFill>
                  <a:srgbClr val="15232B"/>
                </a:solidFill>
              </a:rPr>
              <a:t>Die Patientin verklagt Krankenhausträger und behandelnden Arzt auf Schmerzensgeld und Feststellung künftiger Schäden wegen verzögerter Diagnostik.</a:t>
            </a:r>
          </a:p>
        </p:txBody>
      </p:sp>
      <p:sp>
        <p:nvSpPr>
          <p:cNvPr id="6" name="">
            <a:extLst xmlns:a="http://schemas.openxmlformats.org/drawingml/2006/main">
              <a:ext uri="{FF2B5EF4-FFF2-40B4-BE49-F238E27FC236}">
                <a16:creationId xmlns:a16="http://schemas.microsoft.com/office/drawing/2014/main" id="{03F541FE-64A3-462A-9B1D-37859A64BD6D}"/>
              </a:ext>
            </a:extLst>
          </p:cNvPr>
          <p:cNvSpPr>
            <a:spLocks xmlns:a="http://schemas.openxmlformats.org/drawingml/2006/main" noGrp="1"/>
          </p:cNvSpPr>
          <p:nvPr/>
        </p:nvSpPr>
        <p:spPr>
          <a:xfrm xmlns:a="http://schemas.openxmlformats.org/drawingml/2006/main">
            <a:off x="1809750" y="2933700"/>
            <a:ext cx="381000" cy="381000"/>
          </a:xfrm>
          <a:prstGeom xmlns:a="http://schemas.openxmlformats.org/drawingml/2006/main" prst="roundRect">
            <a:avLst>
              <a:gd name="adj" fmla="val 20000"/>
            </a:avLst>
          </a:prstGeom>
          <a:solidFill xmlns:a="http://schemas.openxmlformats.org/drawingml/2006/main">
            <a:srgbClr val="00B2BB"/>
          </a:solidFill>
          <a:ln xmlns:a="http://schemas.openxmlformats.org/drawingml/2006/main" w="0">
            <a:solidFill>
              <a:srgbClr val="00B2BB"/>
            </a:solidFill>
            <a:prstDash val="solid"/>
          </a:ln>
        </p:spPr>
      </p:sp>
      <p:sp>
        <p:nvSpPr>
          <p:cNvPr id="7" name="">
            <a:extLst xmlns:a="http://schemas.openxmlformats.org/drawingml/2006/main">
              <a:ext uri="{FF2B5EF4-FFF2-40B4-BE49-F238E27FC236}">
                <a16:creationId xmlns:a16="http://schemas.microsoft.com/office/drawing/2014/main" id="{A2FD77A6-E0FD-4AE2-90F2-B3E0188D4C67}"/>
              </a:ext>
            </a:extLst>
          </p:cNvPr>
          <p:cNvSpPr>
            <a:spLocks xmlns:a="http://schemas.openxmlformats.org/drawingml/2006/main" noGrp="1"/>
          </p:cNvSpPr>
          <p:nvPr/>
        </p:nvSpPr>
        <p:spPr>
          <a:xfrm xmlns:a="http://schemas.openxmlformats.org/drawingml/2006/main">
            <a:off x="1809750" y="293370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8" name="">
            <a:extLst xmlns:a="http://schemas.openxmlformats.org/drawingml/2006/main">
              <a:ext uri="{FF2B5EF4-FFF2-40B4-BE49-F238E27FC236}">
                <a16:creationId xmlns:a16="http://schemas.microsoft.com/office/drawing/2014/main" id="{A17C9165-1C1F-4BE9-A38E-30BE749BFD2A}"/>
              </a:ext>
            </a:extLst>
          </p:cNvPr>
          <p:cNvSpPr>
            <a:spLocks xmlns:a="http://schemas.openxmlformats.org/drawingml/2006/main" noGrp="1"/>
          </p:cNvSpPr>
          <p:nvPr/>
        </p:nvSpPr>
        <p:spPr>
          <a:xfrm xmlns:a="http://schemas.openxmlformats.org/drawingml/2006/main">
            <a:off x="2343150" y="2914650"/>
            <a:ext cx="18097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Zulässigkeit</a:t>
            </a:r>
          </a:p>
        </p:txBody>
      </p:sp>
      <p:sp>
        <p:nvSpPr>
          <p:cNvPr id="9" name="">
            <a:extLst xmlns:a="http://schemas.openxmlformats.org/drawingml/2006/main">
              <a:ext uri="{FF2B5EF4-FFF2-40B4-BE49-F238E27FC236}">
                <a16:creationId xmlns:a16="http://schemas.microsoft.com/office/drawing/2014/main" id="{EDCF138A-9988-45B4-B378-3787CF13F683}"/>
              </a:ext>
            </a:extLst>
          </p:cNvPr>
          <p:cNvSpPr>
            <a:spLocks xmlns:a="http://schemas.openxmlformats.org/drawingml/2006/main" noGrp="1"/>
          </p:cNvSpPr>
          <p:nvPr/>
        </p:nvSpPr>
        <p:spPr>
          <a:xfrm xmlns:a="http://schemas.openxmlformats.org/drawingml/2006/main">
            <a:off x="4286250" y="2914650"/>
            <a:ext cx="69532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35">
                <a:solidFill>
                  <a:srgbClr val="15232B"/>
                </a:solidFill>
              </a:defRPr>
            </a:pPr>
            <a:r>
              <a:rPr sz="1035">
                <a:solidFill>
                  <a:srgbClr val="15232B"/>
                </a:solidFill>
              </a:rPr>
              <a:t>Parteien, Landgericht, Anwaltsvertretung, bestimmte Anträge und Feststellungsinteresse werden geprüft.</a:t>
            </a:r>
          </a:p>
        </p:txBody>
      </p:sp>
      <p:sp>
        <p:nvSpPr>
          <p:cNvPr id="10" name="">
            <a:extLst xmlns:a="http://schemas.openxmlformats.org/drawingml/2006/main">
              <a:ext uri="{FF2B5EF4-FFF2-40B4-BE49-F238E27FC236}">
                <a16:creationId xmlns:a16="http://schemas.microsoft.com/office/drawing/2014/main" id="{85C038C6-1775-452C-9594-9179B2B2FF59}"/>
              </a:ext>
            </a:extLst>
          </p:cNvPr>
          <p:cNvSpPr>
            <a:spLocks xmlns:a="http://schemas.openxmlformats.org/drawingml/2006/main" noGrp="1"/>
          </p:cNvSpPr>
          <p:nvPr/>
        </p:nvSpPr>
        <p:spPr>
          <a:xfrm xmlns:a="http://schemas.openxmlformats.org/drawingml/2006/main">
            <a:off x="1809750" y="3394710"/>
            <a:ext cx="381000" cy="381000"/>
          </a:xfrm>
          <a:prstGeom xmlns:a="http://schemas.openxmlformats.org/drawingml/2006/main" prst="roundRect">
            <a:avLst>
              <a:gd name="adj" fmla="val 20000"/>
            </a:avLst>
          </a:prstGeom>
          <a:solidFill xmlns:a="http://schemas.openxmlformats.org/drawingml/2006/main">
            <a:srgbClr val="003F6B"/>
          </a:solidFill>
          <a:ln xmlns:a="http://schemas.openxmlformats.org/drawingml/2006/main" w="0">
            <a:solidFill>
              <a:srgbClr val="003F6B"/>
            </a:solidFill>
            <a:prstDash val="solid"/>
          </a:ln>
        </p:spPr>
      </p:sp>
      <p:sp>
        <p:nvSpPr>
          <p:cNvPr id="11" name="">
            <a:extLst xmlns:a="http://schemas.openxmlformats.org/drawingml/2006/main">
              <a:ext uri="{FF2B5EF4-FFF2-40B4-BE49-F238E27FC236}">
                <a16:creationId xmlns:a16="http://schemas.microsoft.com/office/drawing/2014/main" id="{11D61413-BC4B-497A-A3C6-AE165D201CDF}"/>
              </a:ext>
            </a:extLst>
          </p:cNvPr>
          <p:cNvSpPr>
            <a:spLocks xmlns:a="http://schemas.openxmlformats.org/drawingml/2006/main" noGrp="1"/>
          </p:cNvSpPr>
          <p:nvPr/>
        </p:nvSpPr>
        <p:spPr>
          <a:xfrm xmlns:a="http://schemas.openxmlformats.org/drawingml/2006/main">
            <a:off x="1809750" y="339471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2" name="">
            <a:extLst xmlns:a="http://schemas.openxmlformats.org/drawingml/2006/main">
              <a:ext uri="{FF2B5EF4-FFF2-40B4-BE49-F238E27FC236}">
                <a16:creationId xmlns:a16="http://schemas.microsoft.com/office/drawing/2014/main" id="{69E755F0-2D20-463A-8988-4B107C0428E8}"/>
              </a:ext>
            </a:extLst>
          </p:cNvPr>
          <p:cNvSpPr>
            <a:spLocks xmlns:a="http://schemas.openxmlformats.org/drawingml/2006/main" noGrp="1"/>
          </p:cNvSpPr>
          <p:nvPr/>
        </p:nvSpPr>
        <p:spPr>
          <a:xfrm xmlns:a="http://schemas.openxmlformats.org/drawingml/2006/main">
            <a:off x="2343150" y="3375660"/>
            <a:ext cx="18097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Vortrag</a:t>
            </a:r>
          </a:p>
        </p:txBody>
      </p:sp>
      <p:sp>
        <p:nvSpPr>
          <p:cNvPr id="13" name="">
            <a:extLst xmlns:a="http://schemas.openxmlformats.org/drawingml/2006/main">
              <a:ext uri="{FF2B5EF4-FFF2-40B4-BE49-F238E27FC236}">
                <a16:creationId xmlns:a16="http://schemas.microsoft.com/office/drawing/2014/main" id="{4957B75C-881B-4766-BB30-65DAC297927D}"/>
              </a:ext>
            </a:extLst>
          </p:cNvPr>
          <p:cNvSpPr>
            <a:spLocks xmlns:a="http://schemas.openxmlformats.org/drawingml/2006/main" noGrp="1"/>
          </p:cNvSpPr>
          <p:nvPr/>
        </p:nvSpPr>
        <p:spPr>
          <a:xfrm xmlns:a="http://schemas.openxmlformats.org/drawingml/2006/main">
            <a:off x="4286250" y="3375660"/>
            <a:ext cx="69532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35">
                <a:solidFill>
                  <a:srgbClr val="15232B"/>
                </a:solidFill>
              </a:defRPr>
            </a:pPr>
            <a:r>
              <a:rPr sz="1035">
                <a:solidFill>
                  <a:srgbClr val="15232B"/>
                </a:solidFill>
              </a:rPr>
              <a:t>Chronologie, Standardabweichung, Gesundheitsschaden und Alternativverlauf werden konkret behauptet; Unterlagen sind beigefügt.</a:t>
            </a:r>
          </a:p>
        </p:txBody>
      </p:sp>
      <p:sp>
        <p:nvSpPr>
          <p:cNvPr id="14" name="">
            <a:extLst xmlns:a="http://schemas.openxmlformats.org/drawingml/2006/main">
              <a:ext uri="{FF2B5EF4-FFF2-40B4-BE49-F238E27FC236}">
                <a16:creationId xmlns:a16="http://schemas.microsoft.com/office/drawing/2014/main" id="{73A07451-A6E7-4B08-82B5-D89BC49D63D5}"/>
              </a:ext>
            </a:extLst>
          </p:cNvPr>
          <p:cNvSpPr>
            <a:spLocks xmlns:a="http://schemas.openxmlformats.org/drawingml/2006/main" noGrp="1"/>
          </p:cNvSpPr>
          <p:nvPr/>
        </p:nvSpPr>
        <p:spPr>
          <a:xfrm xmlns:a="http://schemas.openxmlformats.org/drawingml/2006/main">
            <a:off x="1809750" y="3855720"/>
            <a:ext cx="381000" cy="381000"/>
          </a:xfrm>
          <a:prstGeom xmlns:a="http://schemas.openxmlformats.org/drawingml/2006/main" prst="roundRect">
            <a:avLst>
              <a:gd name="adj" fmla="val 20000"/>
            </a:avLst>
          </a:prstGeom>
          <a:solidFill xmlns:a="http://schemas.openxmlformats.org/drawingml/2006/main">
            <a:srgbClr val="00B2BB"/>
          </a:solidFill>
          <a:ln xmlns:a="http://schemas.openxmlformats.org/drawingml/2006/main" w="0">
            <a:solidFill>
              <a:srgbClr val="00B2BB"/>
            </a:solidFill>
            <a:prstDash val="solid"/>
          </a:ln>
        </p:spPr>
      </p:sp>
      <p:sp>
        <p:nvSpPr>
          <p:cNvPr id="15" name="">
            <a:extLst xmlns:a="http://schemas.openxmlformats.org/drawingml/2006/main">
              <a:ext uri="{FF2B5EF4-FFF2-40B4-BE49-F238E27FC236}">
                <a16:creationId xmlns:a16="http://schemas.microsoft.com/office/drawing/2014/main" id="{926729AD-1D19-4389-9628-B28C67412689}"/>
              </a:ext>
            </a:extLst>
          </p:cNvPr>
          <p:cNvSpPr>
            <a:spLocks xmlns:a="http://schemas.openxmlformats.org/drawingml/2006/main" noGrp="1"/>
          </p:cNvSpPr>
          <p:nvPr/>
        </p:nvSpPr>
        <p:spPr>
          <a:xfrm xmlns:a="http://schemas.openxmlformats.org/drawingml/2006/main">
            <a:off x="1809750" y="385572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6" name="">
            <a:extLst xmlns:a="http://schemas.openxmlformats.org/drawingml/2006/main">
              <a:ext uri="{FF2B5EF4-FFF2-40B4-BE49-F238E27FC236}">
                <a16:creationId xmlns:a16="http://schemas.microsoft.com/office/drawing/2014/main" id="{EAB19304-5E3E-4715-9C65-9C81B6624471}"/>
              </a:ext>
            </a:extLst>
          </p:cNvPr>
          <p:cNvSpPr>
            <a:spLocks xmlns:a="http://schemas.openxmlformats.org/drawingml/2006/main" noGrp="1"/>
          </p:cNvSpPr>
          <p:nvPr/>
        </p:nvSpPr>
        <p:spPr>
          <a:xfrm xmlns:a="http://schemas.openxmlformats.org/drawingml/2006/main">
            <a:off x="2343150" y="3836670"/>
            <a:ext cx="18097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Erwiderung</a:t>
            </a:r>
          </a:p>
        </p:txBody>
      </p:sp>
      <p:sp>
        <p:nvSpPr>
          <p:cNvPr id="17" name="">
            <a:extLst xmlns:a="http://schemas.openxmlformats.org/drawingml/2006/main">
              <a:ext uri="{FF2B5EF4-FFF2-40B4-BE49-F238E27FC236}">
                <a16:creationId xmlns:a16="http://schemas.microsoft.com/office/drawing/2014/main" id="{33243800-64F2-4D1D-9E2B-3E7914026FFC}"/>
              </a:ext>
            </a:extLst>
          </p:cNvPr>
          <p:cNvSpPr>
            <a:spLocks xmlns:a="http://schemas.openxmlformats.org/drawingml/2006/main" noGrp="1"/>
          </p:cNvSpPr>
          <p:nvPr/>
        </p:nvSpPr>
        <p:spPr>
          <a:xfrm xmlns:a="http://schemas.openxmlformats.org/drawingml/2006/main">
            <a:off x="4286250" y="3836670"/>
            <a:ext cx="69532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35">
                <a:solidFill>
                  <a:srgbClr val="15232B"/>
                </a:solidFill>
              </a:defRPr>
            </a:pPr>
            <a:r>
              <a:rPr sz="1035">
                <a:solidFill>
                  <a:srgbClr val="15232B"/>
                </a:solidFill>
              </a:rPr>
              <a:t>Die Beklagten bestreiten Symptomschwere und Kausalität und schildern ihre eigene Tatsachenversion.</a:t>
            </a:r>
          </a:p>
        </p:txBody>
      </p:sp>
      <p:sp>
        <p:nvSpPr>
          <p:cNvPr id="18" name="">
            <a:extLst xmlns:a="http://schemas.openxmlformats.org/drawingml/2006/main">
              <a:ext uri="{FF2B5EF4-FFF2-40B4-BE49-F238E27FC236}">
                <a16:creationId xmlns:a16="http://schemas.microsoft.com/office/drawing/2014/main" id="{32B3BFDA-482F-4F24-B2A1-C2047788D2A4}"/>
              </a:ext>
            </a:extLst>
          </p:cNvPr>
          <p:cNvSpPr>
            <a:spLocks xmlns:a="http://schemas.openxmlformats.org/drawingml/2006/main" noGrp="1"/>
          </p:cNvSpPr>
          <p:nvPr/>
        </p:nvSpPr>
        <p:spPr>
          <a:xfrm xmlns:a="http://schemas.openxmlformats.org/drawingml/2006/main">
            <a:off x="1809750" y="4316730"/>
            <a:ext cx="381000" cy="381000"/>
          </a:xfrm>
          <a:prstGeom xmlns:a="http://schemas.openxmlformats.org/drawingml/2006/main" prst="roundRect">
            <a:avLst>
              <a:gd name="adj" fmla="val 20000"/>
            </a:avLst>
          </a:prstGeom>
          <a:solidFill xmlns:a="http://schemas.openxmlformats.org/drawingml/2006/main">
            <a:srgbClr val="003F6B"/>
          </a:solidFill>
          <a:ln xmlns:a="http://schemas.openxmlformats.org/drawingml/2006/main" w="0">
            <a:solidFill>
              <a:srgbClr val="003F6B"/>
            </a:solidFill>
            <a:prstDash val="solid"/>
          </a:ln>
        </p:spPr>
      </p:sp>
      <p:sp>
        <p:nvSpPr>
          <p:cNvPr id="19" name="">
            <a:extLst xmlns:a="http://schemas.openxmlformats.org/drawingml/2006/main">
              <a:ext uri="{FF2B5EF4-FFF2-40B4-BE49-F238E27FC236}">
                <a16:creationId xmlns:a16="http://schemas.microsoft.com/office/drawing/2014/main" id="{3CBFE45E-906D-44D2-8A8E-DFF1D0F682BA}"/>
              </a:ext>
            </a:extLst>
          </p:cNvPr>
          <p:cNvSpPr>
            <a:spLocks xmlns:a="http://schemas.openxmlformats.org/drawingml/2006/main" noGrp="1"/>
          </p:cNvSpPr>
          <p:nvPr/>
        </p:nvSpPr>
        <p:spPr>
          <a:xfrm xmlns:a="http://schemas.openxmlformats.org/drawingml/2006/main">
            <a:off x="1809750" y="431673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20" name="">
            <a:extLst xmlns:a="http://schemas.openxmlformats.org/drawingml/2006/main">
              <a:ext uri="{FF2B5EF4-FFF2-40B4-BE49-F238E27FC236}">
                <a16:creationId xmlns:a16="http://schemas.microsoft.com/office/drawing/2014/main" id="{E98F7EDF-BCD9-4DD4-B67D-4B9E2AB669F2}"/>
              </a:ext>
            </a:extLst>
          </p:cNvPr>
          <p:cNvSpPr>
            <a:spLocks xmlns:a="http://schemas.openxmlformats.org/drawingml/2006/main" noGrp="1"/>
          </p:cNvSpPr>
          <p:nvPr/>
        </p:nvSpPr>
        <p:spPr>
          <a:xfrm xmlns:a="http://schemas.openxmlformats.org/drawingml/2006/main">
            <a:off x="2343150" y="4297680"/>
            <a:ext cx="18097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Beweis</a:t>
            </a:r>
          </a:p>
        </p:txBody>
      </p:sp>
      <p:sp>
        <p:nvSpPr>
          <p:cNvPr id="21" name="">
            <a:extLst xmlns:a="http://schemas.openxmlformats.org/drawingml/2006/main">
              <a:ext uri="{FF2B5EF4-FFF2-40B4-BE49-F238E27FC236}">
                <a16:creationId xmlns:a16="http://schemas.microsoft.com/office/drawing/2014/main" id="{D11CF4B6-02E6-4521-B86B-5C57E88B921C}"/>
              </a:ext>
            </a:extLst>
          </p:cNvPr>
          <p:cNvSpPr>
            <a:spLocks xmlns:a="http://schemas.openxmlformats.org/drawingml/2006/main" noGrp="1"/>
          </p:cNvSpPr>
          <p:nvPr/>
        </p:nvSpPr>
        <p:spPr>
          <a:xfrm xmlns:a="http://schemas.openxmlformats.org/drawingml/2006/main">
            <a:off x="4286250" y="4297680"/>
            <a:ext cx="69532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35">
                <a:solidFill>
                  <a:srgbClr val="15232B"/>
                </a:solidFill>
              </a:defRPr>
            </a:pPr>
            <a:r>
              <a:rPr sz="1035">
                <a:solidFill>
                  <a:srgbClr val="15232B"/>
                </a:solidFill>
              </a:rPr>
              <a:t>Zeugen klären Wahrnehmungen; ein neurologisches Gutachten bewertet Standard und Kausalität für alternative Tatsachenvarianten.</a:t>
            </a:r>
          </a:p>
        </p:txBody>
      </p:sp>
      <p:sp>
        <p:nvSpPr>
          <p:cNvPr id="22" name="">
            <a:extLst xmlns:a="http://schemas.openxmlformats.org/drawingml/2006/main">
              <a:ext uri="{FF2B5EF4-FFF2-40B4-BE49-F238E27FC236}">
                <a16:creationId xmlns:a16="http://schemas.microsoft.com/office/drawing/2014/main" id="{FB39B6CE-73C7-447A-A645-4044FB02191E}"/>
              </a:ext>
            </a:extLst>
          </p:cNvPr>
          <p:cNvSpPr>
            <a:spLocks xmlns:a="http://schemas.openxmlformats.org/drawingml/2006/main" noGrp="1"/>
          </p:cNvSpPr>
          <p:nvPr/>
        </p:nvSpPr>
        <p:spPr>
          <a:xfrm xmlns:a="http://schemas.openxmlformats.org/drawingml/2006/main">
            <a:off x="1809750" y="4777740"/>
            <a:ext cx="381000" cy="381000"/>
          </a:xfrm>
          <a:prstGeom xmlns:a="http://schemas.openxmlformats.org/drawingml/2006/main" prst="roundRect">
            <a:avLst>
              <a:gd name="adj" fmla="val 20000"/>
            </a:avLst>
          </a:prstGeom>
          <a:solidFill xmlns:a="http://schemas.openxmlformats.org/drawingml/2006/main">
            <a:srgbClr val="00B2BB"/>
          </a:solidFill>
          <a:ln xmlns:a="http://schemas.openxmlformats.org/drawingml/2006/main" w="0">
            <a:solidFill>
              <a:srgbClr val="00B2BB"/>
            </a:solidFill>
            <a:prstDash val="solid"/>
          </a:ln>
        </p:spPr>
      </p:sp>
      <p:sp>
        <p:nvSpPr>
          <p:cNvPr id="23" name="">
            <a:extLst xmlns:a="http://schemas.openxmlformats.org/drawingml/2006/main">
              <a:ext uri="{FF2B5EF4-FFF2-40B4-BE49-F238E27FC236}">
                <a16:creationId xmlns:a16="http://schemas.microsoft.com/office/drawing/2014/main" id="{38678A09-8DEF-47A8-9378-30B775C3666E}"/>
              </a:ext>
            </a:extLst>
          </p:cNvPr>
          <p:cNvSpPr>
            <a:spLocks xmlns:a="http://schemas.openxmlformats.org/drawingml/2006/main" noGrp="1"/>
          </p:cNvSpPr>
          <p:nvPr/>
        </p:nvSpPr>
        <p:spPr>
          <a:xfrm xmlns:a="http://schemas.openxmlformats.org/drawingml/2006/main">
            <a:off x="1809750" y="477774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5</a:t>
            </a:r>
          </a:p>
        </p:txBody>
      </p:sp>
      <p:sp>
        <p:nvSpPr>
          <p:cNvPr id="24" name="">
            <a:extLst xmlns:a="http://schemas.openxmlformats.org/drawingml/2006/main">
              <a:ext uri="{FF2B5EF4-FFF2-40B4-BE49-F238E27FC236}">
                <a16:creationId xmlns:a16="http://schemas.microsoft.com/office/drawing/2014/main" id="{05F388D5-690D-4C17-9B4A-49370A1D6952}"/>
              </a:ext>
            </a:extLst>
          </p:cNvPr>
          <p:cNvSpPr>
            <a:spLocks xmlns:a="http://schemas.openxmlformats.org/drawingml/2006/main" noGrp="1"/>
          </p:cNvSpPr>
          <p:nvPr/>
        </p:nvSpPr>
        <p:spPr>
          <a:xfrm xmlns:a="http://schemas.openxmlformats.org/drawingml/2006/main">
            <a:off x="2343150" y="4758690"/>
            <a:ext cx="18097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Entscheidung</a:t>
            </a:r>
          </a:p>
        </p:txBody>
      </p:sp>
      <p:sp>
        <p:nvSpPr>
          <p:cNvPr id="25" name="">
            <a:extLst xmlns:a="http://schemas.openxmlformats.org/drawingml/2006/main">
              <a:ext uri="{FF2B5EF4-FFF2-40B4-BE49-F238E27FC236}">
                <a16:creationId xmlns:a16="http://schemas.microsoft.com/office/drawing/2014/main" id="{D8DE50AC-2769-4F99-9170-ADB5329101C8}"/>
              </a:ext>
            </a:extLst>
          </p:cNvPr>
          <p:cNvSpPr>
            <a:spLocks xmlns:a="http://schemas.openxmlformats.org/drawingml/2006/main" noGrp="1"/>
          </p:cNvSpPr>
          <p:nvPr/>
        </p:nvSpPr>
        <p:spPr>
          <a:xfrm xmlns:a="http://schemas.openxmlformats.org/drawingml/2006/main">
            <a:off x="4286250" y="4758690"/>
            <a:ext cx="69532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35">
                <a:solidFill>
                  <a:srgbClr val="15232B"/>
                </a:solidFill>
              </a:defRPr>
            </a:pPr>
            <a:r>
              <a:rPr sz="1035">
                <a:solidFill>
                  <a:srgbClr val="15232B"/>
                </a:solidFill>
              </a:rPr>
              <a:t>Das Gericht würdigt Beweise nach § 286 ZPO, prüft § 630h BGB, beziffert Schäden und entscheidet Kosten.</a:t>
            </a:r>
          </a:p>
        </p:txBody>
      </p:sp>
      <p:sp>
        <p:nvSpPr>
          <p:cNvPr id="26" name="">
            <a:extLst xmlns:a="http://schemas.openxmlformats.org/drawingml/2006/main">
              <a:ext uri="{FF2B5EF4-FFF2-40B4-BE49-F238E27FC236}">
                <a16:creationId xmlns:a16="http://schemas.microsoft.com/office/drawing/2014/main" id="{213EE525-6CF5-483F-9ABC-6E0B1C940A22}"/>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20">
                <a:solidFill>
                  <a:srgbClr val="667680"/>
                </a:solidFill>
              </a:defRPr>
            </a:pPr>
            <a:r>
              <a:rPr sz="720">
                <a:solidFill>
                  <a:srgbClr val="667680"/>
                </a:solidFill>
              </a:rPr>
              <a:t>Lehrfall nach BGH, Beschl. v. 07.05.2019 – VI ZR 257/17 (Anhörung des Sachverständigen) · https://juris.bundesgerichtshof.de</a:t>
            </a:r>
          </a:p>
        </p:txBody>
      </p:sp>
      <p:sp>
        <p:nvSpPr>
          <p:cNvPr id="27" name="">
            <a:extLst xmlns:a="http://schemas.openxmlformats.org/drawingml/2006/main">
              <a:ext uri="{FF2B5EF4-FFF2-40B4-BE49-F238E27FC236}">
                <a16:creationId xmlns:a16="http://schemas.microsoft.com/office/drawing/2014/main" id="{23E94656-92E5-4BDC-BE1F-8B6FD9BDD60E}"/>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8" name="">
            <a:extLst xmlns:a="http://schemas.openxmlformats.org/drawingml/2006/main">
              <a:ext uri="{FF2B5EF4-FFF2-40B4-BE49-F238E27FC236}">
                <a16:creationId xmlns:a16="http://schemas.microsoft.com/office/drawing/2014/main" id="{95E03AA2-36E1-45E8-8103-CA9BFCE5D0FB}"/>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Der Prozess ist eine Kette konkretisierter Fragen; jede offene Tatsachenstelle braucht eine Beweis- und Lastenzuordnung.</a:t>
            </a:r>
          </a:p>
        </p:txBody>
      </p:sp>
    </p:spTree>
    <p:extLst>
      <p:ext uri="{BB962C8B-B14F-4D97-AF65-F5344CB8AC3E}">
        <p14:creationId xmlns:p14="http://schemas.microsoft.com/office/powerpoint/2010/main" val="43637646"/>
      </p:ext>
    </p:extLst>
  </p:cSld>
</p:sld>
</file>

<file path=ppt/slides/slide205.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ZPO-Prüfung aus ärztlicher Sicht</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PRÜFUNGSSCHEMA · GERICHTSPOST</a:t>
            </a:r>
            <a:endParaRPr/>
          </a:p>
        </p:txBody>
      </p:sp>
      <p:sp>
        <p:nvSpPr>
          <p:cNvPr id="4" name="">
            <a:extLst xmlns:a="http://schemas.openxmlformats.org/drawingml/2006/main">
              <a:ext uri="{FF2B5EF4-FFF2-40B4-BE49-F238E27FC236}">
                <a16:creationId xmlns:a16="http://schemas.microsoft.com/office/drawing/2014/main" id="{4C4B69CC-33BB-417D-B16D-4CBDC47D43A6}"/>
              </a:ext>
            </a:extLst>
          </p:cNvPr>
          <p:cNvSpPr>
            <a:spLocks xmlns:a="http://schemas.openxmlformats.org/drawingml/2006/main" noGrp="1"/>
          </p:cNvSpPr>
          <p:nvPr/>
        </p:nvSpPr>
        <p:spPr>
          <a:xfrm xmlns:a="http://schemas.openxmlformats.org/drawingml/2006/main">
            <a:off x="1809750" y="195262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DB8722A6-512E-4509-A728-2E73F7B382FC}"/>
              </a:ext>
            </a:extLst>
          </p:cNvPr>
          <p:cNvSpPr>
            <a:spLocks xmlns:a="http://schemas.openxmlformats.org/drawingml/2006/main" noGrp="1"/>
          </p:cNvSpPr>
          <p:nvPr/>
        </p:nvSpPr>
        <p:spPr>
          <a:xfrm xmlns:a="http://schemas.openxmlformats.org/drawingml/2006/main">
            <a:off x="1809750" y="19526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6" name="">
            <a:extLst xmlns:a="http://schemas.openxmlformats.org/drawingml/2006/main">
              <a:ext uri="{FF2B5EF4-FFF2-40B4-BE49-F238E27FC236}">
                <a16:creationId xmlns:a16="http://schemas.microsoft.com/office/drawing/2014/main" id="{EBAA690A-0F1D-4B00-8AB7-8287B624DE7C}"/>
              </a:ext>
            </a:extLst>
          </p:cNvPr>
          <p:cNvSpPr>
            <a:spLocks xmlns:a="http://schemas.openxmlformats.org/drawingml/2006/main" noGrp="1"/>
          </p:cNvSpPr>
          <p:nvPr/>
        </p:nvSpPr>
        <p:spPr>
          <a:xfrm xmlns:a="http://schemas.openxmlformats.org/drawingml/2006/main">
            <a:off x="2324100" y="196215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1. Rolle</a:t>
            </a:r>
          </a:p>
        </p:txBody>
      </p:sp>
      <p:sp>
        <p:nvSpPr>
          <p:cNvPr id="7" name="">
            <a:extLst xmlns:a="http://schemas.openxmlformats.org/drawingml/2006/main">
              <a:ext uri="{FF2B5EF4-FFF2-40B4-BE49-F238E27FC236}">
                <a16:creationId xmlns:a16="http://schemas.microsoft.com/office/drawing/2014/main" id="{2C824E81-EF90-48BB-8C8D-23C8C0503DB0}"/>
              </a:ext>
            </a:extLst>
          </p:cNvPr>
          <p:cNvSpPr>
            <a:spLocks xmlns:a="http://schemas.openxmlformats.org/drawingml/2006/main" noGrp="1"/>
          </p:cNvSpPr>
          <p:nvPr/>
        </p:nvSpPr>
        <p:spPr>
          <a:xfrm xmlns:a="http://schemas.openxmlformats.org/drawingml/2006/main">
            <a:off x="4819650" y="196215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Bin ich Partei, gesetzliche Vertretung, Zeuge oder sachverständige Person?</a:t>
            </a:r>
          </a:p>
        </p:txBody>
      </p:sp>
      <p:sp>
        <p:nvSpPr>
          <p:cNvPr id="8" name="">
            <a:extLst xmlns:a="http://schemas.openxmlformats.org/drawingml/2006/main">
              <a:ext uri="{FF2B5EF4-FFF2-40B4-BE49-F238E27FC236}">
                <a16:creationId xmlns:a16="http://schemas.microsoft.com/office/drawing/2014/main" id="{BEF332A6-C709-420C-AD25-A44CFC87DCEC}"/>
              </a:ext>
            </a:extLst>
          </p:cNvPr>
          <p:cNvSpPr>
            <a:spLocks xmlns:a="http://schemas.openxmlformats.org/drawingml/2006/main" noGrp="1"/>
          </p:cNvSpPr>
          <p:nvPr/>
        </p:nvSpPr>
        <p:spPr>
          <a:xfrm xmlns:a="http://schemas.openxmlformats.org/drawingml/2006/main">
            <a:off x="1809750" y="255270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9" name="">
            <a:extLst xmlns:a="http://schemas.openxmlformats.org/drawingml/2006/main">
              <a:ext uri="{FF2B5EF4-FFF2-40B4-BE49-F238E27FC236}">
                <a16:creationId xmlns:a16="http://schemas.microsoft.com/office/drawing/2014/main" id="{937FFE83-B237-40F7-8B9A-39F792D72699}"/>
              </a:ext>
            </a:extLst>
          </p:cNvPr>
          <p:cNvSpPr>
            <a:spLocks xmlns:a="http://schemas.openxmlformats.org/drawingml/2006/main" noGrp="1"/>
          </p:cNvSpPr>
          <p:nvPr/>
        </p:nvSpPr>
        <p:spPr>
          <a:xfrm xmlns:a="http://schemas.openxmlformats.org/drawingml/2006/main">
            <a:off x="1809750" y="255270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0" name="">
            <a:extLst xmlns:a="http://schemas.openxmlformats.org/drawingml/2006/main">
              <a:ext uri="{FF2B5EF4-FFF2-40B4-BE49-F238E27FC236}">
                <a16:creationId xmlns:a16="http://schemas.microsoft.com/office/drawing/2014/main" id="{78DA4482-AF16-488F-8E2F-2E0F179B6176}"/>
              </a:ext>
            </a:extLst>
          </p:cNvPr>
          <p:cNvSpPr>
            <a:spLocks xmlns:a="http://schemas.openxmlformats.org/drawingml/2006/main" noGrp="1"/>
          </p:cNvSpPr>
          <p:nvPr/>
        </p:nvSpPr>
        <p:spPr>
          <a:xfrm xmlns:a="http://schemas.openxmlformats.org/drawingml/2006/main">
            <a:off x="2324100" y="256222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2. Frist</a:t>
            </a:r>
          </a:p>
        </p:txBody>
      </p:sp>
      <p:sp>
        <p:nvSpPr>
          <p:cNvPr id="11" name="">
            <a:extLst xmlns:a="http://schemas.openxmlformats.org/drawingml/2006/main">
              <a:ext uri="{FF2B5EF4-FFF2-40B4-BE49-F238E27FC236}">
                <a16:creationId xmlns:a16="http://schemas.microsoft.com/office/drawing/2014/main" id="{9698B8AA-11E2-4FC4-9360-25B1CFC81FBD}"/>
              </a:ext>
            </a:extLst>
          </p:cNvPr>
          <p:cNvSpPr>
            <a:spLocks xmlns:a="http://schemas.openxmlformats.org/drawingml/2006/main" noGrp="1"/>
          </p:cNvSpPr>
          <p:nvPr/>
        </p:nvSpPr>
        <p:spPr>
          <a:xfrm xmlns:a="http://schemas.openxmlformats.org/drawingml/2006/main">
            <a:off x="4819650" y="256222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Welche Zustellungs- oder Terminsfrist läuft und wer kontrolliert sie?</a:t>
            </a:r>
          </a:p>
        </p:txBody>
      </p:sp>
      <p:sp>
        <p:nvSpPr>
          <p:cNvPr id="12" name="">
            <a:extLst xmlns:a="http://schemas.openxmlformats.org/drawingml/2006/main">
              <a:ext uri="{FF2B5EF4-FFF2-40B4-BE49-F238E27FC236}">
                <a16:creationId xmlns:a16="http://schemas.microsoft.com/office/drawing/2014/main" id="{009EF9F0-52BF-497B-BC82-A0762A0E7BBE}"/>
              </a:ext>
            </a:extLst>
          </p:cNvPr>
          <p:cNvSpPr>
            <a:spLocks xmlns:a="http://schemas.openxmlformats.org/drawingml/2006/main" noGrp="1"/>
          </p:cNvSpPr>
          <p:nvPr/>
        </p:nvSpPr>
        <p:spPr>
          <a:xfrm xmlns:a="http://schemas.openxmlformats.org/drawingml/2006/main">
            <a:off x="1809750" y="315277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3" name="">
            <a:extLst xmlns:a="http://schemas.openxmlformats.org/drawingml/2006/main">
              <a:ext uri="{FF2B5EF4-FFF2-40B4-BE49-F238E27FC236}">
                <a16:creationId xmlns:a16="http://schemas.microsoft.com/office/drawing/2014/main" id="{B806DE40-64FA-4A1E-92F0-CC4937ACED3C}"/>
              </a:ext>
            </a:extLst>
          </p:cNvPr>
          <p:cNvSpPr>
            <a:spLocks xmlns:a="http://schemas.openxmlformats.org/drawingml/2006/main" noGrp="1"/>
          </p:cNvSpPr>
          <p:nvPr/>
        </p:nvSpPr>
        <p:spPr>
          <a:xfrm xmlns:a="http://schemas.openxmlformats.org/drawingml/2006/main">
            <a:off x="1809750" y="315277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4" name="">
            <a:extLst xmlns:a="http://schemas.openxmlformats.org/drawingml/2006/main">
              <a:ext uri="{FF2B5EF4-FFF2-40B4-BE49-F238E27FC236}">
                <a16:creationId xmlns:a16="http://schemas.microsoft.com/office/drawing/2014/main" id="{91625BBF-10CA-41F9-99BD-35A9065C0105}"/>
              </a:ext>
            </a:extLst>
          </p:cNvPr>
          <p:cNvSpPr>
            <a:spLocks xmlns:a="http://schemas.openxmlformats.org/drawingml/2006/main" noGrp="1"/>
          </p:cNvSpPr>
          <p:nvPr/>
        </p:nvSpPr>
        <p:spPr>
          <a:xfrm xmlns:a="http://schemas.openxmlformats.org/drawingml/2006/main">
            <a:off x="2324100" y="316230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3. Beweisthema</a:t>
            </a:r>
          </a:p>
        </p:txBody>
      </p:sp>
      <p:sp>
        <p:nvSpPr>
          <p:cNvPr id="15" name="">
            <a:extLst xmlns:a="http://schemas.openxmlformats.org/drawingml/2006/main">
              <a:ext uri="{FF2B5EF4-FFF2-40B4-BE49-F238E27FC236}">
                <a16:creationId xmlns:a16="http://schemas.microsoft.com/office/drawing/2014/main" id="{565DF538-F94B-4D19-AC37-431BC6664F69}"/>
              </a:ext>
            </a:extLst>
          </p:cNvPr>
          <p:cNvSpPr>
            <a:spLocks xmlns:a="http://schemas.openxmlformats.org/drawingml/2006/main" noGrp="1"/>
          </p:cNvSpPr>
          <p:nvPr/>
        </p:nvSpPr>
        <p:spPr>
          <a:xfrm xmlns:a="http://schemas.openxmlformats.org/drawingml/2006/main">
            <a:off x="4819650" y="316230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Welche konkrete Tatsache soll mein Wissen oder meine Unterlage klären?</a:t>
            </a:r>
          </a:p>
        </p:txBody>
      </p:sp>
      <p:sp>
        <p:nvSpPr>
          <p:cNvPr id="16" name="">
            <a:extLst xmlns:a="http://schemas.openxmlformats.org/drawingml/2006/main">
              <a:ext uri="{FF2B5EF4-FFF2-40B4-BE49-F238E27FC236}">
                <a16:creationId xmlns:a16="http://schemas.microsoft.com/office/drawing/2014/main" id="{E61E995D-350E-4626-97CA-8E0A79458CAA}"/>
              </a:ext>
            </a:extLst>
          </p:cNvPr>
          <p:cNvSpPr>
            <a:spLocks xmlns:a="http://schemas.openxmlformats.org/drawingml/2006/main" noGrp="1"/>
          </p:cNvSpPr>
          <p:nvPr/>
        </p:nvSpPr>
        <p:spPr>
          <a:xfrm xmlns:a="http://schemas.openxmlformats.org/drawingml/2006/main">
            <a:off x="1809750" y="375285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7" name="">
            <a:extLst xmlns:a="http://schemas.openxmlformats.org/drawingml/2006/main">
              <a:ext uri="{FF2B5EF4-FFF2-40B4-BE49-F238E27FC236}">
                <a16:creationId xmlns:a16="http://schemas.microsoft.com/office/drawing/2014/main" id="{CA26032E-D19E-46AF-8D62-029F44B1F6A8}"/>
              </a:ext>
            </a:extLst>
          </p:cNvPr>
          <p:cNvSpPr>
            <a:spLocks xmlns:a="http://schemas.openxmlformats.org/drawingml/2006/main" noGrp="1"/>
          </p:cNvSpPr>
          <p:nvPr/>
        </p:nvSpPr>
        <p:spPr>
          <a:xfrm xmlns:a="http://schemas.openxmlformats.org/drawingml/2006/main">
            <a:off x="1809750" y="375285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18" name="">
            <a:extLst xmlns:a="http://schemas.openxmlformats.org/drawingml/2006/main">
              <a:ext uri="{FF2B5EF4-FFF2-40B4-BE49-F238E27FC236}">
                <a16:creationId xmlns:a16="http://schemas.microsoft.com/office/drawing/2014/main" id="{B6E4D39F-D4B2-4A82-8703-4F2E428B8891}"/>
              </a:ext>
            </a:extLst>
          </p:cNvPr>
          <p:cNvSpPr>
            <a:spLocks xmlns:a="http://schemas.openxmlformats.org/drawingml/2006/main" noGrp="1"/>
          </p:cNvSpPr>
          <p:nvPr/>
        </p:nvSpPr>
        <p:spPr>
          <a:xfrm xmlns:a="http://schemas.openxmlformats.org/drawingml/2006/main">
            <a:off x="2324100" y="376237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4. Unterlagen</a:t>
            </a:r>
          </a:p>
        </p:txBody>
      </p:sp>
      <p:sp>
        <p:nvSpPr>
          <p:cNvPr id="19" name="">
            <a:extLst xmlns:a="http://schemas.openxmlformats.org/drawingml/2006/main">
              <a:ext uri="{FF2B5EF4-FFF2-40B4-BE49-F238E27FC236}">
                <a16:creationId xmlns:a16="http://schemas.microsoft.com/office/drawing/2014/main" id="{BF10A062-E355-4037-948D-04AE6C88797A}"/>
              </a:ext>
            </a:extLst>
          </p:cNvPr>
          <p:cNvSpPr>
            <a:spLocks xmlns:a="http://schemas.openxmlformats.org/drawingml/2006/main" noGrp="1"/>
          </p:cNvSpPr>
          <p:nvPr/>
        </p:nvSpPr>
        <p:spPr>
          <a:xfrm xmlns:a="http://schemas.openxmlformats.org/drawingml/2006/main">
            <a:off x="4819650" y="376237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Welche Originalakten, Bilddaten oder Erinnerungsquellen existieren und dürfen herausgegeben werden?</a:t>
            </a:r>
          </a:p>
        </p:txBody>
      </p:sp>
      <p:sp>
        <p:nvSpPr>
          <p:cNvPr id="20" name="">
            <a:extLst xmlns:a="http://schemas.openxmlformats.org/drawingml/2006/main">
              <a:ext uri="{FF2B5EF4-FFF2-40B4-BE49-F238E27FC236}">
                <a16:creationId xmlns:a16="http://schemas.microsoft.com/office/drawing/2014/main" id="{12D26B53-C23F-42C6-A3B4-8A5EB71BDC72}"/>
              </a:ext>
            </a:extLst>
          </p:cNvPr>
          <p:cNvSpPr>
            <a:spLocks xmlns:a="http://schemas.openxmlformats.org/drawingml/2006/main" noGrp="1"/>
          </p:cNvSpPr>
          <p:nvPr/>
        </p:nvSpPr>
        <p:spPr>
          <a:xfrm xmlns:a="http://schemas.openxmlformats.org/drawingml/2006/main">
            <a:off x="1809750" y="435292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1" name="">
            <a:extLst xmlns:a="http://schemas.openxmlformats.org/drawingml/2006/main">
              <a:ext uri="{FF2B5EF4-FFF2-40B4-BE49-F238E27FC236}">
                <a16:creationId xmlns:a16="http://schemas.microsoft.com/office/drawing/2014/main" id="{452EE0B2-79D8-4E28-B0D1-0BC693C0AFDD}"/>
              </a:ext>
            </a:extLst>
          </p:cNvPr>
          <p:cNvSpPr>
            <a:spLocks xmlns:a="http://schemas.openxmlformats.org/drawingml/2006/main" noGrp="1"/>
          </p:cNvSpPr>
          <p:nvPr/>
        </p:nvSpPr>
        <p:spPr>
          <a:xfrm xmlns:a="http://schemas.openxmlformats.org/drawingml/2006/main">
            <a:off x="1809750" y="43529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5</a:t>
            </a:r>
          </a:p>
        </p:txBody>
      </p:sp>
      <p:sp>
        <p:nvSpPr>
          <p:cNvPr id="22" name="">
            <a:extLst xmlns:a="http://schemas.openxmlformats.org/drawingml/2006/main">
              <a:ext uri="{FF2B5EF4-FFF2-40B4-BE49-F238E27FC236}">
                <a16:creationId xmlns:a16="http://schemas.microsoft.com/office/drawing/2014/main" id="{5C074CB3-DF7F-4A6C-B22A-B93A0D8136BC}"/>
              </a:ext>
            </a:extLst>
          </p:cNvPr>
          <p:cNvSpPr>
            <a:spLocks xmlns:a="http://schemas.openxmlformats.org/drawingml/2006/main" noGrp="1"/>
          </p:cNvSpPr>
          <p:nvPr/>
        </p:nvSpPr>
        <p:spPr>
          <a:xfrm xmlns:a="http://schemas.openxmlformats.org/drawingml/2006/main">
            <a:off x="2324100" y="436245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5. Beratung</a:t>
            </a:r>
          </a:p>
        </p:txBody>
      </p:sp>
      <p:sp>
        <p:nvSpPr>
          <p:cNvPr id="23" name="">
            <a:extLst xmlns:a="http://schemas.openxmlformats.org/drawingml/2006/main">
              <a:ext uri="{FF2B5EF4-FFF2-40B4-BE49-F238E27FC236}">
                <a16:creationId xmlns:a16="http://schemas.microsoft.com/office/drawing/2014/main" id="{18F3D564-80B7-4748-BEFD-4AB1C2234255}"/>
              </a:ext>
            </a:extLst>
          </p:cNvPr>
          <p:cNvSpPr>
            <a:spLocks xmlns:a="http://schemas.openxmlformats.org/drawingml/2006/main" noGrp="1"/>
          </p:cNvSpPr>
          <p:nvPr/>
        </p:nvSpPr>
        <p:spPr>
          <a:xfrm xmlns:a="http://schemas.openxmlformats.org/drawingml/2006/main">
            <a:off x="4819650" y="436245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Wer vertritt Institution und wer berät mich persönlich bei möglichen Interessenkonflikten?</a:t>
            </a:r>
          </a:p>
        </p:txBody>
      </p:sp>
      <p:sp>
        <p:nvSpPr>
          <p:cNvPr id="24" name="">
            <a:extLst xmlns:a="http://schemas.openxmlformats.org/drawingml/2006/main">
              <a:ext uri="{FF2B5EF4-FFF2-40B4-BE49-F238E27FC236}">
                <a16:creationId xmlns:a16="http://schemas.microsoft.com/office/drawing/2014/main" id="{C0B5165F-BB1D-4F6E-8C7A-5AF17BF44E4F}"/>
              </a:ext>
            </a:extLst>
          </p:cNvPr>
          <p:cNvSpPr>
            <a:spLocks xmlns:a="http://schemas.openxmlformats.org/drawingml/2006/main" noGrp="1"/>
          </p:cNvSpPr>
          <p:nvPr/>
        </p:nvSpPr>
        <p:spPr>
          <a:xfrm xmlns:a="http://schemas.openxmlformats.org/drawingml/2006/main">
            <a:off x="1809750" y="495300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25" name="">
            <a:extLst xmlns:a="http://schemas.openxmlformats.org/drawingml/2006/main">
              <a:ext uri="{FF2B5EF4-FFF2-40B4-BE49-F238E27FC236}">
                <a16:creationId xmlns:a16="http://schemas.microsoft.com/office/drawing/2014/main" id="{5D3BBE19-5FCB-420D-8271-9B23CFB46820}"/>
              </a:ext>
            </a:extLst>
          </p:cNvPr>
          <p:cNvSpPr>
            <a:spLocks xmlns:a="http://schemas.openxmlformats.org/drawingml/2006/main" noGrp="1"/>
          </p:cNvSpPr>
          <p:nvPr/>
        </p:nvSpPr>
        <p:spPr>
          <a:xfrm xmlns:a="http://schemas.openxmlformats.org/drawingml/2006/main">
            <a:off x="1809750" y="495300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6</a:t>
            </a:r>
          </a:p>
        </p:txBody>
      </p:sp>
      <p:sp>
        <p:nvSpPr>
          <p:cNvPr id="26" name="">
            <a:extLst xmlns:a="http://schemas.openxmlformats.org/drawingml/2006/main">
              <a:ext uri="{FF2B5EF4-FFF2-40B4-BE49-F238E27FC236}">
                <a16:creationId xmlns:a16="http://schemas.microsoft.com/office/drawing/2014/main" id="{2113E3E6-027E-4D50-8E90-CE18AB3EF622}"/>
              </a:ext>
            </a:extLst>
          </p:cNvPr>
          <p:cNvSpPr>
            <a:spLocks xmlns:a="http://schemas.openxmlformats.org/drawingml/2006/main" noGrp="1"/>
          </p:cNvSpPr>
          <p:nvPr/>
        </p:nvSpPr>
        <p:spPr>
          <a:xfrm xmlns:a="http://schemas.openxmlformats.org/drawingml/2006/main">
            <a:off x="2324100" y="496252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6. Aussage</a:t>
            </a:r>
          </a:p>
        </p:txBody>
      </p:sp>
      <p:sp>
        <p:nvSpPr>
          <p:cNvPr id="27" name="">
            <a:extLst xmlns:a="http://schemas.openxmlformats.org/drawingml/2006/main">
              <a:ext uri="{FF2B5EF4-FFF2-40B4-BE49-F238E27FC236}">
                <a16:creationId xmlns:a16="http://schemas.microsoft.com/office/drawing/2014/main" id="{B7E83267-BF1A-4B2F-AE95-B50AD82CCB70}"/>
              </a:ext>
            </a:extLst>
          </p:cNvPr>
          <p:cNvSpPr>
            <a:spLocks xmlns:a="http://schemas.openxmlformats.org/drawingml/2006/main" noGrp="1"/>
          </p:cNvSpPr>
          <p:nvPr/>
        </p:nvSpPr>
        <p:spPr>
          <a:xfrm xmlns:a="http://schemas.openxmlformats.org/drawingml/2006/main">
            <a:off x="4819650" y="496252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Ich trenne sichere Erinnerung, Aktenwissen, medizinische Bewertung und Nichtwissen.</a:t>
            </a:r>
          </a:p>
        </p:txBody>
      </p:sp>
      <p:sp>
        <p:nvSpPr>
          <p:cNvPr id="28" name="">
            <a:extLst xmlns:a="http://schemas.openxmlformats.org/drawingml/2006/main">
              <a:ext uri="{FF2B5EF4-FFF2-40B4-BE49-F238E27FC236}">
                <a16:creationId xmlns:a16="http://schemas.microsoft.com/office/drawing/2014/main" id="{D84CFFE4-C8F0-44C7-8081-A7EE66EF28F3}"/>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9" name="">
            <a:extLst xmlns:a="http://schemas.openxmlformats.org/drawingml/2006/main">
              <a:ext uri="{FF2B5EF4-FFF2-40B4-BE49-F238E27FC236}">
                <a16:creationId xmlns:a16="http://schemas.microsoft.com/office/drawing/2014/main" id="{790F7EE5-6613-47FB-A4E3-FAA84BDF8CCC}"/>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Rollenklärung und Fristkontrolle erfolgen vor jeder inhaltlichen Reaktion.</a:t>
            </a:r>
          </a:p>
        </p:txBody>
      </p:sp>
    </p:spTree>
    <p:extLst>
      <p:ext uri="{BB962C8B-B14F-4D97-AF65-F5344CB8AC3E}">
        <p14:creationId xmlns:p14="http://schemas.microsoft.com/office/powerpoint/2010/main" val="43637646"/>
      </p:ext>
    </p:extLst>
  </p:cSld>
</p:sld>
</file>

<file path=ppt/slides/slide206.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Der Zivilprozess als Ablauf</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ZPO IN DER PRAXIS</a:t>
            </a:r>
            <a:endParaRPr/>
          </a:p>
        </p:txBody>
      </p:sp>
      <p:sp>
        <p:nvSpPr>
          <p:cNvPr id="4" name="">
            <a:extLst xmlns:a="http://schemas.openxmlformats.org/drawingml/2006/main">
              <a:ext uri="{FF2B5EF4-FFF2-40B4-BE49-F238E27FC236}">
                <a16:creationId xmlns:a16="http://schemas.microsoft.com/office/drawing/2014/main" id="{AE560733-C503-4651-9A93-03A10CBC5A6B}"/>
              </a:ext>
            </a:extLst>
          </p:cNvPr>
          <p:cNvSpPr>
            <a:spLocks xmlns:a="http://schemas.openxmlformats.org/drawingml/2006/main" noGrp="1"/>
          </p:cNvSpPr>
          <p:nvPr/>
        </p:nvSpPr>
        <p:spPr>
          <a:xfrm xmlns:a="http://schemas.openxmlformats.org/drawingml/2006/main">
            <a:off x="2000250" y="2657475"/>
            <a:ext cx="9144000" cy="0"/>
          </a:xfrm>
          <a:prstGeom xmlns:a="http://schemas.openxmlformats.org/drawingml/2006/main" prst="line">
            <a:avLst/>
          </a:prstGeom>
          <a:noFill xmlns:a="http://schemas.openxmlformats.org/drawingml/2006/main"/>
          <a:ln xmlns:a="http://schemas.openxmlformats.org/drawingml/2006/main" w="28575">
            <a:solidFill>
              <a:srgbClr val="B9CAD2"/>
            </a:solidFill>
            <a:prstDash val="solid"/>
          </a:ln>
        </p:spPr>
      </p:sp>
      <p:sp>
        <p:nvSpPr>
          <p:cNvPr id="5" name="">
            <a:extLst xmlns:a="http://schemas.openxmlformats.org/drawingml/2006/main">
              <a:ext uri="{FF2B5EF4-FFF2-40B4-BE49-F238E27FC236}">
                <a16:creationId xmlns:a16="http://schemas.microsoft.com/office/drawing/2014/main" id="{F4949B57-3695-4E42-8402-819B37EB9312}"/>
              </a:ext>
            </a:extLst>
          </p:cNvPr>
          <p:cNvSpPr>
            <a:spLocks xmlns:a="http://schemas.openxmlformats.org/drawingml/2006/main" noGrp="1"/>
          </p:cNvSpPr>
          <p:nvPr/>
        </p:nvSpPr>
        <p:spPr>
          <a:xfrm xmlns:a="http://schemas.openxmlformats.org/drawingml/2006/main">
            <a:off x="2441575" y="2543175"/>
            <a:ext cx="228600" cy="228600"/>
          </a:xfrm>
          <a:prstGeom xmlns:a="http://schemas.openxmlformats.org/drawingml/2006/main" prst="ellipse">
            <a:avLst/>
          </a:prstGeom>
          <a:solidFill xmlns:a="http://schemas.openxmlformats.org/drawingml/2006/main">
            <a:srgbClr val="003F6B"/>
          </a:solidFill>
          <a:ln xmlns:a="http://schemas.openxmlformats.org/drawingml/2006/main" w="19050">
            <a:solidFill>
              <a:srgbClr val="FFFFFF"/>
            </a:solidFill>
            <a:prstDash val="solid"/>
          </a:ln>
        </p:spPr>
      </p:sp>
      <p:sp>
        <p:nvSpPr>
          <p:cNvPr id="6" name="">
            <a:extLst xmlns:a="http://schemas.openxmlformats.org/drawingml/2006/main">
              <a:ext uri="{FF2B5EF4-FFF2-40B4-BE49-F238E27FC236}">
                <a16:creationId xmlns:a16="http://schemas.microsoft.com/office/drawing/2014/main" id="{AA0E1404-6563-4C60-8684-64A571BD59C4}"/>
              </a:ext>
            </a:extLst>
          </p:cNvPr>
          <p:cNvSpPr>
            <a:spLocks xmlns:a="http://schemas.openxmlformats.org/drawingml/2006/main" noGrp="1"/>
          </p:cNvSpPr>
          <p:nvPr/>
        </p:nvSpPr>
        <p:spPr>
          <a:xfrm xmlns:a="http://schemas.openxmlformats.org/drawingml/2006/main">
            <a:off x="1809750" y="2105025"/>
            <a:ext cx="149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63" b="1">
                <a:solidFill>
                  <a:srgbClr val="003F6B"/>
                </a:solidFill>
              </a:defRPr>
            </a:pPr>
            <a:r>
              <a:rPr sz="1163" b="1">
                <a:solidFill>
                  <a:srgbClr val="003F6B"/>
                </a:solidFill>
              </a:rPr>
              <a:t>Klage</a:t>
            </a:r>
          </a:p>
        </p:txBody>
      </p:sp>
      <p:sp>
        <p:nvSpPr>
          <p:cNvPr id="7" name="">
            <a:extLst xmlns:a="http://schemas.openxmlformats.org/drawingml/2006/main">
              <a:ext uri="{FF2B5EF4-FFF2-40B4-BE49-F238E27FC236}">
                <a16:creationId xmlns:a16="http://schemas.microsoft.com/office/drawing/2014/main" id="{445312C7-CF42-4D92-9B7A-FDFFD77FD87D}"/>
              </a:ext>
            </a:extLst>
          </p:cNvPr>
          <p:cNvSpPr>
            <a:spLocks xmlns:a="http://schemas.openxmlformats.org/drawingml/2006/main" noGrp="1"/>
          </p:cNvSpPr>
          <p:nvPr/>
        </p:nvSpPr>
        <p:spPr>
          <a:xfrm xmlns:a="http://schemas.openxmlformats.org/drawingml/2006/main">
            <a:off x="1847850" y="2924175"/>
            <a:ext cx="14160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13">
                <a:solidFill>
                  <a:srgbClr val="15232B"/>
                </a:solidFill>
              </a:defRPr>
            </a:pPr>
            <a:r>
              <a:rPr sz="1013">
                <a:solidFill>
                  <a:srgbClr val="15232B"/>
                </a:solidFill>
              </a:rPr>
              <a:t>Anträge, Tatsachen, Beweismittel</a:t>
            </a:r>
          </a:p>
        </p:txBody>
      </p:sp>
      <p:sp>
        <p:nvSpPr>
          <p:cNvPr id="8" name="">
            <a:extLst xmlns:a="http://schemas.openxmlformats.org/drawingml/2006/main">
              <a:ext uri="{FF2B5EF4-FFF2-40B4-BE49-F238E27FC236}">
                <a16:creationId xmlns:a16="http://schemas.microsoft.com/office/drawing/2014/main" id="{EE38F56E-9173-4439-BE76-B242805D5B77}"/>
              </a:ext>
            </a:extLst>
          </p:cNvPr>
          <p:cNvSpPr>
            <a:spLocks xmlns:a="http://schemas.openxmlformats.org/drawingml/2006/main" noGrp="1"/>
          </p:cNvSpPr>
          <p:nvPr/>
        </p:nvSpPr>
        <p:spPr>
          <a:xfrm xmlns:a="http://schemas.openxmlformats.org/drawingml/2006/main">
            <a:off x="4048125" y="2543175"/>
            <a:ext cx="228600" cy="22860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9" name="">
            <a:extLst xmlns:a="http://schemas.openxmlformats.org/drawingml/2006/main">
              <a:ext uri="{FF2B5EF4-FFF2-40B4-BE49-F238E27FC236}">
                <a16:creationId xmlns:a16="http://schemas.microsoft.com/office/drawing/2014/main" id="{4E1CF9D5-143D-446D-B1EB-C321124803D9}"/>
              </a:ext>
            </a:extLst>
          </p:cNvPr>
          <p:cNvSpPr>
            <a:spLocks xmlns:a="http://schemas.openxmlformats.org/drawingml/2006/main" noGrp="1"/>
          </p:cNvSpPr>
          <p:nvPr/>
        </p:nvSpPr>
        <p:spPr>
          <a:xfrm xmlns:a="http://schemas.openxmlformats.org/drawingml/2006/main">
            <a:off x="3416300" y="2105025"/>
            <a:ext cx="149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63" b="1">
                <a:solidFill>
                  <a:srgbClr val="003F6B"/>
                </a:solidFill>
              </a:defRPr>
            </a:pPr>
            <a:r>
              <a:rPr sz="1163" b="1">
                <a:solidFill>
                  <a:srgbClr val="003F6B"/>
                </a:solidFill>
              </a:rPr>
              <a:t>Erwiderung</a:t>
            </a:r>
          </a:p>
        </p:txBody>
      </p:sp>
      <p:sp>
        <p:nvSpPr>
          <p:cNvPr id="10" name="">
            <a:extLst xmlns:a="http://schemas.openxmlformats.org/drawingml/2006/main">
              <a:ext uri="{FF2B5EF4-FFF2-40B4-BE49-F238E27FC236}">
                <a16:creationId xmlns:a16="http://schemas.microsoft.com/office/drawing/2014/main" id="{604BF00B-A2CF-426E-8180-1150D4DD81F6}"/>
              </a:ext>
            </a:extLst>
          </p:cNvPr>
          <p:cNvSpPr>
            <a:spLocks xmlns:a="http://schemas.openxmlformats.org/drawingml/2006/main" noGrp="1"/>
          </p:cNvSpPr>
          <p:nvPr/>
        </p:nvSpPr>
        <p:spPr>
          <a:xfrm xmlns:a="http://schemas.openxmlformats.org/drawingml/2006/main">
            <a:off x="3454400" y="2924175"/>
            <a:ext cx="14160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13">
                <a:solidFill>
                  <a:srgbClr val="15232B"/>
                </a:solidFill>
              </a:defRPr>
            </a:pPr>
            <a:r>
              <a:rPr sz="1013">
                <a:solidFill>
                  <a:srgbClr val="15232B"/>
                </a:solidFill>
              </a:rPr>
              <a:t>Bestreiten, Einwendungen, eigene Beweise</a:t>
            </a:r>
          </a:p>
        </p:txBody>
      </p:sp>
      <p:sp>
        <p:nvSpPr>
          <p:cNvPr id="11" name="">
            <a:extLst xmlns:a="http://schemas.openxmlformats.org/drawingml/2006/main">
              <a:ext uri="{FF2B5EF4-FFF2-40B4-BE49-F238E27FC236}">
                <a16:creationId xmlns:a16="http://schemas.microsoft.com/office/drawing/2014/main" id="{CBF90489-8412-4934-A126-0A622920F5EB}"/>
              </a:ext>
            </a:extLst>
          </p:cNvPr>
          <p:cNvSpPr>
            <a:spLocks xmlns:a="http://schemas.openxmlformats.org/drawingml/2006/main" noGrp="1"/>
          </p:cNvSpPr>
          <p:nvPr/>
        </p:nvSpPr>
        <p:spPr>
          <a:xfrm xmlns:a="http://schemas.openxmlformats.org/drawingml/2006/main">
            <a:off x="5654675" y="2543175"/>
            <a:ext cx="228600" cy="22860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12" name="">
            <a:extLst xmlns:a="http://schemas.openxmlformats.org/drawingml/2006/main">
              <a:ext uri="{FF2B5EF4-FFF2-40B4-BE49-F238E27FC236}">
                <a16:creationId xmlns:a16="http://schemas.microsoft.com/office/drawing/2014/main" id="{8D65B36B-DD0E-45C5-A7FC-8AEE13EE0A0C}"/>
              </a:ext>
            </a:extLst>
          </p:cNvPr>
          <p:cNvSpPr>
            <a:spLocks xmlns:a="http://schemas.openxmlformats.org/drawingml/2006/main" noGrp="1"/>
          </p:cNvSpPr>
          <p:nvPr/>
        </p:nvSpPr>
        <p:spPr>
          <a:xfrm xmlns:a="http://schemas.openxmlformats.org/drawingml/2006/main">
            <a:off x="5022850" y="2105025"/>
            <a:ext cx="149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63" b="1">
                <a:solidFill>
                  <a:srgbClr val="003F6B"/>
                </a:solidFill>
              </a:defRPr>
            </a:pPr>
            <a:r>
              <a:rPr sz="1163" b="1">
                <a:solidFill>
                  <a:srgbClr val="003F6B"/>
                </a:solidFill>
              </a:rPr>
              <a:t>Güte / Termin</a:t>
            </a:r>
          </a:p>
        </p:txBody>
      </p:sp>
      <p:sp>
        <p:nvSpPr>
          <p:cNvPr id="13" name="">
            <a:extLst xmlns:a="http://schemas.openxmlformats.org/drawingml/2006/main">
              <a:ext uri="{FF2B5EF4-FFF2-40B4-BE49-F238E27FC236}">
                <a16:creationId xmlns:a16="http://schemas.microsoft.com/office/drawing/2014/main" id="{1C88C3F7-F2F3-45CB-A48F-B07A429BE282}"/>
              </a:ext>
            </a:extLst>
          </p:cNvPr>
          <p:cNvSpPr>
            <a:spLocks xmlns:a="http://schemas.openxmlformats.org/drawingml/2006/main" noGrp="1"/>
          </p:cNvSpPr>
          <p:nvPr/>
        </p:nvSpPr>
        <p:spPr>
          <a:xfrm xmlns:a="http://schemas.openxmlformats.org/drawingml/2006/main">
            <a:off x="5060950" y="2924175"/>
            <a:ext cx="14160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13">
                <a:solidFill>
                  <a:srgbClr val="15232B"/>
                </a:solidFill>
              </a:defRPr>
            </a:pPr>
            <a:r>
              <a:rPr sz="1013">
                <a:solidFill>
                  <a:srgbClr val="15232B"/>
                </a:solidFill>
              </a:rPr>
              <a:t>Erörterung, Vergleichschancen</a:t>
            </a:r>
          </a:p>
        </p:txBody>
      </p:sp>
      <p:sp>
        <p:nvSpPr>
          <p:cNvPr id="14" name="">
            <a:extLst xmlns:a="http://schemas.openxmlformats.org/drawingml/2006/main">
              <a:ext uri="{FF2B5EF4-FFF2-40B4-BE49-F238E27FC236}">
                <a16:creationId xmlns:a16="http://schemas.microsoft.com/office/drawing/2014/main" id="{197EB5F6-96B6-414D-9858-FC511945032C}"/>
              </a:ext>
            </a:extLst>
          </p:cNvPr>
          <p:cNvSpPr>
            <a:spLocks xmlns:a="http://schemas.openxmlformats.org/drawingml/2006/main" noGrp="1"/>
          </p:cNvSpPr>
          <p:nvPr/>
        </p:nvSpPr>
        <p:spPr>
          <a:xfrm xmlns:a="http://schemas.openxmlformats.org/drawingml/2006/main">
            <a:off x="7261225" y="2543175"/>
            <a:ext cx="228600" cy="22860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15" name="">
            <a:extLst xmlns:a="http://schemas.openxmlformats.org/drawingml/2006/main">
              <a:ext uri="{FF2B5EF4-FFF2-40B4-BE49-F238E27FC236}">
                <a16:creationId xmlns:a16="http://schemas.microsoft.com/office/drawing/2014/main" id="{D266A21E-E348-49B1-9737-B3B9BFFD71A8}"/>
              </a:ext>
            </a:extLst>
          </p:cNvPr>
          <p:cNvSpPr>
            <a:spLocks xmlns:a="http://schemas.openxmlformats.org/drawingml/2006/main" noGrp="1"/>
          </p:cNvSpPr>
          <p:nvPr/>
        </p:nvSpPr>
        <p:spPr>
          <a:xfrm xmlns:a="http://schemas.openxmlformats.org/drawingml/2006/main">
            <a:off x="6629400" y="2105025"/>
            <a:ext cx="149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63" b="1">
                <a:solidFill>
                  <a:srgbClr val="003F6B"/>
                </a:solidFill>
              </a:defRPr>
            </a:pPr>
            <a:r>
              <a:rPr sz="1163" b="1">
                <a:solidFill>
                  <a:srgbClr val="003F6B"/>
                </a:solidFill>
              </a:rPr>
              <a:t>Beweisbeschluss</a:t>
            </a:r>
          </a:p>
        </p:txBody>
      </p:sp>
      <p:sp>
        <p:nvSpPr>
          <p:cNvPr id="16" name="">
            <a:extLst xmlns:a="http://schemas.openxmlformats.org/drawingml/2006/main">
              <a:ext uri="{FF2B5EF4-FFF2-40B4-BE49-F238E27FC236}">
                <a16:creationId xmlns:a16="http://schemas.microsoft.com/office/drawing/2014/main" id="{B2B38679-EDD0-4DB2-88DC-99229C124BC8}"/>
              </a:ext>
            </a:extLst>
          </p:cNvPr>
          <p:cNvSpPr>
            <a:spLocks xmlns:a="http://schemas.openxmlformats.org/drawingml/2006/main" noGrp="1"/>
          </p:cNvSpPr>
          <p:nvPr/>
        </p:nvSpPr>
        <p:spPr>
          <a:xfrm xmlns:a="http://schemas.openxmlformats.org/drawingml/2006/main">
            <a:off x="6667500" y="2924175"/>
            <a:ext cx="14160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13">
                <a:solidFill>
                  <a:srgbClr val="15232B"/>
                </a:solidFill>
              </a:defRPr>
            </a:pPr>
            <a:r>
              <a:rPr sz="1013">
                <a:solidFill>
                  <a:srgbClr val="15232B"/>
                </a:solidFill>
              </a:rPr>
              <a:t>Welche Fragen werden bewiesen?</a:t>
            </a:r>
          </a:p>
        </p:txBody>
      </p:sp>
      <p:sp>
        <p:nvSpPr>
          <p:cNvPr id="17" name="">
            <a:extLst xmlns:a="http://schemas.openxmlformats.org/drawingml/2006/main">
              <a:ext uri="{FF2B5EF4-FFF2-40B4-BE49-F238E27FC236}">
                <a16:creationId xmlns:a16="http://schemas.microsoft.com/office/drawing/2014/main" id="{B09DFB61-C6DC-4AB6-B911-6683B1A9FEF7}"/>
              </a:ext>
            </a:extLst>
          </p:cNvPr>
          <p:cNvSpPr>
            <a:spLocks xmlns:a="http://schemas.openxmlformats.org/drawingml/2006/main" noGrp="1"/>
          </p:cNvSpPr>
          <p:nvPr/>
        </p:nvSpPr>
        <p:spPr>
          <a:xfrm xmlns:a="http://schemas.openxmlformats.org/drawingml/2006/main">
            <a:off x="8867775" y="2543175"/>
            <a:ext cx="228600" cy="22860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18" name="">
            <a:extLst xmlns:a="http://schemas.openxmlformats.org/drawingml/2006/main">
              <a:ext uri="{FF2B5EF4-FFF2-40B4-BE49-F238E27FC236}">
                <a16:creationId xmlns:a16="http://schemas.microsoft.com/office/drawing/2014/main" id="{EE44F963-375F-4B15-8D13-31D8EE64F37D}"/>
              </a:ext>
            </a:extLst>
          </p:cNvPr>
          <p:cNvSpPr>
            <a:spLocks xmlns:a="http://schemas.openxmlformats.org/drawingml/2006/main" noGrp="1"/>
          </p:cNvSpPr>
          <p:nvPr/>
        </p:nvSpPr>
        <p:spPr>
          <a:xfrm xmlns:a="http://schemas.openxmlformats.org/drawingml/2006/main">
            <a:off x="8235950" y="2105025"/>
            <a:ext cx="149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63" b="1">
                <a:solidFill>
                  <a:srgbClr val="003F6B"/>
                </a:solidFill>
              </a:defRPr>
            </a:pPr>
            <a:r>
              <a:rPr sz="1163" b="1">
                <a:solidFill>
                  <a:srgbClr val="003F6B"/>
                </a:solidFill>
              </a:rPr>
              <a:t>Gutachten</a:t>
            </a:r>
          </a:p>
        </p:txBody>
      </p:sp>
      <p:sp>
        <p:nvSpPr>
          <p:cNvPr id="19" name="">
            <a:extLst xmlns:a="http://schemas.openxmlformats.org/drawingml/2006/main">
              <a:ext uri="{FF2B5EF4-FFF2-40B4-BE49-F238E27FC236}">
                <a16:creationId xmlns:a16="http://schemas.microsoft.com/office/drawing/2014/main" id="{5ABBA891-1B9F-4FC3-9DF8-E145187430C3}"/>
              </a:ext>
            </a:extLst>
          </p:cNvPr>
          <p:cNvSpPr>
            <a:spLocks xmlns:a="http://schemas.openxmlformats.org/drawingml/2006/main" noGrp="1"/>
          </p:cNvSpPr>
          <p:nvPr/>
        </p:nvSpPr>
        <p:spPr>
          <a:xfrm xmlns:a="http://schemas.openxmlformats.org/drawingml/2006/main">
            <a:off x="8274050" y="2924175"/>
            <a:ext cx="14160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13">
                <a:solidFill>
                  <a:srgbClr val="15232B"/>
                </a:solidFill>
              </a:defRPr>
            </a:pPr>
            <a:r>
              <a:rPr sz="1013">
                <a:solidFill>
                  <a:srgbClr val="15232B"/>
                </a:solidFill>
              </a:rPr>
              <a:t>schriftlich, Fragen, Anhörung</a:t>
            </a:r>
          </a:p>
        </p:txBody>
      </p:sp>
      <p:sp>
        <p:nvSpPr>
          <p:cNvPr id="20" name="">
            <a:extLst xmlns:a="http://schemas.openxmlformats.org/drawingml/2006/main">
              <a:ext uri="{FF2B5EF4-FFF2-40B4-BE49-F238E27FC236}">
                <a16:creationId xmlns:a16="http://schemas.microsoft.com/office/drawing/2014/main" id="{AD4B349B-1280-451D-B009-472CFCCCC4AF}"/>
              </a:ext>
            </a:extLst>
          </p:cNvPr>
          <p:cNvSpPr>
            <a:spLocks xmlns:a="http://schemas.openxmlformats.org/drawingml/2006/main" noGrp="1"/>
          </p:cNvSpPr>
          <p:nvPr/>
        </p:nvSpPr>
        <p:spPr>
          <a:xfrm xmlns:a="http://schemas.openxmlformats.org/drawingml/2006/main">
            <a:off x="10474325" y="2543175"/>
            <a:ext cx="228600" cy="22860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21" name="">
            <a:extLst xmlns:a="http://schemas.openxmlformats.org/drawingml/2006/main">
              <a:ext uri="{FF2B5EF4-FFF2-40B4-BE49-F238E27FC236}">
                <a16:creationId xmlns:a16="http://schemas.microsoft.com/office/drawing/2014/main" id="{9A57D9EC-2F1E-414A-BD39-7D08CD0709B0}"/>
              </a:ext>
            </a:extLst>
          </p:cNvPr>
          <p:cNvSpPr>
            <a:spLocks xmlns:a="http://schemas.openxmlformats.org/drawingml/2006/main" noGrp="1"/>
          </p:cNvSpPr>
          <p:nvPr/>
        </p:nvSpPr>
        <p:spPr>
          <a:xfrm xmlns:a="http://schemas.openxmlformats.org/drawingml/2006/main">
            <a:off x="9842500" y="2105025"/>
            <a:ext cx="149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63" b="1">
                <a:solidFill>
                  <a:srgbClr val="003F6B"/>
                </a:solidFill>
              </a:defRPr>
            </a:pPr>
            <a:r>
              <a:rPr sz="1163" b="1">
                <a:solidFill>
                  <a:srgbClr val="003F6B"/>
                </a:solidFill>
              </a:rPr>
              <a:t>Ende</a:t>
            </a:r>
          </a:p>
        </p:txBody>
      </p:sp>
      <p:sp>
        <p:nvSpPr>
          <p:cNvPr id="22" name="">
            <a:extLst xmlns:a="http://schemas.openxmlformats.org/drawingml/2006/main">
              <a:ext uri="{FF2B5EF4-FFF2-40B4-BE49-F238E27FC236}">
                <a16:creationId xmlns:a16="http://schemas.microsoft.com/office/drawing/2014/main" id="{BA809ED4-0BDF-458E-AFEE-2E3C71EF6D7B}"/>
              </a:ext>
            </a:extLst>
          </p:cNvPr>
          <p:cNvSpPr>
            <a:spLocks xmlns:a="http://schemas.openxmlformats.org/drawingml/2006/main" noGrp="1"/>
          </p:cNvSpPr>
          <p:nvPr/>
        </p:nvSpPr>
        <p:spPr>
          <a:xfrm xmlns:a="http://schemas.openxmlformats.org/drawingml/2006/main">
            <a:off x="9880600" y="2924175"/>
            <a:ext cx="14160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13">
                <a:solidFill>
                  <a:srgbClr val="15232B"/>
                </a:solidFill>
              </a:defRPr>
            </a:pPr>
            <a:r>
              <a:rPr sz="1013">
                <a:solidFill>
                  <a:srgbClr val="15232B"/>
                </a:solidFill>
              </a:rPr>
              <a:t>Vergleich, Urteil, Berufung</a:t>
            </a:r>
          </a:p>
        </p:txBody>
      </p:sp>
      <p:sp>
        <p:nvSpPr>
          <p:cNvPr id="23" name="">
            <a:extLst xmlns:a="http://schemas.openxmlformats.org/drawingml/2006/main">
              <a:ext uri="{FF2B5EF4-FFF2-40B4-BE49-F238E27FC236}">
                <a16:creationId xmlns:a16="http://schemas.microsoft.com/office/drawing/2014/main" id="{1C114282-832C-4E48-A7F6-5B730B9092D8}"/>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4" name="">
            <a:extLst xmlns:a="http://schemas.openxmlformats.org/drawingml/2006/main">
              <a:ext uri="{FF2B5EF4-FFF2-40B4-BE49-F238E27FC236}">
                <a16:creationId xmlns:a16="http://schemas.microsoft.com/office/drawing/2014/main" id="{C1D8A9B3-D179-497F-9B1A-40657A7F1AAF}"/>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Arzthaftungsprozesse drehen sich häufig um präzisen Tatsachenvortrag und sachverständige Medizin – nicht um dramatische Kreuzverhöre.</a:t>
            </a:r>
          </a:p>
        </p:txBody>
      </p:sp>
    </p:spTree>
    <p:extLst>
      <p:ext uri="{BB962C8B-B14F-4D97-AF65-F5344CB8AC3E}">
        <p14:creationId xmlns:p14="http://schemas.microsoft.com/office/powerpoint/2010/main" val="43637646"/>
      </p:ext>
    </p:extLst>
  </p:cSld>
</p:sld>
</file>

<file path=ppt/slides/slide207.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Oldenburg: Wer entscheidet Arzthaftung?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GERICHTSBESUCH</a:t>
            </a:r>
            <a:endParaRPr/>
          </a:p>
        </p:txBody>
      </p:sp>
      <p:sp>
        <p:nvSpPr>
          <p:cNvPr id="4" name="">
            <a:extLst xmlns:a="http://schemas.openxmlformats.org/drawingml/2006/main">
              <a:ext uri="{FF2B5EF4-FFF2-40B4-BE49-F238E27FC236}">
                <a16:creationId xmlns:a16="http://schemas.microsoft.com/office/drawing/2014/main" id="{F7D9AFC3-5B81-4995-BD1A-D26D7FBC6A85}"/>
              </a:ext>
            </a:extLst>
          </p:cNvPr>
          <p:cNvSpPr>
            <a:spLocks xmlns:a="http://schemas.openxmlformats.org/drawingml/2006/main" noGrp="1"/>
          </p:cNvSpPr>
          <p:nvPr/>
        </p:nvSpPr>
        <p:spPr>
          <a:xfrm xmlns:a="http://schemas.openxmlformats.org/drawingml/2006/main">
            <a:off x="1809750" y="1952625"/>
            <a:ext cx="46863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9BFFA41B-CDD3-435A-87E9-46D876C17FC2}"/>
              </a:ext>
            </a:extLst>
          </p:cNvPr>
          <p:cNvSpPr>
            <a:spLocks xmlns:a="http://schemas.openxmlformats.org/drawingml/2006/main" noGrp="1"/>
          </p:cNvSpPr>
          <p:nvPr/>
        </p:nvSpPr>
        <p:spPr>
          <a:xfrm xmlns:a="http://schemas.openxmlformats.org/drawingml/2006/main">
            <a:off x="1809750" y="1952625"/>
            <a:ext cx="46863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0425C6AB-42FE-4A5F-9C6F-191197CEB810}"/>
              </a:ext>
            </a:extLst>
          </p:cNvPr>
          <p:cNvSpPr>
            <a:spLocks xmlns:a="http://schemas.openxmlformats.org/drawingml/2006/main" noGrp="1"/>
          </p:cNvSpPr>
          <p:nvPr/>
        </p:nvSpPr>
        <p:spPr>
          <a:xfrm xmlns:a="http://schemas.openxmlformats.org/drawingml/2006/main">
            <a:off x="1962150" y="2085975"/>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Zuständigkeit</a:t>
            </a:r>
          </a:p>
        </p:txBody>
      </p:sp>
      <p:sp>
        <p:nvSpPr>
          <p:cNvPr id="7" name="">
            <a:extLst xmlns:a="http://schemas.openxmlformats.org/drawingml/2006/main">
              <a:ext uri="{FF2B5EF4-FFF2-40B4-BE49-F238E27FC236}">
                <a16:creationId xmlns:a16="http://schemas.microsoft.com/office/drawing/2014/main" id="{FB3C8E84-4524-4EF9-BC12-AED10FD05B0A}"/>
              </a:ext>
            </a:extLst>
          </p:cNvPr>
          <p:cNvSpPr>
            <a:spLocks xmlns:a="http://schemas.openxmlformats.org/drawingml/2006/main" noGrp="1"/>
          </p:cNvSpPr>
          <p:nvPr/>
        </p:nvSpPr>
        <p:spPr>
          <a:xfrm xmlns:a="http://schemas.openxmlformats.org/drawingml/2006/main">
            <a:off x="1962150" y="2524125"/>
            <a:ext cx="43815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Seit 2026 sind Landgerichte erstinstanzlich für Streitigkeiten aus Heilbehandlungen unabhängig vom Streitwert zuständig.</a:t>
            </a:r>
          </a:p>
        </p:txBody>
      </p:sp>
      <p:sp>
        <p:nvSpPr>
          <p:cNvPr id="8" name="">
            <a:extLst xmlns:a="http://schemas.openxmlformats.org/drawingml/2006/main">
              <a:ext uri="{FF2B5EF4-FFF2-40B4-BE49-F238E27FC236}">
                <a16:creationId xmlns:a16="http://schemas.microsoft.com/office/drawing/2014/main" id="{1E3F2DAC-F6C6-4744-A5E8-F74DD9BB75B0}"/>
              </a:ext>
            </a:extLst>
          </p:cNvPr>
          <p:cNvSpPr>
            <a:spLocks xmlns:a="http://schemas.openxmlformats.org/drawingml/2006/main" noGrp="1"/>
          </p:cNvSpPr>
          <p:nvPr/>
        </p:nvSpPr>
        <p:spPr>
          <a:xfrm xmlns:a="http://schemas.openxmlformats.org/drawingml/2006/main">
            <a:off x="6648450" y="1952625"/>
            <a:ext cx="46863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9" name="">
            <a:extLst xmlns:a="http://schemas.openxmlformats.org/drawingml/2006/main">
              <a:ext uri="{FF2B5EF4-FFF2-40B4-BE49-F238E27FC236}">
                <a16:creationId xmlns:a16="http://schemas.microsoft.com/office/drawing/2014/main" id="{D86D4D68-DAAA-4C7B-BE51-1D5805FF52CE}"/>
              </a:ext>
            </a:extLst>
          </p:cNvPr>
          <p:cNvSpPr>
            <a:spLocks xmlns:a="http://schemas.openxmlformats.org/drawingml/2006/main" noGrp="1"/>
          </p:cNvSpPr>
          <p:nvPr/>
        </p:nvSpPr>
        <p:spPr>
          <a:xfrm xmlns:a="http://schemas.openxmlformats.org/drawingml/2006/main">
            <a:off x="6648450" y="1952625"/>
            <a:ext cx="468630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5062EF9C-6417-4B4F-8EBF-D38B2B199A9D}"/>
              </a:ext>
            </a:extLst>
          </p:cNvPr>
          <p:cNvSpPr>
            <a:spLocks xmlns:a="http://schemas.openxmlformats.org/drawingml/2006/main" noGrp="1"/>
          </p:cNvSpPr>
          <p:nvPr/>
        </p:nvSpPr>
        <p:spPr>
          <a:xfrm xmlns:a="http://schemas.openxmlformats.org/drawingml/2006/main">
            <a:off x="6800850" y="2085975"/>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Spezialisierung</a:t>
            </a:r>
          </a:p>
        </p:txBody>
      </p:sp>
      <p:sp>
        <p:nvSpPr>
          <p:cNvPr id="11" name="">
            <a:extLst xmlns:a="http://schemas.openxmlformats.org/drawingml/2006/main">
              <a:ext uri="{FF2B5EF4-FFF2-40B4-BE49-F238E27FC236}">
                <a16:creationId xmlns:a16="http://schemas.microsoft.com/office/drawing/2014/main" id="{A9FB3EA0-7C09-4349-970A-E57C9DAB2010}"/>
              </a:ext>
            </a:extLst>
          </p:cNvPr>
          <p:cNvSpPr>
            <a:spLocks xmlns:a="http://schemas.openxmlformats.org/drawingml/2006/main" noGrp="1"/>
          </p:cNvSpPr>
          <p:nvPr/>
        </p:nvSpPr>
        <p:spPr>
          <a:xfrm xmlns:a="http://schemas.openxmlformats.org/drawingml/2006/main">
            <a:off x="6800850" y="2524125"/>
            <a:ext cx="43815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Beim LG Oldenburg bearbeiten die 7. und 8. Zivilkammer Arzthaftungssachen im Sonderturnus.</a:t>
            </a:r>
          </a:p>
        </p:txBody>
      </p:sp>
      <p:sp>
        <p:nvSpPr>
          <p:cNvPr id="12" name="">
            <a:extLst xmlns:a="http://schemas.openxmlformats.org/drawingml/2006/main">
              <a:ext uri="{FF2B5EF4-FFF2-40B4-BE49-F238E27FC236}">
                <a16:creationId xmlns:a16="http://schemas.microsoft.com/office/drawing/2014/main" id="{73144AF0-7FF4-4794-A827-7EF79FDCFD6C}"/>
              </a:ext>
            </a:extLst>
          </p:cNvPr>
          <p:cNvSpPr>
            <a:spLocks xmlns:a="http://schemas.openxmlformats.org/drawingml/2006/main" noGrp="1"/>
          </p:cNvSpPr>
          <p:nvPr/>
        </p:nvSpPr>
        <p:spPr>
          <a:xfrm xmlns:a="http://schemas.openxmlformats.org/drawingml/2006/main">
            <a:off x="1809750" y="3767138"/>
            <a:ext cx="46863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13" name="">
            <a:extLst xmlns:a="http://schemas.openxmlformats.org/drawingml/2006/main">
              <a:ext uri="{FF2B5EF4-FFF2-40B4-BE49-F238E27FC236}">
                <a16:creationId xmlns:a16="http://schemas.microsoft.com/office/drawing/2014/main" id="{FFABB299-749C-4C33-9E1A-E3F10FCABAF9}"/>
              </a:ext>
            </a:extLst>
          </p:cNvPr>
          <p:cNvSpPr>
            <a:spLocks xmlns:a="http://schemas.openxmlformats.org/drawingml/2006/main" noGrp="1"/>
          </p:cNvSpPr>
          <p:nvPr/>
        </p:nvSpPr>
        <p:spPr>
          <a:xfrm xmlns:a="http://schemas.openxmlformats.org/drawingml/2006/main">
            <a:off x="1809750" y="3767138"/>
            <a:ext cx="46863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2DF082CB-74AD-49F4-AF12-FE7ABCE48EC4}"/>
              </a:ext>
            </a:extLst>
          </p:cNvPr>
          <p:cNvSpPr>
            <a:spLocks xmlns:a="http://schemas.openxmlformats.org/drawingml/2006/main" noGrp="1"/>
          </p:cNvSpPr>
          <p:nvPr/>
        </p:nvSpPr>
        <p:spPr>
          <a:xfrm xmlns:a="http://schemas.openxmlformats.org/drawingml/2006/main">
            <a:off x="1962150" y="3900488"/>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Besetzung</a:t>
            </a:r>
          </a:p>
        </p:txBody>
      </p:sp>
      <p:sp>
        <p:nvSpPr>
          <p:cNvPr id="15" name="">
            <a:extLst xmlns:a="http://schemas.openxmlformats.org/drawingml/2006/main">
              <a:ext uri="{FF2B5EF4-FFF2-40B4-BE49-F238E27FC236}">
                <a16:creationId xmlns:a16="http://schemas.microsoft.com/office/drawing/2014/main" id="{EE5568BC-1158-4C90-B505-060B748002C3}"/>
              </a:ext>
            </a:extLst>
          </p:cNvPr>
          <p:cNvSpPr>
            <a:spLocks xmlns:a="http://schemas.openxmlformats.org/drawingml/2006/main" noGrp="1"/>
          </p:cNvSpPr>
          <p:nvPr/>
        </p:nvSpPr>
        <p:spPr>
          <a:xfrm xmlns:a="http://schemas.openxmlformats.org/drawingml/2006/main">
            <a:off x="1962150" y="4338638"/>
            <a:ext cx="43815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Die Zivilkammer kann mit drei Berufsrichter:innen entscheiden; Übertragung auf Einzelrichter:in ist je nach Sache möglich.</a:t>
            </a:r>
          </a:p>
        </p:txBody>
      </p:sp>
      <p:sp>
        <p:nvSpPr>
          <p:cNvPr id="16" name="">
            <a:extLst xmlns:a="http://schemas.openxmlformats.org/drawingml/2006/main">
              <a:ext uri="{FF2B5EF4-FFF2-40B4-BE49-F238E27FC236}">
                <a16:creationId xmlns:a16="http://schemas.microsoft.com/office/drawing/2014/main" id="{DF4098C9-32F0-4B9F-B348-169304925DD4}"/>
              </a:ext>
            </a:extLst>
          </p:cNvPr>
          <p:cNvSpPr>
            <a:spLocks xmlns:a="http://schemas.openxmlformats.org/drawingml/2006/main" noGrp="1"/>
          </p:cNvSpPr>
          <p:nvPr/>
        </p:nvSpPr>
        <p:spPr>
          <a:xfrm xmlns:a="http://schemas.openxmlformats.org/drawingml/2006/main">
            <a:off x="6648450" y="3767138"/>
            <a:ext cx="46863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17" name="">
            <a:extLst xmlns:a="http://schemas.openxmlformats.org/drawingml/2006/main">
              <a:ext uri="{FF2B5EF4-FFF2-40B4-BE49-F238E27FC236}">
                <a16:creationId xmlns:a16="http://schemas.microsoft.com/office/drawing/2014/main" id="{69C761F1-4569-4ACA-AC33-44A70DEBA3D3}"/>
              </a:ext>
            </a:extLst>
          </p:cNvPr>
          <p:cNvSpPr>
            <a:spLocks xmlns:a="http://schemas.openxmlformats.org/drawingml/2006/main" noGrp="1"/>
          </p:cNvSpPr>
          <p:nvPr/>
        </p:nvSpPr>
        <p:spPr>
          <a:xfrm xmlns:a="http://schemas.openxmlformats.org/drawingml/2006/main">
            <a:off x="6648450" y="3767138"/>
            <a:ext cx="468630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5A36F0F0-2F52-45E7-B272-EA69FFBDEBFC}"/>
              </a:ext>
            </a:extLst>
          </p:cNvPr>
          <p:cNvSpPr>
            <a:spLocks xmlns:a="http://schemas.openxmlformats.org/drawingml/2006/main" noGrp="1"/>
          </p:cNvSpPr>
          <p:nvPr/>
        </p:nvSpPr>
        <p:spPr>
          <a:xfrm xmlns:a="http://schemas.openxmlformats.org/drawingml/2006/main">
            <a:off x="6800850" y="3900488"/>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Amtliche Grundlage</a:t>
            </a:r>
          </a:p>
        </p:txBody>
      </p:sp>
      <p:sp>
        <p:nvSpPr>
          <p:cNvPr id="19" name="">
            <a:extLst xmlns:a="http://schemas.openxmlformats.org/drawingml/2006/main">
              <a:ext uri="{FF2B5EF4-FFF2-40B4-BE49-F238E27FC236}">
                <a16:creationId xmlns:a16="http://schemas.microsoft.com/office/drawing/2014/main" id="{005CFDD4-3731-4187-80E4-E336F36EF1A9}"/>
              </a:ext>
            </a:extLst>
          </p:cNvPr>
          <p:cNvSpPr>
            <a:spLocks xmlns:a="http://schemas.openxmlformats.org/drawingml/2006/main" noGrp="1"/>
          </p:cNvSpPr>
          <p:nvPr/>
        </p:nvSpPr>
        <p:spPr>
          <a:xfrm xmlns:a="http://schemas.openxmlformats.org/drawingml/2006/main">
            <a:off x="6800850" y="4338638"/>
            <a:ext cx="43815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 71 Abs. 2 Nr. 9 GVG; LG Oldenburg, richterlicher Geschäftsverteilungsplan 2026, Sonderturnus „Arzt“ (7./8. Zivilkammer).</a:t>
            </a:r>
          </a:p>
        </p:txBody>
      </p:sp>
      <p:sp>
        <p:nvSpPr>
          <p:cNvPr id="20" name="">
            <a:extLst xmlns:a="http://schemas.openxmlformats.org/drawingml/2006/main">
              <a:ext uri="{FF2B5EF4-FFF2-40B4-BE49-F238E27FC236}">
                <a16:creationId xmlns:a16="http://schemas.microsoft.com/office/drawing/2014/main" id="{D9012CD1-7BE4-4221-90B7-6DE46FD5C820}"/>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1" name="">
            <a:extLst xmlns:a="http://schemas.openxmlformats.org/drawingml/2006/main">
              <a:ext uri="{FF2B5EF4-FFF2-40B4-BE49-F238E27FC236}">
                <a16:creationId xmlns:a16="http://schemas.microsoft.com/office/drawing/2014/main" id="{12517CFD-2650-42BE-BEEB-98285439272C}"/>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Der Besuch wird zur Beobachtungsaufgabe: Welche Tatsachen, Beweisfragen und Vergleichssignale prägen den Termin?</a:t>
            </a:r>
          </a:p>
        </p:txBody>
      </p:sp>
    </p:spTree>
    <p:extLst>
      <p:ext uri="{BB962C8B-B14F-4D97-AF65-F5344CB8AC3E}">
        <p14:creationId xmlns:p14="http://schemas.microsoft.com/office/powerpoint/2010/main" val="43637646"/>
      </p:ext>
    </p:extLst>
  </p:cSld>
</p:sld>
</file>

<file path=ppt/slides/slide208.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Was passiert im Termin?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MÜNDLICHE VERHANDLUNG</a:t>
            </a:r>
            <a:endParaRPr/>
          </a:p>
        </p:txBody>
      </p:sp>
      <p:sp>
        <p:nvSpPr>
          <p:cNvPr id="4" name="">
            <a:extLst xmlns:a="http://schemas.openxmlformats.org/drawingml/2006/main">
              <a:ext uri="{FF2B5EF4-FFF2-40B4-BE49-F238E27FC236}">
                <a16:creationId xmlns:a16="http://schemas.microsoft.com/office/drawing/2014/main" id="{2A8EB937-5169-4B15-B49F-2F2F1FDECA9E}"/>
              </a:ext>
            </a:extLst>
          </p:cNvPr>
          <p:cNvSpPr>
            <a:spLocks xmlns:a="http://schemas.openxmlformats.org/drawingml/2006/main" noGrp="1"/>
          </p:cNvSpPr>
          <p:nvPr/>
        </p:nvSpPr>
        <p:spPr>
          <a:xfrm xmlns:a="http://schemas.openxmlformats.org/drawingml/2006/main">
            <a:off x="1809750" y="2038350"/>
            <a:ext cx="323850" cy="323850"/>
          </a:xfrm>
          <a:prstGeom xmlns:a="http://schemas.openxmlformats.org/drawingml/2006/main" prst="ellipse">
            <a:avLst/>
          </a:prstGeom>
          <a:solidFill xmlns:a="http://schemas.openxmlformats.org/drawingml/2006/main">
            <a:srgbClr val="00B2BB"/>
          </a:solidFill>
          <a:ln xmlns:a="http://schemas.openxmlformats.org/drawingml/2006/main" w="0">
            <a:solidFill>
              <a:srgbClr val="FFFFFF"/>
            </a:solidFill>
            <a:prstDash val="solid"/>
          </a:ln>
        </p:spPr>
      </p:sp>
      <p:sp>
        <p:nvSpPr>
          <p:cNvPr id="5" name="">
            <a:extLst xmlns:a="http://schemas.openxmlformats.org/drawingml/2006/main">
              <a:ext uri="{FF2B5EF4-FFF2-40B4-BE49-F238E27FC236}">
                <a16:creationId xmlns:a16="http://schemas.microsoft.com/office/drawing/2014/main" id="{4F41D37F-90E7-407E-98D7-D2BBA6B89CB0}"/>
              </a:ext>
            </a:extLst>
          </p:cNvPr>
          <p:cNvSpPr>
            <a:spLocks xmlns:a="http://schemas.openxmlformats.org/drawingml/2006/main" noGrp="1"/>
          </p:cNvSpPr>
          <p:nvPr/>
        </p:nvSpPr>
        <p:spPr>
          <a:xfrm xmlns:a="http://schemas.openxmlformats.org/drawingml/2006/main">
            <a:off x="1809750" y="20383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713" b="1">
                <a:solidFill>
                  <a:srgbClr val="FFFFFF"/>
                </a:solidFill>
              </a:defRPr>
            </a:pPr>
            <a:r>
              <a:rPr sz="713" b="1">
                <a:solidFill>
                  <a:srgbClr val="FFFFFF"/>
                </a:solidFill>
              </a:rPr>
              <a:t>1</a:t>
            </a:r>
          </a:p>
        </p:txBody>
      </p:sp>
      <p:sp>
        <p:nvSpPr>
          <p:cNvPr id="6" name="">
            <a:extLst xmlns:a="http://schemas.openxmlformats.org/drawingml/2006/main">
              <a:ext uri="{FF2B5EF4-FFF2-40B4-BE49-F238E27FC236}">
                <a16:creationId xmlns:a16="http://schemas.microsoft.com/office/drawing/2014/main" id="{D86BB04D-3557-4003-9897-7E75A261FC84}"/>
              </a:ext>
            </a:extLst>
          </p:cNvPr>
          <p:cNvSpPr>
            <a:spLocks xmlns:a="http://schemas.openxmlformats.org/drawingml/2006/main" noGrp="1"/>
          </p:cNvSpPr>
          <p:nvPr/>
        </p:nvSpPr>
        <p:spPr>
          <a:xfrm xmlns:a="http://schemas.openxmlformats.org/drawingml/2006/main">
            <a:off x="2266950" y="2000250"/>
            <a:ext cx="4171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25">
                <a:solidFill>
                  <a:srgbClr val="15232B"/>
                </a:solidFill>
              </a:defRPr>
            </a:pPr>
            <a:r>
              <a:rPr sz="1125">
                <a:solidFill>
                  <a:srgbClr val="15232B"/>
                </a:solidFill>
              </a:rPr>
              <a:t>Aufruf der Sache und Anwesenheit</a:t>
            </a:r>
          </a:p>
        </p:txBody>
      </p:sp>
      <p:sp>
        <p:nvSpPr>
          <p:cNvPr id="7" name="">
            <a:extLst xmlns:a="http://schemas.openxmlformats.org/drawingml/2006/main">
              <a:ext uri="{FF2B5EF4-FFF2-40B4-BE49-F238E27FC236}">
                <a16:creationId xmlns:a16="http://schemas.microsoft.com/office/drawing/2014/main" id="{F3BA25DD-3D17-4B81-A2D5-AB343AE6A8EC}"/>
              </a:ext>
            </a:extLst>
          </p:cNvPr>
          <p:cNvSpPr>
            <a:spLocks xmlns:a="http://schemas.openxmlformats.org/drawingml/2006/main" noGrp="1"/>
          </p:cNvSpPr>
          <p:nvPr/>
        </p:nvSpPr>
        <p:spPr>
          <a:xfrm xmlns:a="http://schemas.openxmlformats.org/drawingml/2006/main">
            <a:off x="1809750" y="2590800"/>
            <a:ext cx="323850" cy="323850"/>
          </a:xfrm>
          <a:prstGeom xmlns:a="http://schemas.openxmlformats.org/drawingml/2006/main" prst="ellipse">
            <a:avLst/>
          </a:prstGeom>
          <a:solidFill xmlns:a="http://schemas.openxmlformats.org/drawingml/2006/main">
            <a:srgbClr val="003F6B"/>
          </a:solidFill>
          <a:ln xmlns:a="http://schemas.openxmlformats.org/drawingml/2006/main" w="0">
            <a:solidFill>
              <a:srgbClr val="FFFFFF"/>
            </a:solidFill>
            <a:prstDash val="solid"/>
          </a:ln>
        </p:spPr>
      </p:sp>
      <p:sp>
        <p:nvSpPr>
          <p:cNvPr id="8" name="">
            <a:extLst xmlns:a="http://schemas.openxmlformats.org/drawingml/2006/main">
              <a:ext uri="{FF2B5EF4-FFF2-40B4-BE49-F238E27FC236}">
                <a16:creationId xmlns:a16="http://schemas.microsoft.com/office/drawing/2014/main" id="{9D100058-A0FB-4759-990F-4E509D1EA33E}"/>
              </a:ext>
            </a:extLst>
          </p:cNvPr>
          <p:cNvSpPr>
            <a:spLocks xmlns:a="http://schemas.openxmlformats.org/drawingml/2006/main" noGrp="1"/>
          </p:cNvSpPr>
          <p:nvPr/>
        </p:nvSpPr>
        <p:spPr>
          <a:xfrm xmlns:a="http://schemas.openxmlformats.org/drawingml/2006/main">
            <a:off x="1809750" y="259080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713" b="1">
                <a:solidFill>
                  <a:srgbClr val="FFFFFF"/>
                </a:solidFill>
              </a:defRPr>
            </a:pPr>
            <a:r>
              <a:rPr sz="713" b="1">
                <a:solidFill>
                  <a:srgbClr val="FFFFFF"/>
                </a:solidFill>
              </a:rPr>
              <a:t>2</a:t>
            </a:r>
          </a:p>
        </p:txBody>
      </p:sp>
      <p:sp>
        <p:nvSpPr>
          <p:cNvPr id="9" name="">
            <a:extLst xmlns:a="http://schemas.openxmlformats.org/drawingml/2006/main">
              <a:ext uri="{FF2B5EF4-FFF2-40B4-BE49-F238E27FC236}">
                <a16:creationId xmlns:a16="http://schemas.microsoft.com/office/drawing/2014/main" id="{9172B88F-E418-41E5-9F3F-00154643757F}"/>
              </a:ext>
            </a:extLst>
          </p:cNvPr>
          <p:cNvSpPr>
            <a:spLocks xmlns:a="http://schemas.openxmlformats.org/drawingml/2006/main" noGrp="1"/>
          </p:cNvSpPr>
          <p:nvPr/>
        </p:nvSpPr>
        <p:spPr>
          <a:xfrm xmlns:a="http://schemas.openxmlformats.org/drawingml/2006/main">
            <a:off x="2266950" y="2552700"/>
            <a:ext cx="4171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25">
                <a:solidFill>
                  <a:srgbClr val="15232B"/>
                </a:solidFill>
              </a:defRPr>
            </a:pPr>
            <a:r>
              <a:rPr sz="1125">
                <a:solidFill>
                  <a:srgbClr val="15232B"/>
                </a:solidFill>
              </a:rPr>
              <a:t>Güteversuch / Vergleichsgespräch</a:t>
            </a:r>
          </a:p>
        </p:txBody>
      </p:sp>
      <p:sp>
        <p:nvSpPr>
          <p:cNvPr id="10" name="">
            <a:extLst xmlns:a="http://schemas.openxmlformats.org/drawingml/2006/main">
              <a:ext uri="{FF2B5EF4-FFF2-40B4-BE49-F238E27FC236}">
                <a16:creationId xmlns:a16="http://schemas.microsoft.com/office/drawing/2014/main" id="{88584BDB-EA9A-4E5D-80C9-6B50E3A97A9B}"/>
              </a:ext>
            </a:extLst>
          </p:cNvPr>
          <p:cNvSpPr>
            <a:spLocks xmlns:a="http://schemas.openxmlformats.org/drawingml/2006/main" noGrp="1"/>
          </p:cNvSpPr>
          <p:nvPr/>
        </p:nvSpPr>
        <p:spPr>
          <a:xfrm xmlns:a="http://schemas.openxmlformats.org/drawingml/2006/main">
            <a:off x="1809750" y="3143250"/>
            <a:ext cx="323850" cy="323850"/>
          </a:xfrm>
          <a:prstGeom xmlns:a="http://schemas.openxmlformats.org/drawingml/2006/main" prst="ellipse">
            <a:avLst/>
          </a:prstGeom>
          <a:solidFill xmlns:a="http://schemas.openxmlformats.org/drawingml/2006/main">
            <a:srgbClr val="00B2BB"/>
          </a:solidFill>
          <a:ln xmlns:a="http://schemas.openxmlformats.org/drawingml/2006/main" w="0">
            <a:solidFill>
              <a:srgbClr val="FFFFFF"/>
            </a:solidFill>
            <a:prstDash val="solid"/>
          </a:ln>
        </p:spPr>
      </p:sp>
      <p:sp>
        <p:nvSpPr>
          <p:cNvPr id="11" name="">
            <a:extLst xmlns:a="http://schemas.openxmlformats.org/drawingml/2006/main">
              <a:ext uri="{FF2B5EF4-FFF2-40B4-BE49-F238E27FC236}">
                <a16:creationId xmlns:a16="http://schemas.microsoft.com/office/drawing/2014/main" id="{B9291C6B-F106-4A11-99BC-5EE33AFDD1BB}"/>
              </a:ext>
            </a:extLst>
          </p:cNvPr>
          <p:cNvSpPr>
            <a:spLocks xmlns:a="http://schemas.openxmlformats.org/drawingml/2006/main" noGrp="1"/>
          </p:cNvSpPr>
          <p:nvPr/>
        </p:nvSpPr>
        <p:spPr>
          <a:xfrm xmlns:a="http://schemas.openxmlformats.org/drawingml/2006/main">
            <a:off x="1809750" y="31432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713" b="1">
                <a:solidFill>
                  <a:srgbClr val="FFFFFF"/>
                </a:solidFill>
              </a:defRPr>
            </a:pPr>
            <a:r>
              <a:rPr sz="713" b="1">
                <a:solidFill>
                  <a:srgbClr val="FFFFFF"/>
                </a:solidFill>
              </a:rPr>
              <a:t>3</a:t>
            </a:r>
          </a:p>
        </p:txBody>
      </p:sp>
      <p:sp>
        <p:nvSpPr>
          <p:cNvPr id="12" name="">
            <a:extLst xmlns:a="http://schemas.openxmlformats.org/drawingml/2006/main">
              <a:ext uri="{FF2B5EF4-FFF2-40B4-BE49-F238E27FC236}">
                <a16:creationId xmlns:a16="http://schemas.microsoft.com/office/drawing/2014/main" id="{54C2F314-CEAB-4B28-A7A8-14E24CC9E725}"/>
              </a:ext>
            </a:extLst>
          </p:cNvPr>
          <p:cNvSpPr>
            <a:spLocks xmlns:a="http://schemas.openxmlformats.org/drawingml/2006/main" noGrp="1"/>
          </p:cNvSpPr>
          <p:nvPr/>
        </p:nvSpPr>
        <p:spPr>
          <a:xfrm xmlns:a="http://schemas.openxmlformats.org/drawingml/2006/main">
            <a:off x="2266950" y="3105150"/>
            <a:ext cx="4171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25">
                <a:solidFill>
                  <a:srgbClr val="15232B"/>
                </a:solidFill>
              </a:defRPr>
            </a:pPr>
            <a:r>
              <a:rPr sz="1125">
                <a:solidFill>
                  <a:srgbClr val="15232B"/>
                </a:solidFill>
              </a:rPr>
              <a:t>Erörterung von Tatsachen und Rechtslage</a:t>
            </a:r>
          </a:p>
        </p:txBody>
      </p:sp>
      <p:sp>
        <p:nvSpPr>
          <p:cNvPr id="13" name="">
            <a:extLst xmlns:a="http://schemas.openxmlformats.org/drawingml/2006/main">
              <a:ext uri="{FF2B5EF4-FFF2-40B4-BE49-F238E27FC236}">
                <a16:creationId xmlns:a16="http://schemas.microsoft.com/office/drawing/2014/main" id="{2B136C60-FDCD-4029-BEF4-B7E0A876A0CB}"/>
              </a:ext>
            </a:extLst>
          </p:cNvPr>
          <p:cNvSpPr>
            <a:spLocks xmlns:a="http://schemas.openxmlformats.org/drawingml/2006/main" noGrp="1"/>
          </p:cNvSpPr>
          <p:nvPr/>
        </p:nvSpPr>
        <p:spPr>
          <a:xfrm xmlns:a="http://schemas.openxmlformats.org/drawingml/2006/main">
            <a:off x="1809750" y="3695700"/>
            <a:ext cx="323850" cy="323850"/>
          </a:xfrm>
          <a:prstGeom xmlns:a="http://schemas.openxmlformats.org/drawingml/2006/main" prst="ellipse">
            <a:avLst/>
          </a:prstGeom>
          <a:solidFill xmlns:a="http://schemas.openxmlformats.org/drawingml/2006/main">
            <a:srgbClr val="003F6B"/>
          </a:solidFill>
          <a:ln xmlns:a="http://schemas.openxmlformats.org/drawingml/2006/main" w="0">
            <a:solidFill>
              <a:srgbClr val="FFFFFF"/>
            </a:solidFill>
            <a:prstDash val="solid"/>
          </a:ln>
        </p:spPr>
      </p:sp>
      <p:sp>
        <p:nvSpPr>
          <p:cNvPr id="14" name="">
            <a:extLst xmlns:a="http://schemas.openxmlformats.org/drawingml/2006/main">
              <a:ext uri="{FF2B5EF4-FFF2-40B4-BE49-F238E27FC236}">
                <a16:creationId xmlns:a16="http://schemas.microsoft.com/office/drawing/2014/main" id="{515CB00E-3697-4ACE-8FB5-6FB00238E463}"/>
              </a:ext>
            </a:extLst>
          </p:cNvPr>
          <p:cNvSpPr>
            <a:spLocks xmlns:a="http://schemas.openxmlformats.org/drawingml/2006/main" noGrp="1"/>
          </p:cNvSpPr>
          <p:nvPr/>
        </p:nvSpPr>
        <p:spPr>
          <a:xfrm xmlns:a="http://schemas.openxmlformats.org/drawingml/2006/main">
            <a:off x="1809750" y="369570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713" b="1">
                <a:solidFill>
                  <a:srgbClr val="FFFFFF"/>
                </a:solidFill>
              </a:defRPr>
            </a:pPr>
            <a:r>
              <a:rPr sz="713" b="1">
                <a:solidFill>
                  <a:srgbClr val="FFFFFF"/>
                </a:solidFill>
              </a:rPr>
              <a:t>4</a:t>
            </a:r>
          </a:p>
        </p:txBody>
      </p:sp>
      <p:sp>
        <p:nvSpPr>
          <p:cNvPr id="15" name="">
            <a:extLst xmlns:a="http://schemas.openxmlformats.org/drawingml/2006/main">
              <a:ext uri="{FF2B5EF4-FFF2-40B4-BE49-F238E27FC236}">
                <a16:creationId xmlns:a16="http://schemas.microsoft.com/office/drawing/2014/main" id="{A312D974-6C58-4D5D-9A2D-45425C3C1468}"/>
              </a:ext>
            </a:extLst>
          </p:cNvPr>
          <p:cNvSpPr>
            <a:spLocks xmlns:a="http://schemas.openxmlformats.org/drawingml/2006/main" noGrp="1"/>
          </p:cNvSpPr>
          <p:nvPr/>
        </p:nvSpPr>
        <p:spPr>
          <a:xfrm xmlns:a="http://schemas.openxmlformats.org/drawingml/2006/main">
            <a:off x="2266950" y="3657600"/>
            <a:ext cx="4171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25">
                <a:solidFill>
                  <a:srgbClr val="15232B"/>
                </a:solidFill>
              </a:defRPr>
            </a:pPr>
            <a:r>
              <a:rPr sz="1125">
                <a:solidFill>
                  <a:srgbClr val="15232B"/>
                </a:solidFill>
              </a:rPr>
              <a:t>gegebenenfalls Anhörung von Parteien, Zeugen oder Sachverständigen</a:t>
            </a:r>
          </a:p>
        </p:txBody>
      </p:sp>
      <p:sp>
        <p:nvSpPr>
          <p:cNvPr id="16" name="">
            <a:extLst xmlns:a="http://schemas.openxmlformats.org/drawingml/2006/main">
              <a:ext uri="{FF2B5EF4-FFF2-40B4-BE49-F238E27FC236}">
                <a16:creationId xmlns:a16="http://schemas.microsoft.com/office/drawing/2014/main" id="{A40E4021-DF50-4DB1-8D2B-2A94236D4B94}"/>
              </a:ext>
            </a:extLst>
          </p:cNvPr>
          <p:cNvSpPr>
            <a:spLocks xmlns:a="http://schemas.openxmlformats.org/drawingml/2006/main" noGrp="1"/>
          </p:cNvSpPr>
          <p:nvPr/>
        </p:nvSpPr>
        <p:spPr>
          <a:xfrm xmlns:a="http://schemas.openxmlformats.org/drawingml/2006/main">
            <a:off x="1809750" y="4248150"/>
            <a:ext cx="323850" cy="323850"/>
          </a:xfrm>
          <a:prstGeom xmlns:a="http://schemas.openxmlformats.org/drawingml/2006/main" prst="ellipse">
            <a:avLst/>
          </a:prstGeom>
          <a:solidFill xmlns:a="http://schemas.openxmlformats.org/drawingml/2006/main">
            <a:srgbClr val="00B2BB"/>
          </a:solidFill>
          <a:ln xmlns:a="http://schemas.openxmlformats.org/drawingml/2006/main" w="0">
            <a:solidFill>
              <a:srgbClr val="FFFFFF"/>
            </a:solidFill>
            <a:prstDash val="solid"/>
          </a:ln>
        </p:spPr>
      </p:sp>
      <p:sp>
        <p:nvSpPr>
          <p:cNvPr id="17" name="">
            <a:extLst xmlns:a="http://schemas.openxmlformats.org/drawingml/2006/main">
              <a:ext uri="{FF2B5EF4-FFF2-40B4-BE49-F238E27FC236}">
                <a16:creationId xmlns:a16="http://schemas.microsoft.com/office/drawing/2014/main" id="{E50F9FB9-E805-4868-A939-CCA8B3A39737}"/>
              </a:ext>
            </a:extLst>
          </p:cNvPr>
          <p:cNvSpPr>
            <a:spLocks xmlns:a="http://schemas.openxmlformats.org/drawingml/2006/main" noGrp="1"/>
          </p:cNvSpPr>
          <p:nvPr/>
        </p:nvSpPr>
        <p:spPr>
          <a:xfrm xmlns:a="http://schemas.openxmlformats.org/drawingml/2006/main">
            <a:off x="1809750" y="42481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713" b="1">
                <a:solidFill>
                  <a:srgbClr val="FFFFFF"/>
                </a:solidFill>
              </a:defRPr>
            </a:pPr>
            <a:r>
              <a:rPr sz="713" b="1">
                <a:solidFill>
                  <a:srgbClr val="FFFFFF"/>
                </a:solidFill>
              </a:rPr>
              <a:t>5</a:t>
            </a:r>
          </a:p>
        </p:txBody>
      </p:sp>
      <p:sp>
        <p:nvSpPr>
          <p:cNvPr id="18" name="">
            <a:extLst xmlns:a="http://schemas.openxmlformats.org/drawingml/2006/main">
              <a:ext uri="{FF2B5EF4-FFF2-40B4-BE49-F238E27FC236}">
                <a16:creationId xmlns:a16="http://schemas.microsoft.com/office/drawing/2014/main" id="{18649784-DDA3-46DD-83F7-5F972BA7FB20}"/>
              </a:ext>
            </a:extLst>
          </p:cNvPr>
          <p:cNvSpPr>
            <a:spLocks xmlns:a="http://schemas.openxmlformats.org/drawingml/2006/main" noGrp="1"/>
          </p:cNvSpPr>
          <p:nvPr/>
        </p:nvSpPr>
        <p:spPr>
          <a:xfrm xmlns:a="http://schemas.openxmlformats.org/drawingml/2006/main">
            <a:off x="2266950" y="4210050"/>
            <a:ext cx="4171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25">
                <a:solidFill>
                  <a:srgbClr val="15232B"/>
                </a:solidFill>
              </a:defRPr>
            </a:pPr>
            <a:r>
              <a:rPr sz="1125">
                <a:solidFill>
                  <a:srgbClr val="15232B"/>
                </a:solidFill>
              </a:rPr>
              <a:t>Anträge; Termin zur Verkündung oder weiterer Beweis</a:t>
            </a:r>
          </a:p>
        </p:txBody>
      </p:sp>
      <p:sp>
        <p:nvSpPr>
          <p:cNvPr id="19" name="">
            <a:extLst xmlns:a="http://schemas.openxmlformats.org/drawingml/2006/main">
              <a:ext uri="{FF2B5EF4-FFF2-40B4-BE49-F238E27FC236}">
                <a16:creationId xmlns:a16="http://schemas.microsoft.com/office/drawing/2014/main" id="{BCE8EB17-F82E-425E-BAA0-19B52B36A149}"/>
              </a:ext>
            </a:extLst>
          </p:cNvPr>
          <p:cNvSpPr>
            <a:spLocks xmlns:a="http://schemas.openxmlformats.org/drawingml/2006/main" noGrp="1"/>
          </p:cNvSpPr>
          <p:nvPr/>
        </p:nvSpPr>
        <p:spPr>
          <a:xfrm xmlns:a="http://schemas.openxmlformats.org/drawingml/2006/main">
            <a:off x="6705600" y="2038350"/>
            <a:ext cx="323850" cy="323850"/>
          </a:xfrm>
          <a:prstGeom xmlns:a="http://schemas.openxmlformats.org/drawingml/2006/main" prst="ellipse">
            <a:avLst/>
          </a:prstGeom>
          <a:solidFill xmlns:a="http://schemas.openxmlformats.org/drawingml/2006/main">
            <a:srgbClr val="00B2BB"/>
          </a:solidFill>
          <a:ln xmlns:a="http://schemas.openxmlformats.org/drawingml/2006/main" w="0">
            <a:solidFill>
              <a:srgbClr val="FFFFFF"/>
            </a:solidFill>
            <a:prstDash val="solid"/>
          </a:ln>
        </p:spPr>
      </p:sp>
      <p:sp>
        <p:nvSpPr>
          <p:cNvPr id="20" name="">
            <a:extLst xmlns:a="http://schemas.openxmlformats.org/drawingml/2006/main">
              <a:ext uri="{FF2B5EF4-FFF2-40B4-BE49-F238E27FC236}">
                <a16:creationId xmlns:a16="http://schemas.microsoft.com/office/drawing/2014/main" id="{7D726D4F-E147-402F-A2C2-0F7FA3BAAB6E}"/>
              </a:ext>
            </a:extLst>
          </p:cNvPr>
          <p:cNvSpPr>
            <a:spLocks xmlns:a="http://schemas.openxmlformats.org/drawingml/2006/main" noGrp="1"/>
          </p:cNvSpPr>
          <p:nvPr/>
        </p:nvSpPr>
        <p:spPr>
          <a:xfrm xmlns:a="http://schemas.openxmlformats.org/drawingml/2006/main">
            <a:off x="6705600" y="20383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713" b="1">
                <a:solidFill>
                  <a:srgbClr val="FFFFFF"/>
                </a:solidFill>
              </a:defRPr>
            </a:pPr>
            <a:r>
              <a:rPr sz="713" b="1">
                <a:solidFill>
                  <a:srgbClr val="FFFFFF"/>
                </a:solidFill>
              </a:rPr>
              <a:t>6</a:t>
            </a:r>
          </a:p>
        </p:txBody>
      </p:sp>
      <p:sp>
        <p:nvSpPr>
          <p:cNvPr id="21" name="">
            <a:extLst xmlns:a="http://schemas.openxmlformats.org/drawingml/2006/main">
              <a:ext uri="{FF2B5EF4-FFF2-40B4-BE49-F238E27FC236}">
                <a16:creationId xmlns:a16="http://schemas.microsoft.com/office/drawing/2014/main" id="{E14A6ABC-2CC4-4F4B-8ABA-BF3365B264BD}"/>
              </a:ext>
            </a:extLst>
          </p:cNvPr>
          <p:cNvSpPr>
            <a:spLocks xmlns:a="http://schemas.openxmlformats.org/drawingml/2006/main" noGrp="1"/>
          </p:cNvSpPr>
          <p:nvPr/>
        </p:nvSpPr>
        <p:spPr>
          <a:xfrm xmlns:a="http://schemas.openxmlformats.org/drawingml/2006/main">
            <a:off x="7162800" y="2000250"/>
            <a:ext cx="4171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25">
                <a:solidFill>
                  <a:srgbClr val="15232B"/>
                </a:solidFill>
              </a:defRPr>
            </a:pPr>
            <a:r>
              <a:rPr sz="1125">
                <a:solidFill>
                  <a:srgbClr val="15232B"/>
                </a:solidFill>
              </a:rPr>
              <a:t>pünktlich, vorbereitet, Rollenklärung</a:t>
            </a:r>
          </a:p>
        </p:txBody>
      </p:sp>
      <p:sp>
        <p:nvSpPr>
          <p:cNvPr id="22" name="">
            <a:extLst xmlns:a="http://schemas.openxmlformats.org/drawingml/2006/main">
              <a:ext uri="{FF2B5EF4-FFF2-40B4-BE49-F238E27FC236}">
                <a16:creationId xmlns:a16="http://schemas.microsoft.com/office/drawing/2014/main" id="{C45D19F4-EE24-4167-B680-D8C3C37BF522}"/>
              </a:ext>
            </a:extLst>
          </p:cNvPr>
          <p:cNvSpPr>
            <a:spLocks xmlns:a="http://schemas.openxmlformats.org/drawingml/2006/main" noGrp="1"/>
          </p:cNvSpPr>
          <p:nvPr/>
        </p:nvSpPr>
        <p:spPr>
          <a:xfrm xmlns:a="http://schemas.openxmlformats.org/drawingml/2006/main">
            <a:off x="6705600" y="2590800"/>
            <a:ext cx="323850" cy="323850"/>
          </a:xfrm>
          <a:prstGeom xmlns:a="http://schemas.openxmlformats.org/drawingml/2006/main" prst="ellipse">
            <a:avLst/>
          </a:prstGeom>
          <a:solidFill xmlns:a="http://schemas.openxmlformats.org/drawingml/2006/main">
            <a:srgbClr val="003F6B"/>
          </a:solidFill>
          <a:ln xmlns:a="http://schemas.openxmlformats.org/drawingml/2006/main" w="0">
            <a:solidFill>
              <a:srgbClr val="FFFFFF"/>
            </a:solidFill>
            <a:prstDash val="solid"/>
          </a:ln>
        </p:spPr>
      </p:sp>
      <p:sp>
        <p:nvSpPr>
          <p:cNvPr id="23" name="">
            <a:extLst xmlns:a="http://schemas.openxmlformats.org/drawingml/2006/main">
              <a:ext uri="{FF2B5EF4-FFF2-40B4-BE49-F238E27FC236}">
                <a16:creationId xmlns:a16="http://schemas.microsoft.com/office/drawing/2014/main" id="{E1543997-F647-46DB-A6AB-0DA35FC4A45A}"/>
              </a:ext>
            </a:extLst>
          </p:cNvPr>
          <p:cNvSpPr>
            <a:spLocks xmlns:a="http://schemas.openxmlformats.org/drawingml/2006/main" noGrp="1"/>
          </p:cNvSpPr>
          <p:nvPr/>
        </p:nvSpPr>
        <p:spPr>
          <a:xfrm xmlns:a="http://schemas.openxmlformats.org/drawingml/2006/main">
            <a:off x="6705600" y="259080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713" b="1">
                <a:solidFill>
                  <a:srgbClr val="FFFFFF"/>
                </a:solidFill>
              </a:defRPr>
            </a:pPr>
            <a:r>
              <a:rPr sz="713" b="1">
                <a:solidFill>
                  <a:srgbClr val="FFFFFF"/>
                </a:solidFill>
              </a:rPr>
              <a:t>7</a:t>
            </a:r>
          </a:p>
        </p:txBody>
      </p:sp>
      <p:sp>
        <p:nvSpPr>
          <p:cNvPr id="24" name="">
            <a:extLst xmlns:a="http://schemas.openxmlformats.org/drawingml/2006/main">
              <a:ext uri="{FF2B5EF4-FFF2-40B4-BE49-F238E27FC236}">
                <a16:creationId xmlns:a16="http://schemas.microsoft.com/office/drawing/2014/main" id="{F9665794-2D4B-4766-AE5C-DF066768A5C6}"/>
              </a:ext>
            </a:extLst>
          </p:cNvPr>
          <p:cNvSpPr>
            <a:spLocks xmlns:a="http://schemas.openxmlformats.org/drawingml/2006/main" noGrp="1"/>
          </p:cNvSpPr>
          <p:nvPr/>
        </p:nvSpPr>
        <p:spPr>
          <a:xfrm xmlns:a="http://schemas.openxmlformats.org/drawingml/2006/main">
            <a:off x="7162800" y="2552700"/>
            <a:ext cx="4171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25">
                <a:solidFill>
                  <a:srgbClr val="15232B"/>
                </a:solidFill>
              </a:defRPr>
            </a:pPr>
            <a:r>
              <a:rPr sz="1125">
                <a:solidFill>
                  <a:srgbClr val="15232B"/>
                </a:solidFill>
              </a:rPr>
              <a:t>Frage genau beantworten</a:t>
            </a:r>
          </a:p>
        </p:txBody>
      </p:sp>
      <p:sp>
        <p:nvSpPr>
          <p:cNvPr id="25" name="">
            <a:extLst xmlns:a="http://schemas.openxmlformats.org/drawingml/2006/main">
              <a:ext uri="{FF2B5EF4-FFF2-40B4-BE49-F238E27FC236}">
                <a16:creationId xmlns:a16="http://schemas.microsoft.com/office/drawing/2014/main" id="{4BA192D8-D955-479A-9ADA-88C027036C1A}"/>
              </a:ext>
            </a:extLst>
          </p:cNvPr>
          <p:cNvSpPr>
            <a:spLocks xmlns:a="http://schemas.openxmlformats.org/drawingml/2006/main" noGrp="1"/>
          </p:cNvSpPr>
          <p:nvPr/>
        </p:nvSpPr>
        <p:spPr>
          <a:xfrm xmlns:a="http://schemas.openxmlformats.org/drawingml/2006/main">
            <a:off x="6705600" y="3143250"/>
            <a:ext cx="323850" cy="323850"/>
          </a:xfrm>
          <a:prstGeom xmlns:a="http://schemas.openxmlformats.org/drawingml/2006/main" prst="ellipse">
            <a:avLst/>
          </a:prstGeom>
          <a:solidFill xmlns:a="http://schemas.openxmlformats.org/drawingml/2006/main">
            <a:srgbClr val="00B2BB"/>
          </a:solidFill>
          <a:ln xmlns:a="http://schemas.openxmlformats.org/drawingml/2006/main" w="0">
            <a:solidFill>
              <a:srgbClr val="FFFFFF"/>
            </a:solidFill>
            <a:prstDash val="solid"/>
          </a:ln>
        </p:spPr>
      </p:sp>
      <p:sp>
        <p:nvSpPr>
          <p:cNvPr id="26" name="">
            <a:extLst xmlns:a="http://schemas.openxmlformats.org/drawingml/2006/main">
              <a:ext uri="{FF2B5EF4-FFF2-40B4-BE49-F238E27FC236}">
                <a16:creationId xmlns:a16="http://schemas.microsoft.com/office/drawing/2014/main" id="{D857F315-5944-411C-BC6C-EF97F1103A80}"/>
              </a:ext>
            </a:extLst>
          </p:cNvPr>
          <p:cNvSpPr>
            <a:spLocks xmlns:a="http://schemas.openxmlformats.org/drawingml/2006/main" noGrp="1"/>
          </p:cNvSpPr>
          <p:nvPr/>
        </p:nvSpPr>
        <p:spPr>
          <a:xfrm xmlns:a="http://schemas.openxmlformats.org/drawingml/2006/main">
            <a:off x="6705600" y="31432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713" b="1">
                <a:solidFill>
                  <a:srgbClr val="FFFFFF"/>
                </a:solidFill>
              </a:defRPr>
            </a:pPr>
            <a:r>
              <a:rPr sz="713" b="1">
                <a:solidFill>
                  <a:srgbClr val="FFFFFF"/>
                </a:solidFill>
              </a:rPr>
              <a:t>8</a:t>
            </a:r>
          </a:p>
        </p:txBody>
      </p:sp>
      <p:sp>
        <p:nvSpPr>
          <p:cNvPr id="27" name="">
            <a:extLst xmlns:a="http://schemas.openxmlformats.org/drawingml/2006/main">
              <a:ext uri="{FF2B5EF4-FFF2-40B4-BE49-F238E27FC236}">
                <a16:creationId xmlns:a16="http://schemas.microsoft.com/office/drawing/2014/main" id="{0607149A-6198-4ABD-9EED-9D62D4427F8A}"/>
              </a:ext>
            </a:extLst>
          </p:cNvPr>
          <p:cNvSpPr>
            <a:spLocks xmlns:a="http://schemas.openxmlformats.org/drawingml/2006/main" noGrp="1"/>
          </p:cNvSpPr>
          <p:nvPr/>
        </p:nvSpPr>
        <p:spPr>
          <a:xfrm xmlns:a="http://schemas.openxmlformats.org/drawingml/2006/main">
            <a:off x="7162800" y="3105150"/>
            <a:ext cx="4171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25">
                <a:solidFill>
                  <a:srgbClr val="15232B"/>
                </a:solidFill>
              </a:defRPr>
            </a:pPr>
            <a:r>
              <a:rPr sz="1125">
                <a:solidFill>
                  <a:srgbClr val="15232B"/>
                </a:solidFill>
              </a:rPr>
              <a:t>Erinnerung und Aktenwissen trennen</a:t>
            </a:r>
          </a:p>
        </p:txBody>
      </p:sp>
      <p:sp>
        <p:nvSpPr>
          <p:cNvPr id="28" name="">
            <a:extLst xmlns:a="http://schemas.openxmlformats.org/drawingml/2006/main">
              <a:ext uri="{FF2B5EF4-FFF2-40B4-BE49-F238E27FC236}">
                <a16:creationId xmlns:a16="http://schemas.microsoft.com/office/drawing/2014/main" id="{FE004C1F-AC45-4288-BD0B-B48AFA7695C8}"/>
              </a:ext>
            </a:extLst>
          </p:cNvPr>
          <p:cNvSpPr>
            <a:spLocks xmlns:a="http://schemas.openxmlformats.org/drawingml/2006/main" noGrp="1"/>
          </p:cNvSpPr>
          <p:nvPr/>
        </p:nvSpPr>
        <p:spPr>
          <a:xfrm xmlns:a="http://schemas.openxmlformats.org/drawingml/2006/main">
            <a:off x="6705600" y="3695700"/>
            <a:ext cx="323850" cy="323850"/>
          </a:xfrm>
          <a:prstGeom xmlns:a="http://schemas.openxmlformats.org/drawingml/2006/main" prst="ellipse">
            <a:avLst/>
          </a:prstGeom>
          <a:solidFill xmlns:a="http://schemas.openxmlformats.org/drawingml/2006/main">
            <a:srgbClr val="003F6B"/>
          </a:solidFill>
          <a:ln xmlns:a="http://schemas.openxmlformats.org/drawingml/2006/main" w="0">
            <a:solidFill>
              <a:srgbClr val="FFFFFF"/>
            </a:solidFill>
            <a:prstDash val="solid"/>
          </a:ln>
        </p:spPr>
      </p:sp>
      <p:sp>
        <p:nvSpPr>
          <p:cNvPr id="29" name="">
            <a:extLst xmlns:a="http://schemas.openxmlformats.org/drawingml/2006/main">
              <a:ext uri="{FF2B5EF4-FFF2-40B4-BE49-F238E27FC236}">
                <a16:creationId xmlns:a16="http://schemas.microsoft.com/office/drawing/2014/main" id="{9B781739-828C-4CBD-8E27-A77A697FC514}"/>
              </a:ext>
            </a:extLst>
          </p:cNvPr>
          <p:cNvSpPr>
            <a:spLocks xmlns:a="http://schemas.openxmlformats.org/drawingml/2006/main" noGrp="1"/>
          </p:cNvSpPr>
          <p:nvPr/>
        </p:nvSpPr>
        <p:spPr>
          <a:xfrm xmlns:a="http://schemas.openxmlformats.org/drawingml/2006/main">
            <a:off x="6705600" y="369570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713" b="1">
                <a:solidFill>
                  <a:srgbClr val="FFFFFF"/>
                </a:solidFill>
              </a:defRPr>
            </a:pPr>
            <a:r>
              <a:rPr sz="713" b="1">
                <a:solidFill>
                  <a:srgbClr val="FFFFFF"/>
                </a:solidFill>
              </a:rPr>
              <a:t>9</a:t>
            </a:r>
          </a:p>
        </p:txBody>
      </p:sp>
      <p:sp>
        <p:nvSpPr>
          <p:cNvPr id="30" name="">
            <a:extLst xmlns:a="http://schemas.openxmlformats.org/drawingml/2006/main">
              <a:ext uri="{FF2B5EF4-FFF2-40B4-BE49-F238E27FC236}">
                <a16:creationId xmlns:a16="http://schemas.microsoft.com/office/drawing/2014/main" id="{5C1E0DB4-B2E4-4241-B23D-7DE7702AF059}"/>
              </a:ext>
            </a:extLst>
          </p:cNvPr>
          <p:cNvSpPr>
            <a:spLocks xmlns:a="http://schemas.openxmlformats.org/drawingml/2006/main" noGrp="1"/>
          </p:cNvSpPr>
          <p:nvPr/>
        </p:nvSpPr>
        <p:spPr>
          <a:xfrm xmlns:a="http://schemas.openxmlformats.org/drawingml/2006/main">
            <a:off x="7162800" y="3657600"/>
            <a:ext cx="4171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25">
                <a:solidFill>
                  <a:srgbClr val="15232B"/>
                </a:solidFill>
              </a:defRPr>
            </a:pPr>
            <a:r>
              <a:rPr sz="1125">
                <a:solidFill>
                  <a:srgbClr val="15232B"/>
                </a:solidFill>
              </a:rPr>
              <a:t>keine medizinische Vorlesung statt Antwort</a:t>
            </a:r>
          </a:p>
        </p:txBody>
      </p:sp>
      <p:sp>
        <p:nvSpPr>
          <p:cNvPr id="31" name="">
            <a:extLst xmlns:a="http://schemas.openxmlformats.org/drawingml/2006/main">
              <a:ext uri="{FF2B5EF4-FFF2-40B4-BE49-F238E27FC236}">
                <a16:creationId xmlns:a16="http://schemas.microsoft.com/office/drawing/2014/main" id="{CBA3DD8D-6274-45EA-826D-FBDB5FAB5B5C}"/>
              </a:ext>
            </a:extLst>
          </p:cNvPr>
          <p:cNvSpPr>
            <a:spLocks xmlns:a="http://schemas.openxmlformats.org/drawingml/2006/main" noGrp="1"/>
          </p:cNvSpPr>
          <p:nvPr/>
        </p:nvSpPr>
        <p:spPr>
          <a:xfrm xmlns:a="http://schemas.openxmlformats.org/drawingml/2006/main">
            <a:off x="6705600" y="4248150"/>
            <a:ext cx="323850" cy="323850"/>
          </a:xfrm>
          <a:prstGeom xmlns:a="http://schemas.openxmlformats.org/drawingml/2006/main" prst="ellipse">
            <a:avLst/>
          </a:prstGeom>
          <a:solidFill xmlns:a="http://schemas.openxmlformats.org/drawingml/2006/main">
            <a:srgbClr val="00B2BB"/>
          </a:solidFill>
          <a:ln xmlns:a="http://schemas.openxmlformats.org/drawingml/2006/main" w="0">
            <a:solidFill>
              <a:srgbClr val="FFFFFF"/>
            </a:solidFill>
            <a:prstDash val="solid"/>
          </a:ln>
        </p:spPr>
      </p:sp>
      <p:sp>
        <p:nvSpPr>
          <p:cNvPr id="32" name="">
            <a:extLst xmlns:a="http://schemas.openxmlformats.org/drawingml/2006/main">
              <a:ext uri="{FF2B5EF4-FFF2-40B4-BE49-F238E27FC236}">
                <a16:creationId xmlns:a16="http://schemas.microsoft.com/office/drawing/2014/main" id="{7B1F0F5B-88AA-4AD3-BE11-E1C0F1F22641}"/>
              </a:ext>
            </a:extLst>
          </p:cNvPr>
          <p:cNvSpPr>
            <a:spLocks xmlns:a="http://schemas.openxmlformats.org/drawingml/2006/main" noGrp="1"/>
          </p:cNvSpPr>
          <p:nvPr/>
        </p:nvSpPr>
        <p:spPr>
          <a:xfrm xmlns:a="http://schemas.openxmlformats.org/drawingml/2006/main">
            <a:off x="6705600" y="42481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713" b="1">
                <a:solidFill>
                  <a:srgbClr val="FFFFFF"/>
                </a:solidFill>
              </a:defRPr>
            </a:pPr>
            <a:r>
              <a:rPr sz="713" b="1">
                <a:solidFill>
                  <a:srgbClr val="FFFFFF"/>
                </a:solidFill>
              </a:rPr>
              <a:t>10</a:t>
            </a:r>
          </a:p>
        </p:txBody>
      </p:sp>
      <p:sp>
        <p:nvSpPr>
          <p:cNvPr id="33" name="">
            <a:extLst xmlns:a="http://schemas.openxmlformats.org/drawingml/2006/main">
              <a:ext uri="{FF2B5EF4-FFF2-40B4-BE49-F238E27FC236}">
                <a16:creationId xmlns:a16="http://schemas.microsoft.com/office/drawing/2014/main" id="{80C7E6D0-754D-42DE-B0CE-174E318ECACD}"/>
              </a:ext>
            </a:extLst>
          </p:cNvPr>
          <p:cNvSpPr>
            <a:spLocks xmlns:a="http://schemas.openxmlformats.org/drawingml/2006/main" noGrp="1"/>
          </p:cNvSpPr>
          <p:nvPr/>
        </p:nvSpPr>
        <p:spPr>
          <a:xfrm xmlns:a="http://schemas.openxmlformats.org/drawingml/2006/main">
            <a:off x="7162800" y="4210050"/>
            <a:ext cx="4171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25">
                <a:solidFill>
                  <a:srgbClr val="15232B"/>
                </a:solidFill>
              </a:defRPr>
            </a:pPr>
            <a:r>
              <a:rPr sz="1125">
                <a:solidFill>
                  <a:srgbClr val="15232B"/>
                </a:solidFill>
              </a:rPr>
              <a:t>Unsicherheit kenntlich machen</a:t>
            </a:r>
          </a:p>
        </p:txBody>
      </p:sp>
      <p:sp>
        <p:nvSpPr>
          <p:cNvPr id="34" name="">
            <a:extLst xmlns:a="http://schemas.openxmlformats.org/drawingml/2006/main">
              <a:ext uri="{FF2B5EF4-FFF2-40B4-BE49-F238E27FC236}">
                <a16:creationId xmlns:a16="http://schemas.microsoft.com/office/drawing/2014/main" id="{97D7B28A-493B-4088-9FE7-5CF2368FF664}"/>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35" name="">
            <a:extLst xmlns:a="http://schemas.openxmlformats.org/drawingml/2006/main">
              <a:ext uri="{FF2B5EF4-FFF2-40B4-BE49-F238E27FC236}">
                <a16:creationId xmlns:a16="http://schemas.microsoft.com/office/drawing/2014/main" id="{F883EB9D-6992-49F3-907A-AAA9D55B560B}"/>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Glaubwürdigkeit entsteht durch Präzision und Grenzen – nicht durch absolute Sicherheit.</a:t>
            </a:r>
          </a:p>
        </p:txBody>
      </p:sp>
    </p:spTree>
    <p:extLst>
      <p:ext uri="{BB962C8B-B14F-4D97-AF65-F5344CB8AC3E}">
        <p14:creationId xmlns:p14="http://schemas.microsoft.com/office/powerpoint/2010/main" val="43637646"/>
      </p:ext>
    </p:extLst>
  </p:cSld>
</p:sld>
</file>

<file path=ppt/slides/slide209.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Simulation: Arzthaftungskammer</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30 MINUTEN</a:t>
            </a:r>
            <a:endParaRPr/>
          </a:p>
        </p:txBody>
      </p:sp>
      <p:sp>
        <p:nvSpPr>
          <p:cNvPr id="4" name="">
            <a:extLst xmlns:a="http://schemas.openxmlformats.org/drawingml/2006/main">
              <a:ext uri="{FF2B5EF4-FFF2-40B4-BE49-F238E27FC236}">
                <a16:creationId xmlns:a16="http://schemas.microsoft.com/office/drawing/2014/main" id="{5630C79B-CB18-42AD-9FA9-BA6BC8D29AC0}"/>
              </a:ext>
            </a:extLst>
          </p:cNvPr>
          <p:cNvSpPr>
            <a:spLocks xmlns:a="http://schemas.openxmlformats.org/drawingml/2006/main" noGrp="1"/>
          </p:cNvSpPr>
          <p:nvPr/>
        </p:nvSpPr>
        <p:spPr>
          <a:xfrm xmlns:a="http://schemas.openxmlformats.org/drawingml/2006/main">
            <a:off x="1809750" y="1952625"/>
            <a:ext cx="4429125" cy="3276600"/>
          </a:xfrm>
          <a:prstGeom xmlns:a="http://schemas.openxmlformats.org/drawingml/2006/main" prst="roundRect">
            <a:avLst>
              <a:gd name="adj" fmla="val 2326"/>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C850619D-49E4-452D-BCC1-D4317CD98819}"/>
              </a:ext>
            </a:extLst>
          </p:cNvPr>
          <p:cNvSpPr>
            <a:spLocks xmlns:a="http://schemas.openxmlformats.org/drawingml/2006/main" noGrp="1"/>
          </p:cNvSpPr>
          <p:nvPr/>
        </p:nvSpPr>
        <p:spPr>
          <a:xfrm xmlns:a="http://schemas.openxmlformats.org/drawingml/2006/main">
            <a:off x="1809750" y="1952625"/>
            <a:ext cx="4429125" cy="76200"/>
          </a:xfrm>
          <a:prstGeom xmlns:a="http://schemas.openxmlformats.org/drawingml/2006/main" prst="rect">
            <a:avLst/>
          </a:prstGeom>
          <a:solidFill xmlns:a="http://schemas.openxmlformats.org/drawingml/2006/main">
            <a:srgbClr val="D53D0E"/>
          </a:solidFill>
          <a:ln xmlns:a="http://schemas.openxmlformats.org/drawingml/2006/main" w="0">
            <a:solidFill>
              <a:srgbClr val="D53D0E"/>
            </a:solidFill>
            <a:prstDash val="solid"/>
          </a:ln>
        </p:spPr>
      </p:sp>
      <p:sp>
        <p:nvSpPr>
          <p:cNvPr id="6" name="">
            <a:extLst xmlns:a="http://schemas.openxmlformats.org/drawingml/2006/main">
              <a:ext uri="{FF2B5EF4-FFF2-40B4-BE49-F238E27FC236}">
                <a16:creationId xmlns:a16="http://schemas.microsoft.com/office/drawing/2014/main" id="{55FEBF22-7D5F-40AA-95C0-6F4D5F5868B8}"/>
              </a:ext>
            </a:extLst>
          </p:cNvPr>
          <p:cNvSpPr>
            <a:spLocks xmlns:a="http://schemas.openxmlformats.org/drawingml/2006/main" noGrp="1"/>
          </p:cNvSpPr>
          <p:nvPr/>
        </p:nvSpPr>
        <p:spPr>
          <a:xfrm xmlns:a="http://schemas.openxmlformats.org/drawingml/2006/main">
            <a:off x="1962150" y="2085975"/>
            <a:ext cx="41243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350" b="1">
                <a:solidFill>
                  <a:srgbClr val="003F6B"/>
                </a:solidFill>
              </a:defRPr>
            </a:pPr>
            <a:r>
              <a:rPr sz="1350" b="1">
                <a:solidFill>
                  <a:srgbClr val="003F6B"/>
                </a:solidFill>
              </a:rPr>
              <a:t>Szenario</a:t>
            </a:r>
          </a:p>
        </p:txBody>
      </p:sp>
      <p:sp>
        <p:nvSpPr>
          <p:cNvPr id="7" name="">
            <a:extLst xmlns:a="http://schemas.openxmlformats.org/drawingml/2006/main">
              <a:ext uri="{FF2B5EF4-FFF2-40B4-BE49-F238E27FC236}">
                <a16:creationId xmlns:a16="http://schemas.microsoft.com/office/drawing/2014/main" id="{B52F0656-A7C2-4B74-AABC-64B31AF440B8}"/>
              </a:ext>
            </a:extLst>
          </p:cNvPr>
          <p:cNvSpPr>
            <a:spLocks xmlns:a="http://schemas.openxmlformats.org/drawingml/2006/main" noGrp="1"/>
          </p:cNvSpPr>
          <p:nvPr/>
        </p:nvSpPr>
        <p:spPr>
          <a:xfrm xmlns:a="http://schemas.openxmlformats.org/drawingml/2006/main">
            <a:off x="1962150" y="2524125"/>
            <a:ext cx="4124325"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a:solidFill>
                  <a:srgbClr val="15232B"/>
                </a:solidFill>
              </a:defRPr>
            </a:pPr>
            <a:r>
              <a:rPr sz="1238">
                <a:solidFill>
                  <a:srgbClr val="15232B"/>
                </a:solidFill>
              </a:rPr>
              <a:t>Semesterfall: 67-jährige Patientin mit akuter beidseitiger Beinschwäche, verzögerter kranialer Diagnostik und später nachgewiesenen Infarkten.</a:t>
            </a:r>
          </a:p>
        </p:txBody>
      </p:sp>
      <p:sp>
        <p:nvSpPr>
          <p:cNvPr id="8" name="">
            <a:extLst xmlns:a="http://schemas.openxmlformats.org/drawingml/2006/main">
              <a:ext uri="{FF2B5EF4-FFF2-40B4-BE49-F238E27FC236}">
                <a16:creationId xmlns:a16="http://schemas.microsoft.com/office/drawing/2014/main" id="{6F57299A-B1EA-4FB3-85E9-F7218382E459}"/>
              </a:ext>
            </a:extLst>
          </p:cNvPr>
          <p:cNvSpPr>
            <a:spLocks xmlns:a="http://schemas.openxmlformats.org/drawingml/2006/main" noGrp="1"/>
          </p:cNvSpPr>
          <p:nvPr/>
        </p:nvSpPr>
        <p:spPr>
          <a:xfrm xmlns:a="http://schemas.openxmlformats.org/drawingml/2006/main">
            <a:off x="6477000" y="1952625"/>
            <a:ext cx="2343150" cy="546100"/>
          </a:xfrm>
          <a:prstGeom xmlns:a="http://schemas.openxmlformats.org/drawingml/2006/main" prst="roundRect">
            <a:avLst>
              <a:gd name="adj" fmla="val 13953"/>
            </a:avLst>
          </a:prstGeom>
          <a:noFill xmlns:a="http://schemas.openxmlformats.org/drawingml/2006/main"/>
          <a:ln xmlns:a="http://schemas.openxmlformats.org/drawingml/2006/main" w="9525">
            <a:solidFill>
              <a:srgbClr val="B9CAD2"/>
            </a:solidFill>
            <a:prstDash val="solid"/>
          </a:ln>
        </p:spPr>
      </p:sp>
      <p:sp>
        <p:nvSpPr>
          <p:cNvPr id="9" name="">
            <a:extLst xmlns:a="http://schemas.openxmlformats.org/drawingml/2006/main">
              <a:ext uri="{FF2B5EF4-FFF2-40B4-BE49-F238E27FC236}">
                <a16:creationId xmlns:a16="http://schemas.microsoft.com/office/drawing/2014/main" id="{6B5D0386-4119-426B-8BCD-0EAFBCAEBF92}"/>
              </a:ext>
            </a:extLst>
          </p:cNvPr>
          <p:cNvSpPr>
            <a:spLocks xmlns:a="http://schemas.openxmlformats.org/drawingml/2006/main" noGrp="1"/>
          </p:cNvSpPr>
          <p:nvPr/>
        </p:nvSpPr>
        <p:spPr>
          <a:xfrm xmlns:a="http://schemas.openxmlformats.org/drawingml/2006/main">
            <a:off x="6477000" y="1952625"/>
            <a:ext cx="234315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10" name="">
            <a:extLst xmlns:a="http://schemas.openxmlformats.org/drawingml/2006/main">
              <a:ext uri="{FF2B5EF4-FFF2-40B4-BE49-F238E27FC236}">
                <a16:creationId xmlns:a16="http://schemas.microsoft.com/office/drawing/2014/main" id="{8D0D30DB-C285-4D88-8F71-4E31E4765AEA}"/>
              </a:ext>
            </a:extLst>
          </p:cNvPr>
          <p:cNvSpPr>
            <a:spLocks xmlns:a="http://schemas.openxmlformats.org/drawingml/2006/main" noGrp="1"/>
          </p:cNvSpPr>
          <p:nvPr/>
        </p:nvSpPr>
        <p:spPr>
          <a:xfrm xmlns:a="http://schemas.openxmlformats.org/drawingml/2006/main">
            <a:off x="6629400" y="2085975"/>
            <a:ext cx="203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b="1">
                <a:solidFill>
                  <a:srgbClr val="003F6B"/>
                </a:solidFill>
              </a:defRPr>
            </a:pPr>
            <a:r>
              <a:rPr sz="1050" b="1">
                <a:solidFill>
                  <a:srgbClr val="003F6B"/>
                </a:solidFill>
              </a:rPr>
              <a:t>Vorsitz</a:t>
            </a:r>
          </a:p>
        </p:txBody>
      </p:sp>
      <p:sp>
        <p:nvSpPr>
          <p:cNvPr id="11" name="">
            <a:extLst xmlns:a="http://schemas.openxmlformats.org/drawingml/2006/main">
              <a:ext uri="{FF2B5EF4-FFF2-40B4-BE49-F238E27FC236}">
                <a16:creationId xmlns:a16="http://schemas.microsoft.com/office/drawing/2014/main" id="{607AEA65-F9B2-4C35-8298-FB8940696AC4}"/>
              </a:ext>
            </a:extLst>
          </p:cNvPr>
          <p:cNvSpPr>
            <a:spLocks xmlns:a="http://schemas.openxmlformats.org/drawingml/2006/main" noGrp="1"/>
          </p:cNvSpPr>
          <p:nvPr/>
        </p:nvSpPr>
        <p:spPr>
          <a:xfrm xmlns:a="http://schemas.openxmlformats.org/drawingml/2006/main">
            <a:off x="8896350" y="1952625"/>
            <a:ext cx="2343150" cy="546100"/>
          </a:xfrm>
          <a:prstGeom xmlns:a="http://schemas.openxmlformats.org/drawingml/2006/main" prst="roundRect">
            <a:avLst>
              <a:gd name="adj" fmla="val 13953"/>
            </a:avLst>
          </a:prstGeom>
          <a:noFill xmlns:a="http://schemas.openxmlformats.org/drawingml/2006/main"/>
          <a:ln xmlns:a="http://schemas.openxmlformats.org/drawingml/2006/main" w="9525">
            <a:solidFill>
              <a:srgbClr val="B9CAD2"/>
            </a:solidFill>
            <a:prstDash val="solid"/>
          </a:ln>
        </p:spPr>
      </p:sp>
      <p:sp>
        <p:nvSpPr>
          <p:cNvPr id="12" name="">
            <a:extLst xmlns:a="http://schemas.openxmlformats.org/drawingml/2006/main">
              <a:ext uri="{FF2B5EF4-FFF2-40B4-BE49-F238E27FC236}">
                <a16:creationId xmlns:a16="http://schemas.microsoft.com/office/drawing/2014/main" id="{5F352AFE-1D70-4991-965E-BFBB4F47B1BC}"/>
              </a:ext>
            </a:extLst>
          </p:cNvPr>
          <p:cNvSpPr>
            <a:spLocks xmlns:a="http://schemas.openxmlformats.org/drawingml/2006/main" noGrp="1"/>
          </p:cNvSpPr>
          <p:nvPr/>
        </p:nvSpPr>
        <p:spPr>
          <a:xfrm xmlns:a="http://schemas.openxmlformats.org/drawingml/2006/main">
            <a:off x="8896350" y="1952625"/>
            <a:ext cx="234315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3" name="">
            <a:extLst xmlns:a="http://schemas.openxmlformats.org/drawingml/2006/main">
              <a:ext uri="{FF2B5EF4-FFF2-40B4-BE49-F238E27FC236}">
                <a16:creationId xmlns:a16="http://schemas.microsoft.com/office/drawing/2014/main" id="{82B05267-5BE0-4557-873C-F6802CBA889C}"/>
              </a:ext>
            </a:extLst>
          </p:cNvPr>
          <p:cNvSpPr>
            <a:spLocks xmlns:a="http://schemas.openxmlformats.org/drawingml/2006/main" noGrp="1"/>
          </p:cNvSpPr>
          <p:nvPr/>
        </p:nvSpPr>
        <p:spPr>
          <a:xfrm xmlns:a="http://schemas.openxmlformats.org/drawingml/2006/main">
            <a:off x="9048750" y="2085975"/>
            <a:ext cx="203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b="1">
                <a:solidFill>
                  <a:srgbClr val="003F6B"/>
                </a:solidFill>
              </a:defRPr>
            </a:pPr>
            <a:r>
              <a:rPr sz="1050" b="1">
                <a:solidFill>
                  <a:srgbClr val="003F6B"/>
                </a:solidFill>
              </a:rPr>
              <a:t>Patient:innenseite</a:t>
            </a:r>
          </a:p>
        </p:txBody>
      </p:sp>
      <p:sp>
        <p:nvSpPr>
          <p:cNvPr id="14" name="">
            <a:extLst xmlns:a="http://schemas.openxmlformats.org/drawingml/2006/main">
              <a:ext uri="{FF2B5EF4-FFF2-40B4-BE49-F238E27FC236}">
                <a16:creationId xmlns:a16="http://schemas.microsoft.com/office/drawing/2014/main" id="{EBF6E82F-89ED-465A-9963-E8A59D09C5DB}"/>
              </a:ext>
            </a:extLst>
          </p:cNvPr>
          <p:cNvSpPr>
            <a:spLocks xmlns:a="http://schemas.openxmlformats.org/drawingml/2006/main" noGrp="1"/>
          </p:cNvSpPr>
          <p:nvPr/>
        </p:nvSpPr>
        <p:spPr>
          <a:xfrm xmlns:a="http://schemas.openxmlformats.org/drawingml/2006/main">
            <a:off x="6477000" y="2632075"/>
            <a:ext cx="2343150" cy="546100"/>
          </a:xfrm>
          <a:prstGeom xmlns:a="http://schemas.openxmlformats.org/drawingml/2006/main" prst="roundRect">
            <a:avLst>
              <a:gd name="adj" fmla="val 13953"/>
            </a:avLst>
          </a:prstGeom>
          <a:noFill xmlns:a="http://schemas.openxmlformats.org/drawingml/2006/main"/>
          <a:ln xmlns:a="http://schemas.openxmlformats.org/drawingml/2006/main" w="9525">
            <a:solidFill>
              <a:srgbClr val="B9CAD2"/>
            </a:solidFill>
            <a:prstDash val="solid"/>
          </a:ln>
        </p:spPr>
      </p:sp>
      <p:sp>
        <p:nvSpPr>
          <p:cNvPr id="15" name="">
            <a:extLst xmlns:a="http://schemas.openxmlformats.org/drawingml/2006/main">
              <a:ext uri="{FF2B5EF4-FFF2-40B4-BE49-F238E27FC236}">
                <a16:creationId xmlns:a16="http://schemas.microsoft.com/office/drawing/2014/main" id="{BDA860C8-4188-425B-A379-73C9947E633E}"/>
              </a:ext>
            </a:extLst>
          </p:cNvPr>
          <p:cNvSpPr>
            <a:spLocks xmlns:a="http://schemas.openxmlformats.org/drawingml/2006/main" noGrp="1"/>
          </p:cNvSpPr>
          <p:nvPr/>
        </p:nvSpPr>
        <p:spPr>
          <a:xfrm xmlns:a="http://schemas.openxmlformats.org/drawingml/2006/main">
            <a:off x="6477000" y="2632075"/>
            <a:ext cx="234315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16" name="">
            <a:extLst xmlns:a="http://schemas.openxmlformats.org/drawingml/2006/main">
              <a:ext uri="{FF2B5EF4-FFF2-40B4-BE49-F238E27FC236}">
                <a16:creationId xmlns:a16="http://schemas.microsoft.com/office/drawing/2014/main" id="{67B95123-2749-4406-B64D-E876D9B6007C}"/>
              </a:ext>
            </a:extLst>
          </p:cNvPr>
          <p:cNvSpPr>
            <a:spLocks xmlns:a="http://schemas.openxmlformats.org/drawingml/2006/main" noGrp="1"/>
          </p:cNvSpPr>
          <p:nvPr/>
        </p:nvSpPr>
        <p:spPr>
          <a:xfrm xmlns:a="http://schemas.openxmlformats.org/drawingml/2006/main">
            <a:off x="6629400" y="2765425"/>
            <a:ext cx="203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b="1">
                <a:solidFill>
                  <a:srgbClr val="003F6B"/>
                </a:solidFill>
              </a:defRPr>
            </a:pPr>
            <a:r>
              <a:rPr sz="1050" b="1">
                <a:solidFill>
                  <a:srgbClr val="003F6B"/>
                </a:solidFill>
              </a:rPr>
              <a:t>Behandlungsseite</a:t>
            </a:r>
          </a:p>
        </p:txBody>
      </p:sp>
      <p:sp>
        <p:nvSpPr>
          <p:cNvPr id="17" name="">
            <a:extLst xmlns:a="http://schemas.openxmlformats.org/drawingml/2006/main">
              <a:ext uri="{FF2B5EF4-FFF2-40B4-BE49-F238E27FC236}">
                <a16:creationId xmlns:a16="http://schemas.microsoft.com/office/drawing/2014/main" id="{C694B0D7-77D5-4E74-B6CA-C10755227249}"/>
              </a:ext>
            </a:extLst>
          </p:cNvPr>
          <p:cNvSpPr>
            <a:spLocks xmlns:a="http://schemas.openxmlformats.org/drawingml/2006/main" noGrp="1"/>
          </p:cNvSpPr>
          <p:nvPr/>
        </p:nvSpPr>
        <p:spPr>
          <a:xfrm xmlns:a="http://schemas.openxmlformats.org/drawingml/2006/main">
            <a:off x="8896350" y="2632075"/>
            <a:ext cx="2343150" cy="546100"/>
          </a:xfrm>
          <a:prstGeom xmlns:a="http://schemas.openxmlformats.org/drawingml/2006/main" prst="roundRect">
            <a:avLst>
              <a:gd name="adj" fmla="val 13953"/>
            </a:avLst>
          </a:prstGeom>
          <a:noFill xmlns:a="http://schemas.openxmlformats.org/drawingml/2006/main"/>
          <a:ln xmlns:a="http://schemas.openxmlformats.org/drawingml/2006/main" w="9525">
            <a:solidFill>
              <a:srgbClr val="B9CAD2"/>
            </a:solidFill>
            <a:prstDash val="solid"/>
          </a:ln>
        </p:spPr>
      </p:sp>
      <p:sp>
        <p:nvSpPr>
          <p:cNvPr id="18" name="">
            <a:extLst xmlns:a="http://schemas.openxmlformats.org/drawingml/2006/main">
              <a:ext uri="{FF2B5EF4-FFF2-40B4-BE49-F238E27FC236}">
                <a16:creationId xmlns:a16="http://schemas.microsoft.com/office/drawing/2014/main" id="{5EE64D32-79EE-40E2-809F-22224AEA6BF1}"/>
              </a:ext>
            </a:extLst>
          </p:cNvPr>
          <p:cNvSpPr>
            <a:spLocks xmlns:a="http://schemas.openxmlformats.org/drawingml/2006/main" noGrp="1"/>
          </p:cNvSpPr>
          <p:nvPr/>
        </p:nvSpPr>
        <p:spPr>
          <a:xfrm xmlns:a="http://schemas.openxmlformats.org/drawingml/2006/main">
            <a:off x="8896350" y="2632075"/>
            <a:ext cx="234315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9" name="">
            <a:extLst xmlns:a="http://schemas.openxmlformats.org/drawingml/2006/main">
              <a:ext uri="{FF2B5EF4-FFF2-40B4-BE49-F238E27FC236}">
                <a16:creationId xmlns:a16="http://schemas.microsoft.com/office/drawing/2014/main" id="{EB5C6A38-2411-49DF-8FCE-E1CB506B719A}"/>
              </a:ext>
            </a:extLst>
          </p:cNvPr>
          <p:cNvSpPr>
            <a:spLocks xmlns:a="http://schemas.openxmlformats.org/drawingml/2006/main" noGrp="1"/>
          </p:cNvSpPr>
          <p:nvPr/>
        </p:nvSpPr>
        <p:spPr>
          <a:xfrm xmlns:a="http://schemas.openxmlformats.org/drawingml/2006/main">
            <a:off x="9048750" y="2765425"/>
            <a:ext cx="203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b="1">
                <a:solidFill>
                  <a:srgbClr val="003F6B"/>
                </a:solidFill>
              </a:defRPr>
            </a:pPr>
            <a:r>
              <a:rPr sz="1050" b="1">
                <a:solidFill>
                  <a:srgbClr val="003F6B"/>
                </a:solidFill>
              </a:rPr>
              <a:t>behandelnde Ärztin / Arzt</a:t>
            </a:r>
          </a:p>
        </p:txBody>
      </p:sp>
      <p:sp>
        <p:nvSpPr>
          <p:cNvPr id="20" name="">
            <a:extLst xmlns:a="http://schemas.openxmlformats.org/drawingml/2006/main">
              <a:ext uri="{FF2B5EF4-FFF2-40B4-BE49-F238E27FC236}">
                <a16:creationId xmlns:a16="http://schemas.microsoft.com/office/drawing/2014/main" id="{EBDB9EBB-F68F-4A36-BCAB-A155886A6989}"/>
              </a:ext>
            </a:extLst>
          </p:cNvPr>
          <p:cNvSpPr>
            <a:spLocks xmlns:a="http://schemas.openxmlformats.org/drawingml/2006/main" noGrp="1"/>
          </p:cNvSpPr>
          <p:nvPr/>
        </p:nvSpPr>
        <p:spPr>
          <a:xfrm xmlns:a="http://schemas.openxmlformats.org/drawingml/2006/main">
            <a:off x="6477000" y="3311525"/>
            <a:ext cx="2343150" cy="546100"/>
          </a:xfrm>
          <a:prstGeom xmlns:a="http://schemas.openxmlformats.org/drawingml/2006/main" prst="roundRect">
            <a:avLst>
              <a:gd name="adj" fmla="val 13953"/>
            </a:avLst>
          </a:prstGeom>
          <a:noFill xmlns:a="http://schemas.openxmlformats.org/drawingml/2006/main"/>
          <a:ln xmlns:a="http://schemas.openxmlformats.org/drawingml/2006/main" w="9525">
            <a:solidFill>
              <a:srgbClr val="B9CAD2"/>
            </a:solidFill>
            <a:prstDash val="solid"/>
          </a:ln>
        </p:spPr>
      </p:sp>
      <p:sp>
        <p:nvSpPr>
          <p:cNvPr id="21" name="">
            <a:extLst xmlns:a="http://schemas.openxmlformats.org/drawingml/2006/main">
              <a:ext uri="{FF2B5EF4-FFF2-40B4-BE49-F238E27FC236}">
                <a16:creationId xmlns:a16="http://schemas.microsoft.com/office/drawing/2014/main" id="{66BF88E8-3888-4B8D-B5CC-CF1A636395FF}"/>
              </a:ext>
            </a:extLst>
          </p:cNvPr>
          <p:cNvSpPr>
            <a:spLocks xmlns:a="http://schemas.openxmlformats.org/drawingml/2006/main" noGrp="1"/>
          </p:cNvSpPr>
          <p:nvPr/>
        </p:nvSpPr>
        <p:spPr>
          <a:xfrm xmlns:a="http://schemas.openxmlformats.org/drawingml/2006/main">
            <a:off x="6477000" y="3311525"/>
            <a:ext cx="234315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22" name="">
            <a:extLst xmlns:a="http://schemas.openxmlformats.org/drawingml/2006/main">
              <a:ext uri="{FF2B5EF4-FFF2-40B4-BE49-F238E27FC236}">
                <a16:creationId xmlns:a16="http://schemas.microsoft.com/office/drawing/2014/main" id="{4749AFD9-72BC-4827-8796-D25B9FB85BEE}"/>
              </a:ext>
            </a:extLst>
          </p:cNvPr>
          <p:cNvSpPr>
            <a:spLocks xmlns:a="http://schemas.openxmlformats.org/drawingml/2006/main" noGrp="1"/>
          </p:cNvSpPr>
          <p:nvPr/>
        </p:nvSpPr>
        <p:spPr>
          <a:xfrm xmlns:a="http://schemas.openxmlformats.org/drawingml/2006/main">
            <a:off x="6629400" y="3444875"/>
            <a:ext cx="203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b="1">
                <a:solidFill>
                  <a:srgbClr val="003F6B"/>
                </a:solidFill>
              </a:defRPr>
            </a:pPr>
            <a:r>
              <a:rPr sz="1050" b="1">
                <a:solidFill>
                  <a:srgbClr val="003F6B"/>
                </a:solidFill>
              </a:rPr>
              <a:t>Sachverständige:r</a:t>
            </a:r>
          </a:p>
        </p:txBody>
      </p:sp>
      <p:sp>
        <p:nvSpPr>
          <p:cNvPr id="23" name="">
            <a:extLst xmlns:a="http://schemas.openxmlformats.org/drawingml/2006/main">
              <a:ext uri="{FF2B5EF4-FFF2-40B4-BE49-F238E27FC236}">
                <a16:creationId xmlns:a16="http://schemas.microsoft.com/office/drawing/2014/main" id="{69DEEBA3-5F74-4293-A9E9-40618FEF4D94}"/>
              </a:ext>
            </a:extLst>
          </p:cNvPr>
          <p:cNvSpPr>
            <a:spLocks xmlns:a="http://schemas.openxmlformats.org/drawingml/2006/main" noGrp="1"/>
          </p:cNvSpPr>
          <p:nvPr/>
        </p:nvSpPr>
        <p:spPr>
          <a:xfrm xmlns:a="http://schemas.openxmlformats.org/drawingml/2006/main">
            <a:off x="8896350" y="3311525"/>
            <a:ext cx="2343150" cy="546100"/>
          </a:xfrm>
          <a:prstGeom xmlns:a="http://schemas.openxmlformats.org/drawingml/2006/main" prst="roundRect">
            <a:avLst>
              <a:gd name="adj" fmla="val 13953"/>
            </a:avLst>
          </a:prstGeom>
          <a:noFill xmlns:a="http://schemas.openxmlformats.org/drawingml/2006/main"/>
          <a:ln xmlns:a="http://schemas.openxmlformats.org/drawingml/2006/main" w="9525">
            <a:solidFill>
              <a:srgbClr val="B9CAD2"/>
            </a:solidFill>
            <a:prstDash val="solid"/>
          </a:ln>
        </p:spPr>
      </p:sp>
      <p:sp>
        <p:nvSpPr>
          <p:cNvPr id="24" name="">
            <a:extLst xmlns:a="http://schemas.openxmlformats.org/drawingml/2006/main">
              <a:ext uri="{FF2B5EF4-FFF2-40B4-BE49-F238E27FC236}">
                <a16:creationId xmlns:a16="http://schemas.microsoft.com/office/drawing/2014/main" id="{368287BC-2AF0-410D-9F02-23C81A1067EF}"/>
              </a:ext>
            </a:extLst>
          </p:cNvPr>
          <p:cNvSpPr>
            <a:spLocks xmlns:a="http://schemas.openxmlformats.org/drawingml/2006/main" noGrp="1"/>
          </p:cNvSpPr>
          <p:nvPr/>
        </p:nvSpPr>
        <p:spPr>
          <a:xfrm xmlns:a="http://schemas.openxmlformats.org/drawingml/2006/main">
            <a:off x="8896350" y="3311525"/>
            <a:ext cx="234315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25" name="">
            <a:extLst xmlns:a="http://schemas.openxmlformats.org/drawingml/2006/main">
              <a:ext uri="{FF2B5EF4-FFF2-40B4-BE49-F238E27FC236}">
                <a16:creationId xmlns:a16="http://schemas.microsoft.com/office/drawing/2014/main" id="{6811976A-685C-4313-8244-272118958CAD}"/>
              </a:ext>
            </a:extLst>
          </p:cNvPr>
          <p:cNvSpPr>
            <a:spLocks xmlns:a="http://schemas.openxmlformats.org/drawingml/2006/main" noGrp="1"/>
          </p:cNvSpPr>
          <p:nvPr/>
        </p:nvSpPr>
        <p:spPr>
          <a:xfrm xmlns:a="http://schemas.openxmlformats.org/drawingml/2006/main">
            <a:off x="9048750" y="3444875"/>
            <a:ext cx="203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b="1">
                <a:solidFill>
                  <a:srgbClr val="003F6B"/>
                </a:solidFill>
              </a:defRPr>
            </a:pPr>
            <a:r>
              <a:rPr sz="1050" b="1">
                <a:solidFill>
                  <a:srgbClr val="003F6B"/>
                </a:solidFill>
              </a:rPr>
              <a:t>Beobachtungsteam</a:t>
            </a:r>
          </a:p>
        </p:txBody>
      </p:sp>
      <p:sp>
        <p:nvSpPr>
          <p:cNvPr id="26" name="">
            <a:extLst xmlns:a="http://schemas.openxmlformats.org/drawingml/2006/main">
              <a:ext uri="{FF2B5EF4-FFF2-40B4-BE49-F238E27FC236}">
                <a16:creationId xmlns:a16="http://schemas.microsoft.com/office/drawing/2014/main" id="{B09B40D4-5C7C-4C8B-85BE-F480202FD577}"/>
              </a:ext>
            </a:extLst>
          </p:cNvPr>
          <p:cNvSpPr>
            <a:spLocks xmlns:a="http://schemas.openxmlformats.org/drawingml/2006/main" noGrp="1"/>
          </p:cNvSpPr>
          <p:nvPr/>
        </p:nvSpPr>
        <p:spPr>
          <a:xfrm xmlns:a="http://schemas.openxmlformats.org/drawingml/2006/main">
            <a:off x="6572250" y="4048125"/>
            <a:ext cx="4619625"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 Tatsache oder Wertung?</a:t>
            </a:r>
          </a:p>
          <a:p xmlns:a="http://schemas.openxmlformats.org/drawingml/2006/main">
            <a:pPr>
              <a:buNone/>
              <a:defRPr sz="1065">
                <a:solidFill>
                  <a:srgbClr val="15232B"/>
                </a:solidFill>
              </a:defRPr>
            </a:pPr>
            <a:r>
              <a:rPr sz="1065">
                <a:solidFill>
                  <a:srgbClr val="15232B"/>
                </a:solidFill>
              </a:rPr>
              <a:t>• Welche Beweislast?</a:t>
            </a:r>
          </a:p>
          <a:p xmlns:a="http://schemas.openxmlformats.org/drawingml/2006/main">
            <a:pPr>
              <a:buNone/>
              <a:defRPr sz="1065">
                <a:solidFill>
                  <a:srgbClr val="15232B"/>
                </a:solidFill>
              </a:defRPr>
            </a:pPr>
            <a:r>
              <a:rPr sz="1065">
                <a:solidFill>
                  <a:srgbClr val="15232B"/>
                </a:solidFill>
              </a:rPr>
              <a:t>• Offene Gutachtenfrage?</a:t>
            </a:r>
          </a:p>
          <a:p xmlns:a="http://schemas.openxmlformats.org/drawingml/2006/main">
            <a:pPr>
              <a:buNone/>
              <a:defRPr sz="1065">
                <a:solidFill>
                  <a:srgbClr val="15232B"/>
                </a:solidFill>
              </a:defRPr>
            </a:pPr>
            <a:r>
              <a:rPr sz="1065">
                <a:solidFill>
                  <a:srgbClr val="15232B"/>
                </a:solidFill>
              </a:rPr>
              <a:t>• Wann wurde eine Lösung möglich?</a:t>
            </a:r>
          </a:p>
        </p:txBody>
      </p:sp>
    </p:spTree>
    <p:extLst>
      <p:ext uri="{BB962C8B-B14F-4D97-AF65-F5344CB8AC3E}">
        <p14:creationId xmlns:p14="http://schemas.microsoft.com/office/powerpoint/2010/main" val="43637646"/>
      </p:ext>
    </p:extLst>
  </p:cSld>
</p:sld>
</file>

<file path=ppt/slides/slide210.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Beobachtungsbogen für den Gerichtsbesuch</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KEINE FALLSOUVENIRS</a:t>
            </a:r>
            <a:endParaRPr/>
          </a:p>
        </p:txBody>
      </p:sp>
      <p:sp>
        <p:nvSpPr>
          <p:cNvPr id="4" name="">
            <a:extLst xmlns:a="http://schemas.openxmlformats.org/drawingml/2006/main">
              <a:ext uri="{FF2B5EF4-FFF2-40B4-BE49-F238E27FC236}">
                <a16:creationId xmlns:a16="http://schemas.microsoft.com/office/drawing/2014/main" id="{A066F3FB-9D52-4CBB-BBF2-2E3871DF0A76}"/>
              </a:ext>
            </a:extLst>
          </p:cNvPr>
          <p:cNvSpPr>
            <a:spLocks xmlns:a="http://schemas.openxmlformats.org/drawingml/2006/main" noGrp="1"/>
          </p:cNvSpPr>
          <p:nvPr/>
        </p:nvSpPr>
        <p:spPr>
          <a:xfrm xmlns:a="http://schemas.openxmlformats.org/drawingml/2006/main">
            <a:off x="1809750" y="2038350"/>
            <a:ext cx="323850" cy="323850"/>
          </a:xfrm>
          <a:prstGeom xmlns:a="http://schemas.openxmlformats.org/drawingml/2006/main" prst="ellipse">
            <a:avLst/>
          </a:prstGeom>
          <a:solidFill xmlns:a="http://schemas.openxmlformats.org/drawingml/2006/main">
            <a:srgbClr val="00B2BB"/>
          </a:solidFill>
          <a:ln xmlns:a="http://schemas.openxmlformats.org/drawingml/2006/main" w="0">
            <a:solidFill>
              <a:srgbClr val="FFFFFF"/>
            </a:solidFill>
            <a:prstDash val="solid"/>
          </a:ln>
        </p:spPr>
      </p:sp>
      <p:sp>
        <p:nvSpPr>
          <p:cNvPr id="5" name="">
            <a:extLst xmlns:a="http://schemas.openxmlformats.org/drawingml/2006/main">
              <a:ext uri="{FF2B5EF4-FFF2-40B4-BE49-F238E27FC236}">
                <a16:creationId xmlns:a16="http://schemas.microsoft.com/office/drawing/2014/main" id="{7D30148C-5514-48B0-A713-96E98E59C9D1}"/>
              </a:ext>
            </a:extLst>
          </p:cNvPr>
          <p:cNvSpPr>
            <a:spLocks xmlns:a="http://schemas.openxmlformats.org/drawingml/2006/main" noGrp="1"/>
          </p:cNvSpPr>
          <p:nvPr/>
        </p:nvSpPr>
        <p:spPr>
          <a:xfrm xmlns:a="http://schemas.openxmlformats.org/drawingml/2006/main">
            <a:off x="1809750" y="20383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713" b="1">
                <a:solidFill>
                  <a:srgbClr val="FFFFFF"/>
                </a:solidFill>
              </a:defRPr>
            </a:pPr>
            <a:r>
              <a:rPr sz="713" b="1">
                <a:solidFill>
                  <a:srgbClr val="FFFFFF"/>
                </a:solidFill>
              </a:rPr>
              <a:t>1</a:t>
            </a:r>
          </a:p>
        </p:txBody>
      </p:sp>
      <p:sp>
        <p:nvSpPr>
          <p:cNvPr id="6" name="">
            <a:extLst xmlns:a="http://schemas.openxmlformats.org/drawingml/2006/main">
              <a:ext uri="{FF2B5EF4-FFF2-40B4-BE49-F238E27FC236}">
                <a16:creationId xmlns:a16="http://schemas.microsoft.com/office/drawing/2014/main" id="{AB8B40B7-5CDF-446A-8348-9C624539BFB1}"/>
              </a:ext>
            </a:extLst>
          </p:cNvPr>
          <p:cNvSpPr>
            <a:spLocks xmlns:a="http://schemas.openxmlformats.org/drawingml/2006/main" noGrp="1"/>
          </p:cNvSpPr>
          <p:nvPr/>
        </p:nvSpPr>
        <p:spPr>
          <a:xfrm xmlns:a="http://schemas.openxmlformats.org/drawingml/2006/main">
            <a:off x="2266950" y="2000250"/>
            <a:ext cx="9067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a:solidFill>
                  <a:srgbClr val="15232B"/>
                </a:solidFill>
              </a:defRPr>
            </a:pPr>
            <a:r>
              <a:rPr sz="1275">
                <a:solidFill>
                  <a:srgbClr val="15232B"/>
                </a:solidFill>
              </a:rPr>
              <a:t>Wer spricht wann?</a:t>
            </a:r>
          </a:p>
        </p:txBody>
      </p:sp>
      <p:sp>
        <p:nvSpPr>
          <p:cNvPr id="7" name="">
            <a:extLst xmlns:a="http://schemas.openxmlformats.org/drawingml/2006/main">
              <a:ext uri="{FF2B5EF4-FFF2-40B4-BE49-F238E27FC236}">
                <a16:creationId xmlns:a16="http://schemas.microsoft.com/office/drawing/2014/main" id="{5DFE54BC-42C7-46D2-9592-D01753C53CFF}"/>
              </a:ext>
            </a:extLst>
          </p:cNvPr>
          <p:cNvSpPr>
            <a:spLocks xmlns:a="http://schemas.openxmlformats.org/drawingml/2006/main" noGrp="1"/>
          </p:cNvSpPr>
          <p:nvPr/>
        </p:nvSpPr>
        <p:spPr>
          <a:xfrm xmlns:a="http://schemas.openxmlformats.org/drawingml/2006/main">
            <a:off x="1809750" y="2590800"/>
            <a:ext cx="323850" cy="323850"/>
          </a:xfrm>
          <a:prstGeom xmlns:a="http://schemas.openxmlformats.org/drawingml/2006/main" prst="ellipse">
            <a:avLst/>
          </a:prstGeom>
          <a:solidFill xmlns:a="http://schemas.openxmlformats.org/drawingml/2006/main">
            <a:srgbClr val="003F6B"/>
          </a:solidFill>
          <a:ln xmlns:a="http://schemas.openxmlformats.org/drawingml/2006/main" w="0">
            <a:solidFill>
              <a:srgbClr val="FFFFFF"/>
            </a:solidFill>
            <a:prstDash val="solid"/>
          </a:ln>
        </p:spPr>
      </p:sp>
      <p:sp>
        <p:nvSpPr>
          <p:cNvPr id="8" name="">
            <a:extLst xmlns:a="http://schemas.openxmlformats.org/drawingml/2006/main">
              <a:ext uri="{FF2B5EF4-FFF2-40B4-BE49-F238E27FC236}">
                <a16:creationId xmlns:a16="http://schemas.microsoft.com/office/drawing/2014/main" id="{DF1A4640-405F-4F0F-AFC7-413C22CB252A}"/>
              </a:ext>
            </a:extLst>
          </p:cNvPr>
          <p:cNvSpPr>
            <a:spLocks xmlns:a="http://schemas.openxmlformats.org/drawingml/2006/main" noGrp="1"/>
          </p:cNvSpPr>
          <p:nvPr/>
        </p:nvSpPr>
        <p:spPr>
          <a:xfrm xmlns:a="http://schemas.openxmlformats.org/drawingml/2006/main">
            <a:off x="1809750" y="259080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713" b="1">
                <a:solidFill>
                  <a:srgbClr val="FFFFFF"/>
                </a:solidFill>
              </a:defRPr>
            </a:pPr>
            <a:r>
              <a:rPr sz="713" b="1">
                <a:solidFill>
                  <a:srgbClr val="FFFFFF"/>
                </a:solidFill>
              </a:rPr>
              <a:t>2</a:t>
            </a:r>
          </a:p>
        </p:txBody>
      </p:sp>
      <p:sp>
        <p:nvSpPr>
          <p:cNvPr id="9" name="">
            <a:extLst xmlns:a="http://schemas.openxmlformats.org/drawingml/2006/main">
              <a:ext uri="{FF2B5EF4-FFF2-40B4-BE49-F238E27FC236}">
                <a16:creationId xmlns:a16="http://schemas.microsoft.com/office/drawing/2014/main" id="{6290CE8F-9CCF-4578-9B1F-759C596BEA15}"/>
              </a:ext>
            </a:extLst>
          </p:cNvPr>
          <p:cNvSpPr>
            <a:spLocks xmlns:a="http://schemas.openxmlformats.org/drawingml/2006/main" noGrp="1"/>
          </p:cNvSpPr>
          <p:nvPr/>
        </p:nvSpPr>
        <p:spPr>
          <a:xfrm xmlns:a="http://schemas.openxmlformats.org/drawingml/2006/main">
            <a:off x="2266950" y="2552700"/>
            <a:ext cx="9067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a:solidFill>
                  <a:srgbClr val="15232B"/>
                </a:solidFill>
              </a:defRPr>
            </a:pPr>
            <a:r>
              <a:rPr sz="1275">
                <a:solidFill>
                  <a:srgbClr val="15232B"/>
                </a:solidFill>
              </a:rPr>
              <a:t>Welche Tatsachen sind streitig?</a:t>
            </a:r>
          </a:p>
        </p:txBody>
      </p:sp>
      <p:sp>
        <p:nvSpPr>
          <p:cNvPr id="10" name="">
            <a:extLst xmlns:a="http://schemas.openxmlformats.org/drawingml/2006/main">
              <a:ext uri="{FF2B5EF4-FFF2-40B4-BE49-F238E27FC236}">
                <a16:creationId xmlns:a16="http://schemas.microsoft.com/office/drawing/2014/main" id="{4C3704C8-E941-4969-B849-46FE12EDE710}"/>
              </a:ext>
            </a:extLst>
          </p:cNvPr>
          <p:cNvSpPr>
            <a:spLocks xmlns:a="http://schemas.openxmlformats.org/drawingml/2006/main" noGrp="1"/>
          </p:cNvSpPr>
          <p:nvPr/>
        </p:nvSpPr>
        <p:spPr>
          <a:xfrm xmlns:a="http://schemas.openxmlformats.org/drawingml/2006/main">
            <a:off x="1809750" y="3143250"/>
            <a:ext cx="323850" cy="323850"/>
          </a:xfrm>
          <a:prstGeom xmlns:a="http://schemas.openxmlformats.org/drawingml/2006/main" prst="ellipse">
            <a:avLst/>
          </a:prstGeom>
          <a:solidFill xmlns:a="http://schemas.openxmlformats.org/drawingml/2006/main">
            <a:srgbClr val="00B2BB"/>
          </a:solidFill>
          <a:ln xmlns:a="http://schemas.openxmlformats.org/drawingml/2006/main" w="0">
            <a:solidFill>
              <a:srgbClr val="FFFFFF"/>
            </a:solidFill>
            <a:prstDash val="solid"/>
          </a:ln>
        </p:spPr>
      </p:sp>
      <p:sp>
        <p:nvSpPr>
          <p:cNvPr id="11" name="">
            <a:extLst xmlns:a="http://schemas.openxmlformats.org/drawingml/2006/main">
              <a:ext uri="{FF2B5EF4-FFF2-40B4-BE49-F238E27FC236}">
                <a16:creationId xmlns:a16="http://schemas.microsoft.com/office/drawing/2014/main" id="{F86F4159-AC52-40BE-8405-23D7151905F5}"/>
              </a:ext>
            </a:extLst>
          </p:cNvPr>
          <p:cNvSpPr>
            <a:spLocks xmlns:a="http://schemas.openxmlformats.org/drawingml/2006/main" noGrp="1"/>
          </p:cNvSpPr>
          <p:nvPr/>
        </p:nvSpPr>
        <p:spPr>
          <a:xfrm xmlns:a="http://schemas.openxmlformats.org/drawingml/2006/main">
            <a:off x="1809750" y="31432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713" b="1">
                <a:solidFill>
                  <a:srgbClr val="FFFFFF"/>
                </a:solidFill>
              </a:defRPr>
            </a:pPr>
            <a:r>
              <a:rPr sz="713" b="1">
                <a:solidFill>
                  <a:srgbClr val="FFFFFF"/>
                </a:solidFill>
              </a:rPr>
              <a:t>3</a:t>
            </a:r>
          </a:p>
        </p:txBody>
      </p:sp>
      <p:sp>
        <p:nvSpPr>
          <p:cNvPr id="12" name="">
            <a:extLst xmlns:a="http://schemas.openxmlformats.org/drawingml/2006/main">
              <a:ext uri="{FF2B5EF4-FFF2-40B4-BE49-F238E27FC236}">
                <a16:creationId xmlns:a16="http://schemas.microsoft.com/office/drawing/2014/main" id="{5FB3C6A4-6DC0-4C30-A9C2-6B1DEE693797}"/>
              </a:ext>
            </a:extLst>
          </p:cNvPr>
          <p:cNvSpPr>
            <a:spLocks xmlns:a="http://schemas.openxmlformats.org/drawingml/2006/main" noGrp="1"/>
          </p:cNvSpPr>
          <p:nvPr/>
        </p:nvSpPr>
        <p:spPr>
          <a:xfrm xmlns:a="http://schemas.openxmlformats.org/drawingml/2006/main">
            <a:off x="2266950" y="3105150"/>
            <a:ext cx="9067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a:solidFill>
                  <a:srgbClr val="15232B"/>
                </a:solidFill>
              </a:defRPr>
            </a:pPr>
            <a:r>
              <a:rPr sz="1275">
                <a:solidFill>
                  <a:srgbClr val="15232B"/>
                </a:solidFill>
              </a:rPr>
              <a:t>Welche Rolle spielt die Akte?</a:t>
            </a:r>
          </a:p>
        </p:txBody>
      </p:sp>
      <p:sp>
        <p:nvSpPr>
          <p:cNvPr id="13" name="">
            <a:extLst xmlns:a="http://schemas.openxmlformats.org/drawingml/2006/main">
              <a:ext uri="{FF2B5EF4-FFF2-40B4-BE49-F238E27FC236}">
                <a16:creationId xmlns:a16="http://schemas.microsoft.com/office/drawing/2014/main" id="{8AC047FD-9922-4B96-BD73-732074063D43}"/>
              </a:ext>
            </a:extLst>
          </p:cNvPr>
          <p:cNvSpPr>
            <a:spLocks xmlns:a="http://schemas.openxmlformats.org/drawingml/2006/main" noGrp="1"/>
          </p:cNvSpPr>
          <p:nvPr/>
        </p:nvSpPr>
        <p:spPr>
          <a:xfrm xmlns:a="http://schemas.openxmlformats.org/drawingml/2006/main">
            <a:off x="1809750" y="3695700"/>
            <a:ext cx="323850" cy="323850"/>
          </a:xfrm>
          <a:prstGeom xmlns:a="http://schemas.openxmlformats.org/drawingml/2006/main" prst="ellipse">
            <a:avLst/>
          </a:prstGeom>
          <a:solidFill xmlns:a="http://schemas.openxmlformats.org/drawingml/2006/main">
            <a:srgbClr val="003F6B"/>
          </a:solidFill>
          <a:ln xmlns:a="http://schemas.openxmlformats.org/drawingml/2006/main" w="0">
            <a:solidFill>
              <a:srgbClr val="FFFFFF"/>
            </a:solidFill>
            <a:prstDash val="solid"/>
          </a:ln>
        </p:spPr>
      </p:sp>
      <p:sp>
        <p:nvSpPr>
          <p:cNvPr id="14" name="">
            <a:extLst xmlns:a="http://schemas.openxmlformats.org/drawingml/2006/main">
              <a:ext uri="{FF2B5EF4-FFF2-40B4-BE49-F238E27FC236}">
                <a16:creationId xmlns:a16="http://schemas.microsoft.com/office/drawing/2014/main" id="{1575BB4F-FF11-4337-AC61-FA57D8B8BE10}"/>
              </a:ext>
            </a:extLst>
          </p:cNvPr>
          <p:cNvSpPr>
            <a:spLocks xmlns:a="http://schemas.openxmlformats.org/drawingml/2006/main" noGrp="1"/>
          </p:cNvSpPr>
          <p:nvPr/>
        </p:nvSpPr>
        <p:spPr>
          <a:xfrm xmlns:a="http://schemas.openxmlformats.org/drawingml/2006/main">
            <a:off x="1809750" y="369570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713" b="1">
                <a:solidFill>
                  <a:srgbClr val="FFFFFF"/>
                </a:solidFill>
              </a:defRPr>
            </a:pPr>
            <a:r>
              <a:rPr sz="713" b="1">
                <a:solidFill>
                  <a:srgbClr val="FFFFFF"/>
                </a:solidFill>
              </a:rPr>
              <a:t>4</a:t>
            </a:r>
          </a:p>
        </p:txBody>
      </p:sp>
      <p:sp>
        <p:nvSpPr>
          <p:cNvPr id="15" name="">
            <a:extLst xmlns:a="http://schemas.openxmlformats.org/drawingml/2006/main">
              <a:ext uri="{FF2B5EF4-FFF2-40B4-BE49-F238E27FC236}">
                <a16:creationId xmlns:a16="http://schemas.microsoft.com/office/drawing/2014/main" id="{E9D64CAC-E945-4DFF-8845-CEA49D25D324}"/>
              </a:ext>
            </a:extLst>
          </p:cNvPr>
          <p:cNvSpPr>
            <a:spLocks xmlns:a="http://schemas.openxmlformats.org/drawingml/2006/main" noGrp="1"/>
          </p:cNvSpPr>
          <p:nvPr/>
        </p:nvSpPr>
        <p:spPr>
          <a:xfrm xmlns:a="http://schemas.openxmlformats.org/drawingml/2006/main">
            <a:off x="2266950" y="3657600"/>
            <a:ext cx="9067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a:solidFill>
                  <a:srgbClr val="15232B"/>
                </a:solidFill>
              </a:defRPr>
            </a:pPr>
            <a:r>
              <a:rPr sz="1275">
                <a:solidFill>
                  <a:srgbClr val="15232B"/>
                </a:solidFill>
              </a:rPr>
              <a:t>Wie wird medizinische Expertise übersetzt?</a:t>
            </a:r>
          </a:p>
        </p:txBody>
      </p:sp>
      <p:sp>
        <p:nvSpPr>
          <p:cNvPr id="16" name="">
            <a:extLst xmlns:a="http://schemas.openxmlformats.org/drawingml/2006/main">
              <a:ext uri="{FF2B5EF4-FFF2-40B4-BE49-F238E27FC236}">
                <a16:creationId xmlns:a16="http://schemas.microsoft.com/office/drawing/2014/main" id="{D66B1B80-3BEF-4FB8-A41A-92730C172721}"/>
              </a:ext>
            </a:extLst>
          </p:cNvPr>
          <p:cNvSpPr>
            <a:spLocks xmlns:a="http://schemas.openxmlformats.org/drawingml/2006/main" noGrp="1"/>
          </p:cNvSpPr>
          <p:nvPr/>
        </p:nvSpPr>
        <p:spPr>
          <a:xfrm xmlns:a="http://schemas.openxmlformats.org/drawingml/2006/main">
            <a:off x="1809750" y="4248150"/>
            <a:ext cx="323850" cy="323850"/>
          </a:xfrm>
          <a:prstGeom xmlns:a="http://schemas.openxmlformats.org/drawingml/2006/main" prst="ellipse">
            <a:avLst/>
          </a:prstGeom>
          <a:solidFill xmlns:a="http://schemas.openxmlformats.org/drawingml/2006/main">
            <a:srgbClr val="00B2BB"/>
          </a:solidFill>
          <a:ln xmlns:a="http://schemas.openxmlformats.org/drawingml/2006/main" w="0">
            <a:solidFill>
              <a:srgbClr val="FFFFFF"/>
            </a:solidFill>
            <a:prstDash val="solid"/>
          </a:ln>
        </p:spPr>
      </p:sp>
      <p:sp>
        <p:nvSpPr>
          <p:cNvPr id="17" name="">
            <a:extLst xmlns:a="http://schemas.openxmlformats.org/drawingml/2006/main">
              <a:ext uri="{FF2B5EF4-FFF2-40B4-BE49-F238E27FC236}">
                <a16:creationId xmlns:a16="http://schemas.microsoft.com/office/drawing/2014/main" id="{6ECA7EBD-6A42-48AF-9AAF-6297880FFF99}"/>
              </a:ext>
            </a:extLst>
          </p:cNvPr>
          <p:cNvSpPr>
            <a:spLocks xmlns:a="http://schemas.openxmlformats.org/drawingml/2006/main" noGrp="1"/>
          </p:cNvSpPr>
          <p:nvPr/>
        </p:nvSpPr>
        <p:spPr>
          <a:xfrm xmlns:a="http://schemas.openxmlformats.org/drawingml/2006/main">
            <a:off x="1809750" y="42481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713" b="1">
                <a:solidFill>
                  <a:srgbClr val="FFFFFF"/>
                </a:solidFill>
              </a:defRPr>
            </a:pPr>
            <a:r>
              <a:rPr sz="713" b="1">
                <a:solidFill>
                  <a:srgbClr val="FFFFFF"/>
                </a:solidFill>
              </a:rPr>
              <a:t>5</a:t>
            </a:r>
          </a:p>
        </p:txBody>
      </p:sp>
      <p:sp>
        <p:nvSpPr>
          <p:cNvPr id="18" name="">
            <a:extLst xmlns:a="http://schemas.openxmlformats.org/drawingml/2006/main">
              <a:ext uri="{FF2B5EF4-FFF2-40B4-BE49-F238E27FC236}">
                <a16:creationId xmlns:a16="http://schemas.microsoft.com/office/drawing/2014/main" id="{28AAB8C7-EC5D-499A-B813-7A9E6A86D74E}"/>
              </a:ext>
            </a:extLst>
          </p:cNvPr>
          <p:cNvSpPr>
            <a:spLocks xmlns:a="http://schemas.openxmlformats.org/drawingml/2006/main" noGrp="1"/>
          </p:cNvSpPr>
          <p:nvPr/>
        </p:nvSpPr>
        <p:spPr>
          <a:xfrm xmlns:a="http://schemas.openxmlformats.org/drawingml/2006/main">
            <a:off x="2266950" y="4210050"/>
            <a:ext cx="9067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a:solidFill>
                  <a:srgbClr val="15232B"/>
                </a:solidFill>
              </a:defRPr>
            </a:pPr>
            <a:r>
              <a:rPr sz="1275">
                <a:solidFill>
                  <a:srgbClr val="15232B"/>
                </a:solidFill>
              </a:rPr>
              <a:t>Welche Vergleichsoptionen werden sichtbar?</a:t>
            </a:r>
          </a:p>
        </p:txBody>
      </p:sp>
      <p:sp>
        <p:nvSpPr>
          <p:cNvPr id="19" name="">
            <a:extLst xmlns:a="http://schemas.openxmlformats.org/drawingml/2006/main">
              <a:ext uri="{FF2B5EF4-FFF2-40B4-BE49-F238E27FC236}">
                <a16:creationId xmlns:a16="http://schemas.microsoft.com/office/drawing/2014/main" id="{6CF9EFCE-55C2-4A6F-B56D-3F4DC2E57878}"/>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0" name="">
            <a:extLst xmlns:a="http://schemas.openxmlformats.org/drawingml/2006/main">
              <a:ext uri="{FF2B5EF4-FFF2-40B4-BE49-F238E27FC236}">
                <a16:creationId xmlns:a16="http://schemas.microsoft.com/office/drawing/2014/main" id="{0E9E4E2C-11E1-4155-8396-F30961B03F1F}"/>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Ziel ist Verfahrenskompetenz, nicht die Bewertung realer Beteiligter.</a:t>
            </a:r>
          </a:p>
        </p:txBody>
      </p:sp>
    </p:spTree>
    <p:extLst>
      <p:ext uri="{BB962C8B-B14F-4D97-AF65-F5344CB8AC3E}">
        <p14:creationId xmlns:p14="http://schemas.microsoft.com/office/powerpoint/2010/main" val="43637646"/>
      </p:ext>
    </p:extLst>
  </p:cSld>
</p:sld>
</file>

<file path=ppt/slides/slide211.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Zum Nachlesen · Termin 07: Zivilprozess</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LITERATUR &amp; SICHTBARE QUELLEN</a:t>
            </a:r>
            <a:endParaRPr/>
          </a:p>
        </p:txBody>
      </p:sp>
      <p:sp>
        <p:nvSpPr>
          <p:cNvPr id="4" name="">
            <a:extLst xmlns:a="http://schemas.openxmlformats.org/drawingml/2006/main">
              <a:ext uri="{FF2B5EF4-FFF2-40B4-BE49-F238E27FC236}">
                <a16:creationId xmlns:a16="http://schemas.microsoft.com/office/drawing/2014/main" id="{663F8BA4-F917-4F70-BE0C-D5B4B640F9C4}"/>
              </a:ext>
            </a:extLst>
          </p:cNvPr>
          <p:cNvSpPr>
            <a:spLocks xmlns:a="http://schemas.openxmlformats.org/drawingml/2006/main" noGrp="1"/>
          </p:cNvSpPr>
          <p:nvPr/>
        </p:nvSpPr>
        <p:spPr>
          <a:xfrm xmlns:a="http://schemas.openxmlformats.org/drawingml/2006/main">
            <a:off x="1809750" y="1943100"/>
            <a:ext cx="461010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E0AF3294-DA56-433E-B45D-CDBB91FE3B79}"/>
              </a:ext>
            </a:extLst>
          </p:cNvPr>
          <p:cNvSpPr>
            <a:spLocks xmlns:a="http://schemas.openxmlformats.org/drawingml/2006/main" noGrp="1"/>
          </p:cNvSpPr>
          <p:nvPr/>
        </p:nvSpPr>
        <p:spPr>
          <a:xfrm xmlns:a="http://schemas.openxmlformats.org/drawingml/2006/main">
            <a:off x="1809750" y="1943100"/>
            <a:ext cx="4610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Vertiefung</a:t>
            </a:r>
          </a:p>
        </p:txBody>
      </p:sp>
      <p:sp>
        <p:nvSpPr>
          <p:cNvPr id="6" name="">
            <a:extLst xmlns:a="http://schemas.openxmlformats.org/drawingml/2006/main">
              <a:ext uri="{FF2B5EF4-FFF2-40B4-BE49-F238E27FC236}">
                <a16:creationId xmlns:a16="http://schemas.microsoft.com/office/drawing/2014/main" id="{A3761A97-D7A9-4BEF-AE76-DCFC9A11EC91}"/>
              </a:ext>
            </a:extLst>
          </p:cNvPr>
          <p:cNvSpPr>
            <a:spLocks xmlns:a="http://schemas.openxmlformats.org/drawingml/2006/main" noGrp="1"/>
          </p:cNvSpPr>
          <p:nvPr/>
        </p:nvSpPr>
        <p:spPr>
          <a:xfrm xmlns:a="http://schemas.openxmlformats.org/drawingml/2006/main">
            <a:off x="1809750" y="30289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7" name="">
            <a:extLst xmlns:a="http://schemas.openxmlformats.org/drawingml/2006/main">
              <a:ext uri="{FF2B5EF4-FFF2-40B4-BE49-F238E27FC236}">
                <a16:creationId xmlns:a16="http://schemas.microsoft.com/office/drawing/2014/main" id="{5427A4E3-5724-4EFB-8DBE-142B5DA835B6}"/>
              </a:ext>
            </a:extLst>
          </p:cNvPr>
          <p:cNvSpPr>
            <a:spLocks xmlns:a="http://schemas.openxmlformats.org/drawingml/2006/main" noGrp="1"/>
          </p:cNvSpPr>
          <p:nvPr/>
        </p:nvSpPr>
        <p:spPr>
          <a:xfrm xmlns:a="http://schemas.openxmlformats.org/drawingml/2006/main">
            <a:off x="1809750" y="24765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9BAB"/>
                </a:solidFill>
              </a:defRPr>
            </a:pPr>
            <a:r>
              <a:rPr sz="960" b="1">
                <a:solidFill>
                  <a:srgbClr val="009BAB"/>
                </a:solidFill>
              </a:rPr>
              <a:t>ZPO</a:t>
            </a:r>
          </a:p>
        </p:txBody>
      </p:sp>
      <p:sp>
        <p:nvSpPr>
          <p:cNvPr id="8" name="">
            <a:extLst xmlns:a="http://schemas.openxmlformats.org/drawingml/2006/main">
              <a:ext uri="{FF2B5EF4-FFF2-40B4-BE49-F238E27FC236}">
                <a16:creationId xmlns:a16="http://schemas.microsoft.com/office/drawing/2014/main" id="{195688D0-B929-451F-B08D-08910222D86B}"/>
              </a:ext>
            </a:extLst>
          </p:cNvPr>
          <p:cNvSpPr>
            <a:spLocks xmlns:a="http://schemas.openxmlformats.org/drawingml/2006/main" noGrp="1"/>
          </p:cNvSpPr>
          <p:nvPr/>
        </p:nvSpPr>
        <p:spPr>
          <a:xfrm xmlns:a="http://schemas.openxmlformats.org/drawingml/2006/main">
            <a:off x="2952750" y="24765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Zöller, Zivilprozessordnung: Erkenntnisverfahren, Beweis, Rechtsmittel.</a:t>
            </a:r>
          </a:p>
        </p:txBody>
      </p:sp>
      <p:sp>
        <p:nvSpPr>
          <p:cNvPr id="9" name="">
            <a:extLst xmlns:a="http://schemas.openxmlformats.org/drawingml/2006/main">
              <a:ext uri="{FF2B5EF4-FFF2-40B4-BE49-F238E27FC236}">
                <a16:creationId xmlns:a16="http://schemas.microsoft.com/office/drawing/2014/main" id="{4FD11EA1-66E3-4AB7-A9E1-B539346148B2}"/>
              </a:ext>
            </a:extLst>
          </p:cNvPr>
          <p:cNvSpPr>
            <a:spLocks xmlns:a="http://schemas.openxmlformats.org/drawingml/2006/main" noGrp="1"/>
          </p:cNvSpPr>
          <p:nvPr/>
        </p:nvSpPr>
        <p:spPr>
          <a:xfrm xmlns:a="http://schemas.openxmlformats.org/drawingml/2006/main">
            <a:off x="1809750" y="36385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10" name="">
            <a:extLst xmlns:a="http://schemas.openxmlformats.org/drawingml/2006/main">
              <a:ext uri="{FF2B5EF4-FFF2-40B4-BE49-F238E27FC236}">
                <a16:creationId xmlns:a16="http://schemas.microsoft.com/office/drawing/2014/main" id="{40BBA883-CF2F-44E9-A5AD-4F7723A0120C}"/>
              </a:ext>
            </a:extLst>
          </p:cNvPr>
          <p:cNvSpPr>
            <a:spLocks xmlns:a="http://schemas.openxmlformats.org/drawingml/2006/main" noGrp="1"/>
          </p:cNvSpPr>
          <p:nvPr/>
        </p:nvSpPr>
        <p:spPr>
          <a:xfrm xmlns:a="http://schemas.openxmlformats.org/drawingml/2006/main">
            <a:off x="1809750" y="30861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9BAB"/>
                </a:solidFill>
              </a:defRPr>
            </a:pPr>
            <a:r>
              <a:rPr sz="960" b="1">
                <a:solidFill>
                  <a:srgbClr val="009BAB"/>
                </a:solidFill>
              </a:rPr>
              <a:t>Arzthaftung</a:t>
            </a:r>
          </a:p>
        </p:txBody>
      </p:sp>
      <p:sp>
        <p:nvSpPr>
          <p:cNvPr id="11" name="">
            <a:extLst xmlns:a="http://schemas.openxmlformats.org/drawingml/2006/main">
              <a:ext uri="{FF2B5EF4-FFF2-40B4-BE49-F238E27FC236}">
                <a16:creationId xmlns:a16="http://schemas.microsoft.com/office/drawing/2014/main" id="{5F9200BF-B02E-4109-BBB7-814AE7C65299}"/>
              </a:ext>
            </a:extLst>
          </p:cNvPr>
          <p:cNvSpPr>
            <a:spLocks xmlns:a="http://schemas.openxmlformats.org/drawingml/2006/main" noGrp="1"/>
          </p:cNvSpPr>
          <p:nvPr/>
        </p:nvSpPr>
        <p:spPr>
          <a:xfrm xmlns:a="http://schemas.openxmlformats.org/drawingml/2006/main">
            <a:off x="2952750" y="30861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Geiß/Greiner: Besonderheiten des Arzthaftungsprozesses.</a:t>
            </a:r>
          </a:p>
        </p:txBody>
      </p:sp>
      <p:sp>
        <p:nvSpPr>
          <p:cNvPr id="12" name="">
            <a:extLst xmlns:a="http://schemas.openxmlformats.org/drawingml/2006/main">
              <a:ext uri="{FF2B5EF4-FFF2-40B4-BE49-F238E27FC236}">
                <a16:creationId xmlns:a16="http://schemas.microsoft.com/office/drawing/2014/main" id="{201F0F05-F56D-49AC-A75E-B756C0F3A4D3}"/>
              </a:ext>
            </a:extLst>
          </p:cNvPr>
          <p:cNvSpPr>
            <a:spLocks xmlns:a="http://schemas.openxmlformats.org/drawingml/2006/main" noGrp="1"/>
          </p:cNvSpPr>
          <p:nvPr/>
        </p:nvSpPr>
        <p:spPr>
          <a:xfrm xmlns:a="http://schemas.openxmlformats.org/drawingml/2006/main">
            <a:off x="1809750" y="42481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13" name="">
            <a:extLst xmlns:a="http://schemas.openxmlformats.org/drawingml/2006/main">
              <a:ext uri="{FF2B5EF4-FFF2-40B4-BE49-F238E27FC236}">
                <a16:creationId xmlns:a16="http://schemas.microsoft.com/office/drawing/2014/main" id="{3C40EC25-8C84-48A9-B86B-CD84B1DBFB81}"/>
              </a:ext>
            </a:extLst>
          </p:cNvPr>
          <p:cNvSpPr>
            <a:spLocks xmlns:a="http://schemas.openxmlformats.org/drawingml/2006/main" noGrp="1"/>
          </p:cNvSpPr>
          <p:nvPr/>
        </p:nvSpPr>
        <p:spPr>
          <a:xfrm xmlns:a="http://schemas.openxmlformats.org/drawingml/2006/main">
            <a:off x="1809750" y="36957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9BAB"/>
                </a:solidFill>
              </a:defRPr>
            </a:pPr>
            <a:r>
              <a:rPr sz="960" b="1">
                <a:solidFill>
                  <a:srgbClr val="009BAB"/>
                </a:solidFill>
              </a:rPr>
              <a:t>Vergleich</a:t>
            </a:r>
          </a:p>
        </p:txBody>
      </p:sp>
      <p:sp>
        <p:nvSpPr>
          <p:cNvPr id="14" name="">
            <a:extLst xmlns:a="http://schemas.openxmlformats.org/drawingml/2006/main">
              <a:ext uri="{FF2B5EF4-FFF2-40B4-BE49-F238E27FC236}">
                <a16:creationId xmlns:a16="http://schemas.microsoft.com/office/drawing/2014/main" id="{D5BB1075-5B1E-4041-9EF4-A637A2B96F63}"/>
              </a:ext>
            </a:extLst>
          </p:cNvPr>
          <p:cNvSpPr>
            <a:spLocks xmlns:a="http://schemas.openxmlformats.org/drawingml/2006/main" noGrp="1"/>
          </p:cNvSpPr>
          <p:nvPr/>
        </p:nvSpPr>
        <p:spPr>
          <a:xfrm xmlns:a="http://schemas.openxmlformats.org/drawingml/2006/main">
            <a:off x="2952750" y="36957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Risikoanalyse unter Beweis-, Kosten- und Vollstreckungsunsicherheit.</a:t>
            </a:r>
          </a:p>
        </p:txBody>
      </p:sp>
      <p:sp>
        <p:nvSpPr>
          <p:cNvPr id="15" name="">
            <a:extLst xmlns:a="http://schemas.openxmlformats.org/drawingml/2006/main">
              <a:ext uri="{FF2B5EF4-FFF2-40B4-BE49-F238E27FC236}">
                <a16:creationId xmlns:a16="http://schemas.microsoft.com/office/drawing/2014/main" id="{96D39CDA-68BD-4B2E-822D-B0DBDD4841C4}"/>
              </a:ext>
            </a:extLst>
          </p:cNvPr>
          <p:cNvSpPr>
            <a:spLocks xmlns:a="http://schemas.openxmlformats.org/drawingml/2006/main" noGrp="1"/>
          </p:cNvSpPr>
          <p:nvPr/>
        </p:nvSpPr>
        <p:spPr>
          <a:xfrm xmlns:a="http://schemas.openxmlformats.org/drawingml/2006/main">
            <a:off x="1809750" y="48577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16" name="">
            <a:extLst xmlns:a="http://schemas.openxmlformats.org/drawingml/2006/main">
              <a:ext uri="{FF2B5EF4-FFF2-40B4-BE49-F238E27FC236}">
                <a16:creationId xmlns:a16="http://schemas.microsoft.com/office/drawing/2014/main" id="{61CA82B7-E80B-47C9-80CF-54DB2FC6977D}"/>
              </a:ext>
            </a:extLst>
          </p:cNvPr>
          <p:cNvSpPr>
            <a:spLocks xmlns:a="http://schemas.openxmlformats.org/drawingml/2006/main" noGrp="1"/>
          </p:cNvSpPr>
          <p:nvPr/>
        </p:nvSpPr>
        <p:spPr>
          <a:xfrm xmlns:a="http://schemas.openxmlformats.org/drawingml/2006/main">
            <a:off x="1809750" y="43053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9BAB"/>
                </a:solidFill>
              </a:defRPr>
            </a:pPr>
            <a:r>
              <a:rPr sz="960" b="1">
                <a:solidFill>
                  <a:srgbClr val="009BAB"/>
                </a:solidFill>
              </a:rPr>
              <a:t>Gericht</a:t>
            </a:r>
          </a:p>
        </p:txBody>
      </p:sp>
      <p:sp>
        <p:nvSpPr>
          <p:cNvPr id="17" name="">
            <a:extLst xmlns:a="http://schemas.openxmlformats.org/drawingml/2006/main">
              <a:ext uri="{FF2B5EF4-FFF2-40B4-BE49-F238E27FC236}">
                <a16:creationId xmlns:a16="http://schemas.microsoft.com/office/drawing/2014/main" id="{A7BE218F-7D9B-4106-8402-EEC48D5C0A6A}"/>
              </a:ext>
            </a:extLst>
          </p:cNvPr>
          <p:cNvSpPr>
            <a:spLocks xmlns:a="http://schemas.openxmlformats.org/drawingml/2006/main" noGrp="1"/>
          </p:cNvSpPr>
          <p:nvPr/>
        </p:nvSpPr>
        <p:spPr>
          <a:xfrm xmlns:a="http://schemas.openxmlformats.org/drawingml/2006/main">
            <a:off x="2952750" y="43053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LG Oldenburg: Sitzungshinweise und Besuchsorganisation nach Abstimmung.</a:t>
            </a:r>
          </a:p>
        </p:txBody>
      </p:sp>
      <p:sp>
        <p:nvSpPr>
          <p:cNvPr id="18" name="">
            <a:extLst xmlns:a="http://schemas.openxmlformats.org/drawingml/2006/main">
              <a:ext uri="{FF2B5EF4-FFF2-40B4-BE49-F238E27FC236}">
                <a16:creationId xmlns:a16="http://schemas.microsoft.com/office/drawing/2014/main" id="{BC42E9B2-46B4-48E3-B58B-9864E5392B1F}"/>
              </a:ext>
            </a:extLst>
          </p:cNvPr>
          <p:cNvSpPr>
            <a:spLocks xmlns:a="http://schemas.openxmlformats.org/drawingml/2006/main" noGrp="1"/>
          </p:cNvSpPr>
          <p:nvPr/>
        </p:nvSpPr>
        <p:spPr>
          <a:xfrm xmlns:a="http://schemas.openxmlformats.org/drawingml/2006/main">
            <a:off x="6724650" y="1943100"/>
            <a:ext cx="461010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9" name="">
            <a:extLst xmlns:a="http://schemas.openxmlformats.org/drawingml/2006/main">
              <a:ext uri="{FF2B5EF4-FFF2-40B4-BE49-F238E27FC236}">
                <a16:creationId xmlns:a16="http://schemas.microsoft.com/office/drawing/2014/main" id="{24A56DBA-7E5F-4DF8-B5D9-9B78542ECE98}"/>
              </a:ext>
            </a:extLst>
          </p:cNvPr>
          <p:cNvSpPr>
            <a:spLocks xmlns:a="http://schemas.openxmlformats.org/drawingml/2006/main" noGrp="1"/>
          </p:cNvSpPr>
          <p:nvPr/>
        </p:nvSpPr>
        <p:spPr>
          <a:xfrm xmlns:a="http://schemas.openxmlformats.org/drawingml/2006/main">
            <a:off x="6724650" y="1943100"/>
            <a:ext cx="4610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Primärquellen &amp; Rechtsprechung</a:t>
            </a:r>
          </a:p>
        </p:txBody>
      </p:sp>
      <p:sp>
        <p:nvSpPr>
          <p:cNvPr id="20" name="">
            <a:extLst xmlns:a="http://schemas.openxmlformats.org/drawingml/2006/main">
              <a:ext uri="{FF2B5EF4-FFF2-40B4-BE49-F238E27FC236}">
                <a16:creationId xmlns:a16="http://schemas.microsoft.com/office/drawing/2014/main" id="{A1E3636E-F2DA-4F78-A97F-5E7BA4490BEA}"/>
              </a:ext>
            </a:extLst>
          </p:cNvPr>
          <p:cNvSpPr>
            <a:spLocks xmlns:a="http://schemas.openxmlformats.org/drawingml/2006/main" noGrp="1"/>
          </p:cNvSpPr>
          <p:nvPr/>
        </p:nvSpPr>
        <p:spPr>
          <a:xfrm xmlns:a="http://schemas.openxmlformats.org/drawingml/2006/main">
            <a:off x="6724650" y="30289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21" name="">
            <a:extLst xmlns:a="http://schemas.openxmlformats.org/drawingml/2006/main">
              <a:ext uri="{FF2B5EF4-FFF2-40B4-BE49-F238E27FC236}">
                <a16:creationId xmlns:a16="http://schemas.microsoft.com/office/drawing/2014/main" id="{EDB331AD-B5BF-4222-AD81-0DF2E3FAF2E3}"/>
              </a:ext>
            </a:extLst>
          </p:cNvPr>
          <p:cNvSpPr>
            <a:spLocks xmlns:a="http://schemas.openxmlformats.org/drawingml/2006/main" noGrp="1"/>
          </p:cNvSpPr>
          <p:nvPr/>
        </p:nvSpPr>
        <p:spPr>
          <a:xfrm xmlns:a="http://schemas.openxmlformats.org/drawingml/2006/main">
            <a:off x="6724650" y="24765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3F6B"/>
                </a:solidFill>
              </a:defRPr>
            </a:pPr>
            <a:r>
              <a:rPr sz="960" b="1">
                <a:solidFill>
                  <a:srgbClr val="003F6B"/>
                </a:solidFill>
              </a:rPr>
              <a:t>Normen</a:t>
            </a:r>
          </a:p>
        </p:txBody>
      </p:sp>
      <p:sp>
        <p:nvSpPr>
          <p:cNvPr id="22" name="">
            <a:extLst xmlns:a="http://schemas.openxmlformats.org/drawingml/2006/main">
              <a:ext uri="{FF2B5EF4-FFF2-40B4-BE49-F238E27FC236}">
                <a16:creationId xmlns:a16="http://schemas.microsoft.com/office/drawing/2014/main" id="{FFE43CA7-BF2D-4440-A74E-91EDABDF5E61}"/>
              </a:ext>
            </a:extLst>
          </p:cNvPr>
          <p:cNvSpPr>
            <a:spLocks xmlns:a="http://schemas.openxmlformats.org/drawingml/2006/main" noGrp="1"/>
          </p:cNvSpPr>
          <p:nvPr/>
        </p:nvSpPr>
        <p:spPr>
          <a:xfrm xmlns:a="http://schemas.openxmlformats.org/drawingml/2006/main">
            <a:off x="7867650" y="24765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 253, 278, 286, 287, 402 ff., 91, 511 ZPO.</a:t>
            </a:r>
          </a:p>
        </p:txBody>
      </p:sp>
      <p:sp>
        <p:nvSpPr>
          <p:cNvPr id="23" name="">
            <a:extLst xmlns:a="http://schemas.openxmlformats.org/drawingml/2006/main">
              <a:ext uri="{FF2B5EF4-FFF2-40B4-BE49-F238E27FC236}">
                <a16:creationId xmlns:a16="http://schemas.microsoft.com/office/drawing/2014/main" id="{7223F73B-FD87-4236-ACD7-9E6CDFA25DEF}"/>
              </a:ext>
            </a:extLst>
          </p:cNvPr>
          <p:cNvSpPr>
            <a:spLocks xmlns:a="http://schemas.openxmlformats.org/drawingml/2006/main" noGrp="1"/>
          </p:cNvSpPr>
          <p:nvPr/>
        </p:nvSpPr>
        <p:spPr>
          <a:xfrm xmlns:a="http://schemas.openxmlformats.org/drawingml/2006/main">
            <a:off x="6724650" y="36385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24" name="">
            <a:extLst xmlns:a="http://schemas.openxmlformats.org/drawingml/2006/main">
              <a:ext uri="{FF2B5EF4-FFF2-40B4-BE49-F238E27FC236}">
                <a16:creationId xmlns:a16="http://schemas.microsoft.com/office/drawing/2014/main" id="{9469EB39-B6D1-4DC2-BCAA-62AB2C85241C}"/>
              </a:ext>
            </a:extLst>
          </p:cNvPr>
          <p:cNvSpPr>
            <a:spLocks xmlns:a="http://schemas.openxmlformats.org/drawingml/2006/main" noGrp="1"/>
          </p:cNvSpPr>
          <p:nvPr/>
        </p:nvSpPr>
        <p:spPr>
          <a:xfrm xmlns:a="http://schemas.openxmlformats.org/drawingml/2006/main">
            <a:off x="6724650" y="30861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3F6B"/>
                </a:solidFill>
              </a:defRPr>
            </a:pPr>
            <a:r>
              <a:rPr sz="960" b="1">
                <a:solidFill>
                  <a:srgbClr val="003F6B"/>
                </a:solidFill>
              </a:rPr>
              <a:t>BGH</a:t>
            </a:r>
          </a:p>
        </p:txBody>
      </p:sp>
      <p:sp>
        <p:nvSpPr>
          <p:cNvPr id="25" name="">
            <a:extLst xmlns:a="http://schemas.openxmlformats.org/drawingml/2006/main">
              <a:ext uri="{FF2B5EF4-FFF2-40B4-BE49-F238E27FC236}">
                <a16:creationId xmlns:a16="http://schemas.microsoft.com/office/drawing/2014/main" id="{770FCFFF-4C64-4D0B-93BD-AC8F2074056F}"/>
              </a:ext>
            </a:extLst>
          </p:cNvPr>
          <p:cNvSpPr>
            <a:spLocks xmlns:a="http://schemas.openxmlformats.org/drawingml/2006/main" noGrp="1"/>
          </p:cNvSpPr>
          <p:nvPr/>
        </p:nvSpPr>
        <p:spPr>
          <a:xfrm xmlns:a="http://schemas.openxmlformats.org/drawingml/2006/main">
            <a:off x="7867650" y="30861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VI ZR 257/17 · Sachverständigenanhörung.</a:t>
            </a:r>
          </a:p>
        </p:txBody>
      </p:sp>
      <p:sp>
        <p:nvSpPr>
          <p:cNvPr id="26" name="">
            <a:extLst xmlns:a="http://schemas.openxmlformats.org/drawingml/2006/main">
              <a:ext uri="{FF2B5EF4-FFF2-40B4-BE49-F238E27FC236}">
                <a16:creationId xmlns:a16="http://schemas.microsoft.com/office/drawing/2014/main" id="{08612270-E53B-4EAF-AB04-39FEB1CF1A48}"/>
              </a:ext>
            </a:extLst>
          </p:cNvPr>
          <p:cNvSpPr>
            <a:spLocks xmlns:a="http://schemas.openxmlformats.org/drawingml/2006/main" noGrp="1"/>
          </p:cNvSpPr>
          <p:nvPr/>
        </p:nvSpPr>
        <p:spPr>
          <a:xfrm xmlns:a="http://schemas.openxmlformats.org/drawingml/2006/main">
            <a:off x="6724650" y="42481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27" name="">
            <a:extLst xmlns:a="http://schemas.openxmlformats.org/drawingml/2006/main">
              <a:ext uri="{FF2B5EF4-FFF2-40B4-BE49-F238E27FC236}">
                <a16:creationId xmlns:a16="http://schemas.microsoft.com/office/drawing/2014/main" id="{54A2E8A6-9D72-47E1-8CFE-53E97F82190D}"/>
              </a:ext>
            </a:extLst>
          </p:cNvPr>
          <p:cNvSpPr>
            <a:spLocks xmlns:a="http://schemas.openxmlformats.org/drawingml/2006/main" noGrp="1"/>
          </p:cNvSpPr>
          <p:nvPr/>
        </p:nvSpPr>
        <p:spPr>
          <a:xfrm xmlns:a="http://schemas.openxmlformats.org/drawingml/2006/main">
            <a:off x="6724650" y="36957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3F6B"/>
                </a:solidFill>
              </a:defRPr>
            </a:pPr>
            <a:r>
              <a:rPr sz="960" b="1">
                <a:solidFill>
                  <a:srgbClr val="003F6B"/>
                </a:solidFill>
              </a:rPr>
              <a:t>Grundrecht</a:t>
            </a:r>
          </a:p>
        </p:txBody>
      </p:sp>
      <p:sp>
        <p:nvSpPr>
          <p:cNvPr id="28" name="">
            <a:extLst xmlns:a="http://schemas.openxmlformats.org/drawingml/2006/main">
              <a:ext uri="{FF2B5EF4-FFF2-40B4-BE49-F238E27FC236}">
                <a16:creationId xmlns:a16="http://schemas.microsoft.com/office/drawing/2014/main" id="{175209AA-272A-4D88-887B-B01F442DDEA9}"/>
              </a:ext>
            </a:extLst>
          </p:cNvPr>
          <p:cNvSpPr>
            <a:spLocks xmlns:a="http://schemas.openxmlformats.org/drawingml/2006/main" noGrp="1"/>
          </p:cNvSpPr>
          <p:nvPr/>
        </p:nvSpPr>
        <p:spPr>
          <a:xfrm xmlns:a="http://schemas.openxmlformats.org/drawingml/2006/main">
            <a:off x="7867650" y="36957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Art. 103 Abs. 1 GG · rechtliches Gehör.</a:t>
            </a:r>
          </a:p>
        </p:txBody>
      </p:sp>
      <p:sp>
        <p:nvSpPr>
          <p:cNvPr id="29" name="">
            <a:extLst xmlns:a="http://schemas.openxmlformats.org/drawingml/2006/main">
              <a:ext uri="{FF2B5EF4-FFF2-40B4-BE49-F238E27FC236}">
                <a16:creationId xmlns:a16="http://schemas.microsoft.com/office/drawing/2014/main" id="{5E853ABA-FBD3-43E2-BB5D-58F9DCDB42D8}"/>
              </a:ext>
            </a:extLst>
          </p:cNvPr>
          <p:cNvSpPr>
            <a:spLocks xmlns:a="http://schemas.openxmlformats.org/drawingml/2006/main" noGrp="1"/>
          </p:cNvSpPr>
          <p:nvPr/>
        </p:nvSpPr>
        <p:spPr>
          <a:xfrm xmlns:a="http://schemas.openxmlformats.org/drawingml/2006/main">
            <a:off x="6724650" y="48577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30" name="">
            <a:extLst xmlns:a="http://schemas.openxmlformats.org/drawingml/2006/main">
              <a:ext uri="{FF2B5EF4-FFF2-40B4-BE49-F238E27FC236}">
                <a16:creationId xmlns:a16="http://schemas.microsoft.com/office/drawing/2014/main" id="{A6E90F66-2963-4DC2-8BF8-739D02397536}"/>
              </a:ext>
            </a:extLst>
          </p:cNvPr>
          <p:cNvSpPr>
            <a:spLocks xmlns:a="http://schemas.openxmlformats.org/drawingml/2006/main" noGrp="1"/>
          </p:cNvSpPr>
          <p:nvPr/>
        </p:nvSpPr>
        <p:spPr>
          <a:xfrm xmlns:a="http://schemas.openxmlformats.org/drawingml/2006/main">
            <a:off x="6724650" y="43053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3F6B"/>
                </a:solidFill>
              </a:defRPr>
            </a:pPr>
            <a:r>
              <a:rPr sz="960" b="1">
                <a:solidFill>
                  <a:srgbClr val="003F6B"/>
                </a:solidFill>
              </a:rPr>
              <a:t>Amtlich</a:t>
            </a:r>
          </a:p>
        </p:txBody>
      </p:sp>
      <p:sp>
        <p:nvSpPr>
          <p:cNvPr id="31" name="">
            <a:extLst xmlns:a="http://schemas.openxmlformats.org/drawingml/2006/main">
              <a:ext uri="{FF2B5EF4-FFF2-40B4-BE49-F238E27FC236}">
                <a16:creationId xmlns:a16="http://schemas.microsoft.com/office/drawing/2014/main" id="{C3BD7DDD-6D7C-424D-B26F-9FED342EEB1D}"/>
              </a:ext>
            </a:extLst>
          </p:cNvPr>
          <p:cNvSpPr>
            <a:spLocks xmlns:a="http://schemas.openxmlformats.org/drawingml/2006/main" noGrp="1"/>
          </p:cNvSpPr>
          <p:nvPr/>
        </p:nvSpPr>
        <p:spPr>
          <a:xfrm xmlns:a="http://schemas.openxmlformats.org/drawingml/2006/main">
            <a:off x="7867650" y="43053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gesetze-im-internet.de/zpo/ZPO.pdf</a:t>
            </a:r>
          </a:p>
        </p:txBody>
      </p:sp>
      <p:sp>
        <p:nvSpPr>
          <p:cNvPr id="32" name="">
            <a:extLst xmlns:a="http://schemas.openxmlformats.org/drawingml/2006/main">
              <a:ext uri="{FF2B5EF4-FFF2-40B4-BE49-F238E27FC236}">
                <a16:creationId xmlns:a16="http://schemas.microsoft.com/office/drawing/2014/main" id="{5B1E9727-1B02-4B27-AB29-1D39A8752F11}"/>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20">
                <a:solidFill>
                  <a:srgbClr val="667680"/>
                </a:solidFill>
              </a:defRPr>
            </a:pPr>
            <a:r>
              <a:rPr sz="720">
                <a:solidFill>
                  <a:srgbClr val="667680"/>
                </a:solidFill>
              </a:rPr>
              <a:t>Alle Internetquellen Abruf/Stand: 20.08.2026. Gesetze: aktuelle Fassung jeweils vor Anwendung prüfen · https://www.rechtsprechung-im-internet.de</a:t>
            </a:r>
          </a:p>
        </p:txBody>
      </p:sp>
    </p:spTree>
    <p:extLst>
      <p:ext uri="{BB962C8B-B14F-4D97-AF65-F5344CB8AC3E}">
        <p14:creationId xmlns:p14="http://schemas.microsoft.com/office/powerpoint/2010/main" val="43637646"/>
      </p:ext>
    </p:extLst>
  </p:cSld>
</p:sld>
</file>

<file path=ppt/slides/slide212.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endParaRPr/>
          </a:p>
        </p:txBody>
      </p:sp>
      <p:sp>
        <p:nvSpPr>
          <p:cNvPr id="4" name="">
            <a:extLst xmlns:a="http://schemas.openxmlformats.org/drawingml/2006/main">
              <a:ext uri="{FF2B5EF4-FFF2-40B4-BE49-F238E27FC236}">
                <a16:creationId xmlns:a16="http://schemas.microsoft.com/office/drawing/2014/main" id="{19B5FFDE-12BA-467D-8E17-3D740143D4E0}"/>
              </a:ext>
            </a:extLst>
          </p:cNvPr>
          <p:cNvSpPr>
            <a:spLocks xmlns:a="http://schemas.openxmlformats.org/drawingml/2006/main" noGrp="1"/>
          </p:cNvSpPr>
          <p:nvPr/>
        </p:nvSpPr>
        <p:spPr>
          <a:xfrm xmlns:a="http://schemas.openxmlformats.org/drawingml/2006/main">
            <a:off x="2571750" y="2038350"/>
            <a:ext cx="838200" cy="628650"/>
          </a:xfrm>
          <a:prstGeom xmlns:a="http://schemas.openxmlformats.org/drawingml/2006/main" prst="roundRect">
            <a:avLst>
              <a:gd name="adj" fmla="val 12121"/>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BCD6B8EF-B06A-488D-8616-73851D36D88E}"/>
              </a:ext>
            </a:extLst>
          </p:cNvPr>
          <p:cNvSpPr>
            <a:spLocks xmlns:a="http://schemas.openxmlformats.org/drawingml/2006/main" noGrp="1"/>
          </p:cNvSpPr>
          <p:nvPr/>
        </p:nvSpPr>
        <p:spPr>
          <a:xfrm xmlns:a="http://schemas.openxmlformats.org/drawingml/2006/main">
            <a:off x="2571750" y="2038350"/>
            <a:ext cx="8382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FFFFFF"/>
                </a:solidFill>
              </a:defRPr>
            </a:pPr>
            <a:r>
              <a:rPr sz="2100" b="1">
                <a:solidFill>
                  <a:srgbClr val="FFFFFF"/>
                </a:solidFill>
              </a:rPr>
              <a:t>08</a:t>
            </a:r>
          </a:p>
        </p:txBody>
      </p:sp>
      <p:sp>
        <p:nvSpPr>
          <p:cNvPr id="6" name="">
            <a:extLst xmlns:a="http://schemas.openxmlformats.org/drawingml/2006/main">
              <a:ext uri="{FF2B5EF4-FFF2-40B4-BE49-F238E27FC236}">
                <a16:creationId xmlns:a16="http://schemas.microsoft.com/office/drawing/2014/main" id="{BD380B6C-BB88-4163-A994-F3F422239D79}"/>
              </a:ext>
            </a:extLst>
          </p:cNvPr>
          <p:cNvSpPr>
            <a:spLocks xmlns:a="http://schemas.openxmlformats.org/drawingml/2006/main" noGrp="1"/>
          </p:cNvSpPr>
          <p:nvPr/>
        </p:nvSpPr>
        <p:spPr>
          <a:xfrm xmlns:a="http://schemas.openxmlformats.org/drawingml/2006/main">
            <a:off x="3667125" y="2000250"/>
            <a:ext cx="8096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4400">
                <a:solidFill>
                  <a:srgbClr val="003F6B"/>
                </a:solidFill>
              </a:defRPr>
            </a:pPr>
            <a:r>
              <a:rPr sz="4400">
                <a:solidFill>
                  <a:srgbClr val="003F6B"/>
                </a:solidFill>
              </a:rPr>
              <a:t>Strafverfahren</a:t>
            </a:r>
          </a:p>
        </p:txBody>
      </p:sp>
      <p:sp>
        <p:nvSpPr>
          <p:cNvPr id="7" name="">
            <a:extLst xmlns:a="http://schemas.openxmlformats.org/drawingml/2006/main">
              <a:ext uri="{FF2B5EF4-FFF2-40B4-BE49-F238E27FC236}">
                <a16:creationId xmlns:a16="http://schemas.microsoft.com/office/drawing/2014/main" id="{3ED6B896-1F7F-4A15-93BA-6E5550E2BEA5}"/>
              </a:ext>
            </a:extLst>
          </p:cNvPr>
          <p:cNvSpPr>
            <a:spLocks xmlns:a="http://schemas.openxmlformats.org/drawingml/2006/main" noGrp="1"/>
          </p:cNvSpPr>
          <p:nvPr/>
        </p:nvSpPr>
        <p:spPr>
          <a:xfrm xmlns:a="http://schemas.openxmlformats.org/drawingml/2006/main">
            <a:off x="3238500" y="3333750"/>
            <a:ext cx="8524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400">
                <a:solidFill>
                  <a:srgbClr val="003F6B"/>
                </a:solidFill>
              </a:defRPr>
            </a:pPr>
            <a:r>
              <a:rPr sz="2400">
                <a:solidFill>
                  <a:srgbClr val="003F6B"/>
                </a:solidFill>
              </a:rPr>
              <a:t>Termin: 02.12.2026 · 16:30–17:45 · online</a:t>
            </a:r>
          </a:p>
        </p:txBody>
      </p:sp>
      <p:sp>
        <p:nvSpPr>
          <p:cNvPr id="8" name="">
            <a:extLst xmlns:a="http://schemas.openxmlformats.org/drawingml/2006/main">
              <a:ext uri="{FF2B5EF4-FFF2-40B4-BE49-F238E27FC236}">
                <a16:creationId xmlns:a16="http://schemas.microsoft.com/office/drawing/2014/main" id="{87E02514-481F-4C2F-B24E-1ED65DB990B4}"/>
              </a:ext>
            </a:extLst>
          </p:cNvPr>
          <p:cNvSpPr>
            <a:spLocks xmlns:a="http://schemas.openxmlformats.org/drawingml/2006/main" noGrp="1"/>
          </p:cNvSpPr>
          <p:nvPr/>
        </p:nvSpPr>
        <p:spPr>
          <a:xfrm xmlns:a="http://schemas.openxmlformats.org/drawingml/2006/main">
            <a:off x="3238500" y="3752850"/>
            <a:ext cx="8524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400">
                <a:solidFill>
                  <a:srgbClr val="003F6B"/>
                </a:solidFill>
              </a:defRPr>
            </a:pPr>
            <a:r>
              <a:rPr sz="2400">
                <a:solidFill>
                  <a:srgbClr val="003F6B"/>
                </a:solidFill>
              </a:rPr>
              <a:t>Anfangsverdacht, Schweigen, Verteidigung und persönliche Schuld</a:t>
            </a:r>
          </a:p>
        </p:txBody>
      </p:sp>
      <p:sp>
        <p:nvSpPr>
          <p:cNvPr id="9" name="">
            <a:extLst xmlns:a="http://schemas.openxmlformats.org/drawingml/2006/main">
              <a:ext uri="{FF2B5EF4-FFF2-40B4-BE49-F238E27FC236}">
                <a16:creationId xmlns:a16="http://schemas.microsoft.com/office/drawing/2014/main" id="{86A20BC5-8CFB-4CD1-870A-2910125253BB}"/>
              </a:ext>
            </a:extLst>
          </p:cNvPr>
          <p:cNvSpPr>
            <a:spLocks xmlns:a="http://schemas.openxmlformats.org/drawingml/2006/main" noGrp="1"/>
          </p:cNvSpPr>
          <p:nvPr/>
        </p:nvSpPr>
        <p:spPr>
          <a:xfrm xmlns:a="http://schemas.openxmlformats.org/drawingml/2006/main">
            <a:off x="3238500" y="4552950"/>
            <a:ext cx="8524875"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400">
                <a:solidFill>
                  <a:srgbClr val="003F6B"/>
                </a:solidFill>
              </a:defRPr>
            </a:pPr>
            <a:r>
              <a:rPr sz="2400">
                <a:solidFill>
                  <a:srgbClr val="003F6B"/>
                </a:solidFill>
              </a:rPr>
              <a:t>Wenn aus einem Zwischenfall eine Ermittlungsakte wird.</a:t>
            </a:r>
          </a:p>
        </p:txBody>
      </p:sp>
    </p:spTree>
    <p:extLst>
      <p:ext uri="{BB962C8B-B14F-4D97-AF65-F5344CB8AC3E}">
        <p14:creationId xmlns:p14="http://schemas.microsoft.com/office/powerpoint/2010/main" val="43637646"/>
      </p:ext>
    </p:extLst>
  </p:cSld>
</p:sld>
</file>

<file path=ppt/slides/slide213.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Lernziele Termin 08: Strafverfahren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CHECKLISTE · AM ENDE DES HEUTIGEN TERMINS KANN ICH …</a:t>
            </a:r>
            <a:endParaRPr/>
          </a:p>
        </p:txBody>
      </p:sp>
      <p:sp>
        <p:nvSpPr>
          <p:cNvPr id="4" name="">
            <a:extLst xmlns:a="http://schemas.openxmlformats.org/drawingml/2006/main">
              <a:ext uri="{FF2B5EF4-FFF2-40B4-BE49-F238E27FC236}">
                <a16:creationId xmlns:a16="http://schemas.microsoft.com/office/drawing/2014/main" id="{68077DEE-F1FD-4FBB-91B3-D6BEB47DCF95}"/>
              </a:ext>
            </a:extLst>
          </p:cNvPr>
          <p:cNvSpPr>
            <a:spLocks xmlns:a="http://schemas.openxmlformats.org/drawingml/2006/main" noGrp="1"/>
          </p:cNvSpPr>
          <p:nvPr/>
        </p:nvSpPr>
        <p:spPr>
          <a:xfrm xmlns:a="http://schemas.openxmlformats.org/drawingml/2006/main">
            <a:off x="1809750" y="198120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B2BB"/>
            </a:solidFill>
            <a:prstDash val="solid"/>
          </a:ln>
        </p:spPr>
      </p:sp>
      <p:sp>
        <p:nvSpPr>
          <p:cNvPr id="5" name="">
            <a:extLst xmlns:a="http://schemas.openxmlformats.org/drawingml/2006/main">
              <a:ext uri="{FF2B5EF4-FFF2-40B4-BE49-F238E27FC236}">
                <a16:creationId xmlns:a16="http://schemas.microsoft.com/office/drawing/2014/main" id="{54B96F85-A7CD-48E7-B253-722F866CCE6D}"/>
              </a:ext>
            </a:extLst>
          </p:cNvPr>
          <p:cNvSpPr>
            <a:spLocks xmlns:a="http://schemas.openxmlformats.org/drawingml/2006/main" noGrp="1"/>
          </p:cNvSpPr>
          <p:nvPr/>
        </p:nvSpPr>
        <p:spPr>
          <a:xfrm xmlns:a="http://schemas.openxmlformats.org/drawingml/2006/main">
            <a:off x="1943100" y="2124075"/>
            <a:ext cx="40005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1F04D099-49EE-46FD-9440-6D68A985C306}"/>
              </a:ext>
            </a:extLst>
          </p:cNvPr>
          <p:cNvSpPr>
            <a:spLocks xmlns:a="http://schemas.openxmlformats.org/drawingml/2006/main" noGrp="1"/>
          </p:cNvSpPr>
          <p:nvPr/>
        </p:nvSpPr>
        <p:spPr>
          <a:xfrm xmlns:a="http://schemas.openxmlformats.org/drawingml/2006/main">
            <a:off x="1943100" y="21050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7" name="">
            <a:extLst xmlns:a="http://schemas.openxmlformats.org/drawingml/2006/main">
              <a:ext uri="{FF2B5EF4-FFF2-40B4-BE49-F238E27FC236}">
                <a16:creationId xmlns:a16="http://schemas.microsoft.com/office/drawing/2014/main" id="{69D05652-F01C-4CED-AEA5-C5FCDBBF59F3}"/>
              </a:ext>
            </a:extLst>
          </p:cNvPr>
          <p:cNvSpPr>
            <a:spLocks xmlns:a="http://schemas.openxmlformats.org/drawingml/2006/main" noGrp="1"/>
          </p:cNvSpPr>
          <p:nvPr/>
        </p:nvSpPr>
        <p:spPr>
          <a:xfrm xmlns:a="http://schemas.openxmlformats.org/drawingml/2006/main">
            <a:off x="2476500" y="207645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ärztliche Körperverletzungs- und Fahrlässigkeitsdelikte prüfen.</a:t>
            </a:r>
          </a:p>
        </p:txBody>
      </p:sp>
      <p:sp>
        <p:nvSpPr>
          <p:cNvPr id="8" name="">
            <a:extLst xmlns:a="http://schemas.openxmlformats.org/drawingml/2006/main">
              <a:ext uri="{FF2B5EF4-FFF2-40B4-BE49-F238E27FC236}">
                <a16:creationId xmlns:a16="http://schemas.microsoft.com/office/drawing/2014/main" id="{CC5D6002-D0EC-4FA3-861F-806D749E91EE}"/>
              </a:ext>
            </a:extLst>
          </p:cNvPr>
          <p:cNvSpPr>
            <a:spLocks xmlns:a="http://schemas.openxmlformats.org/drawingml/2006/main" noGrp="1"/>
          </p:cNvSpPr>
          <p:nvPr/>
        </p:nvSpPr>
        <p:spPr>
          <a:xfrm xmlns:a="http://schemas.openxmlformats.org/drawingml/2006/main">
            <a:off x="6696075" y="198120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3F6B"/>
            </a:solidFill>
            <a:prstDash val="solid"/>
          </a:ln>
        </p:spPr>
      </p:sp>
      <p:sp>
        <p:nvSpPr>
          <p:cNvPr id="9" name="">
            <a:extLst xmlns:a="http://schemas.openxmlformats.org/drawingml/2006/main">
              <a:ext uri="{FF2B5EF4-FFF2-40B4-BE49-F238E27FC236}">
                <a16:creationId xmlns:a16="http://schemas.microsoft.com/office/drawing/2014/main" id="{0D4A0347-5320-4C8E-8C44-FBE59D8B9587}"/>
              </a:ext>
            </a:extLst>
          </p:cNvPr>
          <p:cNvSpPr>
            <a:spLocks xmlns:a="http://schemas.openxmlformats.org/drawingml/2006/main" noGrp="1"/>
          </p:cNvSpPr>
          <p:nvPr/>
        </p:nvSpPr>
        <p:spPr>
          <a:xfrm xmlns:a="http://schemas.openxmlformats.org/drawingml/2006/main">
            <a:off x="6829425" y="2124075"/>
            <a:ext cx="4000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10789931-AD1A-458C-BC84-E58C88EB64A2}"/>
              </a:ext>
            </a:extLst>
          </p:cNvPr>
          <p:cNvSpPr>
            <a:spLocks xmlns:a="http://schemas.openxmlformats.org/drawingml/2006/main" noGrp="1"/>
          </p:cNvSpPr>
          <p:nvPr/>
        </p:nvSpPr>
        <p:spPr>
          <a:xfrm xmlns:a="http://schemas.openxmlformats.org/drawingml/2006/main">
            <a:off x="6829425" y="21050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11" name="">
            <a:extLst xmlns:a="http://schemas.openxmlformats.org/drawingml/2006/main">
              <a:ext uri="{FF2B5EF4-FFF2-40B4-BE49-F238E27FC236}">
                <a16:creationId xmlns:a16="http://schemas.microsoft.com/office/drawing/2014/main" id="{8B14E817-42DF-4C01-9760-468BA1A15360}"/>
              </a:ext>
            </a:extLst>
          </p:cNvPr>
          <p:cNvSpPr>
            <a:spLocks xmlns:a="http://schemas.openxmlformats.org/drawingml/2006/main" noGrp="1"/>
          </p:cNvSpPr>
          <p:nvPr/>
        </p:nvSpPr>
        <p:spPr>
          <a:xfrm xmlns:a="http://schemas.openxmlformats.org/drawingml/2006/main">
            <a:off x="7362825" y="207645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Tun und Unterlassen mit Garantenstellung unterscheiden.</a:t>
            </a:r>
          </a:p>
        </p:txBody>
      </p:sp>
      <p:sp>
        <p:nvSpPr>
          <p:cNvPr id="12" name="">
            <a:extLst xmlns:a="http://schemas.openxmlformats.org/drawingml/2006/main">
              <a:ext uri="{FF2B5EF4-FFF2-40B4-BE49-F238E27FC236}">
                <a16:creationId xmlns:a16="http://schemas.microsoft.com/office/drawing/2014/main" id="{284D1C19-5CCC-41AC-A097-4DA6A61E3CFD}"/>
              </a:ext>
            </a:extLst>
          </p:cNvPr>
          <p:cNvSpPr>
            <a:spLocks xmlns:a="http://schemas.openxmlformats.org/drawingml/2006/main" noGrp="1"/>
          </p:cNvSpPr>
          <p:nvPr/>
        </p:nvSpPr>
        <p:spPr>
          <a:xfrm xmlns:a="http://schemas.openxmlformats.org/drawingml/2006/main">
            <a:off x="1809750" y="316865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B2BB"/>
            </a:solidFill>
            <a:prstDash val="solid"/>
          </a:ln>
        </p:spPr>
      </p:sp>
      <p:sp>
        <p:nvSpPr>
          <p:cNvPr id="13" name="">
            <a:extLst xmlns:a="http://schemas.openxmlformats.org/drawingml/2006/main">
              <a:ext uri="{FF2B5EF4-FFF2-40B4-BE49-F238E27FC236}">
                <a16:creationId xmlns:a16="http://schemas.microsoft.com/office/drawing/2014/main" id="{199968AF-E782-4E95-A30A-581E5CF7EBC7}"/>
              </a:ext>
            </a:extLst>
          </p:cNvPr>
          <p:cNvSpPr>
            <a:spLocks xmlns:a="http://schemas.openxmlformats.org/drawingml/2006/main" noGrp="1"/>
          </p:cNvSpPr>
          <p:nvPr/>
        </p:nvSpPr>
        <p:spPr>
          <a:xfrm xmlns:a="http://schemas.openxmlformats.org/drawingml/2006/main">
            <a:off x="1943100" y="3311525"/>
            <a:ext cx="40005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26A69CC0-0484-49E3-98AE-04C35BEF153A}"/>
              </a:ext>
            </a:extLst>
          </p:cNvPr>
          <p:cNvSpPr>
            <a:spLocks xmlns:a="http://schemas.openxmlformats.org/drawingml/2006/main" noGrp="1"/>
          </p:cNvSpPr>
          <p:nvPr/>
        </p:nvSpPr>
        <p:spPr>
          <a:xfrm xmlns:a="http://schemas.openxmlformats.org/drawingml/2006/main">
            <a:off x="1943100" y="32924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15" name="">
            <a:extLst xmlns:a="http://schemas.openxmlformats.org/drawingml/2006/main">
              <a:ext uri="{FF2B5EF4-FFF2-40B4-BE49-F238E27FC236}">
                <a16:creationId xmlns:a16="http://schemas.microsoft.com/office/drawing/2014/main" id="{8CCD9987-EE07-44BA-B54B-1DCCC14DD787}"/>
              </a:ext>
            </a:extLst>
          </p:cNvPr>
          <p:cNvSpPr>
            <a:spLocks xmlns:a="http://schemas.openxmlformats.org/drawingml/2006/main" noGrp="1"/>
          </p:cNvSpPr>
          <p:nvPr/>
        </p:nvSpPr>
        <p:spPr>
          <a:xfrm xmlns:a="http://schemas.openxmlformats.org/drawingml/2006/main">
            <a:off x="2476500" y="326390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Ermittlungs-, Zwischen- und Hauptverfahren Schritt für Schritt erklären.</a:t>
            </a:r>
          </a:p>
        </p:txBody>
      </p:sp>
      <p:sp>
        <p:nvSpPr>
          <p:cNvPr id="16" name="">
            <a:extLst xmlns:a="http://schemas.openxmlformats.org/drawingml/2006/main">
              <a:ext uri="{FF2B5EF4-FFF2-40B4-BE49-F238E27FC236}">
                <a16:creationId xmlns:a16="http://schemas.microsoft.com/office/drawing/2014/main" id="{F62DE7B9-6AB2-4579-BE37-443C74B07344}"/>
              </a:ext>
            </a:extLst>
          </p:cNvPr>
          <p:cNvSpPr>
            <a:spLocks xmlns:a="http://schemas.openxmlformats.org/drawingml/2006/main" noGrp="1"/>
          </p:cNvSpPr>
          <p:nvPr/>
        </p:nvSpPr>
        <p:spPr>
          <a:xfrm xmlns:a="http://schemas.openxmlformats.org/drawingml/2006/main">
            <a:off x="6696075" y="316865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3F6B"/>
            </a:solidFill>
            <a:prstDash val="solid"/>
          </a:ln>
        </p:spPr>
      </p:sp>
      <p:sp>
        <p:nvSpPr>
          <p:cNvPr id="17" name="">
            <a:extLst xmlns:a="http://schemas.openxmlformats.org/drawingml/2006/main">
              <a:ext uri="{FF2B5EF4-FFF2-40B4-BE49-F238E27FC236}">
                <a16:creationId xmlns:a16="http://schemas.microsoft.com/office/drawing/2014/main" id="{C277E3B9-D3B4-4926-BC23-61D3F7B4987B}"/>
              </a:ext>
            </a:extLst>
          </p:cNvPr>
          <p:cNvSpPr>
            <a:spLocks xmlns:a="http://schemas.openxmlformats.org/drawingml/2006/main" noGrp="1"/>
          </p:cNvSpPr>
          <p:nvPr/>
        </p:nvSpPr>
        <p:spPr>
          <a:xfrm xmlns:a="http://schemas.openxmlformats.org/drawingml/2006/main">
            <a:off x="6829425" y="3311525"/>
            <a:ext cx="4000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84E0955C-FCA9-4DA5-A4CC-2810C5B32530}"/>
              </a:ext>
            </a:extLst>
          </p:cNvPr>
          <p:cNvSpPr>
            <a:spLocks xmlns:a="http://schemas.openxmlformats.org/drawingml/2006/main" noGrp="1"/>
          </p:cNvSpPr>
          <p:nvPr/>
        </p:nvSpPr>
        <p:spPr>
          <a:xfrm xmlns:a="http://schemas.openxmlformats.org/drawingml/2006/main">
            <a:off x="6829425" y="32924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19" name="">
            <a:extLst xmlns:a="http://schemas.openxmlformats.org/drawingml/2006/main">
              <a:ext uri="{FF2B5EF4-FFF2-40B4-BE49-F238E27FC236}">
                <a16:creationId xmlns:a16="http://schemas.microsoft.com/office/drawing/2014/main" id="{739E7BC0-62DD-4C6C-8324-493DBD15D0EE}"/>
              </a:ext>
            </a:extLst>
          </p:cNvPr>
          <p:cNvSpPr>
            <a:spLocks xmlns:a="http://schemas.openxmlformats.org/drawingml/2006/main" noGrp="1"/>
          </p:cNvSpPr>
          <p:nvPr/>
        </p:nvSpPr>
        <p:spPr>
          <a:xfrm xmlns:a="http://schemas.openxmlformats.org/drawingml/2006/main">
            <a:off x="7362825" y="326390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Beschuldigtenrechte, Schweigen und Verteidigerbeistand anwenden.</a:t>
            </a:r>
          </a:p>
        </p:txBody>
      </p:sp>
      <p:sp>
        <p:nvSpPr>
          <p:cNvPr id="20" name="">
            <a:extLst xmlns:a="http://schemas.openxmlformats.org/drawingml/2006/main">
              <a:ext uri="{FF2B5EF4-FFF2-40B4-BE49-F238E27FC236}">
                <a16:creationId xmlns:a16="http://schemas.microsoft.com/office/drawing/2014/main" id="{FB7EDD22-4349-4F32-94A4-4856BD27E637}"/>
              </a:ext>
            </a:extLst>
          </p:cNvPr>
          <p:cNvSpPr>
            <a:spLocks xmlns:a="http://schemas.openxmlformats.org/drawingml/2006/main" noGrp="1"/>
          </p:cNvSpPr>
          <p:nvPr/>
        </p:nvSpPr>
        <p:spPr>
          <a:xfrm xmlns:a="http://schemas.openxmlformats.org/drawingml/2006/main">
            <a:off x="1809750" y="435610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B2BB"/>
            </a:solidFill>
            <a:prstDash val="solid"/>
          </a:ln>
        </p:spPr>
      </p:sp>
      <p:sp>
        <p:nvSpPr>
          <p:cNvPr id="21" name="">
            <a:extLst xmlns:a="http://schemas.openxmlformats.org/drawingml/2006/main">
              <a:ext uri="{FF2B5EF4-FFF2-40B4-BE49-F238E27FC236}">
                <a16:creationId xmlns:a16="http://schemas.microsoft.com/office/drawing/2014/main" id="{4C3C4C61-36C8-4252-952B-82788FA31F51}"/>
              </a:ext>
            </a:extLst>
          </p:cNvPr>
          <p:cNvSpPr>
            <a:spLocks xmlns:a="http://schemas.openxmlformats.org/drawingml/2006/main" noGrp="1"/>
          </p:cNvSpPr>
          <p:nvPr/>
        </p:nvSpPr>
        <p:spPr>
          <a:xfrm xmlns:a="http://schemas.openxmlformats.org/drawingml/2006/main">
            <a:off x="1943100" y="4498975"/>
            <a:ext cx="40005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2" name="">
            <a:extLst xmlns:a="http://schemas.openxmlformats.org/drawingml/2006/main">
              <a:ext uri="{FF2B5EF4-FFF2-40B4-BE49-F238E27FC236}">
                <a16:creationId xmlns:a16="http://schemas.microsoft.com/office/drawing/2014/main" id="{EF892BF6-46BC-4F2F-81B3-4CF8892C5231}"/>
              </a:ext>
            </a:extLst>
          </p:cNvPr>
          <p:cNvSpPr>
            <a:spLocks xmlns:a="http://schemas.openxmlformats.org/drawingml/2006/main" noGrp="1"/>
          </p:cNvSpPr>
          <p:nvPr/>
        </p:nvSpPr>
        <p:spPr>
          <a:xfrm xmlns:a="http://schemas.openxmlformats.org/drawingml/2006/main">
            <a:off x="1943100" y="44799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23" name="">
            <a:extLst xmlns:a="http://schemas.openxmlformats.org/drawingml/2006/main">
              <a:ext uri="{FF2B5EF4-FFF2-40B4-BE49-F238E27FC236}">
                <a16:creationId xmlns:a16="http://schemas.microsoft.com/office/drawing/2014/main" id="{21D4B6D1-EC95-4ECF-9EE2-0331641663F5}"/>
              </a:ext>
            </a:extLst>
          </p:cNvPr>
          <p:cNvSpPr>
            <a:spLocks xmlns:a="http://schemas.openxmlformats.org/drawingml/2006/main" noGrp="1"/>
          </p:cNvSpPr>
          <p:nvPr/>
        </p:nvSpPr>
        <p:spPr>
          <a:xfrm xmlns:a="http://schemas.openxmlformats.org/drawingml/2006/main">
            <a:off x="2476500" y="445135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Durchsuchung, Beschlagnahme und Schweigepflicht einordnen.</a:t>
            </a:r>
          </a:p>
        </p:txBody>
      </p:sp>
      <p:sp>
        <p:nvSpPr>
          <p:cNvPr id="24" name="">
            <a:extLst xmlns:a="http://schemas.openxmlformats.org/drawingml/2006/main">
              <a:ext uri="{FF2B5EF4-FFF2-40B4-BE49-F238E27FC236}">
                <a16:creationId xmlns:a16="http://schemas.microsoft.com/office/drawing/2014/main" id="{26C24441-D7F2-48A4-9BBA-E4E26F64A263}"/>
              </a:ext>
            </a:extLst>
          </p:cNvPr>
          <p:cNvSpPr>
            <a:spLocks xmlns:a="http://schemas.openxmlformats.org/drawingml/2006/main" noGrp="1"/>
          </p:cNvSpPr>
          <p:nvPr/>
        </p:nvSpPr>
        <p:spPr>
          <a:xfrm xmlns:a="http://schemas.openxmlformats.org/drawingml/2006/main">
            <a:off x="6696075" y="435610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3F6B"/>
            </a:solidFill>
            <a:prstDash val="solid"/>
          </a:ln>
        </p:spPr>
      </p:sp>
      <p:sp>
        <p:nvSpPr>
          <p:cNvPr id="25" name="">
            <a:extLst xmlns:a="http://schemas.openxmlformats.org/drawingml/2006/main">
              <a:ext uri="{FF2B5EF4-FFF2-40B4-BE49-F238E27FC236}">
                <a16:creationId xmlns:a16="http://schemas.microsoft.com/office/drawing/2014/main" id="{7C0CE8CB-B2D8-4087-96CC-88E40410BAF3}"/>
              </a:ext>
            </a:extLst>
          </p:cNvPr>
          <p:cNvSpPr>
            <a:spLocks xmlns:a="http://schemas.openxmlformats.org/drawingml/2006/main" noGrp="1"/>
          </p:cNvSpPr>
          <p:nvPr/>
        </p:nvSpPr>
        <p:spPr>
          <a:xfrm xmlns:a="http://schemas.openxmlformats.org/drawingml/2006/main">
            <a:off x="6829425" y="4498975"/>
            <a:ext cx="4000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26" name="">
            <a:extLst xmlns:a="http://schemas.openxmlformats.org/drawingml/2006/main">
              <a:ext uri="{FF2B5EF4-FFF2-40B4-BE49-F238E27FC236}">
                <a16:creationId xmlns:a16="http://schemas.microsoft.com/office/drawing/2014/main" id="{3A4FF7F4-3144-4CF7-8569-83900A506D97}"/>
              </a:ext>
            </a:extLst>
          </p:cNvPr>
          <p:cNvSpPr>
            <a:spLocks xmlns:a="http://schemas.openxmlformats.org/drawingml/2006/main" noGrp="1"/>
          </p:cNvSpPr>
          <p:nvPr/>
        </p:nvSpPr>
        <p:spPr>
          <a:xfrm xmlns:a="http://schemas.openxmlformats.org/drawingml/2006/main">
            <a:off x="6829425" y="44799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27" name="">
            <a:extLst xmlns:a="http://schemas.openxmlformats.org/drawingml/2006/main">
              <a:ext uri="{FF2B5EF4-FFF2-40B4-BE49-F238E27FC236}">
                <a16:creationId xmlns:a16="http://schemas.microsoft.com/office/drawing/2014/main" id="{7054499D-4C6B-48E2-A291-34F480B7EDC9}"/>
              </a:ext>
            </a:extLst>
          </p:cNvPr>
          <p:cNvSpPr>
            <a:spLocks xmlns:a="http://schemas.openxmlformats.org/drawingml/2006/main" noGrp="1"/>
          </p:cNvSpPr>
          <p:nvPr/>
        </p:nvSpPr>
        <p:spPr>
          <a:xfrm xmlns:a="http://schemas.openxmlformats.org/drawingml/2006/main">
            <a:off x="7362825" y="445135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zivilrechtlichen Fehler von persönlicher strafrechtlicher Schuld trennen.</a:t>
            </a:r>
          </a:p>
        </p:txBody>
      </p:sp>
      <p:sp>
        <p:nvSpPr>
          <p:cNvPr id="28" name="">
            <a:extLst xmlns:a="http://schemas.openxmlformats.org/drawingml/2006/main">
              <a:ext uri="{FF2B5EF4-FFF2-40B4-BE49-F238E27FC236}">
                <a16:creationId xmlns:a16="http://schemas.microsoft.com/office/drawing/2014/main" id="{4A2DE97D-D665-42EF-B690-945C7C246B2A}"/>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638">
                <a:solidFill>
                  <a:srgbClr val="667680"/>
                </a:solidFill>
              </a:defRPr>
            </a:pPr>
            <a:r>
              <a:rPr sz="638">
                <a:solidFill>
                  <a:srgbClr val="667680"/>
                </a:solidFill>
              </a:rPr>
              <a:t>Lernziele aus Seminarbeschreibung und Vorlesungsstruktur abgeleitet · https://elearning.uni-oldenburg.de/dispatch.php/course/details/index/64fffee6d869d134c6683909368deed9?cancel_login=1</a:t>
            </a:r>
          </a:p>
        </p:txBody>
      </p:sp>
    </p:spTree>
    <p:extLst>
      <p:ext uri="{BB962C8B-B14F-4D97-AF65-F5344CB8AC3E}">
        <p14:creationId xmlns:p14="http://schemas.microsoft.com/office/powerpoint/2010/main" val="43637646"/>
      </p:ext>
    </p:extLst>
  </p:cSld>
</p:sld>
</file>

<file path=ppt/slides/slide214.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Leitentscheidung · Abschalten eines Beatmungsgeräts</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ORIGINALENTSCHEIDUNG · TERMIN 08</a:t>
            </a:r>
            <a:endParaRPr/>
          </a:p>
        </p:txBody>
      </p:sp>
      <p:sp>
        <p:nvSpPr>
          <p:cNvPr id="4" name="">
            <a:extLst xmlns:a="http://schemas.openxmlformats.org/drawingml/2006/main">
              <a:ext uri="{FF2B5EF4-FFF2-40B4-BE49-F238E27FC236}">
                <a16:creationId xmlns:a16="http://schemas.microsoft.com/office/drawing/2014/main" id="{10630212-0B61-4294-B819-BBE34C144C9C}"/>
              </a:ext>
            </a:extLst>
          </p:cNvPr>
          <p:cNvSpPr>
            <a:spLocks xmlns:a="http://schemas.openxmlformats.org/drawingml/2006/main" noGrp="1"/>
          </p:cNvSpPr>
          <p:nvPr/>
        </p:nvSpPr>
        <p:spPr>
          <a:xfrm xmlns:a="http://schemas.openxmlformats.org/drawingml/2006/main">
            <a:off x="1809750" y="1943100"/>
            <a:ext cx="11239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473FE705-8FD1-43A5-A70E-3A8900C5DA13}"/>
              </a:ext>
            </a:extLst>
          </p:cNvPr>
          <p:cNvSpPr>
            <a:spLocks xmlns:a="http://schemas.openxmlformats.org/drawingml/2006/main" noGrp="1"/>
          </p:cNvSpPr>
          <p:nvPr/>
        </p:nvSpPr>
        <p:spPr>
          <a:xfrm xmlns:a="http://schemas.openxmlformats.org/drawingml/2006/main">
            <a:off x="1809750" y="1943100"/>
            <a:ext cx="1123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38" b="1">
                <a:solidFill>
                  <a:srgbClr val="FFFFFF"/>
                </a:solidFill>
              </a:defRPr>
            </a:pPr>
            <a:r>
              <a:rPr sz="938" b="1">
                <a:solidFill>
                  <a:srgbClr val="FFFFFF"/>
                </a:solidFill>
              </a:rPr>
              <a:t>BGH</a:t>
            </a:r>
          </a:p>
        </p:txBody>
      </p:sp>
      <p:sp>
        <p:nvSpPr>
          <p:cNvPr id="6" name="">
            <a:extLst xmlns:a="http://schemas.openxmlformats.org/drawingml/2006/main">
              <a:ext uri="{FF2B5EF4-FFF2-40B4-BE49-F238E27FC236}">
                <a16:creationId xmlns:a16="http://schemas.microsoft.com/office/drawing/2014/main" id="{4C944F94-34E6-4342-8D0C-BCFABF50690B}"/>
              </a:ext>
            </a:extLst>
          </p:cNvPr>
          <p:cNvSpPr>
            <a:spLocks xmlns:a="http://schemas.openxmlformats.org/drawingml/2006/main" noGrp="1"/>
          </p:cNvSpPr>
          <p:nvPr/>
        </p:nvSpPr>
        <p:spPr>
          <a:xfrm xmlns:a="http://schemas.openxmlformats.org/drawingml/2006/main">
            <a:off x="312420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16.03.2022 · 5 StR 394/21</a:t>
            </a:r>
          </a:p>
        </p:txBody>
      </p:sp>
      <p:sp>
        <p:nvSpPr>
          <p:cNvPr id="7" name="">
            <a:extLst xmlns:a="http://schemas.openxmlformats.org/drawingml/2006/main">
              <a:ext uri="{FF2B5EF4-FFF2-40B4-BE49-F238E27FC236}">
                <a16:creationId xmlns:a16="http://schemas.microsoft.com/office/drawing/2014/main" id="{85FD7804-B87A-43CD-8723-E65B65B5F6BC}"/>
              </a:ext>
            </a:extLst>
          </p:cNvPr>
          <p:cNvSpPr>
            <a:spLocks xmlns:a="http://schemas.openxmlformats.org/drawingml/2006/main" noGrp="1"/>
          </p:cNvSpPr>
          <p:nvPr/>
        </p:nvSpPr>
        <p:spPr>
          <a:xfrm xmlns:a="http://schemas.openxmlformats.org/drawingml/2006/main">
            <a:off x="733425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050">
                <a:solidFill>
                  <a:srgbClr val="667680"/>
                </a:solidFill>
              </a:defRPr>
            </a:pPr>
            <a:r>
              <a:rPr sz="1050">
                <a:solidFill>
                  <a:srgbClr val="667680"/>
                </a:solidFill>
              </a:rPr>
              <a:t>Fahrlässigkeit und Vorsatz sauber trennen</a:t>
            </a:r>
          </a:p>
        </p:txBody>
      </p:sp>
      <p:sp>
        <p:nvSpPr>
          <p:cNvPr id="8" name="">
            <a:extLst xmlns:a="http://schemas.openxmlformats.org/drawingml/2006/main">
              <a:ext uri="{FF2B5EF4-FFF2-40B4-BE49-F238E27FC236}">
                <a16:creationId xmlns:a16="http://schemas.microsoft.com/office/drawing/2014/main" id="{6493A053-F06B-4E80-8787-0BDA66C3D3F9}"/>
              </a:ext>
            </a:extLst>
          </p:cNvPr>
          <p:cNvSpPr>
            <a:spLocks xmlns:a="http://schemas.openxmlformats.org/drawingml/2006/main" noGrp="1"/>
          </p:cNvSpPr>
          <p:nvPr/>
        </p:nvSpPr>
        <p:spPr>
          <a:xfrm xmlns:a="http://schemas.openxmlformats.org/drawingml/2006/main">
            <a:off x="1809750" y="2533650"/>
            <a:ext cx="1676400" cy="781050"/>
          </a:xfrm>
          <a:prstGeom xmlns:a="http://schemas.openxmlformats.org/drawingml/2006/main" prst="roundRect">
            <a:avLst>
              <a:gd name="adj" fmla="val 9756"/>
            </a:avLst>
          </a:prstGeom>
          <a:solidFill xmlns:a="http://schemas.openxmlformats.org/drawingml/2006/main">
            <a:srgbClr val="00B2BB"/>
          </a:solidFill>
          <a:ln xmlns:a="http://schemas.openxmlformats.org/drawingml/2006/main" w="0">
            <a:solidFill>
              <a:srgbClr val="00B2BB"/>
            </a:solidFill>
            <a:prstDash val="solid"/>
          </a:ln>
        </p:spPr>
      </p:sp>
      <p:sp>
        <p:nvSpPr>
          <p:cNvPr id="9" name="">
            <a:extLst xmlns:a="http://schemas.openxmlformats.org/drawingml/2006/main">
              <a:ext uri="{FF2B5EF4-FFF2-40B4-BE49-F238E27FC236}">
                <a16:creationId xmlns:a16="http://schemas.microsoft.com/office/drawing/2014/main" id="{93EC08D8-F557-4CC9-84D1-CA27B089ACF8}"/>
              </a:ext>
            </a:extLst>
          </p:cNvPr>
          <p:cNvSpPr>
            <a:spLocks xmlns:a="http://schemas.openxmlformats.org/drawingml/2006/main" noGrp="1"/>
          </p:cNvSpPr>
          <p:nvPr/>
        </p:nvSpPr>
        <p:spPr>
          <a:xfrm xmlns:a="http://schemas.openxmlformats.org/drawingml/2006/main">
            <a:off x="1924050" y="25336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Ausgangsfall</a:t>
            </a:r>
          </a:p>
        </p:txBody>
      </p:sp>
      <p:sp>
        <p:nvSpPr>
          <p:cNvPr id="10" name="">
            <a:extLst xmlns:a="http://schemas.openxmlformats.org/drawingml/2006/main">
              <a:ext uri="{FF2B5EF4-FFF2-40B4-BE49-F238E27FC236}">
                <a16:creationId xmlns:a16="http://schemas.microsoft.com/office/drawing/2014/main" id="{6F8B0873-9D61-4085-A7EA-DB89867BB4F1}"/>
              </a:ext>
            </a:extLst>
          </p:cNvPr>
          <p:cNvSpPr>
            <a:spLocks xmlns:a="http://schemas.openxmlformats.org/drawingml/2006/main" noGrp="1"/>
          </p:cNvSpPr>
          <p:nvPr/>
        </p:nvSpPr>
        <p:spPr>
          <a:xfrm xmlns:a="http://schemas.openxmlformats.org/drawingml/2006/main">
            <a:off x="3695700" y="25336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Ein intensivpflichtiger Patient wurde vom Beatmungsgerät getrennt und verstarb. Nach einer Verurteilung wegen fahrlässiger Tötung war revisionsrechtlich auch die Vorsatzabgrenzung zu prüfen.</a:t>
            </a:r>
          </a:p>
        </p:txBody>
      </p:sp>
      <p:sp>
        <p:nvSpPr>
          <p:cNvPr id="11" name="">
            <a:extLst xmlns:a="http://schemas.openxmlformats.org/drawingml/2006/main">
              <a:ext uri="{FF2B5EF4-FFF2-40B4-BE49-F238E27FC236}">
                <a16:creationId xmlns:a16="http://schemas.microsoft.com/office/drawing/2014/main" id="{E4332BF0-EE41-497F-9CA7-7896D9FB9727}"/>
              </a:ext>
            </a:extLst>
          </p:cNvPr>
          <p:cNvSpPr>
            <a:spLocks xmlns:a="http://schemas.openxmlformats.org/drawingml/2006/main" noGrp="1"/>
          </p:cNvSpPr>
          <p:nvPr/>
        </p:nvSpPr>
        <p:spPr>
          <a:xfrm xmlns:a="http://schemas.openxmlformats.org/drawingml/2006/main">
            <a:off x="1809750" y="3486150"/>
            <a:ext cx="1676400" cy="781050"/>
          </a:xfrm>
          <a:prstGeom xmlns:a="http://schemas.openxmlformats.org/drawingml/2006/main" prst="roundRect">
            <a:avLst>
              <a:gd name="adj" fmla="val 9756"/>
            </a:avLst>
          </a:prstGeom>
          <a:solidFill xmlns:a="http://schemas.openxmlformats.org/drawingml/2006/main">
            <a:srgbClr val="003F6B"/>
          </a:solidFill>
          <a:ln xmlns:a="http://schemas.openxmlformats.org/drawingml/2006/main" w="0">
            <a:solidFill>
              <a:srgbClr val="003F6B"/>
            </a:solidFill>
            <a:prstDash val="solid"/>
          </a:ln>
        </p:spPr>
      </p:sp>
      <p:sp>
        <p:nvSpPr>
          <p:cNvPr id="12" name="">
            <a:extLst xmlns:a="http://schemas.openxmlformats.org/drawingml/2006/main">
              <a:ext uri="{FF2B5EF4-FFF2-40B4-BE49-F238E27FC236}">
                <a16:creationId xmlns:a16="http://schemas.microsoft.com/office/drawing/2014/main" id="{8BB6AD27-0F41-47B7-B42A-86E202A6815A}"/>
              </a:ext>
            </a:extLst>
          </p:cNvPr>
          <p:cNvSpPr>
            <a:spLocks xmlns:a="http://schemas.openxmlformats.org/drawingml/2006/main" noGrp="1"/>
          </p:cNvSpPr>
          <p:nvPr/>
        </p:nvSpPr>
        <p:spPr>
          <a:xfrm xmlns:a="http://schemas.openxmlformats.org/drawingml/2006/main">
            <a:off x="1924050" y="34861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Leitsatzkern</a:t>
            </a:r>
          </a:p>
        </p:txBody>
      </p:sp>
      <p:sp>
        <p:nvSpPr>
          <p:cNvPr id="13" name="">
            <a:extLst xmlns:a="http://schemas.openxmlformats.org/drawingml/2006/main">
              <a:ext uri="{FF2B5EF4-FFF2-40B4-BE49-F238E27FC236}">
                <a16:creationId xmlns:a16="http://schemas.microsoft.com/office/drawing/2014/main" id="{296868E5-C676-4D70-8212-BE98123EAFA4}"/>
              </a:ext>
            </a:extLst>
          </p:cNvPr>
          <p:cNvSpPr>
            <a:spLocks xmlns:a="http://schemas.openxmlformats.org/drawingml/2006/main" noGrp="1"/>
          </p:cNvSpPr>
          <p:nvPr/>
        </p:nvSpPr>
        <p:spPr>
          <a:xfrm xmlns:a="http://schemas.openxmlformats.org/drawingml/2006/main">
            <a:off x="3695700" y="34861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Leitsatzkern (paraphrasiert): Vorsatz folgt aus einer Gesamtwürdigung objektiver und subjektiver Umstände. Die hohe Gefährlichkeit einer Handlung ist ein Indiz, ersetzt aber nicht Wissens- und Willenselement.</a:t>
            </a:r>
          </a:p>
        </p:txBody>
      </p:sp>
      <p:sp>
        <p:nvSpPr>
          <p:cNvPr id="14" name="">
            <a:extLst xmlns:a="http://schemas.openxmlformats.org/drawingml/2006/main">
              <a:ext uri="{FF2B5EF4-FFF2-40B4-BE49-F238E27FC236}">
                <a16:creationId xmlns:a16="http://schemas.microsoft.com/office/drawing/2014/main" id="{0CE9C229-EDA2-4AF5-AE49-20AFC30AC70E}"/>
              </a:ext>
            </a:extLst>
          </p:cNvPr>
          <p:cNvSpPr>
            <a:spLocks xmlns:a="http://schemas.openxmlformats.org/drawingml/2006/main" noGrp="1"/>
          </p:cNvSpPr>
          <p:nvPr/>
        </p:nvSpPr>
        <p:spPr>
          <a:xfrm xmlns:a="http://schemas.openxmlformats.org/drawingml/2006/main">
            <a:off x="1809750" y="4438650"/>
            <a:ext cx="1676400" cy="781050"/>
          </a:xfrm>
          <a:prstGeom xmlns:a="http://schemas.openxmlformats.org/drawingml/2006/main" prst="roundRect">
            <a:avLst>
              <a:gd name="adj" fmla="val 9756"/>
            </a:avLst>
          </a:prstGeom>
          <a:solidFill xmlns:a="http://schemas.openxmlformats.org/drawingml/2006/main">
            <a:srgbClr val="00B2BB"/>
          </a:solidFill>
          <a:ln xmlns:a="http://schemas.openxmlformats.org/drawingml/2006/main" w="0">
            <a:solidFill>
              <a:srgbClr val="00B2BB"/>
            </a:solidFill>
            <a:prstDash val="solid"/>
          </a:ln>
        </p:spPr>
      </p:sp>
      <p:sp>
        <p:nvSpPr>
          <p:cNvPr id="15" name="">
            <a:extLst xmlns:a="http://schemas.openxmlformats.org/drawingml/2006/main">
              <a:ext uri="{FF2B5EF4-FFF2-40B4-BE49-F238E27FC236}">
                <a16:creationId xmlns:a16="http://schemas.microsoft.com/office/drawing/2014/main" id="{7EA88A62-0833-49C6-9256-3E1356538043}"/>
              </a:ext>
            </a:extLst>
          </p:cNvPr>
          <p:cNvSpPr>
            <a:spLocks xmlns:a="http://schemas.openxmlformats.org/drawingml/2006/main" noGrp="1"/>
          </p:cNvSpPr>
          <p:nvPr/>
        </p:nvSpPr>
        <p:spPr>
          <a:xfrm xmlns:a="http://schemas.openxmlformats.org/drawingml/2006/main">
            <a:off x="1924050" y="44386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Für die Praxis</a:t>
            </a:r>
          </a:p>
        </p:txBody>
      </p:sp>
      <p:sp>
        <p:nvSpPr>
          <p:cNvPr id="16" name="">
            <a:extLst xmlns:a="http://schemas.openxmlformats.org/drawingml/2006/main">
              <a:ext uri="{FF2B5EF4-FFF2-40B4-BE49-F238E27FC236}">
                <a16:creationId xmlns:a16="http://schemas.microsoft.com/office/drawing/2014/main" id="{F2B218EF-E752-466C-B055-839BEFC884EB}"/>
              </a:ext>
            </a:extLst>
          </p:cNvPr>
          <p:cNvSpPr>
            <a:spLocks xmlns:a="http://schemas.openxmlformats.org/drawingml/2006/main" noGrp="1"/>
          </p:cNvSpPr>
          <p:nvPr/>
        </p:nvSpPr>
        <p:spPr>
          <a:xfrm xmlns:a="http://schemas.openxmlformats.org/drawingml/2006/main">
            <a:off x="3695700" y="44386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Im Ermittlungsverfahren zuerst Rolle, Schweigerecht und Verteidigerzugang klären; medizinische Indikation, Patientenwille und tatsächliche Handlung getrennt sichern.</a:t>
            </a:r>
          </a:p>
        </p:txBody>
      </p:sp>
      <p:sp>
        <p:nvSpPr>
          <p:cNvPr id="17" name="">
            <a:extLst xmlns:a="http://schemas.openxmlformats.org/drawingml/2006/main">
              <a:ext uri="{FF2B5EF4-FFF2-40B4-BE49-F238E27FC236}">
                <a16:creationId xmlns:a16="http://schemas.microsoft.com/office/drawing/2014/main" id="{ED5C7988-3476-4448-A59C-9B47969BC60E}"/>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638">
                <a:solidFill>
                  <a:srgbClr val="667680"/>
                </a:solidFill>
              </a:defRPr>
            </a:pPr>
            <a:r>
              <a:rPr sz="638">
                <a:solidFill>
                  <a:srgbClr val="667680"/>
                </a:solidFill>
              </a:rPr>
              <a:t>BGH, Urt. v. 16.03.2022 – 5 StR 394/21 · https://juris.bundesgerichtshof.de/cgi-bin/rechtsprechung/document.py?Art=en&amp;Blank=1.pdf&amp;Datum=2022-3-16&amp;Gericht=bgh&amp;anz=12&amp;nr=128045&amp;pos=4</a:t>
            </a:r>
          </a:p>
        </p:txBody>
      </p:sp>
    </p:spTree>
    <p:extLst>
      <p:ext uri="{BB962C8B-B14F-4D97-AF65-F5344CB8AC3E}">
        <p14:creationId xmlns:p14="http://schemas.microsoft.com/office/powerpoint/2010/main" val="43637646"/>
      </p:ext>
    </p:extLst>
  </p:cSld>
</p:sld>
</file>

<file path=ppt/slides/slide215.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Ärztlicher Eingriff und Fahrlässigkeitsdelikte</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GESETZESTEXT · GEKÜRZTER LEHRAUSZUG</a:t>
            </a:r>
            <a:endParaRPr/>
          </a:p>
        </p:txBody>
      </p:sp>
      <p:sp>
        <p:nvSpPr>
          <p:cNvPr id="4" name="">
            <a:extLst xmlns:a="http://schemas.openxmlformats.org/drawingml/2006/main">
              <a:ext uri="{FF2B5EF4-FFF2-40B4-BE49-F238E27FC236}">
                <a16:creationId xmlns:a16="http://schemas.microsoft.com/office/drawing/2014/main" id="{A115EE16-F530-4B7D-83A5-D6F635C3525F}"/>
              </a:ext>
            </a:extLst>
          </p:cNvPr>
          <p:cNvSpPr>
            <a:spLocks xmlns:a="http://schemas.openxmlformats.org/drawingml/2006/main" noGrp="1"/>
          </p:cNvSpPr>
          <p:nvPr/>
        </p:nvSpPr>
        <p:spPr>
          <a:xfrm xmlns:a="http://schemas.openxmlformats.org/drawingml/2006/main">
            <a:off x="1809750" y="1943100"/>
            <a:ext cx="4648200" cy="3371850"/>
          </a:xfrm>
          <a:prstGeom xmlns:a="http://schemas.openxmlformats.org/drawingml/2006/main" prst="roundRect">
            <a:avLst>
              <a:gd name="adj" fmla="val 2260"/>
            </a:avLst>
          </a:prstGeom>
          <a:solidFill xmlns:a="http://schemas.openxmlformats.org/drawingml/2006/main">
            <a:srgbClr val="F3F7F9"/>
          </a:solidFill>
          <a:ln xmlns:a="http://schemas.openxmlformats.org/drawingml/2006/main" w="11430">
            <a:solidFill>
              <a:srgbClr val="00B2BB"/>
            </a:solidFill>
            <a:prstDash val="solid"/>
          </a:ln>
        </p:spPr>
      </p:sp>
      <p:sp>
        <p:nvSpPr>
          <p:cNvPr id="5" name="">
            <a:extLst xmlns:a="http://schemas.openxmlformats.org/drawingml/2006/main">
              <a:ext uri="{FF2B5EF4-FFF2-40B4-BE49-F238E27FC236}">
                <a16:creationId xmlns:a16="http://schemas.microsoft.com/office/drawing/2014/main" id="{7B57011C-DB1B-47CF-838B-DA5A83F4B312}"/>
              </a:ext>
            </a:extLst>
          </p:cNvPr>
          <p:cNvSpPr>
            <a:spLocks xmlns:a="http://schemas.openxmlformats.org/drawingml/2006/main" noGrp="1"/>
          </p:cNvSpPr>
          <p:nvPr/>
        </p:nvSpPr>
        <p:spPr>
          <a:xfrm xmlns:a="http://schemas.openxmlformats.org/drawingml/2006/main">
            <a:off x="1943100" y="2076450"/>
            <a:ext cx="1409700" cy="381000"/>
          </a:xfrm>
          <a:prstGeom xmlns:a="http://schemas.openxmlformats.org/drawingml/2006/main" prst="roundRect">
            <a:avLst>
              <a:gd name="adj" fmla="val 20000"/>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DB6D572F-6AE3-47AC-B78D-A2FF61051D0A}"/>
              </a:ext>
            </a:extLst>
          </p:cNvPr>
          <p:cNvSpPr>
            <a:spLocks xmlns:a="http://schemas.openxmlformats.org/drawingml/2006/main" noGrp="1"/>
          </p:cNvSpPr>
          <p:nvPr/>
        </p:nvSpPr>
        <p:spPr>
          <a:xfrm xmlns:a="http://schemas.openxmlformats.org/drawingml/2006/main">
            <a:off x="1943100" y="207645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 223 I StGB</a:t>
            </a:r>
          </a:p>
        </p:txBody>
      </p:sp>
      <p:sp>
        <p:nvSpPr>
          <p:cNvPr id="7" name="">
            <a:extLst xmlns:a="http://schemas.openxmlformats.org/drawingml/2006/main">
              <a:ext uri="{FF2B5EF4-FFF2-40B4-BE49-F238E27FC236}">
                <a16:creationId xmlns:a16="http://schemas.microsoft.com/office/drawing/2014/main" id="{123814A7-12BA-4B64-8CE8-AA77A9D3BD28}"/>
              </a:ext>
            </a:extLst>
          </p:cNvPr>
          <p:cNvSpPr>
            <a:spLocks xmlns:a="http://schemas.openxmlformats.org/drawingml/2006/main" noGrp="1"/>
          </p:cNvSpPr>
          <p:nvPr/>
        </p:nvSpPr>
        <p:spPr>
          <a:xfrm xmlns:a="http://schemas.openxmlformats.org/drawingml/2006/main">
            <a:off x="3486150" y="2057400"/>
            <a:ext cx="2838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Körperverletzung</a:t>
            </a:r>
          </a:p>
        </p:txBody>
      </p:sp>
      <p:sp>
        <p:nvSpPr>
          <p:cNvPr id="8" name="">
            <a:extLst xmlns:a="http://schemas.openxmlformats.org/drawingml/2006/main">
              <a:ext uri="{FF2B5EF4-FFF2-40B4-BE49-F238E27FC236}">
                <a16:creationId xmlns:a16="http://schemas.microsoft.com/office/drawing/2014/main" id="{55E8D53C-E54E-4991-B0C6-82146FC452F4}"/>
              </a:ext>
            </a:extLst>
          </p:cNvPr>
          <p:cNvSpPr>
            <a:spLocks xmlns:a="http://schemas.openxmlformats.org/drawingml/2006/main" noGrp="1"/>
          </p:cNvSpPr>
          <p:nvPr/>
        </p:nvSpPr>
        <p:spPr>
          <a:xfrm xmlns:a="http://schemas.openxmlformats.org/drawingml/2006/main">
            <a:off x="1981200" y="2609850"/>
            <a:ext cx="4305300" cy="2533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8">
                <a:solidFill>
                  <a:srgbClr val="15232B"/>
                </a:solidFill>
              </a:defRPr>
            </a:pPr>
            <a:r>
              <a:rPr sz="1148">
                <a:solidFill>
                  <a:srgbClr val="15232B"/>
                </a:solidFill>
              </a:rPr>
              <a:t>Wer eine andere Person körperlich misshandelt oder an der Gesundheit schädigt, wird mit Freiheitsstrafe bis zu fünf Jahren oder mit Geldstrafe bestraft.</a:t>
            </a:r>
          </a:p>
        </p:txBody>
      </p:sp>
      <p:sp>
        <p:nvSpPr>
          <p:cNvPr id="9" name="">
            <a:extLst xmlns:a="http://schemas.openxmlformats.org/drawingml/2006/main">
              <a:ext uri="{FF2B5EF4-FFF2-40B4-BE49-F238E27FC236}">
                <a16:creationId xmlns:a16="http://schemas.microsoft.com/office/drawing/2014/main" id="{AEB018D4-5D86-4DD6-9FB0-990993622F48}"/>
              </a:ext>
            </a:extLst>
          </p:cNvPr>
          <p:cNvSpPr>
            <a:spLocks xmlns:a="http://schemas.openxmlformats.org/drawingml/2006/main" noGrp="1"/>
          </p:cNvSpPr>
          <p:nvPr/>
        </p:nvSpPr>
        <p:spPr>
          <a:xfrm xmlns:a="http://schemas.openxmlformats.org/drawingml/2006/main">
            <a:off x="6686550" y="1943100"/>
            <a:ext cx="4648200" cy="3371850"/>
          </a:xfrm>
          <a:prstGeom xmlns:a="http://schemas.openxmlformats.org/drawingml/2006/main" prst="roundRect">
            <a:avLst>
              <a:gd name="adj" fmla="val 2260"/>
            </a:avLst>
          </a:prstGeom>
          <a:solidFill xmlns:a="http://schemas.openxmlformats.org/drawingml/2006/main">
            <a:srgbClr val="F3F7F9"/>
          </a:solidFill>
          <a:ln xmlns:a="http://schemas.openxmlformats.org/drawingml/2006/main" w="11430">
            <a:solidFill>
              <a:srgbClr val="003F6B"/>
            </a:solidFill>
            <a:prstDash val="solid"/>
          </a:ln>
        </p:spPr>
      </p:sp>
      <p:sp>
        <p:nvSpPr>
          <p:cNvPr id="10" name="">
            <a:extLst xmlns:a="http://schemas.openxmlformats.org/drawingml/2006/main">
              <a:ext uri="{FF2B5EF4-FFF2-40B4-BE49-F238E27FC236}">
                <a16:creationId xmlns:a16="http://schemas.microsoft.com/office/drawing/2014/main" id="{FA2E1D35-C6B5-43DE-BC24-D2B4FFBC25F9}"/>
              </a:ext>
            </a:extLst>
          </p:cNvPr>
          <p:cNvSpPr>
            <a:spLocks xmlns:a="http://schemas.openxmlformats.org/drawingml/2006/main" noGrp="1"/>
          </p:cNvSpPr>
          <p:nvPr/>
        </p:nvSpPr>
        <p:spPr>
          <a:xfrm xmlns:a="http://schemas.openxmlformats.org/drawingml/2006/main">
            <a:off x="6819900" y="2076450"/>
            <a:ext cx="1409700" cy="381000"/>
          </a:xfrm>
          <a:prstGeom xmlns:a="http://schemas.openxmlformats.org/drawingml/2006/main" prst="roundRect">
            <a:avLst>
              <a:gd name="adj" fmla="val 20000"/>
            </a:avLst>
          </a:prstGeom>
          <a:solidFill xmlns:a="http://schemas.openxmlformats.org/drawingml/2006/main">
            <a:srgbClr val="003F6B"/>
          </a:solidFill>
          <a:ln xmlns:a="http://schemas.openxmlformats.org/drawingml/2006/main" w="0">
            <a:solidFill>
              <a:srgbClr val="003F6B"/>
            </a:solidFill>
            <a:prstDash val="solid"/>
          </a:ln>
        </p:spPr>
      </p:sp>
      <p:sp>
        <p:nvSpPr>
          <p:cNvPr id="11" name="">
            <a:extLst xmlns:a="http://schemas.openxmlformats.org/drawingml/2006/main">
              <a:ext uri="{FF2B5EF4-FFF2-40B4-BE49-F238E27FC236}">
                <a16:creationId xmlns:a16="http://schemas.microsoft.com/office/drawing/2014/main" id="{B4A22EED-37C2-4E0D-BD7F-7202B8A66E40}"/>
              </a:ext>
            </a:extLst>
          </p:cNvPr>
          <p:cNvSpPr>
            <a:spLocks xmlns:a="http://schemas.openxmlformats.org/drawingml/2006/main" noGrp="1"/>
          </p:cNvSpPr>
          <p:nvPr/>
        </p:nvSpPr>
        <p:spPr>
          <a:xfrm xmlns:a="http://schemas.openxmlformats.org/drawingml/2006/main">
            <a:off x="6819900" y="207645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 229 StGB</a:t>
            </a:r>
          </a:p>
        </p:txBody>
      </p:sp>
      <p:sp>
        <p:nvSpPr>
          <p:cNvPr id="12" name="">
            <a:extLst xmlns:a="http://schemas.openxmlformats.org/drawingml/2006/main">
              <a:ext uri="{FF2B5EF4-FFF2-40B4-BE49-F238E27FC236}">
                <a16:creationId xmlns:a16="http://schemas.microsoft.com/office/drawing/2014/main" id="{B75E2980-928A-478F-9473-0DC3B01D4A3C}"/>
              </a:ext>
            </a:extLst>
          </p:cNvPr>
          <p:cNvSpPr>
            <a:spLocks xmlns:a="http://schemas.openxmlformats.org/drawingml/2006/main" noGrp="1"/>
          </p:cNvSpPr>
          <p:nvPr/>
        </p:nvSpPr>
        <p:spPr>
          <a:xfrm xmlns:a="http://schemas.openxmlformats.org/drawingml/2006/main">
            <a:off x="8362950" y="2057400"/>
            <a:ext cx="2838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Fahrlässige Körperverletzung</a:t>
            </a:r>
          </a:p>
        </p:txBody>
      </p:sp>
      <p:sp>
        <p:nvSpPr>
          <p:cNvPr id="13" name="">
            <a:extLst xmlns:a="http://schemas.openxmlformats.org/drawingml/2006/main">
              <a:ext uri="{FF2B5EF4-FFF2-40B4-BE49-F238E27FC236}">
                <a16:creationId xmlns:a16="http://schemas.microsoft.com/office/drawing/2014/main" id="{77149E69-77CB-43F1-9042-897D973ED7ED}"/>
              </a:ext>
            </a:extLst>
          </p:cNvPr>
          <p:cNvSpPr>
            <a:spLocks xmlns:a="http://schemas.openxmlformats.org/drawingml/2006/main" noGrp="1"/>
          </p:cNvSpPr>
          <p:nvPr/>
        </p:nvSpPr>
        <p:spPr>
          <a:xfrm xmlns:a="http://schemas.openxmlformats.org/drawingml/2006/main">
            <a:off x="6858000" y="2609850"/>
            <a:ext cx="4305300" cy="2533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8">
                <a:solidFill>
                  <a:srgbClr val="15232B"/>
                </a:solidFill>
              </a:defRPr>
            </a:pPr>
            <a:r>
              <a:rPr sz="1148">
                <a:solidFill>
                  <a:srgbClr val="15232B"/>
                </a:solidFill>
              </a:rPr>
              <a:t>Wer durch Fahrlässigkeit die Körperverletzung einer anderen Person verursacht, wird mit Freiheitsstrafe bis zu drei Jahren oder mit Geldstrafe bestraft.</a:t>
            </a:r>
          </a:p>
        </p:txBody>
      </p:sp>
      <p:sp>
        <p:nvSpPr>
          <p:cNvPr id="14" name="">
            <a:extLst xmlns:a="http://schemas.openxmlformats.org/drawingml/2006/main">
              <a:ext uri="{FF2B5EF4-FFF2-40B4-BE49-F238E27FC236}">
                <a16:creationId xmlns:a16="http://schemas.microsoft.com/office/drawing/2014/main" id="{5DBF00E6-7596-4272-8ECE-85409CC53F6E}"/>
              </a:ext>
            </a:extLst>
          </p:cNvPr>
          <p:cNvSpPr>
            <a:spLocks xmlns:a="http://schemas.openxmlformats.org/drawingml/2006/main" noGrp="1"/>
          </p:cNvSpPr>
          <p:nvPr/>
        </p:nvSpPr>
        <p:spPr>
          <a:xfrm xmlns:a="http://schemas.openxmlformats.org/drawingml/2006/main">
            <a:off x="1809750" y="5619750"/>
            <a:ext cx="9525000" cy="419100"/>
          </a:xfrm>
          <a:prstGeom xmlns:a="http://schemas.openxmlformats.org/drawingml/2006/main" prst="roundRect">
            <a:avLst>
              <a:gd name="adj" fmla="val 18182"/>
            </a:avLst>
          </a:prstGeom>
          <a:noFill xmlns:a="http://schemas.openxmlformats.org/drawingml/2006/main"/>
          <a:ln xmlns:a="http://schemas.openxmlformats.org/drawingml/2006/main" w="11430">
            <a:solidFill>
              <a:srgbClr val="00B2BB"/>
            </a:solidFill>
            <a:prstDash val="solid"/>
          </a:ln>
        </p:spPr>
      </p:sp>
      <p:sp>
        <p:nvSpPr>
          <p:cNvPr id="15" name="">
            <a:extLst xmlns:a="http://schemas.openxmlformats.org/drawingml/2006/main">
              <a:ext uri="{FF2B5EF4-FFF2-40B4-BE49-F238E27FC236}">
                <a16:creationId xmlns:a16="http://schemas.microsoft.com/office/drawing/2014/main" id="{51F44FE4-009C-4EC3-809B-3ECBB262531E}"/>
              </a:ext>
            </a:extLst>
          </p:cNvPr>
          <p:cNvSpPr>
            <a:spLocks xmlns:a="http://schemas.openxmlformats.org/drawingml/2006/main" noGrp="1"/>
          </p:cNvSpPr>
          <p:nvPr/>
        </p:nvSpPr>
        <p:spPr>
          <a:xfrm xmlns:a="http://schemas.openxmlformats.org/drawingml/2006/main">
            <a:off x="1962150" y="5638800"/>
            <a:ext cx="9220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13" b="1">
                <a:solidFill>
                  <a:srgbClr val="003F6B"/>
                </a:solidFill>
              </a:defRPr>
            </a:pPr>
            <a:r>
              <a:rPr sz="1013" b="1">
                <a:solidFill>
                  <a:srgbClr val="003F6B"/>
                </a:solidFill>
              </a:rPr>
              <a:t>Praxislesart: Der medizinische Eingriff erfüllt tatbestandlich regelmäßig § 223; wirksame Einwilligung rechtfertigt. Beim Fehlerfall stehen Sorgfalt, Kausalität und objektive Zurechnung im Zentrum.</a:t>
            </a:r>
          </a:p>
        </p:txBody>
      </p:sp>
      <p:sp>
        <p:nvSpPr>
          <p:cNvPr id="16" name="">
            <a:extLst xmlns:a="http://schemas.openxmlformats.org/drawingml/2006/main">
              <a:ext uri="{FF2B5EF4-FFF2-40B4-BE49-F238E27FC236}">
                <a16:creationId xmlns:a16="http://schemas.microsoft.com/office/drawing/2014/main" id="{1E9D9D5D-5A1A-4AF4-9458-C117A158945A}"/>
              </a:ext>
            </a:extLst>
          </p:cNvPr>
          <p:cNvSpPr>
            <a:spLocks xmlns:a="http://schemas.openxmlformats.org/drawingml/2006/main" noGrp="1"/>
          </p:cNvSpPr>
          <p:nvPr/>
        </p:nvSpPr>
        <p:spPr>
          <a:xfrm xmlns:a="http://schemas.openxmlformats.org/drawingml/2006/main">
            <a:off x="1809750" y="535305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05">
                <a:solidFill>
                  <a:srgbClr val="667680"/>
                </a:solidFill>
              </a:defRPr>
            </a:pPr>
            <a:r>
              <a:rPr sz="705">
                <a:solidFill>
                  <a:srgbClr val="667680"/>
                </a:solidFill>
              </a:rPr>
              <a:t>BMJ/BfJ, gesetze-im-internet.de/stgb/__223.html und /__229.html · Abruf/Stand: 20.08.2026 · https://pubmed.ncbi.nlm.nih.gov</a:t>
            </a:r>
          </a:p>
        </p:txBody>
      </p:sp>
    </p:spTree>
    <p:extLst>
      <p:ext uri="{BB962C8B-B14F-4D97-AF65-F5344CB8AC3E}">
        <p14:creationId xmlns:p14="http://schemas.microsoft.com/office/powerpoint/2010/main" val="43637646"/>
      </p:ext>
    </p:extLst>
  </p:cSld>
</p:sld>
</file>

<file path=ppt/slides/slide216.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Tod und Unterlassen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GESETZESTEXT · GEKÜRZTER LEHRAUSZUG</a:t>
            </a:r>
            <a:endParaRPr/>
          </a:p>
        </p:txBody>
      </p:sp>
      <p:sp>
        <p:nvSpPr>
          <p:cNvPr id="4" name="">
            <a:extLst xmlns:a="http://schemas.openxmlformats.org/drawingml/2006/main">
              <a:ext uri="{FF2B5EF4-FFF2-40B4-BE49-F238E27FC236}">
                <a16:creationId xmlns:a16="http://schemas.microsoft.com/office/drawing/2014/main" id="{E65CB928-1066-4086-89C2-F14C5B26F5F8}"/>
              </a:ext>
            </a:extLst>
          </p:cNvPr>
          <p:cNvSpPr>
            <a:spLocks xmlns:a="http://schemas.openxmlformats.org/drawingml/2006/main" noGrp="1"/>
          </p:cNvSpPr>
          <p:nvPr/>
        </p:nvSpPr>
        <p:spPr>
          <a:xfrm xmlns:a="http://schemas.openxmlformats.org/drawingml/2006/main">
            <a:off x="1809750" y="1943100"/>
            <a:ext cx="4648200" cy="3371850"/>
          </a:xfrm>
          <a:prstGeom xmlns:a="http://schemas.openxmlformats.org/drawingml/2006/main" prst="roundRect">
            <a:avLst>
              <a:gd name="adj" fmla="val 2260"/>
            </a:avLst>
          </a:prstGeom>
          <a:solidFill xmlns:a="http://schemas.openxmlformats.org/drawingml/2006/main">
            <a:srgbClr val="F3F7F9"/>
          </a:solidFill>
          <a:ln xmlns:a="http://schemas.openxmlformats.org/drawingml/2006/main" w="11430">
            <a:solidFill>
              <a:srgbClr val="00B2BB"/>
            </a:solidFill>
            <a:prstDash val="solid"/>
          </a:ln>
        </p:spPr>
      </p:sp>
      <p:sp>
        <p:nvSpPr>
          <p:cNvPr id="5" name="">
            <a:extLst xmlns:a="http://schemas.openxmlformats.org/drawingml/2006/main">
              <a:ext uri="{FF2B5EF4-FFF2-40B4-BE49-F238E27FC236}">
                <a16:creationId xmlns:a16="http://schemas.microsoft.com/office/drawing/2014/main" id="{0DDD899D-3BB9-4450-A124-994AE69D2344}"/>
              </a:ext>
            </a:extLst>
          </p:cNvPr>
          <p:cNvSpPr>
            <a:spLocks xmlns:a="http://schemas.openxmlformats.org/drawingml/2006/main" noGrp="1"/>
          </p:cNvSpPr>
          <p:nvPr/>
        </p:nvSpPr>
        <p:spPr>
          <a:xfrm xmlns:a="http://schemas.openxmlformats.org/drawingml/2006/main">
            <a:off x="1943100" y="2076450"/>
            <a:ext cx="1409700" cy="381000"/>
          </a:xfrm>
          <a:prstGeom xmlns:a="http://schemas.openxmlformats.org/drawingml/2006/main" prst="roundRect">
            <a:avLst>
              <a:gd name="adj" fmla="val 20000"/>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29A94B3F-6BE4-466F-A268-489192284F69}"/>
              </a:ext>
            </a:extLst>
          </p:cNvPr>
          <p:cNvSpPr>
            <a:spLocks xmlns:a="http://schemas.openxmlformats.org/drawingml/2006/main" noGrp="1"/>
          </p:cNvSpPr>
          <p:nvPr/>
        </p:nvSpPr>
        <p:spPr>
          <a:xfrm xmlns:a="http://schemas.openxmlformats.org/drawingml/2006/main">
            <a:off x="1943100" y="207645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 222 StGB</a:t>
            </a:r>
          </a:p>
        </p:txBody>
      </p:sp>
      <p:sp>
        <p:nvSpPr>
          <p:cNvPr id="7" name="">
            <a:extLst xmlns:a="http://schemas.openxmlformats.org/drawingml/2006/main">
              <a:ext uri="{FF2B5EF4-FFF2-40B4-BE49-F238E27FC236}">
                <a16:creationId xmlns:a16="http://schemas.microsoft.com/office/drawing/2014/main" id="{914A6A04-F091-4F05-9E6E-73FBFF8E14D3}"/>
              </a:ext>
            </a:extLst>
          </p:cNvPr>
          <p:cNvSpPr>
            <a:spLocks xmlns:a="http://schemas.openxmlformats.org/drawingml/2006/main" noGrp="1"/>
          </p:cNvSpPr>
          <p:nvPr/>
        </p:nvSpPr>
        <p:spPr>
          <a:xfrm xmlns:a="http://schemas.openxmlformats.org/drawingml/2006/main">
            <a:off x="3486150" y="2057400"/>
            <a:ext cx="2838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Fahrlässige Tötung</a:t>
            </a:r>
          </a:p>
        </p:txBody>
      </p:sp>
      <p:sp>
        <p:nvSpPr>
          <p:cNvPr id="8" name="">
            <a:extLst xmlns:a="http://schemas.openxmlformats.org/drawingml/2006/main">
              <a:ext uri="{FF2B5EF4-FFF2-40B4-BE49-F238E27FC236}">
                <a16:creationId xmlns:a16="http://schemas.microsoft.com/office/drawing/2014/main" id="{1C247E85-3A9E-4A93-A9D1-5140200650C5}"/>
              </a:ext>
            </a:extLst>
          </p:cNvPr>
          <p:cNvSpPr>
            <a:spLocks xmlns:a="http://schemas.openxmlformats.org/drawingml/2006/main" noGrp="1"/>
          </p:cNvSpPr>
          <p:nvPr/>
        </p:nvSpPr>
        <p:spPr>
          <a:xfrm xmlns:a="http://schemas.openxmlformats.org/drawingml/2006/main">
            <a:off x="1981200" y="2609850"/>
            <a:ext cx="4305300" cy="2533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8">
                <a:solidFill>
                  <a:srgbClr val="15232B"/>
                </a:solidFill>
              </a:defRPr>
            </a:pPr>
            <a:r>
              <a:rPr sz="1148">
                <a:solidFill>
                  <a:srgbClr val="15232B"/>
                </a:solidFill>
              </a:rPr>
              <a:t>Wer durch Fahrlässigkeit den Tod eines Menschen verursacht, wird mit Freiheitsstrafe bis zu fünf Jahren oder mit Geldstrafe bestraft.</a:t>
            </a:r>
          </a:p>
        </p:txBody>
      </p:sp>
      <p:sp>
        <p:nvSpPr>
          <p:cNvPr id="9" name="">
            <a:extLst xmlns:a="http://schemas.openxmlformats.org/drawingml/2006/main">
              <a:ext uri="{FF2B5EF4-FFF2-40B4-BE49-F238E27FC236}">
                <a16:creationId xmlns:a16="http://schemas.microsoft.com/office/drawing/2014/main" id="{93E38BEF-585F-49CF-8A57-80F3E35B6E33}"/>
              </a:ext>
            </a:extLst>
          </p:cNvPr>
          <p:cNvSpPr>
            <a:spLocks xmlns:a="http://schemas.openxmlformats.org/drawingml/2006/main" noGrp="1"/>
          </p:cNvSpPr>
          <p:nvPr/>
        </p:nvSpPr>
        <p:spPr>
          <a:xfrm xmlns:a="http://schemas.openxmlformats.org/drawingml/2006/main">
            <a:off x="6686550" y="1943100"/>
            <a:ext cx="4648200" cy="3371850"/>
          </a:xfrm>
          <a:prstGeom xmlns:a="http://schemas.openxmlformats.org/drawingml/2006/main" prst="roundRect">
            <a:avLst>
              <a:gd name="adj" fmla="val 2260"/>
            </a:avLst>
          </a:prstGeom>
          <a:solidFill xmlns:a="http://schemas.openxmlformats.org/drawingml/2006/main">
            <a:srgbClr val="F3F7F9"/>
          </a:solidFill>
          <a:ln xmlns:a="http://schemas.openxmlformats.org/drawingml/2006/main" w="11430">
            <a:solidFill>
              <a:srgbClr val="003F6B"/>
            </a:solidFill>
            <a:prstDash val="solid"/>
          </a:ln>
        </p:spPr>
      </p:sp>
      <p:sp>
        <p:nvSpPr>
          <p:cNvPr id="10" name="">
            <a:extLst xmlns:a="http://schemas.openxmlformats.org/drawingml/2006/main">
              <a:ext uri="{FF2B5EF4-FFF2-40B4-BE49-F238E27FC236}">
                <a16:creationId xmlns:a16="http://schemas.microsoft.com/office/drawing/2014/main" id="{2DE70ADB-629A-4C19-975E-869AF8CDC94A}"/>
              </a:ext>
            </a:extLst>
          </p:cNvPr>
          <p:cNvSpPr>
            <a:spLocks xmlns:a="http://schemas.openxmlformats.org/drawingml/2006/main" noGrp="1"/>
          </p:cNvSpPr>
          <p:nvPr/>
        </p:nvSpPr>
        <p:spPr>
          <a:xfrm xmlns:a="http://schemas.openxmlformats.org/drawingml/2006/main">
            <a:off x="6819900" y="2076450"/>
            <a:ext cx="1409700" cy="381000"/>
          </a:xfrm>
          <a:prstGeom xmlns:a="http://schemas.openxmlformats.org/drawingml/2006/main" prst="roundRect">
            <a:avLst>
              <a:gd name="adj" fmla="val 20000"/>
            </a:avLst>
          </a:prstGeom>
          <a:solidFill xmlns:a="http://schemas.openxmlformats.org/drawingml/2006/main">
            <a:srgbClr val="003F6B"/>
          </a:solidFill>
          <a:ln xmlns:a="http://schemas.openxmlformats.org/drawingml/2006/main" w="0">
            <a:solidFill>
              <a:srgbClr val="003F6B"/>
            </a:solidFill>
            <a:prstDash val="solid"/>
          </a:ln>
        </p:spPr>
      </p:sp>
      <p:sp>
        <p:nvSpPr>
          <p:cNvPr id="11" name="">
            <a:extLst xmlns:a="http://schemas.openxmlformats.org/drawingml/2006/main">
              <a:ext uri="{FF2B5EF4-FFF2-40B4-BE49-F238E27FC236}">
                <a16:creationId xmlns:a16="http://schemas.microsoft.com/office/drawing/2014/main" id="{250A5A39-AB4D-4AB5-8388-B2CAE5732745}"/>
              </a:ext>
            </a:extLst>
          </p:cNvPr>
          <p:cNvSpPr>
            <a:spLocks xmlns:a="http://schemas.openxmlformats.org/drawingml/2006/main" noGrp="1"/>
          </p:cNvSpPr>
          <p:nvPr/>
        </p:nvSpPr>
        <p:spPr>
          <a:xfrm xmlns:a="http://schemas.openxmlformats.org/drawingml/2006/main">
            <a:off x="6819900" y="207645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 13 I StGB</a:t>
            </a:r>
          </a:p>
        </p:txBody>
      </p:sp>
      <p:sp>
        <p:nvSpPr>
          <p:cNvPr id="12" name="">
            <a:extLst xmlns:a="http://schemas.openxmlformats.org/drawingml/2006/main">
              <a:ext uri="{FF2B5EF4-FFF2-40B4-BE49-F238E27FC236}">
                <a16:creationId xmlns:a16="http://schemas.microsoft.com/office/drawing/2014/main" id="{AA177A81-E3D1-41B0-8FB8-688C17B7283B}"/>
              </a:ext>
            </a:extLst>
          </p:cNvPr>
          <p:cNvSpPr>
            <a:spLocks xmlns:a="http://schemas.openxmlformats.org/drawingml/2006/main" noGrp="1"/>
          </p:cNvSpPr>
          <p:nvPr/>
        </p:nvSpPr>
        <p:spPr>
          <a:xfrm xmlns:a="http://schemas.openxmlformats.org/drawingml/2006/main">
            <a:off x="8362950" y="2057400"/>
            <a:ext cx="2838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Begehen durch Unterlassen</a:t>
            </a:r>
          </a:p>
        </p:txBody>
      </p:sp>
      <p:sp>
        <p:nvSpPr>
          <p:cNvPr id="13" name="">
            <a:extLst xmlns:a="http://schemas.openxmlformats.org/drawingml/2006/main">
              <a:ext uri="{FF2B5EF4-FFF2-40B4-BE49-F238E27FC236}">
                <a16:creationId xmlns:a16="http://schemas.microsoft.com/office/drawing/2014/main" id="{D4B9FEFE-1505-436F-AF81-3950548EE255}"/>
              </a:ext>
            </a:extLst>
          </p:cNvPr>
          <p:cNvSpPr>
            <a:spLocks xmlns:a="http://schemas.openxmlformats.org/drawingml/2006/main" noGrp="1"/>
          </p:cNvSpPr>
          <p:nvPr/>
        </p:nvSpPr>
        <p:spPr>
          <a:xfrm xmlns:a="http://schemas.openxmlformats.org/drawingml/2006/main">
            <a:off x="6858000" y="2609850"/>
            <a:ext cx="4305300" cy="2533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8">
                <a:solidFill>
                  <a:srgbClr val="15232B"/>
                </a:solidFill>
              </a:defRPr>
            </a:pPr>
            <a:r>
              <a:rPr sz="1148">
                <a:solidFill>
                  <a:srgbClr val="15232B"/>
                </a:solidFill>
              </a:rPr>
              <a:t>Wer es unterlässt, einen tatbestandlichen Erfolg abzuwenden, ist nur strafbar, wenn er rechtlich dafür einzustehen hat, dass der Erfolg nicht eintritt, und wenn das Unterlassen der Tatbestandsverwirklichung durch ein Tun entspricht.</a:t>
            </a:r>
          </a:p>
        </p:txBody>
      </p:sp>
      <p:sp>
        <p:nvSpPr>
          <p:cNvPr id="14" name="">
            <a:extLst xmlns:a="http://schemas.openxmlformats.org/drawingml/2006/main">
              <a:ext uri="{FF2B5EF4-FFF2-40B4-BE49-F238E27FC236}">
                <a16:creationId xmlns:a16="http://schemas.microsoft.com/office/drawing/2014/main" id="{71B5B105-2705-4633-91CE-30D44090C085}"/>
              </a:ext>
            </a:extLst>
          </p:cNvPr>
          <p:cNvSpPr>
            <a:spLocks xmlns:a="http://schemas.openxmlformats.org/drawingml/2006/main" noGrp="1"/>
          </p:cNvSpPr>
          <p:nvPr/>
        </p:nvSpPr>
        <p:spPr>
          <a:xfrm xmlns:a="http://schemas.openxmlformats.org/drawingml/2006/main">
            <a:off x="1809750" y="5619750"/>
            <a:ext cx="9525000" cy="419100"/>
          </a:xfrm>
          <a:prstGeom xmlns:a="http://schemas.openxmlformats.org/drawingml/2006/main" prst="roundRect">
            <a:avLst>
              <a:gd name="adj" fmla="val 18182"/>
            </a:avLst>
          </a:prstGeom>
          <a:noFill xmlns:a="http://schemas.openxmlformats.org/drawingml/2006/main"/>
          <a:ln xmlns:a="http://schemas.openxmlformats.org/drawingml/2006/main" w="11430">
            <a:solidFill>
              <a:srgbClr val="00B2BB"/>
            </a:solidFill>
            <a:prstDash val="solid"/>
          </a:ln>
        </p:spPr>
      </p:sp>
      <p:sp>
        <p:nvSpPr>
          <p:cNvPr id="15" name="">
            <a:extLst xmlns:a="http://schemas.openxmlformats.org/drawingml/2006/main">
              <a:ext uri="{FF2B5EF4-FFF2-40B4-BE49-F238E27FC236}">
                <a16:creationId xmlns:a16="http://schemas.microsoft.com/office/drawing/2014/main" id="{9DBEB4F2-CC29-4569-B43C-B896C074365A}"/>
              </a:ext>
            </a:extLst>
          </p:cNvPr>
          <p:cNvSpPr>
            <a:spLocks xmlns:a="http://schemas.openxmlformats.org/drawingml/2006/main" noGrp="1"/>
          </p:cNvSpPr>
          <p:nvPr/>
        </p:nvSpPr>
        <p:spPr>
          <a:xfrm xmlns:a="http://schemas.openxmlformats.org/drawingml/2006/main">
            <a:off x="1962150" y="5638800"/>
            <a:ext cx="9220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13" b="1">
                <a:solidFill>
                  <a:srgbClr val="003F6B"/>
                </a:solidFill>
              </a:defRPr>
            </a:pPr>
            <a:r>
              <a:rPr sz="1013" b="1">
                <a:solidFill>
                  <a:srgbClr val="003F6B"/>
                </a:solidFill>
              </a:rPr>
              <a:t>Praxislesart: Bei Unterlassen müssen Garantenstellung, gebotene und mögliche Handlung sowie hypothetische Kausalität besonders geprüft werden.</a:t>
            </a:r>
          </a:p>
        </p:txBody>
      </p:sp>
      <p:sp>
        <p:nvSpPr>
          <p:cNvPr id="16" name="">
            <a:extLst xmlns:a="http://schemas.openxmlformats.org/drawingml/2006/main">
              <a:ext uri="{FF2B5EF4-FFF2-40B4-BE49-F238E27FC236}">
                <a16:creationId xmlns:a16="http://schemas.microsoft.com/office/drawing/2014/main" id="{734A4DA5-3E7E-4EFE-8BEC-BA189E38E0AD}"/>
              </a:ext>
            </a:extLst>
          </p:cNvPr>
          <p:cNvSpPr>
            <a:spLocks xmlns:a="http://schemas.openxmlformats.org/drawingml/2006/main" noGrp="1"/>
          </p:cNvSpPr>
          <p:nvPr/>
        </p:nvSpPr>
        <p:spPr>
          <a:xfrm xmlns:a="http://schemas.openxmlformats.org/drawingml/2006/main">
            <a:off x="1809750" y="535305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05">
                <a:solidFill>
                  <a:srgbClr val="667680"/>
                </a:solidFill>
              </a:defRPr>
            </a:pPr>
            <a:r>
              <a:rPr sz="705">
                <a:solidFill>
                  <a:srgbClr val="667680"/>
                </a:solidFill>
              </a:rPr>
              <a:t>BMJ/BfJ, gesetze-im-internet.de/stgb/__222.html und /__13.html · Abruf/Stand: 20.08.2026 · https://pubmed.ncbi.nlm.nih.gov</a:t>
            </a:r>
          </a:p>
        </p:txBody>
      </p:sp>
    </p:spTree>
    <p:extLst>
      <p:ext uri="{BB962C8B-B14F-4D97-AF65-F5344CB8AC3E}">
        <p14:creationId xmlns:p14="http://schemas.microsoft.com/office/powerpoint/2010/main" val="43637646"/>
      </p:ext>
    </p:extLst>
  </p:cSld>
</p:sld>
</file>

<file path=ppt/slides/slide217.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Schweigepflicht und Hilfeleistung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GESETZESTEXT · GEKÜRZTER LEHRAUSZUG</a:t>
            </a:r>
            <a:endParaRPr/>
          </a:p>
        </p:txBody>
      </p:sp>
      <p:sp>
        <p:nvSpPr>
          <p:cNvPr id="4" name="">
            <a:extLst xmlns:a="http://schemas.openxmlformats.org/drawingml/2006/main">
              <a:ext uri="{FF2B5EF4-FFF2-40B4-BE49-F238E27FC236}">
                <a16:creationId xmlns:a16="http://schemas.microsoft.com/office/drawing/2014/main" id="{A867C09E-173F-425D-9A9B-B2985D4E5E51}"/>
              </a:ext>
            </a:extLst>
          </p:cNvPr>
          <p:cNvSpPr>
            <a:spLocks xmlns:a="http://schemas.openxmlformats.org/drawingml/2006/main" noGrp="1"/>
          </p:cNvSpPr>
          <p:nvPr/>
        </p:nvSpPr>
        <p:spPr>
          <a:xfrm xmlns:a="http://schemas.openxmlformats.org/drawingml/2006/main">
            <a:off x="1809750" y="1943100"/>
            <a:ext cx="4648200" cy="3371850"/>
          </a:xfrm>
          <a:prstGeom xmlns:a="http://schemas.openxmlformats.org/drawingml/2006/main" prst="roundRect">
            <a:avLst>
              <a:gd name="adj" fmla="val 2260"/>
            </a:avLst>
          </a:prstGeom>
          <a:solidFill xmlns:a="http://schemas.openxmlformats.org/drawingml/2006/main">
            <a:srgbClr val="F3F7F9"/>
          </a:solidFill>
          <a:ln xmlns:a="http://schemas.openxmlformats.org/drawingml/2006/main" w="11430">
            <a:solidFill>
              <a:srgbClr val="00B2BB"/>
            </a:solidFill>
            <a:prstDash val="solid"/>
          </a:ln>
        </p:spPr>
      </p:sp>
      <p:sp>
        <p:nvSpPr>
          <p:cNvPr id="5" name="">
            <a:extLst xmlns:a="http://schemas.openxmlformats.org/drawingml/2006/main">
              <a:ext uri="{FF2B5EF4-FFF2-40B4-BE49-F238E27FC236}">
                <a16:creationId xmlns:a16="http://schemas.microsoft.com/office/drawing/2014/main" id="{6FFA3D48-D097-407E-ACC4-0F520CE09607}"/>
              </a:ext>
            </a:extLst>
          </p:cNvPr>
          <p:cNvSpPr>
            <a:spLocks xmlns:a="http://schemas.openxmlformats.org/drawingml/2006/main" noGrp="1"/>
          </p:cNvSpPr>
          <p:nvPr/>
        </p:nvSpPr>
        <p:spPr>
          <a:xfrm xmlns:a="http://schemas.openxmlformats.org/drawingml/2006/main">
            <a:off x="1943100" y="2076450"/>
            <a:ext cx="1409700" cy="381000"/>
          </a:xfrm>
          <a:prstGeom xmlns:a="http://schemas.openxmlformats.org/drawingml/2006/main" prst="roundRect">
            <a:avLst>
              <a:gd name="adj" fmla="val 20000"/>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5BC57037-CE3D-4AC7-BA9D-036B86635241}"/>
              </a:ext>
            </a:extLst>
          </p:cNvPr>
          <p:cNvSpPr>
            <a:spLocks xmlns:a="http://schemas.openxmlformats.org/drawingml/2006/main" noGrp="1"/>
          </p:cNvSpPr>
          <p:nvPr/>
        </p:nvSpPr>
        <p:spPr>
          <a:xfrm xmlns:a="http://schemas.openxmlformats.org/drawingml/2006/main">
            <a:off x="1943100" y="207645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 203 I Nr. 1 StGB</a:t>
            </a:r>
          </a:p>
        </p:txBody>
      </p:sp>
      <p:sp>
        <p:nvSpPr>
          <p:cNvPr id="7" name="">
            <a:extLst xmlns:a="http://schemas.openxmlformats.org/drawingml/2006/main">
              <a:ext uri="{FF2B5EF4-FFF2-40B4-BE49-F238E27FC236}">
                <a16:creationId xmlns:a16="http://schemas.microsoft.com/office/drawing/2014/main" id="{57958A00-C8B3-418A-A788-85AB48ABB1BC}"/>
              </a:ext>
            </a:extLst>
          </p:cNvPr>
          <p:cNvSpPr>
            <a:spLocks xmlns:a="http://schemas.openxmlformats.org/drawingml/2006/main" noGrp="1"/>
          </p:cNvSpPr>
          <p:nvPr/>
        </p:nvSpPr>
        <p:spPr>
          <a:xfrm xmlns:a="http://schemas.openxmlformats.org/drawingml/2006/main">
            <a:off x="3486150" y="2057400"/>
            <a:ext cx="2838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Geheimnis · Auszug</a:t>
            </a:r>
          </a:p>
        </p:txBody>
      </p:sp>
      <p:sp>
        <p:nvSpPr>
          <p:cNvPr id="8" name="">
            <a:extLst xmlns:a="http://schemas.openxmlformats.org/drawingml/2006/main">
              <a:ext uri="{FF2B5EF4-FFF2-40B4-BE49-F238E27FC236}">
                <a16:creationId xmlns:a16="http://schemas.microsoft.com/office/drawing/2014/main" id="{DF3C136D-FCD4-4CCD-A093-1463560E41BC}"/>
              </a:ext>
            </a:extLst>
          </p:cNvPr>
          <p:cNvSpPr>
            <a:spLocks xmlns:a="http://schemas.openxmlformats.org/drawingml/2006/main" noGrp="1"/>
          </p:cNvSpPr>
          <p:nvPr/>
        </p:nvSpPr>
        <p:spPr>
          <a:xfrm xmlns:a="http://schemas.openxmlformats.org/drawingml/2006/main">
            <a:off x="1981200" y="2609850"/>
            <a:ext cx="4305300" cy="2533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8">
                <a:solidFill>
                  <a:srgbClr val="15232B"/>
                </a:solidFill>
              </a:defRPr>
            </a:pPr>
            <a:r>
              <a:rPr sz="1148">
                <a:solidFill>
                  <a:srgbClr val="15232B"/>
                </a:solidFill>
              </a:rPr>
              <a:t>Wer unbefugt ein fremdes Geheimnis offenbart, das ihm als Arzt, Zahnarzt, Tierarzt, Apotheker oder Angehörigem eines anderen Heilberufs anvertraut oder sonst bekannt geworden ist, wird mit Freiheitsstrafe bis zu einem Jahr oder mit Geldstrafe bestraft.</a:t>
            </a:r>
          </a:p>
        </p:txBody>
      </p:sp>
      <p:sp>
        <p:nvSpPr>
          <p:cNvPr id="9" name="">
            <a:extLst xmlns:a="http://schemas.openxmlformats.org/drawingml/2006/main">
              <a:ext uri="{FF2B5EF4-FFF2-40B4-BE49-F238E27FC236}">
                <a16:creationId xmlns:a16="http://schemas.microsoft.com/office/drawing/2014/main" id="{B5C8F3FF-0FC8-470D-B09E-EB7471629DE2}"/>
              </a:ext>
            </a:extLst>
          </p:cNvPr>
          <p:cNvSpPr>
            <a:spLocks xmlns:a="http://schemas.openxmlformats.org/drawingml/2006/main" noGrp="1"/>
          </p:cNvSpPr>
          <p:nvPr/>
        </p:nvSpPr>
        <p:spPr>
          <a:xfrm xmlns:a="http://schemas.openxmlformats.org/drawingml/2006/main">
            <a:off x="6686550" y="1943100"/>
            <a:ext cx="4648200" cy="3371850"/>
          </a:xfrm>
          <a:prstGeom xmlns:a="http://schemas.openxmlformats.org/drawingml/2006/main" prst="roundRect">
            <a:avLst>
              <a:gd name="adj" fmla="val 2260"/>
            </a:avLst>
          </a:prstGeom>
          <a:solidFill xmlns:a="http://schemas.openxmlformats.org/drawingml/2006/main">
            <a:srgbClr val="F3F7F9"/>
          </a:solidFill>
          <a:ln xmlns:a="http://schemas.openxmlformats.org/drawingml/2006/main" w="11430">
            <a:solidFill>
              <a:srgbClr val="003F6B"/>
            </a:solidFill>
            <a:prstDash val="solid"/>
          </a:ln>
        </p:spPr>
      </p:sp>
      <p:sp>
        <p:nvSpPr>
          <p:cNvPr id="10" name="">
            <a:extLst xmlns:a="http://schemas.openxmlformats.org/drawingml/2006/main">
              <a:ext uri="{FF2B5EF4-FFF2-40B4-BE49-F238E27FC236}">
                <a16:creationId xmlns:a16="http://schemas.microsoft.com/office/drawing/2014/main" id="{DBF17B33-CB46-4992-B346-708BF5C3F13F}"/>
              </a:ext>
            </a:extLst>
          </p:cNvPr>
          <p:cNvSpPr>
            <a:spLocks xmlns:a="http://schemas.openxmlformats.org/drawingml/2006/main" noGrp="1"/>
          </p:cNvSpPr>
          <p:nvPr/>
        </p:nvSpPr>
        <p:spPr>
          <a:xfrm xmlns:a="http://schemas.openxmlformats.org/drawingml/2006/main">
            <a:off x="6819900" y="2076450"/>
            <a:ext cx="1409700" cy="381000"/>
          </a:xfrm>
          <a:prstGeom xmlns:a="http://schemas.openxmlformats.org/drawingml/2006/main" prst="roundRect">
            <a:avLst>
              <a:gd name="adj" fmla="val 20000"/>
            </a:avLst>
          </a:prstGeom>
          <a:solidFill xmlns:a="http://schemas.openxmlformats.org/drawingml/2006/main">
            <a:srgbClr val="003F6B"/>
          </a:solidFill>
          <a:ln xmlns:a="http://schemas.openxmlformats.org/drawingml/2006/main" w="0">
            <a:solidFill>
              <a:srgbClr val="003F6B"/>
            </a:solidFill>
            <a:prstDash val="solid"/>
          </a:ln>
        </p:spPr>
      </p:sp>
      <p:sp>
        <p:nvSpPr>
          <p:cNvPr id="11" name="">
            <a:extLst xmlns:a="http://schemas.openxmlformats.org/drawingml/2006/main">
              <a:ext uri="{FF2B5EF4-FFF2-40B4-BE49-F238E27FC236}">
                <a16:creationId xmlns:a16="http://schemas.microsoft.com/office/drawing/2014/main" id="{8AEE2BE2-D737-4E97-9868-B54A7861ABE8}"/>
              </a:ext>
            </a:extLst>
          </p:cNvPr>
          <p:cNvSpPr>
            <a:spLocks xmlns:a="http://schemas.openxmlformats.org/drawingml/2006/main" noGrp="1"/>
          </p:cNvSpPr>
          <p:nvPr/>
        </p:nvSpPr>
        <p:spPr>
          <a:xfrm xmlns:a="http://schemas.openxmlformats.org/drawingml/2006/main">
            <a:off x="6819900" y="207645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 323c I StGB</a:t>
            </a:r>
          </a:p>
        </p:txBody>
      </p:sp>
      <p:sp>
        <p:nvSpPr>
          <p:cNvPr id="12" name="">
            <a:extLst xmlns:a="http://schemas.openxmlformats.org/drawingml/2006/main">
              <a:ext uri="{FF2B5EF4-FFF2-40B4-BE49-F238E27FC236}">
                <a16:creationId xmlns:a16="http://schemas.microsoft.com/office/drawing/2014/main" id="{7706496D-4389-4952-8FFA-BABF9038AE50}"/>
              </a:ext>
            </a:extLst>
          </p:cNvPr>
          <p:cNvSpPr>
            <a:spLocks xmlns:a="http://schemas.openxmlformats.org/drawingml/2006/main" noGrp="1"/>
          </p:cNvSpPr>
          <p:nvPr/>
        </p:nvSpPr>
        <p:spPr>
          <a:xfrm xmlns:a="http://schemas.openxmlformats.org/drawingml/2006/main">
            <a:off x="8362950" y="2057400"/>
            <a:ext cx="2838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Unterlassene Hilfeleistung</a:t>
            </a:r>
          </a:p>
        </p:txBody>
      </p:sp>
      <p:sp>
        <p:nvSpPr>
          <p:cNvPr id="13" name="">
            <a:extLst xmlns:a="http://schemas.openxmlformats.org/drawingml/2006/main">
              <a:ext uri="{FF2B5EF4-FFF2-40B4-BE49-F238E27FC236}">
                <a16:creationId xmlns:a16="http://schemas.microsoft.com/office/drawing/2014/main" id="{060F344F-26E0-49F2-B936-B5F3674316EB}"/>
              </a:ext>
            </a:extLst>
          </p:cNvPr>
          <p:cNvSpPr>
            <a:spLocks xmlns:a="http://schemas.openxmlformats.org/drawingml/2006/main" noGrp="1"/>
          </p:cNvSpPr>
          <p:nvPr/>
        </p:nvSpPr>
        <p:spPr>
          <a:xfrm xmlns:a="http://schemas.openxmlformats.org/drawingml/2006/main">
            <a:off x="6858000" y="2609850"/>
            <a:ext cx="4305300" cy="2533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8">
                <a:solidFill>
                  <a:srgbClr val="15232B"/>
                </a:solidFill>
              </a:defRPr>
            </a:pPr>
            <a:r>
              <a:rPr sz="1148">
                <a:solidFill>
                  <a:srgbClr val="15232B"/>
                </a:solidFill>
              </a:rPr>
              <a:t>Wer bei Unglücksfällen oder gemeiner Gefahr oder Not nicht Hilfe leistet, obwohl dies erforderlich und ihm den Umständen nach zuzumuten, insbesondere ohne erhebliche eigene Gefahr und ohne Verletzung anderer wichtiger Pflichten möglich ist, wird mit Freiheitsstrafe bis zu einem Jahr oder mit Geldstrafe bestraft.</a:t>
            </a:r>
          </a:p>
        </p:txBody>
      </p:sp>
      <p:sp>
        <p:nvSpPr>
          <p:cNvPr id="14" name="">
            <a:extLst xmlns:a="http://schemas.openxmlformats.org/drawingml/2006/main">
              <a:ext uri="{FF2B5EF4-FFF2-40B4-BE49-F238E27FC236}">
                <a16:creationId xmlns:a16="http://schemas.microsoft.com/office/drawing/2014/main" id="{418933BC-87EA-4B15-A59B-B3A36B4AEAAB}"/>
              </a:ext>
            </a:extLst>
          </p:cNvPr>
          <p:cNvSpPr>
            <a:spLocks xmlns:a="http://schemas.openxmlformats.org/drawingml/2006/main" noGrp="1"/>
          </p:cNvSpPr>
          <p:nvPr/>
        </p:nvSpPr>
        <p:spPr>
          <a:xfrm xmlns:a="http://schemas.openxmlformats.org/drawingml/2006/main">
            <a:off x="1809750" y="5619750"/>
            <a:ext cx="9525000" cy="419100"/>
          </a:xfrm>
          <a:prstGeom xmlns:a="http://schemas.openxmlformats.org/drawingml/2006/main" prst="roundRect">
            <a:avLst>
              <a:gd name="adj" fmla="val 18182"/>
            </a:avLst>
          </a:prstGeom>
          <a:noFill xmlns:a="http://schemas.openxmlformats.org/drawingml/2006/main"/>
          <a:ln xmlns:a="http://schemas.openxmlformats.org/drawingml/2006/main" w="11430">
            <a:solidFill>
              <a:srgbClr val="00B2BB"/>
            </a:solidFill>
            <a:prstDash val="solid"/>
          </a:ln>
        </p:spPr>
      </p:sp>
      <p:sp>
        <p:nvSpPr>
          <p:cNvPr id="15" name="">
            <a:extLst xmlns:a="http://schemas.openxmlformats.org/drawingml/2006/main">
              <a:ext uri="{FF2B5EF4-FFF2-40B4-BE49-F238E27FC236}">
                <a16:creationId xmlns:a16="http://schemas.microsoft.com/office/drawing/2014/main" id="{780B6C33-1B18-4B1E-AFDF-73F0B325FF43}"/>
              </a:ext>
            </a:extLst>
          </p:cNvPr>
          <p:cNvSpPr>
            <a:spLocks xmlns:a="http://schemas.openxmlformats.org/drawingml/2006/main" noGrp="1"/>
          </p:cNvSpPr>
          <p:nvPr/>
        </p:nvSpPr>
        <p:spPr>
          <a:xfrm xmlns:a="http://schemas.openxmlformats.org/drawingml/2006/main">
            <a:off x="1962150" y="5638800"/>
            <a:ext cx="9220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13" b="1">
                <a:solidFill>
                  <a:srgbClr val="003F6B"/>
                </a:solidFill>
              </a:defRPr>
            </a:pPr>
            <a:r>
              <a:rPr sz="1013" b="1">
                <a:solidFill>
                  <a:srgbClr val="003F6B"/>
                </a:solidFill>
              </a:rPr>
              <a:t>Praxislesart: Schweigepflicht ist kein Schweigegebot gegenüber jeder Stelle; Einwilligung, gesetzliche Befugnis und rechtfertigender Notstand sind sauber zu prüfen.</a:t>
            </a:r>
          </a:p>
        </p:txBody>
      </p:sp>
      <p:sp>
        <p:nvSpPr>
          <p:cNvPr id="16" name="">
            <a:extLst xmlns:a="http://schemas.openxmlformats.org/drawingml/2006/main">
              <a:ext uri="{FF2B5EF4-FFF2-40B4-BE49-F238E27FC236}">
                <a16:creationId xmlns:a16="http://schemas.microsoft.com/office/drawing/2014/main" id="{347CBB81-2F2D-447B-AB32-B5C3F9B658B2}"/>
              </a:ext>
            </a:extLst>
          </p:cNvPr>
          <p:cNvSpPr>
            <a:spLocks xmlns:a="http://schemas.openxmlformats.org/drawingml/2006/main" noGrp="1"/>
          </p:cNvSpPr>
          <p:nvPr/>
        </p:nvSpPr>
        <p:spPr>
          <a:xfrm xmlns:a="http://schemas.openxmlformats.org/drawingml/2006/main">
            <a:off x="1809750" y="535305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05">
                <a:solidFill>
                  <a:srgbClr val="667680"/>
                </a:solidFill>
              </a:defRPr>
            </a:pPr>
            <a:r>
              <a:rPr sz="705">
                <a:solidFill>
                  <a:srgbClr val="667680"/>
                </a:solidFill>
              </a:rPr>
              <a:t>BMJ/BfJ, gesetze-im-internet.de/stgb/__203.html und /__323c.html · Abruf/Stand: 20.08.2026 · https://pubmed.ncbi.nlm.nih.gov</a:t>
            </a:r>
          </a:p>
        </p:txBody>
      </p:sp>
    </p:spTree>
    <p:extLst>
      <p:ext uri="{BB962C8B-B14F-4D97-AF65-F5344CB8AC3E}">
        <p14:creationId xmlns:p14="http://schemas.microsoft.com/office/powerpoint/2010/main" val="43637646"/>
      </p:ext>
    </p:extLst>
  </p:cSld>
</p:sld>
</file>

<file path=ppt/slides/slide218.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Schweigepflicht unter Druck: erst Rolle und Rechtsgrundlage, dann Inhalt</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PODCAST-KURZVISITE · ANGEHÖRIGE, POLIZEI, ARBEITGEBER, JUGENDAMT</a:t>
            </a:r>
            <a:endParaRPr/>
          </a:p>
        </p:txBody>
      </p:sp>
      <p:sp>
        <p:nvSpPr>
          <p:cNvPr id="4" name="">
            <a:extLst xmlns:a="http://schemas.openxmlformats.org/drawingml/2006/main">
              <a:ext uri="{FF2B5EF4-FFF2-40B4-BE49-F238E27FC236}">
                <a16:creationId xmlns:a16="http://schemas.microsoft.com/office/drawing/2014/main" id="{CA563505-FC76-467C-A586-76449B1A9F8B}"/>
              </a:ext>
            </a:extLst>
          </p:cNvPr>
          <p:cNvSpPr>
            <a:spLocks xmlns:a="http://schemas.openxmlformats.org/drawingml/2006/main" noGrp="1"/>
          </p:cNvSpPr>
          <p:nvPr/>
        </p:nvSpPr>
        <p:spPr>
          <a:xfrm xmlns:a="http://schemas.openxmlformats.org/drawingml/2006/main">
            <a:off x="1809750" y="1924050"/>
            <a:ext cx="9525000" cy="838200"/>
          </a:xfrm>
          <a:prstGeom xmlns:a="http://schemas.openxmlformats.org/drawingml/2006/main" prst="roundRect">
            <a:avLst>
              <a:gd name="adj" fmla="val 9091"/>
            </a:avLst>
          </a:prstGeom>
          <a:solidFill xmlns:a="http://schemas.openxmlformats.org/drawingml/2006/main">
            <a:srgbClr val="EAF6FB"/>
          </a:solidFill>
          <a:ln xmlns:a="http://schemas.openxmlformats.org/drawingml/2006/main" w="9525">
            <a:solidFill>
              <a:srgbClr val="00B2BB"/>
            </a:solidFill>
            <a:prstDash val="solid"/>
          </a:ln>
        </p:spPr>
      </p:sp>
      <p:sp>
        <p:nvSpPr>
          <p:cNvPr id="5" name="">
            <a:extLst xmlns:a="http://schemas.openxmlformats.org/drawingml/2006/main">
              <a:ext uri="{FF2B5EF4-FFF2-40B4-BE49-F238E27FC236}">
                <a16:creationId xmlns:a16="http://schemas.microsoft.com/office/drawing/2014/main" id="{53835BCF-BA72-429B-A790-41A1544E4CAA}"/>
              </a:ext>
            </a:extLst>
          </p:cNvPr>
          <p:cNvSpPr>
            <a:spLocks xmlns:a="http://schemas.openxmlformats.org/drawingml/2006/main" noGrp="1"/>
          </p:cNvSpPr>
          <p:nvPr/>
        </p:nvSpPr>
        <p:spPr>
          <a:xfrm xmlns:a="http://schemas.openxmlformats.org/drawingml/2006/main">
            <a:off x="1981200" y="2000250"/>
            <a:ext cx="9182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55">
                <a:solidFill>
                  <a:srgbClr val="15232B"/>
                </a:solidFill>
              </a:defRPr>
            </a:pPr>
            <a:r>
              <a:rPr sz="1155">
                <a:solidFill>
                  <a:srgbClr val="15232B"/>
                </a:solidFill>
              </a:rPr>
              <a:t>Am Telefon verlangt eine Person sofort Diagnose und Verlauf: einmal als Angehörige, einmal als Polizeibeamter, einmal als Arbeitgeberin. Die Identität ist jeweils unklar.</a:t>
            </a:r>
          </a:p>
        </p:txBody>
      </p:sp>
      <p:sp>
        <p:nvSpPr>
          <p:cNvPr id="6" name="">
            <a:extLst xmlns:a="http://schemas.openxmlformats.org/drawingml/2006/main">
              <a:ext uri="{FF2B5EF4-FFF2-40B4-BE49-F238E27FC236}">
                <a16:creationId xmlns:a16="http://schemas.microsoft.com/office/drawing/2014/main" id="{8E205CEA-705F-4DFE-82D8-3275BCDDAC4C}"/>
              </a:ext>
            </a:extLst>
          </p:cNvPr>
          <p:cNvSpPr>
            <a:spLocks xmlns:a="http://schemas.openxmlformats.org/drawingml/2006/main" noGrp="1"/>
          </p:cNvSpPr>
          <p:nvPr/>
        </p:nvSpPr>
        <p:spPr>
          <a:xfrm xmlns:a="http://schemas.openxmlformats.org/drawingml/2006/main">
            <a:off x="1809750" y="2933700"/>
            <a:ext cx="381000" cy="381000"/>
          </a:xfrm>
          <a:prstGeom xmlns:a="http://schemas.openxmlformats.org/drawingml/2006/main" prst="roundRect">
            <a:avLst>
              <a:gd name="adj" fmla="val 20000"/>
            </a:avLst>
          </a:prstGeom>
          <a:solidFill xmlns:a="http://schemas.openxmlformats.org/drawingml/2006/main">
            <a:srgbClr val="00B2BB"/>
          </a:solidFill>
          <a:ln xmlns:a="http://schemas.openxmlformats.org/drawingml/2006/main" w="0">
            <a:solidFill>
              <a:srgbClr val="00B2BB"/>
            </a:solidFill>
            <a:prstDash val="solid"/>
          </a:ln>
        </p:spPr>
      </p:sp>
      <p:sp>
        <p:nvSpPr>
          <p:cNvPr id="7" name="">
            <a:extLst xmlns:a="http://schemas.openxmlformats.org/drawingml/2006/main">
              <a:ext uri="{FF2B5EF4-FFF2-40B4-BE49-F238E27FC236}">
                <a16:creationId xmlns:a16="http://schemas.microsoft.com/office/drawing/2014/main" id="{ECEBE3BC-BBE9-41D4-A3F1-B31E1FEBEDF9}"/>
              </a:ext>
            </a:extLst>
          </p:cNvPr>
          <p:cNvSpPr>
            <a:spLocks xmlns:a="http://schemas.openxmlformats.org/drawingml/2006/main" noGrp="1"/>
          </p:cNvSpPr>
          <p:nvPr/>
        </p:nvSpPr>
        <p:spPr>
          <a:xfrm xmlns:a="http://schemas.openxmlformats.org/drawingml/2006/main">
            <a:off x="1809750" y="293370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8" name="">
            <a:extLst xmlns:a="http://schemas.openxmlformats.org/drawingml/2006/main">
              <a:ext uri="{FF2B5EF4-FFF2-40B4-BE49-F238E27FC236}">
                <a16:creationId xmlns:a16="http://schemas.microsoft.com/office/drawing/2014/main" id="{A0184C0C-7E90-40F3-8001-284EB6693B48}"/>
              </a:ext>
            </a:extLst>
          </p:cNvPr>
          <p:cNvSpPr>
            <a:spLocks xmlns:a="http://schemas.openxmlformats.org/drawingml/2006/main" noGrp="1"/>
          </p:cNvSpPr>
          <p:nvPr/>
        </p:nvSpPr>
        <p:spPr>
          <a:xfrm xmlns:a="http://schemas.openxmlformats.org/drawingml/2006/main">
            <a:off x="2343150" y="2914650"/>
            <a:ext cx="18097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Identität</a:t>
            </a:r>
          </a:p>
        </p:txBody>
      </p:sp>
      <p:sp>
        <p:nvSpPr>
          <p:cNvPr id="9" name="">
            <a:extLst xmlns:a="http://schemas.openxmlformats.org/drawingml/2006/main">
              <a:ext uri="{FF2B5EF4-FFF2-40B4-BE49-F238E27FC236}">
                <a16:creationId xmlns:a16="http://schemas.microsoft.com/office/drawing/2014/main" id="{0E2C292A-55E5-4ED2-B6A9-03E33E625065}"/>
              </a:ext>
            </a:extLst>
          </p:cNvPr>
          <p:cNvSpPr>
            <a:spLocks xmlns:a="http://schemas.openxmlformats.org/drawingml/2006/main" noGrp="1"/>
          </p:cNvSpPr>
          <p:nvPr/>
        </p:nvSpPr>
        <p:spPr>
          <a:xfrm xmlns:a="http://schemas.openxmlformats.org/drawingml/2006/main">
            <a:off x="4286250" y="2914650"/>
            <a:ext cx="69532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35">
                <a:solidFill>
                  <a:srgbClr val="15232B"/>
                </a:solidFill>
              </a:defRPr>
            </a:pPr>
            <a:r>
              <a:rPr sz="1035">
                <a:solidFill>
                  <a:srgbClr val="15232B"/>
                </a:solidFill>
              </a:rPr>
              <a:t>Wer fragt tatsächlich an, wie wird die Identität verlässlich geprüft und in welcher Funktion handelt die Person?</a:t>
            </a:r>
          </a:p>
        </p:txBody>
      </p:sp>
      <p:sp>
        <p:nvSpPr>
          <p:cNvPr id="10" name="">
            <a:extLst xmlns:a="http://schemas.openxmlformats.org/drawingml/2006/main">
              <a:ext uri="{FF2B5EF4-FFF2-40B4-BE49-F238E27FC236}">
                <a16:creationId xmlns:a16="http://schemas.microsoft.com/office/drawing/2014/main" id="{CF0DDF60-99DB-4C83-A494-ADA6A9AE0DEE}"/>
              </a:ext>
            </a:extLst>
          </p:cNvPr>
          <p:cNvSpPr>
            <a:spLocks xmlns:a="http://schemas.openxmlformats.org/drawingml/2006/main" noGrp="1"/>
          </p:cNvSpPr>
          <p:nvPr/>
        </p:nvSpPr>
        <p:spPr>
          <a:xfrm xmlns:a="http://schemas.openxmlformats.org/drawingml/2006/main">
            <a:off x="1809750" y="3394710"/>
            <a:ext cx="381000" cy="381000"/>
          </a:xfrm>
          <a:prstGeom xmlns:a="http://schemas.openxmlformats.org/drawingml/2006/main" prst="roundRect">
            <a:avLst>
              <a:gd name="adj" fmla="val 20000"/>
            </a:avLst>
          </a:prstGeom>
          <a:solidFill xmlns:a="http://schemas.openxmlformats.org/drawingml/2006/main">
            <a:srgbClr val="003F6B"/>
          </a:solidFill>
          <a:ln xmlns:a="http://schemas.openxmlformats.org/drawingml/2006/main" w="0">
            <a:solidFill>
              <a:srgbClr val="003F6B"/>
            </a:solidFill>
            <a:prstDash val="solid"/>
          </a:ln>
        </p:spPr>
      </p:sp>
      <p:sp>
        <p:nvSpPr>
          <p:cNvPr id="11" name="">
            <a:extLst xmlns:a="http://schemas.openxmlformats.org/drawingml/2006/main">
              <a:ext uri="{FF2B5EF4-FFF2-40B4-BE49-F238E27FC236}">
                <a16:creationId xmlns:a16="http://schemas.microsoft.com/office/drawing/2014/main" id="{304C1A95-98EF-433B-952F-AD8549F970DC}"/>
              </a:ext>
            </a:extLst>
          </p:cNvPr>
          <p:cNvSpPr>
            <a:spLocks xmlns:a="http://schemas.openxmlformats.org/drawingml/2006/main" noGrp="1"/>
          </p:cNvSpPr>
          <p:nvPr/>
        </p:nvSpPr>
        <p:spPr>
          <a:xfrm xmlns:a="http://schemas.openxmlformats.org/drawingml/2006/main">
            <a:off x="1809750" y="339471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2" name="">
            <a:extLst xmlns:a="http://schemas.openxmlformats.org/drawingml/2006/main">
              <a:ext uri="{FF2B5EF4-FFF2-40B4-BE49-F238E27FC236}">
                <a16:creationId xmlns:a16="http://schemas.microsoft.com/office/drawing/2014/main" id="{1ED972F4-EA6B-4831-BC7E-209B135B2019}"/>
              </a:ext>
            </a:extLst>
          </p:cNvPr>
          <p:cNvSpPr>
            <a:spLocks xmlns:a="http://schemas.openxmlformats.org/drawingml/2006/main" noGrp="1"/>
          </p:cNvSpPr>
          <p:nvPr/>
        </p:nvSpPr>
        <p:spPr>
          <a:xfrm xmlns:a="http://schemas.openxmlformats.org/drawingml/2006/main">
            <a:off x="2343150" y="3375660"/>
            <a:ext cx="18097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Patientenwille</a:t>
            </a:r>
          </a:p>
        </p:txBody>
      </p:sp>
      <p:sp>
        <p:nvSpPr>
          <p:cNvPr id="13" name="">
            <a:extLst xmlns:a="http://schemas.openxmlformats.org/drawingml/2006/main">
              <a:ext uri="{FF2B5EF4-FFF2-40B4-BE49-F238E27FC236}">
                <a16:creationId xmlns:a16="http://schemas.microsoft.com/office/drawing/2014/main" id="{CF633BE2-C769-4577-8A37-999AFD468D5A}"/>
              </a:ext>
            </a:extLst>
          </p:cNvPr>
          <p:cNvSpPr>
            <a:spLocks xmlns:a="http://schemas.openxmlformats.org/drawingml/2006/main" noGrp="1"/>
          </p:cNvSpPr>
          <p:nvPr/>
        </p:nvSpPr>
        <p:spPr>
          <a:xfrm xmlns:a="http://schemas.openxmlformats.org/drawingml/2006/main">
            <a:off x="4286250" y="3375660"/>
            <a:ext cx="69532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35">
                <a:solidFill>
                  <a:srgbClr val="15232B"/>
                </a:solidFill>
              </a:defRPr>
            </a:pPr>
            <a:r>
              <a:rPr sz="1035">
                <a:solidFill>
                  <a:srgbClr val="15232B"/>
                </a:solidFill>
              </a:rPr>
              <a:t>Liegt eine Einwilligung, Vollmacht oder erkennbare Kommunikationsregel der Patientin oder des Patienten vor?</a:t>
            </a:r>
          </a:p>
        </p:txBody>
      </p:sp>
      <p:sp>
        <p:nvSpPr>
          <p:cNvPr id="14" name="">
            <a:extLst xmlns:a="http://schemas.openxmlformats.org/drawingml/2006/main">
              <a:ext uri="{FF2B5EF4-FFF2-40B4-BE49-F238E27FC236}">
                <a16:creationId xmlns:a16="http://schemas.microsoft.com/office/drawing/2014/main" id="{460432F4-E1BD-433C-A9BE-5F0FDF2C6DAD}"/>
              </a:ext>
            </a:extLst>
          </p:cNvPr>
          <p:cNvSpPr>
            <a:spLocks xmlns:a="http://schemas.openxmlformats.org/drawingml/2006/main" noGrp="1"/>
          </p:cNvSpPr>
          <p:nvPr/>
        </p:nvSpPr>
        <p:spPr>
          <a:xfrm xmlns:a="http://schemas.openxmlformats.org/drawingml/2006/main">
            <a:off x="1809750" y="3855720"/>
            <a:ext cx="381000" cy="381000"/>
          </a:xfrm>
          <a:prstGeom xmlns:a="http://schemas.openxmlformats.org/drawingml/2006/main" prst="roundRect">
            <a:avLst>
              <a:gd name="adj" fmla="val 20000"/>
            </a:avLst>
          </a:prstGeom>
          <a:solidFill xmlns:a="http://schemas.openxmlformats.org/drawingml/2006/main">
            <a:srgbClr val="00B2BB"/>
          </a:solidFill>
          <a:ln xmlns:a="http://schemas.openxmlformats.org/drawingml/2006/main" w="0">
            <a:solidFill>
              <a:srgbClr val="00B2BB"/>
            </a:solidFill>
            <a:prstDash val="solid"/>
          </a:ln>
        </p:spPr>
      </p:sp>
      <p:sp>
        <p:nvSpPr>
          <p:cNvPr id="15" name="">
            <a:extLst xmlns:a="http://schemas.openxmlformats.org/drawingml/2006/main">
              <a:ext uri="{FF2B5EF4-FFF2-40B4-BE49-F238E27FC236}">
                <a16:creationId xmlns:a16="http://schemas.microsoft.com/office/drawing/2014/main" id="{5528681F-874C-4AE3-8939-A4569C911B2B}"/>
              </a:ext>
            </a:extLst>
          </p:cNvPr>
          <p:cNvSpPr>
            <a:spLocks xmlns:a="http://schemas.openxmlformats.org/drawingml/2006/main" noGrp="1"/>
          </p:cNvSpPr>
          <p:nvPr/>
        </p:nvSpPr>
        <p:spPr>
          <a:xfrm xmlns:a="http://schemas.openxmlformats.org/drawingml/2006/main">
            <a:off x="1809750" y="385572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6" name="">
            <a:extLst xmlns:a="http://schemas.openxmlformats.org/drawingml/2006/main">
              <a:ext uri="{FF2B5EF4-FFF2-40B4-BE49-F238E27FC236}">
                <a16:creationId xmlns:a16="http://schemas.microsoft.com/office/drawing/2014/main" id="{90C130EB-E00A-4E2C-80E7-352C8ED7F5BF}"/>
              </a:ext>
            </a:extLst>
          </p:cNvPr>
          <p:cNvSpPr>
            <a:spLocks xmlns:a="http://schemas.openxmlformats.org/drawingml/2006/main" noGrp="1"/>
          </p:cNvSpPr>
          <p:nvPr/>
        </p:nvSpPr>
        <p:spPr>
          <a:xfrm xmlns:a="http://schemas.openxmlformats.org/drawingml/2006/main">
            <a:off x="2343150" y="3836670"/>
            <a:ext cx="18097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Befugnis/Pflicht</a:t>
            </a:r>
          </a:p>
        </p:txBody>
      </p:sp>
      <p:sp>
        <p:nvSpPr>
          <p:cNvPr id="17" name="">
            <a:extLst xmlns:a="http://schemas.openxmlformats.org/drawingml/2006/main">
              <a:ext uri="{FF2B5EF4-FFF2-40B4-BE49-F238E27FC236}">
                <a16:creationId xmlns:a16="http://schemas.microsoft.com/office/drawing/2014/main" id="{5288F2E2-62A9-4AE7-96AB-BBDD182B1DAF}"/>
              </a:ext>
            </a:extLst>
          </p:cNvPr>
          <p:cNvSpPr>
            <a:spLocks xmlns:a="http://schemas.openxmlformats.org/drawingml/2006/main" noGrp="1"/>
          </p:cNvSpPr>
          <p:nvPr/>
        </p:nvSpPr>
        <p:spPr>
          <a:xfrm xmlns:a="http://schemas.openxmlformats.org/drawingml/2006/main">
            <a:off x="4286250" y="3836670"/>
            <a:ext cx="69532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35">
                <a:solidFill>
                  <a:srgbClr val="15232B"/>
                </a:solidFill>
              </a:defRPr>
            </a:pPr>
            <a:r>
              <a:rPr sz="1035">
                <a:solidFill>
                  <a:srgbClr val="15232B"/>
                </a:solidFill>
              </a:rPr>
              <a:t>Gibt es eine konkrete gesetzliche Offenbarungsbefugnis oder -pflicht; reicht sie für genau diese Information?</a:t>
            </a:r>
          </a:p>
        </p:txBody>
      </p:sp>
      <p:sp>
        <p:nvSpPr>
          <p:cNvPr id="18" name="">
            <a:extLst xmlns:a="http://schemas.openxmlformats.org/drawingml/2006/main">
              <a:ext uri="{FF2B5EF4-FFF2-40B4-BE49-F238E27FC236}">
                <a16:creationId xmlns:a16="http://schemas.microsoft.com/office/drawing/2014/main" id="{10C9857A-0A90-4559-B900-7713A1440212}"/>
              </a:ext>
            </a:extLst>
          </p:cNvPr>
          <p:cNvSpPr>
            <a:spLocks xmlns:a="http://schemas.openxmlformats.org/drawingml/2006/main" noGrp="1"/>
          </p:cNvSpPr>
          <p:nvPr/>
        </p:nvSpPr>
        <p:spPr>
          <a:xfrm xmlns:a="http://schemas.openxmlformats.org/drawingml/2006/main">
            <a:off x="1809750" y="4316730"/>
            <a:ext cx="381000" cy="381000"/>
          </a:xfrm>
          <a:prstGeom xmlns:a="http://schemas.openxmlformats.org/drawingml/2006/main" prst="roundRect">
            <a:avLst>
              <a:gd name="adj" fmla="val 20000"/>
            </a:avLst>
          </a:prstGeom>
          <a:solidFill xmlns:a="http://schemas.openxmlformats.org/drawingml/2006/main">
            <a:srgbClr val="003F6B"/>
          </a:solidFill>
          <a:ln xmlns:a="http://schemas.openxmlformats.org/drawingml/2006/main" w="0">
            <a:solidFill>
              <a:srgbClr val="003F6B"/>
            </a:solidFill>
            <a:prstDash val="solid"/>
          </a:ln>
        </p:spPr>
      </p:sp>
      <p:sp>
        <p:nvSpPr>
          <p:cNvPr id="19" name="">
            <a:extLst xmlns:a="http://schemas.openxmlformats.org/drawingml/2006/main">
              <a:ext uri="{FF2B5EF4-FFF2-40B4-BE49-F238E27FC236}">
                <a16:creationId xmlns:a16="http://schemas.microsoft.com/office/drawing/2014/main" id="{DA5A4672-E304-45B2-9C6A-A958609304C7}"/>
              </a:ext>
            </a:extLst>
          </p:cNvPr>
          <p:cNvSpPr>
            <a:spLocks xmlns:a="http://schemas.openxmlformats.org/drawingml/2006/main" noGrp="1"/>
          </p:cNvSpPr>
          <p:nvPr/>
        </p:nvSpPr>
        <p:spPr>
          <a:xfrm xmlns:a="http://schemas.openxmlformats.org/drawingml/2006/main">
            <a:off x="1809750" y="431673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20" name="">
            <a:extLst xmlns:a="http://schemas.openxmlformats.org/drawingml/2006/main">
              <a:ext uri="{FF2B5EF4-FFF2-40B4-BE49-F238E27FC236}">
                <a16:creationId xmlns:a16="http://schemas.microsoft.com/office/drawing/2014/main" id="{799DD16F-D714-4261-B3CC-01C28094376E}"/>
              </a:ext>
            </a:extLst>
          </p:cNvPr>
          <p:cNvSpPr>
            <a:spLocks xmlns:a="http://schemas.openxmlformats.org/drawingml/2006/main" noGrp="1"/>
          </p:cNvSpPr>
          <p:nvPr/>
        </p:nvSpPr>
        <p:spPr>
          <a:xfrm xmlns:a="http://schemas.openxmlformats.org/drawingml/2006/main">
            <a:off x="2343150" y="4297680"/>
            <a:ext cx="18097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Erforderlichkeit</a:t>
            </a:r>
          </a:p>
        </p:txBody>
      </p:sp>
      <p:sp>
        <p:nvSpPr>
          <p:cNvPr id="21" name="">
            <a:extLst xmlns:a="http://schemas.openxmlformats.org/drawingml/2006/main">
              <a:ext uri="{FF2B5EF4-FFF2-40B4-BE49-F238E27FC236}">
                <a16:creationId xmlns:a16="http://schemas.microsoft.com/office/drawing/2014/main" id="{EE49DAB6-8D03-4D49-96E5-C11762454490}"/>
              </a:ext>
            </a:extLst>
          </p:cNvPr>
          <p:cNvSpPr>
            <a:spLocks xmlns:a="http://schemas.openxmlformats.org/drawingml/2006/main" noGrp="1"/>
          </p:cNvSpPr>
          <p:nvPr/>
        </p:nvSpPr>
        <p:spPr>
          <a:xfrm xmlns:a="http://schemas.openxmlformats.org/drawingml/2006/main">
            <a:off x="4286250" y="4297680"/>
            <a:ext cx="69532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35">
                <a:solidFill>
                  <a:srgbClr val="15232B"/>
                </a:solidFill>
              </a:defRPr>
            </a:pPr>
            <a:r>
              <a:rPr sz="1035">
                <a:solidFill>
                  <a:srgbClr val="15232B"/>
                </a:solidFill>
              </a:rPr>
              <a:t>Nur die für den legitimen Zweck erforderlichen Daten mitteilen; keine vollständige Krankengeschichte aus Bequemlichkeit.</a:t>
            </a:r>
          </a:p>
        </p:txBody>
      </p:sp>
      <p:sp>
        <p:nvSpPr>
          <p:cNvPr id="22" name="">
            <a:extLst xmlns:a="http://schemas.openxmlformats.org/drawingml/2006/main">
              <a:ext uri="{FF2B5EF4-FFF2-40B4-BE49-F238E27FC236}">
                <a16:creationId xmlns:a16="http://schemas.microsoft.com/office/drawing/2014/main" id="{4756C7B0-18A0-4ACC-8CD5-8A607285B459}"/>
              </a:ext>
            </a:extLst>
          </p:cNvPr>
          <p:cNvSpPr>
            <a:spLocks xmlns:a="http://schemas.openxmlformats.org/drawingml/2006/main" noGrp="1"/>
          </p:cNvSpPr>
          <p:nvPr/>
        </p:nvSpPr>
        <p:spPr>
          <a:xfrm xmlns:a="http://schemas.openxmlformats.org/drawingml/2006/main">
            <a:off x="1809750" y="4777740"/>
            <a:ext cx="381000" cy="381000"/>
          </a:xfrm>
          <a:prstGeom xmlns:a="http://schemas.openxmlformats.org/drawingml/2006/main" prst="roundRect">
            <a:avLst>
              <a:gd name="adj" fmla="val 20000"/>
            </a:avLst>
          </a:prstGeom>
          <a:solidFill xmlns:a="http://schemas.openxmlformats.org/drawingml/2006/main">
            <a:srgbClr val="00B2BB"/>
          </a:solidFill>
          <a:ln xmlns:a="http://schemas.openxmlformats.org/drawingml/2006/main" w="0">
            <a:solidFill>
              <a:srgbClr val="00B2BB"/>
            </a:solidFill>
            <a:prstDash val="solid"/>
          </a:ln>
        </p:spPr>
      </p:sp>
      <p:sp>
        <p:nvSpPr>
          <p:cNvPr id="23" name="">
            <a:extLst xmlns:a="http://schemas.openxmlformats.org/drawingml/2006/main">
              <a:ext uri="{FF2B5EF4-FFF2-40B4-BE49-F238E27FC236}">
                <a16:creationId xmlns:a16="http://schemas.microsoft.com/office/drawing/2014/main" id="{A5215602-85B8-4249-B86B-FF2B370C1631}"/>
              </a:ext>
            </a:extLst>
          </p:cNvPr>
          <p:cNvSpPr>
            <a:spLocks xmlns:a="http://schemas.openxmlformats.org/drawingml/2006/main" noGrp="1"/>
          </p:cNvSpPr>
          <p:nvPr/>
        </p:nvSpPr>
        <p:spPr>
          <a:xfrm xmlns:a="http://schemas.openxmlformats.org/drawingml/2006/main">
            <a:off x="1809750" y="477774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5</a:t>
            </a:r>
          </a:p>
        </p:txBody>
      </p:sp>
      <p:sp>
        <p:nvSpPr>
          <p:cNvPr id="24" name="">
            <a:extLst xmlns:a="http://schemas.openxmlformats.org/drawingml/2006/main">
              <a:ext uri="{FF2B5EF4-FFF2-40B4-BE49-F238E27FC236}">
                <a16:creationId xmlns:a16="http://schemas.microsoft.com/office/drawing/2014/main" id="{9E993C67-15EE-4F8F-998A-A5FD81223B54}"/>
              </a:ext>
            </a:extLst>
          </p:cNvPr>
          <p:cNvSpPr>
            <a:spLocks xmlns:a="http://schemas.openxmlformats.org/drawingml/2006/main" noGrp="1"/>
          </p:cNvSpPr>
          <p:nvPr/>
        </p:nvSpPr>
        <p:spPr>
          <a:xfrm xmlns:a="http://schemas.openxmlformats.org/drawingml/2006/main">
            <a:off x="2343150" y="4758690"/>
            <a:ext cx="18097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Dokumentation</a:t>
            </a:r>
          </a:p>
        </p:txBody>
      </p:sp>
      <p:sp>
        <p:nvSpPr>
          <p:cNvPr id="25" name="">
            <a:extLst xmlns:a="http://schemas.openxmlformats.org/drawingml/2006/main">
              <a:ext uri="{FF2B5EF4-FFF2-40B4-BE49-F238E27FC236}">
                <a16:creationId xmlns:a16="http://schemas.microsoft.com/office/drawing/2014/main" id="{989F2F91-02FC-4751-BB2C-8051853D99D6}"/>
              </a:ext>
            </a:extLst>
          </p:cNvPr>
          <p:cNvSpPr>
            <a:spLocks xmlns:a="http://schemas.openxmlformats.org/drawingml/2006/main" noGrp="1"/>
          </p:cNvSpPr>
          <p:nvPr/>
        </p:nvSpPr>
        <p:spPr>
          <a:xfrm xmlns:a="http://schemas.openxmlformats.org/drawingml/2006/main">
            <a:off x="4286250" y="4758690"/>
            <a:ext cx="69532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35">
                <a:solidFill>
                  <a:srgbClr val="15232B"/>
                </a:solidFill>
              </a:defRPr>
            </a:pPr>
            <a:r>
              <a:rPr sz="1035">
                <a:solidFill>
                  <a:srgbClr val="15232B"/>
                </a:solidFill>
              </a:rPr>
              <a:t>Anfragende Stelle, Rechtsgrundlage, freigegebener Inhalt, Zeitpunkt und verantwortliche Person festhalten.</a:t>
            </a:r>
          </a:p>
        </p:txBody>
      </p:sp>
      <p:sp>
        <p:nvSpPr>
          <p:cNvPr id="26" name="">
            <a:extLst xmlns:a="http://schemas.openxmlformats.org/drawingml/2006/main">
              <a:ext uri="{FF2B5EF4-FFF2-40B4-BE49-F238E27FC236}">
                <a16:creationId xmlns:a16="http://schemas.microsoft.com/office/drawing/2014/main" id="{B244F840-EC49-4B2D-9AA6-A70302F1E8D5}"/>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20">
                <a:solidFill>
                  <a:srgbClr val="667680"/>
                </a:solidFill>
              </a:defRPr>
            </a:pPr>
            <a:r>
              <a:rPr sz="720">
                <a:solidFill>
                  <a:srgbClr val="667680"/>
                </a:solidFill>
              </a:rPr>
              <a:t>§ 203 StGB; BÄK/KBV, Hinweise und Empfehlungen zu Schweigepflicht, Datenschutz und Datenverarbeitung, 2025 · https://www.bundesaerztekammer.de/recht</a:t>
            </a:r>
          </a:p>
        </p:txBody>
      </p:sp>
      <p:sp>
        <p:nvSpPr>
          <p:cNvPr id="27" name="">
            <a:extLst xmlns:a="http://schemas.openxmlformats.org/drawingml/2006/main">
              <a:ext uri="{FF2B5EF4-FFF2-40B4-BE49-F238E27FC236}">
                <a16:creationId xmlns:a16="http://schemas.microsoft.com/office/drawing/2014/main" id="{282F61EF-7851-4336-A377-BB743CC341E0}"/>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8" name="">
            <a:extLst xmlns:a="http://schemas.openxmlformats.org/drawingml/2006/main">
              <a:ext uri="{FF2B5EF4-FFF2-40B4-BE49-F238E27FC236}">
                <a16:creationId xmlns:a16="http://schemas.microsoft.com/office/drawing/2014/main" id="{D22A129D-1732-40BD-9E00-53D1915D45C7}"/>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Uniform, Verwandtschaft oder Dringlichkeit ersetzen weder Identitätsprüfung noch eine Offenbarungsgrundlage.</a:t>
            </a:r>
          </a:p>
        </p:txBody>
      </p:sp>
    </p:spTree>
    <p:extLst>
      <p:ext uri="{BB962C8B-B14F-4D97-AF65-F5344CB8AC3E}">
        <p14:creationId xmlns:p14="http://schemas.microsoft.com/office/powerpoint/2010/main" val="43637646"/>
      </p:ext>
    </p:extLst>
  </p:cSld>
</p:sld>
</file>

<file path=ppt/slides/slide219.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Leichenschau in Niedersachsen: vollständig untersuchen, Todesart ehrlich klassifizieren, Zweifel melden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PODCAST-KURZVISITE · TODESBESCHEINIGUNG</a:t>
            </a:r>
            <a:endParaRPr/>
          </a:p>
        </p:txBody>
      </p:sp>
      <p:sp>
        <p:nvSpPr>
          <p:cNvPr id="4" name="">
            <a:extLst xmlns:a="http://schemas.openxmlformats.org/drawingml/2006/main">
              <a:ext uri="{FF2B5EF4-FFF2-40B4-BE49-F238E27FC236}">
                <a16:creationId xmlns:a16="http://schemas.microsoft.com/office/drawing/2014/main" id="{925071D9-BA0F-4F47-8FF2-CE5108EEF351}"/>
              </a:ext>
            </a:extLst>
          </p:cNvPr>
          <p:cNvSpPr>
            <a:spLocks xmlns:a="http://schemas.openxmlformats.org/drawingml/2006/main" noGrp="1"/>
          </p:cNvSpPr>
          <p:nvPr/>
        </p:nvSpPr>
        <p:spPr>
          <a:xfrm xmlns:a="http://schemas.openxmlformats.org/drawingml/2006/main">
            <a:off x="1809750" y="1952625"/>
            <a:ext cx="400050" cy="468313"/>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CE6C7158-E523-4F38-A8AC-A3A432966865}"/>
              </a:ext>
            </a:extLst>
          </p:cNvPr>
          <p:cNvSpPr>
            <a:spLocks xmlns:a="http://schemas.openxmlformats.org/drawingml/2006/main" noGrp="1"/>
          </p:cNvSpPr>
          <p:nvPr/>
        </p:nvSpPr>
        <p:spPr>
          <a:xfrm xmlns:a="http://schemas.openxmlformats.org/drawingml/2006/main">
            <a:off x="1809750" y="1952625"/>
            <a:ext cx="400050" cy="468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6" name="">
            <a:extLst xmlns:a="http://schemas.openxmlformats.org/drawingml/2006/main">
              <a:ext uri="{FF2B5EF4-FFF2-40B4-BE49-F238E27FC236}">
                <a16:creationId xmlns:a16="http://schemas.microsoft.com/office/drawing/2014/main" id="{BD14C638-750B-4FCB-BE97-296DCE210D71}"/>
              </a:ext>
            </a:extLst>
          </p:cNvPr>
          <p:cNvSpPr>
            <a:spLocks xmlns:a="http://schemas.openxmlformats.org/drawingml/2006/main" noGrp="1"/>
          </p:cNvSpPr>
          <p:nvPr/>
        </p:nvSpPr>
        <p:spPr>
          <a:xfrm xmlns:a="http://schemas.openxmlformats.org/drawingml/2006/main">
            <a:off x="2324100" y="1962150"/>
            <a:ext cx="2381250" cy="4492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Unverzüglich</a:t>
            </a:r>
          </a:p>
        </p:txBody>
      </p:sp>
      <p:sp>
        <p:nvSpPr>
          <p:cNvPr id="7" name="">
            <a:extLst xmlns:a="http://schemas.openxmlformats.org/drawingml/2006/main">
              <a:ext uri="{FF2B5EF4-FFF2-40B4-BE49-F238E27FC236}">
                <a16:creationId xmlns:a16="http://schemas.microsoft.com/office/drawing/2014/main" id="{F23718C8-DE67-464C-A475-96CED01D6D1F}"/>
              </a:ext>
            </a:extLst>
          </p:cNvPr>
          <p:cNvSpPr>
            <a:spLocks xmlns:a="http://schemas.openxmlformats.org/drawingml/2006/main" noGrp="1"/>
          </p:cNvSpPr>
          <p:nvPr/>
        </p:nvSpPr>
        <p:spPr>
          <a:xfrm xmlns:a="http://schemas.openxmlformats.org/drawingml/2006/main">
            <a:off x="4819650" y="1962150"/>
            <a:ext cx="6419850" cy="4492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Leichenschau grundsätzlich am Auffinde-/Sterbeort durchführen; Lebensrettung und sichere Todesfeststellung gehen vor.</a:t>
            </a:r>
          </a:p>
        </p:txBody>
      </p:sp>
      <p:sp>
        <p:nvSpPr>
          <p:cNvPr id="8" name="">
            <a:extLst xmlns:a="http://schemas.openxmlformats.org/drawingml/2006/main">
              <a:ext uri="{FF2B5EF4-FFF2-40B4-BE49-F238E27FC236}">
                <a16:creationId xmlns:a16="http://schemas.microsoft.com/office/drawing/2014/main" id="{71A0C6C0-E7EA-4866-B647-36749AD17A1F}"/>
              </a:ext>
            </a:extLst>
          </p:cNvPr>
          <p:cNvSpPr>
            <a:spLocks xmlns:a="http://schemas.openxmlformats.org/drawingml/2006/main" noGrp="1"/>
          </p:cNvSpPr>
          <p:nvPr/>
        </p:nvSpPr>
        <p:spPr>
          <a:xfrm xmlns:a="http://schemas.openxmlformats.org/drawingml/2006/main">
            <a:off x="1809750" y="2497138"/>
            <a:ext cx="400050" cy="468313"/>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9" name="">
            <a:extLst xmlns:a="http://schemas.openxmlformats.org/drawingml/2006/main">
              <a:ext uri="{FF2B5EF4-FFF2-40B4-BE49-F238E27FC236}">
                <a16:creationId xmlns:a16="http://schemas.microsoft.com/office/drawing/2014/main" id="{44DBE693-99DF-47D4-8EBD-09C368AA7088}"/>
              </a:ext>
            </a:extLst>
          </p:cNvPr>
          <p:cNvSpPr>
            <a:spLocks xmlns:a="http://schemas.openxmlformats.org/drawingml/2006/main" noGrp="1"/>
          </p:cNvSpPr>
          <p:nvPr/>
        </p:nvSpPr>
        <p:spPr>
          <a:xfrm xmlns:a="http://schemas.openxmlformats.org/drawingml/2006/main">
            <a:off x="1809750" y="2497138"/>
            <a:ext cx="400050" cy="468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0" name="">
            <a:extLst xmlns:a="http://schemas.openxmlformats.org/drawingml/2006/main">
              <a:ext uri="{FF2B5EF4-FFF2-40B4-BE49-F238E27FC236}">
                <a16:creationId xmlns:a16="http://schemas.microsoft.com/office/drawing/2014/main" id="{1A9B013C-2BB3-498B-B5B6-B7BE2358598C}"/>
              </a:ext>
            </a:extLst>
          </p:cNvPr>
          <p:cNvSpPr>
            <a:spLocks xmlns:a="http://schemas.openxmlformats.org/drawingml/2006/main" noGrp="1"/>
          </p:cNvSpPr>
          <p:nvPr/>
        </p:nvSpPr>
        <p:spPr>
          <a:xfrm xmlns:a="http://schemas.openxmlformats.org/drawingml/2006/main">
            <a:off x="2324100" y="2506663"/>
            <a:ext cx="2381250" cy="4492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Vollständig</a:t>
            </a:r>
          </a:p>
        </p:txBody>
      </p:sp>
      <p:sp>
        <p:nvSpPr>
          <p:cNvPr id="11" name="">
            <a:extLst xmlns:a="http://schemas.openxmlformats.org/drawingml/2006/main">
              <a:ext uri="{FF2B5EF4-FFF2-40B4-BE49-F238E27FC236}">
                <a16:creationId xmlns:a16="http://schemas.microsoft.com/office/drawing/2014/main" id="{4BD79D46-4F70-4BA8-8C3D-CCE5BB9D5B3A}"/>
              </a:ext>
            </a:extLst>
          </p:cNvPr>
          <p:cNvSpPr>
            <a:spLocks xmlns:a="http://schemas.openxmlformats.org/drawingml/2006/main" noGrp="1"/>
          </p:cNvSpPr>
          <p:nvPr/>
        </p:nvSpPr>
        <p:spPr>
          <a:xfrm xmlns:a="http://schemas.openxmlformats.org/drawingml/2006/main">
            <a:off x="4819650" y="2506663"/>
            <a:ext cx="6419850" cy="4492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Entkleidete Leiche sorgfältig untersuchen und alle Körperregionen einbeziehen; Informationen zum Verlauf erheben.</a:t>
            </a:r>
          </a:p>
        </p:txBody>
      </p:sp>
      <p:sp>
        <p:nvSpPr>
          <p:cNvPr id="12" name="">
            <a:extLst xmlns:a="http://schemas.openxmlformats.org/drawingml/2006/main">
              <a:ext uri="{FF2B5EF4-FFF2-40B4-BE49-F238E27FC236}">
                <a16:creationId xmlns:a16="http://schemas.microsoft.com/office/drawing/2014/main" id="{839428AE-88CA-417D-A88E-D723E6FF56F2}"/>
              </a:ext>
            </a:extLst>
          </p:cNvPr>
          <p:cNvSpPr>
            <a:spLocks xmlns:a="http://schemas.openxmlformats.org/drawingml/2006/main" noGrp="1"/>
          </p:cNvSpPr>
          <p:nvPr/>
        </p:nvSpPr>
        <p:spPr>
          <a:xfrm xmlns:a="http://schemas.openxmlformats.org/drawingml/2006/main">
            <a:off x="1809750" y="3041650"/>
            <a:ext cx="400050" cy="468313"/>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3" name="">
            <a:extLst xmlns:a="http://schemas.openxmlformats.org/drawingml/2006/main">
              <a:ext uri="{FF2B5EF4-FFF2-40B4-BE49-F238E27FC236}">
                <a16:creationId xmlns:a16="http://schemas.microsoft.com/office/drawing/2014/main" id="{9FC38881-62F7-41E0-9FCE-678562E3F287}"/>
              </a:ext>
            </a:extLst>
          </p:cNvPr>
          <p:cNvSpPr>
            <a:spLocks xmlns:a="http://schemas.openxmlformats.org/drawingml/2006/main" noGrp="1"/>
          </p:cNvSpPr>
          <p:nvPr/>
        </p:nvSpPr>
        <p:spPr>
          <a:xfrm xmlns:a="http://schemas.openxmlformats.org/drawingml/2006/main">
            <a:off x="1809750" y="3041650"/>
            <a:ext cx="400050" cy="468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4" name="">
            <a:extLst xmlns:a="http://schemas.openxmlformats.org/drawingml/2006/main">
              <a:ext uri="{FF2B5EF4-FFF2-40B4-BE49-F238E27FC236}">
                <a16:creationId xmlns:a16="http://schemas.microsoft.com/office/drawing/2014/main" id="{0CBA91C9-99CD-412D-8B2C-C3BEAEEB2AAE}"/>
              </a:ext>
            </a:extLst>
          </p:cNvPr>
          <p:cNvSpPr>
            <a:spLocks xmlns:a="http://schemas.openxmlformats.org/drawingml/2006/main" noGrp="1"/>
          </p:cNvSpPr>
          <p:nvPr/>
        </p:nvSpPr>
        <p:spPr>
          <a:xfrm xmlns:a="http://schemas.openxmlformats.org/drawingml/2006/main">
            <a:off x="2324100" y="3051175"/>
            <a:ext cx="2381250" cy="4492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Todesursache</a:t>
            </a:r>
          </a:p>
        </p:txBody>
      </p:sp>
      <p:sp>
        <p:nvSpPr>
          <p:cNvPr id="15" name="">
            <a:extLst xmlns:a="http://schemas.openxmlformats.org/drawingml/2006/main">
              <a:ext uri="{FF2B5EF4-FFF2-40B4-BE49-F238E27FC236}">
                <a16:creationId xmlns:a16="http://schemas.microsoft.com/office/drawing/2014/main" id="{1CB38BD2-9BCD-42B8-A3B2-D49A7F8E3673}"/>
              </a:ext>
            </a:extLst>
          </p:cNvPr>
          <p:cNvSpPr>
            <a:spLocks xmlns:a="http://schemas.openxmlformats.org/drawingml/2006/main" noGrp="1"/>
          </p:cNvSpPr>
          <p:nvPr/>
        </p:nvSpPr>
        <p:spPr>
          <a:xfrm xmlns:a="http://schemas.openxmlformats.org/drawingml/2006/main">
            <a:off x="4819650" y="3051175"/>
            <a:ext cx="6419850" cy="4492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Kausalkette nur soweit medizinisch tragfähig angeben; keine erfundene Sicherheit bei unklarer Ursache.</a:t>
            </a:r>
          </a:p>
        </p:txBody>
      </p:sp>
      <p:sp>
        <p:nvSpPr>
          <p:cNvPr id="16" name="">
            <a:extLst xmlns:a="http://schemas.openxmlformats.org/drawingml/2006/main">
              <a:ext uri="{FF2B5EF4-FFF2-40B4-BE49-F238E27FC236}">
                <a16:creationId xmlns:a16="http://schemas.microsoft.com/office/drawing/2014/main" id="{6E00B664-AA97-4AE6-A4DB-5B60B6CB5C6F}"/>
              </a:ext>
            </a:extLst>
          </p:cNvPr>
          <p:cNvSpPr>
            <a:spLocks xmlns:a="http://schemas.openxmlformats.org/drawingml/2006/main" noGrp="1"/>
          </p:cNvSpPr>
          <p:nvPr/>
        </p:nvSpPr>
        <p:spPr>
          <a:xfrm xmlns:a="http://schemas.openxmlformats.org/drawingml/2006/main">
            <a:off x="1809750" y="3586163"/>
            <a:ext cx="400050" cy="468313"/>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7" name="">
            <a:extLst xmlns:a="http://schemas.openxmlformats.org/drawingml/2006/main">
              <a:ext uri="{FF2B5EF4-FFF2-40B4-BE49-F238E27FC236}">
                <a16:creationId xmlns:a16="http://schemas.microsoft.com/office/drawing/2014/main" id="{586A02E0-05FF-4DC2-A1B2-CBA5D6FB0DF9}"/>
              </a:ext>
            </a:extLst>
          </p:cNvPr>
          <p:cNvSpPr>
            <a:spLocks xmlns:a="http://schemas.openxmlformats.org/drawingml/2006/main" noGrp="1"/>
          </p:cNvSpPr>
          <p:nvPr/>
        </p:nvSpPr>
        <p:spPr>
          <a:xfrm xmlns:a="http://schemas.openxmlformats.org/drawingml/2006/main">
            <a:off x="1809750" y="3586163"/>
            <a:ext cx="400050" cy="468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18" name="">
            <a:extLst xmlns:a="http://schemas.openxmlformats.org/drawingml/2006/main">
              <a:ext uri="{FF2B5EF4-FFF2-40B4-BE49-F238E27FC236}">
                <a16:creationId xmlns:a16="http://schemas.microsoft.com/office/drawing/2014/main" id="{DA6C5B1F-559A-428C-B442-5369CD33C6E8}"/>
              </a:ext>
            </a:extLst>
          </p:cNvPr>
          <p:cNvSpPr>
            <a:spLocks xmlns:a="http://schemas.openxmlformats.org/drawingml/2006/main" noGrp="1"/>
          </p:cNvSpPr>
          <p:nvPr/>
        </p:nvSpPr>
        <p:spPr>
          <a:xfrm xmlns:a="http://schemas.openxmlformats.org/drawingml/2006/main">
            <a:off x="2324100" y="3595688"/>
            <a:ext cx="2381250" cy="4492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Todesart</a:t>
            </a:r>
          </a:p>
        </p:txBody>
      </p:sp>
      <p:sp>
        <p:nvSpPr>
          <p:cNvPr id="19" name="">
            <a:extLst xmlns:a="http://schemas.openxmlformats.org/drawingml/2006/main">
              <a:ext uri="{FF2B5EF4-FFF2-40B4-BE49-F238E27FC236}">
                <a16:creationId xmlns:a16="http://schemas.microsoft.com/office/drawing/2014/main" id="{FF260944-6CA2-4CA9-843B-D3CFD50AA0BB}"/>
              </a:ext>
            </a:extLst>
          </p:cNvPr>
          <p:cNvSpPr>
            <a:spLocks xmlns:a="http://schemas.openxmlformats.org/drawingml/2006/main" noGrp="1"/>
          </p:cNvSpPr>
          <p:nvPr/>
        </p:nvSpPr>
        <p:spPr>
          <a:xfrm xmlns:a="http://schemas.openxmlformats.org/drawingml/2006/main">
            <a:off x="4819650" y="3595688"/>
            <a:ext cx="6419850" cy="4492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Natürlich nur bei sicher krankheitsbedingtem Tod; bei Anhaltspunkten für Suizid, Unfall oder Fremdeinwirkung nicht natürlich.</a:t>
            </a:r>
          </a:p>
        </p:txBody>
      </p:sp>
      <p:sp>
        <p:nvSpPr>
          <p:cNvPr id="20" name="">
            <a:extLst xmlns:a="http://schemas.openxmlformats.org/drawingml/2006/main">
              <a:ext uri="{FF2B5EF4-FFF2-40B4-BE49-F238E27FC236}">
                <a16:creationId xmlns:a16="http://schemas.microsoft.com/office/drawing/2014/main" id="{E92F5820-C96B-4E5B-948D-7C1E29B48BBF}"/>
              </a:ext>
            </a:extLst>
          </p:cNvPr>
          <p:cNvSpPr>
            <a:spLocks xmlns:a="http://schemas.openxmlformats.org/drawingml/2006/main" noGrp="1"/>
          </p:cNvSpPr>
          <p:nvPr/>
        </p:nvSpPr>
        <p:spPr>
          <a:xfrm xmlns:a="http://schemas.openxmlformats.org/drawingml/2006/main">
            <a:off x="1809750" y="4130675"/>
            <a:ext cx="400050" cy="468313"/>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1" name="">
            <a:extLst xmlns:a="http://schemas.openxmlformats.org/drawingml/2006/main">
              <a:ext uri="{FF2B5EF4-FFF2-40B4-BE49-F238E27FC236}">
                <a16:creationId xmlns:a16="http://schemas.microsoft.com/office/drawing/2014/main" id="{4F15A684-8672-4F2C-A525-AE2FD7F5C1ED}"/>
              </a:ext>
            </a:extLst>
          </p:cNvPr>
          <p:cNvSpPr>
            <a:spLocks xmlns:a="http://schemas.openxmlformats.org/drawingml/2006/main" noGrp="1"/>
          </p:cNvSpPr>
          <p:nvPr/>
        </p:nvSpPr>
        <p:spPr>
          <a:xfrm xmlns:a="http://schemas.openxmlformats.org/drawingml/2006/main">
            <a:off x="1809750" y="4130675"/>
            <a:ext cx="400050" cy="468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5</a:t>
            </a:r>
          </a:p>
        </p:txBody>
      </p:sp>
      <p:sp>
        <p:nvSpPr>
          <p:cNvPr id="22" name="">
            <a:extLst xmlns:a="http://schemas.openxmlformats.org/drawingml/2006/main">
              <a:ext uri="{FF2B5EF4-FFF2-40B4-BE49-F238E27FC236}">
                <a16:creationId xmlns:a16="http://schemas.microsoft.com/office/drawing/2014/main" id="{E2C26CB1-EE63-497D-BD5D-669E224A72F4}"/>
              </a:ext>
            </a:extLst>
          </p:cNvPr>
          <p:cNvSpPr>
            <a:spLocks xmlns:a="http://schemas.openxmlformats.org/drawingml/2006/main" noGrp="1"/>
          </p:cNvSpPr>
          <p:nvPr/>
        </p:nvSpPr>
        <p:spPr>
          <a:xfrm xmlns:a="http://schemas.openxmlformats.org/drawingml/2006/main">
            <a:off x="2324100" y="4140200"/>
            <a:ext cx="2381250" cy="4492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Melden</a:t>
            </a:r>
          </a:p>
        </p:txBody>
      </p:sp>
      <p:sp>
        <p:nvSpPr>
          <p:cNvPr id="23" name="">
            <a:extLst xmlns:a="http://schemas.openxmlformats.org/drawingml/2006/main">
              <a:ext uri="{FF2B5EF4-FFF2-40B4-BE49-F238E27FC236}">
                <a16:creationId xmlns:a16="http://schemas.microsoft.com/office/drawing/2014/main" id="{3C7AC8FA-7D63-450C-BE23-A71226AE3157}"/>
              </a:ext>
            </a:extLst>
          </p:cNvPr>
          <p:cNvSpPr>
            <a:spLocks xmlns:a="http://schemas.openxmlformats.org/drawingml/2006/main" noGrp="1"/>
          </p:cNvSpPr>
          <p:nvPr/>
        </p:nvSpPr>
        <p:spPr>
          <a:xfrm xmlns:a="http://schemas.openxmlformats.org/drawingml/2006/main">
            <a:off x="4819650" y="4140200"/>
            <a:ext cx="6419850" cy="4492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Bei nicht natürlichem Tod oder den gesetzlich geregelten Zweifelsfällen unverzüglich Polizei oder Staatsanwaltschaft benachrichtigen.</a:t>
            </a:r>
          </a:p>
        </p:txBody>
      </p:sp>
      <p:sp>
        <p:nvSpPr>
          <p:cNvPr id="24" name="">
            <a:extLst xmlns:a="http://schemas.openxmlformats.org/drawingml/2006/main">
              <a:ext uri="{FF2B5EF4-FFF2-40B4-BE49-F238E27FC236}">
                <a16:creationId xmlns:a16="http://schemas.microsoft.com/office/drawing/2014/main" id="{5B53A963-66BF-4C42-B103-DEE71B4F51F6}"/>
              </a:ext>
            </a:extLst>
          </p:cNvPr>
          <p:cNvSpPr>
            <a:spLocks xmlns:a="http://schemas.openxmlformats.org/drawingml/2006/main" noGrp="1"/>
          </p:cNvSpPr>
          <p:nvPr/>
        </p:nvSpPr>
        <p:spPr>
          <a:xfrm xmlns:a="http://schemas.openxmlformats.org/drawingml/2006/main">
            <a:off x="1809750" y="4675188"/>
            <a:ext cx="400050" cy="468313"/>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25" name="">
            <a:extLst xmlns:a="http://schemas.openxmlformats.org/drawingml/2006/main">
              <a:ext uri="{FF2B5EF4-FFF2-40B4-BE49-F238E27FC236}">
                <a16:creationId xmlns:a16="http://schemas.microsoft.com/office/drawing/2014/main" id="{DA2564F9-B67E-4F6F-8DDD-8C7312A7A1B7}"/>
              </a:ext>
            </a:extLst>
          </p:cNvPr>
          <p:cNvSpPr>
            <a:spLocks xmlns:a="http://schemas.openxmlformats.org/drawingml/2006/main" noGrp="1"/>
          </p:cNvSpPr>
          <p:nvPr/>
        </p:nvSpPr>
        <p:spPr>
          <a:xfrm xmlns:a="http://schemas.openxmlformats.org/drawingml/2006/main">
            <a:off x="1809750" y="4675188"/>
            <a:ext cx="400050" cy="468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6</a:t>
            </a:r>
          </a:p>
        </p:txBody>
      </p:sp>
      <p:sp>
        <p:nvSpPr>
          <p:cNvPr id="26" name="">
            <a:extLst xmlns:a="http://schemas.openxmlformats.org/drawingml/2006/main">
              <a:ext uri="{FF2B5EF4-FFF2-40B4-BE49-F238E27FC236}">
                <a16:creationId xmlns:a16="http://schemas.microsoft.com/office/drawing/2014/main" id="{02BFEFD1-DFB3-4556-95A8-FFEF0E65CE6E}"/>
              </a:ext>
            </a:extLst>
          </p:cNvPr>
          <p:cNvSpPr>
            <a:spLocks xmlns:a="http://schemas.openxmlformats.org/drawingml/2006/main" noGrp="1"/>
          </p:cNvSpPr>
          <p:nvPr/>
        </p:nvSpPr>
        <p:spPr>
          <a:xfrm xmlns:a="http://schemas.openxmlformats.org/drawingml/2006/main">
            <a:off x="2324100" y="4684713"/>
            <a:ext cx="2381250" cy="4492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Bescheinigen</a:t>
            </a:r>
          </a:p>
        </p:txBody>
      </p:sp>
      <p:sp>
        <p:nvSpPr>
          <p:cNvPr id="27" name="">
            <a:extLst xmlns:a="http://schemas.openxmlformats.org/drawingml/2006/main">
              <a:ext uri="{FF2B5EF4-FFF2-40B4-BE49-F238E27FC236}">
                <a16:creationId xmlns:a16="http://schemas.microsoft.com/office/drawing/2014/main" id="{47C10528-2803-4580-9CEA-54B073ABC150}"/>
              </a:ext>
            </a:extLst>
          </p:cNvPr>
          <p:cNvSpPr>
            <a:spLocks xmlns:a="http://schemas.openxmlformats.org/drawingml/2006/main" noGrp="1"/>
          </p:cNvSpPr>
          <p:nvPr/>
        </p:nvSpPr>
        <p:spPr>
          <a:xfrm xmlns:a="http://schemas.openxmlformats.org/drawingml/2006/main">
            <a:off x="4819650" y="4684713"/>
            <a:ext cx="6419850" cy="4492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Todesbescheinigung unverzüglich, vollständig und lesbar ausstellen; Rückfragen der Gesundheitsbehörde beantworten.</a:t>
            </a:r>
          </a:p>
        </p:txBody>
      </p:sp>
      <p:sp>
        <p:nvSpPr>
          <p:cNvPr id="28" name="">
            <a:extLst xmlns:a="http://schemas.openxmlformats.org/drawingml/2006/main">
              <a:ext uri="{FF2B5EF4-FFF2-40B4-BE49-F238E27FC236}">
                <a16:creationId xmlns:a16="http://schemas.microsoft.com/office/drawing/2014/main" id="{FEB06BC2-68DE-417C-9AB2-88D0380EA2A1}"/>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20">
                <a:solidFill>
                  <a:srgbClr val="667680"/>
                </a:solidFill>
              </a:defRPr>
            </a:pPr>
            <a:r>
              <a:rPr sz="720">
                <a:solidFill>
                  <a:srgbClr val="667680"/>
                </a:solidFill>
              </a:rPr>
              <a:t>§§ 3, 4 und 6 Niedersächsisches Bestattungsgesetz; Todesbescheinigungsverordnung Niedersachsen · https://www.rechtsprechung-im-internet.de</a:t>
            </a:r>
          </a:p>
        </p:txBody>
      </p:sp>
      <p:sp>
        <p:nvSpPr>
          <p:cNvPr id="29" name="">
            <a:extLst xmlns:a="http://schemas.openxmlformats.org/drawingml/2006/main">
              <a:ext uri="{FF2B5EF4-FFF2-40B4-BE49-F238E27FC236}">
                <a16:creationId xmlns:a16="http://schemas.microsoft.com/office/drawing/2014/main" id="{CCE1E5D8-0EBA-402F-AD9E-4DA254A7C828}"/>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30" name="">
            <a:extLst xmlns:a="http://schemas.openxmlformats.org/drawingml/2006/main">
              <a:ext uri="{FF2B5EF4-FFF2-40B4-BE49-F238E27FC236}">
                <a16:creationId xmlns:a16="http://schemas.microsoft.com/office/drawing/2014/main" id="{A0B09584-3A54-4A35-A6D2-9F4C9DE73EFD}"/>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„Natürlich“ ist keine Höflichkeitsformel: Eine falsche Todesart kann Beweise vernichten und ein eigenes Verfahren auslösen.</a:t>
            </a:r>
          </a:p>
        </p:txBody>
      </p:sp>
    </p:spTree>
    <p:extLst>
      <p:ext uri="{BB962C8B-B14F-4D97-AF65-F5344CB8AC3E}">
        <p14:creationId xmlns:p14="http://schemas.microsoft.com/office/powerpoint/2010/main" val="43637646"/>
      </p:ext>
    </p:extLst>
  </p:cSld>
</p:sld>
</file>

<file path=ppt/slides/slide220.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Außer Dienst helfen und Fahruntüchtigkeit ansprechen: zwei unterschiedliche Pflichtlagen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PODCAST-KURZVISITEN · HILFELEISTUNG UND VERKEHRSMEDIZIN</a:t>
            </a:r>
            <a:endParaRPr/>
          </a:p>
        </p:txBody>
      </p:sp>
      <p:sp>
        <p:nvSpPr>
          <p:cNvPr id="4" name="">
            <a:extLst xmlns:a="http://schemas.openxmlformats.org/drawingml/2006/main">
              <a:ext uri="{FF2B5EF4-FFF2-40B4-BE49-F238E27FC236}">
                <a16:creationId xmlns:a16="http://schemas.microsoft.com/office/drawing/2014/main" id="{CE4D9B4A-4D47-454E-8DAE-25E4E45D214E}"/>
              </a:ext>
            </a:extLst>
          </p:cNvPr>
          <p:cNvSpPr>
            <a:spLocks xmlns:a="http://schemas.openxmlformats.org/drawingml/2006/main" noGrp="1"/>
          </p:cNvSpPr>
          <p:nvPr/>
        </p:nvSpPr>
        <p:spPr>
          <a:xfrm xmlns:a="http://schemas.openxmlformats.org/drawingml/2006/main">
            <a:off x="1809750" y="2000250"/>
            <a:ext cx="4619625" cy="3286125"/>
          </a:xfrm>
          <a:prstGeom xmlns:a="http://schemas.openxmlformats.org/drawingml/2006/main" prst="roundRect">
            <a:avLst>
              <a:gd name="adj" fmla="val 2319"/>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8E2B51F6-4CEF-409F-9F47-7DC0F45FEF92}"/>
              </a:ext>
            </a:extLst>
          </p:cNvPr>
          <p:cNvSpPr>
            <a:spLocks xmlns:a="http://schemas.openxmlformats.org/drawingml/2006/main" noGrp="1"/>
          </p:cNvSpPr>
          <p:nvPr/>
        </p:nvSpPr>
        <p:spPr>
          <a:xfrm xmlns:a="http://schemas.openxmlformats.org/drawingml/2006/main">
            <a:off x="1809750" y="2000250"/>
            <a:ext cx="4619625"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B42BA3D9-4F2F-4CE4-8554-D86CB4F688BD}"/>
              </a:ext>
            </a:extLst>
          </p:cNvPr>
          <p:cNvSpPr>
            <a:spLocks xmlns:a="http://schemas.openxmlformats.org/drawingml/2006/main" noGrp="1"/>
          </p:cNvSpPr>
          <p:nvPr/>
        </p:nvSpPr>
        <p:spPr>
          <a:xfrm xmlns:a="http://schemas.openxmlformats.org/drawingml/2006/main">
            <a:off x="1962150" y="2133600"/>
            <a:ext cx="4314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75" b="1">
                <a:solidFill>
                  <a:srgbClr val="003F6B"/>
                </a:solidFill>
              </a:defRPr>
            </a:pPr>
            <a:r>
              <a:rPr sz="1575" b="1">
                <a:solidFill>
                  <a:srgbClr val="003F6B"/>
                </a:solidFill>
              </a:rPr>
              <a:t>Ärztin oder Arzt außer Dienst</a:t>
            </a:r>
          </a:p>
        </p:txBody>
      </p:sp>
      <p:sp>
        <p:nvSpPr>
          <p:cNvPr id="7" name="">
            <a:extLst xmlns:a="http://schemas.openxmlformats.org/drawingml/2006/main">
              <a:ext uri="{FF2B5EF4-FFF2-40B4-BE49-F238E27FC236}">
                <a16:creationId xmlns:a16="http://schemas.microsoft.com/office/drawing/2014/main" id="{8E633FAA-1EA0-495B-A59D-314BA2FDAD66}"/>
              </a:ext>
            </a:extLst>
          </p:cNvPr>
          <p:cNvSpPr>
            <a:spLocks xmlns:a="http://schemas.openxmlformats.org/drawingml/2006/main" noGrp="1"/>
          </p:cNvSpPr>
          <p:nvPr/>
        </p:nvSpPr>
        <p:spPr>
          <a:xfrm xmlns:a="http://schemas.openxmlformats.org/drawingml/2006/main">
            <a:off x="1962150" y="2571750"/>
            <a:ext cx="4314825"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15232B"/>
                </a:solidFill>
              </a:defRPr>
            </a:pPr>
            <a:r>
              <a:rPr sz="1200">
                <a:solidFill>
                  <a:srgbClr val="15232B"/>
                </a:solidFill>
              </a:rPr>
              <a:t>• § 323c StGB verlangt zumutbare Hilfe, nicht automatisch eine vollständige Klinikversorgung.</a:t>
            </a:r>
          </a:p>
          <a:p xmlns:a="http://schemas.openxmlformats.org/drawingml/2006/main">
            <a:pPr>
              <a:buNone/>
              <a:defRPr sz="1200">
                <a:solidFill>
                  <a:srgbClr val="15232B"/>
                </a:solidFill>
              </a:defRPr>
            </a:pPr>
            <a:r>
              <a:rPr sz="1200">
                <a:solidFill>
                  <a:srgbClr val="15232B"/>
                </a:solidFill>
              </a:rPr>
              <a:t>• Eigenschutz, Notruf, Basismaßnahmen, Qualifikation und vorhandene Mittel bestimmen das Zumutbare.</a:t>
            </a:r>
          </a:p>
          <a:p xmlns:a="http://schemas.openxmlformats.org/drawingml/2006/main">
            <a:pPr>
              <a:buNone/>
              <a:defRPr sz="1200">
                <a:solidFill>
                  <a:srgbClr val="15232B"/>
                </a:solidFill>
              </a:defRPr>
            </a:pPr>
            <a:r>
              <a:rPr sz="1200">
                <a:solidFill>
                  <a:srgbClr val="15232B"/>
                </a:solidFill>
              </a:rPr>
              <a:t>• Übernahme und Übergabe klar kommunizieren und keine Kompetenz vorspiegeln.</a:t>
            </a:r>
          </a:p>
        </p:txBody>
      </p:sp>
      <p:sp>
        <p:nvSpPr>
          <p:cNvPr id="8" name="">
            <a:extLst xmlns:a="http://schemas.openxmlformats.org/drawingml/2006/main">
              <a:ext uri="{FF2B5EF4-FFF2-40B4-BE49-F238E27FC236}">
                <a16:creationId xmlns:a16="http://schemas.microsoft.com/office/drawing/2014/main" id="{32D86A97-108D-47AA-8DE1-D79BE8B4036A}"/>
              </a:ext>
            </a:extLst>
          </p:cNvPr>
          <p:cNvSpPr>
            <a:spLocks xmlns:a="http://schemas.openxmlformats.org/drawingml/2006/main" noGrp="1"/>
          </p:cNvSpPr>
          <p:nvPr/>
        </p:nvSpPr>
        <p:spPr>
          <a:xfrm xmlns:a="http://schemas.openxmlformats.org/drawingml/2006/main">
            <a:off x="6715125" y="2000250"/>
            <a:ext cx="4619625" cy="3286125"/>
          </a:xfrm>
          <a:prstGeom xmlns:a="http://schemas.openxmlformats.org/drawingml/2006/main" prst="roundRect">
            <a:avLst>
              <a:gd name="adj" fmla="val 2319"/>
            </a:avLst>
          </a:prstGeom>
          <a:noFill xmlns:a="http://schemas.openxmlformats.org/drawingml/2006/main"/>
          <a:ln xmlns:a="http://schemas.openxmlformats.org/drawingml/2006/main" w="9525">
            <a:solidFill>
              <a:srgbClr val="B9CAD2"/>
            </a:solidFill>
            <a:prstDash val="solid"/>
          </a:ln>
        </p:spPr>
      </p:sp>
      <p:sp>
        <p:nvSpPr>
          <p:cNvPr id="9" name="">
            <a:extLst xmlns:a="http://schemas.openxmlformats.org/drawingml/2006/main">
              <a:ext uri="{FF2B5EF4-FFF2-40B4-BE49-F238E27FC236}">
                <a16:creationId xmlns:a16="http://schemas.microsoft.com/office/drawing/2014/main" id="{3D891CFD-FA4C-41B7-93FD-C8514C631108}"/>
              </a:ext>
            </a:extLst>
          </p:cNvPr>
          <p:cNvSpPr>
            <a:spLocks xmlns:a="http://schemas.openxmlformats.org/drawingml/2006/main" noGrp="1"/>
          </p:cNvSpPr>
          <p:nvPr/>
        </p:nvSpPr>
        <p:spPr>
          <a:xfrm xmlns:a="http://schemas.openxmlformats.org/drawingml/2006/main">
            <a:off x="6715125" y="2000250"/>
            <a:ext cx="4619625"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D9A31C21-13B9-4628-99B4-C5494F4241D2}"/>
              </a:ext>
            </a:extLst>
          </p:cNvPr>
          <p:cNvSpPr>
            <a:spLocks xmlns:a="http://schemas.openxmlformats.org/drawingml/2006/main" noGrp="1"/>
          </p:cNvSpPr>
          <p:nvPr/>
        </p:nvSpPr>
        <p:spPr>
          <a:xfrm xmlns:a="http://schemas.openxmlformats.org/drawingml/2006/main">
            <a:off x="6867525" y="2133600"/>
            <a:ext cx="4314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75" b="1">
                <a:solidFill>
                  <a:srgbClr val="003F6B"/>
                </a:solidFill>
              </a:defRPr>
            </a:pPr>
            <a:r>
              <a:rPr sz="1575" b="1">
                <a:solidFill>
                  <a:srgbClr val="003F6B"/>
                </a:solidFill>
              </a:rPr>
              <a:t>Fahruntüchtige Patientin / fahruntüchtiger Patient</a:t>
            </a:r>
          </a:p>
        </p:txBody>
      </p:sp>
      <p:sp>
        <p:nvSpPr>
          <p:cNvPr id="11" name="">
            <a:extLst xmlns:a="http://schemas.openxmlformats.org/drawingml/2006/main">
              <a:ext uri="{FF2B5EF4-FFF2-40B4-BE49-F238E27FC236}">
                <a16:creationId xmlns:a16="http://schemas.microsoft.com/office/drawing/2014/main" id="{0834F7C4-45AA-4C3A-9634-06768086E62B}"/>
              </a:ext>
            </a:extLst>
          </p:cNvPr>
          <p:cNvSpPr>
            <a:spLocks xmlns:a="http://schemas.openxmlformats.org/drawingml/2006/main" noGrp="1"/>
          </p:cNvSpPr>
          <p:nvPr/>
        </p:nvSpPr>
        <p:spPr>
          <a:xfrm xmlns:a="http://schemas.openxmlformats.org/drawingml/2006/main">
            <a:off x="6867525" y="2571750"/>
            <a:ext cx="4314825"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15232B"/>
                </a:solidFill>
              </a:defRPr>
            </a:pPr>
            <a:r>
              <a:rPr sz="1200">
                <a:solidFill>
                  <a:srgbClr val="15232B"/>
                </a:solidFill>
              </a:rPr>
              <a:t>• Risiko konkret aufklären, vom Fahren abraten und medizinische Alternativen organisieren.</a:t>
            </a:r>
          </a:p>
          <a:p xmlns:a="http://schemas.openxmlformats.org/drawingml/2006/main">
            <a:pPr>
              <a:buNone/>
              <a:defRPr sz="1200">
                <a:solidFill>
                  <a:srgbClr val="15232B"/>
                </a:solidFill>
              </a:defRPr>
            </a:pPr>
            <a:r>
              <a:rPr sz="1200">
                <a:solidFill>
                  <a:srgbClr val="15232B"/>
                </a:solidFill>
              </a:rPr>
              <a:t>• Warnung und Entscheidungsfähigkeit nachvollziehbar dokumentieren.</a:t>
            </a:r>
          </a:p>
          <a:p xmlns:a="http://schemas.openxmlformats.org/drawingml/2006/main">
            <a:pPr>
              <a:buNone/>
              <a:defRPr sz="1200">
                <a:solidFill>
                  <a:srgbClr val="15232B"/>
                </a:solidFill>
              </a:defRPr>
            </a:pPr>
            <a:r>
              <a:rPr sz="1200">
                <a:solidFill>
                  <a:srgbClr val="15232B"/>
                </a:solidFill>
              </a:rPr>
              <a:t>• Offenbarung an Dritte nur mit Einwilligung, spezieller Rechtsgrundlage oder in eng begrenzter Notstandslage.</a:t>
            </a:r>
          </a:p>
        </p:txBody>
      </p:sp>
      <p:sp>
        <p:nvSpPr>
          <p:cNvPr id="12" name="">
            <a:extLst xmlns:a="http://schemas.openxmlformats.org/drawingml/2006/main">
              <a:ext uri="{FF2B5EF4-FFF2-40B4-BE49-F238E27FC236}">
                <a16:creationId xmlns:a16="http://schemas.microsoft.com/office/drawing/2014/main" id="{61285848-C36D-4489-96BD-7B4BAE1898AD}"/>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13" name="">
            <a:extLst xmlns:a="http://schemas.openxmlformats.org/drawingml/2006/main">
              <a:ext uri="{FF2B5EF4-FFF2-40B4-BE49-F238E27FC236}">
                <a16:creationId xmlns:a16="http://schemas.microsoft.com/office/drawing/2014/main" id="{BAC3B8E4-D99F-4725-9E71-DD3D22212929}"/>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Hilfeleistung ist eine Handlungspflicht; eine Meldung trotz Schweigepflicht verlangt eine eigenständige, enge Rechtfertigungsprüfung.</a:t>
            </a:r>
          </a:p>
        </p:txBody>
      </p:sp>
    </p:spTree>
    <p:extLst>
      <p:ext uri="{BB962C8B-B14F-4D97-AF65-F5344CB8AC3E}">
        <p14:creationId xmlns:p14="http://schemas.microsoft.com/office/powerpoint/2010/main" val="43637646"/>
      </p:ext>
    </p:extLst>
  </p:cSld>
</p:sld>
</file>

<file path=ppt/slides/slide221.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Beschuldigtenrechte</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GESETZESTEXT · GEKÜRZTER LEHRAUSZUG</a:t>
            </a:r>
            <a:endParaRPr/>
          </a:p>
        </p:txBody>
      </p:sp>
      <p:sp>
        <p:nvSpPr>
          <p:cNvPr id="4" name="">
            <a:extLst xmlns:a="http://schemas.openxmlformats.org/drawingml/2006/main">
              <a:ext uri="{FF2B5EF4-FFF2-40B4-BE49-F238E27FC236}">
                <a16:creationId xmlns:a16="http://schemas.microsoft.com/office/drawing/2014/main" id="{BA0EA93B-0113-4767-AEBB-CB6260D97CFC}"/>
              </a:ext>
            </a:extLst>
          </p:cNvPr>
          <p:cNvSpPr>
            <a:spLocks xmlns:a="http://schemas.openxmlformats.org/drawingml/2006/main" noGrp="1"/>
          </p:cNvSpPr>
          <p:nvPr/>
        </p:nvSpPr>
        <p:spPr>
          <a:xfrm xmlns:a="http://schemas.openxmlformats.org/drawingml/2006/main">
            <a:off x="1809750" y="1943100"/>
            <a:ext cx="4648200" cy="3371850"/>
          </a:xfrm>
          <a:prstGeom xmlns:a="http://schemas.openxmlformats.org/drawingml/2006/main" prst="roundRect">
            <a:avLst>
              <a:gd name="adj" fmla="val 2260"/>
            </a:avLst>
          </a:prstGeom>
          <a:solidFill xmlns:a="http://schemas.openxmlformats.org/drawingml/2006/main">
            <a:srgbClr val="F3F7F9"/>
          </a:solidFill>
          <a:ln xmlns:a="http://schemas.openxmlformats.org/drawingml/2006/main" w="11430">
            <a:solidFill>
              <a:srgbClr val="00B2BB"/>
            </a:solidFill>
            <a:prstDash val="solid"/>
          </a:ln>
        </p:spPr>
      </p:sp>
      <p:sp>
        <p:nvSpPr>
          <p:cNvPr id="5" name="">
            <a:extLst xmlns:a="http://schemas.openxmlformats.org/drawingml/2006/main">
              <a:ext uri="{FF2B5EF4-FFF2-40B4-BE49-F238E27FC236}">
                <a16:creationId xmlns:a16="http://schemas.microsoft.com/office/drawing/2014/main" id="{0DFC7868-DF86-4816-B115-F59C956189D9}"/>
              </a:ext>
            </a:extLst>
          </p:cNvPr>
          <p:cNvSpPr>
            <a:spLocks xmlns:a="http://schemas.openxmlformats.org/drawingml/2006/main" noGrp="1"/>
          </p:cNvSpPr>
          <p:nvPr/>
        </p:nvSpPr>
        <p:spPr>
          <a:xfrm xmlns:a="http://schemas.openxmlformats.org/drawingml/2006/main">
            <a:off x="1943100" y="2076450"/>
            <a:ext cx="1409700" cy="381000"/>
          </a:xfrm>
          <a:prstGeom xmlns:a="http://schemas.openxmlformats.org/drawingml/2006/main" prst="roundRect">
            <a:avLst>
              <a:gd name="adj" fmla="val 20000"/>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D97FCA94-CAA2-4839-A325-32F0C75A3FB0}"/>
              </a:ext>
            </a:extLst>
          </p:cNvPr>
          <p:cNvSpPr>
            <a:spLocks xmlns:a="http://schemas.openxmlformats.org/drawingml/2006/main" noGrp="1"/>
          </p:cNvSpPr>
          <p:nvPr/>
        </p:nvSpPr>
        <p:spPr>
          <a:xfrm xmlns:a="http://schemas.openxmlformats.org/drawingml/2006/main">
            <a:off x="1943100" y="207645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 136 I StPO</a:t>
            </a:r>
          </a:p>
        </p:txBody>
      </p:sp>
      <p:sp>
        <p:nvSpPr>
          <p:cNvPr id="7" name="">
            <a:extLst xmlns:a="http://schemas.openxmlformats.org/drawingml/2006/main">
              <a:ext uri="{FF2B5EF4-FFF2-40B4-BE49-F238E27FC236}">
                <a16:creationId xmlns:a16="http://schemas.microsoft.com/office/drawing/2014/main" id="{74FF8737-E9EC-4A9D-AF25-CD5A256C1065}"/>
              </a:ext>
            </a:extLst>
          </p:cNvPr>
          <p:cNvSpPr>
            <a:spLocks xmlns:a="http://schemas.openxmlformats.org/drawingml/2006/main" noGrp="1"/>
          </p:cNvSpPr>
          <p:nvPr/>
        </p:nvSpPr>
        <p:spPr>
          <a:xfrm xmlns:a="http://schemas.openxmlformats.org/drawingml/2006/main">
            <a:off x="3486150" y="2057400"/>
            <a:ext cx="2838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Belehrung · Auszug</a:t>
            </a:r>
          </a:p>
        </p:txBody>
      </p:sp>
      <p:sp>
        <p:nvSpPr>
          <p:cNvPr id="8" name="">
            <a:extLst xmlns:a="http://schemas.openxmlformats.org/drawingml/2006/main">
              <a:ext uri="{FF2B5EF4-FFF2-40B4-BE49-F238E27FC236}">
                <a16:creationId xmlns:a16="http://schemas.microsoft.com/office/drawing/2014/main" id="{EDE6BCB9-B428-48B0-B260-3F50968E156F}"/>
              </a:ext>
            </a:extLst>
          </p:cNvPr>
          <p:cNvSpPr>
            <a:spLocks xmlns:a="http://schemas.openxmlformats.org/drawingml/2006/main" noGrp="1"/>
          </p:cNvSpPr>
          <p:nvPr/>
        </p:nvSpPr>
        <p:spPr>
          <a:xfrm xmlns:a="http://schemas.openxmlformats.org/drawingml/2006/main">
            <a:off x="1981200" y="2609850"/>
            <a:ext cx="4305300" cy="2533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8">
                <a:solidFill>
                  <a:srgbClr val="15232B"/>
                </a:solidFill>
              </a:defRPr>
            </a:pPr>
            <a:r>
              <a:rPr sz="1148">
                <a:solidFill>
                  <a:srgbClr val="15232B"/>
                </a:solidFill>
              </a:rPr>
              <a:t>Zu Beginn der Vernehmung sind Tatvorwurf und in Betracht kommende Strafvorschriften zu eröffnen. Der Beschuldigte ist darauf hinzuweisen, dass es ihm freisteht, sich zu äußern oder nicht zur Sache auszusagen und jederzeit, auch vor der Vernehmung, einen Verteidiger zu befragen.</a:t>
            </a:r>
          </a:p>
        </p:txBody>
      </p:sp>
      <p:sp>
        <p:nvSpPr>
          <p:cNvPr id="9" name="">
            <a:extLst xmlns:a="http://schemas.openxmlformats.org/drawingml/2006/main">
              <a:ext uri="{FF2B5EF4-FFF2-40B4-BE49-F238E27FC236}">
                <a16:creationId xmlns:a16="http://schemas.microsoft.com/office/drawing/2014/main" id="{8930787A-4CB3-4DDE-9513-A04E6FB01A05}"/>
              </a:ext>
            </a:extLst>
          </p:cNvPr>
          <p:cNvSpPr>
            <a:spLocks xmlns:a="http://schemas.openxmlformats.org/drawingml/2006/main" noGrp="1"/>
          </p:cNvSpPr>
          <p:nvPr/>
        </p:nvSpPr>
        <p:spPr>
          <a:xfrm xmlns:a="http://schemas.openxmlformats.org/drawingml/2006/main">
            <a:off x="6686550" y="1943100"/>
            <a:ext cx="4648200" cy="3371850"/>
          </a:xfrm>
          <a:prstGeom xmlns:a="http://schemas.openxmlformats.org/drawingml/2006/main" prst="roundRect">
            <a:avLst>
              <a:gd name="adj" fmla="val 2260"/>
            </a:avLst>
          </a:prstGeom>
          <a:solidFill xmlns:a="http://schemas.openxmlformats.org/drawingml/2006/main">
            <a:srgbClr val="F3F7F9"/>
          </a:solidFill>
          <a:ln xmlns:a="http://schemas.openxmlformats.org/drawingml/2006/main" w="11430">
            <a:solidFill>
              <a:srgbClr val="003F6B"/>
            </a:solidFill>
            <a:prstDash val="solid"/>
          </a:ln>
        </p:spPr>
      </p:sp>
      <p:sp>
        <p:nvSpPr>
          <p:cNvPr id="10" name="">
            <a:extLst xmlns:a="http://schemas.openxmlformats.org/drawingml/2006/main">
              <a:ext uri="{FF2B5EF4-FFF2-40B4-BE49-F238E27FC236}">
                <a16:creationId xmlns:a16="http://schemas.microsoft.com/office/drawing/2014/main" id="{295B8B2E-0C09-445B-96B9-B4B61D7C2728}"/>
              </a:ext>
            </a:extLst>
          </p:cNvPr>
          <p:cNvSpPr>
            <a:spLocks xmlns:a="http://schemas.openxmlformats.org/drawingml/2006/main" noGrp="1"/>
          </p:cNvSpPr>
          <p:nvPr/>
        </p:nvSpPr>
        <p:spPr>
          <a:xfrm xmlns:a="http://schemas.openxmlformats.org/drawingml/2006/main">
            <a:off x="6819900" y="2076450"/>
            <a:ext cx="1409700" cy="381000"/>
          </a:xfrm>
          <a:prstGeom xmlns:a="http://schemas.openxmlformats.org/drawingml/2006/main" prst="roundRect">
            <a:avLst>
              <a:gd name="adj" fmla="val 20000"/>
            </a:avLst>
          </a:prstGeom>
          <a:solidFill xmlns:a="http://schemas.openxmlformats.org/drawingml/2006/main">
            <a:srgbClr val="003F6B"/>
          </a:solidFill>
          <a:ln xmlns:a="http://schemas.openxmlformats.org/drawingml/2006/main" w="0">
            <a:solidFill>
              <a:srgbClr val="003F6B"/>
            </a:solidFill>
            <a:prstDash val="solid"/>
          </a:ln>
        </p:spPr>
      </p:sp>
      <p:sp>
        <p:nvSpPr>
          <p:cNvPr id="11" name="">
            <a:extLst xmlns:a="http://schemas.openxmlformats.org/drawingml/2006/main">
              <a:ext uri="{FF2B5EF4-FFF2-40B4-BE49-F238E27FC236}">
                <a16:creationId xmlns:a16="http://schemas.microsoft.com/office/drawing/2014/main" id="{154C052C-8F06-4F4B-9739-DB9BBA0644F9}"/>
              </a:ext>
            </a:extLst>
          </p:cNvPr>
          <p:cNvSpPr>
            <a:spLocks xmlns:a="http://schemas.openxmlformats.org/drawingml/2006/main" noGrp="1"/>
          </p:cNvSpPr>
          <p:nvPr/>
        </p:nvSpPr>
        <p:spPr>
          <a:xfrm xmlns:a="http://schemas.openxmlformats.org/drawingml/2006/main">
            <a:off x="6819900" y="207645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 137 I StPO</a:t>
            </a:r>
          </a:p>
        </p:txBody>
      </p:sp>
      <p:sp>
        <p:nvSpPr>
          <p:cNvPr id="12" name="">
            <a:extLst xmlns:a="http://schemas.openxmlformats.org/drawingml/2006/main">
              <a:ext uri="{FF2B5EF4-FFF2-40B4-BE49-F238E27FC236}">
                <a16:creationId xmlns:a16="http://schemas.microsoft.com/office/drawing/2014/main" id="{5DE8D97D-D755-4B16-ACC5-57B05ECAEB5B}"/>
              </a:ext>
            </a:extLst>
          </p:cNvPr>
          <p:cNvSpPr>
            <a:spLocks xmlns:a="http://schemas.openxmlformats.org/drawingml/2006/main" noGrp="1"/>
          </p:cNvSpPr>
          <p:nvPr/>
        </p:nvSpPr>
        <p:spPr>
          <a:xfrm xmlns:a="http://schemas.openxmlformats.org/drawingml/2006/main">
            <a:off x="8362950" y="2057400"/>
            <a:ext cx="2838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Verteidiger</a:t>
            </a:r>
          </a:p>
        </p:txBody>
      </p:sp>
      <p:sp>
        <p:nvSpPr>
          <p:cNvPr id="13" name="">
            <a:extLst xmlns:a="http://schemas.openxmlformats.org/drawingml/2006/main">
              <a:ext uri="{FF2B5EF4-FFF2-40B4-BE49-F238E27FC236}">
                <a16:creationId xmlns:a16="http://schemas.microsoft.com/office/drawing/2014/main" id="{A91E2740-D015-4283-99EA-9EF69F41078B}"/>
              </a:ext>
            </a:extLst>
          </p:cNvPr>
          <p:cNvSpPr>
            <a:spLocks xmlns:a="http://schemas.openxmlformats.org/drawingml/2006/main" noGrp="1"/>
          </p:cNvSpPr>
          <p:nvPr/>
        </p:nvSpPr>
        <p:spPr>
          <a:xfrm xmlns:a="http://schemas.openxmlformats.org/drawingml/2006/main">
            <a:off x="6858000" y="2609850"/>
            <a:ext cx="4305300" cy="2533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8">
                <a:solidFill>
                  <a:srgbClr val="15232B"/>
                </a:solidFill>
              </a:defRPr>
            </a:pPr>
            <a:r>
              <a:rPr sz="1148">
                <a:solidFill>
                  <a:srgbClr val="15232B"/>
                </a:solidFill>
              </a:rPr>
              <a:t>Der Beschuldigte kann sich in jeder Lage des Verfahrens des Beistandes eines Verteidigers bedienen. Die Zahl der gewählten Verteidiger darf drei nicht übersteigen.</a:t>
            </a:r>
          </a:p>
        </p:txBody>
      </p:sp>
      <p:sp>
        <p:nvSpPr>
          <p:cNvPr id="14" name="">
            <a:extLst xmlns:a="http://schemas.openxmlformats.org/drawingml/2006/main">
              <a:ext uri="{FF2B5EF4-FFF2-40B4-BE49-F238E27FC236}">
                <a16:creationId xmlns:a16="http://schemas.microsoft.com/office/drawing/2014/main" id="{132FC174-E54C-4CE6-B855-A9295EC1E726}"/>
              </a:ext>
            </a:extLst>
          </p:cNvPr>
          <p:cNvSpPr>
            <a:spLocks xmlns:a="http://schemas.openxmlformats.org/drawingml/2006/main" noGrp="1"/>
          </p:cNvSpPr>
          <p:nvPr/>
        </p:nvSpPr>
        <p:spPr>
          <a:xfrm xmlns:a="http://schemas.openxmlformats.org/drawingml/2006/main">
            <a:off x="1809750" y="5619750"/>
            <a:ext cx="9525000" cy="419100"/>
          </a:xfrm>
          <a:prstGeom xmlns:a="http://schemas.openxmlformats.org/drawingml/2006/main" prst="roundRect">
            <a:avLst>
              <a:gd name="adj" fmla="val 18182"/>
            </a:avLst>
          </a:prstGeom>
          <a:noFill xmlns:a="http://schemas.openxmlformats.org/drawingml/2006/main"/>
          <a:ln xmlns:a="http://schemas.openxmlformats.org/drawingml/2006/main" w="11430">
            <a:solidFill>
              <a:srgbClr val="00B2BB"/>
            </a:solidFill>
            <a:prstDash val="solid"/>
          </a:ln>
        </p:spPr>
      </p:sp>
      <p:sp>
        <p:nvSpPr>
          <p:cNvPr id="15" name="">
            <a:extLst xmlns:a="http://schemas.openxmlformats.org/drawingml/2006/main">
              <a:ext uri="{FF2B5EF4-FFF2-40B4-BE49-F238E27FC236}">
                <a16:creationId xmlns:a16="http://schemas.microsoft.com/office/drawing/2014/main" id="{66F8DBCD-320F-4D70-8064-D6F41FF72032}"/>
              </a:ext>
            </a:extLst>
          </p:cNvPr>
          <p:cNvSpPr>
            <a:spLocks xmlns:a="http://schemas.openxmlformats.org/drawingml/2006/main" noGrp="1"/>
          </p:cNvSpPr>
          <p:nvPr/>
        </p:nvSpPr>
        <p:spPr>
          <a:xfrm xmlns:a="http://schemas.openxmlformats.org/drawingml/2006/main">
            <a:off x="1962150" y="5638800"/>
            <a:ext cx="9220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13" b="1">
                <a:solidFill>
                  <a:srgbClr val="003F6B"/>
                </a:solidFill>
              </a:defRPr>
            </a:pPr>
            <a:r>
              <a:rPr sz="1013" b="1">
                <a:solidFill>
                  <a:srgbClr val="003F6B"/>
                </a:solidFill>
              </a:rPr>
              <a:t>Praxislesart: Eine spontane ‚fachliche Erklärung‘ kann eine Beschuldigteneinlassung werden. Rolle klären, Akteneinsicht über Verteidigung, dann entscheiden.</a:t>
            </a:r>
          </a:p>
        </p:txBody>
      </p:sp>
      <p:sp>
        <p:nvSpPr>
          <p:cNvPr id="16" name="">
            <a:extLst xmlns:a="http://schemas.openxmlformats.org/drawingml/2006/main">
              <a:ext uri="{FF2B5EF4-FFF2-40B4-BE49-F238E27FC236}">
                <a16:creationId xmlns:a16="http://schemas.microsoft.com/office/drawing/2014/main" id="{D93FD31E-3758-42A1-8F37-75A74BD84D39}"/>
              </a:ext>
            </a:extLst>
          </p:cNvPr>
          <p:cNvSpPr>
            <a:spLocks xmlns:a="http://schemas.openxmlformats.org/drawingml/2006/main" noGrp="1"/>
          </p:cNvSpPr>
          <p:nvPr/>
        </p:nvSpPr>
        <p:spPr>
          <a:xfrm xmlns:a="http://schemas.openxmlformats.org/drawingml/2006/main">
            <a:off x="1809750" y="535305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05">
                <a:solidFill>
                  <a:srgbClr val="667680"/>
                </a:solidFill>
              </a:defRPr>
            </a:pPr>
            <a:r>
              <a:rPr sz="705">
                <a:solidFill>
                  <a:srgbClr val="667680"/>
                </a:solidFill>
              </a:rPr>
              <a:t>BMJ/BfJ, gesetze-im-internet.de/stpo/__136.html und /__137.html · Abruf/Stand: 20.08.2026 · https://pubmed.ncbi.nlm.nih.gov</a:t>
            </a:r>
          </a:p>
        </p:txBody>
      </p:sp>
    </p:spTree>
    <p:extLst>
      <p:ext uri="{BB962C8B-B14F-4D97-AF65-F5344CB8AC3E}">
        <p14:creationId xmlns:p14="http://schemas.microsoft.com/office/powerpoint/2010/main" val="43637646"/>
      </p:ext>
    </p:extLst>
  </p:cSld>
</p:sld>
</file>

<file path=ppt/slides/slide222.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Ermittlungsbeginn und Abschlussentscheidung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GESETZESTEXT · GEKÜRZTER LEHRAUSZUG</a:t>
            </a:r>
            <a:endParaRPr/>
          </a:p>
        </p:txBody>
      </p:sp>
      <p:sp>
        <p:nvSpPr>
          <p:cNvPr id="4" name="">
            <a:extLst xmlns:a="http://schemas.openxmlformats.org/drawingml/2006/main">
              <a:ext uri="{FF2B5EF4-FFF2-40B4-BE49-F238E27FC236}">
                <a16:creationId xmlns:a16="http://schemas.microsoft.com/office/drawing/2014/main" id="{D9DB08BD-AE9A-4829-925D-44E24C0F4F1B}"/>
              </a:ext>
            </a:extLst>
          </p:cNvPr>
          <p:cNvSpPr>
            <a:spLocks xmlns:a="http://schemas.openxmlformats.org/drawingml/2006/main" noGrp="1"/>
          </p:cNvSpPr>
          <p:nvPr/>
        </p:nvSpPr>
        <p:spPr>
          <a:xfrm xmlns:a="http://schemas.openxmlformats.org/drawingml/2006/main">
            <a:off x="1809750" y="1943100"/>
            <a:ext cx="4648200" cy="3371850"/>
          </a:xfrm>
          <a:prstGeom xmlns:a="http://schemas.openxmlformats.org/drawingml/2006/main" prst="roundRect">
            <a:avLst>
              <a:gd name="adj" fmla="val 2260"/>
            </a:avLst>
          </a:prstGeom>
          <a:solidFill xmlns:a="http://schemas.openxmlformats.org/drawingml/2006/main">
            <a:srgbClr val="F3F7F9"/>
          </a:solidFill>
          <a:ln xmlns:a="http://schemas.openxmlformats.org/drawingml/2006/main" w="11430">
            <a:solidFill>
              <a:srgbClr val="00B2BB"/>
            </a:solidFill>
            <a:prstDash val="solid"/>
          </a:ln>
        </p:spPr>
      </p:sp>
      <p:sp>
        <p:nvSpPr>
          <p:cNvPr id="5" name="">
            <a:extLst xmlns:a="http://schemas.openxmlformats.org/drawingml/2006/main">
              <a:ext uri="{FF2B5EF4-FFF2-40B4-BE49-F238E27FC236}">
                <a16:creationId xmlns:a16="http://schemas.microsoft.com/office/drawing/2014/main" id="{782FD281-0485-4361-A407-EE2236C267FF}"/>
              </a:ext>
            </a:extLst>
          </p:cNvPr>
          <p:cNvSpPr>
            <a:spLocks xmlns:a="http://schemas.openxmlformats.org/drawingml/2006/main" noGrp="1"/>
          </p:cNvSpPr>
          <p:nvPr/>
        </p:nvSpPr>
        <p:spPr>
          <a:xfrm xmlns:a="http://schemas.openxmlformats.org/drawingml/2006/main">
            <a:off x="1943100" y="2076450"/>
            <a:ext cx="1409700" cy="381000"/>
          </a:xfrm>
          <a:prstGeom xmlns:a="http://schemas.openxmlformats.org/drawingml/2006/main" prst="roundRect">
            <a:avLst>
              <a:gd name="adj" fmla="val 20000"/>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72887017-CEF2-4A83-BAE4-696703859C06}"/>
              </a:ext>
            </a:extLst>
          </p:cNvPr>
          <p:cNvSpPr>
            <a:spLocks xmlns:a="http://schemas.openxmlformats.org/drawingml/2006/main" noGrp="1"/>
          </p:cNvSpPr>
          <p:nvPr/>
        </p:nvSpPr>
        <p:spPr>
          <a:xfrm xmlns:a="http://schemas.openxmlformats.org/drawingml/2006/main">
            <a:off x="1943100" y="207645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 152 II StPO</a:t>
            </a:r>
          </a:p>
        </p:txBody>
      </p:sp>
      <p:sp>
        <p:nvSpPr>
          <p:cNvPr id="7" name="">
            <a:extLst xmlns:a="http://schemas.openxmlformats.org/drawingml/2006/main">
              <a:ext uri="{FF2B5EF4-FFF2-40B4-BE49-F238E27FC236}">
                <a16:creationId xmlns:a16="http://schemas.microsoft.com/office/drawing/2014/main" id="{5C264EDD-80C2-41F2-8913-5B0CA772F975}"/>
              </a:ext>
            </a:extLst>
          </p:cNvPr>
          <p:cNvSpPr>
            <a:spLocks xmlns:a="http://schemas.openxmlformats.org/drawingml/2006/main" noGrp="1"/>
          </p:cNvSpPr>
          <p:nvPr/>
        </p:nvSpPr>
        <p:spPr>
          <a:xfrm xmlns:a="http://schemas.openxmlformats.org/drawingml/2006/main">
            <a:off x="3486150" y="2057400"/>
            <a:ext cx="2838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Anfangsverdacht</a:t>
            </a:r>
          </a:p>
        </p:txBody>
      </p:sp>
      <p:sp>
        <p:nvSpPr>
          <p:cNvPr id="8" name="">
            <a:extLst xmlns:a="http://schemas.openxmlformats.org/drawingml/2006/main">
              <a:ext uri="{FF2B5EF4-FFF2-40B4-BE49-F238E27FC236}">
                <a16:creationId xmlns:a16="http://schemas.microsoft.com/office/drawing/2014/main" id="{D0BBB4B2-1532-4D3B-8205-8AE872360468}"/>
              </a:ext>
            </a:extLst>
          </p:cNvPr>
          <p:cNvSpPr>
            <a:spLocks xmlns:a="http://schemas.openxmlformats.org/drawingml/2006/main" noGrp="1"/>
          </p:cNvSpPr>
          <p:nvPr/>
        </p:nvSpPr>
        <p:spPr>
          <a:xfrm xmlns:a="http://schemas.openxmlformats.org/drawingml/2006/main">
            <a:off x="1981200" y="2609850"/>
            <a:ext cx="4305300" cy="2533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8">
                <a:solidFill>
                  <a:srgbClr val="15232B"/>
                </a:solidFill>
              </a:defRPr>
            </a:pPr>
            <a:r>
              <a:rPr sz="1148">
                <a:solidFill>
                  <a:srgbClr val="15232B"/>
                </a:solidFill>
              </a:rPr>
              <a:t>Die Staatsanwaltschaft ist verpflichtet, wegen aller verfolgbaren Straftaten einzuschreiten, sofern zureichende tatsächliche Anhaltspunkte vorliegen.</a:t>
            </a:r>
          </a:p>
        </p:txBody>
      </p:sp>
      <p:sp>
        <p:nvSpPr>
          <p:cNvPr id="9" name="">
            <a:extLst xmlns:a="http://schemas.openxmlformats.org/drawingml/2006/main">
              <a:ext uri="{FF2B5EF4-FFF2-40B4-BE49-F238E27FC236}">
                <a16:creationId xmlns:a16="http://schemas.microsoft.com/office/drawing/2014/main" id="{F7A3C488-2603-46CB-AC54-5480B24F7535}"/>
              </a:ext>
            </a:extLst>
          </p:cNvPr>
          <p:cNvSpPr>
            <a:spLocks xmlns:a="http://schemas.openxmlformats.org/drawingml/2006/main" noGrp="1"/>
          </p:cNvSpPr>
          <p:nvPr/>
        </p:nvSpPr>
        <p:spPr>
          <a:xfrm xmlns:a="http://schemas.openxmlformats.org/drawingml/2006/main">
            <a:off x="6686550" y="1943100"/>
            <a:ext cx="4648200" cy="3371850"/>
          </a:xfrm>
          <a:prstGeom xmlns:a="http://schemas.openxmlformats.org/drawingml/2006/main" prst="roundRect">
            <a:avLst>
              <a:gd name="adj" fmla="val 2260"/>
            </a:avLst>
          </a:prstGeom>
          <a:solidFill xmlns:a="http://schemas.openxmlformats.org/drawingml/2006/main">
            <a:srgbClr val="F3F7F9"/>
          </a:solidFill>
          <a:ln xmlns:a="http://schemas.openxmlformats.org/drawingml/2006/main" w="11430">
            <a:solidFill>
              <a:srgbClr val="003F6B"/>
            </a:solidFill>
            <a:prstDash val="solid"/>
          </a:ln>
        </p:spPr>
      </p:sp>
      <p:sp>
        <p:nvSpPr>
          <p:cNvPr id="10" name="">
            <a:extLst xmlns:a="http://schemas.openxmlformats.org/drawingml/2006/main">
              <a:ext uri="{FF2B5EF4-FFF2-40B4-BE49-F238E27FC236}">
                <a16:creationId xmlns:a16="http://schemas.microsoft.com/office/drawing/2014/main" id="{89ABCDA6-CD43-4335-A082-D4F7D694D511}"/>
              </a:ext>
            </a:extLst>
          </p:cNvPr>
          <p:cNvSpPr>
            <a:spLocks xmlns:a="http://schemas.openxmlformats.org/drawingml/2006/main" noGrp="1"/>
          </p:cNvSpPr>
          <p:nvPr/>
        </p:nvSpPr>
        <p:spPr>
          <a:xfrm xmlns:a="http://schemas.openxmlformats.org/drawingml/2006/main">
            <a:off x="6819900" y="2076450"/>
            <a:ext cx="1409700" cy="381000"/>
          </a:xfrm>
          <a:prstGeom xmlns:a="http://schemas.openxmlformats.org/drawingml/2006/main" prst="roundRect">
            <a:avLst>
              <a:gd name="adj" fmla="val 20000"/>
            </a:avLst>
          </a:prstGeom>
          <a:solidFill xmlns:a="http://schemas.openxmlformats.org/drawingml/2006/main">
            <a:srgbClr val="003F6B"/>
          </a:solidFill>
          <a:ln xmlns:a="http://schemas.openxmlformats.org/drawingml/2006/main" w="0">
            <a:solidFill>
              <a:srgbClr val="003F6B"/>
            </a:solidFill>
            <a:prstDash val="solid"/>
          </a:ln>
        </p:spPr>
      </p:sp>
      <p:sp>
        <p:nvSpPr>
          <p:cNvPr id="11" name="">
            <a:extLst xmlns:a="http://schemas.openxmlformats.org/drawingml/2006/main">
              <a:ext uri="{FF2B5EF4-FFF2-40B4-BE49-F238E27FC236}">
                <a16:creationId xmlns:a16="http://schemas.microsoft.com/office/drawing/2014/main" id="{5940894D-B04F-4E80-9D9E-9AB14EC97082}"/>
              </a:ext>
            </a:extLst>
          </p:cNvPr>
          <p:cNvSpPr>
            <a:spLocks xmlns:a="http://schemas.openxmlformats.org/drawingml/2006/main" noGrp="1"/>
          </p:cNvSpPr>
          <p:nvPr/>
        </p:nvSpPr>
        <p:spPr>
          <a:xfrm xmlns:a="http://schemas.openxmlformats.org/drawingml/2006/main">
            <a:off x="6819900" y="207645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 170 StPO</a:t>
            </a:r>
          </a:p>
        </p:txBody>
      </p:sp>
      <p:sp>
        <p:nvSpPr>
          <p:cNvPr id="12" name="">
            <a:extLst xmlns:a="http://schemas.openxmlformats.org/drawingml/2006/main">
              <a:ext uri="{FF2B5EF4-FFF2-40B4-BE49-F238E27FC236}">
                <a16:creationId xmlns:a16="http://schemas.microsoft.com/office/drawing/2014/main" id="{A2CF8469-D13E-4F0E-BD00-E86570FAF6EE}"/>
              </a:ext>
            </a:extLst>
          </p:cNvPr>
          <p:cNvSpPr>
            <a:spLocks xmlns:a="http://schemas.openxmlformats.org/drawingml/2006/main" noGrp="1"/>
          </p:cNvSpPr>
          <p:nvPr/>
        </p:nvSpPr>
        <p:spPr>
          <a:xfrm xmlns:a="http://schemas.openxmlformats.org/drawingml/2006/main">
            <a:off x="8362950" y="2057400"/>
            <a:ext cx="2838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Anklage oder Einstellung</a:t>
            </a:r>
          </a:p>
        </p:txBody>
      </p:sp>
      <p:sp>
        <p:nvSpPr>
          <p:cNvPr id="13" name="">
            <a:extLst xmlns:a="http://schemas.openxmlformats.org/drawingml/2006/main">
              <a:ext uri="{FF2B5EF4-FFF2-40B4-BE49-F238E27FC236}">
                <a16:creationId xmlns:a16="http://schemas.microsoft.com/office/drawing/2014/main" id="{119B8225-96FC-4DD4-B63C-AA451F9ADA82}"/>
              </a:ext>
            </a:extLst>
          </p:cNvPr>
          <p:cNvSpPr>
            <a:spLocks xmlns:a="http://schemas.openxmlformats.org/drawingml/2006/main" noGrp="1"/>
          </p:cNvSpPr>
          <p:nvPr/>
        </p:nvSpPr>
        <p:spPr>
          <a:xfrm xmlns:a="http://schemas.openxmlformats.org/drawingml/2006/main">
            <a:off x="6858000" y="2609850"/>
            <a:ext cx="4305300" cy="2533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8">
                <a:solidFill>
                  <a:srgbClr val="15232B"/>
                </a:solidFill>
              </a:defRPr>
            </a:pPr>
            <a:r>
              <a:rPr sz="1148">
                <a:solidFill>
                  <a:srgbClr val="15232B"/>
                </a:solidFill>
              </a:rPr>
              <a:t>Bieten die Ermittlungen genügenden Anlass zur Erhebung der öffentlichen Klage, erhebt die Staatsanwaltschaft Anklage. Andernfalls stellt sie das Verfahren ein.</a:t>
            </a:r>
          </a:p>
        </p:txBody>
      </p:sp>
      <p:sp>
        <p:nvSpPr>
          <p:cNvPr id="14" name="">
            <a:extLst xmlns:a="http://schemas.openxmlformats.org/drawingml/2006/main">
              <a:ext uri="{FF2B5EF4-FFF2-40B4-BE49-F238E27FC236}">
                <a16:creationId xmlns:a16="http://schemas.microsoft.com/office/drawing/2014/main" id="{D31331F5-1202-4D3D-9252-0010B142E233}"/>
              </a:ext>
            </a:extLst>
          </p:cNvPr>
          <p:cNvSpPr>
            <a:spLocks xmlns:a="http://schemas.openxmlformats.org/drawingml/2006/main" noGrp="1"/>
          </p:cNvSpPr>
          <p:nvPr/>
        </p:nvSpPr>
        <p:spPr>
          <a:xfrm xmlns:a="http://schemas.openxmlformats.org/drawingml/2006/main">
            <a:off x="1809750" y="5619750"/>
            <a:ext cx="9525000" cy="419100"/>
          </a:xfrm>
          <a:prstGeom xmlns:a="http://schemas.openxmlformats.org/drawingml/2006/main" prst="roundRect">
            <a:avLst>
              <a:gd name="adj" fmla="val 18182"/>
            </a:avLst>
          </a:prstGeom>
          <a:noFill xmlns:a="http://schemas.openxmlformats.org/drawingml/2006/main"/>
          <a:ln xmlns:a="http://schemas.openxmlformats.org/drawingml/2006/main" w="11430">
            <a:solidFill>
              <a:srgbClr val="00B2BB"/>
            </a:solidFill>
            <a:prstDash val="solid"/>
          </a:ln>
        </p:spPr>
      </p:sp>
      <p:sp>
        <p:nvSpPr>
          <p:cNvPr id="15" name="">
            <a:extLst xmlns:a="http://schemas.openxmlformats.org/drawingml/2006/main">
              <a:ext uri="{FF2B5EF4-FFF2-40B4-BE49-F238E27FC236}">
                <a16:creationId xmlns:a16="http://schemas.microsoft.com/office/drawing/2014/main" id="{1370F6AE-B2CD-4A2D-8A0E-21D30CBFF5F5}"/>
              </a:ext>
            </a:extLst>
          </p:cNvPr>
          <p:cNvSpPr>
            <a:spLocks xmlns:a="http://schemas.openxmlformats.org/drawingml/2006/main" noGrp="1"/>
          </p:cNvSpPr>
          <p:nvPr/>
        </p:nvSpPr>
        <p:spPr>
          <a:xfrm xmlns:a="http://schemas.openxmlformats.org/drawingml/2006/main">
            <a:off x="1962150" y="5638800"/>
            <a:ext cx="9220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13" b="1">
                <a:solidFill>
                  <a:srgbClr val="003F6B"/>
                </a:solidFill>
              </a:defRPr>
            </a:pPr>
            <a:r>
              <a:rPr sz="1013" b="1">
                <a:solidFill>
                  <a:srgbClr val="003F6B"/>
                </a:solidFill>
              </a:rPr>
              <a:t>Praxislesart: Ein Ermittlungsverfahren beweist keine Schuld. Es ist die staatliche Klärungsphase zwischen Anfangsverdacht und Abschlussentscheidung.</a:t>
            </a:r>
          </a:p>
        </p:txBody>
      </p:sp>
      <p:sp>
        <p:nvSpPr>
          <p:cNvPr id="16" name="">
            <a:extLst xmlns:a="http://schemas.openxmlformats.org/drawingml/2006/main">
              <a:ext uri="{FF2B5EF4-FFF2-40B4-BE49-F238E27FC236}">
                <a16:creationId xmlns:a16="http://schemas.microsoft.com/office/drawing/2014/main" id="{C7409300-4985-4BB4-A472-E6032EFB400D}"/>
              </a:ext>
            </a:extLst>
          </p:cNvPr>
          <p:cNvSpPr>
            <a:spLocks xmlns:a="http://schemas.openxmlformats.org/drawingml/2006/main" noGrp="1"/>
          </p:cNvSpPr>
          <p:nvPr/>
        </p:nvSpPr>
        <p:spPr>
          <a:xfrm xmlns:a="http://schemas.openxmlformats.org/drawingml/2006/main">
            <a:off x="1809750" y="535305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05">
                <a:solidFill>
                  <a:srgbClr val="667680"/>
                </a:solidFill>
              </a:defRPr>
            </a:pPr>
            <a:r>
              <a:rPr sz="705">
                <a:solidFill>
                  <a:srgbClr val="667680"/>
                </a:solidFill>
              </a:rPr>
              <a:t>BMJ/BfJ, gesetze-im-internet.de/stpo/__152.html und /__170.html · Abruf/Stand: 20.08.2026 · https://pubmed.ncbi.nlm.nih.gov</a:t>
            </a:r>
          </a:p>
        </p:txBody>
      </p:sp>
    </p:spTree>
    <p:extLst>
      <p:ext uri="{BB962C8B-B14F-4D97-AF65-F5344CB8AC3E}">
        <p14:creationId xmlns:p14="http://schemas.microsoft.com/office/powerpoint/2010/main" val="43637646"/>
      </p:ext>
    </p:extLst>
  </p:cSld>
</p:sld>
</file>

<file path=ppt/slides/slide223.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Hauptverfahren und strafprozessuale Wahrheitsermittlung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GESETZESTEXT · GEKÜRZTER LEHRAUSZUG</a:t>
            </a:r>
            <a:endParaRPr/>
          </a:p>
        </p:txBody>
      </p:sp>
      <p:sp>
        <p:nvSpPr>
          <p:cNvPr id="4" name="">
            <a:extLst xmlns:a="http://schemas.openxmlformats.org/drawingml/2006/main">
              <a:ext uri="{FF2B5EF4-FFF2-40B4-BE49-F238E27FC236}">
                <a16:creationId xmlns:a16="http://schemas.microsoft.com/office/drawing/2014/main" id="{69433887-770F-4E1C-991D-EBAAECAA145F}"/>
              </a:ext>
            </a:extLst>
          </p:cNvPr>
          <p:cNvSpPr>
            <a:spLocks xmlns:a="http://schemas.openxmlformats.org/drawingml/2006/main" noGrp="1"/>
          </p:cNvSpPr>
          <p:nvPr/>
        </p:nvSpPr>
        <p:spPr>
          <a:xfrm xmlns:a="http://schemas.openxmlformats.org/drawingml/2006/main">
            <a:off x="1809750" y="1943100"/>
            <a:ext cx="4648200" cy="3371850"/>
          </a:xfrm>
          <a:prstGeom xmlns:a="http://schemas.openxmlformats.org/drawingml/2006/main" prst="roundRect">
            <a:avLst>
              <a:gd name="adj" fmla="val 2260"/>
            </a:avLst>
          </a:prstGeom>
          <a:solidFill xmlns:a="http://schemas.openxmlformats.org/drawingml/2006/main">
            <a:srgbClr val="F3F7F9"/>
          </a:solidFill>
          <a:ln xmlns:a="http://schemas.openxmlformats.org/drawingml/2006/main" w="11430">
            <a:solidFill>
              <a:srgbClr val="00B2BB"/>
            </a:solidFill>
            <a:prstDash val="solid"/>
          </a:ln>
        </p:spPr>
      </p:sp>
      <p:sp>
        <p:nvSpPr>
          <p:cNvPr id="5" name="">
            <a:extLst xmlns:a="http://schemas.openxmlformats.org/drawingml/2006/main">
              <a:ext uri="{FF2B5EF4-FFF2-40B4-BE49-F238E27FC236}">
                <a16:creationId xmlns:a16="http://schemas.microsoft.com/office/drawing/2014/main" id="{1005D197-8B85-4F0E-AD9D-8D2C32B9AF9C}"/>
              </a:ext>
            </a:extLst>
          </p:cNvPr>
          <p:cNvSpPr>
            <a:spLocks xmlns:a="http://schemas.openxmlformats.org/drawingml/2006/main" noGrp="1"/>
          </p:cNvSpPr>
          <p:nvPr/>
        </p:nvSpPr>
        <p:spPr>
          <a:xfrm xmlns:a="http://schemas.openxmlformats.org/drawingml/2006/main">
            <a:off x="1943100" y="2076450"/>
            <a:ext cx="1409700" cy="381000"/>
          </a:xfrm>
          <a:prstGeom xmlns:a="http://schemas.openxmlformats.org/drawingml/2006/main" prst="roundRect">
            <a:avLst>
              <a:gd name="adj" fmla="val 20000"/>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507F793D-A450-47DB-8D93-D4C47254FC80}"/>
              </a:ext>
            </a:extLst>
          </p:cNvPr>
          <p:cNvSpPr>
            <a:spLocks xmlns:a="http://schemas.openxmlformats.org/drawingml/2006/main" noGrp="1"/>
          </p:cNvSpPr>
          <p:nvPr/>
        </p:nvSpPr>
        <p:spPr>
          <a:xfrm xmlns:a="http://schemas.openxmlformats.org/drawingml/2006/main">
            <a:off x="1943100" y="207645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 244 II StPO</a:t>
            </a:r>
          </a:p>
        </p:txBody>
      </p:sp>
      <p:sp>
        <p:nvSpPr>
          <p:cNvPr id="7" name="">
            <a:extLst xmlns:a="http://schemas.openxmlformats.org/drawingml/2006/main">
              <a:ext uri="{FF2B5EF4-FFF2-40B4-BE49-F238E27FC236}">
                <a16:creationId xmlns:a16="http://schemas.microsoft.com/office/drawing/2014/main" id="{53EA8027-D5D8-4B34-AC43-B61EDD89F9A3}"/>
              </a:ext>
            </a:extLst>
          </p:cNvPr>
          <p:cNvSpPr>
            <a:spLocks xmlns:a="http://schemas.openxmlformats.org/drawingml/2006/main" noGrp="1"/>
          </p:cNvSpPr>
          <p:nvPr/>
        </p:nvSpPr>
        <p:spPr>
          <a:xfrm xmlns:a="http://schemas.openxmlformats.org/drawingml/2006/main">
            <a:off x="3486150" y="2057400"/>
            <a:ext cx="2838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Untersuchungsgrundsatz</a:t>
            </a:r>
          </a:p>
        </p:txBody>
      </p:sp>
      <p:sp>
        <p:nvSpPr>
          <p:cNvPr id="8" name="">
            <a:extLst xmlns:a="http://schemas.openxmlformats.org/drawingml/2006/main">
              <a:ext uri="{FF2B5EF4-FFF2-40B4-BE49-F238E27FC236}">
                <a16:creationId xmlns:a16="http://schemas.microsoft.com/office/drawing/2014/main" id="{84D27803-0C9A-475A-B2F8-2F5B3A2E91F8}"/>
              </a:ext>
            </a:extLst>
          </p:cNvPr>
          <p:cNvSpPr>
            <a:spLocks xmlns:a="http://schemas.openxmlformats.org/drawingml/2006/main" noGrp="1"/>
          </p:cNvSpPr>
          <p:nvPr/>
        </p:nvSpPr>
        <p:spPr>
          <a:xfrm xmlns:a="http://schemas.openxmlformats.org/drawingml/2006/main">
            <a:off x="1981200" y="2609850"/>
            <a:ext cx="4305300" cy="2533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8">
                <a:solidFill>
                  <a:srgbClr val="15232B"/>
                </a:solidFill>
              </a:defRPr>
            </a:pPr>
            <a:r>
              <a:rPr sz="1148">
                <a:solidFill>
                  <a:srgbClr val="15232B"/>
                </a:solidFill>
              </a:rPr>
              <a:t>Das Gericht hat zur Erforschung der Wahrheit die Beweisaufnahme von Amts wegen auf alle Tatsachen und Beweismittel zu erstrecken, die für die Entscheidung von Bedeutung sind.</a:t>
            </a:r>
          </a:p>
        </p:txBody>
      </p:sp>
      <p:sp>
        <p:nvSpPr>
          <p:cNvPr id="9" name="">
            <a:extLst xmlns:a="http://schemas.openxmlformats.org/drawingml/2006/main">
              <a:ext uri="{FF2B5EF4-FFF2-40B4-BE49-F238E27FC236}">
                <a16:creationId xmlns:a16="http://schemas.microsoft.com/office/drawing/2014/main" id="{EEA45908-E983-419C-AA40-E6786F464F05}"/>
              </a:ext>
            </a:extLst>
          </p:cNvPr>
          <p:cNvSpPr>
            <a:spLocks xmlns:a="http://schemas.openxmlformats.org/drawingml/2006/main" noGrp="1"/>
          </p:cNvSpPr>
          <p:nvPr/>
        </p:nvSpPr>
        <p:spPr>
          <a:xfrm xmlns:a="http://schemas.openxmlformats.org/drawingml/2006/main">
            <a:off x="6686550" y="1943100"/>
            <a:ext cx="4648200" cy="3371850"/>
          </a:xfrm>
          <a:prstGeom xmlns:a="http://schemas.openxmlformats.org/drawingml/2006/main" prst="roundRect">
            <a:avLst>
              <a:gd name="adj" fmla="val 2260"/>
            </a:avLst>
          </a:prstGeom>
          <a:solidFill xmlns:a="http://schemas.openxmlformats.org/drawingml/2006/main">
            <a:srgbClr val="F3F7F9"/>
          </a:solidFill>
          <a:ln xmlns:a="http://schemas.openxmlformats.org/drawingml/2006/main" w="11430">
            <a:solidFill>
              <a:srgbClr val="003F6B"/>
            </a:solidFill>
            <a:prstDash val="solid"/>
          </a:ln>
        </p:spPr>
      </p:sp>
      <p:sp>
        <p:nvSpPr>
          <p:cNvPr id="10" name="">
            <a:extLst xmlns:a="http://schemas.openxmlformats.org/drawingml/2006/main">
              <a:ext uri="{FF2B5EF4-FFF2-40B4-BE49-F238E27FC236}">
                <a16:creationId xmlns:a16="http://schemas.microsoft.com/office/drawing/2014/main" id="{4D4E37F2-8982-4F58-9CF7-362ABF513F97}"/>
              </a:ext>
            </a:extLst>
          </p:cNvPr>
          <p:cNvSpPr>
            <a:spLocks xmlns:a="http://schemas.openxmlformats.org/drawingml/2006/main" noGrp="1"/>
          </p:cNvSpPr>
          <p:nvPr/>
        </p:nvSpPr>
        <p:spPr>
          <a:xfrm xmlns:a="http://schemas.openxmlformats.org/drawingml/2006/main">
            <a:off x="6819900" y="2076450"/>
            <a:ext cx="1409700" cy="381000"/>
          </a:xfrm>
          <a:prstGeom xmlns:a="http://schemas.openxmlformats.org/drawingml/2006/main" prst="roundRect">
            <a:avLst>
              <a:gd name="adj" fmla="val 20000"/>
            </a:avLst>
          </a:prstGeom>
          <a:solidFill xmlns:a="http://schemas.openxmlformats.org/drawingml/2006/main">
            <a:srgbClr val="003F6B"/>
          </a:solidFill>
          <a:ln xmlns:a="http://schemas.openxmlformats.org/drawingml/2006/main" w="0">
            <a:solidFill>
              <a:srgbClr val="003F6B"/>
            </a:solidFill>
            <a:prstDash val="solid"/>
          </a:ln>
        </p:spPr>
      </p:sp>
      <p:sp>
        <p:nvSpPr>
          <p:cNvPr id="11" name="">
            <a:extLst xmlns:a="http://schemas.openxmlformats.org/drawingml/2006/main">
              <a:ext uri="{FF2B5EF4-FFF2-40B4-BE49-F238E27FC236}">
                <a16:creationId xmlns:a16="http://schemas.microsoft.com/office/drawing/2014/main" id="{FD96E4F5-83DB-4342-95E4-B0DE6C3810D4}"/>
              </a:ext>
            </a:extLst>
          </p:cNvPr>
          <p:cNvSpPr>
            <a:spLocks xmlns:a="http://schemas.openxmlformats.org/drawingml/2006/main" noGrp="1"/>
          </p:cNvSpPr>
          <p:nvPr/>
        </p:nvSpPr>
        <p:spPr>
          <a:xfrm xmlns:a="http://schemas.openxmlformats.org/drawingml/2006/main">
            <a:off x="6819900" y="207645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 261 StPO</a:t>
            </a:r>
          </a:p>
        </p:txBody>
      </p:sp>
      <p:sp>
        <p:nvSpPr>
          <p:cNvPr id="12" name="">
            <a:extLst xmlns:a="http://schemas.openxmlformats.org/drawingml/2006/main">
              <a:ext uri="{FF2B5EF4-FFF2-40B4-BE49-F238E27FC236}">
                <a16:creationId xmlns:a16="http://schemas.microsoft.com/office/drawing/2014/main" id="{D412E7F6-84E2-487E-8FC5-C9B7450628AF}"/>
              </a:ext>
            </a:extLst>
          </p:cNvPr>
          <p:cNvSpPr>
            <a:spLocks xmlns:a="http://schemas.openxmlformats.org/drawingml/2006/main" noGrp="1"/>
          </p:cNvSpPr>
          <p:nvPr/>
        </p:nvSpPr>
        <p:spPr>
          <a:xfrm xmlns:a="http://schemas.openxmlformats.org/drawingml/2006/main">
            <a:off x="8362950" y="2057400"/>
            <a:ext cx="2838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Freie richterliche Beweiswürdigung</a:t>
            </a:r>
          </a:p>
        </p:txBody>
      </p:sp>
      <p:sp>
        <p:nvSpPr>
          <p:cNvPr id="13" name="">
            <a:extLst xmlns:a="http://schemas.openxmlformats.org/drawingml/2006/main">
              <a:ext uri="{FF2B5EF4-FFF2-40B4-BE49-F238E27FC236}">
                <a16:creationId xmlns:a16="http://schemas.microsoft.com/office/drawing/2014/main" id="{EC91D833-9AF7-4DF8-B340-16FF30D4F4C1}"/>
              </a:ext>
            </a:extLst>
          </p:cNvPr>
          <p:cNvSpPr>
            <a:spLocks xmlns:a="http://schemas.openxmlformats.org/drawingml/2006/main" noGrp="1"/>
          </p:cNvSpPr>
          <p:nvPr/>
        </p:nvSpPr>
        <p:spPr>
          <a:xfrm xmlns:a="http://schemas.openxmlformats.org/drawingml/2006/main">
            <a:off x="6858000" y="2609850"/>
            <a:ext cx="4305300" cy="2533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8">
                <a:solidFill>
                  <a:srgbClr val="15232B"/>
                </a:solidFill>
              </a:defRPr>
            </a:pPr>
            <a:r>
              <a:rPr sz="1148">
                <a:solidFill>
                  <a:srgbClr val="15232B"/>
                </a:solidFill>
              </a:rPr>
              <a:t>Über das Ergebnis der Beweisaufnahme entscheidet das Gericht nach seiner freien, aus dem Inbegriff der Verhandlung geschöpften Überzeugung.</a:t>
            </a:r>
          </a:p>
        </p:txBody>
      </p:sp>
      <p:sp>
        <p:nvSpPr>
          <p:cNvPr id="14" name="">
            <a:extLst xmlns:a="http://schemas.openxmlformats.org/drawingml/2006/main">
              <a:ext uri="{FF2B5EF4-FFF2-40B4-BE49-F238E27FC236}">
                <a16:creationId xmlns:a16="http://schemas.microsoft.com/office/drawing/2014/main" id="{3DAEA1B9-FB76-4A9B-9EA2-54CFC5BEAC69}"/>
              </a:ext>
            </a:extLst>
          </p:cNvPr>
          <p:cNvSpPr>
            <a:spLocks xmlns:a="http://schemas.openxmlformats.org/drawingml/2006/main" noGrp="1"/>
          </p:cNvSpPr>
          <p:nvPr/>
        </p:nvSpPr>
        <p:spPr>
          <a:xfrm xmlns:a="http://schemas.openxmlformats.org/drawingml/2006/main">
            <a:off x="1809750" y="5619750"/>
            <a:ext cx="9525000" cy="419100"/>
          </a:xfrm>
          <a:prstGeom xmlns:a="http://schemas.openxmlformats.org/drawingml/2006/main" prst="roundRect">
            <a:avLst>
              <a:gd name="adj" fmla="val 18182"/>
            </a:avLst>
          </a:prstGeom>
          <a:noFill xmlns:a="http://schemas.openxmlformats.org/drawingml/2006/main"/>
          <a:ln xmlns:a="http://schemas.openxmlformats.org/drawingml/2006/main" w="11430">
            <a:solidFill>
              <a:srgbClr val="00B2BB"/>
            </a:solidFill>
            <a:prstDash val="solid"/>
          </a:ln>
        </p:spPr>
      </p:sp>
      <p:sp>
        <p:nvSpPr>
          <p:cNvPr id="15" name="">
            <a:extLst xmlns:a="http://schemas.openxmlformats.org/drawingml/2006/main">
              <a:ext uri="{FF2B5EF4-FFF2-40B4-BE49-F238E27FC236}">
                <a16:creationId xmlns:a16="http://schemas.microsoft.com/office/drawing/2014/main" id="{E27F6A30-406B-48E6-850D-4A6B95FF580A}"/>
              </a:ext>
            </a:extLst>
          </p:cNvPr>
          <p:cNvSpPr>
            <a:spLocks xmlns:a="http://schemas.openxmlformats.org/drawingml/2006/main" noGrp="1"/>
          </p:cNvSpPr>
          <p:nvPr/>
        </p:nvSpPr>
        <p:spPr>
          <a:xfrm xmlns:a="http://schemas.openxmlformats.org/drawingml/2006/main">
            <a:off x="1962150" y="5638800"/>
            <a:ext cx="9220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13" b="1">
                <a:solidFill>
                  <a:srgbClr val="003F6B"/>
                </a:solidFill>
              </a:defRPr>
            </a:pPr>
            <a:r>
              <a:rPr sz="1013" b="1">
                <a:solidFill>
                  <a:srgbClr val="003F6B"/>
                </a:solidFill>
              </a:rPr>
              <a:t>Praxislesart: Anders als im Zivilprozess ermittelt das Strafgericht von Amts wegen; die Beweiswürdigung stützt sich auf die Hauptverhandlung.</a:t>
            </a:r>
          </a:p>
        </p:txBody>
      </p:sp>
      <p:sp>
        <p:nvSpPr>
          <p:cNvPr id="16" name="">
            <a:extLst xmlns:a="http://schemas.openxmlformats.org/drawingml/2006/main">
              <a:ext uri="{FF2B5EF4-FFF2-40B4-BE49-F238E27FC236}">
                <a16:creationId xmlns:a16="http://schemas.microsoft.com/office/drawing/2014/main" id="{5821BE90-765E-4147-B3DD-B20EEA5A6049}"/>
              </a:ext>
            </a:extLst>
          </p:cNvPr>
          <p:cNvSpPr>
            <a:spLocks xmlns:a="http://schemas.openxmlformats.org/drawingml/2006/main" noGrp="1"/>
          </p:cNvSpPr>
          <p:nvPr/>
        </p:nvSpPr>
        <p:spPr>
          <a:xfrm xmlns:a="http://schemas.openxmlformats.org/drawingml/2006/main">
            <a:off x="1809750" y="535305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05">
                <a:solidFill>
                  <a:srgbClr val="667680"/>
                </a:solidFill>
              </a:defRPr>
            </a:pPr>
            <a:r>
              <a:rPr sz="705">
                <a:solidFill>
                  <a:srgbClr val="667680"/>
                </a:solidFill>
              </a:rPr>
              <a:t>BMJ/BfJ, gesetze-im-internet.de/stpo/__244.html und /__261.html · Abruf/Stand: 20.08.2026 · https://pubmed.ncbi.nlm.nih.gov</a:t>
            </a:r>
          </a:p>
        </p:txBody>
      </p:sp>
    </p:spTree>
    <p:extLst>
      <p:ext uri="{BB962C8B-B14F-4D97-AF65-F5344CB8AC3E}">
        <p14:creationId xmlns:p14="http://schemas.microsoft.com/office/powerpoint/2010/main" val="43637646"/>
      </p:ext>
    </p:extLst>
  </p:cSld>
</p:sld>
</file>

<file path=ppt/slides/slide224.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Ausgeschaltetes Beatmungsgerät: Fehler, Vorsatz und Beweiswürdigung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REALE ENTSCHEIDUNG</a:t>
            </a:r>
            <a:endParaRPr/>
          </a:p>
        </p:txBody>
      </p:sp>
      <p:sp>
        <p:nvSpPr>
          <p:cNvPr id="4" name="">
            <a:extLst xmlns:a="http://schemas.openxmlformats.org/drawingml/2006/main">
              <a:ext uri="{FF2B5EF4-FFF2-40B4-BE49-F238E27FC236}">
                <a16:creationId xmlns:a16="http://schemas.microsoft.com/office/drawing/2014/main" id="{6E42A524-1DE7-43AA-8B38-A1F7C884B7EE}"/>
              </a:ext>
            </a:extLst>
          </p:cNvPr>
          <p:cNvSpPr>
            <a:spLocks xmlns:a="http://schemas.openxmlformats.org/drawingml/2006/main" noGrp="1"/>
          </p:cNvSpPr>
          <p:nvPr/>
        </p:nvSpPr>
        <p:spPr>
          <a:xfrm xmlns:a="http://schemas.openxmlformats.org/drawingml/2006/main">
            <a:off x="1809750" y="1943100"/>
            <a:ext cx="11239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127CB29F-DAC2-4775-B2A5-DF2CDAE0FD42}"/>
              </a:ext>
            </a:extLst>
          </p:cNvPr>
          <p:cNvSpPr>
            <a:spLocks xmlns:a="http://schemas.openxmlformats.org/drawingml/2006/main" noGrp="1"/>
          </p:cNvSpPr>
          <p:nvPr/>
        </p:nvSpPr>
        <p:spPr>
          <a:xfrm xmlns:a="http://schemas.openxmlformats.org/drawingml/2006/main">
            <a:off x="1809750" y="1943100"/>
            <a:ext cx="1123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BGH</a:t>
            </a:r>
          </a:p>
        </p:txBody>
      </p:sp>
      <p:sp>
        <p:nvSpPr>
          <p:cNvPr id="6" name="">
            <a:extLst xmlns:a="http://schemas.openxmlformats.org/drawingml/2006/main">
              <a:ext uri="{FF2B5EF4-FFF2-40B4-BE49-F238E27FC236}">
                <a16:creationId xmlns:a16="http://schemas.microsoft.com/office/drawing/2014/main" id="{DE056ADF-919A-4E9A-8EFF-76841C533CBE}"/>
              </a:ext>
            </a:extLst>
          </p:cNvPr>
          <p:cNvSpPr>
            <a:spLocks xmlns:a="http://schemas.openxmlformats.org/drawingml/2006/main" noGrp="1"/>
          </p:cNvSpPr>
          <p:nvPr/>
        </p:nvSpPr>
        <p:spPr>
          <a:xfrm xmlns:a="http://schemas.openxmlformats.org/drawingml/2006/main">
            <a:off x="312420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16.03.2022 · 5 StR 394/21</a:t>
            </a:r>
          </a:p>
        </p:txBody>
      </p:sp>
      <p:sp>
        <p:nvSpPr>
          <p:cNvPr id="7" name="">
            <a:extLst xmlns:a="http://schemas.openxmlformats.org/drawingml/2006/main">
              <a:ext uri="{FF2B5EF4-FFF2-40B4-BE49-F238E27FC236}">
                <a16:creationId xmlns:a16="http://schemas.microsoft.com/office/drawing/2014/main" id="{67100B92-96C0-4B60-B866-CFE9699F0EF6}"/>
              </a:ext>
            </a:extLst>
          </p:cNvPr>
          <p:cNvSpPr>
            <a:spLocks xmlns:a="http://schemas.openxmlformats.org/drawingml/2006/main" noGrp="1"/>
          </p:cNvSpPr>
          <p:nvPr/>
        </p:nvSpPr>
        <p:spPr>
          <a:xfrm xmlns:a="http://schemas.openxmlformats.org/drawingml/2006/main">
            <a:off x="733425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050">
                <a:solidFill>
                  <a:srgbClr val="667680"/>
                </a:solidFill>
              </a:defRPr>
            </a:pPr>
            <a:r>
              <a:rPr sz="1050">
                <a:solidFill>
                  <a:srgbClr val="667680"/>
                </a:solidFill>
              </a:rPr>
              <a:t>Leitentscheidung</a:t>
            </a:r>
          </a:p>
        </p:txBody>
      </p:sp>
      <p:sp>
        <p:nvSpPr>
          <p:cNvPr id="8" name="">
            <a:extLst xmlns:a="http://schemas.openxmlformats.org/drawingml/2006/main">
              <a:ext uri="{FF2B5EF4-FFF2-40B4-BE49-F238E27FC236}">
                <a16:creationId xmlns:a16="http://schemas.microsoft.com/office/drawing/2014/main" id="{E2737743-A917-40A2-A048-EE4ECE4859A1}"/>
              </a:ext>
            </a:extLst>
          </p:cNvPr>
          <p:cNvSpPr>
            <a:spLocks xmlns:a="http://schemas.openxmlformats.org/drawingml/2006/main" noGrp="1"/>
          </p:cNvSpPr>
          <p:nvPr/>
        </p:nvSpPr>
        <p:spPr>
          <a:xfrm xmlns:a="http://schemas.openxmlformats.org/drawingml/2006/main">
            <a:off x="1809750" y="2533650"/>
            <a:ext cx="1676400" cy="781050"/>
          </a:xfrm>
          <a:prstGeom xmlns:a="http://schemas.openxmlformats.org/drawingml/2006/main" prst="roundRect">
            <a:avLst>
              <a:gd name="adj" fmla="val 9756"/>
            </a:avLst>
          </a:prstGeom>
          <a:solidFill xmlns:a="http://schemas.openxmlformats.org/drawingml/2006/main">
            <a:srgbClr val="00B2BB"/>
          </a:solidFill>
          <a:ln xmlns:a="http://schemas.openxmlformats.org/drawingml/2006/main" w="0">
            <a:solidFill>
              <a:srgbClr val="00B2BB"/>
            </a:solidFill>
            <a:prstDash val="solid"/>
          </a:ln>
        </p:spPr>
      </p:sp>
      <p:sp>
        <p:nvSpPr>
          <p:cNvPr id="9" name="">
            <a:extLst xmlns:a="http://schemas.openxmlformats.org/drawingml/2006/main">
              <a:ext uri="{FF2B5EF4-FFF2-40B4-BE49-F238E27FC236}">
                <a16:creationId xmlns:a16="http://schemas.microsoft.com/office/drawing/2014/main" id="{51999C32-708D-4914-8E25-157E65A85CC9}"/>
              </a:ext>
            </a:extLst>
          </p:cNvPr>
          <p:cNvSpPr>
            <a:spLocks xmlns:a="http://schemas.openxmlformats.org/drawingml/2006/main" noGrp="1"/>
          </p:cNvSpPr>
          <p:nvPr/>
        </p:nvSpPr>
        <p:spPr>
          <a:xfrm xmlns:a="http://schemas.openxmlformats.org/drawingml/2006/main">
            <a:off x="1924050" y="25336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Ausgangsfall</a:t>
            </a:r>
          </a:p>
        </p:txBody>
      </p:sp>
      <p:sp>
        <p:nvSpPr>
          <p:cNvPr id="10" name="">
            <a:extLst xmlns:a="http://schemas.openxmlformats.org/drawingml/2006/main">
              <a:ext uri="{FF2B5EF4-FFF2-40B4-BE49-F238E27FC236}">
                <a16:creationId xmlns:a16="http://schemas.microsoft.com/office/drawing/2014/main" id="{120AD8FB-FDA9-46CF-BC8B-943353BB5904}"/>
              </a:ext>
            </a:extLst>
          </p:cNvPr>
          <p:cNvSpPr>
            <a:spLocks xmlns:a="http://schemas.openxmlformats.org/drawingml/2006/main" noGrp="1"/>
          </p:cNvSpPr>
          <p:nvPr/>
        </p:nvSpPr>
        <p:spPr>
          <a:xfrm xmlns:a="http://schemas.openxmlformats.org/drawingml/2006/main">
            <a:off x="3695700" y="25336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88">
                <a:solidFill>
                  <a:srgbClr val="15232B"/>
                </a:solidFill>
              </a:defRPr>
            </a:pPr>
            <a:r>
              <a:rPr sz="1088">
                <a:solidFill>
                  <a:srgbClr val="15232B"/>
                </a:solidFill>
              </a:rPr>
              <a:t>Eine Pflegefachkraft vergaß nach Absaugen, das lebensnotwendige Beatmungsgerät wieder einzuschalten. Die Patientin starb; das Nachtatverhalten war verschleiernd.</a:t>
            </a:r>
          </a:p>
        </p:txBody>
      </p:sp>
      <p:sp>
        <p:nvSpPr>
          <p:cNvPr id="11" name="">
            <a:extLst xmlns:a="http://schemas.openxmlformats.org/drawingml/2006/main">
              <a:ext uri="{FF2B5EF4-FFF2-40B4-BE49-F238E27FC236}">
                <a16:creationId xmlns:a16="http://schemas.microsoft.com/office/drawing/2014/main" id="{BCCD8F58-4C70-4029-9401-3BC79357B306}"/>
              </a:ext>
            </a:extLst>
          </p:cNvPr>
          <p:cNvSpPr>
            <a:spLocks xmlns:a="http://schemas.openxmlformats.org/drawingml/2006/main" noGrp="1"/>
          </p:cNvSpPr>
          <p:nvPr/>
        </p:nvSpPr>
        <p:spPr>
          <a:xfrm xmlns:a="http://schemas.openxmlformats.org/drawingml/2006/main">
            <a:off x="1809750" y="3486150"/>
            <a:ext cx="1676400" cy="781050"/>
          </a:xfrm>
          <a:prstGeom xmlns:a="http://schemas.openxmlformats.org/drawingml/2006/main" prst="roundRect">
            <a:avLst>
              <a:gd name="adj" fmla="val 9756"/>
            </a:avLst>
          </a:prstGeom>
          <a:solidFill xmlns:a="http://schemas.openxmlformats.org/drawingml/2006/main">
            <a:srgbClr val="003F6B"/>
          </a:solidFill>
          <a:ln xmlns:a="http://schemas.openxmlformats.org/drawingml/2006/main" w="0">
            <a:solidFill>
              <a:srgbClr val="003F6B"/>
            </a:solidFill>
            <a:prstDash val="solid"/>
          </a:ln>
        </p:spPr>
      </p:sp>
      <p:sp>
        <p:nvSpPr>
          <p:cNvPr id="12" name="">
            <a:extLst xmlns:a="http://schemas.openxmlformats.org/drawingml/2006/main">
              <a:ext uri="{FF2B5EF4-FFF2-40B4-BE49-F238E27FC236}">
                <a16:creationId xmlns:a16="http://schemas.microsoft.com/office/drawing/2014/main" id="{9D90E4BF-2545-4F6D-9CC8-172A2A1F8DE4}"/>
              </a:ext>
            </a:extLst>
          </p:cNvPr>
          <p:cNvSpPr>
            <a:spLocks xmlns:a="http://schemas.openxmlformats.org/drawingml/2006/main" noGrp="1"/>
          </p:cNvSpPr>
          <p:nvPr/>
        </p:nvSpPr>
        <p:spPr>
          <a:xfrm xmlns:a="http://schemas.openxmlformats.org/drawingml/2006/main">
            <a:off x="1924050" y="34861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Kernaussage</a:t>
            </a:r>
          </a:p>
        </p:txBody>
      </p:sp>
      <p:sp>
        <p:nvSpPr>
          <p:cNvPr id="13" name="">
            <a:extLst xmlns:a="http://schemas.openxmlformats.org/drawingml/2006/main">
              <a:ext uri="{FF2B5EF4-FFF2-40B4-BE49-F238E27FC236}">
                <a16:creationId xmlns:a16="http://schemas.microsoft.com/office/drawing/2014/main" id="{95716165-D7DF-4C73-965A-357C2926DBDA}"/>
              </a:ext>
            </a:extLst>
          </p:cNvPr>
          <p:cNvSpPr>
            <a:spLocks xmlns:a="http://schemas.openxmlformats.org/drawingml/2006/main" noGrp="1"/>
          </p:cNvSpPr>
          <p:nvPr/>
        </p:nvSpPr>
        <p:spPr>
          <a:xfrm xmlns:a="http://schemas.openxmlformats.org/drawingml/2006/main">
            <a:off x="3695700" y="34861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88">
                <a:solidFill>
                  <a:srgbClr val="15232B"/>
                </a:solidFill>
              </a:defRPr>
            </a:pPr>
            <a:r>
              <a:rPr sz="1088">
                <a:solidFill>
                  <a:srgbClr val="15232B"/>
                </a:solidFill>
              </a:rPr>
              <a:t>Rechtskräftig blieb die Verurteilung wegen fahrlässiger Tötung. Das Verschleiern nach der Tat genügte nicht, um Tötungsvorsatz zu beweisen; die tatrichterliche Beweiswürdigung war rechtsfehlerfrei.</a:t>
            </a:r>
          </a:p>
        </p:txBody>
      </p:sp>
      <p:sp>
        <p:nvSpPr>
          <p:cNvPr id="14" name="">
            <a:extLst xmlns:a="http://schemas.openxmlformats.org/drawingml/2006/main">
              <a:ext uri="{FF2B5EF4-FFF2-40B4-BE49-F238E27FC236}">
                <a16:creationId xmlns:a16="http://schemas.microsoft.com/office/drawing/2014/main" id="{8A1EBDFC-2DFB-4F16-9B57-4CFCD11EE1B3}"/>
              </a:ext>
            </a:extLst>
          </p:cNvPr>
          <p:cNvSpPr>
            <a:spLocks xmlns:a="http://schemas.openxmlformats.org/drawingml/2006/main" noGrp="1"/>
          </p:cNvSpPr>
          <p:nvPr/>
        </p:nvSpPr>
        <p:spPr>
          <a:xfrm xmlns:a="http://schemas.openxmlformats.org/drawingml/2006/main">
            <a:off x="1809750" y="4438650"/>
            <a:ext cx="1676400" cy="781050"/>
          </a:xfrm>
          <a:prstGeom xmlns:a="http://schemas.openxmlformats.org/drawingml/2006/main" prst="roundRect">
            <a:avLst>
              <a:gd name="adj" fmla="val 9756"/>
            </a:avLst>
          </a:prstGeom>
          <a:solidFill xmlns:a="http://schemas.openxmlformats.org/drawingml/2006/main">
            <a:srgbClr val="00B2BB"/>
          </a:solidFill>
          <a:ln xmlns:a="http://schemas.openxmlformats.org/drawingml/2006/main" w="0">
            <a:solidFill>
              <a:srgbClr val="00B2BB"/>
            </a:solidFill>
            <a:prstDash val="solid"/>
          </a:ln>
        </p:spPr>
      </p:sp>
      <p:sp>
        <p:nvSpPr>
          <p:cNvPr id="15" name="">
            <a:extLst xmlns:a="http://schemas.openxmlformats.org/drawingml/2006/main">
              <a:ext uri="{FF2B5EF4-FFF2-40B4-BE49-F238E27FC236}">
                <a16:creationId xmlns:a16="http://schemas.microsoft.com/office/drawing/2014/main" id="{8072BA28-82AA-405B-BA4C-CA7D437FE42D}"/>
              </a:ext>
            </a:extLst>
          </p:cNvPr>
          <p:cNvSpPr>
            <a:spLocks xmlns:a="http://schemas.openxmlformats.org/drawingml/2006/main" noGrp="1"/>
          </p:cNvSpPr>
          <p:nvPr/>
        </p:nvSpPr>
        <p:spPr>
          <a:xfrm xmlns:a="http://schemas.openxmlformats.org/drawingml/2006/main">
            <a:off x="1924050" y="44386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Für die Praxis</a:t>
            </a:r>
          </a:p>
        </p:txBody>
      </p:sp>
      <p:sp>
        <p:nvSpPr>
          <p:cNvPr id="16" name="">
            <a:extLst xmlns:a="http://schemas.openxmlformats.org/drawingml/2006/main">
              <a:ext uri="{FF2B5EF4-FFF2-40B4-BE49-F238E27FC236}">
                <a16:creationId xmlns:a16="http://schemas.microsoft.com/office/drawing/2014/main" id="{1CBE3893-F808-4C88-A83E-C6545322F8A0}"/>
              </a:ext>
            </a:extLst>
          </p:cNvPr>
          <p:cNvSpPr>
            <a:spLocks xmlns:a="http://schemas.openxmlformats.org/drawingml/2006/main" noGrp="1"/>
          </p:cNvSpPr>
          <p:nvPr/>
        </p:nvSpPr>
        <p:spPr>
          <a:xfrm xmlns:a="http://schemas.openxmlformats.org/drawingml/2006/main">
            <a:off x="3695700" y="44386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88">
                <a:solidFill>
                  <a:srgbClr val="15232B"/>
                </a:solidFill>
              </a:defRPr>
            </a:pPr>
            <a:r>
              <a:rPr sz="1088">
                <a:solidFill>
                  <a:srgbClr val="15232B"/>
                </a:solidFill>
              </a:rPr>
              <a:t>Fehler, Panik und nachträgliche Kommunikation werden getrennt bewertet. Im Strafrecht muss persönliche Schuld jenseits vernünftiger Zweifel feststehen.</a:t>
            </a:r>
          </a:p>
        </p:txBody>
      </p:sp>
      <p:sp>
        <p:nvSpPr>
          <p:cNvPr id="17" name="">
            <a:extLst xmlns:a="http://schemas.openxmlformats.org/drawingml/2006/main">
              <a:ext uri="{FF2B5EF4-FFF2-40B4-BE49-F238E27FC236}">
                <a16:creationId xmlns:a16="http://schemas.microsoft.com/office/drawing/2014/main" id="{D9BDE8D4-0C0D-42B2-87C1-D9EECCC72BD0}"/>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20">
                <a:solidFill>
                  <a:srgbClr val="667680"/>
                </a:solidFill>
              </a:defRPr>
            </a:pPr>
            <a:r>
              <a:rPr sz="720">
                <a:solidFill>
                  <a:srgbClr val="667680"/>
                </a:solidFill>
              </a:rPr>
              <a:t>BGH, Urteil 5 StR 394/21, ECLI:DE:BGH:2022:160322U5STR394.21.0 · https://juris.bundesgerichtshof.de</a:t>
            </a:r>
          </a:p>
        </p:txBody>
      </p:sp>
    </p:spTree>
    <p:extLst>
      <p:ext uri="{BB962C8B-B14F-4D97-AF65-F5344CB8AC3E}">
        <p14:creationId xmlns:p14="http://schemas.microsoft.com/office/powerpoint/2010/main" val="43637646"/>
      </p:ext>
    </p:extLst>
  </p:cSld>
</p:sld>
</file>

<file path=ppt/slides/slide225.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Warum ärztliche Behandlung strafrechtlich relevant sein kann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615486F8-44E1-497F-9A0C-1AB45791923F}"/>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Der medizinische Eingriff berührt Körper und Gesundheit. Strafrechtlich werden Tatbestand, Rechtfertigung und persönliche Schuld geprüft.</a:t>
            </a:r>
          </a:p>
        </p:txBody>
      </p:sp>
      <p:sp>
        <p:nvSpPr>
          <p:cNvPr id="5" name="">
            <a:extLst xmlns:a="http://schemas.openxmlformats.org/drawingml/2006/main">
              <a:ext uri="{FF2B5EF4-FFF2-40B4-BE49-F238E27FC236}">
                <a16:creationId xmlns:a16="http://schemas.microsoft.com/office/drawing/2014/main" id="{FD7259EA-4B18-4D8D-A4AF-F7FD304EC35A}"/>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49468CF5-24B8-419F-841B-B19D6207843A}"/>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221AB822-70FA-4B76-BCE3-32E370459FE5}"/>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Körperverletzungstatbestand</a:t>
            </a:r>
          </a:p>
        </p:txBody>
      </p:sp>
      <p:sp>
        <p:nvSpPr>
          <p:cNvPr id="8" name="">
            <a:extLst xmlns:a="http://schemas.openxmlformats.org/drawingml/2006/main">
              <a:ext uri="{FF2B5EF4-FFF2-40B4-BE49-F238E27FC236}">
                <a16:creationId xmlns:a16="http://schemas.microsoft.com/office/drawing/2014/main" id="{246C7CC2-8B73-4A5A-ABC3-35FAB5BB6F9C}"/>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Nach gefestigter Rechtsprechung kann auch ein fachgerechter Heileingriff tatbestandlich eine Körperverletzung sein.</a:t>
            </a:r>
          </a:p>
        </p:txBody>
      </p:sp>
      <p:sp>
        <p:nvSpPr>
          <p:cNvPr id="9" name="">
            <a:extLst xmlns:a="http://schemas.openxmlformats.org/drawingml/2006/main">
              <a:ext uri="{FF2B5EF4-FFF2-40B4-BE49-F238E27FC236}">
                <a16:creationId xmlns:a16="http://schemas.microsoft.com/office/drawing/2014/main" id="{FD866CB6-9103-4B4E-BC33-6E8EB5664A3D}"/>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01E82B08-567A-4A1D-88CE-D2ACBC007B3C}"/>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600A542A-DBAA-43EE-A95D-C07E83FCB21D}"/>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Rechtfertigung</a:t>
            </a:r>
          </a:p>
        </p:txBody>
      </p:sp>
      <p:sp>
        <p:nvSpPr>
          <p:cNvPr id="12" name="">
            <a:extLst xmlns:a="http://schemas.openxmlformats.org/drawingml/2006/main">
              <a:ext uri="{FF2B5EF4-FFF2-40B4-BE49-F238E27FC236}">
                <a16:creationId xmlns:a16="http://schemas.microsoft.com/office/drawing/2014/main" id="{19A7A720-D5A8-4F87-9847-EE103DE94499}"/>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Eine wirksame, auf ausreichender Aufklärung beruhende Einwilligung rechtfertigt den Eingriff innerhalb ihrer Reichweite.</a:t>
            </a:r>
          </a:p>
        </p:txBody>
      </p:sp>
      <p:sp>
        <p:nvSpPr>
          <p:cNvPr id="13" name="">
            <a:extLst xmlns:a="http://schemas.openxmlformats.org/drawingml/2006/main">
              <a:ext uri="{FF2B5EF4-FFF2-40B4-BE49-F238E27FC236}">
                <a16:creationId xmlns:a16="http://schemas.microsoft.com/office/drawing/2014/main" id="{A6C3F07E-E939-4819-81B4-ABB4D570D725}"/>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6EA88921-2A03-40E6-8873-2FEA7370A35E}"/>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E0536E9A-8F7B-4393-9858-EA1C669AB0D5}"/>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Fehlerhafte Durchführung</a:t>
            </a:r>
          </a:p>
        </p:txBody>
      </p:sp>
      <p:sp>
        <p:nvSpPr>
          <p:cNvPr id="16" name="">
            <a:extLst xmlns:a="http://schemas.openxmlformats.org/drawingml/2006/main">
              <a:ext uri="{FF2B5EF4-FFF2-40B4-BE49-F238E27FC236}">
                <a16:creationId xmlns:a16="http://schemas.microsoft.com/office/drawing/2014/main" id="{498B3E13-EC96-4325-A16C-098D8B48AD61}"/>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Bei fahrlässiger Standardabweichung kommen insbesondere § 229 StGB und bei Todesfolge § 222 StGB in Betracht.</a:t>
            </a:r>
          </a:p>
        </p:txBody>
      </p:sp>
      <p:sp>
        <p:nvSpPr>
          <p:cNvPr id="17" name="">
            <a:extLst xmlns:a="http://schemas.openxmlformats.org/drawingml/2006/main">
              <a:ext uri="{FF2B5EF4-FFF2-40B4-BE49-F238E27FC236}">
                <a16:creationId xmlns:a16="http://schemas.microsoft.com/office/drawing/2014/main" id="{1A8C411D-A2B1-4042-B89F-16AEAA9F1DE4}"/>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4958D01A-29C4-4B47-9216-5D3EB3339103}"/>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2AB44B85-F717-49D9-B414-2169A7A52FD6}"/>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Persönliche Verantwortung</a:t>
            </a:r>
          </a:p>
        </p:txBody>
      </p:sp>
      <p:sp>
        <p:nvSpPr>
          <p:cNvPr id="20" name="">
            <a:extLst xmlns:a="http://schemas.openxmlformats.org/drawingml/2006/main">
              <a:ext uri="{FF2B5EF4-FFF2-40B4-BE49-F238E27FC236}">
                <a16:creationId xmlns:a16="http://schemas.microsoft.com/office/drawing/2014/main" id="{0BDAF2C9-0AD6-4121-A04F-AA2AC46F96FF}"/>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Strafrechtliche Schuld wird individuell geprüft; Organisationsmängel werden nicht automatisch jeder beteiligten Person zugerechnet.</a:t>
            </a:r>
          </a:p>
        </p:txBody>
      </p:sp>
      <p:sp>
        <p:nvSpPr>
          <p:cNvPr id="21" name="">
            <a:extLst xmlns:a="http://schemas.openxmlformats.org/drawingml/2006/main">
              <a:ext uri="{FF2B5EF4-FFF2-40B4-BE49-F238E27FC236}">
                <a16:creationId xmlns:a16="http://schemas.microsoft.com/office/drawing/2014/main" id="{B769D9B4-F404-4412-9237-8F26FB8E91DE}"/>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971AAEA3-3F6D-4B2F-B741-79616BC664F5}"/>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Strafbarkeit folgt nicht aus einem schlechten Ausgang, sondern aus vollständig nachgewiesenem tatbestandsmäßigem, rechtswidrigem und schuldhaftem Verhalten.</a:t>
            </a:r>
          </a:p>
        </p:txBody>
      </p:sp>
    </p:spTree>
    <p:extLst>
      <p:ext uri="{BB962C8B-B14F-4D97-AF65-F5344CB8AC3E}">
        <p14:creationId xmlns:p14="http://schemas.microsoft.com/office/powerpoint/2010/main" val="43637646"/>
      </p:ext>
    </p:extLst>
  </p:cSld>
</p:sld>
</file>

<file path=ppt/slides/slide226.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Grundschema einer Straftat</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PRÜFUNGSSCHEMA · AUFBAU</a:t>
            </a:r>
            <a:endParaRPr/>
          </a:p>
        </p:txBody>
      </p:sp>
      <p:sp>
        <p:nvSpPr>
          <p:cNvPr id="4" name="">
            <a:extLst xmlns:a="http://schemas.openxmlformats.org/drawingml/2006/main">
              <a:ext uri="{FF2B5EF4-FFF2-40B4-BE49-F238E27FC236}">
                <a16:creationId xmlns:a16="http://schemas.microsoft.com/office/drawing/2014/main" id="{12722080-8978-439F-8C99-752F6624F894}"/>
              </a:ext>
            </a:extLst>
          </p:cNvPr>
          <p:cNvSpPr>
            <a:spLocks xmlns:a="http://schemas.openxmlformats.org/drawingml/2006/main" noGrp="1"/>
          </p:cNvSpPr>
          <p:nvPr/>
        </p:nvSpPr>
        <p:spPr>
          <a:xfrm xmlns:a="http://schemas.openxmlformats.org/drawingml/2006/main">
            <a:off x="1809750" y="1952625"/>
            <a:ext cx="400050" cy="823913"/>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11CB3D7B-E6C3-46A9-8B85-A3478C8BAE13}"/>
              </a:ext>
            </a:extLst>
          </p:cNvPr>
          <p:cNvSpPr>
            <a:spLocks xmlns:a="http://schemas.openxmlformats.org/drawingml/2006/main" noGrp="1"/>
          </p:cNvSpPr>
          <p:nvPr/>
        </p:nvSpPr>
        <p:spPr>
          <a:xfrm xmlns:a="http://schemas.openxmlformats.org/drawingml/2006/main">
            <a:off x="1809750" y="1952625"/>
            <a:ext cx="400050" cy="8239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6" name="">
            <a:extLst xmlns:a="http://schemas.openxmlformats.org/drawingml/2006/main">
              <a:ext uri="{FF2B5EF4-FFF2-40B4-BE49-F238E27FC236}">
                <a16:creationId xmlns:a16="http://schemas.microsoft.com/office/drawing/2014/main" id="{118628C5-C4E1-4082-9A09-2EB0259341F1}"/>
              </a:ext>
            </a:extLst>
          </p:cNvPr>
          <p:cNvSpPr>
            <a:spLocks xmlns:a="http://schemas.openxmlformats.org/drawingml/2006/main" noGrp="1"/>
          </p:cNvSpPr>
          <p:nvPr/>
        </p:nvSpPr>
        <p:spPr>
          <a:xfrm xmlns:a="http://schemas.openxmlformats.org/drawingml/2006/main">
            <a:off x="2324100" y="1962150"/>
            <a:ext cx="2381250" cy="8048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I. Tatbestand</a:t>
            </a:r>
          </a:p>
        </p:txBody>
      </p:sp>
      <p:sp>
        <p:nvSpPr>
          <p:cNvPr id="7" name="">
            <a:extLst xmlns:a="http://schemas.openxmlformats.org/drawingml/2006/main">
              <a:ext uri="{FF2B5EF4-FFF2-40B4-BE49-F238E27FC236}">
                <a16:creationId xmlns:a16="http://schemas.microsoft.com/office/drawing/2014/main" id="{59ECE1A9-754C-44A4-BCFB-C272F63DB258}"/>
              </a:ext>
            </a:extLst>
          </p:cNvPr>
          <p:cNvSpPr>
            <a:spLocks xmlns:a="http://schemas.openxmlformats.org/drawingml/2006/main" noGrp="1"/>
          </p:cNvSpPr>
          <p:nvPr/>
        </p:nvSpPr>
        <p:spPr>
          <a:xfrm xmlns:a="http://schemas.openxmlformats.org/drawingml/2006/main">
            <a:off x="4819650" y="1962150"/>
            <a:ext cx="6419850" cy="8048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Objektive Merkmale wie Handlung, Erfolg und Kausalität sowie subjektive Merkmale wie Vorsatz werden geprüft.</a:t>
            </a:r>
          </a:p>
        </p:txBody>
      </p:sp>
      <p:sp>
        <p:nvSpPr>
          <p:cNvPr id="8" name="">
            <a:extLst xmlns:a="http://schemas.openxmlformats.org/drawingml/2006/main">
              <a:ext uri="{FF2B5EF4-FFF2-40B4-BE49-F238E27FC236}">
                <a16:creationId xmlns:a16="http://schemas.microsoft.com/office/drawing/2014/main" id="{D6AFF148-1659-42CF-9565-2BC2E3EC9030}"/>
              </a:ext>
            </a:extLst>
          </p:cNvPr>
          <p:cNvSpPr>
            <a:spLocks xmlns:a="http://schemas.openxmlformats.org/drawingml/2006/main" noGrp="1"/>
          </p:cNvSpPr>
          <p:nvPr/>
        </p:nvSpPr>
        <p:spPr>
          <a:xfrm xmlns:a="http://schemas.openxmlformats.org/drawingml/2006/main">
            <a:off x="1809750" y="2852738"/>
            <a:ext cx="400050" cy="823913"/>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9" name="">
            <a:extLst xmlns:a="http://schemas.openxmlformats.org/drawingml/2006/main">
              <a:ext uri="{FF2B5EF4-FFF2-40B4-BE49-F238E27FC236}">
                <a16:creationId xmlns:a16="http://schemas.microsoft.com/office/drawing/2014/main" id="{14EAEFE0-D639-4CFB-AF7C-24077C846C18}"/>
              </a:ext>
            </a:extLst>
          </p:cNvPr>
          <p:cNvSpPr>
            <a:spLocks xmlns:a="http://schemas.openxmlformats.org/drawingml/2006/main" noGrp="1"/>
          </p:cNvSpPr>
          <p:nvPr/>
        </p:nvSpPr>
        <p:spPr>
          <a:xfrm xmlns:a="http://schemas.openxmlformats.org/drawingml/2006/main">
            <a:off x="1809750" y="2852738"/>
            <a:ext cx="400050" cy="8239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0" name="">
            <a:extLst xmlns:a="http://schemas.openxmlformats.org/drawingml/2006/main">
              <a:ext uri="{FF2B5EF4-FFF2-40B4-BE49-F238E27FC236}">
                <a16:creationId xmlns:a16="http://schemas.microsoft.com/office/drawing/2014/main" id="{E4ABD355-0B22-40FB-BFF1-7AD61B19573B}"/>
              </a:ext>
            </a:extLst>
          </p:cNvPr>
          <p:cNvSpPr>
            <a:spLocks xmlns:a="http://schemas.openxmlformats.org/drawingml/2006/main" noGrp="1"/>
          </p:cNvSpPr>
          <p:nvPr/>
        </p:nvSpPr>
        <p:spPr>
          <a:xfrm xmlns:a="http://schemas.openxmlformats.org/drawingml/2006/main">
            <a:off x="2324100" y="2862263"/>
            <a:ext cx="2381250" cy="8048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II. Rechtswidrigkeit</a:t>
            </a:r>
          </a:p>
        </p:txBody>
      </p:sp>
      <p:sp>
        <p:nvSpPr>
          <p:cNvPr id="11" name="">
            <a:extLst xmlns:a="http://schemas.openxmlformats.org/drawingml/2006/main">
              <a:ext uri="{FF2B5EF4-FFF2-40B4-BE49-F238E27FC236}">
                <a16:creationId xmlns:a16="http://schemas.microsoft.com/office/drawing/2014/main" id="{D3D73356-0156-4081-81A1-413F30217610}"/>
              </a:ext>
            </a:extLst>
          </p:cNvPr>
          <p:cNvSpPr>
            <a:spLocks xmlns:a="http://schemas.openxmlformats.org/drawingml/2006/main" noGrp="1"/>
          </p:cNvSpPr>
          <p:nvPr/>
        </p:nvSpPr>
        <p:spPr>
          <a:xfrm xmlns:a="http://schemas.openxmlformats.org/drawingml/2006/main">
            <a:off x="4819650" y="2862263"/>
            <a:ext cx="6419850" cy="8048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Es wird gefragt, ob Einwilligung, Notstand oder ein anderer Rechtfertigungsgrund das tatbestandsmäßige Verhalten erlaubt.</a:t>
            </a:r>
          </a:p>
        </p:txBody>
      </p:sp>
      <p:sp>
        <p:nvSpPr>
          <p:cNvPr id="12" name="">
            <a:extLst xmlns:a="http://schemas.openxmlformats.org/drawingml/2006/main">
              <a:ext uri="{FF2B5EF4-FFF2-40B4-BE49-F238E27FC236}">
                <a16:creationId xmlns:a16="http://schemas.microsoft.com/office/drawing/2014/main" id="{2B12DB08-D84E-47CB-9F5C-3DE40A575B0E}"/>
              </a:ext>
            </a:extLst>
          </p:cNvPr>
          <p:cNvSpPr>
            <a:spLocks xmlns:a="http://schemas.openxmlformats.org/drawingml/2006/main" noGrp="1"/>
          </p:cNvSpPr>
          <p:nvPr/>
        </p:nvSpPr>
        <p:spPr>
          <a:xfrm xmlns:a="http://schemas.openxmlformats.org/drawingml/2006/main">
            <a:off x="1809750" y="3752850"/>
            <a:ext cx="400050" cy="823913"/>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3" name="">
            <a:extLst xmlns:a="http://schemas.openxmlformats.org/drawingml/2006/main">
              <a:ext uri="{FF2B5EF4-FFF2-40B4-BE49-F238E27FC236}">
                <a16:creationId xmlns:a16="http://schemas.microsoft.com/office/drawing/2014/main" id="{6054719C-053F-42C3-8F63-048354C83C3E}"/>
              </a:ext>
            </a:extLst>
          </p:cNvPr>
          <p:cNvSpPr>
            <a:spLocks xmlns:a="http://schemas.openxmlformats.org/drawingml/2006/main" noGrp="1"/>
          </p:cNvSpPr>
          <p:nvPr/>
        </p:nvSpPr>
        <p:spPr>
          <a:xfrm xmlns:a="http://schemas.openxmlformats.org/drawingml/2006/main">
            <a:off x="1809750" y="3752850"/>
            <a:ext cx="400050" cy="8239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4" name="">
            <a:extLst xmlns:a="http://schemas.openxmlformats.org/drawingml/2006/main">
              <a:ext uri="{FF2B5EF4-FFF2-40B4-BE49-F238E27FC236}">
                <a16:creationId xmlns:a16="http://schemas.microsoft.com/office/drawing/2014/main" id="{480FB449-2925-4C29-9DFC-4EB02FCA5AE9}"/>
              </a:ext>
            </a:extLst>
          </p:cNvPr>
          <p:cNvSpPr>
            <a:spLocks xmlns:a="http://schemas.openxmlformats.org/drawingml/2006/main" noGrp="1"/>
          </p:cNvSpPr>
          <p:nvPr/>
        </p:nvSpPr>
        <p:spPr>
          <a:xfrm xmlns:a="http://schemas.openxmlformats.org/drawingml/2006/main">
            <a:off x="2324100" y="3762375"/>
            <a:ext cx="2381250" cy="8048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III. Schuld</a:t>
            </a:r>
          </a:p>
        </p:txBody>
      </p:sp>
      <p:sp>
        <p:nvSpPr>
          <p:cNvPr id="15" name="">
            <a:extLst xmlns:a="http://schemas.openxmlformats.org/drawingml/2006/main">
              <a:ext uri="{FF2B5EF4-FFF2-40B4-BE49-F238E27FC236}">
                <a16:creationId xmlns:a16="http://schemas.microsoft.com/office/drawing/2014/main" id="{D2B2990F-C169-4B54-8882-2461C24D9C83}"/>
              </a:ext>
            </a:extLst>
          </p:cNvPr>
          <p:cNvSpPr>
            <a:spLocks xmlns:a="http://schemas.openxmlformats.org/drawingml/2006/main" noGrp="1"/>
          </p:cNvSpPr>
          <p:nvPr/>
        </p:nvSpPr>
        <p:spPr>
          <a:xfrm xmlns:a="http://schemas.openxmlformats.org/drawingml/2006/main">
            <a:off x="4819650" y="3762375"/>
            <a:ext cx="6419850" cy="8048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Persönliche Vorwerfbarkeit, Schuldfähigkeit, Verbotsirrtum und Entschuldigungsgründe werden geprüft.</a:t>
            </a:r>
          </a:p>
        </p:txBody>
      </p:sp>
      <p:sp>
        <p:nvSpPr>
          <p:cNvPr id="16" name="">
            <a:extLst xmlns:a="http://schemas.openxmlformats.org/drawingml/2006/main">
              <a:ext uri="{FF2B5EF4-FFF2-40B4-BE49-F238E27FC236}">
                <a16:creationId xmlns:a16="http://schemas.microsoft.com/office/drawing/2014/main" id="{6D606122-FB24-45C9-A216-D43A1179342D}"/>
              </a:ext>
            </a:extLst>
          </p:cNvPr>
          <p:cNvSpPr>
            <a:spLocks xmlns:a="http://schemas.openxmlformats.org/drawingml/2006/main" noGrp="1"/>
          </p:cNvSpPr>
          <p:nvPr/>
        </p:nvSpPr>
        <p:spPr>
          <a:xfrm xmlns:a="http://schemas.openxmlformats.org/drawingml/2006/main">
            <a:off x="1809750" y="4652963"/>
            <a:ext cx="400050" cy="823913"/>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7" name="">
            <a:extLst xmlns:a="http://schemas.openxmlformats.org/drawingml/2006/main">
              <a:ext uri="{FF2B5EF4-FFF2-40B4-BE49-F238E27FC236}">
                <a16:creationId xmlns:a16="http://schemas.microsoft.com/office/drawing/2014/main" id="{D9577F18-2F0A-424D-BF13-C557148CEF0C}"/>
              </a:ext>
            </a:extLst>
          </p:cNvPr>
          <p:cNvSpPr>
            <a:spLocks xmlns:a="http://schemas.openxmlformats.org/drawingml/2006/main" noGrp="1"/>
          </p:cNvSpPr>
          <p:nvPr/>
        </p:nvSpPr>
        <p:spPr>
          <a:xfrm xmlns:a="http://schemas.openxmlformats.org/drawingml/2006/main">
            <a:off x="1809750" y="4652963"/>
            <a:ext cx="400050" cy="8239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18" name="">
            <a:extLst xmlns:a="http://schemas.openxmlformats.org/drawingml/2006/main">
              <a:ext uri="{FF2B5EF4-FFF2-40B4-BE49-F238E27FC236}">
                <a16:creationId xmlns:a16="http://schemas.microsoft.com/office/drawing/2014/main" id="{E09C133A-9052-4A40-8978-D13AED8A4D02}"/>
              </a:ext>
            </a:extLst>
          </p:cNvPr>
          <p:cNvSpPr>
            <a:spLocks xmlns:a="http://schemas.openxmlformats.org/drawingml/2006/main" noGrp="1"/>
          </p:cNvSpPr>
          <p:nvPr/>
        </p:nvSpPr>
        <p:spPr>
          <a:xfrm xmlns:a="http://schemas.openxmlformats.org/drawingml/2006/main">
            <a:off x="2324100" y="4662488"/>
            <a:ext cx="2381250" cy="8048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IV. Weitere Voraussetzungen</a:t>
            </a:r>
          </a:p>
        </p:txBody>
      </p:sp>
      <p:sp>
        <p:nvSpPr>
          <p:cNvPr id="19" name="">
            <a:extLst xmlns:a="http://schemas.openxmlformats.org/drawingml/2006/main">
              <a:ext uri="{FF2B5EF4-FFF2-40B4-BE49-F238E27FC236}">
                <a16:creationId xmlns:a16="http://schemas.microsoft.com/office/drawing/2014/main" id="{CED2B130-1611-4F81-B738-5522107BB9DC}"/>
              </a:ext>
            </a:extLst>
          </p:cNvPr>
          <p:cNvSpPr>
            <a:spLocks xmlns:a="http://schemas.openxmlformats.org/drawingml/2006/main" noGrp="1"/>
          </p:cNvSpPr>
          <p:nvPr/>
        </p:nvSpPr>
        <p:spPr>
          <a:xfrm xmlns:a="http://schemas.openxmlformats.org/drawingml/2006/main">
            <a:off x="4819650" y="4662488"/>
            <a:ext cx="6419850" cy="8048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Strafantrag, Verjährung, Konkurrenzen oder besondere persönliche Merkmale können hinzukommen.</a:t>
            </a:r>
          </a:p>
        </p:txBody>
      </p:sp>
      <p:sp>
        <p:nvSpPr>
          <p:cNvPr id="20" name="">
            <a:extLst xmlns:a="http://schemas.openxmlformats.org/drawingml/2006/main">
              <a:ext uri="{FF2B5EF4-FFF2-40B4-BE49-F238E27FC236}">
                <a16:creationId xmlns:a16="http://schemas.microsoft.com/office/drawing/2014/main" id="{7C15F8D9-C622-4578-ACF1-E6A5B2CA7954}"/>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1" name="">
            <a:extLst xmlns:a="http://schemas.openxmlformats.org/drawingml/2006/main">
              <a:ext uri="{FF2B5EF4-FFF2-40B4-BE49-F238E27FC236}">
                <a16:creationId xmlns:a16="http://schemas.microsoft.com/office/drawing/2014/main" id="{D232FA86-9282-40BC-A5DE-F21C39C2F6CE}"/>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Jede Stufe wird erst nach positivem Abschluss der vorherigen geprüft.</a:t>
            </a:r>
          </a:p>
        </p:txBody>
      </p:sp>
    </p:spTree>
    <p:extLst>
      <p:ext uri="{BB962C8B-B14F-4D97-AF65-F5344CB8AC3E}">
        <p14:creationId xmlns:p14="http://schemas.microsoft.com/office/powerpoint/2010/main" val="43637646"/>
      </p:ext>
    </p:extLst>
  </p:cSld>
</p:sld>
</file>

<file path=ppt/slides/slide227.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Vorsatz und Fahrlässigkeit</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UNTERSCHEIDEN KÖNNEN</a:t>
            </a:r>
            <a:endParaRPr/>
          </a:p>
        </p:txBody>
      </p:sp>
      <p:sp>
        <p:nvSpPr>
          <p:cNvPr id="4" name="">
            <a:extLst xmlns:a="http://schemas.openxmlformats.org/drawingml/2006/main">
              <a:ext uri="{FF2B5EF4-FFF2-40B4-BE49-F238E27FC236}">
                <a16:creationId xmlns:a16="http://schemas.microsoft.com/office/drawing/2014/main" id="{91F83BAF-AFFF-4316-BE33-4E8684410F5B}"/>
              </a:ext>
            </a:extLst>
          </p:cNvPr>
          <p:cNvSpPr>
            <a:spLocks xmlns:a="http://schemas.openxmlformats.org/drawingml/2006/main" noGrp="1"/>
          </p:cNvSpPr>
          <p:nvPr/>
        </p:nvSpPr>
        <p:spPr>
          <a:xfrm xmlns:a="http://schemas.openxmlformats.org/drawingml/2006/main">
            <a:off x="1809750" y="2000250"/>
            <a:ext cx="4619625" cy="3286125"/>
          </a:xfrm>
          <a:prstGeom xmlns:a="http://schemas.openxmlformats.org/drawingml/2006/main" prst="roundRect">
            <a:avLst>
              <a:gd name="adj" fmla="val 2319"/>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7596485C-7486-452B-82CA-9D0DF38D1FB1}"/>
              </a:ext>
            </a:extLst>
          </p:cNvPr>
          <p:cNvSpPr>
            <a:spLocks xmlns:a="http://schemas.openxmlformats.org/drawingml/2006/main" noGrp="1"/>
          </p:cNvSpPr>
          <p:nvPr/>
        </p:nvSpPr>
        <p:spPr>
          <a:xfrm xmlns:a="http://schemas.openxmlformats.org/drawingml/2006/main">
            <a:off x="1809750" y="2000250"/>
            <a:ext cx="4619625"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6806DD7A-E382-4569-9A5B-6564652DCC05}"/>
              </a:ext>
            </a:extLst>
          </p:cNvPr>
          <p:cNvSpPr>
            <a:spLocks xmlns:a="http://schemas.openxmlformats.org/drawingml/2006/main" noGrp="1"/>
          </p:cNvSpPr>
          <p:nvPr/>
        </p:nvSpPr>
        <p:spPr>
          <a:xfrm xmlns:a="http://schemas.openxmlformats.org/drawingml/2006/main">
            <a:off x="1962150" y="2133600"/>
            <a:ext cx="4314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75" b="1">
                <a:solidFill>
                  <a:srgbClr val="003F6B"/>
                </a:solidFill>
              </a:defRPr>
            </a:pPr>
            <a:r>
              <a:rPr sz="1575" b="1">
                <a:solidFill>
                  <a:srgbClr val="003F6B"/>
                </a:solidFill>
              </a:rPr>
              <a:t>Vorsatz</a:t>
            </a:r>
          </a:p>
        </p:txBody>
      </p:sp>
      <p:sp>
        <p:nvSpPr>
          <p:cNvPr id="7" name="">
            <a:extLst xmlns:a="http://schemas.openxmlformats.org/drawingml/2006/main">
              <a:ext uri="{FF2B5EF4-FFF2-40B4-BE49-F238E27FC236}">
                <a16:creationId xmlns:a16="http://schemas.microsoft.com/office/drawing/2014/main" id="{F9B85935-A3F3-4C0A-9D98-EE85BF5817CE}"/>
              </a:ext>
            </a:extLst>
          </p:cNvPr>
          <p:cNvSpPr>
            <a:spLocks xmlns:a="http://schemas.openxmlformats.org/drawingml/2006/main" noGrp="1"/>
          </p:cNvSpPr>
          <p:nvPr/>
        </p:nvSpPr>
        <p:spPr>
          <a:xfrm xmlns:a="http://schemas.openxmlformats.org/drawingml/2006/main">
            <a:off x="1962150" y="2571750"/>
            <a:ext cx="4314825"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15232B"/>
                </a:solidFill>
              </a:defRPr>
            </a:pPr>
            <a:r>
              <a:rPr sz="1200">
                <a:solidFill>
                  <a:srgbClr val="15232B"/>
                </a:solidFill>
              </a:rPr>
              <a:t>• Die Person kennt die wesentlichen Tatumstände und will ihre Verwirklichung oder nimmt sie zumindest billigend in Kauf.</a:t>
            </a:r>
          </a:p>
          <a:p xmlns:a="http://schemas.openxmlformats.org/drawingml/2006/main">
            <a:pPr>
              <a:buNone/>
              <a:defRPr sz="1200">
                <a:solidFill>
                  <a:srgbClr val="15232B"/>
                </a:solidFill>
              </a:defRPr>
            </a:pPr>
            <a:r>
              <a:rPr sz="1200">
                <a:solidFill>
                  <a:srgbClr val="15232B"/>
                </a:solidFill>
              </a:rPr>
              <a:t>• Im medizinischen Alltag ist Vorsatz hinsichtlich eines Gesundheitsschadens regelmäßig fernliegend, kann aber bei bewussten Grenzüberschreitungen relevant werden.</a:t>
            </a:r>
          </a:p>
          <a:p xmlns:a="http://schemas.openxmlformats.org/drawingml/2006/main">
            <a:pPr>
              <a:buNone/>
              <a:defRPr sz="1200">
                <a:solidFill>
                  <a:srgbClr val="15232B"/>
                </a:solidFill>
              </a:defRPr>
            </a:pPr>
            <a:r>
              <a:rPr sz="1200">
                <a:solidFill>
                  <a:srgbClr val="15232B"/>
                </a:solidFill>
              </a:rPr>
              <a:t>• Vorsatz muss für jedes Tatbestandsmerkmal gesondert nachgewiesen werden.</a:t>
            </a:r>
          </a:p>
        </p:txBody>
      </p:sp>
      <p:sp>
        <p:nvSpPr>
          <p:cNvPr id="8" name="">
            <a:extLst xmlns:a="http://schemas.openxmlformats.org/drawingml/2006/main">
              <a:ext uri="{FF2B5EF4-FFF2-40B4-BE49-F238E27FC236}">
                <a16:creationId xmlns:a16="http://schemas.microsoft.com/office/drawing/2014/main" id="{F91B878A-A9C4-412D-851E-8F088C1629DC}"/>
              </a:ext>
            </a:extLst>
          </p:cNvPr>
          <p:cNvSpPr>
            <a:spLocks xmlns:a="http://schemas.openxmlformats.org/drawingml/2006/main" noGrp="1"/>
          </p:cNvSpPr>
          <p:nvPr/>
        </p:nvSpPr>
        <p:spPr>
          <a:xfrm xmlns:a="http://schemas.openxmlformats.org/drawingml/2006/main">
            <a:off x="6715125" y="2000250"/>
            <a:ext cx="4619625" cy="3286125"/>
          </a:xfrm>
          <a:prstGeom xmlns:a="http://schemas.openxmlformats.org/drawingml/2006/main" prst="roundRect">
            <a:avLst>
              <a:gd name="adj" fmla="val 2319"/>
            </a:avLst>
          </a:prstGeom>
          <a:noFill xmlns:a="http://schemas.openxmlformats.org/drawingml/2006/main"/>
          <a:ln xmlns:a="http://schemas.openxmlformats.org/drawingml/2006/main" w="9525">
            <a:solidFill>
              <a:srgbClr val="B9CAD2"/>
            </a:solidFill>
            <a:prstDash val="solid"/>
          </a:ln>
        </p:spPr>
      </p:sp>
      <p:sp>
        <p:nvSpPr>
          <p:cNvPr id="9" name="">
            <a:extLst xmlns:a="http://schemas.openxmlformats.org/drawingml/2006/main">
              <a:ext uri="{FF2B5EF4-FFF2-40B4-BE49-F238E27FC236}">
                <a16:creationId xmlns:a16="http://schemas.microsoft.com/office/drawing/2014/main" id="{94859D6E-8838-4087-84E9-BB277E432525}"/>
              </a:ext>
            </a:extLst>
          </p:cNvPr>
          <p:cNvSpPr>
            <a:spLocks xmlns:a="http://schemas.openxmlformats.org/drawingml/2006/main" noGrp="1"/>
          </p:cNvSpPr>
          <p:nvPr/>
        </p:nvSpPr>
        <p:spPr>
          <a:xfrm xmlns:a="http://schemas.openxmlformats.org/drawingml/2006/main">
            <a:off x="6715125" y="2000250"/>
            <a:ext cx="4619625"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7E5524F9-A6BC-48D2-90C3-F85CFC1307A0}"/>
              </a:ext>
            </a:extLst>
          </p:cNvPr>
          <p:cNvSpPr>
            <a:spLocks xmlns:a="http://schemas.openxmlformats.org/drawingml/2006/main" noGrp="1"/>
          </p:cNvSpPr>
          <p:nvPr/>
        </p:nvSpPr>
        <p:spPr>
          <a:xfrm xmlns:a="http://schemas.openxmlformats.org/drawingml/2006/main">
            <a:off x="6867525" y="2133600"/>
            <a:ext cx="4314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75" b="1">
                <a:solidFill>
                  <a:srgbClr val="003F6B"/>
                </a:solidFill>
              </a:defRPr>
            </a:pPr>
            <a:r>
              <a:rPr sz="1575" b="1">
                <a:solidFill>
                  <a:srgbClr val="003F6B"/>
                </a:solidFill>
              </a:rPr>
              <a:t>Fahrlässigkeit</a:t>
            </a:r>
          </a:p>
        </p:txBody>
      </p:sp>
      <p:sp>
        <p:nvSpPr>
          <p:cNvPr id="11" name="">
            <a:extLst xmlns:a="http://schemas.openxmlformats.org/drawingml/2006/main">
              <a:ext uri="{FF2B5EF4-FFF2-40B4-BE49-F238E27FC236}">
                <a16:creationId xmlns:a16="http://schemas.microsoft.com/office/drawing/2014/main" id="{348B30C2-B027-42C9-832F-7184EAC4E5DF}"/>
              </a:ext>
            </a:extLst>
          </p:cNvPr>
          <p:cNvSpPr>
            <a:spLocks xmlns:a="http://schemas.openxmlformats.org/drawingml/2006/main" noGrp="1"/>
          </p:cNvSpPr>
          <p:nvPr/>
        </p:nvSpPr>
        <p:spPr>
          <a:xfrm xmlns:a="http://schemas.openxmlformats.org/drawingml/2006/main">
            <a:off x="6867525" y="2571750"/>
            <a:ext cx="4314825"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15232B"/>
                </a:solidFill>
              </a:defRPr>
            </a:pPr>
            <a:r>
              <a:rPr sz="1200">
                <a:solidFill>
                  <a:srgbClr val="15232B"/>
                </a:solidFill>
              </a:rPr>
              <a:t>• Die im Verkehr erforderliche Sorgfalt wird objektiv verletzt, obwohl Erfolg vorhersehbar und vermeidbar war.</a:t>
            </a:r>
          </a:p>
          <a:p xmlns:a="http://schemas.openxmlformats.org/drawingml/2006/main">
            <a:pPr>
              <a:buNone/>
              <a:defRPr sz="1200">
                <a:solidFill>
                  <a:srgbClr val="15232B"/>
                </a:solidFill>
              </a:defRPr>
            </a:pPr>
            <a:r>
              <a:rPr sz="1200">
                <a:solidFill>
                  <a:srgbClr val="15232B"/>
                </a:solidFill>
              </a:rPr>
              <a:t>• Zusätzlich muss die konkrete Person nach ihren Fähigkeiten und Umständen persönlich vorwerfbar gehandelt haben.</a:t>
            </a:r>
          </a:p>
          <a:p xmlns:a="http://schemas.openxmlformats.org/drawingml/2006/main">
            <a:pPr>
              <a:buNone/>
              <a:defRPr sz="1200">
                <a:solidFill>
                  <a:srgbClr val="15232B"/>
                </a:solidFill>
              </a:defRPr>
            </a:pPr>
            <a:r>
              <a:rPr sz="1200">
                <a:solidFill>
                  <a:srgbClr val="15232B"/>
                </a:solidFill>
              </a:rPr>
              <a:t>• § 229 und § 222 StGB bestrafen Fahrlässigkeit ausdrücklich.</a:t>
            </a:r>
          </a:p>
        </p:txBody>
      </p:sp>
      <p:sp>
        <p:nvSpPr>
          <p:cNvPr id="12" name="">
            <a:extLst xmlns:a="http://schemas.openxmlformats.org/drawingml/2006/main">
              <a:ext uri="{FF2B5EF4-FFF2-40B4-BE49-F238E27FC236}">
                <a16:creationId xmlns:a16="http://schemas.microsoft.com/office/drawing/2014/main" id="{AF3BE62D-385C-45DA-8843-E0ABDAF096B7}"/>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13" name="">
            <a:extLst xmlns:a="http://schemas.openxmlformats.org/drawingml/2006/main">
              <a:ext uri="{FF2B5EF4-FFF2-40B4-BE49-F238E27FC236}">
                <a16:creationId xmlns:a16="http://schemas.microsoft.com/office/drawing/2014/main" id="{C15A522C-ABA2-4329-BA4E-F095D681C764}"/>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Wissen um ein Risiko ist nicht automatisch bedingter Vorsatz; innere Haltung und konkrete Umstände müssen festgestellt werden.</a:t>
            </a:r>
          </a:p>
        </p:txBody>
      </p:sp>
    </p:spTree>
    <p:extLst>
      <p:ext uri="{BB962C8B-B14F-4D97-AF65-F5344CB8AC3E}">
        <p14:creationId xmlns:p14="http://schemas.microsoft.com/office/powerpoint/2010/main" val="43637646"/>
      </p:ext>
    </p:extLst>
  </p:cSld>
</p:sld>
</file>

<file path=ppt/slides/slide228.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Vorsätzliche Körperverletzung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NORM IM FOKUS · § 223 StGB</a:t>
            </a:r>
            <a:endParaRPr/>
          </a:p>
        </p:txBody>
      </p:sp>
      <p:sp>
        <p:nvSpPr>
          <p:cNvPr id="4" name="">
            <a:extLst xmlns:a="http://schemas.openxmlformats.org/drawingml/2006/main">
              <a:ext uri="{FF2B5EF4-FFF2-40B4-BE49-F238E27FC236}">
                <a16:creationId xmlns:a16="http://schemas.microsoft.com/office/drawing/2014/main" id="{E3A8F5EE-7F96-4BAF-AF0B-5ABF833B5FF1}"/>
              </a:ext>
            </a:extLst>
          </p:cNvPr>
          <p:cNvSpPr>
            <a:spLocks xmlns:a="http://schemas.openxmlformats.org/drawingml/2006/main" noGrp="1"/>
          </p:cNvSpPr>
          <p:nvPr/>
        </p:nvSpPr>
        <p:spPr>
          <a:xfrm xmlns:a="http://schemas.openxmlformats.org/drawingml/2006/main">
            <a:off x="1809750" y="1924050"/>
            <a:ext cx="2286000" cy="704850"/>
          </a:xfrm>
          <a:prstGeom xmlns:a="http://schemas.openxmlformats.org/drawingml/2006/main" prst="roundRect">
            <a:avLst>
              <a:gd name="adj" fmla="val 10811"/>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3662E8D4-AA25-4B37-A391-4C0AB1A72A5F}"/>
              </a:ext>
            </a:extLst>
          </p:cNvPr>
          <p:cNvSpPr>
            <a:spLocks xmlns:a="http://schemas.openxmlformats.org/drawingml/2006/main" noGrp="1"/>
          </p:cNvSpPr>
          <p:nvPr/>
        </p:nvSpPr>
        <p:spPr>
          <a:xfrm xmlns:a="http://schemas.openxmlformats.org/drawingml/2006/main">
            <a:off x="1924050" y="1971675"/>
            <a:ext cx="2057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75" b="1">
                <a:solidFill>
                  <a:srgbClr val="FFFFFF"/>
                </a:solidFill>
              </a:defRPr>
            </a:pPr>
            <a:r>
              <a:rPr sz="1875" b="1">
                <a:solidFill>
                  <a:srgbClr val="FFFFFF"/>
                </a:solidFill>
              </a:rPr>
              <a:t>§ 223 StGB</a:t>
            </a:r>
          </a:p>
        </p:txBody>
      </p:sp>
      <p:sp>
        <p:nvSpPr>
          <p:cNvPr id="6" name="">
            <a:extLst xmlns:a="http://schemas.openxmlformats.org/drawingml/2006/main">
              <a:ext uri="{FF2B5EF4-FFF2-40B4-BE49-F238E27FC236}">
                <a16:creationId xmlns:a16="http://schemas.microsoft.com/office/drawing/2014/main" id="{083217F9-47F2-41FB-A3C6-783FA396092D}"/>
              </a:ext>
            </a:extLst>
          </p:cNvPr>
          <p:cNvSpPr>
            <a:spLocks xmlns:a="http://schemas.openxmlformats.org/drawingml/2006/main" noGrp="1"/>
          </p:cNvSpPr>
          <p:nvPr/>
        </p:nvSpPr>
        <p:spPr>
          <a:xfrm xmlns:a="http://schemas.openxmlformats.org/drawingml/2006/main">
            <a:off x="4362450" y="1924050"/>
            <a:ext cx="6972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15">
                <a:solidFill>
                  <a:srgbClr val="667680"/>
                </a:solidFill>
              </a:defRPr>
            </a:pPr>
            <a:r>
              <a:rPr sz="1215">
                <a:solidFill>
                  <a:srgbClr val="667680"/>
                </a:solidFill>
              </a:rPr>
              <a:t>Die Norm schützt körperliche Unversehrtheit und Gesundheit vor vorsätzlicher Beeinträchtigung.</a:t>
            </a:r>
          </a:p>
        </p:txBody>
      </p:sp>
      <p:sp>
        <p:nvSpPr>
          <p:cNvPr id="7" name="">
            <a:extLst xmlns:a="http://schemas.openxmlformats.org/drawingml/2006/main">
              <a:ext uri="{FF2B5EF4-FFF2-40B4-BE49-F238E27FC236}">
                <a16:creationId xmlns:a16="http://schemas.microsoft.com/office/drawing/2014/main" id="{8765623C-023F-420C-8D30-6EF92434364F}"/>
              </a:ext>
            </a:extLst>
          </p:cNvPr>
          <p:cNvSpPr>
            <a:spLocks xmlns:a="http://schemas.openxmlformats.org/drawingml/2006/main" noGrp="1"/>
          </p:cNvSpPr>
          <p:nvPr/>
        </p:nvSpPr>
        <p:spPr>
          <a:xfrm xmlns:a="http://schemas.openxmlformats.org/drawingml/2006/main">
            <a:off x="1809750" y="2781300"/>
            <a:ext cx="476250" cy="414338"/>
          </a:xfrm>
          <a:prstGeom xmlns:a="http://schemas.openxmlformats.org/drawingml/2006/main" prst="roundRect">
            <a:avLst>
              <a:gd name="adj" fmla="val 18391"/>
            </a:avLst>
          </a:prstGeom>
          <a:solidFill xmlns:a="http://schemas.openxmlformats.org/drawingml/2006/main">
            <a:srgbClr val="00B2BB"/>
          </a:solidFill>
          <a:ln xmlns:a="http://schemas.openxmlformats.org/drawingml/2006/main" w="0">
            <a:solidFill>
              <a:srgbClr val="00B2BB"/>
            </a:solidFill>
            <a:prstDash val="solid"/>
          </a:ln>
        </p:spPr>
      </p:sp>
      <p:sp>
        <p:nvSpPr>
          <p:cNvPr id="8" name="">
            <a:extLst xmlns:a="http://schemas.openxmlformats.org/drawingml/2006/main">
              <a:ext uri="{FF2B5EF4-FFF2-40B4-BE49-F238E27FC236}">
                <a16:creationId xmlns:a16="http://schemas.microsoft.com/office/drawing/2014/main" id="{35605FB2-E25D-4C15-AECB-E9D7CD51F4B4}"/>
              </a:ext>
            </a:extLst>
          </p:cNvPr>
          <p:cNvSpPr>
            <a:spLocks xmlns:a="http://schemas.openxmlformats.org/drawingml/2006/main" noGrp="1"/>
          </p:cNvSpPr>
          <p:nvPr/>
        </p:nvSpPr>
        <p:spPr>
          <a:xfrm xmlns:a="http://schemas.openxmlformats.org/drawingml/2006/main">
            <a:off x="1809750" y="2781300"/>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9" name="">
            <a:extLst xmlns:a="http://schemas.openxmlformats.org/drawingml/2006/main">
              <a:ext uri="{FF2B5EF4-FFF2-40B4-BE49-F238E27FC236}">
                <a16:creationId xmlns:a16="http://schemas.microsoft.com/office/drawing/2014/main" id="{AB3CFD22-8AF9-4CF3-9693-B243AF809E8A}"/>
              </a:ext>
            </a:extLst>
          </p:cNvPr>
          <p:cNvSpPr>
            <a:spLocks xmlns:a="http://schemas.openxmlformats.org/drawingml/2006/main" noGrp="1"/>
          </p:cNvSpPr>
          <p:nvPr/>
        </p:nvSpPr>
        <p:spPr>
          <a:xfrm xmlns:a="http://schemas.openxmlformats.org/drawingml/2006/main">
            <a:off x="2438400" y="2790825"/>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Körperliche Misshandlung</a:t>
            </a:r>
          </a:p>
        </p:txBody>
      </p:sp>
      <p:sp>
        <p:nvSpPr>
          <p:cNvPr id="10" name="">
            <a:extLst xmlns:a="http://schemas.openxmlformats.org/drawingml/2006/main">
              <a:ext uri="{FF2B5EF4-FFF2-40B4-BE49-F238E27FC236}">
                <a16:creationId xmlns:a16="http://schemas.microsoft.com/office/drawing/2014/main" id="{0CE8E898-9404-4CA5-A13B-DC21AADDBB3E}"/>
              </a:ext>
            </a:extLst>
          </p:cNvPr>
          <p:cNvSpPr>
            <a:spLocks xmlns:a="http://schemas.openxmlformats.org/drawingml/2006/main" noGrp="1"/>
          </p:cNvSpPr>
          <p:nvPr/>
        </p:nvSpPr>
        <p:spPr>
          <a:xfrm xmlns:a="http://schemas.openxmlformats.org/drawingml/2006/main">
            <a:off x="4591050" y="2790825"/>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Eine üble, unangemessene Behandlung beeinträchtigt körperliches Wohlbefinden oder Unversehrtheit mehr als unerheblich.</a:t>
            </a:r>
          </a:p>
        </p:txBody>
      </p:sp>
      <p:sp>
        <p:nvSpPr>
          <p:cNvPr id="11" name="">
            <a:extLst xmlns:a="http://schemas.openxmlformats.org/drawingml/2006/main">
              <a:ext uri="{FF2B5EF4-FFF2-40B4-BE49-F238E27FC236}">
                <a16:creationId xmlns:a16="http://schemas.microsoft.com/office/drawing/2014/main" id="{25106A8F-54F9-4A40-81AD-E095D03309DE}"/>
              </a:ext>
            </a:extLst>
          </p:cNvPr>
          <p:cNvSpPr>
            <a:spLocks xmlns:a="http://schemas.openxmlformats.org/drawingml/2006/main" noGrp="1"/>
          </p:cNvSpPr>
          <p:nvPr/>
        </p:nvSpPr>
        <p:spPr>
          <a:xfrm xmlns:a="http://schemas.openxmlformats.org/drawingml/2006/main">
            <a:off x="1809750" y="3271838"/>
            <a:ext cx="476250" cy="414338"/>
          </a:xfrm>
          <a:prstGeom xmlns:a="http://schemas.openxmlformats.org/drawingml/2006/main" prst="roundRect">
            <a:avLst>
              <a:gd name="adj" fmla="val 18391"/>
            </a:avLst>
          </a:prstGeom>
          <a:solidFill xmlns:a="http://schemas.openxmlformats.org/drawingml/2006/main">
            <a:srgbClr val="003F6B"/>
          </a:solidFill>
          <a:ln xmlns:a="http://schemas.openxmlformats.org/drawingml/2006/main" w="0">
            <a:solidFill>
              <a:srgbClr val="003F6B"/>
            </a:solidFill>
            <a:prstDash val="solid"/>
          </a:ln>
        </p:spPr>
      </p:sp>
      <p:sp>
        <p:nvSpPr>
          <p:cNvPr id="12" name="">
            <a:extLst xmlns:a="http://schemas.openxmlformats.org/drawingml/2006/main">
              <a:ext uri="{FF2B5EF4-FFF2-40B4-BE49-F238E27FC236}">
                <a16:creationId xmlns:a16="http://schemas.microsoft.com/office/drawing/2014/main" id="{1946171F-9883-4503-A179-4351C5E75D2B}"/>
              </a:ext>
            </a:extLst>
          </p:cNvPr>
          <p:cNvSpPr>
            <a:spLocks xmlns:a="http://schemas.openxmlformats.org/drawingml/2006/main" noGrp="1"/>
          </p:cNvSpPr>
          <p:nvPr/>
        </p:nvSpPr>
        <p:spPr>
          <a:xfrm xmlns:a="http://schemas.openxmlformats.org/drawingml/2006/main">
            <a:off x="1809750" y="3271838"/>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3" name="">
            <a:extLst xmlns:a="http://schemas.openxmlformats.org/drawingml/2006/main">
              <a:ext uri="{FF2B5EF4-FFF2-40B4-BE49-F238E27FC236}">
                <a16:creationId xmlns:a16="http://schemas.microsoft.com/office/drawing/2014/main" id="{351CDF5B-3836-4BF2-A090-DAA4C61FA026}"/>
              </a:ext>
            </a:extLst>
          </p:cNvPr>
          <p:cNvSpPr>
            <a:spLocks xmlns:a="http://schemas.openxmlformats.org/drawingml/2006/main" noGrp="1"/>
          </p:cNvSpPr>
          <p:nvPr/>
        </p:nvSpPr>
        <p:spPr>
          <a:xfrm xmlns:a="http://schemas.openxmlformats.org/drawingml/2006/main">
            <a:off x="2438400" y="3281363"/>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Gesundheitsschädigung</a:t>
            </a:r>
          </a:p>
        </p:txBody>
      </p:sp>
      <p:sp>
        <p:nvSpPr>
          <p:cNvPr id="14" name="">
            <a:extLst xmlns:a="http://schemas.openxmlformats.org/drawingml/2006/main">
              <a:ext uri="{FF2B5EF4-FFF2-40B4-BE49-F238E27FC236}">
                <a16:creationId xmlns:a16="http://schemas.microsoft.com/office/drawing/2014/main" id="{071C3D4D-9F3E-43FD-87F5-5D776ABCDD87}"/>
              </a:ext>
            </a:extLst>
          </p:cNvPr>
          <p:cNvSpPr>
            <a:spLocks xmlns:a="http://schemas.openxmlformats.org/drawingml/2006/main" noGrp="1"/>
          </p:cNvSpPr>
          <p:nvPr/>
        </p:nvSpPr>
        <p:spPr>
          <a:xfrm xmlns:a="http://schemas.openxmlformats.org/drawingml/2006/main">
            <a:off x="4591050" y="3281363"/>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Ein pathologischer Zustand wird hervorgerufen oder gesteigert.</a:t>
            </a:r>
          </a:p>
        </p:txBody>
      </p:sp>
      <p:sp>
        <p:nvSpPr>
          <p:cNvPr id="15" name="">
            <a:extLst xmlns:a="http://schemas.openxmlformats.org/drawingml/2006/main">
              <a:ext uri="{FF2B5EF4-FFF2-40B4-BE49-F238E27FC236}">
                <a16:creationId xmlns:a16="http://schemas.microsoft.com/office/drawing/2014/main" id="{42E2C399-E697-4AEA-8021-730F801E3453}"/>
              </a:ext>
            </a:extLst>
          </p:cNvPr>
          <p:cNvSpPr>
            <a:spLocks xmlns:a="http://schemas.openxmlformats.org/drawingml/2006/main" noGrp="1"/>
          </p:cNvSpPr>
          <p:nvPr/>
        </p:nvSpPr>
        <p:spPr>
          <a:xfrm xmlns:a="http://schemas.openxmlformats.org/drawingml/2006/main">
            <a:off x="1809750" y="3762375"/>
            <a:ext cx="476250" cy="414338"/>
          </a:xfrm>
          <a:prstGeom xmlns:a="http://schemas.openxmlformats.org/drawingml/2006/main" prst="roundRect">
            <a:avLst>
              <a:gd name="adj" fmla="val 18391"/>
            </a:avLst>
          </a:prstGeom>
          <a:solidFill xmlns:a="http://schemas.openxmlformats.org/drawingml/2006/main">
            <a:srgbClr val="00B2BB"/>
          </a:solidFill>
          <a:ln xmlns:a="http://schemas.openxmlformats.org/drawingml/2006/main" w="0">
            <a:solidFill>
              <a:srgbClr val="00B2BB"/>
            </a:solidFill>
            <a:prstDash val="solid"/>
          </a:ln>
        </p:spPr>
      </p:sp>
      <p:sp>
        <p:nvSpPr>
          <p:cNvPr id="16" name="">
            <a:extLst xmlns:a="http://schemas.openxmlformats.org/drawingml/2006/main">
              <a:ext uri="{FF2B5EF4-FFF2-40B4-BE49-F238E27FC236}">
                <a16:creationId xmlns:a16="http://schemas.microsoft.com/office/drawing/2014/main" id="{016653FC-A560-49D1-AA3F-3DB818B7915D}"/>
              </a:ext>
            </a:extLst>
          </p:cNvPr>
          <p:cNvSpPr>
            <a:spLocks xmlns:a="http://schemas.openxmlformats.org/drawingml/2006/main" noGrp="1"/>
          </p:cNvSpPr>
          <p:nvPr/>
        </p:nvSpPr>
        <p:spPr>
          <a:xfrm xmlns:a="http://schemas.openxmlformats.org/drawingml/2006/main">
            <a:off x="1809750" y="3762375"/>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7" name="">
            <a:extLst xmlns:a="http://schemas.openxmlformats.org/drawingml/2006/main">
              <a:ext uri="{FF2B5EF4-FFF2-40B4-BE49-F238E27FC236}">
                <a16:creationId xmlns:a16="http://schemas.microsoft.com/office/drawing/2014/main" id="{EA1BD7D7-A1A3-40DB-A0B9-D6812CBD2D45}"/>
              </a:ext>
            </a:extLst>
          </p:cNvPr>
          <p:cNvSpPr>
            <a:spLocks xmlns:a="http://schemas.openxmlformats.org/drawingml/2006/main" noGrp="1"/>
          </p:cNvSpPr>
          <p:nvPr/>
        </p:nvSpPr>
        <p:spPr>
          <a:xfrm xmlns:a="http://schemas.openxmlformats.org/drawingml/2006/main">
            <a:off x="2438400" y="3771900"/>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Vorsatz</a:t>
            </a:r>
          </a:p>
        </p:txBody>
      </p:sp>
      <p:sp>
        <p:nvSpPr>
          <p:cNvPr id="18" name="">
            <a:extLst xmlns:a="http://schemas.openxmlformats.org/drawingml/2006/main">
              <a:ext uri="{FF2B5EF4-FFF2-40B4-BE49-F238E27FC236}">
                <a16:creationId xmlns:a16="http://schemas.microsoft.com/office/drawing/2014/main" id="{802829CC-B663-4DFC-A086-1DF230127D29}"/>
              </a:ext>
            </a:extLst>
          </p:cNvPr>
          <p:cNvSpPr>
            <a:spLocks xmlns:a="http://schemas.openxmlformats.org/drawingml/2006/main" noGrp="1"/>
          </p:cNvSpPr>
          <p:nvPr/>
        </p:nvSpPr>
        <p:spPr>
          <a:xfrm xmlns:a="http://schemas.openxmlformats.org/drawingml/2006/main">
            <a:off x="4591050" y="3771900"/>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Die Person muss die tatsächlichen Umstände kennen und die Beeinträchtigung wollen oder billigend in Kauf nehmen.</a:t>
            </a:r>
          </a:p>
        </p:txBody>
      </p:sp>
      <p:sp>
        <p:nvSpPr>
          <p:cNvPr id="19" name="">
            <a:extLst xmlns:a="http://schemas.openxmlformats.org/drawingml/2006/main">
              <a:ext uri="{FF2B5EF4-FFF2-40B4-BE49-F238E27FC236}">
                <a16:creationId xmlns:a16="http://schemas.microsoft.com/office/drawing/2014/main" id="{F0E2A297-BED3-4357-9386-5E50936EA98E}"/>
              </a:ext>
            </a:extLst>
          </p:cNvPr>
          <p:cNvSpPr>
            <a:spLocks xmlns:a="http://schemas.openxmlformats.org/drawingml/2006/main" noGrp="1"/>
          </p:cNvSpPr>
          <p:nvPr/>
        </p:nvSpPr>
        <p:spPr>
          <a:xfrm xmlns:a="http://schemas.openxmlformats.org/drawingml/2006/main">
            <a:off x="1809750" y="4252913"/>
            <a:ext cx="476250" cy="414338"/>
          </a:xfrm>
          <a:prstGeom xmlns:a="http://schemas.openxmlformats.org/drawingml/2006/main" prst="roundRect">
            <a:avLst>
              <a:gd name="adj" fmla="val 18391"/>
            </a:avLst>
          </a:prstGeom>
          <a:solidFill xmlns:a="http://schemas.openxmlformats.org/drawingml/2006/main">
            <a:srgbClr val="003F6B"/>
          </a:solidFill>
          <a:ln xmlns:a="http://schemas.openxmlformats.org/drawingml/2006/main" w="0">
            <a:solidFill>
              <a:srgbClr val="003F6B"/>
            </a:solidFill>
            <a:prstDash val="solid"/>
          </a:ln>
        </p:spPr>
      </p:sp>
      <p:sp>
        <p:nvSpPr>
          <p:cNvPr id="20" name="">
            <a:extLst xmlns:a="http://schemas.openxmlformats.org/drawingml/2006/main">
              <a:ext uri="{FF2B5EF4-FFF2-40B4-BE49-F238E27FC236}">
                <a16:creationId xmlns:a16="http://schemas.microsoft.com/office/drawing/2014/main" id="{7CCC0F0D-25C3-4500-923C-22E7D1BDA9AF}"/>
              </a:ext>
            </a:extLst>
          </p:cNvPr>
          <p:cNvSpPr>
            <a:spLocks xmlns:a="http://schemas.openxmlformats.org/drawingml/2006/main" noGrp="1"/>
          </p:cNvSpPr>
          <p:nvPr/>
        </p:nvSpPr>
        <p:spPr>
          <a:xfrm xmlns:a="http://schemas.openxmlformats.org/drawingml/2006/main">
            <a:off x="1809750" y="4252913"/>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21" name="">
            <a:extLst xmlns:a="http://schemas.openxmlformats.org/drawingml/2006/main">
              <a:ext uri="{FF2B5EF4-FFF2-40B4-BE49-F238E27FC236}">
                <a16:creationId xmlns:a16="http://schemas.microsoft.com/office/drawing/2014/main" id="{8A9064E7-3F0A-4237-AB53-625604167E06}"/>
              </a:ext>
            </a:extLst>
          </p:cNvPr>
          <p:cNvSpPr>
            <a:spLocks xmlns:a="http://schemas.openxmlformats.org/drawingml/2006/main" noGrp="1"/>
          </p:cNvSpPr>
          <p:nvPr/>
        </p:nvSpPr>
        <p:spPr>
          <a:xfrm xmlns:a="http://schemas.openxmlformats.org/drawingml/2006/main">
            <a:off x="2438400" y="4262438"/>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Rechtfertigung</a:t>
            </a:r>
          </a:p>
        </p:txBody>
      </p:sp>
      <p:sp>
        <p:nvSpPr>
          <p:cNvPr id="22" name="">
            <a:extLst xmlns:a="http://schemas.openxmlformats.org/drawingml/2006/main">
              <a:ext uri="{FF2B5EF4-FFF2-40B4-BE49-F238E27FC236}">
                <a16:creationId xmlns:a16="http://schemas.microsoft.com/office/drawing/2014/main" id="{A1E377F5-9816-4D0B-907E-C82DC7EDF1FC}"/>
              </a:ext>
            </a:extLst>
          </p:cNvPr>
          <p:cNvSpPr>
            <a:spLocks xmlns:a="http://schemas.openxmlformats.org/drawingml/2006/main" noGrp="1"/>
          </p:cNvSpPr>
          <p:nvPr/>
        </p:nvSpPr>
        <p:spPr>
          <a:xfrm xmlns:a="http://schemas.openxmlformats.org/drawingml/2006/main">
            <a:off x="4591050" y="4262438"/>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Bei medizinischen Eingriffen steht regelmäßig die wirksame Einwilligung im Mittelpunkt.</a:t>
            </a:r>
          </a:p>
        </p:txBody>
      </p:sp>
      <p:sp>
        <p:nvSpPr>
          <p:cNvPr id="23" name="">
            <a:extLst xmlns:a="http://schemas.openxmlformats.org/drawingml/2006/main">
              <a:ext uri="{FF2B5EF4-FFF2-40B4-BE49-F238E27FC236}">
                <a16:creationId xmlns:a16="http://schemas.microsoft.com/office/drawing/2014/main" id="{CDB6121A-9F3D-46D9-B101-5461660E0C03}"/>
              </a:ext>
            </a:extLst>
          </p:cNvPr>
          <p:cNvSpPr>
            <a:spLocks xmlns:a="http://schemas.openxmlformats.org/drawingml/2006/main" noGrp="1"/>
          </p:cNvSpPr>
          <p:nvPr/>
        </p:nvSpPr>
        <p:spPr>
          <a:xfrm xmlns:a="http://schemas.openxmlformats.org/drawingml/2006/main">
            <a:off x="1809750" y="4781550"/>
            <a:ext cx="9525000" cy="666750"/>
          </a:xfrm>
          <a:prstGeom xmlns:a="http://schemas.openxmlformats.org/drawingml/2006/main" prst="roundRect">
            <a:avLst>
              <a:gd name="adj" fmla="val 11429"/>
            </a:avLst>
          </a:prstGeom>
          <a:solidFill xmlns:a="http://schemas.openxmlformats.org/drawingml/2006/main">
            <a:srgbClr val="EAF6FB"/>
          </a:solidFill>
          <a:ln xmlns:a="http://schemas.openxmlformats.org/drawingml/2006/main" w="9525">
            <a:solidFill>
              <a:srgbClr val="00B2BB"/>
            </a:solidFill>
            <a:prstDash val="solid"/>
          </a:ln>
        </p:spPr>
      </p:sp>
      <p:sp>
        <p:nvSpPr>
          <p:cNvPr id="24" name="">
            <a:extLst xmlns:a="http://schemas.openxmlformats.org/drawingml/2006/main">
              <a:ext uri="{FF2B5EF4-FFF2-40B4-BE49-F238E27FC236}">
                <a16:creationId xmlns:a16="http://schemas.microsoft.com/office/drawing/2014/main" id="{0CB9DA61-2063-49E0-A328-BBFFBB92526C}"/>
              </a:ext>
            </a:extLst>
          </p:cNvPr>
          <p:cNvSpPr>
            <a:spLocks xmlns:a="http://schemas.openxmlformats.org/drawingml/2006/main" noGrp="1"/>
          </p:cNvSpPr>
          <p:nvPr/>
        </p:nvSpPr>
        <p:spPr>
          <a:xfrm xmlns:a="http://schemas.openxmlformats.org/drawingml/2006/main">
            <a:off x="1981200" y="4829175"/>
            <a:ext cx="9182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065">
                <a:solidFill>
                  <a:srgbClr val="15232B"/>
                </a:solidFill>
              </a:defRPr>
            </a:pPr>
            <a:r>
              <a:rPr sz="1065">
                <a:solidFill>
                  <a:srgbClr val="15232B"/>
                </a:solidFill>
              </a:rPr>
              <a:t>Beispiel · Beispiel: Ein indizierter Eingriff wird technisch fachgerecht, aber außerhalb einer wirksamen Einwilligung durchgeführt; Tatbestand und Rechtfertigung werden getrennt geprüft.</a:t>
            </a:r>
          </a:p>
        </p:txBody>
      </p:sp>
      <p:sp>
        <p:nvSpPr>
          <p:cNvPr id="25" name="">
            <a:extLst xmlns:a="http://schemas.openxmlformats.org/drawingml/2006/main">
              <a:ext uri="{FF2B5EF4-FFF2-40B4-BE49-F238E27FC236}">
                <a16:creationId xmlns:a16="http://schemas.microsoft.com/office/drawing/2014/main" id="{70853B57-0AB2-4224-95ED-06831E2BFCA0}"/>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6" name="">
            <a:extLst xmlns:a="http://schemas.openxmlformats.org/drawingml/2006/main">
              <a:ext uri="{FF2B5EF4-FFF2-40B4-BE49-F238E27FC236}">
                <a16:creationId xmlns:a16="http://schemas.microsoft.com/office/drawing/2014/main" id="{1771302C-9598-4842-A538-3C367DEB22F1}"/>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Die medizinische Indikation ersetzt nicht die strafrechtliche Rechtfertigungsprüfung.</a:t>
            </a:r>
          </a:p>
        </p:txBody>
      </p:sp>
    </p:spTree>
    <p:extLst>
      <p:ext uri="{BB962C8B-B14F-4D97-AF65-F5344CB8AC3E}">
        <p14:creationId xmlns:p14="http://schemas.microsoft.com/office/powerpoint/2010/main" val="43637646"/>
      </p:ext>
    </p:extLst>
  </p:cSld>
</p:sld>
</file>

<file path=ppt/slides/slide229.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 223 StGB beim Heileingriff</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PRÜFUNGSSCHEMA · KÖRPERVERLETZUNG</a:t>
            </a:r>
            <a:endParaRPr/>
          </a:p>
        </p:txBody>
      </p:sp>
      <p:sp>
        <p:nvSpPr>
          <p:cNvPr id="4" name="">
            <a:extLst xmlns:a="http://schemas.openxmlformats.org/drawingml/2006/main">
              <a:ext uri="{FF2B5EF4-FFF2-40B4-BE49-F238E27FC236}">
                <a16:creationId xmlns:a16="http://schemas.microsoft.com/office/drawing/2014/main" id="{5FEC988D-DF0A-4AF1-8E6D-323B8134515D}"/>
              </a:ext>
            </a:extLst>
          </p:cNvPr>
          <p:cNvSpPr>
            <a:spLocks xmlns:a="http://schemas.openxmlformats.org/drawingml/2006/main" noGrp="1"/>
          </p:cNvSpPr>
          <p:nvPr/>
        </p:nvSpPr>
        <p:spPr>
          <a:xfrm xmlns:a="http://schemas.openxmlformats.org/drawingml/2006/main">
            <a:off x="1809750" y="195262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9DE75D6A-A584-44F2-B00F-627134911190}"/>
              </a:ext>
            </a:extLst>
          </p:cNvPr>
          <p:cNvSpPr>
            <a:spLocks xmlns:a="http://schemas.openxmlformats.org/drawingml/2006/main" noGrp="1"/>
          </p:cNvSpPr>
          <p:nvPr/>
        </p:nvSpPr>
        <p:spPr>
          <a:xfrm xmlns:a="http://schemas.openxmlformats.org/drawingml/2006/main">
            <a:off x="1809750" y="19526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6" name="">
            <a:extLst xmlns:a="http://schemas.openxmlformats.org/drawingml/2006/main">
              <a:ext uri="{FF2B5EF4-FFF2-40B4-BE49-F238E27FC236}">
                <a16:creationId xmlns:a16="http://schemas.microsoft.com/office/drawing/2014/main" id="{584BE7BE-7A58-46B1-A773-9B9C5F6D56C7}"/>
              </a:ext>
            </a:extLst>
          </p:cNvPr>
          <p:cNvSpPr>
            <a:spLocks xmlns:a="http://schemas.openxmlformats.org/drawingml/2006/main" noGrp="1"/>
          </p:cNvSpPr>
          <p:nvPr/>
        </p:nvSpPr>
        <p:spPr>
          <a:xfrm xmlns:a="http://schemas.openxmlformats.org/drawingml/2006/main">
            <a:off x="2324100" y="196215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1. Tatbestandlicher Eingriff</a:t>
            </a:r>
          </a:p>
        </p:txBody>
      </p:sp>
      <p:sp>
        <p:nvSpPr>
          <p:cNvPr id="7" name="">
            <a:extLst xmlns:a="http://schemas.openxmlformats.org/drawingml/2006/main">
              <a:ext uri="{FF2B5EF4-FFF2-40B4-BE49-F238E27FC236}">
                <a16:creationId xmlns:a16="http://schemas.microsoft.com/office/drawing/2014/main" id="{016335AE-2C03-410E-946B-5A5744F807DB}"/>
              </a:ext>
            </a:extLst>
          </p:cNvPr>
          <p:cNvSpPr>
            <a:spLocks xmlns:a="http://schemas.openxmlformats.org/drawingml/2006/main" noGrp="1"/>
          </p:cNvSpPr>
          <p:nvPr/>
        </p:nvSpPr>
        <p:spPr>
          <a:xfrm xmlns:a="http://schemas.openxmlformats.org/drawingml/2006/main">
            <a:off x="4819650" y="196215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Wurde durch Operation, Injektion oder andere Maßnahme Körper oder Gesundheit beeinträchtigt?</a:t>
            </a:r>
          </a:p>
        </p:txBody>
      </p:sp>
      <p:sp>
        <p:nvSpPr>
          <p:cNvPr id="8" name="">
            <a:extLst xmlns:a="http://schemas.openxmlformats.org/drawingml/2006/main">
              <a:ext uri="{FF2B5EF4-FFF2-40B4-BE49-F238E27FC236}">
                <a16:creationId xmlns:a16="http://schemas.microsoft.com/office/drawing/2014/main" id="{4CEA685E-13C7-43F2-9438-8390A924247F}"/>
              </a:ext>
            </a:extLst>
          </p:cNvPr>
          <p:cNvSpPr>
            <a:spLocks xmlns:a="http://schemas.openxmlformats.org/drawingml/2006/main" noGrp="1"/>
          </p:cNvSpPr>
          <p:nvPr/>
        </p:nvSpPr>
        <p:spPr>
          <a:xfrm xmlns:a="http://schemas.openxmlformats.org/drawingml/2006/main">
            <a:off x="1809750" y="255270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9" name="">
            <a:extLst xmlns:a="http://schemas.openxmlformats.org/drawingml/2006/main">
              <a:ext uri="{FF2B5EF4-FFF2-40B4-BE49-F238E27FC236}">
                <a16:creationId xmlns:a16="http://schemas.microsoft.com/office/drawing/2014/main" id="{593DA024-2324-49A2-8078-4B9F571D1F02}"/>
              </a:ext>
            </a:extLst>
          </p:cNvPr>
          <p:cNvSpPr>
            <a:spLocks xmlns:a="http://schemas.openxmlformats.org/drawingml/2006/main" noGrp="1"/>
          </p:cNvSpPr>
          <p:nvPr/>
        </p:nvSpPr>
        <p:spPr>
          <a:xfrm xmlns:a="http://schemas.openxmlformats.org/drawingml/2006/main">
            <a:off x="1809750" y="255270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0" name="">
            <a:extLst xmlns:a="http://schemas.openxmlformats.org/drawingml/2006/main">
              <a:ext uri="{FF2B5EF4-FFF2-40B4-BE49-F238E27FC236}">
                <a16:creationId xmlns:a16="http://schemas.microsoft.com/office/drawing/2014/main" id="{29990E9D-BBD5-4016-BDF7-08BFCEF67213}"/>
              </a:ext>
            </a:extLst>
          </p:cNvPr>
          <p:cNvSpPr>
            <a:spLocks xmlns:a="http://schemas.openxmlformats.org/drawingml/2006/main" noGrp="1"/>
          </p:cNvSpPr>
          <p:nvPr/>
        </p:nvSpPr>
        <p:spPr>
          <a:xfrm xmlns:a="http://schemas.openxmlformats.org/drawingml/2006/main">
            <a:off x="2324100" y="256222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2. Vorsatz</a:t>
            </a:r>
          </a:p>
        </p:txBody>
      </p:sp>
      <p:sp>
        <p:nvSpPr>
          <p:cNvPr id="11" name="">
            <a:extLst xmlns:a="http://schemas.openxmlformats.org/drawingml/2006/main">
              <a:ext uri="{FF2B5EF4-FFF2-40B4-BE49-F238E27FC236}">
                <a16:creationId xmlns:a16="http://schemas.microsoft.com/office/drawing/2014/main" id="{8CAEB308-228E-4317-BAF3-E527D61703B3}"/>
              </a:ext>
            </a:extLst>
          </p:cNvPr>
          <p:cNvSpPr>
            <a:spLocks xmlns:a="http://schemas.openxmlformats.org/drawingml/2006/main" noGrp="1"/>
          </p:cNvSpPr>
          <p:nvPr/>
        </p:nvSpPr>
        <p:spPr>
          <a:xfrm xmlns:a="http://schemas.openxmlformats.org/drawingml/2006/main">
            <a:off x="4819650" y="256222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Umfasste der Vorsatz den tatsächlichen körperlichen Eingriff?</a:t>
            </a:r>
          </a:p>
        </p:txBody>
      </p:sp>
      <p:sp>
        <p:nvSpPr>
          <p:cNvPr id="12" name="">
            <a:extLst xmlns:a="http://schemas.openxmlformats.org/drawingml/2006/main">
              <a:ext uri="{FF2B5EF4-FFF2-40B4-BE49-F238E27FC236}">
                <a16:creationId xmlns:a16="http://schemas.microsoft.com/office/drawing/2014/main" id="{222EFE7E-EDD1-4FDC-8439-673091AC6372}"/>
              </a:ext>
            </a:extLst>
          </p:cNvPr>
          <p:cNvSpPr>
            <a:spLocks xmlns:a="http://schemas.openxmlformats.org/drawingml/2006/main" noGrp="1"/>
          </p:cNvSpPr>
          <p:nvPr/>
        </p:nvSpPr>
        <p:spPr>
          <a:xfrm xmlns:a="http://schemas.openxmlformats.org/drawingml/2006/main">
            <a:off x="1809750" y="315277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3" name="">
            <a:extLst xmlns:a="http://schemas.openxmlformats.org/drawingml/2006/main">
              <a:ext uri="{FF2B5EF4-FFF2-40B4-BE49-F238E27FC236}">
                <a16:creationId xmlns:a16="http://schemas.microsoft.com/office/drawing/2014/main" id="{FA2FAFF3-062E-4DCD-B29B-5584CFD3E21A}"/>
              </a:ext>
            </a:extLst>
          </p:cNvPr>
          <p:cNvSpPr>
            <a:spLocks xmlns:a="http://schemas.openxmlformats.org/drawingml/2006/main" noGrp="1"/>
          </p:cNvSpPr>
          <p:nvPr/>
        </p:nvSpPr>
        <p:spPr>
          <a:xfrm xmlns:a="http://schemas.openxmlformats.org/drawingml/2006/main">
            <a:off x="1809750" y="315277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4" name="">
            <a:extLst xmlns:a="http://schemas.openxmlformats.org/drawingml/2006/main">
              <a:ext uri="{FF2B5EF4-FFF2-40B4-BE49-F238E27FC236}">
                <a16:creationId xmlns:a16="http://schemas.microsoft.com/office/drawing/2014/main" id="{8DC59461-D6CE-4B12-ADAB-DA2CDBAD4B7E}"/>
              </a:ext>
            </a:extLst>
          </p:cNvPr>
          <p:cNvSpPr>
            <a:spLocks xmlns:a="http://schemas.openxmlformats.org/drawingml/2006/main" noGrp="1"/>
          </p:cNvSpPr>
          <p:nvPr/>
        </p:nvSpPr>
        <p:spPr>
          <a:xfrm xmlns:a="http://schemas.openxmlformats.org/drawingml/2006/main">
            <a:off x="2324100" y="316230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3. Einwilligungsfähigkeit</a:t>
            </a:r>
          </a:p>
        </p:txBody>
      </p:sp>
      <p:sp>
        <p:nvSpPr>
          <p:cNvPr id="15" name="">
            <a:extLst xmlns:a="http://schemas.openxmlformats.org/drawingml/2006/main">
              <a:ext uri="{FF2B5EF4-FFF2-40B4-BE49-F238E27FC236}">
                <a16:creationId xmlns:a16="http://schemas.microsoft.com/office/drawing/2014/main" id="{EB536A94-EA26-4DE1-B5A9-764B36966E6B}"/>
              </a:ext>
            </a:extLst>
          </p:cNvPr>
          <p:cNvSpPr>
            <a:spLocks xmlns:a="http://schemas.openxmlformats.org/drawingml/2006/main" noGrp="1"/>
          </p:cNvSpPr>
          <p:nvPr/>
        </p:nvSpPr>
        <p:spPr>
          <a:xfrm xmlns:a="http://schemas.openxmlformats.org/drawingml/2006/main">
            <a:off x="4819650" y="316230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Konnte die betroffene Person Bedeutung und Tragweite erfassen?</a:t>
            </a:r>
          </a:p>
        </p:txBody>
      </p:sp>
      <p:sp>
        <p:nvSpPr>
          <p:cNvPr id="16" name="">
            <a:extLst xmlns:a="http://schemas.openxmlformats.org/drawingml/2006/main">
              <a:ext uri="{FF2B5EF4-FFF2-40B4-BE49-F238E27FC236}">
                <a16:creationId xmlns:a16="http://schemas.microsoft.com/office/drawing/2014/main" id="{241BB259-B879-4823-99EB-DAE84F82E05C}"/>
              </a:ext>
            </a:extLst>
          </p:cNvPr>
          <p:cNvSpPr>
            <a:spLocks xmlns:a="http://schemas.openxmlformats.org/drawingml/2006/main" noGrp="1"/>
          </p:cNvSpPr>
          <p:nvPr/>
        </p:nvSpPr>
        <p:spPr>
          <a:xfrm xmlns:a="http://schemas.openxmlformats.org/drawingml/2006/main">
            <a:off x="1809750" y="375285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7" name="">
            <a:extLst xmlns:a="http://schemas.openxmlformats.org/drawingml/2006/main">
              <a:ext uri="{FF2B5EF4-FFF2-40B4-BE49-F238E27FC236}">
                <a16:creationId xmlns:a16="http://schemas.microsoft.com/office/drawing/2014/main" id="{A7D970FF-39DB-4C46-8D83-EDA985487F9B}"/>
              </a:ext>
            </a:extLst>
          </p:cNvPr>
          <p:cNvSpPr>
            <a:spLocks xmlns:a="http://schemas.openxmlformats.org/drawingml/2006/main" noGrp="1"/>
          </p:cNvSpPr>
          <p:nvPr/>
        </p:nvSpPr>
        <p:spPr>
          <a:xfrm xmlns:a="http://schemas.openxmlformats.org/drawingml/2006/main">
            <a:off x="1809750" y="375285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18" name="">
            <a:extLst xmlns:a="http://schemas.openxmlformats.org/drawingml/2006/main">
              <a:ext uri="{FF2B5EF4-FFF2-40B4-BE49-F238E27FC236}">
                <a16:creationId xmlns:a16="http://schemas.microsoft.com/office/drawing/2014/main" id="{A803B86F-71E0-4053-B62C-98946F1AB061}"/>
              </a:ext>
            </a:extLst>
          </p:cNvPr>
          <p:cNvSpPr>
            <a:spLocks xmlns:a="http://schemas.openxmlformats.org/drawingml/2006/main" noGrp="1"/>
          </p:cNvSpPr>
          <p:nvPr/>
        </p:nvSpPr>
        <p:spPr>
          <a:xfrm xmlns:a="http://schemas.openxmlformats.org/drawingml/2006/main">
            <a:off x="2324100" y="376237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4. Aufklärung und Freiwilligkeit</a:t>
            </a:r>
          </a:p>
        </p:txBody>
      </p:sp>
      <p:sp>
        <p:nvSpPr>
          <p:cNvPr id="19" name="">
            <a:extLst xmlns:a="http://schemas.openxmlformats.org/drawingml/2006/main">
              <a:ext uri="{FF2B5EF4-FFF2-40B4-BE49-F238E27FC236}">
                <a16:creationId xmlns:a16="http://schemas.microsoft.com/office/drawing/2014/main" id="{BE588535-479C-4EBD-BB2C-DF715CABA996}"/>
              </a:ext>
            </a:extLst>
          </p:cNvPr>
          <p:cNvSpPr>
            <a:spLocks xmlns:a="http://schemas.openxmlformats.org/drawingml/2006/main" noGrp="1"/>
          </p:cNvSpPr>
          <p:nvPr/>
        </p:nvSpPr>
        <p:spPr>
          <a:xfrm xmlns:a="http://schemas.openxmlformats.org/drawingml/2006/main">
            <a:off x="4819650" y="376237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War die Entscheidung informiert, rechtzeitig und frei?</a:t>
            </a:r>
          </a:p>
        </p:txBody>
      </p:sp>
      <p:sp>
        <p:nvSpPr>
          <p:cNvPr id="20" name="">
            <a:extLst xmlns:a="http://schemas.openxmlformats.org/drawingml/2006/main">
              <a:ext uri="{FF2B5EF4-FFF2-40B4-BE49-F238E27FC236}">
                <a16:creationId xmlns:a16="http://schemas.microsoft.com/office/drawing/2014/main" id="{8C50B1A3-6FB4-49F9-B552-EEE42C6A7DF8}"/>
              </a:ext>
            </a:extLst>
          </p:cNvPr>
          <p:cNvSpPr>
            <a:spLocks xmlns:a="http://schemas.openxmlformats.org/drawingml/2006/main" noGrp="1"/>
          </p:cNvSpPr>
          <p:nvPr/>
        </p:nvSpPr>
        <p:spPr>
          <a:xfrm xmlns:a="http://schemas.openxmlformats.org/drawingml/2006/main">
            <a:off x="1809750" y="435292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1" name="">
            <a:extLst xmlns:a="http://schemas.openxmlformats.org/drawingml/2006/main">
              <a:ext uri="{FF2B5EF4-FFF2-40B4-BE49-F238E27FC236}">
                <a16:creationId xmlns:a16="http://schemas.microsoft.com/office/drawing/2014/main" id="{AA3D3F3A-2A2A-43B7-BF81-0BE67D515821}"/>
              </a:ext>
            </a:extLst>
          </p:cNvPr>
          <p:cNvSpPr>
            <a:spLocks xmlns:a="http://schemas.openxmlformats.org/drawingml/2006/main" noGrp="1"/>
          </p:cNvSpPr>
          <p:nvPr/>
        </p:nvSpPr>
        <p:spPr>
          <a:xfrm xmlns:a="http://schemas.openxmlformats.org/drawingml/2006/main">
            <a:off x="1809750" y="43529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5</a:t>
            </a:r>
          </a:p>
        </p:txBody>
      </p:sp>
      <p:sp>
        <p:nvSpPr>
          <p:cNvPr id="22" name="">
            <a:extLst xmlns:a="http://schemas.openxmlformats.org/drawingml/2006/main">
              <a:ext uri="{FF2B5EF4-FFF2-40B4-BE49-F238E27FC236}">
                <a16:creationId xmlns:a16="http://schemas.microsoft.com/office/drawing/2014/main" id="{93FF08E9-4D70-4E93-8CDD-02A1A9605CD5}"/>
              </a:ext>
            </a:extLst>
          </p:cNvPr>
          <p:cNvSpPr>
            <a:spLocks xmlns:a="http://schemas.openxmlformats.org/drawingml/2006/main" noGrp="1"/>
          </p:cNvSpPr>
          <p:nvPr/>
        </p:nvSpPr>
        <p:spPr>
          <a:xfrm xmlns:a="http://schemas.openxmlformats.org/drawingml/2006/main">
            <a:off x="2324100" y="436245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5. Reichweite</a:t>
            </a:r>
          </a:p>
        </p:txBody>
      </p:sp>
      <p:sp>
        <p:nvSpPr>
          <p:cNvPr id="23" name="">
            <a:extLst xmlns:a="http://schemas.openxmlformats.org/drawingml/2006/main">
              <a:ext uri="{FF2B5EF4-FFF2-40B4-BE49-F238E27FC236}">
                <a16:creationId xmlns:a16="http://schemas.microsoft.com/office/drawing/2014/main" id="{948416C1-557B-45DA-9003-9DB91681285A}"/>
              </a:ext>
            </a:extLst>
          </p:cNvPr>
          <p:cNvSpPr>
            <a:spLocks xmlns:a="http://schemas.openxmlformats.org/drawingml/2006/main" noGrp="1"/>
          </p:cNvSpPr>
          <p:nvPr/>
        </p:nvSpPr>
        <p:spPr>
          <a:xfrm xmlns:a="http://schemas.openxmlformats.org/drawingml/2006/main">
            <a:off x="4819650" y="436245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Deckte die Einwilligung genau Art und Umfang der vorgenommenen Maßnahme?</a:t>
            </a:r>
          </a:p>
        </p:txBody>
      </p:sp>
      <p:sp>
        <p:nvSpPr>
          <p:cNvPr id="24" name="">
            <a:extLst xmlns:a="http://schemas.openxmlformats.org/drawingml/2006/main">
              <a:ext uri="{FF2B5EF4-FFF2-40B4-BE49-F238E27FC236}">
                <a16:creationId xmlns:a16="http://schemas.microsoft.com/office/drawing/2014/main" id="{12E4B6B6-E269-43BE-9134-C8E9DC9C4D03}"/>
              </a:ext>
            </a:extLst>
          </p:cNvPr>
          <p:cNvSpPr>
            <a:spLocks xmlns:a="http://schemas.openxmlformats.org/drawingml/2006/main" noGrp="1"/>
          </p:cNvSpPr>
          <p:nvPr/>
        </p:nvSpPr>
        <p:spPr>
          <a:xfrm xmlns:a="http://schemas.openxmlformats.org/drawingml/2006/main">
            <a:off x="1809750" y="495300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25" name="">
            <a:extLst xmlns:a="http://schemas.openxmlformats.org/drawingml/2006/main">
              <a:ext uri="{FF2B5EF4-FFF2-40B4-BE49-F238E27FC236}">
                <a16:creationId xmlns:a16="http://schemas.microsoft.com/office/drawing/2014/main" id="{205247E9-9D11-4304-9E98-D0D868C9EF8C}"/>
              </a:ext>
            </a:extLst>
          </p:cNvPr>
          <p:cNvSpPr>
            <a:spLocks xmlns:a="http://schemas.openxmlformats.org/drawingml/2006/main" noGrp="1"/>
          </p:cNvSpPr>
          <p:nvPr/>
        </p:nvSpPr>
        <p:spPr>
          <a:xfrm xmlns:a="http://schemas.openxmlformats.org/drawingml/2006/main">
            <a:off x="1809750" y="495300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6</a:t>
            </a:r>
          </a:p>
        </p:txBody>
      </p:sp>
      <p:sp>
        <p:nvSpPr>
          <p:cNvPr id="26" name="">
            <a:extLst xmlns:a="http://schemas.openxmlformats.org/drawingml/2006/main">
              <a:ext uri="{FF2B5EF4-FFF2-40B4-BE49-F238E27FC236}">
                <a16:creationId xmlns:a16="http://schemas.microsoft.com/office/drawing/2014/main" id="{448A5C0E-04C8-40CF-89E5-0789828B1D46}"/>
              </a:ext>
            </a:extLst>
          </p:cNvPr>
          <p:cNvSpPr>
            <a:spLocks xmlns:a="http://schemas.openxmlformats.org/drawingml/2006/main" noGrp="1"/>
          </p:cNvSpPr>
          <p:nvPr/>
        </p:nvSpPr>
        <p:spPr>
          <a:xfrm xmlns:a="http://schemas.openxmlformats.org/drawingml/2006/main">
            <a:off x="2324100" y="496252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6. Schuld/sonstige Fragen</a:t>
            </a:r>
          </a:p>
        </p:txBody>
      </p:sp>
      <p:sp>
        <p:nvSpPr>
          <p:cNvPr id="27" name="">
            <a:extLst xmlns:a="http://schemas.openxmlformats.org/drawingml/2006/main">
              <a:ext uri="{FF2B5EF4-FFF2-40B4-BE49-F238E27FC236}">
                <a16:creationId xmlns:a16="http://schemas.microsoft.com/office/drawing/2014/main" id="{929DFF3A-7AD6-45B3-A66D-B675C5F4CA69}"/>
              </a:ext>
            </a:extLst>
          </p:cNvPr>
          <p:cNvSpPr>
            <a:spLocks xmlns:a="http://schemas.openxmlformats.org/drawingml/2006/main" noGrp="1"/>
          </p:cNvSpPr>
          <p:nvPr/>
        </p:nvSpPr>
        <p:spPr>
          <a:xfrm xmlns:a="http://schemas.openxmlformats.org/drawingml/2006/main">
            <a:off x="4819650" y="496252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Irrtümer, Entschuldigungsgründe und gegebenenfalls Strafantrag werden geprüft.</a:t>
            </a:r>
          </a:p>
        </p:txBody>
      </p:sp>
      <p:sp>
        <p:nvSpPr>
          <p:cNvPr id="28" name="">
            <a:extLst xmlns:a="http://schemas.openxmlformats.org/drawingml/2006/main">
              <a:ext uri="{FF2B5EF4-FFF2-40B4-BE49-F238E27FC236}">
                <a16:creationId xmlns:a16="http://schemas.microsoft.com/office/drawing/2014/main" id="{D8594463-FFC2-4436-BAE4-77C4FCAA4C96}"/>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9" name="">
            <a:extLst xmlns:a="http://schemas.openxmlformats.org/drawingml/2006/main">
              <a:ext uri="{FF2B5EF4-FFF2-40B4-BE49-F238E27FC236}">
                <a16:creationId xmlns:a16="http://schemas.microsoft.com/office/drawing/2014/main" id="{468A5C9A-9FCF-41F0-A315-D8CA1C908941}"/>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Die strafrechtliche Einwilligung orientiert sich an Selbstbestimmung und konkreter Reichweite.</a:t>
            </a:r>
          </a:p>
        </p:txBody>
      </p:sp>
    </p:spTree>
    <p:extLst>
      <p:ext uri="{BB962C8B-B14F-4D97-AF65-F5344CB8AC3E}">
        <p14:creationId xmlns:p14="http://schemas.microsoft.com/office/powerpoint/2010/main" val="43637646"/>
      </p:ext>
    </p:extLst>
  </p:cSld>
</p:sld>
</file>

<file path=ppt/slides/slide230.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Fahrlässige Körperverletzung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NORM IM FOKUS · § 229 StGB</a:t>
            </a:r>
            <a:endParaRPr/>
          </a:p>
        </p:txBody>
      </p:sp>
      <p:sp>
        <p:nvSpPr>
          <p:cNvPr id="4" name="">
            <a:extLst xmlns:a="http://schemas.openxmlformats.org/drawingml/2006/main">
              <a:ext uri="{FF2B5EF4-FFF2-40B4-BE49-F238E27FC236}">
                <a16:creationId xmlns:a16="http://schemas.microsoft.com/office/drawing/2014/main" id="{6E4C37FE-039A-4C88-96CC-EAEFD3F81FD3}"/>
              </a:ext>
            </a:extLst>
          </p:cNvPr>
          <p:cNvSpPr>
            <a:spLocks xmlns:a="http://schemas.openxmlformats.org/drawingml/2006/main" noGrp="1"/>
          </p:cNvSpPr>
          <p:nvPr/>
        </p:nvSpPr>
        <p:spPr>
          <a:xfrm xmlns:a="http://schemas.openxmlformats.org/drawingml/2006/main">
            <a:off x="1809750" y="1924050"/>
            <a:ext cx="2286000" cy="704850"/>
          </a:xfrm>
          <a:prstGeom xmlns:a="http://schemas.openxmlformats.org/drawingml/2006/main" prst="roundRect">
            <a:avLst>
              <a:gd name="adj" fmla="val 10811"/>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F974B8F5-C839-4E8D-9DAB-784B5BD698BF}"/>
              </a:ext>
            </a:extLst>
          </p:cNvPr>
          <p:cNvSpPr>
            <a:spLocks xmlns:a="http://schemas.openxmlformats.org/drawingml/2006/main" noGrp="1"/>
          </p:cNvSpPr>
          <p:nvPr/>
        </p:nvSpPr>
        <p:spPr>
          <a:xfrm xmlns:a="http://schemas.openxmlformats.org/drawingml/2006/main">
            <a:off x="1924050" y="1971675"/>
            <a:ext cx="2057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75" b="1">
                <a:solidFill>
                  <a:srgbClr val="FFFFFF"/>
                </a:solidFill>
              </a:defRPr>
            </a:pPr>
            <a:r>
              <a:rPr sz="1875" b="1">
                <a:solidFill>
                  <a:srgbClr val="FFFFFF"/>
                </a:solidFill>
              </a:rPr>
              <a:t>§ 229 StGB</a:t>
            </a:r>
          </a:p>
        </p:txBody>
      </p:sp>
      <p:sp>
        <p:nvSpPr>
          <p:cNvPr id="6" name="">
            <a:extLst xmlns:a="http://schemas.openxmlformats.org/drawingml/2006/main">
              <a:ext uri="{FF2B5EF4-FFF2-40B4-BE49-F238E27FC236}">
                <a16:creationId xmlns:a16="http://schemas.microsoft.com/office/drawing/2014/main" id="{6D8A3ABF-D102-47D5-A827-7A7CB197DFC5}"/>
              </a:ext>
            </a:extLst>
          </p:cNvPr>
          <p:cNvSpPr>
            <a:spLocks xmlns:a="http://schemas.openxmlformats.org/drawingml/2006/main" noGrp="1"/>
          </p:cNvSpPr>
          <p:nvPr/>
        </p:nvSpPr>
        <p:spPr>
          <a:xfrm xmlns:a="http://schemas.openxmlformats.org/drawingml/2006/main">
            <a:off x="4362450" y="1924050"/>
            <a:ext cx="6972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15">
                <a:solidFill>
                  <a:srgbClr val="667680"/>
                </a:solidFill>
              </a:defRPr>
            </a:pPr>
            <a:r>
              <a:rPr sz="1215">
                <a:solidFill>
                  <a:srgbClr val="667680"/>
                </a:solidFill>
              </a:rPr>
              <a:t>§ 229 StGB bestraft die fahrlässige Verursachung einer Körperverletzung.</a:t>
            </a:r>
          </a:p>
        </p:txBody>
      </p:sp>
      <p:sp>
        <p:nvSpPr>
          <p:cNvPr id="7" name="">
            <a:extLst xmlns:a="http://schemas.openxmlformats.org/drawingml/2006/main">
              <a:ext uri="{FF2B5EF4-FFF2-40B4-BE49-F238E27FC236}">
                <a16:creationId xmlns:a16="http://schemas.microsoft.com/office/drawing/2014/main" id="{3D2DBA66-C6C2-46F4-992B-F032296EE401}"/>
              </a:ext>
            </a:extLst>
          </p:cNvPr>
          <p:cNvSpPr>
            <a:spLocks xmlns:a="http://schemas.openxmlformats.org/drawingml/2006/main" noGrp="1"/>
          </p:cNvSpPr>
          <p:nvPr/>
        </p:nvSpPr>
        <p:spPr>
          <a:xfrm xmlns:a="http://schemas.openxmlformats.org/drawingml/2006/main">
            <a:off x="1809750" y="2781300"/>
            <a:ext cx="476250" cy="414338"/>
          </a:xfrm>
          <a:prstGeom xmlns:a="http://schemas.openxmlformats.org/drawingml/2006/main" prst="roundRect">
            <a:avLst>
              <a:gd name="adj" fmla="val 18391"/>
            </a:avLst>
          </a:prstGeom>
          <a:solidFill xmlns:a="http://schemas.openxmlformats.org/drawingml/2006/main">
            <a:srgbClr val="00B2BB"/>
          </a:solidFill>
          <a:ln xmlns:a="http://schemas.openxmlformats.org/drawingml/2006/main" w="0">
            <a:solidFill>
              <a:srgbClr val="00B2BB"/>
            </a:solidFill>
            <a:prstDash val="solid"/>
          </a:ln>
        </p:spPr>
      </p:sp>
      <p:sp>
        <p:nvSpPr>
          <p:cNvPr id="8" name="">
            <a:extLst xmlns:a="http://schemas.openxmlformats.org/drawingml/2006/main">
              <a:ext uri="{FF2B5EF4-FFF2-40B4-BE49-F238E27FC236}">
                <a16:creationId xmlns:a16="http://schemas.microsoft.com/office/drawing/2014/main" id="{499D3339-FB2C-4FCE-80EF-621EFFDF360D}"/>
              </a:ext>
            </a:extLst>
          </p:cNvPr>
          <p:cNvSpPr>
            <a:spLocks xmlns:a="http://schemas.openxmlformats.org/drawingml/2006/main" noGrp="1"/>
          </p:cNvSpPr>
          <p:nvPr/>
        </p:nvSpPr>
        <p:spPr>
          <a:xfrm xmlns:a="http://schemas.openxmlformats.org/drawingml/2006/main">
            <a:off x="1809750" y="2781300"/>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9" name="">
            <a:extLst xmlns:a="http://schemas.openxmlformats.org/drawingml/2006/main">
              <a:ext uri="{FF2B5EF4-FFF2-40B4-BE49-F238E27FC236}">
                <a16:creationId xmlns:a16="http://schemas.microsoft.com/office/drawing/2014/main" id="{4638BBEA-4707-405B-AA42-F17C72B04998}"/>
              </a:ext>
            </a:extLst>
          </p:cNvPr>
          <p:cNvSpPr>
            <a:spLocks xmlns:a="http://schemas.openxmlformats.org/drawingml/2006/main" noGrp="1"/>
          </p:cNvSpPr>
          <p:nvPr/>
        </p:nvSpPr>
        <p:spPr>
          <a:xfrm xmlns:a="http://schemas.openxmlformats.org/drawingml/2006/main">
            <a:off x="2438400" y="2790825"/>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Erfolg</a:t>
            </a:r>
          </a:p>
        </p:txBody>
      </p:sp>
      <p:sp>
        <p:nvSpPr>
          <p:cNvPr id="10" name="">
            <a:extLst xmlns:a="http://schemas.openxmlformats.org/drawingml/2006/main">
              <a:ext uri="{FF2B5EF4-FFF2-40B4-BE49-F238E27FC236}">
                <a16:creationId xmlns:a16="http://schemas.microsoft.com/office/drawing/2014/main" id="{FCF1D3F4-180E-4226-A356-FEDA9C288410}"/>
              </a:ext>
            </a:extLst>
          </p:cNvPr>
          <p:cNvSpPr>
            <a:spLocks xmlns:a="http://schemas.openxmlformats.org/drawingml/2006/main" noGrp="1"/>
          </p:cNvSpPr>
          <p:nvPr/>
        </p:nvSpPr>
        <p:spPr>
          <a:xfrm xmlns:a="http://schemas.openxmlformats.org/drawingml/2006/main">
            <a:off x="4591050" y="2790825"/>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Eine körperliche Misshandlung oder Gesundheitsschädigung muss eingetreten sein.</a:t>
            </a:r>
          </a:p>
        </p:txBody>
      </p:sp>
      <p:sp>
        <p:nvSpPr>
          <p:cNvPr id="11" name="">
            <a:extLst xmlns:a="http://schemas.openxmlformats.org/drawingml/2006/main">
              <a:ext uri="{FF2B5EF4-FFF2-40B4-BE49-F238E27FC236}">
                <a16:creationId xmlns:a16="http://schemas.microsoft.com/office/drawing/2014/main" id="{81A141ED-68B2-4CEC-81C2-6718B8B17A87}"/>
              </a:ext>
            </a:extLst>
          </p:cNvPr>
          <p:cNvSpPr>
            <a:spLocks xmlns:a="http://schemas.openxmlformats.org/drawingml/2006/main" noGrp="1"/>
          </p:cNvSpPr>
          <p:nvPr/>
        </p:nvSpPr>
        <p:spPr>
          <a:xfrm xmlns:a="http://schemas.openxmlformats.org/drawingml/2006/main">
            <a:off x="1809750" y="3271838"/>
            <a:ext cx="476250" cy="414338"/>
          </a:xfrm>
          <a:prstGeom xmlns:a="http://schemas.openxmlformats.org/drawingml/2006/main" prst="roundRect">
            <a:avLst>
              <a:gd name="adj" fmla="val 18391"/>
            </a:avLst>
          </a:prstGeom>
          <a:solidFill xmlns:a="http://schemas.openxmlformats.org/drawingml/2006/main">
            <a:srgbClr val="003F6B"/>
          </a:solidFill>
          <a:ln xmlns:a="http://schemas.openxmlformats.org/drawingml/2006/main" w="0">
            <a:solidFill>
              <a:srgbClr val="003F6B"/>
            </a:solidFill>
            <a:prstDash val="solid"/>
          </a:ln>
        </p:spPr>
      </p:sp>
      <p:sp>
        <p:nvSpPr>
          <p:cNvPr id="12" name="">
            <a:extLst xmlns:a="http://schemas.openxmlformats.org/drawingml/2006/main">
              <a:ext uri="{FF2B5EF4-FFF2-40B4-BE49-F238E27FC236}">
                <a16:creationId xmlns:a16="http://schemas.microsoft.com/office/drawing/2014/main" id="{66B6D9F1-B9F5-4F04-97F4-92569169AA0E}"/>
              </a:ext>
            </a:extLst>
          </p:cNvPr>
          <p:cNvSpPr>
            <a:spLocks xmlns:a="http://schemas.openxmlformats.org/drawingml/2006/main" noGrp="1"/>
          </p:cNvSpPr>
          <p:nvPr/>
        </p:nvSpPr>
        <p:spPr>
          <a:xfrm xmlns:a="http://schemas.openxmlformats.org/drawingml/2006/main">
            <a:off x="1809750" y="3271838"/>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3" name="">
            <a:extLst xmlns:a="http://schemas.openxmlformats.org/drawingml/2006/main">
              <a:ext uri="{FF2B5EF4-FFF2-40B4-BE49-F238E27FC236}">
                <a16:creationId xmlns:a16="http://schemas.microsoft.com/office/drawing/2014/main" id="{C90795A4-A719-4F63-80FA-B12A44A1C3D5}"/>
              </a:ext>
            </a:extLst>
          </p:cNvPr>
          <p:cNvSpPr>
            <a:spLocks xmlns:a="http://schemas.openxmlformats.org/drawingml/2006/main" noGrp="1"/>
          </p:cNvSpPr>
          <p:nvPr/>
        </p:nvSpPr>
        <p:spPr>
          <a:xfrm xmlns:a="http://schemas.openxmlformats.org/drawingml/2006/main">
            <a:off x="2438400" y="3281363"/>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Sorgfaltspflichtverletzung</a:t>
            </a:r>
          </a:p>
        </p:txBody>
      </p:sp>
      <p:sp>
        <p:nvSpPr>
          <p:cNvPr id="14" name="">
            <a:extLst xmlns:a="http://schemas.openxmlformats.org/drawingml/2006/main">
              <a:ext uri="{FF2B5EF4-FFF2-40B4-BE49-F238E27FC236}">
                <a16:creationId xmlns:a16="http://schemas.microsoft.com/office/drawing/2014/main" id="{4088A51A-F661-45C0-9E04-3EC72231ABB1}"/>
              </a:ext>
            </a:extLst>
          </p:cNvPr>
          <p:cNvSpPr>
            <a:spLocks xmlns:a="http://schemas.openxmlformats.org/drawingml/2006/main" noGrp="1"/>
          </p:cNvSpPr>
          <p:nvPr/>
        </p:nvSpPr>
        <p:spPr>
          <a:xfrm xmlns:a="http://schemas.openxmlformats.org/drawingml/2006/main">
            <a:off x="4591050" y="3281363"/>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Das Verhalten unterschreitet den objektiv gebotenen medizinischen Sorgfaltsmaßstab.</a:t>
            </a:r>
          </a:p>
        </p:txBody>
      </p:sp>
      <p:sp>
        <p:nvSpPr>
          <p:cNvPr id="15" name="">
            <a:extLst xmlns:a="http://schemas.openxmlformats.org/drawingml/2006/main">
              <a:ext uri="{FF2B5EF4-FFF2-40B4-BE49-F238E27FC236}">
                <a16:creationId xmlns:a16="http://schemas.microsoft.com/office/drawing/2014/main" id="{829CA9DB-7402-4E0A-A38B-1D286219FB75}"/>
              </a:ext>
            </a:extLst>
          </p:cNvPr>
          <p:cNvSpPr>
            <a:spLocks xmlns:a="http://schemas.openxmlformats.org/drawingml/2006/main" noGrp="1"/>
          </p:cNvSpPr>
          <p:nvPr/>
        </p:nvSpPr>
        <p:spPr>
          <a:xfrm xmlns:a="http://schemas.openxmlformats.org/drawingml/2006/main">
            <a:off x="1809750" y="3762375"/>
            <a:ext cx="476250" cy="414338"/>
          </a:xfrm>
          <a:prstGeom xmlns:a="http://schemas.openxmlformats.org/drawingml/2006/main" prst="roundRect">
            <a:avLst>
              <a:gd name="adj" fmla="val 18391"/>
            </a:avLst>
          </a:prstGeom>
          <a:solidFill xmlns:a="http://schemas.openxmlformats.org/drawingml/2006/main">
            <a:srgbClr val="00B2BB"/>
          </a:solidFill>
          <a:ln xmlns:a="http://schemas.openxmlformats.org/drawingml/2006/main" w="0">
            <a:solidFill>
              <a:srgbClr val="00B2BB"/>
            </a:solidFill>
            <a:prstDash val="solid"/>
          </a:ln>
        </p:spPr>
      </p:sp>
      <p:sp>
        <p:nvSpPr>
          <p:cNvPr id="16" name="">
            <a:extLst xmlns:a="http://schemas.openxmlformats.org/drawingml/2006/main">
              <a:ext uri="{FF2B5EF4-FFF2-40B4-BE49-F238E27FC236}">
                <a16:creationId xmlns:a16="http://schemas.microsoft.com/office/drawing/2014/main" id="{5D6770A6-B2FA-4AAB-91DB-0BF8D61C91ED}"/>
              </a:ext>
            </a:extLst>
          </p:cNvPr>
          <p:cNvSpPr>
            <a:spLocks xmlns:a="http://schemas.openxmlformats.org/drawingml/2006/main" noGrp="1"/>
          </p:cNvSpPr>
          <p:nvPr/>
        </p:nvSpPr>
        <p:spPr>
          <a:xfrm xmlns:a="http://schemas.openxmlformats.org/drawingml/2006/main">
            <a:off x="1809750" y="3762375"/>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7" name="">
            <a:extLst xmlns:a="http://schemas.openxmlformats.org/drawingml/2006/main">
              <a:ext uri="{FF2B5EF4-FFF2-40B4-BE49-F238E27FC236}">
                <a16:creationId xmlns:a16="http://schemas.microsoft.com/office/drawing/2014/main" id="{BA5606FA-6FB2-43AE-A72B-6F274DC8A23C}"/>
              </a:ext>
            </a:extLst>
          </p:cNvPr>
          <p:cNvSpPr>
            <a:spLocks xmlns:a="http://schemas.openxmlformats.org/drawingml/2006/main" noGrp="1"/>
          </p:cNvSpPr>
          <p:nvPr/>
        </p:nvSpPr>
        <p:spPr>
          <a:xfrm xmlns:a="http://schemas.openxmlformats.org/drawingml/2006/main">
            <a:off x="2438400" y="3771900"/>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Vorhersehbarkeit und Vermeidbarkeit</a:t>
            </a:r>
          </a:p>
        </p:txBody>
      </p:sp>
      <p:sp>
        <p:nvSpPr>
          <p:cNvPr id="18" name="">
            <a:extLst xmlns:a="http://schemas.openxmlformats.org/drawingml/2006/main">
              <a:ext uri="{FF2B5EF4-FFF2-40B4-BE49-F238E27FC236}">
                <a16:creationId xmlns:a16="http://schemas.microsoft.com/office/drawing/2014/main" id="{983FB356-0250-4A69-B99A-DB2E5370E609}"/>
              </a:ext>
            </a:extLst>
          </p:cNvPr>
          <p:cNvSpPr>
            <a:spLocks xmlns:a="http://schemas.openxmlformats.org/drawingml/2006/main" noGrp="1"/>
          </p:cNvSpPr>
          <p:nvPr/>
        </p:nvSpPr>
        <p:spPr>
          <a:xfrm xmlns:a="http://schemas.openxmlformats.org/drawingml/2006/main">
            <a:off x="4591050" y="3771900"/>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Der konkrete Erfolg muss objektiv vorhersehbar und bei pflichtgemäßem Verhalten vermeidbar gewesen sein.</a:t>
            </a:r>
          </a:p>
        </p:txBody>
      </p:sp>
      <p:sp>
        <p:nvSpPr>
          <p:cNvPr id="19" name="">
            <a:extLst xmlns:a="http://schemas.openxmlformats.org/drawingml/2006/main">
              <a:ext uri="{FF2B5EF4-FFF2-40B4-BE49-F238E27FC236}">
                <a16:creationId xmlns:a16="http://schemas.microsoft.com/office/drawing/2014/main" id="{214B0BBA-8231-45C2-81C9-E63D9A824136}"/>
              </a:ext>
            </a:extLst>
          </p:cNvPr>
          <p:cNvSpPr>
            <a:spLocks xmlns:a="http://schemas.openxmlformats.org/drawingml/2006/main" noGrp="1"/>
          </p:cNvSpPr>
          <p:nvPr/>
        </p:nvSpPr>
        <p:spPr>
          <a:xfrm xmlns:a="http://schemas.openxmlformats.org/drawingml/2006/main">
            <a:off x="1809750" y="4252913"/>
            <a:ext cx="476250" cy="414338"/>
          </a:xfrm>
          <a:prstGeom xmlns:a="http://schemas.openxmlformats.org/drawingml/2006/main" prst="roundRect">
            <a:avLst>
              <a:gd name="adj" fmla="val 18391"/>
            </a:avLst>
          </a:prstGeom>
          <a:solidFill xmlns:a="http://schemas.openxmlformats.org/drawingml/2006/main">
            <a:srgbClr val="003F6B"/>
          </a:solidFill>
          <a:ln xmlns:a="http://schemas.openxmlformats.org/drawingml/2006/main" w="0">
            <a:solidFill>
              <a:srgbClr val="003F6B"/>
            </a:solidFill>
            <a:prstDash val="solid"/>
          </a:ln>
        </p:spPr>
      </p:sp>
      <p:sp>
        <p:nvSpPr>
          <p:cNvPr id="20" name="">
            <a:extLst xmlns:a="http://schemas.openxmlformats.org/drawingml/2006/main">
              <a:ext uri="{FF2B5EF4-FFF2-40B4-BE49-F238E27FC236}">
                <a16:creationId xmlns:a16="http://schemas.microsoft.com/office/drawing/2014/main" id="{DACEBE9D-73FB-4716-901D-7A94F6FBF11E}"/>
              </a:ext>
            </a:extLst>
          </p:cNvPr>
          <p:cNvSpPr>
            <a:spLocks xmlns:a="http://schemas.openxmlformats.org/drawingml/2006/main" noGrp="1"/>
          </p:cNvSpPr>
          <p:nvPr/>
        </p:nvSpPr>
        <p:spPr>
          <a:xfrm xmlns:a="http://schemas.openxmlformats.org/drawingml/2006/main">
            <a:off x="1809750" y="4252913"/>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21" name="">
            <a:extLst xmlns:a="http://schemas.openxmlformats.org/drawingml/2006/main">
              <a:ext uri="{FF2B5EF4-FFF2-40B4-BE49-F238E27FC236}">
                <a16:creationId xmlns:a16="http://schemas.microsoft.com/office/drawing/2014/main" id="{6F369639-707F-4BD1-ADB0-DA361A29731D}"/>
              </a:ext>
            </a:extLst>
          </p:cNvPr>
          <p:cNvSpPr>
            <a:spLocks xmlns:a="http://schemas.openxmlformats.org/drawingml/2006/main" noGrp="1"/>
          </p:cNvSpPr>
          <p:nvPr/>
        </p:nvSpPr>
        <p:spPr>
          <a:xfrm xmlns:a="http://schemas.openxmlformats.org/drawingml/2006/main">
            <a:off x="2438400" y="4262438"/>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Zurechnung und Schuld</a:t>
            </a:r>
          </a:p>
        </p:txBody>
      </p:sp>
      <p:sp>
        <p:nvSpPr>
          <p:cNvPr id="22" name="">
            <a:extLst xmlns:a="http://schemas.openxmlformats.org/drawingml/2006/main">
              <a:ext uri="{FF2B5EF4-FFF2-40B4-BE49-F238E27FC236}">
                <a16:creationId xmlns:a16="http://schemas.microsoft.com/office/drawing/2014/main" id="{B611D090-AD62-4742-9746-0F409C5F261E}"/>
              </a:ext>
            </a:extLst>
          </p:cNvPr>
          <p:cNvSpPr>
            <a:spLocks xmlns:a="http://schemas.openxmlformats.org/drawingml/2006/main" noGrp="1"/>
          </p:cNvSpPr>
          <p:nvPr/>
        </p:nvSpPr>
        <p:spPr>
          <a:xfrm xmlns:a="http://schemas.openxmlformats.org/drawingml/2006/main">
            <a:off x="4591050" y="4262438"/>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Schutzzweck, erlaubtes Risiko sowie individuelle Fähigkeiten und Zumutbarkeit werden geprüft.</a:t>
            </a:r>
          </a:p>
        </p:txBody>
      </p:sp>
      <p:sp>
        <p:nvSpPr>
          <p:cNvPr id="23" name="">
            <a:extLst xmlns:a="http://schemas.openxmlformats.org/drawingml/2006/main">
              <a:ext uri="{FF2B5EF4-FFF2-40B4-BE49-F238E27FC236}">
                <a16:creationId xmlns:a16="http://schemas.microsoft.com/office/drawing/2014/main" id="{21E41EF1-9554-45AE-A41C-2A26DEA5944A}"/>
              </a:ext>
            </a:extLst>
          </p:cNvPr>
          <p:cNvSpPr>
            <a:spLocks xmlns:a="http://schemas.openxmlformats.org/drawingml/2006/main" noGrp="1"/>
          </p:cNvSpPr>
          <p:nvPr/>
        </p:nvSpPr>
        <p:spPr>
          <a:xfrm xmlns:a="http://schemas.openxmlformats.org/drawingml/2006/main">
            <a:off x="1809750" y="4781550"/>
            <a:ext cx="9525000" cy="666750"/>
          </a:xfrm>
          <a:prstGeom xmlns:a="http://schemas.openxmlformats.org/drawingml/2006/main" prst="roundRect">
            <a:avLst>
              <a:gd name="adj" fmla="val 11429"/>
            </a:avLst>
          </a:prstGeom>
          <a:solidFill xmlns:a="http://schemas.openxmlformats.org/drawingml/2006/main">
            <a:srgbClr val="EAF6FB"/>
          </a:solidFill>
          <a:ln xmlns:a="http://schemas.openxmlformats.org/drawingml/2006/main" w="9525">
            <a:solidFill>
              <a:srgbClr val="00B2BB"/>
            </a:solidFill>
            <a:prstDash val="solid"/>
          </a:ln>
        </p:spPr>
      </p:sp>
      <p:sp>
        <p:nvSpPr>
          <p:cNvPr id="24" name="">
            <a:extLst xmlns:a="http://schemas.openxmlformats.org/drawingml/2006/main">
              <a:ext uri="{FF2B5EF4-FFF2-40B4-BE49-F238E27FC236}">
                <a16:creationId xmlns:a16="http://schemas.microsoft.com/office/drawing/2014/main" id="{E9E47560-98E9-4EE3-B82F-6735FA1CDD1B}"/>
              </a:ext>
            </a:extLst>
          </p:cNvPr>
          <p:cNvSpPr>
            <a:spLocks xmlns:a="http://schemas.openxmlformats.org/drawingml/2006/main" noGrp="1"/>
          </p:cNvSpPr>
          <p:nvPr/>
        </p:nvSpPr>
        <p:spPr>
          <a:xfrm xmlns:a="http://schemas.openxmlformats.org/drawingml/2006/main">
            <a:off x="1981200" y="4829175"/>
            <a:ext cx="9182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065">
                <a:solidFill>
                  <a:srgbClr val="15232B"/>
                </a:solidFill>
              </a:defRPr>
            </a:pPr>
            <a:r>
              <a:rPr sz="1065">
                <a:solidFill>
                  <a:srgbClr val="15232B"/>
                </a:solidFill>
              </a:rPr>
              <a:t>Beispiel · Beispiel: Eine zwingende Allergieprüfung wird übersehen, obwohl die Information verfügbar ist; eine schwere Reaktion tritt ein.</a:t>
            </a:r>
          </a:p>
        </p:txBody>
      </p:sp>
      <p:sp>
        <p:nvSpPr>
          <p:cNvPr id="25" name="">
            <a:extLst xmlns:a="http://schemas.openxmlformats.org/drawingml/2006/main">
              <a:ext uri="{FF2B5EF4-FFF2-40B4-BE49-F238E27FC236}">
                <a16:creationId xmlns:a16="http://schemas.microsoft.com/office/drawing/2014/main" id="{FA4FC0E6-2823-4B46-AA43-5EE0129FBBF3}"/>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6" name="">
            <a:extLst xmlns:a="http://schemas.openxmlformats.org/drawingml/2006/main">
              <a:ext uri="{FF2B5EF4-FFF2-40B4-BE49-F238E27FC236}">
                <a16:creationId xmlns:a16="http://schemas.microsoft.com/office/drawing/2014/main" id="{D6E28FCC-2AF3-4132-AF3F-E7D0B4151C50}"/>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Nicht jede zivilrechtliche Haftung führt automatisch zu strafrechtlicher Fahrlässigkeit.</a:t>
            </a:r>
          </a:p>
        </p:txBody>
      </p:sp>
    </p:spTree>
    <p:extLst>
      <p:ext uri="{BB962C8B-B14F-4D97-AF65-F5344CB8AC3E}">
        <p14:creationId xmlns:p14="http://schemas.microsoft.com/office/powerpoint/2010/main" val="43637646"/>
      </p:ext>
    </p:extLst>
  </p:cSld>
</p:sld>
</file>

<file path=ppt/slides/slide231.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 229 StGB prüfen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PRÜFUNGSSCHEMA · FAHRLÄSSIGE KÖRPERVERLETZUNG</a:t>
            </a:r>
            <a:endParaRPr/>
          </a:p>
        </p:txBody>
      </p:sp>
      <p:sp>
        <p:nvSpPr>
          <p:cNvPr id="4" name="">
            <a:extLst xmlns:a="http://schemas.openxmlformats.org/drawingml/2006/main">
              <a:ext uri="{FF2B5EF4-FFF2-40B4-BE49-F238E27FC236}">
                <a16:creationId xmlns:a16="http://schemas.microsoft.com/office/drawing/2014/main" id="{B83BFBC2-8C1C-4955-933B-6999993B1BFE}"/>
              </a:ext>
            </a:extLst>
          </p:cNvPr>
          <p:cNvSpPr>
            <a:spLocks xmlns:a="http://schemas.openxmlformats.org/drawingml/2006/main" noGrp="1"/>
          </p:cNvSpPr>
          <p:nvPr/>
        </p:nvSpPr>
        <p:spPr>
          <a:xfrm xmlns:a="http://schemas.openxmlformats.org/drawingml/2006/main">
            <a:off x="1809750" y="1952625"/>
            <a:ext cx="400050" cy="823913"/>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90160480-4CC9-487E-9354-A8FF854CC0D9}"/>
              </a:ext>
            </a:extLst>
          </p:cNvPr>
          <p:cNvSpPr>
            <a:spLocks xmlns:a="http://schemas.openxmlformats.org/drawingml/2006/main" noGrp="1"/>
          </p:cNvSpPr>
          <p:nvPr/>
        </p:nvSpPr>
        <p:spPr>
          <a:xfrm xmlns:a="http://schemas.openxmlformats.org/drawingml/2006/main">
            <a:off x="1809750" y="1952625"/>
            <a:ext cx="400050" cy="8239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6" name="">
            <a:extLst xmlns:a="http://schemas.openxmlformats.org/drawingml/2006/main">
              <a:ext uri="{FF2B5EF4-FFF2-40B4-BE49-F238E27FC236}">
                <a16:creationId xmlns:a16="http://schemas.microsoft.com/office/drawing/2014/main" id="{072ECFF5-6066-48D9-814E-3FE1A647CD84}"/>
              </a:ext>
            </a:extLst>
          </p:cNvPr>
          <p:cNvSpPr>
            <a:spLocks xmlns:a="http://schemas.openxmlformats.org/drawingml/2006/main" noGrp="1"/>
          </p:cNvSpPr>
          <p:nvPr/>
        </p:nvSpPr>
        <p:spPr>
          <a:xfrm xmlns:a="http://schemas.openxmlformats.org/drawingml/2006/main">
            <a:off x="2324100" y="1962150"/>
            <a:ext cx="1476375" cy="8048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95" b="1">
                <a:solidFill>
                  <a:srgbClr val="003F6B"/>
                </a:solidFill>
              </a:defRPr>
            </a:pPr>
            <a:r>
              <a:rPr sz="1095" b="1">
                <a:solidFill>
                  <a:srgbClr val="003F6B"/>
                </a:solidFill>
              </a:rPr>
              <a:t>1. Erfolg</a:t>
            </a:r>
          </a:p>
        </p:txBody>
      </p:sp>
      <p:sp>
        <p:nvSpPr>
          <p:cNvPr id="7" name="">
            <a:extLst xmlns:a="http://schemas.openxmlformats.org/drawingml/2006/main">
              <a:ext uri="{FF2B5EF4-FFF2-40B4-BE49-F238E27FC236}">
                <a16:creationId xmlns:a16="http://schemas.microsoft.com/office/drawing/2014/main" id="{531FF4BC-BDBC-47CD-8FAC-5982640249C8}"/>
              </a:ext>
            </a:extLst>
          </p:cNvPr>
          <p:cNvSpPr>
            <a:spLocks xmlns:a="http://schemas.openxmlformats.org/drawingml/2006/main" noGrp="1"/>
          </p:cNvSpPr>
          <p:nvPr/>
        </p:nvSpPr>
        <p:spPr>
          <a:xfrm xmlns:a="http://schemas.openxmlformats.org/drawingml/2006/main">
            <a:off x="3905250" y="1962150"/>
            <a:ext cx="2457450" cy="8048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98">
                <a:solidFill>
                  <a:srgbClr val="15232B"/>
                </a:solidFill>
              </a:defRPr>
            </a:pPr>
            <a:r>
              <a:rPr sz="998">
                <a:solidFill>
                  <a:srgbClr val="15232B"/>
                </a:solidFill>
              </a:rPr>
              <a:t>Körperliche Misshandlung oder Gesundheitsschädigung.</a:t>
            </a:r>
          </a:p>
        </p:txBody>
      </p:sp>
      <p:sp>
        <p:nvSpPr>
          <p:cNvPr id="8" name="">
            <a:extLst xmlns:a="http://schemas.openxmlformats.org/drawingml/2006/main">
              <a:ext uri="{FF2B5EF4-FFF2-40B4-BE49-F238E27FC236}">
                <a16:creationId xmlns:a16="http://schemas.microsoft.com/office/drawing/2014/main" id="{797E7DC6-00DE-4089-B57E-8924F8BC4B44}"/>
              </a:ext>
            </a:extLst>
          </p:cNvPr>
          <p:cNvSpPr>
            <a:spLocks xmlns:a="http://schemas.openxmlformats.org/drawingml/2006/main" noGrp="1"/>
          </p:cNvSpPr>
          <p:nvPr/>
        </p:nvSpPr>
        <p:spPr>
          <a:xfrm xmlns:a="http://schemas.openxmlformats.org/drawingml/2006/main">
            <a:off x="1809750" y="2852738"/>
            <a:ext cx="400050" cy="823913"/>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9" name="">
            <a:extLst xmlns:a="http://schemas.openxmlformats.org/drawingml/2006/main">
              <a:ext uri="{FF2B5EF4-FFF2-40B4-BE49-F238E27FC236}">
                <a16:creationId xmlns:a16="http://schemas.microsoft.com/office/drawing/2014/main" id="{252DD8DA-8977-4BDD-A600-3FBBD0E56D1E}"/>
              </a:ext>
            </a:extLst>
          </p:cNvPr>
          <p:cNvSpPr>
            <a:spLocks xmlns:a="http://schemas.openxmlformats.org/drawingml/2006/main" noGrp="1"/>
          </p:cNvSpPr>
          <p:nvPr/>
        </p:nvSpPr>
        <p:spPr>
          <a:xfrm xmlns:a="http://schemas.openxmlformats.org/drawingml/2006/main">
            <a:off x="1809750" y="2852738"/>
            <a:ext cx="400050" cy="8239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0" name="">
            <a:extLst xmlns:a="http://schemas.openxmlformats.org/drawingml/2006/main">
              <a:ext uri="{FF2B5EF4-FFF2-40B4-BE49-F238E27FC236}">
                <a16:creationId xmlns:a16="http://schemas.microsoft.com/office/drawing/2014/main" id="{7BB2A4EC-C49E-4A9B-92CD-1A74233EE70C}"/>
              </a:ext>
            </a:extLst>
          </p:cNvPr>
          <p:cNvSpPr>
            <a:spLocks xmlns:a="http://schemas.openxmlformats.org/drawingml/2006/main" noGrp="1"/>
          </p:cNvSpPr>
          <p:nvPr/>
        </p:nvSpPr>
        <p:spPr>
          <a:xfrm xmlns:a="http://schemas.openxmlformats.org/drawingml/2006/main">
            <a:off x="2324100" y="2862263"/>
            <a:ext cx="1476375" cy="8048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95" b="1">
                <a:solidFill>
                  <a:srgbClr val="003F6B"/>
                </a:solidFill>
              </a:defRPr>
            </a:pPr>
            <a:r>
              <a:rPr sz="1095" b="1">
                <a:solidFill>
                  <a:srgbClr val="003F6B"/>
                </a:solidFill>
              </a:rPr>
              <a:t>2. Handlung/Unterlassen</a:t>
            </a:r>
          </a:p>
        </p:txBody>
      </p:sp>
      <p:sp>
        <p:nvSpPr>
          <p:cNvPr id="11" name="">
            <a:extLst xmlns:a="http://schemas.openxmlformats.org/drawingml/2006/main">
              <a:ext uri="{FF2B5EF4-FFF2-40B4-BE49-F238E27FC236}">
                <a16:creationId xmlns:a16="http://schemas.microsoft.com/office/drawing/2014/main" id="{B19A7799-7701-47D4-A0AF-F8FC57C2318D}"/>
              </a:ext>
            </a:extLst>
          </p:cNvPr>
          <p:cNvSpPr>
            <a:spLocks xmlns:a="http://schemas.openxmlformats.org/drawingml/2006/main" noGrp="1"/>
          </p:cNvSpPr>
          <p:nvPr/>
        </p:nvSpPr>
        <p:spPr>
          <a:xfrm xmlns:a="http://schemas.openxmlformats.org/drawingml/2006/main">
            <a:off x="3905250" y="2862263"/>
            <a:ext cx="2457450" cy="8048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98">
                <a:solidFill>
                  <a:srgbClr val="15232B"/>
                </a:solidFill>
              </a:defRPr>
            </a:pPr>
            <a:r>
              <a:rPr sz="998">
                <a:solidFill>
                  <a:srgbClr val="15232B"/>
                </a:solidFill>
              </a:rPr>
              <a:t>Konkretes Verhalten der beschuldigten Person bestimmen.</a:t>
            </a:r>
          </a:p>
        </p:txBody>
      </p:sp>
      <p:sp>
        <p:nvSpPr>
          <p:cNvPr id="12" name="">
            <a:extLst xmlns:a="http://schemas.openxmlformats.org/drawingml/2006/main">
              <a:ext uri="{FF2B5EF4-FFF2-40B4-BE49-F238E27FC236}">
                <a16:creationId xmlns:a16="http://schemas.microsoft.com/office/drawing/2014/main" id="{22E84952-6D4E-4EF6-B661-1BF11D0E14AC}"/>
              </a:ext>
            </a:extLst>
          </p:cNvPr>
          <p:cNvSpPr>
            <a:spLocks xmlns:a="http://schemas.openxmlformats.org/drawingml/2006/main" noGrp="1"/>
          </p:cNvSpPr>
          <p:nvPr/>
        </p:nvSpPr>
        <p:spPr>
          <a:xfrm xmlns:a="http://schemas.openxmlformats.org/drawingml/2006/main">
            <a:off x="1809750" y="3752850"/>
            <a:ext cx="400050" cy="823913"/>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3" name="">
            <a:extLst xmlns:a="http://schemas.openxmlformats.org/drawingml/2006/main">
              <a:ext uri="{FF2B5EF4-FFF2-40B4-BE49-F238E27FC236}">
                <a16:creationId xmlns:a16="http://schemas.microsoft.com/office/drawing/2014/main" id="{33A210B4-94A5-4562-BA15-02E42B68836F}"/>
              </a:ext>
            </a:extLst>
          </p:cNvPr>
          <p:cNvSpPr>
            <a:spLocks xmlns:a="http://schemas.openxmlformats.org/drawingml/2006/main" noGrp="1"/>
          </p:cNvSpPr>
          <p:nvPr/>
        </p:nvSpPr>
        <p:spPr>
          <a:xfrm xmlns:a="http://schemas.openxmlformats.org/drawingml/2006/main">
            <a:off x="1809750" y="3752850"/>
            <a:ext cx="400050" cy="8239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4" name="">
            <a:extLst xmlns:a="http://schemas.openxmlformats.org/drawingml/2006/main">
              <a:ext uri="{FF2B5EF4-FFF2-40B4-BE49-F238E27FC236}">
                <a16:creationId xmlns:a16="http://schemas.microsoft.com/office/drawing/2014/main" id="{75F2A054-76EA-4AF4-8AC0-EB47B2C0D4BA}"/>
              </a:ext>
            </a:extLst>
          </p:cNvPr>
          <p:cNvSpPr>
            <a:spLocks xmlns:a="http://schemas.openxmlformats.org/drawingml/2006/main" noGrp="1"/>
          </p:cNvSpPr>
          <p:nvPr/>
        </p:nvSpPr>
        <p:spPr>
          <a:xfrm xmlns:a="http://schemas.openxmlformats.org/drawingml/2006/main">
            <a:off x="2324100" y="3762375"/>
            <a:ext cx="1476375" cy="8048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95" b="1">
                <a:solidFill>
                  <a:srgbClr val="003F6B"/>
                </a:solidFill>
              </a:defRPr>
            </a:pPr>
            <a:r>
              <a:rPr sz="1095" b="1">
                <a:solidFill>
                  <a:srgbClr val="003F6B"/>
                </a:solidFill>
              </a:rPr>
              <a:t>3. Kausalität</a:t>
            </a:r>
          </a:p>
        </p:txBody>
      </p:sp>
      <p:sp>
        <p:nvSpPr>
          <p:cNvPr id="15" name="">
            <a:extLst xmlns:a="http://schemas.openxmlformats.org/drawingml/2006/main">
              <a:ext uri="{FF2B5EF4-FFF2-40B4-BE49-F238E27FC236}">
                <a16:creationId xmlns:a16="http://schemas.microsoft.com/office/drawing/2014/main" id="{779A090B-688C-415D-8A78-ABFCBC271B3F}"/>
              </a:ext>
            </a:extLst>
          </p:cNvPr>
          <p:cNvSpPr>
            <a:spLocks xmlns:a="http://schemas.openxmlformats.org/drawingml/2006/main" noGrp="1"/>
          </p:cNvSpPr>
          <p:nvPr/>
        </p:nvSpPr>
        <p:spPr>
          <a:xfrm xmlns:a="http://schemas.openxmlformats.org/drawingml/2006/main">
            <a:off x="3905250" y="3762375"/>
            <a:ext cx="2457450" cy="8048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98">
                <a:solidFill>
                  <a:srgbClr val="15232B"/>
                </a:solidFill>
              </a:defRPr>
            </a:pPr>
            <a:r>
              <a:rPr sz="998">
                <a:solidFill>
                  <a:srgbClr val="15232B"/>
                </a:solidFill>
              </a:rPr>
              <a:t>Ohne das Verhalten wäre der Erfolg in seiner konkreten Gestalt entfallen.</a:t>
            </a:r>
          </a:p>
        </p:txBody>
      </p:sp>
      <p:sp>
        <p:nvSpPr>
          <p:cNvPr id="16" name="">
            <a:extLst xmlns:a="http://schemas.openxmlformats.org/drawingml/2006/main">
              <a:ext uri="{FF2B5EF4-FFF2-40B4-BE49-F238E27FC236}">
                <a16:creationId xmlns:a16="http://schemas.microsoft.com/office/drawing/2014/main" id="{24B4670C-A9D3-4AB8-AEED-C4A1D360A5BE}"/>
              </a:ext>
            </a:extLst>
          </p:cNvPr>
          <p:cNvSpPr>
            <a:spLocks xmlns:a="http://schemas.openxmlformats.org/drawingml/2006/main" noGrp="1"/>
          </p:cNvSpPr>
          <p:nvPr/>
        </p:nvSpPr>
        <p:spPr>
          <a:xfrm xmlns:a="http://schemas.openxmlformats.org/drawingml/2006/main">
            <a:off x="1809750" y="4652963"/>
            <a:ext cx="400050" cy="823913"/>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7" name="">
            <a:extLst xmlns:a="http://schemas.openxmlformats.org/drawingml/2006/main">
              <a:ext uri="{FF2B5EF4-FFF2-40B4-BE49-F238E27FC236}">
                <a16:creationId xmlns:a16="http://schemas.microsoft.com/office/drawing/2014/main" id="{4C2D9781-11D5-46B8-88B4-6277B705341A}"/>
              </a:ext>
            </a:extLst>
          </p:cNvPr>
          <p:cNvSpPr>
            <a:spLocks xmlns:a="http://schemas.openxmlformats.org/drawingml/2006/main" noGrp="1"/>
          </p:cNvSpPr>
          <p:nvPr/>
        </p:nvSpPr>
        <p:spPr>
          <a:xfrm xmlns:a="http://schemas.openxmlformats.org/drawingml/2006/main">
            <a:off x="1809750" y="4652963"/>
            <a:ext cx="400050" cy="8239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18" name="">
            <a:extLst xmlns:a="http://schemas.openxmlformats.org/drawingml/2006/main">
              <a:ext uri="{FF2B5EF4-FFF2-40B4-BE49-F238E27FC236}">
                <a16:creationId xmlns:a16="http://schemas.microsoft.com/office/drawing/2014/main" id="{0AF1873F-53E0-4A91-9519-52BE85FA08B6}"/>
              </a:ext>
            </a:extLst>
          </p:cNvPr>
          <p:cNvSpPr>
            <a:spLocks xmlns:a="http://schemas.openxmlformats.org/drawingml/2006/main" noGrp="1"/>
          </p:cNvSpPr>
          <p:nvPr/>
        </p:nvSpPr>
        <p:spPr>
          <a:xfrm xmlns:a="http://schemas.openxmlformats.org/drawingml/2006/main">
            <a:off x="2324100" y="4662488"/>
            <a:ext cx="1476375" cy="8048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95" b="1">
                <a:solidFill>
                  <a:srgbClr val="003F6B"/>
                </a:solidFill>
              </a:defRPr>
            </a:pPr>
            <a:r>
              <a:rPr sz="1095" b="1">
                <a:solidFill>
                  <a:srgbClr val="003F6B"/>
                </a:solidFill>
              </a:rPr>
              <a:t>4. Objektive Sorgfaltspflichtverletzung</a:t>
            </a:r>
          </a:p>
        </p:txBody>
      </p:sp>
      <p:sp>
        <p:nvSpPr>
          <p:cNvPr id="19" name="">
            <a:extLst xmlns:a="http://schemas.openxmlformats.org/drawingml/2006/main">
              <a:ext uri="{FF2B5EF4-FFF2-40B4-BE49-F238E27FC236}">
                <a16:creationId xmlns:a16="http://schemas.microsoft.com/office/drawing/2014/main" id="{B5C94286-CF68-45D6-B92B-787307C8DE03}"/>
              </a:ext>
            </a:extLst>
          </p:cNvPr>
          <p:cNvSpPr>
            <a:spLocks xmlns:a="http://schemas.openxmlformats.org/drawingml/2006/main" noGrp="1"/>
          </p:cNvSpPr>
          <p:nvPr/>
        </p:nvSpPr>
        <p:spPr>
          <a:xfrm xmlns:a="http://schemas.openxmlformats.org/drawingml/2006/main">
            <a:off x="3905250" y="4662488"/>
            <a:ext cx="2457450" cy="8048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98">
                <a:solidFill>
                  <a:srgbClr val="15232B"/>
                </a:solidFill>
              </a:defRPr>
            </a:pPr>
            <a:r>
              <a:rPr sz="998">
                <a:solidFill>
                  <a:srgbClr val="15232B"/>
                </a:solidFill>
              </a:rPr>
              <a:t>Abweichung vom ex ante gebotenen medizinischen Verhalten.</a:t>
            </a:r>
          </a:p>
        </p:txBody>
      </p:sp>
      <p:sp>
        <p:nvSpPr>
          <p:cNvPr id="20" name="">
            <a:extLst xmlns:a="http://schemas.openxmlformats.org/drawingml/2006/main">
              <a:ext uri="{FF2B5EF4-FFF2-40B4-BE49-F238E27FC236}">
                <a16:creationId xmlns:a16="http://schemas.microsoft.com/office/drawing/2014/main" id="{3A028CEC-084E-4486-9D77-C0C621A1CE9C}"/>
              </a:ext>
            </a:extLst>
          </p:cNvPr>
          <p:cNvSpPr>
            <a:spLocks xmlns:a="http://schemas.openxmlformats.org/drawingml/2006/main" noGrp="1"/>
          </p:cNvSpPr>
          <p:nvPr/>
        </p:nvSpPr>
        <p:spPr>
          <a:xfrm xmlns:a="http://schemas.openxmlformats.org/drawingml/2006/main">
            <a:off x="6705600" y="1952625"/>
            <a:ext cx="400050" cy="823913"/>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1" name="">
            <a:extLst xmlns:a="http://schemas.openxmlformats.org/drawingml/2006/main">
              <a:ext uri="{FF2B5EF4-FFF2-40B4-BE49-F238E27FC236}">
                <a16:creationId xmlns:a16="http://schemas.microsoft.com/office/drawing/2014/main" id="{57B363D3-5983-4BAA-B9CF-F0041FF0089B}"/>
              </a:ext>
            </a:extLst>
          </p:cNvPr>
          <p:cNvSpPr>
            <a:spLocks xmlns:a="http://schemas.openxmlformats.org/drawingml/2006/main" noGrp="1"/>
          </p:cNvSpPr>
          <p:nvPr/>
        </p:nvSpPr>
        <p:spPr>
          <a:xfrm xmlns:a="http://schemas.openxmlformats.org/drawingml/2006/main">
            <a:off x="6705600" y="1952625"/>
            <a:ext cx="400050" cy="8239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5</a:t>
            </a:r>
          </a:p>
        </p:txBody>
      </p:sp>
      <p:sp>
        <p:nvSpPr>
          <p:cNvPr id="22" name="">
            <a:extLst xmlns:a="http://schemas.openxmlformats.org/drawingml/2006/main">
              <a:ext uri="{FF2B5EF4-FFF2-40B4-BE49-F238E27FC236}">
                <a16:creationId xmlns:a16="http://schemas.microsoft.com/office/drawing/2014/main" id="{4E7EF66C-D5FB-4FAF-AD3E-CCB08CE83955}"/>
              </a:ext>
            </a:extLst>
          </p:cNvPr>
          <p:cNvSpPr>
            <a:spLocks xmlns:a="http://schemas.openxmlformats.org/drawingml/2006/main" noGrp="1"/>
          </p:cNvSpPr>
          <p:nvPr/>
        </p:nvSpPr>
        <p:spPr>
          <a:xfrm xmlns:a="http://schemas.openxmlformats.org/drawingml/2006/main">
            <a:off x="7219950" y="1962150"/>
            <a:ext cx="1476375" cy="8048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95" b="1">
                <a:solidFill>
                  <a:srgbClr val="003F6B"/>
                </a:solidFill>
              </a:defRPr>
            </a:pPr>
            <a:r>
              <a:rPr sz="1095" b="1">
                <a:solidFill>
                  <a:srgbClr val="003F6B"/>
                </a:solidFill>
              </a:rPr>
              <a:t>5. Objektive Vorhersehbarkeit und Vermeidbarkeit</a:t>
            </a:r>
          </a:p>
        </p:txBody>
      </p:sp>
      <p:sp>
        <p:nvSpPr>
          <p:cNvPr id="23" name="">
            <a:extLst xmlns:a="http://schemas.openxmlformats.org/drawingml/2006/main">
              <a:ext uri="{FF2B5EF4-FFF2-40B4-BE49-F238E27FC236}">
                <a16:creationId xmlns:a16="http://schemas.microsoft.com/office/drawing/2014/main" id="{9B58F7D7-C5C8-4985-B4AC-BB8398B2BAAF}"/>
              </a:ext>
            </a:extLst>
          </p:cNvPr>
          <p:cNvSpPr>
            <a:spLocks xmlns:a="http://schemas.openxmlformats.org/drawingml/2006/main" noGrp="1"/>
          </p:cNvSpPr>
          <p:nvPr/>
        </p:nvSpPr>
        <p:spPr>
          <a:xfrm xmlns:a="http://schemas.openxmlformats.org/drawingml/2006/main">
            <a:off x="8801100" y="1962150"/>
            <a:ext cx="2457450" cy="8048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98">
                <a:solidFill>
                  <a:srgbClr val="15232B"/>
                </a:solidFill>
              </a:defRPr>
            </a:pPr>
            <a:r>
              <a:rPr sz="998">
                <a:solidFill>
                  <a:srgbClr val="15232B"/>
                </a:solidFill>
              </a:rPr>
              <a:t>Der Erfolg lag nicht außerhalb des erkennbaren Risikos und wäre vermeidbar gewesen.</a:t>
            </a:r>
          </a:p>
        </p:txBody>
      </p:sp>
      <p:sp>
        <p:nvSpPr>
          <p:cNvPr id="24" name="">
            <a:extLst xmlns:a="http://schemas.openxmlformats.org/drawingml/2006/main">
              <a:ext uri="{FF2B5EF4-FFF2-40B4-BE49-F238E27FC236}">
                <a16:creationId xmlns:a16="http://schemas.microsoft.com/office/drawing/2014/main" id="{410B9AF5-AA8F-424D-9E1B-A7BC17F33551}"/>
              </a:ext>
            </a:extLst>
          </p:cNvPr>
          <p:cNvSpPr>
            <a:spLocks xmlns:a="http://schemas.openxmlformats.org/drawingml/2006/main" noGrp="1"/>
          </p:cNvSpPr>
          <p:nvPr/>
        </p:nvSpPr>
        <p:spPr>
          <a:xfrm xmlns:a="http://schemas.openxmlformats.org/drawingml/2006/main">
            <a:off x="6705600" y="2852738"/>
            <a:ext cx="400050" cy="823913"/>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25" name="">
            <a:extLst xmlns:a="http://schemas.openxmlformats.org/drawingml/2006/main">
              <a:ext uri="{FF2B5EF4-FFF2-40B4-BE49-F238E27FC236}">
                <a16:creationId xmlns:a16="http://schemas.microsoft.com/office/drawing/2014/main" id="{DA03EF40-C362-4F50-9AD0-699FBEB5EAF4}"/>
              </a:ext>
            </a:extLst>
          </p:cNvPr>
          <p:cNvSpPr>
            <a:spLocks xmlns:a="http://schemas.openxmlformats.org/drawingml/2006/main" noGrp="1"/>
          </p:cNvSpPr>
          <p:nvPr/>
        </p:nvSpPr>
        <p:spPr>
          <a:xfrm xmlns:a="http://schemas.openxmlformats.org/drawingml/2006/main">
            <a:off x="6705600" y="2852738"/>
            <a:ext cx="400050" cy="8239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6</a:t>
            </a:r>
          </a:p>
        </p:txBody>
      </p:sp>
      <p:sp>
        <p:nvSpPr>
          <p:cNvPr id="26" name="">
            <a:extLst xmlns:a="http://schemas.openxmlformats.org/drawingml/2006/main">
              <a:ext uri="{FF2B5EF4-FFF2-40B4-BE49-F238E27FC236}">
                <a16:creationId xmlns:a16="http://schemas.microsoft.com/office/drawing/2014/main" id="{F7AEE857-0AB2-480C-89C6-7FAE9D9D792C}"/>
              </a:ext>
            </a:extLst>
          </p:cNvPr>
          <p:cNvSpPr>
            <a:spLocks xmlns:a="http://schemas.openxmlformats.org/drawingml/2006/main" noGrp="1"/>
          </p:cNvSpPr>
          <p:nvPr/>
        </p:nvSpPr>
        <p:spPr>
          <a:xfrm xmlns:a="http://schemas.openxmlformats.org/drawingml/2006/main">
            <a:off x="7219950" y="2862263"/>
            <a:ext cx="1476375" cy="8048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95" b="1">
                <a:solidFill>
                  <a:srgbClr val="003F6B"/>
                </a:solidFill>
              </a:defRPr>
            </a:pPr>
            <a:r>
              <a:rPr sz="1095" b="1">
                <a:solidFill>
                  <a:srgbClr val="003F6B"/>
                </a:solidFill>
              </a:rPr>
              <a:t>6. Objektive Zurechnung/Rechtswidrigkeit</a:t>
            </a:r>
          </a:p>
        </p:txBody>
      </p:sp>
      <p:sp>
        <p:nvSpPr>
          <p:cNvPr id="27" name="">
            <a:extLst xmlns:a="http://schemas.openxmlformats.org/drawingml/2006/main">
              <a:ext uri="{FF2B5EF4-FFF2-40B4-BE49-F238E27FC236}">
                <a16:creationId xmlns:a16="http://schemas.microsoft.com/office/drawing/2014/main" id="{4A7F1692-59EE-441D-93DB-2264F714328D}"/>
              </a:ext>
            </a:extLst>
          </p:cNvPr>
          <p:cNvSpPr>
            <a:spLocks xmlns:a="http://schemas.openxmlformats.org/drawingml/2006/main" noGrp="1"/>
          </p:cNvSpPr>
          <p:nvPr/>
        </p:nvSpPr>
        <p:spPr>
          <a:xfrm xmlns:a="http://schemas.openxmlformats.org/drawingml/2006/main">
            <a:off x="8801100" y="2862263"/>
            <a:ext cx="2457450" cy="8048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98">
                <a:solidFill>
                  <a:srgbClr val="15232B"/>
                </a:solidFill>
              </a:defRPr>
            </a:pPr>
            <a:r>
              <a:rPr sz="998">
                <a:solidFill>
                  <a:srgbClr val="15232B"/>
                </a:solidFill>
              </a:rPr>
              <a:t>Schutzzweck, erlaubtes Risiko und eigenverantwortliche Entscheidungen prüfen.</a:t>
            </a:r>
          </a:p>
        </p:txBody>
      </p:sp>
      <p:sp>
        <p:nvSpPr>
          <p:cNvPr id="28" name="">
            <a:extLst xmlns:a="http://schemas.openxmlformats.org/drawingml/2006/main">
              <a:ext uri="{FF2B5EF4-FFF2-40B4-BE49-F238E27FC236}">
                <a16:creationId xmlns:a16="http://schemas.microsoft.com/office/drawing/2014/main" id="{B966B8F2-9D9B-4DE8-97F4-D6F2C8CD120F}"/>
              </a:ext>
            </a:extLst>
          </p:cNvPr>
          <p:cNvSpPr>
            <a:spLocks xmlns:a="http://schemas.openxmlformats.org/drawingml/2006/main" noGrp="1"/>
          </p:cNvSpPr>
          <p:nvPr/>
        </p:nvSpPr>
        <p:spPr>
          <a:xfrm xmlns:a="http://schemas.openxmlformats.org/drawingml/2006/main">
            <a:off x="6705600" y="3752850"/>
            <a:ext cx="400050" cy="823913"/>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9" name="">
            <a:extLst xmlns:a="http://schemas.openxmlformats.org/drawingml/2006/main">
              <a:ext uri="{FF2B5EF4-FFF2-40B4-BE49-F238E27FC236}">
                <a16:creationId xmlns:a16="http://schemas.microsoft.com/office/drawing/2014/main" id="{558445BE-DE3B-4AA4-B0BD-77488186DC3B}"/>
              </a:ext>
            </a:extLst>
          </p:cNvPr>
          <p:cNvSpPr>
            <a:spLocks xmlns:a="http://schemas.openxmlformats.org/drawingml/2006/main" noGrp="1"/>
          </p:cNvSpPr>
          <p:nvPr/>
        </p:nvSpPr>
        <p:spPr>
          <a:xfrm xmlns:a="http://schemas.openxmlformats.org/drawingml/2006/main">
            <a:off x="6705600" y="3752850"/>
            <a:ext cx="400050" cy="8239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7</a:t>
            </a:r>
          </a:p>
        </p:txBody>
      </p:sp>
      <p:sp>
        <p:nvSpPr>
          <p:cNvPr id="30" name="">
            <a:extLst xmlns:a="http://schemas.openxmlformats.org/drawingml/2006/main">
              <a:ext uri="{FF2B5EF4-FFF2-40B4-BE49-F238E27FC236}">
                <a16:creationId xmlns:a16="http://schemas.microsoft.com/office/drawing/2014/main" id="{8A2FF479-120E-470D-AFE1-E4F7EE6A1B21}"/>
              </a:ext>
            </a:extLst>
          </p:cNvPr>
          <p:cNvSpPr>
            <a:spLocks xmlns:a="http://schemas.openxmlformats.org/drawingml/2006/main" noGrp="1"/>
          </p:cNvSpPr>
          <p:nvPr/>
        </p:nvSpPr>
        <p:spPr>
          <a:xfrm xmlns:a="http://schemas.openxmlformats.org/drawingml/2006/main">
            <a:off x="7219950" y="3762375"/>
            <a:ext cx="1476375" cy="8048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95" b="1">
                <a:solidFill>
                  <a:srgbClr val="003F6B"/>
                </a:solidFill>
              </a:defRPr>
            </a:pPr>
            <a:r>
              <a:rPr sz="1095" b="1">
                <a:solidFill>
                  <a:srgbClr val="003F6B"/>
                </a:solidFill>
              </a:rPr>
              <a:t>7. Schuld</a:t>
            </a:r>
          </a:p>
        </p:txBody>
      </p:sp>
      <p:sp>
        <p:nvSpPr>
          <p:cNvPr id="31" name="">
            <a:extLst xmlns:a="http://schemas.openxmlformats.org/drawingml/2006/main">
              <a:ext uri="{FF2B5EF4-FFF2-40B4-BE49-F238E27FC236}">
                <a16:creationId xmlns:a16="http://schemas.microsoft.com/office/drawing/2014/main" id="{B2E467EA-4381-4387-A71E-1CFC8E167151}"/>
              </a:ext>
            </a:extLst>
          </p:cNvPr>
          <p:cNvSpPr>
            <a:spLocks xmlns:a="http://schemas.openxmlformats.org/drawingml/2006/main" noGrp="1"/>
          </p:cNvSpPr>
          <p:nvPr/>
        </p:nvSpPr>
        <p:spPr>
          <a:xfrm xmlns:a="http://schemas.openxmlformats.org/drawingml/2006/main">
            <a:off x="8801100" y="3762375"/>
            <a:ext cx="2457450" cy="8048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98">
                <a:solidFill>
                  <a:srgbClr val="15232B"/>
                </a:solidFill>
              </a:defRPr>
            </a:pPr>
            <a:r>
              <a:rPr sz="998">
                <a:solidFill>
                  <a:srgbClr val="15232B"/>
                </a:solidFill>
              </a:rPr>
              <a:t>Individuelle Vorhersehbarkeit, Fähigkeiten, Zumutbarkeit und Entschuldigungsgründe.</a:t>
            </a:r>
          </a:p>
        </p:txBody>
      </p:sp>
      <p:sp>
        <p:nvSpPr>
          <p:cNvPr id="32" name="">
            <a:extLst xmlns:a="http://schemas.openxmlformats.org/drawingml/2006/main">
              <a:ext uri="{FF2B5EF4-FFF2-40B4-BE49-F238E27FC236}">
                <a16:creationId xmlns:a16="http://schemas.microsoft.com/office/drawing/2014/main" id="{E5161E1C-C375-46FF-8DBF-623B76406BEF}"/>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33" name="">
            <a:extLst xmlns:a="http://schemas.openxmlformats.org/drawingml/2006/main">
              <a:ext uri="{FF2B5EF4-FFF2-40B4-BE49-F238E27FC236}">
                <a16:creationId xmlns:a16="http://schemas.microsoft.com/office/drawing/2014/main" id="{3E69703C-9899-4496-A821-0C56763B4E31}"/>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Strafrecht verlangt einen persönlichen, zweifelsfrei nachweisbaren Fahrlässigkeitsvorwurf.</a:t>
            </a:r>
          </a:p>
        </p:txBody>
      </p:sp>
    </p:spTree>
    <p:extLst>
      <p:ext uri="{BB962C8B-B14F-4D97-AF65-F5344CB8AC3E}">
        <p14:creationId xmlns:p14="http://schemas.microsoft.com/office/powerpoint/2010/main" val="43637646"/>
      </p:ext>
    </p:extLst>
  </p:cSld>
</p:sld>
</file>

<file path=ppt/slides/slide232.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Fahrlässige Tötung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NORM IM FOKUS · § 222 StGB</a:t>
            </a:r>
            <a:endParaRPr/>
          </a:p>
        </p:txBody>
      </p:sp>
      <p:sp>
        <p:nvSpPr>
          <p:cNvPr id="4" name="">
            <a:extLst xmlns:a="http://schemas.openxmlformats.org/drawingml/2006/main">
              <a:ext uri="{FF2B5EF4-FFF2-40B4-BE49-F238E27FC236}">
                <a16:creationId xmlns:a16="http://schemas.microsoft.com/office/drawing/2014/main" id="{12DB2F71-39EF-4C94-B222-284A30EFB266}"/>
              </a:ext>
            </a:extLst>
          </p:cNvPr>
          <p:cNvSpPr>
            <a:spLocks xmlns:a="http://schemas.openxmlformats.org/drawingml/2006/main" noGrp="1"/>
          </p:cNvSpPr>
          <p:nvPr/>
        </p:nvSpPr>
        <p:spPr>
          <a:xfrm xmlns:a="http://schemas.openxmlformats.org/drawingml/2006/main">
            <a:off x="1809750" y="1924050"/>
            <a:ext cx="2286000" cy="704850"/>
          </a:xfrm>
          <a:prstGeom xmlns:a="http://schemas.openxmlformats.org/drawingml/2006/main" prst="roundRect">
            <a:avLst>
              <a:gd name="adj" fmla="val 10811"/>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277FFC87-5F73-4423-BA8F-EB8E24A39F4E}"/>
              </a:ext>
            </a:extLst>
          </p:cNvPr>
          <p:cNvSpPr>
            <a:spLocks xmlns:a="http://schemas.openxmlformats.org/drawingml/2006/main" noGrp="1"/>
          </p:cNvSpPr>
          <p:nvPr/>
        </p:nvSpPr>
        <p:spPr>
          <a:xfrm xmlns:a="http://schemas.openxmlformats.org/drawingml/2006/main">
            <a:off x="1924050" y="1971675"/>
            <a:ext cx="2057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75" b="1">
                <a:solidFill>
                  <a:srgbClr val="FFFFFF"/>
                </a:solidFill>
              </a:defRPr>
            </a:pPr>
            <a:r>
              <a:rPr sz="1875" b="1">
                <a:solidFill>
                  <a:srgbClr val="FFFFFF"/>
                </a:solidFill>
              </a:rPr>
              <a:t>§ 222 StGB</a:t>
            </a:r>
          </a:p>
        </p:txBody>
      </p:sp>
      <p:sp>
        <p:nvSpPr>
          <p:cNvPr id="6" name="">
            <a:extLst xmlns:a="http://schemas.openxmlformats.org/drawingml/2006/main">
              <a:ext uri="{FF2B5EF4-FFF2-40B4-BE49-F238E27FC236}">
                <a16:creationId xmlns:a16="http://schemas.microsoft.com/office/drawing/2014/main" id="{BF88C0ED-69A9-41C8-A7D3-5AE598ACB148}"/>
              </a:ext>
            </a:extLst>
          </p:cNvPr>
          <p:cNvSpPr>
            <a:spLocks xmlns:a="http://schemas.openxmlformats.org/drawingml/2006/main" noGrp="1"/>
          </p:cNvSpPr>
          <p:nvPr/>
        </p:nvSpPr>
        <p:spPr>
          <a:xfrm xmlns:a="http://schemas.openxmlformats.org/drawingml/2006/main">
            <a:off x="4362450" y="1924050"/>
            <a:ext cx="6972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15">
                <a:solidFill>
                  <a:srgbClr val="667680"/>
                </a:solidFill>
              </a:defRPr>
            </a:pPr>
            <a:r>
              <a:rPr sz="1215">
                <a:solidFill>
                  <a:srgbClr val="667680"/>
                </a:solidFill>
              </a:rPr>
              <a:t>Die Struktur entspricht der Fahrlässigkeitsprüfung, der tatbestandliche Erfolg ist der Tod eines Menschen.</a:t>
            </a:r>
          </a:p>
        </p:txBody>
      </p:sp>
      <p:sp>
        <p:nvSpPr>
          <p:cNvPr id="7" name="">
            <a:extLst xmlns:a="http://schemas.openxmlformats.org/drawingml/2006/main">
              <a:ext uri="{FF2B5EF4-FFF2-40B4-BE49-F238E27FC236}">
                <a16:creationId xmlns:a16="http://schemas.microsoft.com/office/drawing/2014/main" id="{0C231CFB-D09D-492E-9FC9-3D48CD8ACCFE}"/>
              </a:ext>
            </a:extLst>
          </p:cNvPr>
          <p:cNvSpPr>
            <a:spLocks xmlns:a="http://schemas.openxmlformats.org/drawingml/2006/main" noGrp="1"/>
          </p:cNvSpPr>
          <p:nvPr/>
        </p:nvSpPr>
        <p:spPr>
          <a:xfrm xmlns:a="http://schemas.openxmlformats.org/drawingml/2006/main">
            <a:off x="1809750" y="2781300"/>
            <a:ext cx="476250" cy="414338"/>
          </a:xfrm>
          <a:prstGeom xmlns:a="http://schemas.openxmlformats.org/drawingml/2006/main" prst="roundRect">
            <a:avLst>
              <a:gd name="adj" fmla="val 18391"/>
            </a:avLst>
          </a:prstGeom>
          <a:solidFill xmlns:a="http://schemas.openxmlformats.org/drawingml/2006/main">
            <a:srgbClr val="00B2BB"/>
          </a:solidFill>
          <a:ln xmlns:a="http://schemas.openxmlformats.org/drawingml/2006/main" w="0">
            <a:solidFill>
              <a:srgbClr val="00B2BB"/>
            </a:solidFill>
            <a:prstDash val="solid"/>
          </a:ln>
        </p:spPr>
      </p:sp>
      <p:sp>
        <p:nvSpPr>
          <p:cNvPr id="8" name="">
            <a:extLst xmlns:a="http://schemas.openxmlformats.org/drawingml/2006/main">
              <a:ext uri="{FF2B5EF4-FFF2-40B4-BE49-F238E27FC236}">
                <a16:creationId xmlns:a16="http://schemas.microsoft.com/office/drawing/2014/main" id="{F3007998-668C-4466-879B-65BC7C86E74A}"/>
              </a:ext>
            </a:extLst>
          </p:cNvPr>
          <p:cNvSpPr>
            <a:spLocks xmlns:a="http://schemas.openxmlformats.org/drawingml/2006/main" noGrp="1"/>
          </p:cNvSpPr>
          <p:nvPr/>
        </p:nvSpPr>
        <p:spPr>
          <a:xfrm xmlns:a="http://schemas.openxmlformats.org/drawingml/2006/main">
            <a:off x="1809750" y="2781300"/>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9" name="">
            <a:extLst xmlns:a="http://schemas.openxmlformats.org/drawingml/2006/main">
              <a:ext uri="{FF2B5EF4-FFF2-40B4-BE49-F238E27FC236}">
                <a16:creationId xmlns:a16="http://schemas.microsoft.com/office/drawing/2014/main" id="{2E45D116-4786-4FC3-843F-80F6DBB9EF52}"/>
              </a:ext>
            </a:extLst>
          </p:cNvPr>
          <p:cNvSpPr>
            <a:spLocks xmlns:a="http://schemas.openxmlformats.org/drawingml/2006/main" noGrp="1"/>
          </p:cNvSpPr>
          <p:nvPr/>
        </p:nvSpPr>
        <p:spPr>
          <a:xfrm xmlns:a="http://schemas.openxmlformats.org/drawingml/2006/main">
            <a:off x="2438400" y="2790825"/>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Todeserfolg und Kausalität</a:t>
            </a:r>
          </a:p>
        </p:txBody>
      </p:sp>
      <p:sp>
        <p:nvSpPr>
          <p:cNvPr id="10" name="">
            <a:extLst xmlns:a="http://schemas.openxmlformats.org/drawingml/2006/main">
              <a:ext uri="{FF2B5EF4-FFF2-40B4-BE49-F238E27FC236}">
                <a16:creationId xmlns:a16="http://schemas.microsoft.com/office/drawing/2014/main" id="{0651CF0D-088A-43A2-8DB0-B16F24510933}"/>
              </a:ext>
            </a:extLst>
          </p:cNvPr>
          <p:cNvSpPr>
            <a:spLocks xmlns:a="http://schemas.openxmlformats.org/drawingml/2006/main" noGrp="1"/>
          </p:cNvSpPr>
          <p:nvPr/>
        </p:nvSpPr>
        <p:spPr>
          <a:xfrm xmlns:a="http://schemas.openxmlformats.org/drawingml/2006/main">
            <a:off x="4591050" y="2790825"/>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Es muss nachgewiesen sein, dass das konkrete Verhalten für den Tod ursächlich war.</a:t>
            </a:r>
          </a:p>
        </p:txBody>
      </p:sp>
      <p:sp>
        <p:nvSpPr>
          <p:cNvPr id="11" name="">
            <a:extLst xmlns:a="http://schemas.openxmlformats.org/drawingml/2006/main">
              <a:ext uri="{FF2B5EF4-FFF2-40B4-BE49-F238E27FC236}">
                <a16:creationId xmlns:a16="http://schemas.microsoft.com/office/drawing/2014/main" id="{45902ABB-058B-4C23-9322-BE54CB38E383}"/>
              </a:ext>
            </a:extLst>
          </p:cNvPr>
          <p:cNvSpPr>
            <a:spLocks xmlns:a="http://schemas.openxmlformats.org/drawingml/2006/main" noGrp="1"/>
          </p:cNvSpPr>
          <p:nvPr/>
        </p:nvSpPr>
        <p:spPr>
          <a:xfrm xmlns:a="http://schemas.openxmlformats.org/drawingml/2006/main">
            <a:off x="1809750" y="3271838"/>
            <a:ext cx="476250" cy="414338"/>
          </a:xfrm>
          <a:prstGeom xmlns:a="http://schemas.openxmlformats.org/drawingml/2006/main" prst="roundRect">
            <a:avLst>
              <a:gd name="adj" fmla="val 18391"/>
            </a:avLst>
          </a:prstGeom>
          <a:solidFill xmlns:a="http://schemas.openxmlformats.org/drawingml/2006/main">
            <a:srgbClr val="003F6B"/>
          </a:solidFill>
          <a:ln xmlns:a="http://schemas.openxmlformats.org/drawingml/2006/main" w="0">
            <a:solidFill>
              <a:srgbClr val="003F6B"/>
            </a:solidFill>
            <a:prstDash val="solid"/>
          </a:ln>
        </p:spPr>
      </p:sp>
      <p:sp>
        <p:nvSpPr>
          <p:cNvPr id="12" name="">
            <a:extLst xmlns:a="http://schemas.openxmlformats.org/drawingml/2006/main">
              <a:ext uri="{FF2B5EF4-FFF2-40B4-BE49-F238E27FC236}">
                <a16:creationId xmlns:a16="http://schemas.microsoft.com/office/drawing/2014/main" id="{318B212B-0703-4335-82C6-71804AD889AD}"/>
              </a:ext>
            </a:extLst>
          </p:cNvPr>
          <p:cNvSpPr>
            <a:spLocks xmlns:a="http://schemas.openxmlformats.org/drawingml/2006/main" noGrp="1"/>
          </p:cNvSpPr>
          <p:nvPr/>
        </p:nvSpPr>
        <p:spPr>
          <a:xfrm xmlns:a="http://schemas.openxmlformats.org/drawingml/2006/main">
            <a:off x="1809750" y="3271838"/>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3" name="">
            <a:extLst xmlns:a="http://schemas.openxmlformats.org/drawingml/2006/main">
              <a:ext uri="{FF2B5EF4-FFF2-40B4-BE49-F238E27FC236}">
                <a16:creationId xmlns:a16="http://schemas.microsoft.com/office/drawing/2014/main" id="{7FAFBF5D-D262-4636-9603-8DBF405C90D0}"/>
              </a:ext>
            </a:extLst>
          </p:cNvPr>
          <p:cNvSpPr>
            <a:spLocks xmlns:a="http://schemas.openxmlformats.org/drawingml/2006/main" noGrp="1"/>
          </p:cNvSpPr>
          <p:nvPr/>
        </p:nvSpPr>
        <p:spPr>
          <a:xfrm xmlns:a="http://schemas.openxmlformats.org/drawingml/2006/main">
            <a:off x="2438400" y="3281363"/>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Sorgfaltspflicht</a:t>
            </a:r>
          </a:p>
        </p:txBody>
      </p:sp>
      <p:sp>
        <p:nvSpPr>
          <p:cNvPr id="14" name="">
            <a:extLst xmlns:a="http://schemas.openxmlformats.org/drawingml/2006/main">
              <a:ext uri="{FF2B5EF4-FFF2-40B4-BE49-F238E27FC236}">
                <a16:creationId xmlns:a16="http://schemas.microsoft.com/office/drawing/2014/main" id="{8CFBCFF6-CE8B-47AC-96E0-6726C4BB5EA0}"/>
              </a:ext>
            </a:extLst>
          </p:cNvPr>
          <p:cNvSpPr>
            <a:spLocks xmlns:a="http://schemas.openxmlformats.org/drawingml/2006/main" noGrp="1"/>
          </p:cNvSpPr>
          <p:nvPr/>
        </p:nvSpPr>
        <p:spPr>
          <a:xfrm xmlns:a="http://schemas.openxmlformats.org/drawingml/2006/main">
            <a:off x="4591050" y="3281363"/>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Maßstab ist das ex ante gebotene Verhalten in der konkreten medizinischen Rolle.</a:t>
            </a:r>
          </a:p>
        </p:txBody>
      </p:sp>
      <p:sp>
        <p:nvSpPr>
          <p:cNvPr id="15" name="">
            <a:extLst xmlns:a="http://schemas.openxmlformats.org/drawingml/2006/main">
              <a:ext uri="{FF2B5EF4-FFF2-40B4-BE49-F238E27FC236}">
                <a16:creationId xmlns:a16="http://schemas.microsoft.com/office/drawing/2014/main" id="{C45B50BE-DE5D-4BCD-B40B-9620AB4A9C69}"/>
              </a:ext>
            </a:extLst>
          </p:cNvPr>
          <p:cNvSpPr>
            <a:spLocks xmlns:a="http://schemas.openxmlformats.org/drawingml/2006/main" noGrp="1"/>
          </p:cNvSpPr>
          <p:nvPr/>
        </p:nvSpPr>
        <p:spPr>
          <a:xfrm xmlns:a="http://schemas.openxmlformats.org/drawingml/2006/main">
            <a:off x="1809750" y="3762375"/>
            <a:ext cx="476250" cy="414338"/>
          </a:xfrm>
          <a:prstGeom xmlns:a="http://schemas.openxmlformats.org/drawingml/2006/main" prst="roundRect">
            <a:avLst>
              <a:gd name="adj" fmla="val 18391"/>
            </a:avLst>
          </a:prstGeom>
          <a:solidFill xmlns:a="http://schemas.openxmlformats.org/drawingml/2006/main">
            <a:srgbClr val="00B2BB"/>
          </a:solidFill>
          <a:ln xmlns:a="http://schemas.openxmlformats.org/drawingml/2006/main" w="0">
            <a:solidFill>
              <a:srgbClr val="00B2BB"/>
            </a:solidFill>
            <a:prstDash val="solid"/>
          </a:ln>
        </p:spPr>
      </p:sp>
      <p:sp>
        <p:nvSpPr>
          <p:cNvPr id="16" name="">
            <a:extLst xmlns:a="http://schemas.openxmlformats.org/drawingml/2006/main">
              <a:ext uri="{FF2B5EF4-FFF2-40B4-BE49-F238E27FC236}">
                <a16:creationId xmlns:a16="http://schemas.microsoft.com/office/drawing/2014/main" id="{52EFE409-04A6-4E4B-8F5B-CC111873F3AE}"/>
              </a:ext>
            </a:extLst>
          </p:cNvPr>
          <p:cNvSpPr>
            <a:spLocks xmlns:a="http://schemas.openxmlformats.org/drawingml/2006/main" noGrp="1"/>
          </p:cNvSpPr>
          <p:nvPr/>
        </p:nvSpPr>
        <p:spPr>
          <a:xfrm xmlns:a="http://schemas.openxmlformats.org/drawingml/2006/main">
            <a:off x="1809750" y="3762375"/>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7" name="">
            <a:extLst xmlns:a="http://schemas.openxmlformats.org/drawingml/2006/main">
              <a:ext uri="{FF2B5EF4-FFF2-40B4-BE49-F238E27FC236}">
                <a16:creationId xmlns:a16="http://schemas.microsoft.com/office/drawing/2014/main" id="{81B7A2BE-520E-490F-A2F7-041B4DBC3705}"/>
              </a:ext>
            </a:extLst>
          </p:cNvPr>
          <p:cNvSpPr>
            <a:spLocks xmlns:a="http://schemas.openxmlformats.org/drawingml/2006/main" noGrp="1"/>
          </p:cNvSpPr>
          <p:nvPr/>
        </p:nvSpPr>
        <p:spPr>
          <a:xfrm xmlns:a="http://schemas.openxmlformats.org/drawingml/2006/main">
            <a:off x="2438400" y="3771900"/>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Vermeidbarkeit</a:t>
            </a:r>
          </a:p>
        </p:txBody>
      </p:sp>
      <p:sp>
        <p:nvSpPr>
          <p:cNvPr id="18" name="">
            <a:extLst xmlns:a="http://schemas.openxmlformats.org/drawingml/2006/main">
              <a:ext uri="{FF2B5EF4-FFF2-40B4-BE49-F238E27FC236}">
                <a16:creationId xmlns:a16="http://schemas.microsoft.com/office/drawing/2014/main" id="{8FDEE1A4-3C1D-4339-A301-EDDCA81879A2}"/>
              </a:ext>
            </a:extLst>
          </p:cNvPr>
          <p:cNvSpPr>
            <a:spLocks xmlns:a="http://schemas.openxmlformats.org/drawingml/2006/main" noGrp="1"/>
          </p:cNvSpPr>
          <p:nvPr/>
        </p:nvSpPr>
        <p:spPr>
          <a:xfrm xmlns:a="http://schemas.openxmlformats.org/drawingml/2006/main">
            <a:off x="4591050" y="3771900"/>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Es muss feststehen, dass pflichtgemäßes Verhalten den Tod verhindert hätte; Zweifel wirken im Strafprozess zugunsten der beschuldigten Person.</a:t>
            </a:r>
          </a:p>
        </p:txBody>
      </p:sp>
      <p:sp>
        <p:nvSpPr>
          <p:cNvPr id="19" name="">
            <a:extLst xmlns:a="http://schemas.openxmlformats.org/drawingml/2006/main">
              <a:ext uri="{FF2B5EF4-FFF2-40B4-BE49-F238E27FC236}">
                <a16:creationId xmlns:a16="http://schemas.microsoft.com/office/drawing/2014/main" id="{0E911A61-9E95-408C-B7FC-F2CEA3372202}"/>
              </a:ext>
            </a:extLst>
          </p:cNvPr>
          <p:cNvSpPr>
            <a:spLocks xmlns:a="http://schemas.openxmlformats.org/drawingml/2006/main" noGrp="1"/>
          </p:cNvSpPr>
          <p:nvPr/>
        </p:nvSpPr>
        <p:spPr>
          <a:xfrm xmlns:a="http://schemas.openxmlformats.org/drawingml/2006/main">
            <a:off x="1809750" y="4252913"/>
            <a:ext cx="476250" cy="414338"/>
          </a:xfrm>
          <a:prstGeom xmlns:a="http://schemas.openxmlformats.org/drawingml/2006/main" prst="roundRect">
            <a:avLst>
              <a:gd name="adj" fmla="val 18391"/>
            </a:avLst>
          </a:prstGeom>
          <a:solidFill xmlns:a="http://schemas.openxmlformats.org/drawingml/2006/main">
            <a:srgbClr val="003F6B"/>
          </a:solidFill>
          <a:ln xmlns:a="http://schemas.openxmlformats.org/drawingml/2006/main" w="0">
            <a:solidFill>
              <a:srgbClr val="003F6B"/>
            </a:solidFill>
            <a:prstDash val="solid"/>
          </a:ln>
        </p:spPr>
      </p:sp>
      <p:sp>
        <p:nvSpPr>
          <p:cNvPr id="20" name="">
            <a:extLst xmlns:a="http://schemas.openxmlformats.org/drawingml/2006/main">
              <a:ext uri="{FF2B5EF4-FFF2-40B4-BE49-F238E27FC236}">
                <a16:creationId xmlns:a16="http://schemas.microsoft.com/office/drawing/2014/main" id="{CF875BFE-87C4-4915-8AC0-90D29CE4352F}"/>
              </a:ext>
            </a:extLst>
          </p:cNvPr>
          <p:cNvSpPr>
            <a:spLocks xmlns:a="http://schemas.openxmlformats.org/drawingml/2006/main" noGrp="1"/>
          </p:cNvSpPr>
          <p:nvPr/>
        </p:nvSpPr>
        <p:spPr>
          <a:xfrm xmlns:a="http://schemas.openxmlformats.org/drawingml/2006/main">
            <a:off x="1809750" y="4252913"/>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21" name="">
            <a:extLst xmlns:a="http://schemas.openxmlformats.org/drawingml/2006/main">
              <a:ext uri="{FF2B5EF4-FFF2-40B4-BE49-F238E27FC236}">
                <a16:creationId xmlns:a16="http://schemas.microsoft.com/office/drawing/2014/main" id="{279C14BE-D0E4-4BFD-8802-3F754FC218D9}"/>
              </a:ext>
            </a:extLst>
          </p:cNvPr>
          <p:cNvSpPr>
            <a:spLocks xmlns:a="http://schemas.openxmlformats.org/drawingml/2006/main" noGrp="1"/>
          </p:cNvSpPr>
          <p:nvPr/>
        </p:nvSpPr>
        <p:spPr>
          <a:xfrm xmlns:a="http://schemas.openxmlformats.org/drawingml/2006/main">
            <a:off x="2438400" y="4262438"/>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Persönliche Vorwerfbarkeit</a:t>
            </a:r>
          </a:p>
        </p:txBody>
      </p:sp>
      <p:sp>
        <p:nvSpPr>
          <p:cNvPr id="22" name="">
            <a:extLst xmlns:a="http://schemas.openxmlformats.org/drawingml/2006/main">
              <a:ext uri="{FF2B5EF4-FFF2-40B4-BE49-F238E27FC236}">
                <a16:creationId xmlns:a16="http://schemas.microsoft.com/office/drawing/2014/main" id="{6BB797FF-CEF3-431B-9DB5-E6288F6B6132}"/>
              </a:ext>
            </a:extLst>
          </p:cNvPr>
          <p:cNvSpPr>
            <a:spLocks xmlns:a="http://schemas.openxmlformats.org/drawingml/2006/main" noGrp="1"/>
          </p:cNvSpPr>
          <p:nvPr/>
        </p:nvSpPr>
        <p:spPr>
          <a:xfrm xmlns:a="http://schemas.openxmlformats.org/drawingml/2006/main">
            <a:off x="4591050" y="4262438"/>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Arbeitsbelastung, Qualifikation, erkennbare Grenzen und Zumutbarkeit werden individuell gewürdigt.</a:t>
            </a:r>
          </a:p>
        </p:txBody>
      </p:sp>
      <p:sp>
        <p:nvSpPr>
          <p:cNvPr id="23" name="">
            <a:extLst xmlns:a="http://schemas.openxmlformats.org/drawingml/2006/main">
              <a:ext uri="{FF2B5EF4-FFF2-40B4-BE49-F238E27FC236}">
                <a16:creationId xmlns:a16="http://schemas.microsoft.com/office/drawing/2014/main" id="{DED9B0D2-D19F-46FB-8D8F-B05DDF20952B}"/>
              </a:ext>
            </a:extLst>
          </p:cNvPr>
          <p:cNvSpPr>
            <a:spLocks xmlns:a="http://schemas.openxmlformats.org/drawingml/2006/main" noGrp="1"/>
          </p:cNvSpPr>
          <p:nvPr/>
        </p:nvSpPr>
        <p:spPr>
          <a:xfrm xmlns:a="http://schemas.openxmlformats.org/drawingml/2006/main">
            <a:off x="1809750" y="4781550"/>
            <a:ext cx="9525000" cy="666750"/>
          </a:xfrm>
          <a:prstGeom xmlns:a="http://schemas.openxmlformats.org/drawingml/2006/main" prst="roundRect">
            <a:avLst>
              <a:gd name="adj" fmla="val 11429"/>
            </a:avLst>
          </a:prstGeom>
          <a:solidFill xmlns:a="http://schemas.openxmlformats.org/drawingml/2006/main">
            <a:srgbClr val="EAF6FB"/>
          </a:solidFill>
          <a:ln xmlns:a="http://schemas.openxmlformats.org/drawingml/2006/main" w="9525">
            <a:solidFill>
              <a:srgbClr val="00B2BB"/>
            </a:solidFill>
            <a:prstDash val="solid"/>
          </a:ln>
        </p:spPr>
      </p:sp>
      <p:sp>
        <p:nvSpPr>
          <p:cNvPr id="24" name="">
            <a:extLst xmlns:a="http://schemas.openxmlformats.org/drawingml/2006/main">
              <a:ext uri="{FF2B5EF4-FFF2-40B4-BE49-F238E27FC236}">
                <a16:creationId xmlns:a16="http://schemas.microsoft.com/office/drawing/2014/main" id="{F05D91E7-0B1D-4F3B-9B32-A2E8CBF1AE8C}"/>
              </a:ext>
            </a:extLst>
          </p:cNvPr>
          <p:cNvSpPr>
            <a:spLocks xmlns:a="http://schemas.openxmlformats.org/drawingml/2006/main" noGrp="1"/>
          </p:cNvSpPr>
          <p:nvPr/>
        </p:nvSpPr>
        <p:spPr>
          <a:xfrm xmlns:a="http://schemas.openxmlformats.org/drawingml/2006/main">
            <a:off x="1981200" y="4829175"/>
            <a:ext cx="9182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065">
                <a:solidFill>
                  <a:srgbClr val="15232B"/>
                </a:solidFill>
              </a:defRPr>
            </a:pPr>
            <a:r>
              <a:rPr sz="1065">
                <a:solidFill>
                  <a:srgbClr val="15232B"/>
                </a:solidFill>
              </a:rPr>
              <a:t>Beispiel · Beispiel: Eine lebensrettende Maßnahme wird trotz eindeutiger Indikation schuldhaft nicht eingeleitet; der Kausalnachweis muss den Tod bei pflichtgemäßem Handeln betreffen.</a:t>
            </a:r>
          </a:p>
        </p:txBody>
      </p:sp>
      <p:sp>
        <p:nvSpPr>
          <p:cNvPr id="25" name="">
            <a:extLst xmlns:a="http://schemas.openxmlformats.org/drawingml/2006/main">
              <a:ext uri="{FF2B5EF4-FFF2-40B4-BE49-F238E27FC236}">
                <a16:creationId xmlns:a16="http://schemas.microsoft.com/office/drawing/2014/main" id="{61A54614-536D-49E6-9381-EBA205D2A2B8}"/>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6" name="">
            <a:extLst xmlns:a="http://schemas.openxmlformats.org/drawingml/2006/main">
              <a:ext uri="{FF2B5EF4-FFF2-40B4-BE49-F238E27FC236}">
                <a16:creationId xmlns:a16="http://schemas.microsoft.com/office/drawing/2014/main" id="{8E40644E-273F-42E7-9E9F-C49951665FA0}"/>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Im Strafrecht gilt kein zivilrechtlicher Beweislastwechsel zulasten der beschuldigten Person.</a:t>
            </a:r>
          </a:p>
        </p:txBody>
      </p:sp>
    </p:spTree>
    <p:extLst>
      <p:ext uri="{BB962C8B-B14F-4D97-AF65-F5344CB8AC3E}">
        <p14:creationId xmlns:p14="http://schemas.microsoft.com/office/powerpoint/2010/main" val="43637646"/>
      </p:ext>
    </p:extLst>
  </p:cSld>
</p:sld>
</file>

<file path=ppt/slides/slide233.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Unterlassen und Garantenstellung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D75945BF-3F90-447A-93EA-0678FAEC8767}"/>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Nichtstun ist strafrechtlich nur unter besonderen Voraussetzungen einem aktiven Tun gleichgestellt.</a:t>
            </a:r>
          </a:p>
        </p:txBody>
      </p:sp>
      <p:sp>
        <p:nvSpPr>
          <p:cNvPr id="5" name="">
            <a:extLst xmlns:a="http://schemas.openxmlformats.org/drawingml/2006/main">
              <a:ext uri="{FF2B5EF4-FFF2-40B4-BE49-F238E27FC236}">
                <a16:creationId xmlns:a16="http://schemas.microsoft.com/office/drawing/2014/main" id="{FBA8301A-B6C1-430F-BA5C-29DCE8393164}"/>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E8696829-7D72-47EA-95C1-153B89D8DD63}"/>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797B0AEF-E725-4F8C-8E05-409C038DAF5D}"/>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Garantenstellung</a:t>
            </a:r>
          </a:p>
        </p:txBody>
      </p:sp>
      <p:sp>
        <p:nvSpPr>
          <p:cNvPr id="8" name="">
            <a:extLst xmlns:a="http://schemas.openxmlformats.org/drawingml/2006/main">
              <a:ext uri="{FF2B5EF4-FFF2-40B4-BE49-F238E27FC236}">
                <a16:creationId xmlns:a16="http://schemas.microsoft.com/office/drawing/2014/main" id="{91CE1D3F-FCC3-4264-91F3-45495A9BA553}"/>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Aus Behandlungsübernahme, Vertrag, vorangegangenem gefährdendem Verhalten oder Organisationsverantwortung kann eine Pflicht zum Schutz entstehen.</a:t>
            </a:r>
          </a:p>
        </p:txBody>
      </p:sp>
      <p:sp>
        <p:nvSpPr>
          <p:cNvPr id="9" name="">
            <a:extLst xmlns:a="http://schemas.openxmlformats.org/drawingml/2006/main">
              <a:ext uri="{FF2B5EF4-FFF2-40B4-BE49-F238E27FC236}">
                <a16:creationId xmlns:a16="http://schemas.microsoft.com/office/drawing/2014/main" id="{B4149AAE-934F-4D36-97E6-0ECA728C376D}"/>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D38CDFE2-E2F7-444A-B299-3C823E6B0772}"/>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6401EFA9-488A-419C-808C-78A751D900D0}"/>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Konkrete Handlung</a:t>
            </a:r>
          </a:p>
        </p:txBody>
      </p:sp>
      <p:sp>
        <p:nvSpPr>
          <p:cNvPr id="12" name="">
            <a:extLst xmlns:a="http://schemas.openxmlformats.org/drawingml/2006/main">
              <a:ext uri="{FF2B5EF4-FFF2-40B4-BE49-F238E27FC236}">
                <a16:creationId xmlns:a16="http://schemas.microsoft.com/office/drawing/2014/main" id="{E9EA6FBB-D3B1-4354-B9EA-6AE16C429EB8}"/>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Es muss bestimmt werden, welche mögliche und zumutbare Rettungs- oder Schutzhandlung geboten war.</a:t>
            </a:r>
          </a:p>
        </p:txBody>
      </p:sp>
      <p:sp>
        <p:nvSpPr>
          <p:cNvPr id="13" name="">
            <a:extLst xmlns:a="http://schemas.openxmlformats.org/drawingml/2006/main">
              <a:ext uri="{FF2B5EF4-FFF2-40B4-BE49-F238E27FC236}">
                <a16:creationId xmlns:a16="http://schemas.microsoft.com/office/drawing/2014/main" id="{311489CB-201B-4364-80FF-9756FF85E232}"/>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F440976C-1E3E-4B47-B32C-7C70B2CBF9DC}"/>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B97D77C8-BDDF-4209-BA05-9BFA5C17F22B}"/>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Quasi-Kausalität</a:t>
            </a:r>
          </a:p>
        </p:txBody>
      </p:sp>
      <p:sp>
        <p:nvSpPr>
          <p:cNvPr id="16" name="">
            <a:extLst xmlns:a="http://schemas.openxmlformats.org/drawingml/2006/main">
              <a:ext uri="{FF2B5EF4-FFF2-40B4-BE49-F238E27FC236}">
                <a16:creationId xmlns:a16="http://schemas.microsoft.com/office/drawing/2014/main" id="{D046D1CF-B95B-4A38-A8AE-0F757CA83FC1}"/>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Die Handlung wird hinzugedacht; der Erfolg müsste mit dem strafrechtlich erforderlichen Grad an Gewissheit entfallen sein.</a:t>
            </a:r>
          </a:p>
        </p:txBody>
      </p:sp>
      <p:sp>
        <p:nvSpPr>
          <p:cNvPr id="17" name="">
            <a:extLst xmlns:a="http://schemas.openxmlformats.org/drawingml/2006/main">
              <a:ext uri="{FF2B5EF4-FFF2-40B4-BE49-F238E27FC236}">
                <a16:creationId xmlns:a16="http://schemas.microsoft.com/office/drawing/2014/main" id="{A7B34528-7FB0-46B3-BE66-645A4C00AE24}"/>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15A163E5-6759-4068-99AC-7BF01463A492}"/>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AD62807C-B61E-472F-8039-97D32E3A99B0}"/>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Entsprechung</a:t>
            </a:r>
          </a:p>
        </p:txBody>
      </p:sp>
      <p:sp>
        <p:nvSpPr>
          <p:cNvPr id="20" name="">
            <a:extLst xmlns:a="http://schemas.openxmlformats.org/drawingml/2006/main">
              <a:ext uri="{FF2B5EF4-FFF2-40B4-BE49-F238E27FC236}">
                <a16:creationId xmlns:a16="http://schemas.microsoft.com/office/drawing/2014/main" id="{7C52E787-306B-48E1-BECE-8C39E8E6ADE6}"/>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Das Unterlassen muss dem aktiven Tun nach § 13 StGB wertungsmäßig entsprechen.</a:t>
            </a:r>
          </a:p>
        </p:txBody>
      </p:sp>
      <p:sp>
        <p:nvSpPr>
          <p:cNvPr id="21" name="">
            <a:extLst xmlns:a="http://schemas.openxmlformats.org/drawingml/2006/main">
              <a:ext uri="{FF2B5EF4-FFF2-40B4-BE49-F238E27FC236}">
                <a16:creationId xmlns:a16="http://schemas.microsoft.com/office/drawing/2014/main" id="{E008BC2C-6C1D-44AD-BD49-404EFC34C0C7}"/>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6F92200C-403D-4FD2-BFAB-D522E359E6BB}"/>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Eine allgemeine ärztliche Berufsrolle begründet nicht grenzenlos Verantwortung für jedes Geschehen.</a:t>
            </a:r>
          </a:p>
        </p:txBody>
      </p:sp>
    </p:spTree>
    <p:extLst>
      <p:ext uri="{BB962C8B-B14F-4D97-AF65-F5344CB8AC3E}">
        <p14:creationId xmlns:p14="http://schemas.microsoft.com/office/powerpoint/2010/main" val="43637646"/>
      </p:ext>
    </p:extLst>
  </p:cSld>
</p:sld>
</file>

<file path=ppt/slides/slide234.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Unechtes Unterlassungsdelikt</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PRÜFUNGSSCHEMA · § 13 StGB</a:t>
            </a:r>
            <a:endParaRPr/>
          </a:p>
        </p:txBody>
      </p:sp>
      <p:sp>
        <p:nvSpPr>
          <p:cNvPr id="4" name="">
            <a:extLst xmlns:a="http://schemas.openxmlformats.org/drawingml/2006/main">
              <a:ext uri="{FF2B5EF4-FFF2-40B4-BE49-F238E27FC236}">
                <a16:creationId xmlns:a16="http://schemas.microsoft.com/office/drawing/2014/main" id="{B3461F3E-582E-4285-9DD6-CD33253C97FF}"/>
              </a:ext>
            </a:extLst>
          </p:cNvPr>
          <p:cNvSpPr>
            <a:spLocks xmlns:a="http://schemas.openxmlformats.org/drawingml/2006/main" noGrp="1"/>
          </p:cNvSpPr>
          <p:nvPr/>
        </p:nvSpPr>
        <p:spPr>
          <a:xfrm xmlns:a="http://schemas.openxmlformats.org/drawingml/2006/main">
            <a:off x="1809750" y="1952625"/>
            <a:ext cx="400050" cy="823913"/>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D0FB3C54-3ABF-494B-A339-ED16B9229905}"/>
              </a:ext>
            </a:extLst>
          </p:cNvPr>
          <p:cNvSpPr>
            <a:spLocks xmlns:a="http://schemas.openxmlformats.org/drawingml/2006/main" noGrp="1"/>
          </p:cNvSpPr>
          <p:nvPr/>
        </p:nvSpPr>
        <p:spPr>
          <a:xfrm xmlns:a="http://schemas.openxmlformats.org/drawingml/2006/main">
            <a:off x="1809750" y="1952625"/>
            <a:ext cx="400050" cy="8239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6" name="">
            <a:extLst xmlns:a="http://schemas.openxmlformats.org/drawingml/2006/main">
              <a:ext uri="{FF2B5EF4-FFF2-40B4-BE49-F238E27FC236}">
                <a16:creationId xmlns:a16="http://schemas.microsoft.com/office/drawing/2014/main" id="{15F18039-EA38-418B-9FB3-1E35A961D554}"/>
              </a:ext>
            </a:extLst>
          </p:cNvPr>
          <p:cNvSpPr>
            <a:spLocks xmlns:a="http://schemas.openxmlformats.org/drawingml/2006/main" noGrp="1"/>
          </p:cNvSpPr>
          <p:nvPr/>
        </p:nvSpPr>
        <p:spPr>
          <a:xfrm xmlns:a="http://schemas.openxmlformats.org/drawingml/2006/main">
            <a:off x="2324100" y="1962150"/>
            <a:ext cx="1476375" cy="8048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95" b="1">
                <a:solidFill>
                  <a:srgbClr val="003F6B"/>
                </a:solidFill>
              </a:defRPr>
            </a:pPr>
            <a:r>
              <a:rPr sz="1095" b="1">
                <a:solidFill>
                  <a:srgbClr val="003F6B"/>
                </a:solidFill>
              </a:rPr>
              <a:t>1. Tatbestandsmäßiger Erfolg</a:t>
            </a:r>
          </a:p>
        </p:txBody>
      </p:sp>
      <p:sp>
        <p:nvSpPr>
          <p:cNvPr id="7" name="">
            <a:extLst xmlns:a="http://schemas.openxmlformats.org/drawingml/2006/main">
              <a:ext uri="{FF2B5EF4-FFF2-40B4-BE49-F238E27FC236}">
                <a16:creationId xmlns:a16="http://schemas.microsoft.com/office/drawing/2014/main" id="{2B902EA7-6465-4D9E-B2E5-BAD9ED79AFEA}"/>
              </a:ext>
            </a:extLst>
          </p:cNvPr>
          <p:cNvSpPr>
            <a:spLocks xmlns:a="http://schemas.openxmlformats.org/drawingml/2006/main" noGrp="1"/>
          </p:cNvSpPr>
          <p:nvPr/>
        </p:nvSpPr>
        <p:spPr>
          <a:xfrm xmlns:a="http://schemas.openxmlformats.org/drawingml/2006/main">
            <a:off x="3905250" y="1962150"/>
            <a:ext cx="2457450" cy="8048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98">
                <a:solidFill>
                  <a:srgbClr val="15232B"/>
                </a:solidFill>
              </a:defRPr>
            </a:pPr>
            <a:r>
              <a:rPr sz="998">
                <a:solidFill>
                  <a:srgbClr val="15232B"/>
                </a:solidFill>
              </a:rPr>
              <a:t>Zum Beispiel Gesundheitsschaden oder Tod.</a:t>
            </a:r>
          </a:p>
        </p:txBody>
      </p:sp>
      <p:sp>
        <p:nvSpPr>
          <p:cNvPr id="8" name="">
            <a:extLst xmlns:a="http://schemas.openxmlformats.org/drawingml/2006/main">
              <a:ext uri="{FF2B5EF4-FFF2-40B4-BE49-F238E27FC236}">
                <a16:creationId xmlns:a16="http://schemas.microsoft.com/office/drawing/2014/main" id="{64E372C2-5470-4391-AC37-45A5AC885822}"/>
              </a:ext>
            </a:extLst>
          </p:cNvPr>
          <p:cNvSpPr>
            <a:spLocks xmlns:a="http://schemas.openxmlformats.org/drawingml/2006/main" noGrp="1"/>
          </p:cNvSpPr>
          <p:nvPr/>
        </p:nvSpPr>
        <p:spPr>
          <a:xfrm xmlns:a="http://schemas.openxmlformats.org/drawingml/2006/main">
            <a:off x="1809750" y="2852738"/>
            <a:ext cx="400050" cy="823913"/>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9" name="">
            <a:extLst xmlns:a="http://schemas.openxmlformats.org/drawingml/2006/main">
              <a:ext uri="{FF2B5EF4-FFF2-40B4-BE49-F238E27FC236}">
                <a16:creationId xmlns:a16="http://schemas.microsoft.com/office/drawing/2014/main" id="{DC4ECFF4-9FE0-4181-B53D-9BE7FEF8900D}"/>
              </a:ext>
            </a:extLst>
          </p:cNvPr>
          <p:cNvSpPr>
            <a:spLocks xmlns:a="http://schemas.openxmlformats.org/drawingml/2006/main" noGrp="1"/>
          </p:cNvSpPr>
          <p:nvPr/>
        </p:nvSpPr>
        <p:spPr>
          <a:xfrm xmlns:a="http://schemas.openxmlformats.org/drawingml/2006/main">
            <a:off x="1809750" y="2852738"/>
            <a:ext cx="400050" cy="8239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0" name="">
            <a:extLst xmlns:a="http://schemas.openxmlformats.org/drawingml/2006/main">
              <a:ext uri="{FF2B5EF4-FFF2-40B4-BE49-F238E27FC236}">
                <a16:creationId xmlns:a16="http://schemas.microsoft.com/office/drawing/2014/main" id="{D9256166-BFD6-4C42-A4B7-7ED9313C1889}"/>
              </a:ext>
            </a:extLst>
          </p:cNvPr>
          <p:cNvSpPr>
            <a:spLocks xmlns:a="http://schemas.openxmlformats.org/drawingml/2006/main" noGrp="1"/>
          </p:cNvSpPr>
          <p:nvPr/>
        </p:nvSpPr>
        <p:spPr>
          <a:xfrm xmlns:a="http://schemas.openxmlformats.org/drawingml/2006/main">
            <a:off x="2324100" y="2862263"/>
            <a:ext cx="1476375" cy="8048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95" b="1">
                <a:solidFill>
                  <a:srgbClr val="003F6B"/>
                </a:solidFill>
              </a:defRPr>
            </a:pPr>
            <a:r>
              <a:rPr sz="1095" b="1">
                <a:solidFill>
                  <a:srgbClr val="003F6B"/>
                </a:solidFill>
              </a:rPr>
              <a:t>2. Unterlassen trotz Handlungsmöglichkeit</a:t>
            </a:r>
          </a:p>
        </p:txBody>
      </p:sp>
      <p:sp>
        <p:nvSpPr>
          <p:cNvPr id="11" name="">
            <a:extLst xmlns:a="http://schemas.openxmlformats.org/drawingml/2006/main">
              <a:ext uri="{FF2B5EF4-FFF2-40B4-BE49-F238E27FC236}">
                <a16:creationId xmlns:a16="http://schemas.microsoft.com/office/drawing/2014/main" id="{A5A79718-2157-43CE-B345-50D1B74756D1}"/>
              </a:ext>
            </a:extLst>
          </p:cNvPr>
          <p:cNvSpPr>
            <a:spLocks xmlns:a="http://schemas.openxmlformats.org/drawingml/2006/main" noGrp="1"/>
          </p:cNvSpPr>
          <p:nvPr/>
        </p:nvSpPr>
        <p:spPr>
          <a:xfrm xmlns:a="http://schemas.openxmlformats.org/drawingml/2006/main">
            <a:off x="3905250" y="2862263"/>
            <a:ext cx="2457450" cy="8048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98">
                <a:solidFill>
                  <a:srgbClr val="15232B"/>
                </a:solidFill>
              </a:defRPr>
            </a:pPr>
            <a:r>
              <a:rPr sz="998">
                <a:solidFill>
                  <a:srgbClr val="15232B"/>
                </a:solidFill>
              </a:rPr>
              <a:t>Welche konkrete Maßnahme wurde nicht vorgenommen, obwohl sie möglich war?</a:t>
            </a:r>
          </a:p>
        </p:txBody>
      </p:sp>
      <p:sp>
        <p:nvSpPr>
          <p:cNvPr id="12" name="">
            <a:extLst xmlns:a="http://schemas.openxmlformats.org/drawingml/2006/main">
              <a:ext uri="{FF2B5EF4-FFF2-40B4-BE49-F238E27FC236}">
                <a16:creationId xmlns:a16="http://schemas.microsoft.com/office/drawing/2014/main" id="{2B02FB51-7117-4F77-8543-D40B57CAB9D7}"/>
              </a:ext>
            </a:extLst>
          </p:cNvPr>
          <p:cNvSpPr>
            <a:spLocks xmlns:a="http://schemas.openxmlformats.org/drawingml/2006/main" noGrp="1"/>
          </p:cNvSpPr>
          <p:nvPr/>
        </p:nvSpPr>
        <p:spPr>
          <a:xfrm xmlns:a="http://schemas.openxmlformats.org/drawingml/2006/main">
            <a:off x="1809750" y="3752850"/>
            <a:ext cx="400050" cy="823913"/>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3" name="">
            <a:extLst xmlns:a="http://schemas.openxmlformats.org/drawingml/2006/main">
              <a:ext uri="{FF2B5EF4-FFF2-40B4-BE49-F238E27FC236}">
                <a16:creationId xmlns:a16="http://schemas.microsoft.com/office/drawing/2014/main" id="{97AFD1DC-7BC8-4AF7-8472-9CC886949BC5}"/>
              </a:ext>
            </a:extLst>
          </p:cNvPr>
          <p:cNvSpPr>
            <a:spLocks xmlns:a="http://schemas.openxmlformats.org/drawingml/2006/main" noGrp="1"/>
          </p:cNvSpPr>
          <p:nvPr/>
        </p:nvSpPr>
        <p:spPr>
          <a:xfrm xmlns:a="http://schemas.openxmlformats.org/drawingml/2006/main">
            <a:off x="1809750" y="3752850"/>
            <a:ext cx="400050" cy="8239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4" name="">
            <a:extLst xmlns:a="http://schemas.openxmlformats.org/drawingml/2006/main">
              <a:ext uri="{FF2B5EF4-FFF2-40B4-BE49-F238E27FC236}">
                <a16:creationId xmlns:a16="http://schemas.microsoft.com/office/drawing/2014/main" id="{00FDDB19-355C-4774-835F-797324F8EB96}"/>
              </a:ext>
            </a:extLst>
          </p:cNvPr>
          <p:cNvSpPr>
            <a:spLocks xmlns:a="http://schemas.openxmlformats.org/drawingml/2006/main" noGrp="1"/>
          </p:cNvSpPr>
          <p:nvPr/>
        </p:nvSpPr>
        <p:spPr>
          <a:xfrm xmlns:a="http://schemas.openxmlformats.org/drawingml/2006/main">
            <a:off x="2324100" y="3762375"/>
            <a:ext cx="1476375" cy="8048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95" b="1">
                <a:solidFill>
                  <a:srgbClr val="003F6B"/>
                </a:solidFill>
              </a:defRPr>
            </a:pPr>
            <a:r>
              <a:rPr sz="1095" b="1">
                <a:solidFill>
                  <a:srgbClr val="003F6B"/>
                </a:solidFill>
              </a:rPr>
              <a:t>3. Garantenstellung</a:t>
            </a:r>
          </a:p>
        </p:txBody>
      </p:sp>
      <p:sp>
        <p:nvSpPr>
          <p:cNvPr id="15" name="">
            <a:extLst xmlns:a="http://schemas.openxmlformats.org/drawingml/2006/main">
              <a:ext uri="{FF2B5EF4-FFF2-40B4-BE49-F238E27FC236}">
                <a16:creationId xmlns:a16="http://schemas.microsoft.com/office/drawing/2014/main" id="{D90917A0-23FB-4C0B-AFD7-64275A49679C}"/>
              </a:ext>
            </a:extLst>
          </p:cNvPr>
          <p:cNvSpPr>
            <a:spLocks xmlns:a="http://schemas.openxmlformats.org/drawingml/2006/main" noGrp="1"/>
          </p:cNvSpPr>
          <p:nvPr/>
        </p:nvSpPr>
        <p:spPr>
          <a:xfrm xmlns:a="http://schemas.openxmlformats.org/drawingml/2006/main">
            <a:off x="3905250" y="3762375"/>
            <a:ext cx="2457450" cy="8048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98">
                <a:solidFill>
                  <a:srgbClr val="15232B"/>
                </a:solidFill>
              </a:defRPr>
            </a:pPr>
            <a:r>
              <a:rPr sz="998">
                <a:solidFill>
                  <a:srgbClr val="15232B"/>
                </a:solidFill>
              </a:rPr>
              <a:t>Woraus folgt die besondere Pflicht, gerade diesen Erfolg abzuwenden?</a:t>
            </a:r>
          </a:p>
        </p:txBody>
      </p:sp>
      <p:sp>
        <p:nvSpPr>
          <p:cNvPr id="16" name="">
            <a:extLst xmlns:a="http://schemas.openxmlformats.org/drawingml/2006/main">
              <a:ext uri="{FF2B5EF4-FFF2-40B4-BE49-F238E27FC236}">
                <a16:creationId xmlns:a16="http://schemas.microsoft.com/office/drawing/2014/main" id="{93242751-5088-4E0B-A75B-35D0C78A0536}"/>
              </a:ext>
            </a:extLst>
          </p:cNvPr>
          <p:cNvSpPr>
            <a:spLocks xmlns:a="http://schemas.openxmlformats.org/drawingml/2006/main" noGrp="1"/>
          </p:cNvSpPr>
          <p:nvPr/>
        </p:nvSpPr>
        <p:spPr>
          <a:xfrm xmlns:a="http://schemas.openxmlformats.org/drawingml/2006/main">
            <a:off x="1809750" y="4652963"/>
            <a:ext cx="400050" cy="823913"/>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7" name="">
            <a:extLst xmlns:a="http://schemas.openxmlformats.org/drawingml/2006/main">
              <a:ext uri="{FF2B5EF4-FFF2-40B4-BE49-F238E27FC236}">
                <a16:creationId xmlns:a16="http://schemas.microsoft.com/office/drawing/2014/main" id="{AE1C50F0-E02F-48AF-B7C2-218A8EB42F28}"/>
              </a:ext>
            </a:extLst>
          </p:cNvPr>
          <p:cNvSpPr>
            <a:spLocks xmlns:a="http://schemas.openxmlformats.org/drawingml/2006/main" noGrp="1"/>
          </p:cNvSpPr>
          <p:nvPr/>
        </p:nvSpPr>
        <p:spPr>
          <a:xfrm xmlns:a="http://schemas.openxmlformats.org/drawingml/2006/main">
            <a:off x="1809750" y="4652963"/>
            <a:ext cx="400050" cy="8239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18" name="">
            <a:extLst xmlns:a="http://schemas.openxmlformats.org/drawingml/2006/main">
              <a:ext uri="{FF2B5EF4-FFF2-40B4-BE49-F238E27FC236}">
                <a16:creationId xmlns:a16="http://schemas.microsoft.com/office/drawing/2014/main" id="{588EC392-E670-448B-AA2D-01AE99CE863F}"/>
              </a:ext>
            </a:extLst>
          </p:cNvPr>
          <p:cNvSpPr>
            <a:spLocks xmlns:a="http://schemas.openxmlformats.org/drawingml/2006/main" noGrp="1"/>
          </p:cNvSpPr>
          <p:nvPr/>
        </p:nvSpPr>
        <p:spPr>
          <a:xfrm xmlns:a="http://schemas.openxmlformats.org/drawingml/2006/main">
            <a:off x="2324100" y="4662488"/>
            <a:ext cx="1476375" cy="8048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95" b="1">
                <a:solidFill>
                  <a:srgbClr val="003F6B"/>
                </a:solidFill>
              </a:defRPr>
            </a:pPr>
            <a:r>
              <a:rPr sz="1095" b="1">
                <a:solidFill>
                  <a:srgbClr val="003F6B"/>
                </a:solidFill>
              </a:rPr>
              <a:t>4. Quasi-Kausalität</a:t>
            </a:r>
          </a:p>
        </p:txBody>
      </p:sp>
      <p:sp>
        <p:nvSpPr>
          <p:cNvPr id="19" name="">
            <a:extLst xmlns:a="http://schemas.openxmlformats.org/drawingml/2006/main">
              <a:ext uri="{FF2B5EF4-FFF2-40B4-BE49-F238E27FC236}">
                <a16:creationId xmlns:a16="http://schemas.microsoft.com/office/drawing/2014/main" id="{CEC92A92-2F4A-43CB-B186-5B57B4BC74BB}"/>
              </a:ext>
            </a:extLst>
          </p:cNvPr>
          <p:cNvSpPr>
            <a:spLocks xmlns:a="http://schemas.openxmlformats.org/drawingml/2006/main" noGrp="1"/>
          </p:cNvSpPr>
          <p:nvPr/>
        </p:nvSpPr>
        <p:spPr>
          <a:xfrm xmlns:a="http://schemas.openxmlformats.org/drawingml/2006/main">
            <a:off x="3905250" y="4662488"/>
            <a:ext cx="2457450" cy="8048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98">
                <a:solidFill>
                  <a:srgbClr val="15232B"/>
                </a:solidFill>
              </a:defRPr>
            </a:pPr>
            <a:r>
              <a:rPr sz="998">
                <a:solidFill>
                  <a:srgbClr val="15232B"/>
                </a:solidFill>
              </a:rPr>
              <a:t>Wäre der Erfolg bei der gebotenen Handlung mit an Sicherheit grenzender Wahrscheinlichkeit entfallen?</a:t>
            </a:r>
          </a:p>
        </p:txBody>
      </p:sp>
      <p:sp>
        <p:nvSpPr>
          <p:cNvPr id="20" name="">
            <a:extLst xmlns:a="http://schemas.openxmlformats.org/drawingml/2006/main">
              <a:ext uri="{FF2B5EF4-FFF2-40B4-BE49-F238E27FC236}">
                <a16:creationId xmlns:a16="http://schemas.microsoft.com/office/drawing/2014/main" id="{3BAFA4A5-9997-42BC-B8E9-BA2B650345EC}"/>
              </a:ext>
            </a:extLst>
          </p:cNvPr>
          <p:cNvSpPr>
            <a:spLocks xmlns:a="http://schemas.openxmlformats.org/drawingml/2006/main" noGrp="1"/>
          </p:cNvSpPr>
          <p:nvPr/>
        </p:nvSpPr>
        <p:spPr>
          <a:xfrm xmlns:a="http://schemas.openxmlformats.org/drawingml/2006/main">
            <a:off x="6705600" y="1952625"/>
            <a:ext cx="400050" cy="823913"/>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1" name="">
            <a:extLst xmlns:a="http://schemas.openxmlformats.org/drawingml/2006/main">
              <a:ext uri="{FF2B5EF4-FFF2-40B4-BE49-F238E27FC236}">
                <a16:creationId xmlns:a16="http://schemas.microsoft.com/office/drawing/2014/main" id="{2479A163-A86F-442E-ABC7-A2C5A973614E}"/>
              </a:ext>
            </a:extLst>
          </p:cNvPr>
          <p:cNvSpPr>
            <a:spLocks xmlns:a="http://schemas.openxmlformats.org/drawingml/2006/main" noGrp="1"/>
          </p:cNvSpPr>
          <p:nvPr/>
        </p:nvSpPr>
        <p:spPr>
          <a:xfrm xmlns:a="http://schemas.openxmlformats.org/drawingml/2006/main">
            <a:off x="6705600" y="1952625"/>
            <a:ext cx="400050" cy="8239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5</a:t>
            </a:r>
          </a:p>
        </p:txBody>
      </p:sp>
      <p:sp>
        <p:nvSpPr>
          <p:cNvPr id="22" name="">
            <a:extLst xmlns:a="http://schemas.openxmlformats.org/drawingml/2006/main">
              <a:ext uri="{FF2B5EF4-FFF2-40B4-BE49-F238E27FC236}">
                <a16:creationId xmlns:a16="http://schemas.microsoft.com/office/drawing/2014/main" id="{CDFF66A8-2F71-4C54-B37A-7685375F3DA0}"/>
              </a:ext>
            </a:extLst>
          </p:cNvPr>
          <p:cNvSpPr>
            <a:spLocks xmlns:a="http://schemas.openxmlformats.org/drawingml/2006/main" noGrp="1"/>
          </p:cNvSpPr>
          <p:nvPr/>
        </p:nvSpPr>
        <p:spPr>
          <a:xfrm xmlns:a="http://schemas.openxmlformats.org/drawingml/2006/main">
            <a:off x="7219950" y="1962150"/>
            <a:ext cx="1476375" cy="8048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95" b="1">
                <a:solidFill>
                  <a:srgbClr val="003F6B"/>
                </a:solidFill>
              </a:defRPr>
            </a:pPr>
            <a:r>
              <a:rPr sz="1095" b="1">
                <a:solidFill>
                  <a:srgbClr val="003F6B"/>
                </a:solidFill>
              </a:rPr>
              <a:t>5. Objektive Zurechnung</a:t>
            </a:r>
          </a:p>
        </p:txBody>
      </p:sp>
      <p:sp>
        <p:nvSpPr>
          <p:cNvPr id="23" name="">
            <a:extLst xmlns:a="http://schemas.openxmlformats.org/drawingml/2006/main">
              <a:ext uri="{FF2B5EF4-FFF2-40B4-BE49-F238E27FC236}">
                <a16:creationId xmlns:a16="http://schemas.microsoft.com/office/drawing/2014/main" id="{6895BEDF-607F-4042-A9C6-F31F7DADA201}"/>
              </a:ext>
            </a:extLst>
          </p:cNvPr>
          <p:cNvSpPr>
            <a:spLocks xmlns:a="http://schemas.openxmlformats.org/drawingml/2006/main" noGrp="1"/>
          </p:cNvSpPr>
          <p:nvPr/>
        </p:nvSpPr>
        <p:spPr>
          <a:xfrm xmlns:a="http://schemas.openxmlformats.org/drawingml/2006/main">
            <a:off x="8801100" y="1962150"/>
            <a:ext cx="2457450" cy="8048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98">
                <a:solidFill>
                  <a:srgbClr val="15232B"/>
                </a:solidFill>
              </a:defRPr>
            </a:pPr>
            <a:r>
              <a:rPr sz="998">
                <a:solidFill>
                  <a:srgbClr val="15232B"/>
                </a:solidFill>
              </a:rPr>
              <a:t>Hat sich gerade das Risiko verwirklicht, dessen Abwendung die Pflicht diente?</a:t>
            </a:r>
          </a:p>
        </p:txBody>
      </p:sp>
      <p:sp>
        <p:nvSpPr>
          <p:cNvPr id="24" name="">
            <a:extLst xmlns:a="http://schemas.openxmlformats.org/drawingml/2006/main">
              <a:ext uri="{FF2B5EF4-FFF2-40B4-BE49-F238E27FC236}">
                <a16:creationId xmlns:a16="http://schemas.microsoft.com/office/drawing/2014/main" id="{F9387ED1-40AA-4E62-9320-B49F306F698A}"/>
              </a:ext>
            </a:extLst>
          </p:cNvPr>
          <p:cNvSpPr>
            <a:spLocks xmlns:a="http://schemas.openxmlformats.org/drawingml/2006/main" noGrp="1"/>
          </p:cNvSpPr>
          <p:nvPr/>
        </p:nvSpPr>
        <p:spPr>
          <a:xfrm xmlns:a="http://schemas.openxmlformats.org/drawingml/2006/main">
            <a:off x="6705600" y="2852738"/>
            <a:ext cx="400050" cy="823913"/>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25" name="">
            <a:extLst xmlns:a="http://schemas.openxmlformats.org/drawingml/2006/main">
              <a:ext uri="{FF2B5EF4-FFF2-40B4-BE49-F238E27FC236}">
                <a16:creationId xmlns:a16="http://schemas.microsoft.com/office/drawing/2014/main" id="{BB7D21E5-90E4-4E78-84A2-46BBBC0AD1BE}"/>
              </a:ext>
            </a:extLst>
          </p:cNvPr>
          <p:cNvSpPr>
            <a:spLocks xmlns:a="http://schemas.openxmlformats.org/drawingml/2006/main" noGrp="1"/>
          </p:cNvSpPr>
          <p:nvPr/>
        </p:nvSpPr>
        <p:spPr>
          <a:xfrm xmlns:a="http://schemas.openxmlformats.org/drawingml/2006/main">
            <a:off x="6705600" y="2852738"/>
            <a:ext cx="400050" cy="8239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6</a:t>
            </a:r>
          </a:p>
        </p:txBody>
      </p:sp>
      <p:sp>
        <p:nvSpPr>
          <p:cNvPr id="26" name="">
            <a:extLst xmlns:a="http://schemas.openxmlformats.org/drawingml/2006/main">
              <a:ext uri="{FF2B5EF4-FFF2-40B4-BE49-F238E27FC236}">
                <a16:creationId xmlns:a16="http://schemas.microsoft.com/office/drawing/2014/main" id="{7C9AD3AA-15BA-410B-8312-9D4A2DC5E5D4}"/>
              </a:ext>
            </a:extLst>
          </p:cNvPr>
          <p:cNvSpPr>
            <a:spLocks xmlns:a="http://schemas.openxmlformats.org/drawingml/2006/main" noGrp="1"/>
          </p:cNvSpPr>
          <p:nvPr/>
        </p:nvSpPr>
        <p:spPr>
          <a:xfrm xmlns:a="http://schemas.openxmlformats.org/drawingml/2006/main">
            <a:off x="7219950" y="2862263"/>
            <a:ext cx="1476375" cy="8048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95" b="1">
                <a:solidFill>
                  <a:srgbClr val="003F6B"/>
                </a:solidFill>
              </a:defRPr>
            </a:pPr>
            <a:r>
              <a:rPr sz="1095" b="1">
                <a:solidFill>
                  <a:srgbClr val="003F6B"/>
                </a:solidFill>
              </a:rPr>
              <a:t>6. Vorsatz oder Fahrlässigkeit</a:t>
            </a:r>
          </a:p>
        </p:txBody>
      </p:sp>
      <p:sp>
        <p:nvSpPr>
          <p:cNvPr id="27" name="">
            <a:extLst xmlns:a="http://schemas.openxmlformats.org/drawingml/2006/main">
              <a:ext uri="{FF2B5EF4-FFF2-40B4-BE49-F238E27FC236}">
                <a16:creationId xmlns:a16="http://schemas.microsoft.com/office/drawing/2014/main" id="{362F7CD3-1576-4D4D-9855-3417A09D5B2B}"/>
              </a:ext>
            </a:extLst>
          </p:cNvPr>
          <p:cNvSpPr>
            <a:spLocks xmlns:a="http://schemas.openxmlformats.org/drawingml/2006/main" noGrp="1"/>
          </p:cNvSpPr>
          <p:nvPr/>
        </p:nvSpPr>
        <p:spPr>
          <a:xfrm xmlns:a="http://schemas.openxmlformats.org/drawingml/2006/main">
            <a:off x="8801100" y="2862263"/>
            <a:ext cx="2457450" cy="8048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98">
                <a:solidFill>
                  <a:srgbClr val="15232B"/>
                </a:solidFill>
              </a:defRPr>
            </a:pPr>
            <a:r>
              <a:rPr sz="998">
                <a:solidFill>
                  <a:srgbClr val="15232B"/>
                </a:solidFill>
              </a:rPr>
              <a:t>Je nach Delikt werden subjektive Voraussetzungen und persönliche Vorwerfbarkeit geprüft.</a:t>
            </a:r>
          </a:p>
        </p:txBody>
      </p:sp>
      <p:sp>
        <p:nvSpPr>
          <p:cNvPr id="28" name="">
            <a:extLst xmlns:a="http://schemas.openxmlformats.org/drawingml/2006/main">
              <a:ext uri="{FF2B5EF4-FFF2-40B4-BE49-F238E27FC236}">
                <a16:creationId xmlns:a16="http://schemas.microsoft.com/office/drawing/2014/main" id="{D100141F-94C5-40D9-96BC-5633334FC8D2}"/>
              </a:ext>
            </a:extLst>
          </p:cNvPr>
          <p:cNvSpPr>
            <a:spLocks xmlns:a="http://schemas.openxmlformats.org/drawingml/2006/main" noGrp="1"/>
          </p:cNvSpPr>
          <p:nvPr/>
        </p:nvSpPr>
        <p:spPr>
          <a:xfrm xmlns:a="http://schemas.openxmlformats.org/drawingml/2006/main">
            <a:off x="6705600" y="3752850"/>
            <a:ext cx="400050" cy="823913"/>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9" name="">
            <a:extLst xmlns:a="http://schemas.openxmlformats.org/drawingml/2006/main">
              <a:ext uri="{FF2B5EF4-FFF2-40B4-BE49-F238E27FC236}">
                <a16:creationId xmlns:a16="http://schemas.microsoft.com/office/drawing/2014/main" id="{40833B04-3949-456E-A92F-7A6CDD826AC2}"/>
              </a:ext>
            </a:extLst>
          </p:cNvPr>
          <p:cNvSpPr>
            <a:spLocks xmlns:a="http://schemas.openxmlformats.org/drawingml/2006/main" noGrp="1"/>
          </p:cNvSpPr>
          <p:nvPr/>
        </p:nvSpPr>
        <p:spPr>
          <a:xfrm xmlns:a="http://schemas.openxmlformats.org/drawingml/2006/main">
            <a:off x="6705600" y="3752850"/>
            <a:ext cx="400050" cy="8239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7</a:t>
            </a:r>
          </a:p>
        </p:txBody>
      </p:sp>
      <p:sp>
        <p:nvSpPr>
          <p:cNvPr id="30" name="">
            <a:extLst xmlns:a="http://schemas.openxmlformats.org/drawingml/2006/main">
              <a:ext uri="{FF2B5EF4-FFF2-40B4-BE49-F238E27FC236}">
                <a16:creationId xmlns:a16="http://schemas.microsoft.com/office/drawing/2014/main" id="{F1F77A1C-389E-4D73-8473-2B2353ECF6E7}"/>
              </a:ext>
            </a:extLst>
          </p:cNvPr>
          <p:cNvSpPr>
            <a:spLocks xmlns:a="http://schemas.openxmlformats.org/drawingml/2006/main" noGrp="1"/>
          </p:cNvSpPr>
          <p:nvPr/>
        </p:nvSpPr>
        <p:spPr>
          <a:xfrm xmlns:a="http://schemas.openxmlformats.org/drawingml/2006/main">
            <a:off x="7219950" y="3762375"/>
            <a:ext cx="1476375" cy="8048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95" b="1">
                <a:solidFill>
                  <a:srgbClr val="003F6B"/>
                </a:solidFill>
              </a:defRPr>
            </a:pPr>
            <a:r>
              <a:rPr sz="1095" b="1">
                <a:solidFill>
                  <a:srgbClr val="003F6B"/>
                </a:solidFill>
              </a:rPr>
              <a:t>7. Gleichstellung und Zumutbarkeit</a:t>
            </a:r>
          </a:p>
        </p:txBody>
      </p:sp>
      <p:sp>
        <p:nvSpPr>
          <p:cNvPr id="31" name="">
            <a:extLst xmlns:a="http://schemas.openxmlformats.org/drawingml/2006/main">
              <a:ext uri="{FF2B5EF4-FFF2-40B4-BE49-F238E27FC236}">
                <a16:creationId xmlns:a16="http://schemas.microsoft.com/office/drawing/2014/main" id="{EDD66612-22FA-438C-B74B-35EF5C1DBB61}"/>
              </a:ext>
            </a:extLst>
          </p:cNvPr>
          <p:cNvSpPr>
            <a:spLocks xmlns:a="http://schemas.openxmlformats.org/drawingml/2006/main" noGrp="1"/>
          </p:cNvSpPr>
          <p:nvPr/>
        </p:nvSpPr>
        <p:spPr>
          <a:xfrm xmlns:a="http://schemas.openxmlformats.org/drawingml/2006/main">
            <a:off x="8801100" y="3762375"/>
            <a:ext cx="2457450" cy="8048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98">
                <a:solidFill>
                  <a:srgbClr val="15232B"/>
                </a:solidFill>
              </a:defRPr>
            </a:pPr>
            <a:r>
              <a:rPr sz="998">
                <a:solidFill>
                  <a:srgbClr val="15232B"/>
                </a:solidFill>
              </a:rPr>
              <a:t>Entspricht das Unterlassen aktivem Tun; war die Handlung tatsächlich zumutbar?</a:t>
            </a:r>
          </a:p>
        </p:txBody>
      </p:sp>
      <p:sp>
        <p:nvSpPr>
          <p:cNvPr id="32" name="">
            <a:extLst xmlns:a="http://schemas.openxmlformats.org/drawingml/2006/main">
              <a:ext uri="{FF2B5EF4-FFF2-40B4-BE49-F238E27FC236}">
                <a16:creationId xmlns:a16="http://schemas.microsoft.com/office/drawing/2014/main" id="{AD8465E7-6951-47F5-B4B7-F5842292FC21}"/>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33" name="">
            <a:extLst xmlns:a="http://schemas.openxmlformats.org/drawingml/2006/main">
              <a:ext uri="{FF2B5EF4-FFF2-40B4-BE49-F238E27FC236}">
                <a16:creationId xmlns:a16="http://schemas.microsoft.com/office/drawing/2014/main" id="{CF72FA33-0509-4855-A9E9-97BD37B2233F}"/>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Bei Unterlassen sind Rolle, Handlungsmöglichkeit und hypothetischer Verlauf besonders beweisintensiv.</a:t>
            </a:r>
          </a:p>
        </p:txBody>
      </p:sp>
    </p:spTree>
    <p:extLst>
      <p:ext uri="{BB962C8B-B14F-4D97-AF65-F5344CB8AC3E}">
        <p14:creationId xmlns:p14="http://schemas.microsoft.com/office/powerpoint/2010/main" val="43637646"/>
      </p:ext>
    </p:extLst>
  </p:cSld>
</p:sld>
</file>

<file path=ppt/slides/slide235.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Unterlassene Hilfeleistung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NORM IM FOKUS · § 323c StGB</a:t>
            </a:r>
            <a:endParaRPr/>
          </a:p>
        </p:txBody>
      </p:sp>
      <p:sp>
        <p:nvSpPr>
          <p:cNvPr id="4" name="">
            <a:extLst xmlns:a="http://schemas.openxmlformats.org/drawingml/2006/main">
              <a:ext uri="{FF2B5EF4-FFF2-40B4-BE49-F238E27FC236}">
                <a16:creationId xmlns:a16="http://schemas.microsoft.com/office/drawing/2014/main" id="{3FD28ABD-D273-4FA4-A07B-95A40FCE1A13}"/>
              </a:ext>
            </a:extLst>
          </p:cNvPr>
          <p:cNvSpPr>
            <a:spLocks xmlns:a="http://schemas.openxmlformats.org/drawingml/2006/main" noGrp="1"/>
          </p:cNvSpPr>
          <p:nvPr/>
        </p:nvSpPr>
        <p:spPr>
          <a:xfrm xmlns:a="http://schemas.openxmlformats.org/drawingml/2006/main">
            <a:off x="1809750" y="1924050"/>
            <a:ext cx="2286000" cy="704850"/>
          </a:xfrm>
          <a:prstGeom xmlns:a="http://schemas.openxmlformats.org/drawingml/2006/main" prst="roundRect">
            <a:avLst>
              <a:gd name="adj" fmla="val 10811"/>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36A9D541-B5FA-4157-9DAE-B7E763715EFB}"/>
              </a:ext>
            </a:extLst>
          </p:cNvPr>
          <p:cNvSpPr>
            <a:spLocks xmlns:a="http://schemas.openxmlformats.org/drawingml/2006/main" noGrp="1"/>
          </p:cNvSpPr>
          <p:nvPr/>
        </p:nvSpPr>
        <p:spPr>
          <a:xfrm xmlns:a="http://schemas.openxmlformats.org/drawingml/2006/main">
            <a:off x="1924050" y="1971675"/>
            <a:ext cx="2057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75" b="1">
                <a:solidFill>
                  <a:srgbClr val="FFFFFF"/>
                </a:solidFill>
              </a:defRPr>
            </a:pPr>
            <a:r>
              <a:rPr sz="1875" b="1">
                <a:solidFill>
                  <a:srgbClr val="FFFFFF"/>
                </a:solidFill>
              </a:rPr>
              <a:t>§ 323c StGB</a:t>
            </a:r>
          </a:p>
        </p:txBody>
      </p:sp>
      <p:sp>
        <p:nvSpPr>
          <p:cNvPr id="6" name="">
            <a:extLst xmlns:a="http://schemas.openxmlformats.org/drawingml/2006/main">
              <a:ext uri="{FF2B5EF4-FFF2-40B4-BE49-F238E27FC236}">
                <a16:creationId xmlns:a16="http://schemas.microsoft.com/office/drawing/2014/main" id="{822B21B1-E4ED-4D87-9A21-647A1DD9E78F}"/>
              </a:ext>
            </a:extLst>
          </p:cNvPr>
          <p:cNvSpPr>
            <a:spLocks xmlns:a="http://schemas.openxmlformats.org/drawingml/2006/main" noGrp="1"/>
          </p:cNvSpPr>
          <p:nvPr/>
        </p:nvSpPr>
        <p:spPr>
          <a:xfrm xmlns:a="http://schemas.openxmlformats.org/drawingml/2006/main">
            <a:off x="4362450" y="1924050"/>
            <a:ext cx="6972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15">
                <a:solidFill>
                  <a:srgbClr val="667680"/>
                </a:solidFill>
              </a:defRPr>
            </a:pPr>
            <a:r>
              <a:rPr sz="1215">
                <a:solidFill>
                  <a:srgbClr val="667680"/>
                </a:solidFill>
              </a:rPr>
              <a:t>Die Norm verpflichtet grundsätzlich jede Person zu zumutbarer Hilfe bei Unglücksfällen, gemeiner Gefahr oder Not.</a:t>
            </a:r>
          </a:p>
        </p:txBody>
      </p:sp>
      <p:sp>
        <p:nvSpPr>
          <p:cNvPr id="7" name="">
            <a:extLst xmlns:a="http://schemas.openxmlformats.org/drawingml/2006/main">
              <a:ext uri="{FF2B5EF4-FFF2-40B4-BE49-F238E27FC236}">
                <a16:creationId xmlns:a16="http://schemas.microsoft.com/office/drawing/2014/main" id="{EDA457DB-A5FF-460B-AE43-69EBD7F5FDC2}"/>
              </a:ext>
            </a:extLst>
          </p:cNvPr>
          <p:cNvSpPr>
            <a:spLocks xmlns:a="http://schemas.openxmlformats.org/drawingml/2006/main" noGrp="1"/>
          </p:cNvSpPr>
          <p:nvPr/>
        </p:nvSpPr>
        <p:spPr>
          <a:xfrm xmlns:a="http://schemas.openxmlformats.org/drawingml/2006/main">
            <a:off x="1809750" y="2781300"/>
            <a:ext cx="476250" cy="414338"/>
          </a:xfrm>
          <a:prstGeom xmlns:a="http://schemas.openxmlformats.org/drawingml/2006/main" prst="roundRect">
            <a:avLst>
              <a:gd name="adj" fmla="val 18391"/>
            </a:avLst>
          </a:prstGeom>
          <a:solidFill xmlns:a="http://schemas.openxmlformats.org/drawingml/2006/main">
            <a:srgbClr val="00B2BB"/>
          </a:solidFill>
          <a:ln xmlns:a="http://schemas.openxmlformats.org/drawingml/2006/main" w="0">
            <a:solidFill>
              <a:srgbClr val="00B2BB"/>
            </a:solidFill>
            <a:prstDash val="solid"/>
          </a:ln>
        </p:spPr>
      </p:sp>
      <p:sp>
        <p:nvSpPr>
          <p:cNvPr id="8" name="">
            <a:extLst xmlns:a="http://schemas.openxmlformats.org/drawingml/2006/main">
              <a:ext uri="{FF2B5EF4-FFF2-40B4-BE49-F238E27FC236}">
                <a16:creationId xmlns:a16="http://schemas.microsoft.com/office/drawing/2014/main" id="{4EFC778C-ABBC-4328-9E28-C2F0A88A58C4}"/>
              </a:ext>
            </a:extLst>
          </p:cNvPr>
          <p:cNvSpPr>
            <a:spLocks xmlns:a="http://schemas.openxmlformats.org/drawingml/2006/main" noGrp="1"/>
          </p:cNvSpPr>
          <p:nvPr/>
        </p:nvSpPr>
        <p:spPr>
          <a:xfrm xmlns:a="http://schemas.openxmlformats.org/drawingml/2006/main">
            <a:off x="1809750" y="2781300"/>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9" name="">
            <a:extLst xmlns:a="http://schemas.openxmlformats.org/drawingml/2006/main">
              <a:ext uri="{FF2B5EF4-FFF2-40B4-BE49-F238E27FC236}">
                <a16:creationId xmlns:a16="http://schemas.microsoft.com/office/drawing/2014/main" id="{4D5D35DF-1A8D-4289-9276-16C088481CE3}"/>
              </a:ext>
            </a:extLst>
          </p:cNvPr>
          <p:cNvSpPr>
            <a:spLocks xmlns:a="http://schemas.openxmlformats.org/drawingml/2006/main" noGrp="1"/>
          </p:cNvSpPr>
          <p:nvPr/>
        </p:nvSpPr>
        <p:spPr>
          <a:xfrm xmlns:a="http://schemas.openxmlformats.org/drawingml/2006/main">
            <a:off x="2438400" y="2790825"/>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Notsituation</a:t>
            </a:r>
          </a:p>
        </p:txBody>
      </p:sp>
      <p:sp>
        <p:nvSpPr>
          <p:cNvPr id="10" name="">
            <a:extLst xmlns:a="http://schemas.openxmlformats.org/drawingml/2006/main">
              <a:ext uri="{FF2B5EF4-FFF2-40B4-BE49-F238E27FC236}">
                <a16:creationId xmlns:a16="http://schemas.microsoft.com/office/drawing/2014/main" id="{7FA71A4B-D383-4FE8-B9AD-A082D17F0070}"/>
              </a:ext>
            </a:extLst>
          </p:cNvPr>
          <p:cNvSpPr>
            <a:spLocks xmlns:a="http://schemas.openxmlformats.org/drawingml/2006/main" noGrp="1"/>
          </p:cNvSpPr>
          <p:nvPr/>
        </p:nvSpPr>
        <p:spPr>
          <a:xfrm xmlns:a="http://schemas.openxmlformats.org/drawingml/2006/main">
            <a:off x="4591050" y="2790825"/>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Es muss ein Unglücksfall oder eine vergleichbare gesetzliche Gefahrensituation vorliegen.</a:t>
            </a:r>
          </a:p>
        </p:txBody>
      </p:sp>
      <p:sp>
        <p:nvSpPr>
          <p:cNvPr id="11" name="">
            <a:extLst xmlns:a="http://schemas.openxmlformats.org/drawingml/2006/main">
              <a:ext uri="{FF2B5EF4-FFF2-40B4-BE49-F238E27FC236}">
                <a16:creationId xmlns:a16="http://schemas.microsoft.com/office/drawing/2014/main" id="{43C1A7BF-15C9-4761-9C1F-C4B553AD1D4A}"/>
              </a:ext>
            </a:extLst>
          </p:cNvPr>
          <p:cNvSpPr>
            <a:spLocks xmlns:a="http://schemas.openxmlformats.org/drawingml/2006/main" noGrp="1"/>
          </p:cNvSpPr>
          <p:nvPr/>
        </p:nvSpPr>
        <p:spPr>
          <a:xfrm xmlns:a="http://schemas.openxmlformats.org/drawingml/2006/main">
            <a:off x="1809750" y="3271838"/>
            <a:ext cx="476250" cy="414338"/>
          </a:xfrm>
          <a:prstGeom xmlns:a="http://schemas.openxmlformats.org/drawingml/2006/main" prst="roundRect">
            <a:avLst>
              <a:gd name="adj" fmla="val 18391"/>
            </a:avLst>
          </a:prstGeom>
          <a:solidFill xmlns:a="http://schemas.openxmlformats.org/drawingml/2006/main">
            <a:srgbClr val="003F6B"/>
          </a:solidFill>
          <a:ln xmlns:a="http://schemas.openxmlformats.org/drawingml/2006/main" w="0">
            <a:solidFill>
              <a:srgbClr val="003F6B"/>
            </a:solidFill>
            <a:prstDash val="solid"/>
          </a:ln>
        </p:spPr>
      </p:sp>
      <p:sp>
        <p:nvSpPr>
          <p:cNvPr id="12" name="">
            <a:extLst xmlns:a="http://schemas.openxmlformats.org/drawingml/2006/main">
              <a:ext uri="{FF2B5EF4-FFF2-40B4-BE49-F238E27FC236}">
                <a16:creationId xmlns:a16="http://schemas.microsoft.com/office/drawing/2014/main" id="{42AD9819-66FA-48B7-8B01-5042DB992CAC}"/>
              </a:ext>
            </a:extLst>
          </p:cNvPr>
          <p:cNvSpPr>
            <a:spLocks xmlns:a="http://schemas.openxmlformats.org/drawingml/2006/main" noGrp="1"/>
          </p:cNvSpPr>
          <p:nvPr/>
        </p:nvSpPr>
        <p:spPr>
          <a:xfrm xmlns:a="http://schemas.openxmlformats.org/drawingml/2006/main">
            <a:off x="1809750" y="3271838"/>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3" name="">
            <a:extLst xmlns:a="http://schemas.openxmlformats.org/drawingml/2006/main">
              <a:ext uri="{FF2B5EF4-FFF2-40B4-BE49-F238E27FC236}">
                <a16:creationId xmlns:a16="http://schemas.microsoft.com/office/drawing/2014/main" id="{08AF7C16-81E0-408B-A0B5-1037DADCC19E}"/>
              </a:ext>
            </a:extLst>
          </p:cNvPr>
          <p:cNvSpPr>
            <a:spLocks xmlns:a="http://schemas.openxmlformats.org/drawingml/2006/main" noGrp="1"/>
          </p:cNvSpPr>
          <p:nvPr/>
        </p:nvSpPr>
        <p:spPr>
          <a:xfrm xmlns:a="http://schemas.openxmlformats.org/drawingml/2006/main">
            <a:off x="2438400" y="3281363"/>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Erforderliche Hilfe</a:t>
            </a:r>
          </a:p>
        </p:txBody>
      </p:sp>
      <p:sp>
        <p:nvSpPr>
          <p:cNvPr id="14" name="">
            <a:extLst xmlns:a="http://schemas.openxmlformats.org/drawingml/2006/main">
              <a:ext uri="{FF2B5EF4-FFF2-40B4-BE49-F238E27FC236}">
                <a16:creationId xmlns:a16="http://schemas.microsoft.com/office/drawing/2014/main" id="{491BA41C-55EC-4176-AB6C-D37FF329B82A}"/>
              </a:ext>
            </a:extLst>
          </p:cNvPr>
          <p:cNvSpPr>
            <a:spLocks xmlns:a="http://schemas.openxmlformats.org/drawingml/2006/main" noGrp="1"/>
          </p:cNvSpPr>
          <p:nvPr/>
        </p:nvSpPr>
        <p:spPr>
          <a:xfrm xmlns:a="http://schemas.openxmlformats.org/drawingml/2006/main">
            <a:off x="4591050" y="3281363"/>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Hilfe muss aus ex-ante-Sicht erforderlich und geeignet sein.</a:t>
            </a:r>
          </a:p>
        </p:txBody>
      </p:sp>
      <p:sp>
        <p:nvSpPr>
          <p:cNvPr id="15" name="">
            <a:extLst xmlns:a="http://schemas.openxmlformats.org/drawingml/2006/main">
              <a:ext uri="{FF2B5EF4-FFF2-40B4-BE49-F238E27FC236}">
                <a16:creationId xmlns:a16="http://schemas.microsoft.com/office/drawing/2014/main" id="{FE561454-ED03-4D3D-8D11-73D8E905F50E}"/>
              </a:ext>
            </a:extLst>
          </p:cNvPr>
          <p:cNvSpPr>
            <a:spLocks xmlns:a="http://schemas.openxmlformats.org/drawingml/2006/main" noGrp="1"/>
          </p:cNvSpPr>
          <p:nvPr/>
        </p:nvSpPr>
        <p:spPr>
          <a:xfrm xmlns:a="http://schemas.openxmlformats.org/drawingml/2006/main">
            <a:off x="1809750" y="3762375"/>
            <a:ext cx="476250" cy="414338"/>
          </a:xfrm>
          <a:prstGeom xmlns:a="http://schemas.openxmlformats.org/drawingml/2006/main" prst="roundRect">
            <a:avLst>
              <a:gd name="adj" fmla="val 18391"/>
            </a:avLst>
          </a:prstGeom>
          <a:solidFill xmlns:a="http://schemas.openxmlformats.org/drawingml/2006/main">
            <a:srgbClr val="00B2BB"/>
          </a:solidFill>
          <a:ln xmlns:a="http://schemas.openxmlformats.org/drawingml/2006/main" w="0">
            <a:solidFill>
              <a:srgbClr val="00B2BB"/>
            </a:solidFill>
            <a:prstDash val="solid"/>
          </a:ln>
        </p:spPr>
      </p:sp>
      <p:sp>
        <p:nvSpPr>
          <p:cNvPr id="16" name="">
            <a:extLst xmlns:a="http://schemas.openxmlformats.org/drawingml/2006/main">
              <a:ext uri="{FF2B5EF4-FFF2-40B4-BE49-F238E27FC236}">
                <a16:creationId xmlns:a16="http://schemas.microsoft.com/office/drawing/2014/main" id="{99CC6142-7E41-4CB7-925F-2C502425D884}"/>
              </a:ext>
            </a:extLst>
          </p:cNvPr>
          <p:cNvSpPr>
            <a:spLocks xmlns:a="http://schemas.openxmlformats.org/drawingml/2006/main" noGrp="1"/>
          </p:cNvSpPr>
          <p:nvPr/>
        </p:nvSpPr>
        <p:spPr>
          <a:xfrm xmlns:a="http://schemas.openxmlformats.org/drawingml/2006/main">
            <a:off x="1809750" y="3762375"/>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7" name="">
            <a:extLst xmlns:a="http://schemas.openxmlformats.org/drawingml/2006/main">
              <a:ext uri="{FF2B5EF4-FFF2-40B4-BE49-F238E27FC236}">
                <a16:creationId xmlns:a16="http://schemas.microsoft.com/office/drawing/2014/main" id="{B5320759-8BAD-4B46-AC16-6CAAEDD8E506}"/>
              </a:ext>
            </a:extLst>
          </p:cNvPr>
          <p:cNvSpPr>
            <a:spLocks xmlns:a="http://schemas.openxmlformats.org/drawingml/2006/main" noGrp="1"/>
          </p:cNvSpPr>
          <p:nvPr/>
        </p:nvSpPr>
        <p:spPr>
          <a:xfrm xmlns:a="http://schemas.openxmlformats.org/drawingml/2006/main">
            <a:off x="2438400" y="3771900"/>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Zumutbarkeit</a:t>
            </a:r>
          </a:p>
        </p:txBody>
      </p:sp>
      <p:sp>
        <p:nvSpPr>
          <p:cNvPr id="18" name="">
            <a:extLst xmlns:a="http://schemas.openxmlformats.org/drawingml/2006/main">
              <a:ext uri="{FF2B5EF4-FFF2-40B4-BE49-F238E27FC236}">
                <a16:creationId xmlns:a16="http://schemas.microsoft.com/office/drawing/2014/main" id="{3A1F4F2B-E198-4776-B6BB-854CC96E8EAA}"/>
              </a:ext>
            </a:extLst>
          </p:cNvPr>
          <p:cNvSpPr>
            <a:spLocks xmlns:a="http://schemas.openxmlformats.org/drawingml/2006/main" noGrp="1"/>
          </p:cNvSpPr>
          <p:nvPr/>
        </p:nvSpPr>
        <p:spPr>
          <a:xfrm xmlns:a="http://schemas.openxmlformats.org/drawingml/2006/main">
            <a:off x="4591050" y="3771900"/>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Erhebliche eigene Gefahr oder Verletzung anderer wichtiger Pflichten kann die Zumutbarkeit begrenzen.</a:t>
            </a:r>
          </a:p>
        </p:txBody>
      </p:sp>
      <p:sp>
        <p:nvSpPr>
          <p:cNvPr id="19" name="">
            <a:extLst xmlns:a="http://schemas.openxmlformats.org/drawingml/2006/main">
              <a:ext uri="{FF2B5EF4-FFF2-40B4-BE49-F238E27FC236}">
                <a16:creationId xmlns:a16="http://schemas.microsoft.com/office/drawing/2014/main" id="{486B62FA-1439-4D3A-9CA7-8834B095316F}"/>
              </a:ext>
            </a:extLst>
          </p:cNvPr>
          <p:cNvSpPr>
            <a:spLocks xmlns:a="http://schemas.openxmlformats.org/drawingml/2006/main" noGrp="1"/>
          </p:cNvSpPr>
          <p:nvPr/>
        </p:nvSpPr>
        <p:spPr>
          <a:xfrm xmlns:a="http://schemas.openxmlformats.org/drawingml/2006/main">
            <a:off x="1809750" y="4252913"/>
            <a:ext cx="476250" cy="414338"/>
          </a:xfrm>
          <a:prstGeom xmlns:a="http://schemas.openxmlformats.org/drawingml/2006/main" prst="roundRect">
            <a:avLst>
              <a:gd name="adj" fmla="val 18391"/>
            </a:avLst>
          </a:prstGeom>
          <a:solidFill xmlns:a="http://schemas.openxmlformats.org/drawingml/2006/main">
            <a:srgbClr val="003F6B"/>
          </a:solidFill>
          <a:ln xmlns:a="http://schemas.openxmlformats.org/drawingml/2006/main" w="0">
            <a:solidFill>
              <a:srgbClr val="003F6B"/>
            </a:solidFill>
            <a:prstDash val="solid"/>
          </a:ln>
        </p:spPr>
      </p:sp>
      <p:sp>
        <p:nvSpPr>
          <p:cNvPr id="20" name="">
            <a:extLst xmlns:a="http://schemas.openxmlformats.org/drawingml/2006/main">
              <a:ext uri="{FF2B5EF4-FFF2-40B4-BE49-F238E27FC236}">
                <a16:creationId xmlns:a16="http://schemas.microsoft.com/office/drawing/2014/main" id="{E2DAB659-2CAE-4E5F-BDE0-510E2C82B4AC}"/>
              </a:ext>
            </a:extLst>
          </p:cNvPr>
          <p:cNvSpPr>
            <a:spLocks xmlns:a="http://schemas.openxmlformats.org/drawingml/2006/main" noGrp="1"/>
          </p:cNvSpPr>
          <p:nvPr/>
        </p:nvSpPr>
        <p:spPr>
          <a:xfrm xmlns:a="http://schemas.openxmlformats.org/drawingml/2006/main">
            <a:off x="1809750" y="4252913"/>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21" name="">
            <a:extLst xmlns:a="http://schemas.openxmlformats.org/drawingml/2006/main">
              <a:ext uri="{FF2B5EF4-FFF2-40B4-BE49-F238E27FC236}">
                <a16:creationId xmlns:a16="http://schemas.microsoft.com/office/drawing/2014/main" id="{536F9EB1-8E80-486E-990F-9CA7AF639E90}"/>
              </a:ext>
            </a:extLst>
          </p:cNvPr>
          <p:cNvSpPr>
            <a:spLocks xmlns:a="http://schemas.openxmlformats.org/drawingml/2006/main" noGrp="1"/>
          </p:cNvSpPr>
          <p:nvPr/>
        </p:nvSpPr>
        <p:spPr>
          <a:xfrm xmlns:a="http://schemas.openxmlformats.org/drawingml/2006/main">
            <a:off x="2438400" y="4262438"/>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Abgrenzung</a:t>
            </a:r>
          </a:p>
        </p:txBody>
      </p:sp>
      <p:sp>
        <p:nvSpPr>
          <p:cNvPr id="22" name="">
            <a:extLst xmlns:a="http://schemas.openxmlformats.org/drawingml/2006/main">
              <a:ext uri="{FF2B5EF4-FFF2-40B4-BE49-F238E27FC236}">
                <a16:creationId xmlns:a16="http://schemas.microsoft.com/office/drawing/2014/main" id="{DB764212-A6B2-4070-A461-0F4F84184A6C}"/>
              </a:ext>
            </a:extLst>
          </p:cNvPr>
          <p:cNvSpPr>
            <a:spLocks xmlns:a="http://schemas.openxmlformats.org/drawingml/2006/main" noGrp="1"/>
          </p:cNvSpPr>
          <p:nvPr/>
        </p:nvSpPr>
        <p:spPr>
          <a:xfrm xmlns:a="http://schemas.openxmlformats.org/drawingml/2006/main">
            <a:off x="4591050" y="4262438"/>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Für behandelnde Ärztinnen kann zusätzlich eine weitergehende Garantenpflicht aus § 13 StGB bestehen.</a:t>
            </a:r>
          </a:p>
        </p:txBody>
      </p:sp>
      <p:sp>
        <p:nvSpPr>
          <p:cNvPr id="23" name="">
            <a:extLst xmlns:a="http://schemas.openxmlformats.org/drawingml/2006/main">
              <a:ext uri="{FF2B5EF4-FFF2-40B4-BE49-F238E27FC236}">
                <a16:creationId xmlns:a16="http://schemas.microsoft.com/office/drawing/2014/main" id="{121D6E31-E0C0-472F-96B6-F87384E9777C}"/>
              </a:ext>
            </a:extLst>
          </p:cNvPr>
          <p:cNvSpPr>
            <a:spLocks xmlns:a="http://schemas.openxmlformats.org/drawingml/2006/main" noGrp="1"/>
          </p:cNvSpPr>
          <p:nvPr/>
        </p:nvSpPr>
        <p:spPr>
          <a:xfrm xmlns:a="http://schemas.openxmlformats.org/drawingml/2006/main">
            <a:off x="1809750" y="4781550"/>
            <a:ext cx="9525000" cy="666750"/>
          </a:xfrm>
          <a:prstGeom xmlns:a="http://schemas.openxmlformats.org/drawingml/2006/main" prst="roundRect">
            <a:avLst>
              <a:gd name="adj" fmla="val 11429"/>
            </a:avLst>
          </a:prstGeom>
          <a:solidFill xmlns:a="http://schemas.openxmlformats.org/drawingml/2006/main">
            <a:srgbClr val="EAF6FB"/>
          </a:solidFill>
          <a:ln xmlns:a="http://schemas.openxmlformats.org/drawingml/2006/main" w="9525">
            <a:solidFill>
              <a:srgbClr val="00B2BB"/>
            </a:solidFill>
            <a:prstDash val="solid"/>
          </a:ln>
        </p:spPr>
      </p:sp>
      <p:sp>
        <p:nvSpPr>
          <p:cNvPr id="24" name="">
            <a:extLst xmlns:a="http://schemas.openxmlformats.org/drawingml/2006/main">
              <a:ext uri="{FF2B5EF4-FFF2-40B4-BE49-F238E27FC236}">
                <a16:creationId xmlns:a16="http://schemas.microsoft.com/office/drawing/2014/main" id="{E0D89299-4C63-48AD-8F81-D2A160695F65}"/>
              </a:ext>
            </a:extLst>
          </p:cNvPr>
          <p:cNvSpPr>
            <a:spLocks xmlns:a="http://schemas.openxmlformats.org/drawingml/2006/main" noGrp="1"/>
          </p:cNvSpPr>
          <p:nvPr/>
        </p:nvSpPr>
        <p:spPr>
          <a:xfrm xmlns:a="http://schemas.openxmlformats.org/drawingml/2006/main">
            <a:off x="1981200" y="4829175"/>
            <a:ext cx="9182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065">
                <a:solidFill>
                  <a:srgbClr val="15232B"/>
                </a:solidFill>
              </a:defRPr>
            </a:pPr>
            <a:r>
              <a:rPr sz="1065">
                <a:solidFill>
                  <a:srgbClr val="15232B"/>
                </a:solidFill>
              </a:rPr>
              <a:t>Beispiel · Beispiel: Bei einem Notfall wird zumindest der Rettungsdienst alarmiert und im Rahmen eigener Fähigkeiten erste Hilfe geleistet.</a:t>
            </a:r>
          </a:p>
        </p:txBody>
      </p:sp>
      <p:sp>
        <p:nvSpPr>
          <p:cNvPr id="25" name="">
            <a:extLst xmlns:a="http://schemas.openxmlformats.org/drawingml/2006/main">
              <a:ext uri="{FF2B5EF4-FFF2-40B4-BE49-F238E27FC236}">
                <a16:creationId xmlns:a16="http://schemas.microsoft.com/office/drawing/2014/main" id="{C0A89273-E0FD-404A-BBE5-BEF8F1DD4B73}"/>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6" name="">
            <a:extLst xmlns:a="http://schemas.openxmlformats.org/drawingml/2006/main">
              <a:ext uri="{FF2B5EF4-FFF2-40B4-BE49-F238E27FC236}">
                <a16:creationId xmlns:a16="http://schemas.microsoft.com/office/drawing/2014/main" id="{31309CF1-533C-41D2-96BD-55E9CFCC62FF}"/>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 323c StGB ist eine allgemeine Mindestpflicht; konkrete Behandlungsverantwortung kann weiter reichen.</a:t>
            </a:r>
          </a:p>
        </p:txBody>
      </p:sp>
    </p:spTree>
    <p:extLst>
      <p:ext uri="{BB962C8B-B14F-4D97-AF65-F5344CB8AC3E}">
        <p14:creationId xmlns:p14="http://schemas.microsoft.com/office/powerpoint/2010/main" val="43637646"/>
      </p:ext>
    </p:extLst>
  </p:cSld>
</p:sld>
</file>

<file path=ppt/slides/slide236.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Verletzung von Privatgeheimnissen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NORM IM FOKUS · § 203 StGB</a:t>
            </a:r>
            <a:endParaRPr/>
          </a:p>
        </p:txBody>
      </p:sp>
      <p:sp>
        <p:nvSpPr>
          <p:cNvPr id="4" name="">
            <a:extLst xmlns:a="http://schemas.openxmlformats.org/drawingml/2006/main">
              <a:ext uri="{FF2B5EF4-FFF2-40B4-BE49-F238E27FC236}">
                <a16:creationId xmlns:a16="http://schemas.microsoft.com/office/drawing/2014/main" id="{964545F5-735D-4058-B62D-C7D2D0CA2B72}"/>
              </a:ext>
            </a:extLst>
          </p:cNvPr>
          <p:cNvSpPr>
            <a:spLocks xmlns:a="http://schemas.openxmlformats.org/drawingml/2006/main" noGrp="1"/>
          </p:cNvSpPr>
          <p:nvPr/>
        </p:nvSpPr>
        <p:spPr>
          <a:xfrm xmlns:a="http://schemas.openxmlformats.org/drawingml/2006/main">
            <a:off x="1809750" y="1924050"/>
            <a:ext cx="2286000" cy="704850"/>
          </a:xfrm>
          <a:prstGeom xmlns:a="http://schemas.openxmlformats.org/drawingml/2006/main" prst="roundRect">
            <a:avLst>
              <a:gd name="adj" fmla="val 10811"/>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4773AB8B-F670-46B5-9514-D10099C040AD}"/>
              </a:ext>
            </a:extLst>
          </p:cNvPr>
          <p:cNvSpPr>
            <a:spLocks xmlns:a="http://schemas.openxmlformats.org/drawingml/2006/main" noGrp="1"/>
          </p:cNvSpPr>
          <p:nvPr/>
        </p:nvSpPr>
        <p:spPr>
          <a:xfrm xmlns:a="http://schemas.openxmlformats.org/drawingml/2006/main">
            <a:off x="1924050" y="1971675"/>
            <a:ext cx="2057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75" b="1">
                <a:solidFill>
                  <a:srgbClr val="FFFFFF"/>
                </a:solidFill>
              </a:defRPr>
            </a:pPr>
            <a:r>
              <a:rPr sz="1875" b="1">
                <a:solidFill>
                  <a:srgbClr val="FFFFFF"/>
                </a:solidFill>
              </a:rPr>
              <a:t>§ 203 StGB</a:t>
            </a:r>
          </a:p>
        </p:txBody>
      </p:sp>
      <p:sp>
        <p:nvSpPr>
          <p:cNvPr id="6" name="">
            <a:extLst xmlns:a="http://schemas.openxmlformats.org/drawingml/2006/main">
              <a:ext uri="{FF2B5EF4-FFF2-40B4-BE49-F238E27FC236}">
                <a16:creationId xmlns:a16="http://schemas.microsoft.com/office/drawing/2014/main" id="{3EE8B78F-66EE-4A01-8672-BDBB23C7AACD}"/>
              </a:ext>
            </a:extLst>
          </p:cNvPr>
          <p:cNvSpPr>
            <a:spLocks xmlns:a="http://schemas.openxmlformats.org/drawingml/2006/main" noGrp="1"/>
          </p:cNvSpPr>
          <p:nvPr/>
        </p:nvSpPr>
        <p:spPr>
          <a:xfrm xmlns:a="http://schemas.openxmlformats.org/drawingml/2006/main">
            <a:off x="4362450" y="1924050"/>
            <a:ext cx="6972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15">
                <a:solidFill>
                  <a:srgbClr val="667680"/>
                </a:solidFill>
              </a:defRPr>
            </a:pPr>
            <a:r>
              <a:rPr sz="1215">
                <a:solidFill>
                  <a:srgbClr val="667680"/>
                </a:solidFill>
              </a:rPr>
              <a:t>Die Norm schützt Geheimnisse, die bestimmten Berufsgeheimnisträgern in beruflichem Zusammenhang anvertraut oder bekannt werden.</a:t>
            </a:r>
          </a:p>
        </p:txBody>
      </p:sp>
      <p:sp>
        <p:nvSpPr>
          <p:cNvPr id="7" name="">
            <a:extLst xmlns:a="http://schemas.openxmlformats.org/drawingml/2006/main">
              <a:ext uri="{FF2B5EF4-FFF2-40B4-BE49-F238E27FC236}">
                <a16:creationId xmlns:a16="http://schemas.microsoft.com/office/drawing/2014/main" id="{FA09E520-0EB2-43D6-B1DE-C99C470CAC25}"/>
              </a:ext>
            </a:extLst>
          </p:cNvPr>
          <p:cNvSpPr>
            <a:spLocks xmlns:a="http://schemas.openxmlformats.org/drawingml/2006/main" noGrp="1"/>
          </p:cNvSpPr>
          <p:nvPr/>
        </p:nvSpPr>
        <p:spPr>
          <a:xfrm xmlns:a="http://schemas.openxmlformats.org/drawingml/2006/main">
            <a:off x="1809750" y="2781300"/>
            <a:ext cx="476250" cy="414338"/>
          </a:xfrm>
          <a:prstGeom xmlns:a="http://schemas.openxmlformats.org/drawingml/2006/main" prst="roundRect">
            <a:avLst>
              <a:gd name="adj" fmla="val 18391"/>
            </a:avLst>
          </a:prstGeom>
          <a:solidFill xmlns:a="http://schemas.openxmlformats.org/drawingml/2006/main">
            <a:srgbClr val="00B2BB"/>
          </a:solidFill>
          <a:ln xmlns:a="http://schemas.openxmlformats.org/drawingml/2006/main" w="0">
            <a:solidFill>
              <a:srgbClr val="00B2BB"/>
            </a:solidFill>
            <a:prstDash val="solid"/>
          </a:ln>
        </p:spPr>
      </p:sp>
      <p:sp>
        <p:nvSpPr>
          <p:cNvPr id="8" name="">
            <a:extLst xmlns:a="http://schemas.openxmlformats.org/drawingml/2006/main">
              <a:ext uri="{FF2B5EF4-FFF2-40B4-BE49-F238E27FC236}">
                <a16:creationId xmlns:a16="http://schemas.microsoft.com/office/drawing/2014/main" id="{AF560A37-4821-4A43-AB8B-FB40D993C335}"/>
              </a:ext>
            </a:extLst>
          </p:cNvPr>
          <p:cNvSpPr>
            <a:spLocks xmlns:a="http://schemas.openxmlformats.org/drawingml/2006/main" noGrp="1"/>
          </p:cNvSpPr>
          <p:nvPr/>
        </p:nvSpPr>
        <p:spPr>
          <a:xfrm xmlns:a="http://schemas.openxmlformats.org/drawingml/2006/main">
            <a:off x="1809750" y="2781300"/>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9" name="">
            <a:extLst xmlns:a="http://schemas.openxmlformats.org/drawingml/2006/main">
              <a:ext uri="{FF2B5EF4-FFF2-40B4-BE49-F238E27FC236}">
                <a16:creationId xmlns:a16="http://schemas.microsoft.com/office/drawing/2014/main" id="{8047DCDD-9384-4BAA-A2A3-45A37399030C}"/>
              </a:ext>
            </a:extLst>
          </p:cNvPr>
          <p:cNvSpPr>
            <a:spLocks xmlns:a="http://schemas.openxmlformats.org/drawingml/2006/main" noGrp="1"/>
          </p:cNvSpPr>
          <p:nvPr/>
        </p:nvSpPr>
        <p:spPr>
          <a:xfrm xmlns:a="http://schemas.openxmlformats.org/drawingml/2006/main">
            <a:off x="2438400" y="2790825"/>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Geheimnis</a:t>
            </a:r>
          </a:p>
        </p:txBody>
      </p:sp>
      <p:sp>
        <p:nvSpPr>
          <p:cNvPr id="10" name="">
            <a:extLst xmlns:a="http://schemas.openxmlformats.org/drawingml/2006/main">
              <a:ext uri="{FF2B5EF4-FFF2-40B4-BE49-F238E27FC236}">
                <a16:creationId xmlns:a16="http://schemas.microsoft.com/office/drawing/2014/main" id="{01D9FC92-95C7-4CEC-A96B-216914B06E65}"/>
              </a:ext>
            </a:extLst>
          </p:cNvPr>
          <p:cNvSpPr>
            <a:spLocks xmlns:a="http://schemas.openxmlformats.org/drawingml/2006/main" noGrp="1"/>
          </p:cNvSpPr>
          <p:nvPr/>
        </p:nvSpPr>
        <p:spPr>
          <a:xfrm xmlns:a="http://schemas.openxmlformats.org/drawingml/2006/main">
            <a:off x="4591050" y="2790825"/>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Tatsachen sind nur einem begrenzten Personenkreis bekannt und die betroffene Person hat ein nachvollziehbares Geheimhaltungsinteresse.</a:t>
            </a:r>
          </a:p>
        </p:txBody>
      </p:sp>
      <p:sp>
        <p:nvSpPr>
          <p:cNvPr id="11" name="">
            <a:extLst xmlns:a="http://schemas.openxmlformats.org/drawingml/2006/main">
              <a:ext uri="{FF2B5EF4-FFF2-40B4-BE49-F238E27FC236}">
                <a16:creationId xmlns:a16="http://schemas.microsoft.com/office/drawing/2014/main" id="{A01D0017-484F-4DB4-9208-111FF917450A}"/>
              </a:ext>
            </a:extLst>
          </p:cNvPr>
          <p:cNvSpPr>
            <a:spLocks xmlns:a="http://schemas.openxmlformats.org/drawingml/2006/main" noGrp="1"/>
          </p:cNvSpPr>
          <p:nvPr/>
        </p:nvSpPr>
        <p:spPr>
          <a:xfrm xmlns:a="http://schemas.openxmlformats.org/drawingml/2006/main">
            <a:off x="1809750" y="3271838"/>
            <a:ext cx="476250" cy="414338"/>
          </a:xfrm>
          <a:prstGeom xmlns:a="http://schemas.openxmlformats.org/drawingml/2006/main" prst="roundRect">
            <a:avLst>
              <a:gd name="adj" fmla="val 18391"/>
            </a:avLst>
          </a:prstGeom>
          <a:solidFill xmlns:a="http://schemas.openxmlformats.org/drawingml/2006/main">
            <a:srgbClr val="003F6B"/>
          </a:solidFill>
          <a:ln xmlns:a="http://schemas.openxmlformats.org/drawingml/2006/main" w="0">
            <a:solidFill>
              <a:srgbClr val="003F6B"/>
            </a:solidFill>
            <a:prstDash val="solid"/>
          </a:ln>
        </p:spPr>
      </p:sp>
      <p:sp>
        <p:nvSpPr>
          <p:cNvPr id="12" name="">
            <a:extLst xmlns:a="http://schemas.openxmlformats.org/drawingml/2006/main">
              <a:ext uri="{FF2B5EF4-FFF2-40B4-BE49-F238E27FC236}">
                <a16:creationId xmlns:a16="http://schemas.microsoft.com/office/drawing/2014/main" id="{E5B0C892-232B-4209-9AE6-90D807C91FD1}"/>
              </a:ext>
            </a:extLst>
          </p:cNvPr>
          <p:cNvSpPr>
            <a:spLocks xmlns:a="http://schemas.openxmlformats.org/drawingml/2006/main" noGrp="1"/>
          </p:cNvSpPr>
          <p:nvPr/>
        </p:nvSpPr>
        <p:spPr>
          <a:xfrm xmlns:a="http://schemas.openxmlformats.org/drawingml/2006/main">
            <a:off x="1809750" y="3271838"/>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3" name="">
            <a:extLst xmlns:a="http://schemas.openxmlformats.org/drawingml/2006/main">
              <a:ext uri="{FF2B5EF4-FFF2-40B4-BE49-F238E27FC236}">
                <a16:creationId xmlns:a16="http://schemas.microsoft.com/office/drawing/2014/main" id="{52DC19C3-BF21-4B0C-9835-4AE6DE4A62E2}"/>
              </a:ext>
            </a:extLst>
          </p:cNvPr>
          <p:cNvSpPr>
            <a:spLocks xmlns:a="http://schemas.openxmlformats.org/drawingml/2006/main" noGrp="1"/>
          </p:cNvSpPr>
          <p:nvPr/>
        </p:nvSpPr>
        <p:spPr>
          <a:xfrm xmlns:a="http://schemas.openxmlformats.org/drawingml/2006/main">
            <a:off x="2438400" y="3281363"/>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Täterkreis</a:t>
            </a:r>
          </a:p>
        </p:txBody>
      </p:sp>
      <p:sp>
        <p:nvSpPr>
          <p:cNvPr id="14" name="">
            <a:extLst xmlns:a="http://schemas.openxmlformats.org/drawingml/2006/main">
              <a:ext uri="{FF2B5EF4-FFF2-40B4-BE49-F238E27FC236}">
                <a16:creationId xmlns:a16="http://schemas.microsoft.com/office/drawing/2014/main" id="{64D64F39-D626-41A0-9F11-09D79568ABEC}"/>
              </a:ext>
            </a:extLst>
          </p:cNvPr>
          <p:cNvSpPr>
            <a:spLocks xmlns:a="http://schemas.openxmlformats.org/drawingml/2006/main" noGrp="1"/>
          </p:cNvSpPr>
          <p:nvPr/>
        </p:nvSpPr>
        <p:spPr>
          <a:xfrm xmlns:a="http://schemas.openxmlformats.org/drawingml/2006/main">
            <a:off x="4591050" y="3281363"/>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Ärztinnen und Ärzte gehören zum besonderen Täterkreis; mitwirkende Personen werden gesetzlich einbezogen.</a:t>
            </a:r>
          </a:p>
        </p:txBody>
      </p:sp>
      <p:sp>
        <p:nvSpPr>
          <p:cNvPr id="15" name="">
            <a:extLst xmlns:a="http://schemas.openxmlformats.org/drawingml/2006/main">
              <a:ext uri="{FF2B5EF4-FFF2-40B4-BE49-F238E27FC236}">
                <a16:creationId xmlns:a16="http://schemas.microsoft.com/office/drawing/2014/main" id="{0800C320-139E-4DB6-B6A2-215818C34073}"/>
              </a:ext>
            </a:extLst>
          </p:cNvPr>
          <p:cNvSpPr>
            <a:spLocks xmlns:a="http://schemas.openxmlformats.org/drawingml/2006/main" noGrp="1"/>
          </p:cNvSpPr>
          <p:nvPr/>
        </p:nvSpPr>
        <p:spPr>
          <a:xfrm xmlns:a="http://schemas.openxmlformats.org/drawingml/2006/main">
            <a:off x="1809750" y="3762375"/>
            <a:ext cx="476250" cy="414338"/>
          </a:xfrm>
          <a:prstGeom xmlns:a="http://schemas.openxmlformats.org/drawingml/2006/main" prst="roundRect">
            <a:avLst>
              <a:gd name="adj" fmla="val 18391"/>
            </a:avLst>
          </a:prstGeom>
          <a:solidFill xmlns:a="http://schemas.openxmlformats.org/drawingml/2006/main">
            <a:srgbClr val="00B2BB"/>
          </a:solidFill>
          <a:ln xmlns:a="http://schemas.openxmlformats.org/drawingml/2006/main" w="0">
            <a:solidFill>
              <a:srgbClr val="00B2BB"/>
            </a:solidFill>
            <a:prstDash val="solid"/>
          </a:ln>
        </p:spPr>
      </p:sp>
      <p:sp>
        <p:nvSpPr>
          <p:cNvPr id="16" name="">
            <a:extLst xmlns:a="http://schemas.openxmlformats.org/drawingml/2006/main">
              <a:ext uri="{FF2B5EF4-FFF2-40B4-BE49-F238E27FC236}">
                <a16:creationId xmlns:a16="http://schemas.microsoft.com/office/drawing/2014/main" id="{AFB0ACE0-B9B6-4E4F-A24A-A2641A8D744B}"/>
              </a:ext>
            </a:extLst>
          </p:cNvPr>
          <p:cNvSpPr>
            <a:spLocks xmlns:a="http://schemas.openxmlformats.org/drawingml/2006/main" noGrp="1"/>
          </p:cNvSpPr>
          <p:nvPr/>
        </p:nvSpPr>
        <p:spPr>
          <a:xfrm xmlns:a="http://schemas.openxmlformats.org/drawingml/2006/main">
            <a:off x="1809750" y="3762375"/>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7" name="">
            <a:extLst xmlns:a="http://schemas.openxmlformats.org/drawingml/2006/main">
              <a:ext uri="{FF2B5EF4-FFF2-40B4-BE49-F238E27FC236}">
                <a16:creationId xmlns:a16="http://schemas.microsoft.com/office/drawing/2014/main" id="{87916AE5-5D06-497B-AE09-6A9D372A787A}"/>
              </a:ext>
            </a:extLst>
          </p:cNvPr>
          <p:cNvSpPr>
            <a:spLocks xmlns:a="http://schemas.openxmlformats.org/drawingml/2006/main" noGrp="1"/>
          </p:cNvSpPr>
          <p:nvPr/>
        </p:nvSpPr>
        <p:spPr>
          <a:xfrm xmlns:a="http://schemas.openxmlformats.org/drawingml/2006/main">
            <a:off x="2438400" y="3771900"/>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Offenbaren</a:t>
            </a:r>
          </a:p>
        </p:txBody>
      </p:sp>
      <p:sp>
        <p:nvSpPr>
          <p:cNvPr id="18" name="">
            <a:extLst xmlns:a="http://schemas.openxmlformats.org/drawingml/2006/main">
              <a:ext uri="{FF2B5EF4-FFF2-40B4-BE49-F238E27FC236}">
                <a16:creationId xmlns:a16="http://schemas.microsoft.com/office/drawing/2014/main" id="{22F116F7-A997-4B60-9397-83B4DF6CE6CD}"/>
              </a:ext>
            </a:extLst>
          </p:cNvPr>
          <p:cNvSpPr>
            <a:spLocks xmlns:a="http://schemas.openxmlformats.org/drawingml/2006/main" noGrp="1"/>
          </p:cNvSpPr>
          <p:nvPr/>
        </p:nvSpPr>
        <p:spPr>
          <a:xfrm xmlns:a="http://schemas.openxmlformats.org/drawingml/2006/main">
            <a:off x="4591050" y="3771900"/>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Das Geheimnis wird einem Dritten zugänglich gemacht, der es nicht bereits befugt kennt.</a:t>
            </a:r>
          </a:p>
        </p:txBody>
      </p:sp>
      <p:sp>
        <p:nvSpPr>
          <p:cNvPr id="19" name="">
            <a:extLst xmlns:a="http://schemas.openxmlformats.org/drawingml/2006/main">
              <a:ext uri="{FF2B5EF4-FFF2-40B4-BE49-F238E27FC236}">
                <a16:creationId xmlns:a16="http://schemas.microsoft.com/office/drawing/2014/main" id="{476F2FA3-62D0-4D99-BCFD-590300D92D41}"/>
              </a:ext>
            </a:extLst>
          </p:cNvPr>
          <p:cNvSpPr>
            <a:spLocks xmlns:a="http://schemas.openxmlformats.org/drawingml/2006/main" noGrp="1"/>
          </p:cNvSpPr>
          <p:nvPr/>
        </p:nvSpPr>
        <p:spPr>
          <a:xfrm xmlns:a="http://schemas.openxmlformats.org/drawingml/2006/main">
            <a:off x="1809750" y="4252913"/>
            <a:ext cx="476250" cy="414338"/>
          </a:xfrm>
          <a:prstGeom xmlns:a="http://schemas.openxmlformats.org/drawingml/2006/main" prst="roundRect">
            <a:avLst>
              <a:gd name="adj" fmla="val 18391"/>
            </a:avLst>
          </a:prstGeom>
          <a:solidFill xmlns:a="http://schemas.openxmlformats.org/drawingml/2006/main">
            <a:srgbClr val="003F6B"/>
          </a:solidFill>
          <a:ln xmlns:a="http://schemas.openxmlformats.org/drawingml/2006/main" w="0">
            <a:solidFill>
              <a:srgbClr val="003F6B"/>
            </a:solidFill>
            <a:prstDash val="solid"/>
          </a:ln>
        </p:spPr>
      </p:sp>
      <p:sp>
        <p:nvSpPr>
          <p:cNvPr id="20" name="">
            <a:extLst xmlns:a="http://schemas.openxmlformats.org/drawingml/2006/main">
              <a:ext uri="{FF2B5EF4-FFF2-40B4-BE49-F238E27FC236}">
                <a16:creationId xmlns:a16="http://schemas.microsoft.com/office/drawing/2014/main" id="{2912411C-B7F7-4DD6-BBCB-1C35A54A0703}"/>
              </a:ext>
            </a:extLst>
          </p:cNvPr>
          <p:cNvSpPr>
            <a:spLocks xmlns:a="http://schemas.openxmlformats.org/drawingml/2006/main" noGrp="1"/>
          </p:cNvSpPr>
          <p:nvPr/>
        </p:nvSpPr>
        <p:spPr>
          <a:xfrm xmlns:a="http://schemas.openxmlformats.org/drawingml/2006/main">
            <a:off x="1809750" y="4252913"/>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21" name="">
            <a:extLst xmlns:a="http://schemas.openxmlformats.org/drawingml/2006/main">
              <a:ext uri="{FF2B5EF4-FFF2-40B4-BE49-F238E27FC236}">
                <a16:creationId xmlns:a16="http://schemas.microsoft.com/office/drawing/2014/main" id="{EA8A8552-0633-4E74-AD07-1E0E2A840BF6}"/>
              </a:ext>
            </a:extLst>
          </p:cNvPr>
          <p:cNvSpPr>
            <a:spLocks xmlns:a="http://schemas.openxmlformats.org/drawingml/2006/main" noGrp="1"/>
          </p:cNvSpPr>
          <p:nvPr/>
        </p:nvSpPr>
        <p:spPr>
          <a:xfrm xmlns:a="http://schemas.openxmlformats.org/drawingml/2006/main">
            <a:off x="2438400" y="4262438"/>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Befugnis</a:t>
            </a:r>
          </a:p>
        </p:txBody>
      </p:sp>
      <p:sp>
        <p:nvSpPr>
          <p:cNvPr id="22" name="">
            <a:extLst xmlns:a="http://schemas.openxmlformats.org/drawingml/2006/main">
              <a:ext uri="{FF2B5EF4-FFF2-40B4-BE49-F238E27FC236}">
                <a16:creationId xmlns:a16="http://schemas.microsoft.com/office/drawing/2014/main" id="{4168B571-8DBC-4FE5-881F-6145EF4260B0}"/>
              </a:ext>
            </a:extLst>
          </p:cNvPr>
          <p:cNvSpPr>
            <a:spLocks xmlns:a="http://schemas.openxmlformats.org/drawingml/2006/main" noGrp="1"/>
          </p:cNvSpPr>
          <p:nvPr/>
        </p:nvSpPr>
        <p:spPr>
          <a:xfrm xmlns:a="http://schemas.openxmlformats.org/drawingml/2006/main">
            <a:off x="4591050" y="4262438"/>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Einwilligung, gesetzliche Offenbarungspflicht oder rechtfertigender Notstand können eine Weitergabe erlauben; Erforderlichkeit und Umfang sind eng zu prüfen.</a:t>
            </a:r>
          </a:p>
        </p:txBody>
      </p:sp>
      <p:sp>
        <p:nvSpPr>
          <p:cNvPr id="23" name="">
            <a:extLst xmlns:a="http://schemas.openxmlformats.org/drawingml/2006/main">
              <a:ext uri="{FF2B5EF4-FFF2-40B4-BE49-F238E27FC236}">
                <a16:creationId xmlns:a16="http://schemas.microsoft.com/office/drawing/2014/main" id="{20804FEC-8310-43F5-8268-4DDAD9BD710F}"/>
              </a:ext>
            </a:extLst>
          </p:cNvPr>
          <p:cNvSpPr>
            <a:spLocks xmlns:a="http://schemas.openxmlformats.org/drawingml/2006/main" noGrp="1"/>
          </p:cNvSpPr>
          <p:nvPr/>
        </p:nvSpPr>
        <p:spPr>
          <a:xfrm xmlns:a="http://schemas.openxmlformats.org/drawingml/2006/main">
            <a:off x="1809750" y="4781550"/>
            <a:ext cx="9525000" cy="666750"/>
          </a:xfrm>
          <a:prstGeom xmlns:a="http://schemas.openxmlformats.org/drawingml/2006/main" prst="roundRect">
            <a:avLst>
              <a:gd name="adj" fmla="val 11429"/>
            </a:avLst>
          </a:prstGeom>
          <a:solidFill xmlns:a="http://schemas.openxmlformats.org/drawingml/2006/main">
            <a:srgbClr val="EAF6FB"/>
          </a:solidFill>
          <a:ln xmlns:a="http://schemas.openxmlformats.org/drawingml/2006/main" w="9525">
            <a:solidFill>
              <a:srgbClr val="00B2BB"/>
            </a:solidFill>
            <a:prstDash val="solid"/>
          </a:ln>
        </p:spPr>
      </p:sp>
      <p:sp>
        <p:nvSpPr>
          <p:cNvPr id="24" name="">
            <a:extLst xmlns:a="http://schemas.openxmlformats.org/drawingml/2006/main">
              <a:ext uri="{FF2B5EF4-FFF2-40B4-BE49-F238E27FC236}">
                <a16:creationId xmlns:a16="http://schemas.microsoft.com/office/drawing/2014/main" id="{4E8E76BA-44D1-420B-8066-88E07EC36101}"/>
              </a:ext>
            </a:extLst>
          </p:cNvPr>
          <p:cNvSpPr>
            <a:spLocks xmlns:a="http://schemas.openxmlformats.org/drawingml/2006/main" noGrp="1"/>
          </p:cNvSpPr>
          <p:nvPr/>
        </p:nvSpPr>
        <p:spPr>
          <a:xfrm xmlns:a="http://schemas.openxmlformats.org/drawingml/2006/main">
            <a:off x="1981200" y="4829175"/>
            <a:ext cx="9182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065">
                <a:solidFill>
                  <a:srgbClr val="15232B"/>
                </a:solidFill>
              </a:defRPr>
            </a:pPr>
            <a:r>
              <a:rPr sz="1065">
                <a:solidFill>
                  <a:srgbClr val="15232B"/>
                </a:solidFill>
              </a:rPr>
              <a:t>Beispiel · Beispiel: Gesundheitsdaten werden ohne Einwilligung an einen nicht beteiligten Arbeitgeber weitergegeben; eine gesetzliche Befugnis ist nicht ersichtlich.</a:t>
            </a:r>
          </a:p>
        </p:txBody>
      </p:sp>
      <p:sp>
        <p:nvSpPr>
          <p:cNvPr id="25" name="">
            <a:extLst xmlns:a="http://schemas.openxmlformats.org/drawingml/2006/main">
              <a:ext uri="{FF2B5EF4-FFF2-40B4-BE49-F238E27FC236}">
                <a16:creationId xmlns:a16="http://schemas.microsoft.com/office/drawing/2014/main" id="{3F5A6896-5EA5-4CA3-922C-E6C6C176E893}"/>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6" name="">
            <a:extLst xmlns:a="http://schemas.openxmlformats.org/drawingml/2006/main">
              <a:ext uri="{FF2B5EF4-FFF2-40B4-BE49-F238E27FC236}">
                <a16:creationId xmlns:a16="http://schemas.microsoft.com/office/drawing/2014/main" id="{507EE064-3783-49CD-B062-78E847556831}"/>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Schweigepflicht, Datenschutz und Prozessrecht überschneiden sich, sind aber nicht identisch.</a:t>
            </a:r>
          </a:p>
        </p:txBody>
      </p:sp>
    </p:spTree>
    <p:extLst>
      <p:ext uri="{BB962C8B-B14F-4D97-AF65-F5344CB8AC3E}">
        <p14:creationId xmlns:p14="http://schemas.microsoft.com/office/powerpoint/2010/main" val="43637646"/>
      </p:ext>
    </p:extLst>
  </p:cSld>
</p:sld>
</file>

<file path=ppt/slides/slide237.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Schweigepflichtfall prüfen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PRÜFUNGSSCHEMA · § 203 StGB</a:t>
            </a:r>
            <a:endParaRPr/>
          </a:p>
        </p:txBody>
      </p:sp>
      <p:sp>
        <p:nvSpPr>
          <p:cNvPr id="4" name="">
            <a:extLst xmlns:a="http://schemas.openxmlformats.org/drawingml/2006/main">
              <a:ext uri="{FF2B5EF4-FFF2-40B4-BE49-F238E27FC236}">
                <a16:creationId xmlns:a16="http://schemas.microsoft.com/office/drawing/2014/main" id="{9AF106D4-C9B7-4AAD-B11D-CED0FF64A49F}"/>
              </a:ext>
            </a:extLst>
          </p:cNvPr>
          <p:cNvSpPr>
            <a:spLocks xmlns:a="http://schemas.openxmlformats.org/drawingml/2006/main" noGrp="1"/>
          </p:cNvSpPr>
          <p:nvPr/>
        </p:nvSpPr>
        <p:spPr>
          <a:xfrm xmlns:a="http://schemas.openxmlformats.org/drawingml/2006/main">
            <a:off x="1809750" y="195262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A7CDD866-87B3-42A8-BC34-133DA8B2A593}"/>
              </a:ext>
            </a:extLst>
          </p:cNvPr>
          <p:cNvSpPr>
            <a:spLocks xmlns:a="http://schemas.openxmlformats.org/drawingml/2006/main" noGrp="1"/>
          </p:cNvSpPr>
          <p:nvPr/>
        </p:nvSpPr>
        <p:spPr>
          <a:xfrm xmlns:a="http://schemas.openxmlformats.org/drawingml/2006/main">
            <a:off x="1809750" y="19526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6" name="">
            <a:extLst xmlns:a="http://schemas.openxmlformats.org/drawingml/2006/main">
              <a:ext uri="{FF2B5EF4-FFF2-40B4-BE49-F238E27FC236}">
                <a16:creationId xmlns:a16="http://schemas.microsoft.com/office/drawing/2014/main" id="{DE4FACAC-4604-4214-8D53-58935A387BA2}"/>
              </a:ext>
            </a:extLst>
          </p:cNvPr>
          <p:cNvSpPr>
            <a:spLocks xmlns:a="http://schemas.openxmlformats.org/drawingml/2006/main" noGrp="1"/>
          </p:cNvSpPr>
          <p:nvPr/>
        </p:nvSpPr>
        <p:spPr>
          <a:xfrm xmlns:a="http://schemas.openxmlformats.org/drawingml/2006/main">
            <a:off x="2324100" y="196215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1. Geheimnis</a:t>
            </a:r>
          </a:p>
        </p:txBody>
      </p:sp>
      <p:sp>
        <p:nvSpPr>
          <p:cNvPr id="7" name="">
            <a:extLst xmlns:a="http://schemas.openxmlformats.org/drawingml/2006/main">
              <a:ext uri="{FF2B5EF4-FFF2-40B4-BE49-F238E27FC236}">
                <a16:creationId xmlns:a16="http://schemas.microsoft.com/office/drawing/2014/main" id="{C909F78D-7ED7-414D-AC97-8E596FBC0B5C}"/>
              </a:ext>
            </a:extLst>
          </p:cNvPr>
          <p:cNvSpPr>
            <a:spLocks xmlns:a="http://schemas.openxmlformats.org/drawingml/2006/main" noGrp="1"/>
          </p:cNvSpPr>
          <p:nvPr/>
        </p:nvSpPr>
        <p:spPr>
          <a:xfrm xmlns:a="http://schemas.openxmlformats.org/drawingml/2006/main">
            <a:off x="4819650" y="196215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Welche konkrete nicht allgemein bekannte Tatsache ist betroffen?</a:t>
            </a:r>
          </a:p>
        </p:txBody>
      </p:sp>
      <p:sp>
        <p:nvSpPr>
          <p:cNvPr id="8" name="">
            <a:extLst xmlns:a="http://schemas.openxmlformats.org/drawingml/2006/main">
              <a:ext uri="{FF2B5EF4-FFF2-40B4-BE49-F238E27FC236}">
                <a16:creationId xmlns:a16="http://schemas.microsoft.com/office/drawing/2014/main" id="{A0DBC0F6-74C1-40A6-A5AA-3011D8CEDC0E}"/>
              </a:ext>
            </a:extLst>
          </p:cNvPr>
          <p:cNvSpPr>
            <a:spLocks xmlns:a="http://schemas.openxmlformats.org/drawingml/2006/main" noGrp="1"/>
          </p:cNvSpPr>
          <p:nvPr/>
        </p:nvSpPr>
        <p:spPr>
          <a:xfrm xmlns:a="http://schemas.openxmlformats.org/drawingml/2006/main">
            <a:off x="1809750" y="255270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9" name="">
            <a:extLst xmlns:a="http://schemas.openxmlformats.org/drawingml/2006/main">
              <a:ext uri="{FF2B5EF4-FFF2-40B4-BE49-F238E27FC236}">
                <a16:creationId xmlns:a16="http://schemas.microsoft.com/office/drawing/2014/main" id="{1D503C83-EE06-4931-943F-4EC37B371466}"/>
              </a:ext>
            </a:extLst>
          </p:cNvPr>
          <p:cNvSpPr>
            <a:spLocks xmlns:a="http://schemas.openxmlformats.org/drawingml/2006/main" noGrp="1"/>
          </p:cNvSpPr>
          <p:nvPr/>
        </p:nvSpPr>
        <p:spPr>
          <a:xfrm xmlns:a="http://schemas.openxmlformats.org/drawingml/2006/main">
            <a:off x="1809750" y="255270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0" name="">
            <a:extLst xmlns:a="http://schemas.openxmlformats.org/drawingml/2006/main">
              <a:ext uri="{FF2B5EF4-FFF2-40B4-BE49-F238E27FC236}">
                <a16:creationId xmlns:a16="http://schemas.microsoft.com/office/drawing/2014/main" id="{A99FA719-84A0-4657-BFF2-F0989516CBD8}"/>
              </a:ext>
            </a:extLst>
          </p:cNvPr>
          <p:cNvSpPr>
            <a:spLocks xmlns:a="http://schemas.openxmlformats.org/drawingml/2006/main" noGrp="1"/>
          </p:cNvSpPr>
          <p:nvPr/>
        </p:nvSpPr>
        <p:spPr>
          <a:xfrm xmlns:a="http://schemas.openxmlformats.org/drawingml/2006/main">
            <a:off x="2324100" y="256222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2. Beruflicher Zusammenhang</a:t>
            </a:r>
          </a:p>
        </p:txBody>
      </p:sp>
      <p:sp>
        <p:nvSpPr>
          <p:cNvPr id="11" name="">
            <a:extLst xmlns:a="http://schemas.openxmlformats.org/drawingml/2006/main">
              <a:ext uri="{FF2B5EF4-FFF2-40B4-BE49-F238E27FC236}">
                <a16:creationId xmlns:a16="http://schemas.microsoft.com/office/drawing/2014/main" id="{C99ACC22-1D2B-4FFE-8801-335393D10936}"/>
              </a:ext>
            </a:extLst>
          </p:cNvPr>
          <p:cNvSpPr>
            <a:spLocks xmlns:a="http://schemas.openxmlformats.org/drawingml/2006/main" noGrp="1"/>
          </p:cNvSpPr>
          <p:nvPr/>
        </p:nvSpPr>
        <p:spPr>
          <a:xfrm xmlns:a="http://schemas.openxmlformats.org/drawingml/2006/main">
            <a:off x="4819650" y="256222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Wurde sie in der ärztlichen Tätigkeit anvertraut oder bekannt?</a:t>
            </a:r>
          </a:p>
        </p:txBody>
      </p:sp>
      <p:sp>
        <p:nvSpPr>
          <p:cNvPr id="12" name="">
            <a:extLst xmlns:a="http://schemas.openxmlformats.org/drawingml/2006/main">
              <a:ext uri="{FF2B5EF4-FFF2-40B4-BE49-F238E27FC236}">
                <a16:creationId xmlns:a16="http://schemas.microsoft.com/office/drawing/2014/main" id="{77C7373C-179F-40F2-A50D-D306DD79BCD2}"/>
              </a:ext>
            </a:extLst>
          </p:cNvPr>
          <p:cNvSpPr>
            <a:spLocks xmlns:a="http://schemas.openxmlformats.org/drawingml/2006/main" noGrp="1"/>
          </p:cNvSpPr>
          <p:nvPr/>
        </p:nvSpPr>
        <p:spPr>
          <a:xfrm xmlns:a="http://schemas.openxmlformats.org/drawingml/2006/main">
            <a:off x="1809750" y="315277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3" name="">
            <a:extLst xmlns:a="http://schemas.openxmlformats.org/drawingml/2006/main">
              <a:ext uri="{FF2B5EF4-FFF2-40B4-BE49-F238E27FC236}">
                <a16:creationId xmlns:a16="http://schemas.microsoft.com/office/drawing/2014/main" id="{95D2A1A2-6C78-4730-94EA-3BF72A61950F}"/>
              </a:ext>
            </a:extLst>
          </p:cNvPr>
          <p:cNvSpPr>
            <a:spLocks xmlns:a="http://schemas.openxmlformats.org/drawingml/2006/main" noGrp="1"/>
          </p:cNvSpPr>
          <p:nvPr/>
        </p:nvSpPr>
        <p:spPr>
          <a:xfrm xmlns:a="http://schemas.openxmlformats.org/drawingml/2006/main">
            <a:off x="1809750" y="315277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4" name="">
            <a:extLst xmlns:a="http://schemas.openxmlformats.org/drawingml/2006/main">
              <a:ext uri="{FF2B5EF4-FFF2-40B4-BE49-F238E27FC236}">
                <a16:creationId xmlns:a16="http://schemas.microsoft.com/office/drawing/2014/main" id="{77C74880-973A-457B-A73A-B1BB9ED6AA76}"/>
              </a:ext>
            </a:extLst>
          </p:cNvPr>
          <p:cNvSpPr>
            <a:spLocks xmlns:a="http://schemas.openxmlformats.org/drawingml/2006/main" noGrp="1"/>
          </p:cNvSpPr>
          <p:nvPr/>
        </p:nvSpPr>
        <p:spPr>
          <a:xfrm xmlns:a="http://schemas.openxmlformats.org/drawingml/2006/main">
            <a:off x="2324100" y="316230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3. Offenbaren</a:t>
            </a:r>
          </a:p>
        </p:txBody>
      </p:sp>
      <p:sp>
        <p:nvSpPr>
          <p:cNvPr id="15" name="">
            <a:extLst xmlns:a="http://schemas.openxmlformats.org/drawingml/2006/main">
              <a:ext uri="{FF2B5EF4-FFF2-40B4-BE49-F238E27FC236}">
                <a16:creationId xmlns:a16="http://schemas.microsoft.com/office/drawing/2014/main" id="{6ACBC9D4-9C9B-498D-B7B9-DFAB3DA70C99}"/>
              </a:ext>
            </a:extLst>
          </p:cNvPr>
          <p:cNvSpPr>
            <a:spLocks xmlns:a="http://schemas.openxmlformats.org/drawingml/2006/main" noGrp="1"/>
          </p:cNvSpPr>
          <p:nvPr/>
        </p:nvSpPr>
        <p:spPr>
          <a:xfrm xmlns:a="http://schemas.openxmlformats.org/drawingml/2006/main">
            <a:off x="4819650" y="316230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Welcher bislang unbefugte Dritte erhielt Kenntnis?</a:t>
            </a:r>
          </a:p>
        </p:txBody>
      </p:sp>
      <p:sp>
        <p:nvSpPr>
          <p:cNvPr id="16" name="">
            <a:extLst xmlns:a="http://schemas.openxmlformats.org/drawingml/2006/main">
              <a:ext uri="{FF2B5EF4-FFF2-40B4-BE49-F238E27FC236}">
                <a16:creationId xmlns:a16="http://schemas.microsoft.com/office/drawing/2014/main" id="{78A3A7A0-F413-4058-830D-09BF145F1970}"/>
              </a:ext>
            </a:extLst>
          </p:cNvPr>
          <p:cNvSpPr>
            <a:spLocks xmlns:a="http://schemas.openxmlformats.org/drawingml/2006/main" noGrp="1"/>
          </p:cNvSpPr>
          <p:nvPr/>
        </p:nvSpPr>
        <p:spPr>
          <a:xfrm xmlns:a="http://schemas.openxmlformats.org/drawingml/2006/main">
            <a:off x="1809750" y="375285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7" name="">
            <a:extLst xmlns:a="http://schemas.openxmlformats.org/drawingml/2006/main">
              <a:ext uri="{FF2B5EF4-FFF2-40B4-BE49-F238E27FC236}">
                <a16:creationId xmlns:a16="http://schemas.microsoft.com/office/drawing/2014/main" id="{7FAB6D99-2FFB-4F63-8801-DEFED1CA5FE1}"/>
              </a:ext>
            </a:extLst>
          </p:cNvPr>
          <p:cNvSpPr>
            <a:spLocks xmlns:a="http://schemas.openxmlformats.org/drawingml/2006/main" noGrp="1"/>
          </p:cNvSpPr>
          <p:nvPr/>
        </p:nvSpPr>
        <p:spPr>
          <a:xfrm xmlns:a="http://schemas.openxmlformats.org/drawingml/2006/main">
            <a:off x="1809750" y="375285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18" name="">
            <a:extLst xmlns:a="http://schemas.openxmlformats.org/drawingml/2006/main">
              <a:ext uri="{FF2B5EF4-FFF2-40B4-BE49-F238E27FC236}">
                <a16:creationId xmlns:a16="http://schemas.microsoft.com/office/drawing/2014/main" id="{CB938941-3BC2-491D-97E9-AC99A1DD28BE}"/>
              </a:ext>
            </a:extLst>
          </p:cNvPr>
          <p:cNvSpPr>
            <a:spLocks xmlns:a="http://schemas.openxmlformats.org/drawingml/2006/main" noGrp="1"/>
          </p:cNvSpPr>
          <p:nvPr/>
        </p:nvSpPr>
        <p:spPr>
          <a:xfrm xmlns:a="http://schemas.openxmlformats.org/drawingml/2006/main">
            <a:off x="2324100" y="376237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4. Vorsatz</a:t>
            </a:r>
          </a:p>
        </p:txBody>
      </p:sp>
      <p:sp>
        <p:nvSpPr>
          <p:cNvPr id="19" name="">
            <a:extLst xmlns:a="http://schemas.openxmlformats.org/drawingml/2006/main">
              <a:ext uri="{FF2B5EF4-FFF2-40B4-BE49-F238E27FC236}">
                <a16:creationId xmlns:a16="http://schemas.microsoft.com/office/drawing/2014/main" id="{BA7AF1EB-BD51-41C4-B4C0-A569660E40FA}"/>
              </a:ext>
            </a:extLst>
          </p:cNvPr>
          <p:cNvSpPr>
            <a:spLocks xmlns:a="http://schemas.openxmlformats.org/drawingml/2006/main" noGrp="1"/>
          </p:cNvSpPr>
          <p:nvPr/>
        </p:nvSpPr>
        <p:spPr>
          <a:xfrm xmlns:a="http://schemas.openxmlformats.org/drawingml/2006/main">
            <a:off x="4819650" y="376237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Wusste und wollte die handelnde Person die Weitergabe der geheimen Tatsache?</a:t>
            </a:r>
          </a:p>
        </p:txBody>
      </p:sp>
      <p:sp>
        <p:nvSpPr>
          <p:cNvPr id="20" name="">
            <a:extLst xmlns:a="http://schemas.openxmlformats.org/drawingml/2006/main">
              <a:ext uri="{FF2B5EF4-FFF2-40B4-BE49-F238E27FC236}">
                <a16:creationId xmlns:a16="http://schemas.microsoft.com/office/drawing/2014/main" id="{301EBA06-EA61-412E-89D9-4B77D221E5A1}"/>
              </a:ext>
            </a:extLst>
          </p:cNvPr>
          <p:cNvSpPr>
            <a:spLocks xmlns:a="http://schemas.openxmlformats.org/drawingml/2006/main" noGrp="1"/>
          </p:cNvSpPr>
          <p:nvPr/>
        </p:nvSpPr>
        <p:spPr>
          <a:xfrm xmlns:a="http://schemas.openxmlformats.org/drawingml/2006/main">
            <a:off x="1809750" y="435292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1" name="">
            <a:extLst xmlns:a="http://schemas.openxmlformats.org/drawingml/2006/main">
              <a:ext uri="{FF2B5EF4-FFF2-40B4-BE49-F238E27FC236}">
                <a16:creationId xmlns:a16="http://schemas.microsoft.com/office/drawing/2014/main" id="{170CBB3E-1D94-41EC-A1F9-8EA452068BE1}"/>
              </a:ext>
            </a:extLst>
          </p:cNvPr>
          <p:cNvSpPr>
            <a:spLocks xmlns:a="http://schemas.openxmlformats.org/drawingml/2006/main" noGrp="1"/>
          </p:cNvSpPr>
          <p:nvPr/>
        </p:nvSpPr>
        <p:spPr>
          <a:xfrm xmlns:a="http://schemas.openxmlformats.org/drawingml/2006/main">
            <a:off x="1809750" y="43529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5</a:t>
            </a:r>
          </a:p>
        </p:txBody>
      </p:sp>
      <p:sp>
        <p:nvSpPr>
          <p:cNvPr id="22" name="">
            <a:extLst xmlns:a="http://schemas.openxmlformats.org/drawingml/2006/main">
              <a:ext uri="{FF2B5EF4-FFF2-40B4-BE49-F238E27FC236}">
                <a16:creationId xmlns:a16="http://schemas.microsoft.com/office/drawing/2014/main" id="{A3B6C2CC-35D1-4FFD-945B-85BE39FD347D}"/>
              </a:ext>
            </a:extLst>
          </p:cNvPr>
          <p:cNvSpPr>
            <a:spLocks xmlns:a="http://schemas.openxmlformats.org/drawingml/2006/main" noGrp="1"/>
          </p:cNvSpPr>
          <p:nvPr/>
        </p:nvSpPr>
        <p:spPr>
          <a:xfrm xmlns:a="http://schemas.openxmlformats.org/drawingml/2006/main">
            <a:off x="2324100" y="436245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5. Befugnis/Rechtfertigung</a:t>
            </a:r>
          </a:p>
        </p:txBody>
      </p:sp>
      <p:sp>
        <p:nvSpPr>
          <p:cNvPr id="23" name="">
            <a:extLst xmlns:a="http://schemas.openxmlformats.org/drawingml/2006/main">
              <a:ext uri="{FF2B5EF4-FFF2-40B4-BE49-F238E27FC236}">
                <a16:creationId xmlns:a16="http://schemas.microsoft.com/office/drawing/2014/main" id="{431B1D50-9043-4F3D-BE81-6883FF2BC6AA}"/>
              </a:ext>
            </a:extLst>
          </p:cNvPr>
          <p:cNvSpPr>
            <a:spLocks xmlns:a="http://schemas.openxmlformats.org/drawingml/2006/main" noGrp="1"/>
          </p:cNvSpPr>
          <p:nvPr/>
        </p:nvSpPr>
        <p:spPr>
          <a:xfrm xmlns:a="http://schemas.openxmlformats.org/drawingml/2006/main">
            <a:off x="4819650" y="436245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Einwilligung, gesetzliche Pflicht, gesetzliche Befugnis oder § 34 StGB konkret prüfen.</a:t>
            </a:r>
          </a:p>
        </p:txBody>
      </p:sp>
      <p:sp>
        <p:nvSpPr>
          <p:cNvPr id="24" name="">
            <a:extLst xmlns:a="http://schemas.openxmlformats.org/drawingml/2006/main">
              <a:ext uri="{FF2B5EF4-FFF2-40B4-BE49-F238E27FC236}">
                <a16:creationId xmlns:a16="http://schemas.microsoft.com/office/drawing/2014/main" id="{BF9F89A8-2B71-44FA-931B-48D03334F061}"/>
              </a:ext>
            </a:extLst>
          </p:cNvPr>
          <p:cNvSpPr>
            <a:spLocks xmlns:a="http://schemas.openxmlformats.org/drawingml/2006/main" noGrp="1"/>
          </p:cNvSpPr>
          <p:nvPr/>
        </p:nvSpPr>
        <p:spPr>
          <a:xfrm xmlns:a="http://schemas.openxmlformats.org/drawingml/2006/main">
            <a:off x="1809750" y="495300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25" name="">
            <a:extLst xmlns:a="http://schemas.openxmlformats.org/drawingml/2006/main">
              <a:ext uri="{FF2B5EF4-FFF2-40B4-BE49-F238E27FC236}">
                <a16:creationId xmlns:a16="http://schemas.microsoft.com/office/drawing/2014/main" id="{69C1B0E8-E72A-45EC-9EF5-529409503116}"/>
              </a:ext>
            </a:extLst>
          </p:cNvPr>
          <p:cNvSpPr>
            <a:spLocks xmlns:a="http://schemas.openxmlformats.org/drawingml/2006/main" noGrp="1"/>
          </p:cNvSpPr>
          <p:nvPr/>
        </p:nvSpPr>
        <p:spPr>
          <a:xfrm xmlns:a="http://schemas.openxmlformats.org/drawingml/2006/main">
            <a:off x="1809750" y="495300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6</a:t>
            </a:r>
          </a:p>
        </p:txBody>
      </p:sp>
      <p:sp>
        <p:nvSpPr>
          <p:cNvPr id="26" name="">
            <a:extLst xmlns:a="http://schemas.openxmlformats.org/drawingml/2006/main">
              <a:ext uri="{FF2B5EF4-FFF2-40B4-BE49-F238E27FC236}">
                <a16:creationId xmlns:a16="http://schemas.microsoft.com/office/drawing/2014/main" id="{ED5AC2ED-6F8C-4013-A70E-B2FD1C4DAEB6}"/>
              </a:ext>
            </a:extLst>
          </p:cNvPr>
          <p:cNvSpPr>
            <a:spLocks xmlns:a="http://schemas.openxmlformats.org/drawingml/2006/main" noGrp="1"/>
          </p:cNvSpPr>
          <p:nvPr/>
        </p:nvSpPr>
        <p:spPr>
          <a:xfrm xmlns:a="http://schemas.openxmlformats.org/drawingml/2006/main">
            <a:off x="2324100" y="496252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6. Umfang</a:t>
            </a:r>
          </a:p>
        </p:txBody>
      </p:sp>
      <p:sp>
        <p:nvSpPr>
          <p:cNvPr id="27" name="">
            <a:extLst xmlns:a="http://schemas.openxmlformats.org/drawingml/2006/main">
              <a:ext uri="{FF2B5EF4-FFF2-40B4-BE49-F238E27FC236}">
                <a16:creationId xmlns:a16="http://schemas.microsoft.com/office/drawing/2014/main" id="{C9FE0B8D-73DF-474D-9675-09771E0F260A}"/>
              </a:ext>
            </a:extLst>
          </p:cNvPr>
          <p:cNvSpPr>
            <a:spLocks xmlns:a="http://schemas.openxmlformats.org/drawingml/2006/main" noGrp="1"/>
          </p:cNvSpPr>
          <p:nvPr/>
        </p:nvSpPr>
        <p:spPr>
          <a:xfrm xmlns:a="http://schemas.openxmlformats.org/drawingml/2006/main">
            <a:off x="4819650" y="496252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Auch bei Befugnis darf nur das erforderliche Maß offenbart werden.</a:t>
            </a:r>
          </a:p>
        </p:txBody>
      </p:sp>
      <p:sp>
        <p:nvSpPr>
          <p:cNvPr id="28" name="">
            <a:extLst xmlns:a="http://schemas.openxmlformats.org/drawingml/2006/main">
              <a:ext uri="{FF2B5EF4-FFF2-40B4-BE49-F238E27FC236}">
                <a16:creationId xmlns:a16="http://schemas.microsoft.com/office/drawing/2014/main" id="{30ED27EF-8CBC-41D4-9CCC-A3AD16B44093}"/>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9" name="">
            <a:extLst xmlns:a="http://schemas.openxmlformats.org/drawingml/2006/main">
              <a:ext uri="{FF2B5EF4-FFF2-40B4-BE49-F238E27FC236}">
                <a16:creationId xmlns:a16="http://schemas.microsoft.com/office/drawing/2014/main" id="{ED16C844-13A9-46EE-B60C-249D28F0C919}"/>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Vor jeder Weitergabe werden Empfänger, Zweck, Rechtsgrundlage und notwendiger Umfang geprüft.</a:t>
            </a:r>
          </a:p>
        </p:txBody>
      </p:sp>
    </p:spTree>
    <p:extLst>
      <p:ext uri="{BB962C8B-B14F-4D97-AF65-F5344CB8AC3E}">
        <p14:creationId xmlns:p14="http://schemas.microsoft.com/office/powerpoint/2010/main" val="43637646"/>
      </p:ext>
    </p:extLst>
  </p:cSld>
</p:sld>
</file>

<file path=ppt/slides/slide238.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Delegation und strafrechtliche Individualverantwortung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8306F673-EB96-4F85-A086-7DF94A270F84}"/>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Strafrecht fragt, welche konkrete Person welche eigene Pflicht in welcher Rolle verletzt hat.</a:t>
            </a:r>
          </a:p>
        </p:txBody>
      </p:sp>
      <p:sp>
        <p:nvSpPr>
          <p:cNvPr id="5" name="">
            <a:extLst xmlns:a="http://schemas.openxmlformats.org/drawingml/2006/main">
              <a:ext uri="{FF2B5EF4-FFF2-40B4-BE49-F238E27FC236}">
                <a16:creationId xmlns:a16="http://schemas.microsoft.com/office/drawing/2014/main" id="{1C963EBA-753D-4E92-BE34-ACA26ABDE35E}"/>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E0347214-F2C6-4E4F-BA5F-386AB056C8F5}"/>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1825676F-E228-43C0-BF3B-580851B022A9}"/>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Arbeitsteilung</a:t>
            </a:r>
          </a:p>
        </p:txBody>
      </p:sp>
      <p:sp>
        <p:nvSpPr>
          <p:cNvPr id="8" name="">
            <a:extLst xmlns:a="http://schemas.openxmlformats.org/drawingml/2006/main">
              <a:ext uri="{FF2B5EF4-FFF2-40B4-BE49-F238E27FC236}">
                <a16:creationId xmlns:a16="http://schemas.microsoft.com/office/drawing/2014/main" id="{EFEC659F-2262-4C03-90E9-4BDA07C0A1C1}"/>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Grundsätzlich darf auf ordnungsgemäße Aufgabenerfüllung anderer vertraut werden, solange keine konkreten Warnzeichen bestehen.</a:t>
            </a:r>
          </a:p>
        </p:txBody>
      </p:sp>
      <p:sp>
        <p:nvSpPr>
          <p:cNvPr id="9" name="">
            <a:extLst xmlns:a="http://schemas.openxmlformats.org/drawingml/2006/main">
              <a:ext uri="{FF2B5EF4-FFF2-40B4-BE49-F238E27FC236}">
                <a16:creationId xmlns:a16="http://schemas.microsoft.com/office/drawing/2014/main" id="{07294676-7019-4864-AFE8-B8307D2C8158}"/>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1AACC6D3-3112-4377-B111-2FDA5A168A7E}"/>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25978BCB-DD5E-482D-8098-33A4A0D2DF0C}"/>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Auswahl und Anweisung</a:t>
            </a:r>
          </a:p>
        </p:txBody>
      </p:sp>
      <p:sp>
        <p:nvSpPr>
          <p:cNvPr id="12" name="">
            <a:extLst xmlns:a="http://schemas.openxmlformats.org/drawingml/2006/main">
              <a:ext uri="{FF2B5EF4-FFF2-40B4-BE49-F238E27FC236}">
                <a16:creationId xmlns:a16="http://schemas.microsoft.com/office/drawing/2014/main" id="{09A0D9AF-E61A-476D-B3B5-9EAB5C79359B}"/>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Wer delegiert, kann für ungeeignete Auswahl, unklare Anleitung oder unzureichende Kontrolle persönlich verantwortlich sein.</a:t>
            </a:r>
          </a:p>
        </p:txBody>
      </p:sp>
      <p:sp>
        <p:nvSpPr>
          <p:cNvPr id="13" name="">
            <a:extLst xmlns:a="http://schemas.openxmlformats.org/drawingml/2006/main">
              <a:ext uri="{FF2B5EF4-FFF2-40B4-BE49-F238E27FC236}">
                <a16:creationId xmlns:a16="http://schemas.microsoft.com/office/drawing/2014/main" id="{F1E34E27-7033-48C0-9697-76CEF4F95E52}"/>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9962CFDA-0362-4177-9832-5EC623CBBE43}"/>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28B9F0F5-70A5-4559-8CF0-7957B4E52120}"/>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Übernahme</a:t>
            </a:r>
          </a:p>
        </p:txBody>
      </p:sp>
      <p:sp>
        <p:nvSpPr>
          <p:cNvPr id="16" name="">
            <a:extLst xmlns:a="http://schemas.openxmlformats.org/drawingml/2006/main">
              <a:ext uri="{FF2B5EF4-FFF2-40B4-BE49-F238E27FC236}">
                <a16:creationId xmlns:a16="http://schemas.microsoft.com/office/drawing/2014/main" id="{1064F497-82BF-4333-BD16-D2EC69A5A771}"/>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Wer eine Aufgabe trotz erkennbar fehlender Fähigkeit übernimmt, kann eigenes Übernahmeverschulden begründen.</a:t>
            </a:r>
          </a:p>
        </p:txBody>
      </p:sp>
      <p:sp>
        <p:nvSpPr>
          <p:cNvPr id="17" name="">
            <a:extLst xmlns:a="http://schemas.openxmlformats.org/drawingml/2006/main">
              <a:ext uri="{FF2B5EF4-FFF2-40B4-BE49-F238E27FC236}">
                <a16:creationId xmlns:a16="http://schemas.microsoft.com/office/drawing/2014/main" id="{BB054DCB-6CFE-416E-AF83-41946D975014}"/>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3D6D7E77-7FE3-468B-98A9-A41CE0E8F5EA}"/>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1B79742F-EF5C-44DF-A627-DB125AAF3BBA}"/>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Vorgesetztenrolle</a:t>
            </a:r>
          </a:p>
        </p:txBody>
      </p:sp>
      <p:sp>
        <p:nvSpPr>
          <p:cNvPr id="20" name="">
            <a:extLst xmlns:a="http://schemas.openxmlformats.org/drawingml/2006/main">
              <a:ext uri="{FF2B5EF4-FFF2-40B4-BE49-F238E27FC236}">
                <a16:creationId xmlns:a16="http://schemas.microsoft.com/office/drawing/2014/main" id="{2E39CC4B-2DDD-48E1-B2BD-0FCD4B3C4CEE}"/>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Hierarchie allein genügt nicht; konkrete Organisations-, Aufsichts- oder Eingriffspflichten müssen festgestellt werden.</a:t>
            </a:r>
          </a:p>
        </p:txBody>
      </p:sp>
      <p:sp>
        <p:nvSpPr>
          <p:cNvPr id="21" name="">
            <a:extLst xmlns:a="http://schemas.openxmlformats.org/drawingml/2006/main">
              <a:ext uri="{FF2B5EF4-FFF2-40B4-BE49-F238E27FC236}">
                <a16:creationId xmlns:a16="http://schemas.microsoft.com/office/drawing/2014/main" id="{52A27475-8464-45E3-9372-89B49208DF94}"/>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728FB1D4-058E-4467-B173-01D48EAE34E4}"/>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Teamfehler werden im Strafrecht in individuelle, beweisbare Pflichtbeiträge zerlegt.</a:t>
            </a:r>
          </a:p>
        </p:txBody>
      </p:sp>
    </p:spTree>
    <p:extLst>
      <p:ext uri="{BB962C8B-B14F-4D97-AF65-F5344CB8AC3E}">
        <p14:creationId xmlns:p14="http://schemas.microsoft.com/office/powerpoint/2010/main" val="43637646"/>
      </p:ext>
    </p:extLst>
  </p:cSld>
</p:sld>
</file>

<file path=ppt/slides/slide239.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Einwilligung, mutmaßliche Einwilligung und Notstand</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74807224-9DDE-4CAD-AFAE-57D338088704}"/>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Rechtfertigungsgründe werden nach der konkreten Entscheidungslage geordnet.</a:t>
            </a:r>
          </a:p>
        </p:txBody>
      </p:sp>
      <p:sp>
        <p:nvSpPr>
          <p:cNvPr id="5" name="">
            <a:extLst xmlns:a="http://schemas.openxmlformats.org/drawingml/2006/main">
              <a:ext uri="{FF2B5EF4-FFF2-40B4-BE49-F238E27FC236}">
                <a16:creationId xmlns:a16="http://schemas.microsoft.com/office/drawing/2014/main" id="{44A4C1E5-9BBB-4EE2-A2CE-FD78C70DD0ED}"/>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F7CB6C03-3964-445A-B80D-C331DE25BFCE}"/>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395E1006-8F25-46EE-A51A-8E8D01EAE737}"/>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Tatsächliche Einwilligung</a:t>
            </a:r>
          </a:p>
        </p:txBody>
      </p:sp>
      <p:sp>
        <p:nvSpPr>
          <p:cNvPr id="8" name="">
            <a:extLst xmlns:a="http://schemas.openxmlformats.org/drawingml/2006/main">
              <a:ext uri="{FF2B5EF4-FFF2-40B4-BE49-F238E27FC236}">
                <a16:creationId xmlns:a16="http://schemas.microsoft.com/office/drawing/2014/main" id="{7366E315-5292-4C78-80CC-1BE570B67ECA}"/>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Sie ist vorrangig und verlangt Entscheidungsfähigkeit, Information, Freiwilligkeit und Reichweite.</a:t>
            </a:r>
          </a:p>
        </p:txBody>
      </p:sp>
      <p:sp>
        <p:nvSpPr>
          <p:cNvPr id="9" name="">
            <a:extLst xmlns:a="http://schemas.openxmlformats.org/drawingml/2006/main">
              <a:ext uri="{FF2B5EF4-FFF2-40B4-BE49-F238E27FC236}">
                <a16:creationId xmlns:a16="http://schemas.microsoft.com/office/drawing/2014/main" id="{169111C4-FBFA-4667-8515-42A81745DA19}"/>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7BE540D4-EA63-480E-A127-6C46BC126F90}"/>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3389DEFC-2DC1-40BA-817B-01AE07CDA934}"/>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Mutmaßliche Einwilligung</a:t>
            </a:r>
          </a:p>
        </p:txBody>
      </p:sp>
      <p:sp>
        <p:nvSpPr>
          <p:cNvPr id="12" name="">
            <a:extLst xmlns:a="http://schemas.openxmlformats.org/drawingml/2006/main">
              <a:ext uri="{FF2B5EF4-FFF2-40B4-BE49-F238E27FC236}">
                <a16:creationId xmlns:a16="http://schemas.microsoft.com/office/drawing/2014/main" id="{84D29585-B74C-4AE6-9940-B8645F2183CA}"/>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Ist eine Entscheidung nicht rechtzeitig erreichbar, wird anhand persönlicher Werte, früherer Äußerungen und objektiver Interessen der wahrscheinliche Wille ermittelt.</a:t>
            </a:r>
          </a:p>
        </p:txBody>
      </p:sp>
      <p:sp>
        <p:nvSpPr>
          <p:cNvPr id="13" name="">
            <a:extLst xmlns:a="http://schemas.openxmlformats.org/drawingml/2006/main">
              <a:ext uri="{FF2B5EF4-FFF2-40B4-BE49-F238E27FC236}">
                <a16:creationId xmlns:a16="http://schemas.microsoft.com/office/drawing/2014/main" id="{12D043B5-5E28-4790-B6C5-307CE2B88BEE}"/>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9E0A7DF4-E845-4801-A4C4-98A3494A7C3D}"/>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DF1F538D-BC0E-4B95-B912-4B70F4117A6E}"/>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Rechtfertigender Notstand</a:t>
            </a:r>
          </a:p>
        </p:txBody>
      </p:sp>
      <p:sp>
        <p:nvSpPr>
          <p:cNvPr id="16" name="">
            <a:extLst xmlns:a="http://schemas.openxmlformats.org/drawingml/2006/main">
              <a:ext uri="{FF2B5EF4-FFF2-40B4-BE49-F238E27FC236}">
                <a16:creationId xmlns:a16="http://schemas.microsoft.com/office/drawing/2014/main" id="{953376F9-C099-4A92-A52C-D14D3B4FA6DD}"/>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 34 StGB kann in besonderen Konflikten ein geschütztes Interesse gegen ein anderes abwägen; Spezialregeln und Patientenwille gehen vor.</a:t>
            </a:r>
          </a:p>
        </p:txBody>
      </p:sp>
      <p:sp>
        <p:nvSpPr>
          <p:cNvPr id="17" name="">
            <a:extLst xmlns:a="http://schemas.openxmlformats.org/drawingml/2006/main">
              <a:ext uri="{FF2B5EF4-FFF2-40B4-BE49-F238E27FC236}">
                <a16:creationId xmlns:a16="http://schemas.microsoft.com/office/drawing/2014/main" id="{C976A643-9252-497B-BCFB-09557E5D54B9}"/>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16A4BED7-F6BA-40EB-BDBA-86DA268A7B0D}"/>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E354C026-B70D-4C00-9589-5F7D8303A352}"/>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Grenze</a:t>
            </a:r>
          </a:p>
        </p:txBody>
      </p:sp>
      <p:sp>
        <p:nvSpPr>
          <p:cNvPr id="20" name="">
            <a:extLst xmlns:a="http://schemas.openxmlformats.org/drawingml/2006/main">
              <a:ext uri="{FF2B5EF4-FFF2-40B4-BE49-F238E27FC236}">
                <a16:creationId xmlns:a16="http://schemas.microsoft.com/office/drawing/2014/main" id="{CB9364C3-656E-42CF-A413-0C1E4F2427ED}"/>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Ein ausdrücklich erklärter, wirksamer entgegenstehender Patientenwille wird nicht allein durch medizinische Nutzenabwägung überwunden.</a:t>
            </a:r>
          </a:p>
        </p:txBody>
      </p:sp>
      <p:sp>
        <p:nvSpPr>
          <p:cNvPr id="21" name="">
            <a:extLst xmlns:a="http://schemas.openxmlformats.org/drawingml/2006/main">
              <a:ext uri="{FF2B5EF4-FFF2-40B4-BE49-F238E27FC236}">
                <a16:creationId xmlns:a16="http://schemas.microsoft.com/office/drawing/2014/main" id="{3A5A3916-18B8-427E-B887-695C2743C611}"/>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997EC5CA-734C-4E5A-A4A1-B9D87BE2BB8F}"/>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Der Notfall reduziert Zeit, aber nicht die Pflicht, den erkennbaren Patientenwillen einzubeziehen.</a:t>
            </a:r>
          </a:p>
        </p:txBody>
      </p:sp>
    </p:spTree>
    <p:extLst>
      <p:ext uri="{BB962C8B-B14F-4D97-AF65-F5344CB8AC3E}">
        <p14:creationId xmlns:p14="http://schemas.microsoft.com/office/powerpoint/2010/main" val="43637646"/>
      </p:ext>
    </p:extLst>
  </p:cSld>
</p:sld>
</file>

<file path=ppt/slides/slide240.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Strafrechtliche Dokumentationsrisiken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3FF4759F-2B10-42E2-A139-0AF2B3CD6BB6}"/>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Nachträgliche Aktenmanipulation kann die ursprüngliche Lage verschärfen und neue Verdachtsrichtungen eröffnen.</a:t>
            </a:r>
          </a:p>
        </p:txBody>
      </p:sp>
      <p:sp>
        <p:nvSpPr>
          <p:cNvPr id="5" name="">
            <a:extLst xmlns:a="http://schemas.openxmlformats.org/drawingml/2006/main">
              <a:ext uri="{FF2B5EF4-FFF2-40B4-BE49-F238E27FC236}">
                <a16:creationId xmlns:a16="http://schemas.microsoft.com/office/drawing/2014/main" id="{B14BCF36-6100-4F4F-A505-7ACBA21ED492}"/>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64CE5DEF-41E7-4204-BD8D-C2C26E131244}"/>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51351FB5-F6F1-40A5-8C7E-4661B9A08D6F}"/>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Wahrheit und Transparenz</a:t>
            </a:r>
          </a:p>
        </p:txBody>
      </p:sp>
      <p:sp>
        <p:nvSpPr>
          <p:cNvPr id="8" name="">
            <a:extLst xmlns:a="http://schemas.openxmlformats.org/drawingml/2006/main">
              <a:ext uri="{FF2B5EF4-FFF2-40B4-BE49-F238E27FC236}">
                <a16:creationId xmlns:a16="http://schemas.microsoft.com/office/drawing/2014/main" id="{F55F9786-76AC-4DC2-9CD6-715679B66CBE}"/>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Korrekturen werden als solche kenntlich gemacht; Originalinhalt und Zeitpunkt bleiben erhalten.</a:t>
            </a:r>
          </a:p>
        </p:txBody>
      </p:sp>
      <p:sp>
        <p:nvSpPr>
          <p:cNvPr id="9" name="">
            <a:extLst xmlns:a="http://schemas.openxmlformats.org/drawingml/2006/main">
              <a:ext uri="{FF2B5EF4-FFF2-40B4-BE49-F238E27FC236}">
                <a16:creationId xmlns:a16="http://schemas.microsoft.com/office/drawing/2014/main" id="{05992D2E-0608-4B77-A316-7C7D83FEA78D}"/>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5E69CC9A-A092-476F-8052-71532E131B79}"/>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2B2CF70A-D36F-4BD5-96C3-222C070E5A7E}"/>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Urkundendelikte</a:t>
            </a:r>
          </a:p>
        </p:txBody>
      </p:sp>
      <p:sp>
        <p:nvSpPr>
          <p:cNvPr id="12" name="">
            <a:extLst xmlns:a="http://schemas.openxmlformats.org/drawingml/2006/main">
              <a:ext uri="{FF2B5EF4-FFF2-40B4-BE49-F238E27FC236}">
                <a16:creationId xmlns:a16="http://schemas.microsoft.com/office/drawing/2014/main" id="{3ABA31D6-0D9B-43E6-8EB8-9CDA759FE836}"/>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Je nach Dokument, Erklärungsgehalt und Manipulation können strafrechtliche Urkunden- oder Gesundheitszeugnisdelikte in Betracht kommen.</a:t>
            </a:r>
          </a:p>
        </p:txBody>
      </p:sp>
      <p:sp>
        <p:nvSpPr>
          <p:cNvPr id="13" name="">
            <a:extLst xmlns:a="http://schemas.openxmlformats.org/drawingml/2006/main">
              <a:ext uri="{FF2B5EF4-FFF2-40B4-BE49-F238E27FC236}">
                <a16:creationId xmlns:a16="http://schemas.microsoft.com/office/drawing/2014/main" id="{C31D56D9-11F7-4C1C-BEF2-A41423C95E9F}"/>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1E104C10-B589-4A1C-B996-267F0048160C}"/>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1F5D8DF8-7238-4A84-A6C4-F4207588D419}"/>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Verdunkelungsverdacht</a:t>
            </a:r>
          </a:p>
        </p:txBody>
      </p:sp>
      <p:sp>
        <p:nvSpPr>
          <p:cNvPr id="16" name="">
            <a:extLst xmlns:a="http://schemas.openxmlformats.org/drawingml/2006/main">
              <a:ext uri="{FF2B5EF4-FFF2-40B4-BE49-F238E27FC236}">
                <a16:creationId xmlns:a16="http://schemas.microsoft.com/office/drawing/2014/main" id="{12E8C144-CE06-4203-AE9E-8361939B97DE}"/>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Löschung oder Abstimmung kann Ermittlungsmaßnahmen und haftrechtliche Bewertungen beeinflussen.</a:t>
            </a:r>
          </a:p>
        </p:txBody>
      </p:sp>
      <p:sp>
        <p:nvSpPr>
          <p:cNvPr id="17" name="">
            <a:extLst xmlns:a="http://schemas.openxmlformats.org/drawingml/2006/main">
              <a:ext uri="{FF2B5EF4-FFF2-40B4-BE49-F238E27FC236}">
                <a16:creationId xmlns:a16="http://schemas.microsoft.com/office/drawing/2014/main" id="{9AC6E642-1C79-494A-A5D6-A558AE8B15A4}"/>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794525C5-B255-41DA-942C-4D0ABA8C6B52}"/>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384C1A0A-9D8C-47C0-82BD-694F3FFA5E72}"/>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Sicheres Verhalten</a:t>
            </a:r>
          </a:p>
        </p:txBody>
      </p:sp>
      <p:sp>
        <p:nvSpPr>
          <p:cNvPr id="20" name="">
            <a:extLst xmlns:a="http://schemas.openxmlformats.org/drawingml/2006/main">
              <a:ext uri="{FF2B5EF4-FFF2-40B4-BE49-F238E27FC236}">
                <a16:creationId xmlns:a16="http://schemas.microsoft.com/office/drawing/2014/main" id="{CA0166C4-E372-4DC3-874E-A583B39278B0}"/>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Unterlagen werden unverändert gesichert; Stellungnahmen erfolgen nach Rollenklärung und Beratung.</a:t>
            </a:r>
          </a:p>
        </p:txBody>
      </p:sp>
      <p:sp>
        <p:nvSpPr>
          <p:cNvPr id="21" name="">
            <a:extLst xmlns:a="http://schemas.openxmlformats.org/drawingml/2006/main">
              <a:ext uri="{FF2B5EF4-FFF2-40B4-BE49-F238E27FC236}">
                <a16:creationId xmlns:a16="http://schemas.microsoft.com/office/drawing/2014/main" id="{FA553681-A6F3-4DC0-8294-398662552059}"/>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A17BC1DE-D793-4B1C-9808-015190AEB456}"/>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Nicht der ursprüngliche Fehler, sondern die Vertuschung kann zur strafrechtlich schwereren zweiten Krise werden.</a:t>
            </a:r>
          </a:p>
        </p:txBody>
      </p:sp>
    </p:spTree>
    <p:extLst>
      <p:ext uri="{BB962C8B-B14F-4D97-AF65-F5344CB8AC3E}">
        <p14:creationId xmlns:p14="http://schemas.microsoft.com/office/powerpoint/2010/main" val="43637646"/>
      </p:ext>
    </p:extLst>
  </p:cSld>
</p:sld>
</file>

<file path=ppt/slides/slide241.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Korruption im Gesundheitswesen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6BA95DD0-AF14-474B-B5D1-1473D0A57B03}"/>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 299a und 299b StGB schützen den fairen Wettbewerb bei heilberuflichen Entscheidungen.</a:t>
            </a:r>
          </a:p>
        </p:txBody>
      </p:sp>
      <p:sp>
        <p:nvSpPr>
          <p:cNvPr id="5" name="">
            <a:extLst xmlns:a="http://schemas.openxmlformats.org/drawingml/2006/main">
              <a:ext uri="{FF2B5EF4-FFF2-40B4-BE49-F238E27FC236}">
                <a16:creationId xmlns:a16="http://schemas.microsoft.com/office/drawing/2014/main" id="{9A5A6D0C-7754-410E-80C8-3EE21F25BE02}"/>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C6BB133F-1D9E-4584-A75E-61BA9156F902}"/>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8139CCFF-6929-4925-80FA-2BEF534BC362}"/>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Vorteil</a:t>
            </a:r>
          </a:p>
        </p:txBody>
      </p:sp>
      <p:sp>
        <p:nvSpPr>
          <p:cNvPr id="8" name="">
            <a:extLst xmlns:a="http://schemas.openxmlformats.org/drawingml/2006/main">
              <a:ext uri="{FF2B5EF4-FFF2-40B4-BE49-F238E27FC236}">
                <a16:creationId xmlns:a16="http://schemas.microsoft.com/office/drawing/2014/main" id="{708801EA-A4AD-41AE-86D7-3F694C3EC382}"/>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Erfasst werden materielle oder immaterielle Zuwendungen, auf die kein Anspruch besteht.</a:t>
            </a:r>
          </a:p>
        </p:txBody>
      </p:sp>
      <p:sp>
        <p:nvSpPr>
          <p:cNvPr id="9" name="">
            <a:extLst xmlns:a="http://schemas.openxmlformats.org/drawingml/2006/main">
              <a:ext uri="{FF2B5EF4-FFF2-40B4-BE49-F238E27FC236}">
                <a16:creationId xmlns:a16="http://schemas.microsoft.com/office/drawing/2014/main" id="{B47A36B1-ADAD-4856-9C25-B4FE8360E093}"/>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007EFB96-CB1F-4B3D-B911-2B1BCAAD397C}"/>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7623AAF8-FA5E-4EF5-95E4-40BBCD51545B}"/>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Unrechtsvereinbarung</a:t>
            </a:r>
          </a:p>
        </p:txBody>
      </p:sp>
      <p:sp>
        <p:nvSpPr>
          <p:cNvPr id="12" name="">
            <a:extLst xmlns:a="http://schemas.openxmlformats.org/drawingml/2006/main">
              <a:ext uri="{FF2B5EF4-FFF2-40B4-BE49-F238E27FC236}">
                <a16:creationId xmlns:a16="http://schemas.microsoft.com/office/drawing/2014/main" id="{E35ABCE2-1488-49C1-954E-A924DDC69ECB}"/>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Der Vorteil muss als Gegenleistung für eine unlautere Bevorzugung bei Verordnung, Bezug oder Zuführung vereinbart sein.</a:t>
            </a:r>
          </a:p>
        </p:txBody>
      </p:sp>
      <p:sp>
        <p:nvSpPr>
          <p:cNvPr id="13" name="">
            <a:extLst xmlns:a="http://schemas.openxmlformats.org/drawingml/2006/main">
              <a:ext uri="{FF2B5EF4-FFF2-40B4-BE49-F238E27FC236}">
                <a16:creationId xmlns:a16="http://schemas.microsoft.com/office/drawing/2014/main" id="{0DAF0748-84B0-40EE-B37A-F7D55B9F3158}"/>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D86CE7A5-AEEF-4636-8390-26EA7DD31BDF}"/>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C496CB37-B285-4B0F-BE7A-37F4D336C980}"/>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Berufsausübung</a:t>
            </a:r>
          </a:p>
        </p:txBody>
      </p:sp>
      <p:sp>
        <p:nvSpPr>
          <p:cNvPr id="16" name="">
            <a:extLst xmlns:a="http://schemas.openxmlformats.org/drawingml/2006/main">
              <a:ext uri="{FF2B5EF4-FFF2-40B4-BE49-F238E27FC236}">
                <a16:creationId xmlns:a16="http://schemas.microsoft.com/office/drawing/2014/main" id="{822A55A7-7508-4FBC-823D-F74F0C94704D}"/>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Nicht jede Kooperation oder Vergütung ist verboten; Transparenz, Angemessenheit und sachlicher Leistungsbezug sind zentral.</a:t>
            </a:r>
          </a:p>
        </p:txBody>
      </p:sp>
      <p:sp>
        <p:nvSpPr>
          <p:cNvPr id="17" name="">
            <a:extLst xmlns:a="http://schemas.openxmlformats.org/drawingml/2006/main">
              <a:ext uri="{FF2B5EF4-FFF2-40B4-BE49-F238E27FC236}">
                <a16:creationId xmlns:a16="http://schemas.microsoft.com/office/drawing/2014/main" id="{99EE8D53-D2A5-46ED-B5B2-2B585857F2AA}"/>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458EF707-E057-424E-A892-C5BC8811287B}"/>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3860197D-E729-4A37-B7E0-F71120483F42}"/>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Praxisfolge</a:t>
            </a:r>
          </a:p>
        </p:txBody>
      </p:sp>
      <p:sp>
        <p:nvSpPr>
          <p:cNvPr id="20" name="">
            <a:extLst xmlns:a="http://schemas.openxmlformats.org/drawingml/2006/main">
              <a:ext uri="{FF2B5EF4-FFF2-40B4-BE49-F238E27FC236}">
                <a16:creationId xmlns:a16="http://schemas.microsoft.com/office/drawing/2014/main" id="{B81E9C16-EFCD-4D62-91B8-C10768BC2B74}"/>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Sponsoring, Zuweisung, Beteiligung und Industriekooperation werden vorab compliance- und berufsrechtlich geprüft.</a:t>
            </a:r>
          </a:p>
        </p:txBody>
      </p:sp>
      <p:sp>
        <p:nvSpPr>
          <p:cNvPr id="21" name="">
            <a:extLst xmlns:a="http://schemas.openxmlformats.org/drawingml/2006/main">
              <a:ext uri="{FF2B5EF4-FFF2-40B4-BE49-F238E27FC236}">
                <a16:creationId xmlns:a16="http://schemas.microsoft.com/office/drawing/2014/main" id="{9D4D249D-6D13-47F6-9525-B7381606C900}"/>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A66215EB-EBF9-41EF-96C3-4106B36CFD80}"/>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Entscheidend ist nicht die Bezeichnung der Zahlung, sondern ihr tatsächlicher Gegenleistungszusammenhang.</a:t>
            </a:r>
          </a:p>
        </p:txBody>
      </p:sp>
    </p:spTree>
    <p:extLst>
      <p:ext uri="{BB962C8B-B14F-4D97-AF65-F5344CB8AC3E}">
        <p14:creationId xmlns:p14="http://schemas.microsoft.com/office/powerpoint/2010/main" val="43637646"/>
      </p:ext>
    </p:extLst>
  </p:cSld>
</p:sld>
</file>

<file path=ppt/slides/slide242.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Was ist ein Strafverfahren?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31FBA478-B39E-443D-AE1E-50BABA14588A}"/>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Das Strafverfahren klärt staatlich, ob eine bestimmte Person eine Straftat begangen hat und welche Rechtsfolge folgt.</a:t>
            </a:r>
          </a:p>
        </p:txBody>
      </p:sp>
      <p:sp>
        <p:nvSpPr>
          <p:cNvPr id="5" name="">
            <a:extLst xmlns:a="http://schemas.openxmlformats.org/drawingml/2006/main">
              <a:ext uri="{FF2B5EF4-FFF2-40B4-BE49-F238E27FC236}">
                <a16:creationId xmlns:a16="http://schemas.microsoft.com/office/drawing/2014/main" id="{15445269-31FD-445B-BFEB-5D6100A20739}"/>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D489C072-4566-441C-B8FE-6C6DBA31C439}"/>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B033CE64-D3D6-42B4-B7EA-B12F215DEA42}"/>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Offizialprinzip</a:t>
            </a:r>
          </a:p>
        </p:txBody>
      </p:sp>
      <p:sp>
        <p:nvSpPr>
          <p:cNvPr id="8" name="">
            <a:extLst xmlns:a="http://schemas.openxmlformats.org/drawingml/2006/main">
              <a:ext uri="{FF2B5EF4-FFF2-40B4-BE49-F238E27FC236}">
                <a16:creationId xmlns:a16="http://schemas.microsoft.com/office/drawing/2014/main" id="{3A62E987-13B6-4678-AEA2-FF600CCA2B35}"/>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Staatsanwaltschaft und Polizei verfolgen Straftaten grundsätzlich von Amts wegen, wenn die gesetzlichen Voraussetzungen vorliegen.</a:t>
            </a:r>
          </a:p>
        </p:txBody>
      </p:sp>
      <p:sp>
        <p:nvSpPr>
          <p:cNvPr id="9" name="">
            <a:extLst xmlns:a="http://schemas.openxmlformats.org/drawingml/2006/main">
              <a:ext uri="{FF2B5EF4-FFF2-40B4-BE49-F238E27FC236}">
                <a16:creationId xmlns:a16="http://schemas.microsoft.com/office/drawing/2014/main" id="{15424897-398D-4989-9A0E-B226BE48678D}"/>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A27149D0-1CC6-44ED-AA34-22C16DA4DA31}"/>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D0486AF3-A875-4B23-A8D8-E8341727C764}"/>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Ermittlungsgrundsatz</a:t>
            </a:r>
          </a:p>
        </p:txBody>
      </p:sp>
      <p:sp>
        <p:nvSpPr>
          <p:cNvPr id="12" name="">
            <a:extLst xmlns:a="http://schemas.openxmlformats.org/drawingml/2006/main">
              <a:ext uri="{FF2B5EF4-FFF2-40B4-BE49-F238E27FC236}">
                <a16:creationId xmlns:a16="http://schemas.microsoft.com/office/drawing/2014/main" id="{EA9ADF17-DB93-4BF3-96EF-E7F5D1F20962}"/>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Ermittlungsbehörden erforschen belastende und entlastende Umstände.</a:t>
            </a:r>
          </a:p>
        </p:txBody>
      </p:sp>
      <p:sp>
        <p:nvSpPr>
          <p:cNvPr id="13" name="">
            <a:extLst xmlns:a="http://schemas.openxmlformats.org/drawingml/2006/main">
              <a:ext uri="{FF2B5EF4-FFF2-40B4-BE49-F238E27FC236}">
                <a16:creationId xmlns:a16="http://schemas.microsoft.com/office/drawing/2014/main" id="{9225D59D-9A9D-474F-B1CD-E22DB39AC2FE}"/>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8CF38099-D221-490B-A677-935D6993F911}"/>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6F187CF4-F279-448B-A105-C1303112C146}"/>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Unschuldsvermutung</a:t>
            </a:r>
          </a:p>
        </p:txBody>
      </p:sp>
      <p:sp>
        <p:nvSpPr>
          <p:cNvPr id="16" name="">
            <a:extLst xmlns:a="http://schemas.openxmlformats.org/drawingml/2006/main">
              <a:ext uri="{FF2B5EF4-FFF2-40B4-BE49-F238E27FC236}">
                <a16:creationId xmlns:a16="http://schemas.microsoft.com/office/drawing/2014/main" id="{EC8519BF-9F2A-4AAF-8FC6-27E6EA39A62D}"/>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Bis zur rechtskräftigen Verurteilung gilt die beschuldigte Person als unschuldig.</a:t>
            </a:r>
          </a:p>
        </p:txBody>
      </p:sp>
      <p:sp>
        <p:nvSpPr>
          <p:cNvPr id="17" name="">
            <a:extLst xmlns:a="http://schemas.openxmlformats.org/drawingml/2006/main">
              <a:ext uri="{FF2B5EF4-FFF2-40B4-BE49-F238E27FC236}">
                <a16:creationId xmlns:a16="http://schemas.microsoft.com/office/drawing/2014/main" id="{5CA552F8-D672-4A8B-A0D6-D1852AF3765C}"/>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1DCFA0C9-9FD2-446B-A005-2CEF09CC289E}"/>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D33C2E16-F752-4E83-A412-F40AEF87B33D}"/>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Zweifelssatz</a:t>
            </a:r>
          </a:p>
        </p:txBody>
      </p:sp>
      <p:sp>
        <p:nvSpPr>
          <p:cNvPr id="20" name="">
            <a:extLst xmlns:a="http://schemas.openxmlformats.org/drawingml/2006/main">
              <a:ext uri="{FF2B5EF4-FFF2-40B4-BE49-F238E27FC236}">
                <a16:creationId xmlns:a16="http://schemas.microsoft.com/office/drawing/2014/main" id="{E432D178-53DB-4D25-854D-AFFBC49B9FA7}"/>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Eine Verurteilung setzt richterliche Überzeugung voraus; nicht ausräumbare vernünftige Zweifel wirken zugunsten der angeklagten Person.</a:t>
            </a:r>
          </a:p>
        </p:txBody>
      </p:sp>
      <p:sp>
        <p:nvSpPr>
          <p:cNvPr id="21" name="">
            <a:extLst xmlns:a="http://schemas.openxmlformats.org/drawingml/2006/main">
              <a:ext uri="{FF2B5EF4-FFF2-40B4-BE49-F238E27FC236}">
                <a16:creationId xmlns:a16="http://schemas.microsoft.com/office/drawing/2014/main" id="{ED010DA1-08C0-4F80-81B0-062B2D91EFF5}"/>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5525A1AC-36F4-4512-9F1C-633381FB48B8}"/>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Ein Ermittlungsverfahren ist eine Prüfung, keine Feststellung von Schuld.</a:t>
            </a:r>
          </a:p>
        </p:txBody>
      </p:sp>
    </p:spTree>
    <p:extLst>
      <p:ext uri="{BB962C8B-B14F-4D97-AF65-F5344CB8AC3E}">
        <p14:creationId xmlns:p14="http://schemas.microsoft.com/office/powerpoint/2010/main" val="43637646"/>
      </p:ext>
    </p:extLst>
  </p:cSld>
</p:sld>
</file>

<file path=ppt/slides/slide243.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StPO: vom Anfangsverdacht bis zum Urteil</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VERFAHREN VERSTEHEN</a:t>
            </a:r>
            <a:endParaRPr/>
          </a:p>
        </p:txBody>
      </p:sp>
      <p:sp>
        <p:nvSpPr>
          <p:cNvPr id="4" name="">
            <a:extLst xmlns:a="http://schemas.openxmlformats.org/drawingml/2006/main">
              <a:ext uri="{FF2B5EF4-FFF2-40B4-BE49-F238E27FC236}">
                <a16:creationId xmlns:a16="http://schemas.microsoft.com/office/drawing/2014/main" id="{8354398C-52E8-452E-83BE-E999F9DAEE6A}"/>
              </a:ext>
            </a:extLst>
          </p:cNvPr>
          <p:cNvSpPr>
            <a:spLocks xmlns:a="http://schemas.openxmlformats.org/drawingml/2006/main" noGrp="1"/>
          </p:cNvSpPr>
          <p:nvPr/>
        </p:nvSpPr>
        <p:spPr>
          <a:xfrm xmlns:a="http://schemas.openxmlformats.org/drawingml/2006/main">
            <a:off x="1809750" y="1885950"/>
            <a:ext cx="9525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15">
                <a:solidFill>
                  <a:srgbClr val="667680"/>
                </a:solidFill>
              </a:defRPr>
            </a:pPr>
            <a:r>
              <a:rPr sz="1215">
                <a:solidFill>
                  <a:srgbClr val="667680"/>
                </a:solidFill>
              </a:rPr>
              <a:t>Das Strafverfahren gliedert sich in gesetzlich strukturierte Abschnitte.</a:t>
            </a:r>
          </a:p>
        </p:txBody>
      </p:sp>
      <p:sp>
        <p:nvSpPr>
          <p:cNvPr id="5" name="">
            <a:extLst xmlns:a="http://schemas.openxmlformats.org/drawingml/2006/main">
              <a:ext uri="{FF2B5EF4-FFF2-40B4-BE49-F238E27FC236}">
                <a16:creationId xmlns:a16="http://schemas.microsoft.com/office/drawing/2014/main" id="{4D4FF11C-C7AC-4CBC-985B-B1144D11B965}"/>
              </a:ext>
            </a:extLst>
          </p:cNvPr>
          <p:cNvSpPr>
            <a:spLocks xmlns:a="http://schemas.openxmlformats.org/drawingml/2006/main" noGrp="1"/>
          </p:cNvSpPr>
          <p:nvPr/>
        </p:nvSpPr>
        <p:spPr>
          <a:xfrm xmlns:a="http://schemas.openxmlformats.org/drawingml/2006/main">
            <a:off x="1981200" y="2952750"/>
            <a:ext cx="9182100" cy="0"/>
          </a:xfrm>
          <a:prstGeom xmlns:a="http://schemas.openxmlformats.org/drawingml/2006/main" prst="line">
            <a:avLst/>
          </a:prstGeom>
          <a:noFill xmlns:a="http://schemas.openxmlformats.org/drawingml/2006/main"/>
          <a:ln xmlns:a="http://schemas.openxmlformats.org/drawingml/2006/main" w="28575">
            <a:solidFill>
              <a:srgbClr val="B9CAD2"/>
            </a:solidFill>
            <a:prstDash val="solid"/>
          </a:ln>
        </p:spPr>
      </p:sp>
      <p:sp>
        <p:nvSpPr>
          <p:cNvPr id="6" name="">
            <a:extLst xmlns:a="http://schemas.openxmlformats.org/drawingml/2006/main">
              <a:ext uri="{FF2B5EF4-FFF2-40B4-BE49-F238E27FC236}">
                <a16:creationId xmlns:a16="http://schemas.microsoft.com/office/drawing/2014/main" id="{BE95CCCF-91F6-4CD9-A8F0-5245D2D101AB}"/>
              </a:ext>
            </a:extLst>
          </p:cNvPr>
          <p:cNvSpPr>
            <a:spLocks xmlns:a="http://schemas.openxmlformats.org/drawingml/2006/main" noGrp="1"/>
          </p:cNvSpPr>
          <p:nvPr/>
        </p:nvSpPr>
        <p:spPr>
          <a:xfrm xmlns:a="http://schemas.openxmlformats.org/drawingml/2006/main">
            <a:off x="1809750" y="2495550"/>
            <a:ext cx="1508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Anfangsverdacht</a:t>
            </a:r>
          </a:p>
        </p:txBody>
      </p:sp>
      <p:sp>
        <p:nvSpPr>
          <p:cNvPr id="7" name="">
            <a:extLst xmlns:a="http://schemas.openxmlformats.org/drawingml/2006/main">
              <a:ext uri="{FF2B5EF4-FFF2-40B4-BE49-F238E27FC236}">
                <a16:creationId xmlns:a16="http://schemas.microsoft.com/office/drawing/2014/main" id="{0581D41E-70E9-4CBC-9A40-705BF0089BF7}"/>
              </a:ext>
            </a:extLst>
          </p:cNvPr>
          <p:cNvSpPr>
            <a:spLocks xmlns:a="http://schemas.openxmlformats.org/drawingml/2006/main" noGrp="1"/>
          </p:cNvSpPr>
          <p:nvPr/>
        </p:nvSpPr>
        <p:spPr>
          <a:xfrm xmlns:a="http://schemas.openxmlformats.org/drawingml/2006/main">
            <a:off x="2439988" y="2838450"/>
            <a:ext cx="247650" cy="247650"/>
          </a:xfrm>
          <a:prstGeom xmlns:a="http://schemas.openxmlformats.org/drawingml/2006/main" prst="ellipse">
            <a:avLst/>
          </a:prstGeom>
          <a:solidFill xmlns:a="http://schemas.openxmlformats.org/drawingml/2006/main">
            <a:srgbClr val="003F6B"/>
          </a:solidFill>
          <a:ln xmlns:a="http://schemas.openxmlformats.org/drawingml/2006/main" w="19050">
            <a:solidFill>
              <a:srgbClr val="FFFFFF"/>
            </a:solidFill>
            <a:prstDash val="solid"/>
          </a:ln>
        </p:spPr>
      </p:sp>
      <p:sp>
        <p:nvSpPr>
          <p:cNvPr id="8" name="">
            <a:extLst xmlns:a="http://schemas.openxmlformats.org/drawingml/2006/main">
              <a:ext uri="{FF2B5EF4-FFF2-40B4-BE49-F238E27FC236}">
                <a16:creationId xmlns:a16="http://schemas.microsoft.com/office/drawing/2014/main" id="{95657747-2A2E-44C1-8A87-C361B65DCA3E}"/>
              </a:ext>
            </a:extLst>
          </p:cNvPr>
          <p:cNvSpPr>
            <a:spLocks xmlns:a="http://schemas.openxmlformats.org/drawingml/2006/main" noGrp="1"/>
          </p:cNvSpPr>
          <p:nvPr/>
        </p:nvSpPr>
        <p:spPr>
          <a:xfrm xmlns:a="http://schemas.openxmlformats.org/drawingml/2006/main">
            <a:off x="1809750" y="3219450"/>
            <a:ext cx="1508125" cy="2000250"/>
          </a:xfrm>
          <a:prstGeom xmlns:a="http://schemas.openxmlformats.org/drawingml/2006/main" prst="roundRect">
            <a:avLst>
              <a:gd name="adj" fmla="val 5053"/>
            </a:avLst>
          </a:prstGeom>
          <a:noFill xmlns:a="http://schemas.openxmlformats.org/drawingml/2006/main"/>
          <a:ln xmlns:a="http://schemas.openxmlformats.org/drawingml/2006/main" w="9525">
            <a:solidFill>
              <a:srgbClr val="00B2BB"/>
            </a:solidFill>
            <a:prstDash val="solid"/>
          </a:ln>
        </p:spPr>
      </p:sp>
      <p:sp>
        <p:nvSpPr>
          <p:cNvPr id="9" name="">
            <a:extLst xmlns:a="http://schemas.openxmlformats.org/drawingml/2006/main">
              <a:ext uri="{FF2B5EF4-FFF2-40B4-BE49-F238E27FC236}">
                <a16:creationId xmlns:a16="http://schemas.microsoft.com/office/drawing/2014/main" id="{689DFFD1-D0F0-42AD-BA81-52F5FB05C1B0}"/>
              </a:ext>
            </a:extLst>
          </p:cNvPr>
          <p:cNvSpPr>
            <a:spLocks xmlns:a="http://schemas.openxmlformats.org/drawingml/2006/main" noGrp="1"/>
          </p:cNvSpPr>
          <p:nvPr/>
        </p:nvSpPr>
        <p:spPr>
          <a:xfrm xmlns:a="http://schemas.openxmlformats.org/drawingml/2006/main">
            <a:off x="1905000" y="3314700"/>
            <a:ext cx="13176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Anzeige, Todesfall, Aktenhinweis oder Mitteilung kann tatsächliche Anhaltspunkte für Ermittlungen liefern.</a:t>
            </a:r>
          </a:p>
        </p:txBody>
      </p:sp>
      <p:sp>
        <p:nvSpPr>
          <p:cNvPr id="10" name="">
            <a:extLst xmlns:a="http://schemas.openxmlformats.org/drawingml/2006/main">
              <a:ext uri="{FF2B5EF4-FFF2-40B4-BE49-F238E27FC236}">
                <a16:creationId xmlns:a16="http://schemas.microsoft.com/office/drawing/2014/main" id="{133B0E04-BE6D-4FD6-9248-491CA8071AB1}"/>
              </a:ext>
            </a:extLst>
          </p:cNvPr>
          <p:cNvSpPr>
            <a:spLocks xmlns:a="http://schemas.openxmlformats.org/drawingml/2006/main" noGrp="1"/>
          </p:cNvSpPr>
          <p:nvPr/>
        </p:nvSpPr>
        <p:spPr>
          <a:xfrm xmlns:a="http://schemas.openxmlformats.org/drawingml/2006/main">
            <a:off x="3413125" y="2495550"/>
            <a:ext cx="1508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Ermittlungsverfahren</a:t>
            </a:r>
          </a:p>
        </p:txBody>
      </p:sp>
      <p:sp>
        <p:nvSpPr>
          <p:cNvPr id="11" name="">
            <a:extLst xmlns:a="http://schemas.openxmlformats.org/drawingml/2006/main">
              <a:ext uri="{FF2B5EF4-FFF2-40B4-BE49-F238E27FC236}">
                <a16:creationId xmlns:a16="http://schemas.microsoft.com/office/drawing/2014/main" id="{46EE1EFC-3881-457A-AC81-36C537F778D7}"/>
              </a:ext>
            </a:extLst>
          </p:cNvPr>
          <p:cNvSpPr>
            <a:spLocks xmlns:a="http://schemas.openxmlformats.org/drawingml/2006/main" noGrp="1"/>
          </p:cNvSpPr>
          <p:nvPr/>
        </p:nvSpPr>
        <p:spPr>
          <a:xfrm xmlns:a="http://schemas.openxmlformats.org/drawingml/2006/main">
            <a:off x="4043363" y="2838450"/>
            <a:ext cx="247650" cy="24765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12" name="">
            <a:extLst xmlns:a="http://schemas.openxmlformats.org/drawingml/2006/main">
              <a:ext uri="{FF2B5EF4-FFF2-40B4-BE49-F238E27FC236}">
                <a16:creationId xmlns:a16="http://schemas.microsoft.com/office/drawing/2014/main" id="{B1D77C32-6B84-41E0-80CA-19A067BDEBF1}"/>
              </a:ext>
            </a:extLst>
          </p:cNvPr>
          <p:cNvSpPr>
            <a:spLocks xmlns:a="http://schemas.openxmlformats.org/drawingml/2006/main" noGrp="1"/>
          </p:cNvSpPr>
          <p:nvPr/>
        </p:nvSpPr>
        <p:spPr>
          <a:xfrm xmlns:a="http://schemas.openxmlformats.org/drawingml/2006/main">
            <a:off x="3413125" y="3219450"/>
            <a:ext cx="1508125" cy="2000250"/>
          </a:xfrm>
          <a:prstGeom xmlns:a="http://schemas.openxmlformats.org/drawingml/2006/main" prst="roundRect">
            <a:avLst>
              <a:gd name="adj" fmla="val 5053"/>
            </a:avLst>
          </a:prstGeom>
          <a:noFill xmlns:a="http://schemas.openxmlformats.org/drawingml/2006/main"/>
          <a:ln xmlns:a="http://schemas.openxmlformats.org/drawingml/2006/main" w="9525">
            <a:solidFill>
              <a:srgbClr val="003F6B"/>
            </a:solidFill>
            <a:prstDash val="solid"/>
          </a:ln>
        </p:spPr>
      </p:sp>
      <p:sp>
        <p:nvSpPr>
          <p:cNvPr id="13" name="">
            <a:extLst xmlns:a="http://schemas.openxmlformats.org/drawingml/2006/main">
              <a:ext uri="{FF2B5EF4-FFF2-40B4-BE49-F238E27FC236}">
                <a16:creationId xmlns:a16="http://schemas.microsoft.com/office/drawing/2014/main" id="{AB4F4217-B686-409A-80A6-9ACE9596531D}"/>
              </a:ext>
            </a:extLst>
          </p:cNvPr>
          <p:cNvSpPr>
            <a:spLocks xmlns:a="http://schemas.openxmlformats.org/drawingml/2006/main" noGrp="1"/>
          </p:cNvSpPr>
          <p:nvPr/>
        </p:nvSpPr>
        <p:spPr>
          <a:xfrm xmlns:a="http://schemas.openxmlformats.org/drawingml/2006/main">
            <a:off x="3508375" y="3314700"/>
            <a:ext cx="13176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Staatsanwaltschaft und Polizei sichern Akten, vernehmen Personen, beauftragen Gutachten und prüfen Zwangsmaßnahmen.</a:t>
            </a:r>
          </a:p>
        </p:txBody>
      </p:sp>
      <p:sp>
        <p:nvSpPr>
          <p:cNvPr id="14" name="">
            <a:extLst xmlns:a="http://schemas.openxmlformats.org/drawingml/2006/main">
              <a:ext uri="{FF2B5EF4-FFF2-40B4-BE49-F238E27FC236}">
                <a16:creationId xmlns:a16="http://schemas.microsoft.com/office/drawing/2014/main" id="{5F4995F9-2EDE-4C76-B246-68FA37657FF5}"/>
              </a:ext>
            </a:extLst>
          </p:cNvPr>
          <p:cNvSpPr>
            <a:spLocks xmlns:a="http://schemas.openxmlformats.org/drawingml/2006/main" noGrp="1"/>
          </p:cNvSpPr>
          <p:nvPr/>
        </p:nvSpPr>
        <p:spPr>
          <a:xfrm xmlns:a="http://schemas.openxmlformats.org/drawingml/2006/main">
            <a:off x="5016500" y="2495550"/>
            <a:ext cx="1508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Abschlussentscheidung</a:t>
            </a:r>
          </a:p>
        </p:txBody>
      </p:sp>
      <p:sp>
        <p:nvSpPr>
          <p:cNvPr id="15" name="">
            <a:extLst xmlns:a="http://schemas.openxmlformats.org/drawingml/2006/main">
              <a:ext uri="{FF2B5EF4-FFF2-40B4-BE49-F238E27FC236}">
                <a16:creationId xmlns:a16="http://schemas.microsoft.com/office/drawing/2014/main" id="{89799D65-A6AA-4162-BB60-404190B3282C}"/>
              </a:ext>
            </a:extLst>
          </p:cNvPr>
          <p:cNvSpPr>
            <a:spLocks xmlns:a="http://schemas.openxmlformats.org/drawingml/2006/main" noGrp="1"/>
          </p:cNvSpPr>
          <p:nvPr/>
        </p:nvSpPr>
        <p:spPr>
          <a:xfrm xmlns:a="http://schemas.openxmlformats.org/drawingml/2006/main">
            <a:off x="5646738" y="2838450"/>
            <a:ext cx="247650" cy="24765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16" name="">
            <a:extLst xmlns:a="http://schemas.openxmlformats.org/drawingml/2006/main">
              <a:ext uri="{FF2B5EF4-FFF2-40B4-BE49-F238E27FC236}">
                <a16:creationId xmlns:a16="http://schemas.microsoft.com/office/drawing/2014/main" id="{9D60FDF8-7401-4D92-AD23-86E0AE891194}"/>
              </a:ext>
            </a:extLst>
          </p:cNvPr>
          <p:cNvSpPr>
            <a:spLocks xmlns:a="http://schemas.openxmlformats.org/drawingml/2006/main" noGrp="1"/>
          </p:cNvSpPr>
          <p:nvPr/>
        </p:nvSpPr>
        <p:spPr>
          <a:xfrm xmlns:a="http://schemas.openxmlformats.org/drawingml/2006/main">
            <a:off x="5016500" y="3219450"/>
            <a:ext cx="1508125" cy="2000250"/>
          </a:xfrm>
          <a:prstGeom xmlns:a="http://schemas.openxmlformats.org/drawingml/2006/main" prst="roundRect">
            <a:avLst>
              <a:gd name="adj" fmla="val 5053"/>
            </a:avLst>
          </a:prstGeom>
          <a:noFill xmlns:a="http://schemas.openxmlformats.org/drawingml/2006/main"/>
          <a:ln xmlns:a="http://schemas.openxmlformats.org/drawingml/2006/main" w="9525">
            <a:solidFill>
              <a:srgbClr val="00B2BB"/>
            </a:solidFill>
            <a:prstDash val="solid"/>
          </a:ln>
        </p:spPr>
      </p:sp>
      <p:sp>
        <p:nvSpPr>
          <p:cNvPr id="17" name="">
            <a:extLst xmlns:a="http://schemas.openxmlformats.org/drawingml/2006/main">
              <a:ext uri="{FF2B5EF4-FFF2-40B4-BE49-F238E27FC236}">
                <a16:creationId xmlns:a16="http://schemas.microsoft.com/office/drawing/2014/main" id="{C9CC21B0-26DE-4326-8F70-51141317755A}"/>
              </a:ext>
            </a:extLst>
          </p:cNvPr>
          <p:cNvSpPr>
            <a:spLocks xmlns:a="http://schemas.openxmlformats.org/drawingml/2006/main" noGrp="1"/>
          </p:cNvSpPr>
          <p:nvPr/>
        </p:nvSpPr>
        <p:spPr>
          <a:xfrm xmlns:a="http://schemas.openxmlformats.org/drawingml/2006/main">
            <a:off x="5111750" y="3314700"/>
            <a:ext cx="13176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Die Staatsanwaltschaft stellt ein, verfolgt unter Auflagen nicht weiter oder erhebt Anklage bei hinreichendem Tatverdacht.</a:t>
            </a:r>
          </a:p>
        </p:txBody>
      </p:sp>
      <p:sp>
        <p:nvSpPr>
          <p:cNvPr id="18" name="">
            <a:extLst xmlns:a="http://schemas.openxmlformats.org/drawingml/2006/main">
              <a:ext uri="{FF2B5EF4-FFF2-40B4-BE49-F238E27FC236}">
                <a16:creationId xmlns:a16="http://schemas.microsoft.com/office/drawing/2014/main" id="{8AE41134-2269-48F0-8DC7-B99FB4AC3F67}"/>
              </a:ext>
            </a:extLst>
          </p:cNvPr>
          <p:cNvSpPr>
            <a:spLocks xmlns:a="http://schemas.openxmlformats.org/drawingml/2006/main" noGrp="1"/>
          </p:cNvSpPr>
          <p:nvPr/>
        </p:nvSpPr>
        <p:spPr>
          <a:xfrm xmlns:a="http://schemas.openxmlformats.org/drawingml/2006/main">
            <a:off x="6619875" y="2495550"/>
            <a:ext cx="1508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Zwischenverfahren</a:t>
            </a:r>
          </a:p>
        </p:txBody>
      </p:sp>
      <p:sp>
        <p:nvSpPr>
          <p:cNvPr id="19" name="">
            <a:extLst xmlns:a="http://schemas.openxmlformats.org/drawingml/2006/main">
              <a:ext uri="{FF2B5EF4-FFF2-40B4-BE49-F238E27FC236}">
                <a16:creationId xmlns:a16="http://schemas.microsoft.com/office/drawing/2014/main" id="{9633DB88-3DB9-43E0-A116-6A17809C0016}"/>
              </a:ext>
            </a:extLst>
          </p:cNvPr>
          <p:cNvSpPr>
            <a:spLocks xmlns:a="http://schemas.openxmlformats.org/drawingml/2006/main" noGrp="1"/>
          </p:cNvSpPr>
          <p:nvPr/>
        </p:nvSpPr>
        <p:spPr>
          <a:xfrm xmlns:a="http://schemas.openxmlformats.org/drawingml/2006/main">
            <a:off x="7250113" y="2838450"/>
            <a:ext cx="247650" cy="24765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20" name="">
            <a:extLst xmlns:a="http://schemas.openxmlformats.org/drawingml/2006/main">
              <a:ext uri="{FF2B5EF4-FFF2-40B4-BE49-F238E27FC236}">
                <a16:creationId xmlns:a16="http://schemas.microsoft.com/office/drawing/2014/main" id="{7C8DDA8A-3E5B-464A-81CA-A0C7A7264059}"/>
              </a:ext>
            </a:extLst>
          </p:cNvPr>
          <p:cNvSpPr>
            <a:spLocks xmlns:a="http://schemas.openxmlformats.org/drawingml/2006/main" noGrp="1"/>
          </p:cNvSpPr>
          <p:nvPr/>
        </p:nvSpPr>
        <p:spPr>
          <a:xfrm xmlns:a="http://schemas.openxmlformats.org/drawingml/2006/main">
            <a:off x="6619875" y="3219450"/>
            <a:ext cx="1508125" cy="2000250"/>
          </a:xfrm>
          <a:prstGeom xmlns:a="http://schemas.openxmlformats.org/drawingml/2006/main" prst="roundRect">
            <a:avLst>
              <a:gd name="adj" fmla="val 5053"/>
            </a:avLst>
          </a:prstGeom>
          <a:noFill xmlns:a="http://schemas.openxmlformats.org/drawingml/2006/main"/>
          <a:ln xmlns:a="http://schemas.openxmlformats.org/drawingml/2006/main" w="9525">
            <a:solidFill>
              <a:srgbClr val="003F6B"/>
            </a:solidFill>
            <a:prstDash val="solid"/>
          </a:ln>
        </p:spPr>
      </p:sp>
      <p:sp>
        <p:nvSpPr>
          <p:cNvPr id="21" name="">
            <a:extLst xmlns:a="http://schemas.openxmlformats.org/drawingml/2006/main">
              <a:ext uri="{FF2B5EF4-FFF2-40B4-BE49-F238E27FC236}">
                <a16:creationId xmlns:a16="http://schemas.microsoft.com/office/drawing/2014/main" id="{5C1506A4-CE91-4EC7-85BB-6360F5851F00}"/>
              </a:ext>
            </a:extLst>
          </p:cNvPr>
          <p:cNvSpPr>
            <a:spLocks xmlns:a="http://schemas.openxmlformats.org/drawingml/2006/main" noGrp="1"/>
          </p:cNvSpPr>
          <p:nvPr/>
        </p:nvSpPr>
        <p:spPr>
          <a:xfrm xmlns:a="http://schemas.openxmlformats.org/drawingml/2006/main">
            <a:off x="6715125" y="3314700"/>
            <a:ext cx="13176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Das Gericht prüft, ob die Anklage zur Hauptverhandlung zugelassen wird.</a:t>
            </a:r>
          </a:p>
        </p:txBody>
      </p:sp>
      <p:sp>
        <p:nvSpPr>
          <p:cNvPr id="22" name="">
            <a:extLst xmlns:a="http://schemas.openxmlformats.org/drawingml/2006/main">
              <a:ext uri="{FF2B5EF4-FFF2-40B4-BE49-F238E27FC236}">
                <a16:creationId xmlns:a16="http://schemas.microsoft.com/office/drawing/2014/main" id="{A9CC691B-4F7A-4B18-BC8C-3B98BB6AA845}"/>
              </a:ext>
            </a:extLst>
          </p:cNvPr>
          <p:cNvSpPr>
            <a:spLocks xmlns:a="http://schemas.openxmlformats.org/drawingml/2006/main" noGrp="1"/>
          </p:cNvSpPr>
          <p:nvPr/>
        </p:nvSpPr>
        <p:spPr>
          <a:xfrm xmlns:a="http://schemas.openxmlformats.org/drawingml/2006/main">
            <a:off x="8223250" y="2495550"/>
            <a:ext cx="1508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Hauptverhandlung</a:t>
            </a:r>
          </a:p>
        </p:txBody>
      </p:sp>
      <p:sp>
        <p:nvSpPr>
          <p:cNvPr id="23" name="">
            <a:extLst xmlns:a="http://schemas.openxmlformats.org/drawingml/2006/main">
              <a:ext uri="{FF2B5EF4-FFF2-40B4-BE49-F238E27FC236}">
                <a16:creationId xmlns:a16="http://schemas.microsoft.com/office/drawing/2014/main" id="{904E7057-CEBB-4E99-8929-707EE69848A6}"/>
              </a:ext>
            </a:extLst>
          </p:cNvPr>
          <p:cNvSpPr>
            <a:spLocks xmlns:a="http://schemas.openxmlformats.org/drawingml/2006/main" noGrp="1"/>
          </p:cNvSpPr>
          <p:nvPr/>
        </p:nvSpPr>
        <p:spPr>
          <a:xfrm xmlns:a="http://schemas.openxmlformats.org/drawingml/2006/main">
            <a:off x="8853488" y="2838450"/>
            <a:ext cx="247650" cy="24765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24" name="">
            <a:extLst xmlns:a="http://schemas.openxmlformats.org/drawingml/2006/main">
              <a:ext uri="{FF2B5EF4-FFF2-40B4-BE49-F238E27FC236}">
                <a16:creationId xmlns:a16="http://schemas.microsoft.com/office/drawing/2014/main" id="{BCCDF725-96BE-4183-B92E-19C243D1936A}"/>
              </a:ext>
            </a:extLst>
          </p:cNvPr>
          <p:cNvSpPr>
            <a:spLocks xmlns:a="http://schemas.openxmlformats.org/drawingml/2006/main" noGrp="1"/>
          </p:cNvSpPr>
          <p:nvPr/>
        </p:nvSpPr>
        <p:spPr>
          <a:xfrm xmlns:a="http://schemas.openxmlformats.org/drawingml/2006/main">
            <a:off x="8223250" y="3219450"/>
            <a:ext cx="1508125" cy="2000250"/>
          </a:xfrm>
          <a:prstGeom xmlns:a="http://schemas.openxmlformats.org/drawingml/2006/main" prst="roundRect">
            <a:avLst>
              <a:gd name="adj" fmla="val 5053"/>
            </a:avLst>
          </a:prstGeom>
          <a:noFill xmlns:a="http://schemas.openxmlformats.org/drawingml/2006/main"/>
          <a:ln xmlns:a="http://schemas.openxmlformats.org/drawingml/2006/main" w="9525">
            <a:solidFill>
              <a:srgbClr val="00B2BB"/>
            </a:solidFill>
            <a:prstDash val="solid"/>
          </a:ln>
        </p:spPr>
      </p:sp>
      <p:sp>
        <p:nvSpPr>
          <p:cNvPr id="25" name="">
            <a:extLst xmlns:a="http://schemas.openxmlformats.org/drawingml/2006/main">
              <a:ext uri="{FF2B5EF4-FFF2-40B4-BE49-F238E27FC236}">
                <a16:creationId xmlns:a16="http://schemas.microsoft.com/office/drawing/2014/main" id="{29E84794-187A-4348-8EA5-1D43A69C82D0}"/>
              </a:ext>
            </a:extLst>
          </p:cNvPr>
          <p:cNvSpPr>
            <a:spLocks xmlns:a="http://schemas.openxmlformats.org/drawingml/2006/main" noGrp="1"/>
          </p:cNvSpPr>
          <p:nvPr/>
        </p:nvSpPr>
        <p:spPr>
          <a:xfrm xmlns:a="http://schemas.openxmlformats.org/drawingml/2006/main">
            <a:off x="8318500" y="3314700"/>
            <a:ext cx="13176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Beweise werden grundsätzlich mündlich und unmittelbar erhoben; anschließend folgen Plädoyers und Urteil.</a:t>
            </a:r>
          </a:p>
        </p:txBody>
      </p:sp>
      <p:sp>
        <p:nvSpPr>
          <p:cNvPr id="26" name="">
            <a:extLst xmlns:a="http://schemas.openxmlformats.org/drawingml/2006/main">
              <a:ext uri="{FF2B5EF4-FFF2-40B4-BE49-F238E27FC236}">
                <a16:creationId xmlns:a16="http://schemas.microsoft.com/office/drawing/2014/main" id="{63C8F725-F1C3-4CEB-8ACD-401885F285B3}"/>
              </a:ext>
            </a:extLst>
          </p:cNvPr>
          <p:cNvSpPr>
            <a:spLocks xmlns:a="http://schemas.openxmlformats.org/drawingml/2006/main" noGrp="1"/>
          </p:cNvSpPr>
          <p:nvPr/>
        </p:nvSpPr>
        <p:spPr>
          <a:xfrm xmlns:a="http://schemas.openxmlformats.org/drawingml/2006/main">
            <a:off x="9826625" y="2495550"/>
            <a:ext cx="1508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Rechtsmittel</a:t>
            </a:r>
          </a:p>
        </p:txBody>
      </p:sp>
      <p:sp>
        <p:nvSpPr>
          <p:cNvPr id="27" name="">
            <a:extLst xmlns:a="http://schemas.openxmlformats.org/drawingml/2006/main">
              <a:ext uri="{FF2B5EF4-FFF2-40B4-BE49-F238E27FC236}">
                <a16:creationId xmlns:a16="http://schemas.microsoft.com/office/drawing/2014/main" id="{938C8D40-74BE-4696-AB91-DC27101AE361}"/>
              </a:ext>
            </a:extLst>
          </p:cNvPr>
          <p:cNvSpPr>
            <a:spLocks xmlns:a="http://schemas.openxmlformats.org/drawingml/2006/main" noGrp="1"/>
          </p:cNvSpPr>
          <p:nvPr/>
        </p:nvSpPr>
        <p:spPr>
          <a:xfrm xmlns:a="http://schemas.openxmlformats.org/drawingml/2006/main">
            <a:off x="10456863" y="2838450"/>
            <a:ext cx="247650" cy="24765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28" name="">
            <a:extLst xmlns:a="http://schemas.openxmlformats.org/drawingml/2006/main">
              <a:ext uri="{FF2B5EF4-FFF2-40B4-BE49-F238E27FC236}">
                <a16:creationId xmlns:a16="http://schemas.microsoft.com/office/drawing/2014/main" id="{359670A7-9DF4-4FEF-86B1-6490EAA9ECDA}"/>
              </a:ext>
            </a:extLst>
          </p:cNvPr>
          <p:cNvSpPr>
            <a:spLocks xmlns:a="http://schemas.openxmlformats.org/drawingml/2006/main" noGrp="1"/>
          </p:cNvSpPr>
          <p:nvPr/>
        </p:nvSpPr>
        <p:spPr>
          <a:xfrm xmlns:a="http://schemas.openxmlformats.org/drawingml/2006/main">
            <a:off x="9826625" y="3219450"/>
            <a:ext cx="1508125" cy="2000250"/>
          </a:xfrm>
          <a:prstGeom xmlns:a="http://schemas.openxmlformats.org/drawingml/2006/main" prst="roundRect">
            <a:avLst>
              <a:gd name="adj" fmla="val 5053"/>
            </a:avLst>
          </a:prstGeom>
          <a:noFill xmlns:a="http://schemas.openxmlformats.org/drawingml/2006/main"/>
          <a:ln xmlns:a="http://schemas.openxmlformats.org/drawingml/2006/main" w="9525">
            <a:solidFill>
              <a:srgbClr val="003F6B"/>
            </a:solidFill>
            <a:prstDash val="solid"/>
          </a:ln>
        </p:spPr>
      </p:sp>
      <p:sp>
        <p:nvSpPr>
          <p:cNvPr id="29" name="">
            <a:extLst xmlns:a="http://schemas.openxmlformats.org/drawingml/2006/main">
              <a:ext uri="{FF2B5EF4-FFF2-40B4-BE49-F238E27FC236}">
                <a16:creationId xmlns:a16="http://schemas.microsoft.com/office/drawing/2014/main" id="{47C0295B-6C74-4DE9-9B75-354B033EBA3B}"/>
              </a:ext>
            </a:extLst>
          </p:cNvPr>
          <p:cNvSpPr>
            <a:spLocks xmlns:a="http://schemas.openxmlformats.org/drawingml/2006/main" noGrp="1"/>
          </p:cNvSpPr>
          <p:nvPr/>
        </p:nvSpPr>
        <p:spPr>
          <a:xfrm xmlns:a="http://schemas.openxmlformats.org/drawingml/2006/main">
            <a:off x="9921875" y="3314700"/>
            <a:ext cx="13176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Berufung oder Revision richten sich nach Gericht und Entscheidung; Fristen beginnen sehr früh.</a:t>
            </a:r>
          </a:p>
        </p:txBody>
      </p:sp>
      <p:sp>
        <p:nvSpPr>
          <p:cNvPr id="30" name="">
            <a:extLst xmlns:a="http://schemas.openxmlformats.org/drawingml/2006/main">
              <a:ext uri="{FF2B5EF4-FFF2-40B4-BE49-F238E27FC236}">
                <a16:creationId xmlns:a16="http://schemas.microsoft.com/office/drawing/2014/main" id="{8BE2004C-DFB9-417F-81EB-59CDD9B6F4F9}"/>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31" name="">
            <a:extLst xmlns:a="http://schemas.openxmlformats.org/drawingml/2006/main">
              <a:ext uri="{FF2B5EF4-FFF2-40B4-BE49-F238E27FC236}">
                <a16:creationId xmlns:a16="http://schemas.microsoft.com/office/drawing/2014/main" id="{B0B5B6C1-9715-406C-9DA5-C603A5F784B3}"/>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Die Rolle und die Rechte ändern sich mit Verfahrensstand und Personenzuordnung.</a:t>
            </a:r>
          </a:p>
        </p:txBody>
      </p:sp>
    </p:spTree>
    <p:extLst>
      <p:ext uri="{BB962C8B-B14F-4D97-AF65-F5344CB8AC3E}">
        <p14:creationId xmlns:p14="http://schemas.microsoft.com/office/powerpoint/2010/main" val="43637646"/>
      </p:ext>
    </p:extLst>
  </p:cSld>
</p:sld>
</file>

<file path=ppt/slides/slide244.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Verdachtsgrade</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D3AA81FC-2534-4A2D-B80A-39646F21F7F9}"/>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Unterschiedliche Eingriffe und Verfahrensentscheidungen verlangen unterschiedliche Verdachtsstufen.</a:t>
            </a:r>
          </a:p>
        </p:txBody>
      </p:sp>
      <p:sp>
        <p:nvSpPr>
          <p:cNvPr id="5" name="">
            <a:extLst xmlns:a="http://schemas.openxmlformats.org/drawingml/2006/main">
              <a:ext uri="{FF2B5EF4-FFF2-40B4-BE49-F238E27FC236}">
                <a16:creationId xmlns:a16="http://schemas.microsoft.com/office/drawing/2014/main" id="{E4F082F6-4F0C-4919-A679-4A97EE7E5227}"/>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EB8640B4-6CE3-43AF-A6A7-44858F1D9C37}"/>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95E1D5D3-72FC-4246-8511-4E606CFCA9CF}"/>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Anfangsverdacht</a:t>
            </a:r>
          </a:p>
        </p:txBody>
      </p:sp>
      <p:sp>
        <p:nvSpPr>
          <p:cNvPr id="8" name="">
            <a:extLst xmlns:a="http://schemas.openxmlformats.org/drawingml/2006/main">
              <a:ext uri="{FF2B5EF4-FFF2-40B4-BE49-F238E27FC236}">
                <a16:creationId xmlns:a16="http://schemas.microsoft.com/office/drawing/2014/main" id="{5E089143-36BF-4688-B62F-C8421B0B84AD}"/>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Konkrete tatsächliche Anhaltspunkte müssen eine verfolgbare Straftat möglich erscheinen lassen; dann wird ermittelt.</a:t>
            </a:r>
          </a:p>
        </p:txBody>
      </p:sp>
      <p:sp>
        <p:nvSpPr>
          <p:cNvPr id="9" name="">
            <a:extLst xmlns:a="http://schemas.openxmlformats.org/drawingml/2006/main">
              <a:ext uri="{FF2B5EF4-FFF2-40B4-BE49-F238E27FC236}">
                <a16:creationId xmlns:a16="http://schemas.microsoft.com/office/drawing/2014/main" id="{B16F41BA-A0DD-4931-AE1F-4EB5FF305570}"/>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07888573-B171-498B-B0C3-290AE5C76A5A}"/>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CAA190D5-807B-45E7-BE9D-79DFA5E9A34B}"/>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Hinreichender Tatverdacht</a:t>
            </a:r>
          </a:p>
        </p:txBody>
      </p:sp>
      <p:sp>
        <p:nvSpPr>
          <p:cNvPr id="12" name="">
            <a:extLst xmlns:a="http://schemas.openxmlformats.org/drawingml/2006/main">
              <a:ext uri="{FF2B5EF4-FFF2-40B4-BE49-F238E27FC236}">
                <a16:creationId xmlns:a16="http://schemas.microsoft.com/office/drawing/2014/main" id="{177A005A-26F3-4341-8567-94C7DD78F3AC}"/>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Eine Verurteilung in der Hauptverhandlung muss nach vorläufiger Bewertung wahrscheinlicher sein als ein Freispruch; er trägt Anklage und Eröffnung.</a:t>
            </a:r>
          </a:p>
        </p:txBody>
      </p:sp>
      <p:sp>
        <p:nvSpPr>
          <p:cNvPr id="13" name="">
            <a:extLst xmlns:a="http://schemas.openxmlformats.org/drawingml/2006/main">
              <a:ext uri="{FF2B5EF4-FFF2-40B4-BE49-F238E27FC236}">
                <a16:creationId xmlns:a16="http://schemas.microsoft.com/office/drawing/2014/main" id="{3DC5E66C-A6AF-42A8-BD26-D1C0D2AD6A6E}"/>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ED338737-CB8E-40B5-99FA-617512CAB9D0}"/>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202D62BA-F979-49DB-B768-594BC4F9E9B9}"/>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Dringender Tatverdacht</a:t>
            </a:r>
          </a:p>
        </p:txBody>
      </p:sp>
      <p:sp>
        <p:nvSpPr>
          <p:cNvPr id="16" name="">
            <a:extLst xmlns:a="http://schemas.openxmlformats.org/drawingml/2006/main">
              <a:ext uri="{FF2B5EF4-FFF2-40B4-BE49-F238E27FC236}">
                <a16:creationId xmlns:a16="http://schemas.microsoft.com/office/drawing/2014/main" id="{80A15762-ECAA-4B89-9B9C-C49B3F1E02D5}"/>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Ein hoher Wahrscheinlichkeitsgrad ist insbesondere für Untersuchungshaft relevant und genügt allein noch nicht.</a:t>
            </a:r>
          </a:p>
        </p:txBody>
      </p:sp>
      <p:sp>
        <p:nvSpPr>
          <p:cNvPr id="17" name="">
            <a:extLst xmlns:a="http://schemas.openxmlformats.org/drawingml/2006/main">
              <a:ext uri="{FF2B5EF4-FFF2-40B4-BE49-F238E27FC236}">
                <a16:creationId xmlns:a16="http://schemas.microsoft.com/office/drawing/2014/main" id="{06A93A76-7BFE-47EA-9955-0BC02C0EF9F3}"/>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AA2AD5C7-BB64-44E4-B63C-4EE68BB4DD2C}"/>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11DF019A-DCBC-4764-A688-8CB4C9E3E6B0}"/>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Verurteilungsüberzeugung</a:t>
            </a:r>
          </a:p>
        </p:txBody>
      </p:sp>
      <p:sp>
        <p:nvSpPr>
          <p:cNvPr id="20" name="">
            <a:extLst xmlns:a="http://schemas.openxmlformats.org/drawingml/2006/main">
              <a:ext uri="{FF2B5EF4-FFF2-40B4-BE49-F238E27FC236}">
                <a16:creationId xmlns:a16="http://schemas.microsoft.com/office/drawing/2014/main" id="{D6441F43-E46B-4503-BB6C-E17650EF52BD}"/>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Am Ende muss das Gericht nach der Beweisaufnahme von Tat und Schuld überzeugt sein.</a:t>
            </a:r>
          </a:p>
        </p:txBody>
      </p:sp>
      <p:sp>
        <p:nvSpPr>
          <p:cNvPr id="21" name="">
            <a:extLst xmlns:a="http://schemas.openxmlformats.org/drawingml/2006/main">
              <a:ext uri="{FF2B5EF4-FFF2-40B4-BE49-F238E27FC236}">
                <a16:creationId xmlns:a16="http://schemas.microsoft.com/office/drawing/2014/main" id="{379780FA-6E61-4EFA-A61B-86CEB3F6C4E8}"/>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1D0A066D-73B7-473C-B2FE-878E5540E2BE}"/>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Verdacht ist ein abgestufter Arbeitsbegriff, keine Vorverurteilung.</a:t>
            </a:r>
          </a:p>
        </p:txBody>
      </p:sp>
    </p:spTree>
    <p:extLst>
      <p:ext uri="{BB962C8B-B14F-4D97-AF65-F5344CB8AC3E}">
        <p14:creationId xmlns:p14="http://schemas.microsoft.com/office/powerpoint/2010/main" val="43637646"/>
      </p:ext>
    </p:extLst>
  </p:cSld>
</p:sld>
</file>

<file path=ppt/slides/slide245.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Zeuge oder Beschuldigter</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UNTERSCHEIDEN KÖNNEN</a:t>
            </a:r>
            <a:endParaRPr/>
          </a:p>
        </p:txBody>
      </p:sp>
      <p:sp>
        <p:nvSpPr>
          <p:cNvPr id="4" name="">
            <a:extLst xmlns:a="http://schemas.openxmlformats.org/drawingml/2006/main">
              <a:ext uri="{FF2B5EF4-FFF2-40B4-BE49-F238E27FC236}">
                <a16:creationId xmlns:a16="http://schemas.microsoft.com/office/drawing/2014/main" id="{1747E5D1-9151-4B00-BDC1-7EFDA1224873}"/>
              </a:ext>
            </a:extLst>
          </p:cNvPr>
          <p:cNvSpPr>
            <a:spLocks xmlns:a="http://schemas.openxmlformats.org/drawingml/2006/main" noGrp="1"/>
          </p:cNvSpPr>
          <p:nvPr/>
        </p:nvSpPr>
        <p:spPr>
          <a:xfrm xmlns:a="http://schemas.openxmlformats.org/drawingml/2006/main">
            <a:off x="1809750" y="2000250"/>
            <a:ext cx="4619625" cy="3286125"/>
          </a:xfrm>
          <a:prstGeom xmlns:a="http://schemas.openxmlformats.org/drawingml/2006/main" prst="roundRect">
            <a:avLst>
              <a:gd name="adj" fmla="val 2319"/>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750A850D-AF2F-4375-BA8F-02BC62561ED5}"/>
              </a:ext>
            </a:extLst>
          </p:cNvPr>
          <p:cNvSpPr>
            <a:spLocks xmlns:a="http://schemas.openxmlformats.org/drawingml/2006/main" noGrp="1"/>
          </p:cNvSpPr>
          <p:nvPr/>
        </p:nvSpPr>
        <p:spPr>
          <a:xfrm xmlns:a="http://schemas.openxmlformats.org/drawingml/2006/main">
            <a:off x="1809750" y="2000250"/>
            <a:ext cx="4619625"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97898252-2F54-4EE6-A2FD-712681D2665C}"/>
              </a:ext>
            </a:extLst>
          </p:cNvPr>
          <p:cNvSpPr>
            <a:spLocks xmlns:a="http://schemas.openxmlformats.org/drawingml/2006/main" noGrp="1"/>
          </p:cNvSpPr>
          <p:nvPr/>
        </p:nvSpPr>
        <p:spPr>
          <a:xfrm xmlns:a="http://schemas.openxmlformats.org/drawingml/2006/main">
            <a:off x="1962150" y="2133600"/>
            <a:ext cx="4314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75" b="1">
                <a:solidFill>
                  <a:srgbClr val="003F6B"/>
                </a:solidFill>
              </a:defRPr>
            </a:pPr>
            <a:r>
              <a:rPr sz="1575" b="1">
                <a:solidFill>
                  <a:srgbClr val="003F6B"/>
                </a:solidFill>
              </a:rPr>
              <a:t>Zeugin/Zeuge</a:t>
            </a:r>
          </a:p>
        </p:txBody>
      </p:sp>
      <p:sp>
        <p:nvSpPr>
          <p:cNvPr id="7" name="">
            <a:extLst xmlns:a="http://schemas.openxmlformats.org/drawingml/2006/main">
              <a:ext uri="{FF2B5EF4-FFF2-40B4-BE49-F238E27FC236}">
                <a16:creationId xmlns:a16="http://schemas.microsoft.com/office/drawing/2014/main" id="{FDF7DA47-8FBD-4C0E-87AF-2997AF80CD6A}"/>
              </a:ext>
            </a:extLst>
          </p:cNvPr>
          <p:cNvSpPr>
            <a:spLocks xmlns:a="http://schemas.openxmlformats.org/drawingml/2006/main" noGrp="1"/>
          </p:cNvSpPr>
          <p:nvPr/>
        </p:nvSpPr>
        <p:spPr>
          <a:xfrm xmlns:a="http://schemas.openxmlformats.org/drawingml/2006/main">
            <a:off x="1962150" y="2571750"/>
            <a:ext cx="4314825"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15232B"/>
                </a:solidFill>
              </a:defRPr>
            </a:pPr>
            <a:r>
              <a:rPr sz="1200">
                <a:solidFill>
                  <a:srgbClr val="15232B"/>
                </a:solidFill>
              </a:rPr>
              <a:t>• Muss grundsätzlich aussagen und wahrheitsgemäß antworten, soweit kein Verweigerungsrecht besteht.</a:t>
            </a:r>
          </a:p>
          <a:p xmlns:a="http://schemas.openxmlformats.org/drawingml/2006/main">
            <a:pPr>
              <a:buNone/>
              <a:defRPr sz="1200">
                <a:solidFill>
                  <a:srgbClr val="15232B"/>
                </a:solidFill>
              </a:defRPr>
            </a:pPr>
            <a:r>
              <a:rPr sz="1200">
                <a:solidFill>
                  <a:srgbClr val="15232B"/>
                </a:solidFill>
              </a:rPr>
              <a:t>• Kann nach § 55 StPO einzelne Antworten verweigern, die eigene Strafverfolgung begründen könnten.</a:t>
            </a:r>
          </a:p>
          <a:p xmlns:a="http://schemas.openxmlformats.org/drawingml/2006/main">
            <a:pPr>
              <a:buNone/>
              <a:defRPr sz="1200">
                <a:solidFill>
                  <a:srgbClr val="15232B"/>
                </a:solidFill>
              </a:defRPr>
            </a:pPr>
            <a:r>
              <a:rPr sz="1200">
                <a:solidFill>
                  <a:srgbClr val="15232B"/>
                </a:solidFill>
              </a:rPr>
              <a:t>• Ärztliche Schweigepflicht und Zeugnisverweigerungsrecht müssen vor Offenbarung geklärt werden.</a:t>
            </a:r>
          </a:p>
        </p:txBody>
      </p:sp>
      <p:sp>
        <p:nvSpPr>
          <p:cNvPr id="8" name="">
            <a:extLst xmlns:a="http://schemas.openxmlformats.org/drawingml/2006/main">
              <a:ext uri="{FF2B5EF4-FFF2-40B4-BE49-F238E27FC236}">
                <a16:creationId xmlns:a16="http://schemas.microsoft.com/office/drawing/2014/main" id="{6761481A-3A6B-4BE1-A9BA-5A3191595121}"/>
              </a:ext>
            </a:extLst>
          </p:cNvPr>
          <p:cNvSpPr>
            <a:spLocks xmlns:a="http://schemas.openxmlformats.org/drawingml/2006/main" noGrp="1"/>
          </p:cNvSpPr>
          <p:nvPr/>
        </p:nvSpPr>
        <p:spPr>
          <a:xfrm xmlns:a="http://schemas.openxmlformats.org/drawingml/2006/main">
            <a:off x="6715125" y="2000250"/>
            <a:ext cx="4619625" cy="3286125"/>
          </a:xfrm>
          <a:prstGeom xmlns:a="http://schemas.openxmlformats.org/drawingml/2006/main" prst="roundRect">
            <a:avLst>
              <a:gd name="adj" fmla="val 2319"/>
            </a:avLst>
          </a:prstGeom>
          <a:noFill xmlns:a="http://schemas.openxmlformats.org/drawingml/2006/main"/>
          <a:ln xmlns:a="http://schemas.openxmlformats.org/drawingml/2006/main" w="9525">
            <a:solidFill>
              <a:srgbClr val="B9CAD2"/>
            </a:solidFill>
            <a:prstDash val="solid"/>
          </a:ln>
        </p:spPr>
      </p:sp>
      <p:sp>
        <p:nvSpPr>
          <p:cNvPr id="9" name="">
            <a:extLst xmlns:a="http://schemas.openxmlformats.org/drawingml/2006/main">
              <a:ext uri="{FF2B5EF4-FFF2-40B4-BE49-F238E27FC236}">
                <a16:creationId xmlns:a16="http://schemas.microsoft.com/office/drawing/2014/main" id="{6AC2C033-D63A-4F3C-BB0D-8C03C3D18600}"/>
              </a:ext>
            </a:extLst>
          </p:cNvPr>
          <p:cNvSpPr>
            <a:spLocks xmlns:a="http://schemas.openxmlformats.org/drawingml/2006/main" noGrp="1"/>
          </p:cNvSpPr>
          <p:nvPr/>
        </p:nvSpPr>
        <p:spPr>
          <a:xfrm xmlns:a="http://schemas.openxmlformats.org/drawingml/2006/main">
            <a:off x="6715125" y="2000250"/>
            <a:ext cx="4619625"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1CDBF391-4471-43C7-AA12-6D9D7821378C}"/>
              </a:ext>
            </a:extLst>
          </p:cNvPr>
          <p:cNvSpPr>
            <a:spLocks xmlns:a="http://schemas.openxmlformats.org/drawingml/2006/main" noGrp="1"/>
          </p:cNvSpPr>
          <p:nvPr/>
        </p:nvSpPr>
        <p:spPr>
          <a:xfrm xmlns:a="http://schemas.openxmlformats.org/drawingml/2006/main">
            <a:off x="6867525" y="2133600"/>
            <a:ext cx="4314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75" b="1">
                <a:solidFill>
                  <a:srgbClr val="003F6B"/>
                </a:solidFill>
              </a:defRPr>
            </a:pPr>
            <a:r>
              <a:rPr sz="1575" b="1">
                <a:solidFill>
                  <a:srgbClr val="003F6B"/>
                </a:solidFill>
              </a:rPr>
              <a:t>Beschuldigte Person</a:t>
            </a:r>
          </a:p>
        </p:txBody>
      </p:sp>
      <p:sp>
        <p:nvSpPr>
          <p:cNvPr id="11" name="">
            <a:extLst xmlns:a="http://schemas.openxmlformats.org/drawingml/2006/main">
              <a:ext uri="{FF2B5EF4-FFF2-40B4-BE49-F238E27FC236}">
                <a16:creationId xmlns:a16="http://schemas.microsoft.com/office/drawing/2014/main" id="{6F8E843F-88F0-4770-8303-02C04DF0E041}"/>
              </a:ext>
            </a:extLst>
          </p:cNvPr>
          <p:cNvSpPr>
            <a:spLocks xmlns:a="http://schemas.openxmlformats.org/drawingml/2006/main" noGrp="1"/>
          </p:cNvSpPr>
          <p:nvPr/>
        </p:nvSpPr>
        <p:spPr>
          <a:xfrm xmlns:a="http://schemas.openxmlformats.org/drawingml/2006/main">
            <a:off x="6867525" y="2571750"/>
            <a:ext cx="4314825"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15232B"/>
                </a:solidFill>
              </a:defRPr>
            </a:pPr>
            <a:r>
              <a:rPr sz="1200">
                <a:solidFill>
                  <a:srgbClr val="15232B"/>
                </a:solidFill>
              </a:rPr>
              <a:t>• Darf vollständig schweigen und muss sich nicht selbst belasten.</a:t>
            </a:r>
          </a:p>
          <a:p xmlns:a="http://schemas.openxmlformats.org/drawingml/2006/main">
            <a:pPr>
              <a:buNone/>
              <a:defRPr sz="1200">
                <a:solidFill>
                  <a:srgbClr val="15232B"/>
                </a:solidFill>
              </a:defRPr>
            </a:pPr>
            <a:r>
              <a:rPr sz="1200">
                <a:solidFill>
                  <a:srgbClr val="15232B"/>
                </a:solidFill>
              </a:rPr>
              <a:t>• Hat das Recht auf Verteidigung und vor einer Einlassung auf Beratung und Akteneinsicht durch die Verteidigung.</a:t>
            </a:r>
          </a:p>
          <a:p xmlns:a="http://schemas.openxmlformats.org/drawingml/2006/main">
            <a:pPr>
              <a:buNone/>
              <a:defRPr sz="1200">
                <a:solidFill>
                  <a:srgbClr val="15232B"/>
                </a:solidFill>
              </a:defRPr>
            </a:pPr>
            <a:r>
              <a:rPr sz="1200">
                <a:solidFill>
                  <a:srgbClr val="15232B"/>
                </a:solidFill>
              </a:rPr>
              <a:t>• Schweigen darf nicht als Schuldeingeständnis gewertet werden.</a:t>
            </a:r>
          </a:p>
        </p:txBody>
      </p:sp>
      <p:sp>
        <p:nvSpPr>
          <p:cNvPr id="12" name="">
            <a:extLst xmlns:a="http://schemas.openxmlformats.org/drawingml/2006/main">
              <a:ext uri="{FF2B5EF4-FFF2-40B4-BE49-F238E27FC236}">
                <a16:creationId xmlns:a16="http://schemas.microsoft.com/office/drawing/2014/main" id="{65457526-18D6-44D5-858E-ED49EE73A6D2}"/>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13" name="">
            <a:extLst xmlns:a="http://schemas.openxmlformats.org/drawingml/2006/main">
              <a:ext uri="{FF2B5EF4-FFF2-40B4-BE49-F238E27FC236}">
                <a16:creationId xmlns:a16="http://schemas.microsoft.com/office/drawing/2014/main" id="{72930735-99BE-4F37-82E3-7B6CEB8B3E6C}"/>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Vor einer Vernehmung muss die eigene Rolle eindeutig geklärt sein.</a:t>
            </a:r>
          </a:p>
        </p:txBody>
      </p:sp>
    </p:spTree>
    <p:extLst>
      <p:ext uri="{BB962C8B-B14F-4D97-AF65-F5344CB8AC3E}">
        <p14:creationId xmlns:p14="http://schemas.microsoft.com/office/powerpoint/2010/main" val="43637646"/>
      </p:ext>
    </p:extLst>
  </p:cSld>
</p:sld>
</file>

<file path=ppt/slides/slide246.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Beschuldigtenrechte praktisch nutzen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71BD0129-B49D-4248-BE29-3A0C0C89BD0C}"/>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Die StPO schützt die beschuldigte Person gegen Selbstbelastungszwang und ermöglicht effektive Verteidigung.</a:t>
            </a:r>
          </a:p>
        </p:txBody>
      </p:sp>
      <p:sp>
        <p:nvSpPr>
          <p:cNvPr id="5" name="">
            <a:extLst xmlns:a="http://schemas.openxmlformats.org/drawingml/2006/main">
              <a:ext uri="{FF2B5EF4-FFF2-40B4-BE49-F238E27FC236}">
                <a16:creationId xmlns:a16="http://schemas.microsoft.com/office/drawing/2014/main" id="{00C42F68-0DED-40CC-8B47-117B0090E84E}"/>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B1761D61-BB4B-41A0-9F97-2A3E3099AE0E}"/>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88982807-B98F-4C4C-A2A2-A927E982AB70}"/>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Schweigerecht</a:t>
            </a:r>
          </a:p>
        </p:txBody>
      </p:sp>
      <p:sp>
        <p:nvSpPr>
          <p:cNvPr id="8" name="">
            <a:extLst xmlns:a="http://schemas.openxmlformats.org/drawingml/2006/main">
              <a:ext uri="{FF2B5EF4-FFF2-40B4-BE49-F238E27FC236}">
                <a16:creationId xmlns:a16="http://schemas.microsoft.com/office/drawing/2014/main" id="{76137DAE-A8B1-481D-82B8-3E8F83D2EE11}"/>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Zur Sache muss keine Aussage gemacht werden; Angaben zur Person sind davon zu unterscheiden.</a:t>
            </a:r>
          </a:p>
        </p:txBody>
      </p:sp>
      <p:sp>
        <p:nvSpPr>
          <p:cNvPr id="9" name="">
            <a:extLst xmlns:a="http://schemas.openxmlformats.org/drawingml/2006/main">
              <a:ext uri="{FF2B5EF4-FFF2-40B4-BE49-F238E27FC236}">
                <a16:creationId xmlns:a16="http://schemas.microsoft.com/office/drawing/2014/main" id="{8FD6FE9D-6687-490B-B02B-D193982ABB57}"/>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915FDEAA-CD9A-4DF3-A83D-87B060DCC316}"/>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B881A7DE-3D0E-4D71-88D8-968ED349AABF}"/>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Tatvorwurf</a:t>
            </a:r>
          </a:p>
        </p:txBody>
      </p:sp>
      <p:sp>
        <p:nvSpPr>
          <p:cNvPr id="12" name="">
            <a:extLst xmlns:a="http://schemas.openxmlformats.org/drawingml/2006/main">
              <a:ext uri="{FF2B5EF4-FFF2-40B4-BE49-F238E27FC236}">
                <a16:creationId xmlns:a16="http://schemas.microsoft.com/office/drawing/2014/main" id="{F3232428-094F-4342-A111-2DFA516EE68F}"/>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Vor Vernehmung wird eröffnet, welche Tat zur Last gelegt wird.</a:t>
            </a:r>
          </a:p>
        </p:txBody>
      </p:sp>
      <p:sp>
        <p:nvSpPr>
          <p:cNvPr id="13" name="">
            <a:extLst xmlns:a="http://schemas.openxmlformats.org/drawingml/2006/main">
              <a:ext uri="{FF2B5EF4-FFF2-40B4-BE49-F238E27FC236}">
                <a16:creationId xmlns:a16="http://schemas.microsoft.com/office/drawing/2014/main" id="{E06C5718-E668-4780-BD51-C52A367C66B0}"/>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CD37D833-0449-43EA-B5B3-70BCC6C95DF4}"/>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2B5C1262-4D79-452A-A843-6886EAD49E37}"/>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Verteidigung</a:t>
            </a:r>
          </a:p>
        </p:txBody>
      </p:sp>
      <p:sp>
        <p:nvSpPr>
          <p:cNvPr id="16" name="">
            <a:extLst xmlns:a="http://schemas.openxmlformats.org/drawingml/2006/main">
              <a:ext uri="{FF2B5EF4-FFF2-40B4-BE49-F238E27FC236}">
                <a16:creationId xmlns:a16="http://schemas.microsoft.com/office/drawing/2014/main" id="{5749A6A3-F1D0-49F0-A2E2-01FF93897C34}"/>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Eine Verteidigerin oder ein Verteidiger kann grundsätzlich jederzeit beigezogen werden; in Fällen notwendiger Verteidigung ist Beiordnung möglich.</a:t>
            </a:r>
          </a:p>
        </p:txBody>
      </p:sp>
      <p:sp>
        <p:nvSpPr>
          <p:cNvPr id="17" name="">
            <a:extLst xmlns:a="http://schemas.openxmlformats.org/drawingml/2006/main">
              <a:ext uri="{FF2B5EF4-FFF2-40B4-BE49-F238E27FC236}">
                <a16:creationId xmlns:a16="http://schemas.microsoft.com/office/drawing/2014/main" id="{5E017614-882B-4118-85CA-13379016119A}"/>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B59BB709-8D79-43B6-BED4-5392A51E0DCA}"/>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A04FC71E-2FEB-4021-B0BA-73C18E3958F9}"/>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Beweisanträge und Gehör</a:t>
            </a:r>
          </a:p>
        </p:txBody>
      </p:sp>
      <p:sp>
        <p:nvSpPr>
          <p:cNvPr id="20" name="">
            <a:extLst xmlns:a="http://schemas.openxmlformats.org/drawingml/2006/main">
              <a:ext uri="{FF2B5EF4-FFF2-40B4-BE49-F238E27FC236}">
                <a16:creationId xmlns:a16="http://schemas.microsoft.com/office/drawing/2014/main" id="{1C76FBCF-2459-4E80-A6C5-C728761EAC0C}"/>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Die Verteidigung kann Akten prüfen, Beweise anregen oder beantragen und zu Ergebnissen Stellung nehmen.</a:t>
            </a:r>
          </a:p>
        </p:txBody>
      </p:sp>
      <p:sp>
        <p:nvSpPr>
          <p:cNvPr id="21" name="">
            <a:extLst xmlns:a="http://schemas.openxmlformats.org/drawingml/2006/main">
              <a:ext uri="{FF2B5EF4-FFF2-40B4-BE49-F238E27FC236}">
                <a16:creationId xmlns:a16="http://schemas.microsoft.com/office/drawing/2014/main" id="{7D59D15B-241C-481F-BF7F-85B6B6AC07C2}"/>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B89E048E-732D-4B18-88AB-2B58CF70D0CC}"/>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Die erste informelle Erklärung kann später schwer korrigierbar sein; Beratung vor Einlassung ist legitime Rechtsausübung.</a:t>
            </a:r>
          </a:p>
        </p:txBody>
      </p:sp>
    </p:spTree>
    <p:extLst>
      <p:ext uri="{BB962C8B-B14F-4D97-AF65-F5344CB8AC3E}">
        <p14:creationId xmlns:p14="http://schemas.microsoft.com/office/powerpoint/2010/main" val="43637646"/>
      </p:ext>
    </p:extLst>
  </p:cSld>
</p:sld>
</file>

<file path=ppt/slides/slide247.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Zeugnis- und Auskunftsverweigerung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8714B888-013F-4950-9008-0DDD7D3DE25F}"/>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Schweigepflicht und strafprozessuale Verweigerungsrechte müssen auseinandergehalten werden.</a:t>
            </a:r>
          </a:p>
        </p:txBody>
      </p:sp>
      <p:sp>
        <p:nvSpPr>
          <p:cNvPr id="5" name="">
            <a:extLst xmlns:a="http://schemas.openxmlformats.org/drawingml/2006/main">
              <a:ext uri="{FF2B5EF4-FFF2-40B4-BE49-F238E27FC236}">
                <a16:creationId xmlns:a16="http://schemas.microsoft.com/office/drawing/2014/main" id="{9EA19DC5-B9CD-4CD2-AC51-83A7C7BAEE12}"/>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78043206-F9B8-497A-8EC0-58E48A6EB0F2}"/>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2DC4B8B3-279F-4284-81E3-5607017A980A}"/>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 53 StPO</a:t>
            </a:r>
          </a:p>
        </p:txBody>
      </p:sp>
      <p:sp>
        <p:nvSpPr>
          <p:cNvPr id="8" name="">
            <a:extLst xmlns:a="http://schemas.openxmlformats.org/drawingml/2006/main">
              <a:ext uri="{FF2B5EF4-FFF2-40B4-BE49-F238E27FC236}">
                <a16:creationId xmlns:a16="http://schemas.microsoft.com/office/drawing/2014/main" id="{4AA25CDA-0CE4-45C3-BF6A-9F7B952AB89F}"/>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Bestimmte Berufsgeheimnisträger können über anvertraute Geheimnisse das Zeugnis verweigern; Entbindung kann die Lage verändern.</a:t>
            </a:r>
          </a:p>
        </p:txBody>
      </p:sp>
      <p:sp>
        <p:nvSpPr>
          <p:cNvPr id="9" name="">
            <a:extLst xmlns:a="http://schemas.openxmlformats.org/drawingml/2006/main">
              <a:ext uri="{FF2B5EF4-FFF2-40B4-BE49-F238E27FC236}">
                <a16:creationId xmlns:a16="http://schemas.microsoft.com/office/drawing/2014/main" id="{64A4962D-9A43-484C-9BC9-F825761A58A1}"/>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7222A442-521D-4AE6-903E-8B51E1B458CB}"/>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212370EA-00B0-433C-82A7-4A19534E1A79}"/>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 53a StPO</a:t>
            </a:r>
          </a:p>
        </p:txBody>
      </p:sp>
      <p:sp>
        <p:nvSpPr>
          <p:cNvPr id="12" name="">
            <a:extLst xmlns:a="http://schemas.openxmlformats.org/drawingml/2006/main">
              <a:ext uri="{FF2B5EF4-FFF2-40B4-BE49-F238E27FC236}">
                <a16:creationId xmlns:a16="http://schemas.microsoft.com/office/drawing/2014/main" id="{BC3461D1-673D-4194-8D33-68C75E720A7C}"/>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Mitwirkende Personen können in den Schutz einbezogen sein; die Entscheidung liegt im gesetzlichen Rahmen beim Berufsgeheimnisträger.</a:t>
            </a:r>
          </a:p>
        </p:txBody>
      </p:sp>
      <p:sp>
        <p:nvSpPr>
          <p:cNvPr id="13" name="">
            <a:extLst xmlns:a="http://schemas.openxmlformats.org/drawingml/2006/main">
              <a:ext uri="{FF2B5EF4-FFF2-40B4-BE49-F238E27FC236}">
                <a16:creationId xmlns:a16="http://schemas.microsoft.com/office/drawing/2014/main" id="{A99EF696-1F4A-4A0D-BE2D-12B05B5DF4AB}"/>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E61B5552-C32C-4216-B61A-03381F936C16}"/>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7DE3DE26-0999-4862-B560-1921E7EDA65B}"/>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 55 StPO</a:t>
            </a:r>
          </a:p>
        </p:txBody>
      </p:sp>
      <p:sp>
        <p:nvSpPr>
          <p:cNvPr id="16" name="">
            <a:extLst xmlns:a="http://schemas.openxmlformats.org/drawingml/2006/main">
              <a:ext uri="{FF2B5EF4-FFF2-40B4-BE49-F238E27FC236}">
                <a16:creationId xmlns:a16="http://schemas.microsoft.com/office/drawing/2014/main" id="{9D2564CB-EA42-441C-AA13-311CE6EB2E52}"/>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Jede Zeugin darf einzelne Antworten verweigern, wenn sie sich oder Angehörige der Gefahr straf- oder ordnungswidrigkeitsrechtlicher Verfolgung aussetzen würde.</a:t>
            </a:r>
          </a:p>
        </p:txBody>
      </p:sp>
      <p:sp>
        <p:nvSpPr>
          <p:cNvPr id="17" name="">
            <a:extLst xmlns:a="http://schemas.openxmlformats.org/drawingml/2006/main">
              <a:ext uri="{FF2B5EF4-FFF2-40B4-BE49-F238E27FC236}">
                <a16:creationId xmlns:a16="http://schemas.microsoft.com/office/drawing/2014/main" id="{91C052A0-6370-4B2D-8253-710108EBA1C0}"/>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80CA7F81-DF68-432B-8600-96E51B10C4DE}"/>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557B22D2-57DF-4582-8815-75182EE4EA24}"/>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Beratung</a:t>
            </a:r>
          </a:p>
        </p:txBody>
      </p:sp>
      <p:sp>
        <p:nvSpPr>
          <p:cNvPr id="20" name="">
            <a:extLst xmlns:a="http://schemas.openxmlformats.org/drawingml/2006/main">
              <a:ext uri="{FF2B5EF4-FFF2-40B4-BE49-F238E27FC236}">
                <a16:creationId xmlns:a16="http://schemas.microsoft.com/office/drawing/2014/main" id="{775BC51D-579E-4144-87A6-44EE8ABFAF65}"/>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Bei möglicher Rollenverschiebung wird vor Aussage anwaltlicher Rat eingeholt.</a:t>
            </a:r>
          </a:p>
        </p:txBody>
      </p:sp>
      <p:sp>
        <p:nvSpPr>
          <p:cNvPr id="21" name="">
            <a:extLst xmlns:a="http://schemas.openxmlformats.org/drawingml/2006/main">
              <a:ext uri="{FF2B5EF4-FFF2-40B4-BE49-F238E27FC236}">
                <a16:creationId xmlns:a16="http://schemas.microsoft.com/office/drawing/2014/main" id="{3B4BF752-2265-41B3-BF98-2E219F876143}"/>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5DDB2EDF-6455-47CC-8878-68C1D79BA2BB}"/>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Wer als Zeuge geladen ist, kann dennoch eigene Verfolgungsrisiken haben.</a:t>
            </a:r>
          </a:p>
        </p:txBody>
      </p:sp>
    </p:spTree>
    <p:extLst>
      <p:ext uri="{BB962C8B-B14F-4D97-AF65-F5344CB8AC3E}">
        <p14:creationId xmlns:p14="http://schemas.microsoft.com/office/powerpoint/2010/main" val="43637646"/>
      </p:ext>
    </p:extLst>
  </p:cSld>
</p:sld>
</file>

<file path=ppt/slides/slide248.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Durchsuchung und Beschlagnahme</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34C29B48-C080-45F4-9931-138B001EFE26}"/>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Zwangsmaßnahmen müssen gesetzliche Voraussetzungen, Verhältnismäßigkeit und Schutz von Berufsgeheimnissen beachten.</a:t>
            </a:r>
          </a:p>
        </p:txBody>
      </p:sp>
      <p:sp>
        <p:nvSpPr>
          <p:cNvPr id="5" name="">
            <a:extLst xmlns:a="http://schemas.openxmlformats.org/drawingml/2006/main">
              <a:ext uri="{FF2B5EF4-FFF2-40B4-BE49-F238E27FC236}">
                <a16:creationId xmlns:a16="http://schemas.microsoft.com/office/drawing/2014/main" id="{A038B5F7-DA50-42D6-87F2-D17B5DB4104F}"/>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E9B4C0BB-9676-4C9E-B280-1B5914D24B92}"/>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055FA788-0F46-4CAD-B7C2-B2F290529DAB}"/>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Durchsuchung</a:t>
            </a:r>
          </a:p>
        </p:txBody>
      </p:sp>
      <p:sp>
        <p:nvSpPr>
          <p:cNvPr id="8" name="">
            <a:extLst xmlns:a="http://schemas.openxmlformats.org/drawingml/2006/main">
              <a:ext uri="{FF2B5EF4-FFF2-40B4-BE49-F238E27FC236}">
                <a16:creationId xmlns:a16="http://schemas.microsoft.com/office/drawing/2014/main" id="{F3C42186-9321-441F-BF41-39A4143C5ED7}"/>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Bei Beschuldigten und Dritten gelten unterschiedliche Voraussetzungen; Zweck und Umfang ergeben sich aus Anordnung und Verdacht.</a:t>
            </a:r>
          </a:p>
        </p:txBody>
      </p:sp>
      <p:sp>
        <p:nvSpPr>
          <p:cNvPr id="9" name="">
            <a:extLst xmlns:a="http://schemas.openxmlformats.org/drawingml/2006/main">
              <a:ext uri="{FF2B5EF4-FFF2-40B4-BE49-F238E27FC236}">
                <a16:creationId xmlns:a16="http://schemas.microsoft.com/office/drawing/2014/main" id="{8B0C9888-31F3-49D9-A6F7-259FF6DB1A7F}"/>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71E6EBCF-B566-4C98-B67C-F9E805A27B2F}"/>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CBA2BDF0-DF5F-4899-9D5C-C13514F2889A}"/>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Beschlagnahme</a:t>
            </a:r>
          </a:p>
        </p:txBody>
      </p:sp>
      <p:sp>
        <p:nvSpPr>
          <p:cNvPr id="12" name="">
            <a:extLst xmlns:a="http://schemas.openxmlformats.org/drawingml/2006/main">
              <a:ext uri="{FF2B5EF4-FFF2-40B4-BE49-F238E27FC236}">
                <a16:creationId xmlns:a16="http://schemas.microsoft.com/office/drawing/2014/main" id="{71F96A05-07FD-4B6F-ABD6-A2064C7F177C}"/>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Beweisgegenstände können sichergestellt oder beschlagnahmt werden; freiwillige Herausgabe und förmliche Beschlagnahme sind zu unterscheiden.</a:t>
            </a:r>
          </a:p>
        </p:txBody>
      </p:sp>
      <p:sp>
        <p:nvSpPr>
          <p:cNvPr id="13" name="">
            <a:extLst xmlns:a="http://schemas.openxmlformats.org/drawingml/2006/main">
              <a:ext uri="{FF2B5EF4-FFF2-40B4-BE49-F238E27FC236}">
                <a16:creationId xmlns:a16="http://schemas.microsoft.com/office/drawing/2014/main" id="{5C7C6D6B-FD42-4016-B935-9451F8BC20A8}"/>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71FFFF49-7D38-409C-AF1E-E642E5D65506}"/>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3A2DCAA4-105D-4F44-A5D6-72D74788C4BA}"/>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Beschlagnahmefreiheit</a:t>
            </a:r>
          </a:p>
        </p:txBody>
      </p:sp>
      <p:sp>
        <p:nvSpPr>
          <p:cNvPr id="16" name="">
            <a:extLst xmlns:a="http://schemas.openxmlformats.org/drawingml/2006/main">
              <a:ext uri="{FF2B5EF4-FFF2-40B4-BE49-F238E27FC236}">
                <a16:creationId xmlns:a16="http://schemas.microsoft.com/office/drawing/2014/main" id="{46963C94-8FD7-408A-9CFB-A07A4B32F442}"/>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 97 StPO schützt unter Voraussetzungen bestimmte Gegenstände im Vertrauensverhältnis zu Zeugnisverweigerungsberechtigten.</a:t>
            </a:r>
          </a:p>
        </p:txBody>
      </p:sp>
      <p:sp>
        <p:nvSpPr>
          <p:cNvPr id="17" name="">
            <a:extLst xmlns:a="http://schemas.openxmlformats.org/drawingml/2006/main">
              <a:ext uri="{FF2B5EF4-FFF2-40B4-BE49-F238E27FC236}">
                <a16:creationId xmlns:a16="http://schemas.microsoft.com/office/drawing/2014/main" id="{4317DBB6-F5DA-4BEB-97D7-BF580CC3EC92}"/>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E42580BA-B6CB-41BC-9C80-EE36E30D95F3}"/>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9590C18A-F8C5-4430-8BAD-E9636E85A73E}"/>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Verhalten vor Ort</a:t>
            </a:r>
          </a:p>
        </p:txBody>
      </p:sp>
      <p:sp>
        <p:nvSpPr>
          <p:cNvPr id="20" name="">
            <a:extLst xmlns:a="http://schemas.openxmlformats.org/drawingml/2006/main">
              <a:ext uri="{FF2B5EF4-FFF2-40B4-BE49-F238E27FC236}">
                <a16:creationId xmlns:a16="http://schemas.microsoft.com/office/drawing/2014/main" id="{6C9D7BFA-D0F5-4692-9A35-E1E3755C4211}"/>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Anordnung und Dienstausweise werden geprüft, Rechtsbeistand und Leitung informiert, nichts vernichtet oder verborgen und der Ablauf dokumentiert.</a:t>
            </a:r>
          </a:p>
        </p:txBody>
      </p:sp>
      <p:sp>
        <p:nvSpPr>
          <p:cNvPr id="21" name="">
            <a:extLst xmlns:a="http://schemas.openxmlformats.org/drawingml/2006/main">
              <a:ext uri="{FF2B5EF4-FFF2-40B4-BE49-F238E27FC236}">
                <a16:creationId xmlns:a16="http://schemas.microsoft.com/office/drawing/2014/main" id="{DF227787-6F41-443A-BB47-EF283A02D8DA}"/>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843976F0-9E6E-48B4-ABCE-63BDF24FA7CC}"/>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Kooperation bedeutet nicht, auf Prüfung von Umfang, Geheimnisschutz und Rechtsbehelfen zu verzichten.</a:t>
            </a:r>
          </a:p>
        </p:txBody>
      </p:sp>
    </p:spTree>
    <p:extLst>
      <p:ext uri="{BB962C8B-B14F-4D97-AF65-F5344CB8AC3E}">
        <p14:creationId xmlns:p14="http://schemas.microsoft.com/office/powerpoint/2010/main" val="43637646"/>
      </p:ext>
    </p:extLst>
  </p:cSld>
</p:sld>
</file>

<file path=ppt/slides/slide249.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Verhalten bei Durchsuchung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PRÜFUNGSSCHEMA · PRAXISCHECK</a:t>
            </a:r>
            <a:endParaRPr/>
          </a:p>
        </p:txBody>
      </p:sp>
      <p:sp>
        <p:nvSpPr>
          <p:cNvPr id="4" name="">
            <a:extLst xmlns:a="http://schemas.openxmlformats.org/drawingml/2006/main">
              <a:ext uri="{FF2B5EF4-FFF2-40B4-BE49-F238E27FC236}">
                <a16:creationId xmlns:a16="http://schemas.microsoft.com/office/drawing/2014/main" id="{91B2DA09-0C28-480E-99FB-2609C113A0CC}"/>
              </a:ext>
            </a:extLst>
          </p:cNvPr>
          <p:cNvSpPr>
            <a:spLocks xmlns:a="http://schemas.openxmlformats.org/drawingml/2006/main" noGrp="1"/>
          </p:cNvSpPr>
          <p:nvPr/>
        </p:nvSpPr>
        <p:spPr>
          <a:xfrm xmlns:a="http://schemas.openxmlformats.org/drawingml/2006/main">
            <a:off x="1809750" y="195262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3C7EE8F3-59D3-41E4-8B41-4959F9B609E5}"/>
              </a:ext>
            </a:extLst>
          </p:cNvPr>
          <p:cNvSpPr>
            <a:spLocks xmlns:a="http://schemas.openxmlformats.org/drawingml/2006/main" noGrp="1"/>
          </p:cNvSpPr>
          <p:nvPr/>
        </p:nvSpPr>
        <p:spPr>
          <a:xfrm xmlns:a="http://schemas.openxmlformats.org/drawingml/2006/main">
            <a:off x="1809750" y="19526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6" name="">
            <a:extLst xmlns:a="http://schemas.openxmlformats.org/drawingml/2006/main">
              <a:ext uri="{FF2B5EF4-FFF2-40B4-BE49-F238E27FC236}">
                <a16:creationId xmlns:a16="http://schemas.microsoft.com/office/drawing/2014/main" id="{F52BC9A9-E6E6-44D7-876D-0177DD55B6F7}"/>
              </a:ext>
            </a:extLst>
          </p:cNvPr>
          <p:cNvSpPr>
            <a:spLocks xmlns:a="http://schemas.openxmlformats.org/drawingml/2006/main" noGrp="1"/>
          </p:cNvSpPr>
          <p:nvPr/>
        </p:nvSpPr>
        <p:spPr>
          <a:xfrm xmlns:a="http://schemas.openxmlformats.org/drawingml/2006/main">
            <a:off x="2324100" y="196215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1. Ruhe und Versorgung</a:t>
            </a:r>
          </a:p>
        </p:txBody>
      </p:sp>
      <p:sp>
        <p:nvSpPr>
          <p:cNvPr id="7" name="">
            <a:extLst xmlns:a="http://schemas.openxmlformats.org/drawingml/2006/main">
              <a:ext uri="{FF2B5EF4-FFF2-40B4-BE49-F238E27FC236}">
                <a16:creationId xmlns:a16="http://schemas.microsoft.com/office/drawing/2014/main" id="{DFFDAD67-DF51-47F2-84A3-B3AB295AE4B8}"/>
              </a:ext>
            </a:extLst>
          </p:cNvPr>
          <p:cNvSpPr>
            <a:spLocks xmlns:a="http://schemas.openxmlformats.org/drawingml/2006/main" noGrp="1"/>
          </p:cNvSpPr>
          <p:nvPr/>
        </p:nvSpPr>
        <p:spPr>
          <a:xfrm xmlns:a="http://schemas.openxmlformats.org/drawingml/2006/main">
            <a:off x="4819650" y="196215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Patientenversorgung sichern und keine Behinderungshandlungen vornehmen.</a:t>
            </a:r>
          </a:p>
        </p:txBody>
      </p:sp>
      <p:sp>
        <p:nvSpPr>
          <p:cNvPr id="8" name="">
            <a:extLst xmlns:a="http://schemas.openxmlformats.org/drawingml/2006/main">
              <a:ext uri="{FF2B5EF4-FFF2-40B4-BE49-F238E27FC236}">
                <a16:creationId xmlns:a16="http://schemas.microsoft.com/office/drawing/2014/main" id="{9A792C7C-E00A-4D26-9A70-6368EAE269C1}"/>
              </a:ext>
            </a:extLst>
          </p:cNvPr>
          <p:cNvSpPr>
            <a:spLocks xmlns:a="http://schemas.openxmlformats.org/drawingml/2006/main" noGrp="1"/>
          </p:cNvSpPr>
          <p:nvPr/>
        </p:nvSpPr>
        <p:spPr>
          <a:xfrm xmlns:a="http://schemas.openxmlformats.org/drawingml/2006/main">
            <a:off x="1809750" y="255270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9" name="">
            <a:extLst xmlns:a="http://schemas.openxmlformats.org/drawingml/2006/main">
              <a:ext uri="{FF2B5EF4-FFF2-40B4-BE49-F238E27FC236}">
                <a16:creationId xmlns:a16="http://schemas.microsoft.com/office/drawing/2014/main" id="{A36EC44F-8BFD-4ED1-8EDA-B02D2F30D672}"/>
              </a:ext>
            </a:extLst>
          </p:cNvPr>
          <p:cNvSpPr>
            <a:spLocks xmlns:a="http://schemas.openxmlformats.org/drawingml/2006/main" noGrp="1"/>
          </p:cNvSpPr>
          <p:nvPr/>
        </p:nvSpPr>
        <p:spPr>
          <a:xfrm xmlns:a="http://schemas.openxmlformats.org/drawingml/2006/main">
            <a:off x="1809750" y="255270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0" name="">
            <a:extLst xmlns:a="http://schemas.openxmlformats.org/drawingml/2006/main">
              <a:ext uri="{FF2B5EF4-FFF2-40B4-BE49-F238E27FC236}">
                <a16:creationId xmlns:a16="http://schemas.microsoft.com/office/drawing/2014/main" id="{0B9CE5BE-052B-4DCF-A00D-D5E2AEE24D68}"/>
              </a:ext>
            </a:extLst>
          </p:cNvPr>
          <p:cNvSpPr>
            <a:spLocks xmlns:a="http://schemas.openxmlformats.org/drawingml/2006/main" noGrp="1"/>
          </p:cNvSpPr>
          <p:nvPr/>
        </p:nvSpPr>
        <p:spPr>
          <a:xfrm xmlns:a="http://schemas.openxmlformats.org/drawingml/2006/main">
            <a:off x="2324100" y="256222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2. Grundlage prüfen</a:t>
            </a:r>
          </a:p>
        </p:txBody>
      </p:sp>
      <p:sp>
        <p:nvSpPr>
          <p:cNvPr id="11" name="">
            <a:extLst xmlns:a="http://schemas.openxmlformats.org/drawingml/2006/main">
              <a:ext uri="{FF2B5EF4-FFF2-40B4-BE49-F238E27FC236}">
                <a16:creationId xmlns:a16="http://schemas.microsoft.com/office/drawing/2014/main" id="{E7BF50A1-CF0C-4E68-9ABB-BE9392EC452E}"/>
              </a:ext>
            </a:extLst>
          </p:cNvPr>
          <p:cNvSpPr>
            <a:spLocks xmlns:a="http://schemas.openxmlformats.org/drawingml/2006/main" noGrp="1"/>
          </p:cNvSpPr>
          <p:nvPr/>
        </p:nvSpPr>
        <p:spPr>
          <a:xfrm xmlns:a="http://schemas.openxmlformats.org/drawingml/2006/main">
            <a:off x="4819650" y="256222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Beschluss oder Gefahr-im-Verzug-Begründung, Räume, Zweck und gesuchte Gegenstände erfassen.</a:t>
            </a:r>
          </a:p>
        </p:txBody>
      </p:sp>
      <p:sp>
        <p:nvSpPr>
          <p:cNvPr id="12" name="">
            <a:extLst xmlns:a="http://schemas.openxmlformats.org/drawingml/2006/main">
              <a:ext uri="{FF2B5EF4-FFF2-40B4-BE49-F238E27FC236}">
                <a16:creationId xmlns:a16="http://schemas.microsoft.com/office/drawing/2014/main" id="{AB347AA4-1F74-450C-BF80-7D82DF8E9D32}"/>
              </a:ext>
            </a:extLst>
          </p:cNvPr>
          <p:cNvSpPr>
            <a:spLocks xmlns:a="http://schemas.openxmlformats.org/drawingml/2006/main" noGrp="1"/>
          </p:cNvSpPr>
          <p:nvPr/>
        </p:nvSpPr>
        <p:spPr>
          <a:xfrm xmlns:a="http://schemas.openxmlformats.org/drawingml/2006/main">
            <a:off x="1809750" y="315277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3" name="">
            <a:extLst xmlns:a="http://schemas.openxmlformats.org/drawingml/2006/main">
              <a:ext uri="{FF2B5EF4-FFF2-40B4-BE49-F238E27FC236}">
                <a16:creationId xmlns:a16="http://schemas.microsoft.com/office/drawing/2014/main" id="{42B190FD-44A1-4C79-8AC1-343A4D5C6E95}"/>
              </a:ext>
            </a:extLst>
          </p:cNvPr>
          <p:cNvSpPr>
            <a:spLocks xmlns:a="http://schemas.openxmlformats.org/drawingml/2006/main" noGrp="1"/>
          </p:cNvSpPr>
          <p:nvPr/>
        </p:nvSpPr>
        <p:spPr>
          <a:xfrm xmlns:a="http://schemas.openxmlformats.org/drawingml/2006/main">
            <a:off x="1809750" y="315277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4" name="">
            <a:extLst xmlns:a="http://schemas.openxmlformats.org/drawingml/2006/main">
              <a:ext uri="{FF2B5EF4-FFF2-40B4-BE49-F238E27FC236}">
                <a16:creationId xmlns:a16="http://schemas.microsoft.com/office/drawing/2014/main" id="{1C3E6601-4327-46FF-8744-461AB6C5DE04}"/>
              </a:ext>
            </a:extLst>
          </p:cNvPr>
          <p:cNvSpPr>
            <a:spLocks xmlns:a="http://schemas.openxmlformats.org/drawingml/2006/main" noGrp="1"/>
          </p:cNvSpPr>
          <p:nvPr/>
        </p:nvSpPr>
        <p:spPr>
          <a:xfrm xmlns:a="http://schemas.openxmlformats.org/drawingml/2006/main">
            <a:off x="2324100" y="316230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3. Zuständige informieren</a:t>
            </a:r>
          </a:p>
        </p:txBody>
      </p:sp>
      <p:sp>
        <p:nvSpPr>
          <p:cNvPr id="15" name="">
            <a:extLst xmlns:a="http://schemas.openxmlformats.org/drawingml/2006/main">
              <a:ext uri="{FF2B5EF4-FFF2-40B4-BE49-F238E27FC236}">
                <a16:creationId xmlns:a16="http://schemas.microsoft.com/office/drawing/2014/main" id="{32888452-5B88-41CD-86F3-AC896CB0542A}"/>
              </a:ext>
            </a:extLst>
          </p:cNvPr>
          <p:cNvSpPr>
            <a:spLocks xmlns:a="http://schemas.openxmlformats.org/drawingml/2006/main" noGrp="1"/>
          </p:cNvSpPr>
          <p:nvPr/>
        </p:nvSpPr>
        <p:spPr>
          <a:xfrm xmlns:a="http://schemas.openxmlformats.org/drawingml/2006/main">
            <a:off x="4819650" y="316230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Leitung, Rechtsabteilung, Datenschutz und gegebenenfalls Verteidigung unverzüglich kontaktieren.</a:t>
            </a:r>
          </a:p>
        </p:txBody>
      </p:sp>
      <p:sp>
        <p:nvSpPr>
          <p:cNvPr id="16" name="">
            <a:extLst xmlns:a="http://schemas.openxmlformats.org/drawingml/2006/main">
              <a:ext uri="{FF2B5EF4-FFF2-40B4-BE49-F238E27FC236}">
                <a16:creationId xmlns:a16="http://schemas.microsoft.com/office/drawing/2014/main" id="{5C76E6CA-75DA-4A52-A107-F83D5C8EECC6}"/>
              </a:ext>
            </a:extLst>
          </p:cNvPr>
          <p:cNvSpPr>
            <a:spLocks xmlns:a="http://schemas.openxmlformats.org/drawingml/2006/main" noGrp="1"/>
          </p:cNvSpPr>
          <p:nvPr/>
        </p:nvSpPr>
        <p:spPr>
          <a:xfrm xmlns:a="http://schemas.openxmlformats.org/drawingml/2006/main">
            <a:off x="1809750" y="375285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7" name="">
            <a:extLst xmlns:a="http://schemas.openxmlformats.org/drawingml/2006/main">
              <a:ext uri="{FF2B5EF4-FFF2-40B4-BE49-F238E27FC236}">
                <a16:creationId xmlns:a16="http://schemas.microsoft.com/office/drawing/2014/main" id="{5AC51E8E-A456-4423-9685-1DE3671962D4}"/>
              </a:ext>
            </a:extLst>
          </p:cNvPr>
          <p:cNvSpPr>
            <a:spLocks xmlns:a="http://schemas.openxmlformats.org/drawingml/2006/main" noGrp="1"/>
          </p:cNvSpPr>
          <p:nvPr/>
        </p:nvSpPr>
        <p:spPr>
          <a:xfrm xmlns:a="http://schemas.openxmlformats.org/drawingml/2006/main">
            <a:off x="1809750" y="375285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18" name="">
            <a:extLst xmlns:a="http://schemas.openxmlformats.org/drawingml/2006/main">
              <a:ext uri="{FF2B5EF4-FFF2-40B4-BE49-F238E27FC236}">
                <a16:creationId xmlns:a16="http://schemas.microsoft.com/office/drawing/2014/main" id="{707E3FCA-4535-408B-BDF7-2706261A20D2}"/>
              </a:ext>
            </a:extLst>
          </p:cNvPr>
          <p:cNvSpPr>
            <a:spLocks xmlns:a="http://schemas.openxmlformats.org/drawingml/2006/main" noGrp="1"/>
          </p:cNvSpPr>
          <p:nvPr/>
        </p:nvSpPr>
        <p:spPr>
          <a:xfrm xmlns:a="http://schemas.openxmlformats.org/drawingml/2006/main">
            <a:off x="2324100" y="376237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4. Begleiten und protokollieren</a:t>
            </a:r>
          </a:p>
        </p:txBody>
      </p:sp>
      <p:sp>
        <p:nvSpPr>
          <p:cNvPr id="19" name="">
            <a:extLst xmlns:a="http://schemas.openxmlformats.org/drawingml/2006/main">
              <a:ext uri="{FF2B5EF4-FFF2-40B4-BE49-F238E27FC236}">
                <a16:creationId xmlns:a16="http://schemas.microsoft.com/office/drawing/2014/main" id="{7BF3496D-93FA-4059-B60E-6B30CCF5C4E1}"/>
              </a:ext>
            </a:extLst>
          </p:cNvPr>
          <p:cNvSpPr>
            <a:spLocks xmlns:a="http://schemas.openxmlformats.org/drawingml/2006/main" noGrp="1"/>
          </p:cNvSpPr>
          <p:nvPr/>
        </p:nvSpPr>
        <p:spPr>
          <a:xfrm xmlns:a="http://schemas.openxmlformats.org/drawingml/2006/main">
            <a:off x="4819650" y="376237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Maßnahmen beobachten, Kopien von Verzeichnissen sichern und streitige Punkte sachlich vermerken.</a:t>
            </a:r>
          </a:p>
        </p:txBody>
      </p:sp>
      <p:sp>
        <p:nvSpPr>
          <p:cNvPr id="20" name="">
            <a:extLst xmlns:a="http://schemas.openxmlformats.org/drawingml/2006/main">
              <a:ext uri="{FF2B5EF4-FFF2-40B4-BE49-F238E27FC236}">
                <a16:creationId xmlns:a16="http://schemas.microsoft.com/office/drawing/2014/main" id="{4E75C9E9-372F-49C0-8EF6-1EFDC77C7E77}"/>
              </a:ext>
            </a:extLst>
          </p:cNvPr>
          <p:cNvSpPr>
            <a:spLocks xmlns:a="http://schemas.openxmlformats.org/drawingml/2006/main" noGrp="1"/>
          </p:cNvSpPr>
          <p:nvPr/>
        </p:nvSpPr>
        <p:spPr>
          <a:xfrm xmlns:a="http://schemas.openxmlformats.org/drawingml/2006/main">
            <a:off x="1809750" y="435292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1" name="">
            <a:extLst xmlns:a="http://schemas.openxmlformats.org/drawingml/2006/main">
              <a:ext uri="{FF2B5EF4-FFF2-40B4-BE49-F238E27FC236}">
                <a16:creationId xmlns:a16="http://schemas.microsoft.com/office/drawing/2014/main" id="{F3167F25-3DB0-4C9D-81AA-F2884E3F72FE}"/>
              </a:ext>
            </a:extLst>
          </p:cNvPr>
          <p:cNvSpPr>
            <a:spLocks xmlns:a="http://schemas.openxmlformats.org/drawingml/2006/main" noGrp="1"/>
          </p:cNvSpPr>
          <p:nvPr/>
        </p:nvSpPr>
        <p:spPr>
          <a:xfrm xmlns:a="http://schemas.openxmlformats.org/drawingml/2006/main">
            <a:off x="1809750" y="43529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5</a:t>
            </a:r>
          </a:p>
        </p:txBody>
      </p:sp>
      <p:sp>
        <p:nvSpPr>
          <p:cNvPr id="22" name="">
            <a:extLst xmlns:a="http://schemas.openxmlformats.org/drawingml/2006/main">
              <a:ext uri="{FF2B5EF4-FFF2-40B4-BE49-F238E27FC236}">
                <a16:creationId xmlns:a16="http://schemas.microsoft.com/office/drawing/2014/main" id="{14B94BC6-F80C-4B11-AC1A-0DDEFB79D4A6}"/>
              </a:ext>
            </a:extLst>
          </p:cNvPr>
          <p:cNvSpPr>
            <a:spLocks xmlns:a="http://schemas.openxmlformats.org/drawingml/2006/main" noGrp="1"/>
          </p:cNvSpPr>
          <p:nvPr/>
        </p:nvSpPr>
        <p:spPr>
          <a:xfrm xmlns:a="http://schemas.openxmlformats.org/drawingml/2006/main">
            <a:off x="2324100" y="436245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5. Geheimnisschutz markieren</a:t>
            </a:r>
          </a:p>
        </p:txBody>
      </p:sp>
      <p:sp>
        <p:nvSpPr>
          <p:cNvPr id="23" name="">
            <a:extLst xmlns:a="http://schemas.openxmlformats.org/drawingml/2006/main">
              <a:ext uri="{FF2B5EF4-FFF2-40B4-BE49-F238E27FC236}">
                <a16:creationId xmlns:a16="http://schemas.microsoft.com/office/drawing/2014/main" id="{6C193EC1-9653-4AD6-AE5C-8399F0AB85E3}"/>
              </a:ext>
            </a:extLst>
          </p:cNvPr>
          <p:cNvSpPr>
            <a:spLocks xmlns:a="http://schemas.openxmlformats.org/drawingml/2006/main" noGrp="1"/>
          </p:cNvSpPr>
          <p:nvPr/>
        </p:nvSpPr>
        <p:spPr>
          <a:xfrm xmlns:a="http://schemas.openxmlformats.org/drawingml/2006/main">
            <a:off x="4819650" y="436245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Patienten- und Verteidigungsunterlagen nicht pauschal freigeben; gesetzliche Schutzfragen konkret ansprechen.</a:t>
            </a:r>
          </a:p>
        </p:txBody>
      </p:sp>
      <p:sp>
        <p:nvSpPr>
          <p:cNvPr id="24" name="">
            <a:extLst xmlns:a="http://schemas.openxmlformats.org/drawingml/2006/main">
              <a:ext uri="{FF2B5EF4-FFF2-40B4-BE49-F238E27FC236}">
                <a16:creationId xmlns:a16="http://schemas.microsoft.com/office/drawing/2014/main" id="{F4A70A51-602A-4675-BE63-D90CF91666DD}"/>
              </a:ext>
            </a:extLst>
          </p:cNvPr>
          <p:cNvSpPr>
            <a:spLocks xmlns:a="http://schemas.openxmlformats.org/drawingml/2006/main" noGrp="1"/>
          </p:cNvSpPr>
          <p:nvPr/>
        </p:nvSpPr>
        <p:spPr>
          <a:xfrm xmlns:a="http://schemas.openxmlformats.org/drawingml/2006/main">
            <a:off x="1809750" y="495300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25" name="">
            <a:extLst xmlns:a="http://schemas.openxmlformats.org/drawingml/2006/main">
              <a:ext uri="{FF2B5EF4-FFF2-40B4-BE49-F238E27FC236}">
                <a16:creationId xmlns:a16="http://schemas.microsoft.com/office/drawing/2014/main" id="{ECFAA436-F24B-4478-9A51-DC5CB7EF3D24}"/>
              </a:ext>
            </a:extLst>
          </p:cNvPr>
          <p:cNvSpPr>
            <a:spLocks xmlns:a="http://schemas.openxmlformats.org/drawingml/2006/main" noGrp="1"/>
          </p:cNvSpPr>
          <p:nvPr/>
        </p:nvSpPr>
        <p:spPr>
          <a:xfrm xmlns:a="http://schemas.openxmlformats.org/drawingml/2006/main">
            <a:off x="1809750" y="495300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6</a:t>
            </a:r>
          </a:p>
        </p:txBody>
      </p:sp>
      <p:sp>
        <p:nvSpPr>
          <p:cNvPr id="26" name="">
            <a:extLst xmlns:a="http://schemas.openxmlformats.org/drawingml/2006/main">
              <a:ext uri="{FF2B5EF4-FFF2-40B4-BE49-F238E27FC236}">
                <a16:creationId xmlns:a16="http://schemas.microsoft.com/office/drawing/2014/main" id="{6FCC0DD7-EDEA-4D4C-B4A0-8A1584DF92C0}"/>
              </a:ext>
            </a:extLst>
          </p:cNvPr>
          <p:cNvSpPr>
            <a:spLocks xmlns:a="http://schemas.openxmlformats.org/drawingml/2006/main" noGrp="1"/>
          </p:cNvSpPr>
          <p:nvPr/>
        </p:nvSpPr>
        <p:spPr>
          <a:xfrm xmlns:a="http://schemas.openxmlformats.org/drawingml/2006/main">
            <a:off x="2324100" y="496252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6. Keine Sachangaben improvisieren</a:t>
            </a:r>
          </a:p>
        </p:txBody>
      </p:sp>
      <p:sp>
        <p:nvSpPr>
          <p:cNvPr id="27" name="">
            <a:extLst xmlns:a="http://schemas.openxmlformats.org/drawingml/2006/main">
              <a:ext uri="{FF2B5EF4-FFF2-40B4-BE49-F238E27FC236}">
                <a16:creationId xmlns:a16="http://schemas.microsoft.com/office/drawing/2014/main" id="{C903F6B8-5D98-4931-B4D0-F6FE5F8ADA45}"/>
              </a:ext>
            </a:extLst>
          </p:cNvPr>
          <p:cNvSpPr>
            <a:spLocks xmlns:a="http://schemas.openxmlformats.org/drawingml/2006/main" noGrp="1"/>
          </p:cNvSpPr>
          <p:nvPr/>
        </p:nvSpPr>
        <p:spPr>
          <a:xfrm xmlns:a="http://schemas.openxmlformats.org/drawingml/2006/main">
            <a:off x="4819650" y="496252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Zur Sache nur nach Rollenklärung und Beratung erklären; keine Daten löschen oder verändern.</a:t>
            </a:r>
          </a:p>
        </p:txBody>
      </p:sp>
      <p:sp>
        <p:nvSpPr>
          <p:cNvPr id="28" name="">
            <a:extLst xmlns:a="http://schemas.openxmlformats.org/drawingml/2006/main">
              <a:ext uri="{FF2B5EF4-FFF2-40B4-BE49-F238E27FC236}">
                <a16:creationId xmlns:a16="http://schemas.microsoft.com/office/drawing/2014/main" id="{3D03F6BF-9F1E-4AE8-A088-765A9CC41DA2}"/>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9" name="">
            <a:extLst xmlns:a="http://schemas.openxmlformats.org/drawingml/2006/main">
              <a:ext uri="{FF2B5EF4-FFF2-40B4-BE49-F238E27FC236}">
                <a16:creationId xmlns:a16="http://schemas.microsoft.com/office/drawing/2014/main" id="{7A6EBFC3-3FB3-49D9-A11C-79042CB2CF40}"/>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Ziel ist rechtmäßige, nachvollziehbare Durchführung bei fortbestehendem Geheimnis- und Verteidigungsschutz.</a:t>
            </a:r>
          </a:p>
        </p:txBody>
      </p:sp>
    </p:spTree>
    <p:extLst>
      <p:ext uri="{BB962C8B-B14F-4D97-AF65-F5344CB8AC3E}">
        <p14:creationId xmlns:p14="http://schemas.microsoft.com/office/powerpoint/2010/main" val="43637646"/>
      </p:ext>
    </p:extLst>
  </p:cSld>
</p:sld>
</file>

<file path=ppt/slides/slide250.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Ermittlungsmaßnahmen und Gutachten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DDDC3627-C9CA-43EB-9A0E-5E49AE5F71D6}"/>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Die Staatsanwaltschaft darf belastende und entlastende Umstände ermitteln und medizinische Sachkunde beiziehen.</a:t>
            </a:r>
          </a:p>
        </p:txBody>
      </p:sp>
      <p:sp>
        <p:nvSpPr>
          <p:cNvPr id="5" name="">
            <a:extLst xmlns:a="http://schemas.openxmlformats.org/drawingml/2006/main">
              <a:ext uri="{FF2B5EF4-FFF2-40B4-BE49-F238E27FC236}">
                <a16:creationId xmlns:a16="http://schemas.microsoft.com/office/drawing/2014/main" id="{2BA70481-9CF3-4E63-B771-5BBD1C8AAA79}"/>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F695A364-52B4-4316-861E-85ED7852E3BA}"/>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75AD8C27-64C4-4C96-B977-A0A17BC8DB2C}"/>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Akten und Daten</a:t>
            </a:r>
          </a:p>
        </p:txBody>
      </p:sp>
      <p:sp>
        <p:nvSpPr>
          <p:cNvPr id="8" name="">
            <a:extLst xmlns:a="http://schemas.openxmlformats.org/drawingml/2006/main">
              <a:ext uri="{FF2B5EF4-FFF2-40B4-BE49-F238E27FC236}">
                <a16:creationId xmlns:a16="http://schemas.microsoft.com/office/drawing/2014/main" id="{9C8A7E7F-B7AA-41A5-9576-20AE4249654D}"/>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Behandlungsunterlagen, Dienstpläne, Kommunikation und technische Daten können als Beweismittel relevant werden.</a:t>
            </a:r>
          </a:p>
        </p:txBody>
      </p:sp>
      <p:sp>
        <p:nvSpPr>
          <p:cNvPr id="9" name="">
            <a:extLst xmlns:a="http://schemas.openxmlformats.org/drawingml/2006/main">
              <a:ext uri="{FF2B5EF4-FFF2-40B4-BE49-F238E27FC236}">
                <a16:creationId xmlns:a16="http://schemas.microsoft.com/office/drawing/2014/main" id="{D77B4D92-7CDF-416D-B781-0B2644966813}"/>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0D1B536B-0EEB-4796-9E38-91C2C7A5F540}"/>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299AEFEE-AA57-4783-B13B-95760134EFDF}"/>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Vernehmungen</a:t>
            </a:r>
          </a:p>
        </p:txBody>
      </p:sp>
      <p:sp>
        <p:nvSpPr>
          <p:cNvPr id="12" name="">
            <a:extLst xmlns:a="http://schemas.openxmlformats.org/drawingml/2006/main">
              <a:ext uri="{FF2B5EF4-FFF2-40B4-BE49-F238E27FC236}">
                <a16:creationId xmlns:a16="http://schemas.microsoft.com/office/drawing/2014/main" id="{A1DB13FF-42CC-4190-A4C0-A21C91B2737D}"/>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Beschuldigte und Zeugen werden getrennt nach ihren Rechten belehrt und befragt.</a:t>
            </a:r>
          </a:p>
        </p:txBody>
      </p:sp>
      <p:sp>
        <p:nvSpPr>
          <p:cNvPr id="13" name="">
            <a:extLst xmlns:a="http://schemas.openxmlformats.org/drawingml/2006/main">
              <a:ext uri="{FF2B5EF4-FFF2-40B4-BE49-F238E27FC236}">
                <a16:creationId xmlns:a16="http://schemas.microsoft.com/office/drawing/2014/main" id="{570C313C-EA63-4690-8089-677E34A0241A}"/>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E62833A3-D5D6-4193-BAA1-A4913B15DD4A}"/>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ADE49634-7AA1-42DC-8D81-E6F30F209B05}"/>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Sachverständige</a:t>
            </a:r>
          </a:p>
        </p:txBody>
      </p:sp>
      <p:sp>
        <p:nvSpPr>
          <p:cNvPr id="16" name="">
            <a:extLst xmlns:a="http://schemas.openxmlformats.org/drawingml/2006/main">
              <a:ext uri="{FF2B5EF4-FFF2-40B4-BE49-F238E27FC236}">
                <a16:creationId xmlns:a16="http://schemas.microsoft.com/office/drawing/2014/main" id="{31D8F45E-B60B-470E-B8CA-47978BA871E6}"/>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Sie bewerten Standard, Kausalität und individuelle Handlungsmöglichkeiten; strafrechtliche Beweismaßstäbe bleiben Aufgabe von Staatsanwaltschaft und Gericht.</a:t>
            </a:r>
          </a:p>
        </p:txBody>
      </p:sp>
      <p:sp>
        <p:nvSpPr>
          <p:cNvPr id="17" name="">
            <a:extLst xmlns:a="http://schemas.openxmlformats.org/drawingml/2006/main">
              <a:ext uri="{FF2B5EF4-FFF2-40B4-BE49-F238E27FC236}">
                <a16:creationId xmlns:a16="http://schemas.microsoft.com/office/drawing/2014/main" id="{EE4DCF8A-06C3-4274-B3C8-BBAEA9125819}"/>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8BB24288-43F4-4E2D-9642-64EBC830C1B7}"/>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D6F0989B-E3D8-4750-81E7-A9C5D5438C73}"/>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Entlastendes Material</a:t>
            </a:r>
          </a:p>
        </p:txBody>
      </p:sp>
      <p:sp>
        <p:nvSpPr>
          <p:cNvPr id="20" name="">
            <a:extLst xmlns:a="http://schemas.openxmlformats.org/drawingml/2006/main">
              <a:ext uri="{FF2B5EF4-FFF2-40B4-BE49-F238E27FC236}">
                <a16:creationId xmlns:a16="http://schemas.microsoft.com/office/drawing/2014/main" id="{CCD16E23-AD05-4423-9A2C-A9EA07F19942}"/>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Die Verteidigung benennt aktiv alternative Tatsachen, Kontext, Systemevidenz und fachliche Gegenargumente.</a:t>
            </a:r>
          </a:p>
        </p:txBody>
      </p:sp>
      <p:sp>
        <p:nvSpPr>
          <p:cNvPr id="21" name="">
            <a:extLst xmlns:a="http://schemas.openxmlformats.org/drawingml/2006/main">
              <a:ext uri="{FF2B5EF4-FFF2-40B4-BE49-F238E27FC236}">
                <a16:creationId xmlns:a16="http://schemas.microsoft.com/office/drawing/2014/main" id="{ABDA3065-C525-4074-8356-E4FE2080AD83}"/>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199DFEE6-FFBD-46B6-B3A7-44D0E5FE6E95}"/>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Strafrechtliche Aufklärung muss nicht nur den Fehler, sondern persönliche Zurechnung und Schuld beweisen.</a:t>
            </a:r>
          </a:p>
        </p:txBody>
      </p:sp>
    </p:spTree>
    <p:extLst>
      <p:ext uri="{BB962C8B-B14F-4D97-AF65-F5344CB8AC3E}">
        <p14:creationId xmlns:p14="http://schemas.microsoft.com/office/powerpoint/2010/main" val="43637646"/>
      </p:ext>
    </p:extLst>
  </p:cSld>
</p:sld>
</file>

<file path=ppt/slides/slide251.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Einstellungsmöglichkeiten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349B643C-C90B-4779-8244-BD53DD368FBE}"/>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Nicht jedes Ermittlungsverfahren endet mit Anklage oder Urteil.</a:t>
            </a:r>
          </a:p>
        </p:txBody>
      </p:sp>
      <p:sp>
        <p:nvSpPr>
          <p:cNvPr id="5" name="">
            <a:extLst xmlns:a="http://schemas.openxmlformats.org/drawingml/2006/main">
              <a:ext uri="{FF2B5EF4-FFF2-40B4-BE49-F238E27FC236}">
                <a16:creationId xmlns:a16="http://schemas.microsoft.com/office/drawing/2014/main" id="{8937855B-63A4-4DFD-8966-8FEB2163798C}"/>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55DF7AAB-7074-4AAB-9CDF-127EADA06C74}"/>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F40F9225-F0A1-48C3-AF9D-79E568143092}"/>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 170 Abs. 2 StPO</a:t>
            </a:r>
          </a:p>
        </p:txBody>
      </p:sp>
      <p:sp>
        <p:nvSpPr>
          <p:cNvPr id="8" name="">
            <a:extLst xmlns:a="http://schemas.openxmlformats.org/drawingml/2006/main">
              <a:ext uri="{FF2B5EF4-FFF2-40B4-BE49-F238E27FC236}">
                <a16:creationId xmlns:a16="http://schemas.microsoft.com/office/drawing/2014/main" id="{E1CA6C47-87F2-45E3-9C45-4D9402E2A45A}"/>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Reichen die Ermittlungen für eine Anklage nicht aus, stellt die Staatsanwaltschaft mangels hinreichenden Tatverdachts ein.</a:t>
            </a:r>
          </a:p>
        </p:txBody>
      </p:sp>
      <p:sp>
        <p:nvSpPr>
          <p:cNvPr id="9" name="">
            <a:extLst xmlns:a="http://schemas.openxmlformats.org/drawingml/2006/main">
              <a:ext uri="{FF2B5EF4-FFF2-40B4-BE49-F238E27FC236}">
                <a16:creationId xmlns:a16="http://schemas.microsoft.com/office/drawing/2014/main" id="{67D1B71C-38E9-4D95-9376-78A185783E69}"/>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77C9037A-EA4D-49E2-85E4-189800F3C80D}"/>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D22AD8B7-0904-4C88-BC91-BFAE6FD96CD2}"/>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 153 StPO</a:t>
            </a:r>
          </a:p>
        </p:txBody>
      </p:sp>
      <p:sp>
        <p:nvSpPr>
          <p:cNvPr id="12" name="">
            <a:extLst xmlns:a="http://schemas.openxmlformats.org/drawingml/2006/main">
              <a:ext uri="{FF2B5EF4-FFF2-40B4-BE49-F238E27FC236}">
                <a16:creationId xmlns:a16="http://schemas.microsoft.com/office/drawing/2014/main" id="{C8EA10E1-D426-4523-B811-0867D19BBC84}"/>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Bei geringer Schuld und fehlendem öffentlichen Interesse kann unter Voraussetzungen von Verfolgung abgesehen werden.</a:t>
            </a:r>
          </a:p>
        </p:txBody>
      </p:sp>
      <p:sp>
        <p:nvSpPr>
          <p:cNvPr id="13" name="">
            <a:extLst xmlns:a="http://schemas.openxmlformats.org/drawingml/2006/main">
              <a:ext uri="{FF2B5EF4-FFF2-40B4-BE49-F238E27FC236}">
                <a16:creationId xmlns:a16="http://schemas.microsoft.com/office/drawing/2014/main" id="{9A5580DD-A36A-4EB2-830A-28E2E2D83109}"/>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005AE87B-0AAC-4503-BDEC-34736FC31058}"/>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E832A14C-2FDB-4DAF-9A86-DB8DDD15648D}"/>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 153a StPO</a:t>
            </a:r>
          </a:p>
        </p:txBody>
      </p:sp>
      <p:sp>
        <p:nvSpPr>
          <p:cNvPr id="16" name="">
            <a:extLst xmlns:a="http://schemas.openxmlformats.org/drawingml/2006/main">
              <a:ext uri="{FF2B5EF4-FFF2-40B4-BE49-F238E27FC236}">
                <a16:creationId xmlns:a16="http://schemas.microsoft.com/office/drawing/2014/main" id="{EF06AE71-1690-4499-ABCA-1C2DB368FEC1}"/>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Mit Zustimmung können Auflagen oder Weisungen eine vorläufige Einstellung ermöglichen; Erfüllung hat verfahrensbeendende Wirkung im gesetzlichen Umfang.</a:t>
            </a:r>
          </a:p>
        </p:txBody>
      </p:sp>
      <p:sp>
        <p:nvSpPr>
          <p:cNvPr id="17" name="">
            <a:extLst xmlns:a="http://schemas.openxmlformats.org/drawingml/2006/main">
              <a:ext uri="{FF2B5EF4-FFF2-40B4-BE49-F238E27FC236}">
                <a16:creationId xmlns:a16="http://schemas.microsoft.com/office/drawing/2014/main" id="{367BDEA0-36CF-4062-95FE-AC0E771E2B00}"/>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B569C9C1-E484-4E9C-97A9-EE115EC269E5}"/>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3401EC69-4717-4102-989D-C0E2A07790D8}"/>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Bedeutung</a:t>
            </a:r>
          </a:p>
        </p:txBody>
      </p:sp>
      <p:sp>
        <p:nvSpPr>
          <p:cNvPr id="20" name="">
            <a:extLst xmlns:a="http://schemas.openxmlformats.org/drawingml/2006/main">
              <a:ext uri="{FF2B5EF4-FFF2-40B4-BE49-F238E27FC236}">
                <a16:creationId xmlns:a16="http://schemas.microsoft.com/office/drawing/2014/main" id="{0AC8A80A-6CCC-44E9-B0B4-BE0BCF2D6A64}"/>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Eine Einstellung kann unterschiedliche Gründe haben und ist nicht stets eine positive Feststellung fehlerfreien Verhaltens.</a:t>
            </a:r>
          </a:p>
        </p:txBody>
      </p:sp>
      <p:sp>
        <p:nvSpPr>
          <p:cNvPr id="21" name="">
            <a:extLst xmlns:a="http://schemas.openxmlformats.org/drawingml/2006/main">
              <a:ext uri="{FF2B5EF4-FFF2-40B4-BE49-F238E27FC236}">
                <a16:creationId xmlns:a16="http://schemas.microsoft.com/office/drawing/2014/main" id="{8EAE97AF-152B-48B5-83D2-BA8C21878C98}"/>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A480D27B-F530-467E-9A16-017A31B140F2}"/>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Der Einstellungsgrund wird genau gelesen; er bestimmt Aussagekraft und mögliche Folgefragen.</a:t>
            </a:r>
          </a:p>
        </p:txBody>
      </p:sp>
    </p:spTree>
    <p:extLst>
      <p:ext uri="{BB962C8B-B14F-4D97-AF65-F5344CB8AC3E}">
        <p14:creationId xmlns:p14="http://schemas.microsoft.com/office/powerpoint/2010/main" val="43637646"/>
      </p:ext>
    </p:extLst>
  </p:cSld>
</p:sld>
</file>

<file path=ppt/slides/slide252.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Anklage und Zwischenverfahren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9F83C9A5-F860-4B05-AEF6-5F55C3CF9AC9}"/>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Bei hinreichendem Tatverdacht erhebt die Staatsanwaltschaft Anklage; das Gericht prüft die Eröffnung.</a:t>
            </a:r>
          </a:p>
        </p:txBody>
      </p:sp>
      <p:sp>
        <p:nvSpPr>
          <p:cNvPr id="5" name="">
            <a:extLst xmlns:a="http://schemas.openxmlformats.org/drawingml/2006/main">
              <a:ext uri="{FF2B5EF4-FFF2-40B4-BE49-F238E27FC236}">
                <a16:creationId xmlns:a16="http://schemas.microsoft.com/office/drawing/2014/main" id="{348E65C1-5B4B-4528-93B0-C1009F961D3C}"/>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602B3C60-9E84-4F0D-9AF8-1BD1E667A96D}"/>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B7CD77E6-0B8F-476B-9CC3-41A4CB7EED5D}"/>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Anklagesatz</a:t>
            </a:r>
          </a:p>
        </p:txBody>
      </p:sp>
      <p:sp>
        <p:nvSpPr>
          <p:cNvPr id="8" name="">
            <a:extLst xmlns:a="http://schemas.openxmlformats.org/drawingml/2006/main">
              <a:ext uri="{FF2B5EF4-FFF2-40B4-BE49-F238E27FC236}">
                <a16:creationId xmlns:a16="http://schemas.microsoft.com/office/drawing/2014/main" id="{82502F5F-888B-40E2-AABE-5C50B9B0AE1E}"/>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Er bezeichnet Person, Tat, Zeit, Ort, gesetzliche Merkmale und anzuwendende Strafvorschriften.</a:t>
            </a:r>
          </a:p>
        </p:txBody>
      </p:sp>
      <p:sp>
        <p:nvSpPr>
          <p:cNvPr id="9" name="">
            <a:extLst xmlns:a="http://schemas.openxmlformats.org/drawingml/2006/main">
              <a:ext uri="{FF2B5EF4-FFF2-40B4-BE49-F238E27FC236}">
                <a16:creationId xmlns:a16="http://schemas.microsoft.com/office/drawing/2014/main" id="{60E0EA43-7BC3-4BC9-AFBF-3B6ED6C6A572}"/>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47E4B332-7661-4322-BC13-62F0BE8406E0}"/>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594C2B5D-3E19-4246-BD31-6AEA3B2D21FB}"/>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Beweismittel</a:t>
            </a:r>
          </a:p>
        </p:txBody>
      </p:sp>
      <p:sp>
        <p:nvSpPr>
          <p:cNvPr id="12" name="">
            <a:extLst xmlns:a="http://schemas.openxmlformats.org/drawingml/2006/main">
              <a:ext uri="{FF2B5EF4-FFF2-40B4-BE49-F238E27FC236}">
                <a16:creationId xmlns:a16="http://schemas.microsoft.com/office/drawing/2014/main" id="{3FCC33B4-5286-484E-AA38-4B7D8E8BC330}"/>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Das wesentliche Ermittlungsergebnis und Beweismittel begründen die Prognose einer Verurteilung.</a:t>
            </a:r>
          </a:p>
        </p:txBody>
      </p:sp>
      <p:sp>
        <p:nvSpPr>
          <p:cNvPr id="13" name="">
            <a:extLst xmlns:a="http://schemas.openxmlformats.org/drawingml/2006/main">
              <a:ext uri="{FF2B5EF4-FFF2-40B4-BE49-F238E27FC236}">
                <a16:creationId xmlns:a16="http://schemas.microsoft.com/office/drawing/2014/main" id="{93D6E829-B909-4454-AD3C-3D8C97D92609}"/>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D35BE05D-A4B5-4EF3-A04A-13287B5C537A}"/>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ADFFA6DE-4DDF-4CEB-BE5E-4AB6CB14AAE8}"/>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Stellungnahme</a:t>
            </a:r>
          </a:p>
        </p:txBody>
      </p:sp>
      <p:sp>
        <p:nvSpPr>
          <p:cNvPr id="16" name="">
            <a:extLst xmlns:a="http://schemas.openxmlformats.org/drawingml/2006/main">
              <a:ext uri="{FF2B5EF4-FFF2-40B4-BE49-F238E27FC236}">
                <a16:creationId xmlns:a16="http://schemas.microsoft.com/office/drawing/2014/main" id="{0255755D-98FF-4E17-86E8-A1AC2154D26C}"/>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Die angeschuldigte Person kann Einwendungen und Beweisanträge vorbringen.</a:t>
            </a:r>
          </a:p>
        </p:txBody>
      </p:sp>
      <p:sp>
        <p:nvSpPr>
          <p:cNvPr id="17" name="">
            <a:extLst xmlns:a="http://schemas.openxmlformats.org/drawingml/2006/main">
              <a:ext uri="{FF2B5EF4-FFF2-40B4-BE49-F238E27FC236}">
                <a16:creationId xmlns:a16="http://schemas.microsoft.com/office/drawing/2014/main" id="{1F0B5078-0536-40BB-891B-395EF18EF428}"/>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32E91EEA-6202-45A2-9E02-084498805E49}"/>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709773F3-3723-4DC4-AD4B-B3B23C4EAB61}"/>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Eröffnungsbeschluss</a:t>
            </a:r>
          </a:p>
        </p:txBody>
      </p:sp>
      <p:sp>
        <p:nvSpPr>
          <p:cNvPr id="20" name="">
            <a:extLst xmlns:a="http://schemas.openxmlformats.org/drawingml/2006/main">
              <a:ext uri="{FF2B5EF4-FFF2-40B4-BE49-F238E27FC236}">
                <a16:creationId xmlns:a16="http://schemas.microsoft.com/office/drawing/2014/main" id="{D1ACB4BB-8F7F-4EEE-9333-07B07CE2B2D5}"/>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Das Gericht eröffnet, wenn hinreichender Tatverdacht besteht; damit ist noch keine Schuld entschieden.</a:t>
            </a:r>
          </a:p>
        </p:txBody>
      </p:sp>
      <p:sp>
        <p:nvSpPr>
          <p:cNvPr id="21" name="">
            <a:extLst xmlns:a="http://schemas.openxmlformats.org/drawingml/2006/main">
              <a:ext uri="{FF2B5EF4-FFF2-40B4-BE49-F238E27FC236}">
                <a16:creationId xmlns:a16="http://schemas.microsoft.com/office/drawing/2014/main" id="{F94CA8C9-6920-4BCF-8FAC-E8B8000DE793}"/>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3D7E2140-E018-4FA5-8C2B-5AF6C440C5C8}"/>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Zwischenverfahren ist die gerichtliche Filterstufe zwischen Ermittlungen und öffentlicher Hauptverhandlung.</a:t>
            </a:r>
          </a:p>
        </p:txBody>
      </p:sp>
    </p:spTree>
    <p:extLst>
      <p:ext uri="{BB962C8B-B14F-4D97-AF65-F5344CB8AC3E}">
        <p14:creationId xmlns:p14="http://schemas.microsoft.com/office/powerpoint/2010/main" val="43637646"/>
      </p:ext>
    </p:extLst>
  </p:cSld>
</p:sld>
</file>

<file path=ppt/slides/slide253.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Hauptverhandlung Schritt für Schritt</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VERFAHREN VERSTEHEN</a:t>
            </a:r>
            <a:endParaRPr/>
          </a:p>
        </p:txBody>
      </p:sp>
      <p:sp>
        <p:nvSpPr>
          <p:cNvPr id="4" name="">
            <a:extLst xmlns:a="http://schemas.openxmlformats.org/drawingml/2006/main">
              <a:ext uri="{FF2B5EF4-FFF2-40B4-BE49-F238E27FC236}">
                <a16:creationId xmlns:a16="http://schemas.microsoft.com/office/drawing/2014/main" id="{BDB414C7-8D4F-4787-B38C-19A254194568}"/>
              </a:ext>
            </a:extLst>
          </p:cNvPr>
          <p:cNvSpPr>
            <a:spLocks xmlns:a="http://schemas.openxmlformats.org/drawingml/2006/main" noGrp="1"/>
          </p:cNvSpPr>
          <p:nvPr/>
        </p:nvSpPr>
        <p:spPr>
          <a:xfrm xmlns:a="http://schemas.openxmlformats.org/drawingml/2006/main">
            <a:off x="1809750" y="1885950"/>
            <a:ext cx="9525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15">
                <a:solidFill>
                  <a:srgbClr val="667680"/>
                </a:solidFill>
              </a:defRPr>
            </a:pPr>
            <a:r>
              <a:rPr sz="1215">
                <a:solidFill>
                  <a:srgbClr val="667680"/>
                </a:solidFill>
              </a:rPr>
              <a:t>Die Hauptverhandlung folgt einem gesetzlich geordneten Ablauf und dem Unmittelbarkeitsprinzip.</a:t>
            </a:r>
          </a:p>
        </p:txBody>
      </p:sp>
      <p:sp>
        <p:nvSpPr>
          <p:cNvPr id="5" name="">
            <a:extLst xmlns:a="http://schemas.openxmlformats.org/drawingml/2006/main">
              <a:ext uri="{FF2B5EF4-FFF2-40B4-BE49-F238E27FC236}">
                <a16:creationId xmlns:a16="http://schemas.microsoft.com/office/drawing/2014/main" id="{27C8A07A-CF1E-4C66-8142-D8386677B68E}"/>
              </a:ext>
            </a:extLst>
          </p:cNvPr>
          <p:cNvSpPr>
            <a:spLocks xmlns:a="http://schemas.openxmlformats.org/drawingml/2006/main" noGrp="1"/>
          </p:cNvSpPr>
          <p:nvPr/>
        </p:nvSpPr>
        <p:spPr>
          <a:xfrm xmlns:a="http://schemas.openxmlformats.org/drawingml/2006/main">
            <a:off x="1981200" y="2952750"/>
            <a:ext cx="9182100" cy="0"/>
          </a:xfrm>
          <a:prstGeom xmlns:a="http://schemas.openxmlformats.org/drawingml/2006/main" prst="line">
            <a:avLst/>
          </a:prstGeom>
          <a:noFill xmlns:a="http://schemas.openxmlformats.org/drawingml/2006/main"/>
          <a:ln xmlns:a="http://schemas.openxmlformats.org/drawingml/2006/main" w="28575">
            <a:solidFill>
              <a:srgbClr val="B9CAD2"/>
            </a:solidFill>
            <a:prstDash val="solid"/>
          </a:ln>
        </p:spPr>
      </p:sp>
      <p:sp>
        <p:nvSpPr>
          <p:cNvPr id="6" name="">
            <a:extLst xmlns:a="http://schemas.openxmlformats.org/drawingml/2006/main">
              <a:ext uri="{FF2B5EF4-FFF2-40B4-BE49-F238E27FC236}">
                <a16:creationId xmlns:a16="http://schemas.microsoft.com/office/drawing/2014/main" id="{6F397CF0-D011-49B8-8F7A-D691B84065DA}"/>
              </a:ext>
            </a:extLst>
          </p:cNvPr>
          <p:cNvSpPr>
            <a:spLocks xmlns:a="http://schemas.openxmlformats.org/drawingml/2006/main" noGrp="1"/>
          </p:cNvSpPr>
          <p:nvPr/>
        </p:nvSpPr>
        <p:spPr>
          <a:xfrm xmlns:a="http://schemas.openxmlformats.org/drawingml/2006/main">
            <a:off x="1809750" y="2495550"/>
            <a:ext cx="1828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Aufruf und Personalien</a:t>
            </a:r>
          </a:p>
        </p:txBody>
      </p:sp>
      <p:sp>
        <p:nvSpPr>
          <p:cNvPr id="7" name="">
            <a:extLst xmlns:a="http://schemas.openxmlformats.org/drawingml/2006/main">
              <a:ext uri="{FF2B5EF4-FFF2-40B4-BE49-F238E27FC236}">
                <a16:creationId xmlns:a16="http://schemas.microsoft.com/office/drawing/2014/main" id="{7DF5A2A6-CB59-430B-9F16-F240FD06C5FE}"/>
              </a:ext>
            </a:extLst>
          </p:cNvPr>
          <p:cNvSpPr>
            <a:spLocks xmlns:a="http://schemas.openxmlformats.org/drawingml/2006/main" noGrp="1"/>
          </p:cNvSpPr>
          <p:nvPr/>
        </p:nvSpPr>
        <p:spPr>
          <a:xfrm xmlns:a="http://schemas.openxmlformats.org/drawingml/2006/main">
            <a:off x="2600325" y="2838450"/>
            <a:ext cx="247650" cy="247650"/>
          </a:xfrm>
          <a:prstGeom xmlns:a="http://schemas.openxmlformats.org/drawingml/2006/main" prst="ellipse">
            <a:avLst/>
          </a:prstGeom>
          <a:solidFill xmlns:a="http://schemas.openxmlformats.org/drawingml/2006/main">
            <a:srgbClr val="003F6B"/>
          </a:solidFill>
          <a:ln xmlns:a="http://schemas.openxmlformats.org/drawingml/2006/main" w="19050">
            <a:solidFill>
              <a:srgbClr val="FFFFFF"/>
            </a:solidFill>
            <a:prstDash val="solid"/>
          </a:ln>
        </p:spPr>
      </p:sp>
      <p:sp>
        <p:nvSpPr>
          <p:cNvPr id="8" name="">
            <a:extLst xmlns:a="http://schemas.openxmlformats.org/drawingml/2006/main">
              <a:ext uri="{FF2B5EF4-FFF2-40B4-BE49-F238E27FC236}">
                <a16:creationId xmlns:a16="http://schemas.microsoft.com/office/drawing/2014/main" id="{F89DE89B-C72C-4D63-9392-40660D60229B}"/>
              </a:ext>
            </a:extLst>
          </p:cNvPr>
          <p:cNvSpPr>
            <a:spLocks xmlns:a="http://schemas.openxmlformats.org/drawingml/2006/main" noGrp="1"/>
          </p:cNvSpPr>
          <p:nvPr/>
        </p:nvSpPr>
        <p:spPr>
          <a:xfrm xmlns:a="http://schemas.openxmlformats.org/drawingml/2006/main">
            <a:off x="1809750" y="3219450"/>
            <a:ext cx="1828800" cy="2000250"/>
          </a:xfrm>
          <a:prstGeom xmlns:a="http://schemas.openxmlformats.org/drawingml/2006/main" prst="roundRect">
            <a:avLst>
              <a:gd name="adj" fmla="val 4167"/>
            </a:avLst>
          </a:prstGeom>
          <a:noFill xmlns:a="http://schemas.openxmlformats.org/drawingml/2006/main"/>
          <a:ln xmlns:a="http://schemas.openxmlformats.org/drawingml/2006/main" w="9525">
            <a:solidFill>
              <a:srgbClr val="00B2BB"/>
            </a:solidFill>
            <a:prstDash val="solid"/>
          </a:ln>
        </p:spPr>
      </p:sp>
      <p:sp>
        <p:nvSpPr>
          <p:cNvPr id="9" name="">
            <a:extLst xmlns:a="http://schemas.openxmlformats.org/drawingml/2006/main">
              <a:ext uri="{FF2B5EF4-FFF2-40B4-BE49-F238E27FC236}">
                <a16:creationId xmlns:a16="http://schemas.microsoft.com/office/drawing/2014/main" id="{0B71982A-D351-48D5-BCF4-C0B731E457DE}"/>
              </a:ext>
            </a:extLst>
          </p:cNvPr>
          <p:cNvSpPr>
            <a:spLocks xmlns:a="http://schemas.openxmlformats.org/drawingml/2006/main" noGrp="1"/>
          </p:cNvSpPr>
          <p:nvPr/>
        </p:nvSpPr>
        <p:spPr>
          <a:xfrm xmlns:a="http://schemas.openxmlformats.org/drawingml/2006/main">
            <a:off x="1905000" y="3314700"/>
            <a:ext cx="16383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Anwesenheit, Verteidigung und Verfahrensvoraussetzungen werden geklärt.</a:t>
            </a:r>
          </a:p>
        </p:txBody>
      </p:sp>
      <p:sp>
        <p:nvSpPr>
          <p:cNvPr id="10" name="">
            <a:extLst xmlns:a="http://schemas.openxmlformats.org/drawingml/2006/main">
              <a:ext uri="{FF2B5EF4-FFF2-40B4-BE49-F238E27FC236}">
                <a16:creationId xmlns:a16="http://schemas.microsoft.com/office/drawing/2014/main" id="{C86C6961-ECF1-4808-B1FF-4E95AA650FBB}"/>
              </a:ext>
            </a:extLst>
          </p:cNvPr>
          <p:cNvSpPr>
            <a:spLocks xmlns:a="http://schemas.openxmlformats.org/drawingml/2006/main" noGrp="1"/>
          </p:cNvSpPr>
          <p:nvPr/>
        </p:nvSpPr>
        <p:spPr>
          <a:xfrm xmlns:a="http://schemas.openxmlformats.org/drawingml/2006/main">
            <a:off x="3733800" y="2495550"/>
            <a:ext cx="1828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Anklage und Belehrung</a:t>
            </a:r>
          </a:p>
        </p:txBody>
      </p:sp>
      <p:sp>
        <p:nvSpPr>
          <p:cNvPr id="11" name="">
            <a:extLst xmlns:a="http://schemas.openxmlformats.org/drawingml/2006/main">
              <a:ext uri="{FF2B5EF4-FFF2-40B4-BE49-F238E27FC236}">
                <a16:creationId xmlns:a16="http://schemas.microsoft.com/office/drawing/2014/main" id="{9CE2A34E-8B00-4E59-BAB5-1501C0CF5A30}"/>
              </a:ext>
            </a:extLst>
          </p:cNvPr>
          <p:cNvSpPr>
            <a:spLocks xmlns:a="http://schemas.openxmlformats.org/drawingml/2006/main" noGrp="1"/>
          </p:cNvSpPr>
          <p:nvPr/>
        </p:nvSpPr>
        <p:spPr>
          <a:xfrm xmlns:a="http://schemas.openxmlformats.org/drawingml/2006/main">
            <a:off x="4524375" y="2838450"/>
            <a:ext cx="247650" cy="24765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12" name="">
            <a:extLst xmlns:a="http://schemas.openxmlformats.org/drawingml/2006/main">
              <a:ext uri="{FF2B5EF4-FFF2-40B4-BE49-F238E27FC236}">
                <a16:creationId xmlns:a16="http://schemas.microsoft.com/office/drawing/2014/main" id="{5D3D34BD-B19A-4353-A7B9-A197BBA80A5B}"/>
              </a:ext>
            </a:extLst>
          </p:cNvPr>
          <p:cNvSpPr>
            <a:spLocks xmlns:a="http://schemas.openxmlformats.org/drawingml/2006/main" noGrp="1"/>
          </p:cNvSpPr>
          <p:nvPr/>
        </p:nvSpPr>
        <p:spPr>
          <a:xfrm xmlns:a="http://schemas.openxmlformats.org/drawingml/2006/main">
            <a:off x="3733800" y="3219450"/>
            <a:ext cx="1828800" cy="2000250"/>
          </a:xfrm>
          <a:prstGeom xmlns:a="http://schemas.openxmlformats.org/drawingml/2006/main" prst="roundRect">
            <a:avLst>
              <a:gd name="adj" fmla="val 4167"/>
            </a:avLst>
          </a:prstGeom>
          <a:noFill xmlns:a="http://schemas.openxmlformats.org/drawingml/2006/main"/>
          <a:ln xmlns:a="http://schemas.openxmlformats.org/drawingml/2006/main" w="9525">
            <a:solidFill>
              <a:srgbClr val="003F6B"/>
            </a:solidFill>
            <a:prstDash val="solid"/>
          </a:ln>
        </p:spPr>
      </p:sp>
      <p:sp>
        <p:nvSpPr>
          <p:cNvPr id="13" name="">
            <a:extLst xmlns:a="http://schemas.openxmlformats.org/drawingml/2006/main">
              <a:ext uri="{FF2B5EF4-FFF2-40B4-BE49-F238E27FC236}">
                <a16:creationId xmlns:a16="http://schemas.microsoft.com/office/drawing/2014/main" id="{85D1BB83-7145-4CA6-B304-59E1E0CC3FBF}"/>
              </a:ext>
            </a:extLst>
          </p:cNvPr>
          <p:cNvSpPr>
            <a:spLocks xmlns:a="http://schemas.openxmlformats.org/drawingml/2006/main" noGrp="1"/>
          </p:cNvSpPr>
          <p:nvPr/>
        </p:nvSpPr>
        <p:spPr>
          <a:xfrm xmlns:a="http://schemas.openxmlformats.org/drawingml/2006/main">
            <a:off x="3829050" y="3314700"/>
            <a:ext cx="16383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Der Anklagesatz wird verlesen; die angeklagte Person wird über ihr Aussageverhalten befragt.</a:t>
            </a:r>
          </a:p>
        </p:txBody>
      </p:sp>
      <p:sp>
        <p:nvSpPr>
          <p:cNvPr id="14" name="">
            <a:extLst xmlns:a="http://schemas.openxmlformats.org/drawingml/2006/main">
              <a:ext uri="{FF2B5EF4-FFF2-40B4-BE49-F238E27FC236}">
                <a16:creationId xmlns:a16="http://schemas.microsoft.com/office/drawing/2014/main" id="{0987A25E-B6CC-4B89-8ACB-CA07D360F9E7}"/>
              </a:ext>
            </a:extLst>
          </p:cNvPr>
          <p:cNvSpPr>
            <a:spLocks xmlns:a="http://schemas.openxmlformats.org/drawingml/2006/main" noGrp="1"/>
          </p:cNvSpPr>
          <p:nvPr/>
        </p:nvSpPr>
        <p:spPr>
          <a:xfrm xmlns:a="http://schemas.openxmlformats.org/drawingml/2006/main">
            <a:off x="5657850" y="2495550"/>
            <a:ext cx="1828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Beweisaufnahme</a:t>
            </a:r>
          </a:p>
        </p:txBody>
      </p:sp>
      <p:sp>
        <p:nvSpPr>
          <p:cNvPr id="15" name="">
            <a:extLst xmlns:a="http://schemas.openxmlformats.org/drawingml/2006/main">
              <a:ext uri="{FF2B5EF4-FFF2-40B4-BE49-F238E27FC236}">
                <a16:creationId xmlns:a16="http://schemas.microsoft.com/office/drawing/2014/main" id="{5EB738EA-1B1A-442E-8C97-6A8FEBF7EFF3}"/>
              </a:ext>
            </a:extLst>
          </p:cNvPr>
          <p:cNvSpPr>
            <a:spLocks xmlns:a="http://schemas.openxmlformats.org/drawingml/2006/main" noGrp="1"/>
          </p:cNvSpPr>
          <p:nvPr/>
        </p:nvSpPr>
        <p:spPr>
          <a:xfrm xmlns:a="http://schemas.openxmlformats.org/drawingml/2006/main">
            <a:off x="6448425" y="2838450"/>
            <a:ext cx="247650" cy="24765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16" name="">
            <a:extLst xmlns:a="http://schemas.openxmlformats.org/drawingml/2006/main">
              <a:ext uri="{FF2B5EF4-FFF2-40B4-BE49-F238E27FC236}">
                <a16:creationId xmlns:a16="http://schemas.microsoft.com/office/drawing/2014/main" id="{BF530A27-1782-4BDA-BE34-331E56C1BA96}"/>
              </a:ext>
            </a:extLst>
          </p:cNvPr>
          <p:cNvSpPr>
            <a:spLocks xmlns:a="http://schemas.openxmlformats.org/drawingml/2006/main" noGrp="1"/>
          </p:cNvSpPr>
          <p:nvPr/>
        </p:nvSpPr>
        <p:spPr>
          <a:xfrm xmlns:a="http://schemas.openxmlformats.org/drawingml/2006/main">
            <a:off x="5657850" y="3219450"/>
            <a:ext cx="1828800" cy="2000250"/>
          </a:xfrm>
          <a:prstGeom xmlns:a="http://schemas.openxmlformats.org/drawingml/2006/main" prst="roundRect">
            <a:avLst>
              <a:gd name="adj" fmla="val 4167"/>
            </a:avLst>
          </a:prstGeom>
          <a:noFill xmlns:a="http://schemas.openxmlformats.org/drawingml/2006/main"/>
          <a:ln xmlns:a="http://schemas.openxmlformats.org/drawingml/2006/main" w="9525">
            <a:solidFill>
              <a:srgbClr val="00B2BB"/>
            </a:solidFill>
            <a:prstDash val="solid"/>
          </a:ln>
        </p:spPr>
      </p:sp>
      <p:sp>
        <p:nvSpPr>
          <p:cNvPr id="17" name="">
            <a:extLst xmlns:a="http://schemas.openxmlformats.org/drawingml/2006/main">
              <a:ext uri="{FF2B5EF4-FFF2-40B4-BE49-F238E27FC236}">
                <a16:creationId xmlns:a16="http://schemas.microsoft.com/office/drawing/2014/main" id="{98FFD087-203B-4C43-AF04-3FBD6DDBFBF4}"/>
              </a:ext>
            </a:extLst>
          </p:cNvPr>
          <p:cNvSpPr>
            <a:spLocks xmlns:a="http://schemas.openxmlformats.org/drawingml/2006/main" noGrp="1"/>
          </p:cNvSpPr>
          <p:nvPr/>
        </p:nvSpPr>
        <p:spPr>
          <a:xfrm xmlns:a="http://schemas.openxmlformats.org/drawingml/2006/main">
            <a:off x="5753100" y="3314700"/>
            <a:ext cx="16383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Zeugen, Sachverständige, Urkunden und Augenschein werden grundsätzlich in der Verhandlung eingeführt.</a:t>
            </a:r>
          </a:p>
        </p:txBody>
      </p:sp>
      <p:sp>
        <p:nvSpPr>
          <p:cNvPr id="18" name="">
            <a:extLst xmlns:a="http://schemas.openxmlformats.org/drawingml/2006/main">
              <a:ext uri="{FF2B5EF4-FFF2-40B4-BE49-F238E27FC236}">
                <a16:creationId xmlns:a16="http://schemas.microsoft.com/office/drawing/2014/main" id="{237C1926-FAA6-46CE-9206-72946C309E56}"/>
              </a:ext>
            </a:extLst>
          </p:cNvPr>
          <p:cNvSpPr>
            <a:spLocks xmlns:a="http://schemas.openxmlformats.org/drawingml/2006/main" noGrp="1"/>
          </p:cNvSpPr>
          <p:nvPr/>
        </p:nvSpPr>
        <p:spPr>
          <a:xfrm xmlns:a="http://schemas.openxmlformats.org/drawingml/2006/main">
            <a:off x="7581900" y="2495550"/>
            <a:ext cx="1828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Schlussvorträge</a:t>
            </a:r>
          </a:p>
        </p:txBody>
      </p:sp>
      <p:sp>
        <p:nvSpPr>
          <p:cNvPr id="19" name="">
            <a:extLst xmlns:a="http://schemas.openxmlformats.org/drawingml/2006/main">
              <a:ext uri="{FF2B5EF4-FFF2-40B4-BE49-F238E27FC236}">
                <a16:creationId xmlns:a16="http://schemas.microsoft.com/office/drawing/2014/main" id="{7165AED5-4BFD-473A-85A2-74003A36FD13}"/>
              </a:ext>
            </a:extLst>
          </p:cNvPr>
          <p:cNvSpPr>
            <a:spLocks xmlns:a="http://schemas.openxmlformats.org/drawingml/2006/main" noGrp="1"/>
          </p:cNvSpPr>
          <p:nvPr/>
        </p:nvSpPr>
        <p:spPr>
          <a:xfrm xmlns:a="http://schemas.openxmlformats.org/drawingml/2006/main">
            <a:off x="8372475" y="2838450"/>
            <a:ext cx="247650" cy="24765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20" name="">
            <a:extLst xmlns:a="http://schemas.openxmlformats.org/drawingml/2006/main">
              <a:ext uri="{FF2B5EF4-FFF2-40B4-BE49-F238E27FC236}">
                <a16:creationId xmlns:a16="http://schemas.microsoft.com/office/drawing/2014/main" id="{24BF6404-719A-4ADE-B293-7DA069FB9AF0}"/>
              </a:ext>
            </a:extLst>
          </p:cNvPr>
          <p:cNvSpPr>
            <a:spLocks xmlns:a="http://schemas.openxmlformats.org/drawingml/2006/main" noGrp="1"/>
          </p:cNvSpPr>
          <p:nvPr/>
        </p:nvSpPr>
        <p:spPr>
          <a:xfrm xmlns:a="http://schemas.openxmlformats.org/drawingml/2006/main">
            <a:off x="7581900" y="3219450"/>
            <a:ext cx="1828800" cy="2000250"/>
          </a:xfrm>
          <a:prstGeom xmlns:a="http://schemas.openxmlformats.org/drawingml/2006/main" prst="roundRect">
            <a:avLst>
              <a:gd name="adj" fmla="val 4167"/>
            </a:avLst>
          </a:prstGeom>
          <a:noFill xmlns:a="http://schemas.openxmlformats.org/drawingml/2006/main"/>
          <a:ln xmlns:a="http://schemas.openxmlformats.org/drawingml/2006/main" w="9525">
            <a:solidFill>
              <a:srgbClr val="003F6B"/>
            </a:solidFill>
            <a:prstDash val="solid"/>
          </a:ln>
        </p:spPr>
      </p:sp>
      <p:sp>
        <p:nvSpPr>
          <p:cNvPr id="21" name="">
            <a:extLst xmlns:a="http://schemas.openxmlformats.org/drawingml/2006/main">
              <a:ext uri="{FF2B5EF4-FFF2-40B4-BE49-F238E27FC236}">
                <a16:creationId xmlns:a16="http://schemas.microsoft.com/office/drawing/2014/main" id="{C08C4F75-2E45-49A3-B7C1-5F65E3BC7962}"/>
              </a:ext>
            </a:extLst>
          </p:cNvPr>
          <p:cNvSpPr>
            <a:spLocks xmlns:a="http://schemas.openxmlformats.org/drawingml/2006/main" noGrp="1"/>
          </p:cNvSpPr>
          <p:nvPr/>
        </p:nvSpPr>
        <p:spPr>
          <a:xfrm xmlns:a="http://schemas.openxmlformats.org/drawingml/2006/main">
            <a:off x="7677150" y="3314700"/>
            <a:ext cx="16383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Staatsanwaltschaft, Nebenklage und Verteidigung würdigen Beweise und Recht; die angeklagte Person hat das letzte Wort.</a:t>
            </a:r>
          </a:p>
        </p:txBody>
      </p:sp>
      <p:sp>
        <p:nvSpPr>
          <p:cNvPr id="22" name="">
            <a:extLst xmlns:a="http://schemas.openxmlformats.org/drawingml/2006/main">
              <a:ext uri="{FF2B5EF4-FFF2-40B4-BE49-F238E27FC236}">
                <a16:creationId xmlns:a16="http://schemas.microsoft.com/office/drawing/2014/main" id="{3C22C1E5-2827-49FB-8790-41C0B66C0180}"/>
              </a:ext>
            </a:extLst>
          </p:cNvPr>
          <p:cNvSpPr>
            <a:spLocks xmlns:a="http://schemas.openxmlformats.org/drawingml/2006/main" noGrp="1"/>
          </p:cNvSpPr>
          <p:nvPr/>
        </p:nvSpPr>
        <p:spPr>
          <a:xfrm xmlns:a="http://schemas.openxmlformats.org/drawingml/2006/main">
            <a:off x="9505950" y="2495550"/>
            <a:ext cx="1828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Urteil</a:t>
            </a:r>
          </a:p>
        </p:txBody>
      </p:sp>
      <p:sp>
        <p:nvSpPr>
          <p:cNvPr id="23" name="">
            <a:extLst xmlns:a="http://schemas.openxmlformats.org/drawingml/2006/main">
              <a:ext uri="{FF2B5EF4-FFF2-40B4-BE49-F238E27FC236}">
                <a16:creationId xmlns:a16="http://schemas.microsoft.com/office/drawing/2014/main" id="{7024F0AC-4D61-40DE-8B97-0D870D3545CE}"/>
              </a:ext>
            </a:extLst>
          </p:cNvPr>
          <p:cNvSpPr>
            <a:spLocks xmlns:a="http://schemas.openxmlformats.org/drawingml/2006/main" noGrp="1"/>
          </p:cNvSpPr>
          <p:nvPr/>
        </p:nvSpPr>
        <p:spPr>
          <a:xfrm xmlns:a="http://schemas.openxmlformats.org/drawingml/2006/main">
            <a:off x="10296525" y="2838450"/>
            <a:ext cx="247650" cy="24765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24" name="">
            <a:extLst xmlns:a="http://schemas.openxmlformats.org/drawingml/2006/main">
              <a:ext uri="{FF2B5EF4-FFF2-40B4-BE49-F238E27FC236}">
                <a16:creationId xmlns:a16="http://schemas.microsoft.com/office/drawing/2014/main" id="{45373582-9D44-4C3C-BC35-6507F5880177}"/>
              </a:ext>
            </a:extLst>
          </p:cNvPr>
          <p:cNvSpPr>
            <a:spLocks xmlns:a="http://schemas.openxmlformats.org/drawingml/2006/main" noGrp="1"/>
          </p:cNvSpPr>
          <p:nvPr/>
        </p:nvSpPr>
        <p:spPr>
          <a:xfrm xmlns:a="http://schemas.openxmlformats.org/drawingml/2006/main">
            <a:off x="9505950" y="3219450"/>
            <a:ext cx="1828800" cy="2000250"/>
          </a:xfrm>
          <a:prstGeom xmlns:a="http://schemas.openxmlformats.org/drawingml/2006/main" prst="roundRect">
            <a:avLst>
              <a:gd name="adj" fmla="val 4167"/>
            </a:avLst>
          </a:prstGeom>
          <a:noFill xmlns:a="http://schemas.openxmlformats.org/drawingml/2006/main"/>
          <a:ln xmlns:a="http://schemas.openxmlformats.org/drawingml/2006/main" w="9525">
            <a:solidFill>
              <a:srgbClr val="00B2BB"/>
            </a:solidFill>
            <a:prstDash val="solid"/>
          </a:ln>
        </p:spPr>
      </p:sp>
      <p:sp>
        <p:nvSpPr>
          <p:cNvPr id="25" name="">
            <a:extLst xmlns:a="http://schemas.openxmlformats.org/drawingml/2006/main">
              <a:ext uri="{FF2B5EF4-FFF2-40B4-BE49-F238E27FC236}">
                <a16:creationId xmlns:a16="http://schemas.microsoft.com/office/drawing/2014/main" id="{A01DF7CB-D82D-43A8-96BA-067E2DFF9645}"/>
              </a:ext>
            </a:extLst>
          </p:cNvPr>
          <p:cNvSpPr>
            <a:spLocks xmlns:a="http://schemas.openxmlformats.org/drawingml/2006/main" noGrp="1"/>
          </p:cNvSpPr>
          <p:nvPr/>
        </p:nvSpPr>
        <p:spPr>
          <a:xfrm xmlns:a="http://schemas.openxmlformats.org/drawingml/2006/main">
            <a:off x="9601200" y="3314700"/>
            <a:ext cx="16383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Das Gericht entscheidet über Freispruch oder Verurteilung und begründet Tatfeststellung sowie Rechtsfolgen.</a:t>
            </a:r>
          </a:p>
        </p:txBody>
      </p:sp>
      <p:sp>
        <p:nvSpPr>
          <p:cNvPr id="26" name="">
            <a:extLst xmlns:a="http://schemas.openxmlformats.org/drawingml/2006/main">
              <a:ext uri="{FF2B5EF4-FFF2-40B4-BE49-F238E27FC236}">
                <a16:creationId xmlns:a16="http://schemas.microsoft.com/office/drawing/2014/main" id="{F901EA89-E404-441E-9C3E-4B06F2E9D43D}"/>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7" name="">
            <a:extLst xmlns:a="http://schemas.openxmlformats.org/drawingml/2006/main">
              <a:ext uri="{FF2B5EF4-FFF2-40B4-BE49-F238E27FC236}">
                <a16:creationId xmlns:a16="http://schemas.microsoft.com/office/drawing/2014/main" id="{31C3A39C-6155-498C-AEFC-5DA3A32193A5}"/>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Entscheidend ist das in der Hauptverhandlung verwertbar gewonnene Beweisergebnis.</a:t>
            </a:r>
          </a:p>
        </p:txBody>
      </p:sp>
    </p:spTree>
    <p:extLst>
      <p:ext uri="{BB962C8B-B14F-4D97-AF65-F5344CB8AC3E}">
        <p14:creationId xmlns:p14="http://schemas.microsoft.com/office/powerpoint/2010/main" val="43637646"/>
      </p:ext>
    </p:extLst>
  </p:cSld>
</p:sld>
</file>

<file path=ppt/slides/slide254.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Beweiswürdigung und Zweifelssatz</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7C18FEF2-BDBC-40A4-AB19-9CD7E7921CF6}"/>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Das Strafgericht würdigt Beweise frei, darf aber nur bei tragfähiger Überzeugung verurteilen.</a:t>
            </a:r>
          </a:p>
        </p:txBody>
      </p:sp>
      <p:sp>
        <p:nvSpPr>
          <p:cNvPr id="5" name="">
            <a:extLst xmlns:a="http://schemas.openxmlformats.org/drawingml/2006/main">
              <a:ext uri="{FF2B5EF4-FFF2-40B4-BE49-F238E27FC236}">
                <a16:creationId xmlns:a16="http://schemas.microsoft.com/office/drawing/2014/main" id="{C85F7BB3-DA94-4DE6-A779-525023F91726}"/>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2701E883-1369-4873-8447-0319ACAF1188}"/>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4C9EE4A4-081A-42BF-AE62-8E8A960F0640}"/>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Gesamtschau</a:t>
            </a:r>
          </a:p>
        </p:txBody>
      </p:sp>
      <p:sp>
        <p:nvSpPr>
          <p:cNvPr id="8" name="">
            <a:extLst xmlns:a="http://schemas.openxmlformats.org/drawingml/2006/main">
              <a:ext uri="{FF2B5EF4-FFF2-40B4-BE49-F238E27FC236}">
                <a16:creationId xmlns:a16="http://schemas.microsoft.com/office/drawing/2014/main" id="{E7F0EC99-19D9-4786-8D08-71119B90377E}"/>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Akte, Zeugen, Gutachten, objektive Daten und Einlassung werden widerspruchsfrei zusammengeführt.</a:t>
            </a:r>
          </a:p>
        </p:txBody>
      </p:sp>
      <p:sp>
        <p:nvSpPr>
          <p:cNvPr id="9" name="">
            <a:extLst xmlns:a="http://schemas.openxmlformats.org/drawingml/2006/main">
              <a:ext uri="{FF2B5EF4-FFF2-40B4-BE49-F238E27FC236}">
                <a16:creationId xmlns:a16="http://schemas.microsoft.com/office/drawing/2014/main" id="{33A8102F-9C56-4772-906D-F0F218B370D9}"/>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FEFD3537-FB7C-4CAD-92DA-E4FF940E3BBB}"/>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3A549EEF-E01E-4CBB-A205-86521D852BE0}"/>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Keine Beweislast des Beschuldigten</a:t>
            </a:r>
          </a:p>
        </p:txBody>
      </p:sp>
      <p:sp>
        <p:nvSpPr>
          <p:cNvPr id="12" name="">
            <a:extLst xmlns:a="http://schemas.openxmlformats.org/drawingml/2006/main">
              <a:ext uri="{FF2B5EF4-FFF2-40B4-BE49-F238E27FC236}">
                <a16:creationId xmlns:a16="http://schemas.microsoft.com/office/drawing/2014/main" id="{0D85D297-E0E8-4A05-8C18-FB5EF90D4170}"/>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Die beschuldigte Person muss ihre Unschuld nicht beweisen.</a:t>
            </a:r>
          </a:p>
        </p:txBody>
      </p:sp>
      <p:sp>
        <p:nvSpPr>
          <p:cNvPr id="13" name="">
            <a:extLst xmlns:a="http://schemas.openxmlformats.org/drawingml/2006/main">
              <a:ext uri="{FF2B5EF4-FFF2-40B4-BE49-F238E27FC236}">
                <a16:creationId xmlns:a16="http://schemas.microsoft.com/office/drawing/2014/main" id="{02CB7CD6-DE9E-4222-B5FA-F7D851964F4D}"/>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BE5475CF-4178-407F-8577-E1E3EE641345}"/>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1B472298-999F-4FA8-B144-5DD524D87AB7}"/>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Sachverständigenkritik</a:t>
            </a:r>
          </a:p>
        </p:txBody>
      </p:sp>
      <p:sp>
        <p:nvSpPr>
          <p:cNvPr id="16" name="">
            <a:extLst xmlns:a="http://schemas.openxmlformats.org/drawingml/2006/main">
              <a:ext uri="{FF2B5EF4-FFF2-40B4-BE49-F238E27FC236}">
                <a16:creationId xmlns:a16="http://schemas.microsoft.com/office/drawing/2014/main" id="{F7F589DF-776C-4C0D-8AF9-F319F96A6857}"/>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Das Gericht muss Fachgutachten nachvollziehen und darf rechtliche Schlussfolgerungen nicht ungeprüft übernehmen.</a:t>
            </a:r>
          </a:p>
        </p:txBody>
      </p:sp>
      <p:sp>
        <p:nvSpPr>
          <p:cNvPr id="17" name="">
            <a:extLst xmlns:a="http://schemas.openxmlformats.org/drawingml/2006/main">
              <a:ext uri="{FF2B5EF4-FFF2-40B4-BE49-F238E27FC236}">
                <a16:creationId xmlns:a16="http://schemas.microsoft.com/office/drawing/2014/main" id="{457D739C-74AC-4036-975F-76006E5DB265}"/>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C98E3AC0-9741-417A-A22C-C75D813996AF}"/>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6D5C23E6-E958-4F52-8D0A-5EDD90111F67}"/>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In dubio pro reo</a:t>
            </a:r>
          </a:p>
        </p:txBody>
      </p:sp>
      <p:sp>
        <p:nvSpPr>
          <p:cNvPr id="20" name="">
            <a:extLst xmlns:a="http://schemas.openxmlformats.org/drawingml/2006/main">
              <a:ext uri="{FF2B5EF4-FFF2-40B4-BE49-F238E27FC236}">
                <a16:creationId xmlns:a16="http://schemas.microsoft.com/office/drawing/2014/main" id="{8204E35D-BA47-4E69-AD53-7C81455D9D2F}"/>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Bleiben nach ausgeschöpfter Beweiswürdigung vernünftige Zweifel an einer entscheidenden Tatsache, darf sie nicht zulasten der angeklagten Person festgestellt werden.</a:t>
            </a:r>
          </a:p>
        </p:txBody>
      </p:sp>
      <p:sp>
        <p:nvSpPr>
          <p:cNvPr id="21" name="">
            <a:extLst xmlns:a="http://schemas.openxmlformats.org/drawingml/2006/main">
              <a:ext uri="{FF2B5EF4-FFF2-40B4-BE49-F238E27FC236}">
                <a16:creationId xmlns:a16="http://schemas.microsoft.com/office/drawing/2014/main" id="{1BED3378-3B8F-4451-96AF-A9D573D7FF76}"/>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2EAF3FE4-DD79-44D8-9D0D-1161E810B1C6}"/>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Zivilrechtliche Beweisvermutungen werden nicht automatisch in das Strafverfahren übertragen.</a:t>
            </a:r>
          </a:p>
        </p:txBody>
      </p:sp>
    </p:spTree>
    <p:extLst>
      <p:ext uri="{BB962C8B-B14F-4D97-AF65-F5344CB8AC3E}">
        <p14:creationId xmlns:p14="http://schemas.microsoft.com/office/powerpoint/2010/main" val="43637646"/>
      </p:ext>
    </p:extLst>
  </p:cSld>
</p:sld>
</file>

<file path=ppt/slides/slide255.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Nebenfolgen eines Strafverfahrens</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584CB445-BD28-47C3-98FC-81F070ABAF8D}"/>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Auch ohne Verurteilung kann ein Ermittlungsverfahren andere Verfahren oder berufliche Entscheidungen auslösen.</a:t>
            </a:r>
          </a:p>
        </p:txBody>
      </p:sp>
      <p:sp>
        <p:nvSpPr>
          <p:cNvPr id="5" name="">
            <a:extLst xmlns:a="http://schemas.openxmlformats.org/drawingml/2006/main">
              <a:ext uri="{FF2B5EF4-FFF2-40B4-BE49-F238E27FC236}">
                <a16:creationId xmlns:a16="http://schemas.microsoft.com/office/drawing/2014/main" id="{22B898BB-3289-4566-A04D-64DFC092174F}"/>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2E6CD3F7-265A-4707-B2C8-3E9462FC42A3}"/>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9CD407D9-5DB2-4E69-8C21-9E9A97E1A48F}"/>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Arbeitgeber</a:t>
            </a:r>
          </a:p>
        </p:txBody>
      </p:sp>
      <p:sp>
        <p:nvSpPr>
          <p:cNvPr id="8" name="">
            <a:extLst xmlns:a="http://schemas.openxmlformats.org/drawingml/2006/main">
              <a:ext uri="{FF2B5EF4-FFF2-40B4-BE49-F238E27FC236}">
                <a16:creationId xmlns:a16="http://schemas.microsoft.com/office/drawing/2014/main" id="{61D44229-E04E-4629-8003-26152961B45C}"/>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Freistellung, interne Untersuchung oder arbeitsrechtliche Maßnahmen folgen eigenen Voraussetzungen.</a:t>
            </a:r>
          </a:p>
        </p:txBody>
      </p:sp>
      <p:sp>
        <p:nvSpPr>
          <p:cNvPr id="9" name="">
            <a:extLst xmlns:a="http://schemas.openxmlformats.org/drawingml/2006/main">
              <a:ext uri="{FF2B5EF4-FFF2-40B4-BE49-F238E27FC236}">
                <a16:creationId xmlns:a16="http://schemas.microsoft.com/office/drawing/2014/main" id="{89152B58-8937-4731-9B3F-534967D932B5}"/>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2EB83BDA-D41E-4E78-B6A8-BCF06F2C14E0}"/>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567D13F9-B48F-4BEE-8133-CF46B0C4A9AB}"/>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Approbationsbehörde</a:t>
            </a:r>
          </a:p>
        </p:txBody>
      </p:sp>
      <p:sp>
        <p:nvSpPr>
          <p:cNvPr id="12" name="">
            <a:extLst xmlns:a="http://schemas.openxmlformats.org/drawingml/2006/main">
              <a:ext uri="{FF2B5EF4-FFF2-40B4-BE49-F238E27FC236}">
                <a16:creationId xmlns:a16="http://schemas.microsoft.com/office/drawing/2014/main" id="{F4F57899-1F0A-44A8-B103-DA53D98A850A}"/>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Ein Strafverfahren kann bei einschlägigem Verdacht für Ruhensanordnungen oder später für Zuverlässigkeit und Würdigkeit relevant werden.</a:t>
            </a:r>
          </a:p>
        </p:txBody>
      </p:sp>
      <p:sp>
        <p:nvSpPr>
          <p:cNvPr id="13" name="">
            <a:extLst xmlns:a="http://schemas.openxmlformats.org/drawingml/2006/main">
              <a:ext uri="{FF2B5EF4-FFF2-40B4-BE49-F238E27FC236}">
                <a16:creationId xmlns:a16="http://schemas.microsoft.com/office/drawing/2014/main" id="{8BD32D72-C3D2-493E-9E9B-C6B18E2E0665}"/>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35D9EEE3-E3FC-4C07-84EF-82476EFF913E}"/>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7A39349E-FD5E-4843-A7A9-746095C31EDA}"/>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Ärztekammer</a:t>
            </a:r>
          </a:p>
        </p:txBody>
      </p:sp>
      <p:sp>
        <p:nvSpPr>
          <p:cNvPr id="16" name="">
            <a:extLst xmlns:a="http://schemas.openxmlformats.org/drawingml/2006/main">
              <a:ext uri="{FF2B5EF4-FFF2-40B4-BE49-F238E27FC236}">
                <a16:creationId xmlns:a16="http://schemas.microsoft.com/office/drawing/2014/main" id="{B34D18A8-2AEB-43E0-A0F3-58392EB4AAE1}"/>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Berufsrechtliche Prüfung kann parallel oder nachfolgend stattfinden.</a:t>
            </a:r>
          </a:p>
        </p:txBody>
      </p:sp>
      <p:sp>
        <p:nvSpPr>
          <p:cNvPr id="17" name="">
            <a:extLst xmlns:a="http://schemas.openxmlformats.org/drawingml/2006/main">
              <a:ext uri="{FF2B5EF4-FFF2-40B4-BE49-F238E27FC236}">
                <a16:creationId xmlns:a16="http://schemas.microsoft.com/office/drawing/2014/main" id="{8FC21C96-5273-48A7-8C50-5F0E443BD2AF}"/>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B142C366-33FD-47E6-BAB1-796C7E16A195}"/>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B0577C78-38B2-4C18-BFF5-C192D86BA08D}"/>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Versicherung/Zivilprozess</a:t>
            </a:r>
          </a:p>
        </p:txBody>
      </p:sp>
      <p:sp>
        <p:nvSpPr>
          <p:cNvPr id="20" name="">
            <a:extLst xmlns:a="http://schemas.openxmlformats.org/drawingml/2006/main">
              <a:ext uri="{FF2B5EF4-FFF2-40B4-BE49-F238E27FC236}">
                <a16:creationId xmlns:a16="http://schemas.microsoft.com/office/drawing/2014/main" id="{AA27B3D9-365C-4BA3-A318-06E096416886}"/>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Aussagen und Gutachten können Schnittstellen haben; Verwertbarkeit und Akteneinsicht werden verfahrensbezogen geprüft.</a:t>
            </a:r>
          </a:p>
        </p:txBody>
      </p:sp>
      <p:sp>
        <p:nvSpPr>
          <p:cNvPr id="21" name="">
            <a:extLst xmlns:a="http://schemas.openxmlformats.org/drawingml/2006/main">
              <a:ext uri="{FF2B5EF4-FFF2-40B4-BE49-F238E27FC236}">
                <a16:creationId xmlns:a16="http://schemas.microsoft.com/office/drawing/2014/main" id="{1DD80F6A-BB33-48C3-9DD2-B3496CE7BE78}"/>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758EDA43-F24C-4EA3-B8C0-077372ACFA14}"/>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Strafverteidigung wird mit berufs-, arbeits- und haftungsrechtlicher Strategie koordiniert.</a:t>
            </a:r>
          </a:p>
        </p:txBody>
      </p:sp>
    </p:spTree>
    <p:extLst>
      <p:ext uri="{BB962C8B-B14F-4D97-AF65-F5344CB8AC3E}">
        <p14:creationId xmlns:p14="http://schemas.microsoft.com/office/powerpoint/2010/main" val="43637646"/>
      </p:ext>
    </p:extLst>
  </p:cSld>
</p:sld>
</file>

<file path=ppt/slides/slide256.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Leitentscheidung · Abschalten eines Beatmungsgeräts</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ORIGINALENTSCHEIDUNG · TERMIN 08</a:t>
            </a:r>
            <a:endParaRPr/>
          </a:p>
        </p:txBody>
      </p:sp>
      <p:sp>
        <p:nvSpPr>
          <p:cNvPr id="4" name="">
            <a:extLst xmlns:a="http://schemas.openxmlformats.org/drawingml/2006/main">
              <a:ext uri="{FF2B5EF4-FFF2-40B4-BE49-F238E27FC236}">
                <a16:creationId xmlns:a16="http://schemas.microsoft.com/office/drawing/2014/main" id="{E076B23F-8DCA-435D-87A9-786D013A814C}"/>
              </a:ext>
            </a:extLst>
          </p:cNvPr>
          <p:cNvSpPr>
            <a:spLocks xmlns:a="http://schemas.openxmlformats.org/drawingml/2006/main" noGrp="1"/>
          </p:cNvSpPr>
          <p:nvPr/>
        </p:nvSpPr>
        <p:spPr>
          <a:xfrm xmlns:a="http://schemas.openxmlformats.org/drawingml/2006/main">
            <a:off x="1809750" y="1943100"/>
            <a:ext cx="11239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3CF7F17A-2077-4AEA-88D0-9B19BBADD60A}"/>
              </a:ext>
            </a:extLst>
          </p:cNvPr>
          <p:cNvSpPr>
            <a:spLocks xmlns:a="http://schemas.openxmlformats.org/drawingml/2006/main" noGrp="1"/>
          </p:cNvSpPr>
          <p:nvPr/>
        </p:nvSpPr>
        <p:spPr>
          <a:xfrm xmlns:a="http://schemas.openxmlformats.org/drawingml/2006/main">
            <a:off x="1809750" y="1943100"/>
            <a:ext cx="1123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38" b="1">
                <a:solidFill>
                  <a:srgbClr val="FFFFFF"/>
                </a:solidFill>
              </a:defRPr>
            </a:pPr>
            <a:r>
              <a:rPr sz="938" b="1">
                <a:solidFill>
                  <a:srgbClr val="FFFFFF"/>
                </a:solidFill>
              </a:rPr>
              <a:t>BGH</a:t>
            </a:r>
          </a:p>
        </p:txBody>
      </p:sp>
      <p:sp>
        <p:nvSpPr>
          <p:cNvPr id="6" name="">
            <a:extLst xmlns:a="http://schemas.openxmlformats.org/drawingml/2006/main">
              <a:ext uri="{FF2B5EF4-FFF2-40B4-BE49-F238E27FC236}">
                <a16:creationId xmlns:a16="http://schemas.microsoft.com/office/drawing/2014/main" id="{2B9E1304-6444-4043-93A1-4FFE24504F9E}"/>
              </a:ext>
            </a:extLst>
          </p:cNvPr>
          <p:cNvSpPr>
            <a:spLocks xmlns:a="http://schemas.openxmlformats.org/drawingml/2006/main" noGrp="1"/>
          </p:cNvSpPr>
          <p:nvPr/>
        </p:nvSpPr>
        <p:spPr>
          <a:xfrm xmlns:a="http://schemas.openxmlformats.org/drawingml/2006/main">
            <a:off x="312420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16.03.2022 · 5 StR 394/21</a:t>
            </a:r>
          </a:p>
        </p:txBody>
      </p:sp>
      <p:sp>
        <p:nvSpPr>
          <p:cNvPr id="7" name="">
            <a:extLst xmlns:a="http://schemas.openxmlformats.org/drawingml/2006/main">
              <a:ext uri="{FF2B5EF4-FFF2-40B4-BE49-F238E27FC236}">
                <a16:creationId xmlns:a16="http://schemas.microsoft.com/office/drawing/2014/main" id="{762E890F-E4A7-4D5F-9860-75F251D8C558}"/>
              </a:ext>
            </a:extLst>
          </p:cNvPr>
          <p:cNvSpPr>
            <a:spLocks xmlns:a="http://schemas.openxmlformats.org/drawingml/2006/main" noGrp="1"/>
          </p:cNvSpPr>
          <p:nvPr/>
        </p:nvSpPr>
        <p:spPr>
          <a:xfrm xmlns:a="http://schemas.openxmlformats.org/drawingml/2006/main">
            <a:off x="733425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050">
                <a:solidFill>
                  <a:srgbClr val="667680"/>
                </a:solidFill>
              </a:defRPr>
            </a:pPr>
            <a:r>
              <a:rPr sz="1050">
                <a:solidFill>
                  <a:srgbClr val="667680"/>
                </a:solidFill>
              </a:rPr>
              <a:t>Fahrlässigkeit und Vorsatz sauber trennen</a:t>
            </a:r>
          </a:p>
        </p:txBody>
      </p:sp>
      <p:sp>
        <p:nvSpPr>
          <p:cNvPr id="8" name="">
            <a:extLst xmlns:a="http://schemas.openxmlformats.org/drawingml/2006/main">
              <a:ext uri="{FF2B5EF4-FFF2-40B4-BE49-F238E27FC236}">
                <a16:creationId xmlns:a16="http://schemas.microsoft.com/office/drawing/2014/main" id="{3D73AD37-8576-4E88-BC94-F3C5983267F7}"/>
              </a:ext>
            </a:extLst>
          </p:cNvPr>
          <p:cNvSpPr>
            <a:spLocks xmlns:a="http://schemas.openxmlformats.org/drawingml/2006/main" noGrp="1"/>
          </p:cNvSpPr>
          <p:nvPr/>
        </p:nvSpPr>
        <p:spPr>
          <a:xfrm xmlns:a="http://schemas.openxmlformats.org/drawingml/2006/main">
            <a:off x="1809750" y="2533650"/>
            <a:ext cx="1676400" cy="781050"/>
          </a:xfrm>
          <a:prstGeom xmlns:a="http://schemas.openxmlformats.org/drawingml/2006/main" prst="roundRect">
            <a:avLst>
              <a:gd name="adj" fmla="val 9756"/>
            </a:avLst>
          </a:prstGeom>
          <a:solidFill xmlns:a="http://schemas.openxmlformats.org/drawingml/2006/main">
            <a:srgbClr val="00B2BB"/>
          </a:solidFill>
          <a:ln xmlns:a="http://schemas.openxmlformats.org/drawingml/2006/main" w="0">
            <a:solidFill>
              <a:srgbClr val="00B2BB"/>
            </a:solidFill>
            <a:prstDash val="solid"/>
          </a:ln>
        </p:spPr>
      </p:sp>
      <p:sp>
        <p:nvSpPr>
          <p:cNvPr id="9" name="">
            <a:extLst xmlns:a="http://schemas.openxmlformats.org/drawingml/2006/main">
              <a:ext uri="{FF2B5EF4-FFF2-40B4-BE49-F238E27FC236}">
                <a16:creationId xmlns:a16="http://schemas.microsoft.com/office/drawing/2014/main" id="{92A568E3-DD01-4099-9B1B-5845DF156B49}"/>
              </a:ext>
            </a:extLst>
          </p:cNvPr>
          <p:cNvSpPr>
            <a:spLocks xmlns:a="http://schemas.openxmlformats.org/drawingml/2006/main" noGrp="1"/>
          </p:cNvSpPr>
          <p:nvPr/>
        </p:nvSpPr>
        <p:spPr>
          <a:xfrm xmlns:a="http://schemas.openxmlformats.org/drawingml/2006/main">
            <a:off x="1924050" y="25336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Ausgangsfall</a:t>
            </a:r>
          </a:p>
        </p:txBody>
      </p:sp>
      <p:sp>
        <p:nvSpPr>
          <p:cNvPr id="10" name="">
            <a:extLst xmlns:a="http://schemas.openxmlformats.org/drawingml/2006/main">
              <a:ext uri="{FF2B5EF4-FFF2-40B4-BE49-F238E27FC236}">
                <a16:creationId xmlns:a16="http://schemas.microsoft.com/office/drawing/2014/main" id="{979A64E9-8E5D-45A8-9AC6-38A92624C66D}"/>
              </a:ext>
            </a:extLst>
          </p:cNvPr>
          <p:cNvSpPr>
            <a:spLocks xmlns:a="http://schemas.openxmlformats.org/drawingml/2006/main" noGrp="1"/>
          </p:cNvSpPr>
          <p:nvPr/>
        </p:nvSpPr>
        <p:spPr>
          <a:xfrm xmlns:a="http://schemas.openxmlformats.org/drawingml/2006/main">
            <a:off x="3695700" y="25336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Ein intensivpflichtiger Patient wurde vom Beatmungsgerät getrennt und verstarb. Nach einer Verurteilung wegen fahrlässiger Tötung war revisionsrechtlich auch die Vorsatzabgrenzung zu prüfen.</a:t>
            </a:r>
          </a:p>
        </p:txBody>
      </p:sp>
      <p:sp>
        <p:nvSpPr>
          <p:cNvPr id="11" name="">
            <a:extLst xmlns:a="http://schemas.openxmlformats.org/drawingml/2006/main">
              <a:ext uri="{FF2B5EF4-FFF2-40B4-BE49-F238E27FC236}">
                <a16:creationId xmlns:a16="http://schemas.microsoft.com/office/drawing/2014/main" id="{91933F29-A0EA-4E18-A8B7-9286751F8EB0}"/>
              </a:ext>
            </a:extLst>
          </p:cNvPr>
          <p:cNvSpPr>
            <a:spLocks xmlns:a="http://schemas.openxmlformats.org/drawingml/2006/main" noGrp="1"/>
          </p:cNvSpPr>
          <p:nvPr/>
        </p:nvSpPr>
        <p:spPr>
          <a:xfrm xmlns:a="http://schemas.openxmlformats.org/drawingml/2006/main">
            <a:off x="1809750" y="3486150"/>
            <a:ext cx="1676400" cy="781050"/>
          </a:xfrm>
          <a:prstGeom xmlns:a="http://schemas.openxmlformats.org/drawingml/2006/main" prst="roundRect">
            <a:avLst>
              <a:gd name="adj" fmla="val 9756"/>
            </a:avLst>
          </a:prstGeom>
          <a:solidFill xmlns:a="http://schemas.openxmlformats.org/drawingml/2006/main">
            <a:srgbClr val="003F6B"/>
          </a:solidFill>
          <a:ln xmlns:a="http://schemas.openxmlformats.org/drawingml/2006/main" w="0">
            <a:solidFill>
              <a:srgbClr val="003F6B"/>
            </a:solidFill>
            <a:prstDash val="solid"/>
          </a:ln>
        </p:spPr>
      </p:sp>
      <p:sp>
        <p:nvSpPr>
          <p:cNvPr id="12" name="">
            <a:extLst xmlns:a="http://schemas.openxmlformats.org/drawingml/2006/main">
              <a:ext uri="{FF2B5EF4-FFF2-40B4-BE49-F238E27FC236}">
                <a16:creationId xmlns:a16="http://schemas.microsoft.com/office/drawing/2014/main" id="{D98542BB-5F57-40AB-BCAB-791AFD336228}"/>
              </a:ext>
            </a:extLst>
          </p:cNvPr>
          <p:cNvSpPr>
            <a:spLocks xmlns:a="http://schemas.openxmlformats.org/drawingml/2006/main" noGrp="1"/>
          </p:cNvSpPr>
          <p:nvPr/>
        </p:nvSpPr>
        <p:spPr>
          <a:xfrm xmlns:a="http://schemas.openxmlformats.org/drawingml/2006/main">
            <a:off x="1924050" y="34861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Leitsatzkern</a:t>
            </a:r>
          </a:p>
        </p:txBody>
      </p:sp>
      <p:sp>
        <p:nvSpPr>
          <p:cNvPr id="13" name="">
            <a:extLst xmlns:a="http://schemas.openxmlformats.org/drawingml/2006/main">
              <a:ext uri="{FF2B5EF4-FFF2-40B4-BE49-F238E27FC236}">
                <a16:creationId xmlns:a16="http://schemas.microsoft.com/office/drawing/2014/main" id="{569DA334-5FA6-4814-BAB7-A6EA9B28A34A}"/>
              </a:ext>
            </a:extLst>
          </p:cNvPr>
          <p:cNvSpPr>
            <a:spLocks xmlns:a="http://schemas.openxmlformats.org/drawingml/2006/main" noGrp="1"/>
          </p:cNvSpPr>
          <p:nvPr/>
        </p:nvSpPr>
        <p:spPr>
          <a:xfrm xmlns:a="http://schemas.openxmlformats.org/drawingml/2006/main">
            <a:off x="3695700" y="34861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Leitsatzkern (paraphrasiert): Vorsatz folgt aus einer Gesamtwürdigung objektiver und subjektiver Umstände. Die hohe Gefährlichkeit einer Handlung ist ein Indiz, ersetzt aber nicht Wissens- und Willenselement.</a:t>
            </a:r>
          </a:p>
        </p:txBody>
      </p:sp>
      <p:sp>
        <p:nvSpPr>
          <p:cNvPr id="14" name="">
            <a:extLst xmlns:a="http://schemas.openxmlformats.org/drawingml/2006/main">
              <a:ext uri="{FF2B5EF4-FFF2-40B4-BE49-F238E27FC236}">
                <a16:creationId xmlns:a16="http://schemas.microsoft.com/office/drawing/2014/main" id="{6B612C10-EC9B-416F-93DC-8A69E03E3D0C}"/>
              </a:ext>
            </a:extLst>
          </p:cNvPr>
          <p:cNvSpPr>
            <a:spLocks xmlns:a="http://schemas.openxmlformats.org/drawingml/2006/main" noGrp="1"/>
          </p:cNvSpPr>
          <p:nvPr/>
        </p:nvSpPr>
        <p:spPr>
          <a:xfrm xmlns:a="http://schemas.openxmlformats.org/drawingml/2006/main">
            <a:off x="1809750" y="4438650"/>
            <a:ext cx="1676400" cy="781050"/>
          </a:xfrm>
          <a:prstGeom xmlns:a="http://schemas.openxmlformats.org/drawingml/2006/main" prst="roundRect">
            <a:avLst>
              <a:gd name="adj" fmla="val 9756"/>
            </a:avLst>
          </a:prstGeom>
          <a:solidFill xmlns:a="http://schemas.openxmlformats.org/drawingml/2006/main">
            <a:srgbClr val="00B2BB"/>
          </a:solidFill>
          <a:ln xmlns:a="http://schemas.openxmlformats.org/drawingml/2006/main" w="0">
            <a:solidFill>
              <a:srgbClr val="00B2BB"/>
            </a:solidFill>
            <a:prstDash val="solid"/>
          </a:ln>
        </p:spPr>
      </p:sp>
      <p:sp>
        <p:nvSpPr>
          <p:cNvPr id="15" name="">
            <a:extLst xmlns:a="http://schemas.openxmlformats.org/drawingml/2006/main">
              <a:ext uri="{FF2B5EF4-FFF2-40B4-BE49-F238E27FC236}">
                <a16:creationId xmlns:a16="http://schemas.microsoft.com/office/drawing/2014/main" id="{05C2122A-F0CC-431C-904B-386ECD67AA4D}"/>
              </a:ext>
            </a:extLst>
          </p:cNvPr>
          <p:cNvSpPr>
            <a:spLocks xmlns:a="http://schemas.openxmlformats.org/drawingml/2006/main" noGrp="1"/>
          </p:cNvSpPr>
          <p:nvPr/>
        </p:nvSpPr>
        <p:spPr>
          <a:xfrm xmlns:a="http://schemas.openxmlformats.org/drawingml/2006/main">
            <a:off x="1924050" y="44386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Für die Praxis</a:t>
            </a:r>
          </a:p>
        </p:txBody>
      </p:sp>
      <p:sp>
        <p:nvSpPr>
          <p:cNvPr id="16" name="">
            <a:extLst xmlns:a="http://schemas.openxmlformats.org/drawingml/2006/main">
              <a:ext uri="{FF2B5EF4-FFF2-40B4-BE49-F238E27FC236}">
                <a16:creationId xmlns:a16="http://schemas.microsoft.com/office/drawing/2014/main" id="{661E7C2E-571E-4E3C-9A07-2E9AFD60B80D}"/>
              </a:ext>
            </a:extLst>
          </p:cNvPr>
          <p:cNvSpPr>
            <a:spLocks xmlns:a="http://schemas.openxmlformats.org/drawingml/2006/main" noGrp="1"/>
          </p:cNvSpPr>
          <p:nvPr/>
        </p:nvSpPr>
        <p:spPr>
          <a:xfrm xmlns:a="http://schemas.openxmlformats.org/drawingml/2006/main">
            <a:off x="3695700" y="44386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Im Ermittlungsverfahren zuerst Rolle, Schweigerecht und Verteidigerzugang klären; medizinische Indikation, Patientenwille und tatsächliche Handlung getrennt sichern.</a:t>
            </a:r>
          </a:p>
        </p:txBody>
      </p:sp>
      <p:sp>
        <p:nvSpPr>
          <p:cNvPr id="17" name="">
            <a:extLst xmlns:a="http://schemas.openxmlformats.org/drawingml/2006/main">
              <a:ext uri="{FF2B5EF4-FFF2-40B4-BE49-F238E27FC236}">
                <a16:creationId xmlns:a16="http://schemas.microsoft.com/office/drawing/2014/main" id="{DA43B940-A0D7-4AF5-922A-E5A5B7AFE7A3}"/>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638">
                <a:solidFill>
                  <a:srgbClr val="667680"/>
                </a:solidFill>
              </a:defRPr>
            </a:pPr>
            <a:r>
              <a:rPr sz="638">
                <a:solidFill>
                  <a:srgbClr val="667680"/>
                </a:solidFill>
              </a:rPr>
              <a:t>BGH, Urt. v. 16.03.2022 – 5 StR 394/21 · https://juris.bundesgerichtshof.de/cgi-bin/rechtsprechung/document.py?Art=en&amp;Blank=1.pdf&amp;Datum=2022-3-16&amp;Gericht=bgh&amp;anz=12&amp;nr=128045&amp;pos=4</a:t>
            </a:r>
          </a:p>
        </p:txBody>
      </p:sp>
    </p:spTree>
    <p:extLst>
      <p:ext uri="{BB962C8B-B14F-4D97-AF65-F5344CB8AC3E}">
        <p14:creationId xmlns:p14="http://schemas.microsoft.com/office/powerpoint/2010/main" val="43637646"/>
      </p:ext>
    </p:extLst>
  </p:cSld>
</p:sld>
</file>

<file path=ppt/slides/slide257.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StPO-Check beim ersten Kontakt</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PRÜFUNGSSCHEMA · POLIZEI / STAATSANWALTSCHAFT</a:t>
            </a:r>
            <a:endParaRPr/>
          </a:p>
        </p:txBody>
      </p:sp>
      <p:sp>
        <p:nvSpPr>
          <p:cNvPr id="4" name="">
            <a:extLst xmlns:a="http://schemas.openxmlformats.org/drawingml/2006/main">
              <a:ext uri="{FF2B5EF4-FFF2-40B4-BE49-F238E27FC236}">
                <a16:creationId xmlns:a16="http://schemas.microsoft.com/office/drawing/2014/main" id="{BEDF6413-2B50-4426-824D-1AA384A82658}"/>
              </a:ext>
            </a:extLst>
          </p:cNvPr>
          <p:cNvSpPr>
            <a:spLocks xmlns:a="http://schemas.openxmlformats.org/drawingml/2006/main" noGrp="1"/>
          </p:cNvSpPr>
          <p:nvPr/>
        </p:nvSpPr>
        <p:spPr>
          <a:xfrm xmlns:a="http://schemas.openxmlformats.org/drawingml/2006/main">
            <a:off x="1809750" y="195262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6D5FB162-92BA-4ED1-863D-66A79249A115}"/>
              </a:ext>
            </a:extLst>
          </p:cNvPr>
          <p:cNvSpPr>
            <a:spLocks xmlns:a="http://schemas.openxmlformats.org/drawingml/2006/main" noGrp="1"/>
          </p:cNvSpPr>
          <p:nvPr/>
        </p:nvSpPr>
        <p:spPr>
          <a:xfrm xmlns:a="http://schemas.openxmlformats.org/drawingml/2006/main">
            <a:off x="1809750" y="19526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6" name="">
            <a:extLst xmlns:a="http://schemas.openxmlformats.org/drawingml/2006/main">
              <a:ext uri="{FF2B5EF4-FFF2-40B4-BE49-F238E27FC236}">
                <a16:creationId xmlns:a16="http://schemas.microsoft.com/office/drawing/2014/main" id="{B1D887B4-8624-4E6C-8056-BF519722931B}"/>
              </a:ext>
            </a:extLst>
          </p:cNvPr>
          <p:cNvSpPr>
            <a:spLocks xmlns:a="http://schemas.openxmlformats.org/drawingml/2006/main" noGrp="1"/>
          </p:cNvSpPr>
          <p:nvPr/>
        </p:nvSpPr>
        <p:spPr>
          <a:xfrm xmlns:a="http://schemas.openxmlformats.org/drawingml/2006/main">
            <a:off x="2324100" y="196215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1. Rolle klären</a:t>
            </a:r>
          </a:p>
        </p:txBody>
      </p:sp>
      <p:sp>
        <p:nvSpPr>
          <p:cNvPr id="7" name="">
            <a:extLst xmlns:a="http://schemas.openxmlformats.org/drawingml/2006/main">
              <a:ext uri="{FF2B5EF4-FFF2-40B4-BE49-F238E27FC236}">
                <a16:creationId xmlns:a16="http://schemas.microsoft.com/office/drawing/2014/main" id="{93263CDB-4C9E-455B-BEE6-F29247877887}"/>
              </a:ext>
            </a:extLst>
          </p:cNvPr>
          <p:cNvSpPr>
            <a:spLocks xmlns:a="http://schemas.openxmlformats.org/drawingml/2006/main" noGrp="1"/>
          </p:cNvSpPr>
          <p:nvPr/>
        </p:nvSpPr>
        <p:spPr>
          <a:xfrm xmlns:a="http://schemas.openxmlformats.org/drawingml/2006/main">
            <a:off x="4819650" y="196215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Zeuge, Beschuldigter oder sonstige Auskunftsperson?</a:t>
            </a:r>
          </a:p>
        </p:txBody>
      </p:sp>
      <p:sp>
        <p:nvSpPr>
          <p:cNvPr id="8" name="">
            <a:extLst xmlns:a="http://schemas.openxmlformats.org/drawingml/2006/main">
              <a:ext uri="{FF2B5EF4-FFF2-40B4-BE49-F238E27FC236}">
                <a16:creationId xmlns:a16="http://schemas.microsoft.com/office/drawing/2014/main" id="{EFA9E1E3-C895-4873-ABFC-024433CD58F0}"/>
              </a:ext>
            </a:extLst>
          </p:cNvPr>
          <p:cNvSpPr>
            <a:spLocks xmlns:a="http://schemas.openxmlformats.org/drawingml/2006/main" noGrp="1"/>
          </p:cNvSpPr>
          <p:nvPr/>
        </p:nvSpPr>
        <p:spPr>
          <a:xfrm xmlns:a="http://schemas.openxmlformats.org/drawingml/2006/main">
            <a:off x="1809750" y="255270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9" name="">
            <a:extLst xmlns:a="http://schemas.openxmlformats.org/drawingml/2006/main">
              <a:ext uri="{FF2B5EF4-FFF2-40B4-BE49-F238E27FC236}">
                <a16:creationId xmlns:a16="http://schemas.microsoft.com/office/drawing/2014/main" id="{B39CC9E0-3115-4C39-B091-7CCCF652FFA0}"/>
              </a:ext>
            </a:extLst>
          </p:cNvPr>
          <p:cNvSpPr>
            <a:spLocks xmlns:a="http://schemas.openxmlformats.org/drawingml/2006/main" noGrp="1"/>
          </p:cNvSpPr>
          <p:nvPr/>
        </p:nvSpPr>
        <p:spPr>
          <a:xfrm xmlns:a="http://schemas.openxmlformats.org/drawingml/2006/main">
            <a:off x="1809750" y="255270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0" name="">
            <a:extLst xmlns:a="http://schemas.openxmlformats.org/drawingml/2006/main">
              <a:ext uri="{FF2B5EF4-FFF2-40B4-BE49-F238E27FC236}">
                <a16:creationId xmlns:a16="http://schemas.microsoft.com/office/drawing/2014/main" id="{2C09F618-A078-49FE-8357-2619E87E339C}"/>
              </a:ext>
            </a:extLst>
          </p:cNvPr>
          <p:cNvSpPr>
            <a:spLocks xmlns:a="http://schemas.openxmlformats.org/drawingml/2006/main" noGrp="1"/>
          </p:cNvSpPr>
          <p:nvPr/>
        </p:nvSpPr>
        <p:spPr>
          <a:xfrm xmlns:a="http://schemas.openxmlformats.org/drawingml/2006/main">
            <a:off x="2324100" y="256222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2. Vorwurf und Aktenstand</a:t>
            </a:r>
          </a:p>
        </p:txBody>
      </p:sp>
      <p:sp>
        <p:nvSpPr>
          <p:cNvPr id="11" name="">
            <a:extLst xmlns:a="http://schemas.openxmlformats.org/drawingml/2006/main">
              <a:ext uri="{FF2B5EF4-FFF2-40B4-BE49-F238E27FC236}">
                <a16:creationId xmlns:a16="http://schemas.microsoft.com/office/drawing/2014/main" id="{BD335A7E-220D-4526-A53E-AB3AEC67A9FE}"/>
              </a:ext>
            </a:extLst>
          </p:cNvPr>
          <p:cNvSpPr>
            <a:spLocks xmlns:a="http://schemas.openxmlformats.org/drawingml/2006/main" noGrp="1"/>
          </p:cNvSpPr>
          <p:nvPr/>
        </p:nvSpPr>
        <p:spPr>
          <a:xfrm xmlns:a="http://schemas.openxmlformats.org/drawingml/2006/main">
            <a:off x="4819650" y="256222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Welche Tat, welcher Zeitraum und welcher Verfahrensstand liegen vor?</a:t>
            </a:r>
          </a:p>
        </p:txBody>
      </p:sp>
      <p:sp>
        <p:nvSpPr>
          <p:cNvPr id="12" name="">
            <a:extLst xmlns:a="http://schemas.openxmlformats.org/drawingml/2006/main">
              <a:ext uri="{FF2B5EF4-FFF2-40B4-BE49-F238E27FC236}">
                <a16:creationId xmlns:a16="http://schemas.microsoft.com/office/drawing/2014/main" id="{3AFA410E-F3F7-48CC-85F8-96CA028B2F8E}"/>
              </a:ext>
            </a:extLst>
          </p:cNvPr>
          <p:cNvSpPr>
            <a:spLocks xmlns:a="http://schemas.openxmlformats.org/drawingml/2006/main" noGrp="1"/>
          </p:cNvSpPr>
          <p:nvPr/>
        </p:nvSpPr>
        <p:spPr>
          <a:xfrm xmlns:a="http://schemas.openxmlformats.org/drawingml/2006/main">
            <a:off x="1809750" y="315277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3" name="">
            <a:extLst xmlns:a="http://schemas.openxmlformats.org/drawingml/2006/main">
              <a:ext uri="{FF2B5EF4-FFF2-40B4-BE49-F238E27FC236}">
                <a16:creationId xmlns:a16="http://schemas.microsoft.com/office/drawing/2014/main" id="{6CE65846-C999-4B3E-9307-9A561D72CACB}"/>
              </a:ext>
            </a:extLst>
          </p:cNvPr>
          <p:cNvSpPr>
            <a:spLocks xmlns:a="http://schemas.openxmlformats.org/drawingml/2006/main" noGrp="1"/>
          </p:cNvSpPr>
          <p:nvPr/>
        </p:nvSpPr>
        <p:spPr>
          <a:xfrm xmlns:a="http://schemas.openxmlformats.org/drawingml/2006/main">
            <a:off x="1809750" y="315277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4" name="">
            <a:extLst xmlns:a="http://schemas.openxmlformats.org/drawingml/2006/main">
              <a:ext uri="{FF2B5EF4-FFF2-40B4-BE49-F238E27FC236}">
                <a16:creationId xmlns:a16="http://schemas.microsoft.com/office/drawing/2014/main" id="{E8DABC30-B5E8-4E68-96F3-8DC3E0A8F257}"/>
              </a:ext>
            </a:extLst>
          </p:cNvPr>
          <p:cNvSpPr>
            <a:spLocks xmlns:a="http://schemas.openxmlformats.org/drawingml/2006/main" noGrp="1"/>
          </p:cNvSpPr>
          <p:nvPr/>
        </p:nvSpPr>
        <p:spPr>
          <a:xfrm xmlns:a="http://schemas.openxmlformats.org/drawingml/2006/main">
            <a:off x="2324100" y="316230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3. Schweige- und Verweigerungsrechte</a:t>
            </a:r>
          </a:p>
        </p:txBody>
      </p:sp>
      <p:sp>
        <p:nvSpPr>
          <p:cNvPr id="15" name="">
            <a:extLst xmlns:a="http://schemas.openxmlformats.org/drawingml/2006/main">
              <a:ext uri="{FF2B5EF4-FFF2-40B4-BE49-F238E27FC236}">
                <a16:creationId xmlns:a16="http://schemas.microsoft.com/office/drawing/2014/main" id="{3D9F62F3-37EF-43EA-BB71-7E7A960B7D1D}"/>
              </a:ext>
            </a:extLst>
          </p:cNvPr>
          <p:cNvSpPr>
            <a:spLocks xmlns:a="http://schemas.openxmlformats.org/drawingml/2006/main" noGrp="1"/>
          </p:cNvSpPr>
          <p:nvPr/>
        </p:nvSpPr>
        <p:spPr>
          <a:xfrm xmlns:a="http://schemas.openxmlformats.org/drawingml/2006/main">
            <a:off x="4819650" y="316230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Vor Sachangaben Reichweite eigener Rechte und Schweigepflicht klären.</a:t>
            </a:r>
          </a:p>
        </p:txBody>
      </p:sp>
      <p:sp>
        <p:nvSpPr>
          <p:cNvPr id="16" name="">
            <a:extLst xmlns:a="http://schemas.openxmlformats.org/drawingml/2006/main">
              <a:ext uri="{FF2B5EF4-FFF2-40B4-BE49-F238E27FC236}">
                <a16:creationId xmlns:a16="http://schemas.microsoft.com/office/drawing/2014/main" id="{193D713A-F708-4260-8D36-CAD4B2D69F62}"/>
              </a:ext>
            </a:extLst>
          </p:cNvPr>
          <p:cNvSpPr>
            <a:spLocks xmlns:a="http://schemas.openxmlformats.org/drawingml/2006/main" noGrp="1"/>
          </p:cNvSpPr>
          <p:nvPr/>
        </p:nvSpPr>
        <p:spPr>
          <a:xfrm xmlns:a="http://schemas.openxmlformats.org/drawingml/2006/main">
            <a:off x="1809750" y="375285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7" name="">
            <a:extLst xmlns:a="http://schemas.openxmlformats.org/drawingml/2006/main">
              <a:ext uri="{FF2B5EF4-FFF2-40B4-BE49-F238E27FC236}">
                <a16:creationId xmlns:a16="http://schemas.microsoft.com/office/drawing/2014/main" id="{4E72C5BE-15C0-4734-9EB1-4DACDF4390E4}"/>
              </a:ext>
            </a:extLst>
          </p:cNvPr>
          <p:cNvSpPr>
            <a:spLocks xmlns:a="http://schemas.openxmlformats.org/drawingml/2006/main" noGrp="1"/>
          </p:cNvSpPr>
          <p:nvPr/>
        </p:nvSpPr>
        <p:spPr>
          <a:xfrm xmlns:a="http://schemas.openxmlformats.org/drawingml/2006/main">
            <a:off x="1809750" y="375285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18" name="">
            <a:extLst xmlns:a="http://schemas.openxmlformats.org/drawingml/2006/main">
              <a:ext uri="{FF2B5EF4-FFF2-40B4-BE49-F238E27FC236}">
                <a16:creationId xmlns:a16="http://schemas.microsoft.com/office/drawing/2014/main" id="{B7390979-965F-486B-81DC-CD6B803182F0}"/>
              </a:ext>
            </a:extLst>
          </p:cNvPr>
          <p:cNvSpPr>
            <a:spLocks xmlns:a="http://schemas.openxmlformats.org/drawingml/2006/main" noGrp="1"/>
          </p:cNvSpPr>
          <p:nvPr/>
        </p:nvSpPr>
        <p:spPr>
          <a:xfrm xmlns:a="http://schemas.openxmlformats.org/drawingml/2006/main">
            <a:off x="2324100" y="376237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4. Beratung</a:t>
            </a:r>
          </a:p>
        </p:txBody>
      </p:sp>
      <p:sp>
        <p:nvSpPr>
          <p:cNvPr id="19" name="">
            <a:extLst xmlns:a="http://schemas.openxmlformats.org/drawingml/2006/main">
              <a:ext uri="{FF2B5EF4-FFF2-40B4-BE49-F238E27FC236}">
                <a16:creationId xmlns:a16="http://schemas.microsoft.com/office/drawing/2014/main" id="{4E3BD17B-2D34-40C8-9298-23C458899328}"/>
              </a:ext>
            </a:extLst>
          </p:cNvPr>
          <p:cNvSpPr>
            <a:spLocks xmlns:a="http://schemas.openxmlformats.org/drawingml/2006/main" noGrp="1"/>
          </p:cNvSpPr>
          <p:nvPr/>
        </p:nvSpPr>
        <p:spPr>
          <a:xfrm xmlns:a="http://schemas.openxmlformats.org/drawingml/2006/main">
            <a:off x="4819650" y="376237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Bei persönlichem Risiko früh unabhängige strafrechtliche Vertretung einschalten.</a:t>
            </a:r>
          </a:p>
        </p:txBody>
      </p:sp>
      <p:sp>
        <p:nvSpPr>
          <p:cNvPr id="20" name="">
            <a:extLst xmlns:a="http://schemas.openxmlformats.org/drawingml/2006/main">
              <a:ext uri="{FF2B5EF4-FFF2-40B4-BE49-F238E27FC236}">
                <a16:creationId xmlns:a16="http://schemas.microsoft.com/office/drawing/2014/main" id="{D8876834-3387-4C64-A83C-2A36E31B0A78}"/>
              </a:ext>
            </a:extLst>
          </p:cNvPr>
          <p:cNvSpPr>
            <a:spLocks xmlns:a="http://schemas.openxmlformats.org/drawingml/2006/main" noGrp="1"/>
          </p:cNvSpPr>
          <p:nvPr/>
        </p:nvSpPr>
        <p:spPr>
          <a:xfrm xmlns:a="http://schemas.openxmlformats.org/drawingml/2006/main">
            <a:off x="1809750" y="435292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1" name="">
            <a:extLst xmlns:a="http://schemas.openxmlformats.org/drawingml/2006/main">
              <a:ext uri="{FF2B5EF4-FFF2-40B4-BE49-F238E27FC236}">
                <a16:creationId xmlns:a16="http://schemas.microsoft.com/office/drawing/2014/main" id="{F76E6B52-1EF4-42F1-98C0-A9FA515B5F0A}"/>
              </a:ext>
            </a:extLst>
          </p:cNvPr>
          <p:cNvSpPr>
            <a:spLocks xmlns:a="http://schemas.openxmlformats.org/drawingml/2006/main" noGrp="1"/>
          </p:cNvSpPr>
          <p:nvPr/>
        </p:nvSpPr>
        <p:spPr>
          <a:xfrm xmlns:a="http://schemas.openxmlformats.org/drawingml/2006/main">
            <a:off x="1809750" y="43529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5</a:t>
            </a:r>
          </a:p>
        </p:txBody>
      </p:sp>
      <p:sp>
        <p:nvSpPr>
          <p:cNvPr id="22" name="">
            <a:extLst xmlns:a="http://schemas.openxmlformats.org/drawingml/2006/main">
              <a:ext uri="{FF2B5EF4-FFF2-40B4-BE49-F238E27FC236}">
                <a16:creationId xmlns:a16="http://schemas.microsoft.com/office/drawing/2014/main" id="{CB892D39-84C0-426A-B793-DB19CCF6BCD8}"/>
              </a:ext>
            </a:extLst>
          </p:cNvPr>
          <p:cNvSpPr>
            <a:spLocks xmlns:a="http://schemas.openxmlformats.org/drawingml/2006/main" noGrp="1"/>
          </p:cNvSpPr>
          <p:nvPr/>
        </p:nvSpPr>
        <p:spPr>
          <a:xfrm xmlns:a="http://schemas.openxmlformats.org/drawingml/2006/main">
            <a:off x="2324100" y="436245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5. Unterlagen sichern</a:t>
            </a:r>
          </a:p>
        </p:txBody>
      </p:sp>
      <p:sp>
        <p:nvSpPr>
          <p:cNvPr id="23" name="">
            <a:extLst xmlns:a="http://schemas.openxmlformats.org/drawingml/2006/main">
              <a:ext uri="{FF2B5EF4-FFF2-40B4-BE49-F238E27FC236}">
                <a16:creationId xmlns:a16="http://schemas.microsoft.com/office/drawing/2014/main" id="{E546ACCF-FBCD-43E5-81CA-9FAD1B41696C}"/>
              </a:ext>
            </a:extLst>
          </p:cNvPr>
          <p:cNvSpPr>
            <a:spLocks xmlns:a="http://schemas.openxmlformats.org/drawingml/2006/main" noGrp="1"/>
          </p:cNvSpPr>
          <p:nvPr/>
        </p:nvSpPr>
        <p:spPr>
          <a:xfrm xmlns:a="http://schemas.openxmlformats.org/drawingml/2006/main">
            <a:off x="4819650" y="436245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Nichts verändern; entlastende Daten, Dienstpläne und Kommunikationswege erhalten.</a:t>
            </a:r>
          </a:p>
        </p:txBody>
      </p:sp>
      <p:sp>
        <p:nvSpPr>
          <p:cNvPr id="24" name="">
            <a:extLst xmlns:a="http://schemas.openxmlformats.org/drawingml/2006/main">
              <a:ext uri="{FF2B5EF4-FFF2-40B4-BE49-F238E27FC236}">
                <a16:creationId xmlns:a16="http://schemas.microsoft.com/office/drawing/2014/main" id="{7ADAD717-3C6C-465E-8749-ED6E4B1976EE}"/>
              </a:ext>
            </a:extLst>
          </p:cNvPr>
          <p:cNvSpPr>
            <a:spLocks xmlns:a="http://schemas.openxmlformats.org/drawingml/2006/main" noGrp="1"/>
          </p:cNvSpPr>
          <p:nvPr/>
        </p:nvSpPr>
        <p:spPr>
          <a:xfrm xmlns:a="http://schemas.openxmlformats.org/drawingml/2006/main">
            <a:off x="1809750" y="495300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25" name="">
            <a:extLst xmlns:a="http://schemas.openxmlformats.org/drawingml/2006/main">
              <a:ext uri="{FF2B5EF4-FFF2-40B4-BE49-F238E27FC236}">
                <a16:creationId xmlns:a16="http://schemas.microsoft.com/office/drawing/2014/main" id="{D961BD6C-8CBA-40B2-997A-931B8D48BA3A}"/>
              </a:ext>
            </a:extLst>
          </p:cNvPr>
          <p:cNvSpPr>
            <a:spLocks xmlns:a="http://schemas.openxmlformats.org/drawingml/2006/main" noGrp="1"/>
          </p:cNvSpPr>
          <p:nvPr/>
        </p:nvSpPr>
        <p:spPr>
          <a:xfrm xmlns:a="http://schemas.openxmlformats.org/drawingml/2006/main">
            <a:off x="1809750" y="495300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6</a:t>
            </a:r>
          </a:p>
        </p:txBody>
      </p:sp>
      <p:sp>
        <p:nvSpPr>
          <p:cNvPr id="26" name="">
            <a:extLst xmlns:a="http://schemas.openxmlformats.org/drawingml/2006/main">
              <a:ext uri="{FF2B5EF4-FFF2-40B4-BE49-F238E27FC236}">
                <a16:creationId xmlns:a16="http://schemas.microsoft.com/office/drawing/2014/main" id="{8C6CA4A9-3D79-40FB-A639-ADE7BD6E1E54}"/>
              </a:ext>
            </a:extLst>
          </p:cNvPr>
          <p:cNvSpPr>
            <a:spLocks xmlns:a="http://schemas.openxmlformats.org/drawingml/2006/main" noGrp="1"/>
          </p:cNvSpPr>
          <p:nvPr/>
        </p:nvSpPr>
        <p:spPr>
          <a:xfrm xmlns:a="http://schemas.openxmlformats.org/drawingml/2006/main">
            <a:off x="2324100" y="496252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6. Koordination</a:t>
            </a:r>
          </a:p>
        </p:txBody>
      </p:sp>
      <p:sp>
        <p:nvSpPr>
          <p:cNvPr id="27" name="">
            <a:extLst xmlns:a="http://schemas.openxmlformats.org/drawingml/2006/main">
              <a:ext uri="{FF2B5EF4-FFF2-40B4-BE49-F238E27FC236}">
                <a16:creationId xmlns:a16="http://schemas.microsoft.com/office/drawing/2014/main" id="{AFAA8710-C9AD-4138-BFAC-B246E3812EE9}"/>
              </a:ext>
            </a:extLst>
          </p:cNvPr>
          <p:cNvSpPr>
            <a:spLocks xmlns:a="http://schemas.openxmlformats.org/drawingml/2006/main" noGrp="1"/>
          </p:cNvSpPr>
          <p:nvPr/>
        </p:nvSpPr>
        <p:spPr>
          <a:xfrm xmlns:a="http://schemas.openxmlformats.org/drawingml/2006/main">
            <a:off x="4819650" y="496252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Arbeitgeber-, Haftpflicht-, Berufs- und Approbationsfolgen mitdenken, ohne Interessen zu vermischen.</a:t>
            </a:r>
          </a:p>
        </p:txBody>
      </p:sp>
      <p:sp>
        <p:nvSpPr>
          <p:cNvPr id="28" name="">
            <a:extLst xmlns:a="http://schemas.openxmlformats.org/drawingml/2006/main">
              <a:ext uri="{FF2B5EF4-FFF2-40B4-BE49-F238E27FC236}">
                <a16:creationId xmlns:a16="http://schemas.microsoft.com/office/drawing/2014/main" id="{15545E30-53F8-4264-9908-C90765A66043}"/>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9" name="">
            <a:extLst xmlns:a="http://schemas.openxmlformats.org/drawingml/2006/main">
              <a:ext uri="{FF2B5EF4-FFF2-40B4-BE49-F238E27FC236}">
                <a16:creationId xmlns:a16="http://schemas.microsoft.com/office/drawing/2014/main" id="{3DE94CEC-8DA5-4A48-8C03-2C72731BB6C6}"/>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Ruhiges Schweigen bis zur Beratung ist Verfahrensrecht, nicht Schuldeingeständnis.</a:t>
            </a:r>
          </a:p>
        </p:txBody>
      </p:sp>
    </p:spTree>
    <p:extLst>
      <p:ext uri="{BB962C8B-B14F-4D97-AF65-F5344CB8AC3E}">
        <p14:creationId xmlns:p14="http://schemas.microsoft.com/office/powerpoint/2010/main" val="43637646"/>
      </p:ext>
    </p:extLst>
  </p:cSld>
</p:sld>
</file>

<file path=ppt/slides/slide258.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Vom Verdacht zum möglichen Urteil</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STPO-ABLAUF</a:t>
            </a:r>
            <a:endParaRPr/>
          </a:p>
        </p:txBody>
      </p:sp>
      <p:sp>
        <p:nvSpPr>
          <p:cNvPr id="4" name="">
            <a:extLst xmlns:a="http://schemas.openxmlformats.org/drawingml/2006/main">
              <a:ext uri="{FF2B5EF4-FFF2-40B4-BE49-F238E27FC236}">
                <a16:creationId xmlns:a16="http://schemas.microsoft.com/office/drawing/2014/main" id="{B50E03E7-9932-4A53-925E-A60773FDEA10}"/>
              </a:ext>
            </a:extLst>
          </p:cNvPr>
          <p:cNvSpPr>
            <a:spLocks xmlns:a="http://schemas.openxmlformats.org/drawingml/2006/main" noGrp="1"/>
          </p:cNvSpPr>
          <p:nvPr/>
        </p:nvSpPr>
        <p:spPr>
          <a:xfrm xmlns:a="http://schemas.openxmlformats.org/drawingml/2006/main">
            <a:off x="2000250" y="2657475"/>
            <a:ext cx="9144000" cy="0"/>
          </a:xfrm>
          <a:prstGeom xmlns:a="http://schemas.openxmlformats.org/drawingml/2006/main" prst="line">
            <a:avLst/>
          </a:prstGeom>
          <a:noFill xmlns:a="http://schemas.openxmlformats.org/drawingml/2006/main"/>
          <a:ln xmlns:a="http://schemas.openxmlformats.org/drawingml/2006/main" w="28575">
            <a:solidFill>
              <a:srgbClr val="B9CAD2"/>
            </a:solidFill>
            <a:prstDash val="solid"/>
          </a:ln>
        </p:spPr>
      </p:sp>
      <p:sp>
        <p:nvSpPr>
          <p:cNvPr id="5" name="">
            <a:extLst xmlns:a="http://schemas.openxmlformats.org/drawingml/2006/main">
              <a:ext uri="{FF2B5EF4-FFF2-40B4-BE49-F238E27FC236}">
                <a16:creationId xmlns:a16="http://schemas.microsoft.com/office/drawing/2014/main" id="{05226E1B-7D61-40F0-BEB2-48202C66B5F4}"/>
              </a:ext>
            </a:extLst>
          </p:cNvPr>
          <p:cNvSpPr>
            <a:spLocks xmlns:a="http://schemas.openxmlformats.org/drawingml/2006/main" noGrp="1"/>
          </p:cNvSpPr>
          <p:nvPr/>
        </p:nvSpPr>
        <p:spPr>
          <a:xfrm xmlns:a="http://schemas.openxmlformats.org/drawingml/2006/main">
            <a:off x="2441575" y="2543175"/>
            <a:ext cx="228600" cy="228600"/>
          </a:xfrm>
          <a:prstGeom xmlns:a="http://schemas.openxmlformats.org/drawingml/2006/main" prst="ellipse">
            <a:avLst/>
          </a:prstGeom>
          <a:solidFill xmlns:a="http://schemas.openxmlformats.org/drawingml/2006/main">
            <a:srgbClr val="003F6B"/>
          </a:solidFill>
          <a:ln xmlns:a="http://schemas.openxmlformats.org/drawingml/2006/main" w="19050">
            <a:solidFill>
              <a:srgbClr val="FFFFFF"/>
            </a:solidFill>
            <a:prstDash val="solid"/>
          </a:ln>
        </p:spPr>
      </p:sp>
      <p:sp>
        <p:nvSpPr>
          <p:cNvPr id="6" name="">
            <a:extLst xmlns:a="http://schemas.openxmlformats.org/drawingml/2006/main">
              <a:ext uri="{FF2B5EF4-FFF2-40B4-BE49-F238E27FC236}">
                <a16:creationId xmlns:a16="http://schemas.microsoft.com/office/drawing/2014/main" id="{2ACA8DFB-DE4C-4EFE-9730-581DD1A10C33}"/>
              </a:ext>
            </a:extLst>
          </p:cNvPr>
          <p:cNvSpPr>
            <a:spLocks xmlns:a="http://schemas.openxmlformats.org/drawingml/2006/main" noGrp="1"/>
          </p:cNvSpPr>
          <p:nvPr/>
        </p:nvSpPr>
        <p:spPr>
          <a:xfrm xmlns:a="http://schemas.openxmlformats.org/drawingml/2006/main">
            <a:off x="1809750" y="2105025"/>
            <a:ext cx="149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63" b="1">
                <a:solidFill>
                  <a:srgbClr val="003F6B"/>
                </a:solidFill>
              </a:defRPr>
            </a:pPr>
            <a:r>
              <a:rPr sz="1163" b="1">
                <a:solidFill>
                  <a:srgbClr val="003F6B"/>
                </a:solidFill>
              </a:rPr>
              <a:t>Anfangsverdacht</a:t>
            </a:r>
          </a:p>
        </p:txBody>
      </p:sp>
      <p:sp>
        <p:nvSpPr>
          <p:cNvPr id="7" name="">
            <a:extLst xmlns:a="http://schemas.openxmlformats.org/drawingml/2006/main">
              <a:ext uri="{FF2B5EF4-FFF2-40B4-BE49-F238E27FC236}">
                <a16:creationId xmlns:a16="http://schemas.microsoft.com/office/drawing/2014/main" id="{10C369C6-73B0-4E10-BE32-B0896E712D8D}"/>
              </a:ext>
            </a:extLst>
          </p:cNvPr>
          <p:cNvSpPr>
            <a:spLocks xmlns:a="http://schemas.openxmlformats.org/drawingml/2006/main" noGrp="1"/>
          </p:cNvSpPr>
          <p:nvPr/>
        </p:nvSpPr>
        <p:spPr>
          <a:xfrm xmlns:a="http://schemas.openxmlformats.org/drawingml/2006/main">
            <a:off x="1847850" y="2924175"/>
            <a:ext cx="14160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13">
                <a:solidFill>
                  <a:srgbClr val="15232B"/>
                </a:solidFill>
              </a:defRPr>
            </a:pPr>
            <a:r>
              <a:rPr sz="1013">
                <a:solidFill>
                  <a:srgbClr val="15232B"/>
                </a:solidFill>
              </a:rPr>
              <a:t>Anzeige, Todesfall, Aktenfund</a:t>
            </a:r>
          </a:p>
        </p:txBody>
      </p:sp>
      <p:sp>
        <p:nvSpPr>
          <p:cNvPr id="8" name="">
            <a:extLst xmlns:a="http://schemas.openxmlformats.org/drawingml/2006/main">
              <a:ext uri="{FF2B5EF4-FFF2-40B4-BE49-F238E27FC236}">
                <a16:creationId xmlns:a16="http://schemas.microsoft.com/office/drawing/2014/main" id="{0316EE66-0C5B-430D-9A79-556A34C52B4A}"/>
              </a:ext>
            </a:extLst>
          </p:cNvPr>
          <p:cNvSpPr>
            <a:spLocks xmlns:a="http://schemas.openxmlformats.org/drawingml/2006/main" noGrp="1"/>
          </p:cNvSpPr>
          <p:nvPr/>
        </p:nvSpPr>
        <p:spPr>
          <a:xfrm xmlns:a="http://schemas.openxmlformats.org/drawingml/2006/main">
            <a:off x="4048125" y="2543175"/>
            <a:ext cx="228600" cy="22860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9" name="">
            <a:extLst xmlns:a="http://schemas.openxmlformats.org/drawingml/2006/main">
              <a:ext uri="{FF2B5EF4-FFF2-40B4-BE49-F238E27FC236}">
                <a16:creationId xmlns:a16="http://schemas.microsoft.com/office/drawing/2014/main" id="{52625A68-E948-4C0B-A5C6-458EAED8D9A7}"/>
              </a:ext>
            </a:extLst>
          </p:cNvPr>
          <p:cNvSpPr>
            <a:spLocks xmlns:a="http://schemas.openxmlformats.org/drawingml/2006/main" noGrp="1"/>
          </p:cNvSpPr>
          <p:nvPr/>
        </p:nvSpPr>
        <p:spPr>
          <a:xfrm xmlns:a="http://schemas.openxmlformats.org/drawingml/2006/main">
            <a:off x="3416300" y="2105025"/>
            <a:ext cx="149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63" b="1">
                <a:solidFill>
                  <a:srgbClr val="003F6B"/>
                </a:solidFill>
              </a:defRPr>
            </a:pPr>
            <a:r>
              <a:rPr sz="1163" b="1">
                <a:solidFill>
                  <a:srgbClr val="003F6B"/>
                </a:solidFill>
              </a:rPr>
              <a:t>Ermittlung</a:t>
            </a:r>
          </a:p>
        </p:txBody>
      </p:sp>
      <p:sp>
        <p:nvSpPr>
          <p:cNvPr id="10" name="">
            <a:extLst xmlns:a="http://schemas.openxmlformats.org/drawingml/2006/main">
              <a:ext uri="{FF2B5EF4-FFF2-40B4-BE49-F238E27FC236}">
                <a16:creationId xmlns:a16="http://schemas.microsoft.com/office/drawing/2014/main" id="{D50FDCC5-2333-40EC-AEB6-C1B2E6C85096}"/>
              </a:ext>
            </a:extLst>
          </p:cNvPr>
          <p:cNvSpPr>
            <a:spLocks xmlns:a="http://schemas.openxmlformats.org/drawingml/2006/main" noGrp="1"/>
          </p:cNvSpPr>
          <p:nvPr/>
        </p:nvSpPr>
        <p:spPr>
          <a:xfrm xmlns:a="http://schemas.openxmlformats.org/drawingml/2006/main">
            <a:off x="3454400" y="2924175"/>
            <a:ext cx="14160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13">
                <a:solidFill>
                  <a:srgbClr val="15232B"/>
                </a:solidFill>
              </a:defRPr>
            </a:pPr>
            <a:r>
              <a:rPr sz="1013">
                <a:solidFill>
                  <a:srgbClr val="15232B"/>
                </a:solidFill>
              </a:rPr>
              <a:t>entlastend und belastend; Akten, Gutachten, Vernehmungen</a:t>
            </a:r>
          </a:p>
        </p:txBody>
      </p:sp>
      <p:sp>
        <p:nvSpPr>
          <p:cNvPr id="11" name="">
            <a:extLst xmlns:a="http://schemas.openxmlformats.org/drawingml/2006/main">
              <a:ext uri="{FF2B5EF4-FFF2-40B4-BE49-F238E27FC236}">
                <a16:creationId xmlns:a16="http://schemas.microsoft.com/office/drawing/2014/main" id="{290B8F08-BC6E-44F7-8FB2-2A81EE45357B}"/>
              </a:ext>
            </a:extLst>
          </p:cNvPr>
          <p:cNvSpPr>
            <a:spLocks xmlns:a="http://schemas.openxmlformats.org/drawingml/2006/main" noGrp="1"/>
          </p:cNvSpPr>
          <p:nvPr/>
        </p:nvSpPr>
        <p:spPr>
          <a:xfrm xmlns:a="http://schemas.openxmlformats.org/drawingml/2006/main">
            <a:off x="5654675" y="2543175"/>
            <a:ext cx="228600" cy="22860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12" name="">
            <a:extLst xmlns:a="http://schemas.openxmlformats.org/drawingml/2006/main">
              <a:ext uri="{FF2B5EF4-FFF2-40B4-BE49-F238E27FC236}">
                <a16:creationId xmlns:a16="http://schemas.microsoft.com/office/drawing/2014/main" id="{807FE1E3-5808-44F6-A184-CB18FB0C0946}"/>
              </a:ext>
            </a:extLst>
          </p:cNvPr>
          <p:cNvSpPr>
            <a:spLocks xmlns:a="http://schemas.openxmlformats.org/drawingml/2006/main" noGrp="1"/>
          </p:cNvSpPr>
          <p:nvPr/>
        </p:nvSpPr>
        <p:spPr>
          <a:xfrm xmlns:a="http://schemas.openxmlformats.org/drawingml/2006/main">
            <a:off x="5022850" y="2105025"/>
            <a:ext cx="149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63" b="1">
                <a:solidFill>
                  <a:srgbClr val="003F6B"/>
                </a:solidFill>
              </a:defRPr>
            </a:pPr>
            <a:r>
              <a:rPr sz="1163" b="1">
                <a:solidFill>
                  <a:srgbClr val="003F6B"/>
                </a:solidFill>
              </a:rPr>
              <a:t>Entscheidung</a:t>
            </a:r>
          </a:p>
        </p:txBody>
      </p:sp>
      <p:sp>
        <p:nvSpPr>
          <p:cNvPr id="13" name="">
            <a:extLst xmlns:a="http://schemas.openxmlformats.org/drawingml/2006/main">
              <a:ext uri="{FF2B5EF4-FFF2-40B4-BE49-F238E27FC236}">
                <a16:creationId xmlns:a16="http://schemas.microsoft.com/office/drawing/2014/main" id="{C8A739B4-3C5A-44CE-9FE3-D18D930B0DB9}"/>
              </a:ext>
            </a:extLst>
          </p:cNvPr>
          <p:cNvSpPr>
            <a:spLocks xmlns:a="http://schemas.openxmlformats.org/drawingml/2006/main" noGrp="1"/>
          </p:cNvSpPr>
          <p:nvPr/>
        </p:nvSpPr>
        <p:spPr>
          <a:xfrm xmlns:a="http://schemas.openxmlformats.org/drawingml/2006/main">
            <a:off x="5060950" y="2924175"/>
            <a:ext cx="14160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13">
                <a:solidFill>
                  <a:srgbClr val="15232B"/>
                </a:solidFill>
              </a:defRPr>
            </a:pPr>
            <a:r>
              <a:rPr sz="1013">
                <a:solidFill>
                  <a:srgbClr val="15232B"/>
                </a:solidFill>
              </a:rPr>
              <a:t>Einstellung oder Anklage</a:t>
            </a:r>
          </a:p>
        </p:txBody>
      </p:sp>
      <p:sp>
        <p:nvSpPr>
          <p:cNvPr id="14" name="">
            <a:extLst xmlns:a="http://schemas.openxmlformats.org/drawingml/2006/main">
              <a:ext uri="{FF2B5EF4-FFF2-40B4-BE49-F238E27FC236}">
                <a16:creationId xmlns:a16="http://schemas.microsoft.com/office/drawing/2014/main" id="{905AB85D-C8E5-4D48-ACF8-7D1FA055B35A}"/>
              </a:ext>
            </a:extLst>
          </p:cNvPr>
          <p:cNvSpPr>
            <a:spLocks xmlns:a="http://schemas.openxmlformats.org/drawingml/2006/main" noGrp="1"/>
          </p:cNvSpPr>
          <p:nvPr/>
        </p:nvSpPr>
        <p:spPr>
          <a:xfrm xmlns:a="http://schemas.openxmlformats.org/drawingml/2006/main">
            <a:off x="7261225" y="2543175"/>
            <a:ext cx="228600" cy="22860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15" name="">
            <a:extLst xmlns:a="http://schemas.openxmlformats.org/drawingml/2006/main">
              <a:ext uri="{FF2B5EF4-FFF2-40B4-BE49-F238E27FC236}">
                <a16:creationId xmlns:a16="http://schemas.microsoft.com/office/drawing/2014/main" id="{360DB829-D761-449C-81D8-B646B3528790}"/>
              </a:ext>
            </a:extLst>
          </p:cNvPr>
          <p:cNvSpPr>
            <a:spLocks xmlns:a="http://schemas.openxmlformats.org/drawingml/2006/main" noGrp="1"/>
          </p:cNvSpPr>
          <p:nvPr/>
        </p:nvSpPr>
        <p:spPr>
          <a:xfrm xmlns:a="http://schemas.openxmlformats.org/drawingml/2006/main">
            <a:off x="6629400" y="2105025"/>
            <a:ext cx="149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63" b="1">
                <a:solidFill>
                  <a:srgbClr val="003F6B"/>
                </a:solidFill>
              </a:defRPr>
            </a:pPr>
            <a:r>
              <a:rPr sz="1163" b="1">
                <a:solidFill>
                  <a:srgbClr val="003F6B"/>
                </a:solidFill>
              </a:rPr>
              <a:t>Zwischenverfahren</a:t>
            </a:r>
          </a:p>
        </p:txBody>
      </p:sp>
      <p:sp>
        <p:nvSpPr>
          <p:cNvPr id="16" name="">
            <a:extLst xmlns:a="http://schemas.openxmlformats.org/drawingml/2006/main">
              <a:ext uri="{FF2B5EF4-FFF2-40B4-BE49-F238E27FC236}">
                <a16:creationId xmlns:a16="http://schemas.microsoft.com/office/drawing/2014/main" id="{9848DF0A-9F70-46FC-B0CE-07FE3012B671}"/>
              </a:ext>
            </a:extLst>
          </p:cNvPr>
          <p:cNvSpPr>
            <a:spLocks xmlns:a="http://schemas.openxmlformats.org/drawingml/2006/main" noGrp="1"/>
          </p:cNvSpPr>
          <p:nvPr/>
        </p:nvSpPr>
        <p:spPr>
          <a:xfrm xmlns:a="http://schemas.openxmlformats.org/drawingml/2006/main">
            <a:off x="6667500" y="2924175"/>
            <a:ext cx="14160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13">
                <a:solidFill>
                  <a:srgbClr val="15232B"/>
                </a:solidFill>
              </a:defRPr>
            </a:pPr>
            <a:r>
              <a:rPr sz="1013">
                <a:solidFill>
                  <a:srgbClr val="15232B"/>
                </a:solidFill>
              </a:rPr>
              <a:t>Gericht prüft Eröffnung</a:t>
            </a:r>
          </a:p>
        </p:txBody>
      </p:sp>
      <p:sp>
        <p:nvSpPr>
          <p:cNvPr id="17" name="">
            <a:extLst xmlns:a="http://schemas.openxmlformats.org/drawingml/2006/main">
              <a:ext uri="{FF2B5EF4-FFF2-40B4-BE49-F238E27FC236}">
                <a16:creationId xmlns:a16="http://schemas.microsoft.com/office/drawing/2014/main" id="{C87416A0-EAE3-48FC-B932-1DB5B1C6629D}"/>
              </a:ext>
            </a:extLst>
          </p:cNvPr>
          <p:cNvSpPr>
            <a:spLocks xmlns:a="http://schemas.openxmlformats.org/drawingml/2006/main" noGrp="1"/>
          </p:cNvSpPr>
          <p:nvPr/>
        </p:nvSpPr>
        <p:spPr>
          <a:xfrm xmlns:a="http://schemas.openxmlformats.org/drawingml/2006/main">
            <a:off x="8867775" y="2543175"/>
            <a:ext cx="228600" cy="22860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18" name="">
            <a:extLst xmlns:a="http://schemas.openxmlformats.org/drawingml/2006/main">
              <a:ext uri="{FF2B5EF4-FFF2-40B4-BE49-F238E27FC236}">
                <a16:creationId xmlns:a16="http://schemas.microsoft.com/office/drawing/2014/main" id="{64912532-87FB-4E62-AEA0-E5040E6B3554}"/>
              </a:ext>
            </a:extLst>
          </p:cNvPr>
          <p:cNvSpPr>
            <a:spLocks xmlns:a="http://schemas.openxmlformats.org/drawingml/2006/main" noGrp="1"/>
          </p:cNvSpPr>
          <p:nvPr/>
        </p:nvSpPr>
        <p:spPr>
          <a:xfrm xmlns:a="http://schemas.openxmlformats.org/drawingml/2006/main">
            <a:off x="8235950" y="2105025"/>
            <a:ext cx="149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63" b="1">
                <a:solidFill>
                  <a:srgbClr val="003F6B"/>
                </a:solidFill>
              </a:defRPr>
            </a:pPr>
            <a:r>
              <a:rPr sz="1163" b="1">
                <a:solidFill>
                  <a:srgbClr val="003F6B"/>
                </a:solidFill>
              </a:rPr>
              <a:t>Hauptverhandlung</a:t>
            </a:r>
          </a:p>
        </p:txBody>
      </p:sp>
      <p:sp>
        <p:nvSpPr>
          <p:cNvPr id="19" name="">
            <a:extLst xmlns:a="http://schemas.openxmlformats.org/drawingml/2006/main">
              <a:ext uri="{FF2B5EF4-FFF2-40B4-BE49-F238E27FC236}">
                <a16:creationId xmlns:a16="http://schemas.microsoft.com/office/drawing/2014/main" id="{47009D50-1B49-4F33-A1C9-8593DC27C731}"/>
              </a:ext>
            </a:extLst>
          </p:cNvPr>
          <p:cNvSpPr>
            <a:spLocks xmlns:a="http://schemas.openxmlformats.org/drawingml/2006/main" noGrp="1"/>
          </p:cNvSpPr>
          <p:nvPr/>
        </p:nvSpPr>
        <p:spPr>
          <a:xfrm xmlns:a="http://schemas.openxmlformats.org/drawingml/2006/main">
            <a:off x="8274050" y="2924175"/>
            <a:ext cx="14160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13">
                <a:solidFill>
                  <a:srgbClr val="15232B"/>
                </a:solidFill>
              </a:defRPr>
            </a:pPr>
            <a:r>
              <a:rPr sz="1013">
                <a:solidFill>
                  <a:srgbClr val="15232B"/>
                </a:solidFill>
              </a:rPr>
              <a:t>Beweisaufnahme, Plädoyers</a:t>
            </a:r>
          </a:p>
        </p:txBody>
      </p:sp>
      <p:sp>
        <p:nvSpPr>
          <p:cNvPr id="20" name="">
            <a:extLst xmlns:a="http://schemas.openxmlformats.org/drawingml/2006/main">
              <a:ext uri="{FF2B5EF4-FFF2-40B4-BE49-F238E27FC236}">
                <a16:creationId xmlns:a16="http://schemas.microsoft.com/office/drawing/2014/main" id="{D97A7D56-2967-43DA-AA3E-7EB5AA77B39B}"/>
              </a:ext>
            </a:extLst>
          </p:cNvPr>
          <p:cNvSpPr>
            <a:spLocks xmlns:a="http://schemas.openxmlformats.org/drawingml/2006/main" noGrp="1"/>
          </p:cNvSpPr>
          <p:nvPr/>
        </p:nvSpPr>
        <p:spPr>
          <a:xfrm xmlns:a="http://schemas.openxmlformats.org/drawingml/2006/main">
            <a:off x="10474325" y="2543175"/>
            <a:ext cx="228600" cy="22860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21" name="">
            <a:extLst xmlns:a="http://schemas.openxmlformats.org/drawingml/2006/main">
              <a:ext uri="{FF2B5EF4-FFF2-40B4-BE49-F238E27FC236}">
                <a16:creationId xmlns:a16="http://schemas.microsoft.com/office/drawing/2014/main" id="{D8C63C30-F6A0-4279-B4E4-E38FAC2157E5}"/>
              </a:ext>
            </a:extLst>
          </p:cNvPr>
          <p:cNvSpPr>
            <a:spLocks xmlns:a="http://schemas.openxmlformats.org/drawingml/2006/main" noGrp="1"/>
          </p:cNvSpPr>
          <p:nvPr/>
        </p:nvSpPr>
        <p:spPr>
          <a:xfrm xmlns:a="http://schemas.openxmlformats.org/drawingml/2006/main">
            <a:off x="9842500" y="2105025"/>
            <a:ext cx="149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63" b="1">
                <a:solidFill>
                  <a:srgbClr val="003F6B"/>
                </a:solidFill>
              </a:defRPr>
            </a:pPr>
            <a:r>
              <a:rPr sz="1163" b="1">
                <a:solidFill>
                  <a:srgbClr val="003F6B"/>
                </a:solidFill>
              </a:rPr>
              <a:t>Urteil / Ende</a:t>
            </a:r>
          </a:p>
        </p:txBody>
      </p:sp>
      <p:sp>
        <p:nvSpPr>
          <p:cNvPr id="22" name="">
            <a:extLst xmlns:a="http://schemas.openxmlformats.org/drawingml/2006/main">
              <a:ext uri="{FF2B5EF4-FFF2-40B4-BE49-F238E27FC236}">
                <a16:creationId xmlns:a16="http://schemas.microsoft.com/office/drawing/2014/main" id="{325E9149-E516-44A6-BE79-A00F350A0C65}"/>
              </a:ext>
            </a:extLst>
          </p:cNvPr>
          <p:cNvSpPr>
            <a:spLocks xmlns:a="http://schemas.openxmlformats.org/drawingml/2006/main" noGrp="1"/>
          </p:cNvSpPr>
          <p:nvPr/>
        </p:nvSpPr>
        <p:spPr>
          <a:xfrm xmlns:a="http://schemas.openxmlformats.org/drawingml/2006/main">
            <a:off x="9880600" y="2924175"/>
            <a:ext cx="14160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13">
                <a:solidFill>
                  <a:srgbClr val="15232B"/>
                </a:solidFill>
              </a:defRPr>
            </a:pPr>
            <a:r>
              <a:rPr sz="1013">
                <a:solidFill>
                  <a:srgbClr val="15232B"/>
                </a:solidFill>
              </a:rPr>
              <a:t>Freispruch, Verurteilung, Einstellung</a:t>
            </a:r>
          </a:p>
        </p:txBody>
      </p:sp>
      <p:sp>
        <p:nvSpPr>
          <p:cNvPr id="23" name="">
            <a:extLst xmlns:a="http://schemas.openxmlformats.org/drawingml/2006/main">
              <a:ext uri="{FF2B5EF4-FFF2-40B4-BE49-F238E27FC236}">
                <a16:creationId xmlns:a16="http://schemas.microsoft.com/office/drawing/2014/main" id="{570892E7-9DFC-4128-8909-E4102A244153}"/>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4" name="">
            <a:extLst xmlns:a="http://schemas.openxmlformats.org/drawingml/2006/main">
              <a:ext uri="{FF2B5EF4-FFF2-40B4-BE49-F238E27FC236}">
                <a16:creationId xmlns:a16="http://schemas.microsoft.com/office/drawing/2014/main" id="{A2D559CC-295E-4B2E-8C9B-8D51D59773CA}"/>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Eine Anzeige ist keine Anklage; eine Anklage ist keine Verurteilung.</a:t>
            </a:r>
          </a:p>
        </p:txBody>
      </p:sp>
    </p:spTree>
    <p:extLst>
      <p:ext uri="{BB962C8B-B14F-4D97-AF65-F5344CB8AC3E}">
        <p14:creationId xmlns:p14="http://schemas.microsoft.com/office/powerpoint/2010/main" val="43637646"/>
      </p:ext>
    </p:extLst>
  </p:cSld>
</p:sld>
</file>

<file path=ppt/slides/slide259.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Typische strafrechtliche Anknüpfungen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NICHT NUR § 229 STGB</a:t>
            </a:r>
            <a:endParaRPr/>
          </a:p>
        </p:txBody>
      </p:sp>
      <p:sp>
        <p:nvSpPr>
          <p:cNvPr id="4" name="">
            <a:extLst xmlns:a="http://schemas.openxmlformats.org/drawingml/2006/main">
              <a:ext uri="{FF2B5EF4-FFF2-40B4-BE49-F238E27FC236}">
                <a16:creationId xmlns:a16="http://schemas.microsoft.com/office/drawing/2014/main" id="{D7E50D35-82D5-4692-82DF-6DC91070C9B4}"/>
              </a:ext>
            </a:extLst>
          </p:cNvPr>
          <p:cNvSpPr>
            <a:spLocks xmlns:a="http://schemas.openxmlformats.org/drawingml/2006/main" noGrp="1"/>
          </p:cNvSpPr>
          <p:nvPr/>
        </p:nvSpPr>
        <p:spPr>
          <a:xfrm xmlns:a="http://schemas.openxmlformats.org/drawingml/2006/main">
            <a:off x="1809750" y="1952625"/>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23B422ED-6321-4FF0-8DB4-F6AD41BFB16F}"/>
              </a:ext>
            </a:extLst>
          </p:cNvPr>
          <p:cNvSpPr>
            <a:spLocks xmlns:a="http://schemas.openxmlformats.org/drawingml/2006/main" noGrp="1"/>
          </p:cNvSpPr>
          <p:nvPr/>
        </p:nvSpPr>
        <p:spPr>
          <a:xfrm xmlns:a="http://schemas.openxmlformats.org/drawingml/2006/main">
            <a:off x="1809750" y="1952625"/>
            <a:ext cx="30734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C8D1EC1E-2FF0-4AF6-BEFE-D09512CCAF1C}"/>
              </a:ext>
            </a:extLst>
          </p:cNvPr>
          <p:cNvSpPr>
            <a:spLocks xmlns:a="http://schemas.openxmlformats.org/drawingml/2006/main" noGrp="1"/>
          </p:cNvSpPr>
          <p:nvPr/>
        </p:nvSpPr>
        <p:spPr>
          <a:xfrm xmlns:a="http://schemas.openxmlformats.org/drawingml/2006/main">
            <a:off x="1962150" y="2085975"/>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Fahrlässige Körperverletzung / Tötung</a:t>
            </a:r>
          </a:p>
        </p:txBody>
      </p:sp>
      <p:sp>
        <p:nvSpPr>
          <p:cNvPr id="7" name="">
            <a:extLst xmlns:a="http://schemas.openxmlformats.org/drawingml/2006/main">
              <a:ext uri="{FF2B5EF4-FFF2-40B4-BE49-F238E27FC236}">
                <a16:creationId xmlns:a16="http://schemas.microsoft.com/office/drawing/2014/main" id="{33088EF8-5334-46FC-A5D4-C2D24D529171}"/>
              </a:ext>
            </a:extLst>
          </p:cNvPr>
          <p:cNvSpPr>
            <a:spLocks xmlns:a="http://schemas.openxmlformats.org/drawingml/2006/main" noGrp="1"/>
          </p:cNvSpPr>
          <p:nvPr/>
        </p:nvSpPr>
        <p:spPr>
          <a:xfrm xmlns:a="http://schemas.openxmlformats.org/drawingml/2006/main">
            <a:off x="1962150" y="2524125"/>
            <a:ext cx="27686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 229, 222 StGB: Pflichtwidrigkeit, Vorhersehbarkeit, Vermeidbarkeit, Kausalität.</a:t>
            </a:r>
          </a:p>
        </p:txBody>
      </p:sp>
      <p:sp>
        <p:nvSpPr>
          <p:cNvPr id="8" name="">
            <a:extLst xmlns:a="http://schemas.openxmlformats.org/drawingml/2006/main">
              <a:ext uri="{FF2B5EF4-FFF2-40B4-BE49-F238E27FC236}">
                <a16:creationId xmlns:a16="http://schemas.microsoft.com/office/drawing/2014/main" id="{56115E9F-25B6-4401-A537-80173063A118}"/>
              </a:ext>
            </a:extLst>
          </p:cNvPr>
          <p:cNvSpPr>
            <a:spLocks xmlns:a="http://schemas.openxmlformats.org/drawingml/2006/main" noGrp="1"/>
          </p:cNvSpPr>
          <p:nvPr/>
        </p:nvSpPr>
        <p:spPr>
          <a:xfrm xmlns:a="http://schemas.openxmlformats.org/drawingml/2006/main">
            <a:off x="5035550" y="1952625"/>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9" name="">
            <a:extLst xmlns:a="http://schemas.openxmlformats.org/drawingml/2006/main">
              <a:ext uri="{FF2B5EF4-FFF2-40B4-BE49-F238E27FC236}">
                <a16:creationId xmlns:a16="http://schemas.microsoft.com/office/drawing/2014/main" id="{64AE1592-D2DA-4D92-9450-C9063A39B330}"/>
              </a:ext>
            </a:extLst>
          </p:cNvPr>
          <p:cNvSpPr>
            <a:spLocks xmlns:a="http://schemas.openxmlformats.org/drawingml/2006/main" noGrp="1"/>
          </p:cNvSpPr>
          <p:nvPr/>
        </p:nvSpPr>
        <p:spPr>
          <a:xfrm xmlns:a="http://schemas.openxmlformats.org/drawingml/2006/main">
            <a:off x="5035550" y="1952625"/>
            <a:ext cx="307340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8BF8FAA2-0C10-4EE8-B50D-23DB6055CB8A}"/>
              </a:ext>
            </a:extLst>
          </p:cNvPr>
          <p:cNvSpPr>
            <a:spLocks xmlns:a="http://schemas.openxmlformats.org/drawingml/2006/main" noGrp="1"/>
          </p:cNvSpPr>
          <p:nvPr/>
        </p:nvSpPr>
        <p:spPr>
          <a:xfrm xmlns:a="http://schemas.openxmlformats.org/drawingml/2006/main">
            <a:off x="5187950" y="2085975"/>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Unterlassen</a:t>
            </a:r>
          </a:p>
        </p:txBody>
      </p:sp>
      <p:sp>
        <p:nvSpPr>
          <p:cNvPr id="11" name="">
            <a:extLst xmlns:a="http://schemas.openxmlformats.org/drawingml/2006/main">
              <a:ext uri="{FF2B5EF4-FFF2-40B4-BE49-F238E27FC236}">
                <a16:creationId xmlns:a16="http://schemas.microsoft.com/office/drawing/2014/main" id="{19C6198D-7514-44FA-B64C-20312577DA9A}"/>
              </a:ext>
            </a:extLst>
          </p:cNvPr>
          <p:cNvSpPr>
            <a:spLocks xmlns:a="http://schemas.openxmlformats.org/drawingml/2006/main" noGrp="1"/>
          </p:cNvSpPr>
          <p:nvPr/>
        </p:nvSpPr>
        <p:spPr>
          <a:xfrm xmlns:a="http://schemas.openxmlformats.org/drawingml/2006/main">
            <a:off x="5187950" y="2524125"/>
            <a:ext cx="27686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 13 StGB: Garantenstellung und mögliche / zumutbare Handlung.</a:t>
            </a:r>
          </a:p>
        </p:txBody>
      </p:sp>
      <p:sp>
        <p:nvSpPr>
          <p:cNvPr id="12" name="">
            <a:extLst xmlns:a="http://schemas.openxmlformats.org/drawingml/2006/main">
              <a:ext uri="{FF2B5EF4-FFF2-40B4-BE49-F238E27FC236}">
                <a16:creationId xmlns:a16="http://schemas.microsoft.com/office/drawing/2014/main" id="{DB1B2C69-3DDE-450B-99E7-DD0FA7EE2DD4}"/>
              </a:ext>
            </a:extLst>
          </p:cNvPr>
          <p:cNvSpPr>
            <a:spLocks xmlns:a="http://schemas.openxmlformats.org/drawingml/2006/main" noGrp="1"/>
          </p:cNvSpPr>
          <p:nvPr/>
        </p:nvSpPr>
        <p:spPr>
          <a:xfrm xmlns:a="http://schemas.openxmlformats.org/drawingml/2006/main">
            <a:off x="8261350" y="1952625"/>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13" name="">
            <a:extLst xmlns:a="http://schemas.openxmlformats.org/drawingml/2006/main">
              <a:ext uri="{FF2B5EF4-FFF2-40B4-BE49-F238E27FC236}">
                <a16:creationId xmlns:a16="http://schemas.microsoft.com/office/drawing/2014/main" id="{A2C123F1-3FE8-4820-910D-928F6A91B310}"/>
              </a:ext>
            </a:extLst>
          </p:cNvPr>
          <p:cNvSpPr>
            <a:spLocks xmlns:a="http://schemas.openxmlformats.org/drawingml/2006/main" noGrp="1"/>
          </p:cNvSpPr>
          <p:nvPr/>
        </p:nvSpPr>
        <p:spPr>
          <a:xfrm xmlns:a="http://schemas.openxmlformats.org/drawingml/2006/main">
            <a:off x="8261350" y="1952625"/>
            <a:ext cx="30734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1485CE4E-7DB0-48E0-A0A7-9A5EE098E34E}"/>
              </a:ext>
            </a:extLst>
          </p:cNvPr>
          <p:cNvSpPr>
            <a:spLocks xmlns:a="http://schemas.openxmlformats.org/drawingml/2006/main" noGrp="1"/>
          </p:cNvSpPr>
          <p:nvPr/>
        </p:nvSpPr>
        <p:spPr>
          <a:xfrm xmlns:a="http://schemas.openxmlformats.org/drawingml/2006/main">
            <a:off x="8413750" y="2085975"/>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Unterlassene Hilfeleistung</a:t>
            </a:r>
          </a:p>
        </p:txBody>
      </p:sp>
      <p:sp>
        <p:nvSpPr>
          <p:cNvPr id="15" name="">
            <a:extLst xmlns:a="http://schemas.openxmlformats.org/drawingml/2006/main">
              <a:ext uri="{FF2B5EF4-FFF2-40B4-BE49-F238E27FC236}">
                <a16:creationId xmlns:a16="http://schemas.microsoft.com/office/drawing/2014/main" id="{B11BE849-B666-462B-91B3-686ECCA41329}"/>
              </a:ext>
            </a:extLst>
          </p:cNvPr>
          <p:cNvSpPr>
            <a:spLocks xmlns:a="http://schemas.openxmlformats.org/drawingml/2006/main" noGrp="1"/>
          </p:cNvSpPr>
          <p:nvPr/>
        </p:nvSpPr>
        <p:spPr>
          <a:xfrm xmlns:a="http://schemas.openxmlformats.org/drawingml/2006/main">
            <a:off x="8413750" y="2524125"/>
            <a:ext cx="27686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 323c StGB: eigenständige allgemeine Hilfspflicht.</a:t>
            </a:r>
          </a:p>
        </p:txBody>
      </p:sp>
      <p:sp>
        <p:nvSpPr>
          <p:cNvPr id="16" name="">
            <a:extLst xmlns:a="http://schemas.openxmlformats.org/drawingml/2006/main">
              <a:ext uri="{FF2B5EF4-FFF2-40B4-BE49-F238E27FC236}">
                <a16:creationId xmlns:a16="http://schemas.microsoft.com/office/drawing/2014/main" id="{A3B813AD-4189-4C64-8DE4-4A960952F90E}"/>
              </a:ext>
            </a:extLst>
          </p:cNvPr>
          <p:cNvSpPr>
            <a:spLocks xmlns:a="http://schemas.openxmlformats.org/drawingml/2006/main" noGrp="1"/>
          </p:cNvSpPr>
          <p:nvPr/>
        </p:nvSpPr>
        <p:spPr>
          <a:xfrm xmlns:a="http://schemas.openxmlformats.org/drawingml/2006/main">
            <a:off x="1809750" y="3767138"/>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17" name="">
            <a:extLst xmlns:a="http://schemas.openxmlformats.org/drawingml/2006/main">
              <a:ext uri="{FF2B5EF4-FFF2-40B4-BE49-F238E27FC236}">
                <a16:creationId xmlns:a16="http://schemas.microsoft.com/office/drawing/2014/main" id="{16569DE6-C63A-4DCE-83EB-7C891C7D1CAF}"/>
              </a:ext>
            </a:extLst>
          </p:cNvPr>
          <p:cNvSpPr>
            <a:spLocks xmlns:a="http://schemas.openxmlformats.org/drawingml/2006/main" noGrp="1"/>
          </p:cNvSpPr>
          <p:nvPr/>
        </p:nvSpPr>
        <p:spPr>
          <a:xfrm xmlns:a="http://schemas.openxmlformats.org/drawingml/2006/main">
            <a:off x="1809750" y="3767138"/>
            <a:ext cx="307340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C8C8D9CC-AEE4-400C-90FA-C3C968C51575}"/>
              </a:ext>
            </a:extLst>
          </p:cNvPr>
          <p:cNvSpPr>
            <a:spLocks xmlns:a="http://schemas.openxmlformats.org/drawingml/2006/main" noGrp="1"/>
          </p:cNvSpPr>
          <p:nvPr/>
        </p:nvSpPr>
        <p:spPr>
          <a:xfrm xmlns:a="http://schemas.openxmlformats.org/drawingml/2006/main">
            <a:off x="1962150" y="3900488"/>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Schweigepflicht</a:t>
            </a:r>
          </a:p>
        </p:txBody>
      </p:sp>
      <p:sp>
        <p:nvSpPr>
          <p:cNvPr id="19" name="">
            <a:extLst xmlns:a="http://schemas.openxmlformats.org/drawingml/2006/main">
              <a:ext uri="{FF2B5EF4-FFF2-40B4-BE49-F238E27FC236}">
                <a16:creationId xmlns:a16="http://schemas.microsoft.com/office/drawing/2014/main" id="{4F4BC01F-0CAE-4699-9DDD-656424F3E53B}"/>
              </a:ext>
            </a:extLst>
          </p:cNvPr>
          <p:cNvSpPr>
            <a:spLocks xmlns:a="http://schemas.openxmlformats.org/drawingml/2006/main" noGrp="1"/>
          </p:cNvSpPr>
          <p:nvPr/>
        </p:nvSpPr>
        <p:spPr>
          <a:xfrm xmlns:a="http://schemas.openxmlformats.org/drawingml/2006/main">
            <a:off x="1962150" y="4338638"/>
            <a:ext cx="27686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 203 StGB: unbefugtes Offenbaren von Patientengeheimnissen.</a:t>
            </a:r>
          </a:p>
        </p:txBody>
      </p:sp>
      <p:sp>
        <p:nvSpPr>
          <p:cNvPr id="20" name="">
            <a:extLst xmlns:a="http://schemas.openxmlformats.org/drawingml/2006/main">
              <a:ext uri="{FF2B5EF4-FFF2-40B4-BE49-F238E27FC236}">
                <a16:creationId xmlns:a16="http://schemas.microsoft.com/office/drawing/2014/main" id="{216EF4BA-AC11-4B4B-B174-390536E836A6}"/>
              </a:ext>
            </a:extLst>
          </p:cNvPr>
          <p:cNvSpPr>
            <a:spLocks xmlns:a="http://schemas.openxmlformats.org/drawingml/2006/main" noGrp="1"/>
          </p:cNvSpPr>
          <p:nvPr/>
        </p:nvSpPr>
        <p:spPr>
          <a:xfrm xmlns:a="http://schemas.openxmlformats.org/drawingml/2006/main">
            <a:off x="5035550" y="3767138"/>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21" name="">
            <a:extLst xmlns:a="http://schemas.openxmlformats.org/drawingml/2006/main">
              <a:ext uri="{FF2B5EF4-FFF2-40B4-BE49-F238E27FC236}">
                <a16:creationId xmlns:a16="http://schemas.microsoft.com/office/drawing/2014/main" id="{DB5A74EC-C2B9-4E87-AE88-70B0B74B283D}"/>
              </a:ext>
            </a:extLst>
          </p:cNvPr>
          <p:cNvSpPr>
            <a:spLocks xmlns:a="http://schemas.openxmlformats.org/drawingml/2006/main" noGrp="1"/>
          </p:cNvSpPr>
          <p:nvPr/>
        </p:nvSpPr>
        <p:spPr>
          <a:xfrm xmlns:a="http://schemas.openxmlformats.org/drawingml/2006/main">
            <a:off x="5035550" y="3767138"/>
            <a:ext cx="30734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22" name="">
            <a:extLst xmlns:a="http://schemas.openxmlformats.org/drawingml/2006/main">
              <a:ext uri="{FF2B5EF4-FFF2-40B4-BE49-F238E27FC236}">
                <a16:creationId xmlns:a16="http://schemas.microsoft.com/office/drawing/2014/main" id="{CE4CC794-DAEA-4C32-8ACD-241DC86FE671}"/>
              </a:ext>
            </a:extLst>
          </p:cNvPr>
          <p:cNvSpPr>
            <a:spLocks xmlns:a="http://schemas.openxmlformats.org/drawingml/2006/main" noGrp="1"/>
          </p:cNvSpPr>
          <p:nvPr/>
        </p:nvSpPr>
        <p:spPr>
          <a:xfrm xmlns:a="http://schemas.openxmlformats.org/drawingml/2006/main">
            <a:off x="5187950" y="3900488"/>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Dokumente</a:t>
            </a:r>
          </a:p>
        </p:txBody>
      </p:sp>
      <p:sp>
        <p:nvSpPr>
          <p:cNvPr id="23" name="">
            <a:extLst xmlns:a="http://schemas.openxmlformats.org/drawingml/2006/main">
              <a:ext uri="{FF2B5EF4-FFF2-40B4-BE49-F238E27FC236}">
                <a16:creationId xmlns:a16="http://schemas.microsoft.com/office/drawing/2014/main" id="{F798CE0D-46E6-4DB7-B25C-72C76F7CED6D}"/>
              </a:ext>
            </a:extLst>
          </p:cNvPr>
          <p:cNvSpPr>
            <a:spLocks xmlns:a="http://schemas.openxmlformats.org/drawingml/2006/main" noGrp="1"/>
          </p:cNvSpPr>
          <p:nvPr/>
        </p:nvSpPr>
        <p:spPr>
          <a:xfrm xmlns:a="http://schemas.openxmlformats.org/drawingml/2006/main">
            <a:off x="5187950" y="4338638"/>
            <a:ext cx="27686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 267 StGB betrifft Echtheit von Urkunden; falscher Inhalt allein ist nicht automatisch Urkundenfälschung.</a:t>
            </a:r>
          </a:p>
        </p:txBody>
      </p:sp>
      <p:sp>
        <p:nvSpPr>
          <p:cNvPr id="24" name="">
            <a:extLst xmlns:a="http://schemas.openxmlformats.org/drawingml/2006/main">
              <a:ext uri="{FF2B5EF4-FFF2-40B4-BE49-F238E27FC236}">
                <a16:creationId xmlns:a16="http://schemas.microsoft.com/office/drawing/2014/main" id="{DE0E4F22-CFD6-4ED1-A441-406BD45D63CC}"/>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5" name="">
            <a:extLst xmlns:a="http://schemas.openxmlformats.org/drawingml/2006/main">
              <a:ext uri="{FF2B5EF4-FFF2-40B4-BE49-F238E27FC236}">
                <a16:creationId xmlns:a16="http://schemas.microsoft.com/office/drawing/2014/main" id="{9B3EE742-670B-420E-90C0-FBA0734ECECE}"/>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Strafrecht fragt nach persönlichem Vorwurf jenseits vernünftiger Zweifel – nicht nur nach medizinischer Abweichung.</a:t>
            </a:r>
          </a:p>
        </p:txBody>
      </p:sp>
    </p:spTree>
    <p:extLst>
      <p:ext uri="{BB962C8B-B14F-4D97-AF65-F5344CB8AC3E}">
        <p14:creationId xmlns:p14="http://schemas.microsoft.com/office/powerpoint/2010/main" val="43637646"/>
      </p:ext>
    </p:extLst>
  </p:cSld>
</p:sld>
</file>

<file path=ppt/slides/slide260.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Sie werden als Beschuldigte:r kontaktiert</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ERSTE ORIENTIERUNG</a:t>
            </a:r>
            <a:endParaRPr/>
          </a:p>
        </p:txBody>
      </p:sp>
      <p:sp>
        <p:nvSpPr>
          <p:cNvPr id="4" name="">
            <a:extLst xmlns:a="http://schemas.openxmlformats.org/drawingml/2006/main">
              <a:ext uri="{FF2B5EF4-FFF2-40B4-BE49-F238E27FC236}">
                <a16:creationId xmlns:a16="http://schemas.microsoft.com/office/drawing/2014/main" id="{D545666B-692D-4B6B-A760-74F0A9A0C731}"/>
              </a:ext>
            </a:extLst>
          </p:cNvPr>
          <p:cNvSpPr>
            <a:spLocks xmlns:a="http://schemas.openxmlformats.org/drawingml/2006/main" noGrp="1"/>
          </p:cNvSpPr>
          <p:nvPr/>
        </p:nvSpPr>
        <p:spPr>
          <a:xfrm xmlns:a="http://schemas.openxmlformats.org/drawingml/2006/main">
            <a:off x="1809750" y="2000250"/>
            <a:ext cx="4619625" cy="3286125"/>
          </a:xfrm>
          <a:prstGeom xmlns:a="http://schemas.openxmlformats.org/drawingml/2006/main" prst="roundRect">
            <a:avLst>
              <a:gd name="adj" fmla="val 2319"/>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8CE92424-77AD-4306-BC1E-F389E71F6CC5}"/>
              </a:ext>
            </a:extLst>
          </p:cNvPr>
          <p:cNvSpPr>
            <a:spLocks xmlns:a="http://schemas.openxmlformats.org/drawingml/2006/main" noGrp="1"/>
          </p:cNvSpPr>
          <p:nvPr/>
        </p:nvSpPr>
        <p:spPr>
          <a:xfrm xmlns:a="http://schemas.openxmlformats.org/drawingml/2006/main">
            <a:off x="1809750" y="2000250"/>
            <a:ext cx="4619625"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89F4B2F1-6EDE-4673-A1E5-438C6B9AB334}"/>
              </a:ext>
            </a:extLst>
          </p:cNvPr>
          <p:cNvSpPr>
            <a:spLocks xmlns:a="http://schemas.openxmlformats.org/drawingml/2006/main" noGrp="1"/>
          </p:cNvSpPr>
          <p:nvPr/>
        </p:nvSpPr>
        <p:spPr>
          <a:xfrm xmlns:a="http://schemas.openxmlformats.org/drawingml/2006/main">
            <a:off x="1962150" y="2133600"/>
            <a:ext cx="4314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75" b="1">
                <a:solidFill>
                  <a:srgbClr val="003F6B"/>
                </a:solidFill>
              </a:defRPr>
            </a:pPr>
            <a:r>
              <a:rPr sz="1575" b="1">
                <a:solidFill>
                  <a:srgbClr val="003F6B"/>
                </a:solidFill>
              </a:rPr>
              <a:t>Dafür</a:t>
            </a:r>
          </a:p>
        </p:txBody>
      </p:sp>
      <p:sp>
        <p:nvSpPr>
          <p:cNvPr id="7" name="">
            <a:extLst xmlns:a="http://schemas.openxmlformats.org/drawingml/2006/main">
              <a:ext uri="{FF2B5EF4-FFF2-40B4-BE49-F238E27FC236}">
                <a16:creationId xmlns:a16="http://schemas.microsoft.com/office/drawing/2014/main" id="{950F43DF-7ED7-4D05-ACFB-A3EEDE6207E2}"/>
              </a:ext>
            </a:extLst>
          </p:cNvPr>
          <p:cNvSpPr>
            <a:spLocks xmlns:a="http://schemas.openxmlformats.org/drawingml/2006/main" noGrp="1"/>
          </p:cNvSpPr>
          <p:nvPr/>
        </p:nvSpPr>
        <p:spPr>
          <a:xfrm xmlns:a="http://schemas.openxmlformats.org/drawingml/2006/main">
            <a:off x="1962150" y="2571750"/>
            <a:ext cx="4314825"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15232B"/>
                </a:solidFill>
              </a:defRPr>
            </a:pPr>
            <a:r>
              <a:rPr sz="1200">
                <a:solidFill>
                  <a:srgbClr val="15232B"/>
                </a:solidFill>
              </a:rPr>
              <a:t>• Patientenversorgung unverändert sicherstellen</a:t>
            </a:r>
          </a:p>
          <a:p xmlns:a="http://schemas.openxmlformats.org/drawingml/2006/main">
            <a:pPr>
              <a:buNone/>
              <a:defRPr sz="1200">
                <a:solidFill>
                  <a:srgbClr val="15232B"/>
                </a:solidFill>
              </a:defRPr>
            </a:pPr>
            <a:r>
              <a:rPr sz="1200">
                <a:solidFill>
                  <a:srgbClr val="15232B"/>
                </a:solidFill>
              </a:rPr>
              <a:t>• Status und Gegenstand klären</a:t>
            </a:r>
          </a:p>
          <a:p xmlns:a="http://schemas.openxmlformats.org/drawingml/2006/main">
            <a:pPr>
              <a:buNone/>
              <a:defRPr sz="1200">
                <a:solidFill>
                  <a:srgbClr val="15232B"/>
                </a:solidFill>
              </a:defRPr>
            </a:pPr>
            <a:r>
              <a:rPr sz="1200">
                <a:solidFill>
                  <a:srgbClr val="15232B"/>
                </a:solidFill>
              </a:rPr>
              <a:t>• vom Schweigerecht Gebrauch machen, bis Akteneinsicht / Beratung erfolgt</a:t>
            </a:r>
          </a:p>
          <a:p xmlns:a="http://schemas.openxmlformats.org/drawingml/2006/main">
            <a:pPr>
              <a:buNone/>
              <a:defRPr sz="1200">
                <a:solidFill>
                  <a:srgbClr val="15232B"/>
                </a:solidFill>
              </a:defRPr>
            </a:pPr>
            <a:r>
              <a:rPr sz="1200">
                <a:solidFill>
                  <a:srgbClr val="15232B"/>
                </a:solidFill>
              </a:rPr>
              <a:t>• Verteidigung und vorgesehenen institutionellen Weg koordinieren</a:t>
            </a:r>
          </a:p>
          <a:p xmlns:a="http://schemas.openxmlformats.org/drawingml/2006/main">
            <a:pPr>
              <a:buNone/>
              <a:defRPr sz="1200">
                <a:solidFill>
                  <a:srgbClr val="15232B"/>
                </a:solidFill>
              </a:defRPr>
            </a:pPr>
            <a:r>
              <a:rPr sz="1200">
                <a:solidFill>
                  <a:srgbClr val="15232B"/>
                </a:solidFill>
              </a:rPr>
              <a:t>• Unterlagen unangetastet lassen</a:t>
            </a:r>
          </a:p>
        </p:txBody>
      </p:sp>
      <p:sp>
        <p:nvSpPr>
          <p:cNvPr id="8" name="">
            <a:extLst xmlns:a="http://schemas.openxmlformats.org/drawingml/2006/main">
              <a:ext uri="{FF2B5EF4-FFF2-40B4-BE49-F238E27FC236}">
                <a16:creationId xmlns:a16="http://schemas.microsoft.com/office/drawing/2014/main" id="{FEC0E96F-E987-4672-BD51-DC5593182AF8}"/>
              </a:ext>
            </a:extLst>
          </p:cNvPr>
          <p:cNvSpPr>
            <a:spLocks xmlns:a="http://schemas.openxmlformats.org/drawingml/2006/main" noGrp="1"/>
          </p:cNvSpPr>
          <p:nvPr/>
        </p:nvSpPr>
        <p:spPr>
          <a:xfrm xmlns:a="http://schemas.openxmlformats.org/drawingml/2006/main">
            <a:off x="6715125" y="2000250"/>
            <a:ext cx="4619625" cy="3286125"/>
          </a:xfrm>
          <a:prstGeom xmlns:a="http://schemas.openxmlformats.org/drawingml/2006/main" prst="roundRect">
            <a:avLst>
              <a:gd name="adj" fmla="val 2319"/>
            </a:avLst>
          </a:prstGeom>
          <a:noFill xmlns:a="http://schemas.openxmlformats.org/drawingml/2006/main"/>
          <a:ln xmlns:a="http://schemas.openxmlformats.org/drawingml/2006/main" w="9525">
            <a:solidFill>
              <a:srgbClr val="B9CAD2"/>
            </a:solidFill>
            <a:prstDash val="solid"/>
          </a:ln>
        </p:spPr>
      </p:sp>
      <p:sp>
        <p:nvSpPr>
          <p:cNvPr id="9" name="">
            <a:extLst xmlns:a="http://schemas.openxmlformats.org/drawingml/2006/main">
              <a:ext uri="{FF2B5EF4-FFF2-40B4-BE49-F238E27FC236}">
                <a16:creationId xmlns:a16="http://schemas.microsoft.com/office/drawing/2014/main" id="{4D944CC4-7736-43CF-8D52-F56300BCBADF}"/>
              </a:ext>
            </a:extLst>
          </p:cNvPr>
          <p:cNvSpPr>
            <a:spLocks xmlns:a="http://schemas.openxmlformats.org/drawingml/2006/main" noGrp="1"/>
          </p:cNvSpPr>
          <p:nvPr/>
        </p:nvSpPr>
        <p:spPr>
          <a:xfrm xmlns:a="http://schemas.openxmlformats.org/drawingml/2006/main">
            <a:off x="6715125" y="2000250"/>
            <a:ext cx="4619625"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C0C1C875-CC18-4B67-9A76-82BB55AF96E9}"/>
              </a:ext>
            </a:extLst>
          </p:cNvPr>
          <p:cNvSpPr>
            <a:spLocks xmlns:a="http://schemas.openxmlformats.org/drawingml/2006/main" noGrp="1"/>
          </p:cNvSpPr>
          <p:nvPr/>
        </p:nvSpPr>
        <p:spPr>
          <a:xfrm xmlns:a="http://schemas.openxmlformats.org/drawingml/2006/main">
            <a:off x="6867525" y="2133600"/>
            <a:ext cx="4314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75" b="1">
                <a:solidFill>
                  <a:srgbClr val="003F6B"/>
                </a:solidFill>
              </a:defRPr>
            </a:pPr>
            <a:r>
              <a:rPr sz="1575" b="1">
                <a:solidFill>
                  <a:srgbClr val="003F6B"/>
                </a:solidFill>
              </a:rPr>
              <a:t>Dagegen</a:t>
            </a:r>
          </a:p>
        </p:txBody>
      </p:sp>
      <p:sp>
        <p:nvSpPr>
          <p:cNvPr id="11" name="">
            <a:extLst xmlns:a="http://schemas.openxmlformats.org/drawingml/2006/main">
              <a:ext uri="{FF2B5EF4-FFF2-40B4-BE49-F238E27FC236}">
                <a16:creationId xmlns:a16="http://schemas.microsoft.com/office/drawing/2014/main" id="{56DF1FAE-2E53-4301-80A4-8D3933A4CE04}"/>
              </a:ext>
            </a:extLst>
          </p:cNvPr>
          <p:cNvSpPr>
            <a:spLocks xmlns:a="http://schemas.openxmlformats.org/drawingml/2006/main" noGrp="1"/>
          </p:cNvSpPr>
          <p:nvPr/>
        </p:nvSpPr>
        <p:spPr>
          <a:xfrm xmlns:a="http://schemas.openxmlformats.org/drawingml/2006/main">
            <a:off x="6867525" y="2571750"/>
            <a:ext cx="4314825"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15232B"/>
                </a:solidFill>
              </a:defRPr>
            </a:pPr>
            <a:r>
              <a:rPr sz="1200">
                <a:solidFill>
                  <a:srgbClr val="15232B"/>
                </a:solidFill>
              </a:rPr>
              <a:t>• spontane ‚Hintergrundgespräche‘</a:t>
            </a:r>
          </a:p>
          <a:p xmlns:a="http://schemas.openxmlformats.org/drawingml/2006/main">
            <a:pPr>
              <a:buNone/>
              <a:defRPr sz="1200">
                <a:solidFill>
                  <a:srgbClr val="15232B"/>
                </a:solidFill>
              </a:defRPr>
            </a:pPr>
            <a:r>
              <a:rPr sz="1200">
                <a:solidFill>
                  <a:srgbClr val="15232B"/>
                </a:solidFill>
              </a:rPr>
              <a:t>• Teamgeschichten angleichen</a:t>
            </a:r>
          </a:p>
          <a:p xmlns:a="http://schemas.openxmlformats.org/drawingml/2006/main">
            <a:pPr>
              <a:buNone/>
              <a:defRPr sz="1200">
                <a:solidFill>
                  <a:srgbClr val="15232B"/>
                </a:solidFill>
              </a:defRPr>
            </a:pPr>
            <a:r>
              <a:rPr sz="1200">
                <a:solidFill>
                  <a:srgbClr val="15232B"/>
                </a:solidFill>
              </a:rPr>
              <a:t>• private Kopien / Chats anlegen</a:t>
            </a:r>
          </a:p>
          <a:p xmlns:a="http://schemas.openxmlformats.org/drawingml/2006/main">
            <a:pPr>
              <a:buNone/>
              <a:defRPr sz="1200">
                <a:solidFill>
                  <a:srgbClr val="15232B"/>
                </a:solidFill>
              </a:defRPr>
            </a:pPr>
            <a:r>
              <a:rPr sz="1200">
                <a:solidFill>
                  <a:srgbClr val="15232B"/>
                </a:solidFill>
              </a:rPr>
              <a:t>• Akte ergänzen, um sich zu entlasten</a:t>
            </a:r>
          </a:p>
          <a:p xmlns:a="http://schemas.openxmlformats.org/drawingml/2006/main">
            <a:pPr>
              <a:buNone/>
              <a:defRPr sz="1200">
                <a:solidFill>
                  <a:srgbClr val="15232B"/>
                </a:solidFill>
              </a:defRPr>
            </a:pPr>
            <a:r>
              <a:rPr sz="1200">
                <a:solidFill>
                  <a:srgbClr val="15232B"/>
                </a:solidFill>
              </a:rPr>
              <a:t>• Angehörige oder Zeug:innen beeinflussen</a:t>
            </a:r>
          </a:p>
        </p:txBody>
      </p:sp>
      <p:sp>
        <p:nvSpPr>
          <p:cNvPr id="12" name="">
            <a:extLst xmlns:a="http://schemas.openxmlformats.org/drawingml/2006/main">
              <a:ext uri="{FF2B5EF4-FFF2-40B4-BE49-F238E27FC236}">
                <a16:creationId xmlns:a16="http://schemas.microsoft.com/office/drawing/2014/main" id="{BC8C0BC5-7309-4666-B1E0-A2A4C3BC33E8}"/>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13" name="">
            <a:extLst xmlns:a="http://schemas.openxmlformats.org/drawingml/2006/main">
              <a:ext uri="{FF2B5EF4-FFF2-40B4-BE49-F238E27FC236}">
                <a16:creationId xmlns:a16="http://schemas.microsoft.com/office/drawing/2014/main" id="{88685B72-3C23-4430-B835-90AEE0026360}"/>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Schweigen im Strafverfahren ist ein Recht – keine medizinische Kommunikationsstrategie gegenüber Patient:innen.</a:t>
            </a:r>
          </a:p>
        </p:txBody>
      </p:sp>
    </p:spTree>
    <p:extLst>
      <p:ext uri="{BB962C8B-B14F-4D97-AF65-F5344CB8AC3E}">
        <p14:creationId xmlns:p14="http://schemas.microsoft.com/office/powerpoint/2010/main" val="43637646"/>
      </p:ext>
    </p:extLst>
  </p:cSld>
</p:sld>
</file>

<file path=ppt/slides/slide261.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Durchsuchung, Beschlagnahme, Schweigepflicht</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HOCHDRUCKSITUATION</a:t>
            </a:r>
            <a:endParaRPr/>
          </a:p>
        </p:txBody>
      </p:sp>
      <p:sp>
        <p:nvSpPr>
          <p:cNvPr id="4" name="">
            <a:extLst xmlns:a="http://schemas.openxmlformats.org/drawingml/2006/main">
              <a:ext uri="{FF2B5EF4-FFF2-40B4-BE49-F238E27FC236}">
                <a16:creationId xmlns:a16="http://schemas.microsoft.com/office/drawing/2014/main" id="{C1208AFF-CB28-40A8-96A6-510843851539}"/>
              </a:ext>
            </a:extLst>
          </p:cNvPr>
          <p:cNvSpPr>
            <a:spLocks xmlns:a="http://schemas.openxmlformats.org/drawingml/2006/main" noGrp="1"/>
          </p:cNvSpPr>
          <p:nvPr/>
        </p:nvSpPr>
        <p:spPr>
          <a:xfrm xmlns:a="http://schemas.openxmlformats.org/drawingml/2006/main">
            <a:off x="1809750" y="2038350"/>
            <a:ext cx="323850" cy="323850"/>
          </a:xfrm>
          <a:prstGeom xmlns:a="http://schemas.openxmlformats.org/drawingml/2006/main" prst="ellipse">
            <a:avLst/>
          </a:prstGeom>
          <a:solidFill xmlns:a="http://schemas.openxmlformats.org/drawingml/2006/main">
            <a:srgbClr val="00B2BB"/>
          </a:solidFill>
          <a:ln xmlns:a="http://schemas.openxmlformats.org/drawingml/2006/main" w="0">
            <a:solidFill>
              <a:srgbClr val="FFFFFF"/>
            </a:solidFill>
            <a:prstDash val="solid"/>
          </a:ln>
        </p:spPr>
      </p:sp>
      <p:sp>
        <p:nvSpPr>
          <p:cNvPr id="5" name="">
            <a:extLst xmlns:a="http://schemas.openxmlformats.org/drawingml/2006/main">
              <a:ext uri="{FF2B5EF4-FFF2-40B4-BE49-F238E27FC236}">
                <a16:creationId xmlns:a16="http://schemas.microsoft.com/office/drawing/2014/main" id="{19E49F0D-89ED-449D-8623-49677FF53017}"/>
              </a:ext>
            </a:extLst>
          </p:cNvPr>
          <p:cNvSpPr>
            <a:spLocks xmlns:a="http://schemas.openxmlformats.org/drawingml/2006/main" noGrp="1"/>
          </p:cNvSpPr>
          <p:nvPr/>
        </p:nvSpPr>
        <p:spPr>
          <a:xfrm xmlns:a="http://schemas.openxmlformats.org/drawingml/2006/main">
            <a:off x="1809750" y="20383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713" b="1">
                <a:solidFill>
                  <a:srgbClr val="FFFFFF"/>
                </a:solidFill>
              </a:defRPr>
            </a:pPr>
            <a:r>
              <a:rPr sz="713" b="1">
                <a:solidFill>
                  <a:srgbClr val="FFFFFF"/>
                </a:solidFill>
              </a:rPr>
              <a:t>1</a:t>
            </a:r>
          </a:p>
        </p:txBody>
      </p:sp>
      <p:sp>
        <p:nvSpPr>
          <p:cNvPr id="6" name="">
            <a:extLst xmlns:a="http://schemas.openxmlformats.org/drawingml/2006/main">
              <a:ext uri="{FF2B5EF4-FFF2-40B4-BE49-F238E27FC236}">
                <a16:creationId xmlns:a16="http://schemas.microsoft.com/office/drawing/2014/main" id="{0644AEDD-4F8D-424E-B426-AD1B31B1E239}"/>
              </a:ext>
            </a:extLst>
          </p:cNvPr>
          <p:cNvSpPr>
            <a:spLocks xmlns:a="http://schemas.openxmlformats.org/drawingml/2006/main" noGrp="1"/>
          </p:cNvSpPr>
          <p:nvPr/>
        </p:nvSpPr>
        <p:spPr>
          <a:xfrm xmlns:a="http://schemas.openxmlformats.org/drawingml/2006/main">
            <a:off x="2266950" y="2000250"/>
            <a:ext cx="9067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a:solidFill>
                  <a:srgbClr val="15232B"/>
                </a:solidFill>
              </a:defRPr>
            </a:pPr>
            <a:r>
              <a:rPr sz="1275">
                <a:solidFill>
                  <a:srgbClr val="15232B"/>
                </a:solidFill>
              </a:rPr>
              <a:t>Ruhe bewahren und Ausweis / Beschluss zeigen lassen</a:t>
            </a:r>
          </a:p>
        </p:txBody>
      </p:sp>
      <p:sp>
        <p:nvSpPr>
          <p:cNvPr id="7" name="">
            <a:extLst xmlns:a="http://schemas.openxmlformats.org/drawingml/2006/main">
              <a:ext uri="{FF2B5EF4-FFF2-40B4-BE49-F238E27FC236}">
                <a16:creationId xmlns:a16="http://schemas.microsoft.com/office/drawing/2014/main" id="{C329C023-5EBD-4425-BD79-DE494BC56297}"/>
              </a:ext>
            </a:extLst>
          </p:cNvPr>
          <p:cNvSpPr>
            <a:spLocks xmlns:a="http://schemas.openxmlformats.org/drawingml/2006/main" noGrp="1"/>
          </p:cNvSpPr>
          <p:nvPr/>
        </p:nvSpPr>
        <p:spPr>
          <a:xfrm xmlns:a="http://schemas.openxmlformats.org/drawingml/2006/main">
            <a:off x="1809750" y="2590800"/>
            <a:ext cx="323850" cy="323850"/>
          </a:xfrm>
          <a:prstGeom xmlns:a="http://schemas.openxmlformats.org/drawingml/2006/main" prst="ellipse">
            <a:avLst/>
          </a:prstGeom>
          <a:solidFill xmlns:a="http://schemas.openxmlformats.org/drawingml/2006/main">
            <a:srgbClr val="003F6B"/>
          </a:solidFill>
          <a:ln xmlns:a="http://schemas.openxmlformats.org/drawingml/2006/main" w="0">
            <a:solidFill>
              <a:srgbClr val="FFFFFF"/>
            </a:solidFill>
            <a:prstDash val="solid"/>
          </a:ln>
        </p:spPr>
      </p:sp>
      <p:sp>
        <p:nvSpPr>
          <p:cNvPr id="8" name="">
            <a:extLst xmlns:a="http://schemas.openxmlformats.org/drawingml/2006/main">
              <a:ext uri="{FF2B5EF4-FFF2-40B4-BE49-F238E27FC236}">
                <a16:creationId xmlns:a16="http://schemas.microsoft.com/office/drawing/2014/main" id="{DC151CB3-6C73-4035-969E-1C56D7F0D0AA}"/>
              </a:ext>
            </a:extLst>
          </p:cNvPr>
          <p:cNvSpPr>
            <a:spLocks xmlns:a="http://schemas.openxmlformats.org/drawingml/2006/main" noGrp="1"/>
          </p:cNvSpPr>
          <p:nvPr/>
        </p:nvSpPr>
        <p:spPr>
          <a:xfrm xmlns:a="http://schemas.openxmlformats.org/drawingml/2006/main">
            <a:off x="1809750" y="259080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713" b="1">
                <a:solidFill>
                  <a:srgbClr val="FFFFFF"/>
                </a:solidFill>
              </a:defRPr>
            </a:pPr>
            <a:r>
              <a:rPr sz="713" b="1">
                <a:solidFill>
                  <a:srgbClr val="FFFFFF"/>
                </a:solidFill>
              </a:rPr>
              <a:t>2</a:t>
            </a:r>
          </a:p>
        </p:txBody>
      </p:sp>
      <p:sp>
        <p:nvSpPr>
          <p:cNvPr id="9" name="">
            <a:extLst xmlns:a="http://schemas.openxmlformats.org/drawingml/2006/main">
              <a:ext uri="{FF2B5EF4-FFF2-40B4-BE49-F238E27FC236}">
                <a16:creationId xmlns:a16="http://schemas.microsoft.com/office/drawing/2014/main" id="{2766EE6F-8F76-488A-B7B9-45A3C594DA11}"/>
              </a:ext>
            </a:extLst>
          </p:cNvPr>
          <p:cNvSpPr>
            <a:spLocks xmlns:a="http://schemas.openxmlformats.org/drawingml/2006/main" noGrp="1"/>
          </p:cNvSpPr>
          <p:nvPr/>
        </p:nvSpPr>
        <p:spPr>
          <a:xfrm xmlns:a="http://schemas.openxmlformats.org/drawingml/2006/main">
            <a:off x="2266950" y="2552700"/>
            <a:ext cx="9067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a:solidFill>
                  <a:srgbClr val="15232B"/>
                </a:solidFill>
              </a:defRPr>
            </a:pPr>
            <a:r>
              <a:rPr sz="1275">
                <a:solidFill>
                  <a:srgbClr val="15232B"/>
                </a:solidFill>
              </a:rPr>
              <a:t>Leitung / Rechtsabteilung / Verteidigung informieren</a:t>
            </a:r>
          </a:p>
        </p:txBody>
      </p:sp>
      <p:sp>
        <p:nvSpPr>
          <p:cNvPr id="10" name="">
            <a:extLst xmlns:a="http://schemas.openxmlformats.org/drawingml/2006/main">
              <a:ext uri="{FF2B5EF4-FFF2-40B4-BE49-F238E27FC236}">
                <a16:creationId xmlns:a16="http://schemas.microsoft.com/office/drawing/2014/main" id="{0E5120D1-32D2-4749-819A-B75E1338BB2D}"/>
              </a:ext>
            </a:extLst>
          </p:cNvPr>
          <p:cNvSpPr>
            <a:spLocks xmlns:a="http://schemas.openxmlformats.org/drawingml/2006/main" noGrp="1"/>
          </p:cNvSpPr>
          <p:nvPr/>
        </p:nvSpPr>
        <p:spPr>
          <a:xfrm xmlns:a="http://schemas.openxmlformats.org/drawingml/2006/main">
            <a:off x="1809750" y="3143250"/>
            <a:ext cx="323850" cy="323850"/>
          </a:xfrm>
          <a:prstGeom xmlns:a="http://schemas.openxmlformats.org/drawingml/2006/main" prst="ellipse">
            <a:avLst/>
          </a:prstGeom>
          <a:solidFill xmlns:a="http://schemas.openxmlformats.org/drawingml/2006/main">
            <a:srgbClr val="00B2BB"/>
          </a:solidFill>
          <a:ln xmlns:a="http://schemas.openxmlformats.org/drawingml/2006/main" w="0">
            <a:solidFill>
              <a:srgbClr val="FFFFFF"/>
            </a:solidFill>
            <a:prstDash val="solid"/>
          </a:ln>
        </p:spPr>
      </p:sp>
      <p:sp>
        <p:nvSpPr>
          <p:cNvPr id="11" name="">
            <a:extLst xmlns:a="http://schemas.openxmlformats.org/drawingml/2006/main">
              <a:ext uri="{FF2B5EF4-FFF2-40B4-BE49-F238E27FC236}">
                <a16:creationId xmlns:a16="http://schemas.microsoft.com/office/drawing/2014/main" id="{5DE7CEBB-8740-44F8-8F17-1AFA56739C95}"/>
              </a:ext>
            </a:extLst>
          </p:cNvPr>
          <p:cNvSpPr>
            <a:spLocks xmlns:a="http://schemas.openxmlformats.org/drawingml/2006/main" noGrp="1"/>
          </p:cNvSpPr>
          <p:nvPr/>
        </p:nvSpPr>
        <p:spPr>
          <a:xfrm xmlns:a="http://schemas.openxmlformats.org/drawingml/2006/main">
            <a:off x="1809750" y="31432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713" b="1">
                <a:solidFill>
                  <a:srgbClr val="FFFFFF"/>
                </a:solidFill>
              </a:defRPr>
            </a:pPr>
            <a:r>
              <a:rPr sz="713" b="1">
                <a:solidFill>
                  <a:srgbClr val="FFFFFF"/>
                </a:solidFill>
              </a:rPr>
              <a:t>3</a:t>
            </a:r>
          </a:p>
        </p:txBody>
      </p:sp>
      <p:sp>
        <p:nvSpPr>
          <p:cNvPr id="12" name="">
            <a:extLst xmlns:a="http://schemas.openxmlformats.org/drawingml/2006/main">
              <a:ext uri="{FF2B5EF4-FFF2-40B4-BE49-F238E27FC236}">
                <a16:creationId xmlns:a16="http://schemas.microsoft.com/office/drawing/2014/main" id="{A34731CE-816E-49CF-B6FD-88AE0C8F9A59}"/>
              </a:ext>
            </a:extLst>
          </p:cNvPr>
          <p:cNvSpPr>
            <a:spLocks xmlns:a="http://schemas.openxmlformats.org/drawingml/2006/main" noGrp="1"/>
          </p:cNvSpPr>
          <p:nvPr/>
        </p:nvSpPr>
        <p:spPr>
          <a:xfrm xmlns:a="http://schemas.openxmlformats.org/drawingml/2006/main">
            <a:off x="2266950" y="3105150"/>
            <a:ext cx="9067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a:solidFill>
                  <a:srgbClr val="15232B"/>
                </a:solidFill>
              </a:defRPr>
            </a:pPr>
            <a:r>
              <a:rPr sz="1275">
                <a:solidFill>
                  <a:srgbClr val="15232B"/>
                </a:solidFill>
              </a:rPr>
              <a:t>Maßnahme nicht behindern; Umfang und mitgenommene Gegenstände dokumentieren</a:t>
            </a:r>
          </a:p>
        </p:txBody>
      </p:sp>
      <p:sp>
        <p:nvSpPr>
          <p:cNvPr id="13" name="">
            <a:extLst xmlns:a="http://schemas.openxmlformats.org/drawingml/2006/main">
              <a:ext uri="{FF2B5EF4-FFF2-40B4-BE49-F238E27FC236}">
                <a16:creationId xmlns:a16="http://schemas.microsoft.com/office/drawing/2014/main" id="{9774E8F9-19C7-479D-BC85-53455810F222}"/>
              </a:ext>
            </a:extLst>
          </p:cNvPr>
          <p:cNvSpPr>
            <a:spLocks xmlns:a="http://schemas.openxmlformats.org/drawingml/2006/main" noGrp="1"/>
          </p:cNvSpPr>
          <p:nvPr/>
        </p:nvSpPr>
        <p:spPr>
          <a:xfrm xmlns:a="http://schemas.openxmlformats.org/drawingml/2006/main">
            <a:off x="1809750" y="3695700"/>
            <a:ext cx="323850" cy="323850"/>
          </a:xfrm>
          <a:prstGeom xmlns:a="http://schemas.openxmlformats.org/drawingml/2006/main" prst="ellipse">
            <a:avLst/>
          </a:prstGeom>
          <a:solidFill xmlns:a="http://schemas.openxmlformats.org/drawingml/2006/main">
            <a:srgbClr val="003F6B"/>
          </a:solidFill>
          <a:ln xmlns:a="http://schemas.openxmlformats.org/drawingml/2006/main" w="0">
            <a:solidFill>
              <a:srgbClr val="FFFFFF"/>
            </a:solidFill>
            <a:prstDash val="solid"/>
          </a:ln>
        </p:spPr>
      </p:sp>
      <p:sp>
        <p:nvSpPr>
          <p:cNvPr id="14" name="">
            <a:extLst xmlns:a="http://schemas.openxmlformats.org/drawingml/2006/main">
              <a:ext uri="{FF2B5EF4-FFF2-40B4-BE49-F238E27FC236}">
                <a16:creationId xmlns:a16="http://schemas.microsoft.com/office/drawing/2014/main" id="{840E5FB3-5E9E-4109-A6CD-3B0B6DB94DD5}"/>
              </a:ext>
            </a:extLst>
          </p:cNvPr>
          <p:cNvSpPr>
            <a:spLocks xmlns:a="http://schemas.openxmlformats.org/drawingml/2006/main" noGrp="1"/>
          </p:cNvSpPr>
          <p:nvPr/>
        </p:nvSpPr>
        <p:spPr>
          <a:xfrm xmlns:a="http://schemas.openxmlformats.org/drawingml/2006/main">
            <a:off x="1809750" y="369570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713" b="1">
                <a:solidFill>
                  <a:srgbClr val="FFFFFF"/>
                </a:solidFill>
              </a:defRPr>
            </a:pPr>
            <a:r>
              <a:rPr sz="713" b="1">
                <a:solidFill>
                  <a:srgbClr val="FFFFFF"/>
                </a:solidFill>
              </a:rPr>
              <a:t>4</a:t>
            </a:r>
          </a:p>
        </p:txBody>
      </p:sp>
      <p:sp>
        <p:nvSpPr>
          <p:cNvPr id="15" name="">
            <a:extLst xmlns:a="http://schemas.openxmlformats.org/drawingml/2006/main">
              <a:ext uri="{FF2B5EF4-FFF2-40B4-BE49-F238E27FC236}">
                <a16:creationId xmlns:a16="http://schemas.microsoft.com/office/drawing/2014/main" id="{371AC1F4-91A3-4342-8439-5CEA3DE65DB4}"/>
              </a:ext>
            </a:extLst>
          </p:cNvPr>
          <p:cNvSpPr>
            <a:spLocks xmlns:a="http://schemas.openxmlformats.org/drawingml/2006/main" noGrp="1"/>
          </p:cNvSpPr>
          <p:nvPr/>
        </p:nvSpPr>
        <p:spPr>
          <a:xfrm xmlns:a="http://schemas.openxmlformats.org/drawingml/2006/main">
            <a:off x="2266950" y="3657600"/>
            <a:ext cx="9067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a:solidFill>
                  <a:srgbClr val="15232B"/>
                </a:solidFill>
              </a:defRPr>
            </a:pPr>
            <a:r>
              <a:rPr sz="1275">
                <a:solidFill>
                  <a:srgbClr val="15232B"/>
                </a:solidFill>
              </a:rPr>
              <a:t>keine freiwilligen Sachangaben ohne Rollenklärung</a:t>
            </a:r>
          </a:p>
        </p:txBody>
      </p:sp>
      <p:sp>
        <p:nvSpPr>
          <p:cNvPr id="16" name="">
            <a:extLst xmlns:a="http://schemas.openxmlformats.org/drawingml/2006/main">
              <a:ext uri="{FF2B5EF4-FFF2-40B4-BE49-F238E27FC236}">
                <a16:creationId xmlns:a16="http://schemas.microsoft.com/office/drawing/2014/main" id="{28AC1AAB-E1C2-43BC-82C5-3793A23FE1A8}"/>
              </a:ext>
            </a:extLst>
          </p:cNvPr>
          <p:cNvSpPr>
            <a:spLocks xmlns:a="http://schemas.openxmlformats.org/drawingml/2006/main" noGrp="1"/>
          </p:cNvSpPr>
          <p:nvPr/>
        </p:nvSpPr>
        <p:spPr>
          <a:xfrm xmlns:a="http://schemas.openxmlformats.org/drawingml/2006/main">
            <a:off x="1809750" y="4248150"/>
            <a:ext cx="323850" cy="323850"/>
          </a:xfrm>
          <a:prstGeom xmlns:a="http://schemas.openxmlformats.org/drawingml/2006/main" prst="ellipse">
            <a:avLst/>
          </a:prstGeom>
          <a:solidFill xmlns:a="http://schemas.openxmlformats.org/drawingml/2006/main">
            <a:srgbClr val="00B2BB"/>
          </a:solidFill>
          <a:ln xmlns:a="http://schemas.openxmlformats.org/drawingml/2006/main" w="0">
            <a:solidFill>
              <a:srgbClr val="FFFFFF"/>
            </a:solidFill>
            <a:prstDash val="solid"/>
          </a:ln>
        </p:spPr>
      </p:sp>
      <p:sp>
        <p:nvSpPr>
          <p:cNvPr id="17" name="">
            <a:extLst xmlns:a="http://schemas.openxmlformats.org/drawingml/2006/main">
              <a:ext uri="{FF2B5EF4-FFF2-40B4-BE49-F238E27FC236}">
                <a16:creationId xmlns:a16="http://schemas.microsoft.com/office/drawing/2014/main" id="{7BA84787-E4E1-42E6-9161-631723EE8F94}"/>
              </a:ext>
            </a:extLst>
          </p:cNvPr>
          <p:cNvSpPr>
            <a:spLocks xmlns:a="http://schemas.openxmlformats.org/drawingml/2006/main" noGrp="1"/>
          </p:cNvSpPr>
          <p:nvPr/>
        </p:nvSpPr>
        <p:spPr>
          <a:xfrm xmlns:a="http://schemas.openxmlformats.org/drawingml/2006/main">
            <a:off x="1809750" y="42481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713" b="1">
                <a:solidFill>
                  <a:srgbClr val="FFFFFF"/>
                </a:solidFill>
              </a:defRPr>
            </a:pPr>
            <a:r>
              <a:rPr sz="713" b="1">
                <a:solidFill>
                  <a:srgbClr val="FFFFFF"/>
                </a:solidFill>
              </a:rPr>
              <a:t>5</a:t>
            </a:r>
          </a:p>
        </p:txBody>
      </p:sp>
      <p:sp>
        <p:nvSpPr>
          <p:cNvPr id="18" name="">
            <a:extLst xmlns:a="http://schemas.openxmlformats.org/drawingml/2006/main">
              <a:ext uri="{FF2B5EF4-FFF2-40B4-BE49-F238E27FC236}">
                <a16:creationId xmlns:a16="http://schemas.microsoft.com/office/drawing/2014/main" id="{8E27A89E-E18A-48B9-8A8E-05C2546A0895}"/>
              </a:ext>
            </a:extLst>
          </p:cNvPr>
          <p:cNvSpPr>
            <a:spLocks xmlns:a="http://schemas.openxmlformats.org/drawingml/2006/main" noGrp="1"/>
          </p:cNvSpPr>
          <p:nvPr/>
        </p:nvSpPr>
        <p:spPr>
          <a:xfrm xmlns:a="http://schemas.openxmlformats.org/drawingml/2006/main">
            <a:off x="2266950" y="4210050"/>
            <a:ext cx="9067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a:solidFill>
                  <a:srgbClr val="15232B"/>
                </a:solidFill>
              </a:defRPr>
            </a:pPr>
            <a:r>
              <a:rPr sz="1275">
                <a:solidFill>
                  <a:srgbClr val="15232B"/>
                </a:solidFill>
              </a:rPr>
              <a:t>Patientengeheimnis ansprechen – aber Schutzwirkung im Beschuldigtenfall nicht überschätzen</a:t>
            </a:r>
          </a:p>
        </p:txBody>
      </p:sp>
      <p:sp>
        <p:nvSpPr>
          <p:cNvPr id="19" name="">
            <a:extLst xmlns:a="http://schemas.openxmlformats.org/drawingml/2006/main">
              <a:ext uri="{FF2B5EF4-FFF2-40B4-BE49-F238E27FC236}">
                <a16:creationId xmlns:a16="http://schemas.microsoft.com/office/drawing/2014/main" id="{A36D09C3-D678-4014-9315-EF4B4D4F67DC}"/>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0" name="">
            <a:extLst xmlns:a="http://schemas.openxmlformats.org/drawingml/2006/main">
              <a:ext uri="{FF2B5EF4-FFF2-40B4-BE49-F238E27FC236}">
                <a16:creationId xmlns:a16="http://schemas.microsoft.com/office/drawing/2014/main" id="{A4E56581-F76D-451B-B499-457EC302B568}"/>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 97 StPO schützt nicht pauschal jede Behandlungsakte, insbesondere wenn die Berufsgeheimnisträgerin selbst beschuldigt ist.</a:t>
            </a:r>
          </a:p>
        </p:txBody>
      </p:sp>
    </p:spTree>
    <p:extLst>
      <p:ext uri="{BB962C8B-B14F-4D97-AF65-F5344CB8AC3E}">
        <p14:creationId xmlns:p14="http://schemas.microsoft.com/office/powerpoint/2010/main" val="43637646"/>
      </p:ext>
    </p:extLst>
  </p:cSld>
</p:sld>
</file>

<file path=ppt/slides/slide262.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Simulation: Der Anruf der Polizei</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ROLLENWECHSEL · 15 MIN</a:t>
            </a:r>
            <a:endParaRPr/>
          </a:p>
        </p:txBody>
      </p:sp>
      <p:sp>
        <p:nvSpPr>
          <p:cNvPr id="4" name="">
            <a:extLst xmlns:a="http://schemas.openxmlformats.org/drawingml/2006/main">
              <a:ext uri="{FF2B5EF4-FFF2-40B4-BE49-F238E27FC236}">
                <a16:creationId xmlns:a16="http://schemas.microsoft.com/office/drawing/2014/main" id="{9924F36B-B3BF-49A4-9845-65AB3BB6667E}"/>
              </a:ext>
            </a:extLst>
          </p:cNvPr>
          <p:cNvSpPr>
            <a:spLocks xmlns:a="http://schemas.openxmlformats.org/drawingml/2006/main" noGrp="1"/>
          </p:cNvSpPr>
          <p:nvPr/>
        </p:nvSpPr>
        <p:spPr>
          <a:xfrm xmlns:a="http://schemas.openxmlformats.org/drawingml/2006/main">
            <a:off x="1809750" y="1952625"/>
            <a:ext cx="4429125" cy="3276600"/>
          </a:xfrm>
          <a:prstGeom xmlns:a="http://schemas.openxmlformats.org/drawingml/2006/main" prst="roundRect">
            <a:avLst>
              <a:gd name="adj" fmla="val 2326"/>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325E06D1-87A2-45C5-8F33-E11A2BF2D740}"/>
              </a:ext>
            </a:extLst>
          </p:cNvPr>
          <p:cNvSpPr>
            <a:spLocks xmlns:a="http://schemas.openxmlformats.org/drawingml/2006/main" noGrp="1"/>
          </p:cNvSpPr>
          <p:nvPr/>
        </p:nvSpPr>
        <p:spPr>
          <a:xfrm xmlns:a="http://schemas.openxmlformats.org/drawingml/2006/main">
            <a:off x="1809750" y="1952625"/>
            <a:ext cx="4429125" cy="76200"/>
          </a:xfrm>
          <a:prstGeom xmlns:a="http://schemas.openxmlformats.org/drawingml/2006/main" prst="rect">
            <a:avLst/>
          </a:prstGeom>
          <a:solidFill xmlns:a="http://schemas.openxmlformats.org/drawingml/2006/main">
            <a:srgbClr val="D53D0E"/>
          </a:solidFill>
          <a:ln xmlns:a="http://schemas.openxmlformats.org/drawingml/2006/main" w="0">
            <a:solidFill>
              <a:srgbClr val="D53D0E"/>
            </a:solidFill>
            <a:prstDash val="solid"/>
          </a:ln>
        </p:spPr>
      </p:sp>
      <p:sp>
        <p:nvSpPr>
          <p:cNvPr id="6" name="">
            <a:extLst xmlns:a="http://schemas.openxmlformats.org/drawingml/2006/main">
              <a:ext uri="{FF2B5EF4-FFF2-40B4-BE49-F238E27FC236}">
                <a16:creationId xmlns:a16="http://schemas.microsoft.com/office/drawing/2014/main" id="{6FE5B81C-AF6B-4019-81DB-AF84703F0406}"/>
              </a:ext>
            </a:extLst>
          </p:cNvPr>
          <p:cNvSpPr>
            <a:spLocks xmlns:a="http://schemas.openxmlformats.org/drawingml/2006/main" noGrp="1"/>
          </p:cNvSpPr>
          <p:nvPr/>
        </p:nvSpPr>
        <p:spPr>
          <a:xfrm xmlns:a="http://schemas.openxmlformats.org/drawingml/2006/main">
            <a:off x="1962150" y="2085975"/>
            <a:ext cx="41243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350" b="1">
                <a:solidFill>
                  <a:srgbClr val="003F6B"/>
                </a:solidFill>
              </a:defRPr>
            </a:pPr>
            <a:r>
              <a:rPr sz="1350" b="1">
                <a:solidFill>
                  <a:srgbClr val="003F6B"/>
                </a:solidFill>
              </a:rPr>
              <a:t>Szenario</a:t>
            </a:r>
          </a:p>
        </p:txBody>
      </p:sp>
      <p:sp>
        <p:nvSpPr>
          <p:cNvPr id="7" name="">
            <a:extLst xmlns:a="http://schemas.openxmlformats.org/drawingml/2006/main">
              <a:ext uri="{FF2B5EF4-FFF2-40B4-BE49-F238E27FC236}">
                <a16:creationId xmlns:a16="http://schemas.microsoft.com/office/drawing/2014/main" id="{16435502-DA26-478E-98AC-86B14EAD5B24}"/>
              </a:ext>
            </a:extLst>
          </p:cNvPr>
          <p:cNvSpPr>
            <a:spLocks xmlns:a="http://schemas.openxmlformats.org/drawingml/2006/main" noGrp="1"/>
          </p:cNvSpPr>
          <p:nvPr/>
        </p:nvSpPr>
        <p:spPr>
          <a:xfrm xmlns:a="http://schemas.openxmlformats.org/drawingml/2006/main">
            <a:off x="1962150" y="2524125"/>
            <a:ext cx="4124325"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a:solidFill>
                  <a:srgbClr val="15232B"/>
                </a:solidFill>
              </a:defRPr>
            </a:pPr>
            <a:r>
              <a:rPr sz="1238">
                <a:solidFill>
                  <a:srgbClr val="15232B"/>
                </a:solidFill>
              </a:rPr>
              <a:t>Eine Ermittlerin bittet telefonisch um eine ‚kurze medizinische Erklärung‘ zu einem unerwarteten Todesfall und möchte die Namen aller Beteiligten.</a:t>
            </a:r>
          </a:p>
        </p:txBody>
      </p:sp>
      <p:sp>
        <p:nvSpPr>
          <p:cNvPr id="8" name="">
            <a:extLst xmlns:a="http://schemas.openxmlformats.org/drawingml/2006/main">
              <a:ext uri="{FF2B5EF4-FFF2-40B4-BE49-F238E27FC236}">
                <a16:creationId xmlns:a16="http://schemas.microsoft.com/office/drawing/2014/main" id="{BBF0CAD7-3C13-4E82-BD5C-26C38C934CF9}"/>
              </a:ext>
            </a:extLst>
          </p:cNvPr>
          <p:cNvSpPr>
            <a:spLocks xmlns:a="http://schemas.openxmlformats.org/drawingml/2006/main" noGrp="1"/>
          </p:cNvSpPr>
          <p:nvPr/>
        </p:nvSpPr>
        <p:spPr>
          <a:xfrm xmlns:a="http://schemas.openxmlformats.org/drawingml/2006/main">
            <a:off x="6477000" y="1952625"/>
            <a:ext cx="2343150" cy="885825"/>
          </a:xfrm>
          <a:prstGeom xmlns:a="http://schemas.openxmlformats.org/drawingml/2006/main" prst="roundRect">
            <a:avLst>
              <a:gd name="adj" fmla="val 8602"/>
            </a:avLst>
          </a:prstGeom>
          <a:noFill xmlns:a="http://schemas.openxmlformats.org/drawingml/2006/main"/>
          <a:ln xmlns:a="http://schemas.openxmlformats.org/drawingml/2006/main" w="9525">
            <a:solidFill>
              <a:srgbClr val="B9CAD2"/>
            </a:solidFill>
            <a:prstDash val="solid"/>
          </a:ln>
        </p:spPr>
      </p:sp>
      <p:sp>
        <p:nvSpPr>
          <p:cNvPr id="9" name="">
            <a:extLst xmlns:a="http://schemas.openxmlformats.org/drawingml/2006/main">
              <a:ext uri="{FF2B5EF4-FFF2-40B4-BE49-F238E27FC236}">
                <a16:creationId xmlns:a16="http://schemas.microsoft.com/office/drawing/2014/main" id="{AB4C497F-11E6-4066-8961-CF45D5C82723}"/>
              </a:ext>
            </a:extLst>
          </p:cNvPr>
          <p:cNvSpPr>
            <a:spLocks xmlns:a="http://schemas.openxmlformats.org/drawingml/2006/main" noGrp="1"/>
          </p:cNvSpPr>
          <p:nvPr/>
        </p:nvSpPr>
        <p:spPr>
          <a:xfrm xmlns:a="http://schemas.openxmlformats.org/drawingml/2006/main">
            <a:off x="6477000" y="1952625"/>
            <a:ext cx="234315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10" name="">
            <a:extLst xmlns:a="http://schemas.openxmlformats.org/drawingml/2006/main">
              <a:ext uri="{FF2B5EF4-FFF2-40B4-BE49-F238E27FC236}">
                <a16:creationId xmlns:a16="http://schemas.microsoft.com/office/drawing/2014/main" id="{531D2559-C6A0-441B-9ECB-57F92B3C673E}"/>
              </a:ext>
            </a:extLst>
          </p:cNvPr>
          <p:cNvSpPr>
            <a:spLocks xmlns:a="http://schemas.openxmlformats.org/drawingml/2006/main" noGrp="1"/>
          </p:cNvSpPr>
          <p:nvPr/>
        </p:nvSpPr>
        <p:spPr>
          <a:xfrm xmlns:a="http://schemas.openxmlformats.org/drawingml/2006/main">
            <a:off x="6629400" y="2085975"/>
            <a:ext cx="203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b="1">
                <a:solidFill>
                  <a:srgbClr val="003F6B"/>
                </a:solidFill>
              </a:defRPr>
            </a:pPr>
            <a:r>
              <a:rPr sz="1050" b="1">
                <a:solidFill>
                  <a:srgbClr val="003F6B"/>
                </a:solidFill>
              </a:rPr>
              <a:t>diensthabende Ärztin / Arzt</a:t>
            </a:r>
          </a:p>
        </p:txBody>
      </p:sp>
      <p:sp>
        <p:nvSpPr>
          <p:cNvPr id="11" name="">
            <a:extLst xmlns:a="http://schemas.openxmlformats.org/drawingml/2006/main">
              <a:ext uri="{FF2B5EF4-FFF2-40B4-BE49-F238E27FC236}">
                <a16:creationId xmlns:a16="http://schemas.microsoft.com/office/drawing/2014/main" id="{6B8D0C72-9425-4187-A03D-D44F2D2EBAA4}"/>
              </a:ext>
            </a:extLst>
          </p:cNvPr>
          <p:cNvSpPr>
            <a:spLocks xmlns:a="http://schemas.openxmlformats.org/drawingml/2006/main" noGrp="1"/>
          </p:cNvSpPr>
          <p:nvPr/>
        </p:nvSpPr>
        <p:spPr>
          <a:xfrm xmlns:a="http://schemas.openxmlformats.org/drawingml/2006/main">
            <a:off x="8896350" y="1952625"/>
            <a:ext cx="2343150" cy="885825"/>
          </a:xfrm>
          <a:prstGeom xmlns:a="http://schemas.openxmlformats.org/drawingml/2006/main" prst="roundRect">
            <a:avLst>
              <a:gd name="adj" fmla="val 8602"/>
            </a:avLst>
          </a:prstGeom>
          <a:noFill xmlns:a="http://schemas.openxmlformats.org/drawingml/2006/main"/>
          <a:ln xmlns:a="http://schemas.openxmlformats.org/drawingml/2006/main" w="9525">
            <a:solidFill>
              <a:srgbClr val="B9CAD2"/>
            </a:solidFill>
            <a:prstDash val="solid"/>
          </a:ln>
        </p:spPr>
      </p:sp>
      <p:sp>
        <p:nvSpPr>
          <p:cNvPr id="12" name="">
            <a:extLst xmlns:a="http://schemas.openxmlformats.org/drawingml/2006/main">
              <a:ext uri="{FF2B5EF4-FFF2-40B4-BE49-F238E27FC236}">
                <a16:creationId xmlns:a16="http://schemas.microsoft.com/office/drawing/2014/main" id="{C3CFF9DA-4044-4E88-B0C9-523804011057}"/>
              </a:ext>
            </a:extLst>
          </p:cNvPr>
          <p:cNvSpPr>
            <a:spLocks xmlns:a="http://schemas.openxmlformats.org/drawingml/2006/main" noGrp="1"/>
          </p:cNvSpPr>
          <p:nvPr/>
        </p:nvSpPr>
        <p:spPr>
          <a:xfrm xmlns:a="http://schemas.openxmlformats.org/drawingml/2006/main">
            <a:off x="8896350" y="1952625"/>
            <a:ext cx="234315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3" name="">
            <a:extLst xmlns:a="http://schemas.openxmlformats.org/drawingml/2006/main">
              <a:ext uri="{FF2B5EF4-FFF2-40B4-BE49-F238E27FC236}">
                <a16:creationId xmlns:a16="http://schemas.microsoft.com/office/drawing/2014/main" id="{0B961633-5F20-409E-B2D7-A876D65B6E2E}"/>
              </a:ext>
            </a:extLst>
          </p:cNvPr>
          <p:cNvSpPr>
            <a:spLocks xmlns:a="http://schemas.openxmlformats.org/drawingml/2006/main" noGrp="1"/>
          </p:cNvSpPr>
          <p:nvPr/>
        </p:nvSpPr>
        <p:spPr>
          <a:xfrm xmlns:a="http://schemas.openxmlformats.org/drawingml/2006/main">
            <a:off x="9048750" y="2085975"/>
            <a:ext cx="203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b="1">
                <a:solidFill>
                  <a:srgbClr val="003F6B"/>
                </a:solidFill>
              </a:defRPr>
            </a:pPr>
            <a:r>
              <a:rPr sz="1050" b="1">
                <a:solidFill>
                  <a:srgbClr val="003F6B"/>
                </a:solidFill>
              </a:rPr>
              <a:t>Ermittlerin</a:t>
            </a:r>
          </a:p>
        </p:txBody>
      </p:sp>
      <p:sp>
        <p:nvSpPr>
          <p:cNvPr id="14" name="">
            <a:extLst xmlns:a="http://schemas.openxmlformats.org/drawingml/2006/main">
              <a:ext uri="{FF2B5EF4-FFF2-40B4-BE49-F238E27FC236}">
                <a16:creationId xmlns:a16="http://schemas.microsoft.com/office/drawing/2014/main" id="{E542499B-4C30-44D9-887C-3A78CD487FDB}"/>
              </a:ext>
            </a:extLst>
          </p:cNvPr>
          <p:cNvSpPr>
            <a:spLocks xmlns:a="http://schemas.openxmlformats.org/drawingml/2006/main" noGrp="1"/>
          </p:cNvSpPr>
          <p:nvPr/>
        </p:nvSpPr>
        <p:spPr>
          <a:xfrm xmlns:a="http://schemas.openxmlformats.org/drawingml/2006/main">
            <a:off x="6477000" y="2971800"/>
            <a:ext cx="2343150" cy="885825"/>
          </a:xfrm>
          <a:prstGeom xmlns:a="http://schemas.openxmlformats.org/drawingml/2006/main" prst="roundRect">
            <a:avLst>
              <a:gd name="adj" fmla="val 8602"/>
            </a:avLst>
          </a:prstGeom>
          <a:noFill xmlns:a="http://schemas.openxmlformats.org/drawingml/2006/main"/>
          <a:ln xmlns:a="http://schemas.openxmlformats.org/drawingml/2006/main" w="9525">
            <a:solidFill>
              <a:srgbClr val="B9CAD2"/>
            </a:solidFill>
            <a:prstDash val="solid"/>
          </a:ln>
        </p:spPr>
      </p:sp>
      <p:sp>
        <p:nvSpPr>
          <p:cNvPr id="15" name="">
            <a:extLst xmlns:a="http://schemas.openxmlformats.org/drawingml/2006/main">
              <a:ext uri="{FF2B5EF4-FFF2-40B4-BE49-F238E27FC236}">
                <a16:creationId xmlns:a16="http://schemas.microsoft.com/office/drawing/2014/main" id="{E718A66F-78DE-4A3B-A962-1BA5F910E589}"/>
              </a:ext>
            </a:extLst>
          </p:cNvPr>
          <p:cNvSpPr>
            <a:spLocks xmlns:a="http://schemas.openxmlformats.org/drawingml/2006/main" noGrp="1"/>
          </p:cNvSpPr>
          <p:nvPr/>
        </p:nvSpPr>
        <p:spPr>
          <a:xfrm xmlns:a="http://schemas.openxmlformats.org/drawingml/2006/main">
            <a:off x="6477000" y="2971800"/>
            <a:ext cx="234315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16" name="">
            <a:extLst xmlns:a="http://schemas.openxmlformats.org/drawingml/2006/main">
              <a:ext uri="{FF2B5EF4-FFF2-40B4-BE49-F238E27FC236}">
                <a16:creationId xmlns:a16="http://schemas.microsoft.com/office/drawing/2014/main" id="{BF307A97-93DA-4EE9-BDAE-73A145D7DD5C}"/>
              </a:ext>
            </a:extLst>
          </p:cNvPr>
          <p:cNvSpPr>
            <a:spLocks xmlns:a="http://schemas.openxmlformats.org/drawingml/2006/main" noGrp="1"/>
          </p:cNvSpPr>
          <p:nvPr/>
        </p:nvSpPr>
        <p:spPr>
          <a:xfrm xmlns:a="http://schemas.openxmlformats.org/drawingml/2006/main">
            <a:off x="6629400" y="3105150"/>
            <a:ext cx="203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b="1">
                <a:solidFill>
                  <a:srgbClr val="003F6B"/>
                </a:solidFill>
              </a:defRPr>
            </a:pPr>
            <a:r>
              <a:rPr sz="1050" b="1">
                <a:solidFill>
                  <a:srgbClr val="003F6B"/>
                </a:solidFill>
              </a:rPr>
              <a:t>Beobachter:in</a:t>
            </a:r>
          </a:p>
        </p:txBody>
      </p:sp>
      <p:sp>
        <p:nvSpPr>
          <p:cNvPr id="17" name="">
            <a:extLst xmlns:a="http://schemas.openxmlformats.org/drawingml/2006/main">
              <a:ext uri="{FF2B5EF4-FFF2-40B4-BE49-F238E27FC236}">
                <a16:creationId xmlns:a16="http://schemas.microsoft.com/office/drawing/2014/main" id="{B910169B-8651-4CD8-A49D-8C474CE166DB}"/>
              </a:ext>
            </a:extLst>
          </p:cNvPr>
          <p:cNvSpPr>
            <a:spLocks xmlns:a="http://schemas.openxmlformats.org/drawingml/2006/main" noGrp="1"/>
          </p:cNvSpPr>
          <p:nvPr/>
        </p:nvSpPr>
        <p:spPr>
          <a:xfrm xmlns:a="http://schemas.openxmlformats.org/drawingml/2006/main">
            <a:off x="6572250" y="4048125"/>
            <a:ext cx="4619625"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 Status geklärt</a:t>
            </a:r>
          </a:p>
          <a:p xmlns:a="http://schemas.openxmlformats.org/drawingml/2006/main">
            <a:pPr>
              <a:buNone/>
              <a:defRPr sz="1065">
                <a:solidFill>
                  <a:srgbClr val="15232B"/>
                </a:solidFill>
              </a:defRPr>
            </a:pPr>
            <a:r>
              <a:rPr sz="1065">
                <a:solidFill>
                  <a:srgbClr val="15232B"/>
                </a:solidFill>
              </a:rPr>
              <a:t>• keine Patientendaten unbefugt offengelegt</a:t>
            </a:r>
          </a:p>
          <a:p xmlns:a="http://schemas.openxmlformats.org/drawingml/2006/main">
            <a:pPr>
              <a:buNone/>
              <a:defRPr sz="1065">
                <a:solidFill>
                  <a:srgbClr val="15232B"/>
                </a:solidFill>
              </a:defRPr>
            </a:pPr>
            <a:r>
              <a:rPr sz="1065">
                <a:solidFill>
                  <a:srgbClr val="15232B"/>
                </a:solidFill>
              </a:rPr>
              <a:t>• keine spontane Sacheinlassung</a:t>
            </a:r>
          </a:p>
          <a:p xmlns:a="http://schemas.openxmlformats.org/drawingml/2006/main">
            <a:pPr>
              <a:buNone/>
              <a:defRPr sz="1065">
                <a:solidFill>
                  <a:srgbClr val="15232B"/>
                </a:solidFill>
              </a:defRPr>
            </a:pPr>
            <a:r>
              <a:rPr sz="1065">
                <a:solidFill>
                  <a:srgbClr val="15232B"/>
                </a:solidFill>
              </a:rPr>
              <a:t>• zuständige Kontaktstelle benannt</a:t>
            </a:r>
          </a:p>
          <a:p xmlns:a="http://schemas.openxmlformats.org/drawingml/2006/main">
            <a:pPr>
              <a:buNone/>
              <a:defRPr sz="1065">
                <a:solidFill>
                  <a:srgbClr val="15232B"/>
                </a:solidFill>
              </a:defRPr>
            </a:pPr>
            <a:r>
              <a:rPr sz="1065">
                <a:solidFill>
                  <a:srgbClr val="15232B"/>
                </a:solidFill>
              </a:rPr>
              <a:t>• Patientenversorgung gesichert</a:t>
            </a:r>
          </a:p>
        </p:txBody>
      </p:sp>
    </p:spTree>
    <p:extLst>
      <p:ext uri="{BB962C8B-B14F-4D97-AF65-F5344CB8AC3E}">
        <p14:creationId xmlns:p14="http://schemas.microsoft.com/office/powerpoint/2010/main" val="43637646"/>
      </p:ext>
    </p:extLst>
  </p:cSld>
</p:sld>
</file>

<file path=ppt/slides/slide263.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Zum Nachlesen · Termin 08: Strafverfahren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LITERATUR &amp; SICHTBARE QUELLEN</a:t>
            </a:r>
            <a:endParaRPr/>
          </a:p>
        </p:txBody>
      </p:sp>
      <p:sp>
        <p:nvSpPr>
          <p:cNvPr id="4" name="">
            <a:extLst xmlns:a="http://schemas.openxmlformats.org/drawingml/2006/main">
              <a:ext uri="{FF2B5EF4-FFF2-40B4-BE49-F238E27FC236}">
                <a16:creationId xmlns:a16="http://schemas.microsoft.com/office/drawing/2014/main" id="{C083B8C6-841F-4B24-A061-14CDFE979804}"/>
              </a:ext>
            </a:extLst>
          </p:cNvPr>
          <p:cNvSpPr>
            <a:spLocks xmlns:a="http://schemas.openxmlformats.org/drawingml/2006/main" noGrp="1"/>
          </p:cNvSpPr>
          <p:nvPr/>
        </p:nvSpPr>
        <p:spPr>
          <a:xfrm xmlns:a="http://schemas.openxmlformats.org/drawingml/2006/main">
            <a:off x="1809750" y="1943100"/>
            <a:ext cx="461010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CE17A8A2-5A61-42C5-9C7C-DB81B67EB8CD}"/>
              </a:ext>
            </a:extLst>
          </p:cNvPr>
          <p:cNvSpPr>
            <a:spLocks xmlns:a="http://schemas.openxmlformats.org/drawingml/2006/main" noGrp="1"/>
          </p:cNvSpPr>
          <p:nvPr/>
        </p:nvSpPr>
        <p:spPr>
          <a:xfrm xmlns:a="http://schemas.openxmlformats.org/drawingml/2006/main">
            <a:off x="1809750" y="1943100"/>
            <a:ext cx="4610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Vertiefung</a:t>
            </a:r>
          </a:p>
        </p:txBody>
      </p:sp>
      <p:sp>
        <p:nvSpPr>
          <p:cNvPr id="6" name="">
            <a:extLst xmlns:a="http://schemas.openxmlformats.org/drawingml/2006/main">
              <a:ext uri="{FF2B5EF4-FFF2-40B4-BE49-F238E27FC236}">
                <a16:creationId xmlns:a16="http://schemas.microsoft.com/office/drawing/2014/main" id="{86886BF9-8D62-4701-B37A-B6CF5AD77CCF}"/>
              </a:ext>
            </a:extLst>
          </p:cNvPr>
          <p:cNvSpPr>
            <a:spLocks xmlns:a="http://schemas.openxmlformats.org/drawingml/2006/main" noGrp="1"/>
          </p:cNvSpPr>
          <p:nvPr/>
        </p:nvSpPr>
        <p:spPr>
          <a:xfrm xmlns:a="http://schemas.openxmlformats.org/drawingml/2006/main">
            <a:off x="1809750" y="30289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7" name="">
            <a:extLst xmlns:a="http://schemas.openxmlformats.org/drawingml/2006/main">
              <a:ext uri="{FF2B5EF4-FFF2-40B4-BE49-F238E27FC236}">
                <a16:creationId xmlns:a16="http://schemas.microsoft.com/office/drawing/2014/main" id="{BAF3AF29-BB59-4D4B-B906-70DA0573A3B3}"/>
              </a:ext>
            </a:extLst>
          </p:cNvPr>
          <p:cNvSpPr>
            <a:spLocks xmlns:a="http://schemas.openxmlformats.org/drawingml/2006/main" noGrp="1"/>
          </p:cNvSpPr>
          <p:nvPr/>
        </p:nvSpPr>
        <p:spPr>
          <a:xfrm xmlns:a="http://schemas.openxmlformats.org/drawingml/2006/main">
            <a:off x="1809750" y="24765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9BAB"/>
                </a:solidFill>
              </a:defRPr>
            </a:pPr>
            <a:r>
              <a:rPr sz="960" b="1">
                <a:solidFill>
                  <a:srgbClr val="009BAB"/>
                </a:solidFill>
              </a:rPr>
              <a:t>StGB</a:t>
            </a:r>
          </a:p>
        </p:txBody>
      </p:sp>
      <p:sp>
        <p:nvSpPr>
          <p:cNvPr id="8" name="">
            <a:extLst xmlns:a="http://schemas.openxmlformats.org/drawingml/2006/main">
              <a:ext uri="{FF2B5EF4-FFF2-40B4-BE49-F238E27FC236}">
                <a16:creationId xmlns:a16="http://schemas.microsoft.com/office/drawing/2014/main" id="{71FCC973-6A1A-4A34-8A2F-FD3CE5E45568}"/>
              </a:ext>
            </a:extLst>
          </p:cNvPr>
          <p:cNvSpPr>
            <a:spLocks xmlns:a="http://schemas.openxmlformats.org/drawingml/2006/main" noGrp="1"/>
          </p:cNvSpPr>
          <p:nvPr/>
        </p:nvSpPr>
        <p:spPr>
          <a:xfrm xmlns:a="http://schemas.openxmlformats.org/drawingml/2006/main">
            <a:off x="2952750" y="24765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Fischer, StGB: §§ 13, 15, 222, 223, 229, 323c.</a:t>
            </a:r>
          </a:p>
        </p:txBody>
      </p:sp>
      <p:sp>
        <p:nvSpPr>
          <p:cNvPr id="9" name="">
            <a:extLst xmlns:a="http://schemas.openxmlformats.org/drawingml/2006/main">
              <a:ext uri="{FF2B5EF4-FFF2-40B4-BE49-F238E27FC236}">
                <a16:creationId xmlns:a16="http://schemas.microsoft.com/office/drawing/2014/main" id="{5FC95C79-E8C1-4DE7-B0BD-A2EA56A78365}"/>
              </a:ext>
            </a:extLst>
          </p:cNvPr>
          <p:cNvSpPr>
            <a:spLocks xmlns:a="http://schemas.openxmlformats.org/drawingml/2006/main" noGrp="1"/>
          </p:cNvSpPr>
          <p:nvPr/>
        </p:nvSpPr>
        <p:spPr>
          <a:xfrm xmlns:a="http://schemas.openxmlformats.org/drawingml/2006/main">
            <a:off x="1809750" y="36385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10" name="">
            <a:extLst xmlns:a="http://schemas.openxmlformats.org/drawingml/2006/main">
              <a:ext uri="{FF2B5EF4-FFF2-40B4-BE49-F238E27FC236}">
                <a16:creationId xmlns:a16="http://schemas.microsoft.com/office/drawing/2014/main" id="{E9404373-92E1-41E2-9E14-11607B4BD8C7}"/>
              </a:ext>
            </a:extLst>
          </p:cNvPr>
          <p:cNvSpPr>
            <a:spLocks xmlns:a="http://schemas.openxmlformats.org/drawingml/2006/main" noGrp="1"/>
          </p:cNvSpPr>
          <p:nvPr/>
        </p:nvSpPr>
        <p:spPr>
          <a:xfrm xmlns:a="http://schemas.openxmlformats.org/drawingml/2006/main">
            <a:off x="1809750" y="30861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9BAB"/>
                </a:solidFill>
              </a:defRPr>
            </a:pPr>
            <a:r>
              <a:rPr sz="960" b="1">
                <a:solidFill>
                  <a:srgbClr val="009BAB"/>
                </a:solidFill>
              </a:rPr>
              <a:t>StPO</a:t>
            </a:r>
          </a:p>
        </p:txBody>
      </p:sp>
      <p:sp>
        <p:nvSpPr>
          <p:cNvPr id="11" name="">
            <a:extLst xmlns:a="http://schemas.openxmlformats.org/drawingml/2006/main">
              <a:ext uri="{FF2B5EF4-FFF2-40B4-BE49-F238E27FC236}">
                <a16:creationId xmlns:a16="http://schemas.microsoft.com/office/drawing/2014/main" id="{2D3D164A-6294-420F-AAE8-848E46A28212}"/>
              </a:ext>
            </a:extLst>
          </p:cNvPr>
          <p:cNvSpPr>
            <a:spLocks xmlns:a="http://schemas.openxmlformats.org/drawingml/2006/main" noGrp="1"/>
          </p:cNvSpPr>
          <p:nvPr/>
        </p:nvSpPr>
        <p:spPr>
          <a:xfrm xmlns:a="http://schemas.openxmlformats.org/drawingml/2006/main">
            <a:off x="2952750" y="30861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Meyer-Goßner/Schmitt, StPO: Ermittlungsverfahren und Hauptverhandlung.</a:t>
            </a:r>
          </a:p>
        </p:txBody>
      </p:sp>
      <p:sp>
        <p:nvSpPr>
          <p:cNvPr id="12" name="">
            <a:extLst xmlns:a="http://schemas.openxmlformats.org/drawingml/2006/main">
              <a:ext uri="{FF2B5EF4-FFF2-40B4-BE49-F238E27FC236}">
                <a16:creationId xmlns:a16="http://schemas.microsoft.com/office/drawing/2014/main" id="{EA027A44-A44D-4106-A9D6-FB7749017F40}"/>
              </a:ext>
            </a:extLst>
          </p:cNvPr>
          <p:cNvSpPr>
            <a:spLocks xmlns:a="http://schemas.openxmlformats.org/drawingml/2006/main" noGrp="1"/>
          </p:cNvSpPr>
          <p:nvPr/>
        </p:nvSpPr>
        <p:spPr>
          <a:xfrm xmlns:a="http://schemas.openxmlformats.org/drawingml/2006/main">
            <a:off x="1809750" y="42481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13" name="">
            <a:extLst xmlns:a="http://schemas.openxmlformats.org/drawingml/2006/main">
              <a:ext uri="{FF2B5EF4-FFF2-40B4-BE49-F238E27FC236}">
                <a16:creationId xmlns:a16="http://schemas.microsoft.com/office/drawing/2014/main" id="{5ED7F0FD-CFC5-4C36-85F3-156876926E5A}"/>
              </a:ext>
            </a:extLst>
          </p:cNvPr>
          <p:cNvSpPr>
            <a:spLocks xmlns:a="http://schemas.openxmlformats.org/drawingml/2006/main" noGrp="1"/>
          </p:cNvSpPr>
          <p:nvPr/>
        </p:nvSpPr>
        <p:spPr>
          <a:xfrm xmlns:a="http://schemas.openxmlformats.org/drawingml/2006/main">
            <a:off x="1809750" y="36957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9BAB"/>
                </a:solidFill>
              </a:defRPr>
            </a:pPr>
            <a:r>
              <a:rPr sz="960" b="1">
                <a:solidFill>
                  <a:srgbClr val="009BAB"/>
                </a:solidFill>
              </a:rPr>
              <a:t>Arztstrafrecht</a:t>
            </a:r>
          </a:p>
        </p:txBody>
      </p:sp>
      <p:sp>
        <p:nvSpPr>
          <p:cNvPr id="14" name="">
            <a:extLst xmlns:a="http://schemas.openxmlformats.org/drawingml/2006/main">
              <a:ext uri="{FF2B5EF4-FFF2-40B4-BE49-F238E27FC236}">
                <a16:creationId xmlns:a16="http://schemas.microsoft.com/office/drawing/2014/main" id="{503C1228-0755-4305-A208-A2F3AD852E9C}"/>
              </a:ext>
            </a:extLst>
          </p:cNvPr>
          <p:cNvSpPr>
            <a:spLocks xmlns:a="http://schemas.openxmlformats.org/drawingml/2006/main" noGrp="1"/>
          </p:cNvSpPr>
          <p:nvPr/>
        </p:nvSpPr>
        <p:spPr>
          <a:xfrm xmlns:a="http://schemas.openxmlformats.org/drawingml/2006/main">
            <a:off x="2952750" y="36957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Ulsenheimer/Gaede, Arztstrafrecht in der Praxis.</a:t>
            </a:r>
          </a:p>
        </p:txBody>
      </p:sp>
      <p:sp>
        <p:nvSpPr>
          <p:cNvPr id="15" name="">
            <a:extLst xmlns:a="http://schemas.openxmlformats.org/drawingml/2006/main">
              <a:ext uri="{FF2B5EF4-FFF2-40B4-BE49-F238E27FC236}">
                <a16:creationId xmlns:a16="http://schemas.microsoft.com/office/drawing/2014/main" id="{3F37D4FF-6493-43EA-80B3-1637FE289BF2}"/>
              </a:ext>
            </a:extLst>
          </p:cNvPr>
          <p:cNvSpPr>
            <a:spLocks xmlns:a="http://schemas.openxmlformats.org/drawingml/2006/main" noGrp="1"/>
          </p:cNvSpPr>
          <p:nvPr/>
        </p:nvSpPr>
        <p:spPr>
          <a:xfrm xmlns:a="http://schemas.openxmlformats.org/drawingml/2006/main">
            <a:off x="1809750" y="48577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16" name="">
            <a:extLst xmlns:a="http://schemas.openxmlformats.org/drawingml/2006/main">
              <a:ext uri="{FF2B5EF4-FFF2-40B4-BE49-F238E27FC236}">
                <a16:creationId xmlns:a16="http://schemas.microsoft.com/office/drawing/2014/main" id="{8DEE57E5-CFDD-433D-997A-05B45A148BE8}"/>
              </a:ext>
            </a:extLst>
          </p:cNvPr>
          <p:cNvSpPr>
            <a:spLocks xmlns:a="http://schemas.openxmlformats.org/drawingml/2006/main" noGrp="1"/>
          </p:cNvSpPr>
          <p:nvPr/>
        </p:nvSpPr>
        <p:spPr>
          <a:xfrm xmlns:a="http://schemas.openxmlformats.org/drawingml/2006/main">
            <a:off x="1809750" y="43053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9BAB"/>
                </a:solidFill>
              </a:defRPr>
            </a:pPr>
            <a:r>
              <a:rPr sz="960" b="1">
                <a:solidFill>
                  <a:srgbClr val="009BAB"/>
                </a:solidFill>
              </a:rPr>
              <a:t>Beweis</a:t>
            </a:r>
          </a:p>
        </p:txBody>
      </p:sp>
      <p:sp>
        <p:nvSpPr>
          <p:cNvPr id="17" name="">
            <a:extLst xmlns:a="http://schemas.openxmlformats.org/drawingml/2006/main">
              <a:ext uri="{FF2B5EF4-FFF2-40B4-BE49-F238E27FC236}">
                <a16:creationId xmlns:a16="http://schemas.microsoft.com/office/drawing/2014/main" id="{9B48BDB5-27AD-4D8E-9CC9-7666ACC429B3}"/>
              </a:ext>
            </a:extLst>
          </p:cNvPr>
          <p:cNvSpPr>
            <a:spLocks xmlns:a="http://schemas.openxmlformats.org/drawingml/2006/main" noGrp="1"/>
          </p:cNvSpPr>
          <p:nvPr/>
        </p:nvSpPr>
        <p:spPr>
          <a:xfrm xmlns:a="http://schemas.openxmlformats.org/drawingml/2006/main">
            <a:off x="2952750" y="43053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Persönliche Schuld, Zweifelssatz und sachverständige Beratung.</a:t>
            </a:r>
          </a:p>
        </p:txBody>
      </p:sp>
      <p:sp>
        <p:nvSpPr>
          <p:cNvPr id="18" name="">
            <a:extLst xmlns:a="http://schemas.openxmlformats.org/drawingml/2006/main">
              <a:ext uri="{FF2B5EF4-FFF2-40B4-BE49-F238E27FC236}">
                <a16:creationId xmlns:a16="http://schemas.microsoft.com/office/drawing/2014/main" id="{53293F88-0236-4CC5-A5BC-FC9E082332F7}"/>
              </a:ext>
            </a:extLst>
          </p:cNvPr>
          <p:cNvSpPr>
            <a:spLocks xmlns:a="http://schemas.openxmlformats.org/drawingml/2006/main" noGrp="1"/>
          </p:cNvSpPr>
          <p:nvPr/>
        </p:nvSpPr>
        <p:spPr>
          <a:xfrm xmlns:a="http://schemas.openxmlformats.org/drawingml/2006/main">
            <a:off x="6724650" y="1943100"/>
            <a:ext cx="461010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9" name="">
            <a:extLst xmlns:a="http://schemas.openxmlformats.org/drawingml/2006/main">
              <a:ext uri="{FF2B5EF4-FFF2-40B4-BE49-F238E27FC236}">
                <a16:creationId xmlns:a16="http://schemas.microsoft.com/office/drawing/2014/main" id="{AE4082F1-4820-41F5-AF48-8BDD9F628F6C}"/>
              </a:ext>
            </a:extLst>
          </p:cNvPr>
          <p:cNvSpPr>
            <a:spLocks xmlns:a="http://schemas.openxmlformats.org/drawingml/2006/main" noGrp="1"/>
          </p:cNvSpPr>
          <p:nvPr/>
        </p:nvSpPr>
        <p:spPr>
          <a:xfrm xmlns:a="http://schemas.openxmlformats.org/drawingml/2006/main">
            <a:off x="6724650" y="1943100"/>
            <a:ext cx="4610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Primärquellen &amp; Rechtsprechung</a:t>
            </a:r>
          </a:p>
        </p:txBody>
      </p:sp>
      <p:sp>
        <p:nvSpPr>
          <p:cNvPr id="20" name="">
            <a:extLst xmlns:a="http://schemas.openxmlformats.org/drawingml/2006/main">
              <a:ext uri="{FF2B5EF4-FFF2-40B4-BE49-F238E27FC236}">
                <a16:creationId xmlns:a16="http://schemas.microsoft.com/office/drawing/2014/main" id="{1514E295-0447-4B2E-8F43-EC2CD1186FA3}"/>
              </a:ext>
            </a:extLst>
          </p:cNvPr>
          <p:cNvSpPr>
            <a:spLocks xmlns:a="http://schemas.openxmlformats.org/drawingml/2006/main" noGrp="1"/>
          </p:cNvSpPr>
          <p:nvPr/>
        </p:nvSpPr>
        <p:spPr>
          <a:xfrm xmlns:a="http://schemas.openxmlformats.org/drawingml/2006/main">
            <a:off x="6724650" y="30289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21" name="">
            <a:extLst xmlns:a="http://schemas.openxmlformats.org/drawingml/2006/main">
              <a:ext uri="{FF2B5EF4-FFF2-40B4-BE49-F238E27FC236}">
                <a16:creationId xmlns:a16="http://schemas.microsoft.com/office/drawing/2014/main" id="{D733A5C4-5459-4DF6-A75F-15F7CB3FBA8D}"/>
              </a:ext>
            </a:extLst>
          </p:cNvPr>
          <p:cNvSpPr>
            <a:spLocks xmlns:a="http://schemas.openxmlformats.org/drawingml/2006/main" noGrp="1"/>
          </p:cNvSpPr>
          <p:nvPr/>
        </p:nvSpPr>
        <p:spPr>
          <a:xfrm xmlns:a="http://schemas.openxmlformats.org/drawingml/2006/main">
            <a:off x="6724650" y="24765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3F6B"/>
                </a:solidFill>
              </a:defRPr>
            </a:pPr>
            <a:r>
              <a:rPr sz="960" b="1">
                <a:solidFill>
                  <a:srgbClr val="003F6B"/>
                </a:solidFill>
              </a:rPr>
              <a:t>Normen</a:t>
            </a:r>
          </a:p>
        </p:txBody>
      </p:sp>
      <p:sp>
        <p:nvSpPr>
          <p:cNvPr id="22" name="">
            <a:extLst xmlns:a="http://schemas.openxmlformats.org/drawingml/2006/main">
              <a:ext uri="{FF2B5EF4-FFF2-40B4-BE49-F238E27FC236}">
                <a16:creationId xmlns:a16="http://schemas.microsoft.com/office/drawing/2014/main" id="{633F397B-4756-4142-BCFC-74AF076DCA3C}"/>
              </a:ext>
            </a:extLst>
          </p:cNvPr>
          <p:cNvSpPr>
            <a:spLocks xmlns:a="http://schemas.openxmlformats.org/drawingml/2006/main" noGrp="1"/>
          </p:cNvSpPr>
          <p:nvPr/>
        </p:nvSpPr>
        <p:spPr>
          <a:xfrm xmlns:a="http://schemas.openxmlformats.org/drawingml/2006/main">
            <a:off x="7867650" y="24765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 13, 34, 203, 222, 223, 229, 323c StGB.</a:t>
            </a:r>
          </a:p>
        </p:txBody>
      </p:sp>
      <p:sp>
        <p:nvSpPr>
          <p:cNvPr id="23" name="">
            <a:extLst xmlns:a="http://schemas.openxmlformats.org/drawingml/2006/main">
              <a:ext uri="{FF2B5EF4-FFF2-40B4-BE49-F238E27FC236}">
                <a16:creationId xmlns:a16="http://schemas.microsoft.com/office/drawing/2014/main" id="{FBB11DD7-CC8A-45D8-ABF7-B3AA9A61635B}"/>
              </a:ext>
            </a:extLst>
          </p:cNvPr>
          <p:cNvSpPr>
            <a:spLocks xmlns:a="http://schemas.openxmlformats.org/drawingml/2006/main" noGrp="1"/>
          </p:cNvSpPr>
          <p:nvPr/>
        </p:nvSpPr>
        <p:spPr>
          <a:xfrm xmlns:a="http://schemas.openxmlformats.org/drawingml/2006/main">
            <a:off x="6724650" y="36385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24" name="">
            <a:extLst xmlns:a="http://schemas.openxmlformats.org/drawingml/2006/main">
              <a:ext uri="{FF2B5EF4-FFF2-40B4-BE49-F238E27FC236}">
                <a16:creationId xmlns:a16="http://schemas.microsoft.com/office/drawing/2014/main" id="{9AFA5455-F9C1-49C8-90F8-698AD2180C70}"/>
              </a:ext>
            </a:extLst>
          </p:cNvPr>
          <p:cNvSpPr>
            <a:spLocks xmlns:a="http://schemas.openxmlformats.org/drawingml/2006/main" noGrp="1"/>
          </p:cNvSpPr>
          <p:nvPr/>
        </p:nvSpPr>
        <p:spPr>
          <a:xfrm xmlns:a="http://schemas.openxmlformats.org/drawingml/2006/main">
            <a:off x="6724650" y="30861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3F6B"/>
                </a:solidFill>
              </a:defRPr>
            </a:pPr>
            <a:r>
              <a:rPr sz="960" b="1">
                <a:solidFill>
                  <a:srgbClr val="003F6B"/>
                </a:solidFill>
              </a:rPr>
              <a:t>StPO</a:t>
            </a:r>
          </a:p>
        </p:txBody>
      </p:sp>
      <p:sp>
        <p:nvSpPr>
          <p:cNvPr id="25" name="">
            <a:extLst xmlns:a="http://schemas.openxmlformats.org/drawingml/2006/main">
              <a:ext uri="{FF2B5EF4-FFF2-40B4-BE49-F238E27FC236}">
                <a16:creationId xmlns:a16="http://schemas.microsoft.com/office/drawing/2014/main" id="{37995D5F-36A6-4408-8BA3-F99894FE6AA7}"/>
              </a:ext>
            </a:extLst>
          </p:cNvPr>
          <p:cNvSpPr>
            <a:spLocks xmlns:a="http://schemas.openxmlformats.org/drawingml/2006/main" noGrp="1"/>
          </p:cNvSpPr>
          <p:nvPr/>
        </p:nvSpPr>
        <p:spPr>
          <a:xfrm xmlns:a="http://schemas.openxmlformats.org/drawingml/2006/main">
            <a:off x="7867650" y="30861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 136, 137, 152, 170, 244, 261 StPO.</a:t>
            </a:r>
          </a:p>
        </p:txBody>
      </p:sp>
      <p:sp>
        <p:nvSpPr>
          <p:cNvPr id="26" name="">
            <a:extLst xmlns:a="http://schemas.openxmlformats.org/drawingml/2006/main">
              <a:ext uri="{FF2B5EF4-FFF2-40B4-BE49-F238E27FC236}">
                <a16:creationId xmlns:a16="http://schemas.microsoft.com/office/drawing/2014/main" id="{AC7FB521-3BE5-463D-8137-58D54B0C31B1}"/>
              </a:ext>
            </a:extLst>
          </p:cNvPr>
          <p:cNvSpPr>
            <a:spLocks xmlns:a="http://schemas.openxmlformats.org/drawingml/2006/main" noGrp="1"/>
          </p:cNvSpPr>
          <p:nvPr/>
        </p:nvSpPr>
        <p:spPr>
          <a:xfrm xmlns:a="http://schemas.openxmlformats.org/drawingml/2006/main">
            <a:off x="6724650" y="42481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27" name="">
            <a:extLst xmlns:a="http://schemas.openxmlformats.org/drawingml/2006/main">
              <a:ext uri="{FF2B5EF4-FFF2-40B4-BE49-F238E27FC236}">
                <a16:creationId xmlns:a16="http://schemas.microsoft.com/office/drawing/2014/main" id="{847BED51-48CA-4237-AAD9-8E7F90462548}"/>
              </a:ext>
            </a:extLst>
          </p:cNvPr>
          <p:cNvSpPr>
            <a:spLocks xmlns:a="http://schemas.openxmlformats.org/drawingml/2006/main" noGrp="1"/>
          </p:cNvSpPr>
          <p:nvPr/>
        </p:nvSpPr>
        <p:spPr>
          <a:xfrm xmlns:a="http://schemas.openxmlformats.org/drawingml/2006/main">
            <a:off x="6724650" y="36957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3F6B"/>
                </a:solidFill>
              </a:defRPr>
            </a:pPr>
            <a:r>
              <a:rPr sz="960" b="1">
                <a:solidFill>
                  <a:srgbClr val="003F6B"/>
                </a:solidFill>
              </a:rPr>
              <a:t>BGH</a:t>
            </a:r>
          </a:p>
        </p:txBody>
      </p:sp>
      <p:sp>
        <p:nvSpPr>
          <p:cNvPr id="28" name="">
            <a:extLst xmlns:a="http://schemas.openxmlformats.org/drawingml/2006/main">
              <a:ext uri="{FF2B5EF4-FFF2-40B4-BE49-F238E27FC236}">
                <a16:creationId xmlns:a16="http://schemas.microsoft.com/office/drawing/2014/main" id="{D2C99409-8A23-48C6-945C-6883C4EC6569}"/>
              </a:ext>
            </a:extLst>
          </p:cNvPr>
          <p:cNvSpPr>
            <a:spLocks xmlns:a="http://schemas.openxmlformats.org/drawingml/2006/main" noGrp="1"/>
          </p:cNvSpPr>
          <p:nvPr/>
        </p:nvSpPr>
        <p:spPr>
          <a:xfrm xmlns:a="http://schemas.openxmlformats.org/drawingml/2006/main">
            <a:off x="7867650" y="36957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5 StR 394/21 · Beatmungsgerät; Fahrlässigkeit/Vorsatz.</a:t>
            </a:r>
          </a:p>
        </p:txBody>
      </p:sp>
      <p:sp>
        <p:nvSpPr>
          <p:cNvPr id="29" name="">
            <a:extLst xmlns:a="http://schemas.openxmlformats.org/drawingml/2006/main">
              <a:ext uri="{FF2B5EF4-FFF2-40B4-BE49-F238E27FC236}">
                <a16:creationId xmlns:a16="http://schemas.microsoft.com/office/drawing/2014/main" id="{42933BB0-41DF-403D-AED8-6DA5F684DD27}"/>
              </a:ext>
            </a:extLst>
          </p:cNvPr>
          <p:cNvSpPr>
            <a:spLocks xmlns:a="http://schemas.openxmlformats.org/drawingml/2006/main" noGrp="1"/>
          </p:cNvSpPr>
          <p:nvPr/>
        </p:nvSpPr>
        <p:spPr>
          <a:xfrm xmlns:a="http://schemas.openxmlformats.org/drawingml/2006/main">
            <a:off x="6724650" y="48577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30" name="">
            <a:extLst xmlns:a="http://schemas.openxmlformats.org/drawingml/2006/main">
              <a:ext uri="{FF2B5EF4-FFF2-40B4-BE49-F238E27FC236}">
                <a16:creationId xmlns:a16="http://schemas.microsoft.com/office/drawing/2014/main" id="{4AED3CF9-5AAB-40C1-A4A9-73BB160AFED7}"/>
              </a:ext>
            </a:extLst>
          </p:cNvPr>
          <p:cNvSpPr>
            <a:spLocks xmlns:a="http://schemas.openxmlformats.org/drawingml/2006/main" noGrp="1"/>
          </p:cNvSpPr>
          <p:nvPr/>
        </p:nvSpPr>
        <p:spPr>
          <a:xfrm xmlns:a="http://schemas.openxmlformats.org/drawingml/2006/main">
            <a:off x="6724650" y="43053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3F6B"/>
                </a:solidFill>
              </a:defRPr>
            </a:pPr>
            <a:r>
              <a:rPr sz="960" b="1">
                <a:solidFill>
                  <a:srgbClr val="003F6B"/>
                </a:solidFill>
              </a:rPr>
              <a:t>Amtlich</a:t>
            </a:r>
          </a:p>
        </p:txBody>
      </p:sp>
      <p:sp>
        <p:nvSpPr>
          <p:cNvPr id="31" name="">
            <a:extLst xmlns:a="http://schemas.openxmlformats.org/drawingml/2006/main">
              <a:ext uri="{FF2B5EF4-FFF2-40B4-BE49-F238E27FC236}">
                <a16:creationId xmlns:a16="http://schemas.microsoft.com/office/drawing/2014/main" id="{CBF6E56A-738A-4C0F-89BB-EDC7E13E8DE1}"/>
              </a:ext>
            </a:extLst>
          </p:cNvPr>
          <p:cNvSpPr>
            <a:spLocks xmlns:a="http://schemas.openxmlformats.org/drawingml/2006/main" noGrp="1"/>
          </p:cNvSpPr>
          <p:nvPr/>
        </p:nvSpPr>
        <p:spPr>
          <a:xfrm xmlns:a="http://schemas.openxmlformats.org/drawingml/2006/main">
            <a:off x="7867650" y="43053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gesetze-im-internet.de/stpo/StPO.pdf</a:t>
            </a:r>
          </a:p>
        </p:txBody>
      </p:sp>
      <p:sp>
        <p:nvSpPr>
          <p:cNvPr id="32" name="">
            <a:extLst xmlns:a="http://schemas.openxmlformats.org/drawingml/2006/main">
              <a:ext uri="{FF2B5EF4-FFF2-40B4-BE49-F238E27FC236}">
                <a16:creationId xmlns:a16="http://schemas.microsoft.com/office/drawing/2014/main" id="{3F39E818-1833-4D2C-A9D8-40DDAF14C422}"/>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20">
                <a:solidFill>
                  <a:srgbClr val="667680"/>
                </a:solidFill>
              </a:defRPr>
            </a:pPr>
            <a:r>
              <a:rPr sz="720">
                <a:solidFill>
                  <a:srgbClr val="667680"/>
                </a:solidFill>
              </a:rPr>
              <a:t>Alle Internetquellen Abruf/Stand: 20.08.2026. Gesetze: aktuelle Fassung jeweils vor Anwendung prüfen · https://www.rechtsprechung-im-internet.de</a:t>
            </a:r>
          </a:p>
        </p:txBody>
      </p:sp>
    </p:spTree>
    <p:extLst>
      <p:ext uri="{BB962C8B-B14F-4D97-AF65-F5344CB8AC3E}">
        <p14:creationId xmlns:p14="http://schemas.microsoft.com/office/powerpoint/2010/main" val="43637646"/>
      </p:ext>
    </p:extLst>
  </p:cSld>
</p:sld>
</file>

<file path=ppt/slides/slide264.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endParaRPr/>
          </a:p>
        </p:txBody>
      </p:sp>
      <p:sp>
        <p:nvSpPr>
          <p:cNvPr id="4" name="">
            <a:extLst xmlns:a="http://schemas.openxmlformats.org/drawingml/2006/main">
              <a:ext uri="{FF2B5EF4-FFF2-40B4-BE49-F238E27FC236}">
                <a16:creationId xmlns:a16="http://schemas.microsoft.com/office/drawing/2014/main" id="{2B94447D-6873-4D88-B4AA-C3431185110D}"/>
              </a:ext>
            </a:extLst>
          </p:cNvPr>
          <p:cNvSpPr>
            <a:spLocks xmlns:a="http://schemas.openxmlformats.org/drawingml/2006/main" noGrp="1"/>
          </p:cNvSpPr>
          <p:nvPr/>
        </p:nvSpPr>
        <p:spPr>
          <a:xfrm xmlns:a="http://schemas.openxmlformats.org/drawingml/2006/main">
            <a:off x="2571750" y="2038350"/>
            <a:ext cx="838200" cy="628650"/>
          </a:xfrm>
          <a:prstGeom xmlns:a="http://schemas.openxmlformats.org/drawingml/2006/main" prst="roundRect">
            <a:avLst>
              <a:gd name="adj" fmla="val 12121"/>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BD9FCCE1-597C-441E-B0A2-B6497D7068F9}"/>
              </a:ext>
            </a:extLst>
          </p:cNvPr>
          <p:cNvSpPr>
            <a:spLocks xmlns:a="http://schemas.openxmlformats.org/drawingml/2006/main" noGrp="1"/>
          </p:cNvSpPr>
          <p:nvPr/>
        </p:nvSpPr>
        <p:spPr>
          <a:xfrm xmlns:a="http://schemas.openxmlformats.org/drawingml/2006/main">
            <a:off x="2571750" y="2038350"/>
            <a:ext cx="8382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FFFFFF"/>
                </a:solidFill>
              </a:defRPr>
            </a:pPr>
            <a:r>
              <a:rPr sz="2100" b="1">
                <a:solidFill>
                  <a:srgbClr val="FFFFFF"/>
                </a:solidFill>
              </a:rPr>
              <a:t>09</a:t>
            </a:r>
          </a:p>
        </p:txBody>
      </p:sp>
      <p:sp>
        <p:nvSpPr>
          <p:cNvPr id="6" name="">
            <a:extLst xmlns:a="http://schemas.openxmlformats.org/drawingml/2006/main">
              <a:ext uri="{FF2B5EF4-FFF2-40B4-BE49-F238E27FC236}">
                <a16:creationId xmlns:a16="http://schemas.microsoft.com/office/drawing/2014/main" id="{01BBA755-4625-4F34-8514-7FCC0C6D2AAE}"/>
              </a:ext>
            </a:extLst>
          </p:cNvPr>
          <p:cNvSpPr>
            <a:spLocks xmlns:a="http://schemas.openxmlformats.org/drawingml/2006/main" noGrp="1"/>
          </p:cNvSpPr>
          <p:nvPr/>
        </p:nvSpPr>
        <p:spPr>
          <a:xfrm xmlns:a="http://schemas.openxmlformats.org/drawingml/2006/main">
            <a:off x="3667125" y="2000250"/>
            <a:ext cx="8096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4400">
                <a:solidFill>
                  <a:srgbClr val="003F6B"/>
                </a:solidFill>
              </a:defRPr>
            </a:pPr>
            <a:r>
              <a:rPr sz="4400">
                <a:solidFill>
                  <a:srgbClr val="003F6B"/>
                </a:solidFill>
              </a:rPr>
              <a:t>Berufsrecht, Approbationsrecht und Arbeitsrecht</a:t>
            </a:r>
          </a:p>
        </p:txBody>
      </p:sp>
      <p:sp>
        <p:nvSpPr>
          <p:cNvPr id="7" name="">
            <a:extLst xmlns:a="http://schemas.openxmlformats.org/drawingml/2006/main">
              <a:ext uri="{FF2B5EF4-FFF2-40B4-BE49-F238E27FC236}">
                <a16:creationId xmlns:a16="http://schemas.microsoft.com/office/drawing/2014/main" id="{781D09E5-A9F8-4116-B443-CC8B3F0DD16F}"/>
              </a:ext>
            </a:extLst>
          </p:cNvPr>
          <p:cNvSpPr>
            <a:spLocks xmlns:a="http://schemas.openxmlformats.org/drawingml/2006/main" noGrp="1"/>
          </p:cNvSpPr>
          <p:nvPr/>
        </p:nvSpPr>
        <p:spPr>
          <a:xfrm xmlns:a="http://schemas.openxmlformats.org/drawingml/2006/main">
            <a:off x="3238500" y="3333750"/>
            <a:ext cx="8524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400">
                <a:solidFill>
                  <a:srgbClr val="003F6B"/>
                </a:solidFill>
              </a:defRPr>
            </a:pPr>
            <a:r>
              <a:rPr sz="2400">
                <a:solidFill>
                  <a:srgbClr val="003F6B"/>
                </a:solidFill>
              </a:rPr>
              <a:t>Termin: 09.12.2026 · 16:30–17:45 · V03 0-C001</a:t>
            </a:r>
          </a:p>
        </p:txBody>
      </p:sp>
      <p:sp>
        <p:nvSpPr>
          <p:cNvPr id="8" name="">
            <a:extLst xmlns:a="http://schemas.openxmlformats.org/drawingml/2006/main">
              <a:ext uri="{FF2B5EF4-FFF2-40B4-BE49-F238E27FC236}">
                <a16:creationId xmlns:a16="http://schemas.microsoft.com/office/drawing/2014/main" id="{8D8E1C9A-9982-4A01-BFF9-3B1E595EF970}"/>
              </a:ext>
            </a:extLst>
          </p:cNvPr>
          <p:cNvSpPr>
            <a:spLocks xmlns:a="http://schemas.openxmlformats.org/drawingml/2006/main" noGrp="1"/>
          </p:cNvSpPr>
          <p:nvPr/>
        </p:nvSpPr>
        <p:spPr>
          <a:xfrm xmlns:a="http://schemas.openxmlformats.org/drawingml/2006/main">
            <a:off x="3238500" y="3752850"/>
            <a:ext cx="8524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400">
                <a:solidFill>
                  <a:srgbClr val="003F6B"/>
                </a:solidFill>
              </a:defRPr>
            </a:pPr>
            <a:r>
              <a:rPr sz="2400">
                <a:solidFill>
                  <a:srgbClr val="003F6B"/>
                </a:solidFill>
              </a:rPr>
              <a:t>Drei weitere Ebenen nach einem Vorwurf</a:t>
            </a:r>
          </a:p>
        </p:txBody>
      </p:sp>
      <p:sp>
        <p:nvSpPr>
          <p:cNvPr id="9" name="">
            <a:extLst xmlns:a="http://schemas.openxmlformats.org/drawingml/2006/main">
              <a:ext uri="{FF2B5EF4-FFF2-40B4-BE49-F238E27FC236}">
                <a16:creationId xmlns:a16="http://schemas.microsoft.com/office/drawing/2014/main" id="{34D07C4C-6C58-4B08-B6F2-0473DE7E2957}"/>
              </a:ext>
            </a:extLst>
          </p:cNvPr>
          <p:cNvSpPr>
            <a:spLocks xmlns:a="http://schemas.openxmlformats.org/drawingml/2006/main" noGrp="1"/>
          </p:cNvSpPr>
          <p:nvPr/>
        </p:nvSpPr>
        <p:spPr>
          <a:xfrm xmlns:a="http://schemas.openxmlformats.org/drawingml/2006/main">
            <a:off x="3238500" y="4552950"/>
            <a:ext cx="8524875"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400">
                <a:solidFill>
                  <a:srgbClr val="003F6B"/>
                </a:solidFill>
              </a:defRPr>
            </a:pPr>
            <a:r>
              <a:rPr sz="2400">
                <a:solidFill>
                  <a:srgbClr val="003F6B"/>
                </a:solidFill>
              </a:rPr>
              <a:t>Warum ein Strafverfahren berufliche Folgen haben kann – aber nicht automatisch muss.</a:t>
            </a:r>
          </a:p>
        </p:txBody>
      </p:sp>
    </p:spTree>
    <p:extLst>
      <p:ext uri="{BB962C8B-B14F-4D97-AF65-F5344CB8AC3E}">
        <p14:creationId xmlns:p14="http://schemas.microsoft.com/office/powerpoint/2010/main" val="43637646"/>
      </p:ext>
    </p:extLst>
  </p:cSld>
</p:sld>
</file>

<file path=ppt/slides/slide265.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Lernziele Termin 09: Berufsrecht, Approbationsrecht und Arbeitsrecht</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CHECKLISTE · AM ENDE DES HEUTIGEN TERMINS KANN ICH …</a:t>
            </a:r>
            <a:endParaRPr/>
          </a:p>
        </p:txBody>
      </p:sp>
      <p:sp>
        <p:nvSpPr>
          <p:cNvPr id="4" name="">
            <a:extLst xmlns:a="http://schemas.openxmlformats.org/drawingml/2006/main">
              <a:ext uri="{FF2B5EF4-FFF2-40B4-BE49-F238E27FC236}">
                <a16:creationId xmlns:a16="http://schemas.microsoft.com/office/drawing/2014/main" id="{A4718CEA-7C8C-431F-B4A0-1B64037264E7}"/>
              </a:ext>
            </a:extLst>
          </p:cNvPr>
          <p:cNvSpPr>
            <a:spLocks xmlns:a="http://schemas.openxmlformats.org/drawingml/2006/main" noGrp="1"/>
          </p:cNvSpPr>
          <p:nvPr/>
        </p:nvSpPr>
        <p:spPr>
          <a:xfrm xmlns:a="http://schemas.openxmlformats.org/drawingml/2006/main">
            <a:off x="1809750" y="198120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B2BB"/>
            </a:solidFill>
            <a:prstDash val="solid"/>
          </a:ln>
        </p:spPr>
      </p:sp>
      <p:sp>
        <p:nvSpPr>
          <p:cNvPr id="5" name="">
            <a:extLst xmlns:a="http://schemas.openxmlformats.org/drawingml/2006/main">
              <a:ext uri="{FF2B5EF4-FFF2-40B4-BE49-F238E27FC236}">
                <a16:creationId xmlns:a16="http://schemas.microsoft.com/office/drawing/2014/main" id="{183C5972-6982-41ED-9F54-D697B0372C79}"/>
              </a:ext>
            </a:extLst>
          </p:cNvPr>
          <p:cNvSpPr>
            <a:spLocks xmlns:a="http://schemas.openxmlformats.org/drawingml/2006/main" noGrp="1"/>
          </p:cNvSpPr>
          <p:nvPr/>
        </p:nvSpPr>
        <p:spPr>
          <a:xfrm xmlns:a="http://schemas.openxmlformats.org/drawingml/2006/main">
            <a:off x="1943100" y="2124075"/>
            <a:ext cx="40005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E6908BFB-E47A-4C6B-854E-2798228F2D81}"/>
              </a:ext>
            </a:extLst>
          </p:cNvPr>
          <p:cNvSpPr>
            <a:spLocks xmlns:a="http://schemas.openxmlformats.org/drawingml/2006/main" noGrp="1"/>
          </p:cNvSpPr>
          <p:nvPr/>
        </p:nvSpPr>
        <p:spPr>
          <a:xfrm xmlns:a="http://schemas.openxmlformats.org/drawingml/2006/main">
            <a:off x="1943100" y="21050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7" name="">
            <a:extLst xmlns:a="http://schemas.openxmlformats.org/drawingml/2006/main">
              <a:ext uri="{FF2B5EF4-FFF2-40B4-BE49-F238E27FC236}">
                <a16:creationId xmlns:a16="http://schemas.microsoft.com/office/drawing/2014/main" id="{7A06815F-D1CB-4C10-9AF8-F97745770BCA}"/>
              </a:ext>
            </a:extLst>
          </p:cNvPr>
          <p:cNvSpPr>
            <a:spLocks xmlns:a="http://schemas.openxmlformats.org/drawingml/2006/main" noGrp="1"/>
          </p:cNvSpPr>
          <p:nvPr/>
        </p:nvSpPr>
        <p:spPr>
          <a:xfrm xmlns:a="http://schemas.openxmlformats.org/drawingml/2006/main">
            <a:off x="2476500" y="207645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Berufsrecht, Approbationsrecht und Arbeitsrecht trennen.</a:t>
            </a:r>
          </a:p>
        </p:txBody>
      </p:sp>
      <p:sp>
        <p:nvSpPr>
          <p:cNvPr id="8" name="">
            <a:extLst xmlns:a="http://schemas.openxmlformats.org/drawingml/2006/main">
              <a:ext uri="{FF2B5EF4-FFF2-40B4-BE49-F238E27FC236}">
                <a16:creationId xmlns:a16="http://schemas.microsoft.com/office/drawing/2014/main" id="{543ADDA2-8D19-4E1B-8BDD-698BBB83D9E0}"/>
              </a:ext>
            </a:extLst>
          </p:cNvPr>
          <p:cNvSpPr>
            <a:spLocks xmlns:a="http://schemas.openxmlformats.org/drawingml/2006/main" noGrp="1"/>
          </p:cNvSpPr>
          <p:nvPr/>
        </p:nvSpPr>
        <p:spPr>
          <a:xfrm xmlns:a="http://schemas.openxmlformats.org/drawingml/2006/main">
            <a:off x="6696075" y="198120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3F6B"/>
            </a:solidFill>
            <a:prstDash val="solid"/>
          </a:ln>
        </p:spPr>
      </p:sp>
      <p:sp>
        <p:nvSpPr>
          <p:cNvPr id="9" name="">
            <a:extLst xmlns:a="http://schemas.openxmlformats.org/drawingml/2006/main">
              <a:ext uri="{FF2B5EF4-FFF2-40B4-BE49-F238E27FC236}">
                <a16:creationId xmlns:a16="http://schemas.microsoft.com/office/drawing/2014/main" id="{8AAECEBE-95B9-44D7-A531-B94C9A9D8EB2}"/>
              </a:ext>
            </a:extLst>
          </p:cNvPr>
          <p:cNvSpPr>
            <a:spLocks xmlns:a="http://schemas.openxmlformats.org/drawingml/2006/main" noGrp="1"/>
          </p:cNvSpPr>
          <p:nvPr/>
        </p:nvSpPr>
        <p:spPr>
          <a:xfrm xmlns:a="http://schemas.openxmlformats.org/drawingml/2006/main">
            <a:off x="6829425" y="2124075"/>
            <a:ext cx="4000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ED5E61F5-5A06-4EB4-8CF9-64A8D23F304D}"/>
              </a:ext>
            </a:extLst>
          </p:cNvPr>
          <p:cNvSpPr>
            <a:spLocks xmlns:a="http://schemas.openxmlformats.org/drawingml/2006/main" noGrp="1"/>
          </p:cNvSpPr>
          <p:nvPr/>
        </p:nvSpPr>
        <p:spPr>
          <a:xfrm xmlns:a="http://schemas.openxmlformats.org/drawingml/2006/main">
            <a:off x="6829425" y="21050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11" name="">
            <a:extLst xmlns:a="http://schemas.openxmlformats.org/drawingml/2006/main">
              <a:ext uri="{FF2B5EF4-FFF2-40B4-BE49-F238E27FC236}">
                <a16:creationId xmlns:a16="http://schemas.microsoft.com/office/drawing/2014/main" id="{6AF190A0-A5DC-43CA-9FE6-8233DC596A5A}"/>
              </a:ext>
            </a:extLst>
          </p:cNvPr>
          <p:cNvSpPr>
            <a:spLocks xmlns:a="http://schemas.openxmlformats.org/drawingml/2006/main" noGrp="1"/>
          </p:cNvSpPr>
          <p:nvPr/>
        </p:nvSpPr>
        <p:spPr>
          <a:xfrm xmlns:a="http://schemas.openxmlformats.org/drawingml/2006/main">
            <a:off x="7362825" y="207645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Rücknahme, Widerruf und Ruhen der Approbation unterscheiden.</a:t>
            </a:r>
          </a:p>
        </p:txBody>
      </p:sp>
      <p:sp>
        <p:nvSpPr>
          <p:cNvPr id="12" name="">
            <a:extLst xmlns:a="http://schemas.openxmlformats.org/drawingml/2006/main">
              <a:ext uri="{FF2B5EF4-FFF2-40B4-BE49-F238E27FC236}">
                <a16:creationId xmlns:a16="http://schemas.microsoft.com/office/drawing/2014/main" id="{51D8605E-73B3-4FFA-B2C7-D1B4702C6678}"/>
              </a:ext>
            </a:extLst>
          </p:cNvPr>
          <p:cNvSpPr>
            <a:spLocks xmlns:a="http://schemas.openxmlformats.org/drawingml/2006/main" noGrp="1"/>
          </p:cNvSpPr>
          <p:nvPr/>
        </p:nvSpPr>
        <p:spPr>
          <a:xfrm xmlns:a="http://schemas.openxmlformats.org/drawingml/2006/main">
            <a:off x="1809750" y="316865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B2BB"/>
            </a:solidFill>
            <a:prstDash val="solid"/>
          </a:ln>
        </p:spPr>
      </p:sp>
      <p:sp>
        <p:nvSpPr>
          <p:cNvPr id="13" name="">
            <a:extLst xmlns:a="http://schemas.openxmlformats.org/drawingml/2006/main">
              <a:ext uri="{FF2B5EF4-FFF2-40B4-BE49-F238E27FC236}">
                <a16:creationId xmlns:a16="http://schemas.microsoft.com/office/drawing/2014/main" id="{6E567335-360F-4781-82AA-F30A2953B875}"/>
              </a:ext>
            </a:extLst>
          </p:cNvPr>
          <p:cNvSpPr>
            <a:spLocks xmlns:a="http://schemas.openxmlformats.org/drawingml/2006/main" noGrp="1"/>
          </p:cNvSpPr>
          <p:nvPr/>
        </p:nvSpPr>
        <p:spPr>
          <a:xfrm xmlns:a="http://schemas.openxmlformats.org/drawingml/2006/main">
            <a:off x="1943100" y="3311525"/>
            <a:ext cx="40005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49FF8A81-6C19-4B72-9D83-B481E29A48A0}"/>
              </a:ext>
            </a:extLst>
          </p:cNvPr>
          <p:cNvSpPr>
            <a:spLocks xmlns:a="http://schemas.openxmlformats.org/drawingml/2006/main" noGrp="1"/>
          </p:cNvSpPr>
          <p:nvPr/>
        </p:nvSpPr>
        <p:spPr>
          <a:xfrm xmlns:a="http://schemas.openxmlformats.org/drawingml/2006/main">
            <a:off x="1943100" y="32924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15" name="">
            <a:extLst xmlns:a="http://schemas.openxmlformats.org/drawingml/2006/main">
              <a:ext uri="{FF2B5EF4-FFF2-40B4-BE49-F238E27FC236}">
                <a16:creationId xmlns:a16="http://schemas.microsoft.com/office/drawing/2014/main" id="{24799FFF-99C3-4B11-85B4-57C9E3A03BD7}"/>
              </a:ext>
            </a:extLst>
          </p:cNvPr>
          <p:cNvSpPr>
            <a:spLocks xmlns:a="http://schemas.openxmlformats.org/drawingml/2006/main" noGrp="1"/>
          </p:cNvSpPr>
          <p:nvPr/>
        </p:nvSpPr>
        <p:spPr>
          <a:xfrm xmlns:a="http://schemas.openxmlformats.org/drawingml/2006/main">
            <a:off x="2476500" y="326390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Verwaltungsakt, Widerspruch/Klage und Eilrechtsschutz erklären.</a:t>
            </a:r>
          </a:p>
        </p:txBody>
      </p:sp>
      <p:sp>
        <p:nvSpPr>
          <p:cNvPr id="16" name="">
            <a:extLst xmlns:a="http://schemas.openxmlformats.org/drawingml/2006/main">
              <a:ext uri="{FF2B5EF4-FFF2-40B4-BE49-F238E27FC236}">
                <a16:creationId xmlns:a16="http://schemas.microsoft.com/office/drawing/2014/main" id="{6300F1C0-0102-4A1D-8543-FF06A4C8F787}"/>
              </a:ext>
            </a:extLst>
          </p:cNvPr>
          <p:cNvSpPr>
            <a:spLocks xmlns:a="http://schemas.openxmlformats.org/drawingml/2006/main" noGrp="1"/>
          </p:cNvSpPr>
          <p:nvPr/>
        </p:nvSpPr>
        <p:spPr>
          <a:xfrm xmlns:a="http://schemas.openxmlformats.org/drawingml/2006/main">
            <a:off x="6696075" y="316865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3F6B"/>
            </a:solidFill>
            <a:prstDash val="solid"/>
          </a:ln>
        </p:spPr>
      </p:sp>
      <p:sp>
        <p:nvSpPr>
          <p:cNvPr id="17" name="">
            <a:extLst xmlns:a="http://schemas.openxmlformats.org/drawingml/2006/main">
              <a:ext uri="{FF2B5EF4-FFF2-40B4-BE49-F238E27FC236}">
                <a16:creationId xmlns:a16="http://schemas.microsoft.com/office/drawing/2014/main" id="{428B45E5-1FE2-4E6A-93E7-DD104F3E2561}"/>
              </a:ext>
            </a:extLst>
          </p:cNvPr>
          <p:cNvSpPr>
            <a:spLocks xmlns:a="http://schemas.openxmlformats.org/drawingml/2006/main" noGrp="1"/>
          </p:cNvSpPr>
          <p:nvPr/>
        </p:nvSpPr>
        <p:spPr>
          <a:xfrm xmlns:a="http://schemas.openxmlformats.org/drawingml/2006/main">
            <a:off x="6829425" y="3311525"/>
            <a:ext cx="4000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675CB8AA-BFD0-4D6E-80FA-6874E912BAAF}"/>
              </a:ext>
            </a:extLst>
          </p:cNvPr>
          <p:cNvSpPr>
            <a:spLocks xmlns:a="http://schemas.openxmlformats.org/drawingml/2006/main" noGrp="1"/>
          </p:cNvSpPr>
          <p:nvPr/>
        </p:nvSpPr>
        <p:spPr>
          <a:xfrm xmlns:a="http://schemas.openxmlformats.org/drawingml/2006/main">
            <a:off x="6829425" y="32924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19" name="">
            <a:extLst xmlns:a="http://schemas.openxmlformats.org/drawingml/2006/main">
              <a:ext uri="{FF2B5EF4-FFF2-40B4-BE49-F238E27FC236}">
                <a16:creationId xmlns:a16="http://schemas.microsoft.com/office/drawing/2014/main" id="{7889AE87-9598-4C18-875F-61321B10A96E}"/>
              </a:ext>
            </a:extLst>
          </p:cNvPr>
          <p:cNvSpPr>
            <a:spLocks xmlns:a="http://schemas.openxmlformats.org/drawingml/2006/main" noGrp="1"/>
          </p:cNvSpPr>
          <p:nvPr/>
        </p:nvSpPr>
        <p:spPr>
          <a:xfrm xmlns:a="http://schemas.openxmlformats.org/drawingml/2006/main">
            <a:off x="7362825" y="326390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eine Kammerbeschwerde und ein Berufsgerichtsverfahren einordnen.</a:t>
            </a:r>
          </a:p>
        </p:txBody>
      </p:sp>
      <p:sp>
        <p:nvSpPr>
          <p:cNvPr id="20" name="">
            <a:extLst xmlns:a="http://schemas.openxmlformats.org/drawingml/2006/main">
              <a:ext uri="{FF2B5EF4-FFF2-40B4-BE49-F238E27FC236}">
                <a16:creationId xmlns:a16="http://schemas.microsoft.com/office/drawing/2014/main" id="{5C86C495-0817-4331-88E5-014719A33487}"/>
              </a:ext>
            </a:extLst>
          </p:cNvPr>
          <p:cNvSpPr>
            <a:spLocks xmlns:a="http://schemas.openxmlformats.org/drawingml/2006/main" noGrp="1"/>
          </p:cNvSpPr>
          <p:nvPr/>
        </p:nvSpPr>
        <p:spPr>
          <a:xfrm xmlns:a="http://schemas.openxmlformats.org/drawingml/2006/main">
            <a:off x="1809750" y="435610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B2BB"/>
            </a:solidFill>
            <a:prstDash val="solid"/>
          </a:ln>
        </p:spPr>
      </p:sp>
      <p:sp>
        <p:nvSpPr>
          <p:cNvPr id="21" name="">
            <a:extLst xmlns:a="http://schemas.openxmlformats.org/drawingml/2006/main">
              <a:ext uri="{FF2B5EF4-FFF2-40B4-BE49-F238E27FC236}">
                <a16:creationId xmlns:a16="http://schemas.microsoft.com/office/drawing/2014/main" id="{26A4B50E-54A3-4DB7-9A89-59DDCA40957A}"/>
              </a:ext>
            </a:extLst>
          </p:cNvPr>
          <p:cNvSpPr>
            <a:spLocks xmlns:a="http://schemas.openxmlformats.org/drawingml/2006/main" noGrp="1"/>
          </p:cNvSpPr>
          <p:nvPr/>
        </p:nvSpPr>
        <p:spPr>
          <a:xfrm xmlns:a="http://schemas.openxmlformats.org/drawingml/2006/main">
            <a:off x="1943100" y="4498975"/>
            <a:ext cx="40005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2" name="">
            <a:extLst xmlns:a="http://schemas.openxmlformats.org/drawingml/2006/main">
              <a:ext uri="{FF2B5EF4-FFF2-40B4-BE49-F238E27FC236}">
                <a16:creationId xmlns:a16="http://schemas.microsoft.com/office/drawing/2014/main" id="{ED65C8EC-A88A-492C-A5B1-97830AA79CD4}"/>
              </a:ext>
            </a:extLst>
          </p:cNvPr>
          <p:cNvSpPr>
            <a:spLocks xmlns:a="http://schemas.openxmlformats.org/drawingml/2006/main" noGrp="1"/>
          </p:cNvSpPr>
          <p:nvPr/>
        </p:nvSpPr>
        <p:spPr>
          <a:xfrm xmlns:a="http://schemas.openxmlformats.org/drawingml/2006/main">
            <a:off x="1943100" y="44799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23" name="">
            <a:extLst xmlns:a="http://schemas.openxmlformats.org/drawingml/2006/main">
              <a:ext uri="{FF2B5EF4-FFF2-40B4-BE49-F238E27FC236}">
                <a16:creationId xmlns:a16="http://schemas.microsoft.com/office/drawing/2014/main" id="{C45D736D-D5FF-4045-84F1-A52F2B57870F}"/>
              </a:ext>
            </a:extLst>
          </p:cNvPr>
          <p:cNvSpPr>
            <a:spLocks xmlns:a="http://schemas.openxmlformats.org/drawingml/2006/main" noGrp="1"/>
          </p:cNvSpPr>
          <p:nvPr/>
        </p:nvSpPr>
        <p:spPr>
          <a:xfrm xmlns:a="http://schemas.openxmlformats.org/drawingml/2006/main">
            <a:off x="2476500" y="445135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arbeitsrechtliche Anhörung, Abmahnung und Kündigung unterscheiden.</a:t>
            </a:r>
          </a:p>
        </p:txBody>
      </p:sp>
      <p:sp>
        <p:nvSpPr>
          <p:cNvPr id="24" name="">
            <a:extLst xmlns:a="http://schemas.openxmlformats.org/drawingml/2006/main">
              <a:ext uri="{FF2B5EF4-FFF2-40B4-BE49-F238E27FC236}">
                <a16:creationId xmlns:a16="http://schemas.microsoft.com/office/drawing/2014/main" id="{F766B8E1-5B56-4776-8512-5F11D2021446}"/>
              </a:ext>
            </a:extLst>
          </p:cNvPr>
          <p:cNvSpPr>
            <a:spLocks xmlns:a="http://schemas.openxmlformats.org/drawingml/2006/main" noGrp="1"/>
          </p:cNvSpPr>
          <p:nvPr/>
        </p:nvSpPr>
        <p:spPr>
          <a:xfrm xmlns:a="http://schemas.openxmlformats.org/drawingml/2006/main">
            <a:off x="6696075" y="435610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3F6B"/>
            </a:solidFill>
            <a:prstDash val="solid"/>
          </a:ln>
        </p:spPr>
      </p:sp>
      <p:sp>
        <p:nvSpPr>
          <p:cNvPr id="25" name="">
            <a:extLst xmlns:a="http://schemas.openxmlformats.org/drawingml/2006/main">
              <a:ext uri="{FF2B5EF4-FFF2-40B4-BE49-F238E27FC236}">
                <a16:creationId xmlns:a16="http://schemas.microsoft.com/office/drawing/2014/main" id="{7E29B6D0-1A65-45B1-8E56-73E3A34CC868}"/>
              </a:ext>
            </a:extLst>
          </p:cNvPr>
          <p:cNvSpPr>
            <a:spLocks xmlns:a="http://schemas.openxmlformats.org/drawingml/2006/main" noGrp="1"/>
          </p:cNvSpPr>
          <p:nvPr/>
        </p:nvSpPr>
        <p:spPr>
          <a:xfrm xmlns:a="http://schemas.openxmlformats.org/drawingml/2006/main">
            <a:off x="6829425" y="4498975"/>
            <a:ext cx="4000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26" name="">
            <a:extLst xmlns:a="http://schemas.openxmlformats.org/drawingml/2006/main">
              <a:ext uri="{FF2B5EF4-FFF2-40B4-BE49-F238E27FC236}">
                <a16:creationId xmlns:a16="http://schemas.microsoft.com/office/drawing/2014/main" id="{BDAE33FC-573A-4B4C-BF7E-59C0755FF4DE}"/>
              </a:ext>
            </a:extLst>
          </p:cNvPr>
          <p:cNvSpPr>
            <a:spLocks xmlns:a="http://schemas.openxmlformats.org/drawingml/2006/main" noGrp="1"/>
          </p:cNvSpPr>
          <p:nvPr/>
        </p:nvSpPr>
        <p:spPr>
          <a:xfrm xmlns:a="http://schemas.openxmlformats.org/drawingml/2006/main">
            <a:off x="6829425" y="44799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27" name="">
            <a:extLst xmlns:a="http://schemas.openxmlformats.org/drawingml/2006/main">
              <a:ext uri="{FF2B5EF4-FFF2-40B4-BE49-F238E27FC236}">
                <a16:creationId xmlns:a16="http://schemas.microsoft.com/office/drawing/2014/main" id="{333848D8-24C6-4893-9DB5-75FBA054F8DE}"/>
              </a:ext>
            </a:extLst>
          </p:cNvPr>
          <p:cNvSpPr>
            <a:spLocks xmlns:a="http://schemas.openxmlformats.org/drawingml/2006/main" noGrp="1"/>
          </p:cNvSpPr>
          <p:nvPr/>
        </p:nvSpPr>
        <p:spPr>
          <a:xfrm xmlns:a="http://schemas.openxmlformats.org/drawingml/2006/main">
            <a:off x="7362825" y="445135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Parallelverfahren und Informationsflüsse strategisch erfassen.</a:t>
            </a:r>
          </a:p>
        </p:txBody>
      </p:sp>
      <p:sp>
        <p:nvSpPr>
          <p:cNvPr id="28" name="">
            <a:extLst xmlns:a="http://schemas.openxmlformats.org/drawingml/2006/main">
              <a:ext uri="{FF2B5EF4-FFF2-40B4-BE49-F238E27FC236}">
                <a16:creationId xmlns:a16="http://schemas.microsoft.com/office/drawing/2014/main" id="{F8B81202-9835-4270-8C2F-DAB4A77B8AFC}"/>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638">
                <a:solidFill>
                  <a:srgbClr val="667680"/>
                </a:solidFill>
              </a:defRPr>
            </a:pPr>
            <a:r>
              <a:rPr sz="638">
                <a:solidFill>
                  <a:srgbClr val="667680"/>
                </a:solidFill>
              </a:rPr>
              <a:t>Lernziele aus Seminarbeschreibung und Vorlesungsstruktur abgeleitet · https://elearning.uni-oldenburg.de/dispatch.php/course/details/index/64fffee6d869d134c6683909368deed9?cancel_login=1</a:t>
            </a:r>
          </a:p>
        </p:txBody>
      </p:sp>
    </p:spTree>
    <p:extLst>
      <p:ext uri="{BB962C8B-B14F-4D97-AF65-F5344CB8AC3E}">
        <p14:creationId xmlns:p14="http://schemas.microsoft.com/office/powerpoint/2010/main" val="43637646"/>
      </p:ext>
    </p:extLst>
  </p:cSld>
</p:sld>
</file>

<file path=ppt/slides/slide266.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Leitentscheidung · Ruhen der Approbation bei strafrechtlichen Vorwürfen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ORIGINALENTSCHEIDUNG · TERMIN 09</a:t>
            </a:r>
            <a:endParaRPr/>
          </a:p>
        </p:txBody>
      </p:sp>
      <p:sp>
        <p:nvSpPr>
          <p:cNvPr id="4" name="">
            <a:extLst xmlns:a="http://schemas.openxmlformats.org/drawingml/2006/main">
              <a:ext uri="{FF2B5EF4-FFF2-40B4-BE49-F238E27FC236}">
                <a16:creationId xmlns:a16="http://schemas.microsoft.com/office/drawing/2014/main" id="{182AE774-FFE2-4CBB-92C1-6CDE78C97B61}"/>
              </a:ext>
            </a:extLst>
          </p:cNvPr>
          <p:cNvSpPr>
            <a:spLocks xmlns:a="http://schemas.openxmlformats.org/drawingml/2006/main" noGrp="1"/>
          </p:cNvSpPr>
          <p:nvPr/>
        </p:nvSpPr>
        <p:spPr>
          <a:xfrm xmlns:a="http://schemas.openxmlformats.org/drawingml/2006/main">
            <a:off x="1809750" y="1943100"/>
            <a:ext cx="11239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1A2AA925-2EB8-4945-8143-3FC72DFACBCF}"/>
              </a:ext>
            </a:extLst>
          </p:cNvPr>
          <p:cNvSpPr>
            <a:spLocks xmlns:a="http://schemas.openxmlformats.org/drawingml/2006/main" noGrp="1"/>
          </p:cNvSpPr>
          <p:nvPr/>
        </p:nvSpPr>
        <p:spPr>
          <a:xfrm xmlns:a="http://schemas.openxmlformats.org/drawingml/2006/main">
            <a:off x="1809750" y="1943100"/>
            <a:ext cx="1123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38" b="1">
                <a:solidFill>
                  <a:srgbClr val="FFFFFF"/>
                </a:solidFill>
              </a:defRPr>
            </a:pPr>
            <a:r>
              <a:rPr sz="938" b="1">
                <a:solidFill>
                  <a:srgbClr val="FFFFFF"/>
                </a:solidFill>
              </a:rPr>
              <a:t>BVerwG</a:t>
            </a:r>
          </a:p>
        </p:txBody>
      </p:sp>
      <p:sp>
        <p:nvSpPr>
          <p:cNvPr id="6" name="">
            <a:extLst xmlns:a="http://schemas.openxmlformats.org/drawingml/2006/main">
              <a:ext uri="{FF2B5EF4-FFF2-40B4-BE49-F238E27FC236}">
                <a16:creationId xmlns:a16="http://schemas.microsoft.com/office/drawing/2014/main" id="{62760468-16CA-40CA-9CA9-B021E99BAC9E}"/>
              </a:ext>
            </a:extLst>
          </p:cNvPr>
          <p:cNvSpPr>
            <a:spLocks xmlns:a="http://schemas.openxmlformats.org/drawingml/2006/main" noGrp="1"/>
          </p:cNvSpPr>
          <p:nvPr/>
        </p:nvSpPr>
        <p:spPr>
          <a:xfrm xmlns:a="http://schemas.openxmlformats.org/drawingml/2006/main">
            <a:off x="312420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10.09.2020 · 3 C 13.19</a:t>
            </a:r>
          </a:p>
        </p:txBody>
      </p:sp>
      <p:sp>
        <p:nvSpPr>
          <p:cNvPr id="7" name="">
            <a:extLst xmlns:a="http://schemas.openxmlformats.org/drawingml/2006/main">
              <a:ext uri="{FF2B5EF4-FFF2-40B4-BE49-F238E27FC236}">
                <a16:creationId xmlns:a16="http://schemas.microsoft.com/office/drawing/2014/main" id="{10988DFD-FE28-4AB8-B2F3-40B780240857}"/>
              </a:ext>
            </a:extLst>
          </p:cNvPr>
          <p:cNvSpPr>
            <a:spLocks xmlns:a="http://schemas.openxmlformats.org/drawingml/2006/main" noGrp="1"/>
          </p:cNvSpPr>
          <p:nvPr/>
        </p:nvSpPr>
        <p:spPr>
          <a:xfrm xmlns:a="http://schemas.openxmlformats.org/drawingml/2006/main">
            <a:off x="733425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050">
                <a:solidFill>
                  <a:srgbClr val="667680"/>
                </a:solidFill>
              </a:defRPr>
            </a:pPr>
            <a:r>
              <a:rPr sz="1050">
                <a:solidFill>
                  <a:srgbClr val="667680"/>
                </a:solidFill>
              </a:rPr>
              <a:t>Eine Anklage ist kein Automatismus</a:t>
            </a:r>
          </a:p>
        </p:txBody>
      </p:sp>
      <p:sp>
        <p:nvSpPr>
          <p:cNvPr id="8" name="">
            <a:extLst xmlns:a="http://schemas.openxmlformats.org/drawingml/2006/main">
              <a:ext uri="{FF2B5EF4-FFF2-40B4-BE49-F238E27FC236}">
                <a16:creationId xmlns:a16="http://schemas.microsoft.com/office/drawing/2014/main" id="{F3A8E25D-AD41-4AD0-BF3F-D633DC569551}"/>
              </a:ext>
            </a:extLst>
          </p:cNvPr>
          <p:cNvSpPr>
            <a:spLocks xmlns:a="http://schemas.openxmlformats.org/drawingml/2006/main" noGrp="1"/>
          </p:cNvSpPr>
          <p:nvPr/>
        </p:nvSpPr>
        <p:spPr>
          <a:xfrm xmlns:a="http://schemas.openxmlformats.org/drawingml/2006/main">
            <a:off x="1809750" y="2533650"/>
            <a:ext cx="1676400" cy="781050"/>
          </a:xfrm>
          <a:prstGeom xmlns:a="http://schemas.openxmlformats.org/drawingml/2006/main" prst="roundRect">
            <a:avLst>
              <a:gd name="adj" fmla="val 9756"/>
            </a:avLst>
          </a:prstGeom>
          <a:solidFill xmlns:a="http://schemas.openxmlformats.org/drawingml/2006/main">
            <a:srgbClr val="00B2BB"/>
          </a:solidFill>
          <a:ln xmlns:a="http://schemas.openxmlformats.org/drawingml/2006/main" w="0">
            <a:solidFill>
              <a:srgbClr val="00B2BB"/>
            </a:solidFill>
            <a:prstDash val="solid"/>
          </a:ln>
        </p:spPr>
      </p:sp>
      <p:sp>
        <p:nvSpPr>
          <p:cNvPr id="9" name="">
            <a:extLst xmlns:a="http://schemas.openxmlformats.org/drawingml/2006/main">
              <a:ext uri="{FF2B5EF4-FFF2-40B4-BE49-F238E27FC236}">
                <a16:creationId xmlns:a16="http://schemas.microsoft.com/office/drawing/2014/main" id="{8E866F1E-764A-4A39-814F-E7D55C880A06}"/>
              </a:ext>
            </a:extLst>
          </p:cNvPr>
          <p:cNvSpPr>
            <a:spLocks xmlns:a="http://schemas.openxmlformats.org/drawingml/2006/main" noGrp="1"/>
          </p:cNvSpPr>
          <p:nvPr/>
        </p:nvSpPr>
        <p:spPr>
          <a:xfrm xmlns:a="http://schemas.openxmlformats.org/drawingml/2006/main">
            <a:off x="1924050" y="25336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Ausgangsfall</a:t>
            </a:r>
          </a:p>
        </p:txBody>
      </p:sp>
      <p:sp>
        <p:nvSpPr>
          <p:cNvPr id="10" name="">
            <a:extLst xmlns:a="http://schemas.openxmlformats.org/drawingml/2006/main">
              <a:ext uri="{FF2B5EF4-FFF2-40B4-BE49-F238E27FC236}">
                <a16:creationId xmlns:a16="http://schemas.microsoft.com/office/drawing/2014/main" id="{53A9A3D2-2FE7-4274-A87D-A5D967032BA9}"/>
              </a:ext>
            </a:extLst>
          </p:cNvPr>
          <p:cNvSpPr>
            <a:spLocks xmlns:a="http://schemas.openxmlformats.org/drawingml/2006/main" noGrp="1"/>
          </p:cNvSpPr>
          <p:nvPr/>
        </p:nvSpPr>
        <p:spPr>
          <a:xfrm xmlns:a="http://schemas.openxmlformats.org/drawingml/2006/main">
            <a:off x="3695700" y="25336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Gegen einen Arzt liefen strafrechtliche Ermittlungen. Die Behörde ordnete das Ruhen der Approbation an; Tatgewicht, Berufsbezug, Prognose und Verhältnismäßigkeit waren streitig.</a:t>
            </a:r>
          </a:p>
        </p:txBody>
      </p:sp>
      <p:sp>
        <p:nvSpPr>
          <p:cNvPr id="11" name="">
            <a:extLst xmlns:a="http://schemas.openxmlformats.org/drawingml/2006/main">
              <a:ext uri="{FF2B5EF4-FFF2-40B4-BE49-F238E27FC236}">
                <a16:creationId xmlns:a16="http://schemas.microsoft.com/office/drawing/2014/main" id="{E5EB8CF0-544A-4017-9E51-D50156F073E1}"/>
              </a:ext>
            </a:extLst>
          </p:cNvPr>
          <p:cNvSpPr>
            <a:spLocks xmlns:a="http://schemas.openxmlformats.org/drawingml/2006/main" noGrp="1"/>
          </p:cNvSpPr>
          <p:nvPr/>
        </p:nvSpPr>
        <p:spPr>
          <a:xfrm xmlns:a="http://schemas.openxmlformats.org/drawingml/2006/main">
            <a:off x="1809750" y="3486150"/>
            <a:ext cx="1676400" cy="781050"/>
          </a:xfrm>
          <a:prstGeom xmlns:a="http://schemas.openxmlformats.org/drawingml/2006/main" prst="roundRect">
            <a:avLst>
              <a:gd name="adj" fmla="val 9756"/>
            </a:avLst>
          </a:prstGeom>
          <a:solidFill xmlns:a="http://schemas.openxmlformats.org/drawingml/2006/main">
            <a:srgbClr val="003F6B"/>
          </a:solidFill>
          <a:ln xmlns:a="http://schemas.openxmlformats.org/drawingml/2006/main" w="0">
            <a:solidFill>
              <a:srgbClr val="003F6B"/>
            </a:solidFill>
            <a:prstDash val="solid"/>
          </a:ln>
        </p:spPr>
      </p:sp>
      <p:sp>
        <p:nvSpPr>
          <p:cNvPr id="12" name="">
            <a:extLst xmlns:a="http://schemas.openxmlformats.org/drawingml/2006/main">
              <a:ext uri="{FF2B5EF4-FFF2-40B4-BE49-F238E27FC236}">
                <a16:creationId xmlns:a16="http://schemas.microsoft.com/office/drawing/2014/main" id="{A31C56CC-1700-4821-B0D7-277719AA94B3}"/>
              </a:ext>
            </a:extLst>
          </p:cNvPr>
          <p:cNvSpPr>
            <a:spLocks xmlns:a="http://schemas.openxmlformats.org/drawingml/2006/main" noGrp="1"/>
          </p:cNvSpPr>
          <p:nvPr/>
        </p:nvSpPr>
        <p:spPr>
          <a:xfrm xmlns:a="http://schemas.openxmlformats.org/drawingml/2006/main">
            <a:off x="1924050" y="34861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Leitsatzkern</a:t>
            </a:r>
          </a:p>
        </p:txBody>
      </p:sp>
      <p:sp>
        <p:nvSpPr>
          <p:cNvPr id="13" name="">
            <a:extLst xmlns:a="http://schemas.openxmlformats.org/drawingml/2006/main">
              <a:ext uri="{FF2B5EF4-FFF2-40B4-BE49-F238E27FC236}">
                <a16:creationId xmlns:a16="http://schemas.microsoft.com/office/drawing/2014/main" id="{2640B89A-1582-46CE-AB8B-63959379A92B}"/>
              </a:ext>
            </a:extLst>
          </p:cNvPr>
          <p:cNvSpPr>
            <a:spLocks xmlns:a="http://schemas.openxmlformats.org/drawingml/2006/main" noGrp="1"/>
          </p:cNvSpPr>
          <p:nvPr/>
        </p:nvSpPr>
        <p:spPr>
          <a:xfrm xmlns:a="http://schemas.openxmlformats.org/drawingml/2006/main">
            <a:off x="3695700" y="34861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Leitsatzkern (paraphrasiert): Die vorgeworfenen Taten müssen ihrer Art nach einen späteren Widerruf tragen können. Die Behörde muss Tatsachen und Gefahrenprognose eigenständig prüfen.</a:t>
            </a:r>
          </a:p>
        </p:txBody>
      </p:sp>
      <p:sp>
        <p:nvSpPr>
          <p:cNvPr id="14" name="">
            <a:extLst xmlns:a="http://schemas.openxmlformats.org/drawingml/2006/main">
              <a:ext uri="{FF2B5EF4-FFF2-40B4-BE49-F238E27FC236}">
                <a16:creationId xmlns:a16="http://schemas.microsoft.com/office/drawing/2014/main" id="{1C11781A-D003-4D55-9990-4739BF7ABA3F}"/>
              </a:ext>
            </a:extLst>
          </p:cNvPr>
          <p:cNvSpPr>
            <a:spLocks xmlns:a="http://schemas.openxmlformats.org/drawingml/2006/main" noGrp="1"/>
          </p:cNvSpPr>
          <p:nvPr/>
        </p:nvSpPr>
        <p:spPr>
          <a:xfrm xmlns:a="http://schemas.openxmlformats.org/drawingml/2006/main">
            <a:off x="1809750" y="4438650"/>
            <a:ext cx="1676400" cy="781050"/>
          </a:xfrm>
          <a:prstGeom xmlns:a="http://schemas.openxmlformats.org/drawingml/2006/main" prst="roundRect">
            <a:avLst>
              <a:gd name="adj" fmla="val 9756"/>
            </a:avLst>
          </a:prstGeom>
          <a:solidFill xmlns:a="http://schemas.openxmlformats.org/drawingml/2006/main">
            <a:srgbClr val="00B2BB"/>
          </a:solidFill>
          <a:ln xmlns:a="http://schemas.openxmlformats.org/drawingml/2006/main" w="0">
            <a:solidFill>
              <a:srgbClr val="00B2BB"/>
            </a:solidFill>
            <a:prstDash val="solid"/>
          </a:ln>
        </p:spPr>
      </p:sp>
      <p:sp>
        <p:nvSpPr>
          <p:cNvPr id="15" name="">
            <a:extLst xmlns:a="http://schemas.openxmlformats.org/drawingml/2006/main">
              <a:ext uri="{FF2B5EF4-FFF2-40B4-BE49-F238E27FC236}">
                <a16:creationId xmlns:a16="http://schemas.microsoft.com/office/drawing/2014/main" id="{3F941F21-8A79-4CEB-80E0-5D7F6ACB95AC}"/>
              </a:ext>
            </a:extLst>
          </p:cNvPr>
          <p:cNvSpPr>
            <a:spLocks xmlns:a="http://schemas.openxmlformats.org/drawingml/2006/main" noGrp="1"/>
          </p:cNvSpPr>
          <p:nvPr/>
        </p:nvSpPr>
        <p:spPr>
          <a:xfrm xmlns:a="http://schemas.openxmlformats.org/drawingml/2006/main">
            <a:off x="1924050" y="44386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Für die Praxis</a:t>
            </a:r>
          </a:p>
        </p:txBody>
      </p:sp>
      <p:sp>
        <p:nvSpPr>
          <p:cNvPr id="16" name="">
            <a:extLst xmlns:a="http://schemas.openxmlformats.org/drawingml/2006/main">
              <a:ext uri="{FF2B5EF4-FFF2-40B4-BE49-F238E27FC236}">
                <a16:creationId xmlns:a16="http://schemas.microsoft.com/office/drawing/2014/main" id="{23732A45-0956-42BB-BBCC-4F26413BC71C}"/>
              </a:ext>
            </a:extLst>
          </p:cNvPr>
          <p:cNvSpPr>
            <a:spLocks xmlns:a="http://schemas.openxmlformats.org/drawingml/2006/main" noGrp="1"/>
          </p:cNvSpPr>
          <p:nvPr/>
        </p:nvSpPr>
        <p:spPr>
          <a:xfrm xmlns:a="http://schemas.openxmlformats.org/drawingml/2006/main">
            <a:off x="3695700" y="44386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Anhörungsfrist sichern, Akteneinsicht beantragen und Vorwurf, Prognose, Berufsbezug sowie mildere Mittel getrennt beantworten.</a:t>
            </a:r>
          </a:p>
        </p:txBody>
      </p:sp>
      <p:sp>
        <p:nvSpPr>
          <p:cNvPr id="17" name="">
            <a:extLst xmlns:a="http://schemas.openxmlformats.org/drawingml/2006/main">
              <a:ext uri="{FF2B5EF4-FFF2-40B4-BE49-F238E27FC236}">
                <a16:creationId xmlns:a16="http://schemas.microsoft.com/office/drawing/2014/main" id="{8595AECE-CC2D-47C7-A215-3703D2B308DF}"/>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20">
                <a:solidFill>
                  <a:srgbClr val="667680"/>
                </a:solidFill>
              </a:defRPr>
            </a:pPr>
            <a:r>
              <a:rPr sz="720">
                <a:solidFill>
                  <a:srgbClr val="667680"/>
                </a:solidFill>
              </a:rPr>
              <a:t>BVerwG, Urt. v. 10.09.2020 – 3 C 13.19 · https://www.bverwg.de/100920U3C13.19.0</a:t>
            </a:r>
          </a:p>
        </p:txBody>
      </p:sp>
    </p:spTree>
    <p:extLst>
      <p:ext uri="{BB962C8B-B14F-4D97-AF65-F5344CB8AC3E}">
        <p14:creationId xmlns:p14="http://schemas.microsoft.com/office/powerpoint/2010/main" val="43637646"/>
      </p:ext>
    </p:extLst>
  </p:cSld>
</p:sld>
</file>

<file path=ppt/slides/slide267.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Approbation: Widerruf und Ruhen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GESETZESTEXT · GEKÜRZTER LEHRAUSZUG</a:t>
            </a:r>
            <a:endParaRPr/>
          </a:p>
        </p:txBody>
      </p:sp>
      <p:sp>
        <p:nvSpPr>
          <p:cNvPr id="4" name="">
            <a:extLst xmlns:a="http://schemas.openxmlformats.org/drawingml/2006/main">
              <a:ext uri="{FF2B5EF4-FFF2-40B4-BE49-F238E27FC236}">
                <a16:creationId xmlns:a16="http://schemas.microsoft.com/office/drawing/2014/main" id="{41D8F3FC-5E0A-4B21-BC21-6C7AE1AC708C}"/>
              </a:ext>
            </a:extLst>
          </p:cNvPr>
          <p:cNvSpPr>
            <a:spLocks xmlns:a="http://schemas.openxmlformats.org/drawingml/2006/main" noGrp="1"/>
          </p:cNvSpPr>
          <p:nvPr/>
        </p:nvSpPr>
        <p:spPr>
          <a:xfrm xmlns:a="http://schemas.openxmlformats.org/drawingml/2006/main">
            <a:off x="1809750" y="1943100"/>
            <a:ext cx="4648200" cy="3371850"/>
          </a:xfrm>
          <a:prstGeom xmlns:a="http://schemas.openxmlformats.org/drawingml/2006/main" prst="roundRect">
            <a:avLst>
              <a:gd name="adj" fmla="val 2260"/>
            </a:avLst>
          </a:prstGeom>
          <a:solidFill xmlns:a="http://schemas.openxmlformats.org/drawingml/2006/main">
            <a:srgbClr val="F3F7F9"/>
          </a:solidFill>
          <a:ln xmlns:a="http://schemas.openxmlformats.org/drawingml/2006/main" w="11430">
            <a:solidFill>
              <a:srgbClr val="00B2BB"/>
            </a:solidFill>
            <a:prstDash val="solid"/>
          </a:ln>
        </p:spPr>
      </p:sp>
      <p:sp>
        <p:nvSpPr>
          <p:cNvPr id="5" name="">
            <a:extLst xmlns:a="http://schemas.openxmlformats.org/drawingml/2006/main">
              <a:ext uri="{FF2B5EF4-FFF2-40B4-BE49-F238E27FC236}">
                <a16:creationId xmlns:a16="http://schemas.microsoft.com/office/drawing/2014/main" id="{6492AE12-4F3F-471C-877B-05945C002FA1}"/>
              </a:ext>
            </a:extLst>
          </p:cNvPr>
          <p:cNvSpPr>
            <a:spLocks xmlns:a="http://schemas.openxmlformats.org/drawingml/2006/main" noGrp="1"/>
          </p:cNvSpPr>
          <p:nvPr/>
        </p:nvSpPr>
        <p:spPr>
          <a:xfrm xmlns:a="http://schemas.openxmlformats.org/drawingml/2006/main">
            <a:off x="1943100" y="2076450"/>
            <a:ext cx="1409700" cy="381000"/>
          </a:xfrm>
          <a:prstGeom xmlns:a="http://schemas.openxmlformats.org/drawingml/2006/main" prst="roundRect">
            <a:avLst>
              <a:gd name="adj" fmla="val 20000"/>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BF74C222-2F2F-4AC6-AEE1-347822DDF465}"/>
              </a:ext>
            </a:extLst>
          </p:cNvPr>
          <p:cNvSpPr>
            <a:spLocks xmlns:a="http://schemas.openxmlformats.org/drawingml/2006/main" noGrp="1"/>
          </p:cNvSpPr>
          <p:nvPr/>
        </p:nvSpPr>
        <p:spPr>
          <a:xfrm xmlns:a="http://schemas.openxmlformats.org/drawingml/2006/main">
            <a:off x="1943100" y="207645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 5 II BÄO</a:t>
            </a:r>
          </a:p>
        </p:txBody>
      </p:sp>
      <p:sp>
        <p:nvSpPr>
          <p:cNvPr id="7" name="">
            <a:extLst xmlns:a="http://schemas.openxmlformats.org/drawingml/2006/main">
              <a:ext uri="{FF2B5EF4-FFF2-40B4-BE49-F238E27FC236}">
                <a16:creationId xmlns:a16="http://schemas.microsoft.com/office/drawing/2014/main" id="{A34DE17D-E3AA-460F-8ACB-6EBC08C312F4}"/>
              </a:ext>
            </a:extLst>
          </p:cNvPr>
          <p:cNvSpPr>
            <a:spLocks xmlns:a="http://schemas.openxmlformats.org/drawingml/2006/main" noGrp="1"/>
          </p:cNvSpPr>
          <p:nvPr/>
        </p:nvSpPr>
        <p:spPr>
          <a:xfrm xmlns:a="http://schemas.openxmlformats.org/drawingml/2006/main">
            <a:off x="3486150" y="2057400"/>
            <a:ext cx="2838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Widerruf · Auszug</a:t>
            </a:r>
          </a:p>
        </p:txBody>
      </p:sp>
      <p:sp>
        <p:nvSpPr>
          <p:cNvPr id="8" name="">
            <a:extLst xmlns:a="http://schemas.openxmlformats.org/drawingml/2006/main">
              <a:ext uri="{FF2B5EF4-FFF2-40B4-BE49-F238E27FC236}">
                <a16:creationId xmlns:a16="http://schemas.microsoft.com/office/drawing/2014/main" id="{96561F9F-6BD9-471A-B951-A6433AE4DD04}"/>
              </a:ext>
            </a:extLst>
          </p:cNvPr>
          <p:cNvSpPr>
            <a:spLocks xmlns:a="http://schemas.openxmlformats.org/drawingml/2006/main" noGrp="1"/>
          </p:cNvSpPr>
          <p:nvPr/>
        </p:nvSpPr>
        <p:spPr>
          <a:xfrm xmlns:a="http://schemas.openxmlformats.org/drawingml/2006/main">
            <a:off x="1981200" y="2609850"/>
            <a:ext cx="4305300" cy="2533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8">
                <a:solidFill>
                  <a:srgbClr val="15232B"/>
                </a:solidFill>
              </a:defRPr>
            </a:pPr>
            <a:r>
              <a:rPr sz="1148">
                <a:solidFill>
                  <a:srgbClr val="15232B"/>
                </a:solidFill>
              </a:rPr>
              <a:t>Die Approbation ist zu widerrufen, wenn nachträglich die Voraussetzung der Würdigkeit oder Zuverlässigkeit zur Ausübung des ärztlichen Berufs weggefallen ist. Sie kann widerrufen werden, wenn nachträglich die gesundheitliche Eignung weggefallen ist.</a:t>
            </a:r>
          </a:p>
        </p:txBody>
      </p:sp>
      <p:sp>
        <p:nvSpPr>
          <p:cNvPr id="9" name="">
            <a:extLst xmlns:a="http://schemas.openxmlformats.org/drawingml/2006/main">
              <a:ext uri="{FF2B5EF4-FFF2-40B4-BE49-F238E27FC236}">
                <a16:creationId xmlns:a16="http://schemas.microsoft.com/office/drawing/2014/main" id="{44C1CF62-80A0-41A4-9650-8CD07EBC7809}"/>
              </a:ext>
            </a:extLst>
          </p:cNvPr>
          <p:cNvSpPr>
            <a:spLocks xmlns:a="http://schemas.openxmlformats.org/drawingml/2006/main" noGrp="1"/>
          </p:cNvSpPr>
          <p:nvPr/>
        </p:nvSpPr>
        <p:spPr>
          <a:xfrm xmlns:a="http://schemas.openxmlformats.org/drawingml/2006/main">
            <a:off x="6686550" y="1943100"/>
            <a:ext cx="4648200" cy="3371850"/>
          </a:xfrm>
          <a:prstGeom xmlns:a="http://schemas.openxmlformats.org/drawingml/2006/main" prst="roundRect">
            <a:avLst>
              <a:gd name="adj" fmla="val 2260"/>
            </a:avLst>
          </a:prstGeom>
          <a:solidFill xmlns:a="http://schemas.openxmlformats.org/drawingml/2006/main">
            <a:srgbClr val="F3F7F9"/>
          </a:solidFill>
          <a:ln xmlns:a="http://schemas.openxmlformats.org/drawingml/2006/main" w="11430">
            <a:solidFill>
              <a:srgbClr val="003F6B"/>
            </a:solidFill>
            <a:prstDash val="solid"/>
          </a:ln>
        </p:spPr>
      </p:sp>
      <p:sp>
        <p:nvSpPr>
          <p:cNvPr id="10" name="">
            <a:extLst xmlns:a="http://schemas.openxmlformats.org/drawingml/2006/main">
              <a:ext uri="{FF2B5EF4-FFF2-40B4-BE49-F238E27FC236}">
                <a16:creationId xmlns:a16="http://schemas.microsoft.com/office/drawing/2014/main" id="{4D1BC62D-5EE1-4CD9-A5A8-2E1BF9AD9287}"/>
              </a:ext>
            </a:extLst>
          </p:cNvPr>
          <p:cNvSpPr>
            <a:spLocks xmlns:a="http://schemas.openxmlformats.org/drawingml/2006/main" noGrp="1"/>
          </p:cNvSpPr>
          <p:nvPr/>
        </p:nvSpPr>
        <p:spPr>
          <a:xfrm xmlns:a="http://schemas.openxmlformats.org/drawingml/2006/main">
            <a:off x="6819900" y="2076450"/>
            <a:ext cx="1409700" cy="381000"/>
          </a:xfrm>
          <a:prstGeom xmlns:a="http://schemas.openxmlformats.org/drawingml/2006/main" prst="roundRect">
            <a:avLst>
              <a:gd name="adj" fmla="val 20000"/>
            </a:avLst>
          </a:prstGeom>
          <a:solidFill xmlns:a="http://schemas.openxmlformats.org/drawingml/2006/main">
            <a:srgbClr val="003F6B"/>
          </a:solidFill>
          <a:ln xmlns:a="http://schemas.openxmlformats.org/drawingml/2006/main" w="0">
            <a:solidFill>
              <a:srgbClr val="003F6B"/>
            </a:solidFill>
            <a:prstDash val="solid"/>
          </a:ln>
        </p:spPr>
      </p:sp>
      <p:sp>
        <p:nvSpPr>
          <p:cNvPr id="11" name="">
            <a:extLst xmlns:a="http://schemas.openxmlformats.org/drawingml/2006/main">
              <a:ext uri="{FF2B5EF4-FFF2-40B4-BE49-F238E27FC236}">
                <a16:creationId xmlns:a16="http://schemas.microsoft.com/office/drawing/2014/main" id="{67FE35FD-EB90-4E3D-A021-7BBD6EE4DDAC}"/>
              </a:ext>
            </a:extLst>
          </p:cNvPr>
          <p:cNvSpPr>
            <a:spLocks xmlns:a="http://schemas.openxmlformats.org/drawingml/2006/main" noGrp="1"/>
          </p:cNvSpPr>
          <p:nvPr/>
        </p:nvSpPr>
        <p:spPr>
          <a:xfrm xmlns:a="http://schemas.openxmlformats.org/drawingml/2006/main">
            <a:off x="6819900" y="207645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 6 I, III BÄO</a:t>
            </a:r>
          </a:p>
        </p:txBody>
      </p:sp>
      <p:sp>
        <p:nvSpPr>
          <p:cNvPr id="12" name="">
            <a:extLst xmlns:a="http://schemas.openxmlformats.org/drawingml/2006/main">
              <a:ext uri="{FF2B5EF4-FFF2-40B4-BE49-F238E27FC236}">
                <a16:creationId xmlns:a16="http://schemas.microsoft.com/office/drawing/2014/main" id="{9A46F520-0120-4BA9-A493-80F0F3BE8D61}"/>
              </a:ext>
            </a:extLst>
          </p:cNvPr>
          <p:cNvSpPr>
            <a:spLocks xmlns:a="http://schemas.openxmlformats.org/drawingml/2006/main" noGrp="1"/>
          </p:cNvSpPr>
          <p:nvPr/>
        </p:nvSpPr>
        <p:spPr>
          <a:xfrm xmlns:a="http://schemas.openxmlformats.org/drawingml/2006/main">
            <a:off x="8362950" y="2057400"/>
            <a:ext cx="2838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Ruhen · Auszug</a:t>
            </a:r>
          </a:p>
        </p:txBody>
      </p:sp>
      <p:sp>
        <p:nvSpPr>
          <p:cNvPr id="13" name="">
            <a:extLst xmlns:a="http://schemas.openxmlformats.org/drawingml/2006/main">
              <a:ext uri="{FF2B5EF4-FFF2-40B4-BE49-F238E27FC236}">
                <a16:creationId xmlns:a16="http://schemas.microsoft.com/office/drawing/2014/main" id="{DA224FCF-6C42-4EF7-9150-F54237D1B9DD}"/>
              </a:ext>
            </a:extLst>
          </p:cNvPr>
          <p:cNvSpPr>
            <a:spLocks xmlns:a="http://schemas.openxmlformats.org/drawingml/2006/main" noGrp="1"/>
          </p:cNvSpPr>
          <p:nvPr/>
        </p:nvSpPr>
        <p:spPr>
          <a:xfrm xmlns:a="http://schemas.openxmlformats.org/drawingml/2006/main">
            <a:off x="6858000" y="2609850"/>
            <a:ext cx="4305300" cy="2533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8">
                <a:solidFill>
                  <a:srgbClr val="15232B"/>
                </a:solidFill>
              </a:defRPr>
            </a:pPr>
            <a:r>
              <a:rPr sz="1148">
                <a:solidFill>
                  <a:srgbClr val="15232B"/>
                </a:solidFill>
              </a:rPr>
              <a:t>Das Ruhen kann insbesondere angeordnet werden, wenn ein Strafverfahren wegen eines Verdachts eingeleitet ist, aus dem sich Unwürdigkeit oder Unzuverlässigkeit ergeben kann, oder wenn Eignungszweifel bestehen. Während des Ruhens darf der ärztliche Beruf nicht ausgeübt werden.</a:t>
            </a:r>
          </a:p>
        </p:txBody>
      </p:sp>
      <p:sp>
        <p:nvSpPr>
          <p:cNvPr id="14" name="">
            <a:extLst xmlns:a="http://schemas.openxmlformats.org/drawingml/2006/main">
              <a:ext uri="{FF2B5EF4-FFF2-40B4-BE49-F238E27FC236}">
                <a16:creationId xmlns:a16="http://schemas.microsoft.com/office/drawing/2014/main" id="{579F4843-FC00-4A57-A00F-19AC5F452EA6}"/>
              </a:ext>
            </a:extLst>
          </p:cNvPr>
          <p:cNvSpPr>
            <a:spLocks xmlns:a="http://schemas.openxmlformats.org/drawingml/2006/main" noGrp="1"/>
          </p:cNvSpPr>
          <p:nvPr/>
        </p:nvSpPr>
        <p:spPr>
          <a:xfrm xmlns:a="http://schemas.openxmlformats.org/drawingml/2006/main">
            <a:off x="1809750" y="5619750"/>
            <a:ext cx="9525000" cy="419100"/>
          </a:xfrm>
          <a:prstGeom xmlns:a="http://schemas.openxmlformats.org/drawingml/2006/main" prst="roundRect">
            <a:avLst>
              <a:gd name="adj" fmla="val 18182"/>
            </a:avLst>
          </a:prstGeom>
          <a:noFill xmlns:a="http://schemas.openxmlformats.org/drawingml/2006/main"/>
          <a:ln xmlns:a="http://schemas.openxmlformats.org/drawingml/2006/main" w="11430">
            <a:solidFill>
              <a:srgbClr val="00B2BB"/>
            </a:solidFill>
            <a:prstDash val="solid"/>
          </a:ln>
        </p:spPr>
      </p:sp>
      <p:sp>
        <p:nvSpPr>
          <p:cNvPr id="15" name="">
            <a:extLst xmlns:a="http://schemas.openxmlformats.org/drawingml/2006/main">
              <a:ext uri="{FF2B5EF4-FFF2-40B4-BE49-F238E27FC236}">
                <a16:creationId xmlns:a16="http://schemas.microsoft.com/office/drawing/2014/main" id="{0573EA5D-C7D6-4270-A065-66267757FDF4}"/>
              </a:ext>
            </a:extLst>
          </p:cNvPr>
          <p:cNvSpPr>
            <a:spLocks xmlns:a="http://schemas.openxmlformats.org/drawingml/2006/main" noGrp="1"/>
          </p:cNvSpPr>
          <p:nvPr/>
        </p:nvSpPr>
        <p:spPr>
          <a:xfrm xmlns:a="http://schemas.openxmlformats.org/drawingml/2006/main">
            <a:off x="1962150" y="5638800"/>
            <a:ext cx="9220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13" b="1">
                <a:solidFill>
                  <a:srgbClr val="003F6B"/>
                </a:solidFill>
              </a:defRPr>
            </a:pPr>
            <a:r>
              <a:rPr sz="1013" b="1">
                <a:solidFill>
                  <a:srgbClr val="003F6B"/>
                </a:solidFill>
              </a:rPr>
              <a:t>Praxislesart: Widerruf beendet die Approbation; Ruhen ist eine vorläufige Gefahrenabwehrmaßnahme. Beides ist vom Strafurteil zu unterscheiden.</a:t>
            </a:r>
          </a:p>
        </p:txBody>
      </p:sp>
      <p:sp>
        <p:nvSpPr>
          <p:cNvPr id="16" name="">
            <a:extLst xmlns:a="http://schemas.openxmlformats.org/drawingml/2006/main">
              <a:ext uri="{FF2B5EF4-FFF2-40B4-BE49-F238E27FC236}">
                <a16:creationId xmlns:a16="http://schemas.microsoft.com/office/drawing/2014/main" id="{C6FDAC13-FD10-4BF7-918C-5C6EBF38B009}"/>
              </a:ext>
            </a:extLst>
          </p:cNvPr>
          <p:cNvSpPr>
            <a:spLocks xmlns:a="http://schemas.openxmlformats.org/drawingml/2006/main" noGrp="1"/>
          </p:cNvSpPr>
          <p:nvPr/>
        </p:nvSpPr>
        <p:spPr>
          <a:xfrm xmlns:a="http://schemas.openxmlformats.org/drawingml/2006/main">
            <a:off x="1809750" y="535305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05">
                <a:solidFill>
                  <a:srgbClr val="667680"/>
                </a:solidFill>
              </a:defRPr>
            </a:pPr>
            <a:r>
              <a:rPr sz="705">
                <a:solidFill>
                  <a:srgbClr val="667680"/>
                </a:solidFill>
              </a:rPr>
              <a:t>BMJ/BfJ, gesetze-im-internet.de/b_o/__5.html und /__6.html · Abruf/Stand: 20.08.2026 · https://pubmed.ncbi.nlm.nih.gov</a:t>
            </a:r>
          </a:p>
        </p:txBody>
      </p:sp>
    </p:spTree>
    <p:extLst>
      <p:ext uri="{BB962C8B-B14F-4D97-AF65-F5344CB8AC3E}">
        <p14:creationId xmlns:p14="http://schemas.microsoft.com/office/powerpoint/2010/main" val="43637646"/>
      </p:ext>
    </p:extLst>
  </p:cSld>
</p:sld>
</file>

<file path=ppt/slides/slide268.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Verwaltungsrechtsweg und Klageart</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GESETZESTEXT · GEKÜRZTER LEHRAUSZUG</a:t>
            </a:r>
            <a:endParaRPr/>
          </a:p>
        </p:txBody>
      </p:sp>
      <p:sp>
        <p:nvSpPr>
          <p:cNvPr id="4" name="">
            <a:extLst xmlns:a="http://schemas.openxmlformats.org/drawingml/2006/main">
              <a:ext uri="{FF2B5EF4-FFF2-40B4-BE49-F238E27FC236}">
                <a16:creationId xmlns:a16="http://schemas.microsoft.com/office/drawing/2014/main" id="{B94C87CA-C493-43D4-93CD-B98B23D97BD4}"/>
              </a:ext>
            </a:extLst>
          </p:cNvPr>
          <p:cNvSpPr>
            <a:spLocks xmlns:a="http://schemas.openxmlformats.org/drawingml/2006/main" noGrp="1"/>
          </p:cNvSpPr>
          <p:nvPr/>
        </p:nvSpPr>
        <p:spPr>
          <a:xfrm xmlns:a="http://schemas.openxmlformats.org/drawingml/2006/main">
            <a:off x="1809750" y="1943100"/>
            <a:ext cx="4648200" cy="3371850"/>
          </a:xfrm>
          <a:prstGeom xmlns:a="http://schemas.openxmlformats.org/drawingml/2006/main" prst="roundRect">
            <a:avLst>
              <a:gd name="adj" fmla="val 2260"/>
            </a:avLst>
          </a:prstGeom>
          <a:solidFill xmlns:a="http://schemas.openxmlformats.org/drawingml/2006/main">
            <a:srgbClr val="F3F7F9"/>
          </a:solidFill>
          <a:ln xmlns:a="http://schemas.openxmlformats.org/drawingml/2006/main" w="11430">
            <a:solidFill>
              <a:srgbClr val="00B2BB"/>
            </a:solidFill>
            <a:prstDash val="solid"/>
          </a:ln>
        </p:spPr>
      </p:sp>
      <p:sp>
        <p:nvSpPr>
          <p:cNvPr id="5" name="">
            <a:extLst xmlns:a="http://schemas.openxmlformats.org/drawingml/2006/main">
              <a:ext uri="{FF2B5EF4-FFF2-40B4-BE49-F238E27FC236}">
                <a16:creationId xmlns:a16="http://schemas.microsoft.com/office/drawing/2014/main" id="{B2578E53-AD9A-46B2-9FE0-009ECDBF8FF0}"/>
              </a:ext>
            </a:extLst>
          </p:cNvPr>
          <p:cNvSpPr>
            <a:spLocks xmlns:a="http://schemas.openxmlformats.org/drawingml/2006/main" noGrp="1"/>
          </p:cNvSpPr>
          <p:nvPr/>
        </p:nvSpPr>
        <p:spPr>
          <a:xfrm xmlns:a="http://schemas.openxmlformats.org/drawingml/2006/main">
            <a:off x="1943100" y="2076450"/>
            <a:ext cx="1409700" cy="381000"/>
          </a:xfrm>
          <a:prstGeom xmlns:a="http://schemas.openxmlformats.org/drawingml/2006/main" prst="roundRect">
            <a:avLst>
              <a:gd name="adj" fmla="val 20000"/>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19C2D9BC-D3F9-4F07-8B08-73844615C34C}"/>
              </a:ext>
            </a:extLst>
          </p:cNvPr>
          <p:cNvSpPr>
            <a:spLocks xmlns:a="http://schemas.openxmlformats.org/drawingml/2006/main" noGrp="1"/>
          </p:cNvSpPr>
          <p:nvPr/>
        </p:nvSpPr>
        <p:spPr>
          <a:xfrm xmlns:a="http://schemas.openxmlformats.org/drawingml/2006/main">
            <a:off x="1943100" y="207645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 40 I VwGO</a:t>
            </a:r>
          </a:p>
        </p:txBody>
      </p:sp>
      <p:sp>
        <p:nvSpPr>
          <p:cNvPr id="7" name="">
            <a:extLst xmlns:a="http://schemas.openxmlformats.org/drawingml/2006/main">
              <a:ext uri="{FF2B5EF4-FFF2-40B4-BE49-F238E27FC236}">
                <a16:creationId xmlns:a16="http://schemas.microsoft.com/office/drawing/2014/main" id="{0CD398C8-7B27-464E-864F-CFD64AAE21DC}"/>
              </a:ext>
            </a:extLst>
          </p:cNvPr>
          <p:cNvSpPr>
            <a:spLocks xmlns:a="http://schemas.openxmlformats.org/drawingml/2006/main" noGrp="1"/>
          </p:cNvSpPr>
          <p:nvPr/>
        </p:nvSpPr>
        <p:spPr>
          <a:xfrm xmlns:a="http://schemas.openxmlformats.org/drawingml/2006/main">
            <a:off x="3486150" y="2057400"/>
            <a:ext cx="2838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Rechtsweg</a:t>
            </a:r>
          </a:p>
        </p:txBody>
      </p:sp>
      <p:sp>
        <p:nvSpPr>
          <p:cNvPr id="8" name="">
            <a:extLst xmlns:a="http://schemas.openxmlformats.org/drawingml/2006/main">
              <a:ext uri="{FF2B5EF4-FFF2-40B4-BE49-F238E27FC236}">
                <a16:creationId xmlns:a16="http://schemas.microsoft.com/office/drawing/2014/main" id="{0B7CD598-3E78-4903-B6E6-88F76EB889D9}"/>
              </a:ext>
            </a:extLst>
          </p:cNvPr>
          <p:cNvSpPr>
            <a:spLocks xmlns:a="http://schemas.openxmlformats.org/drawingml/2006/main" noGrp="1"/>
          </p:cNvSpPr>
          <p:nvPr/>
        </p:nvSpPr>
        <p:spPr>
          <a:xfrm xmlns:a="http://schemas.openxmlformats.org/drawingml/2006/main">
            <a:off x="1981200" y="2609850"/>
            <a:ext cx="4305300" cy="2533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8">
                <a:solidFill>
                  <a:srgbClr val="15232B"/>
                </a:solidFill>
              </a:defRPr>
            </a:pPr>
            <a:r>
              <a:rPr sz="1148">
                <a:solidFill>
                  <a:srgbClr val="15232B"/>
                </a:solidFill>
              </a:rPr>
              <a:t>Der Verwaltungsrechtsweg ist in allen öffentlich-rechtlichen Streitigkeiten nichtverfassungsrechtlicher Art gegeben, soweit die Streitigkeit nicht ausdrücklich einem anderen Gericht zugewiesen ist.</a:t>
            </a:r>
          </a:p>
        </p:txBody>
      </p:sp>
      <p:sp>
        <p:nvSpPr>
          <p:cNvPr id="9" name="">
            <a:extLst xmlns:a="http://schemas.openxmlformats.org/drawingml/2006/main">
              <a:ext uri="{FF2B5EF4-FFF2-40B4-BE49-F238E27FC236}">
                <a16:creationId xmlns:a16="http://schemas.microsoft.com/office/drawing/2014/main" id="{4CF66F0A-448E-4515-BFCD-F51AD88E5866}"/>
              </a:ext>
            </a:extLst>
          </p:cNvPr>
          <p:cNvSpPr>
            <a:spLocks xmlns:a="http://schemas.openxmlformats.org/drawingml/2006/main" noGrp="1"/>
          </p:cNvSpPr>
          <p:nvPr/>
        </p:nvSpPr>
        <p:spPr>
          <a:xfrm xmlns:a="http://schemas.openxmlformats.org/drawingml/2006/main">
            <a:off x="6686550" y="1943100"/>
            <a:ext cx="4648200" cy="3371850"/>
          </a:xfrm>
          <a:prstGeom xmlns:a="http://schemas.openxmlformats.org/drawingml/2006/main" prst="roundRect">
            <a:avLst>
              <a:gd name="adj" fmla="val 2260"/>
            </a:avLst>
          </a:prstGeom>
          <a:solidFill xmlns:a="http://schemas.openxmlformats.org/drawingml/2006/main">
            <a:srgbClr val="F3F7F9"/>
          </a:solidFill>
          <a:ln xmlns:a="http://schemas.openxmlformats.org/drawingml/2006/main" w="11430">
            <a:solidFill>
              <a:srgbClr val="003F6B"/>
            </a:solidFill>
            <a:prstDash val="solid"/>
          </a:ln>
        </p:spPr>
      </p:sp>
      <p:sp>
        <p:nvSpPr>
          <p:cNvPr id="10" name="">
            <a:extLst xmlns:a="http://schemas.openxmlformats.org/drawingml/2006/main">
              <a:ext uri="{FF2B5EF4-FFF2-40B4-BE49-F238E27FC236}">
                <a16:creationId xmlns:a16="http://schemas.microsoft.com/office/drawing/2014/main" id="{751EF54D-DA75-4F93-9D16-88F79092765C}"/>
              </a:ext>
            </a:extLst>
          </p:cNvPr>
          <p:cNvSpPr>
            <a:spLocks xmlns:a="http://schemas.openxmlformats.org/drawingml/2006/main" noGrp="1"/>
          </p:cNvSpPr>
          <p:nvPr/>
        </p:nvSpPr>
        <p:spPr>
          <a:xfrm xmlns:a="http://schemas.openxmlformats.org/drawingml/2006/main">
            <a:off x="6819900" y="2076450"/>
            <a:ext cx="1409700" cy="381000"/>
          </a:xfrm>
          <a:prstGeom xmlns:a="http://schemas.openxmlformats.org/drawingml/2006/main" prst="roundRect">
            <a:avLst>
              <a:gd name="adj" fmla="val 20000"/>
            </a:avLst>
          </a:prstGeom>
          <a:solidFill xmlns:a="http://schemas.openxmlformats.org/drawingml/2006/main">
            <a:srgbClr val="003F6B"/>
          </a:solidFill>
          <a:ln xmlns:a="http://schemas.openxmlformats.org/drawingml/2006/main" w="0">
            <a:solidFill>
              <a:srgbClr val="003F6B"/>
            </a:solidFill>
            <a:prstDash val="solid"/>
          </a:ln>
        </p:spPr>
      </p:sp>
      <p:sp>
        <p:nvSpPr>
          <p:cNvPr id="11" name="">
            <a:extLst xmlns:a="http://schemas.openxmlformats.org/drawingml/2006/main">
              <a:ext uri="{FF2B5EF4-FFF2-40B4-BE49-F238E27FC236}">
                <a16:creationId xmlns:a16="http://schemas.microsoft.com/office/drawing/2014/main" id="{BB8B4F94-3F09-4F3D-95CC-F5E9EDD34FE8}"/>
              </a:ext>
            </a:extLst>
          </p:cNvPr>
          <p:cNvSpPr>
            <a:spLocks xmlns:a="http://schemas.openxmlformats.org/drawingml/2006/main" noGrp="1"/>
          </p:cNvSpPr>
          <p:nvPr/>
        </p:nvSpPr>
        <p:spPr>
          <a:xfrm xmlns:a="http://schemas.openxmlformats.org/drawingml/2006/main">
            <a:off x="6819900" y="207645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 42 VwGO</a:t>
            </a:r>
          </a:p>
        </p:txBody>
      </p:sp>
      <p:sp>
        <p:nvSpPr>
          <p:cNvPr id="12" name="">
            <a:extLst xmlns:a="http://schemas.openxmlformats.org/drawingml/2006/main">
              <a:ext uri="{FF2B5EF4-FFF2-40B4-BE49-F238E27FC236}">
                <a16:creationId xmlns:a16="http://schemas.microsoft.com/office/drawing/2014/main" id="{8E016B9B-D7B3-4FAC-8D5D-6CA30A9052EA}"/>
              </a:ext>
            </a:extLst>
          </p:cNvPr>
          <p:cNvSpPr>
            <a:spLocks xmlns:a="http://schemas.openxmlformats.org/drawingml/2006/main" noGrp="1"/>
          </p:cNvSpPr>
          <p:nvPr/>
        </p:nvSpPr>
        <p:spPr>
          <a:xfrm xmlns:a="http://schemas.openxmlformats.org/drawingml/2006/main">
            <a:off x="8362950" y="2057400"/>
            <a:ext cx="2838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Anfechtung / Verpflichtung</a:t>
            </a:r>
          </a:p>
        </p:txBody>
      </p:sp>
      <p:sp>
        <p:nvSpPr>
          <p:cNvPr id="13" name="">
            <a:extLst xmlns:a="http://schemas.openxmlformats.org/drawingml/2006/main">
              <a:ext uri="{FF2B5EF4-FFF2-40B4-BE49-F238E27FC236}">
                <a16:creationId xmlns:a16="http://schemas.microsoft.com/office/drawing/2014/main" id="{8E463E68-53FB-4984-8D0C-486FDF5C5E9E}"/>
              </a:ext>
            </a:extLst>
          </p:cNvPr>
          <p:cNvSpPr>
            <a:spLocks xmlns:a="http://schemas.openxmlformats.org/drawingml/2006/main" noGrp="1"/>
          </p:cNvSpPr>
          <p:nvPr/>
        </p:nvSpPr>
        <p:spPr>
          <a:xfrm xmlns:a="http://schemas.openxmlformats.org/drawingml/2006/main">
            <a:off x="6858000" y="2609850"/>
            <a:ext cx="4305300" cy="2533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8">
                <a:solidFill>
                  <a:srgbClr val="15232B"/>
                </a:solidFill>
              </a:defRPr>
            </a:pPr>
            <a:r>
              <a:rPr sz="1148">
                <a:solidFill>
                  <a:srgbClr val="15232B"/>
                </a:solidFill>
              </a:rPr>
              <a:t>Mit der Anfechtungsklage wird die Aufhebung eines Verwaltungsakts, mit der Verpflichtungsklage der Erlass eines abgelehnten oder unterlassenen Verwaltungsakts begehrt. Die klagende Person muss grundsätzlich eine mögliche Verletzung eigener Rechte geltend machen.</a:t>
            </a:r>
          </a:p>
        </p:txBody>
      </p:sp>
      <p:sp>
        <p:nvSpPr>
          <p:cNvPr id="14" name="">
            <a:extLst xmlns:a="http://schemas.openxmlformats.org/drawingml/2006/main">
              <a:ext uri="{FF2B5EF4-FFF2-40B4-BE49-F238E27FC236}">
                <a16:creationId xmlns:a16="http://schemas.microsoft.com/office/drawing/2014/main" id="{FB8551AD-5AFB-4161-B75C-D462F289BA50}"/>
              </a:ext>
            </a:extLst>
          </p:cNvPr>
          <p:cNvSpPr>
            <a:spLocks xmlns:a="http://schemas.openxmlformats.org/drawingml/2006/main" noGrp="1"/>
          </p:cNvSpPr>
          <p:nvPr/>
        </p:nvSpPr>
        <p:spPr>
          <a:xfrm xmlns:a="http://schemas.openxmlformats.org/drawingml/2006/main">
            <a:off x="1809750" y="5619750"/>
            <a:ext cx="9525000" cy="419100"/>
          </a:xfrm>
          <a:prstGeom xmlns:a="http://schemas.openxmlformats.org/drawingml/2006/main" prst="roundRect">
            <a:avLst>
              <a:gd name="adj" fmla="val 18182"/>
            </a:avLst>
          </a:prstGeom>
          <a:noFill xmlns:a="http://schemas.openxmlformats.org/drawingml/2006/main"/>
          <a:ln xmlns:a="http://schemas.openxmlformats.org/drawingml/2006/main" w="11430">
            <a:solidFill>
              <a:srgbClr val="00B2BB"/>
            </a:solidFill>
            <a:prstDash val="solid"/>
          </a:ln>
        </p:spPr>
      </p:sp>
      <p:sp>
        <p:nvSpPr>
          <p:cNvPr id="15" name="">
            <a:extLst xmlns:a="http://schemas.openxmlformats.org/drawingml/2006/main">
              <a:ext uri="{FF2B5EF4-FFF2-40B4-BE49-F238E27FC236}">
                <a16:creationId xmlns:a16="http://schemas.microsoft.com/office/drawing/2014/main" id="{8D22D203-C07B-42A6-AC2B-CF029E5AE0CC}"/>
              </a:ext>
            </a:extLst>
          </p:cNvPr>
          <p:cNvSpPr>
            <a:spLocks xmlns:a="http://schemas.openxmlformats.org/drawingml/2006/main" noGrp="1"/>
          </p:cNvSpPr>
          <p:nvPr/>
        </p:nvSpPr>
        <p:spPr>
          <a:xfrm xmlns:a="http://schemas.openxmlformats.org/drawingml/2006/main">
            <a:off x="1962150" y="5638800"/>
            <a:ext cx="9220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13" b="1">
                <a:solidFill>
                  <a:srgbClr val="003F6B"/>
                </a:solidFill>
              </a:defRPr>
            </a:pPr>
            <a:r>
              <a:rPr sz="1013" b="1">
                <a:solidFill>
                  <a:srgbClr val="003F6B"/>
                </a:solidFill>
              </a:rPr>
              <a:t>Praxislesart: Gegen Ruhen oder Widerruf wird typischerweise die Aufhebung eines belastenden Verwaltungsakts begehrt.</a:t>
            </a:r>
          </a:p>
        </p:txBody>
      </p:sp>
      <p:sp>
        <p:nvSpPr>
          <p:cNvPr id="16" name="">
            <a:extLst xmlns:a="http://schemas.openxmlformats.org/drawingml/2006/main">
              <a:ext uri="{FF2B5EF4-FFF2-40B4-BE49-F238E27FC236}">
                <a16:creationId xmlns:a16="http://schemas.microsoft.com/office/drawing/2014/main" id="{3F06B2A9-46C6-471F-8AE0-7AE562176FD7}"/>
              </a:ext>
            </a:extLst>
          </p:cNvPr>
          <p:cNvSpPr>
            <a:spLocks xmlns:a="http://schemas.openxmlformats.org/drawingml/2006/main" noGrp="1"/>
          </p:cNvSpPr>
          <p:nvPr/>
        </p:nvSpPr>
        <p:spPr>
          <a:xfrm xmlns:a="http://schemas.openxmlformats.org/drawingml/2006/main">
            <a:off x="1809750" y="535305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05">
                <a:solidFill>
                  <a:srgbClr val="667680"/>
                </a:solidFill>
              </a:defRPr>
            </a:pPr>
            <a:r>
              <a:rPr sz="705">
                <a:solidFill>
                  <a:srgbClr val="667680"/>
                </a:solidFill>
              </a:rPr>
              <a:t>BMJ/BfJ, gesetze-im-internet.de/vwgo/__40.html und /__42.html · Abruf/Stand: 20.08.2026 · https://pubmed.ncbi.nlm.nih.gov</a:t>
            </a:r>
          </a:p>
        </p:txBody>
      </p:sp>
    </p:spTree>
    <p:extLst>
      <p:ext uri="{BB962C8B-B14F-4D97-AF65-F5344CB8AC3E}">
        <p14:creationId xmlns:p14="http://schemas.microsoft.com/office/powerpoint/2010/main" val="43637646"/>
      </p:ext>
    </p:extLst>
  </p:cSld>
</p:sld>
</file>

<file path=ppt/slides/slide269.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Eilrechtsschutz im Approbationsverfahren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GESETZESTEXT · GEKÜRZTER LEHRAUSZUG</a:t>
            </a:r>
            <a:endParaRPr/>
          </a:p>
        </p:txBody>
      </p:sp>
      <p:sp>
        <p:nvSpPr>
          <p:cNvPr id="4" name="">
            <a:extLst xmlns:a="http://schemas.openxmlformats.org/drawingml/2006/main">
              <a:ext uri="{FF2B5EF4-FFF2-40B4-BE49-F238E27FC236}">
                <a16:creationId xmlns:a16="http://schemas.microsoft.com/office/drawing/2014/main" id="{4C99F225-6D39-410F-951D-29A909ADAC3E}"/>
              </a:ext>
            </a:extLst>
          </p:cNvPr>
          <p:cNvSpPr>
            <a:spLocks xmlns:a="http://schemas.openxmlformats.org/drawingml/2006/main" noGrp="1"/>
          </p:cNvSpPr>
          <p:nvPr/>
        </p:nvSpPr>
        <p:spPr>
          <a:xfrm xmlns:a="http://schemas.openxmlformats.org/drawingml/2006/main">
            <a:off x="1809750" y="1943100"/>
            <a:ext cx="4648200" cy="3371850"/>
          </a:xfrm>
          <a:prstGeom xmlns:a="http://schemas.openxmlformats.org/drawingml/2006/main" prst="roundRect">
            <a:avLst>
              <a:gd name="adj" fmla="val 2260"/>
            </a:avLst>
          </a:prstGeom>
          <a:solidFill xmlns:a="http://schemas.openxmlformats.org/drawingml/2006/main">
            <a:srgbClr val="F3F7F9"/>
          </a:solidFill>
          <a:ln xmlns:a="http://schemas.openxmlformats.org/drawingml/2006/main" w="11430">
            <a:solidFill>
              <a:srgbClr val="00B2BB"/>
            </a:solidFill>
            <a:prstDash val="solid"/>
          </a:ln>
        </p:spPr>
      </p:sp>
      <p:sp>
        <p:nvSpPr>
          <p:cNvPr id="5" name="">
            <a:extLst xmlns:a="http://schemas.openxmlformats.org/drawingml/2006/main">
              <a:ext uri="{FF2B5EF4-FFF2-40B4-BE49-F238E27FC236}">
                <a16:creationId xmlns:a16="http://schemas.microsoft.com/office/drawing/2014/main" id="{47B1E5FD-FD81-472B-BF2B-747801436B2D}"/>
              </a:ext>
            </a:extLst>
          </p:cNvPr>
          <p:cNvSpPr>
            <a:spLocks xmlns:a="http://schemas.openxmlformats.org/drawingml/2006/main" noGrp="1"/>
          </p:cNvSpPr>
          <p:nvPr/>
        </p:nvSpPr>
        <p:spPr>
          <a:xfrm xmlns:a="http://schemas.openxmlformats.org/drawingml/2006/main">
            <a:off x="1943100" y="2076450"/>
            <a:ext cx="1409700" cy="381000"/>
          </a:xfrm>
          <a:prstGeom xmlns:a="http://schemas.openxmlformats.org/drawingml/2006/main" prst="roundRect">
            <a:avLst>
              <a:gd name="adj" fmla="val 20000"/>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8678AD61-FE41-4CD8-A5D2-FB74E6F227F3}"/>
              </a:ext>
            </a:extLst>
          </p:cNvPr>
          <p:cNvSpPr>
            <a:spLocks xmlns:a="http://schemas.openxmlformats.org/drawingml/2006/main" noGrp="1"/>
          </p:cNvSpPr>
          <p:nvPr/>
        </p:nvSpPr>
        <p:spPr>
          <a:xfrm xmlns:a="http://schemas.openxmlformats.org/drawingml/2006/main">
            <a:off x="1943100" y="207645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 80 V VwGO</a:t>
            </a:r>
          </a:p>
        </p:txBody>
      </p:sp>
      <p:sp>
        <p:nvSpPr>
          <p:cNvPr id="7" name="">
            <a:extLst xmlns:a="http://schemas.openxmlformats.org/drawingml/2006/main">
              <a:ext uri="{FF2B5EF4-FFF2-40B4-BE49-F238E27FC236}">
                <a16:creationId xmlns:a16="http://schemas.microsoft.com/office/drawing/2014/main" id="{F6BD6B67-772A-4CDB-84B7-C7E96CAF2A1E}"/>
              </a:ext>
            </a:extLst>
          </p:cNvPr>
          <p:cNvSpPr>
            <a:spLocks xmlns:a="http://schemas.openxmlformats.org/drawingml/2006/main" noGrp="1"/>
          </p:cNvSpPr>
          <p:nvPr/>
        </p:nvSpPr>
        <p:spPr>
          <a:xfrm xmlns:a="http://schemas.openxmlformats.org/drawingml/2006/main">
            <a:off x="3486150" y="2057400"/>
            <a:ext cx="2838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Aussetzungsantrag · Kern</a:t>
            </a:r>
          </a:p>
        </p:txBody>
      </p:sp>
      <p:sp>
        <p:nvSpPr>
          <p:cNvPr id="8" name="">
            <a:extLst xmlns:a="http://schemas.openxmlformats.org/drawingml/2006/main">
              <a:ext uri="{FF2B5EF4-FFF2-40B4-BE49-F238E27FC236}">
                <a16:creationId xmlns:a16="http://schemas.microsoft.com/office/drawing/2014/main" id="{2FBDF6B3-4C8C-439A-AB9C-721DC446C673}"/>
              </a:ext>
            </a:extLst>
          </p:cNvPr>
          <p:cNvSpPr>
            <a:spLocks xmlns:a="http://schemas.openxmlformats.org/drawingml/2006/main" noGrp="1"/>
          </p:cNvSpPr>
          <p:nvPr/>
        </p:nvSpPr>
        <p:spPr>
          <a:xfrm xmlns:a="http://schemas.openxmlformats.org/drawingml/2006/main">
            <a:off x="1981200" y="2609850"/>
            <a:ext cx="4305300" cy="2533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8">
                <a:solidFill>
                  <a:srgbClr val="15232B"/>
                </a:solidFill>
              </a:defRPr>
            </a:pPr>
            <a:r>
              <a:rPr sz="1148">
                <a:solidFill>
                  <a:srgbClr val="15232B"/>
                </a:solidFill>
              </a:rPr>
              <a:t>Das Gericht kann die aufschiebende Wirkung eines Rechtsbehelfs in den gesetzlich geregelten Fällen ganz oder teilweise anordnen oder wiederherstellen. Es wägt insbesondere Vollzugs- und Aussetzungsinteresse ab.</a:t>
            </a:r>
          </a:p>
        </p:txBody>
      </p:sp>
      <p:sp>
        <p:nvSpPr>
          <p:cNvPr id="9" name="">
            <a:extLst xmlns:a="http://schemas.openxmlformats.org/drawingml/2006/main">
              <a:ext uri="{FF2B5EF4-FFF2-40B4-BE49-F238E27FC236}">
                <a16:creationId xmlns:a16="http://schemas.microsoft.com/office/drawing/2014/main" id="{0AA51181-9A38-4D38-8D5C-421B8605364E}"/>
              </a:ext>
            </a:extLst>
          </p:cNvPr>
          <p:cNvSpPr>
            <a:spLocks xmlns:a="http://schemas.openxmlformats.org/drawingml/2006/main" noGrp="1"/>
          </p:cNvSpPr>
          <p:nvPr/>
        </p:nvSpPr>
        <p:spPr>
          <a:xfrm xmlns:a="http://schemas.openxmlformats.org/drawingml/2006/main">
            <a:off x="6686550" y="1943100"/>
            <a:ext cx="4648200" cy="3371850"/>
          </a:xfrm>
          <a:prstGeom xmlns:a="http://schemas.openxmlformats.org/drawingml/2006/main" prst="roundRect">
            <a:avLst>
              <a:gd name="adj" fmla="val 2260"/>
            </a:avLst>
          </a:prstGeom>
          <a:solidFill xmlns:a="http://schemas.openxmlformats.org/drawingml/2006/main">
            <a:srgbClr val="F3F7F9"/>
          </a:solidFill>
          <a:ln xmlns:a="http://schemas.openxmlformats.org/drawingml/2006/main" w="11430">
            <a:solidFill>
              <a:srgbClr val="003F6B"/>
            </a:solidFill>
            <a:prstDash val="solid"/>
          </a:ln>
        </p:spPr>
      </p:sp>
      <p:sp>
        <p:nvSpPr>
          <p:cNvPr id="10" name="">
            <a:extLst xmlns:a="http://schemas.openxmlformats.org/drawingml/2006/main">
              <a:ext uri="{FF2B5EF4-FFF2-40B4-BE49-F238E27FC236}">
                <a16:creationId xmlns:a16="http://schemas.microsoft.com/office/drawing/2014/main" id="{6177F201-C87A-48C1-B0B1-03FB8F8BF4AB}"/>
              </a:ext>
            </a:extLst>
          </p:cNvPr>
          <p:cNvSpPr>
            <a:spLocks xmlns:a="http://schemas.openxmlformats.org/drawingml/2006/main" noGrp="1"/>
          </p:cNvSpPr>
          <p:nvPr/>
        </p:nvSpPr>
        <p:spPr>
          <a:xfrm xmlns:a="http://schemas.openxmlformats.org/drawingml/2006/main">
            <a:off x="6819900" y="2076450"/>
            <a:ext cx="1409700" cy="381000"/>
          </a:xfrm>
          <a:prstGeom xmlns:a="http://schemas.openxmlformats.org/drawingml/2006/main" prst="roundRect">
            <a:avLst>
              <a:gd name="adj" fmla="val 20000"/>
            </a:avLst>
          </a:prstGeom>
          <a:solidFill xmlns:a="http://schemas.openxmlformats.org/drawingml/2006/main">
            <a:srgbClr val="003F6B"/>
          </a:solidFill>
          <a:ln xmlns:a="http://schemas.openxmlformats.org/drawingml/2006/main" w="0">
            <a:solidFill>
              <a:srgbClr val="003F6B"/>
            </a:solidFill>
            <a:prstDash val="solid"/>
          </a:ln>
        </p:spPr>
      </p:sp>
      <p:sp>
        <p:nvSpPr>
          <p:cNvPr id="11" name="">
            <a:extLst xmlns:a="http://schemas.openxmlformats.org/drawingml/2006/main">
              <a:ext uri="{FF2B5EF4-FFF2-40B4-BE49-F238E27FC236}">
                <a16:creationId xmlns:a16="http://schemas.microsoft.com/office/drawing/2014/main" id="{1B94B8D6-A2A2-4F16-9945-7E387389B0BF}"/>
              </a:ext>
            </a:extLst>
          </p:cNvPr>
          <p:cNvSpPr>
            <a:spLocks xmlns:a="http://schemas.openxmlformats.org/drawingml/2006/main" noGrp="1"/>
          </p:cNvSpPr>
          <p:nvPr/>
        </p:nvSpPr>
        <p:spPr>
          <a:xfrm xmlns:a="http://schemas.openxmlformats.org/drawingml/2006/main">
            <a:off x="6819900" y="207645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 123 I VwGO</a:t>
            </a:r>
          </a:p>
        </p:txBody>
      </p:sp>
      <p:sp>
        <p:nvSpPr>
          <p:cNvPr id="12" name="">
            <a:extLst xmlns:a="http://schemas.openxmlformats.org/drawingml/2006/main">
              <a:ext uri="{FF2B5EF4-FFF2-40B4-BE49-F238E27FC236}">
                <a16:creationId xmlns:a16="http://schemas.microsoft.com/office/drawing/2014/main" id="{96C82C16-2855-400A-ADCD-E44141C1BE41}"/>
              </a:ext>
            </a:extLst>
          </p:cNvPr>
          <p:cNvSpPr>
            <a:spLocks xmlns:a="http://schemas.openxmlformats.org/drawingml/2006/main" noGrp="1"/>
          </p:cNvSpPr>
          <p:nvPr/>
        </p:nvSpPr>
        <p:spPr>
          <a:xfrm xmlns:a="http://schemas.openxmlformats.org/drawingml/2006/main">
            <a:off x="8362950" y="2057400"/>
            <a:ext cx="2838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Einstweilige Anordnung · Kern</a:t>
            </a:r>
          </a:p>
        </p:txBody>
      </p:sp>
      <p:sp>
        <p:nvSpPr>
          <p:cNvPr id="13" name="">
            <a:extLst xmlns:a="http://schemas.openxmlformats.org/drawingml/2006/main">
              <a:ext uri="{FF2B5EF4-FFF2-40B4-BE49-F238E27FC236}">
                <a16:creationId xmlns:a16="http://schemas.microsoft.com/office/drawing/2014/main" id="{1AE31336-593D-44F3-AEC2-DF8F792A1564}"/>
              </a:ext>
            </a:extLst>
          </p:cNvPr>
          <p:cNvSpPr>
            <a:spLocks xmlns:a="http://schemas.openxmlformats.org/drawingml/2006/main" noGrp="1"/>
          </p:cNvSpPr>
          <p:nvPr/>
        </p:nvSpPr>
        <p:spPr>
          <a:xfrm xmlns:a="http://schemas.openxmlformats.org/drawingml/2006/main">
            <a:off x="6858000" y="2609850"/>
            <a:ext cx="4305300" cy="2533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8">
                <a:solidFill>
                  <a:srgbClr val="15232B"/>
                </a:solidFill>
              </a:defRPr>
            </a:pPr>
            <a:r>
              <a:rPr sz="1148">
                <a:solidFill>
                  <a:srgbClr val="15232B"/>
                </a:solidFill>
              </a:rPr>
              <a:t>Das Gericht kann eine einstweilige Anordnung zur Sicherung eines Rechts oder zur vorläufigen Regelung eines streitigen Rechtsverhältnisses treffen, wenn sonst die Rechtsverwirklichung vereitelt oder wesentlich erschwert werden könnte oder eine Regelung nötig erscheint.</a:t>
            </a:r>
          </a:p>
        </p:txBody>
      </p:sp>
      <p:sp>
        <p:nvSpPr>
          <p:cNvPr id="14" name="">
            <a:extLst xmlns:a="http://schemas.openxmlformats.org/drawingml/2006/main">
              <a:ext uri="{FF2B5EF4-FFF2-40B4-BE49-F238E27FC236}">
                <a16:creationId xmlns:a16="http://schemas.microsoft.com/office/drawing/2014/main" id="{97D7B3D4-86A8-40E6-B4E7-06EE23FF8AAA}"/>
              </a:ext>
            </a:extLst>
          </p:cNvPr>
          <p:cNvSpPr>
            <a:spLocks xmlns:a="http://schemas.openxmlformats.org/drawingml/2006/main" noGrp="1"/>
          </p:cNvSpPr>
          <p:nvPr/>
        </p:nvSpPr>
        <p:spPr>
          <a:xfrm xmlns:a="http://schemas.openxmlformats.org/drawingml/2006/main">
            <a:off x="1809750" y="5619750"/>
            <a:ext cx="9525000" cy="419100"/>
          </a:xfrm>
          <a:prstGeom xmlns:a="http://schemas.openxmlformats.org/drawingml/2006/main" prst="roundRect">
            <a:avLst>
              <a:gd name="adj" fmla="val 18182"/>
            </a:avLst>
          </a:prstGeom>
          <a:noFill xmlns:a="http://schemas.openxmlformats.org/drawingml/2006/main"/>
          <a:ln xmlns:a="http://schemas.openxmlformats.org/drawingml/2006/main" w="11430">
            <a:solidFill>
              <a:srgbClr val="00B2BB"/>
            </a:solidFill>
            <a:prstDash val="solid"/>
          </a:ln>
        </p:spPr>
      </p:sp>
      <p:sp>
        <p:nvSpPr>
          <p:cNvPr id="15" name="">
            <a:extLst xmlns:a="http://schemas.openxmlformats.org/drawingml/2006/main">
              <a:ext uri="{FF2B5EF4-FFF2-40B4-BE49-F238E27FC236}">
                <a16:creationId xmlns:a16="http://schemas.microsoft.com/office/drawing/2014/main" id="{817F9029-D6BD-4F35-A9FB-EA38B4A0E41C}"/>
              </a:ext>
            </a:extLst>
          </p:cNvPr>
          <p:cNvSpPr>
            <a:spLocks xmlns:a="http://schemas.openxmlformats.org/drawingml/2006/main" noGrp="1"/>
          </p:cNvSpPr>
          <p:nvPr/>
        </p:nvSpPr>
        <p:spPr>
          <a:xfrm xmlns:a="http://schemas.openxmlformats.org/drawingml/2006/main">
            <a:off x="1962150" y="5638800"/>
            <a:ext cx="9220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13" b="1">
                <a:solidFill>
                  <a:srgbClr val="003F6B"/>
                </a:solidFill>
              </a:defRPr>
            </a:pPr>
            <a:r>
              <a:rPr sz="1013" b="1">
                <a:solidFill>
                  <a:srgbClr val="003F6B"/>
                </a:solidFill>
              </a:rPr>
              <a:t>Praxislesart: Im Eilverfahren zählt Zeit: Anordnungsanspruch und Anordnungsgrund bzw. Interessenabwägung müssen glaubhaft gemacht werden.</a:t>
            </a:r>
          </a:p>
        </p:txBody>
      </p:sp>
      <p:sp>
        <p:nvSpPr>
          <p:cNvPr id="16" name="">
            <a:extLst xmlns:a="http://schemas.openxmlformats.org/drawingml/2006/main">
              <a:ext uri="{FF2B5EF4-FFF2-40B4-BE49-F238E27FC236}">
                <a16:creationId xmlns:a16="http://schemas.microsoft.com/office/drawing/2014/main" id="{71297DDF-B4C2-4FDC-B76A-CEBAC6676D07}"/>
              </a:ext>
            </a:extLst>
          </p:cNvPr>
          <p:cNvSpPr>
            <a:spLocks xmlns:a="http://schemas.openxmlformats.org/drawingml/2006/main" noGrp="1"/>
          </p:cNvSpPr>
          <p:nvPr/>
        </p:nvSpPr>
        <p:spPr>
          <a:xfrm xmlns:a="http://schemas.openxmlformats.org/drawingml/2006/main">
            <a:off x="1809750" y="535305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05">
                <a:solidFill>
                  <a:srgbClr val="667680"/>
                </a:solidFill>
              </a:defRPr>
            </a:pPr>
            <a:r>
              <a:rPr sz="705">
                <a:solidFill>
                  <a:srgbClr val="667680"/>
                </a:solidFill>
              </a:rPr>
              <a:t>BMJ/BfJ, gesetze-im-internet.de/vwgo/__80.html und /__123.html · Abruf/Stand: 20.08.2026 · https://pubmed.ncbi.nlm.nih.gov</a:t>
            </a:r>
          </a:p>
        </p:txBody>
      </p:sp>
    </p:spTree>
    <p:extLst>
      <p:ext uri="{BB962C8B-B14F-4D97-AF65-F5344CB8AC3E}">
        <p14:creationId xmlns:p14="http://schemas.microsoft.com/office/powerpoint/2010/main" val="43637646"/>
      </p:ext>
    </p:extLst>
  </p:cSld>
</p:sld>
</file>

<file path=ppt/slides/slide270.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Vier parallele Verantwortungsräume</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B071D887-495C-44A8-B4D0-6A4770B13D93}"/>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Ein Vorwurf kann gleichzeitig Arbeitsplatz, Ärztekammer, Approbationsbehörde und Gerichte erreichen.</a:t>
            </a:r>
          </a:p>
        </p:txBody>
      </p:sp>
      <p:sp>
        <p:nvSpPr>
          <p:cNvPr id="5" name="">
            <a:extLst xmlns:a="http://schemas.openxmlformats.org/drawingml/2006/main">
              <a:ext uri="{FF2B5EF4-FFF2-40B4-BE49-F238E27FC236}">
                <a16:creationId xmlns:a16="http://schemas.microsoft.com/office/drawing/2014/main" id="{A720EE52-7C8E-4017-8ABC-D3035877758A}"/>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29CF84FF-8ADA-4A4A-9607-A1FF720F5831}"/>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03BE7223-3F87-479A-9ABC-0BF1B8951943}"/>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Arbeitsrecht</a:t>
            </a:r>
          </a:p>
        </p:txBody>
      </p:sp>
      <p:sp>
        <p:nvSpPr>
          <p:cNvPr id="8" name="">
            <a:extLst xmlns:a="http://schemas.openxmlformats.org/drawingml/2006/main">
              <a:ext uri="{FF2B5EF4-FFF2-40B4-BE49-F238E27FC236}">
                <a16:creationId xmlns:a16="http://schemas.microsoft.com/office/drawing/2014/main" id="{901DFB2A-4743-4F92-8A78-39FAF8B6B86E}"/>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Der Arbeitgeber prüft Vertragspflichten, Patientensicherheit und betriebliche Maßnahmen.</a:t>
            </a:r>
          </a:p>
        </p:txBody>
      </p:sp>
      <p:sp>
        <p:nvSpPr>
          <p:cNvPr id="9" name="">
            <a:extLst xmlns:a="http://schemas.openxmlformats.org/drawingml/2006/main">
              <a:ext uri="{FF2B5EF4-FFF2-40B4-BE49-F238E27FC236}">
                <a16:creationId xmlns:a16="http://schemas.microsoft.com/office/drawing/2014/main" id="{D5597614-CDFD-403B-9BE9-1C0F8E2F16B0}"/>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4A05E706-416A-416D-9349-D5DF20F87080}"/>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7058EBAA-31B3-4DBC-88AA-2908720516FD}"/>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Berufsrecht</a:t>
            </a:r>
          </a:p>
        </p:txBody>
      </p:sp>
      <p:sp>
        <p:nvSpPr>
          <p:cNvPr id="12" name="">
            <a:extLst xmlns:a="http://schemas.openxmlformats.org/drawingml/2006/main">
              <a:ext uri="{FF2B5EF4-FFF2-40B4-BE49-F238E27FC236}">
                <a16:creationId xmlns:a16="http://schemas.microsoft.com/office/drawing/2014/main" id="{9E3697D9-639F-410E-9821-34AE28F1CDF9}"/>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Die Ärztekammer überwacht gewissenhafte Berufsausübung und weitere Berufspflichten.</a:t>
            </a:r>
          </a:p>
        </p:txBody>
      </p:sp>
      <p:sp>
        <p:nvSpPr>
          <p:cNvPr id="13" name="">
            <a:extLst xmlns:a="http://schemas.openxmlformats.org/drawingml/2006/main">
              <a:ext uri="{FF2B5EF4-FFF2-40B4-BE49-F238E27FC236}">
                <a16:creationId xmlns:a16="http://schemas.microsoft.com/office/drawing/2014/main" id="{3F518EFE-4E2D-463E-BE81-660A364C86F0}"/>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C8119F6F-6809-4330-B7A4-3066738AD71F}"/>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0B1ADF13-D0A7-4B28-81A5-2B2B9CA92C1C}"/>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Approbationsrecht</a:t>
            </a:r>
          </a:p>
        </p:txBody>
      </p:sp>
      <p:sp>
        <p:nvSpPr>
          <p:cNvPr id="16" name="">
            <a:extLst xmlns:a="http://schemas.openxmlformats.org/drawingml/2006/main">
              <a:ext uri="{FF2B5EF4-FFF2-40B4-BE49-F238E27FC236}">
                <a16:creationId xmlns:a16="http://schemas.microsoft.com/office/drawing/2014/main" id="{1951D8F5-7190-46E9-B1A8-98EB454EAC8A}"/>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Die Behörde prüft staatliche Berufszulassung, insbesondere Würdigkeit, Zuverlässigkeit und Gesundheit.</a:t>
            </a:r>
          </a:p>
        </p:txBody>
      </p:sp>
      <p:sp>
        <p:nvSpPr>
          <p:cNvPr id="17" name="">
            <a:extLst xmlns:a="http://schemas.openxmlformats.org/drawingml/2006/main">
              <a:ext uri="{FF2B5EF4-FFF2-40B4-BE49-F238E27FC236}">
                <a16:creationId xmlns:a16="http://schemas.microsoft.com/office/drawing/2014/main" id="{6FF12B16-DD0C-43BD-9562-938C5A91EF6E}"/>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D5E2366F-7A2B-444A-B70F-835170BAF0F4}"/>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5EF7EAAB-D7AC-4C13-9B55-540E7A31CBA2}"/>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Haftung/Strafe</a:t>
            </a:r>
          </a:p>
        </p:txBody>
      </p:sp>
      <p:sp>
        <p:nvSpPr>
          <p:cNvPr id="20" name="">
            <a:extLst xmlns:a="http://schemas.openxmlformats.org/drawingml/2006/main">
              <a:ext uri="{FF2B5EF4-FFF2-40B4-BE49-F238E27FC236}">
                <a16:creationId xmlns:a16="http://schemas.microsoft.com/office/drawing/2014/main" id="{AAB6B41F-1EE9-4DDC-A66A-353E32B37232}"/>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Zivilverfahren und Strafverfahren verfolgen Schadensausgleich beziehungsweise persönliche staatliche Sanktion.</a:t>
            </a:r>
          </a:p>
        </p:txBody>
      </p:sp>
      <p:sp>
        <p:nvSpPr>
          <p:cNvPr id="21" name="">
            <a:extLst xmlns:a="http://schemas.openxmlformats.org/drawingml/2006/main">
              <a:ext uri="{FF2B5EF4-FFF2-40B4-BE49-F238E27FC236}">
                <a16:creationId xmlns:a16="http://schemas.microsoft.com/office/drawing/2014/main" id="{FF16677F-34F7-46E0-A2CE-BCD34E9F1657}"/>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65AF99FA-2790-4563-B25C-6A551E8FDE21}"/>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Gleicher Sachverhalt bedeutet nicht gleiche Tatbestände, Beweise oder Rechtsfolgen.</a:t>
            </a:r>
          </a:p>
        </p:txBody>
      </p:sp>
    </p:spTree>
    <p:extLst>
      <p:ext uri="{BB962C8B-B14F-4D97-AF65-F5344CB8AC3E}">
        <p14:creationId xmlns:p14="http://schemas.microsoft.com/office/powerpoint/2010/main" val="43637646"/>
      </p:ext>
    </p:extLst>
  </p:cSld>
</p:sld>
</file>

<file path=ppt/slides/slide271.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Ärztliches Berufsrecht</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82243709-E7B5-4EEE-B949-37BB90454930}"/>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Berufsrecht konkretisiert besondere Pflichten des freien Heilberufs und schützt Vertrauen, Qualität und Ansehen.</a:t>
            </a:r>
          </a:p>
        </p:txBody>
      </p:sp>
      <p:sp>
        <p:nvSpPr>
          <p:cNvPr id="5" name="">
            <a:extLst xmlns:a="http://schemas.openxmlformats.org/drawingml/2006/main">
              <a:ext uri="{FF2B5EF4-FFF2-40B4-BE49-F238E27FC236}">
                <a16:creationId xmlns:a16="http://schemas.microsoft.com/office/drawing/2014/main" id="{24067D1F-9884-43B4-A12B-D84A89597375}"/>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04ED8FF4-8217-41FE-AD05-DADD00980035}"/>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FB92D9E9-55CC-47E4-B684-A9C840158876}"/>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Rechtsquellen</a:t>
            </a:r>
          </a:p>
        </p:txBody>
      </p:sp>
      <p:sp>
        <p:nvSpPr>
          <p:cNvPr id="8" name="">
            <a:extLst xmlns:a="http://schemas.openxmlformats.org/drawingml/2006/main">
              <a:ext uri="{FF2B5EF4-FFF2-40B4-BE49-F238E27FC236}">
                <a16:creationId xmlns:a16="http://schemas.microsoft.com/office/drawing/2014/main" id="{8426D495-57E4-4957-9B73-B389DF425224}"/>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Niedersächsisches Kammergesetz und Berufsordnung der Ärztekammer bilden die zentrale Grundlage.</a:t>
            </a:r>
          </a:p>
        </p:txBody>
      </p:sp>
      <p:sp>
        <p:nvSpPr>
          <p:cNvPr id="9" name="">
            <a:extLst xmlns:a="http://schemas.openxmlformats.org/drawingml/2006/main">
              <a:ext uri="{FF2B5EF4-FFF2-40B4-BE49-F238E27FC236}">
                <a16:creationId xmlns:a16="http://schemas.microsoft.com/office/drawing/2014/main" id="{F34800C4-F699-40DF-950F-9FA832BC63D7}"/>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44951572-F695-4B11-BFC8-AD84D827835F}"/>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C2047903-4A69-430C-8DF8-CDA8420E6998}"/>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Pflichten</a:t>
            </a:r>
          </a:p>
        </p:txBody>
      </p:sp>
      <p:sp>
        <p:nvSpPr>
          <p:cNvPr id="12" name="">
            <a:extLst xmlns:a="http://schemas.openxmlformats.org/drawingml/2006/main">
              <a:ext uri="{FF2B5EF4-FFF2-40B4-BE49-F238E27FC236}">
                <a16:creationId xmlns:a16="http://schemas.microsoft.com/office/drawing/2014/main" id="{E78A6A3A-68AE-420F-A6EC-A184FC9FA3AE}"/>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Gewissenhafte Berufsausübung, Fortbildung, Schweigepflicht, Dokumentation, Kollegialität und angemessene Information werden geregelt.</a:t>
            </a:r>
          </a:p>
        </p:txBody>
      </p:sp>
      <p:sp>
        <p:nvSpPr>
          <p:cNvPr id="13" name="">
            <a:extLst xmlns:a="http://schemas.openxmlformats.org/drawingml/2006/main">
              <a:ext uri="{FF2B5EF4-FFF2-40B4-BE49-F238E27FC236}">
                <a16:creationId xmlns:a16="http://schemas.microsoft.com/office/drawing/2014/main" id="{2CD52D84-564E-4E61-86DA-2811BE7C789F}"/>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27324E3E-5870-48F6-A951-E6904FB60903}"/>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33955A25-DFAA-4E87-836D-4FB29A37622C}"/>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Aufsicht</a:t>
            </a:r>
          </a:p>
        </p:txBody>
      </p:sp>
      <p:sp>
        <p:nvSpPr>
          <p:cNvPr id="16" name="">
            <a:extLst xmlns:a="http://schemas.openxmlformats.org/drawingml/2006/main">
              <a:ext uri="{FF2B5EF4-FFF2-40B4-BE49-F238E27FC236}">
                <a16:creationId xmlns:a16="http://schemas.microsoft.com/office/drawing/2014/main" id="{276180CB-3252-4815-9894-5D990B63D7CD}"/>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Die Kammer kann Sachverhalte aufklären und berufsrechtliche Maßnahmen einleiten.</a:t>
            </a:r>
          </a:p>
        </p:txBody>
      </p:sp>
      <p:sp>
        <p:nvSpPr>
          <p:cNvPr id="17" name="">
            <a:extLst xmlns:a="http://schemas.openxmlformats.org/drawingml/2006/main">
              <a:ext uri="{FF2B5EF4-FFF2-40B4-BE49-F238E27FC236}">
                <a16:creationId xmlns:a16="http://schemas.microsoft.com/office/drawing/2014/main" id="{AD21AB1B-18AC-4422-86C4-70E6ED3D8136}"/>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DEF136E6-3F99-4A9E-BBED-8A26FD6E1E3C}"/>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5100F221-DB20-4314-8834-0EA51415C4EF}"/>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Berufsgericht</a:t>
            </a:r>
          </a:p>
        </p:txBody>
      </p:sp>
      <p:sp>
        <p:nvSpPr>
          <p:cNvPr id="20" name="">
            <a:extLst xmlns:a="http://schemas.openxmlformats.org/drawingml/2006/main">
              <a:ext uri="{FF2B5EF4-FFF2-40B4-BE49-F238E27FC236}">
                <a16:creationId xmlns:a16="http://schemas.microsoft.com/office/drawing/2014/main" id="{AF344623-D7F9-4C7B-A207-2C57143D214E}"/>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Schwere oder streitige Pflichtverletzungen können in ein berufsgerichtliches Verfahren münden.</a:t>
            </a:r>
          </a:p>
        </p:txBody>
      </p:sp>
      <p:sp>
        <p:nvSpPr>
          <p:cNvPr id="21" name="">
            <a:extLst xmlns:a="http://schemas.openxmlformats.org/drawingml/2006/main">
              <a:ext uri="{FF2B5EF4-FFF2-40B4-BE49-F238E27FC236}">
                <a16:creationId xmlns:a16="http://schemas.microsoft.com/office/drawing/2014/main" id="{6CF721F3-0597-4BB8-801D-2C1A81CBB4D1}"/>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D66AA5B9-C6B0-4CBA-BC79-40A2EEB6BA51}"/>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Berufsrecht fragt nach berufswürdigem Verhalten, nicht primär nach Schadensersatz.</a:t>
            </a:r>
          </a:p>
        </p:txBody>
      </p:sp>
    </p:spTree>
    <p:extLst>
      <p:ext uri="{BB962C8B-B14F-4D97-AF65-F5344CB8AC3E}">
        <p14:creationId xmlns:p14="http://schemas.microsoft.com/office/powerpoint/2010/main" val="43637646"/>
      </p:ext>
    </p:extLst>
  </p:cSld>
</p:sld>
</file>

<file path=ppt/slides/slide272.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Vom Hinweis zum Berufsgericht</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VERFAHREN VERSTEHEN</a:t>
            </a:r>
            <a:endParaRPr/>
          </a:p>
        </p:txBody>
      </p:sp>
      <p:sp>
        <p:nvSpPr>
          <p:cNvPr id="4" name="">
            <a:extLst xmlns:a="http://schemas.openxmlformats.org/drawingml/2006/main">
              <a:ext uri="{FF2B5EF4-FFF2-40B4-BE49-F238E27FC236}">
                <a16:creationId xmlns:a16="http://schemas.microsoft.com/office/drawing/2014/main" id="{DB8A3477-E0DE-4888-8ED9-3CC2415E0956}"/>
              </a:ext>
            </a:extLst>
          </p:cNvPr>
          <p:cNvSpPr>
            <a:spLocks xmlns:a="http://schemas.openxmlformats.org/drawingml/2006/main" noGrp="1"/>
          </p:cNvSpPr>
          <p:nvPr/>
        </p:nvSpPr>
        <p:spPr>
          <a:xfrm xmlns:a="http://schemas.openxmlformats.org/drawingml/2006/main">
            <a:off x="1809750" y="1885950"/>
            <a:ext cx="9525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15">
                <a:solidFill>
                  <a:srgbClr val="667680"/>
                </a:solidFill>
              </a:defRPr>
            </a:pPr>
            <a:r>
              <a:rPr sz="1215">
                <a:solidFill>
                  <a:srgbClr val="667680"/>
                </a:solidFill>
              </a:rPr>
              <a:t>Der konkrete Ablauf richtet sich nach Landesrecht und Satzungen; typischerweise folgen mehrere Stufen.</a:t>
            </a:r>
          </a:p>
        </p:txBody>
      </p:sp>
      <p:sp>
        <p:nvSpPr>
          <p:cNvPr id="5" name="">
            <a:extLst xmlns:a="http://schemas.openxmlformats.org/drawingml/2006/main">
              <a:ext uri="{FF2B5EF4-FFF2-40B4-BE49-F238E27FC236}">
                <a16:creationId xmlns:a16="http://schemas.microsoft.com/office/drawing/2014/main" id="{301553F5-270B-4B44-A219-398BE9F5A5A4}"/>
              </a:ext>
            </a:extLst>
          </p:cNvPr>
          <p:cNvSpPr>
            <a:spLocks xmlns:a="http://schemas.openxmlformats.org/drawingml/2006/main" noGrp="1"/>
          </p:cNvSpPr>
          <p:nvPr/>
        </p:nvSpPr>
        <p:spPr>
          <a:xfrm xmlns:a="http://schemas.openxmlformats.org/drawingml/2006/main">
            <a:off x="1981200" y="2952750"/>
            <a:ext cx="9182100" cy="0"/>
          </a:xfrm>
          <a:prstGeom xmlns:a="http://schemas.openxmlformats.org/drawingml/2006/main" prst="line">
            <a:avLst/>
          </a:prstGeom>
          <a:noFill xmlns:a="http://schemas.openxmlformats.org/drawingml/2006/main"/>
          <a:ln xmlns:a="http://schemas.openxmlformats.org/drawingml/2006/main" w="28575">
            <a:solidFill>
              <a:srgbClr val="B9CAD2"/>
            </a:solidFill>
            <a:prstDash val="solid"/>
          </a:ln>
        </p:spPr>
      </p:sp>
      <p:sp>
        <p:nvSpPr>
          <p:cNvPr id="6" name="">
            <a:extLst xmlns:a="http://schemas.openxmlformats.org/drawingml/2006/main">
              <a:ext uri="{FF2B5EF4-FFF2-40B4-BE49-F238E27FC236}">
                <a16:creationId xmlns:a16="http://schemas.microsoft.com/office/drawing/2014/main" id="{F5C1637A-DC5C-4D32-B09F-3EF3832F109D}"/>
              </a:ext>
            </a:extLst>
          </p:cNvPr>
          <p:cNvSpPr>
            <a:spLocks xmlns:a="http://schemas.openxmlformats.org/drawingml/2006/main" noGrp="1"/>
          </p:cNvSpPr>
          <p:nvPr/>
        </p:nvSpPr>
        <p:spPr>
          <a:xfrm xmlns:a="http://schemas.openxmlformats.org/drawingml/2006/main">
            <a:off x="1809750" y="2495550"/>
            <a:ext cx="1828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Eingang</a:t>
            </a:r>
          </a:p>
        </p:txBody>
      </p:sp>
      <p:sp>
        <p:nvSpPr>
          <p:cNvPr id="7" name="">
            <a:extLst xmlns:a="http://schemas.openxmlformats.org/drawingml/2006/main">
              <a:ext uri="{FF2B5EF4-FFF2-40B4-BE49-F238E27FC236}">
                <a16:creationId xmlns:a16="http://schemas.microsoft.com/office/drawing/2014/main" id="{C70B8C16-974F-4A26-A468-AB1B04BFE465}"/>
              </a:ext>
            </a:extLst>
          </p:cNvPr>
          <p:cNvSpPr>
            <a:spLocks xmlns:a="http://schemas.openxmlformats.org/drawingml/2006/main" noGrp="1"/>
          </p:cNvSpPr>
          <p:nvPr/>
        </p:nvSpPr>
        <p:spPr>
          <a:xfrm xmlns:a="http://schemas.openxmlformats.org/drawingml/2006/main">
            <a:off x="2600325" y="2838450"/>
            <a:ext cx="247650" cy="247650"/>
          </a:xfrm>
          <a:prstGeom xmlns:a="http://schemas.openxmlformats.org/drawingml/2006/main" prst="ellipse">
            <a:avLst/>
          </a:prstGeom>
          <a:solidFill xmlns:a="http://schemas.openxmlformats.org/drawingml/2006/main">
            <a:srgbClr val="003F6B"/>
          </a:solidFill>
          <a:ln xmlns:a="http://schemas.openxmlformats.org/drawingml/2006/main" w="19050">
            <a:solidFill>
              <a:srgbClr val="FFFFFF"/>
            </a:solidFill>
            <a:prstDash val="solid"/>
          </a:ln>
        </p:spPr>
      </p:sp>
      <p:sp>
        <p:nvSpPr>
          <p:cNvPr id="8" name="">
            <a:extLst xmlns:a="http://schemas.openxmlformats.org/drawingml/2006/main">
              <a:ext uri="{FF2B5EF4-FFF2-40B4-BE49-F238E27FC236}">
                <a16:creationId xmlns:a16="http://schemas.microsoft.com/office/drawing/2014/main" id="{7DE952BA-D9E8-41C2-A13B-721E09DC7296}"/>
              </a:ext>
            </a:extLst>
          </p:cNvPr>
          <p:cNvSpPr>
            <a:spLocks xmlns:a="http://schemas.openxmlformats.org/drawingml/2006/main" noGrp="1"/>
          </p:cNvSpPr>
          <p:nvPr/>
        </p:nvSpPr>
        <p:spPr>
          <a:xfrm xmlns:a="http://schemas.openxmlformats.org/drawingml/2006/main">
            <a:off x="1809750" y="3219450"/>
            <a:ext cx="1828800" cy="2000250"/>
          </a:xfrm>
          <a:prstGeom xmlns:a="http://schemas.openxmlformats.org/drawingml/2006/main" prst="roundRect">
            <a:avLst>
              <a:gd name="adj" fmla="val 4167"/>
            </a:avLst>
          </a:prstGeom>
          <a:noFill xmlns:a="http://schemas.openxmlformats.org/drawingml/2006/main"/>
          <a:ln xmlns:a="http://schemas.openxmlformats.org/drawingml/2006/main" w="9525">
            <a:solidFill>
              <a:srgbClr val="00B2BB"/>
            </a:solidFill>
            <a:prstDash val="solid"/>
          </a:ln>
        </p:spPr>
      </p:sp>
      <p:sp>
        <p:nvSpPr>
          <p:cNvPr id="9" name="">
            <a:extLst xmlns:a="http://schemas.openxmlformats.org/drawingml/2006/main">
              <a:ext uri="{FF2B5EF4-FFF2-40B4-BE49-F238E27FC236}">
                <a16:creationId xmlns:a16="http://schemas.microsoft.com/office/drawing/2014/main" id="{C274748B-50CB-4DD6-91F9-7E0B2953DC53}"/>
              </a:ext>
            </a:extLst>
          </p:cNvPr>
          <p:cNvSpPr>
            <a:spLocks xmlns:a="http://schemas.openxmlformats.org/drawingml/2006/main" noGrp="1"/>
          </p:cNvSpPr>
          <p:nvPr/>
        </p:nvSpPr>
        <p:spPr>
          <a:xfrm xmlns:a="http://schemas.openxmlformats.org/drawingml/2006/main">
            <a:off x="1905000" y="3314700"/>
            <a:ext cx="16383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Beschwerde, Mitteilung oder eigenes Bekanntwerden löst eine Vorprüfung bei Kammer oder zuständiger Stelle aus.</a:t>
            </a:r>
          </a:p>
        </p:txBody>
      </p:sp>
      <p:sp>
        <p:nvSpPr>
          <p:cNvPr id="10" name="">
            <a:extLst xmlns:a="http://schemas.openxmlformats.org/drawingml/2006/main">
              <a:ext uri="{FF2B5EF4-FFF2-40B4-BE49-F238E27FC236}">
                <a16:creationId xmlns:a16="http://schemas.microsoft.com/office/drawing/2014/main" id="{500B958B-C05D-484D-9D78-4E525B4FAAC0}"/>
              </a:ext>
            </a:extLst>
          </p:cNvPr>
          <p:cNvSpPr>
            <a:spLocks xmlns:a="http://schemas.openxmlformats.org/drawingml/2006/main" noGrp="1"/>
          </p:cNvSpPr>
          <p:nvPr/>
        </p:nvSpPr>
        <p:spPr>
          <a:xfrm xmlns:a="http://schemas.openxmlformats.org/drawingml/2006/main">
            <a:off x="3733800" y="2495550"/>
            <a:ext cx="1828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Anhörung und Ermittlungen</a:t>
            </a:r>
          </a:p>
        </p:txBody>
      </p:sp>
      <p:sp>
        <p:nvSpPr>
          <p:cNvPr id="11" name="">
            <a:extLst xmlns:a="http://schemas.openxmlformats.org/drawingml/2006/main">
              <a:ext uri="{FF2B5EF4-FFF2-40B4-BE49-F238E27FC236}">
                <a16:creationId xmlns:a16="http://schemas.microsoft.com/office/drawing/2014/main" id="{FCC192D2-5675-49AF-AE68-A3953EBA9EEA}"/>
              </a:ext>
            </a:extLst>
          </p:cNvPr>
          <p:cNvSpPr>
            <a:spLocks xmlns:a="http://schemas.openxmlformats.org/drawingml/2006/main" noGrp="1"/>
          </p:cNvSpPr>
          <p:nvPr/>
        </p:nvSpPr>
        <p:spPr>
          <a:xfrm xmlns:a="http://schemas.openxmlformats.org/drawingml/2006/main">
            <a:off x="4524375" y="2838450"/>
            <a:ext cx="247650" cy="24765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12" name="">
            <a:extLst xmlns:a="http://schemas.openxmlformats.org/drawingml/2006/main">
              <a:ext uri="{FF2B5EF4-FFF2-40B4-BE49-F238E27FC236}">
                <a16:creationId xmlns:a16="http://schemas.microsoft.com/office/drawing/2014/main" id="{A258D231-1EDE-4C0B-8BDE-719E2B07A117}"/>
              </a:ext>
            </a:extLst>
          </p:cNvPr>
          <p:cNvSpPr>
            <a:spLocks xmlns:a="http://schemas.openxmlformats.org/drawingml/2006/main" noGrp="1"/>
          </p:cNvSpPr>
          <p:nvPr/>
        </p:nvSpPr>
        <p:spPr>
          <a:xfrm xmlns:a="http://schemas.openxmlformats.org/drawingml/2006/main">
            <a:off x="3733800" y="3219450"/>
            <a:ext cx="1828800" cy="2000250"/>
          </a:xfrm>
          <a:prstGeom xmlns:a="http://schemas.openxmlformats.org/drawingml/2006/main" prst="roundRect">
            <a:avLst>
              <a:gd name="adj" fmla="val 4167"/>
            </a:avLst>
          </a:prstGeom>
          <a:noFill xmlns:a="http://schemas.openxmlformats.org/drawingml/2006/main"/>
          <a:ln xmlns:a="http://schemas.openxmlformats.org/drawingml/2006/main" w="9525">
            <a:solidFill>
              <a:srgbClr val="003F6B"/>
            </a:solidFill>
            <a:prstDash val="solid"/>
          </a:ln>
        </p:spPr>
      </p:sp>
      <p:sp>
        <p:nvSpPr>
          <p:cNvPr id="13" name="">
            <a:extLst xmlns:a="http://schemas.openxmlformats.org/drawingml/2006/main">
              <a:ext uri="{FF2B5EF4-FFF2-40B4-BE49-F238E27FC236}">
                <a16:creationId xmlns:a16="http://schemas.microsoft.com/office/drawing/2014/main" id="{9ADAF301-9063-4BB2-919C-69DBB846E49F}"/>
              </a:ext>
            </a:extLst>
          </p:cNvPr>
          <p:cNvSpPr>
            <a:spLocks xmlns:a="http://schemas.openxmlformats.org/drawingml/2006/main" noGrp="1"/>
          </p:cNvSpPr>
          <p:nvPr/>
        </p:nvSpPr>
        <p:spPr>
          <a:xfrm xmlns:a="http://schemas.openxmlformats.org/drawingml/2006/main">
            <a:off x="3829050" y="3314700"/>
            <a:ext cx="16383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Betroffene erhalten Gelegenheit zur Stellungnahme; Akten und weitere Informationen werden beigezogen.</a:t>
            </a:r>
          </a:p>
        </p:txBody>
      </p:sp>
      <p:sp>
        <p:nvSpPr>
          <p:cNvPr id="14" name="">
            <a:extLst xmlns:a="http://schemas.openxmlformats.org/drawingml/2006/main">
              <a:ext uri="{FF2B5EF4-FFF2-40B4-BE49-F238E27FC236}">
                <a16:creationId xmlns:a16="http://schemas.microsoft.com/office/drawing/2014/main" id="{B60B15CA-9A7A-46D5-AAC5-05BC200632F7}"/>
              </a:ext>
            </a:extLst>
          </p:cNvPr>
          <p:cNvSpPr>
            <a:spLocks xmlns:a="http://schemas.openxmlformats.org/drawingml/2006/main" noGrp="1"/>
          </p:cNvSpPr>
          <p:nvPr/>
        </p:nvSpPr>
        <p:spPr>
          <a:xfrm xmlns:a="http://schemas.openxmlformats.org/drawingml/2006/main">
            <a:off x="5657850" y="2495550"/>
            <a:ext cx="1828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Berufsrechtliche Bewertung</a:t>
            </a:r>
          </a:p>
        </p:txBody>
      </p:sp>
      <p:sp>
        <p:nvSpPr>
          <p:cNvPr id="15" name="">
            <a:extLst xmlns:a="http://schemas.openxmlformats.org/drawingml/2006/main">
              <a:ext uri="{FF2B5EF4-FFF2-40B4-BE49-F238E27FC236}">
                <a16:creationId xmlns:a16="http://schemas.microsoft.com/office/drawing/2014/main" id="{EF1D4365-2157-4E31-AEB3-DB0B44250B9F}"/>
              </a:ext>
            </a:extLst>
          </p:cNvPr>
          <p:cNvSpPr>
            <a:spLocks xmlns:a="http://schemas.openxmlformats.org/drawingml/2006/main" noGrp="1"/>
          </p:cNvSpPr>
          <p:nvPr/>
        </p:nvSpPr>
        <p:spPr>
          <a:xfrm xmlns:a="http://schemas.openxmlformats.org/drawingml/2006/main">
            <a:off x="6448425" y="2838450"/>
            <a:ext cx="247650" cy="24765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16" name="">
            <a:extLst xmlns:a="http://schemas.openxmlformats.org/drawingml/2006/main">
              <a:ext uri="{FF2B5EF4-FFF2-40B4-BE49-F238E27FC236}">
                <a16:creationId xmlns:a16="http://schemas.microsoft.com/office/drawing/2014/main" id="{4CC287B5-B0C5-41BB-801B-9300933F4625}"/>
              </a:ext>
            </a:extLst>
          </p:cNvPr>
          <p:cNvSpPr>
            <a:spLocks xmlns:a="http://schemas.openxmlformats.org/drawingml/2006/main" noGrp="1"/>
          </p:cNvSpPr>
          <p:nvPr/>
        </p:nvSpPr>
        <p:spPr>
          <a:xfrm xmlns:a="http://schemas.openxmlformats.org/drawingml/2006/main">
            <a:off x="5657850" y="3219450"/>
            <a:ext cx="1828800" cy="2000250"/>
          </a:xfrm>
          <a:prstGeom xmlns:a="http://schemas.openxmlformats.org/drawingml/2006/main" prst="roundRect">
            <a:avLst>
              <a:gd name="adj" fmla="val 4167"/>
            </a:avLst>
          </a:prstGeom>
          <a:noFill xmlns:a="http://schemas.openxmlformats.org/drawingml/2006/main"/>
          <a:ln xmlns:a="http://schemas.openxmlformats.org/drawingml/2006/main" w="9525">
            <a:solidFill>
              <a:srgbClr val="00B2BB"/>
            </a:solidFill>
            <a:prstDash val="solid"/>
          </a:ln>
        </p:spPr>
      </p:sp>
      <p:sp>
        <p:nvSpPr>
          <p:cNvPr id="17" name="">
            <a:extLst xmlns:a="http://schemas.openxmlformats.org/drawingml/2006/main">
              <a:ext uri="{FF2B5EF4-FFF2-40B4-BE49-F238E27FC236}">
                <a16:creationId xmlns:a16="http://schemas.microsoft.com/office/drawing/2014/main" id="{604CEFB8-1940-4B49-AFB8-83F3BAE51C03}"/>
              </a:ext>
            </a:extLst>
          </p:cNvPr>
          <p:cNvSpPr>
            <a:spLocks xmlns:a="http://schemas.openxmlformats.org/drawingml/2006/main" noGrp="1"/>
          </p:cNvSpPr>
          <p:nvPr/>
        </p:nvSpPr>
        <p:spPr>
          <a:xfrm xmlns:a="http://schemas.openxmlformats.org/drawingml/2006/main">
            <a:off x="5753100" y="3314700"/>
            <a:ext cx="16383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Es wird geprüft, welche Berufspflicht konkret verletzt und wie schwer der Verstoß ist.</a:t>
            </a:r>
          </a:p>
        </p:txBody>
      </p:sp>
      <p:sp>
        <p:nvSpPr>
          <p:cNvPr id="18" name="">
            <a:extLst xmlns:a="http://schemas.openxmlformats.org/drawingml/2006/main">
              <a:ext uri="{FF2B5EF4-FFF2-40B4-BE49-F238E27FC236}">
                <a16:creationId xmlns:a16="http://schemas.microsoft.com/office/drawing/2014/main" id="{6FBB4DDD-814F-4D6C-898F-2A9173556316}"/>
              </a:ext>
            </a:extLst>
          </p:cNvPr>
          <p:cNvSpPr>
            <a:spLocks xmlns:a="http://schemas.openxmlformats.org/drawingml/2006/main" noGrp="1"/>
          </p:cNvSpPr>
          <p:nvPr/>
        </p:nvSpPr>
        <p:spPr>
          <a:xfrm xmlns:a="http://schemas.openxmlformats.org/drawingml/2006/main">
            <a:off x="7581900" y="2495550"/>
            <a:ext cx="1828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Maßnahme oder Antrag</a:t>
            </a:r>
          </a:p>
        </p:txBody>
      </p:sp>
      <p:sp>
        <p:nvSpPr>
          <p:cNvPr id="19" name="">
            <a:extLst xmlns:a="http://schemas.openxmlformats.org/drawingml/2006/main">
              <a:ext uri="{FF2B5EF4-FFF2-40B4-BE49-F238E27FC236}">
                <a16:creationId xmlns:a16="http://schemas.microsoft.com/office/drawing/2014/main" id="{56708E57-2843-4D5C-85D8-1D6B6B09AF45}"/>
              </a:ext>
            </a:extLst>
          </p:cNvPr>
          <p:cNvSpPr>
            <a:spLocks xmlns:a="http://schemas.openxmlformats.org/drawingml/2006/main" noGrp="1"/>
          </p:cNvSpPr>
          <p:nvPr/>
        </p:nvSpPr>
        <p:spPr>
          <a:xfrm xmlns:a="http://schemas.openxmlformats.org/drawingml/2006/main">
            <a:off x="8372475" y="2838450"/>
            <a:ext cx="247650" cy="24765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20" name="">
            <a:extLst xmlns:a="http://schemas.openxmlformats.org/drawingml/2006/main">
              <a:ext uri="{FF2B5EF4-FFF2-40B4-BE49-F238E27FC236}">
                <a16:creationId xmlns:a16="http://schemas.microsoft.com/office/drawing/2014/main" id="{FD54C2F7-2B8C-4ADD-BBC0-BD366994DA82}"/>
              </a:ext>
            </a:extLst>
          </p:cNvPr>
          <p:cNvSpPr>
            <a:spLocks xmlns:a="http://schemas.openxmlformats.org/drawingml/2006/main" noGrp="1"/>
          </p:cNvSpPr>
          <p:nvPr/>
        </p:nvSpPr>
        <p:spPr>
          <a:xfrm xmlns:a="http://schemas.openxmlformats.org/drawingml/2006/main">
            <a:off x="7581900" y="3219450"/>
            <a:ext cx="1828800" cy="2000250"/>
          </a:xfrm>
          <a:prstGeom xmlns:a="http://schemas.openxmlformats.org/drawingml/2006/main" prst="roundRect">
            <a:avLst>
              <a:gd name="adj" fmla="val 4167"/>
            </a:avLst>
          </a:prstGeom>
          <a:noFill xmlns:a="http://schemas.openxmlformats.org/drawingml/2006/main"/>
          <a:ln xmlns:a="http://schemas.openxmlformats.org/drawingml/2006/main" w="9525">
            <a:solidFill>
              <a:srgbClr val="003F6B"/>
            </a:solidFill>
            <a:prstDash val="solid"/>
          </a:ln>
        </p:spPr>
      </p:sp>
      <p:sp>
        <p:nvSpPr>
          <p:cNvPr id="21" name="">
            <a:extLst xmlns:a="http://schemas.openxmlformats.org/drawingml/2006/main">
              <a:ext uri="{FF2B5EF4-FFF2-40B4-BE49-F238E27FC236}">
                <a16:creationId xmlns:a16="http://schemas.microsoft.com/office/drawing/2014/main" id="{735D5B7D-0854-4698-BF09-5A58454FD8F3}"/>
              </a:ext>
            </a:extLst>
          </p:cNvPr>
          <p:cNvSpPr>
            <a:spLocks xmlns:a="http://schemas.openxmlformats.org/drawingml/2006/main" noGrp="1"/>
          </p:cNvSpPr>
          <p:nvPr/>
        </p:nvSpPr>
        <p:spPr>
          <a:xfrm xmlns:a="http://schemas.openxmlformats.org/drawingml/2006/main">
            <a:off x="7677150" y="3314700"/>
            <a:ext cx="16383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Je nach Rechtslage kommen Hinweise, Rügen oder ein berufsgerichtliches Verfahren in Betracht.</a:t>
            </a:r>
          </a:p>
        </p:txBody>
      </p:sp>
      <p:sp>
        <p:nvSpPr>
          <p:cNvPr id="22" name="">
            <a:extLst xmlns:a="http://schemas.openxmlformats.org/drawingml/2006/main">
              <a:ext uri="{FF2B5EF4-FFF2-40B4-BE49-F238E27FC236}">
                <a16:creationId xmlns:a16="http://schemas.microsoft.com/office/drawing/2014/main" id="{8F35E5CD-B69A-41D8-906B-4E4E8984195B}"/>
              </a:ext>
            </a:extLst>
          </p:cNvPr>
          <p:cNvSpPr>
            <a:spLocks xmlns:a="http://schemas.openxmlformats.org/drawingml/2006/main" noGrp="1"/>
          </p:cNvSpPr>
          <p:nvPr/>
        </p:nvSpPr>
        <p:spPr>
          <a:xfrm xmlns:a="http://schemas.openxmlformats.org/drawingml/2006/main">
            <a:off x="9505950" y="2495550"/>
            <a:ext cx="1828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Berufsgerichtliche Entscheidung</a:t>
            </a:r>
          </a:p>
        </p:txBody>
      </p:sp>
      <p:sp>
        <p:nvSpPr>
          <p:cNvPr id="23" name="">
            <a:extLst xmlns:a="http://schemas.openxmlformats.org/drawingml/2006/main">
              <a:ext uri="{FF2B5EF4-FFF2-40B4-BE49-F238E27FC236}">
                <a16:creationId xmlns:a16="http://schemas.microsoft.com/office/drawing/2014/main" id="{3A964D18-9605-4760-85FC-769C36C121D6}"/>
              </a:ext>
            </a:extLst>
          </p:cNvPr>
          <p:cNvSpPr>
            <a:spLocks xmlns:a="http://schemas.openxmlformats.org/drawingml/2006/main" noGrp="1"/>
          </p:cNvSpPr>
          <p:nvPr/>
        </p:nvSpPr>
        <p:spPr>
          <a:xfrm xmlns:a="http://schemas.openxmlformats.org/drawingml/2006/main">
            <a:off x="10296525" y="2838450"/>
            <a:ext cx="247650" cy="24765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24" name="">
            <a:extLst xmlns:a="http://schemas.openxmlformats.org/drawingml/2006/main">
              <a:ext uri="{FF2B5EF4-FFF2-40B4-BE49-F238E27FC236}">
                <a16:creationId xmlns:a16="http://schemas.microsoft.com/office/drawing/2014/main" id="{B6394A76-85A1-46B2-A47D-2555E7EAD32C}"/>
              </a:ext>
            </a:extLst>
          </p:cNvPr>
          <p:cNvSpPr>
            <a:spLocks xmlns:a="http://schemas.openxmlformats.org/drawingml/2006/main" noGrp="1"/>
          </p:cNvSpPr>
          <p:nvPr/>
        </p:nvSpPr>
        <p:spPr>
          <a:xfrm xmlns:a="http://schemas.openxmlformats.org/drawingml/2006/main">
            <a:off x="9505950" y="3219450"/>
            <a:ext cx="1828800" cy="2000250"/>
          </a:xfrm>
          <a:prstGeom xmlns:a="http://schemas.openxmlformats.org/drawingml/2006/main" prst="roundRect">
            <a:avLst>
              <a:gd name="adj" fmla="val 4167"/>
            </a:avLst>
          </a:prstGeom>
          <a:noFill xmlns:a="http://schemas.openxmlformats.org/drawingml/2006/main"/>
          <a:ln xmlns:a="http://schemas.openxmlformats.org/drawingml/2006/main" w="9525">
            <a:solidFill>
              <a:srgbClr val="00B2BB"/>
            </a:solidFill>
            <a:prstDash val="solid"/>
          </a:ln>
        </p:spPr>
      </p:sp>
      <p:sp>
        <p:nvSpPr>
          <p:cNvPr id="25" name="">
            <a:extLst xmlns:a="http://schemas.openxmlformats.org/drawingml/2006/main">
              <a:ext uri="{FF2B5EF4-FFF2-40B4-BE49-F238E27FC236}">
                <a16:creationId xmlns:a16="http://schemas.microsoft.com/office/drawing/2014/main" id="{7E1F84B1-7ED0-4C05-99C4-F2D714F50042}"/>
              </a:ext>
            </a:extLst>
          </p:cNvPr>
          <p:cNvSpPr>
            <a:spLocks xmlns:a="http://schemas.openxmlformats.org/drawingml/2006/main" noGrp="1"/>
          </p:cNvSpPr>
          <p:nvPr/>
        </p:nvSpPr>
        <p:spPr>
          <a:xfrm xmlns:a="http://schemas.openxmlformats.org/drawingml/2006/main">
            <a:off x="9601200" y="3314700"/>
            <a:ext cx="16383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Das Gericht kann gesetzliche Maßnahmen verhängen; Rechtsbehelfe richten sich nach dem HKG.</a:t>
            </a:r>
          </a:p>
        </p:txBody>
      </p:sp>
      <p:sp>
        <p:nvSpPr>
          <p:cNvPr id="26" name="">
            <a:extLst xmlns:a="http://schemas.openxmlformats.org/drawingml/2006/main">
              <a:ext uri="{FF2B5EF4-FFF2-40B4-BE49-F238E27FC236}">
                <a16:creationId xmlns:a16="http://schemas.microsoft.com/office/drawing/2014/main" id="{68EDFAE5-9166-4D4D-949C-8B6296EC8618}"/>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7" name="">
            <a:extLst xmlns:a="http://schemas.openxmlformats.org/drawingml/2006/main">
              <a:ext uri="{FF2B5EF4-FFF2-40B4-BE49-F238E27FC236}">
                <a16:creationId xmlns:a16="http://schemas.microsoft.com/office/drawing/2014/main" id="{B276F539-5F8D-4BB2-925C-F011979AE3AA}"/>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Vor einer Stellungnahme werden Vorwurf, Akteneinsicht, Schweigerecht und Schnittstellen zu Strafverfahren geklärt.</a:t>
            </a:r>
          </a:p>
        </p:txBody>
      </p:sp>
    </p:spTree>
    <p:extLst>
      <p:ext uri="{BB962C8B-B14F-4D97-AF65-F5344CB8AC3E}">
        <p14:creationId xmlns:p14="http://schemas.microsoft.com/office/powerpoint/2010/main" val="43637646"/>
      </p:ext>
    </p:extLst>
  </p:cSld>
</p:sld>
</file>

<file path=ppt/slides/slide273.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Approbation: Erteilungsvoraussetzungen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B181D4D8-3783-4624-9B11-CC01CE39A3A3}"/>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Die Approbation ist die staatliche, grundsätzlich unbefristete Erlaubnis zur ärztlichen Berufsausübung.</a:t>
            </a:r>
          </a:p>
        </p:txBody>
      </p:sp>
      <p:sp>
        <p:nvSpPr>
          <p:cNvPr id="5" name="">
            <a:extLst xmlns:a="http://schemas.openxmlformats.org/drawingml/2006/main">
              <a:ext uri="{FF2B5EF4-FFF2-40B4-BE49-F238E27FC236}">
                <a16:creationId xmlns:a16="http://schemas.microsoft.com/office/drawing/2014/main" id="{411B2EB9-DB15-4341-B79A-9A9D1216FA07}"/>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07A7D643-C696-47CC-BD3F-A75DA9911112}"/>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2C644F9C-D711-420E-9B35-A6A1FDBF3242}"/>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Ausbildung</a:t>
            </a:r>
          </a:p>
        </p:txBody>
      </p:sp>
      <p:sp>
        <p:nvSpPr>
          <p:cNvPr id="8" name="">
            <a:extLst xmlns:a="http://schemas.openxmlformats.org/drawingml/2006/main">
              <a:ext uri="{FF2B5EF4-FFF2-40B4-BE49-F238E27FC236}">
                <a16:creationId xmlns:a16="http://schemas.microsoft.com/office/drawing/2014/main" id="{AFCAF6F5-8FF3-4776-9FBB-039D85F93C55}"/>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Die gesetzlich geforderte Ausbildung und Prüfung müssen nachgewiesen sein.</a:t>
            </a:r>
          </a:p>
        </p:txBody>
      </p:sp>
      <p:sp>
        <p:nvSpPr>
          <p:cNvPr id="9" name="">
            <a:extLst xmlns:a="http://schemas.openxmlformats.org/drawingml/2006/main">
              <a:ext uri="{FF2B5EF4-FFF2-40B4-BE49-F238E27FC236}">
                <a16:creationId xmlns:a16="http://schemas.microsoft.com/office/drawing/2014/main" id="{1FE698F7-3D4B-4FCF-939A-99EEC7507E7F}"/>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1415D216-559D-450E-92E6-A5C39A89D503}"/>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ED0400D8-1CC3-40D6-93E5-8C601EAA288C}"/>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Würdigkeit und Zuverlässigkeit</a:t>
            </a:r>
          </a:p>
        </p:txBody>
      </p:sp>
      <p:sp>
        <p:nvSpPr>
          <p:cNvPr id="12" name="">
            <a:extLst xmlns:a="http://schemas.openxmlformats.org/drawingml/2006/main">
              <a:ext uri="{FF2B5EF4-FFF2-40B4-BE49-F238E27FC236}">
                <a16:creationId xmlns:a16="http://schemas.microsoft.com/office/drawing/2014/main" id="{59072BA6-D33D-44F2-92B2-421A71E66C5D}"/>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Es dürfen keine Tatsachen vorliegen, aus denen Unwürdigkeit oder Unzuverlässigkeit zur Berufsausübung folgt.</a:t>
            </a:r>
          </a:p>
        </p:txBody>
      </p:sp>
      <p:sp>
        <p:nvSpPr>
          <p:cNvPr id="13" name="">
            <a:extLst xmlns:a="http://schemas.openxmlformats.org/drawingml/2006/main">
              <a:ext uri="{FF2B5EF4-FFF2-40B4-BE49-F238E27FC236}">
                <a16:creationId xmlns:a16="http://schemas.microsoft.com/office/drawing/2014/main" id="{3EC3D0FA-4897-4CE8-B2F6-F46572835528}"/>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95CF5D0E-7E4F-4DA0-BD4F-9EEE3E203DFA}"/>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31CBDC82-4B5F-49C9-B697-DCBBBFEF6FDD}"/>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Gesundheitliche Eignung</a:t>
            </a:r>
          </a:p>
        </p:txBody>
      </p:sp>
      <p:sp>
        <p:nvSpPr>
          <p:cNvPr id="16" name="">
            <a:extLst xmlns:a="http://schemas.openxmlformats.org/drawingml/2006/main">
              <a:ext uri="{FF2B5EF4-FFF2-40B4-BE49-F238E27FC236}">
                <a16:creationId xmlns:a16="http://schemas.microsoft.com/office/drawing/2014/main" id="{45074FB5-768E-48CC-B249-F2BD87E94AE5}"/>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Die Person darf nicht in gesundheitlicher Hinsicht ungeeignet sein.</a:t>
            </a:r>
          </a:p>
        </p:txBody>
      </p:sp>
      <p:sp>
        <p:nvSpPr>
          <p:cNvPr id="17" name="">
            <a:extLst xmlns:a="http://schemas.openxmlformats.org/drawingml/2006/main">
              <a:ext uri="{FF2B5EF4-FFF2-40B4-BE49-F238E27FC236}">
                <a16:creationId xmlns:a16="http://schemas.microsoft.com/office/drawing/2014/main" id="{8FCA065F-E8BA-41FA-AC6D-509AA0517757}"/>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1610DE56-4D3A-4D56-8B2B-614D22004776}"/>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AF2289B9-DD5E-4BBB-8C8E-FC8A7AEE9EE2}"/>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Sprache und Anerkennung</a:t>
            </a:r>
          </a:p>
        </p:txBody>
      </p:sp>
      <p:sp>
        <p:nvSpPr>
          <p:cNvPr id="20" name="">
            <a:extLst xmlns:a="http://schemas.openxmlformats.org/drawingml/2006/main">
              <a:ext uri="{FF2B5EF4-FFF2-40B4-BE49-F238E27FC236}">
                <a16:creationId xmlns:a16="http://schemas.microsoft.com/office/drawing/2014/main" id="{1635104E-EBA6-477E-BF98-0B845141D029}"/>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Je nach Ausbildungsweg sind Kenntnisse, Gleichwertigkeit und Sprachvoraussetzungen nach den gesetzlichen Regeln nachzuweisen.</a:t>
            </a:r>
          </a:p>
        </p:txBody>
      </p:sp>
      <p:sp>
        <p:nvSpPr>
          <p:cNvPr id="21" name="">
            <a:extLst xmlns:a="http://schemas.openxmlformats.org/drawingml/2006/main">
              <a:ext uri="{FF2B5EF4-FFF2-40B4-BE49-F238E27FC236}">
                <a16:creationId xmlns:a16="http://schemas.microsoft.com/office/drawing/2014/main" id="{601CFE2F-3ACC-40E8-9358-08FDB6A7A234}"/>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39FD1E16-E670-4D85-8342-A48C36A3FCBE}"/>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Approbationsrecht schützt die Allgemeinheit präventiv und ist vom Strafcharakter einer Sanktion zu unterscheiden.</a:t>
            </a:r>
          </a:p>
        </p:txBody>
      </p:sp>
    </p:spTree>
    <p:extLst>
      <p:ext uri="{BB962C8B-B14F-4D97-AF65-F5344CB8AC3E}">
        <p14:creationId xmlns:p14="http://schemas.microsoft.com/office/powerpoint/2010/main" val="43637646"/>
      </p:ext>
    </p:extLst>
  </p:cSld>
</p:sld>
</file>

<file path=ppt/slides/slide274.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Rücknahme, Widerruf, Ruhen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UNTERSCHEIDEN KÖNNEN</a:t>
            </a:r>
            <a:endParaRPr/>
          </a:p>
        </p:txBody>
      </p:sp>
      <p:sp>
        <p:nvSpPr>
          <p:cNvPr id="4" name="">
            <a:extLst xmlns:a="http://schemas.openxmlformats.org/drawingml/2006/main">
              <a:ext uri="{FF2B5EF4-FFF2-40B4-BE49-F238E27FC236}">
                <a16:creationId xmlns:a16="http://schemas.microsoft.com/office/drawing/2014/main" id="{DDB9DD89-EEC0-4EAC-8E21-0E754B33C43F}"/>
              </a:ext>
            </a:extLst>
          </p:cNvPr>
          <p:cNvSpPr>
            <a:spLocks xmlns:a="http://schemas.openxmlformats.org/drawingml/2006/main" noGrp="1"/>
          </p:cNvSpPr>
          <p:nvPr/>
        </p:nvSpPr>
        <p:spPr>
          <a:xfrm xmlns:a="http://schemas.openxmlformats.org/drawingml/2006/main">
            <a:off x="1809750" y="2000250"/>
            <a:ext cx="4619625" cy="3286125"/>
          </a:xfrm>
          <a:prstGeom xmlns:a="http://schemas.openxmlformats.org/drawingml/2006/main" prst="roundRect">
            <a:avLst>
              <a:gd name="adj" fmla="val 2319"/>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3F448F8E-DC8E-49A8-AC78-CE2C4473AA88}"/>
              </a:ext>
            </a:extLst>
          </p:cNvPr>
          <p:cNvSpPr>
            <a:spLocks xmlns:a="http://schemas.openxmlformats.org/drawingml/2006/main" noGrp="1"/>
          </p:cNvSpPr>
          <p:nvPr/>
        </p:nvSpPr>
        <p:spPr>
          <a:xfrm xmlns:a="http://schemas.openxmlformats.org/drawingml/2006/main">
            <a:off x="1809750" y="2000250"/>
            <a:ext cx="4619625"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2B99C8C9-2E9A-4271-AFC7-6FE7B452CD01}"/>
              </a:ext>
            </a:extLst>
          </p:cNvPr>
          <p:cNvSpPr>
            <a:spLocks xmlns:a="http://schemas.openxmlformats.org/drawingml/2006/main" noGrp="1"/>
          </p:cNvSpPr>
          <p:nvPr/>
        </p:nvSpPr>
        <p:spPr>
          <a:xfrm xmlns:a="http://schemas.openxmlformats.org/drawingml/2006/main">
            <a:off x="1962150" y="2133600"/>
            <a:ext cx="4314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75" b="1">
                <a:solidFill>
                  <a:srgbClr val="003F6B"/>
                </a:solidFill>
              </a:defRPr>
            </a:pPr>
            <a:r>
              <a:rPr sz="1575" b="1">
                <a:solidFill>
                  <a:srgbClr val="003F6B"/>
                </a:solidFill>
              </a:rPr>
              <a:t>Endgültige Eingriffe</a:t>
            </a:r>
          </a:p>
        </p:txBody>
      </p:sp>
      <p:sp>
        <p:nvSpPr>
          <p:cNvPr id="7" name="">
            <a:extLst xmlns:a="http://schemas.openxmlformats.org/drawingml/2006/main">
              <a:ext uri="{FF2B5EF4-FFF2-40B4-BE49-F238E27FC236}">
                <a16:creationId xmlns:a16="http://schemas.microsoft.com/office/drawing/2014/main" id="{C4ED53C6-7796-4764-B2E8-37FC1ACB1AD3}"/>
              </a:ext>
            </a:extLst>
          </p:cNvPr>
          <p:cNvSpPr>
            <a:spLocks xmlns:a="http://schemas.openxmlformats.org/drawingml/2006/main" noGrp="1"/>
          </p:cNvSpPr>
          <p:nvPr/>
        </p:nvSpPr>
        <p:spPr>
          <a:xfrm xmlns:a="http://schemas.openxmlformats.org/drawingml/2006/main">
            <a:off x="1962150" y="2571750"/>
            <a:ext cx="4314825"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15232B"/>
                </a:solidFill>
              </a:defRPr>
            </a:pPr>
            <a:r>
              <a:rPr sz="1200">
                <a:solidFill>
                  <a:srgbClr val="15232B"/>
                </a:solidFill>
              </a:rPr>
              <a:t>• Rücknahme betrifft eine Approbation, deren Voraussetzungen bereits bei Erteilung nicht vorlagen.</a:t>
            </a:r>
          </a:p>
          <a:p xmlns:a="http://schemas.openxmlformats.org/drawingml/2006/main">
            <a:pPr>
              <a:buNone/>
              <a:defRPr sz="1200">
                <a:solidFill>
                  <a:srgbClr val="15232B"/>
                </a:solidFill>
              </a:defRPr>
            </a:pPr>
            <a:r>
              <a:rPr sz="1200">
                <a:solidFill>
                  <a:srgbClr val="15232B"/>
                </a:solidFill>
              </a:rPr>
              <a:t>• Widerruf betrifft nachträglichen Wegfall bestimmter Voraussetzungen, insbesondere Würdigkeit oder Zuverlässigkeit.</a:t>
            </a:r>
          </a:p>
          <a:p xmlns:a="http://schemas.openxmlformats.org/drawingml/2006/main">
            <a:pPr>
              <a:buNone/>
              <a:defRPr sz="1200">
                <a:solidFill>
                  <a:srgbClr val="15232B"/>
                </a:solidFill>
              </a:defRPr>
            </a:pPr>
            <a:r>
              <a:rPr sz="1200">
                <a:solidFill>
                  <a:srgbClr val="15232B"/>
                </a:solidFill>
              </a:rPr>
              <a:t>• Beide beenden die Approbation und verlangen genaue Tatbestands- und Verhältnismäßigkeitsprüfung.</a:t>
            </a:r>
          </a:p>
        </p:txBody>
      </p:sp>
      <p:sp>
        <p:nvSpPr>
          <p:cNvPr id="8" name="">
            <a:extLst xmlns:a="http://schemas.openxmlformats.org/drawingml/2006/main">
              <a:ext uri="{FF2B5EF4-FFF2-40B4-BE49-F238E27FC236}">
                <a16:creationId xmlns:a16="http://schemas.microsoft.com/office/drawing/2014/main" id="{46FA34A3-39FB-4C62-9725-28A695D38217}"/>
              </a:ext>
            </a:extLst>
          </p:cNvPr>
          <p:cNvSpPr>
            <a:spLocks xmlns:a="http://schemas.openxmlformats.org/drawingml/2006/main" noGrp="1"/>
          </p:cNvSpPr>
          <p:nvPr/>
        </p:nvSpPr>
        <p:spPr>
          <a:xfrm xmlns:a="http://schemas.openxmlformats.org/drawingml/2006/main">
            <a:off x="6715125" y="2000250"/>
            <a:ext cx="4619625" cy="3286125"/>
          </a:xfrm>
          <a:prstGeom xmlns:a="http://schemas.openxmlformats.org/drawingml/2006/main" prst="roundRect">
            <a:avLst>
              <a:gd name="adj" fmla="val 2319"/>
            </a:avLst>
          </a:prstGeom>
          <a:noFill xmlns:a="http://schemas.openxmlformats.org/drawingml/2006/main"/>
          <a:ln xmlns:a="http://schemas.openxmlformats.org/drawingml/2006/main" w="9525">
            <a:solidFill>
              <a:srgbClr val="B9CAD2"/>
            </a:solidFill>
            <a:prstDash val="solid"/>
          </a:ln>
        </p:spPr>
      </p:sp>
      <p:sp>
        <p:nvSpPr>
          <p:cNvPr id="9" name="">
            <a:extLst xmlns:a="http://schemas.openxmlformats.org/drawingml/2006/main">
              <a:ext uri="{FF2B5EF4-FFF2-40B4-BE49-F238E27FC236}">
                <a16:creationId xmlns:a16="http://schemas.microsoft.com/office/drawing/2014/main" id="{034133CA-E97C-46B8-82CD-3A072294C35B}"/>
              </a:ext>
            </a:extLst>
          </p:cNvPr>
          <p:cNvSpPr>
            <a:spLocks xmlns:a="http://schemas.openxmlformats.org/drawingml/2006/main" noGrp="1"/>
          </p:cNvSpPr>
          <p:nvPr/>
        </p:nvSpPr>
        <p:spPr>
          <a:xfrm xmlns:a="http://schemas.openxmlformats.org/drawingml/2006/main">
            <a:off x="6715125" y="2000250"/>
            <a:ext cx="4619625"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674A5799-6946-480B-A641-761B371B2A91}"/>
              </a:ext>
            </a:extLst>
          </p:cNvPr>
          <p:cNvSpPr>
            <a:spLocks xmlns:a="http://schemas.openxmlformats.org/drawingml/2006/main" noGrp="1"/>
          </p:cNvSpPr>
          <p:nvPr/>
        </p:nvSpPr>
        <p:spPr>
          <a:xfrm xmlns:a="http://schemas.openxmlformats.org/drawingml/2006/main">
            <a:off x="6867525" y="2133600"/>
            <a:ext cx="4314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75" b="1">
                <a:solidFill>
                  <a:srgbClr val="003F6B"/>
                </a:solidFill>
              </a:defRPr>
            </a:pPr>
            <a:r>
              <a:rPr sz="1575" b="1">
                <a:solidFill>
                  <a:srgbClr val="003F6B"/>
                </a:solidFill>
              </a:rPr>
              <a:t>Vorläufiges Ruhen</a:t>
            </a:r>
          </a:p>
        </p:txBody>
      </p:sp>
      <p:sp>
        <p:nvSpPr>
          <p:cNvPr id="11" name="">
            <a:extLst xmlns:a="http://schemas.openxmlformats.org/drawingml/2006/main">
              <a:ext uri="{FF2B5EF4-FFF2-40B4-BE49-F238E27FC236}">
                <a16:creationId xmlns:a16="http://schemas.microsoft.com/office/drawing/2014/main" id="{BABE2790-EC6E-410C-B0B2-007C7AF936C1}"/>
              </a:ext>
            </a:extLst>
          </p:cNvPr>
          <p:cNvSpPr>
            <a:spLocks xmlns:a="http://schemas.openxmlformats.org/drawingml/2006/main" noGrp="1"/>
          </p:cNvSpPr>
          <p:nvPr/>
        </p:nvSpPr>
        <p:spPr>
          <a:xfrm xmlns:a="http://schemas.openxmlformats.org/drawingml/2006/main">
            <a:off x="6867525" y="2571750"/>
            <a:ext cx="4314825"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15232B"/>
                </a:solidFill>
              </a:defRPr>
            </a:pPr>
            <a:r>
              <a:rPr sz="1200">
                <a:solidFill>
                  <a:srgbClr val="15232B"/>
                </a:solidFill>
              </a:rPr>
              <a:t>• § 6 BÄO erlaubt unter bestimmten Voraussetzungen eine vorübergehende Ruhensanordnung.</a:t>
            </a:r>
          </a:p>
          <a:p xmlns:a="http://schemas.openxmlformats.org/drawingml/2006/main">
            <a:pPr>
              <a:buNone/>
              <a:defRPr sz="1200">
                <a:solidFill>
                  <a:srgbClr val="15232B"/>
                </a:solidFill>
              </a:defRPr>
            </a:pPr>
            <a:r>
              <a:rPr sz="1200">
                <a:solidFill>
                  <a:srgbClr val="15232B"/>
                </a:solidFill>
              </a:rPr>
              <a:t>• Sie kann bereits während eines einschlägigen Strafverfahrens in Betracht kommen.</a:t>
            </a:r>
          </a:p>
          <a:p xmlns:a="http://schemas.openxmlformats.org/drawingml/2006/main">
            <a:pPr>
              <a:buNone/>
              <a:defRPr sz="1200">
                <a:solidFill>
                  <a:srgbClr val="15232B"/>
                </a:solidFill>
              </a:defRPr>
            </a:pPr>
            <a:r>
              <a:rPr sz="1200">
                <a:solidFill>
                  <a:srgbClr val="15232B"/>
                </a:solidFill>
              </a:rPr>
              <a:t>• Wegen ihrer Eingriffsintensität sind Tatsachengrundlage, Dringlichkeit und Verhältnismäßigkeit zentral.</a:t>
            </a:r>
          </a:p>
        </p:txBody>
      </p:sp>
      <p:sp>
        <p:nvSpPr>
          <p:cNvPr id="12" name="">
            <a:extLst xmlns:a="http://schemas.openxmlformats.org/drawingml/2006/main">
              <a:ext uri="{FF2B5EF4-FFF2-40B4-BE49-F238E27FC236}">
                <a16:creationId xmlns:a16="http://schemas.microsoft.com/office/drawing/2014/main" id="{BA452959-22A4-4B61-968E-BE04ECAF53E9}"/>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13" name="">
            <a:extLst xmlns:a="http://schemas.openxmlformats.org/drawingml/2006/main">
              <a:ext uri="{FF2B5EF4-FFF2-40B4-BE49-F238E27FC236}">
                <a16:creationId xmlns:a16="http://schemas.microsoft.com/office/drawing/2014/main" id="{2889F136-54DC-4CCE-8CA0-3F4197AB495B}"/>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Begriffe und Rechtsfolgen dürfen nicht vermischt werden; jeder Eingriff hat eigene Voraussetzungen.</a:t>
            </a:r>
          </a:p>
        </p:txBody>
      </p:sp>
    </p:spTree>
    <p:extLst>
      <p:ext uri="{BB962C8B-B14F-4D97-AF65-F5344CB8AC3E}">
        <p14:creationId xmlns:p14="http://schemas.microsoft.com/office/powerpoint/2010/main" val="43637646"/>
      </p:ext>
    </p:extLst>
  </p:cSld>
</p:sld>
</file>

<file path=ppt/slides/slide275.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Approbationswiderruf</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NORM IM FOKUS · § 5 BÄO</a:t>
            </a:r>
            <a:endParaRPr/>
          </a:p>
        </p:txBody>
      </p:sp>
      <p:sp>
        <p:nvSpPr>
          <p:cNvPr id="4" name="">
            <a:extLst xmlns:a="http://schemas.openxmlformats.org/drawingml/2006/main">
              <a:ext uri="{FF2B5EF4-FFF2-40B4-BE49-F238E27FC236}">
                <a16:creationId xmlns:a16="http://schemas.microsoft.com/office/drawing/2014/main" id="{3E6F395C-B805-42EB-B16E-FD606F4146BF}"/>
              </a:ext>
            </a:extLst>
          </p:cNvPr>
          <p:cNvSpPr>
            <a:spLocks xmlns:a="http://schemas.openxmlformats.org/drawingml/2006/main" noGrp="1"/>
          </p:cNvSpPr>
          <p:nvPr/>
        </p:nvSpPr>
        <p:spPr>
          <a:xfrm xmlns:a="http://schemas.openxmlformats.org/drawingml/2006/main">
            <a:off x="1809750" y="1924050"/>
            <a:ext cx="2286000" cy="704850"/>
          </a:xfrm>
          <a:prstGeom xmlns:a="http://schemas.openxmlformats.org/drawingml/2006/main" prst="roundRect">
            <a:avLst>
              <a:gd name="adj" fmla="val 10811"/>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08127130-17CE-4A67-A290-D970A0D48568}"/>
              </a:ext>
            </a:extLst>
          </p:cNvPr>
          <p:cNvSpPr>
            <a:spLocks xmlns:a="http://schemas.openxmlformats.org/drawingml/2006/main" noGrp="1"/>
          </p:cNvSpPr>
          <p:nvPr/>
        </p:nvSpPr>
        <p:spPr>
          <a:xfrm xmlns:a="http://schemas.openxmlformats.org/drawingml/2006/main">
            <a:off x="1924050" y="1971675"/>
            <a:ext cx="2057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75" b="1">
                <a:solidFill>
                  <a:srgbClr val="FFFFFF"/>
                </a:solidFill>
              </a:defRPr>
            </a:pPr>
            <a:r>
              <a:rPr sz="1875" b="1">
                <a:solidFill>
                  <a:srgbClr val="FFFFFF"/>
                </a:solidFill>
              </a:rPr>
              <a:t>§ 5 BÄO</a:t>
            </a:r>
          </a:p>
        </p:txBody>
      </p:sp>
      <p:sp>
        <p:nvSpPr>
          <p:cNvPr id="6" name="">
            <a:extLst xmlns:a="http://schemas.openxmlformats.org/drawingml/2006/main">
              <a:ext uri="{FF2B5EF4-FFF2-40B4-BE49-F238E27FC236}">
                <a16:creationId xmlns:a16="http://schemas.microsoft.com/office/drawing/2014/main" id="{70671755-0FC5-4824-A80A-F0E2FE948CB8}"/>
              </a:ext>
            </a:extLst>
          </p:cNvPr>
          <p:cNvSpPr>
            <a:spLocks xmlns:a="http://schemas.openxmlformats.org/drawingml/2006/main" noGrp="1"/>
          </p:cNvSpPr>
          <p:nvPr/>
        </p:nvSpPr>
        <p:spPr>
          <a:xfrm xmlns:a="http://schemas.openxmlformats.org/drawingml/2006/main">
            <a:off x="4362450" y="1924050"/>
            <a:ext cx="6972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15">
                <a:solidFill>
                  <a:srgbClr val="667680"/>
                </a:solidFill>
              </a:defRPr>
            </a:pPr>
            <a:r>
              <a:rPr sz="1215">
                <a:solidFill>
                  <a:srgbClr val="667680"/>
                </a:solidFill>
              </a:rPr>
              <a:t>§ 5 BÄO regelt Rücknahme und Widerruf, wenn Erteilungsvoraussetzungen fehlten oder nachträglich wegfallen.</a:t>
            </a:r>
          </a:p>
        </p:txBody>
      </p:sp>
      <p:sp>
        <p:nvSpPr>
          <p:cNvPr id="7" name="">
            <a:extLst xmlns:a="http://schemas.openxmlformats.org/drawingml/2006/main">
              <a:ext uri="{FF2B5EF4-FFF2-40B4-BE49-F238E27FC236}">
                <a16:creationId xmlns:a16="http://schemas.microsoft.com/office/drawing/2014/main" id="{B4D30F2A-C588-47C9-B9B3-E71EF5FAF7B1}"/>
              </a:ext>
            </a:extLst>
          </p:cNvPr>
          <p:cNvSpPr>
            <a:spLocks xmlns:a="http://schemas.openxmlformats.org/drawingml/2006/main" noGrp="1"/>
          </p:cNvSpPr>
          <p:nvPr/>
        </p:nvSpPr>
        <p:spPr>
          <a:xfrm xmlns:a="http://schemas.openxmlformats.org/drawingml/2006/main">
            <a:off x="1809750" y="2781300"/>
            <a:ext cx="476250" cy="414338"/>
          </a:xfrm>
          <a:prstGeom xmlns:a="http://schemas.openxmlformats.org/drawingml/2006/main" prst="roundRect">
            <a:avLst>
              <a:gd name="adj" fmla="val 18391"/>
            </a:avLst>
          </a:prstGeom>
          <a:solidFill xmlns:a="http://schemas.openxmlformats.org/drawingml/2006/main">
            <a:srgbClr val="00B2BB"/>
          </a:solidFill>
          <a:ln xmlns:a="http://schemas.openxmlformats.org/drawingml/2006/main" w="0">
            <a:solidFill>
              <a:srgbClr val="00B2BB"/>
            </a:solidFill>
            <a:prstDash val="solid"/>
          </a:ln>
        </p:spPr>
      </p:sp>
      <p:sp>
        <p:nvSpPr>
          <p:cNvPr id="8" name="">
            <a:extLst xmlns:a="http://schemas.openxmlformats.org/drawingml/2006/main">
              <a:ext uri="{FF2B5EF4-FFF2-40B4-BE49-F238E27FC236}">
                <a16:creationId xmlns:a16="http://schemas.microsoft.com/office/drawing/2014/main" id="{3E2176AA-8763-4AC4-B5A7-98CAC76D75C3}"/>
              </a:ext>
            </a:extLst>
          </p:cNvPr>
          <p:cNvSpPr>
            <a:spLocks xmlns:a="http://schemas.openxmlformats.org/drawingml/2006/main" noGrp="1"/>
          </p:cNvSpPr>
          <p:nvPr/>
        </p:nvSpPr>
        <p:spPr>
          <a:xfrm xmlns:a="http://schemas.openxmlformats.org/drawingml/2006/main">
            <a:off x="1809750" y="2781300"/>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9" name="">
            <a:extLst xmlns:a="http://schemas.openxmlformats.org/drawingml/2006/main">
              <a:ext uri="{FF2B5EF4-FFF2-40B4-BE49-F238E27FC236}">
                <a16:creationId xmlns:a16="http://schemas.microsoft.com/office/drawing/2014/main" id="{D441516F-15DA-4525-9ADA-5A5F31659F16}"/>
              </a:ext>
            </a:extLst>
          </p:cNvPr>
          <p:cNvSpPr>
            <a:spLocks xmlns:a="http://schemas.openxmlformats.org/drawingml/2006/main" noGrp="1"/>
          </p:cNvSpPr>
          <p:nvPr/>
        </p:nvSpPr>
        <p:spPr>
          <a:xfrm xmlns:a="http://schemas.openxmlformats.org/drawingml/2006/main">
            <a:off x="2438400" y="2790825"/>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Unwürdigkeit</a:t>
            </a:r>
          </a:p>
        </p:txBody>
      </p:sp>
      <p:sp>
        <p:nvSpPr>
          <p:cNvPr id="10" name="">
            <a:extLst xmlns:a="http://schemas.openxmlformats.org/drawingml/2006/main">
              <a:ext uri="{FF2B5EF4-FFF2-40B4-BE49-F238E27FC236}">
                <a16:creationId xmlns:a16="http://schemas.microsoft.com/office/drawing/2014/main" id="{D775D3EB-D687-4676-9599-044E513BE651}"/>
              </a:ext>
            </a:extLst>
          </p:cNvPr>
          <p:cNvSpPr>
            <a:spLocks xmlns:a="http://schemas.openxmlformats.org/drawingml/2006/main" noGrp="1"/>
          </p:cNvSpPr>
          <p:nvPr/>
        </p:nvSpPr>
        <p:spPr>
          <a:xfrm xmlns:a="http://schemas.openxmlformats.org/drawingml/2006/main">
            <a:off x="4591050" y="2790825"/>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Sie betrifft ein schwerwiegendes Fehlverhalten, aus dem die Person für das Ansehen und Vertrauen des Berufs als nicht tragbar erscheint.</a:t>
            </a:r>
          </a:p>
        </p:txBody>
      </p:sp>
      <p:sp>
        <p:nvSpPr>
          <p:cNvPr id="11" name="">
            <a:extLst xmlns:a="http://schemas.openxmlformats.org/drawingml/2006/main">
              <a:ext uri="{FF2B5EF4-FFF2-40B4-BE49-F238E27FC236}">
                <a16:creationId xmlns:a16="http://schemas.microsoft.com/office/drawing/2014/main" id="{F8AE1C29-7D2A-488E-9859-1B8B70EC3A1E}"/>
              </a:ext>
            </a:extLst>
          </p:cNvPr>
          <p:cNvSpPr>
            <a:spLocks xmlns:a="http://schemas.openxmlformats.org/drawingml/2006/main" noGrp="1"/>
          </p:cNvSpPr>
          <p:nvPr/>
        </p:nvSpPr>
        <p:spPr>
          <a:xfrm xmlns:a="http://schemas.openxmlformats.org/drawingml/2006/main">
            <a:off x="1809750" y="3271838"/>
            <a:ext cx="476250" cy="414338"/>
          </a:xfrm>
          <a:prstGeom xmlns:a="http://schemas.openxmlformats.org/drawingml/2006/main" prst="roundRect">
            <a:avLst>
              <a:gd name="adj" fmla="val 18391"/>
            </a:avLst>
          </a:prstGeom>
          <a:solidFill xmlns:a="http://schemas.openxmlformats.org/drawingml/2006/main">
            <a:srgbClr val="003F6B"/>
          </a:solidFill>
          <a:ln xmlns:a="http://schemas.openxmlformats.org/drawingml/2006/main" w="0">
            <a:solidFill>
              <a:srgbClr val="003F6B"/>
            </a:solidFill>
            <a:prstDash val="solid"/>
          </a:ln>
        </p:spPr>
      </p:sp>
      <p:sp>
        <p:nvSpPr>
          <p:cNvPr id="12" name="">
            <a:extLst xmlns:a="http://schemas.openxmlformats.org/drawingml/2006/main">
              <a:ext uri="{FF2B5EF4-FFF2-40B4-BE49-F238E27FC236}">
                <a16:creationId xmlns:a16="http://schemas.microsoft.com/office/drawing/2014/main" id="{E950F1FC-410E-47CE-84D6-69160BAFFA31}"/>
              </a:ext>
            </a:extLst>
          </p:cNvPr>
          <p:cNvSpPr>
            <a:spLocks xmlns:a="http://schemas.openxmlformats.org/drawingml/2006/main" noGrp="1"/>
          </p:cNvSpPr>
          <p:nvPr/>
        </p:nvSpPr>
        <p:spPr>
          <a:xfrm xmlns:a="http://schemas.openxmlformats.org/drawingml/2006/main">
            <a:off x="1809750" y="3271838"/>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3" name="">
            <a:extLst xmlns:a="http://schemas.openxmlformats.org/drawingml/2006/main">
              <a:ext uri="{FF2B5EF4-FFF2-40B4-BE49-F238E27FC236}">
                <a16:creationId xmlns:a16="http://schemas.microsoft.com/office/drawing/2014/main" id="{2720F664-A7AD-4417-AC5D-9AAA7C11A211}"/>
              </a:ext>
            </a:extLst>
          </p:cNvPr>
          <p:cNvSpPr>
            <a:spLocks xmlns:a="http://schemas.openxmlformats.org/drawingml/2006/main" noGrp="1"/>
          </p:cNvSpPr>
          <p:nvPr/>
        </p:nvSpPr>
        <p:spPr>
          <a:xfrm xmlns:a="http://schemas.openxmlformats.org/drawingml/2006/main">
            <a:off x="2438400" y="3281363"/>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Unzuverlässigkeit</a:t>
            </a:r>
          </a:p>
        </p:txBody>
      </p:sp>
      <p:sp>
        <p:nvSpPr>
          <p:cNvPr id="14" name="">
            <a:extLst xmlns:a="http://schemas.openxmlformats.org/drawingml/2006/main">
              <a:ext uri="{FF2B5EF4-FFF2-40B4-BE49-F238E27FC236}">
                <a16:creationId xmlns:a16="http://schemas.microsoft.com/office/drawing/2014/main" id="{B2C3B5E0-980F-49AD-A67C-6103EA8C6BE5}"/>
              </a:ext>
            </a:extLst>
          </p:cNvPr>
          <p:cNvSpPr>
            <a:spLocks xmlns:a="http://schemas.openxmlformats.org/drawingml/2006/main" noGrp="1"/>
          </p:cNvSpPr>
          <p:nvPr/>
        </p:nvSpPr>
        <p:spPr>
          <a:xfrm xmlns:a="http://schemas.openxmlformats.org/drawingml/2006/main">
            <a:off x="4591050" y="3281363"/>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Sie ist eine zukunftsbezogene Prognose, ob berufliche Pflichten künftig ordnungsgemäß erfüllt werden.</a:t>
            </a:r>
          </a:p>
        </p:txBody>
      </p:sp>
      <p:sp>
        <p:nvSpPr>
          <p:cNvPr id="15" name="">
            <a:extLst xmlns:a="http://schemas.openxmlformats.org/drawingml/2006/main">
              <a:ext uri="{FF2B5EF4-FFF2-40B4-BE49-F238E27FC236}">
                <a16:creationId xmlns:a16="http://schemas.microsoft.com/office/drawing/2014/main" id="{41083CC4-B47A-4E13-B976-9372B75AA3A6}"/>
              </a:ext>
            </a:extLst>
          </p:cNvPr>
          <p:cNvSpPr>
            <a:spLocks xmlns:a="http://schemas.openxmlformats.org/drawingml/2006/main" noGrp="1"/>
          </p:cNvSpPr>
          <p:nvPr/>
        </p:nvSpPr>
        <p:spPr>
          <a:xfrm xmlns:a="http://schemas.openxmlformats.org/drawingml/2006/main">
            <a:off x="1809750" y="3762375"/>
            <a:ext cx="476250" cy="414338"/>
          </a:xfrm>
          <a:prstGeom xmlns:a="http://schemas.openxmlformats.org/drawingml/2006/main" prst="roundRect">
            <a:avLst>
              <a:gd name="adj" fmla="val 18391"/>
            </a:avLst>
          </a:prstGeom>
          <a:solidFill xmlns:a="http://schemas.openxmlformats.org/drawingml/2006/main">
            <a:srgbClr val="00B2BB"/>
          </a:solidFill>
          <a:ln xmlns:a="http://schemas.openxmlformats.org/drawingml/2006/main" w="0">
            <a:solidFill>
              <a:srgbClr val="00B2BB"/>
            </a:solidFill>
            <a:prstDash val="solid"/>
          </a:ln>
        </p:spPr>
      </p:sp>
      <p:sp>
        <p:nvSpPr>
          <p:cNvPr id="16" name="">
            <a:extLst xmlns:a="http://schemas.openxmlformats.org/drawingml/2006/main">
              <a:ext uri="{FF2B5EF4-FFF2-40B4-BE49-F238E27FC236}">
                <a16:creationId xmlns:a16="http://schemas.microsoft.com/office/drawing/2014/main" id="{6C44139B-0870-4B89-BA1E-E7BCC859BBF8}"/>
              </a:ext>
            </a:extLst>
          </p:cNvPr>
          <p:cNvSpPr>
            <a:spLocks xmlns:a="http://schemas.openxmlformats.org/drawingml/2006/main" noGrp="1"/>
          </p:cNvSpPr>
          <p:nvPr/>
        </p:nvSpPr>
        <p:spPr>
          <a:xfrm xmlns:a="http://schemas.openxmlformats.org/drawingml/2006/main">
            <a:off x="1809750" y="3762375"/>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7" name="">
            <a:extLst xmlns:a="http://schemas.openxmlformats.org/drawingml/2006/main">
              <a:ext uri="{FF2B5EF4-FFF2-40B4-BE49-F238E27FC236}">
                <a16:creationId xmlns:a16="http://schemas.microsoft.com/office/drawing/2014/main" id="{F98F4A41-AFEE-48FA-86F7-914582418C14}"/>
              </a:ext>
            </a:extLst>
          </p:cNvPr>
          <p:cNvSpPr>
            <a:spLocks xmlns:a="http://schemas.openxmlformats.org/drawingml/2006/main" noGrp="1"/>
          </p:cNvSpPr>
          <p:nvPr/>
        </p:nvSpPr>
        <p:spPr>
          <a:xfrm xmlns:a="http://schemas.openxmlformats.org/drawingml/2006/main">
            <a:off x="2438400" y="3771900"/>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Tatsachengrundlage</a:t>
            </a:r>
          </a:p>
        </p:txBody>
      </p:sp>
      <p:sp>
        <p:nvSpPr>
          <p:cNvPr id="18" name="">
            <a:extLst xmlns:a="http://schemas.openxmlformats.org/drawingml/2006/main">
              <a:ext uri="{FF2B5EF4-FFF2-40B4-BE49-F238E27FC236}">
                <a16:creationId xmlns:a16="http://schemas.microsoft.com/office/drawing/2014/main" id="{4171667A-5ACC-4733-B633-DA5B1C8F358D}"/>
              </a:ext>
            </a:extLst>
          </p:cNvPr>
          <p:cNvSpPr>
            <a:spLocks xmlns:a="http://schemas.openxmlformats.org/drawingml/2006/main" noGrp="1"/>
          </p:cNvSpPr>
          <p:nvPr/>
        </p:nvSpPr>
        <p:spPr>
          <a:xfrm xmlns:a="http://schemas.openxmlformats.org/drawingml/2006/main">
            <a:off x="4591050" y="3771900"/>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Strafurteile können wichtig sein, ersetzen aber nicht in jeder Konstellation die eigenständige behördliche Prüfung.</a:t>
            </a:r>
          </a:p>
        </p:txBody>
      </p:sp>
      <p:sp>
        <p:nvSpPr>
          <p:cNvPr id="19" name="">
            <a:extLst xmlns:a="http://schemas.openxmlformats.org/drawingml/2006/main">
              <a:ext uri="{FF2B5EF4-FFF2-40B4-BE49-F238E27FC236}">
                <a16:creationId xmlns:a16="http://schemas.microsoft.com/office/drawing/2014/main" id="{DBCBEB3C-45C0-425F-BCD3-EC52ABCD28EF}"/>
              </a:ext>
            </a:extLst>
          </p:cNvPr>
          <p:cNvSpPr>
            <a:spLocks xmlns:a="http://schemas.openxmlformats.org/drawingml/2006/main" noGrp="1"/>
          </p:cNvSpPr>
          <p:nvPr/>
        </p:nvSpPr>
        <p:spPr>
          <a:xfrm xmlns:a="http://schemas.openxmlformats.org/drawingml/2006/main">
            <a:off x="1809750" y="4252913"/>
            <a:ext cx="476250" cy="414338"/>
          </a:xfrm>
          <a:prstGeom xmlns:a="http://schemas.openxmlformats.org/drawingml/2006/main" prst="roundRect">
            <a:avLst>
              <a:gd name="adj" fmla="val 18391"/>
            </a:avLst>
          </a:prstGeom>
          <a:solidFill xmlns:a="http://schemas.openxmlformats.org/drawingml/2006/main">
            <a:srgbClr val="003F6B"/>
          </a:solidFill>
          <a:ln xmlns:a="http://schemas.openxmlformats.org/drawingml/2006/main" w="0">
            <a:solidFill>
              <a:srgbClr val="003F6B"/>
            </a:solidFill>
            <a:prstDash val="solid"/>
          </a:ln>
        </p:spPr>
      </p:sp>
      <p:sp>
        <p:nvSpPr>
          <p:cNvPr id="20" name="">
            <a:extLst xmlns:a="http://schemas.openxmlformats.org/drawingml/2006/main">
              <a:ext uri="{FF2B5EF4-FFF2-40B4-BE49-F238E27FC236}">
                <a16:creationId xmlns:a16="http://schemas.microsoft.com/office/drawing/2014/main" id="{BFAB65E1-F35E-44FB-853C-72F841BDA827}"/>
              </a:ext>
            </a:extLst>
          </p:cNvPr>
          <p:cNvSpPr>
            <a:spLocks xmlns:a="http://schemas.openxmlformats.org/drawingml/2006/main" noGrp="1"/>
          </p:cNvSpPr>
          <p:nvPr/>
        </p:nvSpPr>
        <p:spPr>
          <a:xfrm xmlns:a="http://schemas.openxmlformats.org/drawingml/2006/main">
            <a:off x="1809750" y="4252913"/>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21" name="">
            <a:extLst xmlns:a="http://schemas.openxmlformats.org/drawingml/2006/main">
              <a:ext uri="{FF2B5EF4-FFF2-40B4-BE49-F238E27FC236}">
                <a16:creationId xmlns:a16="http://schemas.microsoft.com/office/drawing/2014/main" id="{8C2D2F3D-56B7-465B-897E-8EF1273B6609}"/>
              </a:ext>
            </a:extLst>
          </p:cNvPr>
          <p:cNvSpPr>
            <a:spLocks xmlns:a="http://schemas.openxmlformats.org/drawingml/2006/main" noGrp="1"/>
          </p:cNvSpPr>
          <p:nvPr/>
        </p:nvSpPr>
        <p:spPr>
          <a:xfrm xmlns:a="http://schemas.openxmlformats.org/drawingml/2006/main">
            <a:off x="2438400" y="4262438"/>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Verhältnismäßigkeit</a:t>
            </a:r>
          </a:p>
        </p:txBody>
      </p:sp>
      <p:sp>
        <p:nvSpPr>
          <p:cNvPr id="22" name="">
            <a:extLst xmlns:a="http://schemas.openxmlformats.org/drawingml/2006/main">
              <a:ext uri="{FF2B5EF4-FFF2-40B4-BE49-F238E27FC236}">
                <a16:creationId xmlns:a16="http://schemas.microsoft.com/office/drawing/2014/main" id="{DE776CC7-E418-4CC5-9E3D-4A52FD9DE809}"/>
              </a:ext>
            </a:extLst>
          </p:cNvPr>
          <p:cNvSpPr>
            <a:spLocks xmlns:a="http://schemas.openxmlformats.org/drawingml/2006/main" noGrp="1"/>
          </p:cNvSpPr>
          <p:nvPr/>
        </p:nvSpPr>
        <p:spPr>
          <a:xfrm xmlns:a="http://schemas.openxmlformats.org/drawingml/2006/main">
            <a:off x="4591050" y="4262438"/>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Tatbestand und gesetzliche Rechtsfolge werden unter Berücksichtigung der Grundrechte sorgfältig angewandt.</a:t>
            </a:r>
          </a:p>
        </p:txBody>
      </p:sp>
      <p:sp>
        <p:nvSpPr>
          <p:cNvPr id="23" name="">
            <a:extLst xmlns:a="http://schemas.openxmlformats.org/drawingml/2006/main">
              <a:ext uri="{FF2B5EF4-FFF2-40B4-BE49-F238E27FC236}">
                <a16:creationId xmlns:a16="http://schemas.microsoft.com/office/drawing/2014/main" id="{FB8F9F2F-DCEC-454B-A0C8-553CF75B9AB4}"/>
              </a:ext>
            </a:extLst>
          </p:cNvPr>
          <p:cNvSpPr>
            <a:spLocks xmlns:a="http://schemas.openxmlformats.org/drawingml/2006/main" noGrp="1"/>
          </p:cNvSpPr>
          <p:nvPr/>
        </p:nvSpPr>
        <p:spPr>
          <a:xfrm xmlns:a="http://schemas.openxmlformats.org/drawingml/2006/main">
            <a:off x="1809750" y="4781550"/>
            <a:ext cx="9525000" cy="666750"/>
          </a:xfrm>
          <a:prstGeom xmlns:a="http://schemas.openxmlformats.org/drawingml/2006/main" prst="roundRect">
            <a:avLst>
              <a:gd name="adj" fmla="val 11429"/>
            </a:avLst>
          </a:prstGeom>
          <a:solidFill xmlns:a="http://schemas.openxmlformats.org/drawingml/2006/main">
            <a:srgbClr val="EAF6FB"/>
          </a:solidFill>
          <a:ln xmlns:a="http://schemas.openxmlformats.org/drawingml/2006/main" w="9525">
            <a:solidFill>
              <a:srgbClr val="00B2BB"/>
            </a:solidFill>
            <a:prstDash val="solid"/>
          </a:ln>
        </p:spPr>
      </p:sp>
      <p:sp>
        <p:nvSpPr>
          <p:cNvPr id="24" name="">
            <a:extLst xmlns:a="http://schemas.openxmlformats.org/drawingml/2006/main">
              <a:ext uri="{FF2B5EF4-FFF2-40B4-BE49-F238E27FC236}">
                <a16:creationId xmlns:a16="http://schemas.microsoft.com/office/drawing/2014/main" id="{0C56CD0A-D711-477F-810B-C9B7F4A3074A}"/>
              </a:ext>
            </a:extLst>
          </p:cNvPr>
          <p:cNvSpPr>
            <a:spLocks xmlns:a="http://schemas.openxmlformats.org/drawingml/2006/main" noGrp="1"/>
          </p:cNvSpPr>
          <p:nvPr/>
        </p:nvSpPr>
        <p:spPr>
          <a:xfrm xmlns:a="http://schemas.openxmlformats.org/drawingml/2006/main">
            <a:off x="1981200" y="4829175"/>
            <a:ext cx="9182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065">
                <a:solidFill>
                  <a:srgbClr val="15232B"/>
                </a:solidFill>
              </a:defRPr>
            </a:pPr>
            <a:r>
              <a:rPr sz="1065">
                <a:solidFill>
                  <a:srgbClr val="15232B"/>
                </a:solidFill>
              </a:rPr>
              <a:t>Beispiel · Beispiel: Wiederholte berufsbezogene Täuschung kann Würdigkeit oder Zuverlässigkeit berühren; Art, Gewicht, Zeitablauf und Prognose werden konkret geprüft.</a:t>
            </a:r>
          </a:p>
        </p:txBody>
      </p:sp>
      <p:sp>
        <p:nvSpPr>
          <p:cNvPr id="25" name="">
            <a:extLst xmlns:a="http://schemas.openxmlformats.org/drawingml/2006/main">
              <a:ext uri="{FF2B5EF4-FFF2-40B4-BE49-F238E27FC236}">
                <a16:creationId xmlns:a16="http://schemas.microsoft.com/office/drawing/2014/main" id="{3AA608D9-68B0-462A-9E85-86FA5A726D06}"/>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6" name="">
            <a:extLst xmlns:a="http://schemas.openxmlformats.org/drawingml/2006/main">
              <a:ext uri="{FF2B5EF4-FFF2-40B4-BE49-F238E27FC236}">
                <a16:creationId xmlns:a16="http://schemas.microsoft.com/office/drawing/2014/main" id="{660C682B-F19D-4AFB-92AE-6DBBE6E4C528}"/>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Approbationsrecht beurteilt Berufszugang und Gefahrenprognose, nicht zivilrechtliche Schadenshöhe.</a:t>
            </a:r>
          </a:p>
        </p:txBody>
      </p:sp>
    </p:spTree>
    <p:extLst>
      <p:ext uri="{BB962C8B-B14F-4D97-AF65-F5344CB8AC3E}">
        <p14:creationId xmlns:p14="http://schemas.microsoft.com/office/powerpoint/2010/main" val="43637646"/>
      </p:ext>
    </p:extLst>
  </p:cSld>
</p:sld>
</file>

<file path=ppt/slides/slide276.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Ruhen der Approbation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NORM IM FOKUS · § 6 BÄO</a:t>
            </a:r>
            <a:endParaRPr/>
          </a:p>
        </p:txBody>
      </p:sp>
      <p:sp>
        <p:nvSpPr>
          <p:cNvPr id="4" name="">
            <a:extLst xmlns:a="http://schemas.openxmlformats.org/drawingml/2006/main">
              <a:ext uri="{FF2B5EF4-FFF2-40B4-BE49-F238E27FC236}">
                <a16:creationId xmlns:a16="http://schemas.microsoft.com/office/drawing/2014/main" id="{A5C4A213-624D-41B4-B3BA-5C5301CDD746}"/>
              </a:ext>
            </a:extLst>
          </p:cNvPr>
          <p:cNvSpPr>
            <a:spLocks xmlns:a="http://schemas.openxmlformats.org/drawingml/2006/main" noGrp="1"/>
          </p:cNvSpPr>
          <p:nvPr/>
        </p:nvSpPr>
        <p:spPr>
          <a:xfrm xmlns:a="http://schemas.openxmlformats.org/drawingml/2006/main">
            <a:off x="1809750" y="1924050"/>
            <a:ext cx="2286000" cy="704850"/>
          </a:xfrm>
          <a:prstGeom xmlns:a="http://schemas.openxmlformats.org/drawingml/2006/main" prst="roundRect">
            <a:avLst>
              <a:gd name="adj" fmla="val 10811"/>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7D566D4C-ED3C-4E0A-8D2F-6ABAD243096D}"/>
              </a:ext>
            </a:extLst>
          </p:cNvPr>
          <p:cNvSpPr>
            <a:spLocks xmlns:a="http://schemas.openxmlformats.org/drawingml/2006/main" noGrp="1"/>
          </p:cNvSpPr>
          <p:nvPr/>
        </p:nvSpPr>
        <p:spPr>
          <a:xfrm xmlns:a="http://schemas.openxmlformats.org/drawingml/2006/main">
            <a:off x="1924050" y="1971675"/>
            <a:ext cx="2057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75" b="1">
                <a:solidFill>
                  <a:srgbClr val="FFFFFF"/>
                </a:solidFill>
              </a:defRPr>
            </a:pPr>
            <a:r>
              <a:rPr sz="1875" b="1">
                <a:solidFill>
                  <a:srgbClr val="FFFFFF"/>
                </a:solidFill>
              </a:rPr>
              <a:t>§ 6 BÄO</a:t>
            </a:r>
          </a:p>
        </p:txBody>
      </p:sp>
      <p:sp>
        <p:nvSpPr>
          <p:cNvPr id="6" name="">
            <a:extLst xmlns:a="http://schemas.openxmlformats.org/drawingml/2006/main">
              <a:ext uri="{FF2B5EF4-FFF2-40B4-BE49-F238E27FC236}">
                <a16:creationId xmlns:a16="http://schemas.microsoft.com/office/drawing/2014/main" id="{E59C3C1F-9A70-4829-89B7-705721CCC945}"/>
              </a:ext>
            </a:extLst>
          </p:cNvPr>
          <p:cNvSpPr>
            <a:spLocks xmlns:a="http://schemas.openxmlformats.org/drawingml/2006/main" noGrp="1"/>
          </p:cNvSpPr>
          <p:nvPr/>
        </p:nvSpPr>
        <p:spPr>
          <a:xfrm xmlns:a="http://schemas.openxmlformats.org/drawingml/2006/main">
            <a:off x="4362450" y="1924050"/>
            <a:ext cx="6972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15">
                <a:solidFill>
                  <a:srgbClr val="667680"/>
                </a:solidFill>
              </a:defRPr>
            </a:pPr>
            <a:r>
              <a:rPr sz="1215">
                <a:solidFill>
                  <a:srgbClr val="667680"/>
                </a:solidFill>
              </a:rPr>
              <a:t>Das Ruhen ist eine vorläufige Schutzmaßnahme in gesetzlich benannten Risikosituationen.</a:t>
            </a:r>
          </a:p>
        </p:txBody>
      </p:sp>
      <p:sp>
        <p:nvSpPr>
          <p:cNvPr id="7" name="">
            <a:extLst xmlns:a="http://schemas.openxmlformats.org/drawingml/2006/main">
              <a:ext uri="{FF2B5EF4-FFF2-40B4-BE49-F238E27FC236}">
                <a16:creationId xmlns:a16="http://schemas.microsoft.com/office/drawing/2014/main" id="{93A2BB38-4FB9-4178-83C4-1501463FB701}"/>
              </a:ext>
            </a:extLst>
          </p:cNvPr>
          <p:cNvSpPr>
            <a:spLocks xmlns:a="http://schemas.openxmlformats.org/drawingml/2006/main" noGrp="1"/>
          </p:cNvSpPr>
          <p:nvPr/>
        </p:nvSpPr>
        <p:spPr>
          <a:xfrm xmlns:a="http://schemas.openxmlformats.org/drawingml/2006/main">
            <a:off x="1809750" y="2781300"/>
            <a:ext cx="476250" cy="414338"/>
          </a:xfrm>
          <a:prstGeom xmlns:a="http://schemas.openxmlformats.org/drawingml/2006/main" prst="roundRect">
            <a:avLst>
              <a:gd name="adj" fmla="val 18391"/>
            </a:avLst>
          </a:prstGeom>
          <a:solidFill xmlns:a="http://schemas.openxmlformats.org/drawingml/2006/main">
            <a:srgbClr val="00B2BB"/>
          </a:solidFill>
          <a:ln xmlns:a="http://schemas.openxmlformats.org/drawingml/2006/main" w="0">
            <a:solidFill>
              <a:srgbClr val="00B2BB"/>
            </a:solidFill>
            <a:prstDash val="solid"/>
          </a:ln>
        </p:spPr>
      </p:sp>
      <p:sp>
        <p:nvSpPr>
          <p:cNvPr id="8" name="">
            <a:extLst xmlns:a="http://schemas.openxmlformats.org/drawingml/2006/main">
              <a:ext uri="{FF2B5EF4-FFF2-40B4-BE49-F238E27FC236}">
                <a16:creationId xmlns:a16="http://schemas.microsoft.com/office/drawing/2014/main" id="{ED331BE7-BF95-4389-A713-5D152FA826F8}"/>
              </a:ext>
            </a:extLst>
          </p:cNvPr>
          <p:cNvSpPr>
            <a:spLocks xmlns:a="http://schemas.openxmlformats.org/drawingml/2006/main" noGrp="1"/>
          </p:cNvSpPr>
          <p:nvPr/>
        </p:nvSpPr>
        <p:spPr>
          <a:xfrm xmlns:a="http://schemas.openxmlformats.org/drawingml/2006/main">
            <a:off x="1809750" y="2781300"/>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9" name="">
            <a:extLst xmlns:a="http://schemas.openxmlformats.org/drawingml/2006/main">
              <a:ext uri="{FF2B5EF4-FFF2-40B4-BE49-F238E27FC236}">
                <a16:creationId xmlns:a16="http://schemas.microsoft.com/office/drawing/2014/main" id="{52630C8B-6096-48CA-80F5-0263F3273AF5}"/>
              </a:ext>
            </a:extLst>
          </p:cNvPr>
          <p:cNvSpPr>
            <a:spLocks xmlns:a="http://schemas.openxmlformats.org/drawingml/2006/main" noGrp="1"/>
          </p:cNvSpPr>
          <p:nvPr/>
        </p:nvSpPr>
        <p:spPr>
          <a:xfrm xmlns:a="http://schemas.openxmlformats.org/drawingml/2006/main">
            <a:off x="2438400" y="2790825"/>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Strafverfahren</a:t>
            </a:r>
          </a:p>
        </p:txBody>
      </p:sp>
      <p:sp>
        <p:nvSpPr>
          <p:cNvPr id="10" name="">
            <a:extLst xmlns:a="http://schemas.openxmlformats.org/drawingml/2006/main">
              <a:ext uri="{FF2B5EF4-FFF2-40B4-BE49-F238E27FC236}">
                <a16:creationId xmlns:a16="http://schemas.microsoft.com/office/drawing/2014/main" id="{95D82569-FAAE-4200-803E-9C5505927EC7}"/>
              </a:ext>
            </a:extLst>
          </p:cNvPr>
          <p:cNvSpPr>
            <a:spLocks xmlns:a="http://schemas.openxmlformats.org/drawingml/2006/main" noGrp="1"/>
          </p:cNvSpPr>
          <p:nvPr/>
        </p:nvSpPr>
        <p:spPr>
          <a:xfrm xmlns:a="http://schemas.openxmlformats.org/drawingml/2006/main">
            <a:off x="4591050" y="2790825"/>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Ein eingeleitetes Verfahren wegen einer Tat, aus der Unwürdigkeit oder Unzuverlässigkeit folgen kann, kann tatbestandlich relevant sein.</a:t>
            </a:r>
          </a:p>
        </p:txBody>
      </p:sp>
      <p:sp>
        <p:nvSpPr>
          <p:cNvPr id="11" name="">
            <a:extLst xmlns:a="http://schemas.openxmlformats.org/drawingml/2006/main">
              <a:ext uri="{FF2B5EF4-FFF2-40B4-BE49-F238E27FC236}">
                <a16:creationId xmlns:a16="http://schemas.microsoft.com/office/drawing/2014/main" id="{307FF090-D881-4D4A-8D28-2128A670A2EE}"/>
              </a:ext>
            </a:extLst>
          </p:cNvPr>
          <p:cNvSpPr>
            <a:spLocks xmlns:a="http://schemas.openxmlformats.org/drawingml/2006/main" noGrp="1"/>
          </p:cNvSpPr>
          <p:nvPr/>
        </p:nvSpPr>
        <p:spPr>
          <a:xfrm xmlns:a="http://schemas.openxmlformats.org/drawingml/2006/main">
            <a:off x="1809750" y="3271838"/>
            <a:ext cx="476250" cy="414338"/>
          </a:xfrm>
          <a:prstGeom xmlns:a="http://schemas.openxmlformats.org/drawingml/2006/main" prst="roundRect">
            <a:avLst>
              <a:gd name="adj" fmla="val 18391"/>
            </a:avLst>
          </a:prstGeom>
          <a:solidFill xmlns:a="http://schemas.openxmlformats.org/drawingml/2006/main">
            <a:srgbClr val="003F6B"/>
          </a:solidFill>
          <a:ln xmlns:a="http://schemas.openxmlformats.org/drawingml/2006/main" w="0">
            <a:solidFill>
              <a:srgbClr val="003F6B"/>
            </a:solidFill>
            <a:prstDash val="solid"/>
          </a:ln>
        </p:spPr>
      </p:sp>
      <p:sp>
        <p:nvSpPr>
          <p:cNvPr id="12" name="">
            <a:extLst xmlns:a="http://schemas.openxmlformats.org/drawingml/2006/main">
              <a:ext uri="{FF2B5EF4-FFF2-40B4-BE49-F238E27FC236}">
                <a16:creationId xmlns:a16="http://schemas.microsoft.com/office/drawing/2014/main" id="{17720F39-363A-4996-AC56-77D324C1D394}"/>
              </a:ext>
            </a:extLst>
          </p:cNvPr>
          <p:cNvSpPr>
            <a:spLocks xmlns:a="http://schemas.openxmlformats.org/drawingml/2006/main" noGrp="1"/>
          </p:cNvSpPr>
          <p:nvPr/>
        </p:nvSpPr>
        <p:spPr>
          <a:xfrm xmlns:a="http://schemas.openxmlformats.org/drawingml/2006/main">
            <a:off x="1809750" y="3271838"/>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3" name="">
            <a:extLst xmlns:a="http://schemas.openxmlformats.org/drawingml/2006/main">
              <a:ext uri="{FF2B5EF4-FFF2-40B4-BE49-F238E27FC236}">
                <a16:creationId xmlns:a16="http://schemas.microsoft.com/office/drawing/2014/main" id="{26608506-0B87-4A6D-934B-0DA609731CAB}"/>
              </a:ext>
            </a:extLst>
          </p:cNvPr>
          <p:cNvSpPr>
            <a:spLocks xmlns:a="http://schemas.openxmlformats.org/drawingml/2006/main" noGrp="1"/>
          </p:cNvSpPr>
          <p:nvPr/>
        </p:nvSpPr>
        <p:spPr>
          <a:xfrm xmlns:a="http://schemas.openxmlformats.org/drawingml/2006/main">
            <a:off x="2438400" y="3281363"/>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Gesundheit/Sprache/Versicherung</a:t>
            </a:r>
          </a:p>
        </p:txBody>
      </p:sp>
      <p:sp>
        <p:nvSpPr>
          <p:cNvPr id="14" name="">
            <a:extLst xmlns:a="http://schemas.openxmlformats.org/drawingml/2006/main">
              <a:ext uri="{FF2B5EF4-FFF2-40B4-BE49-F238E27FC236}">
                <a16:creationId xmlns:a16="http://schemas.microsoft.com/office/drawing/2014/main" id="{B551D9A6-DCDD-49EB-AA0D-2BC9C5D33E71}"/>
              </a:ext>
            </a:extLst>
          </p:cNvPr>
          <p:cNvSpPr>
            <a:spLocks xmlns:a="http://schemas.openxmlformats.org/drawingml/2006/main" noGrp="1"/>
          </p:cNvSpPr>
          <p:nvPr/>
        </p:nvSpPr>
        <p:spPr>
          <a:xfrm xmlns:a="http://schemas.openxmlformats.org/drawingml/2006/main">
            <a:off x="4591050" y="3281363"/>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Weitere gesetzlich genannte Voraussetzungen betreffen Eignung, Mitwirkung bei Untersuchung, Sprachkenntnisse oder Haftpflichtschutz.</a:t>
            </a:r>
          </a:p>
        </p:txBody>
      </p:sp>
      <p:sp>
        <p:nvSpPr>
          <p:cNvPr id="15" name="">
            <a:extLst xmlns:a="http://schemas.openxmlformats.org/drawingml/2006/main">
              <a:ext uri="{FF2B5EF4-FFF2-40B4-BE49-F238E27FC236}">
                <a16:creationId xmlns:a16="http://schemas.microsoft.com/office/drawing/2014/main" id="{C82329DA-4CD9-4681-BC20-05D9EE0A9522}"/>
              </a:ext>
            </a:extLst>
          </p:cNvPr>
          <p:cNvSpPr>
            <a:spLocks xmlns:a="http://schemas.openxmlformats.org/drawingml/2006/main" noGrp="1"/>
          </p:cNvSpPr>
          <p:nvPr/>
        </p:nvSpPr>
        <p:spPr>
          <a:xfrm xmlns:a="http://schemas.openxmlformats.org/drawingml/2006/main">
            <a:off x="1809750" y="3762375"/>
            <a:ext cx="476250" cy="414338"/>
          </a:xfrm>
          <a:prstGeom xmlns:a="http://schemas.openxmlformats.org/drawingml/2006/main" prst="roundRect">
            <a:avLst>
              <a:gd name="adj" fmla="val 18391"/>
            </a:avLst>
          </a:prstGeom>
          <a:solidFill xmlns:a="http://schemas.openxmlformats.org/drawingml/2006/main">
            <a:srgbClr val="00B2BB"/>
          </a:solidFill>
          <a:ln xmlns:a="http://schemas.openxmlformats.org/drawingml/2006/main" w="0">
            <a:solidFill>
              <a:srgbClr val="00B2BB"/>
            </a:solidFill>
            <a:prstDash val="solid"/>
          </a:ln>
        </p:spPr>
      </p:sp>
      <p:sp>
        <p:nvSpPr>
          <p:cNvPr id="16" name="">
            <a:extLst xmlns:a="http://schemas.openxmlformats.org/drawingml/2006/main">
              <a:ext uri="{FF2B5EF4-FFF2-40B4-BE49-F238E27FC236}">
                <a16:creationId xmlns:a16="http://schemas.microsoft.com/office/drawing/2014/main" id="{9AF2A271-035C-4767-A94F-FBF7BBBE1FA0}"/>
              </a:ext>
            </a:extLst>
          </p:cNvPr>
          <p:cNvSpPr>
            <a:spLocks xmlns:a="http://schemas.openxmlformats.org/drawingml/2006/main" noGrp="1"/>
          </p:cNvSpPr>
          <p:nvPr/>
        </p:nvSpPr>
        <p:spPr>
          <a:xfrm xmlns:a="http://schemas.openxmlformats.org/drawingml/2006/main">
            <a:off x="1809750" y="3762375"/>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7" name="">
            <a:extLst xmlns:a="http://schemas.openxmlformats.org/drawingml/2006/main">
              <a:ext uri="{FF2B5EF4-FFF2-40B4-BE49-F238E27FC236}">
                <a16:creationId xmlns:a16="http://schemas.microsoft.com/office/drawing/2014/main" id="{D4E68AE9-F515-4A3D-8976-8B20BFA17D20}"/>
              </a:ext>
            </a:extLst>
          </p:cNvPr>
          <p:cNvSpPr>
            <a:spLocks xmlns:a="http://schemas.openxmlformats.org/drawingml/2006/main" noGrp="1"/>
          </p:cNvSpPr>
          <p:nvPr/>
        </p:nvSpPr>
        <p:spPr>
          <a:xfrm xmlns:a="http://schemas.openxmlformats.org/drawingml/2006/main">
            <a:off x="2438400" y="3771900"/>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Ermessen</a:t>
            </a:r>
          </a:p>
        </p:txBody>
      </p:sp>
      <p:sp>
        <p:nvSpPr>
          <p:cNvPr id="18" name="">
            <a:extLst xmlns:a="http://schemas.openxmlformats.org/drawingml/2006/main">
              <a:ext uri="{FF2B5EF4-FFF2-40B4-BE49-F238E27FC236}">
                <a16:creationId xmlns:a16="http://schemas.microsoft.com/office/drawing/2014/main" id="{08051CE7-916B-4AA5-8204-5797F5E199EF}"/>
              </a:ext>
            </a:extLst>
          </p:cNvPr>
          <p:cNvSpPr>
            <a:spLocks xmlns:a="http://schemas.openxmlformats.org/drawingml/2006/main" noGrp="1"/>
          </p:cNvSpPr>
          <p:nvPr/>
        </p:nvSpPr>
        <p:spPr>
          <a:xfrm xmlns:a="http://schemas.openxmlformats.org/drawingml/2006/main">
            <a:off x="4591050" y="3771900"/>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Die Behörde muss den Einzelfall und die Verhältnismäßigkeit prüfen; Ruhen ist nicht automatisch Folge jedes Ermittlungsverfahrens.</a:t>
            </a:r>
          </a:p>
        </p:txBody>
      </p:sp>
      <p:sp>
        <p:nvSpPr>
          <p:cNvPr id="19" name="">
            <a:extLst xmlns:a="http://schemas.openxmlformats.org/drawingml/2006/main">
              <a:ext uri="{FF2B5EF4-FFF2-40B4-BE49-F238E27FC236}">
                <a16:creationId xmlns:a16="http://schemas.microsoft.com/office/drawing/2014/main" id="{3AF1F98D-C896-425B-8328-59FB053FDBBB}"/>
              </a:ext>
            </a:extLst>
          </p:cNvPr>
          <p:cNvSpPr>
            <a:spLocks xmlns:a="http://schemas.openxmlformats.org/drawingml/2006/main" noGrp="1"/>
          </p:cNvSpPr>
          <p:nvPr/>
        </p:nvSpPr>
        <p:spPr>
          <a:xfrm xmlns:a="http://schemas.openxmlformats.org/drawingml/2006/main">
            <a:off x="1809750" y="4252913"/>
            <a:ext cx="476250" cy="414338"/>
          </a:xfrm>
          <a:prstGeom xmlns:a="http://schemas.openxmlformats.org/drawingml/2006/main" prst="roundRect">
            <a:avLst>
              <a:gd name="adj" fmla="val 18391"/>
            </a:avLst>
          </a:prstGeom>
          <a:solidFill xmlns:a="http://schemas.openxmlformats.org/drawingml/2006/main">
            <a:srgbClr val="003F6B"/>
          </a:solidFill>
          <a:ln xmlns:a="http://schemas.openxmlformats.org/drawingml/2006/main" w="0">
            <a:solidFill>
              <a:srgbClr val="003F6B"/>
            </a:solidFill>
            <a:prstDash val="solid"/>
          </a:ln>
        </p:spPr>
      </p:sp>
      <p:sp>
        <p:nvSpPr>
          <p:cNvPr id="20" name="">
            <a:extLst xmlns:a="http://schemas.openxmlformats.org/drawingml/2006/main">
              <a:ext uri="{FF2B5EF4-FFF2-40B4-BE49-F238E27FC236}">
                <a16:creationId xmlns:a16="http://schemas.microsoft.com/office/drawing/2014/main" id="{E82511F0-0650-4D7A-8045-C5BEAACF2CF2}"/>
              </a:ext>
            </a:extLst>
          </p:cNvPr>
          <p:cNvSpPr>
            <a:spLocks xmlns:a="http://schemas.openxmlformats.org/drawingml/2006/main" noGrp="1"/>
          </p:cNvSpPr>
          <p:nvPr/>
        </p:nvSpPr>
        <p:spPr>
          <a:xfrm xmlns:a="http://schemas.openxmlformats.org/drawingml/2006/main">
            <a:off x="1809750" y="4252913"/>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21" name="">
            <a:extLst xmlns:a="http://schemas.openxmlformats.org/drawingml/2006/main">
              <a:ext uri="{FF2B5EF4-FFF2-40B4-BE49-F238E27FC236}">
                <a16:creationId xmlns:a16="http://schemas.microsoft.com/office/drawing/2014/main" id="{8D7757FB-B689-434C-8E1D-42A5AB05749F}"/>
              </a:ext>
            </a:extLst>
          </p:cNvPr>
          <p:cNvSpPr>
            <a:spLocks xmlns:a="http://schemas.openxmlformats.org/drawingml/2006/main" noGrp="1"/>
          </p:cNvSpPr>
          <p:nvPr/>
        </p:nvSpPr>
        <p:spPr>
          <a:xfrm xmlns:a="http://schemas.openxmlformats.org/drawingml/2006/main">
            <a:off x="2438400" y="4262438"/>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Aufhebung</a:t>
            </a:r>
          </a:p>
        </p:txBody>
      </p:sp>
      <p:sp>
        <p:nvSpPr>
          <p:cNvPr id="22" name="">
            <a:extLst xmlns:a="http://schemas.openxmlformats.org/drawingml/2006/main">
              <a:ext uri="{FF2B5EF4-FFF2-40B4-BE49-F238E27FC236}">
                <a16:creationId xmlns:a16="http://schemas.microsoft.com/office/drawing/2014/main" id="{499A84C4-2951-4C78-BA91-211CEBBE2564}"/>
              </a:ext>
            </a:extLst>
          </p:cNvPr>
          <p:cNvSpPr>
            <a:spLocks xmlns:a="http://schemas.openxmlformats.org/drawingml/2006/main" noGrp="1"/>
          </p:cNvSpPr>
          <p:nvPr/>
        </p:nvSpPr>
        <p:spPr>
          <a:xfrm xmlns:a="http://schemas.openxmlformats.org/drawingml/2006/main">
            <a:off x="4591050" y="4262438"/>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Fallen die Voraussetzungen weg, ist die Anordnung aufzuheben.</a:t>
            </a:r>
          </a:p>
        </p:txBody>
      </p:sp>
      <p:sp>
        <p:nvSpPr>
          <p:cNvPr id="23" name="">
            <a:extLst xmlns:a="http://schemas.openxmlformats.org/drawingml/2006/main">
              <a:ext uri="{FF2B5EF4-FFF2-40B4-BE49-F238E27FC236}">
                <a16:creationId xmlns:a16="http://schemas.microsoft.com/office/drawing/2014/main" id="{23A38EFB-A948-4A4F-BE2E-98645559ECF5}"/>
              </a:ext>
            </a:extLst>
          </p:cNvPr>
          <p:cNvSpPr>
            <a:spLocks xmlns:a="http://schemas.openxmlformats.org/drawingml/2006/main" noGrp="1"/>
          </p:cNvSpPr>
          <p:nvPr/>
        </p:nvSpPr>
        <p:spPr>
          <a:xfrm xmlns:a="http://schemas.openxmlformats.org/drawingml/2006/main">
            <a:off x="1809750" y="4781550"/>
            <a:ext cx="9525000" cy="666750"/>
          </a:xfrm>
          <a:prstGeom xmlns:a="http://schemas.openxmlformats.org/drawingml/2006/main" prst="roundRect">
            <a:avLst>
              <a:gd name="adj" fmla="val 11429"/>
            </a:avLst>
          </a:prstGeom>
          <a:solidFill xmlns:a="http://schemas.openxmlformats.org/drawingml/2006/main">
            <a:srgbClr val="EAF6FB"/>
          </a:solidFill>
          <a:ln xmlns:a="http://schemas.openxmlformats.org/drawingml/2006/main" w="9525">
            <a:solidFill>
              <a:srgbClr val="00B2BB"/>
            </a:solidFill>
            <a:prstDash val="solid"/>
          </a:ln>
        </p:spPr>
      </p:sp>
      <p:sp>
        <p:nvSpPr>
          <p:cNvPr id="24" name="">
            <a:extLst xmlns:a="http://schemas.openxmlformats.org/drawingml/2006/main">
              <a:ext uri="{FF2B5EF4-FFF2-40B4-BE49-F238E27FC236}">
                <a16:creationId xmlns:a16="http://schemas.microsoft.com/office/drawing/2014/main" id="{14853DD2-1839-43CD-81AB-A1A47CE0588D}"/>
              </a:ext>
            </a:extLst>
          </p:cNvPr>
          <p:cNvSpPr>
            <a:spLocks xmlns:a="http://schemas.openxmlformats.org/drawingml/2006/main" noGrp="1"/>
          </p:cNvSpPr>
          <p:nvPr/>
        </p:nvSpPr>
        <p:spPr>
          <a:xfrm xmlns:a="http://schemas.openxmlformats.org/drawingml/2006/main">
            <a:off x="1981200" y="4829175"/>
            <a:ext cx="9182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065">
                <a:solidFill>
                  <a:srgbClr val="15232B"/>
                </a:solidFill>
              </a:defRPr>
            </a:pPr>
            <a:r>
              <a:rPr sz="1065">
                <a:solidFill>
                  <a:srgbClr val="15232B"/>
                </a:solidFill>
              </a:rPr>
              <a:t>Beispiel · Beispiel: Bei erheblichem berufsbezogenem Tatverdacht prüft die Behörde, ob bis zur Klärung eine konkrete Schutznotwendigkeit besteht.</a:t>
            </a:r>
          </a:p>
        </p:txBody>
      </p:sp>
      <p:sp>
        <p:nvSpPr>
          <p:cNvPr id="25" name="">
            <a:extLst xmlns:a="http://schemas.openxmlformats.org/drawingml/2006/main">
              <a:ext uri="{FF2B5EF4-FFF2-40B4-BE49-F238E27FC236}">
                <a16:creationId xmlns:a16="http://schemas.microsoft.com/office/drawing/2014/main" id="{D45CF461-7B9D-40A9-BB0B-FECF1C8620FD}"/>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6" name="">
            <a:extLst xmlns:a="http://schemas.openxmlformats.org/drawingml/2006/main">
              <a:ext uri="{FF2B5EF4-FFF2-40B4-BE49-F238E27FC236}">
                <a16:creationId xmlns:a16="http://schemas.microsoft.com/office/drawing/2014/main" id="{183F0415-8AB9-419D-AC1A-CC61DC79C800}"/>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Vorläufigkeit mindert die Grundrechtsintensität nicht; schneller Rechtsschutz kann entscheidend sein.</a:t>
            </a:r>
          </a:p>
        </p:txBody>
      </p:sp>
    </p:spTree>
    <p:extLst>
      <p:ext uri="{BB962C8B-B14F-4D97-AF65-F5344CB8AC3E}">
        <p14:creationId xmlns:p14="http://schemas.microsoft.com/office/powerpoint/2010/main" val="43637646"/>
      </p:ext>
    </p:extLst>
  </p:cSld>
</p:sld>
</file>

<file path=ppt/slides/slide277.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Der Verwaltungsakt</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62E595E0-697F-4322-A869-52EE5CA9C049}"/>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Approbationsentscheidungen ergehen regelmäßig als Verwaltungsakte und unterliegen besonderen Form- und Rechtsschutzregeln.</a:t>
            </a:r>
          </a:p>
        </p:txBody>
      </p:sp>
      <p:sp>
        <p:nvSpPr>
          <p:cNvPr id="5" name="">
            <a:extLst xmlns:a="http://schemas.openxmlformats.org/drawingml/2006/main">
              <a:ext uri="{FF2B5EF4-FFF2-40B4-BE49-F238E27FC236}">
                <a16:creationId xmlns:a16="http://schemas.microsoft.com/office/drawing/2014/main" id="{67934063-D49C-4FBA-8254-CA3FEF983073}"/>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60BDD4FA-94F5-4AAD-8E62-7FB1EE158B74}"/>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1D0C29A1-5541-4FD0-BADD-504995815F9C}"/>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Hoheitliche Regelung</a:t>
            </a:r>
          </a:p>
        </p:txBody>
      </p:sp>
      <p:sp>
        <p:nvSpPr>
          <p:cNvPr id="8" name="">
            <a:extLst xmlns:a="http://schemas.openxmlformats.org/drawingml/2006/main">
              <a:ext uri="{FF2B5EF4-FFF2-40B4-BE49-F238E27FC236}">
                <a16:creationId xmlns:a16="http://schemas.microsoft.com/office/drawing/2014/main" id="{CCF9353D-1E16-46DC-9CFA-68A4CD4E0087}"/>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Eine Behörde trifft eine verbindliche Einzelfallregelung mit Außenwirkung.</a:t>
            </a:r>
          </a:p>
        </p:txBody>
      </p:sp>
      <p:sp>
        <p:nvSpPr>
          <p:cNvPr id="9" name="">
            <a:extLst xmlns:a="http://schemas.openxmlformats.org/drawingml/2006/main">
              <a:ext uri="{FF2B5EF4-FFF2-40B4-BE49-F238E27FC236}">
                <a16:creationId xmlns:a16="http://schemas.microsoft.com/office/drawing/2014/main" id="{7B0E5F53-F15F-4B32-BD1C-5DCA6DBF022C}"/>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BD023279-7C1B-4A01-99B6-338756F57787}"/>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E035C284-03C5-4D20-8DDD-05250EA566D3}"/>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Anhörung</a:t>
            </a:r>
          </a:p>
        </p:txBody>
      </p:sp>
      <p:sp>
        <p:nvSpPr>
          <p:cNvPr id="12" name="">
            <a:extLst xmlns:a="http://schemas.openxmlformats.org/drawingml/2006/main">
              <a:ext uri="{FF2B5EF4-FFF2-40B4-BE49-F238E27FC236}">
                <a16:creationId xmlns:a16="http://schemas.microsoft.com/office/drawing/2014/main" id="{3B89DEC9-4FAC-4A23-99E6-67E325779EA6}"/>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Vor belastenden Entscheidungen ist grundsätzlich Gelegenheit zur Stellungnahme zu geben; Ausnahmen und Heilung sind gesetzlich geregelt.</a:t>
            </a:r>
          </a:p>
        </p:txBody>
      </p:sp>
      <p:sp>
        <p:nvSpPr>
          <p:cNvPr id="13" name="">
            <a:extLst xmlns:a="http://schemas.openxmlformats.org/drawingml/2006/main">
              <a:ext uri="{FF2B5EF4-FFF2-40B4-BE49-F238E27FC236}">
                <a16:creationId xmlns:a16="http://schemas.microsoft.com/office/drawing/2014/main" id="{AAEA746E-2C83-42FE-BB40-89F12BACF785}"/>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9D2A665B-58E4-44B6-8E37-4CAFA3C22A4F}"/>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7D5BA0CD-9C42-446F-A3EE-AABFCD9F5C03}"/>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Begründung</a:t>
            </a:r>
          </a:p>
        </p:txBody>
      </p:sp>
      <p:sp>
        <p:nvSpPr>
          <p:cNvPr id="16" name="">
            <a:extLst xmlns:a="http://schemas.openxmlformats.org/drawingml/2006/main">
              <a:ext uri="{FF2B5EF4-FFF2-40B4-BE49-F238E27FC236}">
                <a16:creationId xmlns:a16="http://schemas.microsoft.com/office/drawing/2014/main" id="{72B3FF0F-F79A-4FBA-9984-31CFA0BECCA5}"/>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Tatsachen, Rechtsgrundlagen und wesentliche Erwägungen müssen nachvollziehbar werden.</a:t>
            </a:r>
          </a:p>
        </p:txBody>
      </p:sp>
      <p:sp>
        <p:nvSpPr>
          <p:cNvPr id="17" name="">
            <a:extLst xmlns:a="http://schemas.openxmlformats.org/drawingml/2006/main">
              <a:ext uri="{FF2B5EF4-FFF2-40B4-BE49-F238E27FC236}">
                <a16:creationId xmlns:a16="http://schemas.microsoft.com/office/drawing/2014/main" id="{BC34A0CC-1961-42EC-9733-CFC18DE22DBF}"/>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D34A1C7D-F5DE-4E72-9904-3EFC67161D48}"/>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EC3BD5AF-7765-4ACC-89F2-F8D548E823C7}"/>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Bekanntgabe</a:t>
            </a:r>
          </a:p>
        </p:txBody>
      </p:sp>
      <p:sp>
        <p:nvSpPr>
          <p:cNvPr id="20" name="">
            <a:extLst xmlns:a="http://schemas.openxmlformats.org/drawingml/2006/main">
              <a:ext uri="{FF2B5EF4-FFF2-40B4-BE49-F238E27FC236}">
                <a16:creationId xmlns:a16="http://schemas.microsoft.com/office/drawing/2014/main" id="{E6A7E102-9D89-49C1-A5FF-FAACB38B33B9}"/>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Wirksamkeit und Rechtsbehelfsfristen knüpfen regelmäßig an ordnungsgemäße Bekanntgabe an.</a:t>
            </a:r>
          </a:p>
        </p:txBody>
      </p:sp>
      <p:sp>
        <p:nvSpPr>
          <p:cNvPr id="21" name="">
            <a:extLst xmlns:a="http://schemas.openxmlformats.org/drawingml/2006/main">
              <a:ext uri="{FF2B5EF4-FFF2-40B4-BE49-F238E27FC236}">
                <a16:creationId xmlns:a16="http://schemas.microsoft.com/office/drawing/2014/main" id="{62BA2588-303F-411C-8FBB-F1E3129A7E58}"/>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2E6A54B8-C31A-4CB0-8B73-F12F3983DF75}"/>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Behördenpost wird sofort auf Regelungsgehalt, Begründung, Rechtsbehelfsbelehrung und Frist geprüft.</a:t>
            </a:r>
          </a:p>
        </p:txBody>
      </p:sp>
    </p:spTree>
    <p:extLst>
      <p:ext uri="{BB962C8B-B14F-4D97-AF65-F5344CB8AC3E}">
        <p14:creationId xmlns:p14="http://schemas.microsoft.com/office/powerpoint/2010/main" val="43637646"/>
      </p:ext>
    </p:extLst>
  </p:cSld>
</p:sld>
</file>

<file path=ppt/slides/slide278.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Verwaltungsrechtsschutz Schritt für Schritt</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VERFAHREN VERSTEHEN</a:t>
            </a:r>
            <a:endParaRPr/>
          </a:p>
        </p:txBody>
      </p:sp>
      <p:sp>
        <p:nvSpPr>
          <p:cNvPr id="4" name="">
            <a:extLst xmlns:a="http://schemas.openxmlformats.org/drawingml/2006/main">
              <a:ext uri="{FF2B5EF4-FFF2-40B4-BE49-F238E27FC236}">
                <a16:creationId xmlns:a16="http://schemas.microsoft.com/office/drawing/2014/main" id="{F2027A6C-B010-46AD-9671-8907E847DF65}"/>
              </a:ext>
            </a:extLst>
          </p:cNvPr>
          <p:cNvSpPr>
            <a:spLocks xmlns:a="http://schemas.openxmlformats.org/drawingml/2006/main" noGrp="1"/>
          </p:cNvSpPr>
          <p:nvPr/>
        </p:nvSpPr>
        <p:spPr>
          <a:xfrm xmlns:a="http://schemas.openxmlformats.org/drawingml/2006/main">
            <a:off x="1809750" y="1885950"/>
            <a:ext cx="9525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15">
                <a:solidFill>
                  <a:srgbClr val="667680"/>
                </a:solidFill>
              </a:defRPr>
            </a:pPr>
            <a:r>
              <a:rPr sz="1215">
                <a:solidFill>
                  <a:srgbClr val="667680"/>
                </a:solidFill>
              </a:rPr>
              <a:t>Gegen belastende Approbationsentscheidungen stehen je nach Landes- und Bundesrecht mehrere Rechtsschutzwege offen.</a:t>
            </a:r>
          </a:p>
        </p:txBody>
      </p:sp>
      <p:sp>
        <p:nvSpPr>
          <p:cNvPr id="5" name="">
            <a:extLst xmlns:a="http://schemas.openxmlformats.org/drawingml/2006/main">
              <a:ext uri="{FF2B5EF4-FFF2-40B4-BE49-F238E27FC236}">
                <a16:creationId xmlns:a16="http://schemas.microsoft.com/office/drawing/2014/main" id="{15A5E0D2-C9FA-40F1-B9B7-FCD1F8A54264}"/>
              </a:ext>
            </a:extLst>
          </p:cNvPr>
          <p:cNvSpPr>
            <a:spLocks xmlns:a="http://schemas.openxmlformats.org/drawingml/2006/main" noGrp="1"/>
          </p:cNvSpPr>
          <p:nvPr/>
        </p:nvSpPr>
        <p:spPr>
          <a:xfrm xmlns:a="http://schemas.openxmlformats.org/drawingml/2006/main">
            <a:off x="1981200" y="2952750"/>
            <a:ext cx="9182100" cy="0"/>
          </a:xfrm>
          <a:prstGeom xmlns:a="http://schemas.openxmlformats.org/drawingml/2006/main" prst="line">
            <a:avLst/>
          </a:prstGeom>
          <a:noFill xmlns:a="http://schemas.openxmlformats.org/drawingml/2006/main"/>
          <a:ln xmlns:a="http://schemas.openxmlformats.org/drawingml/2006/main" w="28575">
            <a:solidFill>
              <a:srgbClr val="B9CAD2"/>
            </a:solidFill>
            <a:prstDash val="solid"/>
          </a:ln>
        </p:spPr>
      </p:sp>
      <p:sp>
        <p:nvSpPr>
          <p:cNvPr id="6" name="">
            <a:extLst xmlns:a="http://schemas.openxmlformats.org/drawingml/2006/main">
              <a:ext uri="{FF2B5EF4-FFF2-40B4-BE49-F238E27FC236}">
                <a16:creationId xmlns:a16="http://schemas.microsoft.com/office/drawing/2014/main" id="{73BC23A3-ED93-4E13-BB2A-ED9C810F19B4}"/>
              </a:ext>
            </a:extLst>
          </p:cNvPr>
          <p:cNvSpPr>
            <a:spLocks xmlns:a="http://schemas.openxmlformats.org/drawingml/2006/main" noGrp="1"/>
          </p:cNvSpPr>
          <p:nvPr/>
        </p:nvSpPr>
        <p:spPr>
          <a:xfrm xmlns:a="http://schemas.openxmlformats.org/drawingml/2006/main">
            <a:off x="1809750" y="2495550"/>
            <a:ext cx="1828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Anhörung/Stellungnahme</a:t>
            </a:r>
          </a:p>
        </p:txBody>
      </p:sp>
      <p:sp>
        <p:nvSpPr>
          <p:cNvPr id="7" name="">
            <a:extLst xmlns:a="http://schemas.openxmlformats.org/drawingml/2006/main">
              <a:ext uri="{FF2B5EF4-FFF2-40B4-BE49-F238E27FC236}">
                <a16:creationId xmlns:a16="http://schemas.microsoft.com/office/drawing/2014/main" id="{DA09AB41-B3DB-48DB-80E5-BF3A7E40F4EF}"/>
              </a:ext>
            </a:extLst>
          </p:cNvPr>
          <p:cNvSpPr>
            <a:spLocks xmlns:a="http://schemas.openxmlformats.org/drawingml/2006/main" noGrp="1"/>
          </p:cNvSpPr>
          <p:nvPr/>
        </p:nvSpPr>
        <p:spPr>
          <a:xfrm xmlns:a="http://schemas.openxmlformats.org/drawingml/2006/main">
            <a:off x="2600325" y="2838450"/>
            <a:ext cx="247650" cy="247650"/>
          </a:xfrm>
          <a:prstGeom xmlns:a="http://schemas.openxmlformats.org/drawingml/2006/main" prst="ellipse">
            <a:avLst/>
          </a:prstGeom>
          <a:solidFill xmlns:a="http://schemas.openxmlformats.org/drawingml/2006/main">
            <a:srgbClr val="003F6B"/>
          </a:solidFill>
          <a:ln xmlns:a="http://schemas.openxmlformats.org/drawingml/2006/main" w="19050">
            <a:solidFill>
              <a:srgbClr val="FFFFFF"/>
            </a:solidFill>
            <a:prstDash val="solid"/>
          </a:ln>
        </p:spPr>
      </p:sp>
      <p:sp>
        <p:nvSpPr>
          <p:cNvPr id="8" name="">
            <a:extLst xmlns:a="http://schemas.openxmlformats.org/drawingml/2006/main">
              <a:ext uri="{FF2B5EF4-FFF2-40B4-BE49-F238E27FC236}">
                <a16:creationId xmlns:a16="http://schemas.microsoft.com/office/drawing/2014/main" id="{02AE0F5C-5921-479F-B17F-872CE0754261}"/>
              </a:ext>
            </a:extLst>
          </p:cNvPr>
          <p:cNvSpPr>
            <a:spLocks xmlns:a="http://schemas.openxmlformats.org/drawingml/2006/main" noGrp="1"/>
          </p:cNvSpPr>
          <p:nvPr/>
        </p:nvSpPr>
        <p:spPr>
          <a:xfrm xmlns:a="http://schemas.openxmlformats.org/drawingml/2006/main">
            <a:off x="1809750" y="3219450"/>
            <a:ext cx="1828800" cy="2000250"/>
          </a:xfrm>
          <a:prstGeom xmlns:a="http://schemas.openxmlformats.org/drawingml/2006/main" prst="roundRect">
            <a:avLst>
              <a:gd name="adj" fmla="val 4167"/>
            </a:avLst>
          </a:prstGeom>
          <a:noFill xmlns:a="http://schemas.openxmlformats.org/drawingml/2006/main"/>
          <a:ln xmlns:a="http://schemas.openxmlformats.org/drawingml/2006/main" w="9525">
            <a:solidFill>
              <a:srgbClr val="00B2BB"/>
            </a:solidFill>
            <a:prstDash val="solid"/>
          </a:ln>
        </p:spPr>
      </p:sp>
      <p:sp>
        <p:nvSpPr>
          <p:cNvPr id="9" name="">
            <a:extLst xmlns:a="http://schemas.openxmlformats.org/drawingml/2006/main">
              <a:ext uri="{FF2B5EF4-FFF2-40B4-BE49-F238E27FC236}">
                <a16:creationId xmlns:a16="http://schemas.microsoft.com/office/drawing/2014/main" id="{14BB2DA5-A91F-4CE6-A73E-C1EA3A008911}"/>
              </a:ext>
            </a:extLst>
          </p:cNvPr>
          <p:cNvSpPr>
            <a:spLocks xmlns:a="http://schemas.openxmlformats.org/drawingml/2006/main" noGrp="1"/>
          </p:cNvSpPr>
          <p:nvPr/>
        </p:nvSpPr>
        <p:spPr>
          <a:xfrm xmlns:a="http://schemas.openxmlformats.org/drawingml/2006/main">
            <a:off x="1905000" y="3314700"/>
            <a:ext cx="16383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Schon vor Erlass werden Tatsachen, Prognose, mildere Mittel und Verfahrensfehler vorgetragen.</a:t>
            </a:r>
          </a:p>
        </p:txBody>
      </p:sp>
      <p:sp>
        <p:nvSpPr>
          <p:cNvPr id="10" name="">
            <a:extLst xmlns:a="http://schemas.openxmlformats.org/drawingml/2006/main">
              <a:ext uri="{FF2B5EF4-FFF2-40B4-BE49-F238E27FC236}">
                <a16:creationId xmlns:a16="http://schemas.microsoft.com/office/drawing/2014/main" id="{03F7E4B4-86A2-44F1-BE47-936A0C6CD3FC}"/>
              </a:ext>
            </a:extLst>
          </p:cNvPr>
          <p:cNvSpPr>
            <a:spLocks xmlns:a="http://schemas.openxmlformats.org/drawingml/2006/main" noGrp="1"/>
          </p:cNvSpPr>
          <p:nvPr/>
        </p:nvSpPr>
        <p:spPr>
          <a:xfrm xmlns:a="http://schemas.openxmlformats.org/drawingml/2006/main">
            <a:off x="3733800" y="2495550"/>
            <a:ext cx="1828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Widerspruch</a:t>
            </a:r>
          </a:p>
        </p:txBody>
      </p:sp>
      <p:sp>
        <p:nvSpPr>
          <p:cNvPr id="11" name="">
            <a:extLst xmlns:a="http://schemas.openxmlformats.org/drawingml/2006/main">
              <a:ext uri="{FF2B5EF4-FFF2-40B4-BE49-F238E27FC236}">
                <a16:creationId xmlns:a16="http://schemas.microsoft.com/office/drawing/2014/main" id="{35FF472C-EC0D-4A5B-B9B3-8586B5F618B5}"/>
              </a:ext>
            </a:extLst>
          </p:cNvPr>
          <p:cNvSpPr>
            <a:spLocks xmlns:a="http://schemas.openxmlformats.org/drawingml/2006/main" noGrp="1"/>
          </p:cNvSpPr>
          <p:nvPr/>
        </p:nvSpPr>
        <p:spPr>
          <a:xfrm xmlns:a="http://schemas.openxmlformats.org/drawingml/2006/main">
            <a:off x="4524375" y="2838450"/>
            <a:ext cx="247650" cy="24765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12" name="">
            <a:extLst xmlns:a="http://schemas.openxmlformats.org/drawingml/2006/main">
              <a:ext uri="{FF2B5EF4-FFF2-40B4-BE49-F238E27FC236}">
                <a16:creationId xmlns:a16="http://schemas.microsoft.com/office/drawing/2014/main" id="{F65BBE5B-1524-4554-82DB-95268B81E4DB}"/>
              </a:ext>
            </a:extLst>
          </p:cNvPr>
          <p:cNvSpPr>
            <a:spLocks xmlns:a="http://schemas.openxmlformats.org/drawingml/2006/main" noGrp="1"/>
          </p:cNvSpPr>
          <p:nvPr/>
        </p:nvSpPr>
        <p:spPr>
          <a:xfrm xmlns:a="http://schemas.openxmlformats.org/drawingml/2006/main">
            <a:off x="3733800" y="3219450"/>
            <a:ext cx="1828800" cy="2000250"/>
          </a:xfrm>
          <a:prstGeom xmlns:a="http://schemas.openxmlformats.org/drawingml/2006/main" prst="roundRect">
            <a:avLst>
              <a:gd name="adj" fmla="val 4167"/>
            </a:avLst>
          </a:prstGeom>
          <a:noFill xmlns:a="http://schemas.openxmlformats.org/drawingml/2006/main"/>
          <a:ln xmlns:a="http://schemas.openxmlformats.org/drawingml/2006/main" w="9525">
            <a:solidFill>
              <a:srgbClr val="003F6B"/>
            </a:solidFill>
            <a:prstDash val="solid"/>
          </a:ln>
        </p:spPr>
      </p:sp>
      <p:sp>
        <p:nvSpPr>
          <p:cNvPr id="13" name="">
            <a:extLst xmlns:a="http://schemas.openxmlformats.org/drawingml/2006/main">
              <a:ext uri="{FF2B5EF4-FFF2-40B4-BE49-F238E27FC236}">
                <a16:creationId xmlns:a16="http://schemas.microsoft.com/office/drawing/2014/main" id="{9116CA32-2BD2-4E8E-9421-8A87F1E7102F}"/>
              </a:ext>
            </a:extLst>
          </p:cNvPr>
          <p:cNvSpPr>
            <a:spLocks xmlns:a="http://schemas.openxmlformats.org/drawingml/2006/main" noGrp="1"/>
          </p:cNvSpPr>
          <p:nvPr/>
        </p:nvSpPr>
        <p:spPr>
          <a:xfrm xmlns:a="http://schemas.openxmlformats.org/drawingml/2006/main">
            <a:off x="3829050" y="3314700"/>
            <a:ext cx="16383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Soweit vorgesehen, wird innerhalb der Frist behördliche Überprüfung beantragt.</a:t>
            </a:r>
          </a:p>
        </p:txBody>
      </p:sp>
      <p:sp>
        <p:nvSpPr>
          <p:cNvPr id="14" name="">
            <a:extLst xmlns:a="http://schemas.openxmlformats.org/drawingml/2006/main">
              <a:ext uri="{FF2B5EF4-FFF2-40B4-BE49-F238E27FC236}">
                <a16:creationId xmlns:a16="http://schemas.microsoft.com/office/drawing/2014/main" id="{E190FD68-2AD6-454A-A0CF-D242F67FDD96}"/>
              </a:ext>
            </a:extLst>
          </p:cNvPr>
          <p:cNvSpPr>
            <a:spLocks xmlns:a="http://schemas.openxmlformats.org/drawingml/2006/main" noGrp="1"/>
          </p:cNvSpPr>
          <p:nvPr/>
        </p:nvSpPr>
        <p:spPr>
          <a:xfrm xmlns:a="http://schemas.openxmlformats.org/drawingml/2006/main">
            <a:off x="5657850" y="2495550"/>
            <a:ext cx="1828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Anfechtungsklage</a:t>
            </a:r>
          </a:p>
        </p:txBody>
      </p:sp>
      <p:sp>
        <p:nvSpPr>
          <p:cNvPr id="15" name="">
            <a:extLst xmlns:a="http://schemas.openxmlformats.org/drawingml/2006/main">
              <a:ext uri="{FF2B5EF4-FFF2-40B4-BE49-F238E27FC236}">
                <a16:creationId xmlns:a16="http://schemas.microsoft.com/office/drawing/2014/main" id="{E3932A65-8B4D-4835-B64B-EEB843D2F85C}"/>
              </a:ext>
            </a:extLst>
          </p:cNvPr>
          <p:cNvSpPr>
            <a:spLocks xmlns:a="http://schemas.openxmlformats.org/drawingml/2006/main" noGrp="1"/>
          </p:cNvSpPr>
          <p:nvPr/>
        </p:nvSpPr>
        <p:spPr>
          <a:xfrm xmlns:a="http://schemas.openxmlformats.org/drawingml/2006/main">
            <a:off x="6448425" y="2838450"/>
            <a:ext cx="247650" cy="24765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16" name="">
            <a:extLst xmlns:a="http://schemas.openxmlformats.org/drawingml/2006/main">
              <a:ext uri="{FF2B5EF4-FFF2-40B4-BE49-F238E27FC236}">
                <a16:creationId xmlns:a16="http://schemas.microsoft.com/office/drawing/2014/main" id="{AD6BAAE4-5D6D-4909-AEA7-6AC7BA1D7A96}"/>
              </a:ext>
            </a:extLst>
          </p:cNvPr>
          <p:cNvSpPr>
            <a:spLocks xmlns:a="http://schemas.openxmlformats.org/drawingml/2006/main" noGrp="1"/>
          </p:cNvSpPr>
          <p:nvPr/>
        </p:nvSpPr>
        <p:spPr>
          <a:xfrm xmlns:a="http://schemas.openxmlformats.org/drawingml/2006/main">
            <a:off x="5657850" y="3219450"/>
            <a:ext cx="1828800" cy="2000250"/>
          </a:xfrm>
          <a:prstGeom xmlns:a="http://schemas.openxmlformats.org/drawingml/2006/main" prst="roundRect">
            <a:avLst>
              <a:gd name="adj" fmla="val 4167"/>
            </a:avLst>
          </a:prstGeom>
          <a:noFill xmlns:a="http://schemas.openxmlformats.org/drawingml/2006/main"/>
          <a:ln xmlns:a="http://schemas.openxmlformats.org/drawingml/2006/main" w="9525">
            <a:solidFill>
              <a:srgbClr val="00B2BB"/>
            </a:solidFill>
            <a:prstDash val="solid"/>
          </a:ln>
        </p:spPr>
      </p:sp>
      <p:sp>
        <p:nvSpPr>
          <p:cNvPr id="17" name="">
            <a:extLst xmlns:a="http://schemas.openxmlformats.org/drawingml/2006/main">
              <a:ext uri="{FF2B5EF4-FFF2-40B4-BE49-F238E27FC236}">
                <a16:creationId xmlns:a16="http://schemas.microsoft.com/office/drawing/2014/main" id="{4D1C18D9-1668-4917-AFF0-CD879945ADA4}"/>
              </a:ext>
            </a:extLst>
          </p:cNvPr>
          <p:cNvSpPr>
            <a:spLocks xmlns:a="http://schemas.openxmlformats.org/drawingml/2006/main" noGrp="1"/>
          </p:cNvSpPr>
          <p:nvPr/>
        </p:nvSpPr>
        <p:spPr>
          <a:xfrm xmlns:a="http://schemas.openxmlformats.org/drawingml/2006/main">
            <a:off x="5753100" y="3314700"/>
            <a:ext cx="16383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Sie zielt auf Aufhebung eines belastenden Verwaltungsakts.</a:t>
            </a:r>
          </a:p>
        </p:txBody>
      </p:sp>
      <p:sp>
        <p:nvSpPr>
          <p:cNvPr id="18" name="">
            <a:extLst xmlns:a="http://schemas.openxmlformats.org/drawingml/2006/main">
              <a:ext uri="{FF2B5EF4-FFF2-40B4-BE49-F238E27FC236}">
                <a16:creationId xmlns:a16="http://schemas.microsoft.com/office/drawing/2014/main" id="{F4CBEAA7-FDEB-4DD3-8E59-2C4BAB54F8AC}"/>
              </a:ext>
            </a:extLst>
          </p:cNvPr>
          <p:cNvSpPr>
            <a:spLocks xmlns:a="http://schemas.openxmlformats.org/drawingml/2006/main" noGrp="1"/>
          </p:cNvSpPr>
          <p:nvPr/>
        </p:nvSpPr>
        <p:spPr>
          <a:xfrm xmlns:a="http://schemas.openxmlformats.org/drawingml/2006/main">
            <a:off x="7581900" y="2495550"/>
            <a:ext cx="1828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Eilrechtsschutz</a:t>
            </a:r>
          </a:p>
        </p:txBody>
      </p:sp>
      <p:sp>
        <p:nvSpPr>
          <p:cNvPr id="19" name="">
            <a:extLst xmlns:a="http://schemas.openxmlformats.org/drawingml/2006/main">
              <a:ext uri="{FF2B5EF4-FFF2-40B4-BE49-F238E27FC236}">
                <a16:creationId xmlns:a16="http://schemas.microsoft.com/office/drawing/2014/main" id="{D21FAD5A-D57C-40DD-8DC4-E172D524C738}"/>
              </a:ext>
            </a:extLst>
          </p:cNvPr>
          <p:cNvSpPr>
            <a:spLocks xmlns:a="http://schemas.openxmlformats.org/drawingml/2006/main" noGrp="1"/>
          </p:cNvSpPr>
          <p:nvPr/>
        </p:nvSpPr>
        <p:spPr>
          <a:xfrm xmlns:a="http://schemas.openxmlformats.org/drawingml/2006/main">
            <a:off x="8372475" y="2838450"/>
            <a:ext cx="247650" cy="24765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20" name="">
            <a:extLst xmlns:a="http://schemas.openxmlformats.org/drawingml/2006/main">
              <a:ext uri="{FF2B5EF4-FFF2-40B4-BE49-F238E27FC236}">
                <a16:creationId xmlns:a16="http://schemas.microsoft.com/office/drawing/2014/main" id="{10B6548A-39BA-4258-81FF-EAB77FA68CCC}"/>
              </a:ext>
            </a:extLst>
          </p:cNvPr>
          <p:cNvSpPr>
            <a:spLocks xmlns:a="http://schemas.openxmlformats.org/drawingml/2006/main" noGrp="1"/>
          </p:cNvSpPr>
          <p:nvPr/>
        </p:nvSpPr>
        <p:spPr>
          <a:xfrm xmlns:a="http://schemas.openxmlformats.org/drawingml/2006/main">
            <a:off x="7581900" y="3219450"/>
            <a:ext cx="1828800" cy="2000250"/>
          </a:xfrm>
          <a:prstGeom xmlns:a="http://schemas.openxmlformats.org/drawingml/2006/main" prst="roundRect">
            <a:avLst>
              <a:gd name="adj" fmla="val 4167"/>
            </a:avLst>
          </a:prstGeom>
          <a:noFill xmlns:a="http://schemas.openxmlformats.org/drawingml/2006/main"/>
          <a:ln xmlns:a="http://schemas.openxmlformats.org/drawingml/2006/main" w="9525">
            <a:solidFill>
              <a:srgbClr val="003F6B"/>
            </a:solidFill>
            <a:prstDash val="solid"/>
          </a:ln>
        </p:spPr>
      </p:sp>
      <p:sp>
        <p:nvSpPr>
          <p:cNvPr id="21" name="">
            <a:extLst xmlns:a="http://schemas.openxmlformats.org/drawingml/2006/main">
              <a:ext uri="{FF2B5EF4-FFF2-40B4-BE49-F238E27FC236}">
                <a16:creationId xmlns:a16="http://schemas.microsoft.com/office/drawing/2014/main" id="{EF62C1C6-7AF4-4F6B-9870-B6E8A5709B32}"/>
              </a:ext>
            </a:extLst>
          </p:cNvPr>
          <p:cNvSpPr>
            <a:spLocks xmlns:a="http://schemas.openxmlformats.org/drawingml/2006/main" noGrp="1"/>
          </p:cNvSpPr>
          <p:nvPr/>
        </p:nvSpPr>
        <p:spPr>
          <a:xfrm xmlns:a="http://schemas.openxmlformats.org/drawingml/2006/main">
            <a:off x="7677150" y="3314700"/>
            <a:ext cx="16383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Bei sofortiger Vollziehung oder dringender Gefährdung der Berufsausübung wird vorläufiger Rechtsschutz nach §§ 80, 80a oder 123 VwGO geprüft.</a:t>
            </a:r>
          </a:p>
        </p:txBody>
      </p:sp>
      <p:sp>
        <p:nvSpPr>
          <p:cNvPr id="22" name="">
            <a:extLst xmlns:a="http://schemas.openxmlformats.org/drawingml/2006/main">
              <a:ext uri="{FF2B5EF4-FFF2-40B4-BE49-F238E27FC236}">
                <a16:creationId xmlns:a16="http://schemas.microsoft.com/office/drawing/2014/main" id="{A4B2B8B1-1AC8-4EDB-9DC0-D308517F3467}"/>
              </a:ext>
            </a:extLst>
          </p:cNvPr>
          <p:cNvSpPr>
            <a:spLocks xmlns:a="http://schemas.openxmlformats.org/drawingml/2006/main" noGrp="1"/>
          </p:cNvSpPr>
          <p:nvPr/>
        </p:nvSpPr>
        <p:spPr>
          <a:xfrm xmlns:a="http://schemas.openxmlformats.org/drawingml/2006/main">
            <a:off x="9505950" y="2495550"/>
            <a:ext cx="1828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Hauptsacheentscheidung</a:t>
            </a:r>
          </a:p>
        </p:txBody>
      </p:sp>
      <p:sp>
        <p:nvSpPr>
          <p:cNvPr id="23" name="">
            <a:extLst xmlns:a="http://schemas.openxmlformats.org/drawingml/2006/main">
              <a:ext uri="{FF2B5EF4-FFF2-40B4-BE49-F238E27FC236}">
                <a16:creationId xmlns:a16="http://schemas.microsoft.com/office/drawing/2014/main" id="{0FEC1DF7-21F5-4855-9E8B-BD8263703FB9}"/>
              </a:ext>
            </a:extLst>
          </p:cNvPr>
          <p:cNvSpPr>
            <a:spLocks xmlns:a="http://schemas.openxmlformats.org/drawingml/2006/main" noGrp="1"/>
          </p:cNvSpPr>
          <p:nvPr/>
        </p:nvSpPr>
        <p:spPr>
          <a:xfrm xmlns:a="http://schemas.openxmlformats.org/drawingml/2006/main">
            <a:off x="10296525" y="2838450"/>
            <a:ext cx="247650" cy="24765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24" name="">
            <a:extLst xmlns:a="http://schemas.openxmlformats.org/drawingml/2006/main">
              <a:ext uri="{FF2B5EF4-FFF2-40B4-BE49-F238E27FC236}">
                <a16:creationId xmlns:a16="http://schemas.microsoft.com/office/drawing/2014/main" id="{919E019A-D484-42A0-90D1-0AC9B3B143B2}"/>
              </a:ext>
            </a:extLst>
          </p:cNvPr>
          <p:cNvSpPr>
            <a:spLocks xmlns:a="http://schemas.openxmlformats.org/drawingml/2006/main" noGrp="1"/>
          </p:cNvSpPr>
          <p:nvPr/>
        </p:nvSpPr>
        <p:spPr>
          <a:xfrm xmlns:a="http://schemas.openxmlformats.org/drawingml/2006/main">
            <a:off x="9505950" y="3219450"/>
            <a:ext cx="1828800" cy="2000250"/>
          </a:xfrm>
          <a:prstGeom xmlns:a="http://schemas.openxmlformats.org/drawingml/2006/main" prst="roundRect">
            <a:avLst>
              <a:gd name="adj" fmla="val 4167"/>
            </a:avLst>
          </a:prstGeom>
          <a:noFill xmlns:a="http://schemas.openxmlformats.org/drawingml/2006/main"/>
          <a:ln xmlns:a="http://schemas.openxmlformats.org/drawingml/2006/main" w="9525">
            <a:solidFill>
              <a:srgbClr val="00B2BB"/>
            </a:solidFill>
            <a:prstDash val="solid"/>
          </a:ln>
        </p:spPr>
      </p:sp>
      <p:sp>
        <p:nvSpPr>
          <p:cNvPr id="25" name="">
            <a:extLst xmlns:a="http://schemas.openxmlformats.org/drawingml/2006/main">
              <a:ext uri="{FF2B5EF4-FFF2-40B4-BE49-F238E27FC236}">
                <a16:creationId xmlns:a16="http://schemas.microsoft.com/office/drawing/2014/main" id="{786723BA-52D8-4A30-A22A-EF384DC417B9}"/>
              </a:ext>
            </a:extLst>
          </p:cNvPr>
          <p:cNvSpPr>
            <a:spLocks xmlns:a="http://schemas.openxmlformats.org/drawingml/2006/main" noGrp="1"/>
          </p:cNvSpPr>
          <p:nvPr/>
        </p:nvSpPr>
        <p:spPr>
          <a:xfrm xmlns:a="http://schemas.openxmlformats.org/drawingml/2006/main">
            <a:off x="9601200" y="3314700"/>
            <a:ext cx="16383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Das Verwaltungsgericht prüft Zulässigkeit und Rechtmäßigkeit; Rechtsmittel können folgen.</a:t>
            </a:r>
          </a:p>
        </p:txBody>
      </p:sp>
      <p:sp>
        <p:nvSpPr>
          <p:cNvPr id="26" name="">
            <a:extLst xmlns:a="http://schemas.openxmlformats.org/drawingml/2006/main">
              <a:ext uri="{FF2B5EF4-FFF2-40B4-BE49-F238E27FC236}">
                <a16:creationId xmlns:a16="http://schemas.microsoft.com/office/drawing/2014/main" id="{42837F04-9768-418A-B23F-CBD2F202D23B}"/>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7" name="">
            <a:extLst xmlns:a="http://schemas.openxmlformats.org/drawingml/2006/main">
              <a:ext uri="{FF2B5EF4-FFF2-40B4-BE49-F238E27FC236}">
                <a16:creationId xmlns:a16="http://schemas.microsoft.com/office/drawing/2014/main" id="{B8C77B0A-E1A3-4044-B33F-2B5C61CE4F83}"/>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Hauptsache und Eilrechtsschutz beantworten unterschiedliche Zeitfragen und werden oft parallel geführt.</a:t>
            </a:r>
          </a:p>
        </p:txBody>
      </p:sp>
    </p:spTree>
    <p:extLst>
      <p:ext uri="{BB962C8B-B14F-4D97-AF65-F5344CB8AC3E}">
        <p14:creationId xmlns:p14="http://schemas.microsoft.com/office/powerpoint/2010/main" val="43637646"/>
      </p:ext>
    </p:extLst>
  </p:cSld>
</p:sld>
</file>

<file path=ppt/slides/slide279.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Anfechtungsklage</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PRÜFUNGSSCHEMA · § 42 Abs. 1 VwGO</a:t>
            </a:r>
            <a:endParaRPr/>
          </a:p>
        </p:txBody>
      </p:sp>
      <p:sp>
        <p:nvSpPr>
          <p:cNvPr id="4" name="">
            <a:extLst xmlns:a="http://schemas.openxmlformats.org/drawingml/2006/main">
              <a:ext uri="{FF2B5EF4-FFF2-40B4-BE49-F238E27FC236}">
                <a16:creationId xmlns:a16="http://schemas.microsoft.com/office/drawing/2014/main" id="{6E0F7B19-1E41-4917-B713-FD5ABCF3B7E3}"/>
              </a:ext>
            </a:extLst>
          </p:cNvPr>
          <p:cNvSpPr>
            <a:spLocks xmlns:a="http://schemas.openxmlformats.org/drawingml/2006/main" noGrp="1"/>
          </p:cNvSpPr>
          <p:nvPr/>
        </p:nvSpPr>
        <p:spPr>
          <a:xfrm xmlns:a="http://schemas.openxmlformats.org/drawingml/2006/main">
            <a:off x="1809750" y="195262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29EE1747-5824-47CA-93D0-01F59BCEFC4D}"/>
              </a:ext>
            </a:extLst>
          </p:cNvPr>
          <p:cNvSpPr>
            <a:spLocks xmlns:a="http://schemas.openxmlformats.org/drawingml/2006/main" noGrp="1"/>
          </p:cNvSpPr>
          <p:nvPr/>
        </p:nvSpPr>
        <p:spPr>
          <a:xfrm xmlns:a="http://schemas.openxmlformats.org/drawingml/2006/main">
            <a:off x="1809750" y="19526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6" name="">
            <a:extLst xmlns:a="http://schemas.openxmlformats.org/drawingml/2006/main">
              <a:ext uri="{FF2B5EF4-FFF2-40B4-BE49-F238E27FC236}">
                <a16:creationId xmlns:a16="http://schemas.microsoft.com/office/drawing/2014/main" id="{C5741C56-E502-495E-90DB-F18FD67DDB87}"/>
              </a:ext>
            </a:extLst>
          </p:cNvPr>
          <p:cNvSpPr>
            <a:spLocks xmlns:a="http://schemas.openxmlformats.org/drawingml/2006/main" noGrp="1"/>
          </p:cNvSpPr>
          <p:nvPr/>
        </p:nvSpPr>
        <p:spPr>
          <a:xfrm xmlns:a="http://schemas.openxmlformats.org/drawingml/2006/main">
            <a:off x="2324100" y="196215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1. Verwaltungsrechtsweg</a:t>
            </a:r>
          </a:p>
        </p:txBody>
      </p:sp>
      <p:sp>
        <p:nvSpPr>
          <p:cNvPr id="7" name="">
            <a:extLst xmlns:a="http://schemas.openxmlformats.org/drawingml/2006/main">
              <a:ext uri="{FF2B5EF4-FFF2-40B4-BE49-F238E27FC236}">
                <a16:creationId xmlns:a16="http://schemas.microsoft.com/office/drawing/2014/main" id="{AEB910BE-C3CE-4D38-8D52-A866ED025528}"/>
              </a:ext>
            </a:extLst>
          </p:cNvPr>
          <p:cNvSpPr>
            <a:spLocks xmlns:a="http://schemas.openxmlformats.org/drawingml/2006/main" noGrp="1"/>
          </p:cNvSpPr>
          <p:nvPr/>
        </p:nvSpPr>
        <p:spPr>
          <a:xfrm xmlns:a="http://schemas.openxmlformats.org/drawingml/2006/main">
            <a:off x="4819650" y="196215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Öffentlich-rechtliche Streitigkeit nichtverfassungsrechtlicher Art und keine abdrängende Zuweisung.</a:t>
            </a:r>
          </a:p>
        </p:txBody>
      </p:sp>
      <p:sp>
        <p:nvSpPr>
          <p:cNvPr id="8" name="">
            <a:extLst xmlns:a="http://schemas.openxmlformats.org/drawingml/2006/main">
              <a:ext uri="{FF2B5EF4-FFF2-40B4-BE49-F238E27FC236}">
                <a16:creationId xmlns:a16="http://schemas.microsoft.com/office/drawing/2014/main" id="{90DDC10F-B87D-471D-94AA-85DE51849E3F}"/>
              </a:ext>
            </a:extLst>
          </p:cNvPr>
          <p:cNvSpPr>
            <a:spLocks xmlns:a="http://schemas.openxmlformats.org/drawingml/2006/main" noGrp="1"/>
          </p:cNvSpPr>
          <p:nvPr/>
        </p:nvSpPr>
        <p:spPr>
          <a:xfrm xmlns:a="http://schemas.openxmlformats.org/drawingml/2006/main">
            <a:off x="1809750" y="255270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9" name="">
            <a:extLst xmlns:a="http://schemas.openxmlformats.org/drawingml/2006/main">
              <a:ext uri="{FF2B5EF4-FFF2-40B4-BE49-F238E27FC236}">
                <a16:creationId xmlns:a16="http://schemas.microsoft.com/office/drawing/2014/main" id="{A1BDFA99-732F-4CC2-AD58-138562D72624}"/>
              </a:ext>
            </a:extLst>
          </p:cNvPr>
          <p:cNvSpPr>
            <a:spLocks xmlns:a="http://schemas.openxmlformats.org/drawingml/2006/main" noGrp="1"/>
          </p:cNvSpPr>
          <p:nvPr/>
        </p:nvSpPr>
        <p:spPr>
          <a:xfrm xmlns:a="http://schemas.openxmlformats.org/drawingml/2006/main">
            <a:off x="1809750" y="255270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0" name="">
            <a:extLst xmlns:a="http://schemas.openxmlformats.org/drawingml/2006/main">
              <a:ext uri="{FF2B5EF4-FFF2-40B4-BE49-F238E27FC236}">
                <a16:creationId xmlns:a16="http://schemas.microsoft.com/office/drawing/2014/main" id="{6E08CCA1-BB1E-40BE-AD00-193883A54868}"/>
              </a:ext>
            </a:extLst>
          </p:cNvPr>
          <p:cNvSpPr>
            <a:spLocks xmlns:a="http://schemas.openxmlformats.org/drawingml/2006/main" noGrp="1"/>
          </p:cNvSpPr>
          <p:nvPr/>
        </p:nvSpPr>
        <p:spPr>
          <a:xfrm xmlns:a="http://schemas.openxmlformats.org/drawingml/2006/main">
            <a:off x="2324100" y="256222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2. Statthafte Klageart</a:t>
            </a:r>
          </a:p>
        </p:txBody>
      </p:sp>
      <p:sp>
        <p:nvSpPr>
          <p:cNvPr id="11" name="">
            <a:extLst xmlns:a="http://schemas.openxmlformats.org/drawingml/2006/main">
              <a:ext uri="{FF2B5EF4-FFF2-40B4-BE49-F238E27FC236}">
                <a16:creationId xmlns:a16="http://schemas.microsoft.com/office/drawing/2014/main" id="{ABDB12D8-4311-4D95-A6BD-A87B0816C071}"/>
              </a:ext>
            </a:extLst>
          </p:cNvPr>
          <p:cNvSpPr>
            <a:spLocks xmlns:a="http://schemas.openxmlformats.org/drawingml/2006/main" noGrp="1"/>
          </p:cNvSpPr>
          <p:nvPr/>
        </p:nvSpPr>
        <p:spPr>
          <a:xfrm xmlns:a="http://schemas.openxmlformats.org/drawingml/2006/main">
            <a:off x="4819650" y="256222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Aufhebung eines belastenden Verwaltungsakts wird begehrt.</a:t>
            </a:r>
          </a:p>
        </p:txBody>
      </p:sp>
      <p:sp>
        <p:nvSpPr>
          <p:cNvPr id="12" name="">
            <a:extLst xmlns:a="http://schemas.openxmlformats.org/drawingml/2006/main">
              <a:ext uri="{FF2B5EF4-FFF2-40B4-BE49-F238E27FC236}">
                <a16:creationId xmlns:a16="http://schemas.microsoft.com/office/drawing/2014/main" id="{9F90217E-6BA4-4DD2-B7EC-301884801200}"/>
              </a:ext>
            </a:extLst>
          </p:cNvPr>
          <p:cNvSpPr>
            <a:spLocks xmlns:a="http://schemas.openxmlformats.org/drawingml/2006/main" noGrp="1"/>
          </p:cNvSpPr>
          <p:nvPr/>
        </p:nvSpPr>
        <p:spPr>
          <a:xfrm xmlns:a="http://schemas.openxmlformats.org/drawingml/2006/main">
            <a:off x="1809750" y="315277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3" name="">
            <a:extLst xmlns:a="http://schemas.openxmlformats.org/drawingml/2006/main">
              <a:ext uri="{FF2B5EF4-FFF2-40B4-BE49-F238E27FC236}">
                <a16:creationId xmlns:a16="http://schemas.microsoft.com/office/drawing/2014/main" id="{184F6869-4A44-49AF-A5EC-2C92F06BFD9B}"/>
              </a:ext>
            </a:extLst>
          </p:cNvPr>
          <p:cNvSpPr>
            <a:spLocks xmlns:a="http://schemas.openxmlformats.org/drawingml/2006/main" noGrp="1"/>
          </p:cNvSpPr>
          <p:nvPr/>
        </p:nvSpPr>
        <p:spPr>
          <a:xfrm xmlns:a="http://schemas.openxmlformats.org/drawingml/2006/main">
            <a:off x="1809750" y="315277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4" name="">
            <a:extLst xmlns:a="http://schemas.openxmlformats.org/drawingml/2006/main">
              <a:ext uri="{FF2B5EF4-FFF2-40B4-BE49-F238E27FC236}">
                <a16:creationId xmlns:a16="http://schemas.microsoft.com/office/drawing/2014/main" id="{593434D7-28CE-4CC9-B1C7-5F69B4BEA9A0}"/>
              </a:ext>
            </a:extLst>
          </p:cNvPr>
          <p:cNvSpPr>
            <a:spLocks xmlns:a="http://schemas.openxmlformats.org/drawingml/2006/main" noGrp="1"/>
          </p:cNvSpPr>
          <p:nvPr/>
        </p:nvSpPr>
        <p:spPr>
          <a:xfrm xmlns:a="http://schemas.openxmlformats.org/drawingml/2006/main">
            <a:off x="2324100" y="316230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3. Klagebefugnis</a:t>
            </a:r>
          </a:p>
        </p:txBody>
      </p:sp>
      <p:sp>
        <p:nvSpPr>
          <p:cNvPr id="15" name="">
            <a:extLst xmlns:a="http://schemas.openxmlformats.org/drawingml/2006/main">
              <a:ext uri="{FF2B5EF4-FFF2-40B4-BE49-F238E27FC236}">
                <a16:creationId xmlns:a16="http://schemas.microsoft.com/office/drawing/2014/main" id="{503EB6DE-D510-408E-BB84-893A5AA9DA2D}"/>
              </a:ext>
            </a:extLst>
          </p:cNvPr>
          <p:cNvSpPr>
            <a:spLocks xmlns:a="http://schemas.openxmlformats.org/drawingml/2006/main" noGrp="1"/>
          </p:cNvSpPr>
          <p:nvPr/>
        </p:nvSpPr>
        <p:spPr>
          <a:xfrm xmlns:a="http://schemas.openxmlformats.org/drawingml/2006/main">
            <a:off x="4819650" y="316230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Eigene Rechtsverletzung erscheint möglich, etwa Berufsfreiheit und einfachgesetzliche Position.</a:t>
            </a:r>
          </a:p>
        </p:txBody>
      </p:sp>
      <p:sp>
        <p:nvSpPr>
          <p:cNvPr id="16" name="">
            <a:extLst xmlns:a="http://schemas.openxmlformats.org/drawingml/2006/main">
              <a:ext uri="{FF2B5EF4-FFF2-40B4-BE49-F238E27FC236}">
                <a16:creationId xmlns:a16="http://schemas.microsoft.com/office/drawing/2014/main" id="{F46B57D9-9261-4F6E-B299-9C9084988F4D}"/>
              </a:ext>
            </a:extLst>
          </p:cNvPr>
          <p:cNvSpPr>
            <a:spLocks xmlns:a="http://schemas.openxmlformats.org/drawingml/2006/main" noGrp="1"/>
          </p:cNvSpPr>
          <p:nvPr/>
        </p:nvSpPr>
        <p:spPr>
          <a:xfrm xmlns:a="http://schemas.openxmlformats.org/drawingml/2006/main">
            <a:off x="1809750" y="375285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7" name="">
            <a:extLst xmlns:a="http://schemas.openxmlformats.org/drawingml/2006/main">
              <a:ext uri="{FF2B5EF4-FFF2-40B4-BE49-F238E27FC236}">
                <a16:creationId xmlns:a16="http://schemas.microsoft.com/office/drawing/2014/main" id="{75212A76-6B1E-4482-A332-3C947897E954}"/>
              </a:ext>
            </a:extLst>
          </p:cNvPr>
          <p:cNvSpPr>
            <a:spLocks xmlns:a="http://schemas.openxmlformats.org/drawingml/2006/main" noGrp="1"/>
          </p:cNvSpPr>
          <p:nvPr/>
        </p:nvSpPr>
        <p:spPr>
          <a:xfrm xmlns:a="http://schemas.openxmlformats.org/drawingml/2006/main">
            <a:off x="1809750" y="375285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18" name="">
            <a:extLst xmlns:a="http://schemas.openxmlformats.org/drawingml/2006/main">
              <a:ext uri="{FF2B5EF4-FFF2-40B4-BE49-F238E27FC236}">
                <a16:creationId xmlns:a16="http://schemas.microsoft.com/office/drawing/2014/main" id="{76FA30AF-3BFB-437A-96E0-E048F0E3C64C}"/>
              </a:ext>
            </a:extLst>
          </p:cNvPr>
          <p:cNvSpPr>
            <a:spLocks xmlns:a="http://schemas.openxmlformats.org/drawingml/2006/main" noGrp="1"/>
          </p:cNvSpPr>
          <p:nvPr/>
        </p:nvSpPr>
        <p:spPr>
          <a:xfrm xmlns:a="http://schemas.openxmlformats.org/drawingml/2006/main">
            <a:off x="2324100" y="376237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4. Vorverfahren</a:t>
            </a:r>
          </a:p>
        </p:txBody>
      </p:sp>
      <p:sp>
        <p:nvSpPr>
          <p:cNvPr id="19" name="">
            <a:extLst xmlns:a="http://schemas.openxmlformats.org/drawingml/2006/main">
              <a:ext uri="{FF2B5EF4-FFF2-40B4-BE49-F238E27FC236}">
                <a16:creationId xmlns:a16="http://schemas.microsoft.com/office/drawing/2014/main" id="{D1427510-A95B-4795-9A4E-E5764503EB44}"/>
              </a:ext>
            </a:extLst>
          </p:cNvPr>
          <p:cNvSpPr>
            <a:spLocks xmlns:a="http://schemas.openxmlformats.org/drawingml/2006/main" noGrp="1"/>
          </p:cNvSpPr>
          <p:nvPr/>
        </p:nvSpPr>
        <p:spPr>
          <a:xfrm xmlns:a="http://schemas.openxmlformats.org/drawingml/2006/main">
            <a:off x="4819650" y="376237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Widerspruchsverfahren nach §§ 68 ff. VwGO, soweit nicht entbehrlich oder ausgeschlossen.</a:t>
            </a:r>
          </a:p>
        </p:txBody>
      </p:sp>
      <p:sp>
        <p:nvSpPr>
          <p:cNvPr id="20" name="">
            <a:extLst xmlns:a="http://schemas.openxmlformats.org/drawingml/2006/main">
              <a:ext uri="{FF2B5EF4-FFF2-40B4-BE49-F238E27FC236}">
                <a16:creationId xmlns:a16="http://schemas.microsoft.com/office/drawing/2014/main" id="{56AAAEED-6206-4566-AAE3-9B98B5182B5E}"/>
              </a:ext>
            </a:extLst>
          </p:cNvPr>
          <p:cNvSpPr>
            <a:spLocks xmlns:a="http://schemas.openxmlformats.org/drawingml/2006/main" noGrp="1"/>
          </p:cNvSpPr>
          <p:nvPr/>
        </p:nvSpPr>
        <p:spPr>
          <a:xfrm xmlns:a="http://schemas.openxmlformats.org/drawingml/2006/main">
            <a:off x="1809750" y="435292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1" name="">
            <a:extLst xmlns:a="http://schemas.openxmlformats.org/drawingml/2006/main">
              <a:ext uri="{FF2B5EF4-FFF2-40B4-BE49-F238E27FC236}">
                <a16:creationId xmlns:a16="http://schemas.microsoft.com/office/drawing/2014/main" id="{C87430D4-CFB7-44BF-BBB3-587038833A89}"/>
              </a:ext>
            </a:extLst>
          </p:cNvPr>
          <p:cNvSpPr>
            <a:spLocks xmlns:a="http://schemas.openxmlformats.org/drawingml/2006/main" noGrp="1"/>
          </p:cNvSpPr>
          <p:nvPr/>
        </p:nvSpPr>
        <p:spPr>
          <a:xfrm xmlns:a="http://schemas.openxmlformats.org/drawingml/2006/main">
            <a:off x="1809750" y="43529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5</a:t>
            </a:r>
          </a:p>
        </p:txBody>
      </p:sp>
      <p:sp>
        <p:nvSpPr>
          <p:cNvPr id="22" name="">
            <a:extLst xmlns:a="http://schemas.openxmlformats.org/drawingml/2006/main">
              <a:ext uri="{FF2B5EF4-FFF2-40B4-BE49-F238E27FC236}">
                <a16:creationId xmlns:a16="http://schemas.microsoft.com/office/drawing/2014/main" id="{7A365BB3-E8BA-4DF7-97C9-74ED09411DB6}"/>
              </a:ext>
            </a:extLst>
          </p:cNvPr>
          <p:cNvSpPr>
            <a:spLocks xmlns:a="http://schemas.openxmlformats.org/drawingml/2006/main" noGrp="1"/>
          </p:cNvSpPr>
          <p:nvPr/>
        </p:nvSpPr>
        <p:spPr>
          <a:xfrm xmlns:a="http://schemas.openxmlformats.org/drawingml/2006/main">
            <a:off x="2324100" y="436245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5. Frist und Beteiligte</a:t>
            </a:r>
          </a:p>
        </p:txBody>
      </p:sp>
      <p:sp>
        <p:nvSpPr>
          <p:cNvPr id="23" name="">
            <a:extLst xmlns:a="http://schemas.openxmlformats.org/drawingml/2006/main">
              <a:ext uri="{FF2B5EF4-FFF2-40B4-BE49-F238E27FC236}">
                <a16:creationId xmlns:a16="http://schemas.microsoft.com/office/drawing/2014/main" id="{B3A08C9A-09BF-4A39-BF9C-BD3983666016}"/>
              </a:ext>
            </a:extLst>
          </p:cNvPr>
          <p:cNvSpPr>
            <a:spLocks xmlns:a="http://schemas.openxmlformats.org/drawingml/2006/main" noGrp="1"/>
          </p:cNvSpPr>
          <p:nvPr/>
        </p:nvSpPr>
        <p:spPr>
          <a:xfrm xmlns:a="http://schemas.openxmlformats.org/drawingml/2006/main">
            <a:off x="4819650" y="436245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Klagefrist, richtiger Beklagter, Beteiligten- und Prozessfähigkeit prüfen.</a:t>
            </a:r>
          </a:p>
        </p:txBody>
      </p:sp>
      <p:sp>
        <p:nvSpPr>
          <p:cNvPr id="24" name="">
            <a:extLst xmlns:a="http://schemas.openxmlformats.org/drawingml/2006/main">
              <a:ext uri="{FF2B5EF4-FFF2-40B4-BE49-F238E27FC236}">
                <a16:creationId xmlns:a16="http://schemas.microsoft.com/office/drawing/2014/main" id="{5A10EF9F-17E2-4499-86BA-BF37E85EF54D}"/>
              </a:ext>
            </a:extLst>
          </p:cNvPr>
          <p:cNvSpPr>
            <a:spLocks xmlns:a="http://schemas.openxmlformats.org/drawingml/2006/main" noGrp="1"/>
          </p:cNvSpPr>
          <p:nvPr/>
        </p:nvSpPr>
        <p:spPr>
          <a:xfrm xmlns:a="http://schemas.openxmlformats.org/drawingml/2006/main">
            <a:off x="1809750" y="495300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25" name="">
            <a:extLst xmlns:a="http://schemas.openxmlformats.org/drawingml/2006/main">
              <a:ext uri="{FF2B5EF4-FFF2-40B4-BE49-F238E27FC236}">
                <a16:creationId xmlns:a16="http://schemas.microsoft.com/office/drawing/2014/main" id="{23A51B51-AEBB-467B-B71D-BB3650903440}"/>
              </a:ext>
            </a:extLst>
          </p:cNvPr>
          <p:cNvSpPr>
            <a:spLocks xmlns:a="http://schemas.openxmlformats.org/drawingml/2006/main" noGrp="1"/>
          </p:cNvSpPr>
          <p:nvPr/>
        </p:nvSpPr>
        <p:spPr>
          <a:xfrm xmlns:a="http://schemas.openxmlformats.org/drawingml/2006/main">
            <a:off x="1809750" y="495300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6</a:t>
            </a:r>
          </a:p>
        </p:txBody>
      </p:sp>
      <p:sp>
        <p:nvSpPr>
          <p:cNvPr id="26" name="">
            <a:extLst xmlns:a="http://schemas.openxmlformats.org/drawingml/2006/main">
              <a:ext uri="{FF2B5EF4-FFF2-40B4-BE49-F238E27FC236}">
                <a16:creationId xmlns:a16="http://schemas.microsoft.com/office/drawing/2014/main" id="{CA61C7E4-A752-4617-80B4-F9EF4C173AFF}"/>
              </a:ext>
            </a:extLst>
          </p:cNvPr>
          <p:cNvSpPr>
            <a:spLocks xmlns:a="http://schemas.openxmlformats.org/drawingml/2006/main" noGrp="1"/>
          </p:cNvSpPr>
          <p:nvPr/>
        </p:nvSpPr>
        <p:spPr>
          <a:xfrm xmlns:a="http://schemas.openxmlformats.org/drawingml/2006/main">
            <a:off x="2324100" y="496252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6. Begründetheit</a:t>
            </a:r>
          </a:p>
        </p:txBody>
      </p:sp>
      <p:sp>
        <p:nvSpPr>
          <p:cNvPr id="27" name="">
            <a:extLst xmlns:a="http://schemas.openxmlformats.org/drawingml/2006/main">
              <a:ext uri="{FF2B5EF4-FFF2-40B4-BE49-F238E27FC236}">
                <a16:creationId xmlns:a16="http://schemas.microsoft.com/office/drawing/2014/main" id="{49060259-6324-4259-A04E-04CFB47566E7}"/>
              </a:ext>
            </a:extLst>
          </p:cNvPr>
          <p:cNvSpPr>
            <a:spLocks xmlns:a="http://schemas.openxmlformats.org/drawingml/2006/main" noGrp="1"/>
          </p:cNvSpPr>
          <p:nvPr/>
        </p:nvSpPr>
        <p:spPr>
          <a:xfrm xmlns:a="http://schemas.openxmlformats.org/drawingml/2006/main">
            <a:off x="4819650" y="496252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Der Verwaltungsakt ist rechtswidrig und verletzt die klagende Person in eigenen Rechten.</a:t>
            </a:r>
          </a:p>
        </p:txBody>
      </p:sp>
      <p:sp>
        <p:nvSpPr>
          <p:cNvPr id="28" name="">
            <a:extLst xmlns:a="http://schemas.openxmlformats.org/drawingml/2006/main">
              <a:ext uri="{FF2B5EF4-FFF2-40B4-BE49-F238E27FC236}">
                <a16:creationId xmlns:a16="http://schemas.microsoft.com/office/drawing/2014/main" id="{D996B494-9089-49C6-8671-2307C45737B8}"/>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9" name="">
            <a:extLst xmlns:a="http://schemas.openxmlformats.org/drawingml/2006/main">
              <a:ext uri="{FF2B5EF4-FFF2-40B4-BE49-F238E27FC236}">
                <a16:creationId xmlns:a16="http://schemas.microsoft.com/office/drawing/2014/main" id="{8C4CFD3B-7E1F-45A5-9595-866455B3C617}"/>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Zulässigkeit öffnet die Tür; Begründetheit prüft Tatbestand, Verfahren, Ermessen und Verhältnismäßigkeit.</a:t>
            </a:r>
          </a:p>
        </p:txBody>
      </p:sp>
    </p:spTree>
    <p:extLst>
      <p:ext uri="{BB962C8B-B14F-4D97-AF65-F5344CB8AC3E}">
        <p14:creationId xmlns:p14="http://schemas.microsoft.com/office/powerpoint/2010/main" val="43637646"/>
      </p:ext>
    </p:extLst>
  </p:cSld>
</p:sld>
</file>

<file path=ppt/slides/slide280.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Eilrechtsschutz nach § 80 Abs. 5 VwGO</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D548FC00-EA71-4478-8114-9A18E42A1A74}"/>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Wenn ein belastender Verwaltungsakt sofort vollziehbar ist, kann vorläufiger Rechtsschutz die Vollziehung bis zur Hauptsacheentscheidung beeinflussen.</a:t>
            </a:r>
          </a:p>
        </p:txBody>
      </p:sp>
      <p:sp>
        <p:nvSpPr>
          <p:cNvPr id="5" name="">
            <a:extLst xmlns:a="http://schemas.openxmlformats.org/drawingml/2006/main">
              <a:ext uri="{FF2B5EF4-FFF2-40B4-BE49-F238E27FC236}">
                <a16:creationId xmlns:a16="http://schemas.microsoft.com/office/drawing/2014/main" id="{E37DF552-F643-4A92-AF78-966B397E3EA1}"/>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E6FC57ED-43B1-4321-ACFF-61126C434F34}"/>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4A52A1D8-1AAF-4BED-AD31-665A80921AC8}"/>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Ausgangslage</a:t>
            </a:r>
          </a:p>
        </p:txBody>
      </p:sp>
      <p:sp>
        <p:nvSpPr>
          <p:cNvPr id="8" name="">
            <a:extLst xmlns:a="http://schemas.openxmlformats.org/drawingml/2006/main">
              <a:ext uri="{FF2B5EF4-FFF2-40B4-BE49-F238E27FC236}">
                <a16:creationId xmlns:a16="http://schemas.microsoft.com/office/drawing/2014/main" id="{E6FD2719-CF27-4D61-9BBA-AF9B0A563C1C}"/>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Widerspruch und Anfechtungsklage haben grundsätzlich aufschiebende Wirkung, aber das Gesetz oder eine Sofortvollzugsanordnung kann sie entfallen lassen.</a:t>
            </a:r>
          </a:p>
        </p:txBody>
      </p:sp>
      <p:sp>
        <p:nvSpPr>
          <p:cNvPr id="9" name="">
            <a:extLst xmlns:a="http://schemas.openxmlformats.org/drawingml/2006/main">
              <a:ext uri="{FF2B5EF4-FFF2-40B4-BE49-F238E27FC236}">
                <a16:creationId xmlns:a16="http://schemas.microsoft.com/office/drawing/2014/main" id="{40C2760D-1BAF-4B49-8A64-6AA3CF5025E7}"/>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9FB1F3E3-9BCD-425F-9E3D-98A75810E6BE}"/>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20B846DE-A857-49AE-B7A1-21794F55A88C}"/>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Antrag</a:t>
            </a:r>
          </a:p>
        </p:txBody>
      </p:sp>
      <p:sp>
        <p:nvSpPr>
          <p:cNvPr id="12" name="">
            <a:extLst xmlns:a="http://schemas.openxmlformats.org/drawingml/2006/main">
              <a:ext uri="{FF2B5EF4-FFF2-40B4-BE49-F238E27FC236}">
                <a16:creationId xmlns:a16="http://schemas.microsoft.com/office/drawing/2014/main" id="{86AFFCFF-4375-459D-96AC-1414B1891591}"/>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Das Gericht kann die aufschiebende Wirkung anordnen oder wiederherstellen.</a:t>
            </a:r>
          </a:p>
        </p:txBody>
      </p:sp>
      <p:sp>
        <p:nvSpPr>
          <p:cNvPr id="13" name="">
            <a:extLst xmlns:a="http://schemas.openxmlformats.org/drawingml/2006/main">
              <a:ext uri="{FF2B5EF4-FFF2-40B4-BE49-F238E27FC236}">
                <a16:creationId xmlns:a16="http://schemas.microsoft.com/office/drawing/2014/main" id="{DE3A8D05-2C43-473A-BFBE-27D24C5FAF89}"/>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59DC566D-A5B0-473A-8B24-35E805029705}"/>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3F84346A-604A-4B03-88E8-D489353270B5}"/>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Abwägung</a:t>
            </a:r>
          </a:p>
        </p:txBody>
      </p:sp>
      <p:sp>
        <p:nvSpPr>
          <p:cNvPr id="16" name="">
            <a:extLst xmlns:a="http://schemas.openxmlformats.org/drawingml/2006/main">
              <a:ext uri="{FF2B5EF4-FFF2-40B4-BE49-F238E27FC236}">
                <a16:creationId xmlns:a16="http://schemas.microsoft.com/office/drawing/2014/main" id="{9B19A742-B458-4D37-BEB6-23C8CCBB1D87}"/>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Erfolgsaussichten, Vollzugsinteresse, individuelle Folgen und Begründung der Dringlichkeit werden gewürdigt.</a:t>
            </a:r>
          </a:p>
        </p:txBody>
      </p:sp>
      <p:sp>
        <p:nvSpPr>
          <p:cNvPr id="17" name="">
            <a:extLst xmlns:a="http://schemas.openxmlformats.org/drawingml/2006/main">
              <a:ext uri="{FF2B5EF4-FFF2-40B4-BE49-F238E27FC236}">
                <a16:creationId xmlns:a16="http://schemas.microsoft.com/office/drawing/2014/main" id="{E2DCD09A-D8A8-4379-AE3B-0844509509D6}"/>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14E841BF-C284-4AC8-AA40-7380D2A75A2C}"/>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1A3D1674-0F94-4708-855E-676C0159FC95}"/>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Zeitdruck</a:t>
            </a:r>
          </a:p>
        </p:txBody>
      </p:sp>
      <p:sp>
        <p:nvSpPr>
          <p:cNvPr id="20" name="">
            <a:extLst xmlns:a="http://schemas.openxmlformats.org/drawingml/2006/main">
              <a:ext uri="{FF2B5EF4-FFF2-40B4-BE49-F238E27FC236}">
                <a16:creationId xmlns:a16="http://schemas.microsoft.com/office/drawing/2014/main" id="{039D4656-AAE3-4461-B497-5D03B71355F8}"/>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Vollständige Unterlagen und konkrete berufliche Auswirkungen müssen kurzfristig dargestellt werden.</a:t>
            </a:r>
          </a:p>
        </p:txBody>
      </p:sp>
      <p:sp>
        <p:nvSpPr>
          <p:cNvPr id="21" name="">
            <a:extLst xmlns:a="http://schemas.openxmlformats.org/drawingml/2006/main">
              <a:ext uri="{FF2B5EF4-FFF2-40B4-BE49-F238E27FC236}">
                <a16:creationId xmlns:a16="http://schemas.microsoft.com/office/drawing/2014/main" id="{D6A33A73-9375-4EF1-873A-7A78A93626B7}"/>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ED0E484C-EB57-451B-960F-60B9C2B0562B}"/>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Eilrechtsschutz entscheidet vorläufig, aber praktisch oft über die sofortige Fortsetzung der Berufstätigkeit.</a:t>
            </a:r>
          </a:p>
        </p:txBody>
      </p:sp>
    </p:spTree>
    <p:extLst>
      <p:ext uri="{BB962C8B-B14F-4D97-AF65-F5344CB8AC3E}">
        <p14:creationId xmlns:p14="http://schemas.microsoft.com/office/powerpoint/2010/main" val="43637646"/>
      </p:ext>
    </p:extLst>
  </p:cSld>
</p:sld>
</file>

<file path=ppt/slides/slide281.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Arbeitsrecht nach einem Zwischenfall</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AFDB30DE-A37A-49DC-A29A-6520FD99C35D}"/>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Der Arbeitgeber muss Patientensicherheit sichern, darf aber arbeitsrechtliche Maßnahmen nur auf tragfähiger Tatsachengrundlage treffen.</a:t>
            </a:r>
          </a:p>
        </p:txBody>
      </p:sp>
      <p:sp>
        <p:nvSpPr>
          <p:cNvPr id="5" name="">
            <a:extLst xmlns:a="http://schemas.openxmlformats.org/drawingml/2006/main">
              <a:ext uri="{FF2B5EF4-FFF2-40B4-BE49-F238E27FC236}">
                <a16:creationId xmlns:a16="http://schemas.microsoft.com/office/drawing/2014/main" id="{87A17863-9040-4AD1-BF32-F0EA8BF4266E}"/>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08E38F05-F2F3-4C8B-9297-7FA9CECAF3A0}"/>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BACFC6FF-D24C-4B6E-B09C-E543ACEB112C}"/>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Aufklärung</a:t>
            </a:r>
          </a:p>
        </p:txBody>
      </p:sp>
      <p:sp>
        <p:nvSpPr>
          <p:cNvPr id="8" name="">
            <a:extLst xmlns:a="http://schemas.openxmlformats.org/drawingml/2006/main">
              <a:ext uri="{FF2B5EF4-FFF2-40B4-BE49-F238E27FC236}">
                <a16:creationId xmlns:a16="http://schemas.microsoft.com/office/drawing/2014/main" id="{11E87C88-A32B-4887-8C0D-0498143649EE}"/>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Interne Interviews, Aktenprüfung und Qualitätsanalyse müssen Rollen, Datenschutz und mögliche Selbstbelastung berücksichtigen.</a:t>
            </a:r>
          </a:p>
        </p:txBody>
      </p:sp>
      <p:sp>
        <p:nvSpPr>
          <p:cNvPr id="9" name="">
            <a:extLst xmlns:a="http://schemas.openxmlformats.org/drawingml/2006/main">
              <a:ext uri="{FF2B5EF4-FFF2-40B4-BE49-F238E27FC236}">
                <a16:creationId xmlns:a16="http://schemas.microsoft.com/office/drawing/2014/main" id="{05D69F42-24DF-4928-BCE4-2669A2C2AC22}"/>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0D525F0D-4BD4-44FF-BD4E-A9A37C11F691}"/>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0847A24D-534A-48EC-BBF8-2E48DF10F968}"/>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Direktionsrecht</a:t>
            </a:r>
          </a:p>
        </p:txBody>
      </p:sp>
      <p:sp>
        <p:nvSpPr>
          <p:cNvPr id="12" name="">
            <a:extLst xmlns:a="http://schemas.openxmlformats.org/drawingml/2006/main">
              <a:ext uri="{FF2B5EF4-FFF2-40B4-BE49-F238E27FC236}">
                <a16:creationId xmlns:a16="http://schemas.microsoft.com/office/drawing/2014/main" id="{B900D289-7B81-4FAF-B387-CAE33E85CD90}"/>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Vorläufige Aufgabenänderung oder Freistellung kann je nach Vertrag, Risiko und Verhältnismäßigkeit in Betracht kommen.</a:t>
            </a:r>
          </a:p>
        </p:txBody>
      </p:sp>
      <p:sp>
        <p:nvSpPr>
          <p:cNvPr id="13" name="">
            <a:extLst xmlns:a="http://schemas.openxmlformats.org/drawingml/2006/main">
              <a:ext uri="{FF2B5EF4-FFF2-40B4-BE49-F238E27FC236}">
                <a16:creationId xmlns:a16="http://schemas.microsoft.com/office/drawing/2014/main" id="{9F7AFD8C-3010-48BF-9F35-004C53D90ADB}"/>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407272FC-AFC9-4729-A8DE-3DC14EF128FE}"/>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094FAA8B-962E-4CD6-94D2-DEC9783F30F0}"/>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Abmahnung/Kündigung</a:t>
            </a:r>
          </a:p>
        </p:txBody>
      </p:sp>
      <p:sp>
        <p:nvSpPr>
          <p:cNvPr id="16" name="">
            <a:extLst xmlns:a="http://schemas.openxmlformats.org/drawingml/2006/main">
              <a:ext uri="{FF2B5EF4-FFF2-40B4-BE49-F238E27FC236}">
                <a16:creationId xmlns:a16="http://schemas.microsoft.com/office/drawing/2014/main" id="{11DE7484-9818-4ED6-B49F-3453483D1921}"/>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Pflichtverletzung, Verschulden, Prognose und mildere Mittel werden arbeitsrechtlich gesondert geprüft.</a:t>
            </a:r>
          </a:p>
        </p:txBody>
      </p:sp>
      <p:sp>
        <p:nvSpPr>
          <p:cNvPr id="17" name="">
            <a:extLst xmlns:a="http://schemas.openxmlformats.org/drawingml/2006/main">
              <a:ext uri="{FF2B5EF4-FFF2-40B4-BE49-F238E27FC236}">
                <a16:creationId xmlns:a16="http://schemas.microsoft.com/office/drawing/2014/main" id="{69F9DA74-89CB-44F1-9220-C173F8DED0E5}"/>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B3A03026-B29D-47A4-8EBB-7064F53D7B0E}"/>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65C69AE6-C803-4DF7-8EFF-DF266162447C}"/>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Interessenvertretung</a:t>
            </a:r>
          </a:p>
        </p:txBody>
      </p:sp>
      <p:sp>
        <p:nvSpPr>
          <p:cNvPr id="20" name="">
            <a:extLst xmlns:a="http://schemas.openxmlformats.org/drawingml/2006/main">
              <a:ext uri="{FF2B5EF4-FFF2-40B4-BE49-F238E27FC236}">
                <a16:creationId xmlns:a16="http://schemas.microsoft.com/office/drawing/2014/main" id="{E0DBE6C8-0789-4391-96DF-05A0C8260D8B}"/>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Betriebs- oder Personalrat, Mitarbeitervertretung und eigener Rechtsbeistand können unterschiedliche Funktionen haben.</a:t>
            </a:r>
          </a:p>
        </p:txBody>
      </p:sp>
      <p:sp>
        <p:nvSpPr>
          <p:cNvPr id="21" name="">
            <a:extLst xmlns:a="http://schemas.openxmlformats.org/drawingml/2006/main">
              <a:ext uri="{FF2B5EF4-FFF2-40B4-BE49-F238E27FC236}">
                <a16:creationId xmlns:a16="http://schemas.microsoft.com/office/drawing/2014/main" id="{7D27BB7F-04BF-4604-AC4C-9ED5F9E60C13}"/>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3207046B-1F45-4DBC-A0AB-90BF348047BE}"/>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Interne Mitwirkungspflichten und strafrechtliches Schweigerecht werden nicht pauschal gleichgesetzt.</a:t>
            </a:r>
          </a:p>
        </p:txBody>
      </p:sp>
    </p:spTree>
    <p:extLst>
      <p:ext uri="{BB962C8B-B14F-4D97-AF65-F5344CB8AC3E}">
        <p14:creationId xmlns:p14="http://schemas.microsoft.com/office/powerpoint/2010/main" val="43637646"/>
      </p:ext>
    </p:extLst>
  </p:cSld>
</p:sld>
</file>

<file path=ppt/slides/slide282.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Weiterbildung und Supervision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3A8310D7-EE6D-4846-833A-B3A1E9DACE09}"/>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Weiterbildungsstatus verändert den erwartbaren Kompetenz- und Aufsichtsrahmen, beseitigt aber nicht eigene Verantwortung.</a:t>
            </a:r>
          </a:p>
        </p:txBody>
      </p:sp>
      <p:sp>
        <p:nvSpPr>
          <p:cNvPr id="5" name="">
            <a:extLst xmlns:a="http://schemas.openxmlformats.org/drawingml/2006/main">
              <a:ext uri="{FF2B5EF4-FFF2-40B4-BE49-F238E27FC236}">
                <a16:creationId xmlns:a16="http://schemas.microsoft.com/office/drawing/2014/main" id="{AAD2EE08-AE28-475C-B247-98D23C66081A}"/>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7B9D5846-8CD4-4DC3-907A-7F919C2D67C9}"/>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0DA7554B-40B5-4ACF-AC78-B840873E4445}"/>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Kompetenzstand</a:t>
            </a:r>
          </a:p>
        </p:txBody>
      </p:sp>
      <p:sp>
        <p:nvSpPr>
          <p:cNvPr id="8" name="">
            <a:extLst xmlns:a="http://schemas.openxmlformats.org/drawingml/2006/main">
              <a:ext uri="{FF2B5EF4-FFF2-40B4-BE49-F238E27FC236}">
                <a16:creationId xmlns:a16="http://schemas.microsoft.com/office/drawing/2014/main" id="{58C4FFE0-C566-4C70-A7DF-43E8791D2667}"/>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Aufgaben müssen dem dokumentierten Ausbildungsstand und der konkreten Erfahrung entsprechen.</a:t>
            </a:r>
          </a:p>
        </p:txBody>
      </p:sp>
      <p:sp>
        <p:nvSpPr>
          <p:cNvPr id="9" name="">
            <a:extLst xmlns:a="http://schemas.openxmlformats.org/drawingml/2006/main">
              <a:ext uri="{FF2B5EF4-FFF2-40B4-BE49-F238E27FC236}">
                <a16:creationId xmlns:a16="http://schemas.microsoft.com/office/drawing/2014/main" id="{C8DC833F-9ED1-4881-9766-9DEBACE41064}"/>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37247430-1089-4FDC-9556-EC3E88D21B91}"/>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8D2F98BE-2EB8-4503-BBD3-92BB192D5841}"/>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Rückfragepflicht</a:t>
            </a:r>
          </a:p>
        </p:txBody>
      </p:sp>
      <p:sp>
        <p:nvSpPr>
          <p:cNvPr id="12" name="">
            <a:extLst xmlns:a="http://schemas.openxmlformats.org/drawingml/2006/main">
              <a:ext uri="{FF2B5EF4-FFF2-40B4-BE49-F238E27FC236}">
                <a16:creationId xmlns:a16="http://schemas.microsoft.com/office/drawing/2014/main" id="{130BDF37-03FF-45B7-A1AC-F5569E572160}"/>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Bei Unsicherheit, atypischem Verlauf oder Kompetenzgrenze muss rechtzeitig fachkundige Hilfe eingeholt werden.</a:t>
            </a:r>
          </a:p>
        </p:txBody>
      </p:sp>
      <p:sp>
        <p:nvSpPr>
          <p:cNvPr id="13" name="">
            <a:extLst xmlns:a="http://schemas.openxmlformats.org/drawingml/2006/main">
              <a:ext uri="{FF2B5EF4-FFF2-40B4-BE49-F238E27FC236}">
                <a16:creationId xmlns:a16="http://schemas.microsoft.com/office/drawing/2014/main" id="{FAFE2F17-C589-4170-A0A3-1D48EB808ECE}"/>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4AABE9BA-90CD-4E69-B005-95C568027A58}"/>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B556F9F3-06BD-4958-9CC2-F7C26B68B6AE}"/>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Aufsichtspflicht</a:t>
            </a:r>
          </a:p>
        </p:txBody>
      </p:sp>
      <p:sp>
        <p:nvSpPr>
          <p:cNvPr id="16" name="">
            <a:extLst xmlns:a="http://schemas.openxmlformats.org/drawingml/2006/main">
              <a:ext uri="{FF2B5EF4-FFF2-40B4-BE49-F238E27FC236}">
                <a16:creationId xmlns:a16="http://schemas.microsoft.com/office/drawing/2014/main" id="{AA1156AD-555E-46AA-850C-1A566A5EBFCA}"/>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Weiterbildungsbefugte und Vorgesetzte organisieren Erreichbarkeit, Anleitung und Kontrolle risikoadäquat.</a:t>
            </a:r>
          </a:p>
        </p:txBody>
      </p:sp>
      <p:sp>
        <p:nvSpPr>
          <p:cNvPr id="17" name="">
            <a:extLst xmlns:a="http://schemas.openxmlformats.org/drawingml/2006/main">
              <a:ext uri="{FF2B5EF4-FFF2-40B4-BE49-F238E27FC236}">
                <a16:creationId xmlns:a16="http://schemas.microsoft.com/office/drawing/2014/main" id="{691F6AF7-371B-4563-864B-09F4C45AB481}"/>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2ACBB7E9-BCCE-47EC-B053-ECEF853F3D2F}"/>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720CBB07-CB5F-4A36-B247-0C5E4025C929}"/>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Dokumentation</a:t>
            </a:r>
          </a:p>
        </p:txBody>
      </p:sp>
      <p:sp>
        <p:nvSpPr>
          <p:cNvPr id="20" name="">
            <a:extLst xmlns:a="http://schemas.openxmlformats.org/drawingml/2006/main">
              <a:ext uri="{FF2B5EF4-FFF2-40B4-BE49-F238E27FC236}">
                <a16:creationId xmlns:a16="http://schemas.microsoft.com/office/drawing/2014/main" id="{83D3DE80-5E38-43F3-8D32-D38CB6084D0D}"/>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Supervision, Rücksprachen, Entscheidungen und Verantwortungsübergänge werden nachvollziehbar festgehalten.</a:t>
            </a:r>
          </a:p>
        </p:txBody>
      </p:sp>
      <p:sp>
        <p:nvSpPr>
          <p:cNvPr id="21" name="">
            <a:extLst xmlns:a="http://schemas.openxmlformats.org/drawingml/2006/main">
              <a:ext uri="{FF2B5EF4-FFF2-40B4-BE49-F238E27FC236}">
                <a16:creationId xmlns:a16="http://schemas.microsoft.com/office/drawing/2014/main" id="{66E3EA9A-CC93-49B7-9A8D-17A2BFE42138}"/>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64FFACDD-8A04-4E8A-A83D-33AFB8A4FB23}"/>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Sichere Weiterbildung ist ein abgestuftes Verantwortungsmodell, keine vollständige Haftungsverschiebung.</a:t>
            </a:r>
          </a:p>
        </p:txBody>
      </p:sp>
    </p:spTree>
    <p:extLst>
      <p:ext uri="{BB962C8B-B14F-4D97-AF65-F5344CB8AC3E}">
        <p14:creationId xmlns:p14="http://schemas.microsoft.com/office/powerpoint/2010/main" val="43637646"/>
      </p:ext>
    </p:extLst>
  </p:cSld>
</p:sld>
</file>

<file path=ppt/slides/slide283.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Vier-Verfahren-Check</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PRÜFUNGSSCHEMA · PARALLELVERFAHREN</a:t>
            </a:r>
            <a:endParaRPr/>
          </a:p>
        </p:txBody>
      </p:sp>
      <p:sp>
        <p:nvSpPr>
          <p:cNvPr id="4" name="">
            <a:extLst xmlns:a="http://schemas.openxmlformats.org/drawingml/2006/main">
              <a:ext uri="{FF2B5EF4-FFF2-40B4-BE49-F238E27FC236}">
                <a16:creationId xmlns:a16="http://schemas.microsoft.com/office/drawing/2014/main" id="{C7FC1F0F-552D-49C4-8256-43EEADAE31AB}"/>
              </a:ext>
            </a:extLst>
          </p:cNvPr>
          <p:cNvSpPr>
            <a:spLocks xmlns:a="http://schemas.openxmlformats.org/drawingml/2006/main" noGrp="1"/>
          </p:cNvSpPr>
          <p:nvPr/>
        </p:nvSpPr>
        <p:spPr>
          <a:xfrm xmlns:a="http://schemas.openxmlformats.org/drawingml/2006/main">
            <a:off x="1809750" y="195262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94CD05A8-0EDC-43D6-AF66-1B8B5FF1C5BD}"/>
              </a:ext>
            </a:extLst>
          </p:cNvPr>
          <p:cNvSpPr>
            <a:spLocks xmlns:a="http://schemas.openxmlformats.org/drawingml/2006/main" noGrp="1"/>
          </p:cNvSpPr>
          <p:nvPr/>
        </p:nvSpPr>
        <p:spPr>
          <a:xfrm xmlns:a="http://schemas.openxmlformats.org/drawingml/2006/main">
            <a:off x="1809750" y="19526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6" name="">
            <a:extLst xmlns:a="http://schemas.openxmlformats.org/drawingml/2006/main">
              <a:ext uri="{FF2B5EF4-FFF2-40B4-BE49-F238E27FC236}">
                <a16:creationId xmlns:a16="http://schemas.microsoft.com/office/drawing/2014/main" id="{BF33F3FF-BDA9-4FB6-8ACD-76AC0EC529FA}"/>
              </a:ext>
            </a:extLst>
          </p:cNvPr>
          <p:cNvSpPr>
            <a:spLocks xmlns:a="http://schemas.openxmlformats.org/drawingml/2006/main" noGrp="1"/>
          </p:cNvSpPr>
          <p:nvPr/>
        </p:nvSpPr>
        <p:spPr>
          <a:xfrm xmlns:a="http://schemas.openxmlformats.org/drawingml/2006/main">
            <a:off x="2324100" y="196215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1. Zivilrecht</a:t>
            </a:r>
          </a:p>
        </p:txBody>
      </p:sp>
      <p:sp>
        <p:nvSpPr>
          <p:cNvPr id="7" name="">
            <a:extLst xmlns:a="http://schemas.openxmlformats.org/drawingml/2006/main">
              <a:ext uri="{FF2B5EF4-FFF2-40B4-BE49-F238E27FC236}">
                <a16:creationId xmlns:a16="http://schemas.microsoft.com/office/drawing/2014/main" id="{17DAE62A-75E4-44FB-951E-D99861782CAC}"/>
              </a:ext>
            </a:extLst>
          </p:cNvPr>
          <p:cNvSpPr>
            <a:spLocks xmlns:a="http://schemas.openxmlformats.org/drawingml/2006/main" noGrp="1"/>
          </p:cNvSpPr>
          <p:nvPr/>
        </p:nvSpPr>
        <p:spPr>
          <a:xfrm xmlns:a="http://schemas.openxmlformats.org/drawingml/2006/main">
            <a:off x="4819650" y="196215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Wer verlangt welchen Schadensersatz; welche Pflicht, Kausalität und Beweislast gelten?</a:t>
            </a:r>
          </a:p>
        </p:txBody>
      </p:sp>
      <p:sp>
        <p:nvSpPr>
          <p:cNvPr id="8" name="">
            <a:extLst xmlns:a="http://schemas.openxmlformats.org/drawingml/2006/main">
              <a:ext uri="{FF2B5EF4-FFF2-40B4-BE49-F238E27FC236}">
                <a16:creationId xmlns:a16="http://schemas.microsoft.com/office/drawing/2014/main" id="{D806C903-69EF-4B57-BA6B-FCE6293F1B0B}"/>
              </a:ext>
            </a:extLst>
          </p:cNvPr>
          <p:cNvSpPr>
            <a:spLocks xmlns:a="http://schemas.openxmlformats.org/drawingml/2006/main" noGrp="1"/>
          </p:cNvSpPr>
          <p:nvPr/>
        </p:nvSpPr>
        <p:spPr>
          <a:xfrm xmlns:a="http://schemas.openxmlformats.org/drawingml/2006/main">
            <a:off x="1809750" y="255270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9" name="">
            <a:extLst xmlns:a="http://schemas.openxmlformats.org/drawingml/2006/main">
              <a:ext uri="{FF2B5EF4-FFF2-40B4-BE49-F238E27FC236}">
                <a16:creationId xmlns:a16="http://schemas.microsoft.com/office/drawing/2014/main" id="{1A5A1F62-DE67-4416-B395-EE95BAEC2F8F}"/>
              </a:ext>
            </a:extLst>
          </p:cNvPr>
          <p:cNvSpPr>
            <a:spLocks xmlns:a="http://schemas.openxmlformats.org/drawingml/2006/main" noGrp="1"/>
          </p:cNvSpPr>
          <p:nvPr/>
        </p:nvSpPr>
        <p:spPr>
          <a:xfrm xmlns:a="http://schemas.openxmlformats.org/drawingml/2006/main">
            <a:off x="1809750" y="255270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0" name="">
            <a:extLst xmlns:a="http://schemas.openxmlformats.org/drawingml/2006/main">
              <a:ext uri="{FF2B5EF4-FFF2-40B4-BE49-F238E27FC236}">
                <a16:creationId xmlns:a16="http://schemas.microsoft.com/office/drawing/2014/main" id="{B49732A5-279B-4742-A2A3-335EFE184BD4}"/>
              </a:ext>
            </a:extLst>
          </p:cNvPr>
          <p:cNvSpPr>
            <a:spLocks xmlns:a="http://schemas.openxmlformats.org/drawingml/2006/main" noGrp="1"/>
          </p:cNvSpPr>
          <p:nvPr/>
        </p:nvSpPr>
        <p:spPr>
          <a:xfrm xmlns:a="http://schemas.openxmlformats.org/drawingml/2006/main">
            <a:off x="2324100" y="256222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2. Strafrecht</a:t>
            </a:r>
          </a:p>
        </p:txBody>
      </p:sp>
      <p:sp>
        <p:nvSpPr>
          <p:cNvPr id="11" name="">
            <a:extLst xmlns:a="http://schemas.openxmlformats.org/drawingml/2006/main">
              <a:ext uri="{FF2B5EF4-FFF2-40B4-BE49-F238E27FC236}">
                <a16:creationId xmlns:a16="http://schemas.microsoft.com/office/drawing/2014/main" id="{0DFDF79E-672A-43E1-8768-726C42069C06}"/>
              </a:ext>
            </a:extLst>
          </p:cNvPr>
          <p:cNvSpPr>
            <a:spLocks xmlns:a="http://schemas.openxmlformats.org/drawingml/2006/main" noGrp="1"/>
          </p:cNvSpPr>
          <p:nvPr/>
        </p:nvSpPr>
        <p:spPr>
          <a:xfrm xmlns:a="http://schemas.openxmlformats.org/drawingml/2006/main">
            <a:off x="4819650" y="256222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Welche konkrete Person könnte welche Straftat schuldhaft begangen haben; welche Beschuldigtenrechte gelten?</a:t>
            </a:r>
          </a:p>
        </p:txBody>
      </p:sp>
      <p:sp>
        <p:nvSpPr>
          <p:cNvPr id="12" name="">
            <a:extLst xmlns:a="http://schemas.openxmlformats.org/drawingml/2006/main">
              <a:ext uri="{FF2B5EF4-FFF2-40B4-BE49-F238E27FC236}">
                <a16:creationId xmlns:a16="http://schemas.microsoft.com/office/drawing/2014/main" id="{443DB0FA-5AB2-47F1-8549-67D44502BEE6}"/>
              </a:ext>
            </a:extLst>
          </p:cNvPr>
          <p:cNvSpPr>
            <a:spLocks xmlns:a="http://schemas.openxmlformats.org/drawingml/2006/main" noGrp="1"/>
          </p:cNvSpPr>
          <p:nvPr/>
        </p:nvSpPr>
        <p:spPr>
          <a:xfrm xmlns:a="http://schemas.openxmlformats.org/drawingml/2006/main">
            <a:off x="1809750" y="315277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3" name="">
            <a:extLst xmlns:a="http://schemas.openxmlformats.org/drawingml/2006/main">
              <a:ext uri="{FF2B5EF4-FFF2-40B4-BE49-F238E27FC236}">
                <a16:creationId xmlns:a16="http://schemas.microsoft.com/office/drawing/2014/main" id="{B898E3FC-16BD-4C59-88D0-A53C35ACF70F}"/>
              </a:ext>
            </a:extLst>
          </p:cNvPr>
          <p:cNvSpPr>
            <a:spLocks xmlns:a="http://schemas.openxmlformats.org/drawingml/2006/main" noGrp="1"/>
          </p:cNvSpPr>
          <p:nvPr/>
        </p:nvSpPr>
        <p:spPr>
          <a:xfrm xmlns:a="http://schemas.openxmlformats.org/drawingml/2006/main">
            <a:off x="1809750" y="315277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4" name="">
            <a:extLst xmlns:a="http://schemas.openxmlformats.org/drawingml/2006/main">
              <a:ext uri="{FF2B5EF4-FFF2-40B4-BE49-F238E27FC236}">
                <a16:creationId xmlns:a16="http://schemas.microsoft.com/office/drawing/2014/main" id="{3856DCE9-33FA-4D20-80B0-D9F419830065}"/>
              </a:ext>
            </a:extLst>
          </p:cNvPr>
          <p:cNvSpPr>
            <a:spLocks xmlns:a="http://schemas.openxmlformats.org/drawingml/2006/main" noGrp="1"/>
          </p:cNvSpPr>
          <p:nvPr/>
        </p:nvSpPr>
        <p:spPr>
          <a:xfrm xmlns:a="http://schemas.openxmlformats.org/drawingml/2006/main">
            <a:off x="2324100" y="316230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3. Berufs- und Approbationsrecht</a:t>
            </a:r>
          </a:p>
        </p:txBody>
      </p:sp>
      <p:sp>
        <p:nvSpPr>
          <p:cNvPr id="15" name="">
            <a:extLst xmlns:a="http://schemas.openxmlformats.org/drawingml/2006/main">
              <a:ext uri="{FF2B5EF4-FFF2-40B4-BE49-F238E27FC236}">
                <a16:creationId xmlns:a16="http://schemas.microsoft.com/office/drawing/2014/main" id="{1148BDAD-7CDC-4658-9B89-26786826F7D6}"/>
              </a:ext>
            </a:extLst>
          </p:cNvPr>
          <p:cNvSpPr>
            <a:spLocks xmlns:a="http://schemas.openxmlformats.org/drawingml/2006/main" noGrp="1"/>
          </p:cNvSpPr>
          <p:nvPr/>
        </p:nvSpPr>
        <p:spPr>
          <a:xfrm xmlns:a="http://schemas.openxmlformats.org/drawingml/2006/main">
            <a:off x="4819650" y="316230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Welche Berufspflicht oder Zulassungsvoraussetzung wird durch welche Behörde geprüft?</a:t>
            </a:r>
          </a:p>
        </p:txBody>
      </p:sp>
      <p:sp>
        <p:nvSpPr>
          <p:cNvPr id="16" name="">
            <a:extLst xmlns:a="http://schemas.openxmlformats.org/drawingml/2006/main">
              <a:ext uri="{FF2B5EF4-FFF2-40B4-BE49-F238E27FC236}">
                <a16:creationId xmlns:a16="http://schemas.microsoft.com/office/drawing/2014/main" id="{E5E8CE6A-9394-4170-94D9-C4A1E89FF441}"/>
              </a:ext>
            </a:extLst>
          </p:cNvPr>
          <p:cNvSpPr>
            <a:spLocks xmlns:a="http://schemas.openxmlformats.org/drawingml/2006/main" noGrp="1"/>
          </p:cNvSpPr>
          <p:nvPr/>
        </p:nvSpPr>
        <p:spPr>
          <a:xfrm xmlns:a="http://schemas.openxmlformats.org/drawingml/2006/main">
            <a:off x="1809750" y="375285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7" name="">
            <a:extLst xmlns:a="http://schemas.openxmlformats.org/drawingml/2006/main">
              <a:ext uri="{FF2B5EF4-FFF2-40B4-BE49-F238E27FC236}">
                <a16:creationId xmlns:a16="http://schemas.microsoft.com/office/drawing/2014/main" id="{A10C195E-E282-4270-B67D-B3C6D8516906}"/>
              </a:ext>
            </a:extLst>
          </p:cNvPr>
          <p:cNvSpPr>
            <a:spLocks xmlns:a="http://schemas.openxmlformats.org/drawingml/2006/main" noGrp="1"/>
          </p:cNvSpPr>
          <p:nvPr/>
        </p:nvSpPr>
        <p:spPr>
          <a:xfrm xmlns:a="http://schemas.openxmlformats.org/drawingml/2006/main">
            <a:off x="1809750" y="375285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18" name="">
            <a:extLst xmlns:a="http://schemas.openxmlformats.org/drawingml/2006/main">
              <a:ext uri="{FF2B5EF4-FFF2-40B4-BE49-F238E27FC236}">
                <a16:creationId xmlns:a16="http://schemas.microsoft.com/office/drawing/2014/main" id="{7766CD23-DC6B-41DC-810E-E975A45093C2}"/>
              </a:ext>
            </a:extLst>
          </p:cNvPr>
          <p:cNvSpPr>
            <a:spLocks xmlns:a="http://schemas.openxmlformats.org/drawingml/2006/main" noGrp="1"/>
          </p:cNvSpPr>
          <p:nvPr/>
        </p:nvSpPr>
        <p:spPr>
          <a:xfrm xmlns:a="http://schemas.openxmlformats.org/drawingml/2006/main">
            <a:off x="2324100" y="376237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4. Arbeitsrecht</a:t>
            </a:r>
          </a:p>
        </p:txBody>
      </p:sp>
      <p:sp>
        <p:nvSpPr>
          <p:cNvPr id="19" name="">
            <a:extLst xmlns:a="http://schemas.openxmlformats.org/drawingml/2006/main">
              <a:ext uri="{FF2B5EF4-FFF2-40B4-BE49-F238E27FC236}">
                <a16:creationId xmlns:a16="http://schemas.microsoft.com/office/drawing/2014/main" id="{3EF07E85-7737-4F41-AC22-5FA033B92D32}"/>
              </a:ext>
            </a:extLst>
          </p:cNvPr>
          <p:cNvSpPr>
            <a:spLocks xmlns:a="http://schemas.openxmlformats.org/drawingml/2006/main" noGrp="1"/>
          </p:cNvSpPr>
          <p:nvPr/>
        </p:nvSpPr>
        <p:spPr>
          <a:xfrm xmlns:a="http://schemas.openxmlformats.org/drawingml/2006/main">
            <a:off x="4819650" y="376237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Welche vertraglichen Pflichten, Schutzmaßnahmen und Beteiligungsrechte bestehen?</a:t>
            </a:r>
          </a:p>
        </p:txBody>
      </p:sp>
      <p:sp>
        <p:nvSpPr>
          <p:cNvPr id="20" name="">
            <a:extLst xmlns:a="http://schemas.openxmlformats.org/drawingml/2006/main">
              <a:ext uri="{FF2B5EF4-FFF2-40B4-BE49-F238E27FC236}">
                <a16:creationId xmlns:a16="http://schemas.microsoft.com/office/drawing/2014/main" id="{C5A13FF0-3432-453B-8384-842CFCF8842B}"/>
              </a:ext>
            </a:extLst>
          </p:cNvPr>
          <p:cNvSpPr>
            <a:spLocks xmlns:a="http://schemas.openxmlformats.org/drawingml/2006/main" noGrp="1"/>
          </p:cNvSpPr>
          <p:nvPr/>
        </p:nvSpPr>
        <p:spPr>
          <a:xfrm xmlns:a="http://schemas.openxmlformats.org/drawingml/2006/main">
            <a:off x="1809750" y="435292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1" name="">
            <a:extLst xmlns:a="http://schemas.openxmlformats.org/drawingml/2006/main">
              <a:ext uri="{FF2B5EF4-FFF2-40B4-BE49-F238E27FC236}">
                <a16:creationId xmlns:a16="http://schemas.microsoft.com/office/drawing/2014/main" id="{45F910FE-5EB9-48B4-9264-4F23B3E4BA5E}"/>
              </a:ext>
            </a:extLst>
          </p:cNvPr>
          <p:cNvSpPr>
            <a:spLocks xmlns:a="http://schemas.openxmlformats.org/drawingml/2006/main" noGrp="1"/>
          </p:cNvSpPr>
          <p:nvPr/>
        </p:nvSpPr>
        <p:spPr>
          <a:xfrm xmlns:a="http://schemas.openxmlformats.org/drawingml/2006/main">
            <a:off x="1809750" y="43529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5</a:t>
            </a:r>
          </a:p>
        </p:txBody>
      </p:sp>
      <p:sp>
        <p:nvSpPr>
          <p:cNvPr id="22" name="">
            <a:extLst xmlns:a="http://schemas.openxmlformats.org/drawingml/2006/main">
              <a:ext uri="{FF2B5EF4-FFF2-40B4-BE49-F238E27FC236}">
                <a16:creationId xmlns:a16="http://schemas.microsoft.com/office/drawing/2014/main" id="{37799125-E486-42AD-8D60-429FFEAE1CA9}"/>
              </a:ext>
            </a:extLst>
          </p:cNvPr>
          <p:cNvSpPr>
            <a:spLocks xmlns:a="http://schemas.openxmlformats.org/drawingml/2006/main" noGrp="1"/>
          </p:cNvSpPr>
          <p:nvPr/>
        </p:nvSpPr>
        <p:spPr>
          <a:xfrm xmlns:a="http://schemas.openxmlformats.org/drawingml/2006/main">
            <a:off x="2324100" y="436245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5. Informationsfluss</a:t>
            </a:r>
          </a:p>
        </p:txBody>
      </p:sp>
      <p:sp>
        <p:nvSpPr>
          <p:cNvPr id="23" name="">
            <a:extLst xmlns:a="http://schemas.openxmlformats.org/drawingml/2006/main">
              <a:ext uri="{FF2B5EF4-FFF2-40B4-BE49-F238E27FC236}">
                <a16:creationId xmlns:a16="http://schemas.microsoft.com/office/drawing/2014/main" id="{92DC5240-1DAD-4D44-897E-8460546688B7}"/>
              </a:ext>
            </a:extLst>
          </p:cNvPr>
          <p:cNvSpPr>
            <a:spLocks xmlns:a="http://schemas.openxmlformats.org/drawingml/2006/main" noGrp="1"/>
          </p:cNvSpPr>
          <p:nvPr/>
        </p:nvSpPr>
        <p:spPr>
          <a:xfrm xmlns:a="http://schemas.openxmlformats.org/drawingml/2006/main">
            <a:off x="4819650" y="436245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Welche Akten dürfen oder müssen zwischen Verfahren gelangen; wo gelten Schweigepflicht und Zweckbindung?</a:t>
            </a:r>
          </a:p>
        </p:txBody>
      </p:sp>
      <p:sp>
        <p:nvSpPr>
          <p:cNvPr id="24" name="">
            <a:extLst xmlns:a="http://schemas.openxmlformats.org/drawingml/2006/main">
              <a:ext uri="{FF2B5EF4-FFF2-40B4-BE49-F238E27FC236}">
                <a16:creationId xmlns:a16="http://schemas.microsoft.com/office/drawing/2014/main" id="{1A34CBAA-AE80-40C5-AB58-5CFC9C6F640D}"/>
              </a:ext>
            </a:extLst>
          </p:cNvPr>
          <p:cNvSpPr>
            <a:spLocks xmlns:a="http://schemas.openxmlformats.org/drawingml/2006/main" noGrp="1"/>
          </p:cNvSpPr>
          <p:nvPr/>
        </p:nvSpPr>
        <p:spPr>
          <a:xfrm xmlns:a="http://schemas.openxmlformats.org/drawingml/2006/main">
            <a:off x="1809750" y="495300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25" name="">
            <a:extLst xmlns:a="http://schemas.openxmlformats.org/drawingml/2006/main">
              <a:ext uri="{FF2B5EF4-FFF2-40B4-BE49-F238E27FC236}">
                <a16:creationId xmlns:a16="http://schemas.microsoft.com/office/drawing/2014/main" id="{633FDBD8-738C-4780-B198-F2634394AD95}"/>
              </a:ext>
            </a:extLst>
          </p:cNvPr>
          <p:cNvSpPr>
            <a:spLocks xmlns:a="http://schemas.openxmlformats.org/drawingml/2006/main" noGrp="1"/>
          </p:cNvSpPr>
          <p:nvPr/>
        </p:nvSpPr>
        <p:spPr>
          <a:xfrm xmlns:a="http://schemas.openxmlformats.org/drawingml/2006/main">
            <a:off x="1809750" y="495300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6</a:t>
            </a:r>
          </a:p>
        </p:txBody>
      </p:sp>
      <p:sp>
        <p:nvSpPr>
          <p:cNvPr id="26" name="">
            <a:extLst xmlns:a="http://schemas.openxmlformats.org/drawingml/2006/main">
              <a:ext uri="{FF2B5EF4-FFF2-40B4-BE49-F238E27FC236}">
                <a16:creationId xmlns:a16="http://schemas.microsoft.com/office/drawing/2014/main" id="{D51B63C8-0F90-4454-99EC-13EE7254F161}"/>
              </a:ext>
            </a:extLst>
          </p:cNvPr>
          <p:cNvSpPr>
            <a:spLocks xmlns:a="http://schemas.openxmlformats.org/drawingml/2006/main" noGrp="1"/>
          </p:cNvSpPr>
          <p:nvPr/>
        </p:nvSpPr>
        <p:spPr>
          <a:xfrm xmlns:a="http://schemas.openxmlformats.org/drawingml/2006/main">
            <a:off x="2324100" y="496252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6. Koordination</a:t>
            </a:r>
          </a:p>
        </p:txBody>
      </p:sp>
      <p:sp>
        <p:nvSpPr>
          <p:cNvPr id="27" name="">
            <a:extLst xmlns:a="http://schemas.openxmlformats.org/drawingml/2006/main">
              <a:ext uri="{FF2B5EF4-FFF2-40B4-BE49-F238E27FC236}">
                <a16:creationId xmlns:a16="http://schemas.microsoft.com/office/drawing/2014/main" id="{29AFA9E4-CB8B-472E-BF42-5055C599E009}"/>
              </a:ext>
            </a:extLst>
          </p:cNvPr>
          <p:cNvSpPr>
            <a:spLocks xmlns:a="http://schemas.openxmlformats.org/drawingml/2006/main" noGrp="1"/>
          </p:cNvSpPr>
          <p:nvPr/>
        </p:nvSpPr>
        <p:spPr>
          <a:xfrm xmlns:a="http://schemas.openxmlformats.org/drawingml/2006/main">
            <a:off x="4819650" y="496252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Wer berät Institution und Person; wo entstehen Interessenkonflikte?</a:t>
            </a:r>
          </a:p>
        </p:txBody>
      </p:sp>
      <p:sp>
        <p:nvSpPr>
          <p:cNvPr id="28" name="">
            <a:extLst xmlns:a="http://schemas.openxmlformats.org/drawingml/2006/main">
              <a:ext uri="{FF2B5EF4-FFF2-40B4-BE49-F238E27FC236}">
                <a16:creationId xmlns:a16="http://schemas.microsoft.com/office/drawing/2014/main" id="{DB4934A9-3EA4-4FC4-8942-FB8104E15940}"/>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9" name="">
            <a:extLst xmlns:a="http://schemas.openxmlformats.org/drawingml/2006/main">
              <a:ext uri="{FF2B5EF4-FFF2-40B4-BE49-F238E27FC236}">
                <a16:creationId xmlns:a16="http://schemas.microsoft.com/office/drawing/2014/main" id="{468E20FA-8118-4652-AF37-F9FF8724DC48}"/>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Eine einheitliche Tatsachenbasis wird gesichert, aber jede Rechtsordnung separat geprüft.</a:t>
            </a:r>
          </a:p>
        </p:txBody>
      </p:sp>
    </p:spTree>
    <p:extLst>
      <p:ext uri="{BB962C8B-B14F-4D97-AF65-F5344CB8AC3E}">
        <p14:creationId xmlns:p14="http://schemas.microsoft.com/office/powerpoint/2010/main" val="43637646"/>
      </p:ext>
    </p:extLst>
  </p:cSld>
</p:sld>
</file>

<file path=ppt/slides/slide284.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Leitentscheidung · Ruhen der Approbation bei strafrechtlichen Vorwürfen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ORIGINALENTSCHEIDUNG · TERMIN 09</a:t>
            </a:r>
            <a:endParaRPr/>
          </a:p>
        </p:txBody>
      </p:sp>
      <p:sp>
        <p:nvSpPr>
          <p:cNvPr id="4" name="">
            <a:extLst xmlns:a="http://schemas.openxmlformats.org/drawingml/2006/main">
              <a:ext uri="{FF2B5EF4-FFF2-40B4-BE49-F238E27FC236}">
                <a16:creationId xmlns:a16="http://schemas.microsoft.com/office/drawing/2014/main" id="{34263DF4-43FF-44BB-85C8-CDC19E9AB7EA}"/>
              </a:ext>
            </a:extLst>
          </p:cNvPr>
          <p:cNvSpPr>
            <a:spLocks xmlns:a="http://schemas.openxmlformats.org/drawingml/2006/main" noGrp="1"/>
          </p:cNvSpPr>
          <p:nvPr/>
        </p:nvSpPr>
        <p:spPr>
          <a:xfrm xmlns:a="http://schemas.openxmlformats.org/drawingml/2006/main">
            <a:off x="1809750" y="1943100"/>
            <a:ext cx="11239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27F06118-B879-4E75-A51C-4AC8C30DB3B8}"/>
              </a:ext>
            </a:extLst>
          </p:cNvPr>
          <p:cNvSpPr>
            <a:spLocks xmlns:a="http://schemas.openxmlformats.org/drawingml/2006/main" noGrp="1"/>
          </p:cNvSpPr>
          <p:nvPr/>
        </p:nvSpPr>
        <p:spPr>
          <a:xfrm xmlns:a="http://schemas.openxmlformats.org/drawingml/2006/main">
            <a:off x="1809750" y="1943100"/>
            <a:ext cx="1123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38" b="1">
                <a:solidFill>
                  <a:srgbClr val="FFFFFF"/>
                </a:solidFill>
              </a:defRPr>
            </a:pPr>
            <a:r>
              <a:rPr sz="938" b="1">
                <a:solidFill>
                  <a:srgbClr val="FFFFFF"/>
                </a:solidFill>
              </a:rPr>
              <a:t>BVerwG</a:t>
            </a:r>
          </a:p>
        </p:txBody>
      </p:sp>
      <p:sp>
        <p:nvSpPr>
          <p:cNvPr id="6" name="">
            <a:extLst xmlns:a="http://schemas.openxmlformats.org/drawingml/2006/main">
              <a:ext uri="{FF2B5EF4-FFF2-40B4-BE49-F238E27FC236}">
                <a16:creationId xmlns:a16="http://schemas.microsoft.com/office/drawing/2014/main" id="{A141ACD6-5A38-449A-9027-716826CE1257}"/>
              </a:ext>
            </a:extLst>
          </p:cNvPr>
          <p:cNvSpPr>
            <a:spLocks xmlns:a="http://schemas.openxmlformats.org/drawingml/2006/main" noGrp="1"/>
          </p:cNvSpPr>
          <p:nvPr/>
        </p:nvSpPr>
        <p:spPr>
          <a:xfrm xmlns:a="http://schemas.openxmlformats.org/drawingml/2006/main">
            <a:off x="312420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10.09.2020 · 3 C 13.19</a:t>
            </a:r>
          </a:p>
        </p:txBody>
      </p:sp>
      <p:sp>
        <p:nvSpPr>
          <p:cNvPr id="7" name="">
            <a:extLst xmlns:a="http://schemas.openxmlformats.org/drawingml/2006/main">
              <a:ext uri="{FF2B5EF4-FFF2-40B4-BE49-F238E27FC236}">
                <a16:creationId xmlns:a16="http://schemas.microsoft.com/office/drawing/2014/main" id="{51D6C7C0-2E37-4A46-A6C5-626093115A11}"/>
              </a:ext>
            </a:extLst>
          </p:cNvPr>
          <p:cNvSpPr>
            <a:spLocks xmlns:a="http://schemas.openxmlformats.org/drawingml/2006/main" noGrp="1"/>
          </p:cNvSpPr>
          <p:nvPr/>
        </p:nvSpPr>
        <p:spPr>
          <a:xfrm xmlns:a="http://schemas.openxmlformats.org/drawingml/2006/main">
            <a:off x="733425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050">
                <a:solidFill>
                  <a:srgbClr val="667680"/>
                </a:solidFill>
              </a:defRPr>
            </a:pPr>
            <a:r>
              <a:rPr sz="1050">
                <a:solidFill>
                  <a:srgbClr val="667680"/>
                </a:solidFill>
              </a:rPr>
              <a:t>Eine Anklage ist kein Automatismus</a:t>
            </a:r>
          </a:p>
        </p:txBody>
      </p:sp>
      <p:sp>
        <p:nvSpPr>
          <p:cNvPr id="8" name="">
            <a:extLst xmlns:a="http://schemas.openxmlformats.org/drawingml/2006/main">
              <a:ext uri="{FF2B5EF4-FFF2-40B4-BE49-F238E27FC236}">
                <a16:creationId xmlns:a16="http://schemas.microsoft.com/office/drawing/2014/main" id="{FF622E67-635D-47FF-964A-D50B90CB08CD}"/>
              </a:ext>
            </a:extLst>
          </p:cNvPr>
          <p:cNvSpPr>
            <a:spLocks xmlns:a="http://schemas.openxmlformats.org/drawingml/2006/main" noGrp="1"/>
          </p:cNvSpPr>
          <p:nvPr/>
        </p:nvSpPr>
        <p:spPr>
          <a:xfrm xmlns:a="http://schemas.openxmlformats.org/drawingml/2006/main">
            <a:off x="1809750" y="2533650"/>
            <a:ext cx="1676400" cy="781050"/>
          </a:xfrm>
          <a:prstGeom xmlns:a="http://schemas.openxmlformats.org/drawingml/2006/main" prst="roundRect">
            <a:avLst>
              <a:gd name="adj" fmla="val 9756"/>
            </a:avLst>
          </a:prstGeom>
          <a:solidFill xmlns:a="http://schemas.openxmlformats.org/drawingml/2006/main">
            <a:srgbClr val="00B2BB"/>
          </a:solidFill>
          <a:ln xmlns:a="http://schemas.openxmlformats.org/drawingml/2006/main" w="0">
            <a:solidFill>
              <a:srgbClr val="00B2BB"/>
            </a:solidFill>
            <a:prstDash val="solid"/>
          </a:ln>
        </p:spPr>
      </p:sp>
      <p:sp>
        <p:nvSpPr>
          <p:cNvPr id="9" name="">
            <a:extLst xmlns:a="http://schemas.openxmlformats.org/drawingml/2006/main">
              <a:ext uri="{FF2B5EF4-FFF2-40B4-BE49-F238E27FC236}">
                <a16:creationId xmlns:a16="http://schemas.microsoft.com/office/drawing/2014/main" id="{74B0E4BA-614A-4103-8E52-6580D6138054}"/>
              </a:ext>
            </a:extLst>
          </p:cNvPr>
          <p:cNvSpPr>
            <a:spLocks xmlns:a="http://schemas.openxmlformats.org/drawingml/2006/main" noGrp="1"/>
          </p:cNvSpPr>
          <p:nvPr/>
        </p:nvSpPr>
        <p:spPr>
          <a:xfrm xmlns:a="http://schemas.openxmlformats.org/drawingml/2006/main">
            <a:off x="1924050" y="25336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Ausgangsfall</a:t>
            </a:r>
          </a:p>
        </p:txBody>
      </p:sp>
      <p:sp>
        <p:nvSpPr>
          <p:cNvPr id="10" name="">
            <a:extLst xmlns:a="http://schemas.openxmlformats.org/drawingml/2006/main">
              <a:ext uri="{FF2B5EF4-FFF2-40B4-BE49-F238E27FC236}">
                <a16:creationId xmlns:a16="http://schemas.microsoft.com/office/drawing/2014/main" id="{E823DAFC-5017-46BA-8B31-91AF9590231D}"/>
              </a:ext>
            </a:extLst>
          </p:cNvPr>
          <p:cNvSpPr>
            <a:spLocks xmlns:a="http://schemas.openxmlformats.org/drawingml/2006/main" noGrp="1"/>
          </p:cNvSpPr>
          <p:nvPr/>
        </p:nvSpPr>
        <p:spPr>
          <a:xfrm xmlns:a="http://schemas.openxmlformats.org/drawingml/2006/main">
            <a:off x="3695700" y="25336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Gegen einen Arzt liefen strafrechtliche Ermittlungen. Die Behörde ordnete das Ruhen der Approbation an; Tatgewicht, Berufsbezug, Prognose und Verhältnismäßigkeit waren streitig.</a:t>
            </a:r>
          </a:p>
        </p:txBody>
      </p:sp>
      <p:sp>
        <p:nvSpPr>
          <p:cNvPr id="11" name="">
            <a:extLst xmlns:a="http://schemas.openxmlformats.org/drawingml/2006/main">
              <a:ext uri="{FF2B5EF4-FFF2-40B4-BE49-F238E27FC236}">
                <a16:creationId xmlns:a16="http://schemas.microsoft.com/office/drawing/2014/main" id="{A1E1100D-B474-436A-A203-C836BC34CDAD}"/>
              </a:ext>
            </a:extLst>
          </p:cNvPr>
          <p:cNvSpPr>
            <a:spLocks xmlns:a="http://schemas.openxmlformats.org/drawingml/2006/main" noGrp="1"/>
          </p:cNvSpPr>
          <p:nvPr/>
        </p:nvSpPr>
        <p:spPr>
          <a:xfrm xmlns:a="http://schemas.openxmlformats.org/drawingml/2006/main">
            <a:off x="1809750" y="3486150"/>
            <a:ext cx="1676400" cy="781050"/>
          </a:xfrm>
          <a:prstGeom xmlns:a="http://schemas.openxmlformats.org/drawingml/2006/main" prst="roundRect">
            <a:avLst>
              <a:gd name="adj" fmla="val 9756"/>
            </a:avLst>
          </a:prstGeom>
          <a:solidFill xmlns:a="http://schemas.openxmlformats.org/drawingml/2006/main">
            <a:srgbClr val="003F6B"/>
          </a:solidFill>
          <a:ln xmlns:a="http://schemas.openxmlformats.org/drawingml/2006/main" w="0">
            <a:solidFill>
              <a:srgbClr val="003F6B"/>
            </a:solidFill>
            <a:prstDash val="solid"/>
          </a:ln>
        </p:spPr>
      </p:sp>
      <p:sp>
        <p:nvSpPr>
          <p:cNvPr id="12" name="">
            <a:extLst xmlns:a="http://schemas.openxmlformats.org/drawingml/2006/main">
              <a:ext uri="{FF2B5EF4-FFF2-40B4-BE49-F238E27FC236}">
                <a16:creationId xmlns:a16="http://schemas.microsoft.com/office/drawing/2014/main" id="{F2EBB57D-35E2-4327-AFF4-FA7E609B8878}"/>
              </a:ext>
            </a:extLst>
          </p:cNvPr>
          <p:cNvSpPr>
            <a:spLocks xmlns:a="http://schemas.openxmlformats.org/drawingml/2006/main" noGrp="1"/>
          </p:cNvSpPr>
          <p:nvPr/>
        </p:nvSpPr>
        <p:spPr>
          <a:xfrm xmlns:a="http://schemas.openxmlformats.org/drawingml/2006/main">
            <a:off x="1924050" y="34861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Leitsatzkern</a:t>
            </a:r>
          </a:p>
        </p:txBody>
      </p:sp>
      <p:sp>
        <p:nvSpPr>
          <p:cNvPr id="13" name="">
            <a:extLst xmlns:a="http://schemas.openxmlformats.org/drawingml/2006/main">
              <a:ext uri="{FF2B5EF4-FFF2-40B4-BE49-F238E27FC236}">
                <a16:creationId xmlns:a16="http://schemas.microsoft.com/office/drawing/2014/main" id="{08E39AE2-7036-4CD9-9305-EFB32FD35A3D}"/>
              </a:ext>
            </a:extLst>
          </p:cNvPr>
          <p:cNvSpPr>
            <a:spLocks xmlns:a="http://schemas.openxmlformats.org/drawingml/2006/main" noGrp="1"/>
          </p:cNvSpPr>
          <p:nvPr/>
        </p:nvSpPr>
        <p:spPr>
          <a:xfrm xmlns:a="http://schemas.openxmlformats.org/drawingml/2006/main">
            <a:off x="3695700" y="34861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Leitsatzkern (paraphrasiert): Die vorgeworfenen Taten müssen ihrer Art nach einen späteren Widerruf tragen können. Die Behörde muss Tatsachen und Gefahrenprognose eigenständig prüfen.</a:t>
            </a:r>
          </a:p>
        </p:txBody>
      </p:sp>
      <p:sp>
        <p:nvSpPr>
          <p:cNvPr id="14" name="">
            <a:extLst xmlns:a="http://schemas.openxmlformats.org/drawingml/2006/main">
              <a:ext uri="{FF2B5EF4-FFF2-40B4-BE49-F238E27FC236}">
                <a16:creationId xmlns:a16="http://schemas.microsoft.com/office/drawing/2014/main" id="{2732151C-9205-4D7A-9B8F-013E1888467F}"/>
              </a:ext>
            </a:extLst>
          </p:cNvPr>
          <p:cNvSpPr>
            <a:spLocks xmlns:a="http://schemas.openxmlformats.org/drawingml/2006/main" noGrp="1"/>
          </p:cNvSpPr>
          <p:nvPr/>
        </p:nvSpPr>
        <p:spPr>
          <a:xfrm xmlns:a="http://schemas.openxmlformats.org/drawingml/2006/main">
            <a:off x="1809750" y="4438650"/>
            <a:ext cx="1676400" cy="781050"/>
          </a:xfrm>
          <a:prstGeom xmlns:a="http://schemas.openxmlformats.org/drawingml/2006/main" prst="roundRect">
            <a:avLst>
              <a:gd name="adj" fmla="val 9756"/>
            </a:avLst>
          </a:prstGeom>
          <a:solidFill xmlns:a="http://schemas.openxmlformats.org/drawingml/2006/main">
            <a:srgbClr val="00B2BB"/>
          </a:solidFill>
          <a:ln xmlns:a="http://schemas.openxmlformats.org/drawingml/2006/main" w="0">
            <a:solidFill>
              <a:srgbClr val="00B2BB"/>
            </a:solidFill>
            <a:prstDash val="solid"/>
          </a:ln>
        </p:spPr>
      </p:sp>
      <p:sp>
        <p:nvSpPr>
          <p:cNvPr id="15" name="">
            <a:extLst xmlns:a="http://schemas.openxmlformats.org/drawingml/2006/main">
              <a:ext uri="{FF2B5EF4-FFF2-40B4-BE49-F238E27FC236}">
                <a16:creationId xmlns:a16="http://schemas.microsoft.com/office/drawing/2014/main" id="{0AB6FD2D-B477-4156-AD54-0A48E384E1C8}"/>
              </a:ext>
            </a:extLst>
          </p:cNvPr>
          <p:cNvSpPr>
            <a:spLocks xmlns:a="http://schemas.openxmlformats.org/drawingml/2006/main" noGrp="1"/>
          </p:cNvSpPr>
          <p:nvPr/>
        </p:nvSpPr>
        <p:spPr>
          <a:xfrm xmlns:a="http://schemas.openxmlformats.org/drawingml/2006/main">
            <a:off x="1924050" y="44386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Für die Praxis</a:t>
            </a:r>
          </a:p>
        </p:txBody>
      </p:sp>
      <p:sp>
        <p:nvSpPr>
          <p:cNvPr id="16" name="">
            <a:extLst xmlns:a="http://schemas.openxmlformats.org/drawingml/2006/main">
              <a:ext uri="{FF2B5EF4-FFF2-40B4-BE49-F238E27FC236}">
                <a16:creationId xmlns:a16="http://schemas.microsoft.com/office/drawing/2014/main" id="{8719F685-18A3-4CA3-B75F-AF72E67D6A85}"/>
              </a:ext>
            </a:extLst>
          </p:cNvPr>
          <p:cNvSpPr>
            <a:spLocks xmlns:a="http://schemas.openxmlformats.org/drawingml/2006/main" noGrp="1"/>
          </p:cNvSpPr>
          <p:nvPr/>
        </p:nvSpPr>
        <p:spPr>
          <a:xfrm xmlns:a="http://schemas.openxmlformats.org/drawingml/2006/main">
            <a:off x="3695700" y="44386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Anhörungsfrist sichern, Akteneinsicht beantragen und Vorwurf, Prognose, Berufsbezug sowie mildere Mittel getrennt beantworten.</a:t>
            </a:r>
          </a:p>
        </p:txBody>
      </p:sp>
      <p:sp>
        <p:nvSpPr>
          <p:cNvPr id="17" name="">
            <a:extLst xmlns:a="http://schemas.openxmlformats.org/drawingml/2006/main">
              <a:ext uri="{FF2B5EF4-FFF2-40B4-BE49-F238E27FC236}">
                <a16:creationId xmlns:a16="http://schemas.microsoft.com/office/drawing/2014/main" id="{C0C90CBD-705F-497C-8C24-823C61653AC3}"/>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20">
                <a:solidFill>
                  <a:srgbClr val="667680"/>
                </a:solidFill>
              </a:defRPr>
            </a:pPr>
            <a:r>
              <a:rPr sz="720">
                <a:solidFill>
                  <a:srgbClr val="667680"/>
                </a:solidFill>
              </a:rPr>
              <a:t>BVerwG, Urt. v. 10.09.2020 – 3 C 13.19 · https://www.bverwg.de/100920U3C13.19.0</a:t>
            </a:r>
          </a:p>
        </p:txBody>
      </p:sp>
    </p:spTree>
    <p:extLst>
      <p:ext uri="{BB962C8B-B14F-4D97-AF65-F5344CB8AC3E}">
        <p14:creationId xmlns:p14="http://schemas.microsoft.com/office/powerpoint/2010/main" val="43637646"/>
      </p:ext>
    </p:extLst>
  </p:cSld>
</p:sld>
</file>

<file path=ppt/slides/slide285.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Drei Institutionen – drei Fragen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EBENEN</a:t>
            </a:r>
            <a:endParaRPr/>
          </a:p>
        </p:txBody>
      </p:sp>
      <p:sp>
        <p:nvSpPr>
          <p:cNvPr id="4" name="">
            <a:extLst xmlns:a="http://schemas.openxmlformats.org/drawingml/2006/main">
              <a:ext uri="{FF2B5EF4-FFF2-40B4-BE49-F238E27FC236}">
                <a16:creationId xmlns:a16="http://schemas.microsoft.com/office/drawing/2014/main" id="{FDE7E52F-1B09-4222-B599-FA7250B2D442}"/>
              </a:ext>
            </a:extLst>
          </p:cNvPr>
          <p:cNvSpPr>
            <a:spLocks xmlns:a="http://schemas.openxmlformats.org/drawingml/2006/main" noGrp="1"/>
          </p:cNvSpPr>
          <p:nvPr/>
        </p:nvSpPr>
        <p:spPr>
          <a:xfrm xmlns:a="http://schemas.openxmlformats.org/drawingml/2006/main">
            <a:off x="1809750" y="1952625"/>
            <a:ext cx="46863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F7B07ED2-7E12-49D4-8CAB-B588F057BF36}"/>
              </a:ext>
            </a:extLst>
          </p:cNvPr>
          <p:cNvSpPr>
            <a:spLocks xmlns:a="http://schemas.openxmlformats.org/drawingml/2006/main" noGrp="1"/>
          </p:cNvSpPr>
          <p:nvPr/>
        </p:nvSpPr>
        <p:spPr>
          <a:xfrm xmlns:a="http://schemas.openxmlformats.org/drawingml/2006/main">
            <a:off x="1809750" y="1952625"/>
            <a:ext cx="46863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FBCA8ED4-43F5-4A90-93A3-487EE9ECABD3}"/>
              </a:ext>
            </a:extLst>
          </p:cNvPr>
          <p:cNvSpPr>
            <a:spLocks xmlns:a="http://schemas.openxmlformats.org/drawingml/2006/main" noGrp="1"/>
          </p:cNvSpPr>
          <p:nvPr/>
        </p:nvSpPr>
        <p:spPr>
          <a:xfrm xmlns:a="http://schemas.openxmlformats.org/drawingml/2006/main">
            <a:off x="1962150" y="2085975"/>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Ärztekammer / Berufsgericht</a:t>
            </a:r>
          </a:p>
        </p:txBody>
      </p:sp>
      <p:sp>
        <p:nvSpPr>
          <p:cNvPr id="7" name="">
            <a:extLst xmlns:a="http://schemas.openxmlformats.org/drawingml/2006/main">
              <a:ext uri="{FF2B5EF4-FFF2-40B4-BE49-F238E27FC236}">
                <a16:creationId xmlns:a16="http://schemas.microsoft.com/office/drawing/2014/main" id="{31C4260C-A113-4DF4-91B5-B664B00A8B9C}"/>
              </a:ext>
            </a:extLst>
          </p:cNvPr>
          <p:cNvSpPr>
            <a:spLocks xmlns:a="http://schemas.openxmlformats.org/drawingml/2006/main" noGrp="1"/>
          </p:cNvSpPr>
          <p:nvPr/>
        </p:nvSpPr>
        <p:spPr>
          <a:xfrm xmlns:a="http://schemas.openxmlformats.org/drawingml/2006/main">
            <a:off x="1962150" y="2524125"/>
            <a:ext cx="43815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Wurde eine Berufspflicht verletzt?</a:t>
            </a:r>
          </a:p>
        </p:txBody>
      </p:sp>
      <p:sp>
        <p:nvSpPr>
          <p:cNvPr id="8" name="">
            <a:extLst xmlns:a="http://schemas.openxmlformats.org/drawingml/2006/main">
              <a:ext uri="{FF2B5EF4-FFF2-40B4-BE49-F238E27FC236}">
                <a16:creationId xmlns:a16="http://schemas.microsoft.com/office/drawing/2014/main" id="{B7F8AFC4-42E1-426E-9A21-C606B2308068}"/>
              </a:ext>
            </a:extLst>
          </p:cNvPr>
          <p:cNvSpPr>
            <a:spLocks xmlns:a="http://schemas.openxmlformats.org/drawingml/2006/main" noGrp="1"/>
          </p:cNvSpPr>
          <p:nvPr/>
        </p:nvSpPr>
        <p:spPr>
          <a:xfrm xmlns:a="http://schemas.openxmlformats.org/drawingml/2006/main">
            <a:off x="6648450" y="1952625"/>
            <a:ext cx="46863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9" name="">
            <a:extLst xmlns:a="http://schemas.openxmlformats.org/drawingml/2006/main">
              <a:ext uri="{FF2B5EF4-FFF2-40B4-BE49-F238E27FC236}">
                <a16:creationId xmlns:a16="http://schemas.microsoft.com/office/drawing/2014/main" id="{857E184A-1E8E-4CAE-A7DB-597C6E475175}"/>
              </a:ext>
            </a:extLst>
          </p:cNvPr>
          <p:cNvSpPr>
            <a:spLocks xmlns:a="http://schemas.openxmlformats.org/drawingml/2006/main" noGrp="1"/>
          </p:cNvSpPr>
          <p:nvPr/>
        </p:nvSpPr>
        <p:spPr>
          <a:xfrm xmlns:a="http://schemas.openxmlformats.org/drawingml/2006/main">
            <a:off x="6648450" y="1952625"/>
            <a:ext cx="468630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04388B12-CDE6-49A3-B8BE-5C679C7D4BD4}"/>
              </a:ext>
            </a:extLst>
          </p:cNvPr>
          <p:cNvSpPr>
            <a:spLocks xmlns:a="http://schemas.openxmlformats.org/drawingml/2006/main" noGrp="1"/>
          </p:cNvSpPr>
          <p:nvPr/>
        </p:nvSpPr>
        <p:spPr>
          <a:xfrm xmlns:a="http://schemas.openxmlformats.org/drawingml/2006/main">
            <a:off x="6800850" y="2085975"/>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Approbationsbehörde</a:t>
            </a:r>
          </a:p>
        </p:txBody>
      </p:sp>
      <p:sp>
        <p:nvSpPr>
          <p:cNvPr id="11" name="">
            <a:extLst xmlns:a="http://schemas.openxmlformats.org/drawingml/2006/main">
              <a:ext uri="{FF2B5EF4-FFF2-40B4-BE49-F238E27FC236}">
                <a16:creationId xmlns:a16="http://schemas.microsoft.com/office/drawing/2014/main" id="{1B516B7F-13E6-4946-9E41-0ED99CAAD938}"/>
              </a:ext>
            </a:extLst>
          </p:cNvPr>
          <p:cNvSpPr>
            <a:spLocks xmlns:a="http://schemas.openxmlformats.org/drawingml/2006/main" noGrp="1"/>
          </p:cNvSpPr>
          <p:nvPr/>
        </p:nvSpPr>
        <p:spPr>
          <a:xfrm xmlns:a="http://schemas.openxmlformats.org/drawingml/2006/main">
            <a:off x="6800850" y="2524125"/>
            <a:ext cx="43815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Bestehen Unwürdigkeit, Unzuverlässigkeit oder andere Zulassungshindernisse?</a:t>
            </a:r>
          </a:p>
        </p:txBody>
      </p:sp>
      <p:sp>
        <p:nvSpPr>
          <p:cNvPr id="12" name="">
            <a:extLst xmlns:a="http://schemas.openxmlformats.org/drawingml/2006/main">
              <a:ext uri="{FF2B5EF4-FFF2-40B4-BE49-F238E27FC236}">
                <a16:creationId xmlns:a16="http://schemas.microsoft.com/office/drawing/2014/main" id="{A4CB66E6-7814-42F7-ADD5-762A1105561D}"/>
              </a:ext>
            </a:extLst>
          </p:cNvPr>
          <p:cNvSpPr>
            <a:spLocks xmlns:a="http://schemas.openxmlformats.org/drawingml/2006/main" noGrp="1"/>
          </p:cNvSpPr>
          <p:nvPr/>
        </p:nvSpPr>
        <p:spPr>
          <a:xfrm xmlns:a="http://schemas.openxmlformats.org/drawingml/2006/main">
            <a:off x="1809750" y="3767138"/>
            <a:ext cx="46863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13" name="">
            <a:extLst xmlns:a="http://schemas.openxmlformats.org/drawingml/2006/main">
              <a:ext uri="{FF2B5EF4-FFF2-40B4-BE49-F238E27FC236}">
                <a16:creationId xmlns:a16="http://schemas.microsoft.com/office/drawing/2014/main" id="{B9407099-6840-441A-B73E-0FD7B825402D}"/>
              </a:ext>
            </a:extLst>
          </p:cNvPr>
          <p:cNvSpPr>
            <a:spLocks xmlns:a="http://schemas.openxmlformats.org/drawingml/2006/main" noGrp="1"/>
          </p:cNvSpPr>
          <p:nvPr/>
        </p:nvSpPr>
        <p:spPr>
          <a:xfrm xmlns:a="http://schemas.openxmlformats.org/drawingml/2006/main">
            <a:off x="1809750" y="3767138"/>
            <a:ext cx="46863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8E54C0C7-CB8E-4F54-88E5-55559837D901}"/>
              </a:ext>
            </a:extLst>
          </p:cNvPr>
          <p:cNvSpPr>
            <a:spLocks xmlns:a="http://schemas.openxmlformats.org/drawingml/2006/main" noGrp="1"/>
          </p:cNvSpPr>
          <p:nvPr/>
        </p:nvSpPr>
        <p:spPr>
          <a:xfrm xmlns:a="http://schemas.openxmlformats.org/drawingml/2006/main">
            <a:off x="1962150" y="3900488"/>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Arbeitgeber</a:t>
            </a:r>
          </a:p>
        </p:txBody>
      </p:sp>
      <p:sp>
        <p:nvSpPr>
          <p:cNvPr id="15" name="">
            <a:extLst xmlns:a="http://schemas.openxmlformats.org/drawingml/2006/main">
              <a:ext uri="{FF2B5EF4-FFF2-40B4-BE49-F238E27FC236}">
                <a16:creationId xmlns:a16="http://schemas.microsoft.com/office/drawing/2014/main" id="{CA4A1EEF-90DB-477F-9A62-50E3764DA054}"/>
              </a:ext>
            </a:extLst>
          </p:cNvPr>
          <p:cNvSpPr>
            <a:spLocks xmlns:a="http://schemas.openxmlformats.org/drawingml/2006/main" noGrp="1"/>
          </p:cNvSpPr>
          <p:nvPr/>
        </p:nvSpPr>
        <p:spPr>
          <a:xfrm xmlns:a="http://schemas.openxmlformats.org/drawingml/2006/main">
            <a:off x="1962150" y="4338638"/>
            <a:ext cx="43815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Welche arbeitsvertraglichen Pflichten, Risiken und Organisationsfragen bestehen?</a:t>
            </a:r>
          </a:p>
        </p:txBody>
      </p:sp>
      <p:sp>
        <p:nvSpPr>
          <p:cNvPr id="16" name="">
            <a:extLst xmlns:a="http://schemas.openxmlformats.org/drawingml/2006/main">
              <a:ext uri="{FF2B5EF4-FFF2-40B4-BE49-F238E27FC236}">
                <a16:creationId xmlns:a16="http://schemas.microsoft.com/office/drawing/2014/main" id="{56591AEE-7EE6-4443-BE60-95E3B338A84D}"/>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17" name="">
            <a:extLst xmlns:a="http://schemas.openxmlformats.org/drawingml/2006/main">
              <a:ext uri="{FF2B5EF4-FFF2-40B4-BE49-F238E27FC236}">
                <a16:creationId xmlns:a16="http://schemas.microsoft.com/office/drawing/2014/main" id="{51810497-708C-4F57-AA33-CBF7836E41FB}"/>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Dieselben Tatsachen können unterschiedlich gewichtet werden; Zuständigkeit und Zweck bleiben getrennt.</a:t>
            </a:r>
          </a:p>
        </p:txBody>
      </p:sp>
    </p:spTree>
    <p:extLst>
      <p:ext uri="{BB962C8B-B14F-4D97-AF65-F5344CB8AC3E}">
        <p14:creationId xmlns:p14="http://schemas.microsoft.com/office/powerpoint/2010/main" val="43637646"/>
      </p:ext>
    </p:extLst>
  </p:cSld>
</p:sld>
</file>

<file path=ppt/slides/slide286.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Berufsrecht in Niedersachsen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HKG + BERUFSORDNUNG</a:t>
            </a:r>
            <a:endParaRPr/>
          </a:p>
        </p:txBody>
      </p:sp>
      <p:sp>
        <p:nvSpPr>
          <p:cNvPr id="4" name="">
            <a:extLst xmlns:a="http://schemas.openxmlformats.org/drawingml/2006/main">
              <a:ext uri="{FF2B5EF4-FFF2-40B4-BE49-F238E27FC236}">
                <a16:creationId xmlns:a16="http://schemas.microsoft.com/office/drawing/2014/main" id="{63B5FA93-D13F-4522-9B49-3144ED3FF939}"/>
              </a:ext>
            </a:extLst>
          </p:cNvPr>
          <p:cNvSpPr>
            <a:spLocks xmlns:a="http://schemas.openxmlformats.org/drawingml/2006/main" noGrp="1"/>
          </p:cNvSpPr>
          <p:nvPr/>
        </p:nvSpPr>
        <p:spPr>
          <a:xfrm xmlns:a="http://schemas.openxmlformats.org/drawingml/2006/main">
            <a:off x="2000250" y="2657475"/>
            <a:ext cx="9144000" cy="0"/>
          </a:xfrm>
          <a:prstGeom xmlns:a="http://schemas.openxmlformats.org/drawingml/2006/main" prst="line">
            <a:avLst/>
          </a:prstGeom>
          <a:noFill xmlns:a="http://schemas.openxmlformats.org/drawingml/2006/main"/>
          <a:ln xmlns:a="http://schemas.openxmlformats.org/drawingml/2006/main" w="28575">
            <a:solidFill>
              <a:srgbClr val="B9CAD2"/>
            </a:solidFill>
            <a:prstDash val="solid"/>
          </a:ln>
        </p:spPr>
      </p:sp>
      <p:sp>
        <p:nvSpPr>
          <p:cNvPr id="5" name="">
            <a:extLst xmlns:a="http://schemas.openxmlformats.org/drawingml/2006/main">
              <a:ext uri="{FF2B5EF4-FFF2-40B4-BE49-F238E27FC236}">
                <a16:creationId xmlns:a16="http://schemas.microsoft.com/office/drawing/2014/main" id="{9D0C835F-4DED-4D8F-B856-B92E3ED0EFCE}"/>
              </a:ext>
            </a:extLst>
          </p:cNvPr>
          <p:cNvSpPr>
            <a:spLocks xmlns:a="http://schemas.openxmlformats.org/drawingml/2006/main" noGrp="1"/>
          </p:cNvSpPr>
          <p:nvPr/>
        </p:nvSpPr>
        <p:spPr>
          <a:xfrm xmlns:a="http://schemas.openxmlformats.org/drawingml/2006/main">
            <a:off x="2441575" y="2543175"/>
            <a:ext cx="228600" cy="228600"/>
          </a:xfrm>
          <a:prstGeom xmlns:a="http://schemas.openxmlformats.org/drawingml/2006/main" prst="ellipse">
            <a:avLst/>
          </a:prstGeom>
          <a:solidFill xmlns:a="http://schemas.openxmlformats.org/drawingml/2006/main">
            <a:srgbClr val="003F6B"/>
          </a:solidFill>
          <a:ln xmlns:a="http://schemas.openxmlformats.org/drawingml/2006/main" w="19050">
            <a:solidFill>
              <a:srgbClr val="FFFFFF"/>
            </a:solidFill>
            <a:prstDash val="solid"/>
          </a:ln>
        </p:spPr>
      </p:sp>
      <p:sp>
        <p:nvSpPr>
          <p:cNvPr id="6" name="">
            <a:extLst xmlns:a="http://schemas.openxmlformats.org/drawingml/2006/main">
              <a:ext uri="{FF2B5EF4-FFF2-40B4-BE49-F238E27FC236}">
                <a16:creationId xmlns:a16="http://schemas.microsoft.com/office/drawing/2014/main" id="{E43C8EDE-DAE9-44EE-8BEF-BF5F75021EF8}"/>
              </a:ext>
            </a:extLst>
          </p:cNvPr>
          <p:cNvSpPr>
            <a:spLocks xmlns:a="http://schemas.openxmlformats.org/drawingml/2006/main" noGrp="1"/>
          </p:cNvSpPr>
          <p:nvPr/>
        </p:nvSpPr>
        <p:spPr>
          <a:xfrm xmlns:a="http://schemas.openxmlformats.org/drawingml/2006/main">
            <a:off x="1809750" y="2105025"/>
            <a:ext cx="149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63" b="1">
                <a:solidFill>
                  <a:srgbClr val="003F6B"/>
                </a:solidFill>
              </a:defRPr>
            </a:pPr>
            <a:r>
              <a:rPr sz="1163" b="1">
                <a:solidFill>
                  <a:srgbClr val="003F6B"/>
                </a:solidFill>
              </a:rPr>
              <a:t>Hinweis / Beschwerde</a:t>
            </a:r>
          </a:p>
        </p:txBody>
      </p:sp>
      <p:sp>
        <p:nvSpPr>
          <p:cNvPr id="7" name="">
            <a:extLst xmlns:a="http://schemas.openxmlformats.org/drawingml/2006/main">
              <a:ext uri="{FF2B5EF4-FFF2-40B4-BE49-F238E27FC236}">
                <a16:creationId xmlns:a16="http://schemas.microsoft.com/office/drawing/2014/main" id="{646DD8E0-338C-4C4C-98B0-49B87BB24FFF}"/>
              </a:ext>
            </a:extLst>
          </p:cNvPr>
          <p:cNvSpPr>
            <a:spLocks xmlns:a="http://schemas.openxmlformats.org/drawingml/2006/main" noGrp="1"/>
          </p:cNvSpPr>
          <p:nvPr/>
        </p:nvSpPr>
        <p:spPr>
          <a:xfrm xmlns:a="http://schemas.openxmlformats.org/drawingml/2006/main">
            <a:off x="1847850" y="2924175"/>
            <a:ext cx="14160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r>
              <a:t/>
            </a:r>
          </a:p>
        </p:txBody>
      </p:sp>
      <p:sp>
        <p:nvSpPr>
          <p:cNvPr id="8" name="">
            <a:extLst xmlns:a="http://schemas.openxmlformats.org/drawingml/2006/main">
              <a:ext uri="{FF2B5EF4-FFF2-40B4-BE49-F238E27FC236}">
                <a16:creationId xmlns:a16="http://schemas.microsoft.com/office/drawing/2014/main" id="{1C5605A3-6C4E-403A-A697-7CC332D516F7}"/>
              </a:ext>
            </a:extLst>
          </p:cNvPr>
          <p:cNvSpPr>
            <a:spLocks xmlns:a="http://schemas.openxmlformats.org/drawingml/2006/main" noGrp="1"/>
          </p:cNvSpPr>
          <p:nvPr/>
        </p:nvSpPr>
        <p:spPr>
          <a:xfrm xmlns:a="http://schemas.openxmlformats.org/drawingml/2006/main">
            <a:off x="4048125" y="2543175"/>
            <a:ext cx="228600" cy="22860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9" name="">
            <a:extLst xmlns:a="http://schemas.openxmlformats.org/drawingml/2006/main">
              <a:ext uri="{FF2B5EF4-FFF2-40B4-BE49-F238E27FC236}">
                <a16:creationId xmlns:a16="http://schemas.microsoft.com/office/drawing/2014/main" id="{C94E657F-95EE-463B-BF4D-BA51106506F8}"/>
              </a:ext>
            </a:extLst>
          </p:cNvPr>
          <p:cNvSpPr>
            <a:spLocks xmlns:a="http://schemas.openxmlformats.org/drawingml/2006/main" noGrp="1"/>
          </p:cNvSpPr>
          <p:nvPr/>
        </p:nvSpPr>
        <p:spPr>
          <a:xfrm xmlns:a="http://schemas.openxmlformats.org/drawingml/2006/main">
            <a:off x="3416300" y="2105025"/>
            <a:ext cx="149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63" b="1">
                <a:solidFill>
                  <a:srgbClr val="003F6B"/>
                </a:solidFill>
              </a:defRPr>
            </a:pPr>
            <a:r>
              <a:rPr sz="1163" b="1">
                <a:solidFill>
                  <a:srgbClr val="003F6B"/>
                </a:solidFill>
              </a:rPr>
              <a:t>Kammerermittlungen</a:t>
            </a:r>
          </a:p>
        </p:txBody>
      </p:sp>
      <p:sp>
        <p:nvSpPr>
          <p:cNvPr id="10" name="">
            <a:extLst xmlns:a="http://schemas.openxmlformats.org/drawingml/2006/main">
              <a:ext uri="{FF2B5EF4-FFF2-40B4-BE49-F238E27FC236}">
                <a16:creationId xmlns:a16="http://schemas.microsoft.com/office/drawing/2014/main" id="{B9EC1BF7-2C9A-4744-8898-53B0FF765B32}"/>
              </a:ext>
            </a:extLst>
          </p:cNvPr>
          <p:cNvSpPr>
            <a:spLocks xmlns:a="http://schemas.openxmlformats.org/drawingml/2006/main" noGrp="1"/>
          </p:cNvSpPr>
          <p:nvPr/>
        </p:nvSpPr>
        <p:spPr>
          <a:xfrm xmlns:a="http://schemas.openxmlformats.org/drawingml/2006/main">
            <a:off x="3454400" y="2924175"/>
            <a:ext cx="14160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r>
              <a:t/>
            </a:r>
          </a:p>
        </p:txBody>
      </p:sp>
      <p:sp>
        <p:nvSpPr>
          <p:cNvPr id="11" name="">
            <a:extLst xmlns:a="http://schemas.openxmlformats.org/drawingml/2006/main">
              <a:ext uri="{FF2B5EF4-FFF2-40B4-BE49-F238E27FC236}">
                <a16:creationId xmlns:a16="http://schemas.microsoft.com/office/drawing/2014/main" id="{E470A001-B2B5-46E5-9597-38F0DB21AC61}"/>
              </a:ext>
            </a:extLst>
          </p:cNvPr>
          <p:cNvSpPr>
            <a:spLocks xmlns:a="http://schemas.openxmlformats.org/drawingml/2006/main" noGrp="1"/>
          </p:cNvSpPr>
          <p:nvPr/>
        </p:nvSpPr>
        <p:spPr>
          <a:xfrm xmlns:a="http://schemas.openxmlformats.org/drawingml/2006/main">
            <a:off x="5654675" y="2543175"/>
            <a:ext cx="228600" cy="22860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12" name="">
            <a:extLst xmlns:a="http://schemas.openxmlformats.org/drawingml/2006/main">
              <a:ext uri="{FF2B5EF4-FFF2-40B4-BE49-F238E27FC236}">
                <a16:creationId xmlns:a16="http://schemas.microsoft.com/office/drawing/2014/main" id="{5F6782AF-C301-4246-9B3D-E924570900C8}"/>
              </a:ext>
            </a:extLst>
          </p:cNvPr>
          <p:cNvSpPr>
            <a:spLocks xmlns:a="http://schemas.openxmlformats.org/drawingml/2006/main" noGrp="1"/>
          </p:cNvSpPr>
          <p:nvPr/>
        </p:nvSpPr>
        <p:spPr>
          <a:xfrm xmlns:a="http://schemas.openxmlformats.org/drawingml/2006/main">
            <a:off x="5022850" y="2105025"/>
            <a:ext cx="149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63" b="1">
                <a:solidFill>
                  <a:srgbClr val="003F6B"/>
                </a:solidFill>
              </a:defRPr>
            </a:pPr>
            <a:r>
              <a:rPr sz="1163" b="1">
                <a:solidFill>
                  <a:srgbClr val="003F6B"/>
                </a:solidFill>
              </a:rPr>
              <a:t>Einstellung oder Rügeverfahren</a:t>
            </a:r>
          </a:p>
        </p:txBody>
      </p:sp>
      <p:sp>
        <p:nvSpPr>
          <p:cNvPr id="13" name="">
            <a:extLst xmlns:a="http://schemas.openxmlformats.org/drawingml/2006/main">
              <a:ext uri="{FF2B5EF4-FFF2-40B4-BE49-F238E27FC236}">
                <a16:creationId xmlns:a16="http://schemas.microsoft.com/office/drawing/2014/main" id="{7B969FA7-9E85-4859-8371-1C9FC66ECDC1}"/>
              </a:ext>
            </a:extLst>
          </p:cNvPr>
          <p:cNvSpPr>
            <a:spLocks xmlns:a="http://schemas.openxmlformats.org/drawingml/2006/main" noGrp="1"/>
          </p:cNvSpPr>
          <p:nvPr/>
        </p:nvSpPr>
        <p:spPr>
          <a:xfrm xmlns:a="http://schemas.openxmlformats.org/drawingml/2006/main">
            <a:off x="5060950" y="2924175"/>
            <a:ext cx="14160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r>
              <a:t/>
            </a:r>
          </a:p>
        </p:txBody>
      </p:sp>
      <p:sp>
        <p:nvSpPr>
          <p:cNvPr id="14" name="">
            <a:extLst xmlns:a="http://schemas.openxmlformats.org/drawingml/2006/main">
              <a:ext uri="{FF2B5EF4-FFF2-40B4-BE49-F238E27FC236}">
                <a16:creationId xmlns:a16="http://schemas.microsoft.com/office/drawing/2014/main" id="{3336FEB5-0D93-4D82-9EA8-05B2DDF184C6}"/>
              </a:ext>
            </a:extLst>
          </p:cNvPr>
          <p:cNvSpPr>
            <a:spLocks xmlns:a="http://schemas.openxmlformats.org/drawingml/2006/main" noGrp="1"/>
          </p:cNvSpPr>
          <p:nvPr/>
        </p:nvSpPr>
        <p:spPr>
          <a:xfrm xmlns:a="http://schemas.openxmlformats.org/drawingml/2006/main">
            <a:off x="7261225" y="2543175"/>
            <a:ext cx="228600" cy="22860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15" name="">
            <a:extLst xmlns:a="http://schemas.openxmlformats.org/drawingml/2006/main">
              <a:ext uri="{FF2B5EF4-FFF2-40B4-BE49-F238E27FC236}">
                <a16:creationId xmlns:a16="http://schemas.microsoft.com/office/drawing/2014/main" id="{B280BFC4-DAF2-4E89-98F3-C4BC13B299ED}"/>
              </a:ext>
            </a:extLst>
          </p:cNvPr>
          <p:cNvSpPr>
            <a:spLocks xmlns:a="http://schemas.openxmlformats.org/drawingml/2006/main" noGrp="1"/>
          </p:cNvSpPr>
          <p:nvPr/>
        </p:nvSpPr>
        <p:spPr>
          <a:xfrm xmlns:a="http://schemas.openxmlformats.org/drawingml/2006/main">
            <a:off x="6629400" y="2105025"/>
            <a:ext cx="149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63" b="1">
                <a:solidFill>
                  <a:srgbClr val="003F6B"/>
                </a:solidFill>
              </a:defRPr>
            </a:pPr>
            <a:r>
              <a:rPr sz="1163" b="1">
                <a:solidFill>
                  <a:srgbClr val="003F6B"/>
                </a:solidFill>
              </a:rPr>
              <a:t>Antrag beim Berufsgericht</a:t>
            </a:r>
          </a:p>
        </p:txBody>
      </p:sp>
      <p:sp>
        <p:nvSpPr>
          <p:cNvPr id="16" name="">
            <a:extLst xmlns:a="http://schemas.openxmlformats.org/drawingml/2006/main">
              <a:ext uri="{FF2B5EF4-FFF2-40B4-BE49-F238E27FC236}">
                <a16:creationId xmlns:a16="http://schemas.microsoft.com/office/drawing/2014/main" id="{A1F70870-09A5-4D5D-B415-83DBDCF46A22}"/>
              </a:ext>
            </a:extLst>
          </p:cNvPr>
          <p:cNvSpPr>
            <a:spLocks xmlns:a="http://schemas.openxmlformats.org/drawingml/2006/main" noGrp="1"/>
          </p:cNvSpPr>
          <p:nvPr/>
        </p:nvSpPr>
        <p:spPr>
          <a:xfrm xmlns:a="http://schemas.openxmlformats.org/drawingml/2006/main">
            <a:off x="6667500" y="2924175"/>
            <a:ext cx="14160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r>
              <a:t/>
            </a:r>
          </a:p>
        </p:txBody>
      </p:sp>
      <p:sp>
        <p:nvSpPr>
          <p:cNvPr id="17" name="">
            <a:extLst xmlns:a="http://schemas.openxmlformats.org/drawingml/2006/main">
              <a:ext uri="{FF2B5EF4-FFF2-40B4-BE49-F238E27FC236}">
                <a16:creationId xmlns:a16="http://schemas.microsoft.com/office/drawing/2014/main" id="{82BCDB65-F77D-4E22-8DA0-92F56E6EF8AE}"/>
              </a:ext>
            </a:extLst>
          </p:cNvPr>
          <p:cNvSpPr>
            <a:spLocks xmlns:a="http://schemas.openxmlformats.org/drawingml/2006/main" noGrp="1"/>
          </p:cNvSpPr>
          <p:nvPr/>
        </p:nvSpPr>
        <p:spPr>
          <a:xfrm xmlns:a="http://schemas.openxmlformats.org/drawingml/2006/main">
            <a:off x="8867775" y="2543175"/>
            <a:ext cx="228600" cy="22860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18" name="">
            <a:extLst xmlns:a="http://schemas.openxmlformats.org/drawingml/2006/main">
              <a:ext uri="{FF2B5EF4-FFF2-40B4-BE49-F238E27FC236}">
                <a16:creationId xmlns:a16="http://schemas.microsoft.com/office/drawing/2014/main" id="{F3E5DBB8-A223-4339-BED1-0C4FCAAAE278}"/>
              </a:ext>
            </a:extLst>
          </p:cNvPr>
          <p:cNvSpPr>
            <a:spLocks xmlns:a="http://schemas.openxmlformats.org/drawingml/2006/main" noGrp="1"/>
          </p:cNvSpPr>
          <p:nvPr/>
        </p:nvSpPr>
        <p:spPr>
          <a:xfrm xmlns:a="http://schemas.openxmlformats.org/drawingml/2006/main">
            <a:off x="8235950" y="2105025"/>
            <a:ext cx="149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63" b="1">
                <a:solidFill>
                  <a:srgbClr val="003F6B"/>
                </a:solidFill>
              </a:defRPr>
            </a:pPr>
            <a:r>
              <a:rPr sz="1163" b="1">
                <a:solidFill>
                  <a:srgbClr val="003F6B"/>
                </a:solidFill>
              </a:rPr>
              <a:t>Hauptverhandlung / Entscheidung</a:t>
            </a:r>
          </a:p>
        </p:txBody>
      </p:sp>
      <p:sp>
        <p:nvSpPr>
          <p:cNvPr id="19" name="">
            <a:extLst xmlns:a="http://schemas.openxmlformats.org/drawingml/2006/main">
              <a:ext uri="{FF2B5EF4-FFF2-40B4-BE49-F238E27FC236}">
                <a16:creationId xmlns:a16="http://schemas.microsoft.com/office/drawing/2014/main" id="{4E28A838-FB78-4C63-982A-0334D684D417}"/>
              </a:ext>
            </a:extLst>
          </p:cNvPr>
          <p:cNvSpPr>
            <a:spLocks xmlns:a="http://schemas.openxmlformats.org/drawingml/2006/main" noGrp="1"/>
          </p:cNvSpPr>
          <p:nvPr/>
        </p:nvSpPr>
        <p:spPr>
          <a:xfrm xmlns:a="http://schemas.openxmlformats.org/drawingml/2006/main">
            <a:off x="8274050" y="2924175"/>
            <a:ext cx="14160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r>
              <a:t/>
            </a:r>
          </a:p>
        </p:txBody>
      </p:sp>
      <p:sp>
        <p:nvSpPr>
          <p:cNvPr id="20" name="">
            <a:extLst xmlns:a="http://schemas.openxmlformats.org/drawingml/2006/main">
              <a:ext uri="{FF2B5EF4-FFF2-40B4-BE49-F238E27FC236}">
                <a16:creationId xmlns:a16="http://schemas.microsoft.com/office/drawing/2014/main" id="{5B171968-D3D0-49C6-B466-FD8FB738F295}"/>
              </a:ext>
            </a:extLst>
          </p:cNvPr>
          <p:cNvSpPr>
            <a:spLocks xmlns:a="http://schemas.openxmlformats.org/drawingml/2006/main" noGrp="1"/>
          </p:cNvSpPr>
          <p:nvPr/>
        </p:nvSpPr>
        <p:spPr>
          <a:xfrm xmlns:a="http://schemas.openxmlformats.org/drawingml/2006/main">
            <a:off x="10474325" y="2543175"/>
            <a:ext cx="228600" cy="22860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21" name="">
            <a:extLst xmlns:a="http://schemas.openxmlformats.org/drawingml/2006/main">
              <a:ext uri="{FF2B5EF4-FFF2-40B4-BE49-F238E27FC236}">
                <a16:creationId xmlns:a16="http://schemas.microsoft.com/office/drawing/2014/main" id="{C3CAE80A-49DB-48A6-9457-37BB0FB194A9}"/>
              </a:ext>
            </a:extLst>
          </p:cNvPr>
          <p:cNvSpPr>
            <a:spLocks xmlns:a="http://schemas.openxmlformats.org/drawingml/2006/main" noGrp="1"/>
          </p:cNvSpPr>
          <p:nvPr/>
        </p:nvSpPr>
        <p:spPr>
          <a:xfrm xmlns:a="http://schemas.openxmlformats.org/drawingml/2006/main">
            <a:off x="9842500" y="2105025"/>
            <a:ext cx="149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63" b="1">
                <a:solidFill>
                  <a:srgbClr val="003F6B"/>
                </a:solidFill>
              </a:defRPr>
            </a:pPr>
            <a:r>
              <a:rPr sz="1163" b="1">
                <a:solidFill>
                  <a:srgbClr val="003F6B"/>
                </a:solidFill>
              </a:rPr>
              <a:t>Berufung</a:t>
            </a:r>
          </a:p>
        </p:txBody>
      </p:sp>
      <p:sp>
        <p:nvSpPr>
          <p:cNvPr id="22" name="">
            <a:extLst xmlns:a="http://schemas.openxmlformats.org/drawingml/2006/main">
              <a:ext uri="{FF2B5EF4-FFF2-40B4-BE49-F238E27FC236}">
                <a16:creationId xmlns:a16="http://schemas.microsoft.com/office/drawing/2014/main" id="{FE56092F-A5A4-4583-A92B-EBEF50A7DB41}"/>
              </a:ext>
            </a:extLst>
          </p:cNvPr>
          <p:cNvSpPr>
            <a:spLocks xmlns:a="http://schemas.openxmlformats.org/drawingml/2006/main" noGrp="1"/>
          </p:cNvSpPr>
          <p:nvPr/>
        </p:nvSpPr>
        <p:spPr>
          <a:xfrm xmlns:a="http://schemas.openxmlformats.org/drawingml/2006/main">
            <a:off x="9880600" y="2924175"/>
            <a:ext cx="14160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r>
              <a:t/>
            </a:r>
          </a:p>
        </p:txBody>
      </p:sp>
      <p:sp>
        <p:nvSpPr>
          <p:cNvPr id="23" name="">
            <a:extLst xmlns:a="http://schemas.openxmlformats.org/drawingml/2006/main">
              <a:ext uri="{FF2B5EF4-FFF2-40B4-BE49-F238E27FC236}">
                <a16:creationId xmlns:a16="http://schemas.microsoft.com/office/drawing/2014/main" id="{FB54B7E3-982A-4043-A398-3EDFCD7B1B48}"/>
              </a:ext>
            </a:extLst>
          </p:cNvPr>
          <p:cNvSpPr>
            <a:spLocks xmlns:a="http://schemas.openxmlformats.org/drawingml/2006/main" noGrp="1"/>
          </p:cNvSpPr>
          <p:nvPr/>
        </p:nvSpPr>
        <p:spPr>
          <a:xfrm xmlns:a="http://schemas.openxmlformats.org/drawingml/2006/main">
            <a:off x="2038350" y="4457700"/>
            <a:ext cx="9067800" cy="781050"/>
          </a:xfrm>
          <a:prstGeom xmlns:a="http://schemas.openxmlformats.org/drawingml/2006/main" prst="rect">
            <a:avLst/>
          </a:prstGeom>
          <a:solidFill xmlns:a="http://schemas.openxmlformats.org/drawingml/2006/main">
            <a:srgbClr val="EAF6FB"/>
          </a:solidFill>
          <a:ln xmlns:a="http://schemas.openxmlformats.org/drawingml/2006/main" w="0">
            <a:solidFill>
              <a:srgbClr val="00B2BB"/>
            </a:solid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Mögliche berufsgerichtliche Maßnahmen · Verweis · Geldbuße bis 100.000 € · Entziehung des Berufswahlrechts · Feststellung der Unwürdigkeit · zeitweise Ungeeignetheit zur Weiterbildungsleitung</a:t>
            </a:r>
          </a:p>
        </p:txBody>
      </p:sp>
      <p:sp>
        <p:nvSpPr>
          <p:cNvPr id="24" name="">
            <a:extLst xmlns:a="http://schemas.openxmlformats.org/drawingml/2006/main">
              <a:ext uri="{FF2B5EF4-FFF2-40B4-BE49-F238E27FC236}">
                <a16:creationId xmlns:a16="http://schemas.microsoft.com/office/drawing/2014/main" id="{D4A481A6-741F-4F6B-AFBD-0ECDD30B015F}"/>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5" name="">
            <a:extLst xmlns:a="http://schemas.openxmlformats.org/drawingml/2006/main">
              <a:ext uri="{FF2B5EF4-FFF2-40B4-BE49-F238E27FC236}">
                <a16:creationId xmlns:a16="http://schemas.microsoft.com/office/drawing/2014/main" id="{6A53D2C3-8F35-4053-80B0-DB98A3FAD64C}"/>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Berufsgerichtliche Unwürdigkeit ist nicht selbst der Approbationswiderruf; sie kann aber erhebliche Folgewirkung haben.</a:t>
            </a:r>
          </a:p>
        </p:txBody>
      </p:sp>
    </p:spTree>
    <p:extLst>
      <p:ext uri="{BB962C8B-B14F-4D97-AF65-F5344CB8AC3E}">
        <p14:creationId xmlns:p14="http://schemas.microsoft.com/office/powerpoint/2010/main" val="43637646"/>
      </p:ext>
    </p:extLst>
  </p:cSld>
</p:sld>
</file>

<file path=ppt/slides/slide287.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Approbation: Gefahrenabwehr statt Zusatzstrafe</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BUNDESÄRZTEORDNUNG</a:t>
            </a:r>
            <a:endParaRPr/>
          </a:p>
        </p:txBody>
      </p:sp>
      <p:sp>
        <p:nvSpPr>
          <p:cNvPr id="4" name="">
            <a:extLst xmlns:a="http://schemas.openxmlformats.org/drawingml/2006/main">
              <a:ext uri="{FF2B5EF4-FFF2-40B4-BE49-F238E27FC236}">
                <a16:creationId xmlns:a16="http://schemas.microsoft.com/office/drawing/2014/main" id="{1147503C-B543-480D-88D1-F833FD273729}"/>
              </a:ext>
            </a:extLst>
          </p:cNvPr>
          <p:cNvSpPr>
            <a:spLocks xmlns:a="http://schemas.openxmlformats.org/drawingml/2006/main" noGrp="1"/>
          </p:cNvSpPr>
          <p:nvPr/>
        </p:nvSpPr>
        <p:spPr>
          <a:xfrm xmlns:a="http://schemas.openxmlformats.org/drawingml/2006/main">
            <a:off x="1809750" y="1952625"/>
            <a:ext cx="46863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CEF222AA-BBE7-43B5-8448-C6FDB9D2E7DF}"/>
              </a:ext>
            </a:extLst>
          </p:cNvPr>
          <p:cNvSpPr>
            <a:spLocks xmlns:a="http://schemas.openxmlformats.org/drawingml/2006/main" noGrp="1"/>
          </p:cNvSpPr>
          <p:nvPr/>
        </p:nvSpPr>
        <p:spPr>
          <a:xfrm xmlns:a="http://schemas.openxmlformats.org/drawingml/2006/main">
            <a:off x="1809750" y="1952625"/>
            <a:ext cx="46863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D85455C5-DEA7-4A91-80C2-F7028952382F}"/>
              </a:ext>
            </a:extLst>
          </p:cNvPr>
          <p:cNvSpPr>
            <a:spLocks xmlns:a="http://schemas.openxmlformats.org/drawingml/2006/main" noGrp="1"/>
          </p:cNvSpPr>
          <p:nvPr/>
        </p:nvSpPr>
        <p:spPr>
          <a:xfrm xmlns:a="http://schemas.openxmlformats.org/drawingml/2006/main">
            <a:off x="1962150" y="2085975"/>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Widerruf</a:t>
            </a:r>
          </a:p>
        </p:txBody>
      </p:sp>
      <p:sp>
        <p:nvSpPr>
          <p:cNvPr id="7" name="">
            <a:extLst xmlns:a="http://schemas.openxmlformats.org/drawingml/2006/main">
              <a:ext uri="{FF2B5EF4-FFF2-40B4-BE49-F238E27FC236}">
                <a16:creationId xmlns:a16="http://schemas.microsoft.com/office/drawing/2014/main" id="{1DA2A5E8-78AB-4E7E-89B2-94AF0AE98A37}"/>
              </a:ext>
            </a:extLst>
          </p:cNvPr>
          <p:cNvSpPr>
            <a:spLocks xmlns:a="http://schemas.openxmlformats.org/drawingml/2006/main" noGrp="1"/>
          </p:cNvSpPr>
          <p:nvPr/>
        </p:nvSpPr>
        <p:spPr>
          <a:xfrm xmlns:a="http://schemas.openxmlformats.org/drawingml/2006/main">
            <a:off x="1962150" y="2524125"/>
            <a:ext cx="43815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Insbesondere wenn nachträglich Unwürdigkeit oder Unzuverlässigkeit zur Berufsausübung eintritt (§ 5 BÄO).</a:t>
            </a:r>
          </a:p>
        </p:txBody>
      </p:sp>
      <p:sp>
        <p:nvSpPr>
          <p:cNvPr id="8" name="">
            <a:extLst xmlns:a="http://schemas.openxmlformats.org/drawingml/2006/main">
              <a:ext uri="{FF2B5EF4-FFF2-40B4-BE49-F238E27FC236}">
                <a16:creationId xmlns:a16="http://schemas.microsoft.com/office/drawing/2014/main" id="{6AD7136A-C2EB-41DF-B08C-98C40F07EBB7}"/>
              </a:ext>
            </a:extLst>
          </p:cNvPr>
          <p:cNvSpPr>
            <a:spLocks xmlns:a="http://schemas.openxmlformats.org/drawingml/2006/main" noGrp="1"/>
          </p:cNvSpPr>
          <p:nvPr/>
        </p:nvSpPr>
        <p:spPr>
          <a:xfrm xmlns:a="http://schemas.openxmlformats.org/drawingml/2006/main">
            <a:off x="6648450" y="1952625"/>
            <a:ext cx="46863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9" name="">
            <a:extLst xmlns:a="http://schemas.openxmlformats.org/drawingml/2006/main">
              <a:ext uri="{FF2B5EF4-FFF2-40B4-BE49-F238E27FC236}">
                <a16:creationId xmlns:a16="http://schemas.microsoft.com/office/drawing/2014/main" id="{61963341-76CC-4ECF-8BB8-C6CA2528F45D}"/>
              </a:ext>
            </a:extLst>
          </p:cNvPr>
          <p:cNvSpPr>
            <a:spLocks xmlns:a="http://schemas.openxmlformats.org/drawingml/2006/main" noGrp="1"/>
          </p:cNvSpPr>
          <p:nvPr/>
        </p:nvSpPr>
        <p:spPr>
          <a:xfrm xmlns:a="http://schemas.openxmlformats.org/drawingml/2006/main">
            <a:off x="6648450" y="1952625"/>
            <a:ext cx="468630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E3C53E63-E376-4606-B360-E3770877F10E}"/>
              </a:ext>
            </a:extLst>
          </p:cNvPr>
          <p:cNvSpPr>
            <a:spLocks xmlns:a="http://schemas.openxmlformats.org/drawingml/2006/main" noGrp="1"/>
          </p:cNvSpPr>
          <p:nvPr/>
        </p:nvSpPr>
        <p:spPr>
          <a:xfrm xmlns:a="http://schemas.openxmlformats.org/drawingml/2006/main">
            <a:off x="6800850" y="2085975"/>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Ruhen</a:t>
            </a:r>
          </a:p>
        </p:txBody>
      </p:sp>
      <p:sp>
        <p:nvSpPr>
          <p:cNvPr id="11" name="">
            <a:extLst xmlns:a="http://schemas.openxmlformats.org/drawingml/2006/main">
              <a:ext uri="{FF2B5EF4-FFF2-40B4-BE49-F238E27FC236}">
                <a16:creationId xmlns:a16="http://schemas.microsoft.com/office/drawing/2014/main" id="{8A6FEC6F-681F-4AFF-8ED3-10917F43EADE}"/>
              </a:ext>
            </a:extLst>
          </p:cNvPr>
          <p:cNvSpPr>
            <a:spLocks xmlns:a="http://schemas.openxmlformats.org/drawingml/2006/main" noGrp="1"/>
          </p:cNvSpPr>
          <p:nvPr/>
        </p:nvSpPr>
        <p:spPr>
          <a:xfrm xmlns:a="http://schemas.openxmlformats.org/drawingml/2006/main">
            <a:off x="6800850" y="2524125"/>
            <a:ext cx="43815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Kann unter Voraussetzungen angeordnet werden, etwa bei strafrechtlichem Verfahren wegen einschlägiger Unwürdigkeits-/Unzuverlässigkeitsvorwürfe (§ 6 BÄO).</a:t>
            </a:r>
          </a:p>
        </p:txBody>
      </p:sp>
      <p:sp>
        <p:nvSpPr>
          <p:cNvPr id="12" name="">
            <a:extLst xmlns:a="http://schemas.openxmlformats.org/drawingml/2006/main">
              <a:ext uri="{FF2B5EF4-FFF2-40B4-BE49-F238E27FC236}">
                <a16:creationId xmlns:a16="http://schemas.microsoft.com/office/drawing/2014/main" id="{5E07EE4E-71AE-4A41-9D0F-7F343EFCAE3B}"/>
              </a:ext>
            </a:extLst>
          </p:cNvPr>
          <p:cNvSpPr>
            <a:spLocks xmlns:a="http://schemas.openxmlformats.org/drawingml/2006/main" noGrp="1"/>
          </p:cNvSpPr>
          <p:nvPr/>
        </p:nvSpPr>
        <p:spPr>
          <a:xfrm xmlns:a="http://schemas.openxmlformats.org/drawingml/2006/main">
            <a:off x="1809750" y="3767138"/>
            <a:ext cx="46863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13" name="">
            <a:extLst xmlns:a="http://schemas.openxmlformats.org/drawingml/2006/main">
              <a:ext uri="{FF2B5EF4-FFF2-40B4-BE49-F238E27FC236}">
                <a16:creationId xmlns:a16="http://schemas.microsoft.com/office/drawing/2014/main" id="{BB9AD1EF-1A2D-4180-A26D-E2DAD1D60225}"/>
              </a:ext>
            </a:extLst>
          </p:cNvPr>
          <p:cNvSpPr>
            <a:spLocks xmlns:a="http://schemas.openxmlformats.org/drawingml/2006/main" noGrp="1"/>
          </p:cNvSpPr>
          <p:nvPr/>
        </p:nvSpPr>
        <p:spPr>
          <a:xfrm xmlns:a="http://schemas.openxmlformats.org/drawingml/2006/main">
            <a:off x="1809750" y="3767138"/>
            <a:ext cx="46863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2D02F6C8-6853-4B44-9F80-3089855D90FC}"/>
              </a:ext>
            </a:extLst>
          </p:cNvPr>
          <p:cNvSpPr>
            <a:spLocks xmlns:a="http://schemas.openxmlformats.org/drawingml/2006/main" noGrp="1"/>
          </p:cNvSpPr>
          <p:nvPr/>
        </p:nvSpPr>
        <p:spPr>
          <a:xfrm xmlns:a="http://schemas.openxmlformats.org/drawingml/2006/main">
            <a:off x="1962150" y="3900488"/>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Rechtsschutz</a:t>
            </a:r>
          </a:p>
        </p:txBody>
      </p:sp>
      <p:sp>
        <p:nvSpPr>
          <p:cNvPr id="15" name="">
            <a:extLst xmlns:a="http://schemas.openxmlformats.org/drawingml/2006/main">
              <a:ext uri="{FF2B5EF4-FFF2-40B4-BE49-F238E27FC236}">
                <a16:creationId xmlns:a16="http://schemas.microsoft.com/office/drawing/2014/main" id="{EF08A790-D987-47B4-9CA2-D7B89AF6CBBA}"/>
              </a:ext>
            </a:extLst>
          </p:cNvPr>
          <p:cNvSpPr>
            <a:spLocks xmlns:a="http://schemas.openxmlformats.org/drawingml/2006/main" noGrp="1"/>
          </p:cNvSpPr>
          <p:nvPr/>
        </p:nvSpPr>
        <p:spPr>
          <a:xfrm xmlns:a="http://schemas.openxmlformats.org/drawingml/2006/main">
            <a:off x="1962150" y="4338638"/>
            <a:ext cx="43815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Behördliches Verfahren, Bescheid und grundsätzlich verwaltungsgerichtlicher Rechtsschutz.</a:t>
            </a:r>
          </a:p>
        </p:txBody>
      </p:sp>
      <p:sp>
        <p:nvSpPr>
          <p:cNvPr id="16" name="">
            <a:extLst xmlns:a="http://schemas.openxmlformats.org/drawingml/2006/main">
              <a:ext uri="{FF2B5EF4-FFF2-40B4-BE49-F238E27FC236}">
                <a16:creationId xmlns:a16="http://schemas.microsoft.com/office/drawing/2014/main" id="{E4FC59FD-136E-4756-8B8D-8327B6CF69DE}"/>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17" name="">
            <a:extLst xmlns:a="http://schemas.openxmlformats.org/drawingml/2006/main">
              <a:ext uri="{FF2B5EF4-FFF2-40B4-BE49-F238E27FC236}">
                <a16:creationId xmlns:a16="http://schemas.microsoft.com/office/drawing/2014/main" id="{E290455D-4C95-4E6D-BAC3-03276443D592}"/>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Nicht jeder Fehler berührt die Approbation. Entscheidend ist die berufliche Eignung / Zuverlässigkeit im gesetzlichen Sinn.</a:t>
            </a:r>
          </a:p>
        </p:txBody>
      </p:sp>
    </p:spTree>
    <p:extLst>
      <p:ext uri="{BB962C8B-B14F-4D97-AF65-F5344CB8AC3E}">
        <p14:creationId xmlns:p14="http://schemas.microsoft.com/office/powerpoint/2010/main" val="43637646"/>
      </p:ext>
    </p:extLst>
  </p:cSld>
</p:sld>
</file>

<file path=ppt/slides/slide288.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PJ und Assistenzzeit: Verantwortung wächst mit Kompetenz</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ÜBERNAHME · DELEGATION · SUPERVISION</a:t>
            </a:r>
            <a:endParaRPr/>
          </a:p>
        </p:txBody>
      </p:sp>
      <p:sp>
        <p:nvSpPr>
          <p:cNvPr id="4" name="">
            <a:extLst xmlns:a="http://schemas.openxmlformats.org/drawingml/2006/main">
              <a:ext uri="{FF2B5EF4-FFF2-40B4-BE49-F238E27FC236}">
                <a16:creationId xmlns:a16="http://schemas.microsoft.com/office/drawing/2014/main" id="{2149280A-45E4-4745-86A7-9AD96ABBADD9}"/>
              </a:ext>
            </a:extLst>
          </p:cNvPr>
          <p:cNvSpPr>
            <a:spLocks xmlns:a="http://schemas.openxmlformats.org/drawingml/2006/main" noGrp="1"/>
          </p:cNvSpPr>
          <p:nvPr/>
        </p:nvSpPr>
        <p:spPr>
          <a:xfrm xmlns:a="http://schemas.openxmlformats.org/drawingml/2006/main">
            <a:off x="1809750" y="1952625"/>
            <a:ext cx="46863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23B7AF18-D5A7-4765-905B-E77B000B830A}"/>
              </a:ext>
            </a:extLst>
          </p:cNvPr>
          <p:cNvSpPr>
            <a:spLocks xmlns:a="http://schemas.openxmlformats.org/drawingml/2006/main" noGrp="1"/>
          </p:cNvSpPr>
          <p:nvPr/>
        </p:nvSpPr>
        <p:spPr>
          <a:xfrm xmlns:a="http://schemas.openxmlformats.org/drawingml/2006/main">
            <a:off x="1809750" y="1952625"/>
            <a:ext cx="46863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99ECA9DD-23C6-4A81-9F37-4B3121AACA5B}"/>
              </a:ext>
            </a:extLst>
          </p:cNvPr>
          <p:cNvSpPr>
            <a:spLocks xmlns:a="http://schemas.openxmlformats.org/drawingml/2006/main" noGrp="1"/>
          </p:cNvSpPr>
          <p:nvPr/>
        </p:nvSpPr>
        <p:spPr>
          <a:xfrm xmlns:a="http://schemas.openxmlformats.org/drawingml/2006/main">
            <a:off x="1962150" y="2085975"/>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Anordnende / Delegierende</a:t>
            </a:r>
          </a:p>
        </p:txBody>
      </p:sp>
      <p:sp>
        <p:nvSpPr>
          <p:cNvPr id="7" name="">
            <a:extLst xmlns:a="http://schemas.openxmlformats.org/drawingml/2006/main">
              <a:ext uri="{FF2B5EF4-FFF2-40B4-BE49-F238E27FC236}">
                <a16:creationId xmlns:a16="http://schemas.microsoft.com/office/drawing/2014/main" id="{5E314553-3DFD-4BB8-A396-250CD187DE9B}"/>
              </a:ext>
            </a:extLst>
          </p:cNvPr>
          <p:cNvSpPr>
            <a:spLocks xmlns:a="http://schemas.openxmlformats.org/drawingml/2006/main" noGrp="1"/>
          </p:cNvSpPr>
          <p:nvPr/>
        </p:nvSpPr>
        <p:spPr>
          <a:xfrm xmlns:a="http://schemas.openxmlformats.org/drawingml/2006/main">
            <a:off x="1962150" y="2524125"/>
            <a:ext cx="43815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Eignung der Aufgabe und Person prüfen; Anleitung und Kontrolle organisieren.</a:t>
            </a:r>
          </a:p>
        </p:txBody>
      </p:sp>
      <p:sp>
        <p:nvSpPr>
          <p:cNvPr id="8" name="">
            <a:extLst xmlns:a="http://schemas.openxmlformats.org/drawingml/2006/main">
              <a:ext uri="{FF2B5EF4-FFF2-40B4-BE49-F238E27FC236}">
                <a16:creationId xmlns:a16="http://schemas.microsoft.com/office/drawing/2014/main" id="{990474BC-5220-4219-AE8D-83B8AE3F30BB}"/>
              </a:ext>
            </a:extLst>
          </p:cNvPr>
          <p:cNvSpPr>
            <a:spLocks xmlns:a="http://schemas.openxmlformats.org/drawingml/2006/main" noGrp="1"/>
          </p:cNvSpPr>
          <p:nvPr/>
        </p:nvSpPr>
        <p:spPr>
          <a:xfrm xmlns:a="http://schemas.openxmlformats.org/drawingml/2006/main">
            <a:off x="6648450" y="1952625"/>
            <a:ext cx="46863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9" name="">
            <a:extLst xmlns:a="http://schemas.openxmlformats.org/drawingml/2006/main">
              <a:ext uri="{FF2B5EF4-FFF2-40B4-BE49-F238E27FC236}">
                <a16:creationId xmlns:a16="http://schemas.microsoft.com/office/drawing/2014/main" id="{09119B83-0923-4602-BF63-27DA08CFBE4C}"/>
              </a:ext>
            </a:extLst>
          </p:cNvPr>
          <p:cNvSpPr>
            <a:spLocks xmlns:a="http://schemas.openxmlformats.org/drawingml/2006/main" noGrp="1"/>
          </p:cNvSpPr>
          <p:nvPr/>
        </p:nvSpPr>
        <p:spPr>
          <a:xfrm xmlns:a="http://schemas.openxmlformats.org/drawingml/2006/main">
            <a:off x="6648450" y="1952625"/>
            <a:ext cx="468630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F4B703B5-CEB0-4E34-A98E-CD052D561D64}"/>
              </a:ext>
            </a:extLst>
          </p:cNvPr>
          <p:cNvSpPr>
            <a:spLocks xmlns:a="http://schemas.openxmlformats.org/drawingml/2006/main" noGrp="1"/>
          </p:cNvSpPr>
          <p:nvPr/>
        </p:nvSpPr>
        <p:spPr>
          <a:xfrm xmlns:a="http://schemas.openxmlformats.org/drawingml/2006/main">
            <a:off x="6800850" y="2085975"/>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Ausführende</a:t>
            </a:r>
          </a:p>
        </p:txBody>
      </p:sp>
      <p:sp>
        <p:nvSpPr>
          <p:cNvPr id="11" name="">
            <a:extLst xmlns:a="http://schemas.openxmlformats.org/drawingml/2006/main">
              <a:ext uri="{FF2B5EF4-FFF2-40B4-BE49-F238E27FC236}">
                <a16:creationId xmlns:a16="http://schemas.microsoft.com/office/drawing/2014/main" id="{253216B4-143E-4A1C-B230-83CD7666CB5F}"/>
              </a:ext>
            </a:extLst>
          </p:cNvPr>
          <p:cNvSpPr>
            <a:spLocks xmlns:a="http://schemas.openxmlformats.org/drawingml/2006/main" noGrp="1"/>
          </p:cNvSpPr>
          <p:nvPr/>
        </p:nvSpPr>
        <p:spPr>
          <a:xfrm xmlns:a="http://schemas.openxmlformats.org/drawingml/2006/main">
            <a:off x="6800850" y="2524125"/>
            <a:ext cx="43815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eigene Grenzen erkennen; Rückfrage, Ablehnung oder Hilfe bei Überforderung.</a:t>
            </a:r>
          </a:p>
        </p:txBody>
      </p:sp>
      <p:sp>
        <p:nvSpPr>
          <p:cNvPr id="12" name="">
            <a:extLst xmlns:a="http://schemas.openxmlformats.org/drawingml/2006/main">
              <a:ext uri="{FF2B5EF4-FFF2-40B4-BE49-F238E27FC236}">
                <a16:creationId xmlns:a16="http://schemas.microsoft.com/office/drawing/2014/main" id="{5CF6B999-D112-4B15-AEC4-921F64227DF6}"/>
              </a:ext>
            </a:extLst>
          </p:cNvPr>
          <p:cNvSpPr>
            <a:spLocks xmlns:a="http://schemas.openxmlformats.org/drawingml/2006/main" noGrp="1"/>
          </p:cNvSpPr>
          <p:nvPr/>
        </p:nvSpPr>
        <p:spPr>
          <a:xfrm xmlns:a="http://schemas.openxmlformats.org/drawingml/2006/main">
            <a:off x="1809750" y="3767138"/>
            <a:ext cx="46863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13" name="">
            <a:extLst xmlns:a="http://schemas.openxmlformats.org/drawingml/2006/main">
              <a:ext uri="{FF2B5EF4-FFF2-40B4-BE49-F238E27FC236}">
                <a16:creationId xmlns:a16="http://schemas.microsoft.com/office/drawing/2014/main" id="{2B2DE1CD-04A6-4732-8B1B-CAB87B30D242}"/>
              </a:ext>
            </a:extLst>
          </p:cNvPr>
          <p:cNvSpPr>
            <a:spLocks xmlns:a="http://schemas.openxmlformats.org/drawingml/2006/main" noGrp="1"/>
          </p:cNvSpPr>
          <p:nvPr/>
        </p:nvSpPr>
        <p:spPr>
          <a:xfrm xmlns:a="http://schemas.openxmlformats.org/drawingml/2006/main">
            <a:off x="1809750" y="3767138"/>
            <a:ext cx="46863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9A2202E1-1ACB-482B-B11F-C514CE6D8F8B}"/>
              </a:ext>
            </a:extLst>
          </p:cNvPr>
          <p:cNvSpPr>
            <a:spLocks xmlns:a="http://schemas.openxmlformats.org/drawingml/2006/main" noGrp="1"/>
          </p:cNvSpPr>
          <p:nvPr/>
        </p:nvSpPr>
        <p:spPr>
          <a:xfrm xmlns:a="http://schemas.openxmlformats.org/drawingml/2006/main">
            <a:off x="1962150" y="3900488"/>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Organisation</a:t>
            </a:r>
          </a:p>
        </p:txBody>
      </p:sp>
      <p:sp>
        <p:nvSpPr>
          <p:cNvPr id="15" name="">
            <a:extLst xmlns:a="http://schemas.openxmlformats.org/drawingml/2006/main">
              <a:ext uri="{FF2B5EF4-FFF2-40B4-BE49-F238E27FC236}">
                <a16:creationId xmlns:a16="http://schemas.microsoft.com/office/drawing/2014/main" id="{CAF82A03-1510-48E2-8EC0-B68FA782D25C}"/>
              </a:ext>
            </a:extLst>
          </p:cNvPr>
          <p:cNvSpPr>
            <a:spLocks xmlns:a="http://schemas.openxmlformats.org/drawingml/2006/main" noGrp="1"/>
          </p:cNvSpPr>
          <p:nvPr/>
        </p:nvSpPr>
        <p:spPr>
          <a:xfrm xmlns:a="http://schemas.openxmlformats.org/drawingml/2006/main">
            <a:off x="1962150" y="4338638"/>
            <a:ext cx="43815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Dienstplan, Standards, Erreichbarkeit, Einarbeitung und Eskalationswege.</a:t>
            </a:r>
          </a:p>
        </p:txBody>
      </p:sp>
      <p:sp>
        <p:nvSpPr>
          <p:cNvPr id="16" name="">
            <a:extLst xmlns:a="http://schemas.openxmlformats.org/drawingml/2006/main">
              <a:ext uri="{FF2B5EF4-FFF2-40B4-BE49-F238E27FC236}">
                <a16:creationId xmlns:a16="http://schemas.microsoft.com/office/drawing/2014/main" id="{E799E3A2-01BB-4207-9E9D-919E33C36D75}"/>
              </a:ext>
            </a:extLst>
          </p:cNvPr>
          <p:cNvSpPr>
            <a:spLocks xmlns:a="http://schemas.openxmlformats.org/drawingml/2006/main" noGrp="1"/>
          </p:cNvSpPr>
          <p:nvPr/>
        </p:nvSpPr>
        <p:spPr>
          <a:xfrm xmlns:a="http://schemas.openxmlformats.org/drawingml/2006/main">
            <a:off x="6648450" y="3767138"/>
            <a:ext cx="46863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17" name="">
            <a:extLst xmlns:a="http://schemas.openxmlformats.org/drawingml/2006/main">
              <a:ext uri="{FF2B5EF4-FFF2-40B4-BE49-F238E27FC236}">
                <a16:creationId xmlns:a16="http://schemas.microsoft.com/office/drawing/2014/main" id="{D2204E93-15F5-4326-8447-12BAF191DFA3}"/>
              </a:ext>
            </a:extLst>
          </p:cNvPr>
          <p:cNvSpPr>
            <a:spLocks xmlns:a="http://schemas.openxmlformats.org/drawingml/2006/main" noGrp="1"/>
          </p:cNvSpPr>
          <p:nvPr/>
        </p:nvSpPr>
        <p:spPr>
          <a:xfrm xmlns:a="http://schemas.openxmlformats.org/drawingml/2006/main">
            <a:off x="6648450" y="3767138"/>
            <a:ext cx="468630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F79B5A64-01B5-40A5-891A-930B5ED58F1F}"/>
              </a:ext>
            </a:extLst>
          </p:cNvPr>
          <p:cNvSpPr>
            <a:spLocks xmlns:a="http://schemas.openxmlformats.org/drawingml/2006/main" noGrp="1"/>
          </p:cNvSpPr>
          <p:nvPr/>
        </p:nvSpPr>
        <p:spPr>
          <a:xfrm xmlns:a="http://schemas.openxmlformats.org/drawingml/2006/main">
            <a:off x="6800850" y="3900488"/>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Praxisformulierung</a:t>
            </a:r>
          </a:p>
        </p:txBody>
      </p:sp>
      <p:sp>
        <p:nvSpPr>
          <p:cNvPr id="19" name="">
            <a:extLst xmlns:a="http://schemas.openxmlformats.org/drawingml/2006/main">
              <a:ext uri="{FF2B5EF4-FFF2-40B4-BE49-F238E27FC236}">
                <a16:creationId xmlns:a16="http://schemas.microsoft.com/office/drawing/2014/main" id="{3AC1F79F-D31F-4005-B9A0-1739CADC3511}"/>
              </a:ext>
            </a:extLst>
          </p:cNvPr>
          <p:cNvSpPr>
            <a:spLocks xmlns:a="http://schemas.openxmlformats.org/drawingml/2006/main" noGrp="1"/>
          </p:cNvSpPr>
          <p:nvPr/>
        </p:nvSpPr>
        <p:spPr>
          <a:xfrm xmlns:a="http://schemas.openxmlformats.org/drawingml/2006/main">
            <a:off x="6800850" y="4338638"/>
            <a:ext cx="43815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‚Ich kann das unter Supervision durchführen. Wer ist unmittelbar erreichbar, und wann muss ich eskalieren?‘</a:t>
            </a:r>
          </a:p>
        </p:txBody>
      </p:sp>
      <p:sp>
        <p:nvSpPr>
          <p:cNvPr id="20" name="">
            <a:extLst xmlns:a="http://schemas.openxmlformats.org/drawingml/2006/main">
              <a:ext uri="{FF2B5EF4-FFF2-40B4-BE49-F238E27FC236}">
                <a16:creationId xmlns:a16="http://schemas.microsoft.com/office/drawing/2014/main" id="{DD779D83-4E9B-44D3-A66F-A835C6663F52}"/>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1" name="">
            <a:extLst xmlns:a="http://schemas.openxmlformats.org/drawingml/2006/main">
              <a:ext uri="{FF2B5EF4-FFF2-40B4-BE49-F238E27FC236}">
                <a16:creationId xmlns:a16="http://schemas.microsoft.com/office/drawing/2014/main" id="{259A9045-CE03-490F-89CE-6258A804496F}"/>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Mut ist nicht, allein weiterzumachen. Mut ist, Kompetenzgrenzen rechtzeitig sichtbar zu machen.</a:t>
            </a:r>
          </a:p>
        </p:txBody>
      </p:sp>
    </p:spTree>
    <p:extLst>
      <p:ext uri="{BB962C8B-B14F-4D97-AF65-F5344CB8AC3E}">
        <p14:creationId xmlns:p14="http://schemas.microsoft.com/office/powerpoint/2010/main" val="43637646"/>
      </p:ext>
    </p:extLst>
  </p:cSld>
</p:sld>
</file>

<file path=ppt/slides/slide289.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Fallwerkstatt: ‚Schreiben Sie mal eine Stellungnahme‘</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10 MIN</a:t>
            </a:r>
            <a:endParaRPr/>
          </a:p>
        </p:txBody>
      </p:sp>
      <p:sp>
        <p:nvSpPr>
          <p:cNvPr id="4" name="">
            <a:extLst xmlns:a="http://schemas.openxmlformats.org/drawingml/2006/main">
              <a:ext uri="{FF2B5EF4-FFF2-40B4-BE49-F238E27FC236}">
                <a16:creationId xmlns:a16="http://schemas.microsoft.com/office/drawing/2014/main" id="{8CFD58B0-F9B2-481B-81C1-1A3C9AC5E3EA}"/>
              </a:ext>
            </a:extLst>
          </p:cNvPr>
          <p:cNvSpPr>
            <a:spLocks xmlns:a="http://schemas.openxmlformats.org/drawingml/2006/main" noGrp="1"/>
          </p:cNvSpPr>
          <p:nvPr/>
        </p:nvSpPr>
        <p:spPr>
          <a:xfrm xmlns:a="http://schemas.openxmlformats.org/drawingml/2006/main">
            <a:off x="1809750" y="1952625"/>
            <a:ext cx="5381625" cy="3333750"/>
          </a:xfrm>
          <a:prstGeom xmlns:a="http://schemas.openxmlformats.org/drawingml/2006/main" prst="roundRect">
            <a:avLst>
              <a:gd name="adj" fmla="val 2286"/>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09CD3CF6-9BC6-4EB6-BD58-7A8501308297}"/>
              </a:ext>
            </a:extLst>
          </p:cNvPr>
          <p:cNvSpPr>
            <a:spLocks xmlns:a="http://schemas.openxmlformats.org/drawingml/2006/main" noGrp="1"/>
          </p:cNvSpPr>
          <p:nvPr/>
        </p:nvSpPr>
        <p:spPr>
          <a:xfrm xmlns:a="http://schemas.openxmlformats.org/drawingml/2006/main">
            <a:off x="1809750" y="1952625"/>
            <a:ext cx="5381625"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6" name="">
            <a:extLst xmlns:a="http://schemas.openxmlformats.org/drawingml/2006/main">
              <a:ext uri="{FF2B5EF4-FFF2-40B4-BE49-F238E27FC236}">
                <a16:creationId xmlns:a16="http://schemas.microsoft.com/office/drawing/2014/main" id="{1E1A5CA6-A709-4E65-B236-2D51CA4CA5C1}"/>
              </a:ext>
            </a:extLst>
          </p:cNvPr>
          <p:cNvSpPr>
            <a:spLocks xmlns:a="http://schemas.openxmlformats.org/drawingml/2006/main" noGrp="1"/>
          </p:cNvSpPr>
          <p:nvPr/>
        </p:nvSpPr>
        <p:spPr>
          <a:xfrm xmlns:a="http://schemas.openxmlformats.org/drawingml/2006/main">
            <a:off x="1962150" y="2085975"/>
            <a:ext cx="5076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00" b="1">
                <a:solidFill>
                  <a:srgbClr val="003F6B"/>
                </a:solidFill>
              </a:defRPr>
            </a:pPr>
            <a:r>
              <a:rPr sz="1500" b="1">
                <a:solidFill>
                  <a:srgbClr val="003F6B"/>
                </a:solidFill>
              </a:rPr>
              <a:t>Ausgangslage</a:t>
            </a:r>
          </a:p>
        </p:txBody>
      </p:sp>
      <p:sp>
        <p:nvSpPr>
          <p:cNvPr id="7" name="">
            <a:extLst xmlns:a="http://schemas.openxmlformats.org/drawingml/2006/main">
              <a:ext uri="{FF2B5EF4-FFF2-40B4-BE49-F238E27FC236}">
                <a16:creationId xmlns:a16="http://schemas.microsoft.com/office/drawing/2014/main" id="{18FDD279-DD89-4094-98B4-5B5B799BACE7}"/>
              </a:ext>
            </a:extLst>
          </p:cNvPr>
          <p:cNvSpPr>
            <a:spLocks xmlns:a="http://schemas.openxmlformats.org/drawingml/2006/main" noGrp="1"/>
          </p:cNvSpPr>
          <p:nvPr/>
        </p:nvSpPr>
        <p:spPr>
          <a:xfrm xmlns:a="http://schemas.openxmlformats.org/drawingml/2006/main">
            <a:off x="1962150" y="2524125"/>
            <a:ext cx="5076825" cy="2628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15232B"/>
                </a:solidFill>
              </a:defRPr>
            </a:pPr>
            <a:r>
              <a:rPr sz="1275">
                <a:solidFill>
                  <a:srgbClr val="15232B"/>
                </a:solidFill>
              </a:rPr>
              <a:t>Nach einer technisch schwierigen Thoraxdrainage bittet der Oberarzt am Folgetag um eine schriftliche Darstellung. Sie hatten nur eingeschränkte Supervision; die Akte ist knapp.</a:t>
            </a:r>
          </a:p>
        </p:txBody>
      </p:sp>
      <p:sp>
        <p:nvSpPr>
          <p:cNvPr id="8" name="">
            <a:extLst xmlns:a="http://schemas.openxmlformats.org/drawingml/2006/main">
              <a:ext uri="{FF2B5EF4-FFF2-40B4-BE49-F238E27FC236}">
                <a16:creationId xmlns:a16="http://schemas.microsoft.com/office/drawing/2014/main" id="{8FC76AA4-362D-4196-BF28-F3B6C7EF32E5}"/>
              </a:ext>
            </a:extLst>
          </p:cNvPr>
          <p:cNvSpPr>
            <a:spLocks xmlns:a="http://schemas.openxmlformats.org/drawingml/2006/main" noGrp="1"/>
          </p:cNvSpPr>
          <p:nvPr/>
        </p:nvSpPr>
        <p:spPr>
          <a:xfrm xmlns:a="http://schemas.openxmlformats.org/drawingml/2006/main">
            <a:off x="7429500" y="1990725"/>
            <a:ext cx="323850" cy="323850"/>
          </a:xfrm>
          <a:prstGeom xmlns:a="http://schemas.openxmlformats.org/drawingml/2006/main" prst="roundRect">
            <a:avLst>
              <a:gd name="adj" fmla="val 23529"/>
            </a:avLst>
          </a:prstGeom>
          <a:solidFill xmlns:a="http://schemas.openxmlformats.org/drawingml/2006/main">
            <a:srgbClr val="00B2BB"/>
          </a:solidFill>
          <a:ln xmlns:a="http://schemas.openxmlformats.org/drawingml/2006/main" w="0">
            <a:solidFill>
              <a:srgbClr val="00B2BB"/>
            </a:solidFill>
            <a:prstDash val="solid"/>
          </a:ln>
        </p:spPr>
      </p:sp>
      <p:sp>
        <p:nvSpPr>
          <p:cNvPr id="9" name="">
            <a:extLst xmlns:a="http://schemas.openxmlformats.org/drawingml/2006/main">
              <a:ext uri="{FF2B5EF4-FFF2-40B4-BE49-F238E27FC236}">
                <a16:creationId xmlns:a16="http://schemas.microsoft.com/office/drawing/2014/main" id="{C82DD4C2-BB8E-43DF-8684-46FF135BE3AC}"/>
              </a:ext>
            </a:extLst>
          </p:cNvPr>
          <p:cNvSpPr>
            <a:spLocks xmlns:a="http://schemas.openxmlformats.org/drawingml/2006/main" noGrp="1"/>
          </p:cNvSpPr>
          <p:nvPr/>
        </p:nvSpPr>
        <p:spPr>
          <a:xfrm xmlns:a="http://schemas.openxmlformats.org/drawingml/2006/main">
            <a:off x="7429500" y="1990725"/>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10" name="">
            <a:extLst xmlns:a="http://schemas.openxmlformats.org/drawingml/2006/main">
              <a:ext uri="{FF2B5EF4-FFF2-40B4-BE49-F238E27FC236}">
                <a16:creationId xmlns:a16="http://schemas.microsoft.com/office/drawing/2014/main" id="{BAD06590-1E68-4191-8D29-B843F883AB2C}"/>
              </a:ext>
            </a:extLst>
          </p:cNvPr>
          <p:cNvSpPr>
            <a:spLocks xmlns:a="http://schemas.openxmlformats.org/drawingml/2006/main" noGrp="1"/>
          </p:cNvSpPr>
          <p:nvPr/>
        </p:nvSpPr>
        <p:spPr>
          <a:xfrm xmlns:a="http://schemas.openxmlformats.org/drawingml/2006/main">
            <a:off x="7886700" y="1952625"/>
            <a:ext cx="3333750" cy="1022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15" b="0">
                <a:solidFill>
                  <a:srgbClr val="15232B"/>
                </a:solidFill>
              </a:defRPr>
            </a:pPr>
            <a:r>
              <a:rPr sz="1215" b="0">
                <a:solidFill>
                  <a:srgbClr val="15232B"/>
                </a:solidFill>
              </a:rPr>
              <a:t>Welchen Auftrag und Adressaten klären Sie?</a:t>
            </a:r>
          </a:p>
        </p:txBody>
      </p:sp>
      <p:sp>
        <p:nvSpPr>
          <p:cNvPr id="11" name="">
            <a:extLst xmlns:a="http://schemas.openxmlformats.org/drawingml/2006/main">
              <a:ext uri="{FF2B5EF4-FFF2-40B4-BE49-F238E27FC236}">
                <a16:creationId xmlns:a16="http://schemas.microsoft.com/office/drawing/2014/main" id="{B07B9078-7BDE-48FB-A3E6-DFC340DDF921}"/>
              </a:ext>
            </a:extLst>
          </p:cNvPr>
          <p:cNvSpPr>
            <a:spLocks xmlns:a="http://schemas.openxmlformats.org/drawingml/2006/main" noGrp="1"/>
          </p:cNvSpPr>
          <p:nvPr/>
        </p:nvSpPr>
        <p:spPr>
          <a:xfrm xmlns:a="http://schemas.openxmlformats.org/drawingml/2006/main">
            <a:off x="7429500" y="3108325"/>
            <a:ext cx="323850" cy="323850"/>
          </a:xfrm>
          <a:prstGeom xmlns:a="http://schemas.openxmlformats.org/drawingml/2006/main" prst="roundRect">
            <a:avLst>
              <a:gd name="adj" fmla="val 23529"/>
            </a:avLst>
          </a:prstGeom>
          <a:solidFill xmlns:a="http://schemas.openxmlformats.org/drawingml/2006/main">
            <a:srgbClr val="003F6B"/>
          </a:solidFill>
          <a:ln xmlns:a="http://schemas.openxmlformats.org/drawingml/2006/main" w="0">
            <a:solidFill>
              <a:srgbClr val="003F6B"/>
            </a:solidFill>
            <a:prstDash val="solid"/>
          </a:ln>
        </p:spPr>
      </p:sp>
      <p:sp>
        <p:nvSpPr>
          <p:cNvPr id="12" name="">
            <a:extLst xmlns:a="http://schemas.openxmlformats.org/drawingml/2006/main">
              <a:ext uri="{FF2B5EF4-FFF2-40B4-BE49-F238E27FC236}">
                <a16:creationId xmlns:a16="http://schemas.microsoft.com/office/drawing/2014/main" id="{B904C9BF-A8A7-4198-BB02-4913E0F8837F}"/>
              </a:ext>
            </a:extLst>
          </p:cNvPr>
          <p:cNvSpPr>
            <a:spLocks xmlns:a="http://schemas.openxmlformats.org/drawingml/2006/main" noGrp="1"/>
          </p:cNvSpPr>
          <p:nvPr/>
        </p:nvSpPr>
        <p:spPr>
          <a:xfrm xmlns:a="http://schemas.openxmlformats.org/drawingml/2006/main">
            <a:off x="7429500" y="3108325"/>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3" name="">
            <a:extLst xmlns:a="http://schemas.openxmlformats.org/drawingml/2006/main">
              <a:ext uri="{FF2B5EF4-FFF2-40B4-BE49-F238E27FC236}">
                <a16:creationId xmlns:a16="http://schemas.microsoft.com/office/drawing/2014/main" id="{6A065972-1E23-4418-9C73-6093B0158B8B}"/>
              </a:ext>
            </a:extLst>
          </p:cNvPr>
          <p:cNvSpPr>
            <a:spLocks xmlns:a="http://schemas.openxmlformats.org/drawingml/2006/main" noGrp="1"/>
          </p:cNvSpPr>
          <p:nvPr/>
        </p:nvSpPr>
        <p:spPr>
          <a:xfrm xmlns:a="http://schemas.openxmlformats.org/drawingml/2006/main">
            <a:off x="7886700" y="3070225"/>
            <a:ext cx="3333750" cy="1022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15" b="0">
                <a:solidFill>
                  <a:srgbClr val="15232B"/>
                </a:solidFill>
              </a:defRPr>
            </a:pPr>
            <a:r>
              <a:rPr sz="1215" b="0">
                <a:solidFill>
                  <a:srgbClr val="15232B"/>
                </a:solidFill>
              </a:rPr>
              <a:t>Welche Quellen trennen Sie: Erinnerung, Akte, Fremdbericht?</a:t>
            </a:r>
          </a:p>
        </p:txBody>
      </p:sp>
      <p:sp>
        <p:nvSpPr>
          <p:cNvPr id="14" name="">
            <a:extLst xmlns:a="http://schemas.openxmlformats.org/drawingml/2006/main">
              <a:ext uri="{FF2B5EF4-FFF2-40B4-BE49-F238E27FC236}">
                <a16:creationId xmlns:a16="http://schemas.microsoft.com/office/drawing/2014/main" id="{C9977B83-F535-4D84-9CFD-056FF06FC0DC}"/>
              </a:ext>
            </a:extLst>
          </p:cNvPr>
          <p:cNvSpPr>
            <a:spLocks xmlns:a="http://schemas.openxmlformats.org/drawingml/2006/main" noGrp="1"/>
          </p:cNvSpPr>
          <p:nvPr/>
        </p:nvSpPr>
        <p:spPr>
          <a:xfrm xmlns:a="http://schemas.openxmlformats.org/drawingml/2006/main">
            <a:off x="7429500" y="4225925"/>
            <a:ext cx="323850" cy="323850"/>
          </a:xfrm>
          <a:prstGeom xmlns:a="http://schemas.openxmlformats.org/drawingml/2006/main" prst="roundRect">
            <a:avLst>
              <a:gd name="adj" fmla="val 23529"/>
            </a:avLst>
          </a:prstGeom>
          <a:solidFill xmlns:a="http://schemas.openxmlformats.org/drawingml/2006/main">
            <a:srgbClr val="00B2BB"/>
          </a:solidFill>
          <a:ln xmlns:a="http://schemas.openxmlformats.org/drawingml/2006/main" w="0">
            <a:solidFill>
              <a:srgbClr val="00B2BB"/>
            </a:solidFill>
            <a:prstDash val="solid"/>
          </a:ln>
        </p:spPr>
      </p:sp>
      <p:sp>
        <p:nvSpPr>
          <p:cNvPr id="15" name="">
            <a:extLst xmlns:a="http://schemas.openxmlformats.org/drawingml/2006/main">
              <a:ext uri="{FF2B5EF4-FFF2-40B4-BE49-F238E27FC236}">
                <a16:creationId xmlns:a16="http://schemas.microsoft.com/office/drawing/2014/main" id="{8C60802C-73EC-44A0-B958-350C30D5686E}"/>
              </a:ext>
            </a:extLst>
          </p:cNvPr>
          <p:cNvSpPr>
            <a:spLocks xmlns:a="http://schemas.openxmlformats.org/drawingml/2006/main" noGrp="1"/>
          </p:cNvSpPr>
          <p:nvPr/>
        </p:nvSpPr>
        <p:spPr>
          <a:xfrm xmlns:a="http://schemas.openxmlformats.org/drawingml/2006/main">
            <a:off x="7429500" y="4225925"/>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6" name="">
            <a:extLst xmlns:a="http://schemas.openxmlformats.org/drawingml/2006/main">
              <a:ext uri="{FF2B5EF4-FFF2-40B4-BE49-F238E27FC236}">
                <a16:creationId xmlns:a16="http://schemas.microsoft.com/office/drawing/2014/main" id="{FB31DDC2-FD94-4758-BA7A-053AB6BF4295}"/>
              </a:ext>
            </a:extLst>
          </p:cNvPr>
          <p:cNvSpPr>
            <a:spLocks xmlns:a="http://schemas.openxmlformats.org/drawingml/2006/main" noGrp="1"/>
          </p:cNvSpPr>
          <p:nvPr/>
        </p:nvSpPr>
        <p:spPr>
          <a:xfrm xmlns:a="http://schemas.openxmlformats.org/drawingml/2006/main">
            <a:off x="7886700" y="4187825"/>
            <a:ext cx="3333750" cy="1022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15" b="0">
                <a:solidFill>
                  <a:srgbClr val="15232B"/>
                </a:solidFill>
              </a:defRPr>
            </a:pPr>
            <a:r>
              <a:rPr sz="1215" b="0">
                <a:solidFill>
                  <a:srgbClr val="15232B"/>
                </a:solidFill>
              </a:rPr>
              <a:t>Wie benennen Sie Kompetenzgrenzen und Hilfeersuchen sachlich?</a:t>
            </a:r>
          </a:p>
        </p:txBody>
      </p:sp>
      <p:sp>
        <p:nvSpPr>
          <p:cNvPr id="17" name="">
            <a:extLst xmlns:a="http://schemas.openxmlformats.org/drawingml/2006/main">
              <a:ext uri="{FF2B5EF4-FFF2-40B4-BE49-F238E27FC236}">
                <a16:creationId xmlns:a16="http://schemas.microsoft.com/office/drawing/2014/main" id="{FBD138C0-D3BF-4F49-A124-C9ECBF14860A}"/>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18" name="">
            <a:extLst xmlns:a="http://schemas.openxmlformats.org/drawingml/2006/main">
              <a:ext uri="{FF2B5EF4-FFF2-40B4-BE49-F238E27FC236}">
                <a16:creationId xmlns:a16="http://schemas.microsoft.com/office/drawing/2014/main" id="{B0362FE5-1A40-49B0-9694-01DB4112CA8D}"/>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Chronologie + eigene Wahrnehmung + klare Wissensgrenzen. Keine Teamabstimmung auf eine gemeinsame Geschichte.</a:t>
            </a:r>
          </a:p>
        </p:txBody>
      </p:sp>
    </p:spTree>
    <p:extLst>
      <p:ext uri="{BB962C8B-B14F-4D97-AF65-F5344CB8AC3E}">
        <p14:creationId xmlns:p14="http://schemas.microsoft.com/office/powerpoint/2010/main" val="43637646"/>
      </p:ext>
    </p:extLst>
  </p:cSld>
</p:sld>
</file>

<file path=ppt/slides/slide290.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Zum Nachlesen · Termin 09: Berufsrecht, Approbationsrecht und Arbeitsrecht</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LITERATUR &amp; SICHTBARE QUELLEN</a:t>
            </a:r>
            <a:endParaRPr/>
          </a:p>
        </p:txBody>
      </p:sp>
      <p:sp>
        <p:nvSpPr>
          <p:cNvPr id="4" name="">
            <a:extLst xmlns:a="http://schemas.openxmlformats.org/drawingml/2006/main">
              <a:ext uri="{FF2B5EF4-FFF2-40B4-BE49-F238E27FC236}">
                <a16:creationId xmlns:a16="http://schemas.microsoft.com/office/drawing/2014/main" id="{F80EF6B2-BBF1-49FB-B2D2-38AF14B744EF}"/>
              </a:ext>
            </a:extLst>
          </p:cNvPr>
          <p:cNvSpPr>
            <a:spLocks xmlns:a="http://schemas.openxmlformats.org/drawingml/2006/main" noGrp="1"/>
          </p:cNvSpPr>
          <p:nvPr/>
        </p:nvSpPr>
        <p:spPr>
          <a:xfrm xmlns:a="http://schemas.openxmlformats.org/drawingml/2006/main">
            <a:off x="1809750" y="1943100"/>
            <a:ext cx="461010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0327899A-B8EA-44AD-A3AC-C460258D1077}"/>
              </a:ext>
            </a:extLst>
          </p:cNvPr>
          <p:cNvSpPr>
            <a:spLocks xmlns:a="http://schemas.openxmlformats.org/drawingml/2006/main" noGrp="1"/>
          </p:cNvSpPr>
          <p:nvPr/>
        </p:nvSpPr>
        <p:spPr>
          <a:xfrm xmlns:a="http://schemas.openxmlformats.org/drawingml/2006/main">
            <a:off x="1809750" y="1943100"/>
            <a:ext cx="4610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Vertiefung</a:t>
            </a:r>
          </a:p>
        </p:txBody>
      </p:sp>
      <p:sp>
        <p:nvSpPr>
          <p:cNvPr id="6" name="">
            <a:extLst xmlns:a="http://schemas.openxmlformats.org/drawingml/2006/main">
              <a:ext uri="{FF2B5EF4-FFF2-40B4-BE49-F238E27FC236}">
                <a16:creationId xmlns:a16="http://schemas.microsoft.com/office/drawing/2014/main" id="{84555BB8-FE86-43A1-844C-08598A28A5BE}"/>
              </a:ext>
            </a:extLst>
          </p:cNvPr>
          <p:cNvSpPr>
            <a:spLocks xmlns:a="http://schemas.openxmlformats.org/drawingml/2006/main" noGrp="1"/>
          </p:cNvSpPr>
          <p:nvPr/>
        </p:nvSpPr>
        <p:spPr>
          <a:xfrm xmlns:a="http://schemas.openxmlformats.org/drawingml/2006/main">
            <a:off x="1809750" y="30289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7" name="">
            <a:extLst xmlns:a="http://schemas.openxmlformats.org/drawingml/2006/main">
              <a:ext uri="{FF2B5EF4-FFF2-40B4-BE49-F238E27FC236}">
                <a16:creationId xmlns:a16="http://schemas.microsoft.com/office/drawing/2014/main" id="{1B031815-A99E-4D80-886F-4E7C7950C35E}"/>
              </a:ext>
            </a:extLst>
          </p:cNvPr>
          <p:cNvSpPr>
            <a:spLocks xmlns:a="http://schemas.openxmlformats.org/drawingml/2006/main" noGrp="1"/>
          </p:cNvSpPr>
          <p:nvPr/>
        </p:nvSpPr>
        <p:spPr>
          <a:xfrm xmlns:a="http://schemas.openxmlformats.org/drawingml/2006/main">
            <a:off x="1809750" y="24765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9BAB"/>
                </a:solidFill>
              </a:defRPr>
            </a:pPr>
            <a:r>
              <a:rPr sz="960" b="1">
                <a:solidFill>
                  <a:srgbClr val="009BAB"/>
                </a:solidFill>
              </a:rPr>
              <a:t>Berufsrecht</a:t>
            </a:r>
          </a:p>
        </p:txBody>
      </p:sp>
      <p:sp>
        <p:nvSpPr>
          <p:cNvPr id="8" name="">
            <a:extLst xmlns:a="http://schemas.openxmlformats.org/drawingml/2006/main">
              <a:ext uri="{FF2B5EF4-FFF2-40B4-BE49-F238E27FC236}">
                <a16:creationId xmlns:a16="http://schemas.microsoft.com/office/drawing/2014/main" id="{D2D03663-3F9E-48CA-86B3-4BFDDF5B2085}"/>
              </a:ext>
            </a:extLst>
          </p:cNvPr>
          <p:cNvSpPr>
            <a:spLocks xmlns:a="http://schemas.openxmlformats.org/drawingml/2006/main" noGrp="1"/>
          </p:cNvSpPr>
          <p:nvPr/>
        </p:nvSpPr>
        <p:spPr>
          <a:xfrm xmlns:a="http://schemas.openxmlformats.org/drawingml/2006/main">
            <a:off x="2952750" y="24765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Ärztekammer Niedersachsen, Berufsordnung und Verfahrenshinweise.</a:t>
            </a:r>
          </a:p>
        </p:txBody>
      </p:sp>
      <p:sp>
        <p:nvSpPr>
          <p:cNvPr id="9" name="">
            <a:extLst xmlns:a="http://schemas.openxmlformats.org/drawingml/2006/main">
              <a:ext uri="{FF2B5EF4-FFF2-40B4-BE49-F238E27FC236}">
                <a16:creationId xmlns:a16="http://schemas.microsoft.com/office/drawing/2014/main" id="{512D4012-02A0-40A6-BCD2-8D3989F5DABC}"/>
              </a:ext>
            </a:extLst>
          </p:cNvPr>
          <p:cNvSpPr>
            <a:spLocks xmlns:a="http://schemas.openxmlformats.org/drawingml/2006/main" noGrp="1"/>
          </p:cNvSpPr>
          <p:nvPr/>
        </p:nvSpPr>
        <p:spPr>
          <a:xfrm xmlns:a="http://schemas.openxmlformats.org/drawingml/2006/main">
            <a:off x="1809750" y="36385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10" name="">
            <a:extLst xmlns:a="http://schemas.openxmlformats.org/drawingml/2006/main">
              <a:ext uri="{FF2B5EF4-FFF2-40B4-BE49-F238E27FC236}">
                <a16:creationId xmlns:a16="http://schemas.microsoft.com/office/drawing/2014/main" id="{B591AE06-EA62-4A38-83FF-5D8CBC21515F}"/>
              </a:ext>
            </a:extLst>
          </p:cNvPr>
          <p:cNvSpPr>
            <a:spLocks xmlns:a="http://schemas.openxmlformats.org/drawingml/2006/main" noGrp="1"/>
          </p:cNvSpPr>
          <p:nvPr/>
        </p:nvSpPr>
        <p:spPr>
          <a:xfrm xmlns:a="http://schemas.openxmlformats.org/drawingml/2006/main">
            <a:off x="1809750" y="30861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9BAB"/>
                </a:solidFill>
              </a:defRPr>
            </a:pPr>
            <a:r>
              <a:rPr sz="960" b="1">
                <a:solidFill>
                  <a:srgbClr val="009BAB"/>
                </a:solidFill>
              </a:rPr>
              <a:t>Approbationsrecht</a:t>
            </a:r>
          </a:p>
        </p:txBody>
      </p:sp>
      <p:sp>
        <p:nvSpPr>
          <p:cNvPr id="11" name="">
            <a:extLst xmlns:a="http://schemas.openxmlformats.org/drawingml/2006/main">
              <a:ext uri="{FF2B5EF4-FFF2-40B4-BE49-F238E27FC236}">
                <a16:creationId xmlns:a16="http://schemas.microsoft.com/office/drawing/2014/main" id="{A5DB9941-819C-40B9-99B0-E9719DA8027A}"/>
              </a:ext>
            </a:extLst>
          </p:cNvPr>
          <p:cNvSpPr>
            <a:spLocks xmlns:a="http://schemas.openxmlformats.org/drawingml/2006/main" noGrp="1"/>
          </p:cNvSpPr>
          <p:nvPr/>
        </p:nvSpPr>
        <p:spPr>
          <a:xfrm xmlns:a="http://schemas.openxmlformats.org/drawingml/2006/main">
            <a:off x="2952750" y="30861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Kommentierung der §§ 3, 5 und 6 BÄO.</a:t>
            </a:r>
          </a:p>
        </p:txBody>
      </p:sp>
      <p:sp>
        <p:nvSpPr>
          <p:cNvPr id="12" name="">
            <a:extLst xmlns:a="http://schemas.openxmlformats.org/drawingml/2006/main">
              <a:ext uri="{FF2B5EF4-FFF2-40B4-BE49-F238E27FC236}">
                <a16:creationId xmlns:a16="http://schemas.microsoft.com/office/drawing/2014/main" id="{66A6B113-0B43-43F6-913A-BB364B140113}"/>
              </a:ext>
            </a:extLst>
          </p:cNvPr>
          <p:cNvSpPr>
            <a:spLocks xmlns:a="http://schemas.openxmlformats.org/drawingml/2006/main" noGrp="1"/>
          </p:cNvSpPr>
          <p:nvPr/>
        </p:nvSpPr>
        <p:spPr>
          <a:xfrm xmlns:a="http://schemas.openxmlformats.org/drawingml/2006/main">
            <a:off x="1809750" y="42481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13" name="">
            <a:extLst xmlns:a="http://schemas.openxmlformats.org/drawingml/2006/main">
              <a:ext uri="{FF2B5EF4-FFF2-40B4-BE49-F238E27FC236}">
                <a16:creationId xmlns:a16="http://schemas.microsoft.com/office/drawing/2014/main" id="{32AD174D-7C1B-4BC1-8FF1-21973A09AE07}"/>
              </a:ext>
            </a:extLst>
          </p:cNvPr>
          <p:cNvSpPr>
            <a:spLocks xmlns:a="http://schemas.openxmlformats.org/drawingml/2006/main" noGrp="1"/>
          </p:cNvSpPr>
          <p:nvPr/>
        </p:nvSpPr>
        <p:spPr>
          <a:xfrm xmlns:a="http://schemas.openxmlformats.org/drawingml/2006/main">
            <a:off x="1809750" y="36957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9BAB"/>
                </a:solidFill>
              </a:defRPr>
            </a:pPr>
            <a:r>
              <a:rPr sz="960" b="1">
                <a:solidFill>
                  <a:srgbClr val="009BAB"/>
                </a:solidFill>
              </a:rPr>
              <a:t>VwGO</a:t>
            </a:r>
          </a:p>
        </p:txBody>
      </p:sp>
      <p:sp>
        <p:nvSpPr>
          <p:cNvPr id="14" name="">
            <a:extLst xmlns:a="http://schemas.openxmlformats.org/drawingml/2006/main">
              <a:ext uri="{FF2B5EF4-FFF2-40B4-BE49-F238E27FC236}">
                <a16:creationId xmlns:a16="http://schemas.microsoft.com/office/drawing/2014/main" id="{37B21F08-6DC8-471E-9645-2A98674ADEA2}"/>
              </a:ext>
            </a:extLst>
          </p:cNvPr>
          <p:cNvSpPr>
            <a:spLocks xmlns:a="http://schemas.openxmlformats.org/drawingml/2006/main" noGrp="1"/>
          </p:cNvSpPr>
          <p:nvPr/>
        </p:nvSpPr>
        <p:spPr>
          <a:xfrm xmlns:a="http://schemas.openxmlformats.org/drawingml/2006/main">
            <a:off x="2952750" y="36957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Kopp/Schenke, Verwaltungsgerichtsordnung: Klage und Eilrechtsschutz.</a:t>
            </a:r>
          </a:p>
        </p:txBody>
      </p:sp>
      <p:sp>
        <p:nvSpPr>
          <p:cNvPr id="15" name="">
            <a:extLst xmlns:a="http://schemas.openxmlformats.org/drawingml/2006/main">
              <a:ext uri="{FF2B5EF4-FFF2-40B4-BE49-F238E27FC236}">
                <a16:creationId xmlns:a16="http://schemas.microsoft.com/office/drawing/2014/main" id="{34F06515-4AD8-421C-9D8B-6F1A83286523}"/>
              </a:ext>
            </a:extLst>
          </p:cNvPr>
          <p:cNvSpPr>
            <a:spLocks xmlns:a="http://schemas.openxmlformats.org/drawingml/2006/main" noGrp="1"/>
          </p:cNvSpPr>
          <p:nvPr/>
        </p:nvSpPr>
        <p:spPr>
          <a:xfrm xmlns:a="http://schemas.openxmlformats.org/drawingml/2006/main">
            <a:off x="1809750" y="48577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16" name="">
            <a:extLst xmlns:a="http://schemas.openxmlformats.org/drawingml/2006/main">
              <a:ext uri="{FF2B5EF4-FFF2-40B4-BE49-F238E27FC236}">
                <a16:creationId xmlns:a16="http://schemas.microsoft.com/office/drawing/2014/main" id="{02250685-88BB-4FDF-B1F5-082F5C9D80F2}"/>
              </a:ext>
            </a:extLst>
          </p:cNvPr>
          <p:cNvSpPr>
            <a:spLocks xmlns:a="http://schemas.openxmlformats.org/drawingml/2006/main" noGrp="1"/>
          </p:cNvSpPr>
          <p:nvPr/>
        </p:nvSpPr>
        <p:spPr>
          <a:xfrm xmlns:a="http://schemas.openxmlformats.org/drawingml/2006/main">
            <a:off x="1809750" y="43053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9BAB"/>
                </a:solidFill>
              </a:defRPr>
            </a:pPr>
            <a:r>
              <a:rPr sz="960" b="1">
                <a:solidFill>
                  <a:srgbClr val="009BAB"/>
                </a:solidFill>
              </a:rPr>
              <a:t>Arbeitsrecht</a:t>
            </a:r>
          </a:p>
        </p:txBody>
      </p:sp>
      <p:sp>
        <p:nvSpPr>
          <p:cNvPr id="17" name="">
            <a:extLst xmlns:a="http://schemas.openxmlformats.org/drawingml/2006/main">
              <a:ext uri="{FF2B5EF4-FFF2-40B4-BE49-F238E27FC236}">
                <a16:creationId xmlns:a16="http://schemas.microsoft.com/office/drawing/2014/main" id="{F75A455F-DF2E-43E9-9C79-664FC229B20F}"/>
              </a:ext>
            </a:extLst>
          </p:cNvPr>
          <p:cNvSpPr>
            <a:spLocks xmlns:a="http://schemas.openxmlformats.org/drawingml/2006/main" noGrp="1"/>
          </p:cNvSpPr>
          <p:nvPr/>
        </p:nvSpPr>
        <p:spPr>
          <a:xfrm xmlns:a="http://schemas.openxmlformats.org/drawingml/2006/main">
            <a:off x="2952750" y="43053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Anhörung, Abmahnung, Verdachts- und Tatkündigung im Klinikarbeitsverhältnis.</a:t>
            </a:r>
          </a:p>
        </p:txBody>
      </p:sp>
      <p:sp>
        <p:nvSpPr>
          <p:cNvPr id="18" name="">
            <a:extLst xmlns:a="http://schemas.openxmlformats.org/drawingml/2006/main">
              <a:ext uri="{FF2B5EF4-FFF2-40B4-BE49-F238E27FC236}">
                <a16:creationId xmlns:a16="http://schemas.microsoft.com/office/drawing/2014/main" id="{BDD9D781-8037-4236-AC59-DCA3CA494029}"/>
              </a:ext>
            </a:extLst>
          </p:cNvPr>
          <p:cNvSpPr>
            <a:spLocks xmlns:a="http://schemas.openxmlformats.org/drawingml/2006/main" noGrp="1"/>
          </p:cNvSpPr>
          <p:nvPr/>
        </p:nvSpPr>
        <p:spPr>
          <a:xfrm xmlns:a="http://schemas.openxmlformats.org/drawingml/2006/main">
            <a:off x="6724650" y="1943100"/>
            <a:ext cx="461010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9" name="">
            <a:extLst xmlns:a="http://schemas.openxmlformats.org/drawingml/2006/main">
              <a:ext uri="{FF2B5EF4-FFF2-40B4-BE49-F238E27FC236}">
                <a16:creationId xmlns:a16="http://schemas.microsoft.com/office/drawing/2014/main" id="{E92C4C28-DBAE-44AC-9EA9-7DD788C579A0}"/>
              </a:ext>
            </a:extLst>
          </p:cNvPr>
          <p:cNvSpPr>
            <a:spLocks xmlns:a="http://schemas.openxmlformats.org/drawingml/2006/main" noGrp="1"/>
          </p:cNvSpPr>
          <p:nvPr/>
        </p:nvSpPr>
        <p:spPr>
          <a:xfrm xmlns:a="http://schemas.openxmlformats.org/drawingml/2006/main">
            <a:off x="6724650" y="1943100"/>
            <a:ext cx="4610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Primärquellen &amp; Rechtsprechung</a:t>
            </a:r>
          </a:p>
        </p:txBody>
      </p:sp>
      <p:sp>
        <p:nvSpPr>
          <p:cNvPr id="20" name="">
            <a:extLst xmlns:a="http://schemas.openxmlformats.org/drawingml/2006/main">
              <a:ext uri="{FF2B5EF4-FFF2-40B4-BE49-F238E27FC236}">
                <a16:creationId xmlns:a16="http://schemas.microsoft.com/office/drawing/2014/main" id="{FD803A38-E0C7-490C-94D7-494F61249F61}"/>
              </a:ext>
            </a:extLst>
          </p:cNvPr>
          <p:cNvSpPr>
            <a:spLocks xmlns:a="http://schemas.openxmlformats.org/drawingml/2006/main" noGrp="1"/>
          </p:cNvSpPr>
          <p:nvPr/>
        </p:nvSpPr>
        <p:spPr>
          <a:xfrm xmlns:a="http://schemas.openxmlformats.org/drawingml/2006/main">
            <a:off x="6724650" y="30289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21" name="">
            <a:extLst xmlns:a="http://schemas.openxmlformats.org/drawingml/2006/main">
              <a:ext uri="{FF2B5EF4-FFF2-40B4-BE49-F238E27FC236}">
                <a16:creationId xmlns:a16="http://schemas.microsoft.com/office/drawing/2014/main" id="{926E3C77-BCBF-4BCF-8FC5-B843097A42B2}"/>
              </a:ext>
            </a:extLst>
          </p:cNvPr>
          <p:cNvSpPr>
            <a:spLocks xmlns:a="http://schemas.openxmlformats.org/drawingml/2006/main" noGrp="1"/>
          </p:cNvSpPr>
          <p:nvPr/>
        </p:nvSpPr>
        <p:spPr>
          <a:xfrm xmlns:a="http://schemas.openxmlformats.org/drawingml/2006/main">
            <a:off x="6724650" y="24765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3F6B"/>
                </a:solidFill>
              </a:defRPr>
            </a:pPr>
            <a:r>
              <a:rPr sz="960" b="1">
                <a:solidFill>
                  <a:srgbClr val="003F6B"/>
                </a:solidFill>
              </a:rPr>
              <a:t>BÄO</a:t>
            </a:r>
          </a:p>
        </p:txBody>
      </p:sp>
      <p:sp>
        <p:nvSpPr>
          <p:cNvPr id="22" name="">
            <a:extLst xmlns:a="http://schemas.openxmlformats.org/drawingml/2006/main">
              <a:ext uri="{FF2B5EF4-FFF2-40B4-BE49-F238E27FC236}">
                <a16:creationId xmlns:a16="http://schemas.microsoft.com/office/drawing/2014/main" id="{C04A53D4-F071-4CA9-950B-5DAA48B13C8C}"/>
              </a:ext>
            </a:extLst>
          </p:cNvPr>
          <p:cNvSpPr>
            <a:spLocks xmlns:a="http://schemas.openxmlformats.org/drawingml/2006/main" noGrp="1"/>
          </p:cNvSpPr>
          <p:nvPr/>
        </p:nvSpPr>
        <p:spPr>
          <a:xfrm xmlns:a="http://schemas.openxmlformats.org/drawingml/2006/main">
            <a:off x="7867650" y="24765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 5, 6 BÄO · Rücknahme/Widerruf/Ruhen.</a:t>
            </a:r>
          </a:p>
        </p:txBody>
      </p:sp>
      <p:sp>
        <p:nvSpPr>
          <p:cNvPr id="23" name="">
            <a:extLst xmlns:a="http://schemas.openxmlformats.org/drawingml/2006/main">
              <a:ext uri="{FF2B5EF4-FFF2-40B4-BE49-F238E27FC236}">
                <a16:creationId xmlns:a16="http://schemas.microsoft.com/office/drawing/2014/main" id="{8287CA8D-64B7-4EE4-B975-5B3AC417461E}"/>
              </a:ext>
            </a:extLst>
          </p:cNvPr>
          <p:cNvSpPr>
            <a:spLocks xmlns:a="http://schemas.openxmlformats.org/drawingml/2006/main" noGrp="1"/>
          </p:cNvSpPr>
          <p:nvPr/>
        </p:nvSpPr>
        <p:spPr>
          <a:xfrm xmlns:a="http://schemas.openxmlformats.org/drawingml/2006/main">
            <a:off x="6724650" y="36385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24" name="">
            <a:extLst xmlns:a="http://schemas.openxmlformats.org/drawingml/2006/main">
              <a:ext uri="{FF2B5EF4-FFF2-40B4-BE49-F238E27FC236}">
                <a16:creationId xmlns:a16="http://schemas.microsoft.com/office/drawing/2014/main" id="{6CEC37ED-426E-4068-B20D-76370B12D277}"/>
              </a:ext>
            </a:extLst>
          </p:cNvPr>
          <p:cNvSpPr>
            <a:spLocks xmlns:a="http://schemas.openxmlformats.org/drawingml/2006/main" noGrp="1"/>
          </p:cNvSpPr>
          <p:nvPr/>
        </p:nvSpPr>
        <p:spPr>
          <a:xfrm xmlns:a="http://schemas.openxmlformats.org/drawingml/2006/main">
            <a:off x="6724650" y="30861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3F6B"/>
                </a:solidFill>
              </a:defRPr>
            </a:pPr>
            <a:r>
              <a:rPr sz="960" b="1">
                <a:solidFill>
                  <a:srgbClr val="003F6B"/>
                </a:solidFill>
              </a:rPr>
              <a:t>VwGO</a:t>
            </a:r>
          </a:p>
        </p:txBody>
      </p:sp>
      <p:sp>
        <p:nvSpPr>
          <p:cNvPr id="25" name="">
            <a:extLst xmlns:a="http://schemas.openxmlformats.org/drawingml/2006/main">
              <a:ext uri="{FF2B5EF4-FFF2-40B4-BE49-F238E27FC236}">
                <a16:creationId xmlns:a16="http://schemas.microsoft.com/office/drawing/2014/main" id="{643DC4B7-8E7C-44E8-9283-D90AFF6D1B73}"/>
              </a:ext>
            </a:extLst>
          </p:cNvPr>
          <p:cNvSpPr>
            <a:spLocks xmlns:a="http://schemas.openxmlformats.org/drawingml/2006/main" noGrp="1"/>
          </p:cNvSpPr>
          <p:nvPr/>
        </p:nvSpPr>
        <p:spPr>
          <a:xfrm xmlns:a="http://schemas.openxmlformats.org/drawingml/2006/main">
            <a:off x="7867650" y="30861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 40, 42, 80, 123 VwGO.</a:t>
            </a:r>
          </a:p>
        </p:txBody>
      </p:sp>
      <p:sp>
        <p:nvSpPr>
          <p:cNvPr id="26" name="">
            <a:extLst xmlns:a="http://schemas.openxmlformats.org/drawingml/2006/main">
              <a:ext uri="{FF2B5EF4-FFF2-40B4-BE49-F238E27FC236}">
                <a16:creationId xmlns:a16="http://schemas.microsoft.com/office/drawing/2014/main" id="{1A010171-C7CE-4A2D-8C97-45C5C11993C6}"/>
              </a:ext>
            </a:extLst>
          </p:cNvPr>
          <p:cNvSpPr>
            <a:spLocks xmlns:a="http://schemas.openxmlformats.org/drawingml/2006/main" noGrp="1"/>
          </p:cNvSpPr>
          <p:nvPr/>
        </p:nvSpPr>
        <p:spPr>
          <a:xfrm xmlns:a="http://schemas.openxmlformats.org/drawingml/2006/main">
            <a:off x="6724650" y="42481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27" name="">
            <a:extLst xmlns:a="http://schemas.openxmlformats.org/drawingml/2006/main">
              <a:ext uri="{FF2B5EF4-FFF2-40B4-BE49-F238E27FC236}">
                <a16:creationId xmlns:a16="http://schemas.microsoft.com/office/drawing/2014/main" id="{1A60AE9C-BEAB-4C05-88D1-576C77ADB8DB}"/>
              </a:ext>
            </a:extLst>
          </p:cNvPr>
          <p:cNvSpPr>
            <a:spLocks xmlns:a="http://schemas.openxmlformats.org/drawingml/2006/main" noGrp="1"/>
          </p:cNvSpPr>
          <p:nvPr/>
        </p:nvSpPr>
        <p:spPr>
          <a:xfrm xmlns:a="http://schemas.openxmlformats.org/drawingml/2006/main">
            <a:off x="6724650" y="36957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3F6B"/>
                </a:solidFill>
              </a:defRPr>
            </a:pPr>
            <a:r>
              <a:rPr sz="960" b="1">
                <a:solidFill>
                  <a:srgbClr val="003F6B"/>
                </a:solidFill>
              </a:rPr>
              <a:t>Landesrecht</a:t>
            </a:r>
          </a:p>
        </p:txBody>
      </p:sp>
      <p:sp>
        <p:nvSpPr>
          <p:cNvPr id="28" name="">
            <a:extLst xmlns:a="http://schemas.openxmlformats.org/drawingml/2006/main">
              <a:ext uri="{FF2B5EF4-FFF2-40B4-BE49-F238E27FC236}">
                <a16:creationId xmlns:a16="http://schemas.microsoft.com/office/drawing/2014/main" id="{71E70D96-B727-4E63-9392-8CB579503D2A}"/>
              </a:ext>
            </a:extLst>
          </p:cNvPr>
          <p:cNvSpPr>
            <a:spLocks xmlns:a="http://schemas.openxmlformats.org/drawingml/2006/main" noGrp="1"/>
          </p:cNvSpPr>
          <p:nvPr/>
        </p:nvSpPr>
        <p:spPr>
          <a:xfrm xmlns:a="http://schemas.openxmlformats.org/drawingml/2006/main">
            <a:off x="7867650" y="36957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HKG Niedersachsen und Berufsordnung der ÄKN.</a:t>
            </a:r>
          </a:p>
        </p:txBody>
      </p:sp>
      <p:sp>
        <p:nvSpPr>
          <p:cNvPr id="29" name="">
            <a:extLst xmlns:a="http://schemas.openxmlformats.org/drawingml/2006/main">
              <a:ext uri="{FF2B5EF4-FFF2-40B4-BE49-F238E27FC236}">
                <a16:creationId xmlns:a16="http://schemas.microsoft.com/office/drawing/2014/main" id="{3A845A08-514F-49C2-8DCC-DAB289D27658}"/>
              </a:ext>
            </a:extLst>
          </p:cNvPr>
          <p:cNvSpPr>
            <a:spLocks xmlns:a="http://schemas.openxmlformats.org/drawingml/2006/main" noGrp="1"/>
          </p:cNvSpPr>
          <p:nvPr/>
        </p:nvSpPr>
        <p:spPr>
          <a:xfrm xmlns:a="http://schemas.openxmlformats.org/drawingml/2006/main">
            <a:off x="6724650" y="48577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30" name="">
            <a:extLst xmlns:a="http://schemas.openxmlformats.org/drawingml/2006/main">
              <a:ext uri="{FF2B5EF4-FFF2-40B4-BE49-F238E27FC236}">
                <a16:creationId xmlns:a16="http://schemas.microsoft.com/office/drawing/2014/main" id="{1A3D4768-7154-4DBC-82ED-B29D82C393F1}"/>
              </a:ext>
            </a:extLst>
          </p:cNvPr>
          <p:cNvSpPr>
            <a:spLocks xmlns:a="http://schemas.openxmlformats.org/drawingml/2006/main" noGrp="1"/>
          </p:cNvSpPr>
          <p:nvPr/>
        </p:nvSpPr>
        <p:spPr>
          <a:xfrm xmlns:a="http://schemas.openxmlformats.org/drawingml/2006/main">
            <a:off x="6724650" y="43053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3F6B"/>
                </a:solidFill>
              </a:defRPr>
            </a:pPr>
            <a:r>
              <a:rPr sz="960" b="1">
                <a:solidFill>
                  <a:srgbClr val="003F6B"/>
                </a:solidFill>
              </a:rPr>
              <a:t>Amtlich</a:t>
            </a:r>
          </a:p>
        </p:txBody>
      </p:sp>
      <p:sp>
        <p:nvSpPr>
          <p:cNvPr id="31" name="">
            <a:extLst xmlns:a="http://schemas.openxmlformats.org/drawingml/2006/main">
              <a:ext uri="{FF2B5EF4-FFF2-40B4-BE49-F238E27FC236}">
                <a16:creationId xmlns:a16="http://schemas.microsoft.com/office/drawing/2014/main" id="{1C6B1117-3787-4675-81DC-8A52D8796490}"/>
              </a:ext>
            </a:extLst>
          </p:cNvPr>
          <p:cNvSpPr>
            <a:spLocks xmlns:a="http://schemas.openxmlformats.org/drawingml/2006/main" noGrp="1"/>
          </p:cNvSpPr>
          <p:nvPr/>
        </p:nvSpPr>
        <p:spPr>
          <a:xfrm xmlns:a="http://schemas.openxmlformats.org/drawingml/2006/main">
            <a:off x="7867650" y="43053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gesetze-im-internet.de/b_o/ und /vwgo/</a:t>
            </a:r>
          </a:p>
        </p:txBody>
      </p:sp>
      <p:sp>
        <p:nvSpPr>
          <p:cNvPr id="32" name="">
            <a:extLst xmlns:a="http://schemas.openxmlformats.org/drawingml/2006/main">
              <a:ext uri="{FF2B5EF4-FFF2-40B4-BE49-F238E27FC236}">
                <a16:creationId xmlns:a16="http://schemas.microsoft.com/office/drawing/2014/main" id="{6AAF6320-FF0A-46E7-89ED-52992A625EC0}"/>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20">
                <a:solidFill>
                  <a:srgbClr val="667680"/>
                </a:solidFill>
              </a:defRPr>
            </a:pPr>
            <a:r>
              <a:rPr sz="720">
                <a:solidFill>
                  <a:srgbClr val="667680"/>
                </a:solidFill>
              </a:rPr>
              <a:t>Alle Internetquellen Abruf/Stand: 20.08.2026. Gesetze: aktuelle Fassung jeweils vor Anwendung prüfen · https://www.rechtsprechung-im-internet.de</a:t>
            </a:r>
          </a:p>
        </p:txBody>
      </p:sp>
    </p:spTree>
    <p:extLst>
      <p:ext uri="{BB962C8B-B14F-4D97-AF65-F5344CB8AC3E}">
        <p14:creationId xmlns:p14="http://schemas.microsoft.com/office/powerpoint/2010/main" val="43637646"/>
      </p:ext>
    </p:extLst>
  </p:cSld>
</p:sld>
</file>

<file path=ppt/slides/slide291.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endParaRPr/>
          </a:p>
        </p:txBody>
      </p:sp>
      <p:sp>
        <p:nvSpPr>
          <p:cNvPr id="4" name="">
            <a:extLst xmlns:a="http://schemas.openxmlformats.org/drawingml/2006/main">
              <a:ext uri="{FF2B5EF4-FFF2-40B4-BE49-F238E27FC236}">
                <a16:creationId xmlns:a16="http://schemas.microsoft.com/office/drawing/2014/main" id="{D91FD861-ACFF-4EA5-AAE8-5A6D1C4E00F2}"/>
              </a:ext>
            </a:extLst>
          </p:cNvPr>
          <p:cNvSpPr>
            <a:spLocks xmlns:a="http://schemas.openxmlformats.org/drawingml/2006/main" noGrp="1"/>
          </p:cNvSpPr>
          <p:nvPr/>
        </p:nvSpPr>
        <p:spPr>
          <a:xfrm xmlns:a="http://schemas.openxmlformats.org/drawingml/2006/main">
            <a:off x="2571750" y="2038350"/>
            <a:ext cx="838200" cy="628650"/>
          </a:xfrm>
          <a:prstGeom xmlns:a="http://schemas.openxmlformats.org/drawingml/2006/main" prst="roundRect">
            <a:avLst>
              <a:gd name="adj" fmla="val 12121"/>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828220BA-0D7F-4C91-8252-34A2B1A22F59}"/>
              </a:ext>
            </a:extLst>
          </p:cNvPr>
          <p:cNvSpPr>
            <a:spLocks xmlns:a="http://schemas.openxmlformats.org/drawingml/2006/main" noGrp="1"/>
          </p:cNvSpPr>
          <p:nvPr/>
        </p:nvSpPr>
        <p:spPr>
          <a:xfrm xmlns:a="http://schemas.openxmlformats.org/drawingml/2006/main">
            <a:off x="2571750" y="2038350"/>
            <a:ext cx="8382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FFFFFF"/>
                </a:solidFill>
              </a:defRPr>
            </a:pPr>
            <a:r>
              <a:rPr sz="2100" b="1">
                <a:solidFill>
                  <a:srgbClr val="FFFFFF"/>
                </a:solidFill>
              </a:rPr>
              <a:t>10</a:t>
            </a:r>
          </a:p>
        </p:txBody>
      </p:sp>
      <p:sp>
        <p:nvSpPr>
          <p:cNvPr id="6" name="">
            <a:extLst xmlns:a="http://schemas.openxmlformats.org/drawingml/2006/main">
              <a:ext uri="{FF2B5EF4-FFF2-40B4-BE49-F238E27FC236}">
                <a16:creationId xmlns:a16="http://schemas.microsoft.com/office/drawing/2014/main" id="{5F400F87-E128-4AEA-AC2C-4541D5982DA6}"/>
              </a:ext>
            </a:extLst>
          </p:cNvPr>
          <p:cNvSpPr>
            <a:spLocks xmlns:a="http://schemas.openxmlformats.org/drawingml/2006/main" noGrp="1"/>
          </p:cNvSpPr>
          <p:nvPr/>
        </p:nvSpPr>
        <p:spPr>
          <a:xfrm xmlns:a="http://schemas.openxmlformats.org/drawingml/2006/main">
            <a:off x="3667125" y="2000250"/>
            <a:ext cx="8096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4400">
                <a:solidFill>
                  <a:srgbClr val="003F6B"/>
                </a:solidFill>
              </a:defRPr>
            </a:pPr>
            <a:r>
              <a:rPr sz="4400">
                <a:solidFill>
                  <a:srgbClr val="003F6B"/>
                </a:solidFill>
              </a:rPr>
              <a:t>Autonomie, Einwilligung, Notfall</a:t>
            </a:r>
          </a:p>
        </p:txBody>
      </p:sp>
      <p:sp>
        <p:nvSpPr>
          <p:cNvPr id="7" name="">
            <a:extLst xmlns:a="http://schemas.openxmlformats.org/drawingml/2006/main">
              <a:ext uri="{FF2B5EF4-FFF2-40B4-BE49-F238E27FC236}">
                <a16:creationId xmlns:a16="http://schemas.microsoft.com/office/drawing/2014/main" id="{5577A4D4-8ED2-486E-901E-471605592897}"/>
              </a:ext>
            </a:extLst>
          </p:cNvPr>
          <p:cNvSpPr>
            <a:spLocks xmlns:a="http://schemas.openxmlformats.org/drawingml/2006/main" noGrp="1"/>
          </p:cNvSpPr>
          <p:nvPr/>
        </p:nvSpPr>
        <p:spPr>
          <a:xfrm xmlns:a="http://schemas.openxmlformats.org/drawingml/2006/main">
            <a:off x="3238500" y="3333750"/>
            <a:ext cx="8524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400">
                <a:solidFill>
                  <a:srgbClr val="003F6B"/>
                </a:solidFill>
              </a:defRPr>
            </a:pPr>
            <a:r>
              <a:rPr sz="2400">
                <a:solidFill>
                  <a:srgbClr val="003F6B"/>
                </a:solidFill>
              </a:rPr>
              <a:t>Termin: 16.12.2026 · 16:30–17:45 · V03 0-C001</a:t>
            </a:r>
          </a:p>
        </p:txBody>
      </p:sp>
      <p:sp>
        <p:nvSpPr>
          <p:cNvPr id="8" name="">
            <a:extLst xmlns:a="http://schemas.openxmlformats.org/drawingml/2006/main">
              <a:ext uri="{FF2B5EF4-FFF2-40B4-BE49-F238E27FC236}">
                <a16:creationId xmlns:a16="http://schemas.microsoft.com/office/drawing/2014/main" id="{9927320C-0164-4BA3-8C6E-1B1087DDD91C}"/>
              </a:ext>
            </a:extLst>
          </p:cNvPr>
          <p:cNvSpPr>
            <a:spLocks xmlns:a="http://schemas.openxmlformats.org/drawingml/2006/main" noGrp="1"/>
          </p:cNvSpPr>
          <p:nvPr/>
        </p:nvSpPr>
        <p:spPr>
          <a:xfrm xmlns:a="http://schemas.openxmlformats.org/drawingml/2006/main">
            <a:off x="3238500" y="3752850"/>
            <a:ext cx="8524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400">
                <a:solidFill>
                  <a:srgbClr val="003F6B"/>
                </a:solidFill>
              </a:defRPr>
            </a:pPr>
            <a:r>
              <a:rPr sz="2400">
                <a:solidFill>
                  <a:srgbClr val="003F6B"/>
                </a:solidFill>
              </a:rPr>
              <a:t>Entscheiden, wenn Wille und Zeit unklar sind</a:t>
            </a:r>
          </a:p>
        </p:txBody>
      </p:sp>
      <p:sp>
        <p:nvSpPr>
          <p:cNvPr id="9" name="">
            <a:extLst xmlns:a="http://schemas.openxmlformats.org/drawingml/2006/main">
              <a:ext uri="{FF2B5EF4-FFF2-40B4-BE49-F238E27FC236}">
                <a16:creationId xmlns:a16="http://schemas.microsoft.com/office/drawing/2014/main" id="{8EFEEC86-9040-43A4-9436-E0AA5176FF00}"/>
              </a:ext>
            </a:extLst>
          </p:cNvPr>
          <p:cNvSpPr>
            <a:spLocks xmlns:a="http://schemas.openxmlformats.org/drawingml/2006/main" noGrp="1"/>
          </p:cNvSpPr>
          <p:nvPr/>
        </p:nvSpPr>
        <p:spPr>
          <a:xfrm xmlns:a="http://schemas.openxmlformats.org/drawingml/2006/main">
            <a:off x="3238500" y="4552950"/>
            <a:ext cx="8524875"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400">
                <a:solidFill>
                  <a:srgbClr val="003F6B"/>
                </a:solidFill>
              </a:defRPr>
            </a:pPr>
            <a:r>
              <a:rPr sz="2400">
                <a:solidFill>
                  <a:srgbClr val="003F6B"/>
                </a:solidFill>
              </a:rPr>
              <a:t>Im Zweifel für das Leben – aber nicht gegen einen wirksamen Patientenwillen.</a:t>
            </a:r>
          </a:p>
        </p:txBody>
      </p:sp>
    </p:spTree>
    <p:extLst>
      <p:ext uri="{BB962C8B-B14F-4D97-AF65-F5344CB8AC3E}">
        <p14:creationId xmlns:p14="http://schemas.microsoft.com/office/powerpoint/2010/main" val="43637646"/>
      </p:ext>
    </p:extLst>
  </p:cSld>
</p:sld>
</file>

<file path=ppt/slides/slide292.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Lernziele Termin 10: Autonomie, Einwilligung, Notfall</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CHECKLISTE · AM ENDE DES HEUTIGEN TERMINS KANN ICH …</a:t>
            </a:r>
            <a:endParaRPr/>
          </a:p>
        </p:txBody>
      </p:sp>
      <p:sp>
        <p:nvSpPr>
          <p:cNvPr id="4" name="">
            <a:extLst xmlns:a="http://schemas.openxmlformats.org/drawingml/2006/main">
              <a:ext uri="{FF2B5EF4-FFF2-40B4-BE49-F238E27FC236}">
                <a16:creationId xmlns:a16="http://schemas.microsoft.com/office/drawing/2014/main" id="{85FBBE39-0C03-4174-B28F-AE5163D2FFAD}"/>
              </a:ext>
            </a:extLst>
          </p:cNvPr>
          <p:cNvSpPr>
            <a:spLocks xmlns:a="http://schemas.openxmlformats.org/drawingml/2006/main" noGrp="1"/>
          </p:cNvSpPr>
          <p:nvPr/>
        </p:nvSpPr>
        <p:spPr>
          <a:xfrm xmlns:a="http://schemas.openxmlformats.org/drawingml/2006/main">
            <a:off x="1809750" y="198120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B2BB"/>
            </a:solidFill>
            <a:prstDash val="solid"/>
          </a:ln>
        </p:spPr>
      </p:sp>
      <p:sp>
        <p:nvSpPr>
          <p:cNvPr id="5" name="">
            <a:extLst xmlns:a="http://schemas.openxmlformats.org/drawingml/2006/main">
              <a:ext uri="{FF2B5EF4-FFF2-40B4-BE49-F238E27FC236}">
                <a16:creationId xmlns:a16="http://schemas.microsoft.com/office/drawing/2014/main" id="{F82A972B-E1FD-47B3-93E1-759C20145102}"/>
              </a:ext>
            </a:extLst>
          </p:cNvPr>
          <p:cNvSpPr>
            <a:spLocks xmlns:a="http://schemas.openxmlformats.org/drawingml/2006/main" noGrp="1"/>
          </p:cNvSpPr>
          <p:nvPr/>
        </p:nvSpPr>
        <p:spPr>
          <a:xfrm xmlns:a="http://schemas.openxmlformats.org/drawingml/2006/main">
            <a:off x="1943100" y="2124075"/>
            <a:ext cx="40005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ADC32FBE-7F39-4984-8BFE-DE5F371DDA75}"/>
              </a:ext>
            </a:extLst>
          </p:cNvPr>
          <p:cNvSpPr>
            <a:spLocks xmlns:a="http://schemas.openxmlformats.org/drawingml/2006/main" noGrp="1"/>
          </p:cNvSpPr>
          <p:nvPr/>
        </p:nvSpPr>
        <p:spPr>
          <a:xfrm xmlns:a="http://schemas.openxmlformats.org/drawingml/2006/main">
            <a:off x="1943100" y="21050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7" name="">
            <a:extLst xmlns:a="http://schemas.openxmlformats.org/drawingml/2006/main">
              <a:ext uri="{FF2B5EF4-FFF2-40B4-BE49-F238E27FC236}">
                <a16:creationId xmlns:a16="http://schemas.microsoft.com/office/drawing/2014/main" id="{00795E5E-1E88-4C3E-BD35-AF7578B93DF6}"/>
              </a:ext>
            </a:extLst>
          </p:cNvPr>
          <p:cNvSpPr>
            <a:spLocks xmlns:a="http://schemas.openxmlformats.org/drawingml/2006/main" noGrp="1"/>
          </p:cNvSpPr>
          <p:nvPr/>
        </p:nvSpPr>
        <p:spPr>
          <a:xfrm xmlns:a="http://schemas.openxmlformats.org/drawingml/2006/main">
            <a:off x="2476500" y="207645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Einwilligungsfähigkeit fallbezogen beurteilen.</a:t>
            </a:r>
          </a:p>
        </p:txBody>
      </p:sp>
      <p:sp>
        <p:nvSpPr>
          <p:cNvPr id="8" name="">
            <a:extLst xmlns:a="http://schemas.openxmlformats.org/drawingml/2006/main">
              <a:ext uri="{FF2B5EF4-FFF2-40B4-BE49-F238E27FC236}">
                <a16:creationId xmlns:a16="http://schemas.microsoft.com/office/drawing/2014/main" id="{44B65C42-24EA-411C-968B-8E194D260521}"/>
              </a:ext>
            </a:extLst>
          </p:cNvPr>
          <p:cNvSpPr>
            <a:spLocks xmlns:a="http://schemas.openxmlformats.org/drawingml/2006/main" noGrp="1"/>
          </p:cNvSpPr>
          <p:nvPr/>
        </p:nvSpPr>
        <p:spPr>
          <a:xfrm xmlns:a="http://schemas.openxmlformats.org/drawingml/2006/main">
            <a:off x="6696075" y="198120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3F6B"/>
            </a:solidFill>
            <a:prstDash val="solid"/>
          </a:ln>
        </p:spPr>
      </p:sp>
      <p:sp>
        <p:nvSpPr>
          <p:cNvPr id="9" name="">
            <a:extLst xmlns:a="http://schemas.openxmlformats.org/drawingml/2006/main">
              <a:ext uri="{FF2B5EF4-FFF2-40B4-BE49-F238E27FC236}">
                <a16:creationId xmlns:a16="http://schemas.microsoft.com/office/drawing/2014/main" id="{225BF5FA-F01C-4712-AE67-DB14B7CB88CE}"/>
              </a:ext>
            </a:extLst>
          </p:cNvPr>
          <p:cNvSpPr>
            <a:spLocks xmlns:a="http://schemas.openxmlformats.org/drawingml/2006/main" noGrp="1"/>
          </p:cNvSpPr>
          <p:nvPr/>
        </p:nvSpPr>
        <p:spPr>
          <a:xfrm xmlns:a="http://schemas.openxmlformats.org/drawingml/2006/main">
            <a:off x="6829425" y="2124075"/>
            <a:ext cx="4000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5487F671-9AD5-4F5D-96D1-43A6EB6A89DB}"/>
              </a:ext>
            </a:extLst>
          </p:cNvPr>
          <p:cNvSpPr>
            <a:spLocks xmlns:a="http://schemas.openxmlformats.org/drawingml/2006/main" noGrp="1"/>
          </p:cNvSpPr>
          <p:nvPr/>
        </p:nvSpPr>
        <p:spPr>
          <a:xfrm xmlns:a="http://schemas.openxmlformats.org/drawingml/2006/main">
            <a:off x="6829425" y="21050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11" name="">
            <a:extLst xmlns:a="http://schemas.openxmlformats.org/drawingml/2006/main">
              <a:ext uri="{FF2B5EF4-FFF2-40B4-BE49-F238E27FC236}">
                <a16:creationId xmlns:a16="http://schemas.microsoft.com/office/drawing/2014/main" id="{FC387A82-2CD8-4A25-B9AC-70CED771A455}"/>
              </a:ext>
            </a:extLst>
          </p:cNvPr>
          <p:cNvSpPr>
            <a:spLocks xmlns:a="http://schemas.openxmlformats.org/drawingml/2006/main" noGrp="1"/>
          </p:cNvSpPr>
          <p:nvPr/>
        </p:nvSpPr>
        <p:spPr>
          <a:xfrm xmlns:a="http://schemas.openxmlformats.org/drawingml/2006/main">
            <a:off x="7362825" y="207645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Aufklärung, Einwilligung und mutmaßlichen Willen auseinanderhalten.</a:t>
            </a:r>
          </a:p>
        </p:txBody>
      </p:sp>
      <p:sp>
        <p:nvSpPr>
          <p:cNvPr id="12" name="">
            <a:extLst xmlns:a="http://schemas.openxmlformats.org/drawingml/2006/main">
              <a:ext uri="{FF2B5EF4-FFF2-40B4-BE49-F238E27FC236}">
                <a16:creationId xmlns:a16="http://schemas.microsoft.com/office/drawing/2014/main" id="{D9D4601C-F80F-4AD9-87B0-035B88884C01}"/>
              </a:ext>
            </a:extLst>
          </p:cNvPr>
          <p:cNvSpPr>
            <a:spLocks xmlns:a="http://schemas.openxmlformats.org/drawingml/2006/main" noGrp="1"/>
          </p:cNvSpPr>
          <p:nvPr/>
        </p:nvSpPr>
        <p:spPr>
          <a:xfrm xmlns:a="http://schemas.openxmlformats.org/drawingml/2006/main">
            <a:off x="1809750" y="316865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B2BB"/>
            </a:solidFill>
            <a:prstDash val="solid"/>
          </a:ln>
        </p:spPr>
      </p:sp>
      <p:sp>
        <p:nvSpPr>
          <p:cNvPr id="13" name="">
            <a:extLst xmlns:a="http://schemas.openxmlformats.org/drawingml/2006/main">
              <a:ext uri="{FF2B5EF4-FFF2-40B4-BE49-F238E27FC236}">
                <a16:creationId xmlns:a16="http://schemas.microsoft.com/office/drawing/2014/main" id="{7F9AF5BF-EB48-4407-B1C9-DCF795685018}"/>
              </a:ext>
            </a:extLst>
          </p:cNvPr>
          <p:cNvSpPr>
            <a:spLocks xmlns:a="http://schemas.openxmlformats.org/drawingml/2006/main" noGrp="1"/>
          </p:cNvSpPr>
          <p:nvPr/>
        </p:nvSpPr>
        <p:spPr>
          <a:xfrm xmlns:a="http://schemas.openxmlformats.org/drawingml/2006/main">
            <a:off x="1943100" y="3311525"/>
            <a:ext cx="40005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A3ED967A-F28C-4BB0-9633-310B81018022}"/>
              </a:ext>
            </a:extLst>
          </p:cNvPr>
          <p:cNvSpPr>
            <a:spLocks xmlns:a="http://schemas.openxmlformats.org/drawingml/2006/main" noGrp="1"/>
          </p:cNvSpPr>
          <p:nvPr/>
        </p:nvSpPr>
        <p:spPr>
          <a:xfrm xmlns:a="http://schemas.openxmlformats.org/drawingml/2006/main">
            <a:off x="1943100" y="32924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15" name="">
            <a:extLst xmlns:a="http://schemas.openxmlformats.org/drawingml/2006/main">
              <a:ext uri="{FF2B5EF4-FFF2-40B4-BE49-F238E27FC236}">
                <a16:creationId xmlns:a16="http://schemas.microsoft.com/office/drawing/2014/main" id="{8A33D29F-1004-4B09-A931-84553ACCFA21}"/>
              </a:ext>
            </a:extLst>
          </p:cNvPr>
          <p:cNvSpPr>
            <a:spLocks xmlns:a="http://schemas.openxmlformats.org/drawingml/2006/main" noGrp="1"/>
          </p:cNvSpPr>
          <p:nvPr/>
        </p:nvSpPr>
        <p:spPr>
          <a:xfrm xmlns:a="http://schemas.openxmlformats.org/drawingml/2006/main">
            <a:off x="2476500" y="326390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Patientenverfügung, Bevollmächtigte und Ehegattennotvertretung prüfen.</a:t>
            </a:r>
          </a:p>
        </p:txBody>
      </p:sp>
      <p:sp>
        <p:nvSpPr>
          <p:cNvPr id="16" name="">
            <a:extLst xmlns:a="http://schemas.openxmlformats.org/drawingml/2006/main">
              <a:ext uri="{FF2B5EF4-FFF2-40B4-BE49-F238E27FC236}">
                <a16:creationId xmlns:a16="http://schemas.microsoft.com/office/drawing/2014/main" id="{CE7E8BF6-3791-4540-B419-EDF7D128B454}"/>
              </a:ext>
            </a:extLst>
          </p:cNvPr>
          <p:cNvSpPr>
            <a:spLocks xmlns:a="http://schemas.openxmlformats.org/drawingml/2006/main" noGrp="1"/>
          </p:cNvSpPr>
          <p:nvPr/>
        </p:nvSpPr>
        <p:spPr>
          <a:xfrm xmlns:a="http://schemas.openxmlformats.org/drawingml/2006/main">
            <a:off x="6696075" y="316865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3F6B"/>
            </a:solidFill>
            <a:prstDash val="solid"/>
          </a:ln>
        </p:spPr>
      </p:sp>
      <p:sp>
        <p:nvSpPr>
          <p:cNvPr id="17" name="">
            <a:extLst xmlns:a="http://schemas.openxmlformats.org/drawingml/2006/main">
              <a:ext uri="{FF2B5EF4-FFF2-40B4-BE49-F238E27FC236}">
                <a16:creationId xmlns:a16="http://schemas.microsoft.com/office/drawing/2014/main" id="{CC43BCFE-284F-431D-A7FA-3FE1F94714BE}"/>
              </a:ext>
            </a:extLst>
          </p:cNvPr>
          <p:cNvSpPr>
            <a:spLocks xmlns:a="http://schemas.openxmlformats.org/drawingml/2006/main" noGrp="1"/>
          </p:cNvSpPr>
          <p:nvPr/>
        </p:nvSpPr>
        <p:spPr>
          <a:xfrm xmlns:a="http://schemas.openxmlformats.org/drawingml/2006/main">
            <a:off x="6829425" y="3311525"/>
            <a:ext cx="4000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1F061C01-DF90-4B35-9EBB-93DA525E623D}"/>
              </a:ext>
            </a:extLst>
          </p:cNvPr>
          <p:cNvSpPr>
            <a:spLocks xmlns:a="http://schemas.openxmlformats.org/drawingml/2006/main" noGrp="1"/>
          </p:cNvSpPr>
          <p:nvPr/>
        </p:nvSpPr>
        <p:spPr>
          <a:xfrm xmlns:a="http://schemas.openxmlformats.org/drawingml/2006/main">
            <a:off x="6829425" y="32924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19" name="">
            <a:extLst xmlns:a="http://schemas.openxmlformats.org/drawingml/2006/main">
              <a:ext uri="{FF2B5EF4-FFF2-40B4-BE49-F238E27FC236}">
                <a16:creationId xmlns:a16="http://schemas.microsoft.com/office/drawing/2014/main" id="{2CE26B06-710F-4B9E-8ED7-26A3D9EF60CA}"/>
              </a:ext>
            </a:extLst>
          </p:cNvPr>
          <p:cNvSpPr>
            <a:spLocks xmlns:a="http://schemas.openxmlformats.org/drawingml/2006/main" noGrp="1"/>
          </p:cNvSpPr>
          <p:nvPr/>
        </p:nvSpPr>
        <p:spPr>
          <a:xfrm xmlns:a="http://schemas.openxmlformats.org/drawingml/2006/main">
            <a:off x="7362825" y="326390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Behandlungsbegrenzung rechtssicher mit dem Patientenwillen verknüpfen.</a:t>
            </a:r>
          </a:p>
        </p:txBody>
      </p:sp>
      <p:sp>
        <p:nvSpPr>
          <p:cNvPr id="20" name="">
            <a:extLst xmlns:a="http://schemas.openxmlformats.org/drawingml/2006/main">
              <a:ext uri="{FF2B5EF4-FFF2-40B4-BE49-F238E27FC236}">
                <a16:creationId xmlns:a16="http://schemas.microsoft.com/office/drawing/2014/main" id="{6F2829BF-CE89-424C-AF6D-8098FC0598DB}"/>
              </a:ext>
            </a:extLst>
          </p:cNvPr>
          <p:cNvSpPr>
            <a:spLocks xmlns:a="http://schemas.openxmlformats.org/drawingml/2006/main" noGrp="1"/>
          </p:cNvSpPr>
          <p:nvPr/>
        </p:nvSpPr>
        <p:spPr>
          <a:xfrm xmlns:a="http://schemas.openxmlformats.org/drawingml/2006/main">
            <a:off x="1809750" y="435610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B2BB"/>
            </a:solidFill>
            <a:prstDash val="solid"/>
          </a:ln>
        </p:spPr>
      </p:sp>
      <p:sp>
        <p:nvSpPr>
          <p:cNvPr id="21" name="">
            <a:extLst xmlns:a="http://schemas.openxmlformats.org/drawingml/2006/main">
              <a:ext uri="{FF2B5EF4-FFF2-40B4-BE49-F238E27FC236}">
                <a16:creationId xmlns:a16="http://schemas.microsoft.com/office/drawing/2014/main" id="{5B3BAE67-B030-44CE-B3AA-2F6E752DC698}"/>
              </a:ext>
            </a:extLst>
          </p:cNvPr>
          <p:cNvSpPr>
            <a:spLocks xmlns:a="http://schemas.openxmlformats.org/drawingml/2006/main" noGrp="1"/>
          </p:cNvSpPr>
          <p:nvPr/>
        </p:nvSpPr>
        <p:spPr>
          <a:xfrm xmlns:a="http://schemas.openxmlformats.org/drawingml/2006/main">
            <a:off x="1943100" y="4498975"/>
            <a:ext cx="40005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2" name="">
            <a:extLst xmlns:a="http://schemas.openxmlformats.org/drawingml/2006/main">
              <a:ext uri="{FF2B5EF4-FFF2-40B4-BE49-F238E27FC236}">
                <a16:creationId xmlns:a16="http://schemas.microsoft.com/office/drawing/2014/main" id="{8AB616B2-972C-4A72-9332-D95C4C18F77F}"/>
              </a:ext>
            </a:extLst>
          </p:cNvPr>
          <p:cNvSpPr>
            <a:spLocks xmlns:a="http://schemas.openxmlformats.org/drawingml/2006/main" noGrp="1"/>
          </p:cNvSpPr>
          <p:nvPr/>
        </p:nvSpPr>
        <p:spPr>
          <a:xfrm xmlns:a="http://schemas.openxmlformats.org/drawingml/2006/main">
            <a:off x="1943100" y="44799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23" name="">
            <a:extLst xmlns:a="http://schemas.openxmlformats.org/drawingml/2006/main">
              <a:ext uri="{FF2B5EF4-FFF2-40B4-BE49-F238E27FC236}">
                <a16:creationId xmlns:a16="http://schemas.microsoft.com/office/drawing/2014/main" id="{FD81D62E-0134-4BF7-9F2D-992A33910C3A}"/>
              </a:ext>
            </a:extLst>
          </p:cNvPr>
          <p:cNvSpPr>
            <a:spLocks xmlns:a="http://schemas.openxmlformats.org/drawingml/2006/main" noGrp="1"/>
          </p:cNvSpPr>
          <p:nvPr/>
        </p:nvSpPr>
        <p:spPr>
          <a:xfrm xmlns:a="http://schemas.openxmlformats.org/drawingml/2006/main">
            <a:off x="2476500" y="445135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Zwangsbehandlung als grundrechtsintensiven Ausnahmefall erkennen.</a:t>
            </a:r>
          </a:p>
        </p:txBody>
      </p:sp>
      <p:sp>
        <p:nvSpPr>
          <p:cNvPr id="24" name="">
            <a:extLst xmlns:a="http://schemas.openxmlformats.org/drawingml/2006/main">
              <a:ext uri="{FF2B5EF4-FFF2-40B4-BE49-F238E27FC236}">
                <a16:creationId xmlns:a16="http://schemas.microsoft.com/office/drawing/2014/main" id="{11F4DAC7-3FB4-4BAC-A702-8BCD4F2C85BF}"/>
              </a:ext>
            </a:extLst>
          </p:cNvPr>
          <p:cNvSpPr>
            <a:spLocks xmlns:a="http://schemas.openxmlformats.org/drawingml/2006/main" noGrp="1"/>
          </p:cNvSpPr>
          <p:nvPr/>
        </p:nvSpPr>
        <p:spPr>
          <a:xfrm xmlns:a="http://schemas.openxmlformats.org/drawingml/2006/main">
            <a:off x="6696075" y="435610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3F6B"/>
            </a:solidFill>
            <a:prstDash val="solid"/>
          </a:ln>
        </p:spPr>
      </p:sp>
      <p:sp>
        <p:nvSpPr>
          <p:cNvPr id="25" name="">
            <a:extLst xmlns:a="http://schemas.openxmlformats.org/drawingml/2006/main">
              <a:ext uri="{FF2B5EF4-FFF2-40B4-BE49-F238E27FC236}">
                <a16:creationId xmlns:a16="http://schemas.microsoft.com/office/drawing/2014/main" id="{2F3A8D4F-7ECB-4EBA-8359-565127FB776F}"/>
              </a:ext>
            </a:extLst>
          </p:cNvPr>
          <p:cNvSpPr>
            <a:spLocks xmlns:a="http://schemas.openxmlformats.org/drawingml/2006/main" noGrp="1"/>
          </p:cNvSpPr>
          <p:nvPr/>
        </p:nvSpPr>
        <p:spPr>
          <a:xfrm xmlns:a="http://schemas.openxmlformats.org/drawingml/2006/main">
            <a:off x="6829425" y="4498975"/>
            <a:ext cx="4000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26" name="">
            <a:extLst xmlns:a="http://schemas.openxmlformats.org/drawingml/2006/main">
              <a:ext uri="{FF2B5EF4-FFF2-40B4-BE49-F238E27FC236}">
                <a16:creationId xmlns:a16="http://schemas.microsoft.com/office/drawing/2014/main" id="{F69EEE42-83A1-49E8-B6D3-E8A3AFF3D49E}"/>
              </a:ext>
            </a:extLst>
          </p:cNvPr>
          <p:cNvSpPr>
            <a:spLocks xmlns:a="http://schemas.openxmlformats.org/drawingml/2006/main" noGrp="1"/>
          </p:cNvSpPr>
          <p:nvPr/>
        </p:nvSpPr>
        <p:spPr>
          <a:xfrm xmlns:a="http://schemas.openxmlformats.org/drawingml/2006/main">
            <a:off x="6829425" y="44799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27" name="">
            <a:extLst xmlns:a="http://schemas.openxmlformats.org/drawingml/2006/main">
              <a:ext uri="{FF2B5EF4-FFF2-40B4-BE49-F238E27FC236}">
                <a16:creationId xmlns:a16="http://schemas.microsoft.com/office/drawing/2014/main" id="{83F5B76D-C2B5-460D-B3BD-BF8264BACEA0}"/>
              </a:ext>
            </a:extLst>
          </p:cNvPr>
          <p:cNvSpPr>
            <a:spLocks xmlns:a="http://schemas.openxmlformats.org/drawingml/2006/main" noGrp="1"/>
          </p:cNvSpPr>
          <p:nvPr/>
        </p:nvSpPr>
        <p:spPr>
          <a:xfrm xmlns:a="http://schemas.openxmlformats.org/drawingml/2006/main">
            <a:off x="7362825" y="445135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Notfallentscheidungen dokumentieren und später kommunizieren.</a:t>
            </a:r>
          </a:p>
        </p:txBody>
      </p:sp>
      <p:sp>
        <p:nvSpPr>
          <p:cNvPr id="28" name="">
            <a:extLst xmlns:a="http://schemas.openxmlformats.org/drawingml/2006/main">
              <a:ext uri="{FF2B5EF4-FFF2-40B4-BE49-F238E27FC236}">
                <a16:creationId xmlns:a16="http://schemas.microsoft.com/office/drawing/2014/main" id="{7D1CF16A-59A7-4E44-921E-8AEF5EF2097B}"/>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638">
                <a:solidFill>
                  <a:srgbClr val="667680"/>
                </a:solidFill>
              </a:defRPr>
            </a:pPr>
            <a:r>
              <a:rPr sz="638">
                <a:solidFill>
                  <a:srgbClr val="667680"/>
                </a:solidFill>
              </a:rPr>
              <a:t>Lernziele aus Seminarbeschreibung und Vorlesungsstruktur abgeleitet · https://elearning.uni-oldenburg.de/dispatch.php/course/details/index/64fffee6d869d134c6683909368deed9?cancel_login=1</a:t>
            </a:r>
          </a:p>
        </p:txBody>
      </p:sp>
    </p:spTree>
    <p:extLst>
      <p:ext uri="{BB962C8B-B14F-4D97-AF65-F5344CB8AC3E}">
        <p14:creationId xmlns:p14="http://schemas.microsoft.com/office/powerpoint/2010/main" val="43637646"/>
      </p:ext>
    </p:extLst>
  </p:cSld>
</p:sld>
</file>

<file path=ppt/slides/slide293.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Leitentscheidung · Zwangsbehandlung als Ultima Ratio</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ORIGINALENTSCHEIDUNG · TERMIN 10</a:t>
            </a:r>
            <a:endParaRPr/>
          </a:p>
        </p:txBody>
      </p:sp>
      <p:sp>
        <p:nvSpPr>
          <p:cNvPr id="4" name="">
            <a:extLst xmlns:a="http://schemas.openxmlformats.org/drawingml/2006/main">
              <a:ext uri="{FF2B5EF4-FFF2-40B4-BE49-F238E27FC236}">
                <a16:creationId xmlns:a16="http://schemas.microsoft.com/office/drawing/2014/main" id="{68838A3D-780F-44B1-967C-3CF090CEFB81}"/>
              </a:ext>
            </a:extLst>
          </p:cNvPr>
          <p:cNvSpPr>
            <a:spLocks xmlns:a="http://schemas.openxmlformats.org/drawingml/2006/main" noGrp="1"/>
          </p:cNvSpPr>
          <p:nvPr/>
        </p:nvSpPr>
        <p:spPr>
          <a:xfrm xmlns:a="http://schemas.openxmlformats.org/drawingml/2006/main">
            <a:off x="1809750" y="1943100"/>
            <a:ext cx="11239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BBF26EAA-181B-4747-8A42-7E5B01A0B582}"/>
              </a:ext>
            </a:extLst>
          </p:cNvPr>
          <p:cNvSpPr>
            <a:spLocks xmlns:a="http://schemas.openxmlformats.org/drawingml/2006/main" noGrp="1"/>
          </p:cNvSpPr>
          <p:nvPr/>
        </p:nvSpPr>
        <p:spPr>
          <a:xfrm xmlns:a="http://schemas.openxmlformats.org/drawingml/2006/main">
            <a:off x="1809750" y="1943100"/>
            <a:ext cx="1123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38" b="1">
                <a:solidFill>
                  <a:srgbClr val="FFFFFF"/>
                </a:solidFill>
              </a:defRPr>
            </a:pPr>
            <a:r>
              <a:rPr sz="938" b="1">
                <a:solidFill>
                  <a:srgbClr val="FFFFFF"/>
                </a:solidFill>
              </a:rPr>
              <a:t>BVerfG</a:t>
            </a:r>
          </a:p>
        </p:txBody>
      </p:sp>
      <p:sp>
        <p:nvSpPr>
          <p:cNvPr id="6" name="">
            <a:extLst xmlns:a="http://schemas.openxmlformats.org/drawingml/2006/main">
              <a:ext uri="{FF2B5EF4-FFF2-40B4-BE49-F238E27FC236}">
                <a16:creationId xmlns:a16="http://schemas.microsoft.com/office/drawing/2014/main" id="{5CC9964F-003D-4835-901F-5BED939408AE}"/>
              </a:ext>
            </a:extLst>
          </p:cNvPr>
          <p:cNvSpPr>
            <a:spLocks xmlns:a="http://schemas.openxmlformats.org/drawingml/2006/main" noGrp="1"/>
          </p:cNvSpPr>
          <p:nvPr/>
        </p:nvSpPr>
        <p:spPr>
          <a:xfrm xmlns:a="http://schemas.openxmlformats.org/drawingml/2006/main">
            <a:off x="312420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23.03.2011 · 2 BvR 882/09</a:t>
            </a:r>
          </a:p>
        </p:txBody>
      </p:sp>
      <p:sp>
        <p:nvSpPr>
          <p:cNvPr id="7" name="">
            <a:extLst xmlns:a="http://schemas.openxmlformats.org/drawingml/2006/main">
              <a:ext uri="{FF2B5EF4-FFF2-40B4-BE49-F238E27FC236}">
                <a16:creationId xmlns:a16="http://schemas.microsoft.com/office/drawing/2014/main" id="{79AF8293-79F8-4A8B-9909-FF276EEA0273}"/>
              </a:ext>
            </a:extLst>
          </p:cNvPr>
          <p:cNvSpPr>
            <a:spLocks xmlns:a="http://schemas.openxmlformats.org/drawingml/2006/main" noGrp="1"/>
          </p:cNvSpPr>
          <p:nvPr/>
        </p:nvSpPr>
        <p:spPr>
          <a:xfrm xmlns:a="http://schemas.openxmlformats.org/drawingml/2006/main">
            <a:off x="733425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050">
                <a:solidFill>
                  <a:srgbClr val="667680"/>
                </a:solidFill>
              </a:defRPr>
            </a:pPr>
            <a:r>
              <a:rPr sz="1050">
                <a:solidFill>
                  <a:srgbClr val="667680"/>
                </a:solidFill>
              </a:rPr>
              <a:t>Grundrechtsschutz braucht materielle und prozedurale Sicherungen</a:t>
            </a:r>
          </a:p>
        </p:txBody>
      </p:sp>
      <p:sp>
        <p:nvSpPr>
          <p:cNvPr id="8" name="">
            <a:extLst xmlns:a="http://schemas.openxmlformats.org/drawingml/2006/main">
              <a:ext uri="{FF2B5EF4-FFF2-40B4-BE49-F238E27FC236}">
                <a16:creationId xmlns:a16="http://schemas.microsoft.com/office/drawing/2014/main" id="{1A3B5D07-1C89-42CB-87B7-EECFDBA93029}"/>
              </a:ext>
            </a:extLst>
          </p:cNvPr>
          <p:cNvSpPr>
            <a:spLocks xmlns:a="http://schemas.openxmlformats.org/drawingml/2006/main" noGrp="1"/>
          </p:cNvSpPr>
          <p:nvPr/>
        </p:nvSpPr>
        <p:spPr>
          <a:xfrm xmlns:a="http://schemas.openxmlformats.org/drawingml/2006/main">
            <a:off x="1809750" y="2533650"/>
            <a:ext cx="1676400" cy="781050"/>
          </a:xfrm>
          <a:prstGeom xmlns:a="http://schemas.openxmlformats.org/drawingml/2006/main" prst="roundRect">
            <a:avLst>
              <a:gd name="adj" fmla="val 9756"/>
            </a:avLst>
          </a:prstGeom>
          <a:solidFill xmlns:a="http://schemas.openxmlformats.org/drawingml/2006/main">
            <a:srgbClr val="00B2BB"/>
          </a:solidFill>
          <a:ln xmlns:a="http://schemas.openxmlformats.org/drawingml/2006/main" w="0">
            <a:solidFill>
              <a:srgbClr val="00B2BB"/>
            </a:solidFill>
            <a:prstDash val="solid"/>
          </a:ln>
        </p:spPr>
      </p:sp>
      <p:sp>
        <p:nvSpPr>
          <p:cNvPr id="9" name="">
            <a:extLst xmlns:a="http://schemas.openxmlformats.org/drawingml/2006/main">
              <a:ext uri="{FF2B5EF4-FFF2-40B4-BE49-F238E27FC236}">
                <a16:creationId xmlns:a16="http://schemas.microsoft.com/office/drawing/2014/main" id="{9670B68E-A613-411B-ABDA-82C38CECED37}"/>
              </a:ext>
            </a:extLst>
          </p:cNvPr>
          <p:cNvSpPr>
            <a:spLocks xmlns:a="http://schemas.openxmlformats.org/drawingml/2006/main" noGrp="1"/>
          </p:cNvSpPr>
          <p:nvPr/>
        </p:nvSpPr>
        <p:spPr>
          <a:xfrm xmlns:a="http://schemas.openxmlformats.org/drawingml/2006/main">
            <a:off x="1924050" y="25336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Ausgangsfall</a:t>
            </a:r>
          </a:p>
        </p:txBody>
      </p:sp>
      <p:sp>
        <p:nvSpPr>
          <p:cNvPr id="10" name="">
            <a:extLst xmlns:a="http://schemas.openxmlformats.org/drawingml/2006/main">
              <a:ext uri="{FF2B5EF4-FFF2-40B4-BE49-F238E27FC236}">
                <a16:creationId xmlns:a16="http://schemas.microsoft.com/office/drawing/2014/main" id="{92B467B4-D036-4E55-B870-26C810E29280}"/>
              </a:ext>
            </a:extLst>
          </p:cNvPr>
          <p:cNvSpPr>
            <a:spLocks xmlns:a="http://schemas.openxmlformats.org/drawingml/2006/main" noGrp="1"/>
          </p:cNvSpPr>
          <p:nvPr/>
        </p:nvSpPr>
        <p:spPr>
          <a:xfrm xmlns:a="http://schemas.openxmlformats.org/drawingml/2006/main">
            <a:off x="3695700" y="25336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Ein untergebrachter Betroffener sollte gegen seinen natürlichen Willen medikamentös behandelt werden. Das BVerfG prüfte Rechtsgrundlage, Verhältnismäßigkeit und Rechtsschutz.</a:t>
            </a:r>
          </a:p>
        </p:txBody>
      </p:sp>
      <p:sp>
        <p:nvSpPr>
          <p:cNvPr id="11" name="">
            <a:extLst xmlns:a="http://schemas.openxmlformats.org/drawingml/2006/main">
              <a:ext uri="{FF2B5EF4-FFF2-40B4-BE49-F238E27FC236}">
                <a16:creationId xmlns:a16="http://schemas.microsoft.com/office/drawing/2014/main" id="{7831727D-B0C0-4E7F-A86F-D99AAD9B0342}"/>
              </a:ext>
            </a:extLst>
          </p:cNvPr>
          <p:cNvSpPr>
            <a:spLocks xmlns:a="http://schemas.openxmlformats.org/drawingml/2006/main" noGrp="1"/>
          </p:cNvSpPr>
          <p:nvPr/>
        </p:nvSpPr>
        <p:spPr>
          <a:xfrm xmlns:a="http://schemas.openxmlformats.org/drawingml/2006/main">
            <a:off x="1809750" y="3486150"/>
            <a:ext cx="1676400" cy="781050"/>
          </a:xfrm>
          <a:prstGeom xmlns:a="http://schemas.openxmlformats.org/drawingml/2006/main" prst="roundRect">
            <a:avLst>
              <a:gd name="adj" fmla="val 9756"/>
            </a:avLst>
          </a:prstGeom>
          <a:solidFill xmlns:a="http://schemas.openxmlformats.org/drawingml/2006/main">
            <a:srgbClr val="003F6B"/>
          </a:solidFill>
          <a:ln xmlns:a="http://schemas.openxmlformats.org/drawingml/2006/main" w="0">
            <a:solidFill>
              <a:srgbClr val="003F6B"/>
            </a:solidFill>
            <a:prstDash val="solid"/>
          </a:ln>
        </p:spPr>
      </p:sp>
      <p:sp>
        <p:nvSpPr>
          <p:cNvPr id="12" name="">
            <a:extLst xmlns:a="http://schemas.openxmlformats.org/drawingml/2006/main">
              <a:ext uri="{FF2B5EF4-FFF2-40B4-BE49-F238E27FC236}">
                <a16:creationId xmlns:a16="http://schemas.microsoft.com/office/drawing/2014/main" id="{54E42D94-110D-4D93-B759-3C9DD4852F30}"/>
              </a:ext>
            </a:extLst>
          </p:cNvPr>
          <p:cNvSpPr>
            <a:spLocks xmlns:a="http://schemas.openxmlformats.org/drawingml/2006/main" noGrp="1"/>
          </p:cNvSpPr>
          <p:nvPr/>
        </p:nvSpPr>
        <p:spPr>
          <a:xfrm xmlns:a="http://schemas.openxmlformats.org/drawingml/2006/main">
            <a:off x="1924050" y="34861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Leitsatzkern</a:t>
            </a:r>
          </a:p>
        </p:txBody>
      </p:sp>
      <p:sp>
        <p:nvSpPr>
          <p:cNvPr id="13" name="">
            <a:extLst xmlns:a="http://schemas.openxmlformats.org/drawingml/2006/main">
              <a:ext uri="{FF2B5EF4-FFF2-40B4-BE49-F238E27FC236}">
                <a16:creationId xmlns:a16="http://schemas.microsoft.com/office/drawing/2014/main" id="{0074C6E2-3000-4149-AC41-38135CA3CDBB}"/>
              </a:ext>
            </a:extLst>
          </p:cNvPr>
          <p:cNvSpPr>
            <a:spLocks xmlns:a="http://schemas.openxmlformats.org/drawingml/2006/main" noGrp="1"/>
          </p:cNvSpPr>
          <p:nvPr/>
        </p:nvSpPr>
        <p:spPr>
          <a:xfrm xmlns:a="http://schemas.openxmlformats.org/drawingml/2006/main">
            <a:off x="3695700" y="34861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Leitsatzkern (paraphrasiert): Zwangsbehandlung verlangt fehlende Einsichtsfähigkeit, ernsthaften Überzeugungsversuch, letztes Mittel, strenge Nutzen-Risiko-Abwägung, bestimmte Rechtsgrundlage und wirksamen Rechtsschutz.</a:t>
            </a:r>
          </a:p>
        </p:txBody>
      </p:sp>
      <p:sp>
        <p:nvSpPr>
          <p:cNvPr id="14" name="">
            <a:extLst xmlns:a="http://schemas.openxmlformats.org/drawingml/2006/main">
              <a:ext uri="{FF2B5EF4-FFF2-40B4-BE49-F238E27FC236}">
                <a16:creationId xmlns:a16="http://schemas.microsoft.com/office/drawing/2014/main" id="{9FC09598-E3F4-4031-AB94-AD7DC84A535C}"/>
              </a:ext>
            </a:extLst>
          </p:cNvPr>
          <p:cNvSpPr>
            <a:spLocks xmlns:a="http://schemas.openxmlformats.org/drawingml/2006/main" noGrp="1"/>
          </p:cNvSpPr>
          <p:nvPr/>
        </p:nvSpPr>
        <p:spPr>
          <a:xfrm xmlns:a="http://schemas.openxmlformats.org/drawingml/2006/main">
            <a:off x="1809750" y="4438650"/>
            <a:ext cx="1676400" cy="781050"/>
          </a:xfrm>
          <a:prstGeom xmlns:a="http://schemas.openxmlformats.org/drawingml/2006/main" prst="roundRect">
            <a:avLst>
              <a:gd name="adj" fmla="val 9756"/>
            </a:avLst>
          </a:prstGeom>
          <a:solidFill xmlns:a="http://schemas.openxmlformats.org/drawingml/2006/main">
            <a:srgbClr val="00B2BB"/>
          </a:solidFill>
          <a:ln xmlns:a="http://schemas.openxmlformats.org/drawingml/2006/main" w="0">
            <a:solidFill>
              <a:srgbClr val="00B2BB"/>
            </a:solidFill>
            <a:prstDash val="solid"/>
          </a:ln>
        </p:spPr>
      </p:sp>
      <p:sp>
        <p:nvSpPr>
          <p:cNvPr id="15" name="">
            <a:extLst xmlns:a="http://schemas.openxmlformats.org/drawingml/2006/main">
              <a:ext uri="{FF2B5EF4-FFF2-40B4-BE49-F238E27FC236}">
                <a16:creationId xmlns:a16="http://schemas.microsoft.com/office/drawing/2014/main" id="{EDA1B7EE-FF2A-4BA7-B1C2-7050346A1F4E}"/>
              </a:ext>
            </a:extLst>
          </p:cNvPr>
          <p:cNvSpPr>
            <a:spLocks xmlns:a="http://schemas.openxmlformats.org/drawingml/2006/main" noGrp="1"/>
          </p:cNvSpPr>
          <p:nvPr/>
        </p:nvSpPr>
        <p:spPr>
          <a:xfrm xmlns:a="http://schemas.openxmlformats.org/drawingml/2006/main">
            <a:off x="1924050" y="44386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Für die Praxis</a:t>
            </a:r>
          </a:p>
        </p:txBody>
      </p:sp>
      <p:sp>
        <p:nvSpPr>
          <p:cNvPr id="16" name="">
            <a:extLst xmlns:a="http://schemas.openxmlformats.org/drawingml/2006/main">
              <a:ext uri="{FF2B5EF4-FFF2-40B4-BE49-F238E27FC236}">
                <a16:creationId xmlns:a16="http://schemas.microsoft.com/office/drawing/2014/main" id="{90440EDF-318C-4E03-B11A-516B44FFF0C1}"/>
              </a:ext>
            </a:extLst>
          </p:cNvPr>
          <p:cNvSpPr>
            <a:spLocks xmlns:a="http://schemas.openxmlformats.org/drawingml/2006/main" noGrp="1"/>
          </p:cNvSpPr>
          <p:nvPr/>
        </p:nvSpPr>
        <p:spPr>
          <a:xfrm xmlns:a="http://schemas.openxmlformats.org/drawingml/2006/main">
            <a:off x="3695700" y="44386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Unterbringung, Fixierung und Zwangsbehandlung getrennt prüfen; Einwilligungsfähigkeit, mildere Mittel, Genehmigung und Überwachung dokumentieren.</a:t>
            </a:r>
          </a:p>
        </p:txBody>
      </p:sp>
      <p:sp>
        <p:nvSpPr>
          <p:cNvPr id="17" name="">
            <a:extLst xmlns:a="http://schemas.openxmlformats.org/drawingml/2006/main">
              <a:ext uri="{FF2B5EF4-FFF2-40B4-BE49-F238E27FC236}">
                <a16:creationId xmlns:a16="http://schemas.microsoft.com/office/drawing/2014/main" id="{A4DBB6D2-FBEC-4683-B7F7-9694B64F4158}"/>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20">
                <a:solidFill>
                  <a:srgbClr val="667680"/>
                </a:solidFill>
              </a:defRPr>
            </a:pPr>
            <a:r>
              <a:rPr sz="720">
                <a:solidFill>
                  <a:srgbClr val="667680"/>
                </a:solidFill>
              </a:rPr>
              <a:t>BVerfG, Beschl. v. 23.03.2011 – 2 BvR 882/09 · https://www.bundesverfassungsgericht.de/SharedDocs/Entscheidungen/DE/2011/03/rs20110323_2bvr088209.html</a:t>
            </a:r>
          </a:p>
        </p:txBody>
      </p:sp>
    </p:spTree>
    <p:extLst>
      <p:ext uri="{BB962C8B-B14F-4D97-AF65-F5344CB8AC3E}">
        <p14:creationId xmlns:p14="http://schemas.microsoft.com/office/powerpoint/2010/main" val="43637646"/>
      </p:ext>
    </p:extLst>
  </p:cSld>
</p:sld>
</file>

<file path=ppt/slides/slide294.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Patientenverfügung und Ehegattennotvertretung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GESETZESTEXT · GEKÜRZTER LEHRAUSZUG</a:t>
            </a:r>
            <a:endParaRPr/>
          </a:p>
        </p:txBody>
      </p:sp>
      <p:sp>
        <p:nvSpPr>
          <p:cNvPr id="4" name="">
            <a:extLst xmlns:a="http://schemas.openxmlformats.org/drawingml/2006/main">
              <a:ext uri="{FF2B5EF4-FFF2-40B4-BE49-F238E27FC236}">
                <a16:creationId xmlns:a16="http://schemas.microsoft.com/office/drawing/2014/main" id="{1D6232F3-BBD3-4900-939B-37AA236974C2}"/>
              </a:ext>
            </a:extLst>
          </p:cNvPr>
          <p:cNvSpPr>
            <a:spLocks xmlns:a="http://schemas.openxmlformats.org/drawingml/2006/main" noGrp="1"/>
          </p:cNvSpPr>
          <p:nvPr/>
        </p:nvSpPr>
        <p:spPr>
          <a:xfrm xmlns:a="http://schemas.openxmlformats.org/drawingml/2006/main">
            <a:off x="1809750" y="1943100"/>
            <a:ext cx="4648200" cy="3371850"/>
          </a:xfrm>
          <a:prstGeom xmlns:a="http://schemas.openxmlformats.org/drawingml/2006/main" prst="roundRect">
            <a:avLst>
              <a:gd name="adj" fmla="val 2260"/>
            </a:avLst>
          </a:prstGeom>
          <a:solidFill xmlns:a="http://schemas.openxmlformats.org/drawingml/2006/main">
            <a:srgbClr val="F3F7F9"/>
          </a:solidFill>
          <a:ln xmlns:a="http://schemas.openxmlformats.org/drawingml/2006/main" w="11430">
            <a:solidFill>
              <a:srgbClr val="00B2BB"/>
            </a:solidFill>
            <a:prstDash val="solid"/>
          </a:ln>
        </p:spPr>
      </p:sp>
      <p:sp>
        <p:nvSpPr>
          <p:cNvPr id="5" name="">
            <a:extLst xmlns:a="http://schemas.openxmlformats.org/drawingml/2006/main">
              <a:ext uri="{FF2B5EF4-FFF2-40B4-BE49-F238E27FC236}">
                <a16:creationId xmlns:a16="http://schemas.microsoft.com/office/drawing/2014/main" id="{2F371E6B-2EEB-458F-9BEE-201223F8AD62}"/>
              </a:ext>
            </a:extLst>
          </p:cNvPr>
          <p:cNvSpPr>
            <a:spLocks xmlns:a="http://schemas.openxmlformats.org/drawingml/2006/main" noGrp="1"/>
          </p:cNvSpPr>
          <p:nvPr/>
        </p:nvSpPr>
        <p:spPr>
          <a:xfrm xmlns:a="http://schemas.openxmlformats.org/drawingml/2006/main">
            <a:off x="1943100" y="2076450"/>
            <a:ext cx="1409700" cy="381000"/>
          </a:xfrm>
          <a:prstGeom xmlns:a="http://schemas.openxmlformats.org/drawingml/2006/main" prst="roundRect">
            <a:avLst>
              <a:gd name="adj" fmla="val 20000"/>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A18F27A6-DE8D-4042-800D-201A014EE6EC}"/>
              </a:ext>
            </a:extLst>
          </p:cNvPr>
          <p:cNvSpPr>
            <a:spLocks xmlns:a="http://schemas.openxmlformats.org/drawingml/2006/main" noGrp="1"/>
          </p:cNvSpPr>
          <p:nvPr/>
        </p:nvSpPr>
        <p:spPr>
          <a:xfrm xmlns:a="http://schemas.openxmlformats.org/drawingml/2006/main">
            <a:off x="1943100" y="207645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 1827 I BGB</a:t>
            </a:r>
          </a:p>
        </p:txBody>
      </p:sp>
      <p:sp>
        <p:nvSpPr>
          <p:cNvPr id="7" name="">
            <a:extLst xmlns:a="http://schemas.openxmlformats.org/drawingml/2006/main">
              <a:ext uri="{FF2B5EF4-FFF2-40B4-BE49-F238E27FC236}">
                <a16:creationId xmlns:a16="http://schemas.microsoft.com/office/drawing/2014/main" id="{577EEA43-4867-4BDE-BE05-9A32478F0391}"/>
              </a:ext>
            </a:extLst>
          </p:cNvPr>
          <p:cNvSpPr>
            <a:spLocks xmlns:a="http://schemas.openxmlformats.org/drawingml/2006/main" noGrp="1"/>
          </p:cNvSpPr>
          <p:nvPr/>
        </p:nvSpPr>
        <p:spPr>
          <a:xfrm xmlns:a="http://schemas.openxmlformats.org/drawingml/2006/main">
            <a:off x="3486150" y="2057400"/>
            <a:ext cx="2838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Patientenverfügung · Kern</a:t>
            </a:r>
          </a:p>
        </p:txBody>
      </p:sp>
      <p:sp>
        <p:nvSpPr>
          <p:cNvPr id="8" name="">
            <a:extLst xmlns:a="http://schemas.openxmlformats.org/drawingml/2006/main">
              <a:ext uri="{FF2B5EF4-FFF2-40B4-BE49-F238E27FC236}">
                <a16:creationId xmlns:a16="http://schemas.microsoft.com/office/drawing/2014/main" id="{AF0CB063-C868-4829-9C95-1E82A4FE40C8}"/>
              </a:ext>
            </a:extLst>
          </p:cNvPr>
          <p:cNvSpPr>
            <a:spLocks xmlns:a="http://schemas.openxmlformats.org/drawingml/2006/main" noGrp="1"/>
          </p:cNvSpPr>
          <p:nvPr/>
        </p:nvSpPr>
        <p:spPr>
          <a:xfrm xmlns:a="http://schemas.openxmlformats.org/drawingml/2006/main">
            <a:off x="1981200" y="2609850"/>
            <a:ext cx="4305300" cy="2533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8">
                <a:solidFill>
                  <a:srgbClr val="15232B"/>
                </a:solidFill>
              </a:defRPr>
            </a:pPr>
            <a:r>
              <a:rPr sz="1148">
                <a:solidFill>
                  <a:srgbClr val="15232B"/>
                </a:solidFill>
              </a:rPr>
              <a:t>Hat ein einwilligungsfähiger Volljähriger schriftlich festgelegt, ob er für den Fall seiner Einwilligungsunfähigkeit in bestimmte, noch nicht unmittelbar bevorstehende Untersuchungen, Heilbehandlungen oder ärztliche Eingriffe einwilligt oder sie untersagt, prüft der Vertreter, ob die Festlegungen auf die aktuelle Lebens- und Behandlungssituation zutreffen. Ist dies der Fall, hat er dem Willen Ausdruck und Geltung zu verschaffen.</a:t>
            </a:r>
          </a:p>
        </p:txBody>
      </p:sp>
      <p:sp>
        <p:nvSpPr>
          <p:cNvPr id="9" name="">
            <a:extLst xmlns:a="http://schemas.openxmlformats.org/drawingml/2006/main">
              <a:ext uri="{FF2B5EF4-FFF2-40B4-BE49-F238E27FC236}">
                <a16:creationId xmlns:a16="http://schemas.microsoft.com/office/drawing/2014/main" id="{615EE46D-ADFB-4445-967F-97B0EDDDF79E}"/>
              </a:ext>
            </a:extLst>
          </p:cNvPr>
          <p:cNvSpPr>
            <a:spLocks xmlns:a="http://schemas.openxmlformats.org/drawingml/2006/main" noGrp="1"/>
          </p:cNvSpPr>
          <p:nvPr/>
        </p:nvSpPr>
        <p:spPr>
          <a:xfrm xmlns:a="http://schemas.openxmlformats.org/drawingml/2006/main">
            <a:off x="6686550" y="1943100"/>
            <a:ext cx="4648200" cy="3371850"/>
          </a:xfrm>
          <a:prstGeom xmlns:a="http://schemas.openxmlformats.org/drawingml/2006/main" prst="roundRect">
            <a:avLst>
              <a:gd name="adj" fmla="val 2260"/>
            </a:avLst>
          </a:prstGeom>
          <a:solidFill xmlns:a="http://schemas.openxmlformats.org/drawingml/2006/main">
            <a:srgbClr val="F3F7F9"/>
          </a:solidFill>
          <a:ln xmlns:a="http://schemas.openxmlformats.org/drawingml/2006/main" w="11430">
            <a:solidFill>
              <a:srgbClr val="003F6B"/>
            </a:solidFill>
            <a:prstDash val="solid"/>
          </a:ln>
        </p:spPr>
      </p:sp>
      <p:sp>
        <p:nvSpPr>
          <p:cNvPr id="10" name="">
            <a:extLst xmlns:a="http://schemas.openxmlformats.org/drawingml/2006/main">
              <a:ext uri="{FF2B5EF4-FFF2-40B4-BE49-F238E27FC236}">
                <a16:creationId xmlns:a16="http://schemas.microsoft.com/office/drawing/2014/main" id="{30966994-2A82-4855-A1E2-E49D2050672F}"/>
              </a:ext>
            </a:extLst>
          </p:cNvPr>
          <p:cNvSpPr>
            <a:spLocks xmlns:a="http://schemas.openxmlformats.org/drawingml/2006/main" noGrp="1"/>
          </p:cNvSpPr>
          <p:nvPr/>
        </p:nvSpPr>
        <p:spPr>
          <a:xfrm xmlns:a="http://schemas.openxmlformats.org/drawingml/2006/main">
            <a:off x="6819900" y="2076450"/>
            <a:ext cx="1409700" cy="381000"/>
          </a:xfrm>
          <a:prstGeom xmlns:a="http://schemas.openxmlformats.org/drawingml/2006/main" prst="roundRect">
            <a:avLst>
              <a:gd name="adj" fmla="val 20000"/>
            </a:avLst>
          </a:prstGeom>
          <a:solidFill xmlns:a="http://schemas.openxmlformats.org/drawingml/2006/main">
            <a:srgbClr val="003F6B"/>
          </a:solidFill>
          <a:ln xmlns:a="http://schemas.openxmlformats.org/drawingml/2006/main" w="0">
            <a:solidFill>
              <a:srgbClr val="003F6B"/>
            </a:solidFill>
            <a:prstDash val="solid"/>
          </a:ln>
        </p:spPr>
      </p:sp>
      <p:sp>
        <p:nvSpPr>
          <p:cNvPr id="11" name="">
            <a:extLst xmlns:a="http://schemas.openxmlformats.org/drawingml/2006/main">
              <a:ext uri="{FF2B5EF4-FFF2-40B4-BE49-F238E27FC236}">
                <a16:creationId xmlns:a16="http://schemas.microsoft.com/office/drawing/2014/main" id="{4C67BC77-DD62-4086-AF8E-EDDBA392E605}"/>
              </a:ext>
            </a:extLst>
          </p:cNvPr>
          <p:cNvSpPr>
            <a:spLocks xmlns:a="http://schemas.openxmlformats.org/drawingml/2006/main" noGrp="1"/>
          </p:cNvSpPr>
          <p:nvPr/>
        </p:nvSpPr>
        <p:spPr>
          <a:xfrm xmlns:a="http://schemas.openxmlformats.org/drawingml/2006/main">
            <a:off x="6819900" y="207645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 1358 BGB</a:t>
            </a:r>
          </a:p>
        </p:txBody>
      </p:sp>
      <p:sp>
        <p:nvSpPr>
          <p:cNvPr id="12" name="">
            <a:extLst xmlns:a="http://schemas.openxmlformats.org/drawingml/2006/main">
              <a:ext uri="{FF2B5EF4-FFF2-40B4-BE49-F238E27FC236}">
                <a16:creationId xmlns:a16="http://schemas.microsoft.com/office/drawing/2014/main" id="{6B9647C0-3D3A-4A6E-9B98-7D1C033EA99B}"/>
              </a:ext>
            </a:extLst>
          </p:cNvPr>
          <p:cNvSpPr>
            <a:spLocks xmlns:a="http://schemas.openxmlformats.org/drawingml/2006/main" noGrp="1"/>
          </p:cNvSpPr>
          <p:nvPr/>
        </p:nvSpPr>
        <p:spPr>
          <a:xfrm xmlns:a="http://schemas.openxmlformats.org/drawingml/2006/main">
            <a:off x="8362950" y="2057400"/>
            <a:ext cx="2838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Ehegattennotvertretung · Kern</a:t>
            </a:r>
          </a:p>
        </p:txBody>
      </p:sp>
      <p:sp>
        <p:nvSpPr>
          <p:cNvPr id="13" name="">
            <a:extLst xmlns:a="http://schemas.openxmlformats.org/drawingml/2006/main">
              <a:ext uri="{FF2B5EF4-FFF2-40B4-BE49-F238E27FC236}">
                <a16:creationId xmlns:a16="http://schemas.microsoft.com/office/drawing/2014/main" id="{66506AF4-EA4A-47E1-9EB4-59A0C19ADB91}"/>
              </a:ext>
            </a:extLst>
          </p:cNvPr>
          <p:cNvSpPr>
            <a:spLocks xmlns:a="http://schemas.openxmlformats.org/drawingml/2006/main" noGrp="1"/>
          </p:cNvSpPr>
          <p:nvPr/>
        </p:nvSpPr>
        <p:spPr>
          <a:xfrm xmlns:a="http://schemas.openxmlformats.org/drawingml/2006/main">
            <a:off x="6858000" y="2609850"/>
            <a:ext cx="4305300" cy="2533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8">
                <a:solidFill>
                  <a:srgbClr val="15232B"/>
                </a:solidFill>
              </a:defRPr>
            </a:pPr>
            <a:r>
              <a:rPr sz="1148">
                <a:solidFill>
                  <a:srgbClr val="15232B"/>
                </a:solidFill>
              </a:rPr>
              <a:t>Kann ein verheirateter Volljähriger wegen Bewusstlosigkeit oder Krankheit Angelegenheiten der Gesundheitssorge rechtlich nicht besorgen, darf der nicht getrennt lebende Ehegatte ihn unter den gesetzlichen Voraussetzungen vorübergehend vertreten. Ausschlussgründe, ärztliche Bescheinigung und Höchstdauer von sechs Monaten sind zu beachten.</a:t>
            </a:r>
          </a:p>
        </p:txBody>
      </p:sp>
      <p:sp>
        <p:nvSpPr>
          <p:cNvPr id="14" name="">
            <a:extLst xmlns:a="http://schemas.openxmlformats.org/drawingml/2006/main">
              <a:ext uri="{FF2B5EF4-FFF2-40B4-BE49-F238E27FC236}">
                <a16:creationId xmlns:a16="http://schemas.microsoft.com/office/drawing/2014/main" id="{8DDE4ADB-C980-44FC-BB4A-4D67F2CD97FE}"/>
              </a:ext>
            </a:extLst>
          </p:cNvPr>
          <p:cNvSpPr>
            <a:spLocks xmlns:a="http://schemas.openxmlformats.org/drawingml/2006/main" noGrp="1"/>
          </p:cNvSpPr>
          <p:nvPr/>
        </p:nvSpPr>
        <p:spPr>
          <a:xfrm xmlns:a="http://schemas.openxmlformats.org/drawingml/2006/main">
            <a:off x="1809750" y="5619750"/>
            <a:ext cx="9525000" cy="419100"/>
          </a:xfrm>
          <a:prstGeom xmlns:a="http://schemas.openxmlformats.org/drawingml/2006/main" prst="roundRect">
            <a:avLst>
              <a:gd name="adj" fmla="val 18182"/>
            </a:avLst>
          </a:prstGeom>
          <a:noFill xmlns:a="http://schemas.openxmlformats.org/drawingml/2006/main"/>
          <a:ln xmlns:a="http://schemas.openxmlformats.org/drawingml/2006/main" w="11430">
            <a:solidFill>
              <a:srgbClr val="00B2BB"/>
            </a:solidFill>
            <a:prstDash val="solid"/>
          </a:ln>
        </p:spPr>
      </p:sp>
      <p:sp>
        <p:nvSpPr>
          <p:cNvPr id="15" name="">
            <a:extLst xmlns:a="http://schemas.openxmlformats.org/drawingml/2006/main">
              <a:ext uri="{FF2B5EF4-FFF2-40B4-BE49-F238E27FC236}">
                <a16:creationId xmlns:a16="http://schemas.microsoft.com/office/drawing/2014/main" id="{D717459A-EEAE-402F-A5E5-DF8DAA4258D8}"/>
              </a:ext>
            </a:extLst>
          </p:cNvPr>
          <p:cNvSpPr>
            <a:spLocks xmlns:a="http://schemas.openxmlformats.org/drawingml/2006/main" noGrp="1"/>
          </p:cNvSpPr>
          <p:nvPr/>
        </p:nvSpPr>
        <p:spPr>
          <a:xfrm xmlns:a="http://schemas.openxmlformats.org/drawingml/2006/main">
            <a:off x="1962150" y="5638800"/>
            <a:ext cx="9220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13" b="1">
                <a:solidFill>
                  <a:srgbClr val="003F6B"/>
                </a:solidFill>
              </a:defRPr>
            </a:pPr>
            <a:r>
              <a:rPr sz="1013" b="1">
                <a:solidFill>
                  <a:srgbClr val="003F6B"/>
                </a:solidFill>
              </a:rPr>
              <a:t>Praxislesart: Die Patientenverfügung entscheidet inhaltlich; Vertretungsmacht entscheidet, wer den Willen umsetzt. Das ist nicht dasselbe.</a:t>
            </a:r>
          </a:p>
        </p:txBody>
      </p:sp>
      <p:sp>
        <p:nvSpPr>
          <p:cNvPr id="16" name="">
            <a:extLst xmlns:a="http://schemas.openxmlformats.org/drawingml/2006/main">
              <a:ext uri="{FF2B5EF4-FFF2-40B4-BE49-F238E27FC236}">
                <a16:creationId xmlns:a16="http://schemas.microsoft.com/office/drawing/2014/main" id="{A0F6BCD1-0947-43C4-B8F5-60A5D90FC75C}"/>
              </a:ext>
            </a:extLst>
          </p:cNvPr>
          <p:cNvSpPr>
            <a:spLocks xmlns:a="http://schemas.openxmlformats.org/drawingml/2006/main" noGrp="1"/>
          </p:cNvSpPr>
          <p:nvPr/>
        </p:nvSpPr>
        <p:spPr>
          <a:xfrm xmlns:a="http://schemas.openxmlformats.org/drawingml/2006/main">
            <a:off x="1809750" y="535305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05">
                <a:solidFill>
                  <a:srgbClr val="667680"/>
                </a:solidFill>
              </a:defRPr>
            </a:pPr>
            <a:r>
              <a:rPr sz="705">
                <a:solidFill>
                  <a:srgbClr val="667680"/>
                </a:solidFill>
              </a:rPr>
              <a:t>BMJ/BfJ, gesetze-im-internet.de/bgb/__1827.html und /__1358.html · Abruf/Stand: 20.08.2026 · https://pubmed.ncbi.nlm.nih.gov</a:t>
            </a:r>
          </a:p>
        </p:txBody>
      </p:sp>
    </p:spTree>
    <p:extLst>
      <p:ext uri="{BB962C8B-B14F-4D97-AF65-F5344CB8AC3E}">
        <p14:creationId xmlns:p14="http://schemas.microsoft.com/office/powerpoint/2010/main" val="43637646"/>
      </p:ext>
    </p:extLst>
  </p:cSld>
</p:sld>
</file>

<file path=ppt/slides/slide295.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‚In dubio pro vita‘ ist kein Dauerersatz für Willensermittlung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PODCAST-BRÜCKE · RECHT MEDIZINISCH</a:t>
            </a:r>
            <a:endParaRPr/>
          </a:p>
        </p:txBody>
      </p:sp>
      <p:sp>
        <p:nvSpPr>
          <p:cNvPr id="4" name="">
            <a:extLst xmlns:a="http://schemas.openxmlformats.org/drawingml/2006/main">
              <a:ext uri="{FF2B5EF4-FFF2-40B4-BE49-F238E27FC236}">
                <a16:creationId xmlns:a16="http://schemas.microsoft.com/office/drawing/2014/main" id="{BF442ABA-357F-40D2-A0BA-13244B502149}"/>
              </a:ext>
            </a:extLst>
          </p:cNvPr>
          <p:cNvSpPr>
            <a:spLocks xmlns:a="http://schemas.openxmlformats.org/drawingml/2006/main" noGrp="1"/>
          </p:cNvSpPr>
          <p:nvPr/>
        </p:nvSpPr>
        <p:spPr>
          <a:xfrm xmlns:a="http://schemas.openxmlformats.org/drawingml/2006/main">
            <a:off x="1809750" y="1943100"/>
            <a:ext cx="2190750" cy="419100"/>
          </a:xfrm>
          <a:prstGeom xmlns:a="http://schemas.openxmlformats.org/drawingml/2006/main" prst="roundRect">
            <a:avLst>
              <a:gd name="adj" fmla="val 18182"/>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1D9D7F9D-FAD9-4813-8EC3-A9D19AD25FA8}"/>
              </a:ext>
            </a:extLst>
          </p:cNvPr>
          <p:cNvSpPr>
            <a:spLocks xmlns:a="http://schemas.openxmlformats.org/drawingml/2006/main" noGrp="1"/>
          </p:cNvSpPr>
          <p:nvPr/>
        </p:nvSpPr>
        <p:spPr>
          <a:xfrm xmlns:a="http://schemas.openxmlformats.org/drawingml/2006/main">
            <a:off x="1809750" y="1943100"/>
            <a:ext cx="2190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RECHT MEDIZINISCH</a:t>
            </a:r>
          </a:p>
        </p:txBody>
      </p:sp>
      <p:sp>
        <p:nvSpPr>
          <p:cNvPr id="6" name="">
            <a:extLst xmlns:a="http://schemas.openxmlformats.org/drawingml/2006/main">
              <a:ext uri="{FF2B5EF4-FFF2-40B4-BE49-F238E27FC236}">
                <a16:creationId xmlns:a16="http://schemas.microsoft.com/office/drawing/2014/main" id="{BD12125F-1961-40D4-B5EA-EBE906ED4064}"/>
              </a:ext>
            </a:extLst>
          </p:cNvPr>
          <p:cNvSpPr>
            <a:spLocks xmlns:a="http://schemas.openxmlformats.org/drawingml/2006/main" noGrp="1"/>
          </p:cNvSpPr>
          <p:nvPr/>
        </p:nvSpPr>
        <p:spPr>
          <a:xfrm xmlns:a="http://schemas.openxmlformats.org/drawingml/2006/main">
            <a:off x="4191000" y="1943100"/>
            <a:ext cx="714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425" b="1">
                <a:solidFill>
                  <a:srgbClr val="003F6B"/>
                </a:solidFill>
              </a:defRPr>
            </a:pPr>
            <a:r>
              <a:rPr sz="1425" b="1">
                <a:solidFill>
                  <a:srgbClr val="003F6B"/>
                </a:solidFill>
              </a:rPr>
              <a:t>Folge 2 · In dubio pro vita! – Im Zweifel für das Leben</a:t>
            </a:r>
          </a:p>
        </p:txBody>
      </p:sp>
      <p:sp>
        <p:nvSpPr>
          <p:cNvPr id="7" name="">
            <a:extLst xmlns:a="http://schemas.openxmlformats.org/drawingml/2006/main">
              <a:ext uri="{FF2B5EF4-FFF2-40B4-BE49-F238E27FC236}">
                <a16:creationId xmlns:a16="http://schemas.microsoft.com/office/drawing/2014/main" id="{74A35DB8-9B38-4A56-9EF9-01BDA7FB5687}"/>
              </a:ext>
            </a:extLst>
          </p:cNvPr>
          <p:cNvSpPr>
            <a:spLocks xmlns:a="http://schemas.openxmlformats.org/drawingml/2006/main" noGrp="1"/>
          </p:cNvSpPr>
          <p:nvPr/>
        </p:nvSpPr>
        <p:spPr>
          <a:xfrm xmlns:a="http://schemas.openxmlformats.org/drawingml/2006/main">
            <a:off x="1809750" y="2571750"/>
            <a:ext cx="9525000" cy="914400"/>
          </a:xfrm>
          <a:prstGeom xmlns:a="http://schemas.openxmlformats.org/drawingml/2006/main" prst="roundRect">
            <a:avLst>
              <a:gd name="adj" fmla="val 8333"/>
            </a:avLst>
          </a:prstGeom>
          <a:solidFill xmlns:a="http://schemas.openxmlformats.org/drawingml/2006/main">
            <a:srgbClr val="EAF6FB"/>
          </a:solidFill>
          <a:ln xmlns:a="http://schemas.openxmlformats.org/drawingml/2006/main" w="11430">
            <a:solidFill>
              <a:srgbClr val="00B2BB"/>
            </a:solidFill>
            <a:prstDash val="solid"/>
          </a:ln>
        </p:spPr>
      </p:sp>
      <p:sp>
        <p:nvSpPr>
          <p:cNvPr id="8" name="">
            <a:extLst xmlns:a="http://schemas.openxmlformats.org/drawingml/2006/main">
              <a:ext uri="{FF2B5EF4-FFF2-40B4-BE49-F238E27FC236}">
                <a16:creationId xmlns:a16="http://schemas.microsoft.com/office/drawing/2014/main" id="{175AD762-52F3-49A5-A3C0-4B0A122FC46F}"/>
              </a:ext>
            </a:extLst>
          </p:cNvPr>
          <p:cNvSpPr>
            <a:spLocks xmlns:a="http://schemas.openxmlformats.org/drawingml/2006/main" noGrp="1"/>
          </p:cNvSpPr>
          <p:nvPr/>
        </p:nvSpPr>
        <p:spPr>
          <a:xfrm xmlns:a="http://schemas.openxmlformats.org/drawingml/2006/main">
            <a:off x="2000250" y="2686050"/>
            <a:ext cx="914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00">
                <a:solidFill>
                  <a:srgbClr val="15232B"/>
                </a:solidFill>
              </a:defRPr>
            </a:pPr>
            <a:r>
              <a:rPr sz="1200">
                <a:solidFill>
                  <a:srgbClr val="15232B"/>
                </a:solidFill>
              </a:rPr>
              <a:t>Patientenverfügung unklar, Angehörige widersprechen sich, DNR-/No-CPR-Hinweise sind informell, und im Rettungsdienst läuft die Zeit. Die Folge verbindet echte Notfallsituationen mit Patientenwillen, Ehegattennotvertretung und Kommunikation.</a:t>
            </a:r>
          </a:p>
        </p:txBody>
      </p:sp>
      <p:sp>
        <p:nvSpPr>
          <p:cNvPr id="9" name="">
            <a:extLst xmlns:a="http://schemas.openxmlformats.org/drawingml/2006/main">
              <a:ext uri="{FF2B5EF4-FFF2-40B4-BE49-F238E27FC236}">
                <a16:creationId xmlns:a16="http://schemas.microsoft.com/office/drawing/2014/main" id="{841F9C9D-EB4D-42A4-8FEE-5FBA2EF9FB52}"/>
              </a:ext>
            </a:extLst>
          </p:cNvPr>
          <p:cNvSpPr>
            <a:spLocks xmlns:a="http://schemas.openxmlformats.org/drawingml/2006/main" noGrp="1"/>
          </p:cNvSpPr>
          <p:nvPr/>
        </p:nvSpPr>
        <p:spPr>
          <a:xfrm xmlns:a="http://schemas.openxmlformats.org/drawingml/2006/main">
            <a:off x="1809750" y="3714750"/>
            <a:ext cx="40005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0" name="">
            <a:extLst xmlns:a="http://schemas.openxmlformats.org/drawingml/2006/main">
              <a:ext uri="{FF2B5EF4-FFF2-40B4-BE49-F238E27FC236}">
                <a16:creationId xmlns:a16="http://schemas.microsoft.com/office/drawing/2014/main" id="{42FD96CE-43AD-4493-81F8-6DAF8DB1EF05}"/>
              </a:ext>
            </a:extLst>
          </p:cNvPr>
          <p:cNvSpPr>
            <a:spLocks xmlns:a="http://schemas.openxmlformats.org/drawingml/2006/main" noGrp="1"/>
          </p:cNvSpPr>
          <p:nvPr/>
        </p:nvSpPr>
        <p:spPr>
          <a:xfrm xmlns:a="http://schemas.openxmlformats.org/drawingml/2006/main">
            <a:off x="1809750" y="37147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11" name="">
            <a:extLst xmlns:a="http://schemas.openxmlformats.org/drawingml/2006/main">
              <a:ext uri="{FF2B5EF4-FFF2-40B4-BE49-F238E27FC236}">
                <a16:creationId xmlns:a16="http://schemas.microsoft.com/office/drawing/2014/main" id="{1902598A-9419-4006-B7F3-694EE2950124}"/>
              </a:ext>
            </a:extLst>
          </p:cNvPr>
          <p:cNvSpPr>
            <a:spLocks xmlns:a="http://schemas.openxmlformats.org/drawingml/2006/main" noGrp="1"/>
          </p:cNvSpPr>
          <p:nvPr/>
        </p:nvSpPr>
        <p:spPr>
          <a:xfrm xmlns:a="http://schemas.openxmlformats.org/drawingml/2006/main">
            <a:off x="2381250" y="3695700"/>
            <a:ext cx="895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25">
                <a:solidFill>
                  <a:srgbClr val="15232B"/>
                </a:solidFill>
              </a:defRPr>
            </a:pPr>
            <a:r>
              <a:rPr sz="1125">
                <a:solidFill>
                  <a:srgbClr val="15232B"/>
                </a:solidFill>
              </a:rPr>
              <a:t>Welche Information ist in den ersten Minuten belastbar – und welche nur Hinweis?</a:t>
            </a:r>
          </a:p>
        </p:txBody>
      </p:sp>
      <p:sp>
        <p:nvSpPr>
          <p:cNvPr id="12" name="">
            <a:extLst xmlns:a="http://schemas.openxmlformats.org/drawingml/2006/main">
              <a:ext uri="{FF2B5EF4-FFF2-40B4-BE49-F238E27FC236}">
                <a16:creationId xmlns:a16="http://schemas.microsoft.com/office/drawing/2014/main" id="{E8768393-22F0-43DD-9FD8-E6DEFD58EE76}"/>
              </a:ext>
            </a:extLst>
          </p:cNvPr>
          <p:cNvSpPr>
            <a:spLocks xmlns:a="http://schemas.openxmlformats.org/drawingml/2006/main" noGrp="1"/>
          </p:cNvSpPr>
          <p:nvPr/>
        </p:nvSpPr>
        <p:spPr>
          <a:xfrm xmlns:a="http://schemas.openxmlformats.org/drawingml/2006/main">
            <a:off x="1809750" y="4286250"/>
            <a:ext cx="4000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3" name="">
            <a:extLst xmlns:a="http://schemas.openxmlformats.org/drawingml/2006/main">
              <a:ext uri="{FF2B5EF4-FFF2-40B4-BE49-F238E27FC236}">
                <a16:creationId xmlns:a16="http://schemas.microsoft.com/office/drawing/2014/main" id="{37770014-6385-4C65-B8E3-939A64E06045}"/>
              </a:ext>
            </a:extLst>
          </p:cNvPr>
          <p:cNvSpPr>
            <a:spLocks xmlns:a="http://schemas.openxmlformats.org/drawingml/2006/main" noGrp="1"/>
          </p:cNvSpPr>
          <p:nvPr/>
        </p:nvSpPr>
        <p:spPr>
          <a:xfrm xmlns:a="http://schemas.openxmlformats.org/drawingml/2006/main">
            <a:off x="1809750" y="42862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4" name="">
            <a:extLst xmlns:a="http://schemas.openxmlformats.org/drawingml/2006/main">
              <a:ext uri="{FF2B5EF4-FFF2-40B4-BE49-F238E27FC236}">
                <a16:creationId xmlns:a16="http://schemas.microsoft.com/office/drawing/2014/main" id="{E177983C-4D58-48F2-A7A0-E28CE65B3E3C}"/>
              </a:ext>
            </a:extLst>
          </p:cNvPr>
          <p:cNvSpPr>
            <a:spLocks xmlns:a="http://schemas.openxmlformats.org/drawingml/2006/main" noGrp="1"/>
          </p:cNvSpPr>
          <p:nvPr/>
        </p:nvSpPr>
        <p:spPr>
          <a:xfrm xmlns:a="http://schemas.openxmlformats.org/drawingml/2006/main">
            <a:off x="2381250" y="4267200"/>
            <a:ext cx="895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25">
                <a:solidFill>
                  <a:srgbClr val="15232B"/>
                </a:solidFill>
              </a:defRPr>
            </a:pPr>
            <a:r>
              <a:rPr sz="1125">
                <a:solidFill>
                  <a:srgbClr val="15232B"/>
                </a:solidFill>
              </a:rPr>
              <a:t>Wer ist vertretungsberechtigt, und worauf bezieht sich seine Entscheidung?</a:t>
            </a:r>
          </a:p>
        </p:txBody>
      </p:sp>
      <p:sp>
        <p:nvSpPr>
          <p:cNvPr id="15" name="">
            <a:extLst xmlns:a="http://schemas.openxmlformats.org/drawingml/2006/main">
              <a:ext uri="{FF2B5EF4-FFF2-40B4-BE49-F238E27FC236}">
                <a16:creationId xmlns:a16="http://schemas.microsoft.com/office/drawing/2014/main" id="{24963E75-B86B-492B-A957-3B844AC3D73B}"/>
              </a:ext>
            </a:extLst>
          </p:cNvPr>
          <p:cNvSpPr>
            <a:spLocks xmlns:a="http://schemas.openxmlformats.org/drawingml/2006/main" noGrp="1"/>
          </p:cNvSpPr>
          <p:nvPr/>
        </p:nvSpPr>
        <p:spPr>
          <a:xfrm xmlns:a="http://schemas.openxmlformats.org/drawingml/2006/main">
            <a:off x="1809750" y="4857750"/>
            <a:ext cx="40005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6" name="">
            <a:extLst xmlns:a="http://schemas.openxmlformats.org/drawingml/2006/main">
              <a:ext uri="{FF2B5EF4-FFF2-40B4-BE49-F238E27FC236}">
                <a16:creationId xmlns:a16="http://schemas.microsoft.com/office/drawing/2014/main" id="{90B7143A-4F06-4EC7-9226-2C5C0E8B736B}"/>
              </a:ext>
            </a:extLst>
          </p:cNvPr>
          <p:cNvSpPr>
            <a:spLocks xmlns:a="http://schemas.openxmlformats.org/drawingml/2006/main" noGrp="1"/>
          </p:cNvSpPr>
          <p:nvPr/>
        </p:nvSpPr>
        <p:spPr>
          <a:xfrm xmlns:a="http://schemas.openxmlformats.org/drawingml/2006/main">
            <a:off x="1809750" y="48577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7" name="">
            <a:extLst xmlns:a="http://schemas.openxmlformats.org/drawingml/2006/main">
              <a:ext uri="{FF2B5EF4-FFF2-40B4-BE49-F238E27FC236}">
                <a16:creationId xmlns:a16="http://schemas.microsoft.com/office/drawing/2014/main" id="{50CE1CCF-0855-46FD-A226-197C9E2B0772}"/>
              </a:ext>
            </a:extLst>
          </p:cNvPr>
          <p:cNvSpPr>
            <a:spLocks xmlns:a="http://schemas.openxmlformats.org/drawingml/2006/main" noGrp="1"/>
          </p:cNvSpPr>
          <p:nvPr/>
        </p:nvSpPr>
        <p:spPr>
          <a:xfrm xmlns:a="http://schemas.openxmlformats.org/drawingml/2006/main">
            <a:off x="2381250" y="4838700"/>
            <a:ext cx="895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25">
                <a:solidFill>
                  <a:srgbClr val="15232B"/>
                </a:solidFill>
              </a:defRPr>
            </a:pPr>
            <a:r>
              <a:rPr sz="1125">
                <a:solidFill>
                  <a:srgbClr val="15232B"/>
                </a:solidFill>
              </a:rPr>
              <a:t>Was wird nach Stabilisierung neu bewertet und dokumentiert?</a:t>
            </a:r>
          </a:p>
        </p:txBody>
      </p:sp>
      <p:sp>
        <p:nvSpPr>
          <p:cNvPr id="18" name="">
            <a:extLst xmlns:a="http://schemas.openxmlformats.org/drawingml/2006/main">
              <a:ext uri="{FF2B5EF4-FFF2-40B4-BE49-F238E27FC236}">
                <a16:creationId xmlns:a16="http://schemas.microsoft.com/office/drawing/2014/main" id="{17D69E15-BF36-4C45-9A4B-9A522F92BCFE}"/>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20">
                <a:solidFill>
                  <a:srgbClr val="667680"/>
                </a:solidFill>
              </a:defRPr>
            </a:pPr>
            <a:r>
              <a:rPr sz="720">
                <a:solidFill>
                  <a:srgbClr val="667680"/>
                </a:solidFill>
              </a:rPr>
              <a:t>Spotify, Recht Medizinisch, Folge 2, 25.05.2026 · https://podcasts.apple.com/us/podcast/recht-medizinisch/id1896818482</a:t>
            </a:r>
          </a:p>
        </p:txBody>
      </p:sp>
    </p:spTree>
    <p:extLst>
      <p:ext uri="{BB962C8B-B14F-4D97-AF65-F5344CB8AC3E}">
        <p14:creationId xmlns:p14="http://schemas.microsoft.com/office/powerpoint/2010/main" val="43637646"/>
      </p:ext>
    </p:extLst>
  </p:cSld>
</p:sld>
</file>

<file path=ppt/slides/slide296.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Behandlungsabbruch kann auch aktives Tun sein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REALE ENTSCHEIDUNG</a:t>
            </a:r>
            <a:endParaRPr/>
          </a:p>
        </p:txBody>
      </p:sp>
      <p:sp>
        <p:nvSpPr>
          <p:cNvPr id="4" name="">
            <a:extLst xmlns:a="http://schemas.openxmlformats.org/drawingml/2006/main">
              <a:ext uri="{FF2B5EF4-FFF2-40B4-BE49-F238E27FC236}">
                <a16:creationId xmlns:a16="http://schemas.microsoft.com/office/drawing/2014/main" id="{6CC67FA6-3995-439E-8DEF-0567EBC5B425}"/>
              </a:ext>
            </a:extLst>
          </p:cNvPr>
          <p:cNvSpPr>
            <a:spLocks xmlns:a="http://schemas.openxmlformats.org/drawingml/2006/main" noGrp="1"/>
          </p:cNvSpPr>
          <p:nvPr/>
        </p:nvSpPr>
        <p:spPr>
          <a:xfrm xmlns:a="http://schemas.openxmlformats.org/drawingml/2006/main">
            <a:off x="1809750" y="1943100"/>
            <a:ext cx="11239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37626B3B-B282-44CE-9794-E47651409523}"/>
              </a:ext>
            </a:extLst>
          </p:cNvPr>
          <p:cNvSpPr>
            <a:spLocks xmlns:a="http://schemas.openxmlformats.org/drawingml/2006/main" noGrp="1"/>
          </p:cNvSpPr>
          <p:nvPr/>
        </p:nvSpPr>
        <p:spPr>
          <a:xfrm xmlns:a="http://schemas.openxmlformats.org/drawingml/2006/main">
            <a:off x="1809750" y="1943100"/>
            <a:ext cx="1123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BGH</a:t>
            </a:r>
          </a:p>
        </p:txBody>
      </p:sp>
      <p:sp>
        <p:nvSpPr>
          <p:cNvPr id="6" name="">
            <a:extLst xmlns:a="http://schemas.openxmlformats.org/drawingml/2006/main">
              <a:ext uri="{FF2B5EF4-FFF2-40B4-BE49-F238E27FC236}">
                <a16:creationId xmlns:a16="http://schemas.microsoft.com/office/drawing/2014/main" id="{BA78C358-98BC-44C4-8388-8663A7EBF13D}"/>
              </a:ext>
            </a:extLst>
          </p:cNvPr>
          <p:cNvSpPr>
            <a:spLocks xmlns:a="http://schemas.openxmlformats.org/drawingml/2006/main" noGrp="1"/>
          </p:cNvSpPr>
          <p:nvPr/>
        </p:nvSpPr>
        <p:spPr>
          <a:xfrm xmlns:a="http://schemas.openxmlformats.org/drawingml/2006/main">
            <a:off x="312420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25.06.2010 · 2 StR 454/09</a:t>
            </a:r>
          </a:p>
        </p:txBody>
      </p:sp>
      <p:sp>
        <p:nvSpPr>
          <p:cNvPr id="7" name="">
            <a:extLst xmlns:a="http://schemas.openxmlformats.org/drawingml/2006/main">
              <a:ext uri="{FF2B5EF4-FFF2-40B4-BE49-F238E27FC236}">
                <a16:creationId xmlns:a16="http://schemas.microsoft.com/office/drawing/2014/main" id="{4DD71875-B0B1-4731-BCA5-8912A399247B}"/>
              </a:ext>
            </a:extLst>
          </p:cNvPr>
          <p:cNvSpPr>
            <a:spLocks xmlns:a="http://schemas.openxmlformats.org/drawingml/2006/main" noGrp="1"/>
          </p:cNvSpPr>
          <p:nvPr/>
        </p:nvSpPr>
        <p:spPr>
          <a:xfrm xmlns:a="http://schemas.openxmlformats.org/drawingml/2006/main">
            <a:off x="733425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050">
                <a:solidFill>
                  <a:srgbClr val="667680"/>
                </a:solidFill>
              </a:defRPr>
            </a:pPr>
            <a:r>
              <a:rPr sz="1050">
                <a:solidFill>
                  <a:srgbClr val="667680"/>
                </a:solidFill>
              </a:rPr>
              <a:t>Leitentscheidung</a:t>
            </a:r>
          </a:p>
        </p:txBody>
      </p:sp>
      <p:sp>
        <p:nvSpPr>
          <p:cNvPr id="8" name="">
            <a:extLst xmlns:a="http://schemas.openxmlformats.org/drawingml/2006/main">
              <a:ext uri="{FF2B5EF4-FFF2-40B4-BE49-F238E27FC236}">
                <a16:creationId xmlns:a16="http://schemas.microsoft.com/office/drawing/2014/main" id="{017506B5-1C1D-4CB3-95F3-80F10144FA59}"/>
              </a:ext>
            </a:extLst>
          </p:cNvPr>
          <p:cNvSpPr>
            <a:spLocks xmlns:a="http://schemas.openxmlformats.org/drawingml/2006/main" noGrp="1"/>
          </p:cNvSpPr>
          <p:nvPr/>
        </p:nvSpPr>
        <p:spPr>
          <a:xfrm xmlns:a="http://schemas.openxmlformats.org/drawingml/2006/main">
            <a:off x="1809750" y="2533650"/>
            <a:ext cx="1676400" cy="781050"/>
          </a:xfrm>
          <a:prstGeom xmlns:a="http://schemas.openxmlformats.org/drawingml/2006/main" prst="roundRect">
            <a:avLst>
              <a:gd name="adj" fmla="val 9756"/>
            </a:avLst>
          </a:prstGeom>
          <a:solidFill xmlns:a="http://schemas.openxmlformats.org/drawingml/2006/main">
            <a:srgbClr val="00B2BB"/>
          </a:solidFill>
          <a:ln xmlns:a="http://schemas.openxmlformats.org/drawingml/2006/main" w="0">
            <a:solidFill>
              <a:srgbClr val="00B2BB"/>
            </a:solidFill>
            <a:prstDash val="solid"/>
          </a:ln>
        </p:spPr>
      </p:sp>
      <p:sp>
        <p:nvSpPr>
          <p:cNvPr id="9" name="">
            <a:extLst xmlns:a="http://schemas.openxmlformats.org/drawingml/2006/main">
              <a:ext uri="{FF2B5EF4-FFF2-40B4-BE49-F238E27FC236}">
                <a16:creationId xmlns:a16="http://schemas.microsoft.com/office/drawing/2014/main" id="{40C61373-FD2A-486B-A82F-07ABDC831E0C}"/>
              </a:ext>
            </a:extLst>
          </p:cNvPr>
          <p:cNvSpPr>
            <a:spLocks xmlns:a="http://schemas.openxmlformats.org/drawingml/2006/main" noGrp="1"/>
          </p:cNvSpPr>
          <p:nvPr/>
        </p:nvSpPr>
        <p:spPr>
          <a:xfrm xmlns:a="http://schemas.openxmlformats.org/drawingml/2006/main">
            <a:off x="1924050" y="25336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Ausgangsfall</a:t>
            </a:r>
          </a:p>
        </p:txBody>
      </p:sp>
      <p:sp>
        <p:nvSpPr>
          <p:cNvPr id="10" name="">
            <a:extLst xmlns:a="http://schemas.openxmlformats.org/drawingml/2006/main">
              <a:ext uri="{FF2B5EF4-FFF2-40B4-BE49-F238E27FC236}">
                <a16:creationId xmlns:a16="http://schemas.microsoft.com/office/drawing/2014/main" id="{76522FE8-6267-43E8-A9B7-DCD3E5D16257}"/>
              </a:ext>
            </a:extLst>
          </p:cNvPr>
          <p:cNvSpPr>
            <a:spLocks xmlns:a="http://schemas.openxmlformats.org/drawingml/2006/main" noGrp="1"/>
          </p:cNvSpPr>
          <p:nvPr/>
        </p:nvSpPr>
        <p:spPr>
          <a:xfrm xmlns:a="http://schemas.openxmlformats.org/drawingml/2006/main">
            <a:off x="3695700" y="25336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88">
                <a:solidFill>
                  <a:srgbClr val="15232B"/>
                </a:solidFill>
              </a:defRPr>
            </a:pPr>
            <a:r>
              <a:rPr sz="1088">
                <a:solidFill>
                  <a:srgbClr val="15232B"/>
                </a:solidFill>
              </a:rPr>
              <a:t>Auf Grundlage des Patientenwillens wurde eine laufende künstliche Ernährung beendet; strafrechtlich war umstritten, ob aktives Durchtrennen anders zu beurteilen sei als Unterlassen.</a:t>
            </a:r>
          </a:p>
        </p:txBody>
      </p:sp>
      <p:sp>
        <p:nvSpPr>
          <p:cNvPr id="11" name="">
            <a:extLst xmlns:a="http://schemas.openxmlformats.org/drawingml/2006/main">
              <a:ext uri="{FF2B5EF4-FFF2-40B4-BE49-F238E27FC236}">
                <a16:creationId xmlns:a16="http://schemas.microsoft.com/office/drawing/2014/main" id="{7BF91553-A862-4405-827C-157F3D866B29}"/>
              </a:ext>
            </a:extLst>
          </p:cNvPr>
          <p:cNvSpPr>
            <a:spLocks xmlns:a="http://schemas.openxmlformats.org/drawingml/2006/main" noGrp="1"/>
          </p:cNvSpPr>
          <p:nvPr/>
        </p:nvSpPr>
        <p:spPr>
          <a:xfrm xmlns:a="http://schemas.openxmlformats.org/drawingml/2006/main">
            <a:off x="1809750" y="3486150"/>
            <a:ext cx="1676400" cy="781050"/>
          </a:xfrm>
          <a:prstGeom xmlns:a="http://schemas.openxmlformats.org/drawingml/2006/main" prst="roundRect">
            <a:avLst>
              <a:gd name="adj" fmla="val 9756"/>
            </a:avLst>
          </a:prstGeom>
          <a:solidFill xmlns:a="http://schemas.openxmlformats.org/drawingml/2006/main">
            <a:srgbClr val="003F6B"/>
          </a:solidFill>
          <a:ln xmlns:a="http://schemas.openxmlformats.org/drawingml/2006/main" w="0">
            <a:solidFill>
              <a:srgbClr val="003F6B"/>
            </a:solidFill>
            <a:prstDash val="solid"/>
          </a:ln>
        </p:spPr>
      </p:sp>
      <p:sp>
        <p:nvSpPr>
          <p:cNvPr id="12" name="">
            <a:extLst xmlns:a="http://schemas.openxmlformats.org/drawingml/2006/main">
              <a:ext uri="{FF2B5EF4-FFF2-40B4-BE49-F238E27FC236}">
                <a16:creationId xmlns:a16="http://schemas.microsoft.com/office/drawing/2014/main" id="{4A209C48-7859-457F-977E-168C71EBEE10}"/>
              </a:ext>
            </a:extLst>
          </p:cNvPr>
          <p:cNvSpPr>
            <a:spLocks xmlns:a="http://schemas.openxmlformats.org/drawingml/2006/main" noGrp="1"/>
          </p:cNvSpPr>
          <p:nvPr/>
        </p:nvSpPr>
        <p:spPr>
          <a:xfrm xmlns:a="http://schemas.openxmlformats.org/drawingml/2006/main">
            <a:off x="1924050" y="34861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Kernaussage</a:t>
            </a:r>
          </a:p>
        </p:txBody>
      </p:sp>
      <p:sp>
        <p:nvSpPr>
          <p:cNvPr id="13" name="">
            <a:extLst xmlns:a="http://schemas.openxmlformats.org/drawingml/2006/main">
              <a:ext uri="{FF2B5EF4-FFF2-40B4-BE49-F238E27FC236}">
                <a16:creationId xmlns:a16="http://schemas.microsoft.com/office/drawing/2014/main" id="{36E7CD61-EDB2-4CB2-8536-1CA61C072C9A}"/>
              </a:ext>
            </a:extLst>
          </p:cNvPr>
          <p:cNvSpPr>
            <a:spLocks xmlns:a="http://schemas.openxmlformats.org/drawingml/2006/main" noGrp="1"/>
          </p:cNvSpPr>
          <p:nvPr/>
        </p:nvSpPr>
        <p:spPr>
          <a:xfrm xmlns:a="http://schemas.openxmlformats.org/drawingml/2006/main">
            <a:off x="3695700" y="34861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88">
                <a:solidFill>
                  <a:srgbClr val="15232B"/>
                </a:solidFill>
              </a:defRPr>
            </a:pPr>
            <a:r>
              <a:rPr sz="1088">
                <a:solidFill>
                  <a:srgbClr val="15232B"/>
                </a:solidFill>
              </a:rPr>
              <a:t>Begrenzen oder Beenden einer Behandlung ist gerechtfertigt, wenn es tatsächlichem oder mutmaßlichem Patientenwillen entspricht und einem ohne Behandlung tödlichen Krankheitsprozess seinen Lauf lässt. Der Abbruch kann durch Unterlassen oder aktives Tun erfolgen.</a:t>
            </a:r>
          </a:p>
        </p:txBody>
      </p:sp>
      <p:sp>
        <p:nvSpPr>
          <p:cNvPr id="14" name="">
            <a:extLst xmlns:a="http://schemas.openxmlformats.org/drawingml/2006/main">
              <a:ext uri="{FF2B5EF4-FFF2-40B4-BE49-F238E27FC236}">
                <a16:creationId xmlns:a16="http://schemas.microsoft.com/office/drawing/2014/main" id="{2C27C9B8-DC02-4942-B4B6-B00FE0472591}"/>
              </a:ext>
            </a:extLst>
          </p:cNvPr>
          <p:cNvSpPr>
            <a:spLocks xmlns:a="http://schemas.openxmlformats.org/drawingml/2006/main" noGrp="1"/>
          </p:cNvSpPr>
          <p:nvPr/>
        </p:nvSpPr>
        <p:spPr>
          <a:xfrm xmlns:a="http://schemas.openxmlformats.org/drawingml/2006/main">
            <a:off x="1809750" y="4438650"/>
            <a:ext cx="1676400" cy="781050"/>
          </a:xfrm>
          <a:prstGeom xmlns:a="http://schemas.openxmlformats.org/drawingml/2006/main" prst="roundRect">
            <a:avLst>
              <a:gd name="adj" fmla="val 9756"/>
            </a:avLst>
          </a:prstGeom>
          <a:solidFill xmlns:a="http://schemas.openxmlformats.org/drawingml/2006/main">
            <a:srgbClr val="00B2BB"/>
          </a:solidFill>
          <a:ln xmlns:a="http://schemas.openxmlformats.org/drawingml/2006/main" w="0">
            <a:solidFill>
              <a:srgbClr val="00B2BB"/>
            </a:solidFill>
            <a:prstDash val="solid"/>
          </a:ln>
        </p:spPr>
      </p:sp>
      <p:sp>
        <p:nvSpPr>
          <p:cNvPr id="15" name="">
            <a:extLst xmlns:a="http://schemas.openxmlformats.org/drawingml/2006/main">
              <a:ext uri="{FF2B5EF4-FFF2-40B4-BE49-F238E27FC236}">
                <a16:creationId xmlns:a16="http://schemas.microsoft.com/office/drawing/2014/main" id="{32C42CC2-6B4E-42D7-8B1B-75F6A9F86FEE}"/>
              </a:ext>
            </a:extLst>
          </p:cNvPr>
          <p:cNvSpPr>
            <a:spLocks xmlns:a="http://schemas.openxmlformats.org/drawingml/2006/main" noGrp="1"/>
          </p:cNvSpPr>
          <p:nvPr/>
        </p:nvSpPr>
        <p:spPr>
          <a:xfrm xmlns:a="http://schemas.openxmlformats.org/drawingml/2006/main">
            <a:off x="1924050" y="44386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Für die Praxis</a:t>
            </a:r>
          </a:p>
        </p:txBody>
      </p:sp>
      <p:sp>
        <p:nvSpPr>
          <p:cNvPr id="16" name="">
            <a:extLst xmlns:a="http://schemas.openxmlformats.org/drawingml/2006/main">
              <a:ext uri="{FF2B5EF4-FFF2-40B4-BE49-F238E27FC236}">
                <a16:creationId xmlns:a16="http://schemas.microsoft.com/office/drawing/2014/main" id="{B29199CD-A62F-4C49-B8AB-C1770A5F21DB}"/>
              </a:ext>
            </a:extLst>
          </p:cNvPr>
          <p:cNvSpPr>
            <a:spLocks xmlns:a="http://schemas.openxmlformats.org/drawingml/2006/main" noGrp="1"/>
          </p:cNvSpPr>
          <p:nvPr/>
        </p:nvSpPr>
        <p:spPr>
          <a:xfrm xmlns:a="http://schemas.openxmlformats.org/drawingml/2006/main">
            <a:off x="3695700" y="44386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88">
                <a:solidFill>
                  <a:srgbClr val="15232B"/>
                </a:solidFill>
              </a:defRPr>
            </a:pPr>
            <a:r>
              <a:rPr sz="1088">
                <a:solidFill>
                  <a:srgbClr val="15232B"/>
                </a:solidFill>
              </a:rPr>
              <a:t>Nicht die technische Form entscheidet, sondern Indikation, Patientenwille und der Zusammenhang mit der Behandlungsbegrenzung.</a:t>
            </a:r>
          </a:p>
        </p:txBody>
      </p:sp>
      <p:sp>
        <p:nvSpPr>
          <p:cNvPr id="17" name="">
            <a:extLst xmlns:a="http://schemas.openxmlformats.org/drawingml/2006/main">
              <a:ext uri="{FF2B5EF4-FFF2-40B4-BE49-F238E27FC236}">
                <a16:creationId xmlns:a16="http://schemas.microsoft.com/office/drawing/2014/main" id="{4448663D-4E90-4221-BC6B-4879380EA5CF}"/>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20">
                <a:solidFill>
                  <a:srgbClr val="667680"/>
                </a:solidFill>
              </a:defRPr>
            </a:pPr>
            <a:r>
              <a:rPr sz="720">
                <a:solidFill>
                  <a:srgbClr val="667680"/>
                </a:solidFill>
              </a:rPr>
              <a:t>BGH, Urteil 2 StR 454/09, juris.bundesgerichtshof.de · https://juris.bundesgerichtshof.de</a:t>
            </a:r>
          </a:p>
        </p:txBody>
      </p:sp>
    </p:spTree>
    <p:extLst>
      <p:ext uri="{BB962C8B-B14F-4D97-AF65-F5344CB8AC3E}">
        <p14:creationId xmlns:p14="http://schemas.microsoft.com/office/powerpoint/2010/main" val="43637646"/>
      </p:ext>
    </p:extLst>
  </p:cSld>
</p:sld>
</file>

<file path=ppt/slides/slide297.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Zwangsbehandlung nur als gesetzlich gesicherte Ultima Ratio</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REALE ENTSCHEIDUNG</a:t>
            </a:r>
            <a:endParaRPr/>
          </a:p>
        </p:txBody>
      </p:sp>
      <p:sp>
        <p:nvSpPr>
          <p:cNvPr id="4" name="">
            <a:extLst xmlns:a="http://schemas.openxmlformats.org/drawingml/2006/main">
              <a:ext uri="{FF2B5EF4-FFF2-40B4-BE49-F238E27FC236}">
                <a16:creationId xmlns:a16="http://schemas.microsoft.com/office/drawing/2014/main" id="{FFBD267B-4679-4389-8BE7-B78177264EC0}"/>
              </a:ext>
            </a:extLst>
          </p:cNvPr>
          <p:cNvSpPr>
            <a:spLocks xmlns:a="http://schemas.openxmlformats.org/drawingml/2006/main" noGrp="1"/>
          </p:cNvSpPr>
          <p:nvPr/>
        </p:nvSpPr>
        <p:spPr>
          <a:xfrm xmlns:a="http://schemas.openxmlformats.org/drawingml/2006/main">
            <a:off x="1809750" y="1943100"/>
            <a:ext cx="11239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EB3B4EB5-3D3C-4C10-A392-4FDF97C899D7}"/>
              </a:ext>
            </a:extLst>
          </p:cNvPr>
          <p:cNvSpPr>
            <a:spLocks xmlns:a="http://schemas.openxmlformats.org/drawingml/2006/main" noGrp="1"/>
          </p:cNvSpPr>
          <p:nvPr/>
        </p:nvSpPr>
        <p:spPr>
          <a:xfrm xmlns:a="http://schemas.openxmlformats.org/drawingml/2006/main">
            <a:off x="1809750" y="1943100"/>
            <a:ext cx="1123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BVerfG</a:t>
            </a:r>
          </a:p>
        </p:txBody>
      </p:sp>
      <p:sp>
        <p:nvSpPr>
          <p:cNvPr id="6" name="">
            <a:extLst xmlns:a="http://schemas.openxmlformats.org/drawingml/2006/main">
              <a:ext uri="{FF2B5EF4-FFF2-40B4-BE49-F238E27FC236}">
                <a16:creationId xmlns:a16="http://schemas.microsoft.com/office/drawing/2014/main" id="{F73D60E7-1ADC-4FE6-9FCA-B912CCFE0445}"/>
              </a:ext>
            </a:extLst>
          </p:cNvPr>
          <p:cNvSpPr>
            <a:spLocks xmlns:a="http://schemas.openxmlformats.org/drawingml/2006/main" noGrp="1"/>
          </p:cNvSpPr>
          <p:nvPr/>
        </p:nvSpPr>
        <p:spPr>
          <a:xfrm xmlns:a="http://schemas.openxmlformats.org/drawingml/2006/main">
            <a:off x="312420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23.03.2011 · 2 BvR 882/09</a:t>
            </a:r>
          </a:p>
        </p:txBody>
      </p:sp>
      <p:sp>
        <p:nvSpPr>
          <p:cNvPr id="7" name="">
            <a:extLst xmlns:a="http://schemas.openxmlformats.org/drawingml/2006/main">
              <a:ext uri="{FF2B5EF4-FFF2-40B4-BE49-F238E27FC236}">
                <a16:creationId xmlns:a16="http://schemas.microsoft.com/office/drawing/2014/main" id="{7CC2E914-A79F-4422-A8D4-25342A66F111}"/>
              </a:ext>
            </a:extLst>
          </p:cNvPr>
          <p:cNvSpPr>
            <a:spLocks xmlns:a="http://schemas.openxmlformats.org/drawingml/2006/main" noGrp="1"/>
          </p:cNvSpPr>
          <p:nvPr/>
        </p:nvSpPr>
        <p:spPr>
          <a:xfrm xmlns:a="http://schemas.openxmlformats.org/drawingml/2006/main">
            <a:off x="733425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050">
                <a:solidFill>
                  <a:srgbClr val="667680"/>
                </a:solidFill>
              </a:defRPr>
            </a:pPr>
            <a:r>
              <a:rPr sz="1050">
                <a:solidFill>
                  <a:srgbClr val="667680"/>
                </a:solidFill>
              </a:rPr>
              <a:t>Leitentscheidung</a:t>
            </a:r>
          </a:p>
        </p:txBody>
      </p:sp>
      <p:sp>
        <p:nvSpPr>
          <p:cNvPr id="8" name="">
            <a:extLst xmlns:a="http://schemas.openxmlformats.org/drawingml/2006/main">
              <a:ext uri="{FF2B5EF4-FFF2-40B4-BE49-F238E27FC236}">
                <a16:creationId xmlns:a16="http://schemas.microsoft.com/office/drawing/2014/main" id="{2F3D37E2-B603-4739-A09B-E318C6C090E8}"/>
              </a:ext>
            </a:extLst>
          </p:cNvPr>
          <p:cNvSpPr>
            <a:spLocks xmlns:a="http://schemas.openxmlformats.org/drawingml/2006/main" noGrp="1"/>
          </p:cNvSpPr>
          <p:nvPr/>
        </p:nvSpPr>
        <p:spPr>
          <a:xfrm xmlns:a="http://schemas.openxmlformats.org/drawingml/2006/main">
            <a:off x="1809750" y="2533650"/>
            <a:ext cx="1676400" cy="781050"/>
          </a:xfrm>
          <a:prstGeom xmlns:a="http://schemas.openxmlformats.org/drawingml/2006/main" prst="roundRect">
            <a:avLst>
              <a:gd name="adj" fmla="val 9756"/>
            </a:avLst>
          </a:prstGeom>
          <a:solidFill xmlns:a="http://schemas.openxmlformats.org/drawingml/2006/main">
            <a:srgbClr val="00B2BB"/>
          </a:solidFill>
          <a:ln xmlns:a="http://schemas.openxmlformats.org/drawingml/2006/main" w="0">
            <a:solidFill>
              <a:srgbClr val="00B2BB"/>
            </a:solidFill>
            <a:prstDash val="solid"/>
          </a:ln>
        </p:spPr>
      </p:sp>
      <p:sp>
        <p:nvSpPr>
          <p:cNvPr id="9" name="">
            <a:extLst xmlns:a="http://schemas.openxmlformats.org/drawingml/2006/main">
              <a:ext uri="{FF2B5EF4-FFF2-40B4-BE49-F238E27FC236}">
                <a16:creationId xmlns:a16="http://schemas.microsoft.com/office/drawing/2014/main" id="{A845E416-7658-4C35-A2B2-C909FDB5C6CB}"/>
              </a:ext>
            </a:extLst>
          </p:cNvPr>
          <p:cNvSpPr>
            <a:spLocks xmlns:a="http://schemas.openxmlformats.org/drawingml/2006/main" noGrp="1"/>
          </p:cNvSpPr>
          <p:nvPr/>
        </p:nvSpPr>
        <p:spPr>
          <a:xfrm xmlns:a="http://schemas.openxmlformats.org/drawingml/2006/main">
            <a:off x="1924050" y="25336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Ausgangsfall</a:t>
            </a:r>
          </a:p>
        </p:txBody>
      </p:sp>
      <p:sp>
        <p:nvSpPr>
          <p:cNvPr id="10" name="">
            <a:extLst xmlns:a="http://schemas.openxmlformats.org/drawingml/2006/main">
              <a:ext uri="{FF2B5EF4-FFF2-40B4-BE49-F238E27FC236}">
                <a16:creationId xmlns:a16="http://schemas.microsoft.com/office/drawing/2014/main" id="{9C734DB3-8745-4275-924F-37EECD93AEDE}"/>
              </a:ext>
            </a:extLst>
          </p:cNvPr>
          <p:cNvSpPr>
            <a:spLocks xmlns:a="http://schemas.openxmlformats.org/drawingml/2006/main" noGrp="1"/>
          </p:cNvSpPr>
          <p:nvPr/>
        </p:nvSpPr>
        <p:spPr>
          <a:xfrm xmlns:a="http://schemas.openxmlformats.org/drawingml/2006/main">
            <a:off x="3695700" y="25336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88">
                <a:solidFill>
                  <a:srgbClr val="15232B"/>
                </a:solidFill>
              </a:defRPr>
            </a:pPr>
            <a:r>
              <a:rPr sz="1088">
                <a:solidFill>
                  <a:srgbClr val="15232B"/>
                </a:solidFill>
              </a:rPr>
              <a:t>Ein im Maßregelvollzug Untergebrachter sollte gegen seinen natürlichen Willen medikamentös behandelt werden.</a:t>
            </a:r>
          </a:p>
        </p:txBody>
      </p:sp>
      <p:sp>
        <p:nvSpPr>
          <p:cNvPr id="11" name="">
            <a:extLst xmlns:a="http://schemas.openxmlformats.org/drawingml/2006/main">
              <a:ext uri="{FF2B5EF4-FFF2-40B4-BE49-F238E27FC236}">
                <a16:creationId xmlns:a16="http://schemas.microsoft.com/office/drawing/2014/main" id="{9713E264-6FAB-4360-895B-E38C61C2F8CB}"/>
              </a:ext>
            </a:extLst>
          </p:cNvPr>
          <p:cNvSpPr>
            <a:spLocks xmlns:a="http://schemas.openxmlformats.org/drawingml/2006/main" noGrp="1"/>
          </p:cNvSpPr>
          <p:nvPr/>
        </p:nvSpPr>
        <p:spPr>
          <a:xfrm xmlns:a="http://schemas.openxmlformats.org/drawingml/2006/main">
            <a:off x="1809750" y="3486150"/>
            <a:ext cx="1676400" cy="781050"/>
          </a:xfrm>
          <a:prstGeom xmlns:a="http://schemas.openxmlformats.org/drawingml/2006/main" prst="roundRect">
            <a:avLst>
              <a:gd name="adj" fmla="val 9756"/>
            </a:avLst>
          </a:prstGeom>
          <a:solidFill xmlns:a="http://schemas.openxmlformats.org/drawingml/2006/main">
            <a:srgbClr val="003F6B"/>
          </a:solidFill>
          <a:ln xmlns:a="http://schemas.openxmlformats.org/drawingml/2006/main" w="0">
            <a:solidFill>
              <a:srgbClr val="003F6B"/>
            </a:solidFill>
            <a:prstDash val="solid"/>
          </a:ln>
        </p:spPr>
      </p:sp>
      <p:sp>
        <p:nvSpPr>
          <p:cNvPr id="12" name="">
            <a:extLst xmlns:a="http://schemas.openxmlformats.org/drawingml/2006/main">
              <a:ext uri="{FF2B5EF4-FFF2-40B4-BE49-F238E27FC236}">
                <a16:creationId xmlns:a16="http://schemas.microsoft.com/office/drawing/2014/main" id="{F6C56637-7675-4DE4-8DE7-FFC048450E24}"/>
              </a:ext>
            </a:extLst>
          </p:cNvPr>
          <p:cNvSpPr>
            <a:spLocks xmlns:a="http://schemas.openxmlformats.org/drawingml/2006/main" noGrp="1"/>
          </p:cNvSpPr>
          <p:nvPr/>
        </p:nvSpPr>
        <p:spPr>
          <a:xfrm xmlns:a="http://schemas.openxmlformats.org/drawingml/2006/main">
            <a:off x="1924050" y="34861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Kernaussage</a:t>
            </a:r>
          </a:p>
        </p:txBody>
      </p:sp>
      <p:sp>
        <p:nvSpPr>
          <p:cNvPr id="13" name="">
            <a:extLst xmlns:a="http://schemas.openxmlformats.org/drawingml/2006/main">
              <a:ext uri="{FF2B5EF4-FFF2-40B4-BE49-F238E27FC236}">
                <a16:creationId xmlns:a16="http://schemas.microsoft.com/office/drawing/2014/main" id="{2A742B4A-8A61-4C27-8C10-E6E28B14F6FA}"/>
              </a:ext>
            </a:extLst>
          </p:cNvPr>
          <p:cNvSpPr>
            <a:spLocks xmlns:a="http://schemas.openxmlformats.org/drawingml/2006/main" noGrp="1"/>
          </p:cNvSpPr>
          <p:nvPr/>
        </p:nvSpPr>
        <p:spPr>
          <a:xfrm xmlns:a="http://schemas.openxmlformats.org/drawingml/2006/main">
            <a:off x="3695700" y="34861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88">
                <a:solidFill>
                  <a:srgbClr val="15232B"/>
                </a:solidFill>
              </a:defRPr>
            </a:pPr>
            <a:r>
              <a:rPr sz="1088">
                <a:solidFill>
                  <a:srgbClr val="15232B"/>
                </a:solidFill>
              </a:rPr>
              <a:t>Zwangsbehandlung ist ein schwerer Grundrechtseingriff. Sie setzt fehlende krankheitsbedingte Einsichtsfähigkeit, Erfolgsaussicht, Verhältnismäßigkeit, Ultima Ratio, besondere Verfahrenssicherungen und eine klare gesetzliche Grundlage voraus.</a:t>
            </a:r>
          </a:p>
        </p:txBody>
      </p:sp>
      <p:sp>
        <p:nvSpPr>
          <p:cNvPr id="14" name="">
            <a:extLst xmlns:a="http://schemas.openxmlformats.org/drawingml/2006/main">
              <a:ext uri="{FF2B5EF4-FFF2-40B4-BE49-F238E27FC236}">
                <a16:creationId xmlns:a16="http://schemas.microsoft.com/office/drawing/2014/main" id="{E192C851-214A-458A-849D-A6D0AA462ACB}"/>
              </a:ext>
            </a:extLst>
          </p:cNvPr>
          <p:cNvSpPr>
            <a:spLocks xmlns:a="http://schemas.openxmlformats.org/drawingml/2006/main" noGrp="1"/>
          </p:cNvSpPr>
          <p:nvPr/>
        </p:nvSpPr>
        <p:spPr>
          <a:xfrm xmlns:a="http://schemas.openxmlformats.org/drawingml/2006/main">
            <a:off x="1809750" y="4438650"/>
            <a:ext cx="1676400" cy="781050"/>
          </a:xfrm>
          <a:prstGeom xmlns:a="http://schemas.openxmlformats.org/drawingml/2006/main" prst="roundRect">
            <a:avLst>
              <a:gd name="adj" fmla="val 9756"/>
            </a:avLst>
          </a:prstGeom>
          <a:solidFill xmlns:a="http://schemas.openxmlformats.org/drawingml/2006/main">
            <a:srgbClr val="00B2BB"/>
          </a:solidFill>
          <a:ln xmlns:a="http://schemas.openxmlformats.org/drawingml/2006/main" w="0">
            <a:solidFill>
              <a:srgbClr val="00B2BB"/>
            </a:solidFill>
            <a:prstDash val="solid"/>
          </a:ln>
        </p:spPr>
      </p:sp>
      <p:sp>
        <p:nvSpPr>
          <p:cNvPr id="15" name="">
            <a:extLst xmlns:a="http://schemas.openxmlformats.org/drawingml/2006/main">
              <a:ext uri="{FF2B5EF4-FFF2-40B4-BE49-F238E27FC236}">
                <a16:creationId xmlns:a16="http://schemas.microsoft.com/office/drawing/2014/main" id="{D81A2635-5019-483B-B427-F36F7334FD99}"/>
              </a:ext>
            </a:extLst>
          </p:cNvPr>
          <p:cNvSpPr>
            <a:spLocks xmlns:a="http://schemas.openxmlformats.org/drawingml/2006/main" noGrp="1"/>
          </p:cNvSpPr>
          <p:nvPr/>
        </p:nvSpPr>
        <p:spPr>
          <a:xfrm xmlns:a="http://schemas.openxmlformats.org/drawingml/2006/main">
            <a:off x="1924050" y="44386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Für die Praxis</a:t>
            </a:r>
          </a:p>
        </p:txBody>
      </p:sp>
      <p:sp>
        <p:nvSpPr>
          <p:cNvPr id="16" name="">
            <a:extLst xmlns:a="http://schemas.openxmlformats.org/drawingml/2006/main">
              <a:ext uri="{FF2B5EF4-FFF2-40B4-BE49-F238E27FC236}">
                <a16:creationId xmlns:a16="http://schemas.microsoft.com/office/drawing/2014/main" id="{559086BA-D2A8-4181-B738-E5F33C340DB1}"/>
              </a:ext>
            </a:extLst>
          </p:cNvPr>
          <p:cNvSpPr>
            <a:spLocks xmlns:a="http://schemas.openxmlformats.org/drawingml/2006/main" noGrp="1"/>
          </p:cNvSpPr>
          <p:nvPr/>
        </p:nvSpPr>
        <p:spPr>
          <a:xfrm xmlns:a="http://schemas.openxmlformats.org/drawingml/2006/main">
            <a:off x="3695700" y="44386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88">
                <a:solidFill>
                  <a:srgbClr val="15232B"/>
                </a:solidFill>
              </a:defRPr>
            </a:pPr>
            <a:r>
              <a:rPr sz="1088">
                <a:solidFill>
                  <a:srgbClr val="15232B"/>
                </a:solidFill>
              </a:rPr>
              <a:t>Medizinische Nützlichkeit allein rechtfertigt keinen Zwang. Zuständigkeit, Rechtsgrundlage, Einwilligungsfähigkeit und Verfahren müssen vorab geklärt sein.</a:t>
            </a:r>
          </a:p>
        </p:txBody>
      </p:sp>
      <p:sp>
        <p:nvSpPr>
          <p:cNvPr id="17" name="">
            <a:extLst xmlns:a="http://schemas.openxmlformats.org/drawingml/2006/main">
              <a:ext uri="{FF2B5EF4-FFF2-40B4-BE49-F238E27FC236}">
                <a16:creationId xmlns:a16="http://schemas.microsoft.com/office/drawing/2014/main" id="{66BA831C-AFA8-4CFA-BE61-6037BDBDDA32}"/>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20">
                <a:solidFill>
                  <a:srgbClr val="667680"/>
                </a:solidFill>
              </a:defRPr>
            </a:pPr>
            <a:r>
              <a:rPr sz="720">
                <a:solidFill>
                  <a:srgbClr val="667680"/>
                </a:solidFill>
              </a:rPr>
              <a:t>BVerfG, Beschluss 2 BvR 882/09, bundesverfassungsgericht.de · https://www.bundesverfassungsgericht.de</a:t>
            </a:r>
          </a:p>
        </p:txBody>
      </p:sp>
    </p:spTree>
    <p:extLst>
      <p:ext uri="{BB962C8B-B14F-4D97-AF65-F5344CB8AC3E}">
        <p14:creationId xmlns:p14="http://schemas.microsoft.com/office/powerpoint/2010/main" val="43637646"/>
      </p:ext>
    </p:extLst>
  </p:cSld>
</p:sld>
</file>

<file path=ppt/slides/slide298.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Leben als Schaden?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REALE ENTSCHEIDUNG</a:t>
            </a:r>
            <a:endParaRPr/>
          </a:p>
        </p:txBody>
      </p:sp>
      <p:sp>
        <p:nvSpPr>
          <p:cNvPr id="4" name="">
            <a:extLst xmlns:a="http://schemas.openxmlformats.org/drawingml/2006/main">
              <a:ext uri="{FF2B5EF4-FFF2-40B4-BE49-F238E27FC236}">
                <a16:creationId xmlns:a16="http://schemas.microsoft.com/office/drawing/2014/main" id="{B3C6D9E8-99C3-4922-A406-C3B0CBBD95D4}"/>
              </a:ext>
            </a:extLst>
          </p:cNvPr>
          <p:cNvSpPr>
            <a:spLocks xmlns:a="http://schemas.openxmlformats.org/drawingml/2006/main" noGrp="1"/>
          </p:cNvSpPr>
          <p:nvPr/>
        </p:nvSpPr>
        <p:spPr>
          <a:xfrm xmlns:a="http://schemas.openxmlformats.org/drawingml/2006/main">
            <a:off x="1809750" y="1943100"/>
            <a:ext cx="11239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6135BBB5-7C3C-420E-A5F9-89FC0A3158E0}"/>
              </a:ext>
            </a:extLst>
          </p:cNvPr>
          <p:cNvSpPr>
            <a:spLocks xmlns:a="http://schemas.openxmlformats.org/drawingml/2006/main" noGrp="1"/>
          </p:cNvSpPr>
          <p:nvPr/>
        </p:nvSpPr>
        <p:spPr>
          <a:xfrm xmlns:a="http://schemas.openxmlformats.org/drawingml/2006/main">
            <a:off x="1809750" y="1943100"/>
            <a:ext cx="1123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BGH</a:t>
            </a:r>
          </a:p>
        </p:txBody>
      </p:sp>
      <p:sp>
        <p:nvSpPr>
          <p:cNvPr id="6" name="">
            <a:extLst xmlns:a="http://schemas.openxmlformats.org/drawingml/2006/main">
              <a:ext uri="{FF2B5EF4-FFF2-40B4-BE49-F238E27FC236}">
                <a16:creationId xmlns:a16="http://schemas.microsoft.com/office/drawing/2014/main" id="{C1C0DA3D-F15D-4A35-ABD6-7BFCAC6082E3}"/>
              </a:ext>
            </a:extLst>
          </p:cNvPr>
          <p:cNvSpPr>
            <a:spLocks xmlns:a="http://schemas.openxmlformats.org/drawingml/2006/main" noGrp="1"/>
          </p:cNvSpPr>
          <p:nvPr/>
        </p:nvSpPr>
        <p:spPr>
          <a:xfrm xmlns:a="http://schemas.openxmlformats.org/drawingml/2006/main">
            <a:off x="312420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02.04.2019 · VI ZR 13/18</a:t>
            </a:r>
          </a:p>
        </p:txBody>
      </p:sp>
      <p:sp>
        <p:nvSpPr>
          <p:cNvPr id="7" name="">
            <a:extLst xmlns:a="http://schemas.openxmlformats.org/drawingml/2006/main">
              <a:ext uri="{FF2B5EF4-FFF2-40B4-BE49-F238E27FC236}">
                <a16:creationId xmlns:a16="http://schemas.microsoft.com/office/drawing/2014/main" id="{397EFFC2-C39E-4A50-ADF4-0062265DBC06}"/>
              </a:ext>
            </a:extLst>
          </p:cNvPr>
          <p:cNvSpPr>
            <a:spLocks xmlns:a="http://schemas.openxmlformats.org/drawingml/2006/main" noGrp="1"/>
          </p:cNvSpPr>
          <p:nvPr/>
        </p:nvSpPr>
        <p:spPr>
          <a:xfrm xmlns:a="http://schemas.openxmlformats.org/drawingml/2006/main">
            <a:off x="733425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050">
                <a:solidFill>
                  <a:srgbClr val="667680"/>
                </a:solidFill>
              </a:defRPr>
            </a:pPr>
            <a:r>
              <a:rPr sz="1050">
                <a:solidFill>
                  <a:srgbClr val="667680"/>
                </a:solidFill>
              </a:rPr>
              <a:t>Leitentscheidung</a:t>
            </a:r>
          </a:p>
        </p:txBody>
      </p:sp>
      <p:sp>
        <p:nvSpPr>
          <p:cNvPr id="8" name="">
            <a:extLst xmlns:a="http://schemas.openxmlformats.org/drawingml/2006/main">
              <a:ext uri="{FF2B5EF4-FFF2-40B4-BE49-F238E27FC236}">
                <a16:creationId xmlns:a16="http://schemas.microsoft.com/office/drawing/2014/main" id="{8B5BE696-1D3C-484E-BA3D-EB36BC89FD27}"/>
              </a:ext>
            </a:extLst>
          </p:cNvPr>
          <p:cNvSpPr>
            <a:spLocks xmlns:a="http://schemas.openxmlformats.org/drawingml/2006/main" noGrp="1"/>
          </p:cNvSpPr>
          <p:nvPr/>
        </p:nvSpPr>
        <p:spPr>
          <a:xfrm xmlns:a="http://schemas.openxmlformats.org/drawingml/2006/main">
            <a:off x="1809750" y="2533650"/>
            <a:ext cx="1676400" cy="781050"/>
          </a:xfrm>
          <a:prstGeom xmlns:a="http://schemas.openxmlformats.org/drawingml/2006/main" prst="roundRect">
            <a:avLst>
              <a:gd name="adj" fmla="val 9756"/>
            </a:avLst>
          </a:prstGeom>
          <a:solidFill xmlns:a="http://schemas.openxmlformats.org/drawingml/2006/main">
            <a:srgbClr val="00B2BB"/>
          </a:solidFill>
          <a:ln xmlns:a="http://schemas.openxmlformats.org/drawingml/2006/main" w="0">
            <a:solidFill>
              <a:srgbClr val="00B2BB"/>
            </a:solidFill>
            <a:prstDash val="solid"/>
          </a:ln>
        </p:spPr>
      </p:sp>
      <p:sp>
        <p:nvSpPr>
          <p:cNvPr id="9" name="">
            <a:extLst xmlns:a="http://schemas.openxmlformats.org/drawingml/2006/main">
              <a:ext uri="{FF2B5EF4-FFF2-40B4-BE49-F238E27FC236}">
                <a16:creationId xmlns:a16="http://schemas.microsoft.com/office/drawing/2014/main" id="{DEE9EB4B-9DDD-4238-A1A6-44091C035CF4}"/>
              </a:ext>
            </a:extLst>
          </p:cNvPr>
          <p:cNvSpPr>
            <a:spLocks xmlns:a="http://schemas.openxmlformats.org/drawingml/2006/main" noGrp="1"/>
          </p:cNvSpPr>
          <p:nvPr/>
        </p:nvSpPr>
        <p:spPr>
          <a:xfrm xmlns:a="http://schemas.openxmlformats.org/drawingml/2006/main">
            <a:off x="1924050" y="25336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Ausgangsfall</a:t>
            </a:r>
          </a:p>
        </p:txBody>
      </p:sp>
      <p:sp>
        <p:nvSpPr>
          <p:cNvPr id="10" name="">
            <a:extLst xmlns:a="http://schemas.openxmlformats.org/drawingml/2006/main">
              <a:ext uri="{FF2B5EF4-FFF2-40B4-BE49-F238E27FC236}">
                <a16:creationId xmlns:a16="http://schemas.microsoft.com/office/drawing/2014/main" id="{4F1D9848-8366-47EA-8D4B-77F0519901C6}"/>
              </a:ext>
            </a:extLst>
          </p:cNvPr>
          <p:cNvSpPr>
            <a:spLocks xmlns:a="http://schemas.openxmlformats.org/drawingml/2006/main" noGrp="1"/>
          </p:cNvSpPr>
          <p:nvPr/>
        </p:nvSpPr>
        <p:spPr>
          <a:xfrm xmlns:a="http://schemas.openxmlformats.org/drawingml/2006/main">
            <a:off x="3695700" y="25336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88">
                <a:solidFill>
                  <a:srgbClr val="15232B"/>
                </a:solidFill>
              </a:defRPr>
            </a:pPr>
            <a:r>
              <a:rPr sz="1088">
                <a:solidFill>
                  <a:srgbClr val="15232B"/>
                </a:solidFill>
              </a:rPr>
              <a:t>Der Erbe verlangte Schadensersatz, weil eine künstliche Ernährung das leidensbehaftete Leben eines schwerkranken Patienten verlängert habe.</a:t>
            </a:r>
          </a:p>
        </p:txBody>
      </p:sp>
      <p:sp>
        <p:nvSpPr>
          <p:cNvPr id="11" name="">
            <a:extLst xmlns:a="http://schemas.openxmlformats.org/drawingml/2006/main">
              <a:ext uri="{FF2B5EF4-FFF2-40B4-BE49-F238E27FC236}">
                <a16:creationId xmlns:a16="http://schemas.microsoft.com/office/drawing/2014/main" id="{06C32489-DED6-47E1-A2C4-9B526E7CDFA6}"/>
              </a:ext>
            </a:extLst>
          </p:cNvPr>
          <p:cNvSpPr>
            <a:spLocks xmlns:a="http://schemas.openxmlformats.org/drawingml/2006/main" noGrp="1"/>
          </p:cNvSpPr>
          <p:nvPr/>
        </p:nvSpPr>
        <p:spPr>
          <a:xfrm xmlns:a="http://schemas.openxmlformats.org/drawingml/2006/main">
            <a:off x="1809750" y="3486150"/>
            <a:ext cx="1676400" cy="781050"/>
          </a:xfrm>
          <a:prstGeom xmlns:a="http://schemas.openxmlformats.org/drawingml/2006/main" prst="roundRect">
            <a:avLst>
              <a:gd name="adj" fmla="val 9756"/>
            </a:avLst>
          </a:prstGeom>
          <a:solidFill xmlns:a="http://schemas.openxmlformats.org/drawingml/2006/main">
            <a:srgbClr val="003F6B"/>
          </a:solidFill>
          <a:ln xmlns:a="http://schemas.openxmlformats.org/drawingml/2006/main" w="0">
            <a:solidFill>
              <a:srgbClr val="003F6B"/>
            </a:solidFill>
            <a:prstDash val="solid"/>
          </a:ln>
        </p:spPr>
      </p:sp>
      <p:sp>
        <p:nvSpPr>
          <p:cNvPr id="12" name="">
            <a:extLst xmlns:a="http://schemas.openxmlformats.org/drawingml/2006/main">
              <a:ext uri="{FF2B5EF4-FFF2-40B4-BE49-F238E27FC236}">
                <a16:creationId xmlns:a16="http://schemas.microsoft.com/office/drawing/2014/main" id="{DA9B51AE-07B8-4926-BCE5-273ED3E68D47}"/>
              </a:ext>
            </a:extLst>
          </p:cNvPr>
          <p:cNvSpPr>
            <a:spLocks xmlns:a="http://schemas.openxmlformats.org/drawingml/2006/main" noGrp="1"/>
          </p:cNvSpPr>
          <p:nvPr/>
        </p:nvSpPr>
        <p:spPr>
          <a:xfrm xmlns:a="http://schemas.openxmlformats.org/drawingml/2006/main">
            <a:off x="1924050" y="34861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Kernaussage</a:t>
            </a:r>
          </a:p>
        </p:txBody>
      </p:sp>
      <p:sp>
        <p:nvSpPr>
          <p:cNvPr id="13" name="">
            <a:extLst xmlns:a="http://schemas.openxmlformats.org/drawingml/2006/main">
              <a:ext uri="{FF2B5EF4-FFF2-40B4-BE49-F238E27FC236}">
                <a16:creationId xmlns:a16="http://schemas.microsoft.com/office/drawing/2014/main" id="{E8D0F30A-1F35-4B20-92A4-10A00DE0230D}"/>
              </a:ext>
            </a:extLst>
          </p:cNvPr>
          <p:cNvSpPr>
            <a:spLocks xmlns:a="http://schemas.openxmlformats.org/drawingml/2006/main" noGrp="1"/>
          </p:cNvSpPr>
          <p:nvPr/>
        </p:nvSpPr>
        <p:spPr>
          <a:xfrm xmlns:a="http://schemas.openxmlformats.org/drawingml/2006/main">
            <a:off x="3695700" y="34861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88">
                <a:solidFill>
                  <a:srgbClr val="15232B"/>
                </a:solidFill>
              </a:defRPr>
            </a:pPr>
            <a:r>
              <a:rPr sz="1088">
                <a:solidFill>
                  <a:srgbClr val="15232B"/>
                </a:solidFill>
              </a:rPr>
              <a:t>Menschliches Leben darf – auch leidensbehaftet – nicht als Schaden bewertet werden. Aus dem Weiterleben selbst folgt kein Schmerzensgeld; zugleich bleibt der Patientenwille gegen unerwünschte Behandlung verbindlich.</a:t>
            </a:r>
          </a:p>
        </p:txBody>
      </p:sp>
      <p:sp>
        <p:nvSpPr>
          <p:cNvPr id="14" name="">
            <a:extLst xmlns:a="http://schemas.openxmlformats.org/drawingml/2006/main">
              <a:ext uri="{FF2B5EF4-FFF2-40B4-BE49-F238E27FC236}">
                <a16:creationId xmlns:a16="http://schemas.microsoft.com/office/drawing/2014/main" id="{06EF12FA-20CF-4C7A-BE24-C783FE1B6429}"/>
              </a:ext>
            </a:extLst>
          </p:cNvPr>
          <p:cNvSpPr>
            <a:spLocks xmlns:a="http://schemas.openxmlformats.org/drawingml/2006/main" noGrp="1"/>
          </p:cNvSpPr>
          <p:nvPr/>
        </p:nvSpPr>
        <p:spPr>
          <a:xfrm xmlns:a="http://schemas.openxmlformats.org/drawingml/2006/main">
            <a:off x="1809750" y="4438650"/>
            <a:ext cx="1676400" cy="781050"/>
          </a:xfrm>
          <a:prstGeom xmlns:a="http://schemas.openxmlformats.org/drawingml/2006/main" prst="roundRect">
            <a:avLst>
              <a:gd name="adj" fmla="val 9756"/>
            </a:avLst>
          </a:prstGeom>
          <a:solidFill xmlns:a="http://schemas.openxmlformats.org/drawingml/2006/main">
            <a:srgbClr val="00B2BB"/>
          </a:solidFill>
          <a:ln xmlns:a="http://schemas.openxmlformats.org/drawingml/2006/main" w="0">
            <a:solidFill>
              <a:srgbClr val="00B2BB"/>
            </a:solidFill>
            <a:prstDash val="solid"/>
          </a:ln>
        </p:spPr>
      </p:sp>
      <p:sp>
        <p:nvSpPr>
          <p:cNvPr id="15" name="">
            <a:extLst xmlns:a="http://schemas.openxmlformats.org/drawingml/2006/main">
              <a:ext uri="{FF2B5EF4-FFF2-40B4-BE49-F238E27FC236}">
                <a16:creationId xmlns:a16="http://schemas.microsoft.com/office/drawing/2014/main" id="{4B63639B-48AE-4321-83D3-5FAA8B8D51F9}"/>
              </a:ext>
            </a:extLst>
          </p:cNvPr>
          <p:cNvSpPr>
            <a:spLocks xmlns:a="http://schemas.openxmlformats.org/drawingml/2006/main" noGrp="1"/>
          </p:cNvSpPr>
          <p:nvPr/>
        </p:nvSpPr>
        <p:spPr>
          <a:xfrm xmlns:a="http://schemas.openxmlformats.org/drawingml/2006/main">
            <a:off x="1924050" y="44386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Für die Praxis</a:t>
            </a:r>
          </a:p>
        </p:txBody>
      </p:sp>
      <p:sp>
        <p:nvSpPr>
          <p:cNvPr id="16" name="">
            <a:extLst xmlns:a="http://schemas.openxmlformats.org/drawingml/2006/main">
              <a:ext uri="{FF2B5EF4-FFF2-40B4-BE49-F238E27FC236}">
                <a16:creationId xmlns:a16="http://schemas.microsoft.com/office/drawing/2014/main" id="{58782DEB-DC2F-4397-80C1-DC09FE587BE4}"/>
              </a:ext>
            </a:extLst>
          </p:cNvPr>
          <p:cNvSpPr>
            <a:spLocks xmlns:a="http://schemas.openxmlformats.org/drawingml/2006/main" noGrp="1"/>
          </p:cNvSpPr>
          <p:nvPr/>
        </p:nvSpPr>
        <p:spPr>
          <a:xfrm xmlns:a="http://schemas.openxmlformats.org/drawingml/2006/main">
            <a:off x="3695700" y="44386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88">
                <a:solidFill>
                  <a:srgbClr val="15232B"/>
                </a:solidFill>
              </a:defRPr>
            </a:pPr>
            <a:r>
              <a:rPr sz="1088">
                <a:solidFill>
                  <a:srgbClr val="15232B"/>
                </a:solidFill>
              </a:rPr>
              <a:t>Autonomie begründet einen Abwehranspruch gegen ungewollte Behandlung, aber nicht die rechtliche Bewertung des Lebens als ersatzfähigen Schaden.</a:t>
            </a:r>
          </a:p>
        </p:txBody>
      </p:sp>
      <p:sp>
        <p:nvSpPr>
          <p:cNvPr id="17" name="">
            <a:extLst xmlns:a="http://schemas.openxmlformats.org/drawingml/2006/main">
              <a:ext uri="{FF2B5EF4-FFF2-40B4-BE49-F238E27FC236}">
                <a16:creationId xmlns:a16="http://schemas.microsoft.com/office/drawing/2014/main" id="{59C8BB0D-9903-4F73-94AB-75C7B55FDAB3}"/>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20">
                <a:solidFill>
                  <a:srgbClr val="667680"/>
                </a:solidFill>
              </a:defRPr>
            </a:pPr>
            <a:r>
              <a:rPr sz="720">
                <a:solidFill>
                  <a:srgbClr val="667680"/>
                </a:solidFill>
              </a:rPr>
              <a:t>BGH, Urteil VI ZR 13/18, ECLI:DE:BGH:2019:020419UVIZR13.18.0 · https://juris.bundesgerichtshof.de</a:t>
            </a:r>
          </a:p>
        </p:txBody>
      </p:sp>
    </p:spTree>
    <p:extLst>
      <p:ext uri="{BB962C8B-B14F-4D97-AF65-F5344CB8AC3E}">
        <p14:creationId xmlns:p14="http://schemas.microsoft.com/office/powerpoint/2010/main" val="43637646"/>
      </p:ext>
    </p:extLst>
  </p:cSld>
</p:sld>
</file>

<file path=ppt/slides/slide299.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Hypothetische Einwilligung: zeit- und maßnahmenbezogen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REALE ENTSCHEIDUNG</a:t>
            </a:r>
            <a:endParaRPr/>
          </a:p>
        </p:txBody>
      </p:sp>
      <p:sp>
        <p:nvSpPr>
          <p:cNvPr id="4" name="">
            <a:extLst xmlns:a="http://schemas.openxmlformats.org/drawingml/2006/main">
              <a:ext uri="{FF2B5EF4-FFF2-40B4-BE49-F238E27FC236}">
                <a16:creationId xmlns:a16="http://schemas.microsoft.com/office/drawing/2014/main" id="{AF266A80-7940-4A8B-9CC5-371B9282AE0F}"/>
              </a:ext>
            </a:extLst>
          </p:cNvPr>
          <p:cNvSpPr>
            <a:spLocks xmlns:a="http://schemas.openxmlformats.org/drawingml/2006/main" noGrp="1"/>
          </p:cNvSpPr>
          <p:nvPr/>
        </p:nvSpPr>
        <p:spPr>
          <a:xfrm xmlns:a="http://schemas.openxmlformats.org/drawingml/2006/main">
            <a:off x="1809750" y="1943100"/>
            <a:ext cx="11239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DBC35E87-48D8-4B96-8858-563ECE132308}"/>
              </a:ext>
            </a:extLst>
          </p:cNvPr>
          <p:cNvSpPr>
            <a:spLocks xmlns:a="http://schemas.openxmlformats.org/drawingml/2006/main" noGrp="1"/>
          </p:cNvSpPr>
          <p:nvPr/>
        </p:nvSpPr>
        <p:spPr>
          <a:xfrm xmlns:a="http://schemas.openxmlformats.org/drawingml/2006/main">
            <a:off x="1809750" y="1943100"/>
            <a:ext cx="1123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BGH</a:t>
            </a:r>
          </a:p>
        </p:txBody>
      </p:sp>
      <p:sp>
        <p:nvSpPr>
          <p:cNvPr id="6" name="">
            <a:extLst xmlns:a="http://schemas.openxmlformats.org/drawingml/2006/main">
              <a:ext uri="{FF2B5EF4-FFF2-40B4-BE49-F238E27FC236}">
                <a16:creationId xmlns:a16="http://schemas.microsoft.com/office/drawing/2014/main" id="{8C29E625-0CF9-480D-BCCF-816B0D0F63D7}"/>
              </a:ext>
            </a:extLst>
          </p:cNvPr>
          <p:cNvSpPr>
            <a:spLocks xmlns:a="http://schemas.openxmlformats.org/drawingml/2006/main" noGrp="1"/>
          </p:cNvSpPr>
          <p:nvPr/>
        </p:nvSpPr>
        <p:spPr>
          <a:xfrm xmlns:a="http://schemas.openxmlformats.org/drawingml/2006/main">
            <a:off x="312420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25.11.2025 · VI ZR 165/23</a:t>
            </a:r>
          </a:p>
        </p:txBody>
      </p:sp>
      <p:sp>
        <p:nvSpPr>
          <p:cNvPr id="7" name="">
            <a:extLst xmlns:a="http://schemas.openxmlformats.org/drawingml/2006/main">
              <a:ext uri="{FF2B5EF4-FFF2-40B4-BE49-F238E27FC236}">
                <a16:creationId xmlns:a16="http://schemas.microsoft.com/office/drawing/2014/main" id="{9F35A2B4-4D29-478A-B337-78393EA41AEA}"/>
              </a:ext>
            </a:extLst>
          </p:cNvPr>
          <p:cNvSpPr>
            <a:spLocks xmlns:a="http://schemas.openxmlformats.org/drawingml/2006/main" noGrp="1"/>
          </p:cNvSpPr>
          <p:nvPr/>
        </p:nvSpPr>
        <p:spPr>
          <a:xfrm xmlns:a="http://schemas.openxmlformats.org/drawingml/2006/main">
            <a:off x="733425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050">
                <a:solidFill>
                  <a:srgbClr val="667680"/>
                </a:solidFill>
              </a:defRPr>
            </a:pPr>
            <a:r>
              <a:rPr sz="1050">
                <a:solidFill>
                  <a:srgbClr val="667680"/>
                </a:solidFill>
              </a:rPr>
              <a:t>Aktuelle Leitentscheidung</a:t>
            </a:r>
          </a:p>
        </p:txBody>
      </p:sp>
      <p:sp>
        <p:nvSpPr>
          <p:cNvPr id="8" name="">
            <a:extLst xmlns:a="http://schemas.openxmlformats.org/drawingml/2006/main">
              <a:ext uri="{FF2B5EF4-FFF2-40B4-BE49-F238E27FC236}">
                <a16:creationId xmlns:a16="http://schemas.microsoft.com/office/drawing/2014/main" id="{B850F704-46CD-421C-A983-B882BC5917AA}"/>
              </a:ext>
            </a:extLst>
          </p:cNvPr>
          <p:cNvSpPr>
            <a:spLocks xmlns:a="http://schemas.openxmlformats.org/drawingml/2006/main" noGrp="1"/>
          </p:cNvSpPr>
          <p:nvPr/>
        </p:nvSpPr>
        <p:spPr>
          <a:xfrm xmlns:a="http://schemas.openxmlformats.org/drawingml/2006/main">
            <a:off x="1809750" y="2533650"/>
            <a:ext cx="1676400" cy="781050"/>
          </a:xfrm>
          <a:prstGeom xmlns:a="http://schemas.openxmlformats.org/drawingml/2006/main" prst="roundRect">
            <a:avLst>
              <a:gd name="adj" fmla="val 9756"/>
            </a:avLst>
          </a:prstGeom>
          <a:solidFill xmlns:a="http://schemas.openxmlformats.org/drawingml/2006/main">
            <a:srgbClr val="00B2BB"/>
          </a:solidFill>
          <a:ln xmlns:a="http://schemas.openxmlformats.org/drawingml/2006/main" w="0">
            <a:solidFill>
              <a:srgbClr val="00B2BB"/>
            </a:solidFill>
            <a:prstDash val="solid"/>
          </a:ln>
        </p:spPr>
      </p:sp>
      <p:sp>
        <p:nvSpPr>
          <p:cNvPr id="9" name="">
            <a:extLst xmlns:a="http://schemas.openxmlformats.org/drawingml/2006/main">
              <a:ext uri="{FF2B5EF4-FFF2-40B4-BE49-F238E27FC236}">
                <a16:creationId xmlns:a16="http://schemas.microsoft.com/office/drawing/2014/main" id="{7A855B1A-D0A7-417C-ACB8-7A7D2792C964}"/>
              </a:ext>
            </a:extLst>
          </p:cNvPr>
          <p:cNvSpPr>
            <a:spLocks xmlns:a="http://schemas.openxmlformats.org/drawingml/2006/main" noGrp="1"/>
          </p:cNvSpPr>
          <p:nvPr/>
        </p:nvSpPr>
        <p:spPr>
          <a:xfrm xmlns:a="http://schemas.openxmlformats.org/drawingml/2006/main">
            <a:off x="1924050" y="25336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Ausgangsfall</a:t>
            </a:r>
          </a:p>
        </p:txBody>
      </p:sp>
      <p:sp>
        <p:nvSpPr>
          <p:cNvPr id="10" name="">
            <a:extLst xmlns:a="http://schemas.openxmlformats.org/drawingml/2006/main">
              <a:ext uri="{FF2B5EF4-FFF2-40B4-BE49-F238E27FC236}">
                <a16:creationId xmlns:a16="http://schemas.microsoft.com/office/drawing/2014/main" id="{F206047A-7D8D-427F-9A3C-638C00763155}"/>
              </a:ext>
            </a:extLst>
          </p:cNvPr>
          <p:cNvSpPr>
            <a:spLocks xmlns:a="http://schemas.openxmlformats.org/drawingml/2006/main" noGrp="1"/>
          </p:cNvSpPr>
          <p:nvPr/>
        </p:nvSpPr>
        <p:spPr>
          <a:xfrm xmlns:a="http://schemas.openxmlformats.org/drawingml/2006/main">
            <a:off x="3695700" y="25336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88">
                <a:solidFill>
                  <a:srgbClr val="15232B"/>
                </a:solidFill>
              </a:defRPr>
            </a:pPr>
            <a:r>
              <a:rPr sz="1088">
                <a:solidFill>
                  <a:srgbClr val="15232B"/>
                </a:solidFill>
              </a:rPr>
              <a:t>Nach verspäteter oder fehlerhafter Aufklärung war streitig, ob der Patient in dieselbe Maßnahme zu einem anderen Zeitpunkt eingewilligt hätte.</a:t>
            </a:r>
          </a:p>
        </p:txBody>
      </p:sp>
      <p:sp>
        <p:nvSpPr>
          <p:cNvPr id="11" name="">
            <a:extLst xmlns:a="http://schemas.openxmlformats.org/drawingml/2006/main">
              <a:ext uri="{FF2B5EF4-FFF2-40B4-BE49-F238E27FC236}">
                <a16:creationId xmlns:a16="http://schemas.microsoft.com/office/drawing/2014/main" id="{2E5A2539-D072-453B-A973-4E190E0540E6}"/>
              </a:ext>
            </a:extLst>
          </p:cNvPr>
          <p:cNvSpPr>
            <a:spLocks xmlns:a="http://schemas.openxmlformats.org/drawingml/2006/main" noGrp="1"/>
          </p:cNvSpPr>
          <p:nvPr/>
        </p:nvSpPr>
        <p:spPr>
          <a:xfrm xmlns:a="http://schemas.openxmlformats.org/drawingml/2006/main">
            <a:off x="1809750" y="3486150"/>
            <a:ext cx="1676400" cy="781050"/>
          </a:xfrm>
          <a:prstGeom xmlns:a="http://schemas.openxmlformats.org/drawingml/2006/main" prst="roundRect">
            <a:avLst>
              <a:gd name="adj" fmla="val 9756"/>
            </a:avLst>
          </a:prstGeom>
          <a:solidFill xmlns:a="http://schemas.openxmlformats.org/drawingml/2006/main">
            <a:srgbClr val="003F6B"/>
          </a:solidFill>
          <a:ln xmlns:a="http://schemas.openxmlformats.org/drawingml/2006/main" w="0">
            <a:solidFill>
              <a:srgbClr val="003F6B"/>
            </a:solidFill>
            <a:prstDash val="solid"/>
          </a:ln>
        </p:spPr>
      </p:sp>
      <p:sp>
        <p:nvSpPr>
          <p:cNvPr id="12" name="">
            <a:extLst xmlns:a="http://schemas.openxmlformats.org/drawingml/2006/main">
              <a:ext uri="{FF2B5EF4-FFF2-40B4-BE49-F238E27FC236}">
                <a16:creationId xmlns:a16="http://schemas.microsoft.com/office/drawing/2014/main" id="{B69D124E-A019-4241-A884-C5FA1A3FEA8F}"/>
              </a:ext>
            </a:extLst>
          </p:cNvPr>
          <p:cNvSpPr>
            <a:spLocks xmlns:a="http://schemas.openxmlformats.org/drawingml/2006/main" noGrp="1"/>
          </p:cNvSpPr>
          <p:nvPr/>
        </p:nvSpPr>
        <p:spPr>
          <a:xfrm xmlns:a="http://schemas.openxmlformats.org/drawingml/2006/main">
            <a:off x="1924050" y="34861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Kernaussage</a:t>
            </a:r>
          </a:p>
        </p:txBody>
      </p:sp>
      <p:sp>
        <p:nvSpPr>
          <p:cNvPr id="13" name="">
            <a:extLst xmlns:a="http://schemas.openxmlformats.org/drawingml/2006/main">
              <a:ext uri="{FF2B5EF4-FFF2-40B4-BE49-F238E27FC236}">
                <a16:creationId xmlns:a16="http://schemas.microsoft.com/office/drawing/2014/main" id="{E87BD060-B1B3-4703-8820-78BEC3E7A764}"/>
              </a:ext>
            </a:extLst>
          </p:cNvPr>
          <p:cNvSpPr>
            <a:spLocks xmlns:a="http://schemas.openxmlformats.org/drawingml/2006/main" noGrp="1"/>
          </p:cNvSpPr>
          <p:nvPr/>
        </p:nvSpPr>
        <p:spPr>
          <a:xfrm xmlns:a="http://schemas.openxmlformats.org/drawingml/2006/main">
            <a:off x="3695700" y="34861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88">
                <a:solidFill>
                  <a:srgbClr val="15232B"/>
                </a:solidFill>
              </a:defRPr>
            </a:pPr>
            <a:r>
              <a:rPr sz="1088">
                <a:solidFill>
                  <a:srgbClr val="15232B"/>
                </a:solidFill>
              </a:rPr>
              <a:t>Hypothetische Einwilligung nach § 630h Abs. 2 bezieht sich auf die tatsächlich durchgeführte Maßnahme. Eine erst später mögliche Einwilligung genügt dafür nicht; rechtmäßiges Alternativverhalten kann gesondert zu prüfen sein. Die Behandlungsseite trägt die Beweislast.</a:t>
            </a:r>
          </a:p>
        </p:txBody>
      </p:sp>
      <p:sp>
        <p:nvSpPr>
          <p:cNvPr id="14" name="">
            <a:extLst xmlns:a="http://schemas.openxmlformats.org/drawingml/2006/main">
              <a:ext uri="{FF2B5EF4-FFF2-40B4-BE49-F238E27FC236}">
                <a16:creationId xmlns:a16="http://schemas.microsoft.com/office/drawing/2014/main" id="{3EAB97AF-F075-4F06-980A-84C762D1C482}"/>
              </a:ext>
            </a:extLst>
          </p:cNvPr>
          <p:cNvSpPr>
            <a:spLocks xmlns:a="http://schemas.openxmlformats.org/drawingml/2006/main" noGrp="1"/>
          </p:cNvSpPr>
          <p:nvPr/>
        </p:nvSpPr>
        <p:spPr>
          <a:xfrm xmlns:a="http://schemas.openxmlformats.org/drawingml/2006/main">
            <a:off x="1809750" y="4438650"/>
            <a:ext cx="1676400" cy="781050"/>
          </a:xfrm>
          <a:prstGeom xmlns:a="http://schemas.openxmlformats.org/drawingml/2006/main" prst="roundRect">
            <a:avLst>
              <a:gd name="adj" fmla="val 9756"/>
            </a:avLst>
          </a:prstGeom>
          <a:solidFill xmlns:a="http://schemas.openxmlformats.org/drawingml/2006/main">
            <a:srgbClr val="00B2BB"/>
          </a:solidFill>
          <a:ln xmlns:a="http://schemas.openxmlformats.org/drawingml/2006/main" w="0">
            <a:solidFill>
              <a:srgbClr val="00B2BB"/>
            </a:solidFill>
            <a:prstDash val="solid"/>
          </a:ln>
        </p:spPr>
      </p:sp>
      <p:sp>
        <p:nvSpPr>
          <p:cNvPr id="15" name="">
            <a:extLst xmlns:a="http://schemas.openxmlformats.org/drawingml/2006/main">
              <a:ext uri="{FF2B5EF4-FFF2-40B4-BE49-F238E27FC236}">
                <a16:creationId xmlns:a16="http://schemas.microsoft.com/office/drawing/2014/main" id="{63EDEA18-F187-493B-B1A8-78B4010C902B}"/>
              </a:ext>
            </a:extLst>
          </p:cNvPr>
          <p:cNvSpPr>
            <a:spLocks xmlns:a="http://schemas.openxmlformats.org/drawingml/2006/main" noGrp="1"/>
          </p:cNvSpPr>
          <p:nvPr/>
        </p:nvSpPr>
        <p:spPr>
          <a:xfrm xmlns:a="http://schemas.openxmlformats.org/drawingml/2006/main">
            <a:off x="1924050" y="44386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Für die Praxis</a:t>
            </a:r>
          </a:p>
        </p:txBody>
      </p:sp>
      <p:sp>
        <p:nvSpPr>
          <p:cNvPr id="16" name="">
            <a:extLst xmlns:a="http://schemas.openxmlformats.org/drawingml/2006/main">
              <a:ext uri="{FF2B5EF4-FFF2-40B4-BE49-F238E27FC236}">
                <a16:creationId xmlns:a16="http://schemas.microsoft.com/office/drawing/2014/main" id="{F724336A-87E8-4779-9731-034E6AD66B90}"/>
              </a:ext>
            </a:extLst>
          </p:cNvPr>
          <p:cNvSpPr>
            <a:spLocks xmlns:a="http://schemas.openxmlformats.org/drawingml/2006/main" noGrp="1"/>
          </p:cNvSpPr>
          <p:nvPr/>
        </p:nvSpPr>
        <p:spPr>
          <a:xfrm xmlns:a="http://schemas.openxmlformats.org/drawingml/2006/main">
            <a:off x="3695700" y="44386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88">
                <a:solidFill>
                  <a:srgbClr val="15232B"/>
                </a:solidFill>
              </a:defRPr>
            </a:pPr>
            <a:r>
              <a:rPr sz="1088">
                <a:solidFill>
                  <a:srgbClr val="15232B"/>
                </a:solidFill>
              </a:rPr>
              <a:t>Entscheidungskonflikt konkret ermitteln: Welche Maßnahme, welcher Zeitpunkt, welche Alternativen und welche Risikolage?</a:t>
            </a:r>
          </a:p>
        </p:txBody>
      </p:sp>
      <p:sp>
        <p:nvSpPr>
          <p:cNvPr id="17" name="">
            <a:extLst xmlns:a="http://schemas.openxmlformats.org/drawingml/2006/main">
              <a:ext uri="{FF2B5EF4-FFF2-40B4-BE49-F238E27FC236}">
                <a16:creationId xmlns:a16="http://schemas.microsoft.com/office/drawing/2014/main" id="{D8FCAC95-485E-41CE-B4CE-31EAFC70E2E7}"/>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20">
                <a:solidFill>
                  <a:srgbClr val="667680"/>
                </a:solidFill>
              </a:defRPr>
            </a:pPr>
            <a:r>
              <a:rPr sz="720">
                <a:solidFill>
                  <a:srgbClr val="667680"/>
                </a:solidFill>
              </a:rPr>
              <a:t>BGH, Urteil VI ZR 165/23, ECLI:DE:BGH:2025:251125UVIZR165.23.0 · https://juris.bundesgerichtshof.de</a:t>
            </a:r>
          </a:p>
        </p:txBody>
      </p:sp>
    </p:spTree>
    <p:extLst>
      <p:ext uri="{BB962C8B-B14F-4D97-AF65-F5344CB8AC3E}">
        <p14:creationId xmlns:p14="http://schemas.microsoft.com/office/powerpoint/2010/main" val="43637646"/>
      </p:ext>
    </p:extLst>
  </p:cSld>
</p:sld>
</file>

<file path=ppt/slides/slide300.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Selbstbestimmung als Ausgangspunkt</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31050E7D-08B8-4761-ABC3-8F94CF4492D7}"/>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Medizinisch sinnvoll ist nicht automatisch rechtlich zulässig. Eine einwilligungsfähige Person darf auch unvernünftige oder lebensgefährliche Entscheidungen treffen.</a:t>
            </a:r>
          </a:p>
        </p:txBody>
      </p:sp>
      <p:sp>
        <p:nvSpPr>
          <p:cNvPr id="5" name="">
            <a:extLst xmlns:a="http://schemas.openxmlformats.org/drawingml/2006/main">
              <a:ext uri="{FF2B5EF4-FFF2-40B4-BE49-F238E27FC236}">
                <a16:creationId xmlns:a16="http://schemas.microsoft.com/office/drawing/2014/main" id="{359F71B1-C7B2-422F-A30F-033B3E448D70}"/>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FC952AE7-423B-4CF9-A0E4-A9244D0E9318}"/>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33171E89-A281-4828-BCE4-A14CE4832942}"/>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Körperliche Integrität</a:t>
            </a:r>
          </a:p>
        </p:txBody>
      </p:sp>
      <p:sp>
        <p:nvSpPr>
          <p:cNvPr id="8" name="">
            <a:extLst xmlns:a="http://schemas.openxmlformats.org/drawingml/2006/main">
              <a:ext uri="{FF2B5EF4-FFF2-40B4-BE49-F238E27FC236}">
                <a16:creationId xmlns:a16="http://schemas.microsoft.com/office/drawing/2014/main" id="{FE26073C-08BA-477D-8D73-C527747CFF75}"/>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Jeder Eingriff benötigt grundsätzlich eine Rechtfertigung.</a:t>
            </a:r>
          </a:p>
        </p:txBody>
      </p:sp>
      <p:sp>
        <p:nvSpPr>
          <p:cNvPr id="9" name="">
            <a:extLst xmlns:a="http://schemas.openxmlformats.org/drawingml/2006/main">
              <a:ext uri="{FF2B5EF4-FFF2-40B4-BE49-F238E27FC236}">
                <a16:creationId xmlns:a16="http://schemas.microsoft.com/office/drawing/2014/main" id="{51CFBD38-487C-491D-A3C8-D3BBEF2AEF6C}"/>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45DCBFA5-117E-4A37-A928-9DDF5ECE7D56}"/>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9F1BE7DC-CB9B-41BF-AD39-16A8AC402E6D}"/>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Entscheidungsfreiheit</a:t>
            </a:r>
          </a:p>
        </p:txBody>
      </p:sp>
      <p:sp>
        <p:nvSpPr>
          <p:cNvPr id="12" name="">
            <a:extLst xmlns:a="http://schemas.openxmlformats.org/drawingml/2006/main">
              <a:ext uri="{FF2B5EF4-FFF2-40B4-BE49-F238E27FC236}">
                <a16:creationId xmlns:a16="http://schemas.microsoft.com/office/drawing/2014/main" id="{473ED763-0AB7-4E94-9171-FBB7FE35643D}"/>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Die Person entscheidet nach eigenen Werten, nicht nach der ärztlich bevorzugten Nutzenabwägung.</a:t>
            </a:r>
          </a:p>
        </p:txBody>
      </p:sp>
      <p:sp>
        <p:nvSpPr>
          <p:cNvPr id="13" name="">
            <a:extLst xmlns:a="http://schemas.openxmlformats.org/drawingml/2006/main">
              <a:ext uri="{FF2B5EF4-FFF2-40B4-BE49-F238E27FC236}">
                <a16:creationId xmlns:a16="http://schemas.microsoft.com/office/drawing/2014/main" id="{A3934821-B685-41BE-A0A6-CCF297B7EB80}"/>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12176FF1-7D44-423D-AB0A-570447D514C8}"/>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B0C35A83-6A46-4489-8C50-279425D640E8}"/>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Informationsbasis</a:t>
            </a:r>
          </a:p>
        </p:txBody>
      </p:sp>
      <p:sp>
        <p:nvSpPr>
          <p:cNvPr id="16" name="">
            <a:extLst xmlns:a="http://schemas.openxmlformats.org/drawingml/2006/main">
              <a:ext uri="{FF2B5EF4-FFF2-40B4-BE49-F238E27FC236}">
                <a16:creationId xmlns:a16="http://schemas.microsoft.com/office/drawing/2014/main" id="{6D28FA8A-D367-4A6E-9DAC-24053FDDEDB6}"/>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Aufklärung macht die Entscheidung informiert; sie soll weder überreden noch Verantwortung abschieben.</a:t>
            </a:r>
          </a:p>
        </p:txBody>
      </p:sp>
      <p:sp>
        <p:nvSpPr>
          <p:cNvPr id="17" name="">
            <a:extLst xmlns:a="http://schemas.openxmlformats.org/drawingml/2006/main">
              <a:ext uri="{FF2B5EF4-FFF2-40B4-BE49-F238E27FC236}">
                <a16:creationId xmlns:a16="http://schemas.microsoft.com/office/drawing/2014/main" id="{1BFCF20B-53C3-405D-B49C-E31261B7EE50}"/>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3FA0E168-5A33-4C58-B250-6C97DA629B5D}"/>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199E0A9E-CF0B-4F1A-A5EE-33FD62675D0C}"/>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Grenzen</a:t>
            </a:r>
          </a:p>
        </p:txBody>
      </p:sp>
      <p:sp>
        <p:nvSpPr>
          <p:cNvPr id="20" name="">
            <a:extLst xmlns:a="http://schemas.openxmlformats.org/drawingml/2006/main">
              <a:ext uri="{FF2B5EF4-FFF2-40B4-BE49-F238E27FC236}">
                <a16:creationId xmlns:a16="http://schemas.microsoft.com/office/drawing/2014/main" id="{5A4CD6FA-B35C-4953-BF94-76001BD130D3}"/>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Zwang, fehlende Einwilligungsfähigkeit und besondere gesetzliche Eingriffsbefugnisse verlangen eigene Prüfung.</a:t>
            </a:r>
          </a:p>
        </p:txBody>
      </p:sp>
      <p:sp>
        <p:nvSpPr>
          <p:cNvPr id="21" name="">
            <a:extLst xmlns:a="http://schemas.openxmlformats.org/drawingml/2006/main">
              <a:ext uri="{FF2B5EF4-FFF2-40B4-BE49-F238E27FC236}">
                <a16:creationId xmlns:a16="http://schemas.microsoft.com/office/drawing/2014/main" id="{987A0DB8-A618-4C94-8E36-65F0D22A81C1}"/>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78392EF4-2C01-4ABF-9166-2CB46A15CB41}"/>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Die Aufgabe ärztlicher Beratung ist eine gute Entscheidung zu ermöglichen, nicht eine gewünschte Entscheidung zu erzwingen.</a:t>
            </a:r>
          </a:p>
        </p:txBody>
      </p:sp>
    </p:spTree>
    <p:extLst>
      <p:ext uri="{BB962C8B-B14F-4D97-AF65-F5344CB8AC3E}">
        <p14:creationId xmlns:p14="http://schemas.microsoft.com/office/powerpoint/2010/main" val="43637646"/>
      </p:ext>
    </p:extLst>
  </p:cSld>
</p:sld>
</file>

<file path=ppt/slides/slide301.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Einwilligungsfähigkeit konkret prüfen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177199E5-6706-4D17-B4CC-CB4006EA80EC}"/>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Einwilligungsfähigkeit ist entscheidungs- und situationsbezogen; Diagnose oder Alter allein entscheiden nicht.</a:t>
            </a:r>
          </a:p>
        </p:txBody>
      </p:sp>
      <p:sp>
        <p:nvSpPr>
          <p:cNvPr id="5" name="">
            <a:extLst xmlns:a="http://schemas.openxmlformats.org/drawingml/2006/main">
              <a:ext uri="{FF2B5EF4-FFF2-40B4-BE49-F238E27FC236}">
                <a16:creationId xmlns:a16="http://schemas.microsoft.com/office/drawing/2014/main" id="{AF70E5FA-8FDB-4AE8-8BE4-0D7400B93277}"/>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ACE20197-43D7-48D0-B68B-56E289F83589}"/>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F74D368D-1FED-495C-8ED4-786FE9E9EA73}"/>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Verstehen</a:t>
            </a:r>
          </a:p>
        </p:txBody>
      </p:sp>
      <p:sp>
        <p:nvSpPr>
          <p:cNvPr id="8" name="">
            <a:extLst xmlns:a="http://schemas.openxmlformats.org/drawingml/2006/main">
              <a:ext uri="{FF2B5EF4-FFF2-40B4-BE49-F238E27FC236}">
                <a16:creationId xmlns:a16="http://schemas.microsoft.com/office/drawing/2014/main" id="{B57368DD-7B76-4AE7-A709-77FD33F56785}"/>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Kann die Person Information über Erkrankung, Maßnahme, Alternativen und Risiken aufnehmen?</a:t>
            </a:r>
          </a:p>
        </p:txBody>
      </p:sp>
      <p:sp>
        <p:nvSpPr>
          <p:cNvPr id="9" name="">
            <a:extLst xmlns:a="http://schemas.openxmlformats.org/drawingml/2006/main">
              <a:ext uri="{FF2B5EF4-FFF2-40B4-BE49-F238E27FC236}">
                <a16:creationId xmlns:a16="http://schemas.microsoft.com/office/drawing/2014/main" id="{B6C125E7-C0F9-478E-BCF2-46CC4D89897D}"/>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E9A4C61A-DA3B-43C4-AAB5-8AAC38AC4F50}"/>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21F068EF-84D6-484A-A897-33766071EFAE}"/>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Bewerten</a:t>
            </a:r>
          </a:p>
        </p:txBody>
      </p:sp>
      <p:sp>
        <p:nvSpPr>
          <p:cNvPr id="12" name="">
            <a:extLst xmlns:a="http://schemas.openxmlformats.org/drawingml/2006/main">
              <a:ext uri="{FF2B5EF4-FFF2-40B4-BE49-F238E27FC236}">
                <a16:creationId xmlns:a16="http://schemas.microsoft.com/office/drawing/2014/main" id="{17AF4684-FA3E-4B74-BD0A-7DBB7B5EAB9F}"/>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Kann sie Bedeutung und Folgen auf die eigene Situation beziehen und gegeneinander abwägen?</a:t>
            </a:r>
          </a:p>
        </p:txBody>
      </p:sp>
      <p:sp>
        <p:nvSpPr>
          <p:cNvPr id="13" name="">
            <a:extLst xmlns:a="http://schemas.openxmlformats.org/drawingml/2006/main">
              <a:ext uri="{FF2B5EF4-FFF2-40B4-BE49-F238E27FC236}">
                <a16:creationId xmlns:a16="http://schemas.microsoft.com/office/drawing/2014/main" id="{8F1B5656-0721-443B-AFD1-7411572EAFF8}"/>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923D23A9-C875-4974-8D94-592DAC6DA735}"/>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DF62369C-EDC5-455D-8614-6B6A32CC763D}"/>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Entscheiden</a:t>
            </a:r>
          </a:p>
        </p:txBody>
      </p:sp>
      <p:sp>
        <p:nvSpPr>
          <p:cNvPr id="16" name="">
            <a:extLst xmlns:a="http://schemas.openxmlformats.org/drawingml/2006/main">
              <a:ext uri="{FF2B5EF4-FFF2-40B4-BE49-F238E27FC236}">
                <a16:creationId xmlns:a16="http://schemas.microsoft.com/office/drawing/2014/main" id="{B68C8F5E-3EC4-4E4F-B8D6-8D03B85891D5}"/>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Kann sie einen stabilen Willen bilden und kommunizieren?</a:t>
            </a:r>
          </a:p>
        </p:txBody>
      </p:sp>
      <p:sp>
        <p:nvSpPr>
          <p:cNvPr id="17" name="">
            <a:extLst xmlns:a="http://schemas.openxmlformats.org/drawingml/2006/main">
              <a:ext uri="{FF2B5EF4-FFF2-40B4-BE49-F238E27FC236}">
                <a16:creationId xmlns:a16="http://schemas.microsoft.com/office/drawing/2014/main" id="{9DBCB136-0096-40A9-9394-2096591D46D0}"/>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E3E7625C-DC17-42C1-B2CE-3EA83946289A}"/>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672BD7E6-4981-48CB-B71B-2470971D08AC}"/>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Unterstützen</a:t>
            </a:r>
          </a:p>
        </p:txBody>
      </p:sp>
      <p:sp>
        <p:nvSpPr>
          <p:cNvPr id="20" name="">
            <a:extLst xmlns:a="http://schemas.openxmlformats.org/drawingml/2006/main">
              <a:ext uri="{FF2B5EF4-FFF2-40B4-BE49-F238E27FC236}">
                <a16:creationId xmlns:a16="http://schemas.microsoft.com/office/drawing/2014/main" id="{BBC795D5-9955-4316-B2CB-8E1952FE71CE}"/>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Sprache, Schmerz, Angst, Delir, Medikamente und Behinderung werden berücksichtigt; Kommunikation wird angepasst.</a:t>
            </a:r>
          </a:p>
        </p:txBody>
      </p:sp>
      <p:sp>
        <p:nvSpPr>
          <p:cNvPr id="21" name="">
            <a:extLst xmlns:a="http://schemas.openxmlformats.org/drawingml/2006/main">
              <a:ext uri="{FF2B5EF4-FFF2-40B4-BE49-F238E27FC236}">
                <a16:creationId xmlns:a16="http://schemas.microsoft.com/office/drawing/2014/main" id="{8C6E567C-FFE5-46EA-8016-6B1510E8EAE3}"/>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9B35BBB2-FD3A-4349-A357-E245DDA16D3D}"/>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Fähigkeit wird für die konkrete Entscheidung zum konkreten Zeitpunkt dokumentiert.</a:t>
            </a:r>
          </a:p>
        </p:txBody>
      </p:sp>
    </p:spTree>
    <p:extLst>
      <p:ext uri="{BB962C8B-B14F-4D97-AF65-F5344CB8AC3E}">
        <p14:creationId xmlns:p14="http://schemas.microsoft.com/office/powerpoint/2010/main" val="43637646"/>
      </p:ext>
    </p:extLst>
  </p:cSld>
</p:sld>
</file>

<file path=ppt/slides/slide302.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Einwilligungsfähigkeit dokumentieren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PRÜFUNGSSCHEMA · VIER FRAGEN</a:t>
            </a:r>
            <a:endParaRPr/>
          </a:p>
        </p:txBody>
      </p:sp>
      <p:sp>
        <p:nvSpPr>
          <p:cNvPr id="4" name="">
            <a:extLst xmlns:a="http://schemas.openxmlformats.org/drawingml/2006/main">
              <a:ext uri="{FF2B5EF4-FFF2-40B4-BE49-F238E27FC236}">
                <a16:creationId xmlns:a16="http://schemas.microsoft.com/office/drawing/2014/main" id="{07CD3675-5A1B-4D79-9EE9-85909A1A3293}"/>
              </a:ext>
            </a:extLst>
          </p:cNvPr>
          <p:cNvSpPr>
            <a:spLocks xmlns:a="http://schemas.openxmlformats.org/drawingml/2006/main" noGrp="1"/>
          </p:cNvSpPr>
          <p:nvPr/>
        </p:nvSpPr>
        <p:spPr>
          <a:xfrm xmlns:a="http://schemas.openxmlformats.org/drawingml/2006/main">
            <a:off x="1809750" y="195262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F6198BB2-FF91-4846-BA44-701E20809704}"/>
              </a:ext>
            </a:extLst>
          </p:cNvPr>
          <p:cNvSpPr>
            <a:spLocks xmlns:a="http://schemas.openxmlformats.org/drawingml/2006/main" noGrp="1"/>
          </p:cNvSpPr>
          <p:nvPr/>
        </p:nvSpPr>
        <p:spPr>
          <a:xfrm xmlns:a="http://schemas.openxmlformats.org/drawingml/2006/main">
            <a:off x="1809750" y="19526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6" name="">
            <a:extLst xmlns:a="http://schemas.openxmlformats.org/drawingml/2006/main">
              <a:ext uri="{FF2B5EF4-FFF2-40B4-BE49-F238E27FC236}">
                <a16:creationId xmlns:a16="http://schemas.microsoft.com/office/drawing/2014/main" id="{D47983D3-0949-478C-94DC-B204772F6A44}"/>
              </a:ext>
            </a:extLst>
          </p:cNvPr>
          <p:cNvSpPr>
            <a:spLocks xmlns:a="http://schemas.openxmlformats.org/drawingml/2006/main" noGrp="1"/>
          </p:cNvSpPr>
          <p:nvPr/>
        </p:nvSpPr>
        <p:spPr>
          <a:xfrm xmlns:a="http://schemas.openxmlformats.org/drawingml/2006/main">
            <a:off x="2324100" y="196215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1. Information wiedergeben</a:t>
            </a:r>
          </a:p>
        </p:txBody>
      </p:sp>
      <p:sp>
        <p:nvSpPr>
          <p:cNvPr id="7" name="">
            <a:extLst xmlns:a="http://schemas.openxmlformats.org/drawingml/2006/main">
              <a:ext uri="{FF2B5EF4-FFF2-40B4-BE49-F238E27FC236}">
                <a16:creationId xmlns:a16="http://schemas.microsoft.com/office/drawing/2014/main" id="{5BBAE96B-9184-4BD1-A6ED-DA2E8E5FBFAF}"/>
              </a:ext>
            </a:extLst>
          </p:cNvPr>
          <p:cNvSpPr>
            <a:spLocks xmlns:a="http://schemas.openxmlformats.org/drawingml/2006/main" noGrp="1"/>
          </p:cNvSpPr>
          <p:nvPr/>
        </p:nvSpPr>
        <p:spPr>
          <a:xfrm xmlns:a="http://schemas.openxmlformats.org/drawingml/2006/main">
            <a:off x="4819650" y="196215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Kann die Person in eigenen Worten erklären, worum es geht?</a:t>
            </a:r>
          </a:p>
        </p:txBody>
      </p:sp>
      <p:sp>
        <p:nvSpPr>
          <p:cNvPr id="8" name="">
            <a:extLst xmlns:a="http://schemas.openxmlformats.org/drawingml/2006/main">
              <a:ext uri="{FF2B5EF4-FFF2-40B4-BE49-F238E27FC236}">
                <a16:creationId xmlns:a16="http://schemas.microsoft.com/office/drawing/2014/main" id="{22468594-3A52-4155-B030-72F10D5A98C5}"/>
              </a:ext>
            </a:extLst>
          </p:cNvPr>
          <p:cNvSpPr>
            <a:spLocks xmlns:a="http://schemas.openxmlformats.org/drawingml/2006/main" noGrp="1"/>
          </p:cNvSpPr>
          <p:nvPr/>
        </p:nvSpPr>
        <p:spPr>
          <a:xfrm xmlns:a="http://schemas.openxmlformats.org/drawingml/2006/main">
            <a:off x="1809750" y="255270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9" name="">
            <a:extLst xmlns:a="http://schemas.openxmlformats.org/drawingml/2006/main">
              <a:ext uri="{FF2B5EF4-FFF2-40B4-BE49-F238E27FC236}">
                <a16:creationId xmlns:a16="http://schemas.microsoft.com/office/drawing/2014/main" id="{E1AED7F9-F67C-45FC-8BD1-B12218BB53DA}"/>
              </a:ext>
            </a:extLst>
          </p:cNvPr>
          <p:cNvSpPr>
            <a:spLocks xmlns:a="http://schemas.openxmlformats.org/drawingml/2006/main" noGrp="1"/>
          </p:cNvSpPr>
          <p:nvPr/>
        </p:nvSpPr>
        <p:spPr>
          <a:xfrm xmlns:a="http://schemas.openxmlformats.org/drawingml/2006/main">
            <a:off x="1809750" y="255270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0" name="">
            <a:extLst xmlns:a="http://schemas.openxmlformats.org/drawingml/2006/main">
              <a:ext uri="{FF2B5EF4-FFF2-40B4-BE49-F238E27FC236}">
                <a16:creationId xmlns:a16="http://schemas.microsoft.com/office/drawing/2014/main" id="{F438D999-C98D-4D15-ABA1-AE2AD6D2C335}"/>
              </a:ext>
            </a:extLst>
          </p:cNvPr>
          <p:cNvSpPr>
            <a:spLocks xmlns:a="http://schemas.openxmlformats.org/drawingml/2006/main" noGrp="1"/>
          </p:cNvSpPr>
          <p:nvPr/>
        </p:nvSpPr>
        <p:spPr>
          <a:xfrm xmlns:a="http://schemas.openxmlformats.org/drawingml/2006/main">
            <a:off x="2324100" y="256222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2. Konsequenzen beziehen</a:t>
            </a:r>
          </a:p>
        </p:txBody>
      </p:sp>
      <p:sp>
        <p:nvSpPr>
          <p:cNvPr id="11" name="">
            <a:extLst xmlns:a="http://schemas.openxmlformats.org/drawingml/2006/main">
              <a:ext uri="{FF2B5EF4-FFF2-40B4-BE49-F238E27FC236}">
                <a16:creationId xmlns:a16="http://schemas.microsoft.com/office/drawing/2014/main" id="{8C80AC47-3020-437A-8A95-EC59CE572E36}"/>
              </a:ext>
            </a:extLst>
          </p:cNvPr>
          <p:cNvSpPr>
            <a:spLocks xmlns:a="http://schemas.openxmlformats.org/drawingml/2006/main" noGrp="1"/>
          </p:cNvSpPr>
          <p:nvPr/>
        </p:nvSpPr>
        <p:spPr>
          <a:xfrm xmlns:a="http://schemas.openxmlformats.org/drawingml/2006/main">
            <a:off x="4819650" y="256222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Erkennt sie, welche Folgen Zustimmung oder Ablehnung für sie haben können?</a:t>
            </a:r>
          </a:p>
        </p:txBody>
      </p:sp>
      <p:sp>
        <p:nvSpPr>
          <p:cNvPr id="12" name="">
            <a:extLst xmlns:a="http://schemas.openxmlformats.org/drawingml/2006/main">
              <a:ext uri="{FF2B5EF4-FFF2-40B4-BE49-F238E27FC236}">
                <a16:creationId xmlns:a16="http://schemas.microsoft.com/office/drawing/2014/main" id="{9434AAC0-71DE-4CD4-9F4E-173BBF6331D1}"/>
              </a:ext>
            </a:extLst>
          </p:cNvPr>
          <p:cNvSpPr>
            <a:spLocks xmlns:a="http://schemas.openxmlformats.org/drawingml/2006/main" noGrp="1"/>
          </p:cNvSpPr>
          <p:nvPr/>
        </p:nvSpPr>
        <p:spPr>
          <a:xfrm xmlns:a="http://schemas.openxmlformats.org/drawingml/2006/main">
            <a:off x="1809750" y="315277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3" name="">
            <a:extLst xmlns:a="http://schemas.openxmlformats.org/drawingml/2006/main">
              <a:ext uri="{FF2B5EF4-FFF2-40B4-BE49-F238E27FC236}">
                <a16:creationId xmlns:a16="http://schemas.microsoft.com/office/drawing/2014/main" id="{7D3214FA-DFD9-4CF4-A814-07599B2DA365}"/>
              </a:ext>
            </a:extLst>
          </p:cNvPr>
          <p:cNvSpPr>
            <a:spLocks xmlns:a="http://schemas.openxmlformats.org/drawingml/2006/main" noGrp="1"/>
          </p:cNvSpPr>
          <p:nvPr/>
        </p:nvSpPr>
        <p:spPr>
          <a:xfrm xmlns:a="http://schemas.openxmlformats.org/drawingml/2006/main">
            <a:off x="1809750" y="315277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4" name="">
            <a:extLst xmlns:a="http://schemas.openxmlformats.org/drawingml/2006/main">
              <a:ext uri="{FF2B5EF4-FFF2-40B4-BE49-F238E27FC236}">
                <a16:creationId xmlns:a16="http://schemas.microsoft.com/office/drawing/2014/main" id="{22D59559-9611-458D-8528-D2DDEC2DB560}"/>
              </a:ext>
            </a:extLst>
          </p:cNvPr>
          <p:cNvSpPr>
            <a:spLocks xmlns:a="http://schemas.openxmlformats.org/drawingml/2006/main" noGrp="1"/>
          </p:cNvSpPr>
          <p:nvPr/>
        </p:nvSpPr>
        <p:spPr>
          <a:xfrm xmlns:a="http://schemas.openxmlformats.org/drawingml/2006/main">
            <a:off x="2324100" y="316230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3. Abwägen</a:t>
            </a:r>
          </a:p>
        </p:txBody>
      </p:sp>
      <p:sp>
        <p:nvSpPr>
          <p:cNvPr id="15" name="">
            <a:extLst xmlns:a="http://schemas.openxmlformats.org/drawingml/2006/main">
              <a:ext uri="{FF2B5EF4-FFF2-40B4-BE49-F238E27FC236}">
                <a16:creationId xmlns:a16="http://schemas.microsoft.com/office/drawing/2014/main" id="{0F2A897E-88C0-4A25-AE09-A563D6CE6EE1}"/>
              </a:ext>
            </a:extLst>
          </p:cNvPr>
          <p:cNvSpPr>
            <a:spLocks xmlns:a="http://schemas.openxmlformats.org/drawingml/2006/main" noGrp="1"/>
          </p:cNvSpPr>
          <p:nvPr/>
        </p:nvSpPr>
        <p:spPr>
          <a:xfrm xmlns:a="http://schemas.openxmlformats.org/drawingml/2006/main">
            <a:off x="4819650" y="316230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Kann sie Gründe und Werte nachvollziehbar gewichten, auch wenn das Ergebnis ärztlich nicht geteilt wird?</a:t>
            </a:r>
          </a:p>
        </p:txBody>
      </p:sp>
      <p:sp>
        <p:nvSpPr>
          <p:cNvPr id="16" name="">
            <a:extLst xmlns:a="http://schemas.openxmlformats.org/drawingml/2006/main">
              <a:ext uri="{FF2B5EF4-FFF2-40B4-BE49-F238E27FC236}">
                <a16:creationId xmlns:a16="http://schemas.microsoft.com/office/drawing/2014/main" id="{6B7DD78F-A05C-4E5D-B963-BACB1CDB1043}"/>
              </a:ext>
            </a:extLst>
          </p:cNvPr>
          <p:cNvSpPr>
            <a:spLocks xmlns:a="http://schemas.openxmlformats.org/drawingml/2006/main" noGrp="1"/>
          </p:cNvSpPr>
          <p:nvPr/>
        </p:nvSpPr>
        <p:spPr>
          <a:xfrm xmlns:a="http://schemas.openxmlformats.org/drawingml/2006/main">
            <a:off x="1809750" y="375285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7" name="">
            <a:extLst xmlns:a="http://schemas.openxmlformats.org/drawingml/2006/main">
              <a:ext uri="{FF2B5EF4-FFF2-40B4-BE49-F238E27FC236}">
                <a16:creationId xmlns:a16="http://schemas.microsoft.com/office/drawing/2014/main" id="{E79117E7-C823-46E3-838A-FD708E87D327}"/>
              </a:ext>
            </a:extLst>
          </p:cNvPr>
          <p:cNvSpPr>
            <a:spLocks xmlns:a="http://schemas.openxmlformats.org/drawingml/2006/main" noGrp="1"/>
          </p:cNvSpPr>
          <p:nvPr/>
        </p:nvSpPr>
        <p:spPr>
          <a:xfrm xmlns:a="http://schemas.openxmlformats.org/drawingml/2006/main">
            <a:off x="1809750" y="375285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18" name="">
            <a:extLst xmlns:a="http://schemas.openxmlformats.org/drawingml/2006/main">
              <a:ext uri="{FF2B5EF4-FFF2-40B4-BE49-F238E27FC236}">
                <a16:creationId xmlns:a16="http://schemas.microsoft.com/office/drawing/2014/main" id="{29724AD8-262E-48CA-97BE-71992EC9893E}"/>
              </a:ext>
            </a:extLst>
          </p:cNvPr>
          <p:cNvSpPr>
            <a:spLocks xmlns:a="http://schemas.openxmlformats.org/drawingml/2006/main" noGrp="1"/>
          </p:cNvSpPr>
          <p:nvPr/>
        </p:nvSpPr>
        <p:spPr>
          <a:xfrm xmlns:a="http://schemas.openxmlformats.org/drawingml/2006/main">
            <a:off x="2324100" y="376237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4. Willen äußern</a:t>
            </a:r>
          </a:p>
        </p:txBody>
      </p:sp>
      <p:sp>
        <p:nvSpPr>
          <p:cNvPr id="19" name="">
            <a:extLst xmlns:a="http://schemas.openxmlformats.org/drawingml/2006/main">
              <a:ext uri="{FF2B5EF4-FFF2-40B4-BE49-F238E27FC236}">
                <a16:creationId xmlns:a16="http://schemas.microsoft.com/office/drawing/2014/main" id="{6B90D003-260C-42FD-BEDA-A276511E06D4}"/>
              </a:ext>
            </a:extLst>
          </p:cNvPr>
          <p:cNvSpPr>
            <a:spLocks xmlns:a="http://schemas.openxmlformats.org/drawingml/2006/main" noGrp="1"/>
          </p:cNvSpPr>
          <p:nvPr/>
        </p:nvSpPr>
        <p:spPr>
          <a:xfrm xmlns:a="http://schemas.openxmlformats.org/drawingml/2006/main">
            <a:off x="4819650" y="376237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Kann sie eine konsistente Entscheidung mitteilen oder auf andere Weise erkennbar machen?</a:t>
            </a:r>
          </a:p>
        </p:txBody>
      </p:sp>
      <p:sp>
        <p:nvSpPr>
          <p:cNvPr id="20" name="">
            <a:extLst xmlns:a="http://schemas.openxmlformats.org/drawingml/2006/main">
              <a:ext uri="{FF2B5EF4-FFF2-40B4-BE49-F238E27FC236}">
                <a16:creationId xmlns:a16="http://schemas.microsoft.com/office/drawing/2014/main" id="{08174994-92E5-48AD-BF85-7F1ABFA1C186}"/>
              </a:ext>
            </a:extLst>
          </p:cNvPr>
          <p:cNvSpPr>
            <a:spLocks xmlns:a="http://schemas.openxmlformats.org/drawingml/2006/main" noGrp="1"/>
          </p:cNvSpPr>
          <p:nvPr/>
        </p:nvSpPr>
        <p:spPr>
          <a:xfrm xmlns:a="http://schemas.openxmlformats.org/drawingml/2006/main">
            <a:off x="1809750" y="435292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1" name="">
            <a:extLst xmlns:a="http://schemas.openxmlformats.org/drawingml/2006/main">
              <a:ext uri="{FF2B5EF4-FFF2-40B4-BE49-F238E27FC236}">
                <a16:creationId xmlns:a16="http://schemas.microsoft.com/office/drawing/2014/main" id="{CC1BE7EC-C521-4474-8A4E-0F7AF1A8923F}"/>
              </a:ext>
            </a:extLst>
          </p:cNvPr>
          <p:cNvSpPr>
            <a:spLocks xmlns:a="http://schemas.openxmlformats.org/drawingml/2006/main" noGrp="1"/>
          </p:cNvSpPr>
          <p:nvPr/>
        </p:nvSpPr>
        <p:spPr>
          <a:xfrm xmlns:a="http://schemas.openxmlformats.org/drawingml/2006/main">
            <a:off x="1809750" y="43529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5</a:t>
            </a:r>
          </a:p>
        </p:txBody>
      </p:sp>
      <p:sp>
        <p:nvSpPr>
          <p:cNvPr id="22" name="">
            <a:extLst xmlns:a="http://schemas.openxmlformats.org/drawingml/2006/main">
              <a:ext uri="{FF2B5EF4-FFF2-40B4-BE49-F238E27FC236}">
                <a16:creationId xmlns:a16="http://schemas.microsoft.com/office/drawing/2014/main" id="{F63674CF-79D9-4217-9B93-40509A47AFED}"/>
              </a:ext>
            </a:extLst>
          </p:cNvPr>
          <p:cNvSpPr>
            <a:spLocks xmlns:a="http://schemas.openxmlformats.org/drawingml/2006/main" noGrp="1"/>
          </p:cNvSpPr>
          <p:nvPr/>
        </p:nvSpPr>
        <p:spPr>
          <a:xfrm xmlns:a="http://schemas.openxmlformats.org/drawingml/2006/main">
            <a:off x="2324100" y="436245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5. Störfaktoren behandeln</a:t>
            </a:r>
          </a:p>
        </p:txBody>
      </p:sp>
      <p:sp>
        <p:nvSpPr>
          <p:cNvPr id="23" name="">
            <a:extLst xmlns:a="http://schemas.openxmlformats.org/drawingml/2006/main">
              <a:ext uri="{FF2B5EF4-FFF2-40B4-BE49-F238E27FC236}">
                <a16:creationId xmlns:a16="http://schemas.microsoft.com/office/drawing/2014/main" id="{D61AF78C-6C35-4B48-AAFD-C83043DC3B3A}"/>
              </a:ext>
            </a:extLst>
          </p:cNvPr>
          <p:cNvSpPr>
            <a:spLocks xmlns:a="http://schemas.openxmlformats.org/drawingml/2006/main" noGrp="1"/>
          </p:cNvSpPr>
          <p:nvPr/>
        </p:nvSpPr>
        <p:spPr>
          <a:xfrm xmlns:a="http://schemas.openxmlformats.org/drawingml/2006/main">
            <a:off x="4819650" y="436245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Sind reversible Ursachen wie Hypoxie, Delir, Schmerz oder Sprachbarriere soweit möglich korrigiert?</a:t>
            </a:r>
          </a:p>
        </p:txBody>
      </p:sp>
      <p:sp>
        <p:nvSpPr>
          <p:cNvPr id="24" name="">
            <a:extLst xmlns:a="http://schemas.openxmlformats.org/drawingml/2006/main">
              <a:ext uri="{FF2B5EF4-FFF2-40B4-BE49-F238E27FC236}">
                <a16:creationId xmlns:a16="http://schemas.microsoft.com/office/drawing/2014/main" id="{078A2AFA-B9A7-449B-A5A2-94DDD6BDC740}"/>
              </a:ext>
            </a:extLst>
          </p:cNvPr>
          <p:cNvSpPr>
            <a:spLocks xmlns:a="http://schemas.openxmlformats.org/drawingml/2006/main" noGrp="1"/>
          </p:cNvSpPr>
          <p:nvPr/>
        </p:nvSpPr>
        <p:spPr>
          <a:xfrm xmlns:a="http://schemas.openxmlformats.org/drawingml/2006/main">
            <a:off x="1809750" y="495300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25" name="">
            <a:extLst xmlns:a="http://schemas.openxmlformats.org/drawingml/2006/main">
              <a:ext uri="{FF2B5EF4-FFF2-40B4-BE49-F238E27FC236}">
                <a16:creationId xmlns:a16="http://schemas.microsoft.com/office/drawing/2014/main" id="{C18E31EA-D63A-4CA5-9559-641577FC0A85}"/>
              </a:ext>
            </a:extLst>
          </p:cNvPr>
          <p:cNvSpPr>
            <a:spLocks xmlns:a="http://schemas.openxmlformats.org/drawingml/2006/main" noGrp="1"/>
          </p:cNvSpPr>
          <p:nvPr/>
        </p:nvSpPr>
        <p:spPr>
          <a:xfrm xmlns:a="http://schemas.openxmlformats.org/drawingml/2006/main">
            <a:off x="1809750" y="495300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6</a:t>
            </a:r>
          </a:p>
        </p:txBody>
      </p:sp>
      <p:sp>
        <p:nvSpPr>
          <p:cNvPr id="26" name="">
            <a:extLst xmlns:a="http://schemas.openxmlformats.org/drawingml/2006/main">
              <a:ext uri="{FF2B5EF4-FFF2-40B4-BE49-F238E27FC236}">
                <a16:creationId xmlns:a16="http://schemas.microsoft.com/office/drawing/2014/main" id="{1CBE0065-C0D3-4082-AAAF-15C27BA28E88}"/>
              </a:ext>
            </a:extLst>
          </p:cNvPr>
          <p:cNvSpPr>
            <a:spLocks xmlns:a="http://schemas.openxmlformats.org/drawingml/2006/main" noGrp="1"/>
          </p:cNvSpPr>
          <p:nvPr/>
        </p:nvSpPr>
        <p:spPr>
          <a:xfrm xmlns:a="http://schemas.openxmlformats.org/drawingml/2006/main">
            <a:off x="2324100" y="496252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6. Ergebnis festhalten</a:t>
            </a:r>
          </a:p>
        </p:txBody>
      </p:sp>
      <p:sp>
        <p:nvSpPr>
          <p:cNvPr id="27" name="">
            <a:extLst xmlns:a="http://schemas.openxmlformats.org/drawingml/2006/main">
              <a:ext uri="{FF2B5EF4-FFF2-40B4-BE49-F238E27FC236}">
                <a16:creationId xmlns:a16="http://schemas.microsoft.com/office/drawing/2014/main" id="{A656F925-5438-4CF9-B8D5-6FF95FFDA7CF}"/>
              </a:ext>
            </a:extLst>
          </p:cNvPr>
          <p:cNvSpPr>
            <a:spLocks xmlns:a="http://schemas.openxmlformats.org/drawingml/2006/main" noGrp="1"/>
          </p:cNvSpPr>
          <p:nvPr/>
        </p:nvSpPr>
        <p:spPr>
          <a:xfrm xmlns:a="http://schemas.openxmlformats.org/drawingml/2006/main">
            <a:off x="4819650" y="496252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Gespräch, Unterstützungsmaßnahmen, Begründung und Neubewertungszeitpunkt dokumentieren.</a:t>
            </a:r>
          </a:p>
        </p:txBody>
      </p:sp>
      <p:sp>
        <p:nvSpPr>
          <p:cNvPr id="28" name="">
            <a:extLst xmlns:a="http://schemas.openxmlformats.org/drawingml/2006/main">
              <a:ext uri="{FF2B5EF4-FFF2-40B4-BE49-F238E27FC236}">
                <a16:creationId xmlns:a16="http://schemas.microsoft.com/office/drawing/2014/main" id="{0AC25FBB-7968-4446-8C0D-19BD49363DA2}"/>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9" name="">
            <a:extLst xmlns:a="http://schemas.openxmlformats.org/drawingml/2006/main">
              <a:ext uri="{FF2B5EF4-FFF2-40B4-BE49-F238E27FC236}">
                <a16:creationId xmlns:a16="http://schemas.microsoft.com/office/drawing/2014/main" id="{863AC864-1F41-4EAD-88CC-7B0DE2FB2A52}"/>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Die Dokumentation soll den Denkprozess zeigen, nicht nur „einwilligungsfähig: ja/nein“.</a:t>
            </a:r>
          </a:p>
        </p:txBody>
      </p:sp>
    </p:spTree>
    <p:extLst>
      <p:ext uri="{BB962C8B-B14F-4D97-AF65-F5344CB8AC3E}">
        <p14:creationId xmlns:p14="http://schemas.microsoft.com/office/powerpoint/2010/main" val="43637646"/>
      </p:ext>
    </p:extLst>
  </p:cSld>
</p:sld>
</file>

<file path=ppt/slides/slide303.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Minderjährige</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35F7CA76-C0CF-4641-909D-4AB0DDAE4F6D}"/>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Bei Minderjährigen sind Sorgeberechtigung, Einwilligungsfähigkeit und zunehmende Selbstbestimmung getrennt zu prüfen.</a:t>
            </a:r>
          </a:p>
        </p:txBody>
      </p:sp>
      <p:sp>
        <p:nvSpPr>
          <p:cNvPr id="5" name="">
            <a:extLst xmlns:a="http://schemas.openxmlformats.org/drawingml/2006/main">
              <a:ext uri="{FF2B5EF4-FFF2-40B4-BE49-F238E27FC236}">
                <a16:creationId xmlns:a16="http://schemas.microsoft.com/office/drawing/2014/main" id="{A22F6BBA-5C88-4293-95C8-7E7631D49167}"/>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91482864-A11B-46A3-B72B-FDFE9BBF4B99}"/>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71098831-28C8-4F2F-9557-8CDBE74EE265}"/>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Keine starre Altersgrenze</a:t>
            </a:r>
          </a:p>
        </p:txBody>
      </p:sp>
      <p:sp>
        <p:nvSpPr>
          <p:cNvPr id="8" name="">
            <a:extLst xmlns:a="http://schemas.openxmlformats.org/drawingml/2006/main">
              <a:ext uri="{FF2B5EF4-FFF2-40B4-BE49-F238E27FC236}">
                <a16:creationId xmlns:a16="http://schemas.microsoft.com/office/drawing/2014/main" id="{9D59D089-0B75-400C-BD85-1B36704AE9C4}"/>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Entscheidend sind Reife, Verständnis und Tragweite der konkreten Maßnahme.</a:t>
            </a:r>
          </a:p>
        </p:txBody>
      </p:sp>
      <p:sp>
        <p:nvSpPr>
          <p:cNvPr id="9" name="">
            <a:extLst xmlns:a="http://schemas.openxmlformats.org/drawingml/2006/main">
              <a:ext uri="{FF2B5EF4-FFF2-40B4-BE49-F238E27FC236}">
                <a16:creationId xmlns:a16="http://schemas.microsoft.com/office/drawing/2014/main" id="{31A7196C-4F7B-42B8-A778-C670FA214FCE}"/>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8815F000-B409-4D55-B5F2-EC852FD7C052}"/>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9350AE2E-C5C6-45CC-B4E4-07BD36EDC48A}"/>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Sorgeberechtigte</a:t>
            </a:r>
          </a:p>
        </p:txBody>
      </p:sp>
      <p:sp>
        <p:nvSpPr>
          <p:cNvPr id="12" name="">
            <a:extLst xmlns:a="http://schemas.openxmlformats.org/drawingml/2006/main">
              <a:ext uri="{FF2B5EF4-FFF2-40B4-BE49-F238E27FC236}">
                <a16:creationId xmlns:a16="http://schemas.microsoft.com/office/drawing/2014/main" id="{9A7B6A98-C087-4A8D-B8DD-28073A8C06FA}"/>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Bei fehlender eigener Einwilligungsfähigkeit entscheiden grundsätzlich die gesetzlichen Vertreter im Kindeswohl.</a:t>
            </a:r>
          </a:p>
        </p:txBody>
      </p:sp>
      <p:sp>
        <p:nvSpPr>
          <p:cNvPr id="13" name="">
            <a:extLst xmlns:a="http://schemas.openxmlformats.org/drawingml/2006/main">
              <a:ext uri="{FF2B5EF4-FFF2-40B4-BE49-F238E27FC236}">
                <a16:creationId xmlns:a16="http://schemas.microsoft.com/office/drawing/2014/main" id="{069C5371-8FAA-465F-A978-962BE970469D}"/>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C4BD2081-240C-4DD1-B2F7-1FC552F248D2}"/>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87ECB1F8-A260-4FA0-9512-29830238CD47}"/>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Eigene Beteiligung</a:t>
            </a:r>
          </a:p>
        </p:txBody>
      </p:sp>
      <p:sp>
        <p:nvSpPr>
          <p:cNvPr id="16" name="">
            <a:extLst xmlns:a="http://schemas.openxmlformats.org/drawingml/2006/main">
              <a:ext uri="{FF2B5EF4-FFF2-40B4-BE49-F238E27FC236}">
                <a16:creationId xmlns:a16="http://schemas.microsoft.com/office/drawing/2014/main" id="{64EA385E-8A8C-49A8-950D-E3D14209A0FB}"/>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Auch nicht voll entscheidungsfähige Minderjährige werden altersgerecht informiert und in die Entscheidung einbezogen.</a:t>
            </a:r>
          </a:p>
        </p:txBody>
      </p:sp>
      <p:sp>
        <p:nvSpPr>
          <p:cNvPr id="17" name="">
            <a:extLst xmlns:a="http://schemas.openxmlformats.org/drawingml/2006/main">
              <a:ext uri="{FF2B5EF4-FFF2-40B4-BE49-F238E27FC236}">
                <a16:creationId xmlns:a16="http://schemas.microsoft.com/office/drawing/2014/main" id="{9FA24757-09A0-434F-8F93-0F317B078A43}"/>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BC576F90-EA72-4220-B55B-7D230673975F}"/>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532903D6-4C8D-4037-B6F3-54862A3118F0}"/>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Konflikt</a:t>
            </a:r>
          </a:p>
        </p:txBody>
      </p:sp>
      <p:sp>
        <p:nvSpPr>
          <p:cNvPr id="20" name="">
            <a:extLst xmlns:a="http://schemas.openxmlformats.org/drawingml/2006/main">
              <a:ext uri="{FF2B5EF4-FFF2-40B4-BE49-F238E27FC236}">
                <a16:creationId xmlns:a16="http://schemas.microsoft.com/office/drawing/2014/main" id="{FA041F32-2FC0-4E94-AE19-41F407B84C0F}"/>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Bei erheblicher Kindeswohlgefährdung durch verweigerte Zustimmung kann familiengerichtliche Hilfe erforderlich sein; im Notfall gelten Dringlichkeitsregeln.</a:t>
            </a:r>
          </a:p>
        </p:txBody>
      </p:sp>
      <p:sp>
        <p:nvSpPr>
          <p:cNvPr id="21" name="">
            <a:extLst xmlns:a="http://schemas.openxmlformats.org/drawingml/2006/main">
              <a:ext uri="{FF2B5EF4-FFF2-40B4-BE49-F238E27FC236}">
                <a16:creationId xmlns:a16="http://schemas.microsoft.com/office/drawing/2014/main" id="{E3D6C839-2AA2-4275-863D-8BA62F8E4B15}"/>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0D36E35D-9BCC-4E22-894A-8E7530D4EC19}"/>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Minderjährigkeit beseitigt nicht die Pflicht zu verständlicher Information und Respekt vor dem erkennbaren Willen.</a:t>
            </a:r>
          </a:p>
        </p:txBody>
      </p:sp>
    </p:spTree>
    <p:extLst>
      <p:ext uri="{BB962C8B-B14F-4D97-AF65-F5344CB8AC3E}">
        <p14:creationId xmlns:p14="http://schemas.microsoft.com/office/powerpoint/2010/main" val="43637646"/>
      </p:ext>
    </p:extLst>
  </p:cSld>
</p:sld>
</file>

<file path=ppt/slides/slide304.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Bei Minderjährigen reicht elterliche Zustimmung für längere Fixierungen nicht aus</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PODCAST FOLGE 4 (1) · ULTIMA RATIO</a:t>
            </a:r>
            <a:endParaRPr/>
          </a:p>
        </p:txBody>
      </p:sp>
      <p:sp>
        <p:nvSpPr>
          <p:cNvPr id="4" name="">
            <a:extLst xmlns:a="http://schemas.openxmlformats.org/drawingml/2006/main">
              <a:ext uri="{FF2B5EF4-FFF2-40B4-BE49-F238E27FC236}">
                <a16:creationId xmlns:a16="http://schemas.microsoft.com/office/drawing/2014/main" id="{53CCF967-E1BA-467E-9FDA-FF279873E732}"/>
              </a:ext>
            </a:extLst>
          </p:cNvPr>
          <p:cNvSpPr>
            <a:spLocks xmlns:a="http://schemas.openxmlformats.org/drawingml/2006/main" noGrp="1"/>
          </p:cNvSpPr>
          <p:nvPr/>
        </p:nvSpPr>
        <p:spPr>
          <a:xfrm xmlns:a="http://schemas.openxmlformats.org/drawingml/2006/main">
            <a:off x="1809750" y="1943100"/>
            <a:ext cx="1809750" cy="457200"/>
          </a:xfrm>
          <a:prstGeom xmlns:a="http://schemas.openxmlformats.org/drawingml/2006/main" prst="roundRect">
            <a:avLst>
              <a:gd name="adj" fmla="val 16667"/>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6697174B-B299-4949-83C3-1861F90C5567}"/>
              </a:ext>
            </a:extLst>
          </p:cNvPr>
          <p:cNvSpPr>
            <a:spLocks xmlns:a="http://schemas.openxmlformats.org/drawingml/2006/main" noGrp="1"/>
          </p:cNvSpPr>
          <p:nvPr/>
        </p:nvSpPr>
        <p:spPr>
          <a:xfrm xmlns:a="http://schemas.openxmlformats.org/drawingml/2006/main">
            <a:off x="1809750" y="1943100"/>
            <a:ext cx="1809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 1631b BGB</a:t>
            </a:r>
          </a:p>
        </p:txBody>
      </p:sp>
      <p:sp>
        <p:nvSpPr>
          <p:cNvPr id="6" name="">
            <a:extLst xmlns:a="http://schemas.openxmlformats.org/drawingml/2006/main">
              <a:ext uri="{FF2B5EF4-FFF2-40B4-BE49-F238E27FC236}">
                <a16:creationId xmlns:a16="http://schemas.microsoft.com/office/drawing/2014/main" id="{40210C02-7F0E-43E8-A1E4-AB2F370D5CA5}"/>
              </a:ext>
            </a:extLst>
          </p:cNvPr>
          <p:cNvSpPr>
            <a:spLocks xmlns:a="http://schemas.openxmlformats.org/drawingml/2006/main" noGrp="1"/>
          </p:cNvSpPr>
          <p:nvPr/>
        </p:nvSpPr>
        <p:spPr>
          <a:xfrm xmlns:a="http://schemas.openxmlformats.org/drawingml/2006/main">
            <a:off x="3867150" y="1943100"/>
            <a:ext cx="7467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500" b="1">
                <a:solidFill>
                  <a:srgbClr val="003F6B"/>
                </a:solidFill>
              </a:defRPr>
            </a:pPr>
            <a:r>
              <a:rPr sz="1500" b="1">
                <a:solidFill>
                  <a:srgbClr val="003F6B"/>
                </a:solidFill>
              </a:rPr>
              <a:t>gekürzter Kern</a:t>
            </a:r>
          </a:p>
        </p:txBody>
      </p:sp>
      <p:sp>
        <p:nvSpPr>
          <p:cNvPr id="7" name="">
            <a:extLst xmlns:a="http://schemas.openxmlformats.org/drawingml/2006/main">
              <a:ext uri="{FF2B5EF4-FFF2-40B4-BE49-F238E27FC236}">
                <a16:creationId xmlns:a16="http://schemas.microsoft.com/office/drawing/2014/main" id="{62BB75FF-4543-4975-BA35-439D856DB29E}"/>
              </a:ext>
            </a:extLst>
          </p:cNvPr>
          <p:cNvSpPr>
            <a:spLocks xmlns:a="http://schemas.openxmlformats.org/drawingml/2006/main" noGrp="1"/>
          </p:cNvSpPr>
          <p:nvPr/>
        </p:nvSpPr>
        <p:spPr>
          <a:xfrm xmlns:a="http://schemas.openxmlformats.org/drawingml/2006/main">
            <a:off x="1809750" y="2552700"/>
            <a:ext cx="9525000" cy="2419350"/>
          </a:xfrm>
          <a:prstGeom xmlns:a="http://schemas.openxmlformats.org/drawingml/2006/main" prst="roundRect">
            <a:avLst>
              <a:gd name="adj" fmla="val 3150"/>
            </a:avLst>
          </a:prstGeom>
          <a:solidFill xmlns:a="http://schemas.openxmlformats.org/drawingml/2006/main">
            <a:srgbClr val="F3F7F9"/>
          </a:solidFill>
          <a:ln xmlns:a="http://schemas.openxmlformats.org/drawingml/2006/main" w="11430">
            <a:solidFill>
              <a:srgbClr val="00B2BB"/>
            </a:solidFill>
            <a:prstDash val="solid"/>
          </a:ln>
        </p:spPr>
      </p:sp>
      <p:sp>
        <p:nvSpPr>
          <p:cNvPr id="8" name="">
            <a:extLst xmlns:a="http://schemas.openxmlformats.org/drawingml/2006/main">
              <a:ext uri="{FF2B5EF4-FFF2-40B4-BE49-F238E27FC236}">
                <a16:creationId xmlns:a16="http://schemas.microsoft.com/office/drawing/2014/main" id="{FE124A06-CA77-4025-A0F6-CF8DD225DA85}"/>
              </a:ext>
            </a:extLst>
          </p:cNvPr>
          <p:cNvSpPr>
            <a:spLocks xmlns:a="http://schemas.openxmlformats.org/drawingml/2006/main" noGrp="1"/>
          </p:cNvSpPr>
          <p:nvPr/>
        </p:nvSpPr>
        <p:spPr>
          <a:xfrm xmlns:a="http://schemas.openxmlformats.org/drawingml/2006/main">
            <a:off x="2019300" y="2724150"/>
            <a:ext cx="910590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15232B"/>
                </a:solidFill>
              </a:defRPr>
            </a:pPr>
            <a:r>
              <a:rPr sz="1275">
                <a:solidFill>
                  <a:srgbClr val="15232B"/>
                </a:solidFill>
              </a:rPr>
              <a:t>Freiheitsentziehende Unterbringung eines Kindes bedarf der Genehmigung des Familiengerichts. Sie ist nur zulässig, solange sie zum Wohl des Kindes, insbesondere zur Abwendung erheblicher Selbst- oder Fremdgefährdung, erforderlich ist und der Gefahr nicht anders begegnet werden kann. Auch länger dauernde oder regelmäßig nicht altersgerechte Freiheitsentziehungen durch mechanische Vorrichtungen, Medikamente oder auf andere Weise bedürfen grundsätzlich der Genehmigung.</a:t>
            </a:r>
          </a:p>
        </p:txBody>
      </p:sp>
      <p:sp>
        <p:nvSpPr>
          <p:cNvPr id="9" name="">
            <a:extLst xmlns:a="http://schemas.openxmlformats.org/drawingml/2006/main">
              <a:ext uri="{FF2B5EF4-FFF2-40B4-BE49-F238E27FC236}">
                <a16:creationId xmlns:a16="http://schemas.microsoft.com/office/drawing/2014/main" id="{EE1BEF1E-87F5-486E-9A2E-0601BAE7463D}"/>
              </a:ext>
            </a:extLst>
          </p:cNvPr>
          <p:cNvSpPr>
            <a:spLocks xmlns:a="http://schemas.openxmlformats.org/drawingml/2006/main" noGrp="1"/>
          </p:cNvSpPr>
          <p:nvPr/>
        </p:nvSpPr>
        <p:spPr>
          <a:xfrm xmlns:a="http://schemas.openxmlformats.org/drawingml/2006/main">
            <a:off x="1809750" y="5619750"/>
            <a:ext cx="9525000" cy="419100"/>
          </a:xfrm>
          <a:prstGeom xmlns:a="http://schemas.openxmlformats.org/drawingml/2006/main" prst="roundRect">
            <a:avLst>
              <a:gd name="adj" fmla="val 18182"/>
            </a:avLst>
          </a:prstGeom>
          <a:noFill xmlns:a="http://schemas.openxmlformats.org/drawingml/2006/main"/>
          <a:ln xmlns:a="http://schemas.openxmlformats.org/drawingml/2006/main" w="11430">
            <a:solidFill>
              <a:srgbClr val="00B2BB"/>
            </a:solidFill>
            <a:prstDash val="solid"/>
          </a:ln>
        </p:spPr>
      </p:sp>
      <p:sp>
        <p:nvSpPr>
          <p:cNvPr id="10" name="">
            <a:extLst xmlns:a="http://schemas.openxmlformats.org/drawingml/2006/main">
              <a:ext uri="{FF2B5EF4-FFF2-40B4-BE49-F238E27FC236}">
                <a16:creationId xmlns:a16="http://schemas.microsoft.com/office/drawing/2014/main" id="{251CB250-56D3-4F1D-934C-08E606D9280B}"/>
              </a:ext>
            </a:extLst>
          </p:cNvPr>
          <p:cNvSpPr>
            <a:spLocks xmlns:a="http://schemas.openxmlformats.org/drawingml/2006/main" noGrp="1"/>
          </p:cNvSpPr>
          <p:nvPr/>
        </p:nvSpPr>
        <p:spPr>
          <a:xfrm xmlns:a="http://schemas.openxmlformats.org/drawingml/2006/main">
            <a:off x="1962150" y="5638800"/>
            <a:ext cx="9220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13" b="1">
                <a:solidFill>
                  <a:srgbClr val="003F6B"/>
                </a:solidFill>
              </a:defRPr>
            </a:pPr>
            <a:r>
              <a:rPr sz="1013" b="1">
                <a:solidFill>
                  <a:srgbClr val="003F6B"/>
                </a:solidFill>
              </a:rPr>
              <a:t>Praxislesart: Akute Gefahr erlaubt nur eine vorläufige Maßnahme. Genehmigung unverzüglich nachholen; Indikation, mildere Mittel, Überwachung, Dauer und Neubewertung dokumentieren.</a:t>
            </a:r>
          </a:p>
        </p:txBody>
      </p:sp>
      <p:sp>
        <p:nvSpPr>
          <p:cNvPr id="11" name="">
            <a:extLst xmlns:a="http://schemas.openxmlformats.org/drawingml/2006/main">
              <a:ext uri="{FF2B5EF4-FFF2-40B4-BE49-F238E27FC236}">
                <a16:creationId xmlns:a16="http://schemas.microsoft.com/office/drawing/2014/main" id="{FABE0F5F-8E8B-4BFE-BD7B-F94FB3AF0737}"/>
              </a:ext>
            </a:extLst>
          </p:cNvPr>
          <p:cNvSpPr>
            <a:spLocks xmlns:a="http://schemas.openxmlformats.org/drawingml/2006/main" noGrp="1"/>
          </p:cNvSpPr>
          <p:nvPr/>
        </p:nvSpPr>
        <p:spPr>
          <a:xfrm xmlns:a="http://schemas.openxmlformats.org/drawingml/2006/main">
            <a:off x="1809750" y="535305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05">
                <a:solidFill>
                  <a:srgbClr val="667680"/>
                </a:solidFill>
              </a:defRPr>
            </a:pPr>
            <a:r>
              <a:rPr sz="705">
                <a:solidFill>
                  <a:srgbClr val="667680"/>
                </a:solidFill>
              </a:rPr>
              <a:t>§ 1631b BGB, Fassung am 20.08.2026 · Recht Medizinisch, Folge 4 (1) „Ultima Ratio“, 19.08.2026 · https://podcasts.apple.com/us/podcast/recht-medizinisch/id1896818482</a:t>
            </a:r>
          </a:p>
        </p:txBody>
      </p:sp>
    </p:spTree>
    <p:extLst>
      <p:ext uri="{BB962C8B-B14F-4D97-AF65-F5344CB8AC3E}">
        <p14:creationId xmlns:p14="http://schemas.microsoft.com/office/powerpoint/2010/main" val="43637646"/>
      </p:ext>
    </p:extLst>
  </p:cSld>
</p:sld>
</file>

<file path=ppt/slides/slide305.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Bluttransfusion abgelehnt: Erwachsene und Minderjährige verlangen zwei verschiedene Prüfungen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PODCAST-KURZVISITE · AUTONOMIE UND KINDESWOHL</a:t>
            </a:r>
            <a:endParaRPr/>
          </a:p>
        </p:txBody>
      </p:sp>
      <p:sp>
        <p:nvSpPr>
          <p:cNvPr id="4" name="">
            <a:extLst xmlns:a="http://schemas.openxmlformats.org/drawingml/2006/main">
              <a:ext uri="{FF2B5EF4-FFF2-40B4-BE49-F238E27FC236}">
                <a16:creationId xmlns:a16="http://schemas.microsoft.com/office/drawing/2014/main" id="{CDE941A1-3B9C-4EB2-B229-4526961C444E}"/>
              </a:ext>
            </a:extLst>
          </p:cNvPr>
          <p:cNvSpPr>
            <a:spLocks xmlns:a="http://schemas.openxmlformats.org/drawingml/2006/main" noGrp="1"/>
          </p:cNvSpPr>
          <p:nvPr/>
        </p:nvSpPr>
        <p:spPr>
          <a:xfrm xmlns:a="http://schemas.openxmlformats.org/drawingml/2006/main">
            <a:off x="1809750" y="1924050"/>
            <a:ext cx="9525000" cy="838200"/>
          </a:xfrm>
          <a:prstGeom xmlns:a="http://schemas.openxmlformats.org/drawingml/2006/main" prst="roundRect">
            <a:avLst>
              <a:gd name="adj" fmla="val 9091"/>
            </a:avLst>
          </a:prstGeom>
          <a:solidFill xmlns:a="http://schemas.openxmlformats.org/drawingml/2006/main">
            <a:srgbClr val="EAF6FB"/>
          </a:solidFill>
          <a:ln xmlns:a="http://schemas.openxmlformats.org/drawingml/2006/main" w="9525">
            <a:solidFill>
              <a:srgbClr val="00B2BB"/>
            </a:solidFill>
            <a:prstDash val="solid"/>
          </a:ln>
        </p:spPr>
      </p:sp>
      <p:sp>
        <p:nvSpPr>
          <p:cNvPr id="5" name="">
            <a:extLst xmlns:a="http://schemas.openxmlformats.org/drawingml/2006/main">
              <a:ext uri="{FF2B5EF4-FFF2-40B4-BE49-F238E27FC236}">
                <a16:creationId xmlns:a16="http://schemas.microsoft.com/office/drawing/2014/main" id="{A776F4CB-CC33-47A9-8B90-4AB747C6EB64}"/>
              </a:ext>
            </a:extLst>
          </p:cNvPr>
          <p:cNvSpPr>
            <a:spLocks xmlns:a="http://schemas.openxmlformats.org/drawingml/2006/main" noGrp="1"/>
          </p:cNvSpPr>
          <p:nvPr/>
        </p:nvSpPr>
        <p:spPr>
          <a:xfrm xmlns:a="http://schemas.openxmlformats.org/drawingml/2006/main">
            <a:off x="1981200" y="2000250"/>
            <a:ext cx="9182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55">
                <a:solidFill>
                  <a:srgbClr val="15232B"/>
                </a:solidFill>
              </a:defRPr>
            </a:pPr>
            <a:r>
              <a:rPr sz="1155">
                <a:solidFill>
                  <a:srgbClr val="15232B"/>
                </a:solidFill>
              </a:rPr>
              <a:t>Eine Bluttransfusion ist medizinisch dringend indiziert. Eine einwilligungsfähige erwachsene Patientin lehnt sie ab; im Parallelfall lehnen die Eltern für ihr minderjähriges Kind ab.</a:t>
            </a:r>
          </a:p>
        </p:txBody>
      </p:sp>
      <p:sp>
        <p:nvSpPr>
          <p:cNvPr id="6" name="">
            <a:extLst xmlns:a="http://schemas.openxmlformats.org/drawingml/2006/main">
              <a:ext uri="{FF2B5EF4-FFF2-40B4-BE49-F238E27FC236}">
                <a16:creationId xmlns:a16="http://schemas.microsoft.com/office/drawing/2014/main" id="{EF3A3CEC-17D7-4514-ADFA-9BD47171F1A0}"/>
              </a:ext>
            </a:extLst>
          </p:cNvPr>
          <p:cNvSpPr>
            <a:spLocks xmlns:a="http://schemas.openxmlformats.org/drawingml/2006/main" noGrp="1"/>
          </p:cNvSpPr>
          <p:nvPr/>
        </p:nvSpPr>
        <p:spPr>
          <a:xfrm xmlns:a="http://schemas.openxmlformats.org/drawingml/2006/main">
            <a:off x="1809750" y="2933700"/>
            <a:ext cx="381000" cy="381000"/>
          </a:xfrm>
          <a:prstGeom xmlns:a="http://schemas.openxmlformats.org/drawingml/2006/main" prst="roundRect">
            <a:avLst>
              <a:gd name="adj" fmla="val 20000"/>
            </a:avLst>
          </a:prstGeom>
          <a:solidFill xmlns:a="http://schemas.openxmlformats.org/drawingml/2006/main">
            <a:srgbClr val="00B2BB"/>
          </a:solidFill>
          <a:ln xmlns:a="http://schemas.openxmlformats.org/drawingml/2006/main" w="0">
            <a:solidFill>
              <a:srgbClr val="00B2BB"/>
            </a:solidFill>
            <a:prstDash val="solid"/>
          </a:ln>
        </p:spPr>
      </p:sp>
      <p:sp>
        <p:nvSpPr>
          <p:cNvPr id="7" name="">
            <a:extLst xmlns:a="http://schemas.openxmlformats.org/drawingml/2006/main">
              <a:ext uri="{FF2B5EF4-FFF2-40B4-BE49-F238E27FC236}">
                <a16:creationId xmlns:a16="http://schemas.microsoft.com/office/drawing/2014/main" id="{2F0289B1-FD8F-4889-B2BE-84418045872D}"/>
              </a:ext>
            </a:extLst>
          </p:cNvPr>
          <p:cNvSpPr>
            <a:spLocks xmlns:a="http://schemas.openxmlformats.org/drawingml/2006/main" noGrp="1"/>
          </p:cNvSpPr>
          <p:nvPr/>
        </p:nvSpPr>
        <p:spPr>
          <a:xfrm xmlns:a="http://schemas.openxmlformats.org/drawingml/2006/main">
            <a:off x="1809750" y="293370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8" name="">
            <a:extLst xmlns:a="http://schemas.openxmlformats.org/drawingml/2006/main">
              <a:ext uri="{FF2B5EF4-FFF2-40B4-BE49-F238E27FC236}">
                <a16:creationId xmlns:a16="http://schemas.microsoft.com/office/drawing/2014/main" id="{C91FF1D6-6B65-4B5B-854F-3A63A2137E44}"/>
              </a:ext>
            </a:extLst>
          </p:cNvPr>
          <p:cNvSpPr>
            <a:spLocks xmlns:a="http://schemas.openxmlformats.org/drawingml/2006/main" noGrp="1"/>
          </p:cNvSpPr>
          <p:nvPr/>
        </p:nvSpPr>
        <p:spPr>
          <a:xfrm xmlns:a="http://schemas.openxmlformats.org/drawingml/2006/main">
            <a:off x="2343150" y="2914650"/>
            <a:ext cx="18097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Erwachsene Person</a:t>
            </a:r>
          </a:p>
        </p:txBody>
      </p:sp>
      <p:sp>
        <p:nvSpPr>
          <p:cNvPr id="9" name="">
            <a:extLst xmlns:a="http://schemas.openxmlformats.org/drawingml/2006/main">
              <a:ext uri="{FF2B5EF4-FFF2-40B4-BE49-F238E27FC236}">
                <a16:creationId xmlns:a16="http://schemas.microsoft.com/office/drawing/2014/main" id="{9E98901A-C416-41EC-8F7F-4C7203C28B1F}"/>
              </a:ext>
            </a:extLst>
          </p:cNvPr>
          <p:cNvSpPr>
            <a:spLocks xmlns:a="http://schemas.openxmlformats.org/drawingml/2006/main" noGrp="1"/>
          </p:cNvSpPr>
          <p:nvPr/>
        </p:nvSpPr>
        <p:spPr>
          <a:xfrm xmlns:a="http://schemas.openxmlformats.org/drawingml/2006/main">
            <a:off x="4286250" y="2914650"/>
            <a:ext cx="69532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35">
                <a:solidFill>
                  <a:srgbClr val="15232B"/>
                </a:solidFill>
              </a:defRPr>
            </a:pPr>
            <a:r>
              <a:rPr sz="1035">
                <a:solidFill>
                  <a:srgbClr val="15232B"/>
                </a:solidFill>
              </a:rPr>
              <a:t>Einwilligungsfähigkeit, Freiwilligkeit, Information und Reichweite der Ablehnung prüfen; eine wirksame Ablehnung bindet auch bei Lebensgefahr.</a:t>
            </a:r>
          </a:p>
        </p:txBody>
      </p:sp>
      <p:sp>
        <p:nvSpPr>
          <p:cNvPr id="10" name="">
            <a:extLst xmlns:a="http://schemas.openxmlformats.org/drawingml/2006/main">
              <a:ext uri="{FF2B5EF4-FFF2-40B4-BE49-F238E27FC236}">
                <a16:creationId xmlns:a16="http://schemas.microsoft.com/office/drawing/2014/main" id="{E6823E64-4FB9-4938-B659-A4DB5ECF9073}"/>
              </a:ext>
            </a:extLst>
          </p:cNvPr>
          <p:cNvSpPr>
            <a:spLocks xmlns:a="http://schemas.openxmlformats.org/drawingml/2006/main" noGrp="1"/>
          </p:cNvSpPr>
          <p:nvPr/>
        </p:nvSpPr>
        <p:spPr>
          <a:xfrm xmlns:a="http://schemas.openxmlformats.org/drawingml/2006/main">
            <a:off x="1809750" y="3394710"/>
            <a:ext cx="381000" cy="381000"/>
          </a:xfrm>
          <a:prstGeom xmlns:a="http://schemas.openxmlformats.org/drawingml/2006/main" prst="roundRect">
            <a:avLst>
              <a:gd name="adj" fmla="val 20000"/>
            </a:avLst>
          </a:prstGeom>
          <a:solidFill xmlns:a="http://schemas.openxmlformats.org/drawingml/2006/main">
            <a:srgbClr val="003F6B"/>
          </a:solidFill>
          <a:ln xmlns:a="http://schemas.openxmlformats.org/drawingml/2006/main" w="0">
            <a:solidFill>
              <a:srgbClr val="003F6B"/>
            </a:solidFill>
            <a:prstDash val="solid"/>
          </a:ln>
        </p:spPr>
      </p:sp>
      <p:sp>
        <p:nvSpPr>
          <p:cNvPr id="11" name="">
            <a:extLst xmlns:a="http://schemas.openxmlformats.org/drawingml/2006/main">
              <a:ext uri="{FF2B5EF4-FFF2-40B4-BE49-F238E27FC236}">
                <a16:creationId xmlns:a16="http://schemas.microsoft.com/office/drawing/2014/main" id="{2C181B87-AEC8-4175-9D3F-300E1B067198}"/>
              </a:ext>
            </a:extLst>
          </p:cNvPr>
          <p:cNvSpPr>
            <a:spLocks xmlns:a="http://schemas.openxmlformats.org/drawingml/2006/main" noGrp="1"/>
          </p:cNvSpPr>
          <p:nvPr/>
        </p:nvSpPr>
        <p:spPr>
          <a:xfrm xmlns:a="http://schemas.openxmlformats.org/drawingml/2006/main">
            <a:off x="1809750" y="339471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2" name="">
            <a:extLst xmlns:a="http://schemas.openxmlformats.org/drawingml/2006/main">
              <a:ext uri="{FF2B5EF4-FFF2-40B4-BE49-F238E27FC236}">
                <a16:creationId xmlns:a16="http://schemas.microsoft.com/office/drawing/2014/main" id="{04639BC0-73D5-4F4E-B35E-021EAA5BD578}"/>
              </a:ext>
            </a:extLst>
          </p:cNvPr>
          <p:cNvSpPr>
            <a:spLocks xmlns:a="http://schemas.openxmlformats.org/drawingml/2006/main" noGrp="1"/>
          </p:cNvSpPr>
          <p:nvPr/>
        </p:nvSpPr>
        <p:spPr>
          <a:xfrm xmlns:a="http://schemas.openxmlformats.org/drawingml/2006/main">
            <a:off x="2343150" y="3375660"/>
            <a:ext cx="18097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Minderjährige Person</a:t>
            </a:r>
          </a:p>
        </p:txBody>
      </p:sp>
      <p:sp>
        <p:nvSpPr>
          <p:cNvPr id="13" name="">
            <a:extLst xmlns:a="http://schemas.openxmlformats.org/drawingml/2006/main">
              <a:ext uri="{FF2B5EF4-FFF2-40B4-BE49-F238E27FC236}">
                <a16:creationId xmlns:a16="http://schemas.microsoft.com/office/drawing/2014/main" id="{4045127A-47FF-4DB6-9FC5-D091345C7239}"/>
              </a:ext>
            </a:extLst>
          </p:cNvPr>
          <p:cNvSpPr>
            <a:spLocks xmlns:a="http://schemas.openxmlformats.org/drawingml/2006/main" noGrp="1"/>
          </p:cNvSpPr>
          <p:nvPr/>
        </p:nvSpPr>
        <p:spPr>
          <a:xfrm xmlns:a="http://schemas.openxmlformats.org/drawingml/2006/main">
            <a:off x="4286250" y="3375660"/>
            <a:ext cx="69532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35">
                <a:solidFill>
                  <a:srgbClr val="15232B"/>
                </a:solidFill>
              </a:defRPr>
            </a:pPr>
            <a:r>
              <a:rPr sz="1035">
                <a:solidFill>
                  <a:srgbClr val="15232B"/>
                </a:solidFill>
              </a:rPr>
              <a:t>Eigene Einwilligungsfähigkeit und Reife konkret bewerten; Sorgeberechtigung und Kindeswohl getrennt einordnen.</a:t>
            </a:r>
          </a:p>
        </p:txBody>
      </p:sp>
      <p:sp>
        <p:nvSpPr>
          <p:cNvPr id="14" name="">
            <a:extLst xmlns:a="http://schemas.openxmlformats.org/drawingml/2006/main">
              <a:ext uri="{FF2B5EF4-FFF2-40B4-BE49-F238E27FC236}">
                <a16:creationId xmlns:a16="http://schemas.microsoft.com/office/drawing/2014/main" id="{8E217189-0690-446C-8FAD-1CAFF0409AB0}"/>
              </a:ext>
            </a:extLst>
          </p:cNvPr>
          <p:cNvSpPr>
            <a:spLocks xmlns:a="http://schemas.openxmlformats.org/drawingml/2006/main" noGrp="1"/>
          </p:cNvSpPr>
          <p:nvPr/>
        </p:nvSpPr>
        <p:spPr>
          <a:xfrm xmlns:a="http://schemas.openxmlformats.org/drawingml/2006/main">
            <a:off x="1809750" y="3855720"/>
            <a:ext cx="381000" cy="381000"/>
          </a:xfrm>
          <a:prstGeom xmlns:a="http://schemas.openxmlformats.org/drawingml/2006/main" prst="roundRect">
            <a:avLst>
              <a:gd name="adj" fmla="val 20000"/>
            </a:avLst>
          </a:prstGeom>
          <a:solidFill xmlns:a="http://schemas.openxmlformats.org/drawingml/2006/main">
            <a:srgbClr val="00B2BB"/>
          </a:solidFill>
          <a:ln xmlns:a="http://schemas.openxmlformats.org/drawingml/2006/main" w="0">
            <a:solidFill>
              <a:srgbClr val="00B2BB"/>
            </a:solidFill>
            <a:prstDash val="solid"/>
          </a:ln>
        </p:spPr>
      </p:sp>
      <p:sp>
        <p:nvSpPr>
          <p:cNvPr id="15" name="">
            <a:extLst xmlns:a="http://schemas.openxmlformats.org/drawingml/2006/main">
              <a:ext uri="{FF2B5EF4-FFF2-40B4-BE49-F238E27FC236}">
                <a16:creationId xmlns:a16="http://schemas.microsoft.com/office/drawing/2014/main" id="{A077F4B2-AD23-4962-A947-D9AADED6BDA2}"/>
              </a:ext>
            </a:extLst>
          </p:cNvPr>
          <p:cNvSpPr>
            <a:spLocks xmlns:a="http://schemas.openxmlformats.org/drawingml/2006/main" noGrp="1"/>
          </p:cNvSpPr>
          <p:nvPr/>
        </p:nvSpPr>
        <p:spPr>
          <a:xfrm xmlns:a="http://schemas.openxmlformats.org/drawingml/2006/main">
            <a:off x="1809750" y="385572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6" name="">
            <a:extLst xmlns:a="http://schemas.openxmlformats.org/drawingml/2006/main">
              <a:ext uri="{FF2B5EF4-FFF2-40B4-BE49-F238E27FC236}">
                <a16:creationId xmlns:a16="http://schemas.microsoft.com/office/drawing/2014/main" id="{6F9D3987-2CC5-45F7-B658-24C8AE8D5384}"/>
              </a:ext>
            </a:extLst>
          </p:cNvPr>
          <p:cNvSpPr>
            <a:spLocks xmlns:a="http://schemas.openxmlformats.org/drawingml/2006/main" noGrp="1"/>
          </p:cNvSpPr>
          <p:nvPr/>
        </p:nvSpPr>
        <p:spPr>
          <a:xfrm xmlns:a="http://schemas.openxmlformats.org/drawingml/2006/main">
            <a:off x="2343150" y="3836670"/>
            <a:ext cx="18097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Elterlicher Konflikt</a:t>
            </a:r>
          </a:p>
        </p:txBody>
      </p:sp>
      <p:sp>
        <p:nvSpPr>
          <p:cNvPr id="17" name="">
            <a:extLst xmlns:a="http://schemas.openxmlformats.org/drawingml/2006/main">
              <a:ext uri="{FF2B5EF4-FFF2-40B4-BE49-F238E27FC236}">
                <a16:creationId xmlns:a16="http://schemas.microsoft.com/office/drawing/2014/main" id="{18EFD1EC-8E44-4350-8CBF-48715BE07128}"/>
              </a:ext>
            </a:extLst>
          </p:cNvPr>
          <p:cNvSpPr>
            <a:spLocks xmlns:a="http://schemas.openxmlformats.org/drawingml/2006/main" noGrp="1"/>
          </p:cNvSpPr>
          <p:nvPr/>
        </p:nvSpPr>
        <p:spPr>
          <a:xfrm xmlns:a="http://schemas.openxmlformats.org/drawingml/2006/main">
            <a:off x="4286250" y="3836670"/>
            <a:ext cx="69532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35">
                <a:solidFill>
                  <a:srgbClr val="15232B"/>
                </a:solidFill>
              </a:defRPr>
            </a:pPr>
            <a:r>
              <a:rPr sz="1035">
                <a:solidFill>
                  <a:srgbClr val="15232B"/>
                </a:solidFill>
              </a:rPr>
              <a:t>Gefährdet die Ablehnung das Kindeswohl erheblich, familiengerichtliche Entscheidung veranlassen; im vitalen Notfall zeitkritisch handeln.</a:t>
            </a:r>
          </a:p>
        </p:txBody>
      </p:sp>
      <p:sp>
        <p:nvSpPr>
          <p:cNvPr id="18" name="">
            <a:extLst xmlns:a="http://schemas.openxmlformats.org/drawingml/2006/main">
              <a:ext uri="{FF2B5EF4-FFF2-40B4-BE49-F238E27FC236}">
                <a16:creationId xmlns:a16="http://schemas.microsoft.com/office/drawing/2014/main" id="{C0E9AD7B-583E-4FB9-AA54-7A5FF2B18A75}"/>
              </a:ext>
            </a:extLst>
          </p:cNvPr>
          <p:cNvSpPr>
            <a:spLocks xmlns:a="http://schemas.openxmlformats.org/drawingml/2006/main" noGrp="1"/>
          </p:cNvSpPr>
          <p:nvPr/>
        </p:nvSpPr>
        <p:spPr>
          <a:xfrm xmlns:a="http://schemas.openxmlformats.org/drawingml/2006/main">
            <a:off x="1809750" y="4316730"/>
            <a:ext cx="381000" cy="381000"/>
          </a:xfrm>
          <a:prstGeom xmlns:a="http://schemas.openxmlformats.org/drawingml/2006/main" prst="roundRect">
            <a:avLst>
              <a:gd name="adj" fmla="val 20000"/>
            </a:avLst>
          </a:prstGeom>
          <a:solidFill xmlns:a="http://schemas.openxmlformats.org/drawingml/2006/main">
            <a:srgbClr val="003F6B"/>
          </a:solidFill>
          <a:ln xmlns:a="http://schemas.openxmlformats.org/drawingml/2006/main" w="0">
            <a:solidFill>
              <a:srgbClr val="003F6B"/>
            </a:solidFill>
            <a:prstDash val="solid"/>
          </a:ln>
        </p:spPr>
      </p:sp>
      <p:sp>
        <p:nvSpPr>
          <p:cNvPr id="19" name="">
            <a:extLst xmlns:a="http://schemas.openxmlformats.org/drawingml/2006/main">
              <a:ext uri="{FF2B5EF4-FFF2-40B4-BE49-F238E27FC236}">
                <a16:creationId xmlns:a16="http://schemas.microsoft.com/office/drawing/2014/main" id="{24292D77-45FB-4192-BA32-CF68792C42F3}"/>
              </a:ext>
            </a:extLst>
          </p:cNvPr>
          <p:cNvSpPr>
            <a:spLocks xmlns:a="http://schemas.openxmlformats.org/drawingml/2006/main" noGrp="1"/>
          </p:cNvSpPr>
          <p:nvPr/>
        </p:nvSpPr>
        <p:spPr>
          <a:xfrm xmlns:a="http://schemas.openxmlformats.org/drawingml/2006/main">
            <a:off x="1809750" y="431673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20" name="">
            <a:extLst xmlns:a="http://schemas.openxmlformats.org/drawingml/2006/main">
              <a:ext uri="{FF2B5EF4-FFF2-40B4-BE49-F238E27FC236}">
                <a16:creationId xmlns:a16="http://schemas.microsoft.com/office/drawing/2014/main" id="{E7CD4036-FFC5-4A84-9BFA-D0578D52925B}"/>
              </a:ext>
            </a:extLst>
          </p:cNvPr>
          <p:cNvSpPr>
            <a:spLocks xmlns:a="http://schemas.openxmlformats.org/drawingml/2006/main" noGrp="1"/>
          </p:cNvSpPr>
          <p:nvPr/>
        </p:nvSpPr>
        <p:spPr>
          <a:xfrm xmlns:a="http://schemas.openxmlformats.org/drawingml/2006/main">
            <a:off x="2343150" y="4297680"/>
            <a:ext cx="18097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Alternativen</a:t>
            </a:r>
          </a:p>
        </p:txBody>
      </p:sp>
      <p:sp>
        <p:nvSpPr>
          <p:cNvPr id="21" name="">
            <a:extLst xmlns:a="http://schemas.openxmlformats.org/drawingml/2006/main">
              <a:ext uri="{FF2B5EF4-FFF2-40B4-BE49-F238E27FC236}">
                <a16:creationId xmlns:a16="http://schemas.microsoft.com/office/drawing/2014/main" id="{EBED01C8-8C80-4F20-823F-BA0E44F7354F}"/>
              </a:ext>
            </a:extLst>
          </p:cNvPr>
          <p:cNvSpPr>
            <a:spLocks xmlns:a="http://schemas.openxmlformats.org/drawingml/2006/main" noGrp="1"/>
          </p:cNvSpPr>
          <p:nvPr/>
        </p:nvSpPr>
        <p:spPr>
          <a:xfrm xmlns:a="http://schemas.openxmlformats.org/drawingml/2006/main">
            <a:off x="4286250" y="4297680"/>
            <a:ext cx="69532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35">
                <a:solidFill>
                  <a:srgbClr val="15232B"/>
                </a:solidFill>
              </a:defRPr>
            </a:pPr>
            <a:r>
              <a:rPr sz="1035">
                <a:solidFill>
                  <a:srgbClr val="15232B"/>
                </a:solidFill>
              </a:rPr>
              <a:t>Blutsparende Behandlung, zeitliche Optionen und fachliche Konsile anbieten, ohne die Ablehnung durch Druck zu entwerten.</a:t>
            </a:r>
          </a:p>
        </p:txBody>
      </p:sp>
      <p:sp>
        <p:nvSpPr>
          <p:cNvPr id="22" name="">
            <a:extLst xmlns:a="http://schemas.openxmlformats.org/drawingml/2006/main">
              <a:ext uri="{FF2B5EF4-FFF2-40B4-BE49-F238E27FC236}">
                <a16:creationId xmlns:a16="http://schemas.microsoft.com/office/drawing/2014/main" id="{7B8B78CB-02DB-450B-95B1-B67176EEB472}"/>
              </a:ext>
            </a:extLst>
          </p:cNvPr>
          <p:cNvSpPr>
            <a:spLocks xmlns:a="http://schemas.openxmlformats.org/drawingml/2006/main" noGrp="1"/>
          </p:cNvSpPr>
          <p:nvPr/>
        </p:nvSpPr>
        <p:spPr>
          <a:xfrm xmlns:a="http://schemas.openxmlformats.org/drawingml/2006/main">
            <a:off x="1809750" y="4777740"/>
            <a:ext cx="381000" cy="381000"/>
          </a:xfrm>
          <a:prstGeom xmlns:a="http://schemas.openxmlformats.org/drawingml/2006/main" prst="roundRect">
            <a:avLst>
              <a:gd name="adj" fmla="val 20000"/>
            </a:avLst>
          </a:prstGeom>
          <a:solidFill xmlns:a="http://schemas.openxmlformats.org/drawingml/2006/main">
            <a:srgbClr val="00B2BB"/>
          </a:solidFill>
          <a:ln xmlns:a="http://schemas.openxmlformats.org/drawingml/2006/main" w="0">
            <a:solidFill>
              <a:srgbClr val="00B2BB"/>
            </a:solidFill>
            <a:prstDash val="solid"/>
          </a:ln>
        </p:spPr>
      </p:sp>
      <p:sp>
        <p:nvSpPr>
          <p:cNvPr id="23" name="">
            <a:extLst xmlns:a="http://schemas.openxmlformats.org/drawingml/2006/main">
              <a:ext uri="{FF2B5EF4-FFF2-40B4-BE49-F238E27FC236}">
                <a16:creationId xmlns:a16="http://schemas.microsoft.com/office/drawing/2014/main" id="{DD755F54-D5B8-4711-A4C0-ADD00A649AFC}"/>
              </a:ext>
            </a:extLst>
          </p:cNvPr>
          <p:cNvSpPr>
            <a:spLocks xmlns:a="http://schemas.openxmlformats.org/drawingml/2006/main" noGrp="1"/>
          </p:cNvSpPr>
          <p:nvPr/>
        </p:nvSpPr>
        <p:spPr>
          <a:xfrm xmlns:a="http://schemas.openxmlformats.org/drawingml/2006/main">
            <a:off x="1809750" y="477774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5</a:t>
            </a:r>
          </a:p>
        </p:txBody>
      </p:sp>
      <p:sp>
        <p:nvSpPr>
          <p:cNvPr id="24" name="">
            <a:extLst xmlns:a="http://schemas.openxmlformats.org/drawingml/2006/main">
              <a:ext uri="{FF2B5EF4-FFF2-40B4-BE49-F238E27FC236}">
                <a16:creationId xmlns:a16="http://schemas.microsoft.com/office/drawing/2014/main" id="{3B405953-AEB4-4383-8B8D-976FB162B703}"/>
              </a:ext>
            </a:extLst>
          </p:cNvPr>
          <p:cNvSpPr>
            <a:spLocks xmlns:a="http://schemas.openxmlformats.org/drawingml/2006/main" noGrp="1"/>
          </p:cNvSpPr>
          <p:nvPr/>
        </p:nvSpPr>
        <p:spPr>
          <a:xfrm xmlns:a="http://schemas.openxmlformats.org/drawingml/2006/main">
            <a:off x="2343150" y="4758690"/>
            <a:ext cx="18097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Dokumentation</a:t>
            </a:r>
          </a:p>
        </p:txBody>
      </p:sp>
      <p:sp>
        <p:nvSpPr>
          <p:cNvPr id="25" name="">
            <a:extLst xmlns:a="http://schemas.openxmlformats.org/drawingml/2006/main">
              <a:ext uri="{FF2B5EF4-FFF2-40B4-BE49-F238E27FC236}">
                <a16:creationId xmlns:a16="http://schemas.microsoft.com/office/drawing/2014/main" id="{39F88A27-8D2B-4B11-AB0E-CAF0724F1EE4}"/>
              </a:ext>
            </a:extLst>
          </p:cNvPr>
          <p:cNvSpPr>
            <a:spLocks xmlns:a="http://schemas.openxmlformats.org/drawingml/2006/main" noGrp="1"/>
          </p:cNvSpPr>
          <p:nvPr/>
        </p:nvSpPr>
        <p:spPr>
          <a:xfrm xmlns:a="http://schemas.openxmlformats.org/drawingml/2006/main">
            <a:off x="4286250" y="4758690"/>
            <a:ext cx="69532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35">
                <a:solidFill>
                  <a:srgbClr val="15232B"/>
                </a:solidFill>
              </a:defRPr>
            </a:pPr>
            <a:r>
              <a:rPr sz="1035">
                <a:solidFill>
                  <a:srgbClr val="15232B"/>
                </a:solidFill>
              </a:rPr>
              <a:t>Gespräch, Verständnis, Entscheidung, Vertretung, Dringlichkeit, Alternativen und gerichtliche Kontakte festhalten.</a:t>
            </a:r>
          </a:p>
        </p:txBody>
      </p:sp>
      <p:sp>
        <p:nvSpPr>
          <p:cNvPr id="26" name="">
            <a:extLst xmlns:a="http://schemas.openxmlformats.org/drawingml/2006/main">
              <a:ext uri="{FF2B5EF4-FFF2-40B4-BE49-F238E27FC236}">
                <a16:creationId xmlns:a16="http://schemas.microsoft.com/office/drawing/2014/main" id="{CABADD14-4986-4DC1-A452-877F164BBE70}"/>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20">
                <a:solidFill>
                  <a:srgbClr val="667680"/>
                </a:solidFill>
              </a:defRPr>
            </a:pPr>
            <a:r>
              <a:rPr sz="720">
                <a:solidFill>
                  <a:srgbClr val="667680"/>
                </a:solidFill>
              </a:rPr>
              <a:t>Transferfall nach BGH, Beschl. v. 06.07.2016 – XII ZB 61/16 (Bindungswirkung des Patientenwillens) · https://juris.bundesgerichtshof.de</a:t>
            </a:r>
          </a:p>
        </p:txBody>
      </p:sp>
      <p:sp>
        <p:nvSpPr>
          <p:cNvPr id="27" name="">
            <a:extLst xmlns:a="http://schemas.openxmlformats.org/drawingml/2006/main">
              <a:ext uri="{FF2B5EF4-FFF2-40B4-BE49-F238E27FC236}">
                <a16:creationId xmlns:a16="http://schemas.microsoft.com/office/drawing/2014/main" id="{16DA6E69-60CB-4007-BC75-DD3D1233C05A}"/>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8" name="">
            <a:extLst xmlns:a="http://schemas.openxmlformats.org/drawingml/2006/main">
              <a:ext uri="{FF2B5EF4-FFF2-40B4-BE49-F238E27FC236}">
                <a16:creationId xmlns:a16="http://schemas.microsoft.com/office/drawing/2014/main" id="{2178E14C-BAFF-4516-AFD7-A830309AEF83}"/>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Selbstbestimmung der einwilligungsfähigen erwachsenen Person und staatlicher Schutz des Kindes dürfen nicht in ein einziges Schema gepresst werden.</a:t>
            </a:r>
          </a:p>
        </p:txBody>
      </p:sp>
    </p:spTree>
    <p:extLst>
      <p:ext uri="{BB962C8B-B14F-4D97-AF65-F5344CB8AC3E}">
        <p14:creationId xmlns:p14="http://schemas.microsoft.com/office/powerpoint/2010/main" val="43637646"/>
      </p:ext>
    </p:extLst>
  </p:cSld>
</p:sld>
</file>

<file path=ppt/slides/slide306.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Entlassung gegen ärztlichen Rat ist ein Prozess, kein Revers</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PODCAST-PRAXISFALL · SICHERE BEHANDLUNGSABLEHNUNG</a:t>
            </a:r>
            <a:endParaRPr/>
          </a:p>
        </p:txBody>
      </p:sp>
      <p:sp>
        <p:nvSpPr>
          <p:cNvPr id="4" name="">
            <a:extLst xmlns:a="http://schemas.openxmlformats.org/drawingml/2006/main">
              <a:ext uri="{FF2B5EF4-FFF2-40B4-BE49-F238E27FC236}">
                <a16:creationId xmlns:a16="http://schemas.microsoft.com/office/drawing/2014/main" id="{5278CAEC-97A2-4819-8A1B-4B9204145FDE}"/>
              </a:ext>
            </a:extLst>
          </p:cNvPr>
          <p:cNvSpPr>
            <a:spLocks xmlns:a="http://schemas.openxmlformats.org/drawingml/2006/main" noGrp="1"/>
          </p:cNvSpPr>
          <p:nvPr/>
        </p:nvSpPr>
        <p:spPr>
          <a:xfrm xmlns:a="http://schemas.openxmlformats.org/drawingml/2006/main">
            <a:off x="1809750" y="195262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49927A45-80A4-464C-8EA1-23F699242061}"/>
              </a:ext>
            </a:extLst>
          </p:cNvPr>
          <p:cNvSpPr>
            <a:spLocks xmlns:a="http://schemas.openxmlformats.org/drawingml/2006/main" noGrp="1"/>
          </p:cNvSpPr>
          <p:nvPr/>
        </p:nvSpPr>
        <p:spPr>
          <a:xfrm xmlns:a="http://schemas.openxmlformats.org/drawingml/2006/main">
            <a:off x="1809750" y="19526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6" name="">
            <a:extLst xmlns:a="http://schemas.openxmlformats.org/drawingml/2006/main">
              <a:ext uri="{FF2B5EF4-FFF2-40B4-BE49-F238E27FC236}">
                <a16:creationId xmlns:a16="http://schemas.microsoft.com/office/drawing/2014/main" id="{93CB3A1F-F361-4242-86D4-9086FF8820A7}"/>
              </a:ext>
            </a:extLst>
          </p:cNvPr>
          <p:cNvSpPr>
            <a:spLocks xmlns:a="http://schemas.openxmlformats.org/drawingml/2006/main" noGrp="1"/>
          </p:cNvSpPr>
          <p:nvPr/>
        </p:nvSpPr>
        <p:spPr>
          <a:xfrm xmlns:a="http://schemas.openxmlformats.org/drawingml/2006/main">
            <a:off x="2324100" y="196215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Entscheidungsfähigkeit</a:t>
            </a:r>
          </a:p>
        </p:txBody>
      </p:sp>
      <p:sp>
        <p:nvSpPr>
          <p:cNvPr id="7" name="">
            <a:extLst xmlns:a="http://schemas.openxmlformats.org/drawingml/2006/main">
              <a:ext uri="{FF2B5EF4-FFF2-40B4-BE49-F238E27FC236}">
                <a16:creationId xmlns:a16="http://schemas.microsoft.com/office/drawing/2014/main" id="{6FF46F7C-F7A4-489A-805F-81C93D5D27D8}"/>
              </a:ext>
            </a:extLst>
          </p:cNvPr>
          <p:cNvSpPr>
            <a:spLocks xmlns:a="http://schemas.openxmlformats.org/drawingml/2006/main" noGrp="1"/>
          </p:cNvSpPr>
          <p:nvPr/>
        </p:nvSpPr>
        <p:spPr>
          <a:xfrm xmlns:a="http://schemas.openxmlformats.org/drawingml/2006/main">
            <a:off x="4819650" y="196215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Kann die Patientin oder der Patient Bedeutung, Risiken und Alternativen verstehen, abwägen und eine Entscheidung mitteilen?</a:t>
            </a:r>
          </a:p>
        </p:txBody>
      </p:sp>
      <p:sp>
        <p:nvSpPr>
          <p:cNvPr id="8" name="">
            <a:extLst xmlns:a="http://schemas.openxmlformats.org/drawingml/2006/main">
              <a:ext uri="{FF2B5EF4-FFF2-40B4-BE49-F238E27FC236}">
                <a16:creationId xmlns:a16="http://schemas.microsoft.com/office/drawing/2014/main" id="{0FD2D20A-12CC-48A0-8DC2-CFC9553D12F3}"/>
              </a:ext>
            </a:extLst>
          </p:cNvPr>
          <p:cNvSpPr>
            <a:spLocks xmlns:a="http://schemas.openxmlformats.org/drawingml/2006/main" noGrp="1"/>
          </p:cNvSpPr>
          <p:nvPr/>
        </p:nvSpPr>
        <p:spPr>
          <a:xfrm xmlns:a="http://schemas.openxmlformats.org/drawingml/2006/main">
            <a:off x="1809750" y="255270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9" name="">
            <a:extLst xmlns:a="http://schemas.openxmlformats.org/drawingml/2006/main">
              <a:ext uri="{FF2B5EF4-FFF2-40B4-BE49-F238E27FC236}">
                <a16:creationId xmlns:a16="http://schemas.microsoft.com/office/drawing/2014/main" id="{4BB9D8FE-013B-4BEE-B136-CF15FE7AC10F}"/>
              </a:ext>
            </a:extLst>
          </p:cNvPr>
          <p:cNvSpPr>
            <a:spLocks xmlns:a="http://schemas.openxmlformats.org/drawingml/2006/main" noGrp="1"/>
          </p:cNvSpPr>
          <p:nvPr/>
        </p:nvSpPr>
        <p:spPr>
          <a:xfrm xmlns:a="http://schemas.openxmlformats.org/drawingml/2006/main">
            <a:off x="1809750" y="255270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0" name="">
            <a:extLst xmlns:a="http://schemas.openxmlformats.org/drawingml/2006/main">
              <a:ext uri="{FF2B5EF4-FFF2-40B4-BE49-F238E27FC236}">
                <a16:creationId xmlns:a16="http://schemas.microsoft.com/office/drawing/2014/main" id="{2B31BCDD-BEC4-4700-B9F6-B67A03A3D04B}"/>
              </a:ext>
            </a:extLst>
          </p:cNvPr>
          <p:cNvSpPr>
            <a:spLocks xmlns:a="http://schemas.openxmlformats.org/drawingml/2006/main" noGrp="1"/>
          </p:cNvSpPr>
          <p:nvPr/>
        </p:nvSpPr>
        <p:spPr>
          <a:xfrm xmlns:a="http://schemas.openxmlformats.org/drawingml/2006/main">
            <a:off x="2324100" y="256222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Risiko erklären</a:t>
            </a:r>
          </a:p>
        </p:txBody>
      </p:sp>
      <p:sp>
        <p:nvSpPr>
          <p:cNvPr id="11" name="">
            <a:extLst xmlns:a="http://schemas.openxmlformats.org/drawingml/2006/main">
              <a:ext uri="{FF2B5EF4-FFF2-40B4-BE49-F238E27FC236}">
                <a16:creationId xmlns:a16="http://schemas.microsoft.com/office/drawing/2014/main" id="{3240915B-E94E-441E-A7B3-8C39E80C4922}"/>
              </a:ext>
            </a:extLst>
          </p:cNvPr>
          <p:cNvSpPr>
            <a:spLocks xmlns:a="http://schemas.openxmlformats.org/drawingml/2006/main" noGrp="1"/>
          </p:cNvSpPr>
          <p:nvPr/>
        </p:nvSpPr>
        <p:spPr>
          <a:xfrm xmlns:a="http://schemas.openxmlformats.org/drawingml/2006/main">
            <a:off x="4819650" y="256222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Konkrete wahrscheinliche Folgen, Warnzeichen und zeitliche Dringlichkeit verständlich erläutern; keine pauschale Drohkulisse.</a:t>
            </a:r>
          </a:p>
        </p:txBody>
      </p:sp>
      <p:sp>
        <p:nvSpPr>
          <p:cNvPr id="12" name="">
            <a:extLst xmlns:a="http://schemas.openxmlformats.org/drawingml/2006/main">
              <a:ext uri="{FF2B5EF4-FFF2-40B4-BE49-F238E27FC236}">
                <a16:creationId xmlns:a16="http://schemas.microsoft.com/office/drawing/2014/main" id="{4303FCB6-0CCB-411F-9A19-1B86C8394D6C}"/>
              </a:ext>
            </a:extLst>
          </p:cNvPr>
          <p:cNvSpPr>
            <a:spLocks xmlns:a="http://schemas.openxmlformats.org/drawingml/2006/main" noGrp="1"/>
          </p:cNvSpPr>
          <p:nvPr/>
        </p:nvSpPr>
        <p:spPr>
          <a:xfrm xmlns:a="http://schemas.openxmlformats.org/drawingml/2006/main">
            <a:off x="1809750" y="315277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3" name="">
            <a:extLst xmlns:a="http://schemas.openxmlformats.org/drawingml/2006/main">
              <a:ext uri="{FF2B5EF4-FFF2-40B4-BE49-F238E27FC236}">
                <a16:creationId xmlns:a16="http://schemas.microsoft.com/office/drawing/2014/main" id="{5A03ADE8-C074-4CC0-98BE-174F605EBF7F}"/>
              </a:ext>
            </a:extLst>
          </p:cNvPr>
          <p:cNvSpPr>
            <a:spLocks xmlns:a="http://schemas.openxmlformats.org/drawingml/2006/main" noGrp="1"/>
          </p:cNvSpPr>
          <p:nvPr/>
        </p:nvSpPr>
        <p:spPr>
          <a:xfrm xmlns:a="http://schemas.openxmlformats.org/drawingml/2006/main">
            <a:off x="1809750" y="315277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4" name="">
            <a:extLst xmlns:a="http://schemas.openxmlformats.org/drawingml/2006/main">
              <a:ext uri="{FF2B5EF4-FFF2-40B4-BE49-F238E27FC236}">
                <a16:creationId xmlns:a16="http://schemas.microsoft.com/office/drawing/2014/main" id="{856D0E91-A6D8-4F1A-84BB-BC3EB24DCB0F}"/>
              </a:ext>
            </a:extLst>
          </p:cNvPr>
          <p:cNvSpPr>
            <a:spLocks xmlns:a="http://schemas.openxmlformats.org/drawingml/2006/main" noGrp="1"/>
          </p:cNvSpPr>
          <p:nvPr/>
        </p:nvSpPr>
        <p:spPr>
          <a:xfrm xmlns:a="http://schemas.openxmlformats.org/drawingml/2006/main">
            <a:off x="2324100" y="316230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Mildere Alternative</a:t>
            </a:r>
          </a:p>
        </p:txBody>
      </p:sp>
      <p:sp>
        <p:nvSpPr>
          <p:cNvPr id="15" name="">
            <a:extLst xmlns:a="http://schemas.openxmlformats.org/drawingml/2006/main">
              <a:ext uri="{FF2B5EF4-FFF2-40B4-BE49-F238E27FC236}">
                <a16:creationId xmlns:a16="http://schemas.microsoft.com/office/drawing/2014/main" id="{EE6E8E59-E6F0-4D8C-9B36-7D5B598E6068}"/>
              </a:ext>
            </a:extLst>
          </p:cNvPr>
          <p:cNvSpPr>
            <a:spLocks xmlns:a="http://schemas.openxmlformats.org/drawingml/2006/main" noGrp="1"/>
          </p:cNvSpPr>
          <p:nvPr/>
        </p:nvSpPr>
        <p:spPr>
          <a:xfrm xmlns:a="http://schemas.openxmlformats.org/drawingml/2006/main">
            <a:off x="4819650" y="316230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Beobachtungszeit, andere Einrichtung, ambulante Kontrolle, Transport und Unterstützung aktiv anbieten.</a:t>
            </a:r>
          </a:p>
        </p:txBody>
      </p:sp>
      <p:sp>
        <p:nvSpPr>
          <p:cNvPr id="16" name="">
            <a:extLst xmlns:a="http://schemas.openxmlformats.org/drawingml/2006/main">
              <a:ext uri="{FF2B5EF4-FFF2-40B4-BE49-F238E27FC236}">
                <a16:creationId xmlns:a16="http://schemas.microsoft.com/office/drawing/2014/main" id="{CAF0B008-BBC3-478A-813A-C4723AE018C4}"/>
              </a:ext>
            </a:extLst>
          </p:cNvPr>
          <p:cNvSpPr>
            <a:spLocks xmlns:a="http://schemas.openxmlformats.org/drawingml/2006/main" noGrp="1"/>
          </p:cNvSpPr>
          <p:nvPr/>
        </p:nvSpPr>
        <p:spPr>
          <a:xfrm xmlns:a="http://schemas.openxmlformats.org/drawingml/2006/main">
            <a:off x="1809750" y="375285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7" name="">
            <a:extLst xmlns:a="http://schemas.openxmlformats.org/drawingml/2006/main">
              <a:ext uri="{FF2B5EF4-FFF2-40B4-BE49-F238E27FC236}">
                <a16:creationId xmlns:a16="http://schemas.microsoft.com/office/drawing/2014/main" id="{48B9B0E5-F1B6-47C1-B256-43BCFBDEE7BD}"/>
              </a:ext>
            </a:extLst>
          </p:cNvPr>
          <p:cNvSpPr>
            <a:spLocks xmlns:a="http://schemas.openxmlformats.org/drawingml/2006/main" noGrp="1"/>
          </p:cNvSpPr>
          <p:nvPr/>
        </p:nvSpPr>
        <p:spPr>
          <a:xfrm xmlns:a="http://schemas.openxmlformats.org/drawingml/2006/main">
            <a:off x="1809750" y="375285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18" name="">
            <a:extLst xmlns:a="http://schemas.openxmlformats.org/drawingml/2006/main">
              <a:ext uri="{FF2B5EF4-FFF2-40B4-BE49-F238E27FC236}">
                <a16:creationId xmlns:a16="http://schemas.microsoft.com/office/drawing/2014/main" id="{FACF1EDF-5F2C-495E-B4E3-9D0FC3EEF85A}"/>
              </a:ext>
            </a:extLst>
          </p:cNvPr>
          <p:cNvSpPr>
            <a:spLocks xmlns:a="http://schemas.openxmlformats.org/drawingml/2006/main" noGrp="1"/>
          </p:cNvSpPr>
          <p:nvPr/>
        </p:nvSpPr>
        <p:spPr>
          <a:xfrm xmlns:a="http://schemas.openxmlformats.org/drawingml/2006/main">
            <a:off x="2324100" y="376237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Sichere Übergabe</a:t>
            </a:r>
          </a:p>
        </p:txBody>
      </p:sp>
      <p:sp>
        <p:nvSpPr>
          <p:cNvPr id="19" name="">
            <a:extLst xmlns:a="http://schemas.openxmlformats.org/drawingml/2006/main">
              <a:ext uri="{FF2B5EF4-FFF2-40B4-BE49-F238E27FC236}">
                <a16:creationId xmlns:a16="http://schemas.microsoft.com/office/drawing/2014/main" id="{B57024BA-0B50-4987-9D80-0960DFC608B6}"/>
              </a:ext>
            </a:extLst>
          </p:cNvPr>
          <p:cNvSpPr>
            <a:spLocks xmlns:a="http://schemas.openxmlformats.org/drawingml/2006/main" noGrp="1"/>
          </p:cNvSpPr>
          <p:nvPr/>
        </p:nvSpPr>
        <p:spPr>
          <a:xfrm xmlns:a="http://schemas.openxmlformats.org/drawingml/2006/main">
            <a:off x="4819650" y="376237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Medikamente, Befunde, Rückkehrkriterien, Ansprechpartner und Nachsorgetermin mitgeben.</a:t>
            </a:r>
          </a:p>
        </p:txBody>
      </p:sp>
      <p:sp>
        <p:nvSpPr>
          <p:cNvPr id="20" name="">
            <a:extLst xmlns:a="http://schemas.openxmlformats.org/drawingml/2006/main">
              <a:ext uri="{FF2B5EF4-FFF2-40B4-BE49-F238E27FC236}">
                <a16:creationId xmlns:a16="http://schemas.microsoft.com/office/drawing/2014/main" id="{39B34B2C-47BA-45D6-A4C2-5899E1057DE6}"/>
              </a:ext>
            </a:extLst>
          </p:cNvPr>
          <p:cNvSpPr>
            <a:spLocks xmlns:a="http://schemas.openxmlformats.org/drawingml/2006/main" noGrp="1"/>
          </p:cNvSpPr>
          <p:nvPr/>
        </p:nvSpPr>
        <p:spPr>
          <a:xfrm xmlns:a="http://schemas.openxmlformats.org/drawingml/2006/main">
            <a:off x="1809750" y="435292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1" name="">
            <a:extLst xmlns:a="http://schemas.openxmlformats.org/drawingml/2006/main">
              <a:ext uri="{FF2B5EF4-FFF2-40B4-BE49-F238E27FC236}">
                <a16:creationId xmlns:a16="http://schemas.microsoft.com/office/drawing/2014/main" id="{8F8D7F47-A6F0-4747-A187-11336CFC9173}"/>
              </a:ext>
            </a:extLst>
          </p:cNvPr>
          <p:cNvSpPr>
            <a:spLocks xmlns:a="http://schemas.openxmlformats.org/drawingml/2006/main" noGrp="1"/>
          </p:cNvSpPr>
          <p:nvPr/>
        </p:nvSpPr>
        <p:spPr>
          <a:xfrm xmlns:a="http://schemas.openxmlformats.org/drawingml/2006/main">
            <a:off x="1809750" y="43529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5</a:t>
            </a:r>
          </a:p>
        </p:txBody>
      </p:sp>
      <p:sp>
        <p:nvSpPr>
          <p:cNvPr id="22" name="">
            <a:extLst xmlns:a="http://schemas.openxmlformats.org/drawingml/2006/main">
              <a:ext uri="{FF2B5EF4-FFF2-40B4-BE49-F238E27FC236}">
                <a16:creationId xmlns:a16="http://schemas.microsoft.com/office/drawing/2014/main" id="{6E63085E-ACA3-4DBA-9858-750ACEB89DCE}"/>
              </a:ext>
            </a:extLst>
          </p:cNvPr>
          <p:cNvSpPr>
            <a:spLocks xmlns:a="http://schemas.openxmlformats.org/drawingml/2006/main" noGrp="1"/>
          </p:cNvSpPr>
          <p:nvPr/>
        </p:nvSpPr>
        <p:spPr>
          <a:xfrm xmlns:a="http://schemas.openxmlformats.org/drawingml/2006/main">
            <a:off x="2324100" y="436245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Dokumentation</a:t>
            </a:r>
          </a:p>
        </p:txBody>
      </p:sp>
      <p:sp>
        <p:nvSpPr>
          <p:cNvPr id="23" name="">
            <a:extLst xmlns:a="http://schemas.openxmlformats.org/drawingml/2006/main">
              <a:ext uri="{FF2B5EF4-FFF2-40B4-BE49-F238E27FC236}">
                <a16:creationId xmlns:a16="http://schemas.microsoft.com/office/drawing/2014/main" id="{7E3B1396-8526-405D-A87B-126B1F8D6435}"/>
              </a:ext>
            </a:extLst>
          </p:cNvPr>
          <p:cNvSpPr>
            <a:spLocks xmlns:a="http://schemas.openxmlformats.org/drawingml/2006/main" noGrp="1"/>
          </p:cNvSpPr>
          <p:nvPr/>
        </p:nvSpPr>
        <p:spPr>
          <a:xfrm xmlns:a="http://schemas.openxmlformats.org/drawingml/2006/main">
            <a:off x="4819650" y="436245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Gespräch, Verständnis, Entscheidung und angebotene Alternativen dokumentieren; Unterschrift ist hilfreich, aber nicht konstitutiv.</a:t>
            </a:r>
          </a:p>
        </p:txBody>
      </p:sp>
      <p:sp>
        <p:nvSpPr>
          <p:cNvPr id="24" name="">
            <a:extLst xmlns:a="http://schemas.openxmlformats.org/drawingml/2006/main">
              <a:ext uri="{FF2B5EF4-FFF2-40B4-BE49-F238E27FC236}">
                <a16:creationId xmlns:a16="http://schemas.microsoft.com/office/drawing/2014/main" id="{746EF77B-D120-4DE3-B239-78A88D30FCD2}"/>
              </a:ext>
            </a:extLst>
          </p:cNvPr>
          <p:cNvSpPr>
            <a:spLocks xmlns:a="http://schemas.openxmlformats.org/drawingml/2006/main" noGrp="1"/>
          </p:cNvSpPr>
          <p:nvPr/>
        </p:nvSpPr>
        <p:spPr>
          <a:xfrm xmlns:a="http://schemas.openxmlformats.org/drawingml/2006/main">
            <a:off x="1809750" y="495300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25" name="">
            <a:extLst xmlns:a="http://schemas.openxmlformats.org/drawingml/2006/main">
              <a:ext uri="{FF2B5EF4-FFF2-40B4-BE49-F238E27FC236}">
                <a16:creationId xmlns:a16="http://schemas.microsoft.com/office/drawing/2014/main" id="{CBDDEB39-44E4-4893-B7E4-D0BA6725164F}"/>
              </a:ext>
            </a:extLst>
          </p:cNvPr>
          <p:cNvSpPr>
            <a:spLocks xmlns:a="http://schemas.openxmlformats.org/drawingml/2006/main" noGrp="1"/>
          </p:cNvSpPr>
          <p:nvPr/>
        </p:nvSpPr>
        <p:spPr>
          <a:xfrm xmlns:a="http://schemas.openxmlformats.org/drawingml/2006/main">
            <a:off x="1809750" y="495300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6</a:t>
            </a:r>
          </a:p>
        </p:txBody>
      </p:sp>
      <p:sp>
        <p:nvSpPr>
          <p:cNvPr id="26" name="">
            <a:extLst xmlns:a="http://schemas.openxmlformats.org/drawingml/2006/main">
              <a:ext uri="{FF2B5EF4-FFF2-40B4-BE49-F238E27FC236}">
                <a16:creationId xmlns:a16="http://schemas.microsoft.com/office/drawing/2014/main" id="{A9B872DD-71E5-4476-828C-C857B724E81C}"/>
              </a:ext>
            </a:extLst>
          </p:cNvPr>
          <p:cNvSpPr>
            <a:spLocks xmlns:a="http://schemas.openxmlformats.org/drawingml/2006/main" noGrp="1"/>
          </p:cNvSpPr>
          <p:nvPr/>
        </p:nvSpPr>
        <p:spPr>
          <a:xfrm xmlns:a="http://schemas.openxmlformats.org/drawingml/2006/main">
            <a:off x="2324100" y="496252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Grenze</a:t>
            </a:r>
          </a:p>
        </p:txBody>
      </p:sp>
      <p:sp>
        <p:nvSpPr>
          <p:cNvPr id="27" name="">
            <a:extLst xmlns:a="http://schemas.openxmlformats.org/drawingml/2006/main">
              <a:ext uri="{FF2B5EF4-FFF2-40B4-BE49-F238E27FC236}">
                <a16:creationId xmlns:a16="http://schemas.microsoft.com/office/drawing/2014/main" id="{87DA7265-516F-4BE1-97A2-720A863C0780}"/>
              </a:ext>
            </a:extLst>
          </p:cNvPr>
          <p:cNvSpPr>
            <a:spLocks xmlns:a="http://schemas.openxmlformats.org/drawingml/2006/main" noGrp="1"/>
          </p:cNvSpPr>
          <p:nvPr/>
        </p:nvSpPr>
        <p:spPr>
          <a:xfrm xmlns:a="http://schemas.openxmlformats.org/drawingml/2006/main">
            <a:off x="4819650" y="496252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Keine rechtswidrige Festhaltung einer entscheidungsfähigen Person; bei fehlender Fähigkeit/akuter Gefahr gesetzliche Eingriffsgrundlage prüfen.</a:t>
            </a:r>
          </a:p>
        </p:txBody>
      </p:sp>
      <p:sp>
        <p:nvSpPr>
          <p:cNvPr id="28" name="">
            <a:extLst xmlns:a="http://schemas.openxmlformats.org/drawingml/2006/main">
              <a:ext uri="{FF2B5EF4-FFF2-40B4-BE49-F238E27FC236}">
                <a16:creationId xmlns:a16="http://schemas.microsoft.com/office/drawing/2014/main" id="{CD830575-09F6-401D-95B1-B2904E7C86F0}"/>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9" name="">
            <a:extLst xmlns:a="http://schemas.openxmlformats.org/drawingml/2006/main">
              <a:ext uri="{FF2B5EF4-FFF2-40B4-BE49-F238E27FC236}">
                <a16:creationId xmlns:a16="http://schemas.microsoft.com/office/drawing/2014/main" id="{67CFCCF1-7EFC-4A34-A611-AC0D939CBF6B}"/>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Der Revers beweist höchstens eine Unterschrift; entscheidend ist eine tragfähige Aufklärung und ein sicherer Entlassungsplan.</a:t>
            </a:r>
          </a:p>
        </p:txBody>
      </p:sp>
    </p:spTree>
    <p:extLst>
      <p:ext uri="{BB962C8B-B14F-4D97-AF65-F5344CB8AC3E}">
        <p14:creationId xmlns:p14="http://schemas.microsoft.com/office/powerpoint/2010/main" val="43637646"/>
      </p:ext>
    </p:extLst>
  </p:cSld>
</p:sld>
</file>

<file path=ppt/slides/slide307.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Lebendnierenspende und Crossover zeigen Medizinrecht als Zugangs- und Schutzrecht</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PODCAST-FEATURE · LEBENDSPENDE</a:t>
            </a:r>
            <a:endParaRPr/>
          </a:p>
        </p:txBody>
      </p:sp>
      <p:sp>
        <p:nvSpPr>
          <p:cNvPr id="4" name="">
            <a:extLst xmlns:a="http://schemas.openxmlformats.org/drawingml/2006/main">
              <a:ext uri="{FF2B5EF4-FFF2-40B4-BE49-F238E27FC236}">
                <a16:creationId xmlns:a16="http://schemas.microsoft.com/office/drawing/2014/main" id="{AE5C46F1-60B2-41DA-8FE7-38576036FB69}"/>
              </a:ext>
            </a:extLst>
          </p:cNvPr>
          <p:cNvSpPr>
            <a:spLocks xmlns:a="http://schemas.openxmlformats.org/drawingml/2006/main" noGrp="1"/>
          </p:cNvSpPr>
          <p:nvPr/>
        </p:nvSpPr>
        <p:spPr>
          <a:xfrm xmlns:a="http://schemas.openxmlformats.org/drawingml/2006/main">
            <a:off x="1809750" y="1952625"/>
            <a:ext cx="4686300" cy="1528763"/>
          </a:xfrm>
          <a:prstGeom xmlns:a="http://schemas.openxmlformats.org/drawingml/2006/main" prst="roundRect">
            <a:avLst>
              <a:gd name="adj" fmla="val 4984"/>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133E400F-E7D6-484D-8049-E4C162A6DFD1}"/>
              </a:ext>
            </a:extLst>
          </p:cNvPr>
          <p:cNvSpPr>
            <a:spLocks xmlns:a="http://schemas.openxmlformats.org/drawingml/2006/main" noGrp="1"/>
          </p:cNvSpPr>
          <p:nvPr/>
        </p:nvSpPr>
        <p:spPr>
          <a:xfrm xmlns:a="http://schemas.openxmlformats.org/drawingml/2006/main">
            <a:off x="1809750" y="1952625"/>
            <a:ext cx="46863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8425EACE-D49F-4CFB-B6A5-543F0A5B1E2B}"/>
              </a:ext>
            </a:extLst>
          </p:cNvPr>
          <p:cNvSpPr>
            <a:spLocks xmlns:a="http://schemas.openxmlformats.org/drawingml/2006/main" noGrp="1"/>
          </p:cNvSpPr>
          <p:nvPr/>
        </p:nvSpPr>
        <p:spPr>
          <a:xfrm xmlns:a="http://schemas.openxmlformats.org/drawingml/2006/main">
            <a:off x="1962150" y="2085975"/>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Freiwilligkeit</a:t>
            </a:r>
          </a:p>
        </p:txBody>
      </p:sp>
      <p:sp>
        <p:nvSpPr>
          <p:cNvPr id="7" name="">
            <a:extLst xmlns:a="http://schemas.openxmlformats.org/drawingml/2006/main">
              <a:ext uri="{FF2B5EF4-FFF2-40B4-BE49-F238E27FC236}">
                <a16:creationId xmlns:a16="http://schemas.microsoft.com/office/drawing/2014/main" id="{F01315F8-D65B-49ED-ABCD-A045F02C61A7}"/>
              </a:ext>
            </a:extLst>
          </p:cNvPr>
          <p:cNvSpPr>
            <a:spLocks xmlns:a="http://schemas.openxmlformats.org/drawingml/2006/main" noGrp="1"/>
          </p:cNvSpPr>
          <p:nvPr/>
        </p:nvSpPr>
        <p:spPr>
          <a:xfrm xmlns:a="http://schemas.openxmlformats.org/drawingml/2006/main">
            <a:off x="1962150" y="2524125"/>
            <a:ext cx="4381500" cy="8239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Entscheidung ohne Druck; Motivation, Abhängigkeiten und Widerrufsmöglichkeiten sensibel prüfen.</a:t>
            </a:r>
          </a:p>
        </p:txBody>
      </p:sp>
      <p:sp>
        <p:nvSpPr>
          <p:cNvPr id="8" name="">
            <a:extLst xmlns:a="http://schemas.openxmlformats.org/drawingml/2006/main">
              <a:ext uri="{FF2B5EF4-FFF2-40B4-BE49-F238E27FC236}">
                <a16:creationId xmlns:a16="http://schemas.microsoft.com/office/drawing/2014/main" id="{795471FD-A17A-4236-8C6D-923C12850BE5}"/>
              </a:ext>
            </a:extLst>
          </p:cNvPr>
          <p:cNvSpPr>
            <a:spLocks xmlns:a="http://schemas.openxmlformats.org/drawingml/2006/main" noGrp="1"/>
          </p:cNvSpPr>
          <p:nvPr/>
        </p:nvSpPr>
        <p:spPr>
          <a:xfrm xmlns:a="http://schemas.openxmlformats.org/drawingml/2006/main">
            <a:off x="6648450" y="1952625"/>
            <a:ext cx="4686300" cy="1528763"/>
          </a:xfrm>
          <a:prstGeom xmlns:a="http://schemas.openxmlformats.org/drawingml/2006/main" prst="roundRect">
            <a:avLst>
              <a:gd name="adj" fmla="val 4984"/>
            </a:avLst>
          </a:prstGeom>
          <a:noFill xmlns:a="http://schemas.openxmlformats.org/drawingml/2006/main"/>
          <a:ln xmlns:a="http://schemas.openxmlformats.org/drawingml/2006/main" w="9525">
            <a:solidFill>
              <a:srgbClr val="B9CAD2"/>
            </a:solidFill>
            <a:prstDash val="solid"/>
          </a:ln>
        </p:spPr>
      </p:sp>
      <p:sp>
        <p:nvSpPr>
          <p:cNvPr id="9" name="">
            <a:extLst xmlns:a="http://schemas.openxmlformats.org/drawingml/2006/main">
              <a:ext uri="{FF2B5EF4-FFF2-40B4-BE49-F238E27FC236}">
                <a16:creationId xmlns:a16="http://schemas.microsoft.com/office/drawing/2014/main" id="{96BF348E-8B9A-4742-AF9C-01E4AA1D1414}"/>
              </a:ext>
            </a:extLst>
          </p:cNvPr>
          <p:cNvSpPr>
            <a:spLocks xmlns:a="http://schemas.openxmlformats.org/drawingml/2006/main" noGrp="1"/>
          </p:cNvSpPr>
          <p:nvPr/>
        </p:nvSpPr>
        <p:spPr>
          <a:xfrm xmlns:a="http://schemas.openxmlformats.org/drawingml/2006/main">
            <a:off x="6648450" y="1952625"/>
            <a:ext cx="468630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E434F6E9-B182-4567-925B-B9887791CC46}"/>
              </a:ext>
            </a:extLst>
          </p:cNvPr>
          <p:cNvSpPr>
            <a:spLocks xmlns:a="http://schemas.openxmlformats.org/drawingml/2006/main" noGrp="1"/>
          </p:cNvSpPr>
          <p:nvPr/>
        </p:nvSpPr>
        <p:spPr>
          <a:xfrm xmlns:a="http://schemas.openxmlformats.org/drawingml/2006/main">
            <a:off x="6800850" y="2085975"/>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Aufklärung</a:t>
            </a:r>
          </a:p>
        </p:txBody>
      </p:sp>
      <p:sp>
        <p:nvSpPr>
          <p:cNvPr id="11" name="">
            <a:extLst xmlns:a="http://schemas.openxmlformats.org/drawingml/2006/main">
              <a:ext uri="{FF2B5EF4-FFF2-40B4-BE49-F238E27FC236}">
                <a16:creationId xmlns:a16="http://schemas.microsoft.com/office/drawing/2014/main" id="{90AD5A48-BEBD-4E8C-9133-62654B630383}"/>
              </a:ext>
            </a:extLst>
          </p:cNvPr>
          <p:cNvSpPr>
            <a:spLocks xmlns:a="http://schemas.openxmlformats.org/drawingml/2006/main" noGrp="1"/>
          </p:cNvSpPr>
          <p:nvPr/>
        </p:nvSpPr>
        <p:spPr>
          <a:xfrm xmlns:a="http://schemas.openxmlformats.org/drawingml/2006/main">
            <a:off x="6800850" y="2524125"/>
            <a:ext cx="4381500" cy="8239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Eigene Risiken, Alternativen, Erfolgsaussichten und mögliche Folgen für beide Seiten getrennt erläutern.</a:t>
            </a:r>
          </a:p>
        </p:txBody>
      </p:sp>
      <p:sp>
        <p:nvSpPr>
          <p:cNvPr id="12" name="">
            <a:extLst xmlns:a="http://schemas.openxmlformats.org/drawingml/2006/main">
              <a:ext uri="{FF2B5EF4-FFF2-40B4-BE49-F238E27FC236}">
                <a16:creationId xmlns:a16="http://schemas.microsoft.com/office/drawing/2014/main" id="{39C17DE1-DB35-47FC-BB09-1B5703499353}"/>
              </a:ext>
            </a:extLst>
          </p:cNvPr>
          <p:cNvSpPr>
            <a:spLocks xmlns:a="http://schemas.openxmlformats.org/drawingml/2006/main" noGrp="1"/>
          </p:cNvSpPr>
          <p:nvPr/>
        </p:nvSpPr>
        <p:spPr>
          <a:xfrm xmlns:a="http://schemas.openxmlformats.org/drawingml/2006/main">
            <a:off x="1809750" y="3614738"/>
            <a:ext cx="4686300" cy="1528763"/>
          </a:xfrm>
          <a:prstGeom xmlns:a="http://schemas.openxmlformats.org/drawingml/2006/main" prst="roundRect">
            <a:avLst>
              <a:gd name="adj" fmla="val 4984"/>
            </a:avLst>
          </a:prstGeom>
          <a:noFill xmlns:a="http://schemas.openxmlformats.org/drawingml/2006/main"/>
          <a:ln xmlns:a="http://schemas.openxmlformats.org/drawingml/2006/main" w="9525">
            <a:solidFill>
              <a:srgbClr val="B9CAD2"/>
            </a:solidFill>
            <a:prstDash val="solid"/>
          </a:ln>
        </p:spPr>
      </p:sp>
      <p:sp>
        <p:nvSpPr>
          <p:cNvPr id="13" name="">
            <a:extLst xmlns:a="http://schemas.openxmlformats.org/drawingml/2006/main">
              <a:ext uri="{FF2B5EF4-FFF2-40B4-BE49-F238E27FC236}">
                <a16:creationId xmlns:a16="http://schemas.microsoft.com/office/drawing/2014/main" id="{F13E868B-1354-45F1-B8B2-6F673CED5EF6}"/>
              </a:ext>
            </a:extLst>
          </p:cNvPr>
          <p:cNvSpPr>
            <a:spLocks xmlns:a="http://schemas.openxmlformats.org/drawingml/2006/main" noGrp="1"/>
          </p:cNvSpPr>
          <p:nvPr/>
        </p:nvSpPr>
        <p:spPr>
          <a:xfrm xmlns:a="http://schemas.openxmlformats.org/drawingml/2006/main">
            <a:off x="1809750" y="3614738"/>
            <a:ext cx="46863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8F68387C-9BC1-471A-805C-3B7F1871C5FC}"/>
              </a:ext>
            </a:extLst>
          </p:cNvPr>
          <p:cNvSpPr>
            <a:spLocks xmlns:a="http://schemas.openxmlformats.org/drawingml/2006/main" noGrp="1"/>
          </p:cNvSpPr>
          <p:nvPr/>
        </p:nvSpPr>
        <p:spPr>
          <a:xfrm xmlns:a="http://schemas.openxmlformats.org/drawingml/2006/main">
            <a:off x="1962150" y="3748088"/>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Unabhängige Prüfung</a:t>
            </a:r>
          </a:p>
        </p:txBody>
      </p:sp>
      <p:sp>
        <p:nvSpPr>
          <p:cNvPr id="15" name="">
            <a:extLst xmlns:a="http://schemas.openxmlformats.org/drawingml/2006/main">
              <a:ext uri="{FF2B5EF4-FFF2-40B4-BE49-F238E27FC236}">
                <a16:creationId xmlns:a16="http://schemas.microsoft.com/office/drawing/2014/main" id="{D7B06592-F057-496C-B193-17513D09AB44}"/>
              </a:ext>
            </a:extLst>
          </p:cNvPr>
          <p:cNvSpPr>
            <a:spLocks xmlns:a="http://schemas.openxmlformats.org/drawingml/2006/main" noGrp="1"/>
          </p:cNvSpPr>
          <p:nvPr/>
        </p:nvSpPr>
        <p:spPr>
          <a:xfrm xmlns:a="http://schemas.openxmlformats.org/drawingml/2006/main">
            <a:off x="1962150" y="4186238"/>
            <a:ext cx="4381500" cy="8239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Gesetzliche Schutzmechanismen und landesrechtliche Kommissionen sollen Freiwilligkeit und Vertretbarkeit absichern.</a:t>
            </a:r>
          </a:p>
        </p:txBody>
      </p:sp>
      <p:sp>
        <p:nvSpPr>
          <p:cNvPr id="16" name="">
            <a:extLst xmlns:a="http://schemas.openxmlformats.org/drawingml/2006/main">
              <a:ext uri="{FF2B5EF4-FFF2-40B4-BE49-F238E27FC236}">
                <a16:creationId xmlns:a16="http://schemas.microsoft.com/office/drawing/2014/main" id="{324FECC5-2DE5-4C20-AEAC-3F09D0E30CA2}"/>
              </a:ext>
            </a:extLst>
          </p:cNvPr>
          <p:cNvSpPr>
            <a:spLocks xmlns:a="http://schemas.openxmlformats.org/drawingml/2006/main" noGrp="1"/>
          </p:cNvSpPr>
          <p:nvPr/>
        </p:nvSpPr>
        <p:spPr>
          <a:xfrm xmlns:a="http://schemas.openxmlformats.org/drawingml/2006/main">
            <a:off x="6648450" y="3614738"/>
            <a:ext cx="4686300" cy="1528763"/>
          </a:xfrm>
          <a:prstGeom xmlns:a="http://schemas.openxmlformats.org/drawingml/2006/main" prst="roundRect">
            <a:avLst>
              <a:gd name="adj" fmla="val 4984"/>
            </a:avLst>
          </a:prstGeom>
          <a:noFill xmlns:a="http://schemas.openxmlformats.org/drawingml/2006/main"/>
          <a:ln xmlns:a="http://schemas.openxmlformats.org/drawingml/2006/main" w="9525">
            <a:solidFill>
              <a:srgbClr val="B9CAD2"/>
            </a:solidFill>
            <a:prstDash val="solid"/>
          </a:ln>
        </p:spPr>
      </p:sp>
      <p:sp>
        <p:nvSpPr>
          <p:cNvPr id="17" name="">
            <a:extLst xmlns:a="http://schemas.openxmlformats.org/drawingml/2006/main">
              <a:ext uri="{FF2B5EF4-FFF2-40B4-BE49-F238E27FC236}">
                <a16:creationId xmlns:a16="http://schemas.microsoft.com/office/drawing/2014/main" id="{5A378B3F-CE4E-4E40-97DD-3535716E87F9}"/>
              </a:ext>
            </a:extLst>
          </p:cNvPr>
          <p:cNvSpPr>
            <a:spLocks xmlns:a="http://schemas.openxmlformats.org/drawingml/2006/main" noGrp="1"/>
          </p:cNvSpPr>
          <p:nvPr/>
        </p:nvSpPr>
        <p:spPr>
          <a:xfrm xmlns:a="http://schemas.openxmlformats.org/drawingml/2006/main">
            <a:off x="6648450" y="3614738"/>
            <a:ext cx="468630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F4204F40-95B7-4C16-962C-B8F93E3D1CDC}"/>
              </a:ext>
            </a:extLst>
          </p:cNvPr>
          <p:cNvSpPr>
            <a:spLocks xmlns:a="http://schemas.openxmlformats.org/drawingml/2006/main" noGrp="1"/>
          </p:cNvSpPr>
          <p:nvPr/>
        </p:nvSpPr>
        <p:spPr>
          <a:xfrm xmlns:a="http://schemas.openxmlformats.org/drawingml/2006/main">
            <a:off x="6800850" y="3748088"/>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Crossover</a:t>
            </a:r>
          </a:p>
        </p:txBody>
      </p:sp>
      <p:sp>
        <p:nvSpPr>
          <p:cNvPr id="19" name="">
            <a:extLst xmlns:a="http://schemas.openxmlformats.org/drawingml/2006/main">
              <a:ext uri="{FF2B5EF4-FFF2-40B4-BE49-F238E27FC236}">
                <a16:creationId xmlns:a16="http://schemas.microsoft.com/office/drawing/2014/main" id="{8B627001-1F18-4A0B-AADC-415B446F4429}"/>
              </a:ext>
            </a:extLst>
          </p:cNvPr>
          <p:cNvSpPr>
            <a:spLocks xmlns:a="http://schemas.openxmlformats.org/drawingml/2006/main" noGrp="1"/>
          </p:cNvSpPr>
          <p:nvPr/>
        </p:nvSpPr>
        <p:spPr>
          <a:xfrm xmlns:a="http://schemas.openxmlformats.org/drawingml/2006/main">
            <a:off x="6800850" y="4186238"/>
            <a:ext cx="4381500" cy="8239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Tauschkonstellationen berühren Empfängerkreis, Nähebeziehung, Organisation und Transparenz; aktuelle TPG-Rechtslage prüfen.</a:t>
            </a:r>
          </a:p>
        </p:txBody>
      </p:sp>
      <p:sp>
        <p:nvSpPr>
          <p:cNvPr id="20" name="">
            <a:extLst xmlns:a="http://schemas.openxmlformats.org/drawingml/2006/main">
              <a:ext uri="{FF2B5EF4-FFF2-40B4-BE49-F238E27FC236}">
                <a16:creationId xmlns:a16="http://schemas.microsoft.com/office/drawing/2014/main" id="{55159CD9-58D9-4997-A61E-EDF3DCCC8C39}"/>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638">
                <a:solidFill>
                  <a:srgbClr val="667680"/>
                </a:solidFill>
              </a:defRPr>
            </a:pPr>
            <a:r>
              <a:rPr sz="638">
                <a:solidFill>
                  <a:srgbClr val="667680"/>
                </a:solidFill>
              </a:rPr>
              <a:t>Transplantationsgesetz, insbesondere § 8; aktuelle Richtlinien und landesrechtliche Kommissionsverfahren vor Lehreinsatz prüfen · https://www.rechtsprechung-im-internet.de</a:t>
            </a:r>
          </a:p>
        </p:txBody>
      </p:sp>
      <p:sp>
        <p:nvSpPr>
          <p:cNvPr id="21" name="">
            <a:extLst xmlns:a="http://schemas.openxmlformats.org/drawingml/2006/main">
              <a:ext uri="{FF2B5EF4-FFF2-40B4-BE49-F238E27FC236}">
                <a16:creationId xmlns:a16="http://schemas.microsoft.com/office/drawing/2014/main" id="{B752749B-BDB6-43B4-A749-E27BE84CDE42}"/>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2BC306EE-BB0D-4229-B7B2-3E0FE92D65DA}"/>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Das Verfahren schützt die spendende Person – medizinische Machbarkeit allein genügt nicht.</a:t>
            </a:r>
          </a:p>
        </p:txBody>
      </p:sp>
    </p:spTree>
    <p:extLst>
      <p:ext uri="{BB962C8B-B14F-4D97-AF65-F5344CB8AC3E}">
        <p14:creationId xmlns:p14="http://schemas.microsoft.com/office/powerpoint/2010/main" val="43637646"/>
      </p:ext>
    </p:extLst>
  </p:cSld>
</p:sld>
</file>

<file path=ppt/slides/slide308.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Vertretungsentscheidung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395C0FA4-7E8D-4ED2-8767-E8BF5213CE12}"/>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Kann die Person nicht selbst einwilligen, entscheidet eine gesetzlich oder bevollmächtigt berechtigte Person nicht nach eigenem Geschmack.</a:t>
            </a:r>
          </a:p>
        </p:txBody>
      </p:sp>
      <p:sp>
        <p:nvSpPr>
          <p:cNvPr id="5" name="">
            <a:extLst xmlns:a="http://schemas.openxmlformats.org/drawingml/2006/main">
              <a:ext uri="{FF2B5EF4-FFF2-40B4-BE49-F238E27FC236}">
                <a16:creationId xmlns:a16="http://schemas.microsoft.com/office/drawing/2014/main" id="{96BA3040-3FCB-4601-BF4B-9F7B8497F191}"/>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3E448F64-03E0-49C5-BED2-3DB053A23902}"/>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F2B32380-4B31-4A7A-83DE-7FEBB40D39D5}"/>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Vertretungsmacht</a:t>
            </a:r>
          </a:p>
        </p:txBody>
      </p:sp>
      <p:sp>
        <p:nvSpPr>
          <p:cNvPr id="8" name="">
            <a:extLst xmlns:a="http://schemas.openxmlformats.org/drawingml/2006/main">
              <a:ext uri="{FF2B5EF4-FFF2-40B4-BE49-F238E27FC236}">
                <a16:creationId xmlns:a16="http://schemas.microsoft.com/office/drawing/2014/main" id="{4558618B-D6CF-4089-869E-5638918E8BF5}"/>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Vorsorgevollmacht, Betreuung, elterliche Sorge oder Ehegattennotvertretung werden in Umfang und Aktualität geprüft.</a:t>
            </a:r>
          </a:p>
        </p:txBody>
      </p:sp>
      <p:sp>
        <p:nvSpPr>
          <p:cNvPr id="9" name="">
            <a:extLst xmlns:a="http://schemas.openxmlformats.org/drawingml/2006/main">
              <a:ext uri="{FF2B5EF4-FFF2-40B4-BE49-F238E27FC236}">
                <a16:creationId xmlns:a16="http://schemas.microsoft.com/office/drawing/2014/main" id="{B10EFCF1-00C5-474D-B574-8BBC4A34A346}"/>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45DE8ED7-A2BF-498D-8588-9FABADC68C1D}"/>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08274C1D-1FF7-489B-B177-13FEAA91AAA9}"/>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Patientenwille</a:t>
            </a:r>
          </a:p>
        </p:txBody>
      </p:sp>
      <p:sp>
        <p:nvSpPr>
          <p:cNvPr id="12" name="">
            <a:extLst xmlns:a="http://schemas.openxmlformats.org/drawingml/2006/main">
              <a:ext uri="{FF2B5EF4-FFF2-40B4-BE49-F238E27FC236}">
                <a16:creationId xmlns:a16="http://schemas.microsoft.com/office/drawing/2014/main" id="{1708FD69-3F60-4768-99AD-4CA0742BCC06}"/>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Eine einschlägige Patientenverfügung ist vorrangig; sonst werden frühere Äußerungen, Werte und Lebensentscheidungen ausgewertet.</a:t>
            </a:r>
          </a:p>
        </p:txBody>
      </p:sp>
      <p:sp>
        <p:nvSpPr>
          <p:cNvPr id="13" name="">
            <a:extLst xmlns:a="http://schemas.openxmlformats.org/drawingml/2006/main">
              <a:ext uri="{FF2B5EF4-FFF2-40B4-BE49-F238E27FC236}">
                <a16:creationId xmlns:a16="http://schemas.microsoft.com/office/drawing/2014/main" id="{B566CF0F-B9DC-44E7-91C9-40A9283DB5CD}"/>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85C2D756-4D87-4BF0-9CD5-23C0DA5576E1}"/>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FC335449-4FC8-4EDA-9E42-3605B160C227}"/>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Mutmaßlicher Wille</a:t>
            </a:r>
          </a:p>
        </p:txBody>
      </p:sp>
      <p:sp>
        <p:nvSpPr>
          <p:cNvPr id="16" name="">
            <a:extLst xmlns:a="http://schemas.openxmlformats.org/drawingml/2006/main">
              <a:ext uri="{FF2B5EF4-FFF2-40B4-BE49-F238E27FC236}">
                <a16:creationId xmlns:a16="http://schemas.microsoft.com/office/drawing/2014/main" id="{FF7989B8-805F-45FD-AB47-F49135C81185}"/>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Entscheidend ist, was die betroffene Person gewollt hätte, nicht was Vertretung oder Behandlungsteam persönlich bevorzugen.</a:t>
            </a:r>
          </a:p>
        </p:txBody>
      </p:sp>
      <p:sp>
        <p:nvSpPr>
          <p:cNvPr id="17" name="">
            <a:extLst xmlns:a="http://schemas.openxmlformats.org/drawingml/2006/main">
              <a:ext uri="{FF2B5EF4-FFF2-40B4-BE49-F238E27FC236}">
                <a16:creationId xmlns:a16="http://schemas.microsoft.com/office/drawing/2014/main" id="{86FE0A4E-1AF3-4081-890C-33C7F6568501}"/>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DF90B926-3F45-47FA-B87D-4B09613D58F2}"/>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86344676-DEE4-41A5-B3AD-DAE97913DCE1}"/>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Gerichtliche Genehmigung</a:t>
            </a:r>
          </a:p>
        </p:txBody>
      </p:sp>
      <p:sp>
        <p:nvSpPr>
          <p:cNvPr id="20" name="">
            <a:extLst xmlns:a="http://schemas.openxmlformats.org/drawingml/2006/main">
              <a:ext uri="{FF2B5EF4-FFF2-40B4-BE49-F238E27FC236}">
                <a16:creationId xmlns:a16="http://schemas.microsoft.com/office/drawing/2014/main" id="{277E9CCB-54CF-4BB7-961F-CC5472ADF9B1}"/>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Bei bestimmten besonders gewichtigen Maßnahmen oder Konflikten können betreuungsgerichtliche Regeln eingreifen.</a:t>
            </a:r>
          </a:p>
        </p:txBody>
      </p:sp>
      <p:sp>
        <p:nvSpPr>
          <p:cNvPr id="21" name="">
            <a:extLst xmlns:a="http://schemas.openxmlformats.org/drawingml/2006/main">
              <a:ext uri="{FF2B5EF4-FFF2-40B4-BE49-F238E27FC236}">
                <a16:creationId xmlns:a16="http://schemas.microsoft.com/office/drawing/2014/main" id="{E5BF3125-F382-4521-A2C4-707F3809897B}"/>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B4DFD570-859E-4BA2-8584-99AB8B9BD840}"/>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Vertretung ersetzt die Stimme der Person, nicht deren Werte.</a:t>
            </a:r>
          </a:p>
        </p:txBody>
      </p:sp>
    </p:spTree>
    <p:extLst>
      <p:ext uri="{BB962C8B-B14F-4D97-AF65-F5344CB8AC3E}">
        <p14:creationId xmlns:p14="http://schemas.microsoft.com/office/powerpoint/2010/main" val="43637646"/>
      </p:ext>
    </p:extLst>
  </p:cSld>
</p:sld>
</file>

<file path=ppt/slides/slide309.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Patientenverfügung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NORM IM FOKUS · § 1827 BGB</a:t>
            </a:r>
            <a:endParaRPr/>
          </a:p>
        </p:txBody>
      </p:sp>
      <p:sp>
        <p:nvSpPr>
          <p:cNvPr id="4" name="">
            <a:extLst xmlns:a="http://schemas.openxmlformats.org/drawingml/2006/main">
              <a:ext uri="{FF2B5EF4-FFF2-40B4-BE49-F238E27FC236}">
                <a16:creationId xmlns:a16="http://schemas.microsoft.com/office/drawing/2014/main" id="{1BCB48FC-10FE-4165-A583-E7E8F231B617}"/>
              </a:ext>
            </a:extLst>
          </p:cNvPr>
          <p:cNvSpPr>
            <a:spLocks xmlns:a="http://schemas.openxmlformats.org/drawingml/2006/main" noGrp="1"/>
          </p:cNvSpPr>
          <p:nvPr/>
        </p:nvSpPr>
        <p:spPr>
          <a:xfrm xmlns:a="http://schemas.openxmlformats.org/drawingml/2006/main">
            <a:off x="1809750" y="1924050"/>
            <a:ext cx="2286000" cy="704850"/>
          </a:xfrm>
          <a:prstGeom xmlns:a="http://schemas.openxmlformats.org/drawingml/2006/main" prst="roundRect">
            <a:avLst>
              <a:gd name="adj" fmla="val 10811"/>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C25DAEF6-9E26-49E3-8CA8-816EEA5615FD}"/>
              </a:ext>
            </a:extLst>
          </p:cNvPr>
          <p:cNvSpPr>
            <a:spLocks xmlns:a="http://schemas.openxmlformats.org/drawingml/2006/main" noGrp="1"/>
          </p:cNvSpPr>
          <p:nvPr/>
        </p:nvSpPr>
        <p:spPr>
          <a:xfrm xmlns:a="http://schemas.openxmlformats.org/drawingml/2006/main">
            <a:off x="1924050" y="1971675"/>
            <a:ext cx="2057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75" b="1">
                <a:solidFill>
                  <a:srgbClr val="FFFFFF"/>
                </a:solidFill>
              </a:defRPr>
            </a:pPr>
            <a:r>
              <a:rPr sz="1875" b="1">
                <a:solidFill>
                  <a:srgbClr val="FFFFFF"/>
                </a:solidFill>
              </a:rPr>
              <a:t>§ 1827 BGB</a:t>
            </a:r>
          </a:p>
        </p:txBody>
      </p:sp>
      <p:sp>
        <p:nvSpPr>
          <p:cNvPr id="6" name="">
            <a:extLst xmlns:a="http://schemas.openxmlformats.org/drawingml/2006/main">
              <a:ext uri="{FF2B5EF4-FFF2-40B4-BE49-F238E27FC236}">
                <a16:creationId xmlns:a16="http://schemas.microsoft.com/office/drawing/2014/main" id="{96540681-1A62-40DB-82DE-A5E31B50F4C3}"/>
              </a:ext>
            </a:extLst>
          </p:cNvPr>
          <p:cNvSpPr>
            <a:spLocks xmlns:a="http://schemas.openxmlformats.org/drawingml/2006/main" noGrp="1"/>
          </p:cNvSpPr>
          <p:nvPr/>
        </p:nvSpPr>
        <p:spPr>
          <a:xfrm xmlns:a="http://schemas.openxmlformats.org/drawingml/2006/main">
            <a:off x="4362450" y="1924050"/>
            <a:ext cx="6972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15">
                <a:solidFill>
                  <a:srgbClr val="667680"/>
                </a:solidFill>
              </a:defRPr>
            </a:pPr>
            <a:r>
              <a:rPr sz="1215">
                <a:solidFill>
                  <a:srgbClr val="667680"/>
                </a:solidFill>
              </a:rPr>
              <a:t>Eine einwilligungsfähige volljährige Person kann für künftige Einwilligungsunfähigkeit schriftlich festlegen, ob sie in bestimmte Maßnahmen einwilligt oder sie untersagt.</a:t>
            </a:r>
          </a:p>
        </p:txBody>
      </p:sp>
      <p:sp>
        <p:nvSpPr>
          <p:cNvPr id="7" name="">
            <a:extLst xmlns:a="http://schemas.openxmlformats.org/drawingml/2006/main">
              <a:ext uri="{FF2B5EF4-FFF2-40B4-BE49-F238E27FC236}">
                <a16:creationId xmlns:a16="http://schemas.microsoft.com/office/drawing/2014/main" id="{8A0D0C92-1348-4383-946C-9717B9273113}"/>
              </a:ext>
            </a:extLst>
          </p:cNvPr>
          <p:cNvSpPr>
            <a:spLocks xmlns:a="http://schemas.openxmlformats.org/drawingml/2006/main" noGrp="1"/>
          </p:cNvSpPr>
          <p:nvPr/>
        </p:nvSpPr>
        <p:spPr>
          <a:xfrm xmlns:a="http://schemas.openxmlformats.org/drawingml/2006/main">
            <a:off x="1809750" y="2781300"/>
            <a:ext cx="476250" cy="414338"/>
          </a:xfrm>
          <a:prstGeom xmlns:a="http://schemas.openxmlformats.org/drawingml/2006/main" prst="roundRect">
            <a:avLst>
              <a:gd name="adj" fmla="val 18391"/>
            </a:avLst>
          </a:prstGeom>
          <a:solidFill xmlns:a="http://schemas.openxmlformats.org/drawingml/2006/main">
            <a:srgbClr val="00B2BB"/>
          </a:solidFill>
          <a:ln xmlns:a="http://schemas.openxmlformats.org/drawingml/2006/main" w="0">
            <a:solidFill>
              <a:srgbClr val="00B2BB"/>
            </a:solidFill>
            <a:prstDash val="solid"/>
          </a:ln>
        </p:spPr>
      </p:sp>
      <p:sp>
        <p:nvSpPr>
          <p:cNvPr id="8" name="">
            <a:extLst xmlns:a="http://schemas.openxmlformats.org/drawingml/2006/main">
              <a:ext uri="{FF2B5EF4-FFF2-40B4-BE49-F238E27FC236}">
                <a16:creationId xmlns:a16="http://schemas.microsoft.com/office/drawing/2014/main" id="{9435DE1E-98FF-481E-B1BA-7994FB9E6645}"/>
              </a:ext>
            </a:extLst>
          </p:cNvPr>
          <p:cNvSpPr>
            <a:spLocks xmlns:a="http://schemas.openxmlformats.org/drawingml/2006/main" noGrp="1"/>
          </p:cNvSpPr>
          <p:nvPr/>
        </p:nvSpPr>
        <p:spPr>
          <a:xfrm xmlns:a="http://schemas.openxmlformats.org/drawingml/2006/main">
            <a:off x="1809750" y="2781300"/>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9" name="">
            <a:extLst xmlns:a="http://schemas.openxmlformats.org/drawingml/2006/main">
              <a:ext uri="{FF2B5EF4-FFF2-40B4-BE49-F238E27FC236}">
                <a16:creationId xmlns:a16="http://schemas.microsoft.com/office/drawing/2014/main" id="{06D6F904-A9D9-43CF-AE5A-FC58AE1E2B46}"/>
              </a:ext>
            </a:extLst>
          </p:cNvPr>
          <p:cNvSpPr>
            <a:spLocks xmlns:a="http://schemas.openxmlformats.org/drawingml/2006/main" noGrp="1"/>
          </p:cNvSpPr>
          <p:nvPr/>
        </p:nvSpPr>
        <p:spPr>
          <a:xfrm xmlns:a="http://schemas.openxmlformats.org/drawingml/2006/main">
            <a:off x="2438400" y="2790825"/>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Anwendbarkeit</a:t>
            </a:r>
          </a:p>
        </p:txBody>
      </p:sp>
      <p:sp>
        <p:nvSpPr>
          <p:cNvPr id="10" name="">
            <a:extLst xmlns:a="http://schemas.openxmlformats.org/drawingml/2006/main">
              <a:ext uri="{FF2B5EF4-FFF2-40B4-BE49-F238E27FC236}">
                <a16:creationId xmlns:a16="http://schemas.microsoft.com/office/drawing/2014/main" id="{A59DF86A-26C2-4F25-8764-0BE97FDCBFA5}"/>
              </a:ext>
            </a:extLst>
          </p:cNvPr>
          <p:cNvSpPr>
            <a:spLocks xmlns:a="http://schemas.openxmlformats.org/drawingml/2006/main" noGrp="1"/>
          </p:cNvSpPr>
          <p:nvPr/>
        </p:nvSpPr>
        <p:spPr>
          <a:xfrm xmlns:a="http://schemas.openxmlformats.org/drawingml/2006/main">
            <a:off x="4591050" y="2790825"/>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Die Festlegung muss die aktuelle Lebens- und Behandlungssituation hinreichend konkret erfassen.</a:t>
            </a:r>
          </a:p>
        </p:txBody>
      </p:sp>
      <p:sp>
        <p:nvSpPr>
          <p:cNvPr id="11" name="">
            <a:extLst xmlns:a="http://schemas.openxmlformats.org/drawingml/2006/main">
              <a:ext uri="{FF2B5EF4-FFF2-40B4-BE49-F238E27FC236}">
                <a16:creationId xmlns:a16="http://schemas.microsoft.com/office/drawing/2014/main" id="{D09FECF8-2109-4BDB-8F85-714B7946255D}"/>
              </a:ext>
            </a:extLst>
          </p:cNvPr>
          <p:cNvSpPr>
            <a:spLocks xmlns:a="http://schemas.openxmlformats.org/drawingml/2006/main" noGrp="1"/>
          </p:cNvSpPr>
          <p:nvPr/>
        </p:nvSpPr>
        <p:spPr>
          <a:xfrm xmlns:a="http://schemas.openxmlformats.org/drawingml/2006/main">
            <a:off x="1809750" y="3271838"/>
            <a:ext cx="476250" cy="414338"/>
          </a:xfrm>
          <a:prstGeom xmlns:a="http://schemas.openxmlformats.org/drawingml/2006/main" prst="roundRect">
            <a:avLst>
              <a:gd name="adj" fmla="val 18391"/>
            </a:avLst>
          </a:prstGeom>
          <a:solidFill xmlns:a="http://schemas.openxmlformats.org/drawingml/2006/main">
            <a:srgbClr val="003F6B"/>
          </a:solidFill>
          <a:ln xmlns:a="http://schemas.openxmlformats.org/drawingml/2006/main" w="0">
            <a:solidFill>
              <a:srgbClr val="003F6B"/>
            </a:solidFill>
            <a:prstDash val="solid"/>
          </a:ln>
        </p:spPr>
      </p:sp>
      <p:sp>
        <p:nvSpPr>
          <p:cNvPr id="12" name="">
            <a:extLst xmlns:a="http://schemas.openxmlformats.org/drawingml/2006/main">
              <a:ext uri="{FF2B5EF4-FFF2-40B4-BE49-F238E27FC236}">
                <a16:creationId xmlns:a16="http://schemas.microsoft.com/office/drawing/2014/main" id="{4406D590-23A3-4478-82D5-7E5279C444CA}"/>
              </a:ext>
            </a:extLst>
          </p:cNvPr>
          <p:cNvSpPr>
            <a:spLocks xmlns:a="http://schemas.openxmlformats.org/drawingml/2006/main" noGrp="1"/>
          </p:cNvSpPr>
          <p:nvPr/>
        </p:nvSpPr>
        <p:spPr>
          <a:xfrm xmlns:a="http://schemas.openxmlformats.org/drawingml/2006/main">
            <a:off x="1809750" y="3271838"/>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3" name="">
            <a:extLst xmlns:a="http://schemas.openxmlformats.org/drawingml/2006/main">
              <a:ext uri="{FF2B5EF4-FFF2-40B4-BE49-F238E27FC236}">
                <a16:creationId xmlns:a16="http://schemas.microsoft.com/office/drawing/2014/main" id="{B02D8FB2-AACC-49F8-9662-97867CC0B3EC}"/>
              </a:ext>
            </a:extLst>
          </p:cNvPr>
          <p:cNvSpPr>
            <a:spLocks xmlns:a="http://schemas.openxmlformats.org/drawingml/2006/main" noGrp="1"/>
          </p:cNvSpPr>
          <p:nvPr/>
        </p:nvSpPr>
        <p:spPr>
          <a:xfrm xmlns:a="http://schemas.openxmlformats.org/drawingml/2006/main">
            <a:off x="2438400" y="3281363"/>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Bindung</a:t>
            </a:r>
          </a:p>
        </p:txBody>
      </p:sp>
      <p:sp>
        <p:nvSpPr>
          <p:cNvPr id="14" name="">
            <a:extLst xmlns:a="http://schemas.openxmlformats.org/drawingml/2006/main">
              <a:ext uri="{FF2B5EF4-FFF2-40B4-BE49-F238E27FC236}">
                <a16:creationId xmlns:a16="http://schemas.microsoft.com/office/drawing/2014/main" id="{1759ABDC-65AD-46F8-9394-BAD6170F795A}"/>
              </a:ext>
            </a:extLst>
          </p:cNvPr>
          <p:cNvSpPr>
            <a:spLocks xmlns:a="http://schemas.openxmlformats.org/drawingml/2006/main" noGrp="1"/>
          </p:cNvSpPr>
          <p:nvPr/>
        </p:nvSpPr>
        <p:spPr>
          <a:xfrm xmlns:a="http://schemas.openxmlformats.org/drawingml/2006/main">
            <a:off x="4591050" y="3281363"/>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Ist sie einschlägig, haben Vertretung und Behandelnde den Willen umzusetzen; eine Nutzenabwägung tritt nicht an seine Stelle.</a:t>
            </a:r>
          </a:p>
        </p:txBody>
      </p:sp>
      <p:sp>
        <p:nvSpPr>
          <p:cNvPr id="15" name="">
            <a:extLst xmlns:a="http://schemas.openxmlformats.org/drawingml/2006/main">
              <a:ext uri="{FF2B5EF4-FFF2-40B4-BE49-F238E27FC236}">
                <a16:creationId xmlns:a16="http://schemas.microsoft.com/office/drawing/2014/main" id="{96B2672E-0BF6-4FAB-8A01-4A3415446FBA}"/>
              </a:ext>
            </a:extLst>
          </p:cNvPr>
          <p:cNvSpPr>
            <a:spLocks xmlns:a="http://schemas.openxmlformats.org/drawingml/2006/main" noGrp="1"/>
          </p:cNvSpPr>
          <p:nvPr/>
        </p:nvSpPr>
        <p:spPr>
          <a:xfrm xmlns:a="http://schemas.openxmlformats.org/drawingml/2006/main">
            <a:off x="1809750" y="3762375"/>
            <a:ext cx="476250" cy="414338"/>
          </a:xfrm>
          <a:prstGeom xmlns:a="http://schemas.openxmlformats.org/drawingml/2006/main" prst="roundRect">
            <a:avLst>
              <a:gd name="adj" fmla="val 18391"/>
            </a:avLst>
          </a:prstGeom>
          <a:solidFill xmlns:a="http://schemas.openxmlformats.org/drawingml/2006/main">
            <a:srgbClr val="00B2BB"/>
          </a:solidFill>
          <a:ln xmlns:a="http://schemas.openxmlformats.org/drawingml/2006/main" w="0">
            <a:solidFill>
              <a:srgbClr val="00B2BB"/>
            </a:solidFill>
            <a:prstDash val="solid"/>
          </a:ln>
        </p:spPr>
      </p:sp>
      <p:sp>
        <p:nvSpPr>
          <p:cNvPr id="16" name="">
            <a:extLst xmlns:a="http://schemas.openxmlformats.org/drawingml/2006/main">
              <a:ext uri="{FF2B5EF4-FFF2-40B4-BE49-F238E27FC236}">
                <a16:creationId xmlns:a16="http://schemas.microsoft.com/office/drawing/2014/main" id="{8DFE922B-8402-4572-BF30-BA8D062D19BB}"/>
              </a:ext>
            </a:extLst>
          </p:cNvPr>
          <p:cNvSpPr>
            <a:spLocks xmlns:a="http://schemas.openxmlformats.org/drawingml/2006/main" noGrp="1"/>
          </p:cNvSpPr>
          <p:nvPr/>
        </p:nvSpPr>
        <p:spPr>
          <a:xfrm xmlns:a="http://schemas.openxmlformats.org/drawingml/2006/main">
            <a:off x="1809750" y="3762375"/>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7" name="">
            <a:extLst xmlns:a="http://schemas.openxmlformats.org/drawingml/2006/main">
              <a:ext uri="{FF2B5EF4-FFF2-40B4-BE49-F238E27FC236}">
                <a16:creationId xmlns:a16="http://schemas.microsoft.com/office/drawing/2014/main" id="{8FC94568-A852-4FED-A7F0-6BC4E4ABDED9}"/>
              </a:ext>
            </a:extLst>
          </p:cNvPr>
          <p:cNvSpPr>
            <a:spLocks xmlns:a="http://schemas.openxmlformats.org/drawingml/2006/main" noGrp="1"/>
          </p:cNvSpPr>
          <p:nvPr/>
        </p:nvSpPr>
        <p:spPr>
          <a:xfrm xmlns:a="http://schemas.openxmlformats.org/drawingml/2006/main">
            <a:off x="2438400" y="3771900"/>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Auslegung</a:t>
            </a:r>
          </a:p>
        </p:txBody>
      </p:sp>
      <p:sp>
        <p:nvSpPr>
          <p:cNvPr id="18" name="">
            <a:extLst xmlns:a="http://schemas.openxmlformats.org/drawingml/2006/main">
              <a:ext uri="{FF2B5EF4-FFF2-40B4-BE49-F238E27FC236}">
                <a16:creationId xmlns:a16="http://schemas.microsoft.com/office/drawing/2014/main" id="{7DB31A7D-6348-424C-946A-3E845A2D9158}"/>
              </a:ext>
            </a:extLst>
          </p:cNvPr>
          <p:cNvSpPr>
            <a:spLocks xmlns:a="http://schemas.openxmlformats.org/drawingml/2006/main" noGrp="1"/>
          </p:cNvSpPr>
          <p:nvPr/>
        </p:nvSpPr>
        <p:spPr>
          <a:xfrm xmlns:a="http://schemas.openxmlformats.org/drawingml/2006/main">
            <a:off x="4591050" y="3771900"/>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Bei Unklarheit werden Wortlaut, frühere Äußerungen, Wertvorstellungen und Gesamtumstände herangezogen.</a:t>
            </a:r>
          </a:p>
        </p:txBody>
      </p:sp>
      <p:sp>
        <p:nvSpPr>
          <p:cNvPr id="19" name="">
            <a:extLst xmlns:a="http://schemas.openxmlformats.org/drawingml/2006/main">
              <a:ext uri="{FF2B5EF4-FFF2-40B4-BE49-F238E27FC236}">
                <a16:creationId xmlns:a16="http://schemas.microsoft.com/office/drawing/2014/main" id="{FE74EC0B-8D56-4211-8799-D488A9E11F40}"/>
              </a:ext>
            </a:extLst>
          </p:cNvPr>
          <p:cNvSpPr>
            <a:spLocks xmlns:a="http://schemas.openxmlformats.org/drawingml/2006/main" noGrp="1"/>
          </p:cNvSpPr>
          <p:nvPr/>
        </p:nvSpPr>
        <p:spPr>
          <a:xfrm xmlns:a="http://schemas.openxmlformats.org/drawingml/2006/main">
            <a:off x="1809750" y="4252913"/>
            <a:ext cx="476250" cy="414338"/>
          </a:xfrm>
          <a:prstGeom xmlns:a="http://schemas.openxmlformats.org/drawingml/2006/main" prst="roundRect">
            <a:avLst>
              <a:gd name="adj" fmla="val 18391"/>
            </a:avLst>
          </a:prstGeom>
          <a:solidFill xmlns:a="http://schemas.openxmlformats.org/drawingml/2006/main">
            <a:srgbClr val="003F6B"/>
          </a:solidFill>
          <a:ln xmlns:a="http://schemas.openxmlformats.org/drawingml/2006/main" w="0">
            <a:solidFill>
              <a:srgbClr val="003F6B"/>
            </a:solidFill>
            <a:prstDash val="solid"/>
          </a:ln>
        </p:spPr>
      </p:sp>
      <p:sp>
        <p:nvSpPr>
          <p:cNvPr id="20" name="">
            <a:extLst xmlns:a="http://schemas.openxmlformats.org/drawingml/2006/main">
              <a:ext uri="{FF2B5EF4-FFF2-40B4-BE49-F238E27FC236}">
                <a16:creationId xmlns:a16="http://schemas.microsoft.com/office/drawing/2014/main" id="{7D7B68E2-4D4D-41A4-8E95-17F9C4232329}"/>
              </a:ext>
            </a:extLst>
          </p:cNvPr>
          <p:cNvSpPr>
            <a:spLocks xmlns:a="http://schemas.openxmlformats.org/drawingml/2006/main" noGrp="1"/>
          </p:cNvSpPr>
          <p:nvPr/>
        </p:nvSpPr>
        <p:spPr>
          <a:xfrm xmlns:a="http://schemas.openxmlformats.org/drawingml/2006/main">
            <a:off x="1809750" y="4252913"/>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21" name="">
            <a:extLst xmlns:a="http://schemas.openxmlformats.org/drawingml/2006/main">
              <a:ext uri="{FF2B5EF4-FFF2-40B4-BE49-F238E27FC236}">
                <a16:creationId xmlns:a16="http://schemas.microsoft.com/office/drawing/2014/main" id="{972C1293-2128-4B5D-B7E8-1D513D517BFD}"/>
              </a:ext>
            </a:extLst>
          </p:cNvPr>
          <p:cNvSpPr>
            <a:spLocks xmlns:a="http://schemas.openxmlformats.org/drawingml/2006/main" noGrp="1"/>
          </p:cNvSpPr>
          <p:nvPr/>
        </p:nvSpPr>
        <p:spPr>
          <a:xfrm xmlns:a="http://schemas.openxmlformats.org/drawingml/2006/main">
            <a:off x="2438400" y="4262438"/>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Widerruf</a:t>
            </a:r>
          </a:p>
        </p:txBody>
      </p:sp>
      <p:sp>
        <p:nvSpPr>
          <p:cNvPr id="22" name="">
            <a:extLst xmlns:a="http://schemas.openxmlformats.org/drawingml/2006/main">
              <a:ext uri="{FF2B5EF4-FFF2-40B4-BE49-F238E27FC236}">
                <a16:creationId xmlns:a16="http://schemas.microsoft.com/office/drawing/2014/main" id="{1BDEED03-FBB6-4FF9-A7CD-7AD9A2E286EE}"/>
              </a:ext>
            </a:extLst>
          </p:cNvPr>
          <p:cNvSpPr>
            <a:spLocks xmlns:a="http://schemas.openxmlformats.org/drawingml/2006/main" noGrp="1"/>
          </p:cNvSpPr>
          <p:nvPr/>
        </p:nvSpPr>
        <p:spPr>
          <a:xfrm xmlns:a="http://schemas.openxmlformats.org/drawingml/2006/main">
            <a:off x="4591050" y="4262438"/>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Die Verfügung kann jederzeit formlos widerrufen werden; auch nonverbales Verhalten kann relevant sein.</a:t>
            </a:r>
          </a:p>
        </p:txBody>
      </p:sp>
      <p:sp>
        <p:nvSpPr>
          <p:cNvPr id="23" name="">
            <a:extLst xmlns:a="http://schemas.openxmlformats.org/drawingml/2006/main">
              <a:ext uri="{FF2B5EF4-FFF2-40B4-BE49-F238E27FC236}">
                <a16:creationId xmlns:a16="http://schemas.microsoft.com/office/drawing/2014/main" id="{604CCAA1-5BE3-4D6F-A257-26F455A1DA45}"/>
              </a:ext>
            </a:extLst>
          </p:cNvPr>
          <p:cNvSpPr>
            <a:spLocks xmlns:a="http://schemas.openxmlformats.org/drawingml/2006/main" noGrp="1"/>
          </p:cNvSpPr>
          <p:nvPr/>
        </p:nvSpPr>
        <p:spPr>
          <a:xfrm xmlns:a="http://schemas.openxmlformats.org/drawingml/2006/main">
            <a:off x="1809750" y="4781550"/>
            <a:ext cx="9525000" cy="666750"/>
          </a:xfrm>
          <a:prstGeom xmlns:a="http://schemas.openxmlformats.org/drawingml/2006/main" prst="roundRect">
            <a:avLst>
              <a:gd name="adj" fmla="val 11429"/>
            </a:avLst>
          </a:prstGeom>
          <a:solidFill xmlns:a="http://schemas.openxmlformats.org/drawingml/2006/main">
            <a:srgbClr val="EAF6FB"/>
          </a:solidFill>
          <a:ln xmlns:a="http://schemas.openxmlformats.org/drawingml/2006/main" w="9525">
            <a:solidFill>
              <a:srgbClr val="00B2BB"/>
            </a:solidFill>
            <a:prstDash val="solid"/>
          </a:ln>
        </p:spPr>
      </p:sp>
      <p:sp>
        <p:nvSpPr>
          <p:cNvPr id="24" name="">
            <a:extLst xmlns:a="http://schemas.openxmlformats.org/drawingml/2006/main">
              <a:ext uri="{FF2B5EF4-FFF2-40B4-BE49-F238E27FC236}">
                <a16:creationId xmlns:a16="http://schemas.microsoft.com/office/drawing/2014/main" id="{0EAF6C44-A7A2-48CE-9EDE-8B4A8266BB02}"/>
              </a:ext>
            </a:extLst>
          </p:cNvPr>
          <p:cNvSpPr>
            <a:spLocks xmlns:a="http://schemas.openxmlformats.org/drawingml/2006/main" noGrp="1"/>
          </p:cNvSpPr>
          <p:nvPr/>
        </p:nvSpPr>
        <p:spPr>
          <a:xfrm xmlns:a="http://schemas.openxmlformats.org/drawingml/2006/main">
            <a:off x="1981200" y="4829175"/>
            <a:ext cx="9182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065">
                <a:solidFill>
                  <a:srgbClr val="15232B"/>
                </a:solidFill>
              </a:defRPr>
            </a:pPr>
            <a:r>
              <a:rPr sz="1065">
                <a:solidFill>
                  <a:srgbClr val="15232B"/>
                </a:solidFill>
              </a:rPr>
              <a:t>Beispiel · Beispiel: Die Verfügung benennt eine irreversible Endphase und lehnt invasive Beatmung ausdrücklich ab; ihre Passung zur aktuellen Situation wird geprüft.</a:t>
            </a:r>
          </a:p>
        </p:txBody>
      </p:sp>
      <p:sp>
        <p:nvSpPr>
          <p:cNvPr id="25" name="">
            <a:extLst xmlns:a="http://schemas.openxmlformats.org/drawingml/2006/main">
              <a:ext uri="{FF2B5EF4-FFF2-40B4-BE49-F238E27FC236}">
                <a16:creationId xmlns:a16="http://schemas.microsoft.com/office/drawing/2014/main" id="{66EB2482-7D6D-4655-BC33-7A72D7180A63}"/>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6" name="">
            <a:extLst xmlns:a="http://schemas.openxmlformats.org/drawingml/2006/main">
              <a:ext uri="{FF2B5EF4-FFF2-40B4-BE49-F238E27FC236}">
                <a16:creationId xmlns:a16="http://schemas.microsoft.com/office/drawing/2014/main" id="{BFFEE13F-9309-45A5-968B-5DAB99AF6228}"/>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Nicht die Überschrift „Patientenverfügung“, sondern konkrete Reichweite und aktuelle Anwendbarkeit entscheiden.</a:t>
            </a:r>
          </a:p>
        </p:txBody>
      </p:sp>
    </p:spTree>
    <p:extLst>
      <p:ext uri="{BB962C8B-B14F-4D97-AF65-F5344CB8AC3E}">
        <p14:creationId xmlns:p14="http://schemas.microsoft.com/office/powerpoint/2010/main" val="43637646"/>
      </p:ext>
    </p:extLst>
  </p:cSld>
</p:sld>
</file>

<file path=ppt/slides/slide310.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Ehegattennotvertretung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NORM IM FOKUS · § 1358 BGB</a:t>
            </a:r>
            <a:endParaRPr/>
          </a:p>
        </p:txBody>
      </p:sp>
      <p:sp>
        <p:nvSpPr>
          <p:cNvPr id="4" name="">
            <a:extLst xmlns:a="http://schemas.openxmlformats.org/drawingml/2006/main">
              <a:ext uri="{FF2B5EF4-FFF2-40B4-BE49-F238E27FC236}">
                <a16:creationId xmlns:a16="http://schemas.microsoft.com/office/drawing/2014/main" id="{0A28F878-0D28-4CDF-A353-A821DA66A9EC}"/>
              </a:ext>
            </a:extLst>
          </p:cNvPr>
          <p:cNvSpPr>
            <a:spLocks xmlns:a="http://schemas.openxmlformats.org/drawingml/2006/main" noGrp="1"/>
          </p:cNvSpPr>
          <p:nvPr/>
        </p:nvSpPr>
        <p:spPr>
          <a:xfrm xmlns:a="http://schemas.openxmlformats.org/drawingml/2006/main">
            <a:off x="1809750" y="1924050"/>
            <a:ext cx="2286000" cy="704850"/>
          </a:xfrm>
          <a:prstGeom xmlns:a="http://schemas.openxmlformats.org/drawingml/2006/main" prst="roundRect">
            <a:avLst>
              <a:gd name="adj" fmla="val 10811"/>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F92F2231-A642-4162-83F1-3C3D323F81C1}"/>
              </a:ext>
            </a:extLst>
          </p:cNvPr>
          <p:cNvSpPr>
            <a:spLocks xmlns:a="http://schemas.openxmlformats.org/drawingml/2006/main" noGrp="1"/>
          </p:cNvSpPr>
          <p:nvPr/>
        </p:nvSpPr>
        <p:spPr>
          <a:xfrm xmlns:a="http://schemas.openxmlformats.org/drawingml/2006/main">
            <a:off x="1924050" y="1971675"/>
            <a:ext cx="2057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75" b="1">
                <a:solidFill>
                  <a:srgbClr val="FFFFFF"/>
                </a:solidFill>
              </a:defRPr>
            </a:pPr>
            <a:r>
              <a:rPr sz="1875" b="1">
                <a:solidFill>
                  <a:srgbClr val="FFFFFF"/>
                </a:solidFill>
              </a:rPr>
              <a:t>§ 1358 BGB</a:t>
            </a:r>
          </a:p>
        </p:txBody>
      </p:sp>
      <p:sp>
        <p:nvSpPr>
          <p:cNvPr id="6" name="">
            <a:extLst xmlns:a="http://schemas.openxmlformats.org/drawingml/2006/main">
              <a:ext uri="{FF2B5EF4-FFF2-40B4-BE49-F238E27FC236}">
                <a16:creationId xmlns:a16="http://schemas.microsoft.com/office/drawing/2014/main" id="{99A6FF75-6E85-4467-839D-13925C3839C6}"/>
              </a:ext>
            </a:extLst>
          </p:cNvPr>
          <p:cNvSpPr>
            <a:spLocks xmlns:a="http://schemas.openxmlformats.org/drawingml/2006/main" noGrp="1"/>
          </p:cNvSpPr>
          <p:nvPr/>
        </p:nvSpPr>
        <p:spPr>
          <a:xfrm xmlns:a="http://schemas.openxmlformats.org/drawingml/2006/main">
            <a:off x="4362450" y="1924050"/>
            <a:ext cx="6972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15">
                <a:solidFill>
                  <a:srgbClr val="667680"/>
                </a:solidFill>
              </a:defRPr>
            </a:pPr>
            <a:r>
              <a:rPr sz="1215">
                <a:solidFill>
                  <a:srgbClr val="667680"/>
                </a:solidFill>
              </a:rPr>
              <a:t>Die Norm ermöglicht unter engen Voraussetzungen eine zeitlich begrenzte Vertretung in Gesundheitsangelegenheiten zwischen Ehegatten.</a:t>
            </a:r>
          </a:p>
        </p:txBody>
      </p:sp>
      <p:sp>
        <p:nvSpPr>
          <p:cNvPr id="7" name="">
            <a:extLst xmlns:a="http://schemas.openxmlformats.org/drawingml/2006/main">
              <a:ext uri="{FF2B5EF4-FFF2-40B4-BE49-F238E27FC236}">
                <a16:creationId xmlns:a16="http://schemas.microsoft.com/office/drawing/2014/main" id="{DA733BFA-9DFC-447F-B0AF-F5161B4F9347}"/>
              </a:ext>
            </a:extLst>
          </p:cNvPr>
          <p:cNvSpPr>
            <a:spLocks xmlns:a="http://schemas.openxmlformats.org/drawingml/2006/main" noGrp="1"/>
          </p:cNvSpPr>
          <p:nvPr/>
        </p:nvSpPr>
        <p:spPr>
          <a:xfrm xmlns:a="http://schemas.openxmlformats.org/drawingml/2006/main">
            <a:off x="1809750" y="2781300"/>
            <a:ext cx="476250" cy="414338"/>
          </a:xfrm>
          <a:prstGeom xmlns:a="http://schemas.openxmlformats.org/drawingml/2006/main" prst="roundRect">
            <a:avLst>
              <a:gd name="adj" fmla="val 18391"/>
            </a:avLst>
          </a:prstGeom>
          <a:solidFill xmlns:a="http://schemas.openxmlformats.org/drawingml/2006/main">
            <a:srgbClr val="00B2BB"/>
          </a:solidFill>
          <a:ln xmlns:a="http://schemas.openxmlformats.org/drawingml/2006/main" w="0">
            <a:solidFill>
              <a:srgbClr val="00B2BB"/>
            </a:solidFill>
            <a:prstDash val="solid"/>
          </a:ln>
        </p:spPr>
      </p:sp>
      <p:sp>
        <p:nvSpPr>
          <p:cNvPr id="8" name="">
            <a:extLst xmlns:a="http://schemas.openxmlformats.org/drawingml/2006/main">
              <a:ext uri="{FF2B5EF4-FFF2-40B4-BE49-F238E27FC236}">
                <a16:creationId xmlns:a16="http://schemas.microsoft.com/office/drawing/2014/main" id="{B6344060-343B-4FED-A802-1C18D97B7E3C}"/>
              </a:ext>
            </a:extLst>
          </p:cNvPr>
          <p:cNvSpPr>
            <a:spLocks xmlns:a="http://schemas.openxmlformats.org/drawingml/2006/main" noGrp="1"/>
          </p:cNvSpPr>
          <p:nvPr/>
        </p:nvSpPr>
        <p:spPr>
          <a:xfrm xmlns:a="http://schemas.openxmlformats.org/drawingml/2006/main">
            <a:off x="1809750" y="2781300"/>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9" name="">
            <a:extLst xmlns:a="http://schemas.openxmlformats.org/drawingml/2006/main">
              <a:ext uri="{FF2B5EF4-FFF2-40B4-BE49-F238E27FC236}">
                <a16:creationId xmlns:a16="http://schemas.microsoft.com/office/drawing/2014/main" id="{920B7FFE-3F97-42C4-A8D6-148DF3B1B7B0}"/>
              </a:ext>
            </a:extLst>
          </p:cNvPr>
          <p:cNvSpPr>
            <a:spLocks xmlns:a="http://schemas.openxmlformats.org/drawingml/2006/main" noGrp="1"/>
          </p:cNvSpPr>
          <p:nvPr/>
        </p:nvSpPr>
        <p:spPr>
          <a:xfrm xmlns:a="http://schemas.openxmlformats.org/drawingml/2006/main">
            <a:off x="2438400" y="2790825"/>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Auslöser</a:t>
            </a:r>
          </a:p>
        </p:txBody>
      </p:sp>
      <p:sp>
        <p:nvSpPr>
          <p:cNvPr id="10" name="">
            <a:extLst xmlns:a="http://schemas.openxmlformats.org/drawingml/2006/main">
              <a:ext uri="{FF2B5EF4-FFF2-40B4-BE49-F238E27FC236}">
                <a16:creationId xmlns:a16="http://schemas.microsoft.com/office/drawing/2014/main" id="{11C7706C-48C6-446F-B72B-F8946E6A0AE2}"/>
              </a:ext>
            </a:extLst>
          </p:cNvPr>
          <p:cNvSpPr>
            <a:spLocks xmlns:a="http://schemas.openxmlformats.org/drawingml/2006/main" noGrp="1"/>
          </p:cNvSpPr>
          <p:nvPr/>
        </p:nvSpPr>
        <p:spPr>
          <a:xfrm xmlns:a="http://schemas.openxmlformats.org/drawingml/2006/main">
            <a:off x="4591050" y="2790825"/>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Ein Ehegatte kann Gesundheitsangelegenheiten krankheits- oder bewusstseinsbedingt nicht selbst besorgen.</a:t>
            </a:r>
          </a:p>
        </p:txBody>
      </p:sp>
      <p:sp>
        <p:nvSpPr>
          <p:cNvPr id="11" name="">
            <a:extLst xmlns:a="http://schemas.openxmlformats.org/drawingml/2006/main">
              <a:ext uri="{FF2B5EF4-FFF2-40B4-BE49-F238E27FC236}">
                <a16:creationId xmlns:a16="http://schemas.microsoft.com/office/drawing/2014/main" id="{ADB7728D-DFC5-48B6-B5E2-0965B005B6F1}"/>
              </a:ext>
            </a:extLst>
          </p:cNvPr>
          <p:cNvSpPr>
            <a:spLocks xmlns:a="http://schemas.openxmlformats.org/drawingml/2006/main" noGrp="1"/>
          </p:cNvSpPr>
          <p:nvPr/>
        </p:nvSpPr>
        <p:spPr>
          <a:xfrm xmlns:a="http://schemas.openxmlformats.org/drawingml/2006/main">
            <a:off x="1809750" y="3271838"/>
            <a:ext cx="476250" cy="414338"/>
          </a:xfrm>
          <a:prstGeom xmlns:a="http://schemas.openxmlformats.org/drawingml/2006/main" prst="roundRect">
            <a:avLst>
              <a:gd name="adj" fmla="val 18391"/>
            </a:avLst>
          </a:prstGeom>
          <a:solidFill xmlns:a="http://schemas.openxmlformats.org/drawingml/2006/main">
            <a:srgbClr val="003F6B"/>
          </a:solidFill>
          <a:ln xmlns:a="http://schemas.openxmlformats.org/drawingml/2006/main" w="0">
            <a:solidFill>
              <a:srgbClr val="003F6B"/>
            </a:solidFill>
            <a:prstDash val="solid"/>
          </a:ln>
        </p:spPr>
      </p:sp>
      <p:sp>
        <p:nvSpPr>
          <p:cNvPr id="12" name="">
            <a:extLst xmlns:a="http://schemas.openxmlformats.org/drawingml/2006/main">
              <a:ext uri="{FF2B5EF4-FFF2-40B4-BE49-F238E27FC236}">
                <a16:creationId xmlns:a16="http://schemas.microsoft.com/office/drawing/2014/main" id="{0DF7CEC3-F8E6-4119-B0C6-968F5868AA2A}"/>
              </a:ext>
            </a:extLst>
          </p:cNvPr>
          <p:cNvSpPr>
            <a:spLocks xmlns:a="http://schemas.openxmlformats.org/drawingml/2006/main" noGrp="1"/>
          </p:cNvSpPr>
          <p:nvPr/>
        </p:nvSpPr>
        <p:spPr>
          <a:xfrm xmlns:a="http://schemas.openxmlformats.org/drawingml/2006/main">
            <a:off x="1809750" y="3271838"/>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3" name="">
            <a:extLst xmlns:a="http://schemas.openxmlformats.org/drawingml/2006/main">
              <a:ext uri="{FF2B5EF4-FFF2-40B4-BE49-F238E27FC236}">
                <a16:creationId xmlns:a16="http://schemas.microsoft.com/office/drawing/2014/main" id="{42331821-760E-479D-8C6D-47074086E39B}"/>
              </a:ext>
            </a:extLst>
          </p:cNvPr>
          <p:cNvSpPr>
            <a:spLocks xmlns:a="http://schemas.openxmlformats.org/drawingml/2006/main" noGrp="1"/>
          </p:cNvSpPr>
          <p:nvPr/>
        </p:nvSpPr>
        <p:spPr>
          <a:xfrm xmlns:a="http://schemas.openxmlformats.org/drawingml/2006/main">
            <a:off x="2438400" y="3281363"/>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Ausschlüsse</a:t>
            </a:r>
          </a:p>
        </p:txBody>
      </p:sp>
      <p:sp>
        <p:nvSpPr>
          <p:cNvPr id="14" name="">
            <a:extLst xmlns:a="http://schemas.openxmlformats.org/drawingml/2006/main">
              <a:ext uri="{FF2B5EF4-FFF2-40B4-BE49-F238E27FC236}">
                <a16:creationId xmlns:a16="http://schemas.microsoft.com/office/drawing/2014/main" id="{F68E8268-D3AE-4D1F-AA07-3161AA526641}"/>
              </a:ext>
            </a:extLst>
          </p:cNvPr>
          <p:cNvSpPr>
            <a:spLocks xmlns:a="http://schemas.openxmlformats.org/drawingml/2006/main" noGrp="1"/>
          </p:cNvSpPr>
          <p:nvPr/>
        </p:nvSpPr>
        <p:spPr>
          <a:xfrm xmlns:a="http://schemas.openxmlformats.org/drawingml/2006/main">
            <a:off x="4591050" y="3281363"/>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Getrenntleben, entgegenstehender Wille, bekannte Bevollmächtigung oder Betreuung und weitere gesetzliche Gründe schließen die Vertretung aus.</a:t>
            </a:r>
          </a:p>
        </p:txBody>
      </p:sp>
      <p:sp>
        <p:nvSpPr>
          <p:cNvPr id="15" name="">
            <a:extLst xmlns:a="http://schemas.openxmlformats.org/drawingml/2006/main">
              <a:ext uri="{FF2B5EF4-FFF2-40B4-BE49-F238E27FC236}">
                <a16:creationId xmlns:a16="http://schemas.microsoft.com/office/drawing/2014/main" id="{CC14C3B1-A16E-4F42-9A40-AE6F307D8C4C}"/>
              </a:ext>
            </a:extLst>
          </p:cNvPr>
          <p:cNvSpPr>
            <a:spLocks xmlns:a="http://schemas.openxmlformats.org/drawingml/2006/main" noGrp="1"/>
          </p:cNvSpPr>
          <p:nvPr/>
        </p:nvSpPr>
        <p:spPr>
          <a:xfrm xmlns:a="http://schemas.openxmlformats.org/drawingml/2006/main">
            <a:off x="1809750" y="3762375"/>
            <a:ext cx="476250" cy="414338"/>
          </a:xfrm>
          <a:prstGeom xmlns:a="http://schemas.openxmlformats.org/drawingml/2006/main" prst="roundRect">
            <a:avLst>
              <a:gd name="adj" fmla="val 18391"/>
            </a:avLst>
          </a:prstGeom>
          <a:solidFill xmlns:a="http://schemas.openxmlformats.org/drawingml/2006/main">
            <a:srgbClr val="00B2BB"/>
          </a:solidFill>
          <a:ln xmlns:a="http://schemas.openxmlformats.org/drawingml/2006/main" w="0">
            <a:solidFill>
              <a:srgbClr val="00B2BB"/>
            </a:solidFill>
            <a:prstDash val="solid"/>
          </a:ln>
        </p:spPr>
      </p:sp>
      <p:sp>
        <p:nvSpPr>
          <p:cNvPr id="16" name="">
            <a:extLst xmlns:a="http://schemas.openxmlformats.org/drawingml/2006/main">
              <a:ext uri="{FF2B5EF4-FFF2-40B4-BE49-F238E27FC236}">
                <a16:creationId xmlns:a16="http://schemas.microsoft.com/office/drawing/2014/main" id="{A8012801-662A-49C3-B348-C0C53E87A6FB}"/>
              </a:ext>
            </a:extLst>
          </p:cNvPr>
          <p:cNvSpPr>
            <a:spLocks xmlns:a="http://schemas.openxmlformats.org/drawingml/2006/main" noGrp="1"/>
          </p:cNvSpPr>
          <p:nvPr/>
        </p:nvSpPr>
        <p:spPr>
          <a:xfrm xmlns:a="http://schemas.openxmlformats.org/drawingml/2006/main">
            <a:off x="1809750" y="3762375"/>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7" name="">
            <a:extLst xmlns:a="http://schemas.openxmlformats.org/drawingml/2006/main">
              <a:ext uri="{FF2B5EF4-FFF2-40B4-BE49-F238E27FC236}">
                <a16:creationId xmlns:a16="http://schemas.microsoft.com/office/drawing/2014/main" id="{BC06CCCC-D28F-4A9D-B500-E0585DC4A8BE}"/>
              </a:ext>
            </a:extLst>
          </p:cNvPr>
          <p:cNvSpPr>
            <a:spLocks xmlns:a="http://schemas.openxmlformats.org/drawingml/2006/main" noGrp="1"/>
          </p:cNvSpPr>
          <p:nvPr/>
        </p:nvSpPr>
        <p:spPr>
          <a:xfrm xmlns:a="http://schemas.openxmlformats.org/drawingml/2006/main">
            <a:off x="2438400" y="3771900"/>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Umfang und Dauer</a:t>
            </a:r>
          </a:p>
        </p:txBody>
      </p:sp>
      <p:sp>
        <p:nvSpPr>
          <p:cNvPr id="18" name="">
            <a:extLst xmlns:a="http://schemas.openxmlformats.org/drawingml/2006/main">
              <a:ext uri="{FF2B5EF4-FFF2-40B4-BE49-F238E27FC236}">
                <a16:creationId xmlns:a16="http://schemas.microsoft.com/office/drawing/2014/main" id="{71A839DD-DC5D-4095-980C-1F0BEA1A266F}"/>
              </a:ext>
            </a:extLst>
          </p:cNvPr>
          <p:cNvSpPr>
            <a:spLocks xmlns:a="http://schemas.openxmlformats.org/drawingml/2006/main" noGrp="1"/>
          </p:cNvSpPr>
          <p:nvPr/>
        </p:nvSpPr>
        <p:spPr>
          <a:xfrm xmlns:a="http://schemas.openxmlformats.org/drawingml/2006/main">
            <a:off x="4591050" y="3771900"/>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Die Befugnis ist auf gesetzlich bestimmte Gesundheitsangelegenheiten und eine Höchstdauer begrenzt.</a:t>
            </a:r>
          </a:p>
        </p:txBody>
      </p:sp>
      <p:sp>
        <p:nvSpPr>
          <p:cNvPr id="19" name="">
            <a:extLst xmlns:a="http://schemas.openxmlformats.org/drawingml/2006/main">
              <a:ext uri="{FF2B5EF4-FFF2-40B4-BE49-F238E27FC236}">
                <a16:creationId xmlns:a16="http://schemas.microsoft.com/office/drawing/2014/main" id="{DCBB8623-22B2-474C-99E6-6BDE36F61C75}"/>
              </a:ext>
            </a:extLst>
          </p:cNvPr>
          <p:cNvSpPr>
            <a:spLocks xmlns:a="http://schemas.openxmlformats.org/drawingml/2006/main" noGrp="1"/>
          </p:cNvSpPr>
          <p:nvPr/>
        </p:nvSpPr>
        <p:spPr>
          <a:xfrm xmlns:a="http://schemas.openxmlformats.org/drawingml/2006/main">
            <a:off x="1809750" y="4252913"/>
            <a:ext cx="476250" cy="414338"/>
          </a:xfrm>
          <a:prstGeom xmlns:a="http://schemas.openxmlformats.org/drawingml/2006/main" prst="roundRect">
            <a:avLst>
              <a:gd name="adj" fmla="val 18391"/>
            </a:avLst>
          </a:prstGeom>
          <a:solidFill xmlns:a="http://schemas.openxmlformats.org/drawingml/2006/main">
            <a:srgbClr val="003F6B"/>
          </a:solidFill>
          <a:ln xmlns:a="http://schemas.openxmlformats.org/drawingml/2006/main" w="0">
            <a:solidFill>
              <a:srgbClr val="003F6B"/>
            </a:solidFill>
            <a:prstDash val="solid"/>
          </a:ln>
        </p:spPr>
      </p:sp>
      <p:sp>
        <p:nvSpPr>
          <p:cNvPr id="20" name="">
            <a:extLst xmlns:a="http://schemas.openxmlformats.org/drawingml/2006/main">
              <a:ext uri="{FF2B5EF4-FFF2-40B4-BE49-F238E27FC236}">
                <a16:creationId xmlns:a16="http://schemas.microsoft.com/office/drawing/2014/main" id="{0F401713-22C6-478B-8877-055791A37BFD}"/>
              </a:ext>
            </a:extLst>
          </p:cNvPr>
          <p:cNvSpPr>
            <a:spLocks xmlns:a="http://schemas.openxmlformats.org/drawingml/2006/main" noGrp="1"/>
          </p:cNvSpPr>
          <p:nvPr/>
        </p:nvSpPr>
        <p:spPr>
          <a:xfrm xmlns:a="http://schemas.openxmlformats.org/drawingml/2006/main">
            <a:off x="1809750" y="4252913"/>
            <a:ext cx="476250" cy="4143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21" name="">
            <a:extLst xmlns:a="http://schemas.openxmlformats.org/drawingml/2006/main">
              <a:ext uri="{FF2B5EF4-FFF2-40B4-BE49-F238E27FC236}">
                <a16:creationId xmlns:a16="http://schemas.microsoft.com/office/drawing/2014/main" id="{1D077699-449D-490A-9259-946F4E43E363}"/>
              </a:ext>
            </a:extLst>
          </p:cNvPr>
          <p:cNvSpPr>
            <a:spLocks xmlns:a="http://schemas.openxmlformats.org/drawingml/2006/main" noGrp="1"/>
          </p:cNvSpPr>
          <p:nvPr/>
        </p:nvSpPr>
        <p:spPr>
          <a:xfrm xmlns:a="http://schemas.openxmlformats.org/drawingml/2006/main">
            <a:off x="2438400" y="4262438"/>
            <a:ext cx="20002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Ärztliche Bescheinigung</a:t>
            </a:r>
          </a:p>
        </p:txBody>
      </p:sp>
      <p:sp>
        <p:nvSpPr>
          <p:cNvPr id="22" name="">
            <a:extLst xmlns:a="http://schemas.openxmlformats.org/drawingml/2006/main">
              <a:ext uri="{FF2B5EF4-FFF2-40B4-BE49-F238E27FC236}">
                <a16:creationId xmlns:a16="http://schemas.microsoft.com/office/drawing/2014/main" id="{FFB33EB5-00B2-4B8F-AA4D-52A13D2B579F}"/>
              </a:ext>
            </a:extLst>
          </p:cNvPr>
          <p:cNvSpPr>
            <a:spLocks xmlns:a="http://schemas.openxmlformats.org/drawingml/2006/main" noGrp="1"/>
          </p:cNvSpPr>
          <p:nvPr/>
        </p:nvSpPr>
        <p:spPr>
          <a:xfrm xmlns:a="http://schemas.openxmlformats.org/drawingml/2006/main">
            <a:off x="4591050" y="4262438"/>
            <a:ext cx="6648450" cy="39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28">
                <a:solidFill>
                  <a:srgbClr val="15232B"/>
                </a:solidFill>
              </a:defRPr>
            </a:pPr>
            <a:r>
              <a:rPr sz="1028">
                <a:solidFill>
                  <a:srgbClr val="15232B"/>
                </a:solidFill>
              </a:rPr>
              <a:t>Voraussetzungen und Beginn werden nach gesetzlichem Verfahren dokumentiert.</a:t>
            </a:r>
          </a:p>
        </p:txBody>
      </p:sp>
      <p:sp>
        <p:nvSpPr>
          <p:cNvPr id="23" name="">
            <a:extLst xmlns:a="http://schemas.openxmlformats.org/drawingml/2006/main">
              <a:ext uri="{FF2B5EF4-FFF2-40B4-BE49-F238E27FC236}">
                <a16:creationId xmlns:a16="http://schemas.microsoft.com/office/drawing/2014/main" id="{EA2762B5-3117-4E09-A5EA-54F1E6066CE2}"/>
              </a:ext>
            </a:extLst>
          </p:cNvPr>
          <p:cNvSpPr>
            <a:spLocks xmlns:a="http://schemas.openxmlformats.org/drawingml/2006/main" noGrp="1"/>
          </p:cNvSpPr>
          <p:nvPr/>
        </p:nvSpPr>
        <p:spPr>
          <a:xfrm xmlns:a="http://schemas.openxmlformats.org/drawingml/2006/main">
            <a:off x="1809750" y="4781550"/>
            <a:ext cx="9525000" cy="666750"/>
          </a:xfrm>
          <a:prstGeom xmlns:a="http://schemas.openxmlformats.org/drawingml/2006/main" prst="roundRect">
            <a:avLst>
              <a:gd name="adj" fmla="val 11429"/>
            </a:avLst>
          </a:prstGeom>
          <a:solidFill xmlns:a="http://schemas.openxmlformats.org/drawingml/2006/main">
            <a:srgbClr val="EAF6FB"/>
          </a:solidFill>
          <a:ln xmlns:a="http://schemas.openxmlformats.org/drawingml/2006/main" w="9525">
            <a:solidFill>
              <a:srgbClr val="00B2BB"/>
            </a:solidFill>
            <a:prstDash val="solid"/>
          </a:ln>
        </p:spPr>
      </p:sp>
      <p:sp>
        <p:nvSpPr>
          <p:cNvPr id="24" name="">
            <a:extLst xmlns:a="http://schemas.openxmlformats.org/drawingml/2006/main">
              <a:ext uri="{FF2B5EF4-FFF2-40B4-BE49-F238E27FC236}">
                <a16:creationId xmlns:a16="http://schemas.microsoft.com/office/drawing/2014/main" id="{FE7EE1D7-E1C8-4216-B75D-3E52FD9FE9DD}"/>
              </a:ext>
            </a:extLst>
          </p:cNvPr>
          <p:cNvSpPr>
            <a:spLocks xmlns:a="http://schemas.openxmlformats.org/drawingml/2006/main" noGrp="1"/>
          </p:cNvSpPr>
          <p:nvPr/>
        </p:nvSpPr>
        <p:spPr>
          <a:xfrm xmlns:a="http://schemas.openxmlformats.org/drawingml/2006/main">
            <a:off x="1981200" y="4829175"/>
            <a:ext cx="9182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065">
                <a:solidFill>
                  <a:srgbClr val="15232B"/>
                </a:solidFill>
              </a:defRPr>
            </a:pPr>
            <a:r>
              <a:rPr sz="1065">
                <a:solidFill>
                  <a:srgbClr val="15232B"/>
                </a:solidFill>
              </a:rPr>
              <a:t>Beispiel · Beispiel: Vor Annahme einer Ehegattenvertretung werden Vollmacht, Trennung, entgegenstehender Wille und zeitliche Voraussetzungen geprüft.</a:t>
            </a:r>
          </a:p>
        </p:txBody>
      </p:sp>
      <p:sp>
        <p:nvSpPr>
          <p:cNvPr id="25" name="">
            <a:extLst xmlns:a="http://schemas.openxmlformats.org/drawingml/2006/main">
              <a:ext uri="{FF2B5EF4-FFF2-40B4-BE49-F238E27FC236}">
                <a16:creationId xmlns:a16="http://schemas.microsoft.com/office/drawing/2014/main" id="{25D10FE4-2FE0-46C2-A7D0-FCDFC353AE0C}"/>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6" name="">
            <a:extLst xmlns:a="http://schemas.openxmlformats.org/drawingml/2006/main">
              <a:ext uri="{FF2B5EF4-FFF2-40B4-BE49-F238E27FC236}">
                <a16:creationId xmlns:a16="http://schemas.microsoft.com/office/drawing/2014/main" id="{B5F6073D-5D37-4CBB-8EC0-E31C3DB529AE}"/>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Ehe allein bedeutet keine allgemeine und unbefristete medizinische Vertretungsmacht.</a:t>
            </a:r>
          </a:p>
        </p:txBody>
      </p:sp>
    </p:spTree>
    <p:extLst>
      <p:ext uri="{BB962C8B-B14F-4D97-AF65-F5344CB8AC3E}">
        <p14:creationId xmlns:p14="http://schemas.microsoft.com/office/powerpoint/2010/main" val="43637646"/>
      </p:ext>
    </p:extLst>
  </p:cSld>
</p:sld>
</file>

<file path=ppt/slides/slide311.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Notfall und mutmaßlicher Wille</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3FC30955-8B24-4943-B79B-FC919C6BD823}"/>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Zeitdruck verändert die Informationslage, nicht das Ziel der Selbstbestimmung.</a:t>
            </a:r>
          </a:p>
        </p:txBody>
      </p:sp>
      <p:sp>
        <p:nvSpPr>
          <p:cNvPr id="5" name="">
            <a:extLst xmlns:a="http://schemas.openxmlformats.org/drawingml/2006/main">
              <a:ext uri="{FF2B5EF4-FFF2-40B4-BE49-F238E27FC236}">
                <a16:creationId xmlns:a16="http://schemas.microsoft.com/office/drawing/2014/main" id="{89756122-A627-4EC1-9A0B-B623772A5120}"/>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962C1402-83EF-4A1E-A736-54150CF36027}"/>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C4794A47-7DB1-4CB2-BD1D-5D4DAE8EA334}"/>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Unaufschiebbarkeit</a:t>
            </a:r>
          </a:p>
        </p:txBody>
      </p:sp>
      <p:sp>
        <p:nvSpPr>
          <p:cNvPr id="8" name="">
            <a:extLst xmlns:a="http://schemas.openxmlformats.org/drawingml/2006/main">
              <a:ext uri="{FF2B5EF4-FFF2-40B4-BE49-F238E27FC236}">
                <a16:creationId xmlns:a16="http://schemas.microsoft.com/office/drawing/2014/main" id="{0686C031-CE31-4439-BAD2-DE3CFEE31D69}"/>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Es muss medizinisch notwendig sein, ohne rechtzeitige Entscheidung zu handeln.</a:t>
            </a:r>
          </a:p>
        </p:txBody>
      </p:sp>
      <p:sp>
        <p:nvSpPr>
          <p:cNvPr id="9" name="">
            <a:extLst xmlns:a="http://schemas.openxmlformats.org/drawingml/2006/main">
              <a:ext uri="{FF2B5EF4-FFF2-40B4-BE49-F238E27FC236}">
                <a16:creationId xmlns:a16="http://schemas.microsoft.com/office/drawing/2014/main" id="{E5E74E9A-281D-4199-9246-60834F36F079}"/>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FFF1A22F-1AE9-438F-B1DE-CE034B00D8D2}"/>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5D79F44F-DAB8-4C24-BE5F-31C39463C969}"/>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Hinweise suchen</a:t>
            </a:r>
          </a:p>
        </p:txBody>
      </p:sp>
      <p:sp>
        <p:nvSpPr>
          <p:cNvPr id="12" name="">
            <a:extLst xmlns:a="http://schemas.openxmlformats.org/drawingml/2006/main">
              <a:ext uri="{FF2B5EF4-FFF2-40B4-BE49-F238E27FC236}">
                <a16:creationId xmlns:a16="http://schemas.microsoft.com/office/drawing/2014/main" id="{8B69F6FB-9933-452B-84BC-BEB0706044FC}"/>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Armband, Notfallausweis, Patientenverfügung, Angehörige und Vorbefunde werden soweit ohne gefährliche Verzögerung einbezogen.</a:t>
            </a:r>
          </a:p>
        </p:txBody>
      </p:sp>
      <p:sp>
        <p:nvSpPr>
          <p:cNvPr id="13" name="">
            <a:extLst xmlns:a="http://schemas.openxmlformats.org/drawingml/2006/main">
              <a:ext uri="{FF2B5EF4-FFF2-40B4-BE49-F238E27FC236}">
                <a16:creationId xmlns:a16="http://schemas.microsoft.com/office/drawing/2014/main" id="{D7DF32E1-8665-4A80-B9A0-03818C8DE92E}"/>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9559BCD0-455A-4C3E-8202-9A06D391B388}"/>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20013986-0A53-4342-822A-292321BF1FB8}"/>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Personenbezogener Wille</a:t>
            </a:r>
          </a:p>
        </p:txBody>
      </p:sp>
      <p:sp>
        <p:nvSpPr>
          <p:cNvPr id="16" name="">
            <a:extLst xmlns:a="http://schemas.openxmlformats.org/drawingml/2006/main">
              <a:ext uri="{FF2B5EF4-FFF2-40B4-BE49-F238E27FC236}">
                <a16:creationId xmlns:a16="http://schemas.microsoft.com/office/drawing/2014/main" id="{84E433E4-18E1-4CD2-8999-B91A230AE345}"/>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Frühere Äußerungen und Werte haben Vorrang vor abstrakter Vernunftvermutung.</a:t>
            </a:r>
          </a:p>
        </p:txBody>
      </p:sp>
      <p:sp>
        <p:nvSpPr>
          <p:cNvPr id="17" name="">
            <a:extLst xmlns:a="http://schemas.openxmlformats.org/drawingml/2006/main">
              <a:ext uri="{FF2B5EF4-FFF2-40B4-BE49-F238E27FC236}">
                <a16:creationId xmlns:a16="http://schemas.microsoft.com/office/drawing/2014/main" id="{FA950806-342E-4756-9BC7-B16CE3B329B8}"/>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2A9D2D57-B606-4703-9DCC-A0378CB972C2}"/>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AB7857AB-8280-4C53-B501-CC0EA524DACE}"/>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Reevaluation</a:t>
            </a:r>
          </a:p>
        </p:txBody>
      </p:sp>
      <p:sp>
        <p:nvSpPr>
          <p:cNvPr id="20" name="">
            <a:extLst xmlns:a="http://schemas.openxmlformats.org/drawingml/2006/main">
              <a:ext uri="{FF2B5EF4-FFF2-40B4-BE49-F238E27FC236}">
                <a16:creationId xmlns:a16="http://schemas.microsoft.com/office/drawing/2014/main" id="{8A04F979-E508-495B-8A76-DFB6D4ABB2A5}"/>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Sobald Zeit und Fähigkeit zurückkehren, wird informiert, Zustimmung eingeholt und die Behandlung angepasst.</a:t>
            </a:r>
          </a:p>
        </p:txBody>
      </p:sp>
      <p:sp>
        <p:nvSpPr>
          <p:cNvPr id="21" name="">
            <a:extLst xmlns:a="http://schemas.openxmlformats.org/drawingml/2006/main">
              <a:ext uri="{FF2B5EF4-FFF2-40B4-BE49-F238E27FC236}">
                <a16:creationId xmlns:a16="http://schemas.microsoft.com/office/drawing/2014/main" id="{4ECAB7F7-5B76-4156-BF39-3BBEF6945ECA}"/>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06EA390B-FB83-4AF8-AB39-32E266A13C6F}"/>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Notfallhandeln ist vorläufig und wird fortlaufend am erkennbaren Willen überprüft.</a:t>
            </a:r>
          </a:p>
        </p:txBody>
      </p:sp>
    </p:spTree>
    <p:extLst>
      <p:ext uri="{BB962C8B-B14F-4D97-AF65-F5344CB8AC3E}">
        <p14:creationId xmlns:p14="http://schemas.microsoft.com/office/powerpoint/2010/main" val="43637646"/>
      </p:ext>
    </p:extLst>
  </p:cSld>
</p:sld>
</file>

<file path=ppt/slides/slide312.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Behandlungsablehnung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0E50012A-DBDF-4296-90C4-71711E1B8D7A}"/>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Eine einwilligungsfähige Person kann indizierte Maßnahmen ablehnen, auch wenn dadurch erhebliche Gefahr entsteht.</a:t>
            </a:r>
          </a:p>
        </p:txBody>
      </p:sp>
      <p:sp>
        <p:nvSpPr>
          <p:cNvPr id="5" name="">
            <a:extLst xmlns:a="http://schemas.openxmlformats.org/drawingml/2006/main">
              <a:ext uri="{FF2B5EF4-FFF2-40B4-BE49-F238E27FC236}">
                <a16:creationId xmlns:a16="http://schemas.microsoft.com/office/drawing/2014/main" id="{551C2D04-CDC7-4F8B-9AE5-F62D18CBCF1C}"/>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61FBAA80-E7B4-4348-A918-AD511C30ECBC}"/>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CEDEBDC8-C536-4087-82F9-4CAB5A794210}"/>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Entscheidungsfähigkeit sichern</a:t>
            </a:r>
          </a:p>
        </p:txBody>
      </p:sp>
      <p:sp>
        <p:nvSpPr>
          <p:cNvPr id="8" name="">
            <a:extLst xmlns:a="http://schemas.openxmlformats.org/drawingml/2006/main">
              <a:ext uri="{FF2B5EF4-FFF2-40B4-BE49-F238E27FC236}">
                <a16:creationId xmlns:a16="http://schemas.microsoft.com/office/drawing/2014/main" id="{4A6EA59C-CD0D-4427-AFCF-F25C20056E0B}"/>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Verständnis, Störfaktoren und Freiwilligkeit werden sorgfältig geprüft.</a:t>
            </a:r>
          </a:p>
        </p:txBody>
      </p:sp>
      <p:sp>
        <p:nvSpPr>
          <p:cNvPr id="9" name="">
            <a:extLst xmlns:a="http://schemas.openxmlformats.org/drawingml/2006/main">
              <a:ext uri="{FF2B5EF4-FFF2-40B4-BE49-F238E27FC236}">
                <a16:creationId xmlns:a16="http://schemas.microsoft.com/office/drawing/2014/main" id="{4D7AD655-E932-4263-9E5F-60D0B670CEA3}"/>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DB50D45E-2F60-4ACF-85A1-D8C1E0FE473C}"/>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77045BD3-2297-4AC4-ACCC-E5A847E1EB3F}"/>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Informierte Ablehnung</a:t>
            </a:r>
          </a:p>
        </p:txBody>
      </p:sp>
      <p:sp>
        <p:nvSpPr>
          <p:cNvPr id="12" name="">
            <a:extLst xmlns:a="http://schemas.openxmlformats.org/drawingml/2006/main">
              <a:ext uri="{FF2B5EF4-FFF2-40B4-BE49-F238E27FC236}">
                <a16:creationId xmlns:a16="http://schemas.microsoft.com/office/drawing/2014/main" id="{49A5B724-ED3C-47F2-95C6-93A29BFC788E}"/>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Folgen, Alternativen und Sicherheitsoptionen werden verständlich erklärt.</a:t>
            </a:r>
          </a:p>
        </p:txBody>
      </p:sp>
      <p:sp>
        <p:nvSpPr>
          <p:cNvPr id="13" name="">
            <a:extLst xmlns:a="http://schemas.openxmlformats.org/drawingml/2006/main">
              <a:ext uri="{FF2B5EF4-FFF2-40B4-BE49-F238E27FC236}">
                <a16:creationId xmlns:a16="http://schemas.microsoft.com/office/drawing/2014/main" id="{9A73E57B-04D8-4D3C-859B-5E9C7DBF871B}"/>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419E1BEA-5C0D-4D70-B076-B862E531FA87}"/>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15D492DA-FB16-4D60-800C-B1786410DC3B}"/>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Keine Bestrafung</a:t>
            </a:r>
          </a:p>
        </p:txBody>
      </p:sp>
      <p:sp>
        <p:nvSpPr>
          <p:cNvPr id="16" name="">
            <a:extLst xmlns:a="http://schemas.openxmlformats.org/drawingml/2006/main">
              <a:ext uri="{FF2B5EF4-FFF2-40B4-BE49-F238E27FC236}">
                <a16:creationId xmlns:a16="http://schemas.microsoft.com/office/drawing/2014/main" id="{0739CA8C-44BF-4BDE-A4D9-195FE4D73E56}"/>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Weitere medizinische Versorgung und Beziehung werden nicht aus Ärger oder Moralvorwurf entzogen.</a:t>
            </a:r>
          </a:p>
        </p:txBody>
      </p:sp>
      <p:sp>
        <p:nvSpPr>
          <p:cNvPr id="17" name="">
            <a:extLst xmlns:a="http://schemas.openxmlformats.org/drawingml/2006/main">
              <a:ext uri="{FF2B5EF4-FFF2-40B4-BE49-F238E27FC236}">
                <a16:creationId xmlns:a16="http://schemas.microsoft.com/office/drawing/2014/main" id="{F69102C3-D354-495F-A4CC-11D86BB8CDFD}"/>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1F345E18-3972-43F1-881E-92D38E25B973}"/>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C85F0C85-C7E6-4C5F-A92A-A3256A6D2FA6}"/>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Dokumentation</a:t>
            </a:r>
          </a:p>
        </p:txBody>
      </p:sp>
      <p:sp>
        <p:nvSpPr>
          <p:cNvPr id="20" name="">
            <a:extLst xmlns:a="http://schemas.openxmlformats.org/drawingml/2006/main">
              <a:ext uri="{FF2B5EF4-FFF2-40B4-BE49-F238E27FC236}">
                <a16:creationId xmlns:a16="http://schemas.microsoft.com/office/drawing/2014/main" id="{71BF20B4-0483-4B82-BB30-C75A6EB7842B}"/>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Inhalt des Gesprächs, Gründe, Entscheidung, angebotene Alternativen und Rückkehrmöglichkeiten werden festgehalten.</a:t>
            </a:r>
          </a:p>
        </p:txBody>
      </p:sp>
      <p:sp>
        <p:nvSpPr>
          <p:cNvPr id="21" name="">
            <a:extLst xmlns:a="http://schemas.openxmlformats.org/drawingml/2006/main">
              <a:ext uri="{FF2B5EF4-FFF2-40B4-BE49-F238E27FC236}">
                <a16:creationId xmlns:a16="http://schemas.microsoft.com/office/drawing/2014/main" id="{AF592CC8-97B3-435F-91D5-F011DB1C91DB}"/>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4EC4CD23-0607-4106-8C66-5E61E567F21B}"/>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„Revers“ ist kein Ersatz für eine gute, unterstützte Entscheidungsfindung.</a:t>
            </a:r>
          </a:p>
        </p:txBody>
      </p:sp>
    </p:spTree>
    <p:extLst>
      <p:ext uri="{BB962C8B-B14F-4D97-AF65-F5344CB8AC3E}">
        <p14:creationId xmlns:p14="http://schemas.microsoft.com/office/powerpoint/2010/main" val="43637646"/>
      </p:ext>
    </p:extLst>
  </p:cSld>
</p:sld>
</file>

<file path=ppt/slides/slide313.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Behandlungsbegrenzung am Lebensende</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655D7ACE-2D32-4029-A5D3-ADB446F43A78}"/>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Nichtbeginn und Abbruch einer medizinisch nicht indizierten oder vom Patienten abgelehnten Maßnahme sind von aktiver Tötung zu unterscheiden.</a:t>
            </a:r>
          </a:p>
        </p:txBody>
      </p:sp>
      <p:sp>
        <p:nvSpPr>
          <p:cNvPr id="5" name="">
            <a:extLst xmlns:a="http://schemas.openxmlformats.org/drawingml/2006/main">
              <a:ext uri="{FF2B5EF4-FFF2-40B4-BE49-F238E27FC236}">
                <a16:creationId xmlns:a16="http://schemas.microsoft.com/office/drawing/2014/main" id="{AE1337E7-6886-4EF2-81A0-82BFDA9FC401}"/>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0036A8E6-8B87-49E8-B210-1A8BA8CF1E87}"/>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8CE0DF8E-A91A-4006-9368-42040BCCD4DB}"/>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Indikation</a:t>
            </a:r>
          </a:p>
        </p:txBody>
      </p:sp>
      <p:sp>
        <p:nvSpPr>
          <p:cNvPr id="8" name="">
            <a:extLst xmlns:a="http://schemas.openxmlformats.org/drawingml/2006/main">
              <a:ext uri="{FF2B5EF4-FFF2-40B4-BE49-F238E27FC236}">
                <a16:creationId xmlns:a16="http://schemas.microsoft.com/office/drawing/2014/main" id="{0F328901-0563-4C77-99C1-A41756D3EFA3}"/>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Zuerst wird geprüft, ob die Maßnahme ein erreichbares Therapieziel mit vertretbarem Nutzen hat.</a:t>
            </a:r>
          </a:p>
        </p:txBody>
      </p:sp>
      <p:sp>
        <p:nvSpPr>
          <p:cNvPr id="9" name="">
            <a:extLst xmlns:a="http://schemas.openxmlformats.org/drawingml/2006/main">
              <a:ext uri="{FF2B5EF4-FFF2-40B4-BE49-F238E27FC236}">
                <a16:creationId xmlns:a16="http://schemas.microsoft.com/office/drawing/2014/main" id="{DE37DC5D-3FC7-4636-A377-C90CAFF2B06D}"/>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3BD93E0B-82D0-40AF-909A-EC55515DFD9C}"/>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DDF497A0-207C-4C52-AD5E-627E2EC9C3E5}"/>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Wille</a:t>
            </a:r>
          </a:p>
        </p:txBody>
      </p:sp>
      <p:sp>
        <p:nvSpPr>
          <p:cNvPr id="12" name="">
            <a:extLst xmlns:a="http://schemas.openxmlformats.org/drawingml/2006/main">
              <a:ext uri="{FF2B5EF4-FFF2-40B4-BE49-F238E27FC236}">
                <a16:creationId xmlns:a16="http://schemas.microsoft.com/office/drawing/2014/main" id="{326A5CD8-A01B-4C9B-A228-E283F8CE6BF7}"/>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Bei bestehender Indikation entscheidet die einwilligungsfähige Person oder ihre Vertretung nach Patientenwillen.</a:t>
            </a:r>
          </a:p>
        </p:txBody>
      </p:sp>
      <p:sp>
        <p:nvSpPr>
          <p:cNvPr id="13" name="">
            <a:extLst xmlns:a="http://schemas.openxmlformats.org/drawingml/2006/main">
              <a:ext uri="{FF2B5EF4-FFF2-40B4-BE49-F238E27FC236}">
                <a16:creationId xmlns:a16="http://schemas.microsoft.com/office/drawing/2014/main" id="{DEE3A5DB-68F4-43D1-8283-BA498B81FC51}"/>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9D38ACBC-FF11-4C16-9479-CFE4C3A4E513}"/>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E8B792B8-FA1C-43B1-AE8D-98EF210B2CF9}"/>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Symptomkontrolle</a:t>
            </a:r>
          </a:p>
        </p:txBody>
      </p:sp>
      <p:sp>
        <p:nvSpPr>
          <p:cNvPr id="16" name="">
            <a:extLst xmlns:a="http://schemas.openxmlformats.org/drawingml/2006/main">
              <a:ext uri="{FF2B5EF4-FFF2-40B4-BE49-F238E27FC236}">
                <a16:creationId xmlns:a16="http://schemas.microsoft.com/office/drawing/2014/main" id="{4D8D9BB3-1A1E-4E6D-BF09-B41B96F11701}"/>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Palliative Behandlung bleibt geboten; mögliche unbeabsichtigte Lebensverkürzung wird nach Ziel, Dosierung und Sorgfalt bewertet.</a:t>
            </a:r>
          </a:p>
        </p:txBody>
      </p:sp>
      <p:sp>
        <p:nvSpPr>
          <p:cNvPr id="17" name="">
            <a:extLst xmlns:a="http://schemas.openxmlformats.org/drawingml/2006/main">
              <a:ext uri="{FF2B5EF4-FFF2-40B4-BE49-F238E27FC236}">
                <a16:creationId xmlns:a16="http://schemas.microsoft.com/office/drawing/2014/main" id="{2F277AE0-ABB2-45C6-A32C-4E71A8567D0B}"/>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877D5A7D-3EA0-4FEC-B858-7A93CC125AF2}"/>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2A3DC8C1-A337-4D1D-91D3-F3DF6233119D}"/>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Teamprozess</a:t>
            </a:r>
          </a:p>
        </p:txBody>
      </p:sp>
      <p:sp>
        <p:nvSpPr>
          <p:cNvPr id="20" name="">
            <a:extLst xmlns:a="http://schemas.openxmlformats.org/drawingml/2006/main">
              <a:ext uri="{FF2B5EF4-FFF2-40B4-BE49-F238E27FC236}">
                <a16:creationId xmlns:a16="http://schemas.microsoft.com/office/drawing/2014/main" id="{47262678-B92F-42A9-A0D9-5C2DA8A0CC49}"/>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Ziel, Entscheidung, Beteiligte und Reevaluation werden transparent dokumentiert.</a:t>
            </a:r>
          </a:p>
        </p:txBody>
      </p:sp>
      <p:sp>
        <p:nvSpPr>
          <p:cNvPr id="21" name="">
            <a:extLst xmlns:a="http://schemas.openxmlformats.org/drawingml/2006/main">
              <a:ext uri="{FF2B5EF4-FFF2-40B4-BE49-F238E27FC236}">
                <a16:creationId xmlns:a16="http://schemas.microsoft.com/office/drawing/2014/main" id="{8BEF7322-2E09-4FC0-B1B0-EE565CEABBE6}"/>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41B1492E-203A-4098-BA43-E31D51590ECD}"/>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Therapieziel, medizinische Indikation und Patientenwille werden in dieser Reihenfolge sauber getrennt.</a:t>
            </a:r>
          </a:p>
        </p:txBody>
      </p:sp>
    </p:spTree>
    <p:extLst>
      <p:ext uri="{BB962C8B-B14F-4D97-AF65-F5344CB8AC3E}">
        <p14:creationId xmlns:p14="http://schemas.microsoft.com/office/powerpoint/2010/main" val="43637646"/>
      </p:ext>
    </p:extLst>
  </p:cSld>
</p:sld>
</file>

<file path=ppt/slides/slide314.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Zwang und öffentlich-rechtliche Unterbringung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C64C5214-FFED-413B-84C1-373320D04805}"/>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Behandlung gegen den natürlichen Willen ist ein schwerer Grundrechtseingriff und verlangt eine spezifische gesetzliche Grundlage.</a:t>
            </a:r>
          </a:p>
        </p:txBody>
      </p:sp>
      <p:sp>
        <p:nvSpPr>
          <p:cNvPr id="5" name="">
            <a:extLst xmlns:a="http://schemas.openxmlformats.org/drawingml/2006/main">
              <a:ext uri="{FF2B5EF4-FFF2-40B4-BE49-F238E27FC236}">
                <a16:creationId xmlns:a16="http://schemas.microsoft.com/office/drawing/2014/main" id="{9D999426-1B3A-4B64-8F74-EB2D5E4C988B}"/>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8DFE2258-9A8D-4243-B6BE-F64CF490CE7C}"/>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99C9E67F-9CA8-4545-9621-8F3C1BCBDD9D}"/>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Keine Generalklausel</a:t>
            </a:r>
          </a:p>
        </p:txBody>
      </p:sp>
      <p:sp>
        <p:nvSpPr>
          <p:cNvPr id="8" name="">
            <a:extLst xmlns:a="http://schemas.openxmlformats.org/drawingml/2006/main">
              <a:ext uri="{FF2B5EF4-FFF2-40B4-BE49-F238E27FC236}">
                <a16:creationId xmlns:a16="http://schemas.microsoft.com/office/drawing/2014/main" id="{88FF3147-FCE2-448B-9A7D-630CF504280D}"/>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Allgemeine Fürsorge oder ärztliche Zweckmäßigkeit reicht nicht.</a:t>
            </a:r>
          </a:p>
        </p:txBody>
      </p:sp>
      <p:sp>
        <p:nvSpPr>
          <p:cNvPr id="9" name="">
            <a:extLst xmlns:a="http://schemas.openxmlformats.org/drawingml/2006/main">
              <a:ext uri="{FF2B5EF4-FFF2-40B4-BE49-F238E27FC236}">
                <a16:creationId xmlns:a16="http://schemas.microsoft.com/office/drawing/2014/main" id="{9AFE2A21-5725-49FB-8736-2950FB13F8AF}"/>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1C4BDE5A-8B84-4CF0-BAC9-1C89628FF492}"/>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D17A7E96-EB7E-4C77-BEAB-D64E74BADC2C}"/>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Spezialrecht</a:t>
            </a:r>
          </a:p>
        </p:txBody>
      </p:sp>
      <p:sp>
        <p:nvSpPr>
          <p:cNvPr id="12" name="">
            <a:extLst xmlns:a="http://schemas.openxmlformats.org/drawingml/2006/main">
              <a:ext uri="{FF2B5EF4-FFF2-40B4-BE49-F238E27FC236}">
                <a16:creationId xmlns:a16="http://schemas.microsoft.com/office/drawing/2014/main" id="{748065EB-EDA5-4149-B135-D2D0275B0201}"/>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Betreuungsrecht, Psychisch-Kranken-Recht und Infektionsschutz können unterschiedliche Voraussetzungen und Gerichte vorsehen.</a:t>
            </a:r>
          </a:p>
        </p:txBody>
      </p:sp>
      <p:sp>
        <p:nvSpPr>
          <p:cNvPr id="13" name="">
            <a:extLst xmlns:a="http://schemas.openxmlformats.org/drawingml/2006/main">
              <a:ext uri="{FF2B5EF4-FFF2-40B4-BE49-F238E27FC236}">
                <a16:creationId xmlns:a16="http://schemas.microsoft.com/office/drawing/2014/main" id="{5621F98A-E395-4D7B-A3D7-C56D3C6B23D5}"/>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03E3EEFA-82E2-4871-AC9A-D30D9C470508}"/>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DA29311E-9922-4B3B-8543-2D934D95771F}"/>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Verhältnismäßigkeit</a:t>
            </a:r>
          </a:p>
        </p:txBody>
      </p:sp>
      <p:sp>
        <p:nvSpPr>
          <p:cNvPr id="16" name="">
            <a:extLst xmlns:a="http://schemas.openxmlformats.org/drawingml/2006/main">
              <a:ext uri="{FF2B5EF4-FFF2-40B4-BE49-F238E27FC236}">
                <a16:creationId xmlns:a16="http://schemas.microsoft.com/office/drawing/2014/main" id="{2EB939DE-8D47-479C-8D72-4BD08CA330B8}"/>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Gefahr, Erforderlichkeit, mildere Mittel, Erfolgsaussicht und Belastung werden streng geprüft.</a:t>
            </a:r>
          </a:p>
        </p:txBody>
      </p:sp>
      <p:sp>
        <p:nvSpPr>
          <p:cNvPr id="17" name="">
            <a:extLst xmlns:a="http://schemas.openxmlformats.org/drawingml/2006/main">
              <a:ext uri="{FF2B5EF4-FFF2-40B4-BE49-F238E27FC236}">
                <a16:creationId xmlns:a16="http://schemas.microsoft.com/office/drawing/2014/main" id="{C1DAA600-E44E-4E8E-932B-519F0469C0FB}"/>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50329B54-E51A-4DB7-9B8F-227B5066B16D}"/>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3A6B982C-59A3-406C-85D3-4EE07760FA3E}"/>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Verfahren</a:t>
            </a:r>
          </a:p>
        </p:txBody>
      </p:sp>
      <p:sp>
        <p:nvSpPr>
          <p:cNvPr id="20" name="">
            <a:extLst xmlns:a="http://schemas.openxmlformats.org/drawingml/2006/main">
              <a:ext uri="{FF2B5EF4-FFF2-40B4-BE49-F238E27FC236}">
                <a16:creationId xmlns:a16="http://schemas.microsoft.com/office/drawing/2014/main" id="{788F4616-BABB-47AD-810F-F30153668B30}"/>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Anhörung, gerichtliche Genehmigung, Vertretung und Dokumentation sichern den Grundrechtsschutz.</a:t>
            </a:r>
          </a:p>
        </p:txBody>
      </p:sp>
      <p:sp>
        <p:nvSpPr>
          <p:cNvPr id="21" name="">
            <a:extLst xmlns:a="http://schemas.openxmlformats.org/drawingml/2006/main">
              <a:ext uri="{FF2B5EF4-FFF2-40B4-BE49-F238E27FC236}">
                <a16:creationId xmlns:a16="http://schemas.microsoft.com/office/drawing/2014/main" id="{8BBC27F3-2E77-424E-87F2-9A26DA8A3ACB}"/>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4CF8C80F-AFF3-41CB-A07B-FC6C1F695901}"/>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Bei Zwangsfragen wird früh fachärztliche, rechtliche und gerichtliche Unterstützung organisiert.</a:t>
            </a:r>
          </a:p>
        </p:txBody>
      </p:sp>
    </p:spTree>
    <p:extLst>
      <p:ext uri="{BB962C8B-B14F-4D97-AF65-F5344CB8AC3E}">
        <p14:creationId xmlns:p14="http://schemas.microsoft.com/office/powerpoint/2010/main" val="43637646"/>
      </p:ext>
    </p:extLst>
  </p:cSld>
</p:sld>
</file>

<file path=ppt/slides/slide315.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Einwilligung und Behandlungsvertrag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UNTERSCHEIDEN KÖNNEN</a:t>
            </a:r>
            <a:endParaRPr/>
          </a:p>
        </p:txBody>
      </p:sp>
      <p:sp>
        <p:nvSpPr>
          <p:cNvPr id="4" name="">
            <a:extLst xmlns:a="http://schemas.openxmlformats.org/drawingml/2006/main">
              <a:ext uri="{FF2B5EF4-FFF2-40B4-BE49-F238E27FC236}">
                <a16:creationId xmlns:a16="http://schemas.microsoft.com/office/drawing/2014/main" id="{4840DD07-A179-4F9A-9AE7-5A653B9F6D9C}"/>
              </a:ext>
            </a:extLst>
          </p:cNvPr>
          <p:cNvSpPr>
            <a:spLocks xmlns:a="http://schemas.openxmlformats.org/drawingml/2006/main" noGrp="1"/>
          </p:cNvSpPr>
          <p:nvPr/>
        </p:nvSpPr>
        <p:spPr>
          <a:xfrm xmlns:a="http://schemas.openxmlformats.org/drawingml/2006/main">
            <a:off x="1809750" y="2000250"/>
            <a:ext cx="4619625" cy="3286125"/>
          </a:xfrm>
          <a:prstGeom xmlns:a="http://schemas.openxmlformats.org/drawingml/2006/main" prst="roundRect">
            <a:avLst>
              <a:gd name="adj" fmla="val 2319"/>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4848FD31-75B3-496D-8335-C9697F5730DE}"/>
              </a:ext>
            </a:extLst>
          </p:cNvPr>
          <p:cNvSpPr>
            <a:spLocks xmlns:a="http://schemas.openxmlformats.org/drawingml/2006/main" noGrp="1"/>
          </p:cNvSpPr>
          <p:nvPr/>
        </p:nvSpPr>
        <p:spPr>
          <a:xfrm xmlns:a="http://schemas.openxmlformats.org/drawingml/2006/main">
            <a:off x="1809750" y="2000250"/>
            <a:ext cx="4619625"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0B081353-6F5D-406F-84F7-1C445350AF7F}"/>
              </a:ext>
            </a:extLst>
          </p:cNvPr>
          <p:cNvSpPr>
            <a:spLocks xmlns:a="http://schemas.openxmlformats.org/drawingml/2006/main" noGrp="1"/>
          </p:cNvSpPr>
          <p:nvPr/>
        </p:nvSpPr>
        <p:spPr>
          <a:xfrm xmlns:a="http://schemas.openxmlformats.org/drawingml/2006/main">
            <a:off x="1962150" y="2133600"/>
            <a:ext cx="4314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75" b="1">
                <a:solidFill>
                  <a:srgbClr val="003F6B"/>
                </a:solidFill>
              </a:defRPr>
            </a:pPr>
            <a:r>
              <a:rPr sz="1575" b="1">
                <a:solidFill>
                  <a:srgbClr val="003F6B"/>
                </a:solidFill>
              </a:rPr>
              <a:t>Einwilligung</a:t>
            </a:r>
          </a:p>
        </p:txBody>
      </p:sp>
      <p:sp>
        <p:nvSpPr>
          <p:cNvPr id="7" name="">
            <a:extLst xmlns:a="http://schemas.openxmlformats.org/drawingml/2006/main">
              <a:ext uri="{FF2B5EF4-FFF2-40B4-BE49-F238E27FC236}">
                <a16:creationId xmlns:a16="http://schemas.microsoft.com/office/drawing/2014/main" id="{BD82F0DE-6746-4562-9354-760CFA8D9E1E}"/>
              </a:ext>
            </a:extLst>
          </p:cNvPr>
          <p:cNvSpPr>
            <a:spLocks xmlns:a="http://schemas.openxmlformats.org/drawingml/2006/main" noGrp="1"/>
          </p:cNvSpPr>
          <p:nvPr/>
        </p:nvSpPr>
        <p:spPr>
          <a:xfrm xmlns:a="http://schemas.openxmlformats.org/drawingml/2006/main">
            <a:off x="1962150" y="2571750"/>
            <a:ext cx="4314825"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15232B"/>
                </a:solidFill>
              </a:defRPr>
            </a:pPr>
            <a:r>
              <a:rPr sz="1200">
                <a:solidFill>
                  <a:srgbClr val="15232B"/>
                </a:solidFill>
              </a:rPr>
              <a:t>• Rechtfertigt den körperlichen Eingriff und schützt Selbstbestimmung.</a:t>
            </a:r>
          </a:p>
          <a:p xmlns:a="http://schemas.openxmlformats.org/drawingml/2006/main">
            <a:pPr>
              <a:buNone/>
              <a:defRPr sz="1200">
                <a:solidFill>
                  <a:srgbClr val="15232B"/>
                </a:solidFill>
              </a:defRPr>
            </a:pPr>
            <a:r>
              <a:rPr sz="1200">
                <a:solidFill>
                  <a:srgbClr val="15232B"/>
                </a:solidFill>
              </a:rPr>
              <a:t>• Kann von einer einwilligungsfähigen Person unabhängig von Geschäftsfähigkeit erteilt werden.</a:t>
            </a:r>
          </a:p>
          <a:p xmlns:a="http://schemas.openxmlformats.org/drawingml/2006/main">
            <a:pPr>
              <a:buNone/>
              <a:defRPr sz="1200">
                <a:solidFill>
                  <a:srgbClr val="15232B"/>
                </a:solidFill>
              </a:defRPr>
            </a:pPr>
            <a:r>
              <a:rPr sz="1200">
                <a:solidFill>
                  <a:srgbClr val="15232B"/>
                </a:solidFill>
              </a:rPr>
              <a:t>• Ist widerruflich und maßnahmenbezogen.</a:t>
            </a:r>
          </a:p>
        </p:txBody>
      </p:sp>
      <p:sp>
        <p:nvSpPr>
          <p:cNvPr id="8" name="">
            <a:extLst xmlns:a="http://schemas.openxmlformats.org/drawingml/2006/main">
              <a:ext uri="{FF2B5EF4-FFF2-40B4-BE49-F238E27FC236}">
                <a16:creationId xmlns:a16="http://schemas.microsoft.com/office/drawing/2014/main" id="{53969299-C5FB-4823-829F-F0EDEC800155}"/>
              </a:ext>
            </a:extLst>
          </p:cNvPr>
          <p:cNvSpPr>
            <a:spLocks xmlns:a="http://schemas.openxmlformats.org/drawingml/2006/main" noGrp="1"/>
          </p:cNvSpPr>
          <p:nvPr/>
        </p:nvSpPr>
        <p:spPr>
          <a:xfrm xmlns:a="http://schemas.openxmlformats.org/drawingml/2006/main">
            <a:off x="6715125" y="2000250"/>
            <a:ext cx="4619625" cy="3286125"/>
          </a:xfrm>
          <a:prstGeom xmlns:a="http://schemas.openxmlformats.org/drawingml/2006/main" prst="roundRect">
            <a:avLst>
              <a:gd name="adj" fmla="val 2319"/>
            </a:avLst>
          </a:prstGeom>
          <a:noFill xmlns:a="http://schemas.openxmlformats.org/drawingml/2006/main"/>
          <a:ln xmlns:a="http://schemas.openxmlformats.org/drawingml/2006/main" w="9525">
            <a:solidFill>
              <a:srgbClr val="B9CAD2"/>
            </a:solidFill>
            <a:prstDash val="solid"/>
          </a:ln>
        </p:spPr>
      </p:sp>
      <p:sp>
        <p:nvSpPr>
          <p:cNvPr id="9" name="">
            <a:extLst xmlns:a="http://schemas.openxmlformats.org/drawingml/2006/main">
              <a:ext uri="{FF2B5EF4-FFF2-40B4-BE49-F238E27FC236}">
                <a16:creationId xmlns:a16="http://schemas.microsoft.com/office/drawing/2014/main" id="{1DD108F8-8C13-4393-BA60-D44ECE85C2FB}"/>
              </a:ext>
            </a:extLst>
          </p:cNvPr>
          <p:cNvSpPr>
            <a:spLocks xmlns:a="http://schemas.openxmlformats.org/drawingml/2006/main" noGrp="1"/>
          </p:cNvSpPr>
          <p:nvPr/>
        </p:nvSpPr>
        <p:spPr>
          <a:xfrm xmlns:a="http://schemas.openxmlformats.org/drawingml/2006/main">
            <a:off x="6715125" y="2000250"/>
            <a:ext cx="4619625"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4F664E10-97FC-47D7-A913-4863CF090253}"/>
              </a:ext>
            </a:extLst>
          </p:cNvPr>
          <p:cNvSpPr>
            <a:spLocks xmlns:a="http://schemas.openxmlformats.org/drawingml/2006/main" noGrp="1"/>
          </p:cNvSpPr>
          <p:nvPr/>
        </p:nvSpPr>
        <p:spPr>
          <a:xfrm xmlns:a="http://schemas.openxmlformats.org/drawingml/2006/main">
            <a:off x="6867525" y="2133600"/>
            <a:ext cx="4314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75" b="1">
                <a:solidFill>
                  <a:srgbClr val="003F6B"/>
                </a:solidFill>
              </a:defRPr>
            </a:pPr>
            <a:r>
              <a:rPr sz="1575" b="1">
                <a:solidFill>
                  <a:srgbClr val="003F6B"/>
                </a:solidFill>
              </a:rPr>
              <a:t>Vertragliche Zustimmung</a:t>
            </a:r>
          </a:p>
        </p:txBody>
      </p:sp>
      <p:sp>
        <p:nvSpPr>
          <p:cNvPr id="11" name="">
            <a:extLst xmlns:a="http://schemas.openxmlformats.org/drawingml/2006/main">
              <a:ext uri="{FF2B5EF4-FFF2-40B4-BE49-F238E27FC236}">
                <a16:creationId xmlns:a16="http://schemas.microsoft.com/office/drawing/2014/main" id="{63521773-5F44-402B-8C1F-9511EA26BF71}"/>
              </a:ext>
            </a:extLst>
          </p:cNvPr>
          <p:cNvSpPr>
            <a:spLocks xmlns:a="http://schemas.openxmlformats.org/drawingml/2006/main" noGrp="1"/>
          </p:cNvSpPr>
          <p:nvPr/>
        </p:nvSpPr>
        <p:spPr>
          <a:xfrm xmlns:a="http://schemas.openxmlformats.org/drawingml/2006/main">
            <a:off x="6867525" y="2571750"/>
            <a:ext cx="4314825"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15232B"/>
                </a:solidFill>
              </a:defRPr>
            </a:pPr>
            <a:r>
              <a:rPr sz="1200">
                <a:solidFill>
                  <a:srgbClr val="15232B"/>
                </a:solidFill>
              </a:rPr>
              <a:t>• Begründet schuldrechtliche Pflichten und Vergütungsbeziehungen.</a:t>
            </a:r>
          </a:p>
          <a:p xmlns:a="http://schemas.openxmlformats.org/drawingml/2006/main">
            <a:pPr>
              <a:buNone/>
              <a:defRPr sz="1200">
                <a:solidFill>
                  <a:srgbClr val="15232B"/>
                </a:solidFill>
              </a:defRPr>
            </a:pPr>
            <a:r>
              <a:rPr sz="1200">
                <a:solidFill>
                  <a:srgbClr val="15232B"/>
                </a:solidFill>
              </a:rPr>
              <a:t>• Geschäftsfähigkeit und Vertretungsmacht folgen den Regeln des Vertragsrechts.</a:t>
            </a:r>
          </a:p>
          <a:p xmlns:a="http://schemas.openxmlformats.org/drawingml/2006/main">
            <a:pPr>
              <a:buNone/>
              <a:defRPr sz="1200">
                <a:solidFill>
                  <a:srgbClr val="15232B"/>
                </a:solidFill>
              </a:defRPr>
            </a:pPr>
            <a:r>
              <a:rPr sz="1200">
                <a:solidFill>
                  <a:srgbClr val="15232B"/>
                </a:solidFill>
              </a:rPr>
              <a:t>• Ein Behandlungsvertrag ersetzt keine wirksame Eingriffseinwilligung.</a:t>
            </a:r>
          </a:p>
        </p:txBody>
      </p:sp>
      <p:sp>
        <p:nvSpPr>
          <p:cNvPr id="12" name="">
            <a:extLst xmlns:a="http://schemas.openxmlformats.org/drawingml/2006/main">
              <a:ext uri="{FF2B5EF4-FFF2-40B4-BE49-F238E27FC236}">
                <a16:creationId xmlns:a16="http://schemas.microsoft.com/office/drawing/2014/main" id="{4AEF2888-1EFB-402D-A0A9-55A68E9E1996}"/>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13" name="">
            <a:extLst xmlns:a="http://schemas.openxmlformats.org/drawingml/2006/main">
              <a:ext uri="{FF2B5EF4-FFF2-40B4-BE49-F238E27FC236}">
                <a16:creationId xmlns:a16="http://schemas.microsoft.com/office/drawing/2014/main" id="{2721416F-EAB6-4697-B663-43EE7742FD10}"/>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Zustimmung zum Vertrag und Zustimmung zum körperlichen Eingriff sind zwei verschiedene Rechtsakte.</a:t>
            </a:r>
          </a:p>
        </p:txBody>
      </p:sp>
    </p:spTree>
    <p:extLst>
      <p:ext uri="{BB962C8B-B14F-4D97-AF65-F5344CB8AC3E}">
        <p14:creationId xmlns:p14="http://schemas.microsoft.com/office/powerpoint/2010/main" val="43637646"/>
      </p:ext>
    </p:extLst>
  </p:cSld>
</p:sld>
</file>

<file path=ppt/slides/slide316.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BGH · Anforderungen an eine bindende Patientenverfügung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ORIGINALENTSCHEIDUNG · PATIENTENVERFÜGUNG</a:t>
            </a:r>
            <a:endParaRPr/>
          </a:p>
        </p:txBody>
      </p:sp>
      <p:sp>
        <p:nvSpPr>
          <p:cNvPr id="4" name="">
            <a:extLst xmlns:a="http://schemas.openxmlformats.org/drawingml/2006/main">
              <a:ext uri="{FF2B5EF4-FFF2-40B4-BE49-F238E27FC236}">
                <a16:creationId xmlns:a16="http://schemas.microsoft.com/office/drawing/2014/main" id="{FED858D3-6A0A-4F6E-9671-9530A2423FE6}"/>
              </a:ext>
            </a:extLst>
          </p:cNvPr>
          <p:cNvSpPr>
            <a:spLocks xmlns:a="http://schemas.openxmlformats.org/drawingml/2006/main" noGrp="1"/>
          </p:cNvSpPr>
          <p:nvPr/>
        </p:nvSpPr>
        <p:spPr>
          <a:xfrm xmlns:a="http://schemas.openxmlformats.org/drawingml/2006/main">
            <a:off x="1809750" y="1943100"/>
            <a:ext cx="11239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DECFFDB5-0FB8-492D-BB68-0A9991FFE910}"/>
              </a:ext>
            </a:extLst>
          </p:cNvPr>
          <p:cNvSpPr>
            <a:spLocks xmlns:a="http://schemas.openxmlformats.org/drawingml/2006/main" noGrp="1"/>
          </p:cNvSpPr>
          <p:nvPr/>
        </p:nvSpPr>
        <p:spPr>
          <a:xfrm xmlns:a="http://schemas.openxmlformats.org/drawingml/2006/main">
            <a:off x="1809750" y="1943100"/>
            <a:ext cx="1123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38" b="1">
                <a:solidFill>
                  <a:srgbClr val="FFFFFF"/>
                </a:solidFill>
              </a:defRPr>
            </a:pPr>
            <a:r>
              <a:rPr sz="938" b="1">
                <a:solidFill>
                  <a:srgbClr val="FFFFFF"/>
                </a:solidFill>
              </a:rPr>
              <a:t>BGH</a:t>
            </a:r>
          </a:p>
        </p:txBody>
      </p:sp>
      <p:sp>
        <p:nvSpPr>
          <p:cNvPr id="6" name="">
            <a:extLst xmlns:a="http://schemas.openxmlformats.org/drawingml/2006/main">
              <a:ext uri="{FF2B5EF4-FFF2-40B4-BE49-F238E27FC236}">
                <a16:creationId xmlns:a16="http://schemas.microsoft.com/office/drawing/2014/main" id="{25AAB23E-5D50-4408-B0DD-0E6C1D4B14F7}"/>
              </a:ext>
            </a:extLst>
          </p:cNvPr>
          <p:cNvSpPr>
            <a:spLocks xmlns:a="http://schemas.openxmlformats.org/drawingml/2006/main" noGrp="1"/>
          </p:cNvSpPr>
          <p:nvPr/>
        </p:nvSpPr>
        <p:spPr>
          <a:xfrm xmlns:a="http://schemas.openxmlformats.org/drawingml/2006/main">
            <a:off x="312420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06.07.2016 · XII ZB 61/16</a:t>
            </a:r>
          </a:p>
        </p:txBody>
      </p:sp>
      <p:sp>
        <p:nvSpPr>
          <p:cNvPr id="7" name="">
            <a:extLst xmlns:a="http://schemas.openxmlformats.org/drawingml/2006/main">
              <a:ext uri="{FF2B5EF4-FFF2-40B4-BE49-F238E27FC236}">
                <a16:creationId xmlns:a16="http://schemas.microsoft.com/office/drawing/2014/main" id="{D6DD62F1-ABC9-4594-B1C4-7472AD808BBE}"/>
              </a:ext>
            </a:extLst>
          </p:cNvPr>
          <p:cNvSpPr>
            <a:spLocks xmlns:a="http://schemas.openxmlformats.org/drawingml/2006/main" noGrp="1"/>
          </p:cNvSpPr>
          <p:nvPr/>
        </p:nvSpPr>
        <p:spPr>
          <a:xfrm xmlns:a="http://schemas.openxmlformats.org/drawingml/2006/main">
            <a:off x="733425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050">
                <a:solidFill>
                  <a:srgbClr val="667680"/>
                </a:solidFill>
              </a:defRPr>
            </a:pPr>
            <a:r>
              <a:rPr sz="1050">
                <a:solidFill>
                  <a:srgbClr val="667680"/>
                </a:solidFill>
              </a:rPr>
              <a:t>Konkretheit statt bloßer Formel</a:t>
            </a:r>
          </a:p>
        </p:txBody>
      </p:sp>
      <p:sp>
        <p:nvSpPr>
          <p:cNvPr id="8" name="">
            <a:extLst xmlns:a="http://schemas.openxmlformats.org/drawingml/2006/main">
              <a:ext uri="{FF2B5EF4-FFF2-40B4-BE49-F238E27FC236}">
                <a16:creationId xmlns:a16="http://schemas.microsoft.com/office/drawing/2014/main" id="{70F726BD-04EF-4F5C-98B5-DAA4A2DD684F}"/>
              </a:ext>
            </a:extLst>
          </p:cNvPr>
          <p:cNvSpPr>
            <a:spLocks xmlns:a="http://schemas.openxmlformats.org/drawingml/2006/main" noGrp="1"/>
          </p:cNvSpPr>
          <p:nvPr/>
        </p:nvSpPr>
        <p:spPr>
          <a:xfrm xmlns:a="http://schemas.openxmlformats.org/drawingml/2006/main">
            <a:off x="1809750" y="2533650"/>
            <a:ext cx="1676400" cy="781050"/>
          </a:xfrm>
          <a:prstGeom xmlns:a="http://schemas.openxmlformats.org/drawingml/2006/main" prst="roundRect">
            <a:avLst>
              <a:gd name="adj" fmla="val 9756"/>
            </a:avLst>
          </a:prstGeom>
          <a:solidFill xmlns:a="http://schemas.openxmlformats.org/drawingml/2006/main">
            <a:srgbClr val="00B2BB"/>
          </a:solidFill>
          <a:ln xmlns:a="http://schemas.openxmlformats.org/drawingml/2006/main" w="0">
            <a:solidFill>
              <a:srgbClr val="00B2BB"/>
            </a:solidFill>
            <a:prstDash val="solid"/>
          </a:ln>
        </p:spPr>
      </p:sp>
      <p:sp>
        <p:nvSpPr>
          <p:cNvPr id="9" name="">
            <a:extLst xmlns:a="http://schemas.openxmlformats.org/drawingml/2006/main">
              <a:ext uri="{FF2B5EF4-FFF2-40B4-BE49-F238E27FC236}">
                <a16:creationId xmlns:a16="http://schemas.microsoft.com/office/drawing/2014/main" id="{1181C93C-1C21-4E75-AEFB-A22A36E2F54E}"/>
              </a:ext>
            </a:extLst>
          </p:cNvPr>
          <p:cNvSpPr>
            <a:spLocks xmlns:a="http://schemas.openxmlformats.org/drawingml/2006/main" noGrp="1"/>
          </p:cNvSpPr>
          <p:nvPr/>
        </p:nvSpPr>
        <p:spPr>
          <a:xfrm xmlns:a="http://schemas.openxmlformats.org/drawingml/2006/main">
            <a:off x="1924050" y="25336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Ausgangsfall</a:t>
            </a:r>
          </a:p>
        </p:txBody>
      </p:sp>
      <p:sp>
        <p:nvSpPr>
          <p:cNvPr id="10" name="">
            <a:extLst xmlns:a="http://schemas.openxmlformats.org/drawingml/2006/main">
              <a:ext uri="{FF2B5EF4-FFF2-40B4-BE49-F238E27FC236}">
                <a16:creationId xmlns:a16="http://schemas.microsoft.com/office/drawing/2014/main" id="{2FA76E1D-835D-4422-BDAA-2C07A00EB38A}"/>
              </a:ext>
            </a:extLst>
          </p:cNvPr>
          <p:cNvSpPr>
            <a:spLocks xmlns:a="http://schemas.openxmlformats.org/drawingml/2006/main" noGrp="1"/>
          </p:cNvSpPr>
          <p:nvPr/>
        </p:nvSpPr>
        <p:spPr>
          <a:xfrm xmlns:a="http://schemas.openxmlformats.org/drawingml/2006/main">
            <a:off x="3695700" y="25336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Eine Patientin hatte erklärt, keine lebenserhaltenden Maßnahmen zu wünschen. Streitig war, ob die Erklärung die konkrete Behandlungssituation und Maßnahmen hinreichend bestimmte.</a:t>
            </a:r>
          </a:p>
        </p:txBody>
      </p:sp>
      <p:sp>
        <p:nvSpPr>
          <p:cNvPr id="11" name="">
            <a:extLst xmlns:a="http://schemas.openxmlformats.org/drawingml/2006/main">
              <a:ext uri="{FF2B5EF4-FFF2-40B4-BE49-F238E27FC236}">
                <a16:creationId xmlns:a16="http://schemas.microsoft.com/office/drawing/2014/main" id="{40BD7059-D03F-4BB7-9DD9-325BCAFBBE45}"/>
              </a:ext>
            </a:extLst>
          </p:cNvPr>
          <p:cNvSpPr>
            <a:spLocks xmlns:a="http://schemas.openxmlformats.org/drawingml/2006/main" noGrp="1"/>
          </p:cNvSpPr>
          <p:nvPr/>
        </p:nvSpPr>
        <p:spPr>
          <a:xfrm xmlns:a="http://schemas.openxmlformats.org/drawingml/2006/main">
            <a:off x="1809750" y="3486150"/>
            <a:ext cx="1676400" cy="781050"/>
          </a:xfrm>
          <a:prstGeom xmlns:a="http://schemas.openxmlformats.org/drawingml/2006/main" prst="roundRect">
            <a:avLst>
              <a:gd name="adj" fmla="val 9756"/>
            </a:avLst>
          </a:prstGeom>
          <a:solidFill xmlns:a="http://schemas.openxmlformats.org/drawingml/2006/main">
            <a:srgbClr val="003F6B"/>
          </a:solidFill>
          <a:ln xmlns:a="http://schemas.openxmlformats.org/drawingml/2006/main" w="0">
            <a:solidFill>
              <a:srgbClr val="003F6B"/>
            </a:solidFill>
            <a:prstDash val="solid"/>
          </a:ln>
        </p:spPr>
      </p:sp>
      <p:sp>
        <p:nvSpPr>
          <p:cNvPr id="12" name="">
            <a:extLst xmlns:a="http://schemas.openxmlformats.org/drawingml/2006/main">
              <a:ext uri="{FF2B5EF4-FFF2-40B4-BE49-F238E27FC236}">
                <a16:creationId xmlns:a16="http://schemas.microsoft.com/office/drawing/2014/main" id="{ED762B01-F1BA-4860-90A8-704A58374112}"/>
              </a:ext>
            </a:extLst>
          </p:cNvPr>
          <p:cNvSpPr>
            <a:spLocks xmlns:a="http://schemas.openxmlformats.org/drawingml/2006/main" noGrp="1"/>
          </p:cNvSpPr>
          <p:nvPr/>
        </p:nvSpPr>
        <p:spPr>
          <a:xfrm xmlns:a="http://schemas.openxmlformats.org/drawingml/2006/main">
            <a:off x="1924050" y="34861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Leitsatzkern</a:t>
            </a:r>
          </a:p>
        </p:txBody>
      </p:sp>
      <p:sp>
        <p:nvSpPr>
          <p:cNvPr id="13" name="">
            <a:extLst xmlns:a="http://schemas.openxmlformats.org/drawingml/2006/main">
              <a:ext uri="{FF2B5EF4-FFF2-40B4-BE49-F238E27FC236}">
                <a16:creationId xmlns:a16="http://schemas.microsoft.com/office/drawing/2014/main" id="{20C2E344-6B28-43BD-815B-DBB018C9E574}"/>
              </a:ext>
            </a:extLst>
          </p:cNvPr>
          <p:cNvSpPr>
            <a:spLocks xmlns:a="http://schemas.openxmlformats.org/drawingml/2006/main" noGrp="1"/>
          </p:cNvSpPr>
          <p:nvPr/>
        </p:nvSpPr>
        <p:spPr>
          <a:xfrm xmlns:a="http://schemas.openxmlformats.org/drawingml/2006/main">
            <a:off x="3695700" y="34861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Leitsatzkern (paraphrasiert): Die allgemeine Formulierung ‚keine lebenserhaltenden Maßnahmen‘ genügt für sich allein regelmäßig nicht; Behandlungssituation und Maßnahmen müssen ausreichend konkret bestimmbar sein.</a:t>
            </a:r>
          </a:p>
        </p:txBody>
      </p:sp>
      <p:sp>
        <p:nvSpPr>
          <p:cNvPr id="14" name="">
            <a:extLst xmlns:a="http://schemas.openxmlformats.org/drawingml/2006/main">
              <a:ext uri="{FF2B5EF4-FFF2-40B4-BE49-F238E27FC236}">
                <a16:creationId xmlns:a16="http://schemas.microsoft.com/office/drawing/2014/main" id="{52031D82-EE51-4A6D-957F-0475C93BF48C}"/>
              </a:ext>
            </a:extLst>
          </p:cNvPr>
          <p:cNvSpPr>
            <a:spLocks xmlns:a="http://schemas.openxmlformats.org/drawingml/2006/main" noGrp="1"/>
          </p:cNvSpPr>
          <p:nvPr/>
        </p:nvSpPr>
        <p:spPr>
          <a:xfrm xmlns:a="http://schemas.openxmlformats.org/drawingml/2006/main">
            <a:off x="1809750" y="4438650"/>
            <a:ext cx="1676400" cy="781050"/>
          </a:xfrm>
          <a:prstGeom xmlns:a="http://schemas.openxmlformats.org/drawingml/2006/main" prst="roundRect">
            <a:avLst>
              <a:gd name="adj" fmla="val 9756"/>
            </a:avLst>
          </a:prstGeom>
          <a:solidFill xmlns:a="http://schemas.openxmlformats.org/drawingml/2006/main">
            <a:srgbClr val="00B2BB"/>
          </a:solidFill>
          <a:ln xmlns:a="http://schemas.openxmlformats.org/drawingml/2006/main" w="0">
            <a:solidFill>
              <a:srgbClr val="00B2BB"/>
            </a:solidFill>
            <a:prstDash val="solid"/>
          </a:ln>
        </p:spPr>
      </p:sp>
      <p:sp>
        <p:nvSpPr>
          <p:cNvPr id="15" name="">
            <a:extLst xmlns:a="http://schemas.openxmlformats.org/drawingml/2006/main">
              <a:ext uri="{FF2B5EF4-FFF2-40B4-BE49-F238E27FC236}">
                <a16:creationId xmlns:a16="http://schemas.microsoft.com/office/drawing/2014/main" id="{F913E98E-619D-42A9-A44B-56C7FF3D4014}"/>
              </a:ext>
            </a:extLst>
          </p:cNvPr>
          <p:cNvSpPr>
            <a:spLocks xmlns:a="http://schemas.openxmlformats.org/drawingml/2006/main" noGrp="1"/>
          </p:cNvSpPr>
          <p:nvPr/>
        </p:nvSpPr>
        <p:spPr>
          <a:xfrm xmlns:a="http://schemas.openxmlformats.org/drawingml/2006/main">
            <a:off x="1924050" y="44386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Für die Praxis</a:t>
            </a:r>
          </a:p>
        </p:txBody>
      </p:sp>
      <p:sp>
        <p:nvSpPr>
          <p:cNvPr id="16" name="">
            <a:extLst xmlns:a="http://schemas.openxmlformats.org/drawingml/2006/main">
              <a:ext uri="{FF2B5EF4-FFF2-40B4-BE49-F238E27FC236}">
                <a16:creationId xmlns:a16="http://schemas.microsoft.com/office/drawing/2014/main" id="{FF027A53-9ED0-48E6-B52B-6B2DF04FB3BE}"/>
              </a:ext>
            </a:extLst>
          </p:cNvPr>
          <p:cNvSpPr>
            <a:spLocks xmlns:a="http://schemas.openxmlformats.org/drawingml/2006/main" noGrp="1"/>
          </p:cNvSpPr>
          <p:nvPr/>
        </p:nvSpPr>
        <p:spPr>
          <a:xfrm xmlns:a="http://schemas.openxmlformats.org/drawingml/2006/main">
            <a:off x="3695700" y="44386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Verfügung, konkrete Situation und ärztliche Maßnahme Satz für Satz abgleichen; sonst Behandlungswünsche und mutmaßlichen Willen ermitteln.</a:t>
            </a:r>
          </a:p>
        </p:txBody>
      </p:sp>
      <p:sp>
        <p:nvSpPr>
          <p:cNvPr id="17" name="">
            <a:extLst xmlns:a="http://schemas.openxmlformats.org/drawingml/2006/main">
              <a:ext uri="{FF2B5EF4-FFF2-40B4-BE49-F238E27FC236}">
                <a16:creationId xmlns:a16="http://schemas.microsoft.com/office/drawing/2014/main" id="{4CA94753-B407-49D7-8194-CE84C7D455BC}"/>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638">
                <a:solidFill>
                  <a:srgbClr val="667680"/>
                </a:solidFill>
              </a:defRPr>
            </a:pPr>
            <a:r>
              <a:rPr sz="638">
                <a:solidFill>
                  <a:srgbClr val="667680"/>
                </a:solidFill>
              </a:rPr>
              <a:t>BGH, Beschl. v. 06.07.2016 – XII ZB 61/16 · https://juris.bundesgerichtshof.de/cgi-bin/rechtsprechung/document.py?Art=en&amp;Blank=1.pdf&amp;Gericht=bgh&amp;anz=1&amp;nr=75565&amp;pos=0&amp;sid=e2fe02575470b89b0420d32a1a1ee7a2</a:t>
            </a:r>
          </a:p>
        </p:txBody>
      </p:sp>
    </p:spTree>
    <p:extLst>
      <p:ext uri="{BB962C8B-B14F-4D97-AF65-F5344CB8AC3E}">
        <p14:creationId xmlns:p14="http://schemas.microsoft.com/office/powerpoint/2010/main" val="43637646"/>
      </p:ext>
    </p:extLst>
  </p:cSld>
</p:sld>
</file>

<file path=ppt/slides/slide317.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Autonomieprüfung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PRÜFUNGSSCHEMA · ENTSCHEIDUNGSWEG</a:t>
            </a:r>
            <a:endParaRPr/>
          </a:p>
        </p:txBody>
      </p:sp>
      <p:sp>
        <p:nvSpPr>
          <p:cNvPr id="4" name="">
            <a:extLst xmlns:a="http://schemas.openxmlformats.org/drawingml/2006/main">
              <a:ext uri="{FF2B5EF4-FFF2-40B4-BE49-F238E27FC236}">
                <a16:creationId xmlns:a16="http://schemas.microsoft.com/office/drawing/2014/main" id="{4CC7530A-A100-483C-A8DA-B2F9E13CB587}"/>
              </a:ext>
            </a:extLst>
          </p:cNvPr>
          <p:cNvSpPr>
            <a:spLocks xmlns:a="http://schemas.openxmlformats.org/drawingml/2006/main" noGrp="1"/>
          </p:cNvSpPr>
          <p:nvPr/>
        </p:nvSpPr>
        <p:spPr>
          <a:xfrm xmlns:a="http://schemas.openxmlformats.org/drawingml/2006/main">
            <a:off x="1809750" y="195262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75C8F48B-7D19-46F9-B4AB-F005672087A7}"/>
              </a:ext>
            </a:extLst>
          </p:cNvPr>
          <p:cNvSpPr>
            <a:spLocks xmlns:a="http://schemas.openxmlformats.org/drawingml/2006/main" noGrp="1"/>
          </p:cNvSpPr>
          <p:nvPr/>
        </p:nvSpPr>
        <p:spPr>
          <a:xfrm xmlns:a="http://schemas.openxmlformats.org/drawingml/2006/main">
            <a:off x="1809750" y="19526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6" name="">
            <a:extLst xmlns:a="http://schemas.openxmlformats.org/drawingml/2006/main">
              <a:ext uri="{FF2B5EF4-FFF2-40B4-BE49-F238E27FC236}">
                <a16:creationId xmlns:a16="http://schemas.microsoft.com/office/drawing/2014/main" id="{ED758A69-9EFC-4CA2-8A13-3F0C742AE76F}"/>
              </a:ext>
            </a:extLst>
          </p:cNvPr>
          <p:cNvSpPr>
            <a:spLocks xmlns:a="http://schemas.openxmlformats.org/drawingml/2006/main" noGrp="1"/>
          </p:cNvSpPr>
          <p:nvPr/>
        </p:nvSpPr>
        <p:spPr>
          <a:xfrm xmlns:a="http://schemas.openxmlformats.org/drawingml/2006/main">
            <a:off x="2324100" y="196215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1. Indikation</a:t>
            </a:r>
          </a:p>
        </p:txBody>
      </p:sp>
      <p:sp>
        <p:nvSpPr>
          <p:cNvPr id="7" name="">
            <a:extLst xmlns:a="http://schemas.openxmlformats.org/drawingml/2006/main">
              <a:ext uri="{FF2B5EF4-FFF2-40B4-BE49-F238E27FC236}">
                <a16:creationId xmlns:a16="http://schemas.microsoft.com/office/drawing/2014/main" id="{0B111E20-6E42-4F2E-84CC-2E4C8D88CAED}"/>
              </a:ext>
            </a:extLst>
          </p:cNvPr>
          <p:cNvSpPr>
            <a:spLocks xmlns:a="http://schemas.openxmlformats.org/drawingml/2006/main" noGrp="1"/>
          </p:cNvSpPr>
          <p:nvPr/>
        </p:nvSpPr>
        <p:spPr>
          <a:xfrm xmlns:a="http://schemas.openxmlformats.org/drawingml/2006/main">
            <a:off x="4819650" y="196215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Welche medizinisch vertretbaren Optionen bestehen überhaupt?</a:t>
            </a:r>
          </a:p>
        </p:txBody>
      </p:sp>
      <p:sp>
        <p:nvSpPr>
          <p:cNvPr id="8" name="">
            <a:extLst xmlns:a="http://schemas.openxmlformats.org/drawingml/2006/main">
              <a:ext uri="{FF2B5EF4-FFF2-40B4-BE49-F238E27FC236}">
                <a16:creationId xmlns:a16="http://schemas.microsoft.com/office/drawing/2014/main" id="{6B17DC44-4E04-4FB7-A0FC-737AF93FB9CA}"/>
              </a:ext>
            </a:extLst>
          </p:cNvPr>
          <p:cNvSpPr>
            <a:spLocks xmlns:a="http://schemas.openxmlformats.org/drawingml/2006/main" noGrp="1"/>
          </p:cNvSpPr>
          <p:nvPr/>
        </p:nvSpPr>
        <p:spPr>
          <a:xfrm xmlns:a="http://schemas.openxmlformats.org/drawingml/2006/main">
            <a:off x="1809750" y="255270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9" name="">
            <a:extLst xmlns:a="http://schemas.openxmlformats.org/drawingml/2006/main">
              <a:ext uri="{FF2B5EF4-FFF2-40B4-BE49-F238E27FC236}">
                <a16:creationId xmlns:a16="http://schemas.microsoft.com/office/drawing/2014/main" id="{DD322EB0-461C-4CD9-B0E3-0CDFD05EAAB8}"/>
              </a:ext>
            </a:extLst>
          </p:cNvPr>
          <p:cNvSpPr>
            <a:spLocks xmlns:a="http://schemas.openxmlformats.org/drawingml/2006/main" noGrp="1"/>
          </p:cNvSpPr>
          <p:nvPr/>
        </p:nvSpPr>
        <p:spPr>
          <a:xfrm xmlns:a="http://schemas.openxmlformats.org/drawingml/2006/main">
            <a:off x="1809750" y="255270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0" name="">
            <a:extLst xmlns:a="http://schemas.openxmlformats.org/drawingml/2006/main">
              <a:ext uri="{FF2B5EF4-FFF2-40B4-BE49-F238E27FC236}">
                <a16:creationId xmlns:a16="http://schemas.microsoft.com/office/drawing/2014/main" id="{43A7B60E-FED7-4C5D-9ED1-6985CA572E23}"/>
              </a:ext>
            </a:extLst>
          </p:cNvPr>
          <p:cNvSpPr>
            <a:spLocks xmlns:a="http://schemas.openxmlformats.org/drawingml/2006/main" noGrp="1"/>
          </p:cNvSpPr>
          <p:nvPr/>
        </p:nvSpPr>
        <p:spPr>
          <a:xfrm xmlns:a="http://schemas.openxmlformats.org/drawingml/2006/main">
            <a:off x="2324100" y="256222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2. Einwilligungsfähigkeit</a:t>
            </a:r>
          </a:p>
        </p:txBody>
      </p:sp>
      <p:sp>
        <p:nvSpPr>
          <p:cNvPr id="11" name="">
            <a:extLst xmlns:a="http://schemas.openxmlformats.org/drawingml/2006/main">
              <a:ext uri="{FF2B5EF4-FFF2-40B4-BE49-F238E27FC236}">
                <a16:creationId xmlns:a16="http://schemas.microsoft.com/office/drawing/2014/main" id="{649AF6B1-7347-42E3-A8EB-2AC5750AE4B3}"/>
              </a:ext>
            </a:extLst>
          </p:cNvPr>
          <p:cNvSpPr>
            <a:spLocks xmlns:a="http://schemas.openxmlformats.org/drawingml/2006/main" noGrp="1"/>
          </p:cNvSpPr>
          <p:nvPr/>
        </p:nvSpPr>
        <p:spPr>
          <a:xfrm xmlns:a="http://schemas.openxmlformats.org/drawingml/2006/main">
            <a:off x="4819650" y="256222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Kann die konkrete Person jetzt verstehen, abwägen und entscheiden?</a:t>
            </a:r>
          </a:p>
        </p:txBody>
      </p:sp>
      <p:sp>
        <p:nvSpPr>
          <p:cNvPr id="12" name="">
            <a:extLst xmlns:a="http://schemas.openxmlformats.org/drawingml/2006/main">
              <a:ext uri="{FF2B5EF4-FFF2-40B4-BE49-F238E27FC236}">
                <a16:creationId xmlns:a16="http://schemas.microsoft.com/office/drawing/2014/main" id="{C661DDAF-00C4-4611-98F8-4685FA0E3C5A}"/>
              </a:ext>
            </a:extLst>
          </p:cNvPr>
          <p:cNvSpPr>
            <a:spLocks xmlns:a="http://schemas.openxmlformats.org/drawingml/2006/main" noGrp="1"/>
          </p:cNvSpPr>
          <p:nvPr/>
        </p:nvSpPr>
        <p:spPr>
          <a:xfrm xmlns:a="http://schemas.openxmlformats.org/drawingml/2006/main">
            <a:off x="1809750" y="315277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3" name="">
            <a:extLst xmlns:a="http://schemas.openxmlformats.org/drawingml/2006/main">
              <a:ext uri="{FF2B5EF4-FFF2-40B4-BE49-F238E27FC236}">
                <a16:creationId xmlns:a16="http://schemas.microsoft.com/office/drawing/2014/main" id="{4193BAA8-942E-450F-B9CB-1734A7243D11}"/>
              </a:ext>
            </a:extLst>
          </p:cNvPr>
          <p:cNvSpPr>
            <a:spLocks xmlns:a="http://schemas.openxmlformats.org/drawingml/2006/main" noGrp="1"/>
          </p:cNvSpPr>
          <p:nvPr/>
        </p:nvSpPr>
        <p:spPr>
          <a:xfrm xmlns:a="http://schemas.openxmlformats.org/drawingml/2006/main">
            <a:off x="1809750" y="315277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4" name="">
            <a:extLst xmlns:a="http://schemas.openxmlformats.org/drawingml/2006/main">
              <a:ext uri="{FF2B5EF4-FFF2-40B4-BE49-F238E27FC236}">
                <a16:creationId xmlns:a16="http://schemas.microsoft.com/office/drawing/2014/main" id="{C4D6A7FB-4AE4-4AD3-9E4F-843D2BA29964}"/>
              </a:ext>
            </a:extLst>
          </p:cNvPr>
          <p:cNvSpPr>
            <a:spLocks xmlns:a="http://schemas.openxmlformats.org/drawingml/2006/main" noGrp="1"/>
          </p:cNvSpPr>
          <p:nvPr/>
        </p:nvSpPr>
        <p:spPr>
          <a:xfrm xmlns:a="http://schemas.openxmlformats.org/drawingml/2006/main">
            <a:off x="2324100" y="316230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3. Aufklärung</a:t>
            </a:r>
          </a:p>
        </p:txBody>
      </p:sp>
      <p:sp>
        <p:nvSpPr>
          <p:cNvPr id="15" name="">
            <a:extLst xmlns:a="http://schemas.openxmlformats.org/drawingml/2006/main">
              <a:ext uri="{FF2B5EF4-FFF2-40B4-BE49-F238E27FC236}">
                <a16:creationId xmlns:a16="http://schemas.microsoft.com/office/drawing/2014/main" id="{AC0D9B48-1FF3-4D75-BC1E-BF16DE49407C}"/>
              </a:ext>
            </a:extLst>
          </p:cNvPr>
          <p:cNvSpPr>
            <a:spLocks xmlns:a="http://schemas.openxmlformats.org/drawingml/2006/main" noGrp="1"/>
          </p:cNvSpPr>
          <p:nvPr/>
        </p:nvSpPr>
        <p:spPr>
          <a:xfrm xmlns:a="http://schemas.openxmlformats.org/drawingml/2006/main">
            <a:off x="4819650" y="316230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Sind Nutzen, Belastungen, Risiken und Alternativen verständlich erläutert?</a:t>
            </a:r>
          </a:p>
        </p:txBody>
      </p:sp>
      <p:sp>
        <p:nvSpPr>
          <p:cNvPr id="16" name="">
            <a:extLst xmlns:a="http://schemas.openxmlformats.org/drawingml/2006/main">
              <a:ext uri="{FF2B5EF4-FFF2-40B4-BE49-F238E27FC236}">
                <a16:creationId xmlns:a16="http://schemas.microsoft.com/office/drawing/2014/main" id="{61A2D5D9-1265-46D2-9D40-D26C3097D55C}"/>
              </a:ext>
            </a:extLst>
          </p:cNvPr>
          <p:cNvSpPr>
            <a:spLocks xmlns:a="http://schemas.openxmlformats.org/drawingml/2006/main" noGrp="1"/>
          </p:cNvSpPr>
          <p:nvPr/>
        </p:nvSpPr>
        <p:spPr>
          <a:xfrm xmlns:a="http://schemas.openxmlformats.org/drawingml/2006/main">
            <a:off x="1809750" y="375285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7" name="">
            <a:extLst xmlns:a="http://schemas.openxmlformats.org/drawingml/2006/main">
              <a:ext uri="{FF2B5EF4-FFF2-40B4-BE49-F238E27FC236}">
                <a16:creationId xmlns:a16="http://schemas.microsoft.com/office/drawing/2014/main" id="{03F3AD90-2FED-481A-BAAA-3B427A44A4E2}"/>
              </a:ext>
            </a:extLst>
          </p:cNvPr>
          <p:cNvSpPr>
            <a:spLocks xmlns:a="http://schemas.openxmlformats.org/drawingml/2006/main" noGrp="1"/>
          </p:cNvSpPr>
          <p:nvPr/>
        </p:nvSpPr>
        <p:spPr>
          <a:xfrm xmlns:a="http://schemas.openxmlformats.org/drawingml/2006/main">
            <a:off x="1809750" y="375285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18" name="">
            <a:extLst xmlns:a="http://schemas.openxmlformats.org/drawingml/2006/main">
              <a:ext uri="{FF2B5EF4-FFF2-40B4-BE49-F238E27FC236}">
                <a16:creationId xmlns:a16="http://schemas.microsoft.com/office/drawing/2014/main" id="{2CFD77A1-A31D-4B64-8A40-EABC004D3355}"/>
              </a:ext>
            </a:extLst>
          </p:cNvPr>
          <p:cNvSpPr>
            <a:spLocks xmlns:a="http://schemas.openxmlformats.org/drawingml/2006/main" noGrp="1"/>
          </p:cNvSpPr>
          <p:nvPr/>
        </p:nvSpPr>
        <p:spPr>
          <a:xfrm xmlns:a="http://schemas.openxmlformats.org/drawingml/2006/main">
            <a:off x="2324100" y="376237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4. Wille</a:t>
            </a:r>
          </a:p>
        </p:txBody>
      </p:sp>
      <p:sp>
        <p:nvSpPr>
          <p:cNvPr id="19" name="">
            <a:extLst xmlns:a="http://schemas.openxmlformats.org/drawingml/2006/main">
              <a:ext uri="{FF2B5EF4-FFF2-40B4-BE49-F238E27FC236}">
                <a16:creationId xmlns:a16="http://schemas.microsoft.com/office/drawing/2014/main" id="{D1EE11A4-C60C-4A6A-9E92-DE42F5763BAE}"/>
              </a:ext>
            </a:extLst>
          </p:cNvPr>
          <p:cNvSpPr>
            <a:spLocks xmlns:a="http://schemas.openxmlformats.org/drawingml/2006/main" noGrp="1"/>
          </p:cNvSpPr>
          <p:nvPr/>
        </p:nvSpPr>
        <p:spPr>
          <a:xfrm xmlns:a="http://schemas.openxmlformats.org/drawingml/2006/main">
            <a:off x="4819650" y="376237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Was entscheidet die Person; gibt es frühere Festlegungen oder Vertretungsmacht?</a:t>
            </a:r>
          </a:p>
        </p:txBody>
      </p:sp>
      <p:sp>
        <p:nvSpPr>
          <p:cNvPr id="20" name="">
            <a:extLst xmlns:a="http://schemas.openxmlformats.org/drawingml/2006/main">
              <a:ext uri="{FF2B5EF4-FFF2-40B4-BE49-F238E27FC236}">
                <a16:creationId xmlns:a16="http://schemas.microsoft.com/office/drawing/2014/main" id="{8BEE2B81-84AC-4B55-B06F-719ECA036005}"/>
              </a:ext>
            </a:extLst>
          </p:cNvPr>
          <p:cNvSpPr>
            <a:spLocks xmlns:a="http://schemas.openxmlformats.org/drawingml/2006/main" noGrp="1"/>
          </p:cNvSpPr>
          <p:nvPr/>
        </p:nvSpPr>
        <p:spPr>
          <a:xfrm xmlns:a="http://schemas.openxmlformats.org/drawingml/2006/main">
            <a:off x="1809750" y="435292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1" name="">
            <a:extLst xmlns:a="http://schemas.openxmlformats.org/drawingml/2006/main">
              <a:ext uri="{FF2B5EF4-FFF2-40B4-BE49-F238E27FC236}">
                <a16:creationId xmlns:a16="http://schemas.microsoft.com/office/drawing/2014/main" id="{B07E6B99-0D51-464F-B6B0-A7BF6BA8D447}"/>
              </a:ext>
            </a:extLst>
          </p:cNvPr>
          <p:cNvSpPr>
            <a:spLocks xmlns:a="http://schemas.openxmlformats.org/drawingml/2006/main" noGrp="1"/>
          </p:cNvSpPr>
          <p:nvPr/>
        </p:nvSpPr>
        <p:spPr>
          <a:xfrm xmlns:a="http://schemas.openxmlformats.org/drawingml/2006/main">
            <a:off x="1809750" y="43529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5</a:t>
            </a:r>
          </a:p>
        </p:txBody>
      </p:sp>
      <p:sp>
        <p:nvSpPr>
          <p:cNvPr id="22" name="">
            <a:extLst xmlns:a="http://schemas.openxmlformats.org/drawingml/2006/main">
              <a:ext uri="{FF2B5EF4-FFF2-40B4-BE49-F238E27FC236}">
                <a16:creationId xmlns:a16="http://schemas.microsoft.com/office/drawing/2014/main" id="{055A8858-C31F-462C-97E9-CDA7B6540C92}"/>
              </a:ext>
            </a:extLst>
          </p:cNvPr>
          <p:cNvSpPr>
            <a:spLocks xmlns:a="http://schemas.openxmlformats.org/drawingml/2006/main" noGrp="1"/>
          </p:cNvSpPr>
          <p:nvPr/>
        </p:nvSpPr>
        <p:spPr>
          <a:xfrm xmlns:a="http://schemas.openxmlformats.org/drawingml/2006/main">
            <a:off x="2324100" y="436245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5. Dringlichkeit</a:t>
            </a:r>
          </a:p>
        </p:txBody>
      </p:sp>
      <p:sp>
        <p:nvSpPr>
          <p:cNvPr id="23" name="">
            <a:extLst xmlns:a="http://schemas.openxmlformats.org/drawingml/2006/main">
              <a:ext uri="{FF2B5EF4-FFF2-40B4-BE49-F238E27FC236}">
                <a16:creationId xmlns:a16="http://schemas.microsoft.com/office/drawing/2014/main" id="{A96CCD47-E209-4DE8-9C5D-9018DB88D24A}"/>
              </a:ext>
            </a:extLst>
          </p:cNvPr>
          <p:cNvSpPr>
            <a:spLocks xmlns:a="http://schemas.openxmlformats.org/drawingml/2006/main" noGrp="1"/>
          </p:cNvSpPr>
          <p:nvPr/>
        </p:nvSpPr>
        <p:spPr>
          <a:xfrm xmlns:a="http://schemas.openxmlformats.org/drawingml/2006/main">
            <a:off x="4819650" y="436245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Reicht die Zeit für Unterstützung, Vertretung oder gerichtliche Klärung?</a:t>
            </a:r>
          </a:p>
        </p:txBody>
      </p:sp>
      <p:sp>
        <p:nvSpPr>
          <p:cNvPr id="24" name="">
            <a:extLst xmlns:a="http://schemas.openxmlformats.org/drawingml/2006/main">
              <a:ext uri="{FF2B5EF4-FFF2-40B4-BE49-F238E27FC236}">
                <a16:creationId xmlns:a16="http://schemas.microsoft.com/office/drawing/2014/main" id="{D3C46F78-37B0-42FF-A7D1-A67603790AA2}"/>
              </a:ext>
            </a:extLst>
          </p:cNvPr>
          <p:cNvSpPr>
            <a:spLocks xmlns:a="http://schemas.openxmlformats.org/drawingml/2006/main" noGrp="1"/>
          </p:cNvSpPr>
          <p:nvPr/>
        </p:nvSpPr>
        <p:spPr>
          <a:xfrm xmlns:a="http://schemas.openxmlformats.org/drawingml/2006/main">
            <a:off x="1809750" y="495300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25" name="">
            <a:extLst xmlns:a="http://schemas.openxmlformats.org/drawingml/2006/main">
              <a:ext uri="{FF2B5EF4-FFF2-40B4-BE49-F238E27FC236}">
                <a16:creationId xmlns:a16="http://schemas.microsoft.com/office/drawing/2014/main" id="{F633EF82-92D9-4B51-8990-918FAB9FE088}"/>
              </a:ext>
            </a:extLst>
          </p:cNvPr>
          <p:cNvSpPr>
            <a:spLocks xmlns:a="http://schemas.openxmlformats.org/drawingml/2006/main" noGrp="1"/>
          </p:cNvSpPr>
          <p:nvPr/>
        </p:nvSpPr>
        <p:spPr>
          <a:xfrm xmlns:a="http://schemas.openxmlformats.org/drawingml/2006/main">
            <a:off x="1809750" y="495300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6</a:t>
            </a:r>
          </a:p>
        </p:txBody>
      </p:sp>
      <p:sp>
        <p:nvSpPr>
          <p:cNvPr id="26" name="">
            <a:extLst xmlns:a="http://schemas.openxmlformats.org/drawingml/2006/main">
              <a:ext uri="{FF2B5EF4-FFF2-40B4-BE49-F238E27FC236}">
                <a16:creationId xmlns:a16="http://schemas.microsoft.com/office/drawing/2014/main" id="{9D60230F-0247-4D4F-877C-B314BE47D814}"/>
              </a:ext>
            </a:extLst>
          </p:cNvPr>
          <p:cNvSpPr>
            <a:spLocks xmlns:a="http://schemas.openxmlformats.org/drawingml/2006/main" noGrp="1"/>
          </p:cNvSpPr>
          <p:nvPr/>
        </p:nvSpPr>
        <p:spPr>
          <a:xfrm xmlns:a="http://schemas.openxmlformats.org/drawingml/2006/main">
            <a:off x="2324100" y="496252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6. Umsetzung</a:t>
            </a:r>
          </a:p>
        </p:txBody>
      </p:sp>
      <p:sp>
        <p:nvSpPr>
          <p:cNvPr id="27" name="">
            <a:extLst xmlns:a="http://schemas.openxmlformats.org/drawingml/2006/main">
              <a:ext uri="{FF2B5EF4-FFF2-40B4-BE49-F238E27FC236}">
                <a16:creationId xmlns:a16="http://schemas.microsoft.com/office/drawing/2014/main" id="{CBDE94A6-91B7-478C-891B-35409B80E44B}"/>
              </a:ext>
            </a:extLst>
          </p:cNvPr>
          <p:cNvSpPr>
            <a:spLocks xmlns:a="http://schemas.openxmlformats.org/drawingml/2006/main" noGrp="1"/>
          </p:cNvSpPr>
          <p:nvPr/>
        </p:nvSpPr>
        <p:spPr>
          <a:xfrm xmlns:a="http://schemas.openxmlformats.org/drawingml/2006/main">
            <a:off x="4819650" y="496252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Behandlungsziel, Grenzen, Reevaluation und Dokumentation festlegen.</a:t>
            </a:r>
          </a:p>
        </p:txBody>
      </p:sp>
      <p:sp>
        <p:nvSpPr>
          <p:cNvPr id="28" name="">
            <a:extLst xmlns:a="http://schemas.openxmlformats.org/drawingml/2006/main">
              <a:ext uri="{FF2B5EF4-FFF2-40B4-BE49-F238E27FC236}">
                <a16:creationId xmlns:a16="http://schemas.microsoft.com/office/drawing/2014/main" id="{6C25E6EB-49D6-4CE9-9ADF-7099A33B3C6D}"/>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9" name="">
            <a:extLst xmlns:a="http://schemas.openxmlformats.org/drawingml/2006/main">
              <a:ext uri="{FF2B5EF4-FFF2-40B4-BE49-F238E27FC236}">
                <a16:creationId xmlns:a16="http://schemas.microsoft.com/office/drawing/2014/main" id="{B2A985CE-D927-4079-8C23-E4AD230FDEAC}"/>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Der Prozess beginnt mit Optionen und Fähigkeit, nicht mit dem Unterschriftenfeld.</a:t>
            </a:r>
          </a:p>
        </p:txBody>
      </p:sp>
    </p:spTree>
    <p:extLst>
      <p:ext uri="{BB962C8B-B14F-4D97-AF65-F5344CB8AC3E}">
        <p14:creationId xmlns:p14="http://schemas.microsoft.com/office/powerpoint/2010/main" val="43637646"/>
      </p:ext>
    </p:extLst>
  </p:cSld>
</p:sld>
</file>

<file path=ppt/slides/slide318.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Wirksame Einwilligung: mehr als eine Unterschrift</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BEHANDLUNGSENTSCHEIDUNG</a:t>
            </a:r>
            <a:endParaRPr/>
          </a:p>
        </p:txBody>
      </p:sp>
      <p:sp>
        <p:nvSpPr>
          <p:cNvPr id="4" name="">
            <a:extLst xmlns:a="http://schemas.openxmlformats.org/drawingml/2006/main">
              <a:ext uri="{FF2B5EF4-FFF2-40B4-BE49-F238E27FC236}">
                <a16:creationId xmlns:a16="http://schemas.microsoft.com/office/drawing/2014/main" id="{9710C57D-864C-4D9F-B497-D80999E4D2E7}"/>
              </a:ext>
            </a:extLst>
          </p:cNvPr>
          <p:cNvSpPr>
            <a:spLocks xmlns:a="http://schemas.openxmlformats.org/drawingml/2006/main" noGrp="1"/>
          </p:cNvSpPr>
          <p:nvPr/>
        </p:nvSpPr>
        <p:spPr>
          <a:xfrm xmlns:a="http://schemas.openxmlformats.org/drawingml/2006/main">
            <a:off x="1809750" y="1952625"/>
            <a:ext cx="46863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7F7BA0C9-24C9-43A0-8AAA-63F8315AA544}"/>
              </a:ext>
            </a:extLst>
          </p:cNvPr>
          <p:cNvSpPr>
            <a:spLocks xmlns:a="http://schemas.openxmlformats.org/drawingml/2006/main" noGrp="1"/>
          </p:cNvSpPr>
          <p:nvPr/>
        </p:nvSpPr>
        <p:spPr>
          <a:xfrm xmlns:a="http://schemas.openxmlformats.org/drawingml/2006/main">
            <a:off x="1809750" y="1952625"/>
            <a:ext cx="46863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C67AA666-8D8C-48D5-921E-20016F0882D0}"/>
              </a:ext>
            </a:extLst>
          </p:cNvPr>
          <p:cNvSpPr>
            <a:spLocks xmlns:a="http://schemas.openxmlformats.org/drawingml/2006/main" noGrp="1"/>
          </p:cNvSpPr>
          <p:nvPr/>
        </p:nvSpPr>
        <p:spPr>
          <a:xfrm xmlns:a="http://schemas.openxmlformats.org/drawingml/2006/main">
            <a:off x="1962150" y="2085975"/>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Fähigkeit</a:t>
            </a:r>
          </a:p>
        </p:txBody>
      </p:sp>
      <p:sp>
        <p:nvSpPr>
          <p:cNvPr id="7" name="">
            <a:extLst xmlns:a="http://schemas.openxmlformats.org/drawingml/2006/main">
              <a:ext uri="{FF2B5EF4-FFF2-40B4-BE49-F238E27FC236}">
                <a16:creationId xmlns:a16="http://schemas.microsoft.com/office/drawing/2014/main" id="{C5CDE9B3-DD68-422B-8495-76736E41CB96}"/>
              </a:ext>
            </a:extLst>
          </p:cNvPr>
          <p:cNvSpPr>
            <a:spLocks xmlns:a="http://schemas.openxmlformats.org/drawingml/2006/main" noGrp="1"/>
          </p:cNvSpPr>
          <p:nvPr/>
        </p:nvSpPr>
        <p:spPr>
          <a:xfrm xmlns:a="http://schemas.openxmlformats.org/drawingml/2006/main">
            <a:off x="1962150" y="2524125"/>
            <a:ext cx="43815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Kann die Person Bedeutung und Folgen verstehen und abwägen?</a:t>
            </a:r>
          </a:p>
        </p:txBody>
      </p:sp>
      <p:sp>
        <p:nvSpPr>
          <p:cNvPr id="8" name="">
            <a:extLst xmlns:a="http://schemas.openxmlformats.org/drawingml/2006/main">
              <a:ext uri="{FF2B5EF4-FFF2-40B4-BE49-F238E27FC236}">
                <a16:creationId xmlns:a16="http://schemas.microsoft.com/office/drawing/2014/main" id="{2DE87BFF-370A-4B9C-B8C1-BB8E794F5A94}"/>
              </a:ext>
            </a:extLst>
          </p:cNvPr>
          <p:cNvSpPr>
            <a:spLocks xmlns:a="http://schemas.openxmlformats.org/drawingml/2006/main" noGrp="1"/>
          </p:cNvSpPr>
          <p:nvPr/>
        </p:nvSpPr>
        <p:spPr>
          <a:xfrm xmlns:a="http://schemas.openxmlformats.org/drawingml/2006/main">
            <a:off x="6648450" y="1952625"/>
            <a:ext cx="46863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9" name="">
            <a:extLst xmlns:a="http://schemas.openxmlformats.org/drawingml/2006/main">
              <a:ext uri="{FF2B5EF4-FFF2-40B4-BE49-F238E27FC236}">
                <a16:creationId xmlns:a16="http://schemas.microsoft.com/office/drawing/2014/main" id="{32589E9E-95EF-43B0-B4F3-065BD7AF8A6E}"/>
              </a:ext>
            </a:extLst>
          </p:cNvPr>
          <p:cNvSpPr>
            <a:spLocks xmlns:a="http://schemas.openxmlformats.org/drawingml/2006/main" noGrp="1"/>
          </p:cNvSpPr>
          <p:nvPr/>
        </p:nvSpPr>
        <p:spPr>
          <a:xfrm xmlns:a="http://schemas.openxmlformats.org/drawingml/2006/main">
            <a:off x="6648450" y="1952625"/>
            <a:ext cx="468630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9C235A90-F1BF-4D4E-88C0-BB2749C68BCA}"/>
              </a:ext>
            </a:extLst>
          </p:cNvPr>
          <p:cNvSpPr>
            <a:spLocks xmlns:a="http://schemas.openxmlformats.org/drawingml/2006/main" noGrp="1"/>
          </p:cNvSpPr>
          <p:nvPr/>
        </p:nvSpPr>
        <p:spPr>
          <a:xfrm xmlns:a="http://schemas.openxmlformats.org/drawingml/2006/main">
            <a:off x="6800850" y="2085975"/>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Information</a:t>
            </a:r>
          </a:p>
        </p:txBody>
      </p:sp>
      <p:sp>
        <p:nvSpPr>
          <p:cNvPr id="11" name="">
            <a:extLst xmlns:a="http://schemas.openxmlformats.org/drawingml/2006/main">
              <a:ext uri="{FF2B5EF4-FFF2-40B4-BE49-F238E27FC236}">
                <a16:creationId xmlns:a16="http://schemas.microsoft.com/office/drawing/2014/main" id="{273E796C-E247-46CA-AD62-BCC77EF89132}"/>
              </a:ext>
            </a:extLst>
          </p:cNvPr>
          <p:cNvSpPr>
            <a:spLocks xmlns:a="http://schemas.openxmlformats.org/drawingml/2006/main" noGrp="1"/>
          </p:cNvSpPr>
          <p:nvPr/>
        </p:nvSpPr>
        <p:spPr>
          <a:xfrm xmlns:a="http://schemas.openxmlformats.org/drawingml/2006/main">
            <a:off x="6800850" y="2524125"/>
            <a:ext cx="43815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Art, Umfang, Durchführung, Risiken, Notwendigkeit, Dringlichkeit, Alternativen.</a:t>
            </a:r>
          </a:p>
        </p:txBody>
      </p:sp>
      <p:sp>
        <p:nvSpPr>
          <p:cNvPr id="12" name="">
            <a:extLst xmlns:a="http://schemas.openxmlformats.org/drawingml/2006/main">
              <a:ext uri="{FF2B5EF4-FFF2-40B4-BE49-F238E27FC236}">
                <a16:creationId xmlns:a16="http://schemas.microsoft.com/office/drawing/2014/main" id="{013505F3-3960-4E26-83D3-9830CD7FB784}"/>
              </a:ext>
            </a:extLst>
          </p:cNvPr>
          <p:cNvSpPr>
            <a:spLocks xmlns:a="http://schemas.openxmlformats.org/drawingml/2006/main" noGrp="1"/>
          </p:cNvSpPr>
          <p:nvPr/>
        </p:nvSpPr>
        <p:spPr>
          <a:xfrm xmlns:a="http://schemas.openxmlformats.org/drawingml/2006/main">
            <a:off x="1809750" y="3767138"/>
            <a:ext cx="46863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13" name="">
            <a:extLst xmlns:a="http://schemas.openxmlformats.org/drawingml/2006/main">
              <a:ext uri="{FF2B5EF4-FFF2-40B4-BE49-F238E27FC236}">
                <a16:creationId xmlns:a16="http://schemas.microsoft.com/office/drawing/2014/main" id="{E79EB9B0-E6F3-408A-86EA-CB559C4F28C1}"/>
              </a:ext>
            </a:extLst>
          </p:cNvPr>
          <p:cNvSpPr>
            <a:spLocks xmlns:a="http://schemas.openxmlformats.org/drawingml/2006/main" noGrp="1"/>
          </p:cNvSpPr>
          <p:nvPr/>
        </p:nvSpPr>
        <p:spPr>
          <a:xfrm xmlns:a="http://schemas.openxmlformats.org/drawingml/2006/main">
            <a:off x="1809750" y="3767138"/>
            <a:ext cx="46863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B28DB5ED-61B1-4671-A7C2-B45F068D2966}"/>
              </a:ext>
            </a:extLst>
          </p:cNvPr>
          <p:cNvSpPr>
            <a:spLocks xmlns:a="http://schemas.openxmlformats.org/drawingml/2006/main" noGrp="1"/>
          </p:cNvSpPr>
          <p:nvPr/>
        </p:nvSpPr>
        <p:spPr>
          <a:xfrm xmlns:a="http://schemas.openxmlformats.org/drawingml/2006/main">
            <a:off x="1962150" y="3900488"/>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Freiwilligkeit</a:t>
            </a:r>
          </a:p>
        </p:txBody>
      </p:sp>
      <p:sp>
        <p:nvSpPr>
          <p:cNvPr id="15" name="">
            <a:extLst xmlns:a="http://schemas.openxmlformats.org/drawingml/2006/main">
              <a:ext uri="{FF2B5EF4-FFF2-40B4-BE49-F238E27FC236}">
                <a16:creationId xmlns:a16="http://schemas.microsoft.com/office/drawing/2014/main" id="{6D093071-C98D-41A7-AFE7-08C3A1537930}"/>
              </a:ext>
            </a:extLst>
          </p:cNvPr>
          <p:cNvSpPr>
            <a:spLocks xmlns:a="http://schemas.openxmlformats.org/drawingml/2006/main" noGrp="1"/>
          </p:cNvSpPr>
          <p:nvPr/>
        </p:nvSpPr>
        <p:spPr>
          <a:xfrm xmlns:a="http://schemas.openxmlformats.org/drawingml/2006/main">
            <a:off x="1962150" y="4338638"/>
            <a:ext cx="43815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Keine unzulässige Drohung; Raum für Fragen und Entscheidung.</a:t>
            </a:r>
          </a:p>
        </p:txBody>
      </p:sp>
      <p:sp>
        <p:nvSpPr>
          <p:cNvPr id="16" name="">
            <a:extLst xmlns:a="http://schemas.openxmlformats.org/drawingml/2006/main">
              <a:ext uri="{FF2B5EF4-FFF2-40B4-BE49-F238E27FC236}">
                <a16:creationId xmlns:a16="http://schemas.microsoft.com/office/drawing/2014/main" id="{9FCF8B40-AC56-429F-86AA-A765937C1F10}"/>
              </a:ext>
            </a:extLst>
          </p:cNvPr>
          <p:cNvSpPr>
            <a:spLocks xmlns:a="http://schemas.openxmlformats.org/drawingml/2006/main" noGrp="1"/>
          </p:cNvSpPr>
          <p:nvPr/>
        </p:nvSpPr>
        <p:spPr>
          <a:xfrm xmlns:a="http://schemas.openxmlformats.org/drawingml/2006/main">
            <a:off x="6648450" y="3767138"/>
            <a:ext cx="46863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17" name="">
            <a:extLst xmlns:a="http://schemas.openxmlformats.org/drawingml/2006/main">
              <a:ext uri="{FF2B5EF4-FFF2-40B4-BE49-F238E27FC236}">
                <a16:creationId xmlns:a16="http://schemas.microsoft.com/office/drawing/2014/main" id="{DFA07B12-DA78-4B21-A1C5-F5CFB3F097C5}"/>
              </a:ext>
            </a:extLst>
          </p:cNvPr>
          <p:cNvSpPr>
            <a:spLocks xmlns:a="http://schemas.openxmlformats.org/drawingml/2006/main" noGrp="1"/>
          </p:cNvSpPr>
          <p:nvPr/>
        </p:nvSpPr>
        <p:spPr>
          <a:xfrm xmlns:a="http://schemas.openxmlformats.org/drawingml/2006/main">
            <a:off x="6648450" y="3767138"/>
            <a:ext cx="468630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0B7EA173-B3B9-42A6-895C-B834A85462B0}"/>
              </a:ext>
            </a:extLst>
          </p:cNvPr>
          <p:cNvSpPr>
            <a:spLocks xmlns:a="http://schemas.openxmlformats.org/drawingml/2006/main" noGrp="1"/>
          </p:cNvSpPr>
          <p:nvPr/>
        </p:nvSpPr>
        <p:spPr>
          <a:xfrm xmlns:a="http://schemas.openxmlformats.org/drawingml/2006/main">
            <a:off x="6800850" y="3900488"/>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Aktualität</a:t>
            </a:r>
          </a:p>
        </p:txBody>
      </p:sp>
      <p:sp>
        <p:nvSpPr>
          <p:cNvPr id="19" name="">
            <a:extLst xmlns:a="http://schemas.openxmlformats.org/drawingml/2006/main">
              <a:ext uri="{FF2B5EF4-FFF2-40B4-BE49-F238E27FC236}">
                <a16:creationId xmlns:a16="http://schemas.microsoft.com/office/drawing/2014/main" id="{9F1BA0C0-0187-44A3-9D1B-52E2E0CA5F56}"/>
              </a:ext>
            </a:extLst>
          </p:cNvPr>
          <p:cNvSpPr>
            <a:spLocks xmlns:a="http://schemas.openxmlformats.org/drawingml/2006/main" noGrp="1"/>
          </p:cNvSpPr>
          <p:nvPr/>
        </p:nvSpPr>
        <p:spPr>
          <a:xfrm xmlns:a="http://schemas.openxmlformats.org/drawingml/2006/main">
            <a:off x="6800850" y="4338638"/>
            <a:ext cx="43815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Einwilligung passt zur konkreten Maßnahme und kann widerrufen werden.</a:t>
            </a:r>
          </a:p>
        </p:txBody>
      </p:sp>
      <p:sp>
        <p:nvSpPr>
          <p:cNvPr id="20" name="">
            <a:extLst xmlns:a="http://schemas.openxmlformats.org/drawingml/2006/main">
              <a:ext uri="{FF2B5EF4-FFF2-40B4-BE49-F238E27FC236}">
                <a16:creationId xmlns:a16="http://schemas.microsoft.com/office/drawing/2014/main" id="{9C2CA56D-E18C-44D4-A6DD-96BFB50A8F9A}"/>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1" name="">
            <a:extLst xmlns:a="http://schemas.openxmlformats.org/drawingml/2006/main">
              <a:ext uri="{FF2B5EF4-FFF2-40B4-BE49-F238E27FC236}">
                <a16:creationId xmlns:a16="http://schemas.microsoft.com/office/drawing/2014/main" id="{5087C215-DB13-475D-9571-E7AA623571A7}"/>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Das Formular dokumentiert – das Gespräch ermöglicht Selbstbestimmung.</a:t>
            </a:r>
          </a:p>
        </p:txBody>
      </p:sp>
    </p:spTree>
    <p:extLst>
      <p:ext uri="{BB962C8B-B14F-4D97-AF65-F5344CB8AC3E}">
        <p14:creationId xmlns:p14="http://schemas.microsoft.com/office/powerpoint/2010/main" val="43637646"/>
      </p:ext>
    </p:extLst>
  </p:cSld>
</p:sld>
</file>

<file path=ppt/slides/slide319.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Notfallalgorithmus bei unklarem Willen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ZEITDRUCK</a:t>
            </a:r>
            <a:endParaRPr/>
          </a:p>
        </p:txBody>
      </p:sp>
      <p:sp>
        <p:nvSpPr>
          <p:cNvPr id="4" name="">
            <a:extLst xmlns:a="http://schemas.openxmlformats.org/drawingml/2006/main">
              <a:ext uri="{FF2B5EF4-FFF2-40B4-BE49-F238E27FC236}">
                <a16:creationId xmlns:a16="http://schemas.microsoft.com/office/drawing/2014/main" id="{6EF29E0C-19AC-472D-AFA4-91BC47AE61F9}"/>
              </a:ext>
            </a:extLst>
          </p:cNvPr>
          <p:cNvSpPr>
            <a:spLocks xmlns:a="http://schemas.openxmlformats.org/drawingml/2006/main" noGrp="1"/>
          </p:cNvSpPr>
          <p:nvPr/>
        </p:nvSpPr>
        <p:spPr>
          <a:xfrm xmlns:a="http://schemas.openxmlformats.org/drawingml/2006/main">
            <a:off x="1809750" y="2038350"/>
            <a:ext cx="323850" cy="323850"/>
          </a:xfrm>
          <a:prstGeom xmlns:a="http://schemas.openxmlformats.org/drawingml/2006/main" prst="ellipse">
            <a:avLst/>
          </a:prstGeom>
          <a:solidFill xmlns:a="http://schemas.openxmlformats.org/drawingml/2006/main">
            <a:srgbClr val="00B2BB"/>
          </a:solidFill>
          <a:ln xmlns:a="http://schemas.openxmlformats.org/drawingml/2006/main" w="0">
            <a:solidFill>
              <a:srgbClr val="FFFFFF"/>
            </a:solidFill>
            <a:prstDash val="solid"/>
          </a:ln>
        </p:spPr>
      </p:sp>
      <p:sp>
        <p:nvSpPr>
          <p:cNvPr id="5" name="">
            <a:extLst xmlns:a="http://schemas.openxmlformats.org/drawingml/2006/main">
              <a:ext uri="{FF2B5EF4-FFF2-40B4-BE49-F238E27FC236}">
                <a16:creationId xmlns:a16="http://schemas.microsoft.com/office/drawing/2014/main" id="{00B3FB34-C29A-4CE3-9D12-612D5ADD2EF1}"/>
              </a:ext>
            </a:extLst>
          </p:cNvPr>
          <p:cNvSpPr>
            <a:spLocks xmlns:a="http://schemas.openxmlformats.org/drawingml/2006/main" noGrp="1"/>
          </p:cNvSpPr>
          <p:nvPr/>
        </p:nvSpPr>
        <p:spPr>
          <a:xfrm xmlns:a="http://schemas.openxmlformats.org/drawingml/2006/main">
            <a:off x="1809750" y="20383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713" b="1">
                <a:solidFill>
                  <a:srgbClr val="FFFFFF"/>
                </a:solidFill>
              </a:defRPr>
            </a:pPr>
            <a:r>
              <a:rPr sz="713" b="1">
                <a:solidFill>
                  <a:srgbClr val="FFFFFF"/>
                </a:solidFill>
              </a:rPr>
              <a:t>1</a:t>
            </a:r>
          </a:p>
        </p:txBody>
      </p:sp>
      <p:sp>
        <p:nvSpPr>
          <p:cNvPr id="6" name="">
            <a:extLst xmlns:a="http://schemas.openxmlformats.org/drawingml/2006/main">
              <a:ext uri="{FF2B5EF4-FFF2-40B4-BE49-F238E27FC236}">
                <a16:creationId xmlns:a16="http://schemas.microsoft.com/office/drawing/2014/main" id="{74FB2C7E-5DAA-476D-8E6D-4803B3888D21}"/>
              </a:ext>
            </a:extLst>
          </p:cNvPr>
          <p:cNvSpPr>
            <a:spLocks xmlns:a="http://schemas.openxmlformats.org/drawingml/2006/main" noGrp="1"/>
          </p:cNvSpPr>
          <p:nvPr/>
        </p:nvSpPr>
        <p:spPr>
          <a:xfrm xmlns:a="http://schemas.openxmlformats.org/drawingml/2006/main">
            <a:off x="2266950" y="2000250"/>
            <a:ext cx="9067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a:solidFill>
                  <a:srgbClr val="15232B"/>
                </a:solidFill>
              </a:defRPr>
            </a:pPr>
            <a:r>
              <a:rPr sz="1275">
                <a:solidFill>
                  <a:srgbClr val="15232B"/>
                </a:solidFill>
              </a:rPr>
              <a:t>Einwilligungsfähigkeit prüfen</a:t>
            </a:r>
          </a:p>
        </p:txBody>
      </p:sp>
      <p:sp>
        <p:nvSpPr>
          <p:cNvPr id="7" name="">
            <a:extLst xmlns:a="http://schemas.openxmlformats.org/drawingml/2006/main">
              <a:ext uri="{FF2B5EF4-FFF2-40B4-BE49-F238E27FC236}">
                <a16:creationId xmlns:a16="http://schemas.microsoft.com/office/drawing/2014/main" id="{F1ECA193-9F56-4AB3-B9DE-D6E68489E71D}"/>
              </a:ext>
            </a:extLst>
          </p:cNvPr>
          <p:cNvSpPr>
            <a:spLocks xmlns:a="http://schemas.openxmlformats.org/drawingml/2006/main" noGrp="1"/>
          </p:cNvSpPr>
          <p:nvPr/>
        </p:nvSpPr>
        <p:spPr>
          <a:xfrm xmlns:a="http://schemas.openxmlformats.org/drawingml/2006/main">
            <a:off x="1809750" y="2590800"/>
            <a:ext cx="323850" cy="323850"/>
          </a:xfrm>
          <a:prstGeom xmlns:a="http://schemas.openxmlformats.org/drawingml/2006/main" prst="ellipse">
            <a:avLst/>
          </a:prstGeom>
          <a:solidFill xmlns:a="http://schemas.openxmlformats.org/drawingml/2006/main">
            <a:srgbClr val="003F6B"/>
          </a:solidFill>
          <a:ln xmlns:a="http://schemas.openxmlformats.org/drawingml/2006/main" w="0">
            <a:solidFill>
              <a:srgbClr val="FFFFFF"/>
            </a:solidFill>
            <a:prstDash val="solid"/>
          </a:ln>
        </p:spPr>
      </p:sp>
      <p:sp>
        <p:nvSpPr>
          <p:cNvPr id="8" name="">
            <a:extLst xmlns:a="http://schemas.openxmlformats.org/drawingml/2006/main">
              <a:ext uri="{FF2B5EF4-FFF2-40B4-BE49-F238E27FC236}">
                <a16:creationId xmlns:a16="http://schemas.microsoft.com/office/drawing/2014/main" id="{A0AEC9B5-7400-4202-8F49-408C9569AC4F}"/>
              </a:ext>
            </a:extLst>
          </p:cNvPr>
          <p:cNvSpPr>
            <a:spLocks xmlns:a="http://schemas.openxmlformats.org/drawingml/2006/main" noGrp="1"/>
          </p:cNvSpPr>
          <p:nvPr/>
        </p:nvSpPr>
        <p:spPr>
          <a:xfrm xmlns:a="http://schemas.openxmlformats.org/drawingml/2006/main">
            <a:off x="1809750" y="259080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713" b="1">
                <a:solidFill>
                  <a:srgbClr val="FFFFFF"/>
                </a:solidFill>
              </a:defRPr>
            </a:pPr>
            <a:r>
              <a:rPr sz="713" b="1">
                <a:solidFill>
                  <a:srgbClr val="FFFFFF"/>
                </a:solidFill>
              </a:rPr>
              <a:t>2</a:t>
            </a:r>
          </a:p>
        </p:txBody>
      </p:sp>
      <p:sp>
        <p:nvSpPr>
          <p:cNvPr id="9" name="">
            <a:extLst xmlns:a="http://schemas.openxmlformats.org/drawingml/2006/main">
              <a:ext uri="{FF2B5EF4-FFF2-40B4-BE49-F238E27FC236}">
                <a16:creationId xmlns:a16="http://schemas.microsoft.com/office/drawing/2014/main" id="{BF8C5C59-5647-4FDF-A262-45ECA8B71B53}"/>
              </a:ext>
            </a:extLst>
          </p:cNvPr>
          <p:cNvSpPr>
            <a:spLocks xmlns:a="http://schemas.openxmlformats.org/drawingml/2006/main" noGrp="1"/>
          </p:cNvSpPr>
          <p:nvPr/>
        </p:nvSpPr>
        <p:spPr>
          <a:xfrm xmlns:a="http://schemas.openxmlformats.org/drawingml/2006/main">
            <a:off x="2266950" y="2552700"/>
            <a:ext cx="9067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a:solidFill>
                  <a:srgbClr val="15232B"/>
                </a:solidFill>
              </a:defRPr>
            </a:pPr>
            <a:r>
              <a:rPr sz="1275">
                <a:solidFill>
                  <a:srgbClr val="15232B"/>
                </a:solidFill>
              </a:rPr>
              <a:t>Patientenverfügung / Bevollmächtigte / Betreuung / Ehegattennotvertretung suchen</a:t>
            </a:r>
          </a:p>
        </p:txBody>
      </p:sp>
      <p:sp>
        <p:nvSpPr>
          <p:cNvPr id="10" name="">
            <a:extLst xmlns:a="http://schemas.openxmlformats.org/drawingml/2006/main">
              <a:ext uri="{FF2B5EF4-FFF2-40B4-BE49-F238E27FC236}">
                <a16:creationId xmlns:a16="http://schemas.microsoft.com/office/drawing/2014/main" id="{C149A8FA-5793-4ACA-83E4-B2A339D06CEA}"/>
              </a:ext>
            </a:extLst>
          </p:cNvPr>
          <p:cNvSpPr>
            <a:spLocks xmlns:a="http://schemas.openxmlformats.org/drawingml/2006/main" noGrp="1"/>
          </p:cNvSpPr>
          <p:nvPr/>
        </p:nvSpPr>
        <p:spPr>
          <a:xfrm xmlns:a="http://schemas.openxmlformats.org/drawingml/2006/main">
            <a:off x="1809750" y="3143250"/>
            <a:ext cx="323850" cy="323850"/>
          </a:xfrm>
          <a:prstGeom xmlns:a="http://schemas.openxmlformats.org/drawingml/2006/main" prst="ellipse">
            <a:avLst/>
          </a:prstGeom>
          <a:solidFill xmlns:a="http://schemas.openxmlformats.org/drawingml/2006/main">
            <a:srgbClr val="00B2BB"/>
          </a:solidFill>
          <a:ln xmlns:a="http://schemas.openxmlformats.org/drawingml/2006/main" w="0">
            <a:solidFill>
              <a:srgbClr val="FFFFFF"/>
            </a:solidFill>
            <a:prstDash val="solid"/>
          </a:ln>
        </p:spPr>
      </p:sp>
      <p:sp>
        <p:nvSpPr>
          <p:cNvPr id="11" name="">
            <a:extLst xmlns:a="http://schemas.openxmlformats.org/drawingml/2006/main">
              <a:ext uri="{FF2B5EF4-FFF2-40B4-BE49-F238E27FC236}">
                <a16:creationId xmlns:a16="http://schemas.microsoft.com/office/drawing/2014/main" id="{E728738B-5DEA-4CF9-89C3-112AAAD801A9}"/>
              </a:ext>
            </a:extLst>
          </p:cNvPr>
          <p:cNvSpPr>
            <a:spLocks xmlns:a="http://schemas.openxmlformats.org/drawingml/2006/main" noGrp="1"/>
          </p:cNvSpPr>
          <p:nvPr/>
        </p:nvSpPr>
        <p:spPr>
          <a:xfrm xmlns:a="http://schemas.openxmlformats.org/drawingml/2006/main">
            <a:off x="1809750" y="31432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713" b="1">
                <a:solidFill>
                  <a:srgbClr val="FFFFFF"/>
                </a:solidFill>
              </a:defRPr>
            </a:pPr>
            <a:r>
              <a:rPr sz="713" b="1">
                <a:solidFill>
                  <a:srgbClr val="FFFFFF"/>
                </a:solidFill>
              </a:rPr>
              <a:t>3</a:t>
            </a:r>
          </a:p>
        </p:txBody>
      </p:sp>
      <p:sp>
        <p:nvSpPr>
          <p:cNvPr id="12" name="">
            <a:extLst xmlns:a="http://schemas.openxmlformats.org/drawingml/2006/main">
              <a:ext uri="{FF2B5EF4-FFF2-40B4-BE49-F238E27FC236}">
                <a16:creationId xmlns:a16="http://schemas.microsoft.com/office/drawing/2014/main" id="{50DC44EE-14AC-48FA-B5AD-750D2837A860}"/>
              </a:ext>
            </a:extLst>
          </p:cNvPr>
          <p:cNvSpPr>
            <a:spLocks xmlns:a="http://schemas.openxmlformats.org/drawingml/2006/main" noGrp="1"/>
          </p:cNvSpPr>
          <p:nvPr/>
        </p:nvSpPr>
        <p:spPr>
          <a:xfrm xmlns:a="http://schemas.openxmlformats.org/drawingml/2006/main">
            <a:off x="2266950" y="3105150"/>
            <a:ext cx="9067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a:solidFill>
                  <a:srgbClr val="15232B"/>
                </a:solidFill>
              </a:defRPr>
            </a:pPr>
            <a:r>
              <a:rPr sz="1275">
                <a:solidFill>
                  <a:srgbClr val="15232B"/>
                </a:solidFill>
              </a:rPr>
              <a:t>Behandlungswünsche und mutmaßlichen Willen ermitteln</a:t>
            </a:r>
          </a:p>
        </p:txBody>
      </p:sp>
      <p:sp>
        <p:nvSpPr>
          <p:cNvPr id="13" name="">
            <a:extLst xmlns:a="http://schemas.openxmlformats.org/drawingml/2006/main">
              <a:ext uri="{FF2B5EF4-FFF2-40B4-BE49-F238E27FC236}">
                <a16:creationId xmlns:a16="http://schemas.microsoft.com/office/drawing/2014/main" id="{14B8D789-B867-441C-99A4-48C6389D80BC}"/>
              </a:ext>
            </a:extLst>
          </p:cNvPr>
          <p:cNvSpPr>
            <a:spLocks xmlns:a="http://schemas.openxmlformats.org/drawingml/2006/main" noGrp="1"/>
          </p:cNvSpPr>
          <p:nvPr/>
        </p:nvSpPr>
        <p:spPr>
          <a:xfrm xmlns:a="http://schemas.openxmlformats.org/drawingml/2006/main">
            <a:off x="1809750" y="3695700"/>
            <a:ext cx="323850" cy="323850"/>
          </a:xfrm>
          <a:prstGeom xmlns:a="http://schemas.openxmlformats.org/drawingml/2006/main" prst="ellipse">
            <a:avLst/>
          </a:prstGeom>
          <a:solidFill xmlns:a="http://schemas.openxmlformats.org/drawingml/2006/main">
            <a:srgbClr val="003F6B"/>
          </a:solidFill>
          <a:ln xmlns:a="http://schemas.openxmlformats.org/drawingml/2006/main" w="0">
            <a:solidFill>
              <a:srgbClr val="FFFFFF"/>
            </a:solidFill>
            <a:prstDash val="solid"/>
          </a:ln>
        </p:spPr>
      </p:sp>
      <p:sp>
        <p:nvSpPr>
          <p:cNvPr id="14" name="">
            <a:extLst xmlns:a="http://schemas.openxmlformats.org/drawingml/2006/main">
              <a:ext uri="{FF2B5EF4-FFF2-40B4-BE49-F238E27FC236}">
                <a16:creationId xmlns:a16="http://schemas.microsoft.com/office/drawing/2014/main" id="{256580BD-76C4-4175-BC73-307CCFF66A71}"/>
              </a:ext>
            </a:extLst>
          </p:cNvPr>
          <p:cNvSpPr>
            <a:spLocks xmlns:a="http://schemas.openxmlformats.org/drawingml/2006/main" noGrp="1"/>
          </p:cNvSpPr>
          <p:nvPr/>
        </p:nvSpPr>
        <p:spPr>
          <a:xfrm xmlns:a="http://schemas.openxmlformats.org/drawingml/2006/main">
            <a:off x="1809750" y="369570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713" b="1">
                <a:solidFill>
                  <a:srgbClr val="FFFFFF"/>
                </a:solidFill>
              </a:defRPr>
            </a:pPr>
            <a:r>
              <a:rPr sz="713" b="1">
                <a:solidFill>
                  <a:srgbClr val="FFFFFF"/>
                </a:solidFill>
              </a:rPr>
              <a:t>4</a:t>
            </a:r>
          </a:p>
        </p:txBody>
      </p:sp>
      <p:sp>
        <p:nvSpPr>
          <p:cNvPr id="15" name="">
            <a:extLst xmlns:a="http://schemas.openxmlformats.org/drawingml/2006/main">
              <a:ext uri="{FF2B5EF4-FFF2-40B4-BE49-F238E27FC236}">
                <a16:creationId xmlns:a16="http://schemas.microsoft.com/office/drawing/2014/main" id="{DEBED658-5BAE-4F7B-91AF-114C8CE7540B}"/>
              </a:ext>
            </a:extLst>
          </p:cNvPr>
          <p:cNvSpPr>
            <a:spLocks xmlns:a="http://schemas.openxmlformats.org/drawingml/2006/main" noGrp="1"/>
          </p:cNvSpPr>
          <p:nvPr/>
        </p:nvSpPr>
        <p:spPr>
          <a:xfrm xmlns:a="http://schemas.openxmlformats.org/drawingml/2006/main">
            <a:off x="2266950" y="3657600"/>
            <a:ext cx="9067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a:solidFill>
                  <a:srgbClr val="15232B"/>
                </a:solidFill>
              </a:defRPr>
            </a:pPr>
            <a:r>
              <a:rPr sz="1275">
                <a:solidFill>
                  <a:srgbClr val="15232B"/>
                </a:solidFill>
              </a:rPr>
              <a:t>bei nicht aufschiebbarer Maßnahme nach mutmaßlichem Willen handeln</a:t>
            </a:r>
          </a:p>
        </p:txBody>
      </p:sp>
      <p:sp>
        <p:nvSpPr>
          <p:cNvPr id="16" name="">
            <a:extLst xmlns:a="http://schemas.openxmlformats.org/drawingml/2006/main">
              <a:ext uri="{FF2B5EF4-FFF2-40B4-BE49-F238E27FC236}">
                <a16:creationId xmlns:a16="http://schemas.microsoft.com/office/drawing/2014/main" id="{ED1AF608-980C-4842-AE7F-898473FD8542}"/>
              </a:ext>
            </a:extLst>
          </p:cNvPr>
          <p:cNvSpPr>
            <a:spLocks xmlns:a="http://schemas.openxmlformats.org/drawingml/2006/main" noGrp="1"/>
          </p:cNvSpPr>
          <p:nvPr/>
        </p:nvSpPr>
        <p:spPr>
          <a:xfrm xmlns:a="http://schemas.openxmlformats.org/drawingml/2006/main">
            <a:off x="1809750" y="4248150"/>
            <a:ext cx="323850" cy="323850"/>
          </a:xfrm>
          <a:prstGeom xmlns:a="http://schemas.openxmlformats.org/drawingml/2006/main" prst="ellipse">
            <a:avLst/>
          </a:prstGeom>
          <a:solidFill xmlns:a="http://schemas.openxmlformats.org/drawingml/2006/main">
            <a:srgbClr val="00B2BB"/>
          </a:solidFill>
          <a:ln xmlns:a="http://schemas.openxmlformats.org/drawingml/2006/main" w="0">
            <a:solidFill>
              <a:srgbClr val="FFFFFF"/>
            </a:solidFill>
            <a:prstDash val="solid"/>
          </a:ln>
        </p:spPr>
      </p:sp>
      <p:sp>
        <p:nvSpPr>
          <p:cNvPr id="17" name="">
            <a:extLst xmlns:a="http://schemas.openxmlformats.org/drawingml/2006/main">
              <a:ext uri="{FF2B5EF4-FFF2-40B4-BE49-F238E27FC236}">
                <a16:creationId xmlns:a16="http://schemas.microsoft.com/office/drawing/2014/main" id="{9BE75936-6148-424E-BF3B-6970FAF14B30}"/>
              </a:ext>
            </a:extLst>
          </p:cNvPr>
          <p:cNvSpPr>
            <a:spLocks xmlns:a="http://schemas.openxmlformats.org/drawingml/2006/main" noGrp="1"/>
          </p:cNvSpPr>
          <p:nvPr/>
        </p:nvSpPr>
        <p:spPr>
          <a:xfrm xmlns:a="http://schemas.openxmlformats.org/drawingml/2006/main">
            <a:off x="1809750" y="42481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713" b="1">
                <a:solidFill>
                  <a:srgbClr val="FFFFFF"/>
                </a:solidFill>
              </a:defRPr>
            </a:pPr>
            <a:r>
              <a:rPr sz="713" b="1">
                <a:solidFill>
                  <a:srgbClr val="FFFFFF"/>
                </a:solidFill>
              </a:rPr>
              <a:t>5</a:t>
            </a:r>
          </a:p>
        </p:txBody>
      </p:sp>
      <p:sp>
        <p:nvSpPr>
          <p:cNvPr id="18" name="">
            <a:extLst xmlns:a="http://schemas.openxmlformats.org/drawingml/2006/main">
              <a:ext uri="{FF2B5EF4-FFF2-40B4-BE49-F238E27FC236}">
                <a16:creationId xmlns:a16="http://schemas.microsoft.com/office/drawing/2014/main" id="{73232234-AE22-4688-9ABA-0967579AF011}"/>
              </a:ext>
            </a:extLst>
          </p:cNvPr>
          <p:cNvSpPr>
            <a:spLocks xmlns:a="http://schemas.openxmlformats.org/drawingml/2006/main" noGrp="1"/>
          </p:cNvSpPr>
          <p:nvPr/>
        </p:nvSpPr>
        <p:spPr>
          <a:xfrm xmlns:a="http://schemas.openxmlformats.org/drawingml/2006/main">
            <a:off x="2266950" y="4210050"/>
            <a:ext cx="9067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a:solidFill>
                  <a:srgbClr val="15232B"/>
                </a:solidFill>
              </a:defRPr>
            </a:pPr>
            <a:r>
              <a:rPr sz="1275">
                <a:solidFill>
                  <a:srgbClr val="15232B"/>
                </a:solidFill>
              </a:rPr>
              <a:t>Entscheidung, Informationslage und erneute Prüfung dokumentieren</a:t>
            </a:r>
          </a:p>
        </p:txBody>
      </p:sp>
      <p:sp>
        <p:nvSpPr>
          <p:cNvPr id="19" name="">
            <a:extLst xmlns:a="http://schemas.openxmlformats.org/drawingml/2006/main">
              <a:ext uri="{FF2B5EF4-FFF2-40B4-BE49-F238E27FC236}">
                <a16:creationId xmlns:a16="http://schemas.microsoft.com/office/drawing/2014/main" id="{2D683F71-D3C0-46A0-9DE8-30CF9A25875C}"/>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0" name="">
            <a:extLst xmlns:a="http://schemas.openxmlformats.org/drawingml/2006/main">
              <a:ext uri="{FF2B5EF4-FFF2-40B4-BE49-F238E27FC236}">
                <a16:creationId xmlns:a16="http://schemas.microsoft.com/office/drawing/2014/main" id="{AF12E59C-FB9C-4232-8294-02F2C2D490EE}"/>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Bei echter Unklarheit kann zunächst lebenserhaltend gehandelt werden; geklärter entgegenstehender Wille bindet.</a:t>
            </a:r>
          </a:p>
        </p:txBody>
      </p:sp>
    </p:spTree>
    <p:extLst>
      <p:ext uri="{BB962C8B-B14F-4D97-AF65-F5344CB8AC3E}">
        <p14:creationId xmlns:p14="http://schemas.microsoft.com/office/powerpoint/2010/main" val="43637646"/>
      </p:ext>
    </p:extLst>
  </p:cSld>
</p:sld>
</file>

<file path=ppt/slides/slide320.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Podcast-Fall: Reanimation trotz ‚No CPR‘-Tattoo?</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RECHT MEDIZINISCH · FOLGE 2</a:t>
            </a:r>
            <a:endParaRPr/>
          </a:p>
        </p:txBody>
      </p:sp>
      <p:sp>
        <p:nvSpPr>
          <p:cNvPr id="4" name="">
            <a:extLst xmlns:a="http://schemas.openxmlformats.org/drawingml/2006/main">
              <a:ext uri="{FF2B5EF4-FFF2-40B4-BE49-F238E27FC236}">
                <a16:creationId xmlns:a16="http://schemas.microsoft.com/office/drawing/2014/main" id="{A1A392AA-C0FB-45B4-B99D-F8E3F3105074}"/>
              </a:ext>
            </a:extLst>
          </p:cNvPr>
          <p:cNvSpPr>
            <a:spLocks xmlns:a="http://schemas.openxmlformats.org/drawingml/2006/main" noGrp="1"/>
          </p:cNvSpPr>
          <p:nvPr/>
        </p:nvSpPr>
        <p:spPr>
          <a:xfrm xmlns:a="http://schemas.openxmlformats.org/drawingml/2006/main">
            <a:off x="1809750" y="1952625"/>
            <a:ext cx="5381625" cy="3333750"/>
          </a:xfrm>
          <a:prstGeom xmlns:a="http://schemas.openxmlformats.org/drawingml/2006/main" prst="roundRect">
            <a:avLst>
              <a:gd name="adj" fmla="val 2286"/>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D749E7CE-C05E-4B9B-BB3F-D2C32F36C3DA}"/>
              </a:ext>
            </a:extLst>
          </p:cNvPr>
          <p:cNvSpPr>
            <a:spLocks xmlns:a="http://schemas.openxmlformats.org/drawingml/2006/main" noGrp="1"/>
          </p:cNvSpPr>
          <p:nvPr/>
        </p:nvSpPr>
        <p:spPr>
          <a:xfrm xmlns:a="http://schemas.openxmlformats.org/drawingml/2006/main">
            <a:off x="1809750" y="1952625"/>
            <a:ext cx="5381625"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6" name="">
            <a:extLst xmlns:a="http://schemas.openxmlformats.org/drawingml/2006/main">
              <a:ext uri="{FF2B5EF4-FFF2-40B4-BE49-F238E27FC236}">
                <a16:creationId xmlns:a16="http://schemas.microsoft.com/office/drawing/2014/main" id="{5F0E9026-1903-4772-BBF0-46E0F8F76CAA}"/>
              </a:ext>
            </a:extLst>
          </p:cNvPr>
          <p:cNvSpPr>
            <a:spLocks xmlns:a="http://schemas.openxmlformats.org/drawingml/2006/main" noGrp="1"/>
          </p:cNvSpPr>
          <p:nvPr/>
        </p:nvSpPr>
        <p:spPr>
          <a:xfrm xmlns:a="http://schemas.openxmlformats.org/drawingml/2006/main">
            <a:off x="1962150" y="2085975"/>
            <a:ext cx="5076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00" b="1">
                <a:solidFill>
                  <a:srgbClr val="003F6B"/>
                </a:solidFill>
              </a:defRPr>
            </a:pPr>
            <a:r>
              <a:rPr sz="1500" b="1">
                <a:solidFill>
                  <a:srgbClr val="003F6B"/>
                </a:solidFill>
              </a:rPr>
              <a:t>Ausgangslage</a:t>
            </a:r>
          </a:p>
        </p:txBody>
      </p:sp>
      <p:sp>
        <p:nvSpPr>
          <p:cNvPr id="7" name="">
            <a:extLst xmlns:a="http://schemas.openxmlformats.org/drawingml/2006/main">
              <a:ext uri="{FF2B5EF4-FFF2-40B4-BE49-F238E27FC236}">
                <a16:creationId xmlns:a16="http://schemas.microsoft.com/office/drawing/2014/main" id="{03A14E1D-3216-4D1D-B05A-44009ADF19EF}"/>
              </a:ext>
            </a:extLst>
          </p:cNvPr>
          <p:cNvSpPr>
            <a:spLocks xmlns:a="http://schemas.openxmlformats.org/drawingml/2006/main" noGrp="1"/>
          </p:cNvSpPr>
          <p:nvPr/>
        </p:nvSpPr>
        <p:spPr>
          <a:xfrm xmlns:a="http://schemas.openxmlformats.org/drawingml/2006/main">
            <a:off x="1962150" y="2524125"/>
            <a:ext cx="5076825" cy="2628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15232B"/>
                </a:solidFill>
              </a:defRPr>
            </a:pPr>
            <a:r>
              <a:rPr sz="1275">
                <a:solidFill>
                  <a:srgbClr val="15232B"/>
                </a:solidFill>
              </a:rPr>
              <a:t>Unbekannte, bewusstlose Person ohne sicheren Zugriff auf Patientenverfügung oder Vertretung. Ein Tattoo scheint eine Reanimation abzulehnen.</a:t>
            </a:r>
          </a:p>
        </p:txBody>
      </p:sp>
      <p:sp>
        <p:nvSpPr>
          <p:cNvPr id="8" name="">
            <a:extLst xmlns:a="http://schemas.openxmlformats.org/drawingml/2006/main">
              <a:ext uri="{FF2B5EF4-FFF2-40B4-BE49-F238E27FC236}">
                <a16:creationId xmlns:a16="http://schemas.microsoft.com/office/drawing/2014/main" id="{8A59283D-E7F4-40AD-A9DE-1C263A973D6E}"/>
              </a:ext>
            </a:extLst>
          </p:cNvPr>
          <p:cNvSpPr>
            <a:spLocks xmlns:a="http://schemas.openxmlformats.org/drawingml/2006/main" noGrp="1"/>
          </p:cNvSpPr>
          <p:nvPr/>
        </p:nvSpPr>
        <p:spPr>
          <a:xfrm xmlns:a="http://schemas.openxmlformats.org/drawingml/2006/main">
            <a:off x="7429500" y="1990725"/>
            <a:ext cx="323850" cy="323850"/>
          </a:xfrm>
          <a:prstGeom xmlns:a="http://schemas.openxmlformats.org/drawingml/2006/main" prst="roundRect">
            <a:avLst>
              <a:gd name="adj" fmla="val 23529"/>
            </a:avLst>
          </a:prstGeom>
          <a:solidFill xmlns:a="http://schemas.openxmlformats.org/drawingml/2006/main">
            <a:srgbClr val="00B2BB"/>
          </a:solidFill>
          <a:ln xmlns:a="http://schemas.openxmlformats.org/drawingml/2006/main" w="0">
            <a:solidFill>
              <a:srgbClr val="00B2BB"/>
            </a:solidFill>
            <a:prstDash val="solid"/>
          </a:ln>
        </p:spPr>
      </p:sp>
      <p:sp>
        <p:nvSpPr>
          <p:cNvPr id="9" name="">
            <a:extLst xmlns:a="http://schemas.openxmlformats.org/drawingml/2006/main">
              <a:ext uri="{FF2B5EF4-FFF2-40B4-BE49-F238E27FC236}">
                <a16:creationId xmlns:a16="http://schemas.microsoft.com/office/drawing/2014/main" id="{E622965D-F330-46C9-8E7B-41A8CF581B19}"/>
              </a:ext>
            </a:extLst>
          </p:cNvPr>
          <p:cNvSpPr>
            <a:spLocks xmlns:a="http://schemas.openxmlformats.org/drawingml/2006/main" noGrp="1"/>
          </p:cNvSpPr>
          <p:nvPr/>
        </p:nvSpPr>
        <p:spPr>
          <a:xfrm xmlns:a="http://schemas.openxmlformats.org/drawingml/2006/main">
            <a:off x="7429500" y="1990725"/>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10" name="">
            <a:extLst xmlns:a="http://schemas.openxmlformats.org/drawingml/2006/main">
              <a:ext uri="{FF2B5EF4-FFF2-40B4-BE49-F238E27FC236}">
                <a16:creationId xmlns:a16="http://schemas.microsoft.com/office/drawing/2014/main" id="{7426FF98-DCA5-46A8-AA46-8359DDF22452}"/>
              </a:ext>
            </a:extLst>
          </p:cNvPr>
          <p:cNvSpPr>
            <a:spLocks xmlns:a="http://schemas.openxmlformats.org/drawingml/2006/main" noGrp="1"/>
          </p:cNvSpPr>
          <p:nvPr/>
        </p:nvSpPr>
        <p:spPr>
          <a:xfrm xmlns:a="http://schemas.openxmlformats.org/drawingml/2006/main">
            <a:off x="7886700" y="1952625"/>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15" b="1">
                <a:solidFill>
                  <a:srgbClr val="15232B"/>
                </a:solidFill>
              </a:defRPr>
            </a:pPr>
            <a:r>
              <a:rPr sz="1215" b="1">
                <a:solidFill>
                  <a:srgbClr val="15232B"/>
                </a:solidFill>
              </a:rPr>
              <a:t>Für sofortige Reanimation</a:t>
            </a:r>
          </a:p>
        </p:txBody>
      </p:sp>
      <p:sp>
        <p:nvSpPr>
          <p:cNvPr id="11" name="">
            <a:extLst xmlns:a="http://schemas.openxmlformats.org/drawingml/2006/main">
              <a:ext uri="{FF2B5EF4-FFF2-40B4-BE49-F238E27FC236}">
                <a16:creationId xmlns:a16="http://schemas.microsoft.com/office/drawing/2014/main" id="{BD661E83-6570-42FB-8745-F8288D0E574C}"/>
              </a:ext>
            </a:extLst>
          </p:cNvPr>
          <p:cNvSpPr>
            <a:spLocks xmlns:a="http://schemas.openxmlformats.org/drawingml/2006/main" noGrp="1"/>
          </p:cNvSpPr>
          <p:nvPr/>
        </p:nvSpPr>
        <p:spPr>
          <a:xfrm xmlns:a="http://schemas.openxmlformats.org/drawingml/2006/main">
            <a:off x="7886700" y="2238375"/>
            <a:ext cx="3333750" cy="12591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13">
                <a:solidFill>
                  <a:srgbClr val="667680"/>
                </a:solidFill>
              </a:defRPr>
            </a:pPr>
            <a:r>
              <a:rPr sz="1013">
                <a:solidFill>
                  <a:srgbClr val="667680"/>
                </a:solidFill>
              </a:rPr>
              <a:t>Zeitkritisch, Echtheit / Aktualität / Bedeutung unklar; Wille nicht verlässlich festgestellt.</a:t>
            </a:r>
          </a:p>
        </p:txBody>
      </p:sp>
      <p:sp>
        <p:nvSpPr>
          <p:cNvPr id="12" name="">
            <a:extLst xmlns:a="http://schemas.openxmlformats.org/drawingml/2006/main">
              <a:ext uri="{FF2B5EF4-FFF2-40B4-BE49-F238E27FC236}">
                <a16:creationId xmlns:a16="http://schemas.microsoft.com/office/drawing/2014/main" id="{FB58F429-ABA3-4AEB-97E4-5D83F22F6AFB}"/>
              </a:ext>
            </a:extLst>
          </p:cNvPr>
          <p:cNvSpPr>
            <a:spLocks xmlns:a="http://schemas.openxmlformats.org/drawingml/2006/main" noGrp="1"/>
          </p:cNvSpPr>
          <p:nvPr/>
        </p:nvSpPr>
        <p:spPr>
          <a:xfrm xmlns:a="http://schemas.openxmlformats.org/drawingml/2006/main">
            <a:off x="7429500" y="3630860"/>
            <a:ext cx="323850" cy="323850"/>
          </a:xfrm>
          <a:prstGeom xmlns:a="http://schemas.openxmlformats.org/drawingml/2006/main" prst="roundRect">
            <a:avLst>
              <a:gd name="adj" fmla="val 23529"/>
            </a:avLst>
          </a:prstGeom>
          <a:solidFill xmlns:a="http://schemas.openxmlformats.org/drawingml/2006/main">
            <a:srgbClr val="003F6B"/>
          </a:solidFill>
          <a:ln xmlns:a="http://schemas.openxmlformats.org/drawingml/2006/main" w="0">
            <a:solidFill>
              <a:srgbClr val="003F6B"/>
            </a:solidFill>
            <a:prstDash val="solid"/>
          </a:ln>
        </p:spPr>
      </p:sp>
      <p:sp>
        <p:nvSpPr>
          <p:cNvPr id="13" name="">
            <a:extLst xmlns:a="http://schemas.openxmlformats.org/drawingml/2006/main">
              <a:ext uri="{FF2B5EF4-FFF2-40B4-BE49-F238E27FC236}">
                <a16:creationId xmlns:a16="http://schemas.microsoft.com/office/drawing/2014/main" id="{A5F29DF4-C8BF-4A0C-BFED-070AEB968772}"/>
              </a:ext>
            </a:extLst>
          </p:cNvPr>
          <p:cNvSpPr>
            <a:spLocks xmlns:a="http://schemas.openxmlformats.org/drawingml/2006/main" noGrp="1"/>
          </p:cNvSpPr>
          <p:nvPr/>
        </p:nvSpPr>
        <p:spPr>
          <a:xfrm xmlns:a="http://schemas.openxmlformats.org/drawingml/2006/main">
            <a:off x="7429500" y="363086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4" name="">
            <a:extLst xmlns:a="http://schemas.openxmlformats.org/drawingml/2006/main">
              <a:ext uri="{FF2B5EF4-FFF2-40B4-BE49-F238E27FC236}">
                <a16:creationId xmlns:a16="http://schemas.microsoft.com/office/drawing/2014/main" id="{3D500C82-C57D-4381-BF9C-5B5E71C862B4}"/>
              </a:ext>
            </a:extLst>
          </p:cNvPr>
          <p:cNvSpPr>
            <a:spLocks xmlns:a="http://schemas.openxmlformats.org/drawingml/2006/main" noGrp="1"/>
          </p:cNvSpPr>
          <p:nvPr/>
        </p:nvSpPr>
        <p:spPr>
          <a:xfrm xmlns:a="http://schemas.openxmlformats.org/drawingml/2006/main">
            <a:off x="7886700" y="359276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15" b="1">
                <a:solidFill>
                  <a:srgbClr val="15232B"/>
                </a:solidFill>
              </a:defRPr>
            </a:pPr>
            <a:r>
              <a:rPr sz="1215" b="1">
                <a:solidFill>
                  <a:srgbClr val="15232B"/>
                </a:solidFill>
              </a:rPr>
              <a:t>Für Begrenzung</a:t>
            </a:r>
          </a:p>
        </p:txBody>
      </p:sp>
      <p:sp>
        <p:nvSpPr>
          <p:cNvPr id="15" name="">
            <a:extLst xmlns:a="http://schemas.openxmlformats.org/drawingml/2006/main">
              <a:ext uri="{FF2B5EF4-FFF2-40B4-BE49-F238E27FC236}">
                <a16:creationId xmlns:a16="http://schemas.microsoft.com/office/drawing/2014/main" id="{DE424613-BA1C-421A-8ABC-AF852C76E34C}"/>
              </a:ext>
            </a:extLst>
          </p:cNvPr>
          <p:cNvSpPr>
            <a:spLocks xmlns:a="http://schemas.openxmlformats.org/drawingml/2006/main" noGrp="1"/>
          </p:cNvSpPr>
          <p:nvPr/>
        </p:nvSpPr>
        <p:spPr>
          <a:xfrm xmlns:a="http://schemas.openxmlformats.org/drawingml/2006/main">
            <a:off x="7886700" y="3878510"/>
            <a:ext cx="3333750" cy="13316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13">
                <a:solidFill>
                  <a:srgbClr val="667680"/>
                </a:solidFill>
              </a:defRPr>
            </a:pPr>
            <a:r>
              <a:rPr sz="1013">
                <a:solidFill>
                  <a:srgbClr val="667680"/>
                </a:solidFill>
              </a:rPr>
              <a:t>Wenn ein konkreter, verbindlicher entgegenstehender Wille sicher festgestellt wird, ist er zu beachten.</a:t>
            </a:r>
          </a:p>
        </p:txBody>
      </p:sp>
      <p:sp>
        <p:nvSpPr>
          <p:cNvPr id="16" name="">
            <a:extLst xmlns:a="http://schemas.openxmlformats.org/drawingml/2006/main">
              <a:ext uri="{FF2B5EF4-FFF2-40B4-BE49-F238E27FC236}">
                <a16:creationId xmlns:a16="http://schemas.microsoft.com/office/drawing/2014/main" id="{7C2A4822-41CD-44EE-8290-31464575A131}"/>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17" name="">
            <a:extLst xmlns:a="http://schemas.openxmlformats.org/drawingml/2006/main">
              <a:ext uri="{FF2B5EF4-FFF2-40B4-BE49-F238E27FC236}">
                <a16:creationId xmlns:a16="http://schemas.microsoft.com/office/drawing/2014/main" id="{3DCF1D4E-7D53-4226-8FD8-D6D12C225AA0}"/>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Der Rechtsfehler liegt nicht im Zweifeln – sondern darin, Zweifel nicht aktiv und zeitgerecht aufzuklären.</a:t>
            </a:r>
          </a:p>
        </p:txBody>
      </p:sp>
    </p:spTree>
    <p:extLst>
      <p:ext uri="{BB962C8B-B14F-4D97-AF65-F5344CB8AC3E}">
        <p14:creationId xmlns:p14="http://schemas.microsoft.com/office/powerpoint/2010/main" val="43637646"/>
      </p:ext>
    </p:extLst>
  </p:cSld>
</p:sld>
</file>

<file path=ppt/slides/slide321.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Rückkehr zum Auftaktfall: Welche Information würde Ihre Stimme jetzt ändern?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TRANSFER · ERLANGER BABY-FALL NACH AUTONOMIE UND NOTFALLRECHT</a:t>
            </a:r>
            <a:endParaRPr/>
          </a:p>
        </p:txBody>
      </p:sp>
      <p:sp>
        <p:nvSpPr>
          <p:cNvPr id="4" name="">
            <a:extLst xmlns:a="http://schemas.openxmlformats.org/drawingml/2006/main">
              <a:ext uri="{FF2B5EF4-FFF2-40B4-BE49-F238E27FC236}">
                <a16:creationId xmlns:a16="http://schemas.microsoft.com/office/drawing/2014/main" id="{7C31A99F-4E0A-44D9-8AA1-2E61CB5A2496}"/>
              </a:ext>
            </a:extLst>
          </p:cNvPr>
          <p:cNvSpPr>
            <a:spLocks xmlns:a="http://schemas.openxmlformats.org/drawingml/2006/main" noGrp="1"/>
          </p:cNvSpPr>
          <p:nvPr/>
        </p:nvSpPr>
        <p:spPr>
          <a:xfrm xmlns:a="http://schemas.openxmlformats.org/drawingml/2006/main">
            <a:off x="1809750" y="1952625"/>
            <a:ext cx="5381625" cy="3333750"/>
          </a:xfrm>
          <a:prstGeom xmlns:a="http://schemas.openxmlformats.org/drawingml/2006/main" prst="roundRect">
            <a:avLst>
              <a:gd name="adj" fmla="val 2286"/>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19CB528B-78CB-4B44-8729-8963E8F06A05}"/>
              </a:ext>
            </a:extLst>
          </p:cNvPr>
          <p:cNvSpPr>
            <a:spLocks xmlns:a="http://schemas.openxmlformats.org/drawingml/2006/main" noGrp="1"/>
          </p:cNvSpPr>
          <p:nvPr/>
        </p:nvSpPr>
        <p:spPr>
          <a:xfrm xmlns:a="http://schemas.openxmlformats.org/drawingml/2006/main">
            <a:off x="1809750" y="1952625"/>
            <a:ext cx="5381625"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6" name="">
            <a:extLst xmlns:a="http://schemas.openxmlformats.org/drawingml/2006/main">
              <a:ext uri="{FF2B5EF4-FFF2-40B4-BE49-F238E27FC236}">
                <a16:creationId xmlns:a16="http://schemas.microsoft.com/office/drawing/2014/main" id="{E7280548-873E-48F0-AAE2-7292F459F6C5}"/>
              </a:ext>
            </a:extLst>
          </p:cNvPr>
          <p:cNvSpPr>
            <a:spLocks xmlns:a="http://schemas.openxmlformats.org/drawingml/2006/main" noGrp="1"/>
          </p:cNvSpPr>
          <p:nvPr/>
        </p:nvSpPr>
        <p:spPr>
          <a:xfrm xmlns:a="http://schemas.openxmlformats.org/drawingml/2006/main">
            <a:off x="1962150" y="2085975"/>
            <a:ext cx="5076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00" b="1">
                <a:solidFill>
                  <a:srgbClr val="003F6B"/>
                </a:solidFill>
              </a:defRPr>
            </a:pPr>
            <a:r>
              <a:rPr sz="1500" b="1">
                <a:solidFill>
                  <a:srgbClr val="003F6B"/>
                </a:solidFill>
              </a:rPr>
              <a:t>Ausgangslage</a:t>
            </a:r>
          </a:p>
        </p:txBody>
      </p:sp>
      <p:sp>
        <p:nvSpPr>
          <p:cNvPr id="7" name="">
            <a:extLst xmlns:a="http://schemas.openxmlformats.org/drawingml/2006/main">
              <a:ext uri="{FF2B5EF4-FFF2-40B4-BE49-F238E27FC236}">
                <a16:creationId xmlns:a16="http://schemas.microsoft.com/office/drawing/2014/main" id="{CC7CC754-B348-411B-8C54-65563F70E4A7}"/>
              </a:ext>
            </a:extLst>
          </p:cNvPr>
          <p:cNvSpPr>
            <a:spLocks xmlns:a="http://schemas.openxmlformats.org/drawingml/2006/main" noGrp="1"/>
          </p:cNvSpPr>
          <p:nvPr/>
        </p:nvSpPr>
        <p:spPr>
          <a:xfrm xmlns:a="http://schemas.openxmlformats.org/drawingml/2006/main">
            <a:off x="1962150" y="2524125"/>
            <a:ext cx="5076825" cy="2628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15232B"/>
                </a:solidFill>
              </a:defRPr>
            </a:pPr>
            <a:r>
              <a:rPr sz="1275">
                <a:solidFill>
                  <a:srgbClr val="15232B"/>
                </a:solidFill>
              </a:rPr>
              <a:t>Nach der ersten Bauchentscheidung stehen nun Todesfeststellung, frühere Wünsche, postmortaler Schutz, ungeborenes Leben, medizinische Prognose, Rollen und das historische Betreuungsverfahren nebeneinander.</a:t>
            </a:r>
          </a:p>
        </p:txBody>
      </p:sp>
      <p:sp>
        <p:nvSpPr>
          <p:cNvPr id="8" name="">
            <a:extLst xmlns:a="http://schemas.openxmlformats.org/drawingml/2006/main">
              <a:ext uri="{FF2B5EF4-FFF2-40B4-BE49-F238E27FC236}">
                <a16:creationId xmlns:a16="http://schemas.microsoft.com/office/drawing/2014/main" id="{503C7B45-669D-42BD-A764-E88B31109306}"/>
              </a:ext>
            </a:extLst>
          </p:cNvPr>
          <p:cNvSpPr>
            <a:spLocks xmlns:a="http://schemas.openxmlformats.org/drawingml/2006/main" noGrp="1"/>
          </p:cNvSpPr>
          <p:nvPr/>
        </p:nvSpPr>
        <p:spPr>
          <a:xfrm xmlns:a="http://schemas.openxmlformats.org/drawingml/2006/main">
            <a:off x="7429500" y="1990725"/>
            <a:ext cx="323850" cy="323850"/>
          </a:xfrm>
          <a:prstGeom xmlns:a="http://schemas.openxmlformats.org/drawingml/2006/main" prst="roundRect">
            <a:avLst>
              <a:gd name="adj" fmla="val 23529"/>
            </a:avLst>
          </a:prstGeom>
          <a:solidFill xmlns:a="http://schemas.openxmlformats.org/drawingml/2006/main">
            <a:srgbClr val="00B2BB"/>
          </a:solidFill>
          <a:ln xmlns:a="http://schemas.openxmlformats.org/drawingml/2006/main" w="0">
            <a:solidFill>
              <a:srgbClr val="00B2BB"/>
            </a:solidFill>
            <a:prstDash val="solid"/>
          </a:ln>
        </p:spPr>
      </p:sp>
      <p:sp>
        <p:nvSpPr>
          <p:cNvPr id="9" name="">
            <a:extLst xmlns:a="http://schemas.openxmlformats.org/drawingml/2006/main">
              <a:ext uri="{FF2B5EF4-FFF2-40B4-BE49-F238E27FC236}">
                <a16:creationId xmlns:a16="http://schemas.microsoft.com/office/drawing/2014/main" id="{0E21DE07-FEE7-421F-983A-7DCBBF25AA65}"/>
              </a:ext>
            </a:extLst>
          </p:cNvPr>
          <p:cNvSpPr>
            <a:spLocks xmlns:a="http://schemas.openxmlformats.org/drawingml/2006/main" noGrp="1"/>
          </p:cNvSpPr>
          <p:nvPr/>
        </p:nvSpPr>
        <p:spPr>
          <a:xfrm xmlns:a="http://schemas.openxmlformats.org/drawingml/2006/main">
            <a:off x="7429500" y="1990725"/>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10" name="">
            <a:extLst xmlns:a="http://schemas.openxmlformats.org/drawingml/2006/main">
              <a:ext uri="{FF2B5EF4-FFF2-40B4-BE49-F238E27FC236}">
                <a16:creationId xmlns:a16="http://schemas.microsoft.com/office/drawing/2014/main" id="{DF526F4A-3F84-4AF7-A5B0-8323061B00A9}"/>
              </a:ext>
            </a:extLst>
          </p:cNvPr>
          <p:cNvSpPr>
            <a:spLocks xmlns:a="http://schemas.openxmlformats.org/drawingml/2006/main" noGrp="1"/>
          </p:cNvSpPr>
          <p:nvPr/>
        </p:nvSpPr>
        <p:spPr>
          <a:xfrm xmlns:a="http://schemas.openxmlformats.org/drawingml/2006/main">
            <a:off x="7886700" y="1952625"/>
            <a:ext cx="3333750" cy="5753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15" b="0">
                <a:solidFill>
                  <a:srgbClr val="15232B"/>
                </a:solidFill>
              </a:defRPr>
            </a:pPr>
            <a:r>
              <a:rPr sz="1215" b="0">
                <a:solidFill>
                  <a:srgbClr val="15232B"/>
                </a:solidFill>
              </a:rPr>
              <a:t>Hat sich Ihre Entscheidung seit der ersten Abstimmung geändert?</a:t>
            </a:r>
          </a:p>
        </p:txBody>
      </p:sp>
      <p:sp>
        <p:nvSpPr>
          <p:cNvPr id="11" name="">
            <a:extLst xmlns:a="http://schemas.openxmlformats.org/drawingml/2006/main">
              <a:ext uri="{FF2B5EF4-FFF2-40B4-BE49-F238E27FC236}">
                <a16:creationId xmlns:a16="http://schemas.microsoft.com/office/drawing/2014/main" id="{B2215B5A-0A70-4C3D-98D6-57C43B1804C9}"/>
              </a:ext>
            </a:extLst>
          </p:cNvPr>
          <p:cNvSpPr>
            <a:spLocks xmlns:a="http://schemas.openxmlformats.org/drawingml/2006/main" noGrp="1"/>
          </p:cNvSpPr>
          <p:nvPr/>
        </p:nvSpPr>
        <p:spPr>
          <a:xfrm xmlns:a="http://schemas.openxmlformats.org/drawingml/2006/main">
            <a:off x="7429500" y="2661285"/>
            <a:ext cx="323850" cy="323850"/>
          </a:xfrm>
          <a:prstGeom xmlns:a="http://schemas.openxmlformats.org/drawingml/2006/main" prst="roundRect">
            <a:avLst>
              <a:gd name="adj" fmla="val 23529"/>
            </a:avLst>
          </a:prstGeom>
          <a:solidFill xmlns:a="http://schemas.openxmlformats.org/drawingml/2006/main">
            <a:srgbClr val="003F6B"/>
          </a:solidFill>
          <a:ln xmlns:a="http://schemas.openxmlformats.org/drawingml/2006/main" w="0">
            <a:solidFill>
              <a:srgbClr val="003F6B"/>
            </a:solidFill>
            <a:prstDash val="solid"/>
          </a:ln>
        </p:spPr>
      </p:sp>
      <p:sp>
        <p:nvSpPr>
          <p:cNvPr id="12" name="">
            <a:extLst xmlns:a="http://schemas.openxmlformats.org/drawingml/2006/main">
              <a:ext uri="{FF2B5EF4-FFF2-40B4-BE49-F238E27FC236}">
                <a16:creationId xmlns:a16="http://schemas.microsoft.com/office/drawing/2014/main" id="{1667CFDB-2254-47F3-AD93-D4154E312C9C}"/>
              </a:ext>
            </a:extLst>
          </p:cNvPr>
          <p:cNvSpPr>
            <a:spLocks xmlns:a="http://schemas.openxmlformats.org/drawingml/2006/main" noGrp="1"/>
          </p:cNvSpPr>
          <p:nvPr/>
        </p:nvSpPr>
        <p:spPr>
          <a:xfrm xmlns:a="http://schemas.openxmlformats.org/drawingml/2006/main">
            <a:off x="7429500" y="2661285"/>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3" name="">
            <a:extLst xmlns:a="http://schemas.openxmlformats.org/drawingml/2006/main">
              <a:ext uri="{FF2B5EF4-FFF2-40B4-BE49-F238E27FC236}">
                <a16:creationId xmlns:a16="http://schemas.microsoft.com/office/drawing/2014/main" id="{B575E30F-6FB6-4996-8B24-AD41B0D76737}"/>
              </a:ext>
            </a:extLst>
          </p:cNvPr>
          <p:cNvSpPr>
            <a:spLocks xmlns:a="http://schemas.openxmlformats.org/drawingml/2006/main" noGrp="1"/>
          </p:cNvSpPr>
          <p:nvPr/>
        </p:nvSpPr>
        <p:spPr>
          <a:xfrm xmlns:a="http://schemas.openxmlformats.org/drawingml/2006/main">
            <a:off x="7886700" y="2623185"/>
            <a:ext cx="3333750" cy="5753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15" b="0">
                <a:solidFill>
                  <a:srgbClr val="15232B"/>
                </a:solidFill>
              </a:defRPr>
            </a:pPr>
            <a:r>
              <a:rPr sz="1215" b="0">
                <a:solidFill>
                  <a:srgbClr val="15232B"/>
                </a:solidFill>
              </a:rPr>
              <a:t>Welche Aussage der verstorbenen Frau wäre rechtlich besonders gewichtig?</a:t>
            </a:r>
          </a:p>
        </p:txBody>
      </p:sp>
      <p:sp>
        <p:nvSpPr>
          <p:cNvPr id="14" name="">
            <a:extLst xmlns:a="http://schemas.openxmlformats.org/drawingml/2006/main">
              <a:ext uri="{FF2B5EF4-FFF2-40B4-BE49-F238E27FC236}">
                <a16:creationId xmlns:a16="http://schemas.microsoft.com/office/drawing/2014/main" id="{96F167FF-458C-41CF-BDC1-1974695679C9}"/>
              </a:ext>
            </a:extLst>
          </p:cNvPr>
          <p:cNvSpPr>
            <a:spLocks xmlns:a="http://schemas.openxmlformats.org/drawingml/2006/main" noGrp="1"/>
          </p:cNvSpPr>
          <p:nvPr/>
        </p:nvSpPr>
        <p:spPr>
          <a:xfrm xmlns:a="http://schemas.openxmlformats.org/drawingml/2006/main">
            <a:off x="7429500" y="3331845"/>
            <a:ext cx="323850" cy="323850"/>
          </a:xfrm>
          <a:prstGeom xmlns:a="http://schemas.openxmlformats.org/drawingml/2006/main" prst="roundRect">
            <a:avLst>
              <a:gd name="adj" fmla="val 23529"/>
            </a:avLst>
          </a:prstGeom>
          <a:solidFill xmlns:a="http://schemas.openxmlformats.org/drawingml/2006/main">
            <a:srgbClr val="00B2BB"/>
          </a:solidFill>
          <a:ln xmlns:a="http://schemas.openxmlformats.org/drawingml/2006/main" w="0">
            <a:solidFill>
              <a:srgbClr val="00B2BB"/>
            </a:solidFill>
            <a:prstDash val="solid"/>
          </a:ln>
        </p:spPr>
      </p:sp>
      <p:sp>
        <p:nvSpPr>
          <p:cNvPr id="15" name="">
            <a:extLst xmlns:a="http://schemas.openxmlformats.org/drawingml/2006/main">
              <a:ext uri="{FF2B5EF4-FFF2-40B4-BE49-F238E27FC236}">
                <a16:creationId xmlns:a16="http://schemas.microsoft.com/office/drawing/2014/main" id="{D45512B0-E714-4A26-8EF5-424144312795}"/>
              </a:ext>
            </a:extLst>
          </p:cNvPr>
          <p:cNvSpPr>
            <a:spLocks xmlns:a="http://schemas.openxmlformats.org/drawingml/2006/main" noGrp="1"/>
          </p:cNvSpPr>
          <p:nvPr/>
        </p:nvSpPr>
        <p:spPr>
          <a:xfrm xmlns:a="http://schemas.openxmlformats.org/drawingml/2006/main">
            <a:off x="7429500" y="3331845"/>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6" name="">
            <a:extLst xmlns:a="http://schemas.openxmlformats.org/drawingml/2006/main">
              <a:ext uri="{FF2B5EF4-FFF2-40B4-BE49-F238E27FC236}">
                <a16:creationId xmlns:a16="http://schemas.microsoft.com/office/drawing/2014/main" id="{9A3990BA-EF64-4E05-B46F-1C200EBC6B9D}"/>
              </a:ext>
            </a:extLst>
          </p:cNvPr>
          <p:cNvSpPr>
            <a:spLocks xmlns:a="http://schemas.openxmlformats.org/drawingml/2006/main" noGrp="1"/>
          </p:cNvSpPr>
          <p:nvPr/>
        </p:nvSpPr>
        <p:spPr>
          <a:xfrm xmlns:a="http://schemas.openxmlformats.org/drawingml/2006/main">
            <a:off x="7886700" y="3293745"/>
            <a:ext cx="3333750" cy="5753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15" b="0">
                <a:solidFill>
                  <a:srgbClr val="15232B"/>
                </a:solidFill>
              </a:defRPr>
            </a:pPr>
            <a:r>
              <a:rPr sz="1215" b="0">
                <a:solidFill>
                  <a:srgbClr val="15232B"/>
                </a:solidFill>
              </a:rPr>
              <a:t>Ab welcher Prognose wäre weitere somatische Unterstützung medizinisch nicht mehr indiziert?</a:t>
            </a:r>
          </a:p>
        </p:txBody>
      </p:sp>
      <p:sp>
        <p:nvSpPr>
          <p:cNvPr id="17" name="">
            <a:extLst xmlns:a="http://schemas.openxmlformats.org/drawingml/2006/main">
              <a:ext uri="{FF2B5EF4-FFF2-40B4-BE49-F238E27FC236}">
                <a16:creationId xmlns:a16="http://schemas.microsoft.com/office/drawing/2014/main" id="{C62DF583-CAF4-4F52-8B8F-58C9C7C696E1}"/>
              </a:ext>
            </a:extLst>
          </p:cNvPr>
          <p:cNvSpPr>
            <a:spLocks xmlns:a="http://schemas.openxmlformats.org/drawingml/2006/main" noGrp="1"/>
          </p:cNvSpPr>
          <p:nvPr/>
        </p:nvSpPr>
        <p:spPr>
          <a:xfrm xmlns:a="http://schemas.openxmlformats.org/drawingml/2006/main">
            <a:off x="7429500" y="4002405"/>
            <a:ext cx="323850" cy="323850"/>
          </a:xfrm>
          <a:prstGeom xmlns:a="http://schemas.openxmlformats.org/drawingml/2006/main" prst="roundRect">
            <a:avLst>
              <a:gd name="adj" fmla="val 23529"/>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EF27A212-BAEC-4293-88CF-C0059C0D28C5}"/>
              </a:ext>
            </a:extLst>
          </p:cNvPr>
          <p:cNvSpPr>
            <a:spLocks xmlns:a="http://schemas.openxmlformats.org/drawingml/2006/main" noGrp="1"/>
          </p:cNvSpPr>
          <p:nvPr/>
        </p:nvSpPr>
        <p:spPr>
          <a:xfrm xmlns:a="http://schemas.openxmlformats.org/drawingml/2006/main">
            <a:off x="7429500" y="4002405"/>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19" name="">
            <a:extLst xmlns:a="http://schemas.openxmlformats.org/drawingml/2006/main">
              <a:ext uri="{FF2B5EF4-FFF2-40B4-BE49-F238E27FC236}">
                <a16:creationId xmlns:a16="http://schemas.microsoft.com/office/drawing/2014/main" id="{4FDD36AB-9DC9-4BA1-B485-B319A7200386}"/>
              </a:ext>
            </a:extLst>
          </p:cNvPr>
          <p:cNvSpPr>
            <a:spLocks xmlns:a="http://schemas.openxmlformats.org/drawingml/2006/main" noGrp="1"/>
          </p:cNvSpPr>
          <p:nvPr/>
        </p:nvSpPr>
        <p:spPr>
          <a:xfrm xmlns:a="http://schemas.openxmlformats.org/drawingml/2006/main">
            <a:off x="7886700" y="3964305"/>
            <a:ext cx="3333750" cy="5753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15" b="0">
                <a:solidFill>
                  <a:srgbClr val="15232B"/>
                </a:solidFill>
              </a:defRPr>
            </a:pPr>
            <a:r>
              <a:rPr sz="1215" b="0">
                <a:solidFill>
                  <a:srgbClr val="15232B"/>
                </a:solidFill>
              </a:rPr>
              <a:t>Welche Entscheidung darf ein Gericht treffen – und welche bleibt medizinisch?</a:t>
            </a:r>
          </a:p>
        </p:txBody>
      </p:sp>
      <p:sp>
        <p:nvSpPr>
          <p:cNvPr id="20" name="">
            <a:extLst xmlns:a="http://schemas.openxmlformats.org/drawingml/2006/main">
              <a:ext uri="{FF2B5EF4-FFF2-40B4-BE49-F238E27FC236}">
                <a16:creationId xmlns:a16="http://schemas.microsoft.com/office/drawing/2014/main" id="{5DD18768-3B60-4CEE-BCC3-AFCE1AAC949C}"/>
              </a:ext>
            </a:extLst>
          </p:cNvPr>
          <p:cNvSpPr>
            <a:spLocks xmlns:a="http://schemas.openxmlformats.org/drawingml/2006/main" noGrp="1"/>
          </p:cNvSpPr>
          <p:nvPr/>
        </p:nvSpPr>
        <p:spPr>
          <a:xfrm xmlns:a="http://schemas.openxmlformats.org/drawingml/2006/main">
            <a:off x="7429500" y="4672965"/>
            <a:ext cx="323850" cy="323850"/>
          </a:xfrm>
          <a:prstGeom xmlns:a="http://schemas.openxmlformats.org/drawingml/2006/main" prst="roundRect">
            <a:avLst>
              <a:gd name="adj" fmla="val 23529"/>
            </a:avLst>
          </a:prstGeom>
          <a:solidFill xmlns:a="http://schemas.openxmlformats.org/drawingml/2006/main">
            <a:srgbClr val="00B2BB"/>
          </a:solidFill>
          <a:ln xmlns:a="http://schemas.openxmlformats.org/drawingml/2006/main" w="0">
            <a:solidFill>
              <a:srgbClr val="00B2BB"/>
            </a:solidFill>
            <a:prstDash val="solid"/>
          </a:ln>
        </p:spPr>
      </p:sp>
      <p:sp>
        <p:nvSpPr>
          <p:cNvPr id="21" name="">
            <a:extLst xmlns:a="http://schemas.openxmlformats.org/drawingml/2006/main">
              <a:ext uri="{FF2B5EF4-FFF2-40B4-BE49-F238E27FC236}">
                <a16:creationId xmlns:a16="http://schemas.microsoft.com/office/drawing/2014/main" id="{F21D069C-FD4E-4F4F-A001-4A89D613CE7A}"/>
              </a:ext>
            </a:extLst>
          </p:cNvPr>
          <p:cNvSpPr>
            <a:spLocks xmlns:a="http://schemas.openxmlformats.org/drawingml/2006/main" noGrp="1"/>
          </p:cNvSpPr>
          <p:nvPr/>
        </p:nvSpPr>
        <p:spPr>
          <a:xfrm xmlns:a="http://schemas.openxmlformats.org/drawingml/2006/main">
            <a:off x="7429500" y="4672965"/>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5</a:t>
            </a:r>
          </a:p>
        </p:txBody>
      </p:sp>
      <p:sp>
        <p:nvSpPr>
          <p:cNvPr id="22" name="">
            <a:extLst xmlns:a="http://schemas.openxmlformats.org/drawingml/2006/main">
              <a:ext uri="{FF2B5EF4-FFF2-40B4-BE49-F238E27FC236}">
                <a16:creationId xmlns:a16="http://schemas.microsoft.com/office/drawing/2014/main" id="{3B46ED45-4AD2-40EA-95CA-B98E17FD31ED}"/>
              </a:ext>
            </a:extLst>
          </p:cNvPr>
          <p:cNvSpPr>
            <a:spLocks xmlns:a="http://schemas.openxmlformats.org/drawingml/2006/main" noGrp="1"/>
          </p:cNvSpPr>
          <p:nvPr/>
        </p:nvSpPr>
        <p:spPr>
          <a:xfrm xmlns:a="http://schemas.openxmlformats.org/drawingml/2006/main">
            <a:off x="7886700" y="4634865"/>
            <a:ext cx="3333750" cy="5753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15" b="0">
                <a:solidFill>
                  <a:srgbClr val="15232B"/>
                </a:solidFill>
              </a:defRPr>
            </a:pPr>
            <a:r>
              <a:rPr sz="1215" b="0">
                <a:solidFill>
                  <a:srgbClr val="15232B"/>
                </a:solidFill>
              </a:rPr>
              <a:t>Wie kennzeichnen Sie Unsicherheit und Dissens in der Dokumentation?</a:t>
            </a:r>
          </a:p>
        </p:txBody>
      </p:sp>
      <p:sp>
        <p:nvSpPr>
          <p:cNvPr id="23" name="">
            <a:extLst xmlns:a="http://schemas.openxmlformats.org/drawingml/2006/main">
              <a:ext uri="{FF2B5EF4-FFF2-40B4-BE49-F238E27FC236}">
                <a16:creationId xmlns:a16="http://schemas.microsoft.com/office/drawing/2014/main" id="{F13EE3C6-22F5-43A6-8926-66E73729D52B}"/>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4" name="">
            <a:extLst xmlns:a="http://schemas.openxmlformats.org/drawingml/2006/main">
              <a:ext uri="{FF2B5EF4-FFF2-40B4-BE49-F238E27FC236}">
                <a16:creationId xmlns:a16="http://schemas.microsoft.com/office/drawing/2014/main" id="{047C2D9D-D768-47E9-BBBE-069854D69133}"/>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Der Erkenntnisgewinn liegt in der begründeten Neubewertung – nicht darin, dass der Kurs eine einzige moralisch richtige Antwort vorgibt.</a:t>
            </a:r>
          </a:p>
        </p:txBody>
      </p:sp>
    </p:spTree>
    <p:extLst>
      <p:ext uri="{BB962C8B-B14F-4D97-AF65-F5344CB8AC3E}">
        <p14:creationId xmlns:p14="http://schemas.microsoft.com/office/powerpoint/2010/main" val="43637646"/>
      </p:ext>
    </p:extLst>
  </p:cSld>
</p:sld>
</file>

<file path=ppt/slides/slide322.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Autonomie in der Praxis: Was dokumentieren?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TRANSFER</a:t>
            </a:r>
            <a:endParaRPr/>
          </a:p>
        </p:txBody>
      </p:sp>
      <p:sp>
        <p:nvSpPr>
          <p:cNvPr id="4" name="">
            <a:extLst xmlns:a="http://schemas.openxmlformats.org/drawingml/2006/main">
              <a:ext uri="{FF2B5EF4-FFF2-40B4-BE49-F238E27FC236}">
                <a16:creationId xmlns:a16="http://schemas.microsoft.com/office/drawing/2014/main" id="{8A09770C-A9C4-4146-9CEF-CECF21434914}"/>
              </a:ext>
            </a:extLst>
          </p:cNvPr>
          <p:cNvSpPr>
            <a:spLocks xmlns:a="http://schemas.openxmlformats.org/drawingml/2006/main" noGrp="1"/>
          </p:cNvSpPr>
          <p:nvPr/>
        </p:nvSpPr>
        <p:spPr>
          <a:xfrm xmlns:a="http://schemas.openxmlformats.org/drawingml/2006/main">
            <a:off x="1809750" y="2038350"/>
            <a:ext cx="323850" cy="323850"/>
          </a:xfrm>
          <a:prstGeom xmlns:a="http://schemas.openxmlformats.org/drawingml/2006/main" prst="ellipse">
            <a:avLst/>
          </a:prstGeom>
          <a:solidFill xmlns:a="http://schemas.openxmlformats.org/drawingml/2006/main">
            <a:srgbClr val="00B2BB"/>
          </a:solidFill>
          <a:ln xmlns:a="http://schemas.openxmlformats.org/drawingml/2006/main" w="0">
            <a:solidFill>
              <a:srgbClr val="FFFFFF"/>
            </a:solidFill>
            <a:prstDash val="solid"/>
          </a:ln>
        </p:spPr>
      </p:sp>
      <p:sp>
        <p:nvSpPr>
          <p:cNvPr id="5" name="">
            <a:extLst xmlns:a="http://schemas.openxmlformats.org/drawingml/2006/main">
              <a:ext uri="{FF2B5EF4-FFF2-40B4-BE49-F238E27FC236}">
                <a16:creationId xmlns:a16="http://schemas.microsoft.com/office/drawing/2014/main" id="{9497E163-80CF-4911-8DF2-AB0705DE8C1C}"/>
              </a:ext>
            </a:extLst>
          </p:cNvPr>
          <p:cNvSpPr>
            <a:spLocks xmlns:a="http://schemas.openxmlformats.org/drawingml/2006/main" noGrp="1"/>
          </p:cNvSpPr>
          <p:nvPr/>
        </p:nvSpPr>
        <p:spPr>
          <a:xfrm xmlns:a="http://schemas.openxmlformats.org/drawingml/2006/main">
            <a:off x="1809750" y="20383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713" b="1">
                <a:solidFill>
                  <a:srgbClr val="FFFFFF"/>
                </a:solidFill>
              </a:defRPr>
            </a:pPr>
            <a:r>
              <a:rPr sz="713" b="1">
                <a:solidFill>
                  <a:srgbClr val="FFFFFF"/>
                </a:solidFill>
              </a:rPr>
              <a:t>1</a:t>
            </a:r>
          </a:p>
        </p:txBody>
      </p:sp>
      <p:sp>
        <p:nvSpPr>
          <p:cNvPr id="6" name="">
            <a:extLst xmlns:a="http://schemas.openxmlformats.org/drawingml/2006/main">
              <a:ext uri="{FF2B5EF4-FFF2-40B4-BE49-F238E27FC236}">
                <a16:creationId xmlns:a16="http://schemas.microsoft.com/office/drawing/2014/main" id="{441EBD39-80B5-4465-B4FC-79D22A4B74A4}"/>
              </a:ext>
            </a:extLst>
          </p:cNvPr>
          <p:cNvSpPr>
            <a:spLocks xmlns:a="http://schemas.openxmlformats.org/drawingml/2006/main" noGrp="1"/>
          </p:cNvSpPr>
          <p:nvPr/>
        </p:nvSpPr>
        <p:spPr>
          <a:xfrm xmlns:a="http://schemas.openxmlformats.org/drawingml/2006/main">
            <a:off x="2266950" y="2000250"/>
            <a:ext cx="9067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a:solidFill>
                  <a:srgbClr val="15232B"/>
                </a:solidFill>
              </a:defRPr>
            </a:pPr>
            <a:r>
              <a:rPr sz="1275">
                <a:solidFill>
                  <a:srgbClr val="15232B"/>
                </a:solidFill>
              </a:rPr>
              <a:t>Einwilligungsfähigkeit und Informationsniveau</a:t>
            </a:r>
          </a:p>
        </p:txBody>
      </p:sp>
      <p:sp>
        <p:nvSpPr>
          <p:cNvPr id="7" name="">
            <a:extLst xmlns:a="http://schemas.openxmlformats.org/drawingml/2006/main">
              <a:ext uri="{FF2B5EF4-FFF2-40B4-BE49-F238E27FC236}">
                <a16:creationId xmlns:a16="http://schemas.microsoft.com/office/drawing/2014/main" id="{4ADA175C-DD58-49DB-B7AC-321754A68904}"/>
              </a:ext>
            </a:extLst>
          </p:cNvPr>
          <p:cNvSpPr>
            <a:spLocks xmlns:a="http://schemas.openxmlformats.org/drawingml/2006/main" noGrp="1"/>
          </p:cNvSpPr>
          <p:nvPr/>
        </p:nvSpPr>
        <p:spPr>
          <a:xfrm xmlns:a="http://schemas.openxmlformats.org/drawingml/2006/main">
            <a:off x="1809750" y="2590800"/>
            <a:ext cx="323850" cy="323850"/>
          </a:xfrm>
          <a:prstGeom xmlns:a="http://schemas.openxmlformats.org/drawingml/2006/main" prst="ellipse">
            <a:avLst/>
          </a:prstGeom>
          <a:solidFill xmlns:a="http://schemas.openxmlformats.org/drawingml/2006/main">
            <a:srgbClr val="003F6B"/>
          </a:solidFill>
          <a:ln xmlns:a="http://schemas.openxmlformats.org/drawingml/2006/main" w="0">
            <a:solidFill>
              <a:srgbClr val="FFFFFF"/>
            </a:solidFill>
            <a:prstDash val="solid"/>
          </a:ln>
        </p:spPr>
      </p:sp>
      <p:sp>
        <p:nvSpPr>
          <p:cNvPr id="8" name="">
            <a:extLst xmlns:a="http://schemas.openxmlformats.org/drawingml/2006/main">
              <a:ext uri="{FF2B5EF4-FFF2-40B4-BE49-F238E27FC236}">
                <a16:creationId xmlns:a16="http://schemas.microsoft.com/office/drawing/2014/main" id="{79A7FCE6-39A0-4908-BFC5-61083650F8D0}"/>
              </a:ext>
            </a:extLst>
          </p:cNvPr>
          <p:cNvSpPr>
            <a:spLocks xmlns:a="http://schemas.openxmlformats.org/drawingml/2006/main" noGrp="1"/>
          </p:cNvSpPr>
          <p:nvPr/>
        </p:nvSpPr>
        <p:spPr>
          <a:xfrm xmlns:a="http://schemas.openxmlformats.org/drawingml/2006/main">
            <a:off x="1809750" y="259080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713" b="1">
                <a:solidFill>
                  <a:srgbClr val="FFFFFF"/>
                </a:solidFill>
              </a:defRPr>
            </a:pPr>
            <a:r>
              <a:rPr sz="713" b="1">
                <a:solidFill>
                  <a:srgbClr val="FFFFFF"/>
                </a:solidFill>
              </a:rPr>
              <a:t>2</a:t>
            </a:r>
          </a:p>
        </p:txBody>
      </p:sp>
      <p:sp>
        <p:nvSpPr>
          <p:cNvPr id="9" name="">
            <a:extLst xmlns:a="http://schemas.openxmlformats.org/drawingml/2006/main">
              <a:ext uri="{FF2B5EF4-FFF2-40B4-BE49-F238E27FC236}">
                <a16:creationId xmlns:a16="http://schemas.microsoft.com/office/drawing/2014/main" id="{382939E3-047B-4C1C-8150-C9520FEDFC59}"/>
              </a:ext>
            </a:extLst>
          </p:cNvPr>
          <p:cNvSpPr>
            <a:spLocks xmlns:a="http://schemas.openxmlformats.org/drawingml/2006/main" noGrp="1"/>
          </p:cNvSpPr>
          <p:nvPr/>
        </p:nvSpPr>
        <p:spPr>
          <a:xfrm xmlns:a="http://schemas.openxmlformats.org/drawingml/2006/main">
            <a:off x="2266950" y="2552700"/>
            <a:ext cx="9067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a:solidFill>
                  <a:srgbClr val="15232B"/>
                </a:solidFill>
              </a:defRPr>
            </a:pPr>
            <a:r>
              <a:rPr sz="1275">
                <a:solidFill>
                  <a:srgbClr val="15232B"/>
                </a:solidFill>
              </a:rPr>
              <a:t>wesentliche Risiken und echte Alternativen</a:t>
            </a:r>
          </a:p>
        </p:txBody>
      </p:sp>
      <p:sp>
        <p:nvSpPr>
          <p:cNvPr id="10" name="">
            <a:extLst xmlns:a="http://schemas.openxmlformats.org/drawingml/2006/main">
              <a:ext uri="{FF2B5EF4-FFF2-40B4-BE49-F238E27FC236}">
                <a16:creationId xmlns:a16="http://schemas.microsoft.com/office/drawing/2014/main" id="{86019ADA-3B87-43C7-96AF-C30EF987941F}"/>
              </a:ext>
            </a:extLst>
          </p:cNvPr>
          <p:cNvSpPr>
            <a:spLocks xmlns:a="http://schemas.openxmlformats.org/drawingml/2006/main" noGrp="1"/>
          </p:cNvSpPr>
          <p:nvPr/>
        </p:nvSpPr>
        <p:spPr>
          <a:xfrm xmlns:a="http://schemas.openxmlformats.org/drawingml/2006/main">
            <a:off x="1809750" y="3143250"/>
            <a:ext cx="323850" cy="323850"/>
          </a:xfrm>
          <a:prstGeom xmlns:a="http://schemas.openxmlformats.org/drawingml/2006/main" prst="ellipse">
            <a:avLst/>
          </a:prstGeom>
          <a:solidFill xmlns:a="http://schemas.openxmlformats.org/drawingml/2006/main">
            <a:srgbClr val="00B2BB"/>
          </a:solidFill>
          <a:ln xmlns:a="http://schemas.openxmlformats.org/drawingml/2006/main" w="0">
            <a:solidFill>
              <a:srgbClr val="FFFFFF"/>
            </a:solidFill>
            <a:prstDash val="solid"/>
          </a:ln>
        </p:spPr>
      </p:sp>
      <p:sp>
        <p:nvSpPr>
          <p:cNvPr id="11" name="">
            <a:extLst xmlns:a="http://schemas.openxmlformats.org/drawingml/2006/main">
              <a:ext uri="{FF2B5EF4-FFF2-40B4-BE49-F238E27FC236}">
                <a16:creationId xmlns:a16="http://schemas.microsoft.com/office/drawing/2014/main" id="{B13BC9CF-7EA3-4362-99AC-43300BA0DE30}"/>
              </a:ext>
            </a:extLst>
          </p:cNvPr>
          <p:cNvSpPr>
            <a:spLocks xmlns:a="http://schemas.openxmlformats.org/drawingml/2006/main" noGrp="1"/>
          </p:cNvSpPr>
          <p:nvPr/>
        </p:nvSpPr>
        <p:spPr>
          <a:xfrm xmlns:a="http://schemas.openxmlformats.org/drawingml/2006/main">
            <a:off x="1809750" y="31432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713" b="1">
                <a:solidFill>
                  <a:srgbClr val="FFFFFF"/>
                </a:solidFill>
              </a:defRPr>
            </a:pPr>
            <a:r>
              <a:rPr sz="713" b="1">
                <a:solidFill>
                  <a:srgbClr val="FFFFFF"/>
                </a:solidFill>
              </a:rPr>
              <a:t>3</a:t>
            </a:r>
          </a:p>
        </p:txBody>
      </p:sp>
      <p:sp>
        <p:nvSpPr>
          <p:cNvPr id="12" name="">
            <a:extLst xmlns:a="http://schemas.openxmlformats.org/drawingml/2006/main">
              <a:ext uri="{FF2B5EF4-FFF2-40B4-BE49-F238E27FC236}">
                <a16:creationId xmlns:a16="http://schemas.microsoft.com/office/drawing/2014/main" id="{B2578C07-DC7E-4885-B8D6-5559F603653F}"/>
              </a:ext>
            </a:extLst>
          </p:cNvPr>
          <p:cNvSpPr>
            <a:spLocks xmlns:a="http://schemas.openxmlformats.org/drawingml/2006/main" noGrp="1"/>
          </p:cNvSpPr>
          <p:nvPr/>
        </p:nvSpPr>
        <p:spPr>
          <a:xfrm xmlns:a="http://schemas.openxmlformats.org/drawingml/2006/main">
            <a:off x="2266950" y="3105150"/>
            <a:ext cx="9067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a:solidFill>
                  <a:srgbClr val="15232B"/>
                </a:solidFill>
              </a:defRPr>
            </a:pPr>
            <a:r>
              <a:rPr sz="1275">
                <a:solidFill>
                  <a:srgbClr val="15232B"/>
                </a:solidFill>
              </a:rPr>
              <a:t>Fragen und Entscheidung der Patientin / des Patienten</a:t>
            </a:r>
          </a:p>
        </p:txBody>
      </p:sp>
      <p:sp>
        <p:nvSpPr>
          <p:cNvPr id="13" name="">
            <a:extLst xmlns:a="http://schemas.openxmlformats.org/drawingml/2006/main">
              <a:ext uri="{FF2B5EF4-FFF2-40B4-BE49-F238E27FC236}">
                <a16:creationId xmlns:a16="http://schemas.microsoft.com/office/drawing/2014/main" id="{F248251E-D075-4FC3-B309-208AFE15CB26}"/>
              </a:ext>
            </a:extLst>
          </p:cNvPr>
          <p:cNvSpPr>
            <a:spLocks xmlns:a="http://schemas.openxmlformats.org/drawingml/2006/main" noGrp="1"/>
          </p:cNvSpPr>
          <p:nvPr/>
        </p:nvSpPr>
        <p:spPr>
          <a:xfrm xmlns:a="http://schemas.openxmlformats.org/drawingml/2006/main">
            <a:off x="1809750" y="3695700"/>
            <a:ext cx="323850" cy="323850"/>
          </a:xfrm>
          <a:prstGeom xmlns:a="http://schemas.openxmlformats.org/drawingml/2006/main" prst="ellipse">
            <a:avLst/>
          </a:prstGeom>
          <a:solidFill xmlns:a="http://schemas.openxmlformats.org/drawingml/2006/main">
            <a:srgbClr val="003F6B"/>
          </a:solidFill>
          <a:ln xmlns:a="http://schemas.openxmlformats.org/drawingml/2006/main" w="0">
            <a:solidFill>
              <a:srgbClr val="FFFFFF"/>
            </a:solidFill>
            <a:prstDash val="solid"/>
          </a:ln>
        </p:spPr>
      </p:sp>
      <p:sp>
        <p:nvSpPr>
          <p:cNvPr id="14" name="">
            <a:extLst xmlns:a="http://schemas.openxmlformats.org/drawingml/2006/main">
              <a:ext uri="{FF2B5EF4-FFF2-40B4-BE49-F238E27FC236}">
                <a16:creationId xmlns:a16="http://schemas.microsoft.com/office/drawing/2014/main" id="{BBDF71EF-715D-4148-9306-1B3CB5C942FB}"/>
              </a:ext>
            </a:extLst>
          </p:cNvPr>
          <p:cNvSpPr>
            <a:spLocks xmlns:a="http://schemas.openxmlformats.org/drawingml/2006/main" noGrp="1"/>
          </p:cNvSpPr>
          <p:nvPr/>
        </p:nvSpPr>
        <p:spPr>
          <a:xfrm xmlns:a="http://schemas.openxmlformats.org/drawingml/2006/main">
            <a:off x="1809750" y="369570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713" b="1">
                <a:solidFill>
                  <a:srgbClr val="FFFFFF"/>
                </a:solidFill>
              </a:defRPr>
            </a:pPr>
            <a:r>
              <a:rPr sz="713" b="1">
                <a:solidFill>
                  <a:srgbClr val="FFFFFF"/>
                </a:solidFill>
              </a:rPr>
              <a:t>4</a:t>
            </a:r>
          </a:p>
        </p:txBody>
      </p:sp>
      <p:sp>
        <p:nvSpPr>
          <p:cNvPr id="15" name="">
            <a:extLst xmlns:a="http://schemas.openxmlformats.org/drawingml/2006/main">
              <a:ext uri="{FF2B5EF4-FFF2-40B4-BE49-F238E27FC236}">
                <a16:creationId xmlns:a16="http://schemas.microsoft.com/office/drawing/2014/main" id="{12825EAC-2BB4-4AEE-8C2E-6FB1425F5C77}"/>
              </a:ext>
            </a:extLst>
          </p:cNvPr>
          <p:cNvSpPr>
            <a:spLocks xmlns:a="http://schemas.openxmlformats.org/drawingml/2006/main" noGrp="1"/>
          </p:cNvSpPr>
          <p:nvPr/>
        </p:nvSpPr>
        <p:spPr>
          <a:xfrm xmlns:a="http://schemas.openxmlformats.org/drawingml/2006/main">
            <a:off x="2266950" y="3657600"/>
            <a:ext cx="9067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a:solidFill>
                  <a:srgbClr val="15232B"/>
                </a:solidFill>
              </a:defRPr>
            </a:pPr>
            <a:r>
              <a:rPr sz="1275">
                <a:solidFill>
                  <a:srgbClr val="15232B"/>
                </a:solidFill>
              </a:rPr>
              <a:t>Vertretungsgrundlage und relevante Dokumente</a:t>
            </a:r>
          </a:p>
        </p:txBody>
      </p:sp>
      <p:sp>
        <p:nvSpPr>
          <p:cNvPr id="16" name="">
            <a:extLst xmlns:a="http://schemas.openxmlformats.org/drawingml/2006/main">
              <a:ext uri="{FF2B5EF4-FFF2-40B4-BE49-F238E27FC236}">
                <a16:creationId xmlns:a16="http://schemas.microsoft.com/office/drawing/2014/main" id="{7F59BB30-1BC7-4D88-81B3-7EFFFCB2ECB1}"/>
              </a:ext>
            </a:extLst>
          </p:cNvPr>
          <p:cNvSpPr>
            <a:spLocks xmlns:a="http://schemas.openxmlformats.org/drawingml/2006/main" noGrp="1"/>
          </p:cNvSpPr>
          <p:nvPr/>
        </p:nvSpPr>
        <p:spPr>
          <a:xfrm xmlns:a="http://schemas.openxmlformats.org/drawingml/2006/main">
            <a:off x="1809750" y="4248150"/>
            <a:ext cx="323850" cy="323850"/>
          </a:xfrm>
          <a:prstGeom xmlns:a="http://schemas.openxmlformats.org/drawingml/2006/main" prst="ellipse">
            <a:avLst/>
          </a:prstGeom>
          <a:solidFill xmlns:a="http://schemas.openxmlformats.org/drawingml/2006/main">
            <a:srgbClr val="00B2BB"/>
          </a:solidFill>
          <a:ln xmlns:a="http://schemas.openxmlformats.org/drawingml/2006/main" w="0">
            <a:solidFill>
              <a:srgbClr val="FFFFFF"/>
            </a:solidFill>
            <a:prstDash val="solid"/>
          </a:ln>
        </p:spPr>
      </p:sp>
      <p:sp>
        <p:nvSpPr>
          <p:cNvPr id="17" name="">
            <a:extLst xmlns:a="http://schemas.openxmlformats.org/drawingml/2006/main">
              <a:ext uri="{FF2B5EF4-FFF2-40B4-BE49-F238E27FC236}">
                <a16:creationId xmlns:a16="http://schemas.microsoft.com/office/drawing/2014/main" id="{D52AF466-8BAC-463F-90D1-74010737DECD}"/>
              </a:ext>
            </a:extLst>
          </p:cNvPr>
          <p:cNvSpPr>
            <a:spLocks xmlns:a="http://schemas.openxmlformats.org/drawingml/2006/main" noGrp="1"/>
          </p:cNvSpPr>
          <p:nvPr/>
        </p:nvSpPr>
        <p:spPr>
          <a:xfrm xmlns:a="http://schemas.openxmlformats.org/drawingml/2006/main">
            <a:off x="1809750" y="42481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713" b="1">
                <a:solidFill>
                  <a:srgbClr val="FFFFFF"/>
                </a:solidFill>
              </a:defRPr>
            </a:pPr>
            <a:r>
              <a:rPr sz="713" b="1">
                <a:solidFill>
                  <a:srgbClr val="FFFFFF"/>
                </a:solidFill>
              </a:rPr>
              <a:t>5</a:t>
            </a:r>
          </a:p>
        </p:txBody>
      </p:sp>
      <p:sp>
        <p:nvSpPr>
          <p:cNvPr id="18" name="">
            <a:extLst xmlns:a="http://schemas.openxmlformats.org/drawingml/2006/main">
              <a:ext uri="{FF2B5EF4-FFF2-40B4-BE49-F238E27FC236}">
                <a16:creationId xmlns:a16="http://schemas.microsoft.com/office/drawing/2014/main" id="{2C07D631-F431-43FF-A18F-CF4FB6B37329}"/>
              </a:ext>
            </a:extLst>
          </p:cNvPr>
          <p:cNvSpPr>
            <a:spLocks xmlns:a="http://schemas.openxmlformats.org/drawingml/2006/main" noGrp="1"/>
          </p:cNvSpPr>
          <p:nvPr/>
        </p:nvSpPr>
        <p:spPr>
          <a:xfrm xmlns:a="http://schemas.openxmlformats.org/drawingml/2006/main">
            <a:off x="2266950" y="4210050"/>
            <a:ext cx="9067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a:solidFill>
                  <a:srgbClr val="15232B"/>
                </a:solidFill>
              </a:defRPr>
            </a:pPr>
            <a:r>
              <a:rPr sz="1275">
                <a:solidFill>
                  <a:srgbClr val="15232B"/>
                </a:solidFill>
              </a:rPr>
              <a:t>Zeitdruck, Unsicherheit und Gründe der Notfallentscheidung</a:t>
            </a:r>
          </a:p>
        </p:txBody>
      </p:sp>
      <p:sp>
        <p:nvSpPr>
          <p:cNvPr id="19" name="">
            <a:extLst xmlns:a="http://schemas.openxmlformats.org/drawingml/2006/main">
              <a:ext uri="{FF2B5EF4-FFF2-40B4-BE49-F238E27FC236}">
                <a16:creationId xmlns:a16="http://schemas.microsoft.com/office/drawing/2014/main" id="{01106E29-0EDC-4980-9B2D-AE47A0FF8833}"/>
              </a:ext>
            </a:extLst>
          </p:cNvPr>
          <p:cNvSpPr>
            <a:spLocks xmlns:a="http://schemas.openxmlformats.org/drawingml/2006/main" noGrp="1"/>
          </p:cNvSpPr>
          <p:nvPr/>
        </p:nvSpPr>
        <p:spPr>
          <a:xfrm xmlns:a="http://schemas.openxmlformats.org/drawingml/2006/main">
            <a:off x="1809750" y="4800600"/>
            <a:ext cx="323850" cy="323850"/>
          </a:xfrm>
          <a:prstGeom xmlns:a="http://schemas.openxmlformats.org/drawingml/2006/main" prst="ellipse">
            <a:avLst/>
          </a:prstGeom>
          <a:solidFill xmlns:a="http://schemas.openxmlformats.org/drawingml/2006/main">
            <a:srgbClr val="003F6B"/>
          </a:solidFill>
          <a:ln xmlns:a="http://schemas.openxmlformats.org/drawingml/2006/main" w="0">
            <a:solidFill>
              <a:srgbClr val="FFFFFF"/>
            </a:solidFill>
            <a:prstDash val="solid"/>
          </a:ln>
        </p:spPr>
      </p:sp>
      <p:sp>
        <p:nvSpPr>
          <p:cNvPr id="20" name="">
            <a:extLst xmlns:a="http://schemas.openxmlformats.org/drawingml/2006/main">
              <a:ext uri="{FF2B5EF4-FFF2-40B4-BE49-F238E27FC236}">
                <a16:creationId xmlns:a16="http://schemas.microsoft.com/office/drawing/2014/main" id="{75E25BC8-6989-4632-8683-6992B3F8802D}"/>
              </a:ext>
            </a:extLst>
          </p:cNvPr>
          <p:cNvSpPr>
            <a:spLocks xmlns:a="http://schemas.openxmlformats.org/drawingml/2006/main" noGrp="1"/>
          </p:cNvSpPr>
          <p:nvPr/>
        </p:nvSpPr>
        <p:spPr>
          <a:xfrm xmlns:a="http://schemas.openxmlformats.org/drawingml/2006/main">
            <a:off x="1809750" y="480060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713" b="1">
                <a:solidFill>
                  <a:srgbClr val="FFFFFF"/>
                </a:solidFill>
              </a:defRPr>
            </a:pPr>
            <a:r>
              <a:rPr sz="713" b="1">
                <a:solidFill>
                  <a:srgbClr val="FFFFFF"/>
                </a:solidFill>
              </a:rPr>
              <a:t>6</a:t>
            </a:r>
          </a:p>
        </p:txBody>
      </p:sp>
      <p:sp>
        <p:nvSpPr>
          <p:cNvPr id="21" name="">
            <a:extLst xmlns:a="http://schemas.openxmlformats.org/drawingml/2006/main">
              <a:ext uri="{FF2B5EF4-FFF2-40B4-BE49-F238E27FC236}">
                <a16:creationId xmlns:a16="http://schemas.microsoft.com/office/drawing/2014/main" id="{E39B996B-7BB6-4F31-B54C-88E3969EC4CA}"/>
              </a:ext>
            </a:extLst>
          </p:cNvPr>
          <p:cNvSpPr>
            <a:spLocks xmlns:a="http://schemas.openxmlformats.org/drawingml/2006/main" noGrp="1"/>
          </p:cNvSpPr>
          <p:nvPr/>
        </p:nvSpPr>
        <p:spPr>
          <a:xfrm xmlns:a="http://schemas.openxmlformats.org/drawingml/2006/main">
            <a:off x="2266950" y="4762500"/>
            <a:ext cx="9067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a:solidFill>
                  <a:srgbClr val="15232B"/>
                </a:solidFill>
              </a:defRPr>
            </a:pPr>
            <a:r>
              <a:rPr sz="1275">
                <a:solidFill>
                  <a:srgbClr val="15232B"/>
                </a:solidFill>
              </a:rPr>
              <a:t>Zeitpunkt der erneuten Prüfung</a:t>
            </a:r>
          </a:p>
        </p:txBody>
      </p:sp>
      <p:sp>
        <p:nvSpPr>
          <p:cNvPr id="22" name="">
            <a:extLst xmlns:a="http://schemas.openxmlformats.org/drawingml/2006/main">
              <a:ext uri="{FF2B5EF4-FFF2-40B4-BE49-F238E27FC236}">
                <a16:creationId xmlns:a16="http://schemas.microsoft.com/office/drawing/2014/main" id="{92EE78B6-FC09-4BB3-936E-5C290E4D12FF}"/>
              </a:ext>
            </a:extLst>
          </p:cNvPr>
          <p:cNvSpPr>
            <a:spLocks xmlns:a="http://schemas.openxmlformats.org/drawingml/2006/main" noGrp="1"/>
          </p:cNvSpPr>
          <p:nvPr/>
        </p:nvSpPr>
        <p:spPr>
          <a:xfrm xmlns:a="http://schemas.openxmlformats.org/drawingml/2006/main">
            <a:off x="2095500" y="5143500"/>
            <a:ext cx="895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0786B"/>
                </a:solidFill>
              </a:defRPr>
            </a:pPr>
            <a:r>
              <a:rPr sz="1200" b="1">
                <a:solidFill>
                  <a:srgbClr val="00786B"/>
                </a:solidFill>
              </a:rPr>
              <a:t>Nicht ‚aufgeklärt‘ dokumentieren, sondern die entscheidungsrelevante Kommunikation nachvollziehbar machen.</a:t>
            </a:r>
          </a:p>
        </p:txBody>
      </p:sp>
    </p:spTree>
    <p:extLst>
      <p:ext uri="{BB962C8B-B14F-4D97-AF65-F5344CB8AC3E}">
        <p14:creationId xmlns:p14="http://schemas.microsoft.com/office/powerpoint/2010/main" val="43637646"/>
      </p:ext>
    </p:extLst>
  </p:cSld>
</p:sld>
</file>

<file path=ppt/slides/slide323.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Zum Nachlesen · Termin 10: Autonomie, Einwilligung, Notfall</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LITERATUR &amp; SICHTBARE QUELLEN</a:t>
            </a:r>
            <a:endParaRPr/>
          </a:p>
        </p:txBody>
      </p:sp>
      <p:sp>
        <p:nvSpPr>
          <p:cNvPr id="4" name="">
            <a:extLst xmlns:a="http://schemas.openxmlformats.org/drawingml/2006/main">
              <a:ext uri="{FF2B5EF4-FFF2-40B4-BE49-F238E27FC236}">
                <a16:creationId xmlns:a16="http://schemas.microsoft.com/office/drawing/2014/main" id="{901B0586-F1A3-4A25-881D-6EE12296F6CA}"/>
              </a:ext>
            </a:extLst>
          </p:cNvPr>
          <p:cNvSpPr>
            <a:spLocks xmlns:a="http://schemas.openxmlformats.org/drawingml/2006/main" noGrp="1"/>
          </p:cNvSpPr>
          <p:nvPr/>
        </p:nvSpPr>
        <p:spPr>
          <a:xfrm xmlns:a="http://schemas.openxmlformats.org/drawingml/2006/main">
            <a:off x="1809750" y="1943100"/>
            <a:ext cx="461010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B1521D42-B3E6-4B48-BAAE-CB42CC5968C0}"/>
              </a:ext>
            </a:extLst>
          </p:cNvPr>
          <p:cNvSpPr>
            <a:spLocks xmlns:a="http://schemas.openxmlformats.org/drawingml/2006/main" noGrp="1"/>
          </p:cNvSpPr>
          <p:nvPr/>
        </p:nvSpPr>
        <p:spPr>
          <a:xfrm xmlns:a="http://schemas.openxmlformats.org/drawingml/2006/main">
            <a:off x="1809750" y="1943100"/>
            <a:ext cx="4610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Vertiefung</a:t>
            </a:r>
          </a:p>
        </p:txBody>
      </p:sp>
      <p:sp>
        <p:nvSpPr>
          <p:cNvPr id="6" name="">
            <a:extLst xmlns:a="http://schemas.openxmlformats.org/drawingml/2006/main">
              <a:ext uri="{FF2B5EF4-FFF2-40B4-BE49-F238E27FC236}">
                <a16:creationId xmlns:a16="http://schemas.microsoft.com/office/drawing/2014/main" id="{EDDDBF7D-C9D4-4F50-852B-6DC04CF517FC}"/>
              </a:ext>
            </a:extLst>
          </p:cNvPr>
          <p:cNvSpPr>
            <a:spLocks xmlns:a="http://schemas.openxmlformats.org/drawingml/2006/main" noGrp="1"/>
          </p:cNvSpPr>
          <p:nvPr/>
        </p:nvSpPr>
        <p:spPr>
          <a:xfrm xmlns:a="http://schemas.openxmlformats.org/drawingml/2006/main">
            <a:off x="1809750" y="30289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7" name="">
            <a:extLst xmlns:a="http://schemas.openxmlformats.org/drawingml/2006/main">
              <a:ext uri="{FF2B5EF4-FFF2-40B4-BE49-F238E27FC236}">
                <a16:creationId xmlns:a16="http://schemas.microsoft.com/office/drawing/2014/main" id="{C2AA27F2-734E-44BD-87B5-15043321E7D8}"/>
              </a:ext>
            </a:extLst>
          </p:cNvPr>
          <p:cNvSpPr>
            <a:spLocks xmlns:a="http://schemas.openxmlformats.org/drawingml/2006/main" noGrp="1"/>
          </p:cNvSpPr>
          <p:nvPr/>
        </p:nvSpPr>
        <p:spPr>
          <a:xfrm xmlns:a="http://schemas.openxmlformats.org/drawingml/2006/main">
            <a:off x="1809750" y="24765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9BAB"/>
                </a:solidFill>
              </a:defRPr>
            </a:pPr>
            <a:r>
              <a:rPr sz="960" b="1">
                <a:solidFill>
                  <a:srgbClr val="009BAB"/>
                </a:solidFill>
              </a:rPr>
              <a:t>Einwilligung</a:t>
            </a:r>
          </a:p>
        </p:txBody>
      </p:sp>
      <p:sp>
        <p:nvSpPr>
          <p:cNvPr id="8" name="">
            <a:extLst xmlns:a="http://schemas.openxmlformats.org/drawingml/2006/main">
              <a:ext uri="{FF2B5EF4-FFF2-40B4-BE49-F238E27FC236}">
                <a16:creationId xmlns:a16="http://schemas.microsoft.com/office/drawing/2014/main" id="{8B75862A-C8AE-4D5C-BD89-850DB1A0FE75}"/>
              </a:ext>
            </a:extLst>
          </p:cNvPr>
          <p:cNvSpPr>
            <a:spLocks xmlns:a="http://schemas.openxmlformats.org/drawingml/2006/main" noGrp="1"/>
          </p:cNvSpPr>
          <p:nvPr/>
        </p:nvSpPr>
        <p:spPr>
          <a:xfrm xmlns:a="http://schemas.openxmlformats.org/drawingml/2006/main">
            <a:off x="2952750" y="24765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MüKoBGB/Wagner, §§ 630d, 630e BGB.</a:t>
            </a:r>
          </a:p>
        </p:txBody>
      </p:sp>
      <p:sp>
        <p:nvSpPr>
          <p:cNvPr id="9" name="">
            <a:extLst xmlns:a="http://schemas.openxmlformats.org/drawingml/2006/main">
              <a:ext uri="{FF2B5EF4-FFF2-40B4-BE49-F238E27FC236}">
                <a16:creationId xmlns:a16="http://schemas.microsoft.com/office/drawing/2014/main" id="{66250D98-2536-4688-9066-AA55EB7AA324}"/>
              </a:ext>
            </a:extLst>
          </p:cNvPr>
          <p:cNvSpPr>
            <a:spLocks xmlns:a="http://schemas.openxmlformats.org/drawingml/2006/main" noGrp="1"/>
          </p:cNvSpPr>
          <p:nvPr/>
        </p:nvSpPr>
        <p:spPr>
          <a:xfrm xmlns:a="http://schemas.openxmlformats.org/drawingml/2006/main">
            <a:off x="1809750" y="36385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10" name="">
            <a:extLst xmlns:a="http://schemas.openxmlformats.org/drawingml/2006/main">
              <a:ext uri="{FF2B5EF4-FFF2-40B4-BE49-F238E27FC236}">
                <a16:creationId xmlns:a16="http://schemas.microsoft.com/office/drawing/2014/main" id="{A0877AD6-C068-4A9D-BC72-502DC2FABB6E}"/>
              </a:ext>
            </a:extLst>
          </p:cNvPr>
          <p:cNvSpPr>
            <a:spLocks xmlns:a="http://schemas.openxmlformats.org/drawingml/2006/main" noGrp="1"/>
          </p:cNvSpPr>
          <p:nvPr/>
        </p:nvSpPr>
        <p:spPr>
          <a:xfrm xmlns:a="http://schemas.openxmlformats.org/drawingml/2006/main">
            <a:off x="1809750" y="30861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9BAB"/>
                </a:solidFill>
              </a:defRPr>
            </a:pPr>
            <a:r>
              <a:rPr sz="960" b="1">
                <a:solidFill>
                  <a:srgbClr val="009BAB"/>
                </a:solidFill>
              </a:rPr>
              <a:t>Patientenwille</a:t>
            </a:r>
          </a:p>
        </p:txBody>
      </p:sp>
      <p:sp>
        <p:nvSpPr>
          <p:cNvPr id="11" name="">
            <a:extLst xmlns:a="http://schemas.openxmlformats.org/drawingml/2006/main">
              <a:ext uri="{FF2B5EF4-FFF2-40B4-BE49-F238E27FC236}">
                <a16:creationId xmlns:a16="http://schemas.microsoft.com/office/drawing/2014/main" id="{468452B5-4884-4DB4-8D18-0CD09B1E0616}"/>
              </a:ext>
            </a:extLst>
          </p:cNvPr>
          <p:cNvSpPr>
            <a:spLocks xmlns:a="http://schemas.openxmlformats.org/drawingml/2006/main" noGrp="1"/>
          </p:cNvSpPr>
          <p:nvPr/>
        </p:nvSpPr>
        <p:spPr>
          <a:xfrm xmlns:a="http://schemas.openxmlformats.org/drawingml/2006/main">
            <a:off x="2952750" y="30861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Kommentierung zu § 1827 BGB und betreuungsrechtlicher Genehmigung.</a:t>
            </a:r>
          </a:p>
        </p:txBody>
      </p:sp>
      <p:sp>
        <p:nvSpPr>
          <p:cNvPr id="12" name="">
            <a:extLst xmlns:a="http://schemas.openxmlformats.org/drawingml/2006/main">
              <a:ext uri="{FF2B5EF4-FFF2-40B4-BE49-F238E27FC236}">
                <a16:creationId xmlns:a16="http://schemas.microsoft.com/office/drawing/2014/main" id="{20601192-53E8-4F08-947D-EF0E6DF8E752}"/>
              </a:ext>
            </a:extLst>
          </p:cNvPr>
          <p:cNvSpPr>
            <a:spLocks xmlns:a="http://schemas.openxmlformats.org/drawingml/2006/main" noGrp="1"/>
          </p:cNvSpPr>
          <p:nvPr/>
        </p:nvSpPr>
        <p:spPr>
          <a:xfrm xmlns:a="http://schemas.openxmlformats.org/drawingml/2006/main">
            <a:off x="1809750" y="42481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13" name="">
            <a:extLst xmlns:a="http://schemas.openxmlformats.org/drawingml/2006/main">
              <a:ext uri="{FF2B5EF4-FFF2-40B4-BE49-F238E27FC236}">
                <a16:creationId xmlns:a16="http://schemas.microsoft.com/office/drawing/2014/main" id="{6EDCAF89-A2A9-47AF-9775-EB325F584F76}"/>
              </a:ext>
            </a:extLst>
          </p:cNvPr>
          <p:cNvSpPr>
            <a:spLocks xmlns:a="http://schemas.openxmlformats.org/drawingml/2006/main" noGrp="1"/>
          </p:cNvSpPr>
          <p:nvPr/>
        </p:nvSpPr>
        <p:spPr>
          <a:xfrm xmlns:a="http://schemas.openxmlformats.org/drawingml/2006/main">
            <a:off x="1809750" y="36957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9BAB"/>
                </a:solidFill>
              </a:defRPr>
            </a:pPr>
            <a:r>
              <a:rPr sz="960" b="1">
                <a:solidFill>
                  <a:srgbClr val="009BAB"/>
                </a:solidFill>
              </a:rPr>
              <a:t>Verstehen</a:t>
            </a:r>
          </a:p>
        </p:txBody>
      </p:sp>
      <p:sp>
        <p:nvSpPr>
          <p:cNvPr id="14" name="">
            <a:extLst xmlns:a="http://schemas.openxmlformats.org/drawingml/2006/main">
              <a:ext uri="{FF2B5EF4-FFF2-40B4-BE49-F238E27FC236}">
                <a16:creationId xmlns:a16="http://schemas.microsoft.com/office/drawing/2014/main" id="{D0E9B15B-9A82-4532-B9B7-65C5626ED67A}"/>
              </a:ext>
            </a:extLst>
          </p:cNvPr>
          <p:cNvSpPr>
            <a:spLocks xmlns:a="http://schemas.openxmlformats.org/drawingml/2006/main" noGrp="1"/>
          </p:cNvSpPr>
          <p:nvPr/>
        </p:nvSpPr>
        <p:spPr>
          <a:xfrm xmlns:a="http://schemas.openxmlformats.org/drawingml/2006/main">
            <a:off x="2952750" y="36957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Glaser et al. 2020, doi:10.1177/0272989X19896348.</a:t>
            </a:r>
          </a:p>
        </p:txBody>
      </p:sp>
      <p:sp>
        <p:nvSpPr>
          <p:cNvPr id="15" name="">
            <a:extLst xmlns:a="http://schemas.openxmlformats.org/drawingml/2006/main">
              <a:ext uri="{FF2B5EF4-FFF2-40B4-BE49-F238E27FC236}">
                <a16:creationId xmlns:a16="http://schemas.microsoft.com/office/drawing/2014/main" id="{6C4C033F-5093-4A64-BF73-CC33D3CE00B6}"/>
              </a:ext>
            </a:extLst>
          </p:cNvPr>
          <p:cNvSpPr>
            <a:spLocks xmlns:a="http://schemas.openxmlformats.org/drawingml/2006/main" noGrp="1"/>
          </p:cNvSpPr>
          <p:nvPr/>
        </p:nvSpPr>
        <p:spPr>
          <a:xfrm xmlns:a="http://schemas.openxmlformats.org/drawingml/2006/main">
            <a:off x="1809750" y="48577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16" name="">
            <a:extLst xmlns:a="http://schemas.openxmlformats.org/drawingml/2006/main">
              <a:ext uri="{FF2B5EF4-FFF2-40B4-BE49-F238E27FC236}">
                <a16:creationId xmlns:a16="http://schemas.microsoft.com/office/drawing/2014/main" id="{A978F4F9-0013-4304-BC0B-61F444ACA280}"/>
              </a:ext>
            </a:extLst>
          </p:cNvPr>
          <p:cNvSpPr>
            <a:spLocks xmlns:a="http://schemas.openxmlformats.org/drawingml/2006/main" noGrp="1"/>
          </p:cNvSpPr>
          <p:nvPr/>
        </p:nvSpPr>
        <p:spPr>
          <a:xfrm xmlns:a="http://schemas.openxmlformats.org/drawingml/2006/main">
            <a:off x="1809750" y="43053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9BAB"/>
                </a:solidFill>
              </a:defRPr>
            </a:pPr>
            <a:r>
              <a:rPr sz="960" b="1">
                <a:solidFill>
                  <a:srgbClr val="009BAB"/>
                </a:solidFill>
              </a:rPr>
              <a:t>Podcast</a:t>
            </a:r>
          </a:p>
        </p:txBody>
      </p:sp>
      <p:sp>
        <p:nvSpPr>
          <p:cNvPr id="17" name="">
            <a:extLst xmlns:a="http://schemas.openxmlformats.org/drawingml/2006/main">
              <a:ext uri="{FF2B5EF4-FFF2-40B4-BE49-F238E27FC236}">
                <a16:creationId xmlns:a16="http://schemas.microsoft.com/office/drawing/2014/main" id="{34C3A658-5867-4BB9-B5C8-D4EEE0914DF7}"/>
              </a:ext>
            </a:extLst>
          </p:cNvPr>
          <p:cNvSpPr>
            <a:spLocks xmlns:a="http://schemas.openxmlformats.org/drawingml/2006/main" noGrp="1"/>
          </p:cNvSpPr>
          <p:nvPr/>
        </p:nvSpPr>
        <p:spPr>
          <a:xfrm xmlns:a="http://schemas.openxmlformats.org/drawingml/2006/main">
            <a:off x="2952750" y="43053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Recht Medizinisch, Folge 2: Patientenverfügung und mutmaßlicher Wille.</a:t>
            </a:r>
          </a:p>
        </p:txBody>
      </p:sp>
      <p:sp>
        <p:nvSpPr>
          <p:cNvPr id="18" name="">
            <a:extLst xmlns:a="http://schemas.openxmlformats.org/drawingml/2006/main">
              <a:ext uri="{FF2B5EF4-FFF2-40B4-BE49-F238E27FC236}">
                <a16:creationId xmlns:a16="http://schemas.microsoft.com/office/drawing/2014/main" id="{FC12E5EE-A08D-4192-8F4F-B0F53250AD5A}"/>
              </a:ext>
            </a:extLst>
          </p:cNvPr>
          <p:cNvSpPr>
            <a:spLocks xmlns:a="http://schemas.openxmlformats.org/drawingml/2006/main" noGrp="1"/>
          </p:cNvSpPr>
          <p:nvPr/>
        </p:nvSpPr>
        <p:spPr>
          <a:xfrm xmlns:a="http://schemas.openxmlformats.org/drawingml/2006/main">
            <a:off x="6724650" y="1943100"/>
            <a:ext cx="461010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9" name="">
            <a:extLst xmlns:a="http://schemas.openxmlformats.org/drawingml/2006/main">
              <a:ext uri="{FF2B5EF4-FFF2-40B4-BE49-F238E27FC236}">
                <a16:creationId xmlns:a16="http://schemas.microsoft.com/office/drawing/2014/main" id="{2ED178EE-F633-45DE-844D-F353CBBD9730}"/>
              </a:ext>
            </a:extLst>
          </p:cNvPr>
          <p:cNvSpPr>
            <a:spLocks xmlns:a="http://schemas.openxmlformats.org/drawingml/2006/main" noGrp="1"/>
          </p:cNvSpPr>
          <p:nvPr/>
        </p:nvSpPr>
        <p:spPr>
          <a:xfrm xmlns:a="http://schemas.openxmlformats.org/drawingml/2006/main">
            <a:off x="6724650" y="1943100"/>
            <a:ext cx="4610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Primärquellen &amp; Rechtsprechung</a:t>
            </a:r>
          </a:p>
        </p:txBody>
      </p:sp>
      <p:sp>
        <p:nvSpPr>
          <p:cNvPr id="20" name="">
            <a:extLst xmlns:a="http://schemas.openxmlformats.org/drawingml/2006/main">
              <a:ext uri="{FF2B5EF4-FFF2-40B4-BE49-F238E27FC236}">
                <a16:creationId xmlns:a16="http://schemas.microsoft.com/office/drawing/2014/main" id="{844000D2-E15C-47B6-866F-A4CDFD875DAA}"/>
              </a:ext>
            </a:extLst>
          </p:cNvPr>
          <p:cNvSpPr>
            <a:spLocks xmlns:a="http://schemas.openxmlformats.org/drawingml/2006/main" noGrp="1"/>
          </p:cNvSpPr>
          <p:nvPr/>
        </p:nvSpPr>
        <p:spPr>
          <a:xfrm xmlns:a="http://schemas.openxmlformats.org/drawingml/2006/main">
            <a:off x="6724650" y="30289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21" name="">
            <a:extLst xmlns:a="http://schemas.openxmlformats.org/drawingml/2006/main">
              <a:ext uri="{FF2B5EF4-FFF2-40B4-BE49-F238E27FC236}">
                <a16:creationId xmlns:a16="http://schemas.microsoft.com/office/drawing/2014/main" id="{4915DE44-5D6E-43FF-855F-EC4490C5B1ED}"/>
              </a:ext>
            </a:extLst>
          </p:cNvPr>
          <p:cNvSpPr>
            <a:spLocks xmlns:a="http://schemas.openxmlformats.org/drawingml/2006/main" noGrp="1"/>
          </p:cNvSpPr>
          <p:nvPr/>
        </p:nvSpPr>
        <p:spPr>
          <a:xfrm xmlns:a="http://schemas.openxmlformats.org/drawingml/2006/main">
            <a:off x="6724650" y="24765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3F6B"/>
                </a:solidFill>
              </a:defRPr>
            </a:pPr>
            <a:r>
              <a:rPr sz="960" b="1">
                <a:solidFill>
                  <a:srgbClr val="003F6B"/>
                </a:solidFill>
              </a:rPr>
              <a:t>Normen</a:t>
            </a:r>
          </a:p>
        </p:txBody>
      </p:sp>
      <p:sp>
        <p:nvSpPr>
          <p:cNvPr id="22" name="">
            <a:extLst xmlns:a="http://schemas.openxmlformats.org/drawingml/2006/main">
              <a:ext uri="{FF2B5EF4-FFF2-40B4-BE49-F238E27FC236}">
                <a16:creationId xmlns:a16="http://schemas.microsoft.com/office/drawing/2014/main" id="{05E9C38C-2D80-4846-A1C4-DE28063CE706}"/>
              </a:ext>
            </a:extLst>
          </p:cNvPr>
          <p:cNvSpPr>
            <a:spLocks xmlns:a="http://schemas.openxmlformats.org/drawingml/2006/main" noGrp="1"/>
          </p:cNvSpPr>
          <p:nvPr/>
        </p:nvSpPr>
        <p:spPr>
          <a:xfrm xmlns:a="http://schemas.openxmlformats.org/drawingml/2006/main">
            <a:off x="7867650" y="24765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 630d, 630e, 1358, 1827 BGB.</a:t>
            </a:r>
          </a:p>
        </p:txBody>
      </p:sp>
      <p:sp>
        <p:nvSpPr>
          <p:cNvPr id="23" name="">
            <a:extLst xmlns:a="http://schemas.openxmlformats.org/drawingml/2006/main">
              <a:ext uri="{FF2B5EF4-FFF2-40B4-BE49-F238E27FC236}">
                <a16:creationId xmlns:a16="http://schemas.microsoft.com/office/drawing/2014/main" id="{49C01CF6-9DD2-45C6-B2B4-9D23866B4EEA}"/>
              </a:ext>
            </a:extLst>
          </p:cNvPr>
          <p:cNvSpPr>
            <a:spLocks xmlns:a="http://schemas.openxmlformats.org/drawingml/2006/main" noGrp="1"/>
          </p:cNvSpPr>
          <p:nvPr/>
        </p:nvSpPr>
        <p:spPr>
          <a:xfrm xmlns:a="http://schemas.openxmlformats.org/drawingml/2006/main">
            <a:off x="6724650" y="36385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24" name="">
            <a:extLst xmlns:a="http://schemas.openxmlformats.org/drawingml/2006/main">
              <a:ext uri="{FF2B5EF4-FFF2-40B4-BE49-F238E27FC236}">
                <a16:creationId xmlns:a16="http://schemas.microsoft.com/office/drawing/2014/main" id="{944E8089-7F32-4AAC-A048-EE71ADEFA23E}"/>
              </a:ext>
            </a:extLst>
          </p:cNvPr>
          <p:cNvSpPr>
            <a:spLocks xmlns:a="http://schemas.openxmlformats.org/drawingml/2006/main" noGrp="1"/>
          </p:cNvSpPr>
          <p:nvPr/>
        </p:nvSpPr>
        <p:spPr>
          <a:xfrm xmlns:a="http://schemas.openxmlformats.org/drawingml/2006/main">
            <a:off x="6724650" y="30861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3F6B"/>
                </a:solidFill>
              </a:defRPr>
            </a:pPr>
            <a:r>
              <a:rPr sz="960" b="1">
                <a:solidFill>
                  <a:srgbClr val="003F6B"/>
                </a:solidFill>
              </a:rPr>
              <a:t>BGH</a:t>
            </a:r>
          </a:p>
        </p:txBody>
      </p:sp>
      <p:sp>
        <p:nvSpPr>
          <p:cNvPr id="25" name="">
            <a:extLst xmlns:a="http://schemas.openxmlformats.org/drawingml/2006/main">
              <a:ext uri="{FF2B5EF4-FFF2-40B4-BE49-F238E27FC236}">
                <a16:creationId xmlns:a16="http://schemas.microsoft.com/office/drawing/2014/main" id="{7DE5098C-8E1E-431D-A398-C24947278EF0}"/>
              </a:ext>
            </a:extLst>
          </p:cNvPr>
          <p:cNvSpPr>
            <a:spLocks xmlns:a="http://schemas.openxmlformats.org/drawingml/2006/main" noGrp="1"/>
          </p:cNvSpPr>
          <p:nvPr/>
        </p:nvSpPr>
        <p:spPr>
          <a:xfrm xmlns:a="http://schemas.openxmlformats.org/drawingml/2006/main">
            <a:off x="7867650" y="30861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2 StR 454/09 · rechtfertigender Behandlungsabbruch.</a:t>
            </a:r>
          </a:p>
        </p:txBody>
      </p:sp>
      <p:sp>
        <p:nvSpPr>
          <p:cNvPr id="26" name="">
            <a:extLst xmlns:a="http://schemas.openxmlformats.org/drawingml/2006/main">
              <a:ext uri="{FF2B5EF4-FFF2-40B4-BE49-F238E27FC236}">
                <a16:creationId xmlns:a16="http://schemas.microsoft.com/office/drawing/2014/main" id="{EA019C1C-5100-42FA-BA9A-76F7B6B54088}"/>
              </a:ext>
            </a:extLst>
          </p:cNvPr>
          <p:cNvSpPr>
            <a:spLocks xmlns:a="http://schemas.openxmlformats.org/drawingml/2006/main" noGrp="1"/>
          </p:cNvSpPr>
          <p:nvPr/>
        </p:nvSpPr>
        <p:spPr>
          <a:xfrm xmlns:a="http://schemas.openxmlformats.org/drawingml/2006/main">
            <a:off x="6724650" y="42481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27" name="">
            <a:extLst xmlns:a="http://schemas.openxmlformats.org/drawingml/2006/main">
              <a:ext uri="{FF2B5EF4-FFF2-40B4-BE49-F238E27FC236}">
                <a16:creationId xmlns:a16="http://schemas.microsoft.com/office/drawing/2014/main" id="{52365BA6-5CE7-4986-B28A-952D46FCF74E}"/>
              </a:ext>
            </a:extLst>
          </p:cNvPr>
          <p:cNvSpPr>
            <a:spLocks xmlns:a="http://schemas.openxmlformats.org/drawingml/2006/main" noGrp="1"/>
          </p:cNvSpPr>
          <p:nvPr/>
        </p:nvSpPr>
        <p:spPr>
          <a:xfrm xmlns:a="http://schemas.openxmlformats.org/drawingml/2006/main">
            <a:off x="6724650" y="36957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3F6B"/>
                </a:solidFill>
              </a:defRPr>
            </a:pPr>
            <a:r>
              <a:rPr sz="960" b="1">
                <a:solidFill>
                  <a:srgbClr val="003F6B"/>
                </a:solidFill>
              </a:rPr>
              <a:t>BGH</a:t>
            </a:r>
          </a:p>
        </p:txBody>
      </p:sp>
      <p:sp>
        <p:nvSpPr>
          <p:cNvPr id="28" name="">
            <a:extLst xmlns:a="http://schemas.openxmlformats.org/drawingml/2006/main">
              <a:ext uri="{FF2B5EF4-FFF2-40B4-BE49-F238E27FC236}">
                <a16:creationId xmlns:a16="http://schemas.microsoft.com/office/drawing/2014/main" id="{6C9C8014-304B-4C13-A6FD-B74F1B6EA6D2}"/>
              </a:ext>
            </a:extLst>
          </p:cNvPr>
          <p:cNvSpPr>
            <a:spLocks xmlns:a="http://schemas.openxmlformats.org/drawingml/2006/main" noGrp="1"/>
          </p:cNvSpPr>
          <p:nvPr/>
        </p:nvSpPr>
        <p:spPr>
          <a:xfrm xmlns:a="http://schemas.openxmlformats.org/drawingml/2006/main">
            <a:off x="7867650" y="36957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VI ZR 13/18; VI ZR 165/23.</a:t>
            </a:r>
          </a:p>
        </p:txBody>
      </p:sp>
      <p:sp>
        <p:nvSpPr>
          <p:cNvPr id="29" name="">
            <a:extLst xmlns:a="http://schemas.openxmlformats.org/drawingml/2006/main">
              <a:ext uri="{FF2B5EF4-FFF2-40B4-BE49-F238E27FC236}">
                <a16:creationId xmlns:a16="http://schemas.microsoft.com/office/drawing/2014/main" id="{6F8141BD-7275-46AB-842E-8691B678AE12}"/>
              </a:ext>
            </a:extLst>
          </p:cNvPr>
          <p:cNvSpPr>
            <a:spLocks xmlns:a="http://schemas.openxmlformats.org/drawingml/2006/main" noGrp="1"/>
          </p:cNvSpPr>
          <p:nvPr/>
        </p:nvSpPr>
        <p:spPr>
          <a:xfrm xmlns:a="http://schemas.openxmlformats.org/drawingml/2006/main">
            <a:off x="6724650" y="48577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30" name="">
            <a:extLst xmlns:a="http://schemas.openxmlformats.org/drawingml/2006/main">
              <a:ext uri="{FF2B5EF4-FFF2-40B4-BE49-F238E27FC236}">
                <a16:creationId xmlns:a16="http://schemas.microsoft.com/office/drawing/2014/main" id="{13784C53-2AE6-47A2-AE57-3288883D0C65}"/>
              </a:ext>
            </a:extLst>
          </p:cNvPr>
          <p:cNvSpPr>
            <a:spLocks xmlns:a="http://schemas.openxmlformats.org/drawingml/2006/main" noGrp="1"/>
          </p:cNvSpPr>
          <p:nvPr/>
        </p:nvSpPr>
        <p:spPr>
          <a:xfrm xmlns:a="http://schemas.openxmlformats.org/drawingml/2006/main">
            <a:off x="6724650" y="43053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3F6B"/>
                </a:solidFill>
              </a:defRPr>
            </a:pPr>
            <a:r>
              <a:rPr sz="960" b="1">
                <a:solidFill>
                  <a:srgbClr val="003F6B"/>
                </a:solidFill>
              </a:rPr>
              <a:t>BVerfG</a:t>
            </a:r>
          </a:p>
        </p:txBody>
      </p:sp>
      <p:sp>
        <p:nvSpPr>
          <p:cNvPr id="31" name="">
            <a:extLst xmlns:a="http://schemas.openxmlformats.org/drawingml/2006/main">
              <a:ext uri="{FF2B5EF4-FFF2-40B4-BE49-F238E27FC236}">
                <a16:creationId xmlns:a16="http://schemas.microsoft.com/office/drawing/2014/main" id="{E5E4779D-1EBE-4FF3-A8BB-F651A60D26C6}"/>
              </a:ext>
            </a:extLst>
          </p:cNvPr>
          <p:cNvSpPr>
            <a:spLocks xmlns:a="http://schemas.openxmlformats.org/drawingml/2006/main" noGrp="1"/>
          </p:cNvSpPr>
          <p:nvPr/>
        </p:nvSpPr>
        <p:spPr>
          <a:xfrm xmlns:a="http://schemas.openxmlformats.org/drawingml/2006/main">
            <a:off x="7867650" y="43053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2 BvR 882/09 · Zwangsbehandlung als Ultima Ratio.</a:t>
            </a:r>
          </a:p>
        </p:txBody>
      </p:sp>
      <p:sp>
        <p:nvSpPr>
          <p:cNvPr id="32" name="">
            <a:extLst xmlns:a="http://schemas.openxmlformats.org/drawingml/2006/main">
              <a:ext uri="{FF2B5EF4-FFF2-40B4-BE49-F238E27FC236}">
                <a16:creationId xmlns:a16="http://schemas.microsoft.com/office/drawing/2014/main" id="{5EC6D684-8F2B-4B53-B54F-4F90F2D345D3}"/>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20">
                <a:solidFill>
                  <a:srgbClr val="667680"/>
                </a:solidFill>
              </a:defRPr>
            </a:pPr>
            <a:r>
              <a:rPr sz="720">
                <a:solidFill>
                  <a:srgbClr val="667680"/>
                </a:solidFill>
              </a:rPr>
              <a:t>Alle Internetquellen Abruf/Stand: 20.08.2026. Gesetze: aktuelle Fassung jeweils vor Anwendung prüfen · https://www.rechtsprechung-im-internet.de</a:t>
            </a:r>
          </a:p>
        </p:txBody>
      </p:sp>
    </p:spTree>
    <p:extLst>
      <p:ext uri="{BB962C8B-B14F-4D97-AF65-F5344CB8AC3E}">
        <p14:creationId xmlns:p14="http://schemas.microsoft.com/office/powerpoint/2010/main" val="43637646"/>
      </p:ext>
    </p:extLst>
  </p:cSld>
</p:sld>
</file>

<file path=ppt/slides/slide324.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endParaRPr/>
          </a:p>
        </p:txBody>
      </p:sp>
      <p:sp>
        <p:nvSpPr>
          <p:cNvPr id="4" name="">
            <a:extLst xmlns:a="http://schemas.openxmlformats.org/drawingml/2006/main">
              <a:ext uri="{FF2B5EF4-FFF2-40B4-BE49-F238E27FC236}">
                <a16:creationId xmlns:a16="http://schemas.microsoft.com/office/drawing/2014/main" id="{4CE4BD02-3BA8-4651-B8FB-C8DF7E4D9949}"/>
              </a:ext>
            </a:extLst>
          </p:cNvPr>
          <p:cNvSpPr>
            <a:spLocks xmlns:a="http://schemas.openxmlformats.org/drawingml/2006/main" noGrp="1"/>
          </p:cNvSpPr>
          <p:nvPr/>
        </p:nvSpPr>
        <p:spPr>
          <a:xfrm xmlns:a="http://schemas.openxmlformats.org/drawingml/2006/main">
            <a:off x="2571750" y="2038350"/>
            <a:ext cx="838200" cy="628650"/>
          </a:xfrm>
          <a:prstGeom xmlns:a="http://schemas.openxmlformats.org/drawingml/2006/main" prst="roundRect">
            <a:avLst>
              <a:gd name="adj" fmla="val 12121"/>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B1D47877-894F-4548-BEAE-5E5C7300BC9C}"/>
              </a:ext>
            </a:extLst>
          </p:cNvPr>
          <p:cNvSpPr>
            <a:spLocks xmlns:a="http://schemas.openxmlformats.org/drawingml/2006/main" noGrp="1"/>
          </p:cNvSpPr>
          <p:nvPr/>
        </p:nvSpPr>
        <p:spPr>
          <a:xfrm xmlns:a="http://schemas.openxmlformats.org/drawingml/2006/main">
            <a:off x="2571750" y="2038350"/>
            <a:ext cx="8382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FFFFFF"/>
                </a:solidFill>
              </a:defRPr>
            </a:pPr>
            <a:r>
              <a:rPr sz="2100" b="1">
                <a:solidFill>
                  <a:srgbClr val="FFFFFF"/>
                </a:solidFill>
              </a:rPr>
              <a:t>11</a:t>
            </a:r>
          </a:p>
        </p:txBody>
      </p:sp>
      <p:sp>
        <p:nvSpPr>
          <p:cNvPr id="6" name="">
            <a:extLst xmlns:a="http://schemas.openxmlformats.org/drawingml/2006/main">
              <a:ext uri="{FF2B5EF4-FFF2-40B4-BE49-F238E27FC236}">
                <a16:creationId xmlns:a16="http://schemas.microsoft.com/office/drawing/2014/main" id="{B071D200-5C5A-4651-8D37-11ABDC5BA403}"/>
              </a:ext>
            </a:extLst>
          </p:cNvPr>
          <p:cNvSpPr>
            <a:spLocks xmlns:a="http://schemas.openxmlformats.org/drawingml/2006/main" noGrp="1"/>
          </p:cNvSpPr>
          <p:nvPr/>
        </p:nvSpPr>
        <p:spPr>
          <a:xfrm xmlns:a="http://schemas.openxmlformats.org/drawingml/2006/main">
            <a:off x="3667125" y="2000250"/>
            <a:ext cx="8096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4400">
                <a:solidFill>
                  <a:srgbClr val="003F6B"/>
                </a:solidFill>
              </a:defRPr>
            </a:pPr>
            <a:r>
              <a:rPr sz="4400">
                <a:solidFill>
                  <a:srgbClr val="003F6B"/>
                </a:solidFill>
              </a:rPr>
              <a:t>Arzneimittel, BtM, Delegation</a:t>
            </a:r>
          </a:p>
        </p:txBody>
      </p:sp>
      <p:sp>
        <p:nvSpPr>
          <p:cNvPr id="7" name="">
            <a:extLst xmlns:a="http://schemas.openxmlformats.org/drawingml/2006/main">
              <a:ext uri="{FF2B5EF4-FFF2-40B4-BE49-F238E27FC236}">
                <a16:creationId xmlns:a16="http://schemas.microsoft.com/office/drawing/2014/main" id="{45961912-8C15-4BA8-A914-7F09D659CBE8}"/>
              </a:ext>
            </a:extLst>
          </p:cNvPr>
          <p:cNvSpPr>
            <a:spLocks xmlns:a="http://schemas.openxmlformats.org/drawingml/2006/main" noGrp="1"/>
          </p:cNvSpPr>
          <p:nvPr/>
        </p:nvSpPr>
        <p:spPr>
          <a:xfrm xmlns:a="http://schemas.openxmlformats.org/drawingml/2006/main">
            <a:off x="3238500" y="3333750"/>
            <a:ext cx="8524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400">
                <a:solidFill>
                  <a:srgbClr val="003F6B"/>
                </a:solidFill>
              </a:defRPr>
            </a:pPr>
            <a:r>
              <a:rPr sz="2400">
                <a:solidFill>
                  <a:srgbClr val="003F6B"/>
                </a:solidFill>
              </a:rPr>
              <a:t>Termin: 06.01.2027 · 16:30–17:45 · V03 0-C001</a:t>
            </a:r>
          </a:p>
        </p:txBody>
      </p:sp>
      <p:sp>
        <p:nvSpPr>
          <p:cNvPr id="8" name="">
            <a:extLst xmlns:a="http://schemas.openxmlformats.org/drawingml/2006/main">
              <a:ext uri="{FF2B5EF4-FFF2-40B4-BE49-F238E27FC236}">
                <a16:creationId xmlns:a16="http://schemas.microsoft.com/office/drawing/2014/main" id="{9632B6E9-55A9-4150-88A3-8364A36C3219}"/>
              </a:ext>
            </a:extLst>
          </p:cNvPr>
          <p:cNvSpPr>
            <a:spLocks xmlns:a="http://schemas.openxmlformats.org/drawingml/2006/main" noGrp="1"/>
          </p:cNvSpPr>
          <p:nvPr/>
        </p:nvSpPr>
        <p:spPr>
          <a:xfrm xmlns:a="http://schemas.openxmlformats.org/drawingml/2006/main">
            <a:off x="3238500" y="3752850"/>
            <a:ext cx="8524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400">
                <a:solidFill>
                  <a:srgbClr val="003F6B"/>
                </a:solidFill>
              </a:defRPr>
            </a:pPr>
            <a:r>
              <a:rPr sz="2400">
                <a:solidFill>
                  <a:srgbClr val="003F6B"/>
                </a:solidFill>
              </a:rPr>
              <a:t>Fehlerketten verstehen, persönliche Verantwortung einordnen</a:t>
            </a:r>
          </a:p>
        </p:txBody>
      </p:sp>
      <p:sp>
        <p:nvSpPr>
          <p:cNvPr id="9" name="">
            <a:extLst xmlns:a="http://schemas.openxmlformats.org/drawingml/2006/main">
              <a:ext uri="{FF2B5EF4-FFF2-40B4-BE49-F238E27FC236}">
                <a16:creationId xmlns:a16="http://schemas.microsoft.com/office/drawing/2014/main" id="{2A84238C-C532-4D71-B34C-66A2EEC2FE47}"/>
              </a:ext>
            </a:extLst>
          </p:cNvPr>
          <p:cNvSpPr>
            <a:spLocks xmlns:a="http://schemas.openxmlformats.org/drawingml/2006/main" noGrp="1"/>
          </p:cNvSpPr>
          <p:nvPr/>
        </p:nvSpPr>
        <p:spPr>
          <a:xfrm xmlns:a="http://schemas.openxmlformats.org/drawingml/2006/main">
            <a:off x="3238500" y="4552950"/>
            <a:ext cx="8524875"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400">
                <a:solidFill>
                  <a:srgbClr val="003F6B"/>
                </a:solidFill>
              </a:defRPr>
            </a:pPr>
            <a:r>
              <a:rPr sz="2400">
                <a:solidFill>
                  <a:srgbClr val="003F6B"/>
                </a:solidFill>
              </a:rPr>
              <a:t>Ein falsches Pflaster – und plötzlich lesen Strafgericht, Klinik und Familie dieselbe Kurve.</a:t>
            </a:r>
          </a:p>
        </p:txBody>
      </p:sp>
    </p:spTree>
    <p:extLst>
      <p:ext uri="{BB962C8B-B14F-4D97-AF65-F5344CB8AC3E}">
        <p14:creationId xmlns:p14="http://schemas.microsoft.com/office/powerpoint/2010/main" val="43637646"/>
      </p:ext>
    </p:extLst>
  </p:cSld>
</p:sld>
</file>

<file path=ppt/slides/slide325.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Lernziele Termin 11: Arzneimittel, BtM, Delegation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CHECKLISTE · AM ENDE DES HEUTIGEN TERMINS KANN ICH …</a:t>
            </a:r>
            <a:endParaRPr/>
          </a:p>
        </p:txBody>
      </p:sp>
      <p:sp>
        <p:nvSpPr>
          <p:cNvPr id="4" name="">
            <a:extLst xmlns:a="http://schemas.openxmlformats.org/drawingml/2006/main">
              <a:ext uri="{FF2B5EF4-FFF2-40B4-BE49-F238E27FC236}">
                <a16:creationId xmlns:a16="http://schemas.microsoft.com/office/drawing/2014/main" id="{3031DD74-8FA1-4CE7-9517-D08AB67F577B}"/>
              </a:ext>
            </a:extLst>
          </p:cNvPr>
          <p:cNvSpPr>
            <a:spLocks xmlns:a="http://schemas.openxmlformats.org/drawingml/2006/main" noGrp="1"/>
          </p:cNvSpPr>
          <p:nvPr/>
        </p:nvSpPr>
        <p:spPr>
          <a:xfrm xmlns:a="http://schemas.openxmlformats.org/drawingml/2006/main">
            <a:off x="1809750" y="198120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B2BB"/>
            </a:solidFill>
            <a:prstDash val="solid"/>
          </a:ln>
        </p:spPr>
      </p:sp>
      <p:sp>
        <p:nvSpPr>
          <p:cNvPr id="5" name="">
            <a:extLst xmlns:a="http://schemas.openxmlformats.org/drawingml/2006/main">
              <a:ext uri="{FF2B5EF4-FFF2-40B4-BE49-F238E27FC236}">
                <a16:creationId xmlns:a16="http://schemas.microsoft.com/office/drawing/2014/main" id="{86469CF2-2C87-4E6C-AFA0-297B14D1B8DF}"/>
              </a:ext>
            </a:extLst>
          </p:cNvPr>
          <p:cNvSpPr>
            <a:spLocks xmlns:a="http://schemas.openxmlformats.org/drawingml/2006/main" noGrp="1"/>
          </p:cNvSpPr>
          <p:nvPr/>
        </p:nvSpPr>
        <p:spPr>
          <a:xfrm xmlns:a="http://schemas.openxmlformats.org/drawingml/2006/main">
            <a:off x="1943100" y="2124075"/>
            <a:ext cx="40005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8332983B-1221-41B4-81EB-32E52BB01726}"/>
              </a:ext>
            </a:extLst>
          </p:cNvPr>
          <p:cNvSpPr>
            <a:spLocks xmlns:a="http://schemas.openxmlformats.org/drawingml/2006/main" noGrp="1"/>
          </p:cNvSpPr>
          <p:nvPr/>
        </p:nvSpPr>
        <p:spPr>
          <a:xfrm xmlns:a="http://schemas.openxmlformats.org/drawingml/2006/main">
            <a:off x="1943100" y="21050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7" name="">
            <a:extLst xmlns:a="http://schemas.openxmlformats.org/drawingml/2006/main">
              <a:ext uri="{FF2B5EF4-FFF2-40B4-BE49-F238E27FC236}">
                <a16:creationId xmlns:a16="http://schemas.microsoft.com/office/drawing/2014/main" id="{578BF929-6462-4623-A000-8DAB39929728}"/>
              </a:ext>
            </a:extLst>
          </p:cNvPr>
          <p:cNvSpPr>
            <a:spLocks xmlns:a="http://schemas.openxmlformats.org/drawingml/2006/main" noGrp="1"/>
          </p:cNvSpPr>
          <p:nvPr/>
        </p:nvSpPr>
        <p:spPr>
          <a:xfrm xmlns:a="http://schemas.openxmlformats.org/drawingml/2006/main">
            <a:off x="2476500" y="207645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Verordnung, Bereitstellung, Gabe und Kontrolle als Fehlerkette analysieren.</a:t>
            </a:r>
          </a:p>
        </p:txBody>
      </p:sp>
      <p:sp>
        <p:nvSpPr>
          <p:cNvPr id="8" name="">
            <a:extLst xmlns:a="http://schemas.openxmlformats.org/drawingml/2006/main">
              <a:ext uri="{FF2B5EF4-FFF2-40B4-BE49-F238E27FC236}">
                <a16:creationId xmlns:a16="http://schemas.microsoft.com/office/drawing/2014/main" id="{7C79BD3C-478C-4C19-998E-8D3BE7847890}"/>
              </a:ext>
            </a:extLst>
          </p:cNvPr>
          <p:cNvSpPr>
            <a:spLocks xmlns:a="http://schemas.openxmlformats.org/drawingml/2006/main" noGrp="1"/>
          </p:cNvSpPr>
          <p:nvPr/>
        </p:nvSpPr>
        <p:spPr>
          <a:xfrm xmlns:a="http://schemas.openxmlformats.org/drawingml/2006/main">
            <a:off x="6696075" y="198120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3F6B"/>
            </a:solidFill>
            <a:prstDash val="solid"/>
          </a:ln>
        </p:spPr>
      </p:sp>
      <p:sp>
        <p:nvSpPr>
          <p:cNvPr id="9" name="">
            <a:extLst xmlns:a="http://schemas.openxmlformats.org/drawingml/2006/main">
              <a:ext uri="{FF2B5EF4-FFF2-40B4-BE49-F238E27FC236}">
                <a16:creationId xmlns:a16="http://schemas.microsoft.com/office/drawing/2014/main" id="{77020F39-7BB6-4726-B08A-90C5EE41DF7B}"/>
              </a:ext>
            </a:extLst>
          </p:cNvPr>
          <p:cNvSpPr>
            <a:spLocks xmlns:a="http://schemas.openxmlformats.org/drawingml/2006/main" noGrp="1"/>
          </p:cNvSpPr>
          <p:nvPr/>
        </p:nvSpPr>
        <p:spPr>
          <a:xfrm xmlns:a="http://schemas.openxmlformats.org/drawingml/2006/main">
            <a:off x="6829425" y="2124075"/>
            <a:ext cx="4000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7C6731CC-A9BC-4927-A0DC-37072711A7D0}"/>
              </a:ext>
            </a:extLst>
          </p:cNvPr>
          <p:cNvSpPr>
            <a:spLocks xmlns:a="http://schemas.openxmlformats.org/drawingml/2006/main" noGrp="1"/>
          </p:cNvSpPr>
          <p:nvPr/>
        </p:nvSpPr>
        <p:spPr>
          <a:xfrm xmlns:a="http://schemas.openxmlformats.org/drawingml/2006/main">
            <a:off x="6829425" y="21050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11" name="">
            <a:extLst xmlns:a="http://schemas.openxmlformats.org/drawingml/2006/main">
              <a:ext uri="{FF2B5EF4-FFF2-40B4-BE49-F238E27FC236}">
                <a16:creationId xmlns:a16="http://schemas.microsoft.com/office/drawing/2014/main" id="{DEB4174D-5D87-416C-A1B7-170718A33E6C}"/>
              </a:ext>
            </a:extLst>
          </p:cNvPr>
          <p:cNvSpPr>
            <a:spLocks xmlns:a="http://schemas.openxmlformats.org/drawingml/2006/main" noGrp="1"/>
          </p:cNvSpPr>
          <p:nvPr/>
        </p:nvSpPr>
        <p:spPr>
          <a:xfrm xmlns:a="http://schemas.openxmlformats.org/drawingml/2006/main">
            <a:off x="7362825" y="207645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BtM-Verschreibung und strafbewehrte Grenzen einordnen.</a:t>
            </a:r>
          </a:p>
        </p:txBody>
      </p:sp>
      <p:sp>
        <p:nvSpPr>
          <p:cNvPr id="12" name="">
            <a:extLst xmlns:a="http://schemas.openxmlformats.org/drawingml/2006/main">
              <a:ext uri="{FF2B5EF4-FFF2-40B4-BE49-F238E27FC236}">
                <a16:creationId xmlns:a16="http://schemas.microsoft.com/office/drawing/2014/main" id="{3756F977-612C-4EED-9D5C-5B716B359AAC}"/>
              </a:ext>
            </a:extLst>
          </p:cNvPr>
          <p:cNvSpPr>
            <a:spLocks xmlns:a="http://schemas.openxmlformats.org/drawingml/2006/main" noGrp="1"/>
          </p:cNvSpPr>
          <p:nvPr/>
        </p:nvSpPr>
        <p:spPr>
          <a:xfrm xmlns:a="http://schemas.openxmlformats.org/drawingml/2006/main">
            <a:off x="1809750" y="316865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B2BB"/>
            </a:solidFill>
            <a:prstDash val="solid"/>
          </a:ln>
        </p:spPr>
      </p:sp>
      <p:sp>
        <p:nvSpPr>
          <p:cNvPr id="13" name="">
            <a:extLst xmlns:a="http://schemas.openxmlformats.org/drawingml/2006/main">
              <a:ext uri="{FF2B5EF4-FFF2-40B4-BE49-F238E27FC236}">
                <a16:creationId xmlns:a16="http://schemas.microsoft.com/office/drawing/2014/main" id="{29B94E70-696C-42A6-BE4C-688D0D2540F4}"/>
              </a:ext>
            </a:extLst>
          </p:cNvPr>
          <p:cNvSpPr>
            <a:spLocks xmlns:a="http://schemas.openxmlformats.org/drawingml/2006/main" noGrp="1"/>
          </p:cNvSpPr>
          <p:nvPr/>
        </p:nvSpPr>
        <p:spPr>
          <a:xfrm xmlns:a="http://schemas.openxmlformats.org/drawingml/2006/main">
            <a:off x="1943100" y="3311525"/>
            <a:ext cx="40005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215B867D-B1D5-4A75-BD6F-AC5C6C200CAC}"/>
              </a:ext>
            </a:extLst>
          </p:cNvPr>
          <p:cNvSpPr>
            <a:spLocks xmlns:a="http://schemas.openxmlformats.org/drawingml/2006/main" noGrp="1"/>
          </p:cNvSpPr>
          <p:nvPr/>
        </p:nvSpPr>
        <p:spPr>
          <a:xfrm xmlns:a="http://schemas.openxmlformats.org/drawingml/2006/main">
            <a:off x="1943100" y="32924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15" name="">
            <a:extLst xmlns:a="http://schemas.openxmlformats.org/drawingml/2006/main">
              <a:ext uri="{FF2B5EF4-FFF2-40B4-BE49-F238E27FC236}">
                <a16:creationId xmlns:a16="http://schemas.microsoft.com/office/drawing/2014/main" id="{55D021FC-D2AD-4448-835E-277E6F543AB5}"/>
              </a:ext>
            </a:extLst>
          </p:cNvPr>
          <p:cNvSpPr>
            <a:spLocks xmlns:a="http://schemas.openxmlformats.org/drawingml/2006/main" noGrp="1"/>
          </p:cNvSpPr>
          <p:nvPr/>
        </p:nvSpPr>
        <p:spPr>
          <a:xfrm xmlns:a="http://schemas.openxmlformats.org/drawingml/2006/main">
            <a:off x="2476500" y="326390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Delegation von Substitution unterscheiden.</a:t>
            </a:r>
          </a:p>
        </p:txBody>
      </p:sp>
      <p:sp>
        <p:nvSpPr>
          <p:cNvPr id="16" name="">
            <a:extLst xmlns:a="http://schemas.openxmlformats.org/drawingml/2006/main">
              <a:ext uri="{FF2B5EF4-FFF2-40B4-BE49-F238E27FC236}">
                <a16:creationId xmlns:a16="http://schemas.microsoft.com/office/drawing/2014/main" id="{246B9745-80B3-4C0C-838C-34D95671F38C}"/>
              </a:ext>
            </a:extLst>
          </p:cNvPr>
          <p:cNvSpPr>
            <a:spLocks xmlns:a="http://schemas.openxmlformats.org/drawingml/2006/main" noGrp="1"/>
          </p:cNvSpPr>
          <p:nvPr/>
        </p:nvSpPr>
        <p:spPr>
          <a:xfrm xmlns:a="http://schemas.openxmlformats.org/drawingml/2006/main">
            <a:off x="6696075" y="316865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3F6B"/>
            </a:solidFill>
            <a:prstDash val="solid"/>
          </a:ln>
        </p:spPr>
      </p:sp>
      <p:sp>
        <p:nvSpPr>
          <p:cNvPr id="17" name="">
            <a:extLst xmlns:a="http://schemas.openxmlformats.org/drawingml/2006/main">
              <a:ext uri="{FF2B5EF4-FFF2-40B4-BE49-F238E27FC236}">
                <a16:creationId xmlns:a16="http://schemas.microsoft.com/office/drawing/2014/main" id="{44E69282-F71A-48E9-B71D-F7282BBB7168}"/>
              </a:ext>
            </a:extLst>
          </p:cNvPr>
          <p:cNvSpPr>
            <a:spLocks xmlns:a="http://schemas.openxmlformats.org/drawingml/2006/main" noGrp="1"/>
          </p:cNvSpPr>
          <p:nvPr/>
        </p:nvSpPr>
        <p:spPr>
          <a:xfrm xmlns:a="http://schemas.openxmlformats.org/drawingml/2006/main">
            <a:off x="6829425" y="3311525"/>
            <a:ext cx="4000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75DFB97A-C8B5-4D8A-B46A-BB7344A09CDF}"/>
              </a:ext>
            </a:extLst>
          </p:cNvPr>
          <p:cNvSpPr>
            <a:spLocks xmlns:a="http://schemas.openxmlformats.org/drawingml/2006/main" noGrp="1"/>
          </p:cNvSpPr>
          <p:nvPr/>
        </p:nvSpPr>
        <p:spPr>
          <a:xfrm xmlns:a="http://schemas.openxmlformats.org/drawingml/2006/main">
            <a:off x="6829425" y="32924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19" name="">
            <a:extLst xmlns:a="http://schemas.openxmlformats.org/drawingml/2006/main">
              <a:ext uri="{FF2B5EF4-FFF2-40B4-BE49-F238E27FC236}">
                <a16:creationId xmlns:a16="http://schemas.microsoft.com/office/drawing/2014/main" id="{648EAA33-8A47-40F9-8983-16C9A1B696BD}"/>
              </a:ext>
            </a:extLst>
          </p:cNvPr>
          <p:cNvSpPr>
            <a:spLocks xmlns:a="http://schemas.openxmlformats.org/drawingml/2006/main" noGrp="1"/>
          </p:cNvSpPr>
          <p:nvPr/>
        </p:nvSpPr>
        <p:spPr>
          <a:xfrm xmlns:a="http://schemas.openxmlformats.org/drawingml/2006/main">
            <a:off x="7362825" y="326390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Übernahme-, Auswahl-, Anleitungs- und Überwachungspflichten prüfen.</a:t>
            </a:r>
          </a:p>
        </p:txBody>
      </p:sp>
      <p:sp>
        <p:nvSpPr>
          <p:cNvPr id="20" name="">
            <a:extLst xmlns:a="http://schemas.openxmlformats.org/drawingml/2006/main">
              <a:ext uri="{FF2B5EF4-FFF2-40B4-BE49-F238E27FC236}">
                <a16:creationId xmlns:a16="http://schemas.microsoft.com/office/drawing/2014/main" id="{479A1395-2CAC-481C-A14B-1A6C63048033}"/>
              </a:ext>
            </a:extLst>
          </p:cNvPr>
          <p:cNvSpPr>
            <a:spLocks xmlns:a="http://schemas.openxmlformats.org/drawingml/2006/main" noGrp="1"/>
          </p:cNvSpPr>
          <p:nvPr/>
        </p:nvSpPr>
        <p:spPr>
          <a:xfrm xmlns:a="http://schemas.openxmlformats.org/drawingml/2006/main">
            <a:off x="1809750" y="435610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B2BB"/>
            </a:solidFill>
            <a:prstDash val="solid"/>
          </a:ln>
        </p:spPr>
      </p:sp>
      <p:sp>
        <p:nvSpPr>
          <p:cNvPr id="21" name="">
            <a:extLst xmlns:a="http://schemas.openxmlformats.org/drawingml/2006/main">
              <a:ext uri="{FF2B5EF4-FFF2-40B4-BE49-F238E27FC236}">
                <a16:creationId xmlns:a16="http://schemas.microsoft.com/office/drawing/2014/main" id="{EAF6D8E6-15B7-407E-9CA5-992EBB8FE0D3}"/>
              </a:ext>
            </a:extLst>
          </p:cNvPr>
          <p:cNvSpPr>
            <a:spLocks xmlns:a="http://schemas.openxmlformats.org/drawingml/2006/main" noGrp="1"/>
          </p:cNvSpPr>
          <p:nvPr/>
        </p:nvSpPr>
        <p:spPr>
          <a:xfrm xmlns:a="http://schemas.openxmlformats.org/drawingml/2006/main">
            <a:off x="1943100" y="4498975"/>
            <a:ext cx="40005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2" name="">
            <a:extLst xmlns:a="http://schemas.openxmlformats.org/drawingml/2006/main">
              <a:ext uri="{FF2B5EF4-FFF2-40B4-BE49-F238E27FC236}">
                <a16:creationId xmlns:a16="http://schemas.microsoft.com/office/drawing/2014/main" id="{7FC9AD60-9E77-458A-9142-43293B05C3EF}"/>
              </a:ext>
            </a:extLst>
          </p:cNvPr>
          <p:cNvSpPr>
            <a:spLocks xmlns:a="http://schemas.openxmlformats.org/drawingml/2006/main" noGrp="1"/>
          </p:cNvSpPr>
          <p:nvPr/>
        </p:nvSpPr>
        <p:spPr>
          <a:xfrm xmlns:a="http://schemas.openxmlformats.org/drawingml/2006/main">
            <a:off x="1943100" y="44799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23" name="">
            <a:extLst xmlns:a="http://schemas.openxmlformats.org/drawingml/2006/main">
              <a:ext uri="{FF2B5EF4-FFF2-40B4-BE49-F238E27FC236}">
                <a16:creationId xmlns:a16="http://schemas.microsoft.com/office/drawing/2014/main" id="{559DC3D4-69DA-4A70-8560-63B6C1D4B6B0}"/>
              </a:ext>
            </a:extLst>
          </p:cNvPr>
          <p:cNvSpPr>
            <a:spLocks xmlns:a="http://schemas.openxmlformats.org/drawingml/2006/main" noGrp="1"/>
          </p:cNvSpPr>
          <p:nvPr/>
        </p:nvSpPr>
        <p:spPr>
          <a:xfrm xmlns:a="http://schemas.openxmlformats.org/drawingml/2006/main">
            <a:off x="2476500" y="445135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individuelle Schuld und Systemfaktoren parallel analysieren.</a:t>
            </a:r>
          </a:p>
        </p:txBody>
      </p:sp>
      <p:sp>
        <p:nvSpPr>
          <p:cNvPr id="24" name="">
            <a:extLst xmlns:a="http://schemas.openxmlformats.org/drawingml/2006/main">
              <a:ext uri="{FF2B5EF4-FFF2-40B4-BE49-F238E27FC236}">
                <a16:creationId xmlns:a16="http://schemas.microsoft.com/office/drawing/2014/main" id="{BC8E8C2E-B419-477B-8824-47182D37A44F}"/>
              </a:ext>
            </a:extLst>
          </p:cNvPr>
          <p:cNvSpPr>
            <a:spLocks xmlns:a="http://schemas.openxmlformats.org/drawingml/2006/main" noGrp="1"/>
          </p:cNvSpPr>
          <p:nvPr/>
        </p:nvSpPr>
        <p:spPr>
          <a:xfrm xmlns:a="http://schemas.openxmlformats.org/drawingml/2006/main">
            <a:off x="6696075" y="435610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3F6B"/>
            </a:solidFill>
            <a:prstDash val="solid"/>
          </a:ln>
        </p:spPr>
      </p:sp>
      <p:sp>
        <p:nvSpPr>
          <p:cNvPr id="25" name="">
            <a:extLst xmlns:a="http://schemas.openxmlformats.org/drawingml/2006/main">
              <a:ext uri="{FF2B5EF4-FFF2-40B4-BE49-F238E27FC236}">
                <a16:creationId xmlns:a16="http://schemas.microsoft.com/office/drawing/2014/main" id="{17F54487-8230-461F-9686-653D706D72F6}"/>
              </a:ext>
            </a:extLst>
          </p:cNvPr>
          <p:cNvSpPr>
            <a:spLocks xmlns:a="http://schemas.openxmlformats.org/drawingml/2006/main" noGrp="1"/>
          </p:cNvSpPr>
          <p:nvPr/>
        </p:nvSpPr>
        <p:spPr>
          <a:xfrm xmlns:a="http://schemas.openxmlformats.org/drawingml/2006/main">
            <a:off x="6829425" y="4498975"/>
            <a:ext cx="4000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26" name="">
            <a:extLst xmlns:a="http://schemas.openxmlformats.org/drawingml/2006/main">
              <a:ext uri="{FF2B5EF4-FFF2-40B4-BE49-F238E27FC236}">
                <a16:creationId xmlns:a16="http://schemas.microsoft.com/office/drawing/2014/main" id="{C2710716-C41A-45C7-8105-001F380D3C23}"/>
              </a:ext>
            </a:extLst>
          </p:cNvPr>
          <p:cNvSpPr>
            <a:spLocks xmlns:a="http://schemas.openxmlformats.org/drawingml/2006/main" noGrp="1"/>
          </p:cNvSpPr>
          <p:nvPr/>
        </p:nvSpPr>
        <p:spPr>
          <a:xfrm xmlns:a="http://schemas.openxmlformats.org/drawingml/2006/main">
            <a:off x="6829425" y="44799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27" name="">
            <a:extLst xmlns:a="http://schemas.openxmlformats.org/drawingml/2006/main">
              <a:ext uri="{FF2B5EF4-FFF2-40B4-BE49-F238E27FC236}">
                <a16:creationId xmlns:a16="http://schemas.microsoft.com/office/drawing/2014/main" id="{86479E76-6DBD-4301-8D88-F43D503D1096}"/>
              </a:ext>
            </a:extLst>
          </p:cNvPr>
          <p:cNvSpPr>
            <a:spLocks xmlns:a="http://schemas.openxmlformats.org/drawingml/2006/main" noGrp="1"/>
          </p:cNvSpPr>
          <p:nvPr/>
        </p:nvSpPr>
        <p:spPr>
          <a:xfrm xmlns:a="http://schemas.openxmlformats.org/drawingml/2006/main">
            <a:off x="7362825" y="445135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aus Podcast- und Urteilsfällen konkrete Barrieren ableiten.</a:t>
            </a:r>
          </a:p>
        </p:txBody>
      </p:sp>
      <p:sp>
        <p:nvSpPr>
          <p:cNvPr id="28" name="">
            <a:extLst xmlns:a="http://schemas.openxmlformats.org/drawingml/2006/main">
              <a:ext uri="{FF2B5EF4-FFF2-40B4-BE49-F238E27FC236}">
                <a16:creationId xmlns:a16="http://schemas.microsoft.com/office/drawing/2014/main" id="{7198D05E-C3B3-45C4-9E07-03E14BC8F654}"/>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638">
                <a:solidFill>
                  <a:srgbClr val="667680"/>
                </a:solidFill>
              </a:defRPr>
            </a:pPr>
            <a:r>
              <a:rPr sz="638">
                <a:solidFill>
                  <a:srgbClr val="667680"/>
                </a:solidFill>
              </a:rPr>
              <a:t>Lernziele aus Seminarbeschreibung und Vorlesungsstruktur abgeleitet · https://elearning.uni-oldenburg.de/dispatch.php/course/details/index/64fffee6d869d134c6683909368deed9?cancel_login=1</a:t>
            </a:r>
          </a:p>
        </p:txBody>
      </p:sp>
    </p:spTree>
    <p:extLst>
      <p:ext uri="{BB962C8B-B14F-4D97-AF65-F5344CB8AC3E}">
        <p14:creationId xmlns:p14="http://schemas.microsoft.com/office/powerpoint/2010/main" val="43637646"/>
      </p:ext>
    </p:extLst>
  </p:cSld>
</p:sld>
</file>

<file path=ppt/slides/slide326.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Leitentscheidung · Zehnfache MDMA-Dosis im psycholytischen Setting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ORIGINALENTSCHEIDUNG · TERMIN 11</a:t>
            </a:r>
            <a:endParaRPr/>
          </a:p>
        </p:txBody>
      </p:sp>
      <p:sp>
        <p:nvSpPr>
          <p:cNvPr id="4" name="">
            <a:extLst xmlns:a="http://schemas.openxmlformats.org/drawingml/2006/main">
              <a:ext uri="{FF2B5EF4-FFF2-40B4-BE49-F238E27FC236}">
                <a16:creationId xmlns:a16="http://schemas.microsoft.com/office/drawing/2014/main" id="{8BA123C7-3C1A-4941-85D1-3FBF6364E1C8}"/>
              </a:ext>
            </a:extLst>
          </p:cNvPr>
          <p:cNvSpPr>
            <a:spLocks xmlns:a="http://schemas.openxmlformats.org/drawingml/2006/main" noGrp="1"/>
          </p:cNvSpPr>
          <p:nvPr/>
        </p:nvSpPr>
        <p:spPr>
          <a:xfrm xmlns:a="http://schemas.openxmlformats.org/drawingml/2006/main">
            <a:off x="1809750" y="1943100"/>
            <a:ext cx="11239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C2B6916D-CCAB-4760-AFC1-2D9BFD0DA22E}"/>
              </a:ext>
            </a:extLst>
          </p:cNvPr>
          <p:cNvSpPr>
            <a:spLocks xmlns:a="http://schemas.openxmlformats.org/drawingml/2006/main" noGrp="1"/>
          </p:cNvSpPr>
          <p:nvPr/>
        </p:nvSpPr>
        <p:spPr>
          <a:xfrm xmlns:a="http://schemas.openxmlformats.org/drawingml/2006/main">
            <a:off x="1809750" y="1943100"/>
            <a:ext cx="1123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38" b="1">
                <a:solidFill>
                  <a:srgbClr val="FFFFFF"/>
                </a:solidFill>
              </a:defRPr>
            </a:pPr>
            <a:r>
              <a:rPr sz="938" b="1">
                <a:solidFill>
                  <a:srgbClr val="FFFFFF"/>
                </a:solidFill>
              </a:rPr>
              <a:t>BGH</a:t>
            </a:r>
          </a:p>
        </p:txBody>
      </p:sp>
      <p:sp>
        <p:nvSpPr>
          <p:cNvPr id="6" name="">
            <a:extLst xmlns:a="http://schemas.openxmlformats.org/drawingml/2006/main">
              <a:ext uri="{FF2B5EF4-FFF2-40B4-BE49-F238E27FC236}">
                <a16:creationId xmlns:a16="http://schemas.microsoft.com/office/drawing/2014/main" id="{05619C22-30D4-442B-8236-505E941D2F3D}"/>
              </a:ext>
            </a:extLst>
          </p:cNvPr>
          <p:cNvSpPr>
            <a:spLocks xmlns:a="http://schemas.openxmlformats.org/drawingml/2006/main" noGrp="1"/>
          </p:cNvSpPr>
          <p:nvPr/>
        </p:nvSpPr>
        <p:spPr>
          <a:xfrm xmlns:a="http://schemas.openxmlformats.org/drawingml/2006/main">
            <a:off x="312420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11.01.2011 · 5 StR 491/10</a:t>
            </a:r>
          </a:p>
        </p:txBody>
      </p:sp>
      <p:sp>
        <p:nvSpPr>
          <p:cNvPr id="7" name="">
            <a:extLst xmlns:a="http://schemas.openxmlformats.org/drawingml/2006/main">
              <a:ext uri="{FF2B5EF4-FFF2-40B4-BE49-F238E27FC236}">
                <a16:creationId xmlns:a16="http://schemas.microsoft.com/office/drawing/2014/main" id="{F9A461CC-D897-4524-8278-D89F3F61AD1A}"/>
              </a:ext>
            </a:extLst>
          </p:cNvPr>
          <p:cNvSpPr>
            <a:spLocks xmlns:a="http://schemas.openxmlformats.org/drawingml/2006/main" noGrp="1"/>
          </p:cNvSpPr>
          <p:nvPr/>
        </p:nvSpPr>
        <p:spPr>
          <a:xfrm xmlns:a="http://schemas.openxmlformats.org/drawingml/2006/main">
            <a:off x="733425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050">
                <a:solidFill>
                  <a:srgbClr val="667680"/>
                </a:solidFill>
              </a:defRPr>
            </a:pPr>
            <a:r>
              <a:rPr sz="1050">
                <a:solidFill>
                  <a:srgbClr val="667680"/>
                </a:solidFill>
              </a:rPr>
              <a:t>Originalfall statt erfundener Stationsfall</a:t>
            </a:r>
          </a:p>
        </p:txBody>
      </p:sp>
      <p:sp>
        <p:nvSpPr>
          <p:cNvPr id="8" name="">
            <a:extLst xmlns:a="http://schemas.openxmlformats.org/drawingml/2006/main">
              <a:ext uri="{FF2B5EF4-FFF2-40B4-BE49-F238E27FC236}">
                <a16:creationId xmlns:a16="http://schemas.microsoft.com/office/drawing/2014/main" id="{708B0E85-0FE4-4A29-BD3B-8D4AA26ABE1E}"/>
              </a:ext>
            </a:extLst>
          </p:cNvPr>
          <p:cNvSpPr>
            <a:spLocks xmlns:a="http://schemas.openxmlformats.org/drawingml/2006/main" noGrp="1"/>
          </p:cNvSpPr>
          <p:nvPr/>
        </p:nvSpPr>
        <p:spPr>
          <a:xfrm xmlns:a="http://schemas.openxmlformats.org/drawingml/2006/main">
            <a:off x="1809750" y="2533650"/>
            <a:ext cx="1676400" cy="781050"/>
          </a:xfrm>
          <a:prstGeom xmlns:a="http://schemas.openxmlformats.org/drawingml/2006/main" prst="roundRect">
            <a:avLst>
              <a:gd name="adj" fmla="val 9756"/>
            </a:avLst>
          </a:prstGeom>
          <a:solidFill xmlns:a="http://schemas.openxmlformats.org/drawingml/2006/main">
            <a:srgbClr val="00B2BB"/>
          </a:solidFill>
          <a:ln xmlns:a="http://schemas.openxmlformats.org/drawingml/2006/main" w="0">
            <a:solidFill>
              <a:srgbClr val="00B2BB"/>
            </a:solidFill>
            <a:prstDash val="solid"/>
          </a:ln>
        </p:spPr>
      </p:sp>
      <p:sp>
        <p:nvSpPr>
          <p:cNvPr id="9" name="">
            <a:extLst xmlns:a="http://schemas.openxmlformats.org/drawingml/2006/main">
              <a:ext uri="{FF2B5EF4-FFF2-40B4-BE49-F238E27FC236}">
                <a16:creationId xmlns:a16="http://schemas.microsoft.com/office/drawing/2014/main" id="{4E7D652E-A4F9-4B2F-94BA-A388B4E203C4}"/>
              </a:ext>
            </a:extLst>
          </p:cNvPr>
          <p:cNvSpPr>
            <a:spLocks xmlns:a="http://schemas.openxmlformats.org/drawingml/2006/main" noGrp="1"/>
          </p:cNvSpPr>
          <p:nvPr/>
        </p:nvSpPr>
        <p:spPr>
          <a:xfrm xmlns:a="http://schemas.openxmlformats.org/drawingml/2006/main">
            <a:off x="1924050" y="25336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Ausgangsfall</a:t>
            </a:r>
          </a:p>
        </p:txBody>
      </p:sp>
      <p:sp>
        <p:nvSpPr>
          <p:cNvPr id="10" name="">
            <a:extLst xmlns:a="http://schemas.openxmlformats.org/drawingml/2006/main">
              <a:ext uri="{FF2B5EF4-FFF2-40B4-BE49-F238E27FC236}">
                <a16:creationId xmlns:a16="http://schemas.microsoft.com/office/drawing/2014/main" id="{4544E959-5252-4646-B073-264893856CF6}"/>
              </a:ext>
            </a:extLst>
          </p:cNvPr>
          <p:cNvSpPr>
            <a:spLocks xmlns:a="http://schemas.openxmlformats.org/drawingml/2006/main" noGrp="1"/>
          </p:cNvSpPr>
          <p:nvPr/>
        </p:nvSpPr>
        <p:spPr>
          <a:xfrm xmlns:a="http://schemas.openxmlformats.org/drawingml/2006/main">
            <a:off x="3695700" y="25336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Ein Arzt verabreichte Teilnehmenden einer psycholytischen Sitzung Betäubungsmittel. Wegen eines Wiegefehlers wurde MDMA etwa zehnfach überdosiert; mehrere Personen erlitten schwere Folgen.</a:t>
            </a:r>
          </a:p>
        </p:txBody>
      </p:sp>
      <p:sp>
        <p:nvSpPr>
          <p:cNvPr id="11" name="">
            <a:extLst xmlns:a="http://schemas.openxmlformats.org/drawingml/2006/main">
              <a:ext uri="{FF2B5EF4-FFF2-40B4-BE49-F238E27FC236}">
                <a16:creationId xmlns:a16="http://schemas.microsoft.com/office/drawing/2014/main" id="{1FDA6970-42F3-4CAA-BB93-958D3818E1F8}"/>
              </a:ext>
            </a:extLst>
          </p:cNvPr>
          <p:cNvSpPr>
            <a:spLocks xmlns:a="http://schemas.openxmlformats.org/drawingml/2006/main" noGrp="1"/>
          </p:cNvSpPr>
          <p:nvPr/>
        </p:nvSpPr>
        <p:spPr>
          <a:xfrm xmlns:a="http://schemas.openxmlformats.org/drawingml/2006/main">
            <a:off x="1809750" y="3486150"/>
            <a:ext cx="1676400" cy="781050"/>
          </a:xfrm>
          <a:prstGeom xmlns:a="http://schemas.openxmlformats.org/drawingml/2006/main" prst="roundRect">
            <a:avLst>
              <a:gd name="adj" fmla="val 9756"/>
            </a:avLst>
          </a:prstGeom>
          <a:solidFill xmlns:a="http://schemas.openxmlformats.org/drawingml/2006/main">
            <a:srgbClr val="003F6B"/>
          </a:solidFill>
          <a:ln xmlns:a="http://schemas.openxmlformats.org/drawingml/2006/main" w="0">
            <a:solidFill>
              <a:srgbClr val="003F6B"/>
            </a:solidFill>
            <a:prstDash val="solid"/>
          </a:ln>
        </p:spPr>
      </p:sp>
      <p:sp>
        <p:nvSpPr>
          <p:cNvPr id="12" name="">
            <a:extLst xmlns:a="http://schemas.openxmlformats.org/drawingml/2006/main">
              <a:ext uri="{FF2B5EF4-FFF2-40B4-BE49-F238E27FC236}">
                <a16:creationId xmlns:a16="http://schemas.microsoft.com/office/drawing/2014/main" id="{AAD77E6A-BEBB-4DAE-8A49-2C37BC39C090}"/>
              </a:ext>
            </a:extLst>
          </p:cNvPr>
          <p:cNvSpPr>
            <a:spLocks xmlns:a="http://schemas.openxmlformats.org/drawingml/2006/main" noGrp="1"/>
          </p:cNvSpPr>
          <p:nvPr/>
        </p:nvSpPr>
        <p:spPr>
          <a:xfrm xmlns:a="http://schemas.openxmlformats.org/drawingml/2006/main">
            <a:off x="1924050" y="34861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Leitsatzkern</a:t>
            </a:r>
          </a:p>
        </p:txBody>
      </p:sp>
      <p:sp>
        <p:nvSpPr>
          <p:cNvPr id="13" name="">
            <a:extLst xmlns:a="http://schemas.openxmlformats.org/drawingml/2006/main">
              <a:ext uri="{FF2B5EF4-FFF2-40B4-BE49-F238E27FC236}">
                <a16:creationId xmlns:a16="http://schemas.microsoft.com/office/drawing/2014/main" id="{90BBF267-FCCB-4AD1-9317-7E23F5763EA8}"/>
              </a:ext>
            </a:extLst>
          </p:cNvPr>
          <p:cNvSpPr>
            <a:spLocks xmlns:a="http://schemas.openxmlformats.org/drawingml/2006/main" noGrp="1"/>
          </p:cNvSpPr>
          <p:nvPr/>
        </p:nvSpPr>
        <p:spPr>
          <a:xfrm xmlns:a="http://schemas.openxmlformats.org/drawingml/2006/main">
            <a:off x="3695700" y="34861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Leitsatzkern (paraphrasiert): Eigenverantwortliche Selbstgefährdung, ärztliche Garantenpflicht, Wissensvorsprung und fahrlässige Dosierung sind eigenständig zu prüfen; Berufsrolle und Sachkunde prägen die Zurechnung.</a:t>
            </a:r>
          </a:p>
        </p:txBody>
      </p:sp>
      <p:sp>
        <p:nvSpPr>
          <p:cNvPr id="14" name="">
            <a:extLst xmlns:a="http://schemas.openxmlformats.org/drawingml/2006/main">
              <a:ext uri="{FF2B5EF4-FFF2-40B4-BE49-F238E27FC236}">
                <a16:creationId xmlns:a16="http://schemas.microsoft.com/office/drawing/2014/main" id="{2F74AB12-B915-488F-8E7B-7AC845BB36E2}"/>
              </a:ext>
            </a:extLst>
          </p:cNvPr>
          <p:cNvSpPr>
            <a:spLocks xmlns:a="http://schemas.openxmlformats.org/drawingml/2006/main" noGrp="1"/>
          </p:cNvSpPr>
          <p:nvPr/>
        </p:nvSpPr>
        <p:spPr>
          <a:xfrm xmlns:a="http://schemas.openxmlformats.org/drawingml/2006/main">
            <a:off x="1809750" y="4438650"/>
            <a:ext cx="1676400" cy="781050"/>
          </a:xfrm>
          <a:prstGeom xmlns:a="http://schemas.openxmlformats.org/drawingml/2006/main" prst="roundRect">
            <a:avLst>
              <a:gd name="adj" fmla="val 9756"/>
            </a:avLst>
          </a:prstGeom>
          <a:solidFill xmlns:a="http://schemas.openxmlformats.org/drawingml/2006/main">
            <a:srgbClr val="00B2BB"/>
          </a:solidFill>
          <a:ln xmlns:a="http://schemas.openxmlformats.org/drawingml/2006/main" w="0">
            <a:solidFill>
              <a:srgbClr val="00B2BB"/>
            </a:solidFill>
            <a:prstDash val="solid"/>
          </a:ln>
        </p:spPr>
      </p:sp>
      <p:sp>
        <p:nvSpPr>
          <p:cNvPr id="15" name="">
            <a:extLst xmlns:a="http://schemas.openxmlformats.org/drawingml/2006/main">
              <a:ext uri="{FF2B5EF4-FFF2-40B4-BE49-F238E27FC236}">
                <a16:creationId xmlns:a16="http://schemas.microsoft.com/office/drawing/2014/main" id="{49B09E97-F8AB-4146-9F7B-3F72D7D5335D}"/>
              </a:ext>
            </a:extLst>
          </p:cNvPr>
          <p:cNvSpPr>
            <a:spLocks xmlns:a="http://schemas.openxmlformats.org/drawingml/2006/main" noGrp="1"/>
          </p:cNvSpPr>
          <p:nvPr/>
        </p:nvSpPr>
        <p:spPr>
          <a:xfrm xmlns:a="http://schemas.openxmlformats.org/drawingml/2006/main">
            <a:off x="1924050" y="44386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Für die Praxis</a:t>
            </a:r>
          </a:p>
        </p:txBody>
      </p:sp>
      <p:sp>
        <p:nvSpPr>
          <p:cNvPr id="16" name="">
            <a:extLst xmlns:a="http://schemas.openxmlformats.org/drawingml/2006/main">
              <a:ext uri="{FF2B5EF4-FFF2-40B4-BE49-F238E27FC236}">
                <a16:creationId xmlns:a16="http://schemas.microsoft.com/office/drawing/2014/main" id="{05E0F151-4C86-4474-A018-53D76E588244}"/>
              </a:ext>
            </a:extLst>
          </p:cNvPr>
          <p:cNvSpPr>
            <a:spLocks xmlns:a="http://schemas.openxmlformats.org/drawingml/2006/main" noGrp="1"/>
          </p:cNvSpPr>
          <p:nvPr/>
        </p:nvSpPr>
        <p:spPr>
          <a:xfrm xmlns:a="http://schemas.openxmlformats.org/drawingml/2006/main">
            <a:off x="3695700" y="44386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Der Fall ist kein gewöhnlicher Medikationsfehler auf Station. Dosis, Einwilligung, eigenverantwortliche Risikoübernahme und ärztliche Schutzpflicht dürfen nicht vermengt werden.</a:t>
            </a:r>
          </a:p>
        </p:txBody>
      </p:sp>
      <p:sp>
        <p:nvSpPr>
          <p:cNvPr id="17" name="">
            <a:extLst xmlns:a="http://schemas.openxmlformats.org/drawingml/2006/main">
              <a:ext uri="{FF2B5EF4-FFF2-40B4-BE49-F238E27FC236}">
                <a16:creationId xmlns:a16="http://schemas.microsoft.com/office/drawing/2014/main" id="{64E6AA13-6486-429E-A30B-87B4F0A197B4}"/>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585">
                <a:solidFill>
                  <a:srgbClr val="667680"/>
                </a:solidFill>
              </a:defRPr>
            </a:pPr>
            <a:r>
              <a:rPr sz="585">
                <a:solidFill>
                  <a:srgbClr val="667680"/>
                </a:solidFill>
              </a:rPr>
              <a:t>BGH, Urt. v. 11.01.2011 – 5 StR 491/10 · https://juris.bundesgerichtshof.de/cgi-bin/rechtsprechung/document.py?Art=en&amp;Blank=1.pdf&amp;Datum=2011&amp;Gericht=bgh&amp;Sort=1&amp;anz=3712&amp;nr=54942&amp;pos=21 · https://doi.org/10.1515/juru.2011.266</a:t>
            </a:r>
          </a:p>
        </p:txBody>
      </p:sp>
    </p:spTree>
    <p:extLst>
      <p:ext uri="{BB962C8B-B14F-4D97-AF65-F5344CB8AC3E}">
        <p14:creationId xmlns:p14="http://schemas.microsoft.com/office/powerpoint/2010/main" val="43637646"/>
      </p:ext>
    </p:extLst>
  </p:cSld>
</p:sld>
</file>

<file path=ppt/slides/slide327.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BtM: Begründetheit und Strafbewehrung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GESETZESTEXT · GEKÜRZTER LEHRAUSZUG</a:t>
            </a:r>
            <a:endParaRPr/>
          </a:p>
        </p:txBody>
      </p:sp>
      <p:sp>
        <p:nvSpPr>
          <p:cNvPr id="4" name="">
            <a:extLst xmlns:a="http://schemas.openxmlformats.org/drawingml/2006/main">
              <a:ext uri="{FF2B5EF4-FFF2-40B4-BE49-F238E27FC236}">
                <a16:creationId xmlns:a16="http://schemas.microsoft.com/office/drawing/2014/main" id="{A27ECB65-BA02-46E1-B2D1-A6BC1D2EE03B}"/>
              </a:ext>
            </a:extLst>
          </p:cNvPr>
          <p:cNvSpPr>
            <a:spLocks xmlns:a="http://schemas.openxmlformats.org/drawingml/2006/main" noGrp="1"/>
          </p:cNvSpPr>
          <p:nvPr/>
        </p:nvSpPr>
        <p:spPr>
          <a:xfrm xmlns:a="http://schemas.openxmlformats.org/drawingml/2006/main">
            <a:off x="1809750" y="1943100"/>
            <a:ext cx="4648200" cy="3371850"/>
          </a:xfrm>
          <a:prstGeom xmlns:a="http://schemas.openxmlformats.org/drawingml/2006/main" prst="roundRect">
            <a:avLst>
              <a:gd name="adj" fmla="val 2260"/>
            </a:avLst>
          </a:prstGeom>
          <a:solidFill xmlns:a="http://schemas.openxmlformats.org/drawingml/2006/main">
            <a:srgbClr val="F3F7F9"/>
          </a:solidFill>
          <a:ln xmlns:a="http://schemas.openxmlformats.org/drawingml/2006/main" w="11430">
            <a:solidFill>
              <a:srgbClr val="00B2BB"/>
            </a:solidFill>
            <a:prstDash val="solid"/>
          </a:ln>
        </p:spPr>
      </p:sp>
      <p:sp>
        <p:nvSpPr>
          <p:cNvPr id="5" name="">
            <a:extLst xmlns:a="http://schemas.openxmlformats.org/drawingml/2006/main">
              <a:ext uri="{FF2B5EF4-FFF2-40B4-BE49-F238E27FC236}">
                <a16:creationId xmlns:a16="http://schemas.microsoft.com/office/drawing/2014/main" id="{A21C8589-3CB5-4882-90FD-58C0E4A18032}"/>
              </a:ext>
            </a:extLst>
          </p:cNvPr>
          <p:cNvSpPr>
            <a:spLocks xmlns:a="http://schemas.openxmlformats.org/drawingml/2006/main" noGrp="1"/>
          </p:cNvSpPr>
          <p:nvPr/>
        </p:nvSpPr>
        <p:spPr>
          <a:xfrm xmlns:a="http://schemas.openxmlformats.org/drawingml/2006/main">
            <a:off x="1943100" y="2076450"/>
            <a:ext cx="1409700" cy="381000"/>
          </a:xfrm>
          <a:prstGeom xmlns:a="http://schemas.openxmlformats.org/drawingml/2006/main" prst="roundRect">
            <a:avLst>
              <a:gd name="adj" fmla="val 20000"/>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C6881EE2-9A37-4A6D-85A3-14B586A7CF9E}"/>
              </a:ext>
            </a:extLst>
          </p:cNvPr>
          <p:cNvSpPr>
            <a:spLocks xmlns:a="http://schemas.openxmlformats.org/drawingml/2006/main" noGrp="1"/>
          </p:cNvSpPr>
          <p:nvPr/>
        </p:nvSpPr>
        <p:spPr>
          <a:xfrm xmlns:a="http://schemas.openxmlformats.org/drawingml/2006/main">
            <a:off x="1943100" y="207645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 13 I BtMG</a:t>
            </a:r>
          </a:p>
        </p:txBody>
      </p:sp>
      <p:sp>
        <p:nvSpPr>
          <p:cNvPr id="7" name="">
            <a:extLst xmlns:a="http://schemas.openxmlformats.org/drawingml/2006/main">
              <a:ext uri="{FF2B5EF4-FFF2-40B4-BE49-F238E27FC236}">
                <a16:creationId xmlns:a16="http://schemas.microsoft.com/office/drawing/2014/main" id="{19BE0AFC-1BBF-464A-99E2-842409B58AC2}"/>
              </a:ext>
            </a:extLst>
          </p:cNvPr>
          <p:cNvSpPr>
            <a:spLocks xmlns:a="http://schemas.openxmlformats.org/drawingml/2006/main" noGrp="1"/>
          </p:cNvSpPr>
          <p:nvPr/>
        </p:nvSpPr>
        <p:spPr>
          <a:xfrm xmlns:a="http://schemas.openxmlformats.org/drawingml/2006/main">
            <a:off x="3486150" y="2057400"/>
            <a:ext cx="2838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Verschreibung · Auszug</a:t>
            </a:r>
          </a:p>
        </p:txBody>
      </p:sp>
      <p:sp>
        <p:nvSpPr>
          <p:cNvPr id="8" name="">
            <a:extLst xmlns:a="http://schemas.openxmlformats.org/drawingml/2006/main">
              <a:ext uri="{FF2B5EF4-FFF2-40B4-BE49-F238E27FC236}">
                <a16:creationId xmlns:a16="http://schemas.microsoft.com/office/drawing/2014/main" id="{4E374E4D-4DF1-48B4-A6B5-18974B98231F}"/>
              </a:ext>
            </a:extLst>
          </p:cNvPr>
          <p:cNvSpPr>
            <a:spLocks xmlns:a="http://schemas.openxmlformats.org/drawingml/2006/main" noGrp="1"/>
          </p:cNvSpPr>
          <p:nvPr/>
        </p:nvSpPr>
        <p:spPr>
          <a:xfrm xmlns:a="http://schemas.openxmlformats.org/drawingml/2006/main">
            <a:off x="1981200" y="2609850"/>
            <a:ext cx="4305300" cy="2533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8">
                <a:solidFill>
                  <a:srgbClr val="15232B"/>
                </a:solidFill>
              </a:defRPr>
            </a:pPr>
            <a:r>
              <a:rPr sz="1148">
                <a:solidFill>
                  <a:srgbClr val="15232B"/>
                </a:solidFill>
              </a:rPr>
              <a:t>Betäubungsmittel der Anlage III dürfen von Ärzten nur verschrieben oder im Rahmen einer Behandlung verabreicht oder zum unmittelbaren Verbrauch überlassen werden, wenn ihre Anwendung am oder im menschlichen Körper begründet ist. Sie ist insbesondere nicht begründet, wenn der Zweck auf andere Weise erreicht werden kann.</a:t>
            </a:r>
          </a:p>
        </p:txBody>
      </p:sp>
      <p:sp>
        <p:nvSpPr>
          <p:cNvPr id="9" name="">
            <a:extLst xmlns:a="http://schemas.openxmlformats.org/drawingml/2006/main">
              <a:ext uri="{FF2B5EF4-FFF2-40B4-BE49-F238E27FC236}">
                <a16:creationId xmlns:a16="http://schemas.microsoft.com/office/drawing/2014/main" id="{D9287B04-82F3-40AF-9CF7-324B5970B894}"/>
              </a:ext>
            </a:extLst>
          </p:cNvPr>
          <p:cNvSpPr>
            <a:spLocks xmlns:a="http://schemas.openxmlformats.org/drawingml/2006/main" noGrp="1"/>
          </p:cNvSpPr>
          <p:nvPr/>
        </p:nvSpPr>
        <p:spPr>
          <a:xfrm xmlns:a="http://schemas.openxmlformats.org/drawingml/2006/main">
            <a:off x="6686550" y="1943100"/>
            <a:ext cx="4648200" cy="3371850"/>
          </a:xfrm>
          <a:prstGeom xmlns:a="http://schemas.openxmlformats.org/drawingml/2006/main" prst="roundRect">
            <a:avLst>
              <a:gd name="adj" fmla="val 2260"/>
            </a:avLst>
          </a:prstGeom>
          <a:solidFill xmlns:a="http://schemas.openxmlformats.org/drawingml/2006/main">
            <a:srgbClr val="F3F7F9"/>
          </a:solidFill>
          <a:ln xmlns:a="http://schemas.openxmlformats.org/drawingml/2006/main" w="11430">
            <a:solidFill>
              <a:srgbClr val="003F6B"/>
            </a:solidFill>
            <a:prstDash val="solid"/>
          </a:ln>
        </p:spPr>
      </p:sp>
      <p:sp>
        <p:nvSpPr>
          <p:cNvPr id="10" name="">
            <a:extLst xmlns:a="http://schemas.openxmlformats.org/drawingml/2006/main">
              <a:ext uri="{FF2B5EF4-FFF2-40B4-BE49-F238E27FC236}">
                <a16:creationId xmlns:a16="http://schemas.microsoft.com/office/drawing/2014/main" id="{187FF3D7-D2D2-4C97-BB44-91363D5B2DED}"/>
              </a:ext>
            </a:extLst>
          </p:cNvPr>
          <p:cNvSpPr>
            <a:spLocks xmlns:a="http://schemas.openxmlformats.org/drawingml/2006/main" noGrp="1"/>
          </p:cNvSpPr>
          <p:nvPr/>
        </p:nvSpPr>
        <p:spPr>
          <a:xfrm xmlns:a="http://schemas.openxmlformats.org/drawingml/2006/main">
            <a:off x="6819900" y="2076450"/>
            <a:ext cx="1409700" cy="381000"/>
          </a:xfrm>
          <a:prstGeom xmlns:a="http://schemas.openxmlformats.org/drawingml/2006/main" prst="roundRect">
            <a:avLst>
              <a:gd name="adj" fmla="val 20000"/>
            </a:avLst>
          </a:prstGeom>
          <a:solidFill xmlns:a="http://schemas.openxmlformats.org/drawingml/2006/main">
            <a:srgbClr val="003F6B"/>
          </a:solidFill>
          <a:ln xmlns:a="http://schemas.openxmlformats.org/drawingml/2006/main" w="0">
            <a:solidFill>
              <a:srgbClr val="003F6B"/>
            </a:solidFill>
            <a:prstDash val="solid"/>
          </a:ln>
        </p:spPr>
      </p:sp>
      <p:sp>
        <p:nvSpPr>
          <p:cNvPr id="11" name="">
            <a:extLst xmlns:a="http://schemas.openxmlformats.org/drawingml/2006/main">
              <a:ext uri="{FF2B5EF4-FFF2-40B4-BE49-F238E27FC236}">
                <a16:creationId xmlns:a16="http://schemas.microsoft.com/office/drawing/2014/main" id="{32FD8FB2-7089-4B9F-AAEE-8883FC8CE9EB}"/>
              </a:ext>
            </a:extLst>
          </p:cNvPr>
          <p:cNvSpPr>
            <a:spLocks xmlns:a="http://schemas.openxmlformats.org/drawingml/2006/main" noGrp="1"/>
          </p:cNvSpPr>
          <p:nvPr/>
        </p:nvSpPr>
        <p:spPr>
          <a:xfrm xmlns:a="http://schemas.openxmlformats.org/drawingml/2006/main">
            <a:off x="6819900" y="207645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 29 I Nr. 6 BtMG</a:t>
            </a:r>
          </a:p>
        </p:txBody>
      </p:sp>
      <p:sp>
        <p:nvSpPr>
          <p:cNvPr id="12" name="">
            <a:extLst xmlns:a="http://schemas.openxmlformats.org/drawingml/2006/main">
              <a:ext uri="{FF2B5EF4-FFF2-40B4-BE49-F238E27FC236}">
                <a16:creationId xmlns:a16="http://schemas.microsoft.com/office/drawing/2014/main" id="{23BAB0FD-084D-4815-BCA8-D72CC02907C5}"/>
              </a:ext>
            </a:extLst>
          </p:cNvPr>
          <p:cNvSpPr>
            <a:spLocks xmlns:a="http://schemas.openxmlformats.org/drawingml/2006/main" noGrp="1"/>
          </p:cNvSpPr>
          <p:nvPr/>
        </p:nvSpPr>
        <p:spPr>
          <a:xfrm xmlns:a="http://schemas.openxmlformats.org/drawingml/2006/main">
            <a:off x="8362950" y="2057400"/>
            <a:ext cx="2838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Straftat · Auszug</a:t>
            </a:r>
          </a:p>
        </p:txBody>
      </p:sp>
      <p:sp>
        <p:nvSpPr>
          <p:cNvPr id="13" name="">
            <a:extLst xmlns:a="http://schemas.openxmlformats.org/drawingml/2006/main">
              <a:ext uri="{FF2B5EF4-FFF2-40B4-BE49-F238E27FC236}">
                <a16:creationId xmlns:a16="http://schemas.microsoft.com/office/drawing/2014/main" id="{A01A7954-6C7E-4053-A3A4-7D48B8DD25ED}"/>
              </a:ext>
            </a:extLst>
          </p:cNvPr>
          <p:cNvSpPr>
            <a:spLocks xmlns:a="http://schemas.openxmlformats.org/drawingml/2006/main" noGrp="1"/>
          </p:cNvSpPr>
          <p:nvPr/>
        </p:nvSpPr>
        <p:spPr>
          <a:xfrm xmlns:a="http://schemas.openxmlformats.org/drawingml/2006/main">
            <a:off x="6858000" y="2609850"/>
            <a:ext cx="4305300" cy="2533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8">
                <a:solidFill>
                  <a:srgbClr val="15232B"/>
                </a:solidFill>
              </a:defRPr>
            </a:pPr>
            <a:r>
              <a:rPr sz="1148">
                <a:solidFill>
                  <a:srgbClr val="15232B"/>
                </a:solidFill>
              </a:rPr>
              <a:t>Mit Freiheitsstrafe bis zu fünf Jahren oder mit Geldstrafe wird bestraft, wer entgegen § 13 Abs. 1 Betäubungsmittel verschreibt, verabreicht oder zum unmittelbaren Verbrauch überlässt. Für bestimmte Varianten enthält § 29 Abs. 4 auch eine Fahrlässigkeitsstrafbarkeit.</a:t>
            </a:r>
          </a:p>
        </p:txBody>
      </p:sp>
      <p:sp>
        <p:nvSpPr>
          <p:cNvPr id="14" name="">
            <a:extLst xmlns:a="http://schemas.openxmlformats.org/drawingml/2006/main">
              <a:ext uri="{FF2B5EF4-FFF2-40B4-BE49-F238E27FC236}">
                <a16:creationId xmlns:a16="http://schemas.microsoft.com/office/drawing/2014/main" id="{4A8A34F4-9094-46BD-B287-F3E0789ABF16}"/>
              </a:ext>
            </a:extLst>
          </p:cNvPr>
          <p:cNvSpPr>
            <a:spLocks xmlns:a="http://schemas.openxmlformats.org/drawingml/2006/main" noGrp="1"/>
          </p:cNvSpPr>
          <p:nvPr/>
        </p:nvSpPr>
        <p:spPr>
          <a:xfrm xmlns:a="http://schemas.openxmlformats.org/drawingml/2006/main">
            <a:off x="1809750" y="5619750"/>
            <a:ext cx="9525000" cy="419100"/>
          </a:xfrm>
          <a:prstGeom xmlns:a="http://schemas.openxmlformats.org/drawingml/2006/main" prst="roundRect">
            <a:avLst>
              <a:gd name="adj" fmla="val 18182"/>
            </a:avLst>
          </a:prstGeom>
          <a:noFill xmlns:a="http://schemas.openxmlformats.org/drawingml/2006/main"/>
          <a:ln xmlns:a="http://schemas.openxmlformats.org/drawingml/2006/main" w="11430">
            <a:solidFill>
              <a:srgbClr val="00B2BB"/>
            </a:solidFill>
            <a:prstDash val="solid"/>
          </a:ln>
        </p:spPr>
      </p:sp>
      <p:sp>
        <p:nvSpPr>
          <p:cNvPr id="15" name="">
            <a:extLst xmlns:a="http://schemas.openxmlformats.org/drawingml/2006/main">
              <a:ext uri="{FF2B5EF4-FFF2-40B4-BE49-F238E27FC236}">
                <a16:creationId xmlns:a16="http://schemas.microsoft.com/office/drawing/2014/main" id="{EBB8FA18-8F4A-4E81-BEE9-E5E52B444C8A}"/>
              </a:ext>
            </a:extLst>
          </p:cNvPr>
          <p:cNvSpPr>
            <a:spLocks xmlns:a="http://schemas.openxmlformats.org/drawingml/2006/main" noGrp="1"/>
          </p:cNvSpPr>
          <p:nvPr/>
        </p:nvSpPr>
        <p:spPr>
          <a:xfrm xmlns:a="http://schemas.openxmlformats.org/drawingml/2006/main">
            <a:off x="1962150" y="5638800"/>
            <a:ext cx="9220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13" b="1">
                <a:solidFill>
                  <a:srgbClr val="003F6B"/>
                </a:solidFill>
              </a:defRPr>
            </a:pPr>
            <a:r>
              <a:rPr sz="1013" b="1">
                <a:solidFill>
                  <a:srgbClr val="003F6B"/>
                </a:solidFill>
              </a:rPr>
              <a:t>Praxislesart: Klinikinterne Berechtigung und medizinische Indikation ersetzen nicht die gesetzlichen Verkehrs- und Dokumentationsregeln.</a:t>
            </a:r>
          </a:p>
        </p:txBody>
      </p:sp>
      <p:sp>
        <p:nvSpPr>
          <p:cNvPr id="16" name="">
            <a:extLst xmlns:a="http://schemas.openxmlformats.org/drawingml/2006/main">
              <a:ext uri="{FF2B5EF4-FFF2-40B4-BE49-F238E27FC236}">
                <a16:creationId xmlns:a16="http://schemas.microsoft.com/office/drawing/2014/main" id="{29077992-CE6C-43B0-B5C0-BF67F0C76EDD}"/>
              </a:ext>
            </a:extLst>
          </p:cNvPr>
          <p:cNvSpPr>
            <a:spLocks xmlns:a="http://schemas.openxmlformats.org/drawingml/2006/main" noGrp="1"/>
          </p:cNvSpPr>
          <p:nvPr/>
        </p:nvSpPr>
        <p:spPr>
          <a:xfrm xmlns:a="http://schemas.openxmlformats.org/drawingml/2006/main">
            <a:off x="1809750" y="535305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05">
                <a:solidFill>
                  <a:srgbClr val="667680"/>
                </a:solidFill>
              </a:defRPr>
            </a:pPr>
            <a:r>
              <a:rPr sz="705">
                <a:solidFill>
                  <a:srgbClr val="667680"/>
                </a:solidFill>
              </a:rPr>
              <a:t>BMJ/BfJ, gesetze-im-internet.de/btmg_1981/__13.html und /__29.html · Abruf/Stand: 20.08.2026 · https://pubmed.ncbi.nlm.nih.gov</a:t>
            </a:r>
          </a:p>
        </p:txBody>
      </p:sp>
    </p:spTree>
    <p:extLst>
      <p:ext uri="{BB962C8B-B14F-4D97-AF65-F5344CB8AC3E}">
        <p14:creationId xmlns:p14="http://schemas.microsoft.com/office/powerpoint/2010/main" val="43637646"/>
      </p:ext>
    </p:extLst>
  </p:cSld>
</p:sld>
</file>

<file path=ppt/slides/slide328.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Fentanyl: aus einem Handgriff werden mehrere Verfahren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PODCAST-BRÜCKE · RECHT MEDIZINISCH</a:t>
            </a:r>
            <a:endParaRPr/>
          </a:p>
        </p:txBody>
      </p:sp>
      <p:sp>
        <p:nvSpPr>
          <p:cNvPr id="4" name="">
            <a:extLst xmlns:a="http://schemas.openxmlformats.org/drawingml/2006/main">
              <a:ext uri="{FF2B5EF4-FFF2-40B4-BE49-F238E27FC236}">
                <a16:creationId xmlns:a16="http://schemas.microsoft.com/office/drawing/2014/main" id="{A82C3733-B578-41FF-8917-BE862AA51F93}"/>
              </a:ext>
            </a:extLst>
          </p:cNvPr>
          <p:cNvSpPr>
            <a:spLocks xmlns:a="http://schemas.openxmlformats.org/drawingml/2006/main" noGrp="1"/>
          </p:cNvSpPr>
          <p:nvPr/>
        </p:nvSpPr>
        <p:spPr>
          <a:xfrm xmlns:a="http://schemas.openxmlformats.org/drawingml/2006/main">
            <a:off x="1809750" y="1943100"/>
            <a:ext cx="2190750" cy="419100"/>
          </a:xfrm>
          <a:prstGeom xmlns:a="http://schemas.openxmlformats.org/drawingml/2006/main" prst="roundRect">
            <a:avLst>
              <a:gd name="adj" fmla="val 18182"/>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E7122934-6041-40C7-9553-20044A1A9385}"/>
              </a:ext>
            </a:extLst>
          </p:cNvPr>
          <p:cNvSpPr>
            <a:spLocks xmlns:a="http://schemas.openxmlformats.org/drawingml/2006/main" noGrp="1"/>
          </p:cNvSpPr>
          <p:nvPr/>
        </p:nvSpPr>
        <p:spPr>
          <a:xfrm xmlns:a="http://schemas.openxmlformats.org/drawingml/2006/main">
            <a:off x="1809750" y="1943100"/>
            <a:ext cx="2190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RECHT MEDIZINISCH</a:t>
            </a:r>
          </a:p>
        </p:txBody>
      </p:sp>
      <p:sp>
        <p:nvSpPr>
          <p:cNvPr id="6" name="">
            <a:extLst xmlns:a="http://schemas.openxmlformats.org/drawingml/2006/main">
              <a:ext uri="{FF2B5EF4-FFF2-40B4-BE49-F238E27FC236}">
                <a16:creationId xmlns:a16="http://schemas.microsoft.com/office/drawing/2014/main" id="{B982B847-4F6A-4068-9989-D23BF330BAA2}"/>
              </a:ext>
            </a:extLst>
          </p:cNvPr>
          <p:cNvSpPr>
            <a:spLocks xmlns:a="http://schemas.openxmlformats.org/drawingml/2006/main" noGrp="1"/>
          </p:cNvSpPr>
          <p:nvPr/>
        </p:nvSpPr>
        <p:spPr>
          <a:xfrm xmlns:a="http://schemas.openxmlformats.org/drawingml/2006/main">
            <a:off x="4191000" y="1943100"/>
            <a:ext cx="714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425" b="1">
                <a:solidFill>
                  <a:srgbClr val="003F6B"/>
                </a:solidFill>
              </a:defRPr>
            </a:pPr>
            <a:r>
              <a:rPr sz="1425" b="1">
                <a:solidFill>
                  <a:srgbClr val="003F6B"/>
                </a:solidFill>
              </a:rPr>
              <a:t>Folge 1 · Betäubungsmittel im Klinikalltag</a:t>
            </a:r>
          </a:p>
        </p:txBody>
      </p:sp>
      <p:sp>
        <p:nvSpPr>
          <p:cNvPr id="7" name="">
            <a:extLst xmlns:a="http://schemas.openxmlformats.org/drawingml/2006/main">
              <a:ext uri="{FF2B5EF4-FFF2-40B4-BE49-F238E27FC236}">
                <a16:creationId xmlns:a16="http://schemas.microsoft.com/office/drawing/2014/main" id="{DBF3B287-68D2-4058-BF30-E061844DF2C8}"/>
              </a:ext>
            </a:extLst>
          </p:cNvPr>
          <p:cNvSpPr>
            <a:spLocks xmlns:a="http://schemas.openxmlformats.org/drawingml/2006/main" noGrp="1"/>
          </p:cNvSpPr>
          <p:nvPr/>
        </p:nvSpPr>
        <p:spPr>
          <a:xfrm xmlns:a="http://schemas.openxmlformats.org/drawingml/2006/main">
            <a:off x="1809750" y="2571750"/>
            <a:ext cx="9525000" cy="914400"/>
          </a:xfrm>
          <a:prstGeom xmlns:a="http://schemas.openxmlformats.org/drawingml/2006/main" prst="roundRect">
            <a:avLst>
              <a:gd name="adj" fmla="val 8333"/>
            </a:avLst>
          </a:prstGeom>
          <a:solidFill xmlns:a="http://schemas.openxmlformats.org/drawingml/2006/main">
            <a:srgbClr val="EAF6FB"/>
          </a:solidFill>
          <a:ln xmlns:a="http://schemas.openxmlformats.org/drawingml/2006/main" w="11430">
            <a:solidFill>
              <a:srgbClr val="00B2BB"/>
            </a:solidFill>
            <a:prstDash val="solid"/>
          </a:ln>
        </p:spPr>
      </p:sp>
      <p:sp>
        <p:nvSpPr>
          <p:cNvPr id="8" name="">
            <a:extLst xmlns:a="http://schemas.openxmlformats.org/drawingml/2006/main">
              <a:ext uri="{FF2B5EF4-FFF2-40B4-BE49-F238E27FC236}">
                <a16:creationId xmlns:a16="http://schemas.microsoft.com/office/drawing/2014/main" id="{900B9FA6-A4D9-4F74-B40F-01EFAA7BD66C}"/>
              </a:ext>
            </a:extLst>
          </p:cNvPr>
          <p:cNvSpPr>
            <a:spLocks xmlns:a="http://schemas.openxmlformats.org/drawingml/2006/main" noGrp="1"/>
          </p:cNvSpPr>
          <p:nvPr/>
        </p:nvSpPr>
        <p:spPr>
          <a:xfrm xmlns:a="http://schemas.openxmlformats.org/drawingml/2006/main">
            <a:off x="2000250" y="2686050"/>
            <a:ext cx="914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00">
                <a:solidFill>
                  <a:srgbClr val="15232B"/>
                </a:solidFill>
              </a:defRPr>
            </a:pPr>
            <a:r>
              <a:rPr sz="1200">
                <a:solidFill>
                  <a:srgbClr val="15232B"/>
                </a:solidFill>
              </a:rPr>
              <a:t>Die Folge verbindet ein Fentanylpflaster beim Kind, eine Verwechslung von L‑Thyroxin und Fentanyl sowie die strafrechtliche Verantwortung eines PJ-Studierenden. Im Zentrum stehen Human Factors, Kontrolle, Delegation und persönliche Verantwortung.</a:t>
            </a:r>
          </a:p>
        </p:txBody>
      </p:sp>
      <p:sp>
        <p:nvSpPr>
          <p:cNvPr id="9" name="">
            <a:extLst xmlns:a="http://schemas.openxmlformats.org/drawingml/2006/main">
              <a:ext uri="{FF2B5EF4-FFF2-40B4-BE49-F238E27FC236}">
                <a16:creationId xmlns:a16="http://schemas.microsoft.com/office/drawing/2014/main" id="{C925527C-64B1-4005-B41C-0A876A4CEC9A}"/>
              </a:ext>
            </a:extLst>
          </p:cNvPr>
          <p:cNvSpPr>
            <a:spLocks xmlns:a="http://schemas.openxmlformats.org/drawingml/2006/main" noGrp="1"/>
          </p:cNvSpPr>
          <p:nvPr/>
        </p:nvSpPr>
        <p:spPr>
          <a:xfrm xmlns:a="http://schemas.openxmlformats.org/drawingml/2006/main">
            <a:off x="1809750" y="3714750"/>
            <a:ext cx="40005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0" name="">
            <a:extLst xmlns:a="http://schemas.openxmlformats.org/drawingml/2006/main">
              <a:ext uri="{FF2B5EF4-FFF2-40B4-BE49-F238E27FC236}">
                <a16:creationId xmlns:a16="http://schemas.microsoft.com/office/drawing/2014/main" id="{5A946911-A0C8-463D-B93F-566E81BD10BF}"/>
              </a:ext>
            </a:extLst>
          </p:cNvPr>
          <p:cNvSpPr>
            <a:spLocks xmlns:a="http://schemas.openxmlformats.org/drawingml/2006/main" noGrp="1"/>
          </p:cNvSpPr>
          <p:nvPr/>
        </p:nvSpPr>
        <p:spPr>
          <a:xfrm xmlns:a="http://schemas.openxmlformats.org/drawingml/2006/main">
            <a:off x="1809750" y="37147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11" name="">
            <a:extLst xmlns:a="http://schemas.openxmlformats.org/drawingml/2006/main">
              <a:ext uri="{FF2B5EF4-FFF2-40B4-BE49-F238E27FC236}">
                <a16:creationId xmlns:a16="http://schemas.microsoft.com/office/drawing/2014/main" id="{194FCA74-9D72-4632-B7AD-EECBDA249B25}"/>
              </a:ext>
            </a:extLst>
          </p:cNvPr>
          <p:cNvSpPr>
            <a:spLocks xmlns:a="http://schemas.openxmlformats.org/drawingml/2006/main" noGrp="1"/>
          </p:cNvSpPr>
          <p:nvPr/>
        </p:nvSpPr>
        <p:spPr>
          <a:xfrm xmlns:a="http://schemas.openxmlformats.org/drawingml/2006/main">
            <a:off x="2381250" y="3695700"/>
            <a:ext cx="895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25">
                <a:solidFill>
                  <a:srgbClr val="15232B"/>
                </a:solidFill>
              </a:defRPr>
            </a:pPr>
            <a:r>
              <a:rPr sz="1125">
                <a:solidFill>
                  <a:srgbClr val="15232B"/>
                </a:solidFill>
              </a:rPr>
              <a:t>Welche Barriere hätte den Fehler frühestens verhindert: Verordnung, Lagerung, Zubereitung, Gabe oder Monitoring?</a:t>
            </a:r>
          </a:p>
        </p:txBody>
      </p:sp>
      <p:sp>
        <p:nvSpPr>
          <p:cNvPr id="12" name="">
            <a:extLst xmlns:a="http://schemas.openxmlformats.org/drawingml/2006/main">
              <a:ext uri="{FF2B5EF4-FFF2-40B4-BE49-F238E27FC236}">
                <a16:creationId xmlns:a16="http://schemas.microsoft.com/office/drawing/2014/main" id="{75158705-AA12-43A8-9764-8073B34C8CB0}"/>
              </a:ext>
            </a:extLst>
          </p:cNvPr>
          <p:cNvSpPr>
            <a:spLocks xmlns:a="http://schemas.openxmlformats.org/drawingml/2006/main" noGrp="1"/>
          </p:cNvSpPr>
          <p:nvPr/>
        </p:nvSpPr>
        <p:spPr>
          <a:xfrm xmlns:a="http://schemas.openxmlformats.org/drawingml/2006/main">
            <a:off x="1809750" y="4286250"/>
            <a:ext cx="4000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3" name="">
            <a:extLst xmlns:a="http://schemas.openxmlformats.org/drawingml/2006/main">
              <a:ext uri="{FF2B5EF4-FFF2-40B4-BE49-F238E27FC236}">
                <a16:creationId xmlns:a16="http://schemas.microsoft.com/office/drawing/2014/main" id="{8836F57D-8F9A-4813-AEE3-CC90863E93ED}"/>
              </a:ext>
            </a:extLst>
          </p:cNvPr>
          <p:cNvSpPr>
            <a:spLocks xmlns:a="http://schemas.openxmlformats.org/drawingml/2006/main" noGrp="1"/>
          </p:cNvSpPr>
          <p:nvPr/>
        </p:nvSpPr>
        <p:spPr>
          <a:xfrm xmlns:a="http://schemas.openxmlformats.org/drawingml/2006/main">
            <a:off x="1809750" y="42862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4" name="">
            <a:extLst xmlns:a="http://schemas.openxmlformats.org/drawingml/2006/main">
              <a:ext uri="{FF2B5EF4-FFF2-40B4-BE49-F238E27FC236}">
                <a16:creationId xmlns:a16="http://schemas.microsoft.com/office/drawing/2014/main" id="{978F70FC-D80C-4CF0-B473-6B7A4B455BAA}"/>
              </a:ext>
            </a:extLst>
          </p:cNvPr>
          <p:cNvSpPr>
            <a:spLocks xmlns:a="http://schemas.openxmlformats.org/drawingml/2006/main" noGrp="1"/>
          </p:cNvSpPr>
          <p:nvPr/>
        </p:nvSpPr>
        <p:spPr>
          <a:xfrm xmlns:a="http://schemas.openxmlformats.org/drawingml/2006/main">
            <a:off x="2381250" y="4267200"/>
            <a:ext cx="895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25">
                <a:solidFill>
                  <a:srgbClr val="15232B"/>
                </a:solidFill>
              </a:defRPr>
            </a:pPr>
            <a:r>
              <a:rPr sz="1125">
                <a:solidFill>
                  <a:srgbClr val="15232B"/>
                </a:solidFill>
              </a:rPr>
              <a:t>Welche Person hatte welche Kompetenz- und Kontrollpflicht?</a:t>
            </a:r>
          </a:p>
        </p:txBody>
      </p:sp>
      <p:sp>
        <p:nvSpPr>
          <p:cNvPr id="15" name="">
            <a:extLst xmlns:a="http://schemas.openxmlformats.org/drawingml/2006/main">
              <a:ext uri="{FF2B5EF4-FFF2-40B4-BE49-F238E27FC236}">
                <a16:creationId xmlns:a16="http://schemas.microsoft.com/office/drawing/2014/main" id="{12BB80E2-E02D-43C2-A56E-59AAFFEBB4DF}"/>
              </a:ext>
            </a:extLst>
          </p:cNvPr>
          <p:cNvSpPr>
            <a:spLocks xmlns:a="http://schemas.openxmlformats.org/drawingml/2006/main" noGrp="1"/>
          </p:cNvSpPr>
          <p:nvPr/>
        </p:nvSpPr>
        <p:spPr>
          <a:xfrm xmlns:a="http://schemas.openxmlformats.org/drawingml/2006/main">
            <a:off x="1809750" y="4857750"/>
            <a:ext cx="40005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6" name="">
            <a:extLst xmlns:a="http://schemas.openxmlformats.org/drawingml/2006/main">
              <a:ext uri="{FF2B5EF4-FFF2-40B4-BE49-F238E27FC236}">
                <a16:creationId xmlns:a16="http://schemas.microsoft.com/office/drawing/2014/main" id="{758C92BE-AADF-4805-BC32-0D073E71523B}"/>
              </a:ext>
            </a:extLst>
          </p:cNvPr>
          <p:cNvSpPr>
            <a:spLocks xmlns:a="http://schemas.openxmlformats.org/drawingml/2006/main" noGrp="1"/>
          </p:cNvSpPr>
          <p:nvPr/>
        </p:nvSpPr>
        <p:spPr>
          <a:xfrm xmlns:a="http://schemas.openxmlformats.org/drawingml/2006/main">
            <a:off x="1809750" y="48577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7" name="">
            <a:extLst xmlns:a="http://schemas.openxmlformats.org/drawingml/2006/main">
              <a:ext uri="{FF2B5EF4-FFF2-40B4-BE49-F238E27FC236}">
                <a16:creationId xmlns:a16="http://schemas.microsoft.com/office/drawing/2014/main" id="{A5F553A1-8552-45EA-8E92-2C37760BF402}"/>
              </a:ext>
            </a:extLst>
          </p:cNvPr>
          <p:cNvSpPr>
            <a:spLocks xmlns:a="http://schemas.openxmlformats.org/drawingml/2006/main" noGrp="1"/>
          </p:cNvSpPr>
          <p:nvPr/>
        </p:nvSpPr>
        <p:spPr>
          <a:xfrm xmlns:a="http://schemas.openxmlformats.org/drawingml/2006/main">
            <a:off x="2381250" y="4838700"/>
            <a:ext cx="895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25">
                <a:solidFill>
                  <a:srgbClr val="15232B"/>
                </a:solidFill>
              </a:defRPr>
            </a:pPr>
            <a:r>
              <a:rPr sz="1125">
                <a:solidFill>
                  <a:srgbClr val="15232B"/>
                </a:solidFill>
              </a:rPr>
              <a:t>Welche Akten entstehen: Patientenakte, CIRS, Versicherer, Strafakte, Kammer?</a:t>
            </a:r>
          </a:p>
        </p:txBody>
      </p:sp>
      <p:sp>
        <p:nvSpPr>
          <p:cNvPr id="18" name="">
            <a:extLst xmlns:a="http://schemas.openxmlformats.org/drawingml/2006/main">
              <a:ext uri="{FF2B5EF4-FFF2-40B4-BE49-F238E27FC236}">
                <a16:creationId xmlns:a16="http://schemas.microsoft.com/office/drawing/2014/main" id="{025368C4-48C7-4029-A17E-B7BDF7F44025}"/>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638">
                <a:solidFill>
                  <a:srgbClr val="667680"/>
                </a:solidFill>
              </a:defRPr>
            </a:pPr>
            <a:r>
              <a:rPr sz="638">
                <a:solidFill>
                  <a:srgbClr val="667680"/>
                </a:solidFill>
              </a:rPr>
              <a:t>Spotify, Recht Medizinisch, Folge 1 · LG Frankfurt/Main, 04.04.2017 – 5/27 KLs 16/16; LG Bielefeld, 14.08.2013 – 011 Ns-16 Js 279/11-11/13 · https://podcasts.apple.com/us/podcast/recht-medizinisch/id1896818482</a:t>
            </a:r>
          </a:p>
        </p:txBody>
      </p:sp>
    </p:spTree>
    <p:extLst>
      <p:ext uri="{BB962C8B-B14F-4D97-AF65-F5344CB8AC3E}">
        <p14:creationId xmlns:p14="http://schemas.microsoft.com/office/powerpoint/2010/main" val="43637646"/>
      </p:ext>
    </p:extLst>
  </p:cSld>
</p:sld>
</file>

<file path=ppt/slides/slide329.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BtM-Überdosierung: Fehlergewicht und subjektive Vorwerfbarkeit</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REALE ENTSCHEIDUNG</a:t>
            </a:r>
            <a:endParaRPr/>
          </a:p>
        </p:txBody>
      </p:sp>
      <p:sp>
        <p:nvSpPr>
          <p:cNvPr id="4" name="">
            <a:extLst xmlns:a="http://schemas.openxmlformats.org/drawingml/2006/main">
              <a:ext uri="{FF2B5EF4-FFF2-40B4-BE49-F238E27FC236}">
                <a16:creationId xmlns:a16="http://schemas.microsoft.com/office/drawing/2014/main" id="{7C80D07C-4051-42F7-8116-FE490E453A3E}"/>
              </a:ext>
            </a:extLst>
          </p:cNvPr>
          <p:cNvSpPr>
            <a:spLocks xmlns:a="http://schemas.openxmlformats.org/drawingml/2006/main" noGrp="1"/>
          </p:cNvSpPr>
          <p:nvPr/>
        </p:nvSpPr>
        <p:spPr>
          <a:xfrm xmlns:a="http://schemas.openxmlformats.org/drawingml/2006/main">
            <a:off x="1809750" y="1943100"/>
            <a:ext cx="11239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FDC26C5C-8AA9-4152-A5CC-BFB9D7756284}"/>
              </a:ext>
            </a:extLst>
          </p:cNvPr>
          <p:cNvSpPr>
            <a:spLocks xmlns:a="http://schemas.openxmlformats.org/drawingml/2006/main" noGrp="1"/>
          </p:cNvSpPr>
          <p:nvPr/>
        </p:nvSpPr>
        <p:spPr>
          <a:xfrm xmlns:a="http://schemas.openxmlformats.org/drawingml/2006/main">
            <a:off x="1809750" y="1943100"/>
            <a:ext cx="1123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BGH</a:t>
            </a:r>
          </a:p>
        </p:txBody>
      </p:sp>
      <p:sp>
        <p:nvSpPr>
          <p:cNvPr id="6" name="">
            <a:extLst xmlns:a="http://schemas.openxmlformats.org/drawingml/2006/main">
              <a:ext uri="{FF2B5EF4-FFF2-40B4-BE49-F238E27FC236}">
                <a16:creationId xmlns:a16="http://schemas.microsoft.com/office/drawing/2014/main" id="{EAABC0A7-B8A7-4860-AAC9-ECEA7D0DCBFE}"/>
              </a:ext>
            </a:extLst>
          </p:cNvPr>
          <p:cNvSpPr>
            <a:spLocks xmlns:a="http://schemas.openxmlformats.org/drawingml/2006/main" noGrp="1"/>
          </p:cNvSpPr>
          <p:nvPr/>
        </p:nvSpPr>
        <p:spPr>
          <a:xfrm xmlns:a="http://schemas.openxmlformats.org/drawingml/2006/main">
            <a:off x="312420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11.01.2011 · 5 StR 491/10</a:t>
            </a:r>
          </a:p>
        </p:txBody>
      </p:sp>
      <p:sp>
        <p:nvSpPr>
          <p:cNvPr id="7" name="">
            <a:extLst xmlns:a="http://schemas.openxmlformats.org/drawingml/2006/main">
              <a:ext uri="{FF2B5EF4-FFF2-40B4-BE49-F238E27FC236}">
                <a16:creationId xmlns:a16="http://schemas.microsoft.com/office/drawing/2014/main" id="{B7013C75-9E75-49EF-B8DF-D2649E02DC9B}"/>
              </a:ext>
            </a:extLst>
          </p:cNvPr>
          <p:cNvSpPr>
            <a:spLocks xmlns:a="http://schemas.openxmlformats.org/drawingml/2006/main" noGrp="1"/>
          </p:cNvSpPr>
          <p:nvPr/>
        </p:nvSpPr>
        <p:spPr>
          <a:xfrm xmlns:a="http://schemas.openxmlformats.org/drawingml/2006/main">
            <a:off x="733425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050">
                <a:solidFill>
                  <a:srgbClr val="667680"/>
                </a:solidFill>
              </a:defRPr>
            </a:pPr>
            <a:r>
              <a:rPr sz="1050">
                <a:solidFill>
                  <a:srgbClr val="667680"/>
                </a:solidFill>
              </a:rPr>
              <a:t>Leitentscheidung</a:t>
            </a:r>
          </a:p>
        </p:txBody>
      </p:sp>
      <p:sp>
        <p:nvSpPr>
          <p:cNvPr id="8" name="">
            <a:extLst xmlns:a="http://schemas.openxmlformats.org/drawingml/2006/main">
              <a:ext uri="{FF2B5EF4-FFF2-40B4-BE49-F238E27FC236}">
                <a16:creationId xmlns:a16="http://schemas.microsoft.com/office/drawing/2014/main" id="{B35749B9-4FF2-493F-86D4-60B2DA9908A4}"/>
              </a:ext>
            </a:extLst>
          </p:cNvPr>
          <p:cNvSpPr>
            <a:spLocks xmlns:a="http://schemas.openxmlformats.org/drawingml/2006/main" noGrp="1"/>
          </p:cNvSpPr>
          <p:nvPr/>
        </p:nvSpPr>
        <p:spPr>
          <a:xfrm xmlns:a="http://schemas.openxmlformats.org/drawingml/2006/main">
            <a:off x="1809750" y="2533650"/>
            <a:ext cx="1676400" cy="781050"/>
          </a:xfrm>
          <a:prstGeom xmlns:a="http://schemas.openxmlformats.org/drawingml/2006/main" prst="roundRect">
            <a:avLst>
              <a:gd name="adj" fmla="val 9756"/>
            </a:avLst>
          </a:prstGeom>
          <a:solidFill xmlns:a="http://schemas.openxmlformats.org/drawingml/2006/main">
            <a:srgbClr val="00B2BB"/>
          </a:solidFill>
          <a:ln xmlns:a="http://schemas.openxmlformats.org/drawingml/2006/main" w="0">
            <a:solidFill>
              <a:srgbClr val="00B2BB"/>
            </a:solidFill>
            <a:prstDash val="solid"/>
          </a:ln>
        </p:spPr>
      </p:sp>
      <p:sp>
        <p:nvSpPr>
          <p:cNvPr id="9" name="">
            <a:extLst xmlns:a="http://schemas.openxmlformats.org/drawingml/2006/main">
              <a:ext uri="{FF2B5EF4-FFF2-40B4-BE49-F238E27FC236}">
                <a16:creationId xmlns:a16="http://schemas.microsoft.com/office/drawing/2014/main" id="{E0FCB80D-84D4-4FD4-AB3D-F512A197B094}"/>
              </a:ext>
            </a:extLst>
          </p:cNvPr>
          <p:cNvSpPr>
            <a:spLocks xmlns:a="http://schemas.openxmlformats.org/drawingml/2006/main" noGrp="1"/>
          </p:cNvSpPr>
          <p:nvPr/>
        </p:nvSpPr>
        <p:spPr>
          <a:xfrm xmlns:a="http://schemas.openxmlformats.org/drawingml/2006/main">
            <a:off x="1924050" y="25336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Ausgangsfall</a:t>
            </a:r>
          </a:p>
        </p:txBody>
      </p:sp>
      <p:sp>
        <p:nvSpPr>
          <p:cNvPr id="10" name="">
            <a:extLst xmlns:a="http://schemas.openxmlformats.org/drawingml/2006/main">
              <a:ext uri="{FF2B5EF4-FFF2-40B4-BE49-F238E27FC236}">
                <a16:creationId xmlns:a16="http://schemas.microsoft.com/office/drawing/2014/main" id="{9D9AA5C7-4A4A-44BA-A4BB-BF7D28892987}"/>
              </a:ext>
            </a:extLst>
          </p:cNvPr>
          <p:cNvSpPr>
            <a:spLocks xmlns:a="http://schemas.openxmlformats.org/drawingml/2006/main" noGrp="1"/>
          </p:cNvSpPr>
          <p:nvPr/>
        </p:nvSpPr>
        <p:spPr>
          <a:xfrm xmlns:a="http://schemas.openxmlformats.org/drawingml/2006/main">
            <a:off x="3695700" y="25336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88">
                <a:solidFill>
                  <a:srgbClr val="15232B"/>
                </a:solidFill>
              </a:defRPr>
            </a:pPr>
            <a:r>
              <a:rPr sz="1088">
                <a:solidFill>
                  <a:srgbClr val="15232B"/>
                </a:solidFill>
              </a:rPr>
              <a:t>Bei einer Gruppenbehandlung führte ein Wiege- bzw. Dosierungsfehler zu Überdosierungen, Verletzungen und einem Todesfall.</a:t>
            </a:r>
          </a:p>
        </p:txBody>
      </p:sp>
      <p:sp>
        <p:nvSpPr>
          <p:cNvPr id="11" name="">
            <a:extLst xmlns:a="http://schemas.openxmlformats.org/drawingml/2006/main">
              <a:ext uri="{FF2B5EF4-FFF2-40B4-BE49-F238E27FC236}">
                <a16:creationId xmlns:a16="http://schemas.microsoft.com/office/drawing/2014/main" id="{307C63B2-33F2-4E39-8275-352926F78331}"/>
              </a:ext>
            </a:extLst>
          </p:cNvPr>
          <p:cNvSpPr>
            <a:spLocks xmlns:a="http://schemas.openxmlformats.org/drawingml/2006/main" noGrp="1"/>
          </p:cNvSpPr>
          <p:nvPr/>
        </p:nvSpPr>
        <p:spPr>
          <a:xfrm xmlns:a="http://schemas.openxmlformats.org/drawingml/2006/main">
            <a:off x="1809750" y="3486150"/>
            <a:ext cx="1676400" cy="781050"/>
          </a:xfrm>
          <a:prstGeom xmlns:a="http://schemas.openxmlformats.org/drawingml/2006/main" prst="roundRect">
            <a:avLst>
              <a:gd name="adj" fmla="val 9756"/>
            </a:avLst>
          </a:prstGeom>
          <a:solidFill xmlns:a="http://schemas.openxmlformats.org/drawingml/2006/main">
            <a:srgbClr val="003F6B"/>
          </a:solidFill>
          <a:ln xmlns:a="http://schemas.openxmlformats.org/drawingml/2006/main" w="0">
            <a:solidFill>
              <a:srgbClr val="003F6B"/>
            </a:solidFill>
            <a:prstDash val="solid"/>
          </a:ln>
        </p:spPr>
      </p:sp>
      <p:sp>
        <p:nvSpPr>
          <p:cNvPr id="12" name="">
            <a:extLst xmlns:a="http://schemas.openxmlformats.org/drawingml/2006/main">
              <a:ext uri="{FF2B5EF4-FFF2-40B4-BE49-F238E27FC236}">
                <a16:creationId xmlns:a16="http://schemas.microsoft.com/office/drawing/2014/main" id="{8DDF6B78-391F-44D4-AA68-F01DAC5A5C48}"/>
              </a:ext>
            </a:extLst>
          </p:cNvPr>
          <p:cNvSpPr>
            <a:spLocks xmlns:a="http://schemas.openxmlformats.org/drawingml/2006/main" noGrp="1"/>
          </p:cNvSpPr>
          <p:nvPr/>
        </p:nvSpPr>
        <p:spPr>
          <a:xfrm xmlns:a="http://schemas.openxmlformats.org/drawingml/2006/main">
            <a:off x="1924050" y="34861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Kernaussage</a:t>
            </a:r>
          </a:p>
        </p:txBody>
      </p:sp>
      <p:sp>
        <p:nvSpPr>
          <p:cNvPr id="13" name="">
            <a:extLst xmlns:a="http://schemas.openxmlformats.org/drawingml/2006/main">
              <a:ext uri="{FF2B5EF4-FFF2-40B4-BE49-F238E27FC236}">
                <a16:creationId xmlns:a16="http://schemas.microsoft.com/office/drawing/2014/main" id="{7583E83F-6DA5-43C6-BBBD-A1141559F034}"/>
              </a:ext>
            </a:extLst>
          </p:cNvPr>
          <p:cNvSpPr>
            <a:spLocks xmlns:a="http://schemas.openxmlformats.org/drawingml/2006/main" noGrp="1"/>
          </p:cNvSpPr>
          <p:nvPr/>
        </p:nvSpPr>
        <p:spPr>
          <a:xfrm xmlns:a="http://schemas.openxmlformats.org/drawingml/2006/main">
            <a:off x="3695700" y="34861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88">
                <a:solidFill>
                  <a:srgbClr val="15232B"/>
                </a:solidFill>
              </a:defRPr>
            </a:pPr>
            <a:r>
              <a:rPr sz="1088">
                <a:solidFill>
                  <a:srgbClr val="15232B"/>
                </a:solidFill>
              </a:rPr>
              <a:t>Der BGH trennte fahrlässige Körperverletzung/Tötung von schwereren BtM-Tatbeständen. Für die Leichtfertigkeit musste die Erkennbarkeit des Wiegefehlers gerade vor dem Erfahrungshintergrund des Arztes geprüft werden.</a:t>
            </a:r>
          </a:p>
        </p:txBody>
      </p:sp>
      <p:sp>
        <p:nvSpPr>
          <p:cNvPr id="14" name="">
            <a:extLst xmlns:a="http://schemas.openxmlformats.org/drawingml/2006/main">
              <a:ext uri="{FF2B5EF4-FFF2-40B4-BE49-F238E27FC236}">
                <a16:creationId xmlns:a16="http://schemas.microsoft.com/office/drawing/2014/main" id="{93B28C35-84D0-4094-9620-98D5A20697DA}"/>
              </a:ext>
            </a:extLst>
          </p:cNvPr>
          <p:cNvSpPr>
            <a:spLocks xmlns:a="http://schemas.openxmlformats.org/drawingml/2006/main" noGrp="1"/>
          </p:cNvSpPr>
          <p:nvPr/>
        </p:nvSpPr>
        <p:spPr>
          <a:xfrm xmlns:a="http://schemas.openxmlformats.org/drawingml/2006/main">
            <a:off x="1809750" y="4438650"/>
            <a:ext cx="1676400" cy="781050"/>
          </a:xfrm>
          <a:prstGeom xmlns:a="http://schemas.openxmlformats.org/drawingml/2006/main" prst="roundRect">
            <a:avLst>
              <a:gd name="adj" fmla="val 9756"/>
            </a:avLst>
          </a:prstGeom>
          <a:solidFill xmlns:a="http://schemas.openxmlformats.org/drawingml/2006/main">
            <a:srgbClr val="00B2BB"/>
          </a:solidFill>
          <a:ln xmlns:a="http://schemas.openxmlformats.org/drawingml/2006/main" w="0">
            <a:solidFill>
              <a:srgbClr val="00B2BB"/>
            </a:solidFill>
            <a:prstDash val="solid"/>
          </a:ln>
        </p:spPr>
      </p:sp>
      <p:sp>
        <p:nvSpPr>
          <p:cNvPr id="15" name="">
            <a:extLst xmlns:a="http://schemas.openxmlformats.org/drawingml/2006/main">
              <a:ext uri="{FF2B5EF4-FFF2-40B4-BE49-F238E27FC236}">
                <a16:creationId xmlns:a16="http://schemas.microsoft.com/office/drawing/2014/main" id="{30818169-5416-4171-A2B5-5F2E05C87090}"/>
              </a:ext>
            </a:extLst>
          </p:cNvPr>
          <p:cNvSpPr>
            <a:spLocks xmlns:a="http://schemas.openxmlformats.org/drawingml/2006/main" noGrp="1"/>
          </p:cNvSpPr>
          <p:nvPr/>
        </p:nvSpPr>
        <p:spPr>
          <a:xfrm xmlns:a="http://schemas.openxmlformats.org/drawingml/2006/main">
            <a:off x="1924050" y="44386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Für die Praxis</a:t>
            </a:r>
          </a:p>
        </p:txBody>
      </p:sp>
      <p:sp>
        <p:nvSpPr>
          <p:cNvPr id="16" name="">
            <a:extLst xmlns:a="http://schemas.openxmlformats.org/drawingml/2006/main">
              <a:ext uri="{FF2B5EF4-FFF2-40B4-BE49-F238E27FC236}">
                <a16:creationId xmlns:a16="http://schemas.microsoft.com/office/drawing/2014/main" id="{30080279-8F1A-4AF4-8ABB-6F0785221108}"/>
              </a:ext>
            </a:extLst>
          </p:cNvPr>
          <p:cNvSpPr>
            <a:spLocks xmlns:a="http://schemas.openxmlformats.org/drawingml/2006/main" noGrp="1"/>
          </p:cNvSpPr>
          <p:nvPr/>
        </p:nvSpPr>
        <p:spPr>
          <a:xfrm xmlns:a="http://schemas.openxmlformats.org/drawingml/2006/main">
            <a:off x="3695700" y="44386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88">
                <a:solidFill>
                  <a:srgbClr val="15232B"/>
                </a:solidFill>
              </a:defRPr>
            </a:pPr>
            <a:r>
              <a:rPr sz="1088">
                <a:solidFill>
                  <a:srgbClr val="15232B"/>
                </a:solidFill>
              </a:rPr>
              <a:t>Nicht nur ‚Fehler passiert‘ prüfen: konkrete Pflicht, Risikoerhöhung, individuelle Erkennbarkeit, Kausalität und erforderlicher Schuldgrad.</a:t>
            </a:r>
          </a:p>
        </p:txBody>
      </p:sp>
      <p:sp>
        <p:nvSpPr>
          <p:cNvPr id="17" name="">
            <a:extLst xmlns:a="http://schemas.openxmlformats.org/drawingml/2006/main">
              <a:ext uri="{FF2B5EF4-FFF2-40B4-BE49-F238E27FC236}">
                <a16:creationId xmlns:a16="http://schemas.microsoft.com/office/drawing/2014/main" id="{4F2065C1-EC74-4C0F-9CF4-0E659D381619}"/>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20">
                <a:solidFill>
                  <a:srgbClr val="667680"/>
                </a:solidFill>
              </a:defRPr>
            </a:pPr>
            <a:r>
              <a:rPr sz="720">
                <a:solidFill>
                  <a:srgbClr val="667680"/>
                </a:solidFill>
              </a:rPr>
              <a:t>BGH, Beschluss vom 11.01.2011 – 5 StR 491/10, juris.bundesgerichtshof.de · https://juris.bundesgerichtshof.de</a:t>
            </a:r>
          </a:p>
        </p:txBody>
      </p:sp>
    </p:spTree>
    <p:extLst>
      <p:ext uri="{BB962C8B-B14F-4D97-AF65-F5344CB8AC3E}">
        <p14:creationId xmlns:p14="http://schemas.microsoft.com/office/powerpoint/2010/main" val="43637646"/>
      </p:ext>
    </p:extLst>
  </p:cSld>
</p:sld>
</file>

<file path=ppt/slides/slide330.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Arzneimitteltherapie als Verantwortungsprozess</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2C1E9BE0-3E35-4B4C-A548-C1156B07993E}"/>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Rechtliche Sicherheit entsteht nicht nur beim Rezept, sondern über Indikation, Auswahl, Verordnung, Abgabe, Anwendung und Überwachung.</a:t>
            </a:r>
          </a:p>
        </p:txBody>
      </p:sp>
      <p:sp>
        <p:nvSpPr>
          <p:cNvPr id="5" name="">
            <a:extLst xmlns:a="http://schemas.openxmlformats.org/drawingml/2006/main">
              <a:ext uri="{FF2B5EF4-FFF2-40B4-BE49-F238E27FC236}">
                <a16:creationId xmlns:a16="http://schemas.microsoft.com/office/drawing/2014/main" id="{D9E08053-1B87-4EE6-AE5F-338F46EC6D55}"/>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97382E4B-EB62-46F7-A10B-451AE9F1A176}"/>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AD8BAF76-5439-474E-A85D-FB8C765697C3}"/>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Indikation und Auswahl</a:t>
            </a:r>
          </a:p>
        </p:txBody>
      </p:sp>
      <p:sp>
        <p:nvSpPr>
          <p:cNvPr id="8" name="">
            <a:extLst xmlns:a="http://schemas.openxmlformats.org/drawingml/2006/main">
              <a:ext uri="{FF2B5EF4-FFF2-40B4-BE49-F238E27FC236}">
                <a16:creationId xmlns:a16="http://schemas.microsoft.com/office/drawing/2014/main" id="{F7D31164-DF59-40DA-98D2-BE0C3C6DC49B}"/>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Nutzen, Kontraindikationen, Interaktionen, Organfunktion und Patientenwille werden berücksichtigt.</a:t>
            </a:r>
          </a:p>
        </p:txBody>
      </p:sp>
      <p:sp>
        <p:nvSpPr>
          <p:cNvPr id="9" name="">
            <a:extLst xmlns:a="http://schemas.openxmlformats.org/drawingml/2006/main">
              <a:ext uri="{FF2B5EF4-FFF2-40B4-BE49-F238E27FC236}">
                <a16:creationId xmlns:a16="http://schemas.microsoft.com/office/drawing/2014/main" id="{43614081-F313-4024-A1B1-E128BFF60D42}"/>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673A91F7-C1C5-4284-A7A4-55A07923B9D1}"/>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D603CF28-4412-4F18-A9DF-25E67B7C46AB}"/>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Verordnung</a:t>
            </a:r>
          </a:p>
        </p:txBody>
      </p:sp>
      <p:sp>
        <p:nvSpPr>
          <p:cNvPr id="12" name="">
            <a:extLst xmlns:a="http://schemas.openxmlformats.org/drawingml/2006/main">
              <a:ext uri="{FF2B5EF4-FFF2-40B4-BE49-F238E27FC236}">
                <a16:creationId xmlns:a16="http://schemas.microsoft.com/office/drawing/2014/main" id="{B6E694A0-BF57-41B9-A259-E64AC3CE559D}"/>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Wirkstoff, Dosis, Applikation, Zeitpunkt und Dauer müssen eindeutig sein.</a:t>
            </a:r>
          </a:p>
        </p:txBody>
      </p:sp>
      <p:sp>
        <p:nvSpPr>
          <p:cNvPr id="13" name="">
            <a:extLst xmlns:a="http://schemas.openxmlformats.org/drawingml/2006/main">
              <a:ext uri="{FF2B5EF4-FFF2-40B4-BE49-F238E27FC236}">
                <a16:creationId xmlns:a16="http://schemas.microsoft.com/office/drawing/2014/main" id="{9B480588-4956-4881-83B5-78EFC0190DFB}"/>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A42CBD53-3805-4F96-A797-FC8F51359C51}"/>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CDA4B764-26B4-455E-B319-0BEC5D70C3A6}"/>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Anwendung</a:t>
            </a:r>
          </a:p>
        </p:txBody>
      </p:sp>
      <p:sp>
        <p:nvSpPr>
          <p:cNvPr id="16" name="">
            <a:extLst xmlns:a="http://schemas.openxmlformats.org/drawingml/2006/main">
              <a:ext uri="{FF2B5EF4-FFF2-40B4-BE49-F238E27FC236}">
                <a16:creationId xmlns:a16="http://schemas.microsoft.com/office/drawing/2014/main" id="{606F8C0C-17CB-4EFA-91A2-B08A5E5D24EA}"/>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Identität, Präparat, Dosis, Weg, Zeit und Dokumentation werden systematisch geprüft.</a:t>
            </a:r>
          </a:p>
        </p:txBody>
      </p:sp>
      <p:sp>
        <p:nvSpPr>
          <p:cNvPr id="17" name="">
            <a:extLst xmlns:a="http://schemas.openxmlformats.org/drawingml/2006/main">
              <a:ext uri="{FF2B5EF4-FFF2-40B4-BE49-F238E27FC236}">
                <a16:creationId xmlns:a16="http://schemas.microsoft.com/office/drawing/2014/main" id="{040B9D70-6006-4AF3-87A5-044B527F7EC8}"/>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55F3240B-19D0-4173-8AE6-1FB3F86DDE6A}"/>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E5F91D17-B649-48B6-9219-DF538753717B}"/>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Monitoring</a:t>
            </a:r>
          </a:p>
        </p:txBody>
      </p:sp>
      <p:sp>
        <p:nvSpPr>
          <p:cNvPr id="20" name="">
            <a:extLst xmlns:a="http://schemas.openxmlformats.org/drawingml/2006/main">
              <a:ext uri="{FF2B5EF4-FFF2-40B4-BE49-F238E27FC236}">
                <a16:creationId xmlns:a16="http://schemas.microsoft.com/office/drawing/2014/main" id="{2E41B4A2-87AA-43A1-90E0-CA8B379F1467}"/>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Wirkung, Nebenwirkung, Labor und Abbruchkriterien erhalten Verantwortlichkeit und Zeitplan.</a:t>
            </a:r>
          </a:p>
        </p:txBody>
      </p:sp>
      <p:sp>
        <p:nvSpPr>
          <p:cNvPr id="21" name="">
            <a:extLst xmlns:a="http://schemas.openxmlformats.org/drawingml/2006/main">
              <a:ext uri="{FF2B5EF4-FFF2-40B4-BE49-F238E27FC236}">
                <a16:creationId xmlns:a16="http://schemas.microsoft.com/office/drawing/2014/main" id="{7BB8D02E-0018-4C7E-AC32-8644E803C12B}"/>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B2D70544-2BD4-44B8-80D8-9C165165F3C7}"/>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Medikationssicherheit ist eine Kette; jede Schnittstelle braucht eindeutige Zuständigkeit.</a:t>
            </a:r>
          </a:p>
        </p:txBody>
      </p:sp>
    </p:spTree>
    <p:extLst>
      <p:ext uri="{BB962C8B-B14F-4D97-AF65-F5344CB8AC3E}">
        <p14:creationId xmlns:p14="http://schemas.microsoft.com/office/powerpoint/2010/main" val="43637646"/>
      </p:ext>
    </p:extLst>
  </p:cSld>
</p:sld>
</file>

<file path=ppt/slides/slide331.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Off-Label-Use</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F22C1823-9729-4340-A02D-0D9BA709D96E}"/>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Die Anwendung außerhalb der zugelassenen Indikation kann medizinisch vertretbar sein, verlangt aber erhöhte Begründungs- und Aufklärungsqualität.</a:t>
            </a:r>
          </a:p>
        </p:txBody>
      </p:sp>
      <p:sp>
        <p:nvSpPr>
          <p:cNvPr id="5" name="">
            <a:extLst xmlns:a="http://schemas.openxmlformats.org/drawingml/2006/main">
              <a:ext uri="{FF2B5EF4-FFF2-40B4-BE49-F238E27FC236}">
                <a16:creationId xmlns:a16="http://schemas.microsoft.com/office/drawing/2014/main" id="{B9BE337C-E544-4123-B00F-C5A4A5726B58}"/>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0C219AF4-1B43-416C-92C0-65E3A1B12A1F}"/>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9DABE1B5-2007-4A34-99B9-22EE986F035E}"/>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Medizinische Vertretbarkeit</a:t>
            </a:r>
          </a:p>
        </p:txBody>
      </p:sp>
      <p:sp>
        <p:nvSpPr>
          <p:cNvPr id="8" name="">
            <a:extLst xmlns:a="http://schemas.openxmlformats.org/drawingml/2006/main">
              <a:ext uri="{FF2B5EF4-FFF2-40B4-BE49-F238E27FC236}">
                <a16:creationId xmlns:a16="http://schemas.microsoft.com/office/drawing/2014/main" id="{396581E8-4001-4FF5-AA1D-3B69E3C5B431}"/>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Evidenz, Schwere der Erkrankung, Alternativen und fachlicher Standard werden geprüft.</a:t>
            </a:r>
          </a:p>
        </p:txBody>
      </p:sp>
      <p:sp>
        <p:nvSpPr>
          <p:cNvPr id="9" name="">
            <a:extLst xmlns:a="http://schemas.openxmlformats.org/drawingml/2006/main">
              <a:ext uri="{FF2B5EF4-FFF2-40B4-BE49-F238E27FC236}">
                <a16:creationId xmlns:a16="http://schemas.microsoft.com/office/drawing/2014/main" id="{9E8BF6A7-823B-4D3D-97F5-6E2DDC64C0D5}"/>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30F1F94E-D55A-43B0-B1E5-B46959A079CD}"/>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EBF10B15-AB0C-4A56-A6F9-D2B4DFD63418}"/>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Aufklärung</a:t>
            </a:r>
          </a:p>
        </p:txBody>
      </p:sp>
      <p:sp>
        <p:nvSpPr>
          <p:cNvPr id="12" name="">
            <a:extLst xmlns:a="http://schemas.openxmlformats.org/drawingml/2006/main">
              <a:ext uri="{FF2B5EF4-FFF2-40B4-BE49-F238E27FC236}">
                <a16:creationId xmlns:a16="http://schemas.microsoft.com/office/drawing/2014/main" id="{DCA9F3C7-CB68-4518-B59B-5E957A9BB9A8}"/>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Der Zulassungsstatus, besondere Unsicherheiten, Risiken und Alternativen werden verständlich erläutert.</a:t>
            </a:r>
          </a:p>
        </p:txBody>
      </p:sp>
      <p:sp>
        <p:nvSpPr>
          <p:cNvPr id="13" name="">
            <a:extLst xmlns:a="http://schemas.openxmlformats.org/drawingml/2006/main">
              <a:ext uri="{FF2B5EF4-FFF2-40B4-BE49-F238E27FC236}">
                <a16:creationId xmlns:a16="http://schemas.microsoft.com/office/drawing/2014/main" id="{A33147BE-5480-4436-821D-7495490E4AA6}"/>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DDAAC3FD-8385-43BC-9A5D-22F669EE1FCE}"/>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98141DCE-47BF-4348-BA43-F3A171D3D738}"/>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Kosten</a:t>
            </a:r>
          </a:p>
        </p:txBody>
      </p:sp>
      <p:sp>
        <p:nvSpPr>
          <p:cNvPr id="16" name="">
            <a:extLst xmlns:a="http://schemas.openxmlformats.org/drawingml/2006/main">
              <a:ext uri="{FF2B5EF4-FFF2-40B4-BE49-F238E27FC236}">
                <a16:creationId xmlns:a16="http://schemas.microsoft.com/office/drawing/2014/main" id="{C9DE1E36-6356-4D57-A152-A86B04AD107A}"/>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Erstattungsfragen werden getrennt von medizinischer Zulässigkeit geprüft und rechtzeitig angesprochen.</a:t>
            </a:r>
          </a:p>
        </p:txBody>
      </p:sp>
      <p:sp>
        <p:nvSpPr>
          <p:cNvPr id="17" name="">
            <a:extLst xmlns:a="http://schemas.openxmlformats.org/drawingml/2006/main">
              <a:ext uri="{FF2B5EF4-FFF2-40B4-BE49-F238E27FC236}">
                <a16:creationId xmlns:a16="http://schemas.microsoft.com/office/drawing/2014/main" id="{D21407B7-3DFC-4E64-A6AF-E1C2B52B9A2D}"/>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10D1E256-BF8D-4C8D-95BE-7482D3520F69}"/>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4F995A4B-564C-499A-B4D9-BEB5701C1DE6}"/>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Dokumentation</a:t>
            </a:r>
          </a:p>
        </p:txBody>
      </p:sp>
      <p:sp>
        <p:nvSpPr>
          <p:cNvPr id="20" name="">
            <a:extLst xmlns:a="http://schemas.openxmlformats.org/drawingml/2006/main">
              <a:ext uri="{FF2B5EF4-FFF2-40B4-BE49-F238E27FC236}">
                <a16:creationId xmlns:a16="http://schemas.microsoft.com/office/drawing/2014/main" id="{167E4750-7946-4F62-B3D0-F31A1194F144}"/>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Indikation, Evidenzbasis, Abwägung, Einwilligung und Monitoring werden nachvollziehbar festgehalten.</a:t>
            </a:r>
          </a:p>
        </p:txBody>
      </p:sp>
      <p:sp>
        <p:nvSpPr>
          <p:cNvPr id="21" name="">
            <a:extLst xmlns:a="http://schemas.openxmlformats.org/drawingml/2006/main">
              <a:ext uri="{FF2B5EF4-FFF2-40B4-BE49-F238E27FC236}">
                <a16:creationId xmlns:a16="http://schemas.microsoft.com/office/drawing/2014/main" id="{2F71C634-AF6E-42A2-8EA7-AFECA3EDFD40}"/>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4CFDF822-BAA3-4C4E-B387-3CF412684AF6}"/>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„Off label“ bedeutet nicht automatisch „verboten“, aber auch nicht Routine ohne zusätzliche Prüfung.</a:t>
            </a:r>
          </a:p>
        </p:txBody>
      </p:sp>
    </p:spTree>
    <p:extLst>
      <p:ext uri="{BB962C8B-B14F-4D97-AF65-F5344CB8AC3E}">
        <p14:creationId xmlns:p14="http://schemas.microsoft.com/office/powerpoint/2010/main" val="43637646"/>
      </p:ext>
    </p:extLst>
  </p:cSld>
</p:sld>
</file>

<file path=ppt/slides/slide332.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Betäubungsmittel: erhöhte Kontrollpflichten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1E9333E1-ACE3-4E60-A2C2-AA04B3A61842}"/>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Betäubungsmittelrecht verbindet medizinische Indikation mit besonderen Vorgaben zu Verschreibung, Bestand und Dokumentation.</a:t>
            </a:r>
          </a:p>
        </p:txBody>
      </p:sp>
      <p:sp>
        <p:nvSpPr>
          <p:cNvPr id="5" name="">
            <a:extLst xmlns:a="http://schemas.openxmlformats.org/drawingml/2006/main">
              <a:ext uri="{FF2B5EF4-FFF2-40B4-BE49-F238E27FC236}">
                <a16:creationId xmlns:a16="http://schemas.microsoft.com/office/drawing/2014/main" id="{4CCF7B76-61AA-4970-A793-88F834AEA888}"/>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782FAAFE-1C86-4D5C-9780-FC160B546BE9}"/>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23973849-CE97-483C-B6AB-976CECBD3693}"/>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Berechtigung</a:t>
            </a:r>
          </a:p>
        </p:txBody>
      </p:sp>
      <p:sp>
        <p:nvSpPr>
          <p:cNvPr id="8" name="">
            <a:extLst xmlns:a="http://schemas.openxmlformats.org/drawingml/2006/main">
              <a:ext uri="{FF2B5EF4-FFF2-40B4-BE49-F238E27FC236}">
                <a16:creationId xmlns:a16="http://schemas.microsoft.com/office/drawing/2014/main" id="{C3444035-FA96-4337-8B77-BDF60F7F8511}"/>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Nur gesetzlich berechtigte Personen dürfen im zulässigen Rahmen verschreiben oder verabreichen.</a:t>
            </a:r>
          </a:p>
        </p:txBody>
      </p:sp>
      <p:sp>
        <p:nvSpPr>
          <p:cNvPr id="9" name="">
            <a:extLst xmlns:a="http://schemas.openxmlformats.org/drawingml/2006/main">
              <a:ext uri="{FF2B5EF4-FFF2-40B4-BE49-F238E27FC236}">
                <a16:creationId xmlns:a16="http://schemas.microsoft.com/office/drawing/2014/main" id="{1E854DCC-54DE-4F80-B1F6-E318D10CFDF9}"/>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AF1EEB48-7D9C-40B6-A13C-DAA089AAF5B4}"/>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C4B1C40E-F853-4DF5-B760-1D1BA6437E6F}"/>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Form und Inhalt</a:t>
            </a:r>
          </a:p>
        </p:txBody>
      </p:sp>
      <p:sp>
        <p:nvSpPr>
          <p:cNvPr id="12" name="">
            <a:extLst xmlns:a="http://schemas.openxmlformats.org/drawingml/2006/main">
              <a:ext uri="{FF2B5EF4-FFF2-40B4-BE49-F238E27FC236}">
                <a16:creationId xmlns:a16="http://schemas.microsoft.com/office/drawing/2014/main" id="{4A2E0742-9A42-450D-A920-47A67B12EB2A}"/>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Verschreibung und Nachweise folgen besonderen formellen Anforderungen.</a:t>
            </a:r>
          </a:p>
        </p:txBody>
      </p:sp>
      <p:sp>
        <p:nvSpPr>
          <p:cNvPr id="13" name="">
            <a:extLst xmlns:a="http://schemas.openxmlformats.org/drawingml/2006/main">
              <a:ext uri="{FF2B5EF4-FFF2-40B4-BE49-F238E27FC236}">
                <a16:creationId xmlns:a16="http://schemas.microsoft.com/office/drawing/2014/main" id="{2B5E8894-1B45-43A4-B204-FA0C2BBEF60C}"/>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C1927B97-2218-4D6E-BB6C-8B593D1DC685}"/>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B22699E4-B149-47B5-922A-5A754B76E9A1}"/>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Bestandssicherheit</a:t>
            </a:r>
          </a:p>
        </p:txBody>
      </p:sp>
      <p:sp>
        <p:nvSpPr>
          <p:cNvPr id="16" name="">
            <a:extLst xmlns:a="http://schemas.openxmlformats.org/drawingml/2006/main">
              <a:ext uri="{FF2B5EF4-FFF2-40B4-BE49-F238E27FC236}">
                <a16:creationId xmlns:a16="http://schemas.microsoft.com/office/drawing/2014/main" id="{5D4B12BC-76D2-40AD-B10A-FC284F683F4D}"/>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Aufbewahrung, Zugang, Verlustmeldung und Bestandsführung werden organisatorisch gesichert.</a:t>
            </a:r>
          </a:p>
        </p:txBody>
      </p:sp>
      <p:sp>
        <p:nvSpPr>
          <p:cNvPr id="17" name="">
            <a:extLst xmlns:a="http://schemas.openxmlformats.org/drawingml/2006/main">
              <a:ext uri="{FF2B5EF4-FFF2-40B4-BE49-F238E27FC236}">
                <a16:creationId xmlns:a16="http://schemas.microsoft.com/office/drawing/2014/main" id="{7A3E7E34-8679-402B-926D-830471F506B1}"/>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D3B6CBAC-6012-4892-B73B-0D263613D06B}"/>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2CB82D88-77D0-4441-A8BF-C2DF87882D05}"/>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Strafrecht und Berufsrecht</a:t>
            </a:r>
          </a:p>
        </p:txBody>
      </p:sp>
      <p:sp>
        <p:nvSpPr>
          <p:cNvPr id="20" name="">
            <a:extLst xmlns:a="http://schemas.openxmlformats.org/drawingml/2006/main">
              <a:ext uri="{FF2B5EF4-FFF2-40B4-BE49-F238E27FC236}">
                <a16:creationId xmlns:a16="http://schemas.microsoft.com/office/drawing/2014/main" id="{73B91BEE-06DB-4B95-8F70-631019A194CC}"/>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Unbefugter Umgang oder mangelhafte Kontrolle kann mehrere Rechtsgebiete gleichzeitig berühren.</a:t>
            </a:r>
          </a:p>
        </p:txBody>
      </p:sp>
      <p:sp>
        <p:nvSpPr>
          <p:cNvPr id="21" name="">
            <a:extLst xmlns:a="http://schemas.openxmlformats.org/drawingml/2006/main">
              <a:ext uri="{FF2B5EF4-FFF2-40B4-BE49-F238E27FC236}">
                <a16:creationId xmlns:a16="http://schemas.microsoft.com/office/drawing/2014/main" id="{51AE95FA-87D2-4535-8E4B-2A152BE0BA85}"/>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1610C378-DF4B-4BBA-B648-953EDC26974A}"/>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Bei BtM wird die lokale SOP zusammen mit aktueller gesetzlicher Regelung angewandt.</a:t>
            </a:r>
          </a:p>
        </p:txBody>
      </p:sp>
    </p:spTree>
    <p:extLst>
      <p:ext uri="{BB962C8B-B14F-4D97-AF65-F5344CB8AC3E}">
        <p14:creationId xmlns:p14="http://schemas.microsoft.com/office/powerpoint/2010/main" val="43637646"/>
      </p:ext>
    </p:extLst>
  </p:cSld>
</p:sld>
</file>

<file path=ppt/slides/slide333.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Delegation ärztlicher Aufgaben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025704E9-7FF4-4EEF-BC5C-40D0906CCBB9}"/>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Delegation überträgt die Durchführung, nicht automatisch die gesamte Verantwortung.</a:t>
            </a:r>
          </a:p>
        </p:txBody>
      </p:sp>
      <p:sp>
        <p:nvSpPr>
          <p:cNvPr id="5" name="">
            <a:extLst xmlns:a="http://schemas.openxmlformats.org/drawingml/2006/main">
              <a:ext uri="{FF2B5EF4-FFF2-40B4-BE49-F238E27FC236}">
                <a16:creationId xmlns:a16="http://schemas.microsoft.com/office/drawing/2014/main" id="{8591C4F3-C75F-416E-98BB-100644CF91B7}"/>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2CB4BA3B-5BA4-4F83-8FD2-EF2E5C461995}"/>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4C4FF0D7-1060-4E26-A152-1DE1452E022F}"/>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Delegierbarkeit</a:t>
            </a:r>
          </a:p>
        </p:txBody>
      </p:sp>
      <p:sp>
        <p:nvSpPr>
          <p:cNvPr id="8" name="">
            <a:extLst xmlns:a="http://schemas.openxmlformats.org/drawingml/2006/main">
              <a:ext uri="{FF2B5EF4-FFF2-40B4-BE49-F238E27FC236}">
                <a16:creationId xmlns:a16="http://schemas.microsoft.com/office/drawing/2014/main" id="{34FEB955-C1F1-4EB0-85B8-D0BFBB04B8BE}"/>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Kernärztliche, hochriskante oder gesetzlich vorbehaltene Tätigkeiten können nicht oder nur begrenzt delegiert werden.</a:t>
            </a:r>
          </a:p>
        </p:txBody>
      </p:sp>
      <p:sp>
        <p:nvSpPr>
          <p:cNvPr id="9" name="">
            <a:extLst xmlns:a="http://schemas.openxmlformats.org/drawingml/2006/main">
              <a:ext uri="{FF2B5EF4-FFF2-40B4-BE49-F238E27FC236}">
                <a16:creationId xmlns:a16="http://schemas.microsoft.com/office/drawing/2014/main" id="{3D04356F-7BB3-4339-9660-6BB9721EC7FE}"/>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D4AAE8DA-6E27-45DC-9E30-9822F5C035B8}"/>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E8A8A245-0E7F-4102-B05D-6D3048C865D6}"/>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Qualifikation</a:t>
            </a:r>
          </a:p>
        </p:txBody>
      </p:sp>
      <p:sp>
        <p:nvSpPr>
          <p:cNvPr id="12" name="">
            <a:extLst xmlns:a="http://schemas.openxmlformats.org/drawingml/2006/main">
              <a:ext uri="{FF2B5EF4-FFF2-40B4-BE49-F238E27FC236}">
                <a16:creationId xmlns:a16="http://schemas.microsoft.com/office/drawing/2014/main" id="{32BC7B1C-3810-4513-AA2C-3C613340AA39}"/>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Die ausgewählte Person muss Ausbildung, Einweisung und aktuelle Fähigkeit für die konkrete Aufgabe besitzen.</a:t>
            </a:r>
          </a:p>
        </p:txBody>
      </p:sp>
      <p:sp>
        <p:nvSpPr>
          <p:cNvPr id="13" name="">
            <a:extLst xmlns:a="http://schemas.openxmlformats.org/drawingml/2006/main">
              <a:ext uri="{FF2B5EF4-FFF2-40B4-BE49-F238E27FC236}">
                <a16:creationId xmlns:a16="http://schemas.microsoft.com/office/drawing/2014/main" id="{0B36E2F8-9497-4B6D-9D67-AC23B8F4C388}"/>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3F891B77-C6B9-4B91-B97B-9C5B728A7457}"/>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00CF7840-165B-40F9-83B5-EE0A84372429}"/>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Anordnung</a:t>
            </a:r>
          </a:p>
        </p:txBody>
      </p:sp>
      <p:sp>
        <p:nvSpPr>
          <p:cNvPr id="16" name="">
            <a:extLst xmlns:a="http://schemas.openxmlformats.org/drawingml/2006/main">
              <a:ext uri="{FF2B5EF4-FFF2-40B4-BE49-F238E27FC236}">
                <a16:creationId xmlns:a16="http://schemas.microsoft.com/office/drawing/2014/main" id="{D4391A32-618A-4085-93B1-A2F144FC0606}"/>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Patient, Aufgabe, Ziel, Grenzen und Rückmeldekriterien werden eindeutig kommuniziert.</a:t>
            </a:r>
          </a:p>
        </p:txBody>
      </p:sp>
      <p:sp>
        <p:nvSpPr>
          <p:cNvPr id="17" name="">
            <a:extLst xmlns:a="http://schemas.openxmlformats.org/drawingml/2006/main">
              <a:ext uri="{FF2B5EF4-FFF2-40B4-BE49-F238E27FC236}">
                <a16:creationId xmlns:a16="http://schemas.microsoft.com/office/drawing/2014/main" id="{FA2DE6B8-4C8C-403D-B5E4-B35FDBB3D6DF}"/>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E55C976F-B91C-4584-8C70-616DD453C803}"/>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2CDD8DDF-2C24-44D0-AC3A-B89BAD99D480}"/>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Aufsicht</a:t>
            </a:r>
          </a:p>
        </p:txBody>
      </p:sp>
      <p:sp>
        <p:nvSpPr>
          <p:cNvPr id="20" name="">
            <a:extLst xmlns:a="http://schemas.openxmlformats.org/drawingml/2006/main">
              <a:ext uri="{FF2B5EF4-FFF2-40B4-BE49-F238E27FC236}">
                <a16:creationId xmlns:a16="http://schemas.microsoft.com/office/drawing/2014/main" id="{13162D98-5358-4DDC-8B22-8C4089DA570E}"/>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Risiko und Erfahrung bestimmen Erreichbarkeit, Kontrolle und Eingriffsschwelle.</a:t>
            </a:r>
          </a:p>
        </p:txBody>
      </p:sp>
      <p:sp>
        <p:nvSpPr>
          <p:cNvPr id="21" name="">
            <a:extLst xmlns:a="http://schemas.openxmlformats.org/drawingml/2006/main">
              <a:ext uri="{FF2B5EF4-FFF2-40B4-BE49-F238E27FC236}">
                <a16:creationId xmlns:a16="http://schemas.microsoft.com/office/drawing/2014/main" id="{40B1F819-4A85-4B20-A5D9-9668FF7EE8DB}"/>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D0C8CC20-D243-4D60-85C4-95EDEB6CDE53}"/>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Sichere Delegation ist ein kontrollierter Prozess aus Auswahl, Anweisung, Überwachung und Rückmeldung.</a:t>
            </a:r>
          </a:p>
        </p:txBody>
      </p:sp>
    </p:spTree>
    <p:extLst>
      <p:ext uri="{BB962C8B-B14F-4D97-AF65-F5344CB8AC3E}">
        <p14:creationId xmlns:p14="http://schemas.microsoft.com/office/powerpoint/2010/main" val="43637646"/>
      </p:ext>
    </p:extLst>
  </p:cSld>
</p:sld>
</file>

<file path=ppt/slides/slide334.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Delegation prüfen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PRÜFUNGSSCHEMA · VIER VERANTWORTUNGEN</a:t>
            </a:r>
            <a:endParaRPr/>
          </a:p>
        </p:txBody>
      </p:sp>
      <p:sp>
        <p:nvSpPr>
          <p:cNvPr id="4" name="">
            <a:extLst xmlns:a="http://schemas.openxmlformats.org/drawingml/2006/main">
              <a:ext uri="{FF2B5EF4-FFF2-40B4-BE49-F238E27FC236}">
                <a16:creationId xmlns:a16="http://schemas.microsoft.com/office/drawing/2014/main" id="{BB3325C1-0B48-44A9-A77D-6C1B2F87BD43}"/>
              </a:ext>
            </a:extLst>
          </p:cNvPr>
          <p:cNvSpPr>
            <a:spLocks xmlns:a="http://schemas.openxmlformats.org/drawingml/2006/main" noGrp="1"/>
          </p:cNvSpPr>
          <p:nvPr/>
        </p:nvSpPr>
        <p:spPr>
          <a:xfrm xmlns:a="http://schemas.openxmlformats.org/drawingml/2006/main">
            <a:off x="1809750" y="1952625"/>
            <a:ext cx="400050" cy="64389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A130D1B0-1A14-48A9-8142-35F6B9AC42A8}"/>
              </a:ext>
            </a:extLst>
          </p:cNvPr>
          <p:cNvSpPr>
            <a:spLocks xmlns:a="http://schemas.openxmlformats.org/drawingml/2006/main" noGrp="1"/>
          </p:cNvSpPr>
          <p:nvPr/>
        </p:nvSpPr>
        <p:spPr>
          <a:xfrm xmlns:a="http://schemas.openxmlformats.org/drawingml/2006/main">
            <a:off x="1809750" y="1952625"/>
            <a:ext cx="400050" cy="6438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6" name="">
            <a:extLst xmlns:a="http://schemas.openxmlformats.org/drawingml/2006/main">
              <a:ext uri="{FF2B5EF4-FFF2-40B4-BE49-F238E27FC236}">
                <a16:creationId xmlns:a16="http://schemas.microsoft.com/office/drawing/2014/main" id="{6086307C-E6B3-4154-8425-767738D9A59D}"/>
              </a:ext>
            </a:extLst>
          </p:cNvPr>
          <p:cNvSpPr>
            <a:spLocks xmlns:a="http://schemas.openxmlformats.org/drawingml/2006/main" noGrp="1"/>
          </p:cNvSpPr>
          <p:nvPr/>
        </p:nvSpPr>
        <p:spPr>
          <a:xfrm xmlns:a="http://schemas.openxmlformats.org/drawingml/2006/main">
            <a:off x="2324100" y="1962150"/>
            <a:ext cx="2381250" cy="624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1. Anordnungsverantwortung</a:t>
            </a:r>
          </a:p>
        </p:txBody>
      </p:sp>
      <p:sp>
        <p:nvSpPr>
          <p:cNvPr id="7" name="">
            <a:extLst xmlns:a="http://schemas.openxmlformats.org/drawingml/2006/main">
              <a:ext uri="{FF2B5EF4-FFF2-40B4-BE49-F238E27FC236}">
                <a16:creationId xmlns:a16="http://schemas.microsoft.com/office/drawing/2014/main" id="{48A1F109-2E53-4EDB-A1AD-080021655339}"/>
              </a:ext>
            </a:extLst>
          </p:cNvPr>
          <p:cNvSpPr>
            <a:spLocks xmlns:a="http://schemas.openxmlformats.org/drawingml/2006/main" noGrp="1"/>
          </p:cNvSpPr>
          <p:nvPr/>
        </p:nvSpPr>
        <p:spPr>
          <a:xfrm xmlns:a="http://schemas.openxmlformats.org/drawingml/2006/main">
            <a:off x="4819650" y="1962150"/>
            <a:ext cx="6419850" cy="624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War die Maßnahme indiziert, delegierbar und richtig angeordnet?</a:t>
            </a:r>
          </a:p>
        </p:txBody>
      </p:sp>
      <p:sp>
        <p:nvSpPr>
          <p:cNvPr id="8" name="">
            <a:extLst xmlns:a="http://schemas.openxmlformats.org/drawingml/2006/main">
              <a:ext uri="{FF2B5EF4-FFF2-40B4-BE49-F238E27FC236}">
                <a16:creationId xmlns:a16="http://schemas.microsoft.com/office/drawing/2014/main" id="{1D20ED48-2CB4-4747-B503-D5C46C437F10}"/>
              </a:ext>
            </a:extLst>
          </p:cNvPr>
          <p:cNvSpPr>
            <a:spLocks xmlns:a="http://schemas.openxmlformats.org/drawingml/2006/main" noGrp="1"/>
          </p:cNvSpPr>
          <p:nvPr/>
        </p:nvSpPr>
        <p:spPr>
          <a:xfrm xmlns:a="http://schemas.openxmlformats.org/drawingml/2006/main">
            <a:off x="1809750" y="2672715"/>
            <a:ext cx="400050" cy="64389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9" name="">
            <a:extLst xmlns:a="http://schemas.openxmlformats.org/drawingml/2006/main">
              <a:ext uri="{FF2B5EF4-FFF2-40B4-BE49-F238E27FC236}">
                <a16:creationId xmlns:a16="http://schemas.microsoft.com/office/drawing/2014/main" id="{7EF42B6E-112E-41DB-A97B-1F3F6C9EB6BA}"/>
              </a:ext>
            </a:extLst>
          </p:cNvPr>
          <p:cNvSpPr>
            <a:spLocks xmlns:a="http://schemas.openxmlformats.org/drawingml/2006/main" noGrp="1"/>
          </p:cNvSpPr>
          <p:nvPr/>
        </p:nvSpPr>
        <p:spPr>
          <a:xfrm xmlns:a="http://schemas.openxmlformats.org/drawingml/2006/main">
            <a:off x="1809750" y="2672715"/>
            <a:ext cx="400050" cy="6438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0" name="">
            <a:extLst xmlns:a="http://schemas.openxmlformats.org/drawingml/2006/main">
              <a:ext uri="{FF2B5EF4-FFF2-40B4-BE49-F238E27FC236}">
                <a16:creationId xmlns:a16="http://schemas.microsoft.com/office/drawing/2014/main" id="{F05E319C-37B5-4039-A80F-059AEA20E24A}"/>
              </a:ext>
            </a:extLst>
          </p:cNvPr>
          <p:cNvSpPr>
            <a:spLocks xmlns:a="http://schemas.openxmlformats.org/drawingml/2006/main" noGrp="1"/>
          </p:cNvSpPr>
          <p:nvPr/>
        </p:nvSpPr>
        <p:spPr>
          <a:xfrm xmlns:a="http://schemas.openxmlformats.org/drawingml/2006/main">
            <a:off x="2324100" y="2682240"/>
            <a:ext cx="2381250" cy="624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2. Auswahlverantwortung</a:t>
            </a:r>
          </a:p>
        </p:txBody>
      </p:sp>
      <p:sp>
        <p:nvSpPr>
          <p:cNvPr id="11" name="">
            <a:extLst xmlns:a="http://schemas.openxmlformats.org/drawingml/2006/main">
              <a:ext uri="{FF2B5EF4-FFF2-40B4-BE49-F238E27FC236}">
                <a16:creationId xmlns:a16="http://schemas.microsoft.com/office/drawing/2014/main" id="{D7BE8B15-0780-4D83-A862-3EED1A396CF4}"/>
              </a:ext>
            </a:extLst>
          </p:cNvPr>
          <p:cNvSpPr>
            <a:spLocks xmlns:a="http://schemas.openxmlformats.org/drawingml/2006/main" noGrp="1"/>
          </p:cNvSpPr>
          <p:nvPr/>
        </p:nvSpPr>
        <p:spPr>
          <a:xfrm xmlns:a="http://schemas.openxmlformats.org/drawingml/2006/main">
            <a:off x="4819650" y="2682240"/>
            <a:ext cx="6419850" cy="624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War die ausführende Person nachweislich geeignet und eingewiesen?</a:t>
            </a:r>
          </a:p>
        </p:txBody>
      </p:sp>
      <p:sp>
        <p:nvSpPr>
          <p:cNvPr id="12" name="">
            <a:extLst xmlns:a="http://schemas.openxmlformats.org/drawingml/2006/main">
              <a:ext uri="{FF2B5EF4-FFF2-40B4-BE49-F238E27FC236}">
                <a16:creationId xmlns:a16="http://schemas.microsoft.com/office/drawing/2014/main" id="{C4D443FF-741F-4E20-8077-AE7E0F6474E1}"/>
              </a:ext>
            </a:extLst>
          </p:cNvPr>
          <p:cNvSpPr>
            <a:spLocks xmlns:a="http://schemas.openxmlformats.org/drawingml/2006/main" noGrp="1"/>
          </p:cNvSpPr>
          <p:nvPr/>
        </p:nvSpPr>
        <p:spPr>
          <a:xfrm xmlns:a="http://schemas.openxmlformats.org/drawingml/2006/main">
            <a:off x="1809750" y="3392805"/>
            <a:ext cx="400050" cy="64389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3" name="">
            <a:extLst xmlns:a="http://schemas.openxmlformats.org/drawingml/2006/main">
              <a:ext uri="{FF2B5EF4-FFF2-40B4-BE49-F238E27FC236}">
                <a16:creationId xmlns:a16="http://schemas.microsoft.com/office/drawing/2014/main" id="{A0962E9A-C9DD-4905-8880-F23191215FFC}"/>
              </a:ext>
            </a:extLst>
          </p:cNvPr>
          <p:cNvSpPr>
            <a:spLocks xmlns:a="http://schemas.openxmlformats.org/drawingml/2006/main" noGrp="1"/>
          </p:cNvSpPr>
          <p:nvPr/>
        </p:nvSpPr>
        <p:spPr>
          <a:xfrm xmlns:a="http://schemas.openxmlformats.org/drawingml/2006/main">
            <a:off x="1809750" y="3392805"/>
            <a:ext cx="400050" cy="6438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4" name="">
            <a:extLst xmlns:a="http://schemas.openxmlformats.org/drawingml/2006/main">
              <a:ext uri="{FF2B5EF4-FFF2-40B4-BE49-F238E27FC236}">
                <a16:creationId xmlns:a16="http://schemas.microsoft.com/office/drawing/2014/main" id="{C26AE39C-43D0-45EA-84F6-DB3935036D38}"/>
              </a:ext>
            </a:extLst>
          </p:cNvPr>
          <p:cNvSpPr>
            <a:spLocks xmlns:a="http://schemas.openxmlformats.org/drawingml/2006/main" noGrp="1"/>
          </p:cNvSpPr>
          <p:nvPr/>
        </p:nvSpPr>
        <p:spPr>
          <a:xfrm xmlns:a="http://schemas.openxmlformats.org/drawingml/2006/main">
            <a:off x="2324100" y="3402330"/>
            <a:ext cx="2381250" cy="624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3. Überwachungsverantwortung</a:t>
            </a:r>
          </a:p>
        </p:txBody>
      </p:sp>
      <p:sp>
        <p:nvSpPr>
          <p:cNvPr id="15" name="">
            <a:extLst xmlns:a="http://schemas.openxmlformats.org/drawingml/2006/main">
              <a:ext uri="{FF2B5EF4-FFF2-40B4-BE49-F238E27FC236}">
                <a16:creationId xmlns:a16="http://schemas.microsoft.com/office/drawing/2014/main" id="{180693B5-8419-4E57-8585-E30E26281876}"/>
              </a:ext>
            </a:extLst>
          </p:cNvPr>
          <p:cNvSpPr>
            <a:spLocks xmlns:a="http://schemas.openxmlformats.org/drawingml/2006/main" noGrp="1"/>
          </p:cNvSpPr>
          <p:nvPr/>
        </p:nvSpPr>
        <p:spPr>
          <a:xfrm xmlns:a="http://schemas.openxmlformats.org/drawingml/2006/main">
            <a:off x="4819650" y="3402330"/>
            <a:ext cx="6419850" cy="624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War die Kontrolle dem Risiko und Erfahrungsstand angemessen?</a:t>
            </a:r>
          </a:p>
        </p:txBody>
      </p:sp>
      <p:sp>
        <p:nvSpPr>
          <p:cNvPr id="16" name="">
            <a:extLst xmlns:a="http://schemas.openxmlformats.org/drawingml/2006/main">
              <a:ext uri="{FF2B5EF4-FFF2-40B4-BE49-F238E27FC236}">
                <a16:creationId xmlns:a16="http://schemas.microsoft.com/office/drawing/2014/main" id="{10520BE1-ECDC-4AAB-A0A5-9D7769EC5EFA}"/>
              </a:ext>
            </a:extLst>
          </p:cNvPr>
          <p:cNvSpPr>
            <a:spLocks xmlns:a="http://schemas.openxmlformats.org/drawingml/2006/main" noGrp="1"/>
          </p:cNvSpPr>
          <p:nvPr/>
        </p:nvSpPr>
        <p:spPr>
          <a:xfrm xmlns:a="http://schemas.openxmlformats.org/drawingml/2006/main">
            <a:off x="1809750" y="4112895"/>
            <a:ext cx="400050" cy="64389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7" name="">
            <a:extLst xmlns:a="http://schemas.openxmlformats.org/drawingml/2006/main">
              <a:ext uri="{FF2B5EF4-FFF2-40B4-BE49-F238E27FC236}">
                <a16:creationId xmlns:a16="http://schemas.microsoft.com/office/drawing/2014/main" id="{37C7B1F6-D702-4238-85B8-ABDD9014AC38}"/>
              </a:ext>
            </a:extLst>
          </p:cNvPr>
          <p:cNvSpPr>
            <a:spLocks xmlns:a="http://schemas.openxmlformats.org/drawingml/2006/main" noGrp="1"/>
          </p:cNvSpPr>
          <p:nvPr/>
        </p:nvSpPr>
        <p:spPr>
          <a:xfrm xmlns:a="http://schemas.openxmlformats.org/drawingml/2006/main">
            <a:off x="1809750" y="4112895"/>
            <a:ext cx="400050" cy="6438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18" name="">
            <a:extLst xmlns:a="http://schemas.openxmlformats.org/drawingml/2006/main">
              <a:ext uri="{FF2B5EF4-FFF2-40B4-BE49-F238E27FC236}">
                <a16:creationId xmlns:a16="http://schemas.microsoft.com/office/drawing/2014/main" id="{29038BF4-9884-4BFF-923E-A4C390F67CBA}"/>
              </a:ext>
            </a:extLst>
          </p:cNvPr>
          <p:cNvSpPr>
            <a:spLocks xmlns:a="http://schemas.openxmlformats.org/drawingml/2006/main" noGrp="1"/>
          </p:cNvSpPr>
          <p:nvPr/>
        </p:nvSpPr>
        <p:spPr>
          <a:xfrm xmlns:a="http://schemas.openxmlformats.org/drawingml/2006/main">
            <a:off x="2324100" y="4122420"/>
            <a:ext cx="2381250" cy="624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4. Durchführungsverantwortung</a:t>
            </a:r>
          </a:p>
        </p:txBody>
      </p:sp>
      <p:sp>
        <p:nvSpPr>
          <p:cNvPr id="19" name="">
            <a:extLst xmlns:a="http://schemas.openxmlformats.org/drawingml/2006/main">
              <a:ext uri="{FF2B5EF4-FFF2-40B4-BE49-F238E27FC236}">
                <a16:creationId xmlns:a16="http://schemas.microsoft.com/office/drawing/2014/main" id="{A40AE33D-CEBF-47A1-9E06-6521B9DBF4DC}"/>
              </a:ext>
            </a:extLst>
          </p:cNvPr>
          <p:cNvSpPr>
            <a:spLocks xmlns:a="http://schemas.openxmlformats.org/drawingml/2006/main" noGrp="1"/>
          </p:cNvSpPr>
          <p:nvPr/>
        </p:nvSpPr>
        <p:spPr>
          <a:xfrm xmlns:a="http://schemas.openxmlformats.org/drawingml/2006/main">
            <a:off x="4819650" y="4122420"/>
            <a:ext cx="6419850" cy="624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Wurde die übernommene Aufgabe fachgerecht ausgeführt und bei Grenzen rückgemeldet?</a:t>
            </a:r>
          </a:p>
        </p:txBody>
      </p:sp>
      <p:sp>
        <p:nvSpPr>
          <p:cNvPr id="20" name="">
            <a:extLst xmlns:a="http://schemas.openxmlformats.org/drawingml/2006/main">
              <a:ext uri="{FF2B5EF4-FFF2-40B4-BE49-F238E27FC236}">
                <a16:creationId xmlns:a16="http://schemas.microsoft.com/office/drawing/2014/main" id="{1D863CEB-51F7-46A1-A24A-9EC36C809F45}"/>
              </a:ext>
            </a:extLst>
          </p:cNvPr>
          <p:cNvSpPr>
            <a:spLocks xmlns:a="http://schemas.openxmlformats.org/drawingml/2006/main" noGrp="1"/>
          </p:cNvSpPr>
          <p:nvPr/>
        </p:nvSpPr>
        <p:spPr>
          <a:xfrm xmlns:a="http://schemas.openxmlformats.org/drawingml/2006/main">
            <a:off x="1809750" y="4832985"/>
            <a:ext cx="400050" cy="64389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1" name="">
            <a:extLst xmlns:a="http://schemas.openxmlformats.org/drawingml/2006/main">
              <a:ext uri="{FF2B5EF4-FFF2-40B4-BE49-F238E27FC236}">
                <a16:creationId xmlns:a16="http://schemas.microsoft.com/office/drawing/2014/main" id="{C08B073D-4A8D-4505-B8C0-E2A97F69E3F4}"/>
              </a:ext>
            </a:extLst>
          </p:cNvPr>
          <p:cNvSpPr>
            <a:spLocks xmlns:a="http://schemas.openxmlformats.org/drawingml/2006/main" noGrp="1"/>
          </p:cNvSpPr>
          <p:nvPr/>
        </p:nvSpPr>
        <p:spPr>
          <a:xfrm xmlns:a="http://schemas.openxmlformats.org/drawingml/2006/main">
            <a:off x="1809750" y="4832985"/>
            <a:ext cx="400050" cy="6438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5</a:t>
            </a:r>
          </a:p>
        </p:txBody>
      </p:sp>
      <p:sp>
        <p:nvSpPr>
          <p:cNvPr id="22" name="">
            <a:extLst xmlns:a="http://schemas.openxmlformats.org/drawingml/2006/main">
              <a:ext uri="{FF2B5EF4-FFF2-40B4-BE49-F238E27FC236}">
                <a16:creationId xmlns:a16="http://schemas.microsoft.com/office/drawing/2014/main" id="{CAB41350-B80E-49A1-B955-124BEF977918}"/>
              </a:ext>
            </a:extLst>
          </p:cNvPr>
          <p:cNvSpPr>
            <a:spLocks xmlns:a="http://schemas.openxmlformats.org/drawingml/2006/main" noGrp="1"/>
          </p:cNvSpPr>
          <p:nvPr/>
        </p:nvSpPr>
        <p:spPr>
          <a:xfrm xmlns:a="http://schemas.openxmlformats.org/drawingml/2006/main">
            <a:off x="2324100" y="4842510"/>
            <a:ext cx="2381250" cy="624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5. Organisationsverantwortung</a:t>
            </a:r>
          </a:p>
        </p:txBody>
      </p:sp>
      <p:sp>
        <p:nvSpPr>
          <p:cNvPr id="23" name="">
            <a:extLst xmlns:a="http://schemas.openxmlformats.org/drawingml/2006/main">
              <a:ext uri="{FF2B5EF4-FFF2-40B4-BE49-F238E27FC236}">
                <a16:creationId xmlns:a16="http://schemas.microsoft.com/office/drawing/2014/main" id="{778255FD-0CED-4841-89A9-8FECB3F91D50}"/>
              </a:ext>
            </a:extLst>
          </p:cNvPr>
          <p:cNvSpPr>
            <a:spLocks xmlns:a="http://schemas.openxmlformats.org/drawingml/2006/main" noGrp="1"/>
          </p:cNvSpPr>
          <p:nvPr/>
        </p:nvSpPr>
        <p:spPr>
          <a:xfrm xmlns:a="http://schemas.openxmlformats.org/drawingml/2006/main">
            <a:off x="4819650" y="4842510"/>
            <a:ext cx="6419850" cy="624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Stellten Dienstplan, SOP, Technik und Eskalationswege sichere Bedingungen bereit?</a:t>
            </a:r>
          </a:p>
        </p:txBody>
      </p:sp>
      <p:sp>
        <p:nvSpPr>
          <p:cNvPr id="24" name="">
            <a:extLst xmlns:a="http://schemas.openxmlformats.org/drawingml/2006/main">
              <a:ext uri="{FF2B5EF4-FFF2-40B4-BE49-F238E27FC236}">
                <a16:creationId xmlns:a16="http://schemas.microsoft.com/office/drawing/2014/main" id="{ECC16B31-629C-4531-8E25-A6749BFDE7D0}"/>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5" name="">
            <a:extLst xmlns:a="http://schemas.openxmlformats.org/drawingml/2006/main">
              <a:ext uri="{FF2B5EF4-FFF2-40B4-BE49-F238E27FC236}">
                <a16:creationId xmlns:a16="http://schemas.microsoft.com/office/drawing/2014/main" id="{728C045C-223D-49C6-8A49-9162D1E60F7F}"/>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Verantwortung wird aufgeteilt, aber nicht durch das Wort „delegiert“ aufgelöst.</a:t>
            </a:r>
          </a:p>
        </p:txBody>
      </p:sp>
    </p:spTree>
    <p:extLst>
      <p:ext uri="{BB962C8B-B14F-4D97-AF65-F5344CB8AC3E}">
        <p14:creationId xmlns:p14="http://schemas.microsoft.com/office/powerpoint/2010/main" val="43637646"/>
      </p:ext>
    </p:extLst>
  </p:cSld>
</p:sld>
</file>

<file path=ppt/slides/slide335.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Teamverantwortung besteht aus Anordnung, Auswahl, Anleitung, Durchführung und Kontrolle</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PODCAST-PRAXISFALL · DELEGATION UND NEUE KOMPETENZEN</a:t>
            </a:r>
            <a:endParaRPr/>
          </a:p>
        </p:txBody>
      </p:sp>
      <p:sp>
        <p:nvSpPr>
          <p:cNvPr id="4" name="">
            <a:extLst xmlns:a="http://schemas.openxmlformats.org/drawingml/2006/main">
              <a:ext uri="{FF2B5EF4-FFF2-40B4-BE49-F238E27FC236}">
                <a16:creationId xmlns:a16="http://schemas.microsoft.com/office/drawing/2014/main" id="{3B52DB94-EC20-44AB-A616-D0A34C95DF89}"/>
              </a:ext>
            </a:extLst>
          </p:cNvPr>
          <p:cNvSpPr>
            <a:spLocks xmlns:a="http://schemas.openxmlformats.org/drawingml/2006/main" noGrp="1"/>
          </p:cNvSpPr>
          <p:nvPr/>
        </p:nvSpPr>
        <p:spPr>
          <a:xfrm xmlns:a="http://schemas.openxmlformats.org/drawingml/2006/main">
            <a:off x="1809750" y="195262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74F2DD65-618E-4854-8A27-69198540E1E4}"/>
              </a:ext>
            </a:extLst>
          </p:cNvPr>
          <p:cNvSpPr>
            <a:spLocks xmlns:a="http://schemas.openxmlformats.org/drawingml/2006/main" noGrp="1"/>
          </p:cNvSpPr>
          <p:nvPr/>
        </p:nvSpPr>
        <p:spPr>
          <a:xfrm xmlns:a="http://schemas.openxmlformats.org/drawingml/2006/main">
            <a:off x="1809750" y="19526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6" name="">
            <a:extLst xmlns:a="http://schemas.openxmlformats.org/drawingml/2006/main">
              <a:ext uri="{FF2B5EF4-FFF2-40B4-BE49-F238E27FC236}">
                <a16:creationId xmlns:a16="http://schemas.microsoft.com/office/drawing/2014/main" id="{5B9F4201-D551-4D81-B1BA-04741627252C}"/>
              </a:ext>
            </a:extLst>
          </p:cNvPr>
          <p:cNvSpPr>
            <a:spLocks xmlns:a="http://schemas.openxmlformats.org/drawingml/2006/main" noGrp="1"/>
          </p:cNvSpPr>
          <p:nvPr/>
        </p:nvSpPr>
        <p:spPr>
          <a:xfrm xmlns:a="http://schemas.openxmlformats.org/drawingml/2006/main">
            <a:off x="2324100" y="196215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Delegierbarkeit</a:t>
            </a:r>
          </a:p>
        </p:txBody>
      </p:sp>
      <p:sp>
        <p:nvSpPr>
          <p:cNvPr id="7" name="">
            <a:extLst xmlns:a="http://schemas.openxmlformats.org/drawingml/2006/main">
              <a:ext uri="{FF2B5EF4-FFF2-40B4-BE49-F238E27FC236}">
                <a16:creationId xmlns:a16="http://schemas.microsoft.com/office/drawing/2014/main" id="{AF1D4267-7C60-4D84-A260-9A7ECC09E973}"/>
              </a:ext>
            </a:extLst>
          </p:cNvPr>
          <p:cNvSpPr>
            <a:spLocks xmlns:a="http://schemas.openxmlformats.org/drawingml/2006/main" noGrp="1"/>
          </p:cNvSpPr>
          <p:nvPr/>
        </p:nvSpPr>
        <p:spPr>
          <a:xfrm xmlns:a="http://schemas.openxmlformats.org/drawingml/2006/main">
            <a:off x="4819650" y="196215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Ist die Aufgabe nach Gesetz, Berufsrecht, Qualifikation und konkreter Patientensituation überhaupt übertragbar?</a:t>
            </a:r>
          </a:p>
        </p:txBody>
      </p:sp>
      <p:sp>
        <p:nvSpPr>
          <p:cNvPr id="8" name="">
            <a:extLst xmlns:a="http://schemas.openxmlformats.org/drawingml/2006/main">
              <a:ext uri="{FF2B5EF4-FFF2-40B4-BE49-F238E27FC236}">
                <a16:creationId xmlns:a16="http://schemas.microsoft.com/office/drawing/2014/main" id="{6AE36A7E-1E4F-4545-9F5B-D894574602EB}"/>
              </a:ext>
            </a:extLst>
          </p:cNvPr>
          <p:cNvSpPr>
            <a:spLocks xmlns:a="http://schemas.openxmlformats.org/drawingml/2006/main" noGrp="1"/>
          </p:cNvSpPr>
          <p:nvPr/>
        </p:nvSpPr>
        <p:spPr>
          <a:xfrm xmlns:a="http://schemas.openxmlformats.org/drawingml/2006/main">
            <a:off x="1809750" y="255270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9" name="">
            <a:extLst xmlns:a="http://schemas.openxmlformats.org/drawingml/2006/main">
              <a:ext uri="{FF2B5EF4-FFF2-40B4-BE49-F238E27FC236}">
                <a16:creationId xmlns:a16="http://schemas.microsoft.com/office/drawing/2014/main" id="{35A104B3-7CEE-4715-9135-0B8BB23ADA3A}"/>
              </a:ext>
            </a:extLst>
          </p:cNvPr>
          <p:cNvSpPr>
            <a:spLocks xmlns:a="http://schemas.openxmlformats.org/drawingml/2006/main" noGrp="1"/>
          </p:cNvSpPr>
          <p:nvPr/>
        </p:nvSpPr>
        <p:spPr>
          <a:xfrm xmlns:a="http://schemas.openxmlformats.org/drawingml/2006/main">
            <a:off x="1809750" y="255270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0" name="">
            <a:extLst xmlns:a="http://schemas.openxmlformats.org/drawingml/2006/main">
              <a:ext uri="{FF2B5EF4-FFF2-40B4-BE49-F238E27FC236}">
                <a16:creationId xmlns:a16="http://schemas.microsoft.com/office/drawing/2014/main" id="{9D9FC8D8-12A5-4BCA-AA78-A4B68DDA0B09}"/>
              </a:ext>
            </a:extLst>
          </p:cNvPr>
          <p:cNvSpPr>
            <a:spLocks xmlns:a="http://schemas.openxmlformats.org/drawingml/2006/main" noGrp="1"/>
          </p:cNvSpPr>
          <p:nvPr/>
        </p:nvSpPr>
        <p:spPr>
          <a:xfrm xmlns:a="http://schemas.openxmlformats.org/drawingml/2006/main">
            <a:off x="2324100" y="256222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Auswahl</a:t>
            </a:r>
          </a:p>
        </p:txBody>
      </p:sp>
      <p:sp>
        <p:nvSpPr>
          <p:cNvPr id="11" name="">
            <a:extLst xmlns:a="http://schemas.openxmlformats.org/drawingml/2006/main">
              <a:ext uri="{FF2B5EF4-FFF2-40B4-BE49-F238E27FC236}">
                <a16:creationId xmlns:a16="http://schemas.microsoft.com/office/drawing/2014/main" id="{3BB9DF61-0368-47A2-9E95-EC3008426D0D}"/>
              </a:ext>
            </a:extLst>
          </p:cNvPr>
          <p:cNvSpPr>
            <a:spLocks xmlns:a="http://schemas.openxmlformats.org/drawingml/2006/main" noGrp="1"/>
          </p:cNvSpPr>
          <p:nvPr/>
        </p:nvSpPr>
        <p:spPr>
          <a:xfrm xmlns:a="http://schemas.openxmlformats.org/drawingml/2006/main">
            <a:off x="4819650" y="256222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Verfügt die ausführende Person nachweisbar über Wissen, Fertigkeit und aktuelle Routine?</a:t>
            </a:r>
          </a:p>
        </p:txBody>
      </p:sp>
      <p:sp>
        <p:nvSpPr>
          <p:cNvPr id="12" name="">
            <a:extLst xmlns:a="http://schemas.openxmlformats.org/drawingml/2006/main">
              <a:ext uri="{FF2B5EF4-FFF2-40B4-BE49-F238E27FC236}">
                <a16:creationId xmlns:a16="http://schemas.microsoft.com/office/drawing/2014/main" id="{6FA8E1A6-8A32-4910-A252-E6E15563A95D}"/>
              </a:ext>
            </a:extLst>
          </p:cNvPr>
          <p:cNvSpPr>
            <a:spLocks xmlns:a="http://schemas.openxmlformats.org/drawingml/2006/main" noGrp="1"/>
          </p:cNvSpPr>
          <p:nvPr/>
        </p:nvSpPr>
        <p:spPr>
          <a:xfrm xmlns:a="http://schemas.openxmlformats.org/drawingml/2006/main">
            <a:off x="1809750" y="315277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3" name="">
            <a:extLst xmlns:a="http://schemas.openxmlformats.org/drawingml/2006/main">
              <a:ext uri="{FF2B5EF4-FFF2-40B4-BE49-F238E27FC236}">
                <a16:creationId xmlns:a16="http://schemas.microsoft.com/office/drawing/2014/main" id="{E18E827C-D368-47F5-B0FD-2CF0D265D4B8}"/>
              </a:ext>
            </a:extLst>
          </p:cNvPr>
          <p:cNvSpPr>
            <a:spLocks xmlns:a="http://schemas.openxmlformats.org/drawingml/2006/main" noGrp="1"/>
          </p:cNvSpPr>
          <p:nvPr/>
        </p:nvSpPr>
        <p:spPr>
          <a:xfrm xmlns:a="http://schemas.openxmlformats.org/drawingml/2006/main">
            <a:off x="1809750" y="315277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4" name="">
            <a:extLst xmlns:a="http://schemas.openxmlformats.org/drawingml/2006/main">
              <a:ext uri="{FF2B5EF4-FFF2-40B4-BE49-F238E27FC236}">
                <a16:creationId xmlns:a16="http://schemas.microsoft.com/office/drawing/2014/main" id="{9015C004-7AC7-4787-A15C-F64AAFB92EAA}"/>
              </a:ext>
            </a:extLst>
          </p:cNvPr>
          <p:cNvSpPr>
            <a:spLocks xmlns:a="http://schemas.openxmlformats.org/drawingml/2006/main" noGrp="1"/>
          </p:cNvSpPr>
          <p:nvPr/>
        </p:nvSpPr>
        <p:spPr>
          <a:xfrm xmlns:a="http://schemas.openxmlformats.org/drawingml/2006/main">
            <a:off x="2324100" y="316230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Anordnung</a:t>
            </a:r>
          </a:p>
        </p:txBody>
      </p:sp>
      <p:sp>
        <p:nvSpPr>
          <p:cNvPr id="15" name="">
            <a:extLst xmlns:a="http://schemas.openxmlformats.org/drawingml/2006/main">
              <a:ext uri="{FF2B5EF4-FFF2-40B4-BE49-F238E27FC236}">
                <a16:creationId xmlns:a16="http://schemas.microsoft.com/office/drawing/2014/main" id="{18DE9299-B3A2-4850-BBA8-204768210056}"/>
              </a:ext>
            </a:extLst>
          </p:cNvPr>
          <p:cNvSpPr>
            <a:spLocks xmlns:a="http://schemas.openxmlformats.org/drawingml/2006/main" noGrp="1"/>
          </p:cNvSpPr>
          <p:nvPr/>
        </p:nvSpPr>
        <p:spPr>
          <a:xfrm xmlns:a="http://schemas.openxmlformats.org/drawingml/2006/main">
            <a:off x="4819650" y="316230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Aufgabe, Patient, Dosis/Technik, Zeitpunkt, Grenzen und Rückfragen eindeutig formulieren.</a:t>
            </a:r>
          </a:p>
        </p:txBody>
      </p:sp>
      <p:sp>
        <p:nvSpPr>
          <p:cNvPr id="16" name="">
            <a:extLst xmlns:a="http://schemas.openxmlformats.org/drawingml/2006/main">
              <a:ext uri="{FF2B5EF4-FFF2-40B4-BE49-F238E27FC236}">
                <a16:creationId xmlns:a16="http://schemas.microsoft.com/office/drawing/2014/main" id="{5F5E23E3-BCF9-47F7-A307-B7FD81816954}"/>
              </a:ext>
            </a:extLst>
          </p:cNvPr>
          <p:cNvSpPr>
            <a:spLocks xmlns:a="http://schemas.openxmlformats.org/drawingml/2006/main" noGrp="1"/>
          </p:cNvSpPr>
          <p:nvPr/>
        </p:nvSpPr>
        <p:spPr>
          <a:xfrm xmlns:a="http://schemas.openxmlformats.org/drawingml/2006/main">
            <a:off x="1809750" y="375285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7" name="">
            <a:extLst xmlns:a="http://schemas.openxmlformats.org/drawingml/2006/main">
              <a:ext uri="{FF2B5EF4-FFF2-40B4-BE49-F238E27FC236}">
                <a16:creationId xmlns:a16="http://schemas.microsoft.com/office/drawing/2014/main" id="{3D4E2D00-687E-4608-8A10-4EED9F77E481}"/>
              </a:ext>
            </a:extLst>
          </p:cNvPr>
          <p:cNvSpPr>
            <a:spLocks xmlns:a="http://schemas.openxmlformats.org/drawingml/2006/main" noGrp="1"/>
          </p:cNvSpPr>
          <p:nvPr/>
        </p:nvSpPr>
        <p:spPr>
          <a:xfrm xmlns:a="http://schemas.openxmlformats.org/drawingml/2006/main">
            <a:off x="1809750" y="375285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18" name="">
            <a:extLst xmlns:a="http://schemas.openxmlformats.org/drawingml/2006/main">
              <a:ext uri="{FF2B5EF4-FFF2-40B4-BE49-F238E27FC236}">
                <a16:creationId xmlns:a16="http://schemas.microsoft.com/office/drawing/2014/main" id="{9278D2ED-51E2-4AD5-877A-639BD4A99A5D}"/>
              </a:ext>
            </a:extLst>
          </p:cNvPr>
          <p:cNvSpPr>
            <a:spLocks xmlns:a="http://schemas.openxmlformats.org/drawingml/2006/main" noGrp="1"/>
          </p:cNvSpPr>
          <p:nvPr/>
        </p:nvSpPr>
        <p:spPr>
          <a:xfrm xmlns:a="http://schemas.openxmlformats.org/drawingml/2006/main">
            <a:off x="2324100" y="376237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Ausführung</a:t>
            </a:r>
          </a:p>
        </p:txBody>
      </p:sp>
      <p:sp>
        <p:nvSpPr>
          <p:cNvPr id="19" name="">
            <a:extLst xmlns:a="http://schemas.openxmlformats.org/drawingml/2006/main">
              <a:ext uri="{FF2B5EF4-FFF2-40B4-BE49-F238E27FC236}">
                <a16:creationId xmlns:a16="http://schemas.microsoft.com/office/drawing/2014/main" id="{C7167DD4-1146-4DE2-BA65-A82C6241833E}"/>
              </a:ext>
            </a:extLst>
          </p:cNvPr>
          <p:cNvSpPr>
            <a:spLocks xmlns:a="http://schemas.openxmlformats.org/drawingml/2006/main" noGrp="1"/>
          </p:cNvSpPr>
          <p:nvPr/>
        </p:nvSpPr>
        <p:spPr>
          <a:xfrm xmlns:a="http://schemas.openxmlformats.org/drawingml/2006/main">
            <a:off x="4819650" y="376237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Die übernehmende Person prüft eigene Kompetenz, führt fachgerecht aus und meldet Abweichungen.</a:t>
            </a:r>
          </a:p>
        </p:txBody>
      </p:sp>
      <p:sp>
        <p:nvSpPr>
          <p:cNvPr id="20" name="">
            <a:extLst xmlns:a="http://schemas.openxmlformats.org/drawingml/2006/main">
              <a:ext uri="{FF2B5EF4-FFF2-40B4-BE49-F238E27FC236}">
                <a16:creationId xmlns:a16="http://schemas.microsoft.com/office/drawing/2014/main" id="{186F7E79-34EF-40F2-8840-CDAE555F95B4}"/>
              </a:ext>
            </a:extLst>
          </p:cNvPr>
          <p:cNvSpPr>
            <a:spLocks xmlns:a="http://schemas.openxmlformats.org/drawingml/2006/main" noGrp="1"/>
          </p:cNvSpPr>
          <p:nvPr/>
        </p:nvSpPr>
        <p:spPr>
          <a:xfrm xmlns:a="http://schemas.openxmlformats.org/drawingml/2006/main">
            <a:off x="1809750" y="435292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1" name="">
            <a:extLst xmlns:a="http://schemas.openxmlformats.org/drawingml/2006/main">
              <a:ext uri="{FF2B5EF4-FFF2-40B4-BE49-F238E27FC236}">
                <a16:creationId xmlns:a16="http://schemas.microsoft.com/office/drawing/2014/main" id="{E4C6DAD3-0072-4258-BEDB-BE54A40D1741}"/>
              </a:ext>
            </a:extLst>
          </p:cNvPr>
          <p:cNvSpPr>
            <a:spLocks xmlns:a="http://schemas.openxmlformats.org/drawingml/2006/main" noGrp="1"/>
          </p:cNvSpPr>
          <p:nvPr/>
        </p:nvSpPr>
        <p:spPr>
          <a:xfrm xmlns:a="http://schemas.openxmlformats.org/drawingml/2006/main">
            <a:off x="1809750" y="43529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5</a:t>
            </a:r>
          </a:p>
        </p:txBody>
      </p:sp>
      <p:sp>
        <p:nvSpPr>
          <p:cNvPr id="22" name="">
            <a:extLst xmlns:a="http://schemas.openxmlformats.org/drawingml/2006/main">
              <a:ext uri="{FF2B5EF4-FFF2-40B4-BE49-F238E27FC236}">
                <a16:creationId xmlns:a16="http://schemas.microsoft.com/office/drawing/2014/main" id="{71B52671-76CF-4F37-97A1-A3F15546B573}"/>
              </a:ext>
            </a:extLst>
          </p:cNvPr>
          <p:cNvSpPr>
            <a:spLocks xmlns:a="http://schemas.openxmlformats.org/drawingml/2006/main" noGrp="1"/>
          </p:cNvSpPr>
          <p:nvPr/>
        </p:nvSpPr>
        <p:spPr>
          <a:xfrm xmlns:a="http://schemas.openxmlformats.org/drawingml/2006/main">
            <a:off x="2324100" y="436245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Überwachung</a:t>
            </a:r>
          </a:p>
        </p:txBody>
      </p:sp>
      <p:sp>
        <p:nvSpPr>
          <p:cNvPr id="23" name="">
            <a:extLst xmlns:a="http://schemas.openxmlformats.org/drawingml/2006/main">
              <a:ext uri="{FF2B5EF4-FFF2-40B4-BE49-F238E27FC236}">
                <a16:creationId xmlns:a16="http://schemas.microsoft.com/office/drawing/2014/main" id="{9EE40B66-F456-42C2-BE5F-A6686C9C5A37}"/>
              </a:ext>
            </a:extLst>
          </p:cNvPr>
          <p:cNvSpPr>
            <a:spLocks xmlns:a="http://schemas.openxmlformats.org/drawingml/2006/main" noGrp="1"/>
          </p:cNvSpPr>
          <p:nvPr/>
        </p:nvSpPr>
        <p:spPr>
          <a:xfrm xmlns:a="http://schemas.openxmlformats.org/drawingml/2006/main">
            <a:off x="4819650" y="436245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Kontrolldichte an Risiko, Erfahrung und Situation anpassen; kritische Befunde aktiv nachverfolgen.</a:t>
            </a:r>
          </a:p>
        </p:txBody>
      </p:sp>
      <p:sp>
        <p:nvSpPr>
          <p:cNvPr id="24" name="">
            <a:extLst xmlns:a="http://schemas.openxmlformats.org/drawingml/2006/main">
              <a:ext uri="{FF2B5EF4-FFF2-40B4-BE49-F238E27FC236}">
                <a16:creationId xmlns:a16="http://schemas.microsoft.com/office/drawing/2014/main" id="{7D50EADA-83F7-4C63-A878-C35AFCA44C8C}"/>
              </a:ext>
            </a:extLst>
          </p:cNvPr>
          <p:cNvSpPr>
            <a:spLocks xmlns:a="http://schemas.openxmlformats.org/drawingml/2006/main" noGrp="1"/>
          </p:cNvSpPr>
          <p:nvPr/>
        </p:nvSpPr>
        <p:spPr>
          <a:xfrm xmlns:a="http://schemas.openxmlformats.org/drawingml/2006/main">
            <a:off x="1809750" y="495300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25" name="">
            <a:extLst xmlns:a="http://schemas.openxmlformats.org/drawingml/2006/main">
              <a:ext uri="{FF2B5EF4-FFF2-40B4-BE49-F238E27FC236}">
                <a16:creationId xmlns:a16="http://schemas.microsoft.com/office/drawing/2014/main" id="{EEFA8391-7AFB-4AC0-A52B-2CDDB98920B0}"/>
              </a:ext>
            </a:extLst>
          </p:cNvPr>
          <p:cNvSpPr>
            <a:spLocks xmlns:a="http://schemas.openxmlformats.org/drawingml/2006/main" noGrp="1"/>
          </p:cNvSpPr>
          <p:nvPr/>
        </p:nvSpPr>
        <p:spPr>
          <a:xfrm xmlns:a="http://schemas.openxmlformats.org/drawingml/2006/main">
            <a:off x="1809750" y="495300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6</a:t>
            </a:r>
          </a:p>
        </p:txBody>
      </p:sp>
      <p:sp>
        <p:nvSpPr>
          <p:cNvPr id="26" name="">
            <a:extLst xmlns:a="http://schemas.openxmlformats.org/drawingml/2006/main">
              <a:ext uri="{FF2B5EF4-FFF2-40B4-BE49-F238E27FC236}">
                <a16:creationId xmlns:a16="http://schemas.microsoft.com/office/drawing/2014/main" id="{D6E2DEDE-9A55-46CF-B160-E3BFB5EB79D0}"/>
              </a:ext>
            </a:extLst>
          </p:cNvPr>
          <p:cNvSpPr>
            <a:spLocks xmlns:a="http://schemas.openxmlformats.org/drawingml/2006/main" noGrp="1"/>
          </p:cNvSpPr>
          <p:nvPr/>
        </p:nvSpPr>
        <p:spPr>
          <a:xfrm xmlns:a="http://schemas.openxmlformats.org/drawingml/2006/main">
            <a:off x="2324100" y="496252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Eskalation</a:t>
            </a:r>
          </a:p>
        </p:txBody>
      </p:sp>
      <p:sp>
        <p:nvSpPr>
          <p:cNvPr id="27" name="">
            <a:extLst xmlns:a="http://schemas.openxmlformats.org/drawingml/2006/main">
              <a:ext uri="{FF2B5EF4-FFF2-40B4-BE49-F238E27FC236}">
                <a16:creationId xmlns:a16="http://schemas.microsoft.com/office/drawing/2014/main" id="{12722DD4-BBC5-492E-AC0C-33A35C355249}"/>
              </a:ext>
            </a:extLst>
          </p:cNvPr>
          <p:cNvSpPr>
            <a:spLocks xmlns:a="http://schemas.openxmlformats.org/drawingml/2006/main" noGrp="1"/>
          </p:cNvSpPr>
          <p:nvPr/>
        </p:nvSpPr>
        <p:spPr>
          <a:xfrm xmlns:a="http://schemas.openxmlformats.org/drawingml/2006/main">
            <a:off x="4819650" y="496252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Bei fehlenden Voraussetzungen nicht still improvisieren, sondern stoppen, Hilfe holen und die Systemlücke melden.</a:t>
            </a:r>
          </a:p>
        </p:txBody>
      </p:sp>
      <p:sp>
        <p:nvSpPr>
          <p:cNvPr id="28" name="">
            <a:extLst xmlns:a="http://schemas.openxmlformats.org/drawingml/2006/main">
              <a:ext uri="{FF2B5EF4-FFF2-40B4-BE49-F238E27FC236}">
                <a16:creationId xmlns:a16="http://schemas.microsoft.com/office/drawing/2014/main" id="{2E21E988-801B-45BA-9A7A-AAE7F47BCF34}"/>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9" name="">
            <a:extLst xmlns:a="http://schemas.openxmlformats.org/drawingml/2006/main">
              <a:ext uri="{FF2B5EF4-FFF2-40B4-BE49-F238E27FC236}">
                <a16:creationId xmlns:a16="http://schemas.microsoft.com/office/drawing/2014/main" id="{8E72604A-4B81-4D95-9F59-5BBB182FCA60}"/>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Delegation verteilt Aufgaben, aber sie lässt Verantwortung nicht verschwinden.</a:t>
            </a:r>
          </a:p>
        </p:txBody>
      </p:sp>
    </p:spTree>
    <p:extLst>
      <p:ext uri="{BB962C8B-B14F-4D97-AF65-F5344CB8AC3E}">
        <p14:creationId xmlns:p14="http://schemas.microsoft.com/office/powerpoint/2010/main" val="43637646"/>
      </p:ext>
    </p:extLst>
  </p:cSld>
</p:sld>
</file>

<file path=ppt/slides/slide336.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Suchtmedizin verbindet Behandlungsauftrag, BtM-Recht, Stigma und Kontinuität</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PODCAST-FEATURE · SUCHTMEDIZIN</a:t>
            </a:r>
            <a:endParaRPr/>
          </a:p>
        </p:txBody>
      </p:sp>
      <p:sp>
        <p:nvSpPr>
          <p:cNvPr id="4" name="">
            <a:extLst xmlns:a="http://schemas.openxmlformats.org/drawingml/2006/main">
              <a:ext uri="{FF2B5EF4-FFF2-40B4-BE49-F238E27FC236}">
                <a16:creationId xmlns:a16="http://schemas.microsoft.com/office/drawing/2014/main" id="{A2936422-8FBA-4BF0-9728-EA48B06ADF73}"/>
              </a:ext>
            </a:extLst>
          </p:cNvPr>
          <p:cNvSpPr>
            <a:spLocks xmlns:a="http://schemas.openxmlformats.org/drawingml/2006/main" noGrp="1"/>
          </p:cNvSpPr>
          <p:nvPr/>
        </p:nvSpPr>
        <p:spPr>
          <a:xfrm xmlns:a="http://schemas.openxmlformats.org/drawingml/2006/main">
            <a:off x="1809750" y="1924050"/>
            <a:ext cx="9525000" cy="838200"/>
          </a:xfrm>
          <a:prstGeom xmlns:a="http://schemas.openxmlformats.org/drawingml/2006/main" prst="roundRect">
            <a:avLst>
              <a:gd name="adj" fmla="val 9091"/>
            </a:avLst>
          </a:prstGeom>
          <a:solidFill xmlns:a="http://schemas.openxmlformats.org/drawingml/2006/main">
            <a:srgbClr val="EAF6FB"/>
          </a:solidFill>
          <a:ln xmlns:a="http://schemas.openxmlformats.org/drawingml/2006/main" w="9525">
            <a:solidFill>
              <a:srgbClr val="00B2BB"/>
            </a:solidFill>
            <a:prstDash val="solid"/>
          </a:ln>
        </p:spPr>
      </p:sp>
      <p:sp>
        <p:nvSpPr>
          <p:cNvPr id="5" name="">
            <a:extLst xmlns:a="http://schemas.openxmlformats.org/drawingml/2006/main">
              <a:ext uri="{FF2B5EF4-FFF2-40B4-BE49-F238E27FC236}">
                <a16:creationId xmlns:a16="http://schemas.microsoft.com/office/drawing/2014/main" id="{EEE01EF1-E823-481C-9C22-87E064BB2C97}"/>
              </a:ext>
            </a:extLst>
          </p:cNvPr>
          <p:cNvSpPr>
            <a:spLocks xmlns:a="http://schemas.openxmlformats.org/drawingml/2006/main" noGrp="1"/>
          </p:cNvSpPr>
          <p:nvPr/>
        </p:nvSpPr>
        <p:spPr>
          <a:xfrm xmlns:a="http://schemas.openxmlformats.org/drawingml/2006/main">
            <a:off x="1981200" y="2000250"/>
            <a:ext cx="9182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55">
                <a:solidFill>
                  <a:srgbClr val="15232B"/>
                </a:solidFill>
              </a:defRPr>
            </a:pPr>
            <a:r>
              <a:rPr sz="1155">
                <a:solidFill>
                  <a:srgbClr val="15232B"/>
                </a:solidFill>
              </a:rPr>
              <a:t>Eine opioidabhängige Patientin erscheint außerhalb der Regelversorgung mit Entzugssymptomen. Das Team schwankt zwischen Akuttherapie, Substitution, Sicherheitsbedenken und moralischer Bewertung.</a:t>
            </a:r>
          </a:p>
        </p:txBody>
      </p:sp>
      <p:sp>
        <p:nvSpPr>
          <p:cNvPr id="6" name="">
            <a:extLst xmlns:a="http://schemas.openxmlformats.org/drawingml/2006/main">
              <a:ext uri="{FF2B5EF4-FFF2-40B4-BE49-F238E27FC236}">
                <a16:creationId xmlns:a16="http://schemas.microsoft.com/office/drawing/2014/main" id="{8970DCED-4F02-43D2-BDED-01EFEDA9EB0E}"/>
              </a:ext>
            </a:extLst>
          </p:cNvPr>
          <p:cNvSpPr>
            <a:spLocks xmlns:a="http://schemas.openxmlformats.org/drawingml/2006/main" noGrp="1"/>
          </p:cNvSpPr>
          <p:nvPr/>
        </p:nvSpPr>
        <p:spPr>
          <a:xfrm xmlns:a="http://schemas.openxmlformats.org/drawingml/2006/main">
            <a:off x="1809750" y="2933700"/>
            <a:ext cx="381000" cy="381000"/>
          </a:xfrm>
          <a:prstGeom xmlns:a="http://schemas.openxmlformats.org/drawingml/2006/main" prst="roundRect">
            <a:avLst>
              <a:gd name="adj" fmla="val 20000"/>
            </a:avLst>
          </a:prstGeom>
          <a:solidFill xmlns:a="http://schemas.openxmlformats.org/drawingml/2006/main">
            <a:srgbClr val="00B2BB"/>
          </a:solidFill>
          <a:ln xmlns:a="http://schemas.openxmlformats.org/drawingml/2006/main" w="0">
            <a:solidFill>
              <a:srgbClr val="00B2BB"/>
            </a:solidFill>
            <a:prstDash val="solid"/>
          </a:ln>
        </p:spPr>
      </p:sp>
      <p:sp>
        <p:nvSpPr>
          <p:cNvPr id="7" name="">
            <a:extLst xmlns:a="http://schemas.openxmlformats.org/drawingml/2006/main">
              <a:ext uri="{FF2B5EF4-FFF2-40B4-BE49-F238E27FC236}">
                <a16:creationId xmlns:a16="http://schemas.microsoft.com/office/drawing/2014/main" id="{D5AD7E57-F71C-4E6A-A4E5-FC62AE95060F}"/>
              </a:ext>
            </a:extLst>
          </p:cNvPr>
          <p:cNvSpPr>
            <a:spLocks xmlns:a="http://schemas.openxmlformats.org/drawingml/2006/main" noGrp="1"/>
          </p:cNvSpPr>
          <p:nvPr/>
        </p:nvSpPr>
        <p:spPr>
          <a:xfrm xmlns:a="http://schemas.openxmlformats.org/drawingml/2006/main">
            <a:off x="1809750" y="293370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8" name="">
            <a:extLst xmlns:a="http://schemas.openxmlformats.org/drawingml/2006/main">
              <a:ext uri="{FF2B5EF4-FFF2-40B4-BE49-F238E27FC236}">
                <a16:creationId xmlns:a16="http://schemas.microsoft.com/office/drawing/2014/main" id="{B0703B2E-3785-408A-ACA7-072F76B3304B}"/>
              </a:ext>
            </a:extLst>
          </p:cNvPr>
          <p:cNvSpPr>
            <a:spLocks xmlns:a="http://schemas.openxmlformats.org/drawingml/2006/main" noGrp="1"/>
          </p:cNvSpPr>
          <p:nvPr/>
        </p:nvSpPr>
        <p:spPr>
          <a:xfrm xmlns:a="http://schemas.openxmlformats.org/drawingml/2006/main">
            <a:off x="2343150" y="2914650"/>
            <a:ext cx="1809750" cy="4419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Akutmedizin</a:t>
            </a:r>
          </a:p>
        </p:txBody>
      </p:sp>
      <p:sp>
        <p:nvSpPr>
          <p:cNvPr id="9" name="">
            <a:extLst xmlns:a="http://schemas.openxmlformats.org/drawingml/2006/main">
              <a:ext uri="{FF2B5EF4-FFF2-40B4-BE49-F238E27FC236}">
                <a16:creationId xmlns:a16="http://schemas.microsoft.com/office/drawing/2014/main" id="{24F1ACE4-EF6C-4296-B249-9A37ABCE72AC}"/>
              </a:ext>
            </a:extLst>
          </p:cNvPr>
          <p:cNvSpPr>
            <a:spLocks xmlns:a="http://schemas.openxmlformats.org/drawingml/2006/main" noGrp="1"/>
          </p:cNvSpPr>
          <p:nvPr/>
        </p:nvSpPr>
        <p:spPr>
          <a:xfrm xmlns:a="http://schemas.openxmlformats.org/drawingml/2006/main">
            <a:off x="4286250" y="2914650"/>
            <a:ext cx="6953250" cy="4419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35">
                <a:solidFill>
                  <a:srgbClr val="15232B"/>
                </a:solidFill>
              </a:defRPr>
            </a:pPr>
            <a:r>
              <a:rPr sz="1035">
                <a:solidFill>
                  <a:srgbClr val="15232B"/>
                </a:solidFill>
              </a:rPr>
              <a:t>Gefahr, Entzug, Intoxikation, Suizidalität und Begleiterkrankungen behandeln – Stigma ersetzt keine Diagnostik.</a:t>
            </a:r>
          </a:p>
        </p:txBody>
      </p:sp>
      <p:sp>
        <p:nvSpPr>
          <p:cNvPr id="10" name="">
            <a:extLst xmlns:a="http://schemas.openxmlformats.org/drawingml/2006/main">
              <a:ext uri="{FF2B5EF4-FFF2-40B4-BE49-F238E27FC236}">
                <a16:creationId xmlns:a16="http://schemas.microsoft.com/office/drawing/2014/main" id="{EE27D3B5-D94A-47B7-8ABB-4188A1D3936E}"/>
              </a:ext>
            </a:extLst>
          </p:cNvPr>
          <p:cNvSpPr>
            <a:spLocks xmlns:a="http://schemas.openxmlformats.org/drawingml/2006/main" noGrp="1"/>
          </p:cNvSpPr>
          <p:nvPr/>
        </p:nvSpPr>
        <p:spPr>
          <a:xfrm xmlns:a="http://schemas.openxmlformats.org/drawingml/2006/main">
            <a:off x="1809750" y="3451860"/>
            <a:ext cx="381000" cy="381000"/>
          </a:xfrm>
          <a:prstGeom xmlns:a="http://schemas.openxmlformats.org/drawingml/2006/main" prst="roundRect">
            <a:avLst>
              <a:gd name="adj" fmla="val 20000"/>
            </a:avLst>
          </a:prstGeom>
          <a:solidFill xmlns:a="http://schemas.openxmlformats.org/drawingml/2006/main">
            <a:srgbClr val="003F6B"/>
          </a:solidFill>
          <a:ln xmlns:a="http://schemas.openxmlformats.org/drawingml/2006/main" w="0">
            <a:solidFill>
              <a:srgbClr val="003F6B"/>
            </a:solidFill>
            <a:prstDash val="solid"/>
          </a:ln>
        </p:spPr>
      </p:sp>
      <p:sp>
        <p:nvSpPr>
          <p:cNvPr id="11" name="">
            <a:extLst xmlns:a="http://schemas.openxmlformats.org/drawingml/2006/main">
              <a:ext uri="{FF2B5EF4-FFF2-40B4-BE49-F238E27FC236}">
                <a16:creationId xmlns:a16="http://schemas.microsoft.com/office/drawing/2014/main" id="{D3EFC5F8-55D8-4CDA-8504-705462F0E948}"/>
              </a:ext>
            </a:extLst>
          </p:cNvPr>
          <p:cNvSpPr>
            <a:spLocks xmlns:a="http://schemas.openxmlformats.org/drawingml/2006/main" noGrp="1"/>
          </p:cNvSpPr>
          <p:nvPr/>
        </p:nvSpPr>
        <p:spPr>
          <a:xfrm xmlns:a="http://schemas.openxmlformats.org/drawingml/2006/main">
            <a:off x="1809750" y="345186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2" name="">
            <a:extLst xmlns:a="http://schemas.openxmlformats.org/drawingml/2006/main">
              <a:ext uri="{FF2B5EF4-FFF2-40B4-BE49-F238E27FC236}">
                <a16:creationId xmlns:a16="http://schemas.microsoft.com/office/drawing/2014/main" id="{1D35DE4D-8023-4562-9CA6-CFE6981956DF}"/>
              </a:ext>
            </a:extLst>
          </p:cNvPr>
          <p:cNvSpPr>
            <a:spLocks xmlns:a="http://schemas.openxmlformats.org/drawingml/2006/main" noGrp="1"/>
          </p:cNvSpPr>
          <p:nvPr/>
        </p:nvSpPr>
        <p:spPr>
          <a:xfrm xmlns:a="http://schemas.openxmlformats.org/drawingml/2006/main">
            <a:off x="2343150" y="3432810"/>
            <a:ext cx="1809750" cy="4419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Rechtsrahmen</a:t>
            </a:r>
          </a:p>
        </p:txBody>
      </p:sp>
      <p:sp>
        <p:nvSpPr>
          <p:cNvPr id="13" name="">
            <a:extLst xmlns:a="http://schemas.openxmlformats.org/drawingml/2006/main">
              <a:ext uri="{FF2B5EF4-FFF2-40B4-BE49-F238E27FC236}">
                <a16:creationId xmlns:a16="http://schemas.microsoft.com/office/drawing/2014/main" id="{CDC01A99-20C0-4950-BE11-6E0FF30CB988}"/>
              </a:ext>
            </a:extLst>
          </p:cNvPr>
          <p:cNvSpPr>
            <a:spLocks xmlns:a="http://schemas.openxmlformats.org/drawingml/2006/main" noGrp="1"/>
          </p:cNvSpPr>
          <p:nvPr/>
        </p:nvSpPr>
        <p:spPr>
          <a:xfrm xmlns:a="http://schemas.openxmlformats.org/drawingml/2006/main">
            <a:off x="4286250" y="3432810"/>
            <a:ext cx="6953250" cy="4419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35">
                <a:solidFill>
                  <a:srgbClr val="15232B"/>
                </a:solidFill>
              </a:defRPr>
            </a:pPr>
            <a:r>
              <a:rPr sz="1035">
                <a:solidFill>
                  <a:srgbClr val="15232B"/>
                </a:solidFill>
              </a:rPr>
              <a:t>BtMG, BtMVV, Verschreibung, Dokumentation und Qualifikationsanforderungen konstellationsbezogen prüfen.</a:t>
            </a:r>
          </a:p>
        </p:txBody>
      </p:sp>
      <p:sp>
        <p:nvSpPr>
          <p:cNvPr id="14" name="">
            <a:extLst xmlns:a="http://schemas.openxmlformats.org/drawingml/2006/main">
              <a:ext uri="{FF2B5EF4-FFF2-40B4-BE49-F238E27FC236}">
                <a16:creationId xmlns:a16="http://schemas.microsoft.com/office/drawing/2014/main" id="{6344E3D9-4A45-48BB-AE48-08C8499499A7}"/>
              </a:ext>
            </a:extLst>
          </p:cNvPr>
          <p:cNvSpPr>
            <a:spLocks xmlns:a="http://schemas.openxmlformats.org/drawingml/2006/main" noGrp="1"/>
          </p:cNvSpPr>
          <p:nvPr/>
        </p:nvSpPr>
        <p:spPr>
          <a:xfrm xmlns:a="http://schemas.openxmlformats.org/drawingml/2006/main">
            <a:off x="1809750" y="3970020"/>
            <a:ext cx="381000" cy="381000"/>
          </a:xfrm>
          <a:prstGeom xmlns:a="http://schemas.openxmlformats.org/drawingml/2006/main" prst="roundRect">
            <a:avLst>
              <a:gd name="adj" fmla="val 20000"/>
            </a:avLst>
          </a:prstGeom>
          <a:solidFill xmlns:a="http://schemas.openxmlformats.org/drawingml/2006/main">
            <a:srgbClr val="00B2BB"/>
          </a:solidFill>
          <a:ln xmlns:a="http://schemas.openxmlformats.org/drawingml/2006/main" w="0">
            <a:solidFill>
              <a:srgbClr val="00B2BB"/>
            </a:solidFill>
            <a:prstDash val="solid"/>
          </a:ln>
        </p:spPr>
      </p:sp>
      <p:sp>
        <p:nvSpPr>
          <p:cNvPr id="15" name="">
            <a:extLst xmlns:a="http://schemas.openxmlformats.org/drawingml/2006/main">
              <a:ext uri="{FF2B5EF4-FFF2-40B4-BE49-F238E27FC236}">
                <a16:creationId xmlns:a16="http://schemas.microsoft.com/office/drawing/2014/main" id="{3FE9B2E2-2339-45BF-9784-E058D8873E24}"/>
              </a:ext>
            </a:extLst>
          </p:cNvPr>
          <p:cNvSpPr>
            <a:spLocks xmlns:a="http://schemas.openxmlformats.org/drawingml/2006/main" noGrp="1"/>
          </p:cNvSpPr>
          <p:nvPr/>
        </p:nvSpPr>
        <p:spPr>
          <a:xfrm xmlns:a="http://schemas.openxmlformats.org/drawingml/2006/main">
            <a:off x="1809750" y="397002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6" name="">
            <a:extLst xmlns:a="http://schemas.openxmlformats.org/drawingml/2006/main">
              <a:ext uri="{FF2B5EF4-FFF2-40B4-BE49-F238E27FC236}">
                <a16:creationId xmlns:a16="http://schemas.microsoft.com/office/drawing/2014/main" id="{DBA0F261-7D50-4CDF-A611-821C42067C8B}"/>
              </a:ext>
            </a:extLst>
          </p:cNvPr>
          <p:cNvSpPr>
            <a:spLocks xmlns:a="http://schemas.openxmlformats.org/drawingml/2006/main" noGrp="1"/>
          </p:cNvSpPr>
          <p:nvPr/>
        </p:nvSpPr>
        <p:spPr>
          <a:xfrm xmlns:a="http://schemas.openxmlformats.org/drawingml/2006/main">
            <a:off x="2343150" y="3950970"/>
            <a:ext cx="1809750" cy="4419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Einwilligung</a:t>
            </a:r>
          </a:p>
        </p:txBody>
      </p:sp>
      <p:sp>
        <p:nvSpPr>
          <p:cNvPr id="17" name="">
            <a:extLst xmlns:a="http://schemas.openxmlformats.org/drawingml/2006/main">
              <a:ext uri="{FF2B5EF4-FFF2-40B4-BE49-F238E27FC236}">
                <a16:creationId xmlns:a16="http://schemas.microsoft.com/office/drawing/2014/main" id="{8F7371B1-A561-4E1D-B79D-8BF3DCD99C8E}"/>
              </a:ext>
            </a:extLst>
          </p:cNvPr>
          <p:cNvSpPr>
            <a:spLocks xmlns:a="http://schemas.openxmlformats.org/drawingml/2006/main" noGrp="1"/>
          </p:cNvSpPr>
          <p:nvPr/>
        </p:nvSpPr>
        <p:spPr>
          <a:xfrm xmlns:a="http://schemas.openxmlformats.org/drawingml/2006/main">
            <a:off x="4286250" y="3950970"/>
            <a:ext cx="6953250" cy="4419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35">
                <a:solidFill>
                  <a:srgbClr val="15232B"/>
                </a:solidFill>
              </a:defRPr>
            </a:pPr>
            <a:r>
              <a:rPr sz="1035">
                <a:solidFill>
                  <a:srgbClr val="15232B"/>
                </a:solidFill>
              </a:rPr>
              <a:t>Entscheidungsfähigkeit und verständliche Aufklärung einschließlich Wechselwirkungen und Nachsorge sichern.</a:t>
            </a:r>
          </a:p>
        </p:txBody>
      </p:sp>
      <p:sp>
        <p:nvSpPr>
          <p:cNvPr id="18" name="">
            <a:extLst xmlns:a="http://schemas.openxmlformats.org/drawingml/2006/main">
              <a:ext uri="{FF2B5EF4-FFF2-40B4-BE49-F238E27FC236}">
                <a16:creationId xmlns:a16="http://schemas.microsoft.com/office/drawing/2014/main" id="{911D40D6-140C-4935-B74E-6B0F1D3FC464}"/>
              </a:ext>
            </a:extLst>
          </p:cNvPr>
          <p:cNvSpPr>
            <a:spLocks xmlns:a="http://schemas.openxmlformats.org/drawingml/2006/main" noGrp="1"/>
          </p:cNvSpPr>
          <p:nvPr/>
        </p:nvSpPr>
        <p:spPr>
          <a:xfrm xmlns:a="http://schemas.openxmlformats.org/drawingml/2006/main">
            <a:off x="1809750" y="4488180"/>
            <a:ext cx="381000" cy="381000"/>
          </a:xfrm>
          <a:prstGeom xmlns:a="http://schemas.openxmlformats.org/drawingml/2006/main" prst="roundRect">
            <a:avLst>
              <a:gd name="adj" fmla="val 20000"/>
            </a:avLst>
          </a:prstGeom>
          <a:solidFill xmlns:a="http://schemas.openxmlformats.org/drawingml/2006/main">
            <a:srgbClr val="003F6B"/>
          </a:solidFill>
          <a:ln xmlns:a="http://schemas.openxmlformats.org/drawingml/2006/main" w="0">
            <a:solidFill>
              <a:srgbClr val="003F6B"/>
            </a:solidFill>
            <a:prstDash val="solid"/>
          </a:ln>
        </p:spPr>
      </p:sp>
      <p:sp>
        <p:nvSpPr>
          <p:cNvPr id="19" name="">
            <a:extLst xmlns:a="http://schemas.openxmlformats.org/drawingml/2006/main">
              <a:ext uri="{FF2B5EF4-FFF2-40B4-BE49-F238E27FC236}">
                <a16:creationId xmlns:a16="http://schemas.microsoft.com/office/drawing/2014/main" id="{95771F44-3C67-40CA-965D-77E542AB3075}"/>
              </a:ext>
            </a:extLst>
          </p:cNvPr>
          <p:cNvSpPr>
            <a:spLocks xmlns:a="http://schemas.openxmlformats.org/drawingml/2006/main" noGrp="1"/>
          </p:cNvSpPr>
          <p:nvPr/>
        </p:nvSpPr>
        <p:spPr>
          <a:xfrm xmlns:a="http://schemas.openxmlformats.org/drawingml/2006/main">
            <a:off x="1809750" y="448818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20" name="">
            <a:extLst xmlns:a="http://schemas.openxmlformats.org/drawingml/2006/main">
              <a:ext uri="{FF2B5EF4-FFF2-40B4-BE49-F238E27FC236}">
                <a16:creationId xmlns:a16="http://schemas.microsoft.com/office/drawing/2014/main" id="{B9701857-340C-4D30-AC4B-CF193785AC41}"/>
              </a:ext>
            </a:extLst>
          </p:cNvPr>
          <p:cNvSpPr>
            <a:spLocks xmlns:a="http://schemas.openxmlformats.org/drawingml/2006/main" noGrp="1"/>
          </p:cNvSpPr>
          <p:nvPr/>
        </p:nvSpPr>
        <p:spPr>
          <a:xfrm xmlns:a="http://schemas.openxmlformats.org/drawingml/2006/main">
            <a:off x="2343150" y="4469130"/>
            <a:ext cx="1809750" cy="4419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Kontinuität</a:t>
            </a:r>
          </a:p>
        </p:txBody>
      </p:sp>
      <p:sp>
        <p:nvSpPr>
          <p:cNvPr id="21" name="">
            <a:extLst xmlns:a="http://schemas.openxmlformats.org/drawingml/2006/main">
              <a:ext uri="{FF2B5EF4-FFF2-40B4-BE49-F238E27FC236}">
                <a16:creationId xmlns:a16="http://schemas.microsoft.com/office/drawing/2014/main" id="{21FE7B2C-DCC6-4087-903C-1E81362A07A3}"/>
              </a:ext>
            </a:extLst>
          </p:cNvPr>
          <p:cNvSpPr>
            <a:spLocks xmlns:a="http://schemas.openxmlformats.org/drawingml/2006/main" noGrp="1"/>
          </p:cNvSpPr>
          <p:nvPr/>
        </p:nvSpPr>
        <p:spPr>
          <a:xfrm xmlns:a="http://schemas.openxmlformats.org/drawingml/2006/main">
            <a:off x="4286250" y="4469130"/>
            <a:ext cx="6953250" cy="4419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35">
                <a:solidFill>
                  <a:srgbClr val="15232B"/>
                </a:solidFill>
              </a:defRPr>
            </a:pPr>
            <a:r>
              <a:rPr sz="1035">
                <a:solidFill>
                  <a:srgbClr val="15232B"/>
                </a:solidFill>
              </a:rPr>
              <a:t>Substitutionsstelle, Apotheke, psychosoziale Hilfe und Notfallplan mit Einwilligung koordiniert anbinden.</a:t>
            </a:r>
          </a:p>
        </p:txBody>
      </p:sp>
      <p:sp>
        <p:nvSpPr>
          <p:cNvPr id="22" name="">
            <a:extLst xmlns:a="http://schemas.openxmlformats.org/drawingml/2006/main">
              <a:ext uri="{FF2B5EF4-FFF2-40B4-BE49-F238E27FC236}">
                <a16:creationId xmlns:a16="http://schemas.microsoft.com/office/drawing/2014/main" id="{6C59F61F-E14E-4ADE-9EEF-0592C360690B}"/>
              </a:ext>
            </a:extLst>
          </p:cNvPr>
          <p:cNvSpPr>
            <a:spLocks xmlns:a="http://schemas.openxmlformats.org/drawingml/2006/main" noGrp="1"/>
          </p:cNvSpPr>
          <p:nvPr/>
        </p:nvSpPr>
        <p:spPr>
          <a:xfrm xmlns:a="http://schemas.openxmlformats.org/drawingml/2006/main">
            <a:off x="1809750" y="5006340"/>
            <a:ext cx="381000" cy="381000"/>
          </a:xfrm>
          <a:prstGeom xmlns:a="http://schemas.openxmlformats.org/drawingml/2006/main" prst="roundRect">
            <a:avLst>
              <a:gd name="adj" fmla="val 20000"/>
            </a:avLst>
          </a:prstGeom>
          <a:solidFill xmlns:a="http://schemas.openxmlformats.org/drawingml/2006/main">
            <a:srgbClr val="00B2BB"/>
          </a:solidFill>
          <a:ln xmlns:a="http://schemas.openxmlformats.org/drawingml/2006/main" w="0">
            <a:solidFill>
              <a:srgbClr val="00B2BB"/>
            </a:solidFill>
            <a:prstDash val="solid"/>
          </a:ln>
        </p:spPr>
      </p:sp>
      <p:sp>
        <p:nvSpPr>
          <p:cNvPr id="23" name="">
            <a:extLst xmlns:a="http://schemas.openxmlformats.org/drawingml/2006/main">
              <a:ext uri="{FF2B5EF4-FFF2-40B4-BE49-F238E27FC236}">
                <a16:creationId xmlns:a16="http://schemas.microsoft.com/office/drawing/2014/main" id="{A230D237-6714-4DBE-9117-30B9392F6B4B}"/>
              </a:ext>
            </a:extLst>
          </p:cNvPr>
          <p:cNvSpPr>
            <a:spLocks xmlns:a="http://schemas.openxmlformats.org/drawingml/2006/main" noGrp="1"/>
          </p:cNvSpPr>
          <p:nvPr/>
        </p:nvSpPr>
        <p:spPr>
          <a:xfrm xmlns:a="http://schemas.openxmlformats.org/drawingml/2006/main">
            <a:off x="1809750" y="500634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5</a:t>
            </a:r>
          </a:p>
        </p:txBody>
      </p:sp>
      <p:sp>
        <p:nvSpPr>
          <p:cNvPr id="24" name="">
            <a:extLst xmlns:a="http://schemas.openxmlformats.org/drawingml/2006/main">
              <a:ext uri="{FF2B5EF4-FFF2-40B4-BE49-F238E27FC236}">
                <a16:creationId xmlns:a16="http://schemas.microsoft.com/office/drawing/2014/main" id="{4B4BDB4E-BC71-402A-8269-BE3CF37BD7E2}"/>
              </a:ext>
            </a:extLst>
          </p:cNvPr>
          <p:cNvSpPr>
            <a:spLocks xmlns:a="http://schemas.openxmlformats.org/drawingml/2006/main" noGrp="1"/>
          </p:cNvSpPr>
          <p:nvPr/>
        </p:nvSpPr>
        <p:spPr>
          <a:xfrm xmlns:a="http://schemas.openxmlformats.org/drawingml/2006/main">
            <a:off x="2343150" y="4987290"/>
            <a:ext cx="1809750" cy="4419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Dokumentation</a:t>
            </a:r>
          </a:p>
        </p:txBody>
      </p:sp>
      <p:sp>
        <p:nvSpPr>
          <p:cNvPr id="25" name="">
            <a:extLst xmlns:a="http://schemas.openxmlformats.org/drawingml/2006/main">
              <a:ext uri="{FF2B5EF4-FFF2-40B4-BE49-F238E27FC236}">
                <a16:creationId xmlns:a16="http://schemas.microsoft.com/office/drawing/2014/main" id="{655217F9-C8DC-43AB-A0CB-1C0CD6834EB9}"/>
              </a:ext>
            </a:extLst>
          </p:cNvPr>
          <p:cNvSpPr>
            <a:spLocks xmlns:a="http://schemas.openxmlformats.org/drawingml/2006/main" noGrp="1"/>
          </p:cNvSpPr>
          <p:nvPr/>
        </p:nvSpPr>
        <p:spPr>
          <a:xfrm xmlns:a="http://schemas.openxmlformats.org/drawingml/2006/main">
            <a:off x="4286250" y="4987290"/>
            <a:ext cx="6953250" cy="4419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35">
                <a:solidFill>
                  <a:srgbClr val="15232B"/>
                </a:solidFill>
              </a:defRPr>
            </a:pPr>
            <a:r>
              <a:rPr sz="1035">
                <a:solidFill>
                  <a:srgbClr val="15232B"/>
                </a:solidFill>
              </a:rPr>
              <a:t>Klinische Kriterien, Entscheidungsgründe, verordnete Menge, Übergabe und Warnhinweise neutral festhalten.</a:t>
            </a:r>
          </a:p>
        </p:txBody>
      </p:sp>
      <p:sp>
        <p:nvSpPr>
          <p:cNvPr id="26" name="">
            <a:extLst xmlns:a="http://schemas.openxmlformats.org/drawingml/2006/main">
              <a:ext uri="{FF2B5EF4-FFF2-40B4-BE49-F238E27FC236}">
                <a16:creationId xmlns:a16="http://schemas.microsoft.com/office/drawing/2014/main" id="{BAE83992-C059-4CB3-ACFB-15F92491009C}"/>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7" name="">
            <a:extLst xmlns:a="http://schemas.openxmlformats.org/drawingml/2006/main">
              <a:ext uri="{FF2B5EF4-FFF2-40B4-BE49-F238E27FC236}">
                <a16:creationId xmlns:a16="http://schemas.microsoft.com/office/drawing/2014/main" id="{A209D40D-4AD5-47BF-A331-CDFDAB2445ED}"/>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Rechtssicherheit entsteht aus fachgerechter, kontinuierlicher Versorgung – nicht aus reflexhafter Behandlungsvermeidung.</a:t>
            </a:r>
          </a:p>
        </p:txBody>
      </p:sp>
    </p:spTree>
    <p:extLst>
      <p:ext uri="{BB962C8B-B14F-4D97-AF65-F5344CB8AC3E}">
        <p14:creationId xmlns:p14="http://schemas.microsoft.com/office/powerpoint/2010/main" val="43637646"/>
      </p:ext>
    </p:extLst>
  </p:cSld>
</p:sld>
</file>

<file path=ppt/slides/slide337.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Freunde und Angehörige behandeln: Nähe senkt nicht den fachlichen Standard</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PODCAST-KURZVISITE · VERORDNUNG, KRANKSCHREIBUNG, GRENZEN</a:t>
            </a:r>
            <a:endParaRPr/>
          </a:p>
        </p:txBody>
      </p:sp>
      <p:sp>
        <p:nvSpPr>
          <p:cNvPr id="4" name="">
            <a:extLst xmlns:a="http://schemas.openxmlformats.org/drawingml/2006/main">
              <a:ext uri="{FF2B5EF4-FFF2-40B4-BE49-F238E27FC236}">
                <a16:creationId xmlns:a16="http://schemas.microsoft.com/office/drawing/2014/main" id="{FE5F60F6-BC73-4094-B9CF-45874DE75A5A}"/>
              </a:ext>
            </a:extLst>
          </p:cNvPr>
          <p:cNvSpPr>
            <a:spLocks xmlns:a="http://schemas.openxmlformats.org/drawingml/2006/main" noGrp="1"/>
          </p:cNvSpPr>
          <p:nvPr/>
        </p:nvSpPr>
        <p:spPr>
          <a:xfrm xmlns:a="http://schemas.openxmlformats.org/drawingml/2006/main">
            <a:off x="1809750" y="2000250"/>
            <a:ext cx="4619625" cy="3286125"/>
          </a:xfrm>
          <a:prstGeom xmlns:a="http://schemas.openxmlformats.org/drawingml/2006/main" prst="roundRect">
            <a:avLst>
              <a:gd name="adj" fmla="val 2319"/>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79D42323-9B5F-424B-8E1B-25392574C2A9}"/>
              </a:ext>
            </a:extLst>
          </p:cNvPr>
          <p:cNvSpPr>
            <a:spLocks xmlns:a="http://schemas.openxmlformats.org/drawingml/2006/main" noGrp="1"/>
          </p:cNvSpPr>
          <p:nvPr/>
        </p:nvSpPr>
        <p:spPr>
          <a:xfrm xmlns:a="http://schemas.openxmlformats.org/drawingml/2006/main">
            <a:off x="1809750" y="2000250"/>
            <a:ext cx="4619625"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F15A8F71-5430-450F-8EA6-EB42ED5507C2}"/>
              </a:ext>
            </a:extLst>
          </p:cNvPr>
          <p:cNvSpPr>
            <a:spLocks xmlns:a="http://schemas.openxmlformats.org/drawingml/2006/main" noGrp="1"/>
          </p:cNvSpPr>
          <p:nvPr/>
        </p:nvSpPr>
        <p:spPr>
          <a:xfrm xmlns:a="http://schemas.openxmlformats.org/drawingml/2006/main">
            <a:off x="1962150" y="2133600"/>
            <a:ext cx="4314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75" b="1">
                <a:solidFill>
                  <a:srgbClr val="003F6B"/>
                </a:solidFill>
              </a:defRPr>
            </a:pPr>
            <a:r>
              <a:rPr sz="1575" b="1">
                <a:solidFill>
                  <a:srgbClr val="003F6B"/>
                </a:solidFill>
              </a:rPr>
              <a:t>Typische Risiken</a:t>
            </a:r>
          </a:p>
        </p:txBody>
      </p:sp>
      <p:sp>
        <p:nvSpPr>
          <p:cNvPr id="7" name="">
            <a:extLst xmlns:a="http://schemas.openxmlformats.org/drawingml/2006/main">
              <a:ext uri="{FF2B5EF4-FFF2-40B4-BE49-F238E27FC236}">
                <a16:creationId xmlns:a16="http://schemas.microsoft.com/office/drawing/2014/main" id="{6EAEF4E3-FEAC-4CB5-A41D-125F08856BBD}"/>
              </a:ext>
            </a:extLst>
          </p:cNvPr>
          <p:cNvSpPr>
            <a:spLocks xmlns:a="http://schemas.openxmlformats.org/drawingml/2006/main" noGrp="1"/>
          </p:cNvSpPr>
          <p:nvPr/>
        </p:nvSpPr>
        <p:spPr>
          <a:xfrm xmlns:a="http://schemas.openxmlformats.org/drawingml/2006/main">
            <a:off x="1962150" y="2571750"/>
            <a:ext cx="4314825"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15232B"/>
                </a:solidFill>
              </a:defRPr>
            </a:pPr>
            <a:r>
              <a:rPr sz="1200">
                <a:solidFill>
                  <a:srgbClr val="15232B"/>
                </a:solidFill>
              </a:rPr>
              <a:t>• verkürzte Anamnese und fehlende körperliche Untersuchung</a:t>
            </a:r>
          </a:p>
          <a:p xmlns:a="http://schemas.openxmlformats.org/drawingml/2006/main">
            <a:pPr>
              <a:buNone/>
              <a:defRPr sz="1200">
                <a:solidFill>
                  <a:srgbClr val="15232B"/>
                </a:solidFill>
              </a:defRPr>
            </a:pPr>
            <a:r>
              <a:rPr sz="1200">
                <a:solidFill>
                  <a:srgbClr val="15232B"/>
                </a:solidFill>
              </a:rPr>
              <a:t>• unvollständige Dokumentation und informelle Messenger-Kommunikation</a:t>
            </a:r>
          </a:p>
          <a:p xmlns:a="http://schemas.openxmlformats.org/drawingml/2006/main">
            <a:pPr>
              <a:buNone/>
              <a:defRPr sz="1200">
                <a:solidFill>
                  <a:srgbClr val="15232B"/>
                </a:solidFill>
              </a:defRPr>
            </a:pPr>
            <a:r>
              <a:rPr sz="1200">
                <a:solidFill>
                  <a:srgbClr val="15232B"/>
                </a:solidFill>
              </a:rPr>
              <a:t>• Interessenkonflikt, fehlende Distanz und problematische BtM-Verordnung</a:t>
            </a:r>
          </a:p>
        </p:txBody>
      </p:sp>
      <p:sp>
        <p:nvSpPr>
          <p:cNvPr id="8" name="">
            <a:extLst xmlns:a="http://schemas.openxmlformats.org/drawingml/2006/main">
              <a:ext uri="{FF2B5EF4-FFF2-40B4-BE49-F238E27FC236}">
                <a16:creationId xmlns:a16="http://schemas.microsoft.com/office/drawing/2014/main" id="{72F4B479-AE66-4443-A422-E18E9E9BF96C}"/>
              </a:ext>
            </a:extLst>
          </p:cNvPr>
          <p:cNvSpPr>
            <a:spLocks xmlns:a="http://schemas.openxmlformats.org/drawingml/2006/main" noGrp="1"/>
          </p:cNvSpPr>
          <p:nvPr/>
        </p:nvSpPr>
        <p:spPr>
          <a:xfrm xmlns:a="http://schemas.openxmlformats.org/drawingml/2006/main">
            <a:off x="6715125" y="2000250"/>
            <a:ext cx="4619625" cy="3286125"/>
          </a:xfrm>
          <a:prstGeom xmlns:a="http://schemas.openxmlformats.org/drawingml/2006/main" prst="roundRect">
            <a:avLst>
              <a:gd name="adj" fmla="val 2319"/>
            </a:avLst>
          </a:prstGeom>
          <a:noFill xmlns:a="http://schemas.openxmlformats.org/drawingml/2006/main"/>
          <a:ln xmlns:a="http://schemas.openxmlformats.org/drawingml/2006/main" w="9525">
            <a:solidFill>
              <a:srgbClr val="B9CAD2"/>
            </a:solidFill>
            <a:prstDash val="solid"/>
          </a:ln>
        </p:spPr>
      </p:sp>
      <p:sp>
        <p:nvSpPr>
          <p:cNvPr id="9" name="">
            <a:extLst xmlns:a="http://schemas.openxmlformats.org/drawingml/2006/main">
              <a:ext uri="{FF2B5EF4-FFF2-40B4-BE49-F238E27FC236}">
                <a16:creationId xmlns:a16="http://schemas.microsoft.com/office/drawing/2014/main" id="{57FD227E-5914-45B8-9E1A-0A74B8179115}"/>
              </a:ext>
            </a:extLst>
          </p:cNvPr>
          <p:cNvSpPr>
            <a:spLocks xmlns:a="http://schemas.openxmlformats.org/drawingml/2006/main" noGrp="1"/>
          </p:cNvSpPr>
          <p:nvPr/>
        </p:nvSpPr>
        <p:spPr>
          <a:xfrm xmlns:a="http://schemas.openxmlformats.org/drawingml/2006/main">
            <a:off x="6715125" y="2000250"/>
            <a:ext cx="4619625"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9CDD281B-E78B-4D8B-BDB8-411D8483D058}"/>
              </a:ext>
            </a:extLst>
          </p:cNvPr>
          <p:cNvSpPr>
            <a:spLocks xmlns:a="http://schemas.openxmlformats.org/drawingml/2006/main" noGrp="1"/>
          </p:cNvSpPr>
          <p:nvPr/>
        </p:nvSpPr>
        <p:spPr>
          <a:xfrm xmlns:a="http://schemas.openxmlformats.org/drawingml/2006/main">
            <a:off x="6867525" y="2133600"/>
            <a:ext cx="4314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75" b="1">
                <a:solidFill>
                  <a:srgbClr val="003F6B"/>
                </a:solidFill>
              </a:defRPr>
            </a:pPr>
            <a:r>
              <a:rPr sz="1575" b="1">
                <a:solidFill>
                  <a:srgbClr val="003F6B"/>
                </a:solidFill>
              </a:rPr>
              <a:t>Praktische Leitplanken</a:t>
            </a:r>
          </a:p>
        </p:txBody>
      </p:sp>
      <p:sp>
        <p:nvSpPr>
          <p:cNvPr id="11" name="">
            <a:extLst xmlns:a="http://schemas.openxmlformats.org/drawingml/2006/main">
              <a:ext uri="{FF2B5EF4-FFF2-40B4-BE49-F238E27FC236}">
                <a16:creationId xmlns:a16="http://schemas.microsoft.com/office/drawing/2014/main" id="{EFC7AAE7-42EF-4628-A008-7164C4C3C172}"/>
              </a:ext>
            </a:extLst>
          </p:cNvPr>
          <p:cNvSpPr>
            <a:spLocks xmlns:a="http://schemas.openxmlformats.org/drawingml/2006/main" noGrp="1"/>
          </p:cNvSpPr>
          <p:nvPr/>
        </p:nvSpPr>
        <p:spPr>
          <a:xfrm xmlns:a="http://schemas.openxmlformats.org/drawingml/2006/main">
            <a:off x="6867525" y="2571750"/>
            <a:ext cx="4314825"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15232B"/>
                </a:solidFill>
              </a:defRPr>
            </a:pPr>
            <a:r>
              <a:rPr sz="1200">
                <a:solidFill>
                  <a:srgbClr val="15232B"/>
                </a:solidFill>
              </a:rPr>
              <a:t>• Notfallhilfe von regulärer Dauerbehandlung unterscheiden</a:t>
            </a:r>
          </a:p>
          <a:p xmlns:a="http://schemas.openxmlformats.org/drawingml/2006/main">
            <a:pPr>
              <a:buNone/>
              <a:defRPr sz="1200">
                <a:solidFill>
                  <a:srgbClr val="15232B"/>
                </a:solidFill>
              </a:defRPr>
            </a:pPr>
            <a:r>
              <a:rPr sz="1200">
                <a:solidFill>
                  <a:srgbClr val="15232B"/>
                </a:solidFill>
              </a:rPr>
              <a:t>• bei relevanten Diagnosen an unabhängige Behandlung verweisen</a:t>
            </a:r>
          </a:p>
          <a:p xmlns:a="http://schemas.openxmlformats.org/drawingml/2006/main">
            <a:pPr>
              <a:buNone/>
              <a:defRPr sz="1200">
                <a:solidFill>
                  <a:srgbClr val="15232B"/>
                </a:solidFill>
              </a:defRPr>
            </a:pPr>
            <a:r>
              <a:rPr sz="1200">
                <a:solidFill>
                  <a:srgbClr val="15232B"/>
                </a:solidFill>
              </a:rPr>
              <a:t>• wenn behandelt wird: Aufklärung, Standard, Akte, Datenschutz und Nachsorge vollständig erfüllen</a:t>
            </a:r>
          </a:p>
        </p:txBody>
      </p:sp>
      <p:sp>
        <p:nvSpPr>
          <p:cNvPr id="12" name="">
            <a:extLst xmlns:a="http://schemas.openxmlformats.org/drawingml/2006/main">
              <a:ext uri="{FF2B5EF4-FFF2-40B4-BE49-F238E27FC236}">
                <a16:creationId xmlns:a16="http://schemas.microsoft.com/office/drawing/2014/main" id="{D70B3E78-021A-4F7A-9E5F-0E3BACFD2F65}"/>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13" name="">
            <a:extLst xmlns:a="http://schemas.openxmlformats.org/drawingml/2006/main">
              <a:ext uri="{FF2B5EF4-FFF2-40B4-BE49-F238E27FC236}">
                <a16:creationId xmlns:a16="http://schemas.microsoft.com/office/drawing/2014/main" id="{96C1E6C0-80E0-4A6C-9E76-2BCEC403089B}"/>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Eine private Beziehung ist keine Ausnahme vom Behandlungsvertrag, von der Schweigepflicht oder von der Dokumentation.</a:t>
            </a:r>
          </a:p>
        </p:txBody>
      </p:sp>
    </p:spTree>
    <p:extLst>
      <p:ext uri="{BB962C8B-B14F-4D97-AF65-F5344CB8AC3E}">
        <p14:creationId xmlns:p14="http://schemas.microsoft.com/office/powerpoint/2010/main" val="43637646"/>
      </p:ext>
    </p:extLst>
  </p:cSld>
</p:sld>
</file>

<file path=ppt/slides/slide338.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Übernahmeverschulden im Dienst</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5586872A-C276-4575-81CA-D9F1C2BC7F0D}"/>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Wer eine Aufgabe übernimmt, muss eigene Kompetenz und verfügbare Unterstützung realistisch bewerten.</a:t>
            </a:r>
          </a:p>
        </p:txBody>
      </p:sp>
      <p:sp>
        <p:nvSpPr>
          <p:cNvPr id="5" name="">
            <a:extLst xmlns:a="http://schemas.openxmlformats.org/drawingml/2006/main">
              <a:ext uri="{FF2B5EF4-FFF2-40B4-BE49-F238E27FC236}">
                <a16:creationId xmlns:a16="http://schemas.microsoft.com/office/drawing/2014/main" id="{77D736EF-5C30-42D1-BBD7-3CB5BE37BC60}"/>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4ED3097C-C989-437C-B3F4-93213EBFD160}"/>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AC8611C1-91B9-48E8-85D5-8305C3DA6920}"/>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Erkennen</a:t>
            </a:r>
          </a:p>
        </p:txBody>
      </p:sp>
      <p:sp>
        <p:nvSpPr>
          <p:cNvPr id="8" name="">
            <a:extLst xmlns:a="http://schemas.openxmlformats.org/drawingml/2006/main">
              <a:ext uri="{FF2B5EF4-FFF2-40B4-BE49-F238E27FC236}">
                <a16:creationId xmlns:a16="http://schemas.microsoft.com/office/drawing/2014/main" id="{235C2E6F-FD9A-4CC8-AA18-9F42D76B2F0E}"/>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Komplexität, Risiko, eigener Erfahrungsstand und institutionelle Ressourcen werden eingeschätzt.</a:t>
            </a:r>
          </a:p>
        </p:txBody>
      </p:sp>
      <p:sp>
        <p:nvSpPr>
          <p:cNvPr id="9" name="">
            <a:extLst xmlns:a="http://schemas.openxmlformats.org/drawingml/2006/main">
              <a:ext uri="{FF2B5EF4-FFF2-40B4-BE49-F238E27FC236}">
                <a16:creationId xmlns:a16="http://schemas.microsoft.com/office/drawing/2014/main" id="{58CBB882-18FF-4F99-995D-5797B3C47F12}"/>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05FCF80B-F07B-49BA-8771-3C38D6B0AABB}"/>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A55D79F0-4862-43B0-AA3F-3E0600FFBB3C}"/>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Kommunizieren</a:t>
            </a:r>
          </a:p>
        </p:txBody>
      </p:sp>
      <p:sp>
        <p:nvSpPr>
          <p:cNvPr id="12" name="">
            <a:extLst xmlns:a="http://schemas.openxmlformats.org/drawingml/2006/main">
              <a:ext uri="{FF2B5EF4-FFF2-40B4-BE49-F238E27FC236}">
                <a16:creationId xmlns:a16="http://schemas.microsoft.com/office/drawing/2014/main" id="{43A8EA0B-5276-473C-AA56-F690AF24C12B}"/>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Kompetenzgrenzen und Unterstützungsbedarf werden früh und konkret benannt.</a:t>
            </a:r>
          </a:p>
        </p:txBody>
      </p:sp>
      <p:sp>
        <p:nvSpPr>
          <p:cNvPr id="13" name="">
            <a:extLst xmlns:a="http://schemas.openxmlformats.org/drawingml/2006/main">
              <a:ext uri="{FF2B5EF4-FFF2-40B4-BE49-F238E27FC236}">
                <a16:creationId xmlns:a16="http://schemas.microsoft.com/office/drawing/2014/main" id="{D7DF55F7-1D5F-4481-AD64-0EF150692175}"/>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7264322A-34F4-4068-A32E-EBD11EDBE5A8}"/>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AD120222-5DB3-4F04-9B26-8E2CDD35A569}"/>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Eskalieren</a:t>
            </a:r>
          </a:p>
        </p:txBody>
      </p:sp>
      <p:sp>
        <p:nvSpPr>
          <p:cNvPr id="16" name="">
            <a:extLst xmlns:a="http://schemas.openxmlformats.org/drawingml/2006/main">
              <a:ext uri="{FF2B5EF4-FFF2-40B4-BE49-F238E27FC236}">
                <a16:creationId xmlns:a16="http://schemas.microsoft.com/office/drawing/2014/main" id="{21899D26-EFD3-4FC3-B5A1-1E296EAC873F}"/>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Wenn direkte Vorgesetzte nicht erreichbar sind, werden alternative sichere Wege genutzt.</a:t>
            </a:r>
          </a:p>
        </p:txBody>
      </p:sp>
      <p:sp>
        <p:nvSpPr>
          <p:cNvPr id="17" name="">
            <a:extLst xmlns:a="http://schemas.openxmlformats.org/drawingml/2006/main">
              <a:ext uri="{FF2B5EF4-FFF2-40B4-BE49-F238E27FC236}">
                <a16:creationId xmlns:a16="http://schemas.microsoft.com/office/drawing/2014/main" id="{6801E4DC-62B1-4580-914D-AE68F94ACF45}"/>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248EA066-29DB-4564-AF7E-A6A1C09D0C7F}"/>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51795260-B47D-4B2A-A79D-44A4B0469C59}"/>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Dokumentieren</a:t>
            </a:r>
          </a:p>
        </p:txBody>
      </p:sp>
      <p:sp>
        <p:nvSpPr>
          <p:cNvPr id="20" name="">
            <a:extLst xmlns:a="http://schemas.openxmlformats.org/drawingml/2006/main">
              <a:ext uri="{FF2B5EF4-FFF2-40B4-BE49-F238E27FC236}">
                <a16:creationId xmlns:a16="http://schemas.microsoft.com/office/drawing/2014/main" id="{A387A5C9-7686-4D70-97B7-39A136AC16BB}"/>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Anfragen, Antworten, Anordnungen und Gründe für Entscheidungen werden sachlich festgehalten.</a:t>
            </a:r>
          </a:p>
        </p:txBody>
      </p:sp>
      <p:sp>
        <p:nvSpPr>
          <p:cNvPr id="21" name="">
            <a:extLst xmlns:a="http://schemas.openxmlformats.org/drawingml/2006/main">
              <a:ext uri="{FF2B5EF4-FFF2-40B4-BE49-F238E27FC236}">
                <a16:creationId xmlns:a16="http://schemas.microsoft.com/office/drawing/2014/main" id="{DE044CFA-E993-4BE7-B215-0F86886DF227}"/>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08641C59-A52E-422D-A0A5-EADDB384AE76}"/>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Hilfe holen ist kein Kompetenzmangel, sondern Teil fachgerechter Berufsausübung.</a:t>
            </a:r>
          </a:p>
        </p:txBody>
      </p:sp>
    </p:spTree>
    <p:extLst>
      <p:ext uri="{BB962C8B-B14F-4D97-AF65-F5344CB8AC3E}">
        <p14:creationId xmlns:p14="http://schemas.microsoft.com/office/powerpoint/2010/main" val="43637646"/>
      </p:ext>
    </p:extLst>
  </p:cSld>
</p:sld>
</file>

<file path=ppt/slides/slide339.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Elektronische Verordnung und Systemwarnungen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CA2947D9-3A0A-45FA-BC21-A0F0D0CEF778}"/>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Digitale Systeme unterstützen, ersetzen aber nicht die klinische Plausibilitätsprüfung.</a:t>
            </a:r>
          </a:p>
        </p:txBody>
      </p:sp>
      <p:sp>
        <p:nvSpPr>
          <p:cNvPr id="5" name="">
            <a:extLst xmlns:a="http://schemas.openxmlformats.org/drawingml/2006/main">
              <a:ext uri="{FF2B5EF4-FFF2-40B4-BE49-F238E27FC236}">
                <a16:creationId xmlns:a16="http://schemas.microsoft.com/office/drawing/2014/main" id="{0BCCF2C0-D6EB-41D7-9EA7-94366FA57FD0}"/>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74A51935-C793-431B-8393-96450A53F844}"/>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4659043D-8D9D-48C3-97F6-74D8186838D7}"/>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Warnmüdigkeit</a:t>
            </a:r>
          </a:p>
        </p:txBody>
      </p:sp>
      <p:sp>
        <p:nvSpPr>
          <p:cNvPr id="8" name="">
            <a:extLst xmlns:a="http://schemas.openxmlformats.org/drawingml/2006/main">
              <a:ext uri="{FF2B5EF4-FFF2-40B4-BE49-F238E27FC236}">
                <a16:creationId xmlns:a16="http://schemas.microsoft.com/office/drawing/2014/main" id="{B1C14A64-0414-44BE-8CAD-EB639AB22D61}"/>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Zu viele unspezifische Warnungen können relevante Hinweise verdecken; Organisation und Konfiguration sind Sicherheitsfragen.</a:t>
            </a:r>
          </a:p>
        </p:txBody>
      </p:sp>
      <p:sp>
        <p:nvSpPr>
          <p:cNvPr id="9" name="">
            <a:extLst xmlns:a="http://schemas.openxmlformats.org/drawingml/2006/main">
              <a:ext uri="{FF2B5EF4-FFF2-40B4-BE49-F238E27FC236}">
                <a16:creationId xmlns:a16="http://schemas.microsoft.com/office/drawing/2014/main" id="{88B83BC8-417A-448D-8619-FE9C6223C442}"/>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B7B4D5F3-FAF1-46DC-982E-1FDB43860695}"/>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00319A9A-B0B8-4AD4-BD7E-D49A35476DB3}"/>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Override</a:t>
            </a:r>
          </a:p>
        </p:txBody>
      </p:sp>
      <p:sp>
        <p:nvSpPr>
          <p:cNvPr id="12" name="">
            <a:extLst xmlns:a="http://schemas.openxmlformats.org/drawingml/2006/main">
              <a:ext uri="{FF2B5EF4-FFF2-40B4-BE49-F238E27FC236}">
                <a16:creationId xmlns:a16="http://schemas.microsoft.com/office/drawing/2014/main" id="{538419DC-0430-45D5-B0CD-D085E8214EE6}"/>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Das Übergehen einer Warnung kann vertretbar sein, wenn Grund und Monitoring nachvollziehbar sind.</a:t>
            </a:r>
          </a:p>
        </p:txBody>
      </p:sp>
      <p:sp>
        <p:nvSpPr>
          <p:cNvPr id="13" name="">
            <a:extLst xmlns:a="http://schemas.openxmlformats.org/drawingml/2006/main">
              <a:ext uri="{FF2B5EF4-FFF2-40B4-BE49-F238E27FC236}">
                <a16:creationId xmlns:a16="http://schemas.microsoft.com/office/drawing/2014/main" id="{9560854C-B134-4C31-A757-805892B947B6}"/>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28C28B18-699F-4135-8767-7025CAA44505}"/>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51640933-D1DE-496A-A188-A46523355B82}"/>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Stammdaten</a:t>
            </a:r>
          </a:p>
        </p:txBody>
      </p:sp>
      <p:sp>
        <p:nvSpPr>
          <p:cNvPr id="16" name="">
            <a:extLst xmlns:a="http://schemas.openxmlformats.org/drawingml/2006/main">
              <a:ext uri="{FF2B5EF4-FFF2-40B4-BE49-F238E27FC236}">
                <a16:creationId xmlns:a16="http://schemas.microsoft.com/office/drawing/2014/main" id="{EB3FD8EF-A355-4BFD-BE1E-8D9461A359DD}"/>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Fehlerhafte Gewicht-, Allergie- oder Nierenfunktionsdaten können automatische Empfehlungen verfälschen.</a:t>
            </a:r>
          </a:p>
        </p:txBody>
      </p:sp>
      <p:sp>
        <p:nvSpPr>
          <p:cNvPr id="17" name="">
            <a:extLst xmlns:a="http://schemas.openxmlformats.org/drawingml/2006/main">
              <a:ext uri="{FF2B5EF4-FFF2-40B4-BE49-F238E27FC236}">
                <a16:creationId xmlns:a16="http://schemas.microsoft.com/office/drawing/2014/main" id="{453F1558-8D0C-48CF-9FF1-57443A499145}"/>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72B12580-AA18-472D-8FCE-2C2EE5E28B52}"/>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84FC6E33-0D1E-43E4-8029-580761DADFAD}"/>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Ausfallkonzept</a:t>
            </a:r>
          </a:p>
        </p:txBody>
      </p:sp>
      <p:sp>
        <p:nvSpPr>
          <p:cNvPr id="20" name="">
            <a:extLst xmlns:a="http://schemas.openxmlformats.org/drawingml/2006/main">
              <a:ext uri="{FF2B5EF4-FFF2-40B4-BE49-F238E27FC236}">
                <a16:creationId xmlns:a16="http://schemas.microsoft.com/office/drawing/2014/main" id="{9A1E5760-44D7-4D06-B8C4-7D0CB1A690FE}"/>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Bei Systemausfall müssen sichere Ersatzprozesse und nachträgliche Datenübernahme bestehen.</a:t>
            </a:r>
          </a:p>
        </p:txBody>
      </p:sp>
      <p:sp>
        <p:nvSpPr>
          <p:cNvPr id="21" name="">
            <a:extLst xmlns:a="http://schemas.openxmlformats.org/drawingml/2006/main">
              <a:ext uri="{FF2B5EF4-FFF2-40B4-BE49-F238E27FC236}">
                <a16:creationId xmlns:a16="http://schemas.microsoft.com/office/drawing/2014/main" id="{3DC76E62-45F4-48F1-8528-4BEBE29AC86A}"/>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BF3E4F46-C09C-46E6-AB79-155DFCB31413}"/>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Technische Empfehlung bleibt ein Input in eine verantwortete klinische Entscheidung.</a:t>
            </a:r>
          </a:p>
        </p:txBody>
      </p:sp>
    </p:spTree>
    <p:extLst>
      <p:ext uri="{BB962C8B-B14F-4D97-AF65-F5344CB8AC3E}">
        <p14:creationId xmlns:p14="http://schemas.microsoft.com/office/powerpoint/2010/main" val="43637646"/>
      </p:ext>
    </p:extLst>
  </p:cSld>
</p:sld>
</file>

<file path=ppt/slides/slide340.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Leitentscheidung · Zehnfache MDMA-Dosis im psycholytischen Setting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ORIGINALENTSCHEIDUNG · TERMIN 11</a:t>
            </a:r>
            <a:endParaRPr/>
          </a:p>
        </p:txBody>
      </p:sp>
      <p:sp>
        <p:nvSpPr>
          <p:cNvPr id="4" name="">
            <a:extLst xmlns:a="http://schemas.openxmlformats.org/drawingml/2006/main">
              <a:ext uri="{FF2B5EF4-FFF2-40B4-BE49-F238E27FC236}">
                <a16:creationId xmlns:a16="http://schemas.microsoft.com/office/drawing/2014/main" id="{80B7A0CC-C5B0-49F5-A8AA-EA3DA98C2CE6}"/>
              </a:ext>
            </a:extLst>
          </p:cNvPr>
          <p:cNvSpPr>
            <a:spLocks xmlns:a="http://schemas.openxmlformats.org/drawingml/2006/main" noGrp="1"/>
          </p:cNvSpPr>
          <p:nvPr/>
        </p:nvSpPr>
        <p:spPr>
          <a:xfrm xmlns:a="http://schemas.openxmlformats.org/drawingml/2006/main">
            <a:off x="1809750" y="1943100"/>
            <a:ext cx="11239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FE45AAE4-85B4-4AC0-A4FC-2E3EF7DAAA3F}"/>
              </a:ext>
            </a:extLst>
          </p:cNvPr>
          <p:cNvSpPr>
            <a:spLocks xmlns:a="http://schemas.openxmlformats.org/drawingml/2006/main" noGrp="1"/>
          </p:cNvSpPr>
          <p:nvPr/>
        </p:nvSpPr>
        <p:spPr>
          <a:xfrm xmlns:a="http://schemas.openxmlformats.org/drawingml/2006/main">
            <a:off x="1809750" y="1943100"/>
            <a:ext cx="1123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38" b="1">
                <a:solidFill>
                  <a:srgbClr val="FFFFFF"/>
                </a:solidFill>
              </a:defRPr>
            </a:pPr>
            <a:r>
              <a:rPr sz="938" b="1">
                <a:solidFill>
                  <a:srgbClr val="FFFFFF"/>
                </a:solidFill>
              </a:rPr>
              <a:t>BGH</a:t>
            </a:r>
          </a:p>
        </p:txBody>
      </p:sp>
      <p:sp>
        <p:nvSpPr>
          <p:cNvPr id="6" name="">
            <a:extLst xmlns:a="http://schemas.openxmlformats.org/drawingml/2006/main">
              <a:ext uri="{FF2B5EF4-FFF2-40B4-BE49-F238E27FC236}">
                <a16:creationId xmlns:a16="http://schemas.microsoft.com/office/drawing/2014/main" id="{E93CA366-DFC7-4774-B362-16C6530394BF}"/>
              </a:ext>
            </a:extLst>
          </p:cNvPr>
          <p:cNvSpPr>
            <a:spLocks xmlns:a="http://schemas.openxmlformats.org/drawingml/2006/main" noGrp="1"/>
          </p:cNvSpPr>
          <p:nvPr/>
        </p:nvSpPr>
        <p:spPr>
          <a:xfrm xmlns:a="http://schemas.openxmlformats.org/drawingml/2006/main">
            <a:off x="312420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11.01.2011 · 5 StR 491/10</a:t>
            </a:r>
          </a:p>
        </p:txBody>
      </p:sp>
      <p:sp>
        <p:nvSpPr>
          <p:cNvPr id="7" name="">
            <a:extLst xmlns:a="http://schemas.openxmlformats.org/drawingml/2006/main">
              <a:ext uri="{FF2B5EF4-FFF2-40B4-BE49-F238E27FC236}">
                <a16:creationId xmlns:a16="http://schemas.microsoft.com/office/drawing/2014/main" id="{A49E8982-C2A5-42B2-938D-400BB032716F}"/>
              </a:ext>
            </a:extLst>
          </p:cNvPr>
          <p:cNvSpPr>
            <a:spLocks xmlns:a="http://schemas.openxmlformats.org/drawingml/2006/main" noGrp="1"/>
          </p:cNvSpPr>
          <p:nvPr/>
        </p:nvSpPr>
        <p:spPr>
          <a:xfrm xmlns:a="http://schemas.openxmlformats.org/drawingml/2006/main">
            <a:off x="733425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050">
                <a:solidFill>
                  <a:srgbClr val="667680"/>
                </a:solidFill>
              </a:defRPr>
            </a:pPr>
            <a:r>
              <a:rPr sz="1050">
                <a:solidFill>
                  <a:srgbClr val="667680"/>
                </a:solidFill>
              </a:rPr>
              <a:t>Originalfall statt erfundener Stationsfall</a:t>
            </a:r>
          </a:p>
        </p:txBody>
      </p:sp>
      <p:sp>
        <p:nvSpPr>
          <p:cNvPr id="8" name="">
            <a:extLst xmlns:a="http://schemas.openxmlformats.org/drawingml/2006/main">
              <a:ext uri="{FF2B5EF4-FFF2-40B4-BE49-F238E27FC236}">
                <a16:creationId xmlns:a16="http://schemas.microsoft.com/office/drawing/2014/main" id="{E5A1AF35-5B2D-4BF7-99AD-D3E5D4F184FF}"/>
              </a:ext>
            </a:extLst>
          </p:cNvPr>
          <p:cNvSpPr>
            <a:spLocks xmlns:a="http://schemas.openxmlformats.org/drawingml/2006/main" noGrp="1"/>
          </p:cNvSpPr>
          <p:nvPr/>
        </p:nvSpPr>
        <p:spPr>
          <a:xfrm xmlns:a="http://schemas.openxmlformats.org/drawingml/2006/main">
            <a:off x="1809750" y="2533650"/>
            <a:ext cx="1676400" cy="781050"/>
          </a:xfrm>
          <a:prstGeom xmlns:a="http://schemas.openxmlformats.org/drawingml/2006/main" prst="roundRect">
            <a:avLst>
              <a:gd name="adj" fmla="val 9756"/>
            </a:avLst>
          </a:prstGeom>
          <a:solidFill xmlns:a="http://schemas.openxmlformats.org/drawingml/2006/main">
            <a:srgbClr val="00B2BB"/>
          </a:solidFill>
          <a:ln xmlns:a="http://schemas.openxmlformats.org/drawingml/2006/main" w="0">
            <a:solidFill>
              <a:srgbClr val="00B2BB"/>
            </a:solidFill>
            <a:prstDash val="solid"/>
          </a:ln>
        </p:spPr>
      </p:sp>
      <p:sp>
        <p:nvSpPr>
          <p:cNvPr id="9" name="">
            <a:extLst xmlns:a="http://schemas.openxmlformats.org/drawingml/2006/main">
              <a:ext uri="{FF2B5EF4-FFF2-40B4-BE49-F238E27FC236}">
                <a16:creationId xmlns:a16="http://schemas.microsoft.com/office/drawing/2014/main" id="{D21D34DD-F16B-47FA-B81F-7A21C1441ADE}"/>
              </a:ext>
            </a:extLst>
          </p:cNvPr>
          <p:cNvSpPr>
            <a:spLocks xmlns:a="http://schemas.openxmlformats.org/drawingml/2006/main" noGrp="1"/>
          </p:cNvSpPr>
          <p:nvPr/>
        </p:nvSpPr>
        <p:spPr>
          <a:xfrm xmlns:a="http://schemas.openxmlformats.org/drawingml/2006/main">
            <a:off x="1924050" y="25336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Ausgangsfall</a:t>
            </a:r>
          </a:p>
        </p:txBody>
      </p:sp>
      <p:sp>
        <p:nvSpPr>
          <p:cNvPr id="10" name="">
            <a:extLst xmlns:a="http://schemas.openxmlformats.org/drawingml/2006/main">
              <a:ext uri="{FF2B5EF4-FFF2-40B4-BE49-F238E27FC236}">
                <a16:creationId xmlns:a16="http://schemas.microsoft.com/office/drawing/2014/main" id="{053F6C12-E080-4BDA-8C5C-404D65CB3761}"/>
              </a:ext>
            </a:extLst>
          </p:cNvPr>
          <p:cNvSpPr>
            <a:spLocks xmlns:a="http://schemas.openxmlformats.org/drawingml/2006/main" noGrp="1"/>
          </p:cNvSpPr>
          <p:nvPr/>
        </p:nvSpPr>
        <p:spPr>
          <a:xfrm xmlns:a="http://schemas.openxmlformats.org/drawingml/2006/main">
            <a:off x="3695700" y="25336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Ein Arzt verabreichte Teilnehmenden einer psycholytischen Sitzung Betäubungsmittel. Wegen eines Wiegefehlers wurde MDMA etwa zehnfach überdosiert; mehrere Personen erlitten schwere Folgen.</a:t>
            </a:r>
          </a:p>
        </p:txBody>
      </p:sp>
      <p:sp>
        <p:nvSpPr>
          <p:cNvPr id="11" name="">
            <a:extLst xmlns:a="http://schemas.openxmlformats.org/drawingml/2006/main">
              <a:ext uri="{FF2B5EF4-FFF2-40B4-BE49-F238E27FC236}">
                <a16:creationId xmlns:a16="http://schemas.microsoft.com/office/drawing/2014/main" id="{4EC46D85-1606-41B7-B1CF-3503B20BB85F}"/>
              </a:ext>
            </a:extLst>
          </p:cNvPr>
          <p:cNvSpPr>
            <a:spLocks xmlns:a="http://schemas.openxmlformats.org/drawingml/2006/main" noGrp="1"/>
          </p:cNvSpPr>
          <p:nvPr/>
        </p:nvSpPr>
        <p:spPr>
          <a:xfrm xmlns:a="http://schemas.openxmlformats.org/drawingml/2006/main">
            <a:off x="1809750" y="3486150"/>
            <a:ext cx="1676400" cy="781050"/>
          </a:xfrm>
          <a:prstGeom xmlns:a="http://schemas.openxmlformats.org/drawingml/2006/main" prst="roundRect">
            <a:avLst>
              <a:gd name="adj" fmla="val 9756"/>
            </a:avLst>
          </a:prstGeom>
          <a:solidFill xmlns:a="http://schemas.openxmlformats.org/drawingml/2006/main">
            <a:srgbClr val="003F6B"/>
          </a:solidFill>
          <a:ln xmlns:a="http://schemas.openxmlformats.org/drawingml/2006/main" w="0">
            <a:solidFill>
              <a:srgbClr val="003F6B"/>
            </a:solidFill>
            <a:prstDash val="solid"/>
          </a:ln>
        </p:spPr>
      </p:sp>
      <p:sp>
        <p:nvSpPr>
          <p:cNvPr id="12" name="">
            <a:extLst xmlns:a="http://schemas.openxmlformats.org/drawingml/2006/main">
              <a:ext uri="{FF2B5EF4-FFF2-40B4-BE49-F238E27FC236}">
                <a16:creationId xmlns:a16="http://schemas.microsoft.com/office/drawing/2014/main" id="{4E7CBE09-2E99-404D-8FAE-42541E4355D9}"/>
              </a:ext>
            </a:extLst>
          </p:cNvPr>
          <p:cNvSpPr>
            <a:spLocks xmlns:a="http://schemas.openxmlformats.org/drawingml/2006/main" noGrp="1"/>
          </p:cNvSpPr>
          <p:nvPr/>
        </p:nvSpPr>
        <p:spPr>
          <a:xfrm xmlns:a="http://schemas.openxmlformats.org/drawingml/2006/main">
            <a:off x="1924050" y="34861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Leitsatzkern</a:t>
            </a:r>
          </a:p>
        </p:txBody>
      </p:sp>
      <p:sp>
        <p:nvSpPr>
          <p:cNvPr id="13" name="">
            <a:extLst xmlns:a="http://schemas.openxmlformats.org/drawingml/2006/main">
              <a:ext uri="{FF2B5EF4-FFF2-40B4-BE49-F238E27FC236}">
                <a16:creationId xmlns:a16="http://schemas.microsoft.com/office/drawing/2014/main" id="{5E401121-D422-46D3-B57F-55965E8FEDD5}"/>
              </a:ext>
            </a:extLst>
          </p:cNvPr>
          <p:cNvSpPr>
            <a:spLocks xmlns:a="http://schemas.openxmlformats.org/drawingml/2006/main" noGrp="1"/>
          </p:cNvSpPr>
          <p:nvPr/>
        </p:nvSpPr>
        <p:spPr>
          <a:xfrm xmlns:a="http://schemas.openxmlformats.org/drawingml/2006/main">
            <a:off x="3695700" y="34861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Leitsatzkern (paraphrasiert): Eigenverantwortliche Selbstgefährdung, ärztliche Garantenpflicht, Wissensvorsprung und fahrlässige Dosierung sind eigenständig zu prüfen; Berufsrolle und Sachkunde prägen die Zurechnung.</a:t>
            </a:r>
          </a:p>
        </p:txBody>
      </p:sp>
      <p:sp>
        <p:nvSpPr>
          <p:cNvPr id="14" name="">
            <a:extLst xmlns:a="http://schemas.openxmlformats.org/drawingml/2006/main">
              <a:ext uri="{FF2B5EF4-FFF2-40B4-BE49-F238E27FC236}">
                <a16:creationId xmlns:a16="http://schemas.microsoft.com/office/drawing/2014/main" id="{22AF1073-4152-4EBE-92CC-AEF8C9524D48}"/>
              </a:ext>
            </a:extLst>
          </p:cNvPr>
          <p:cNvSpPr>
            <a:spLocks xmlns:a="http://schemas.openxmlformats.org/drawingml/2006/main" noGrp="1"/>
          </p:cNvSpPr>
          <p:nvPr/>
        </p:nvSpPr>
        <p:spPr>
          <a:xfrm xmlns:a="http://schemas.openxmlformats.org/drawingml/2006/main">
            <a:off x="1809750" y="4438650"/>
            <a:ext cx="1676400" cy="781050"/>
          </a:xfrm>
          <a:prstGeom xmlns:a="http://schemas.openxmlformats.org/drawingml/2006/main" prst="roundRect">
            <a:avLst>
              <a:gd name="adj" fmla="val 9756"/>
            </a:avLst>
          </a:prstGeom>
          <a:solidFill xmlns:a="http://schemas.openxmlformats.org/drawingml/2006/main">
            <a:srgbClr val="00B2BB"/>
          </a:solidFill>
          <a:ln xmlns:a="http://schemas.openxmlformats.org/drawingml/2006/main" w="0">
            <a:solidFill>
              <a:srgbClr val="00B2BB"/>
            </a:solidFill>
            <a:prstDash val="solid"/>
          </a:ln>
        </p:spPr>
      </p:sp>
      <p:sp>
        <p:nvSpPr>
          <p:cNvPr id="15" name="">
            <a:extLst xmlns:a="http://schemas.openxmlformats.org/drawingml/2006/main">
              <a:ext uri="{FF2B5EF4-FFF2-40B4-BE49-F238E27FC236}">
                <a16:creationId xmlns:a16="http://schemas.microsoft.com/office/drawing/2014/main" id="{0BC111A5-7014-4741-95FE-871358795408}"/>
              </a:ext>
            </a:extLst>
          </p:cNvPr>
          <p:cNvSpPr>
            <a:spLocks xmlns:a="http://schemas.openxmlformats.org/drawingml/2006/main" noGrp="1"/>
          </p:cNvSpPr>
          <p:nvPr/>
        </p:nvSpPr>
        <p:spPr>
          <a:xfrm xmlns:a="http://schemas.openxmlformats.org/drawingml/2006/main">
            <a:off x="1924050" y="44386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Für die Praxis</a:t>
            </a:r>
          </a:p>
        </p:txBody>
      </p:sp>
      <p:sp>
        <p:nvSpPr>
          <p:cNvPr id="16" name="">
            <a:extLst xmlns:a="http://schemas.openxmlformats.org/drawingml/2006/main">
              <a:ext uri="{FF2B5EF4-FFF2-40B4-BE49-F238E27FC236}">
                <a16:creationId xmlns:a16="http://schemas.microsoft.com/office/drawing/2014/main" id="{377D3B29-C5A6-46EF-BF4E-7725C5F0C667}"/>
              </a:ext>
            </a:extLst>
          </p:cNvPr>
          <p:cNvSpPr>
            <a:spLocks xmlns:a="http://schemas.openxmlformats.org/drawingml/2006/main" noGrp="1"/>
          </p:cNvSpPr>
          <p:nvPr/>
        </p:nvSpPr>
        <p:spPr>
          <a:xfrm xmlns:a="http://schemas.openxmlformats.org/drawingml/2006/main">
            <a:off x="3695700" y="44386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Der Fall ist kein gewöhnlicher Medikationsfehler auf Station. Dosis, Einwilligung, eigenverantwortliche Risikoübernahme und ärztliche Schutzpflicht dürfen nicht vermengt werden.</a:t>
            </a:r>
          </a:p>
        </p:txBody>
      </p:sp>
      <p:sp>
        <p:nvSpPr>
          <p:cNvPr id="17" name="">
            <a:extLst xmlns:a="http://schemas.openxmlformats.org/drawingml/2006/main">
              <a:ext uri="{FF2B5EF4-FFF2-40B4-BE49-F238E27FC236}">
                <a16:creationId xmlns:a16="http://schemas.microsoft.com/office/drawing/2014/main" id="{257E7D22-7543-4B79-8F4B-C7734432A2DA}"/>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585">
                <a:solidFill>
                  <a:srgbClr val="667680"/>
                </a:solidFill>
              </a:defRPr>
            </a:pPr>
            <a:r>
              <a:rPr sz="585">
                <a:solidFill>
                  <a:srgbClr val="667680"/>
                </a:solidFill>
              </a:rPr>
              <a:t>BGH, Urt. v. 11.01.2011 – 5 StR 491/10 · https://juris.bundesgerichtshof.de/cgi-bin/rechtsprechung/document.py?Art=en&amp;Blank=1.pdf&amp;Datum=2011&amp;Gericht=bgh&amp;Sort=1&amp;anz=3712&amp;nr=54942&amp;pos=21 · https://doi.org/10.1515/juru.2011.266</a:t>
            </a:r>
          </a:p>
        </p:txBody>
      </p:sp>
    </p:spTree>
    <p:extLst>
      <p:ext uri="{BB962C8B-B14F-4D97-AF65-F5344CB8AC3E}">
        <p14:creationId xmlns:p14="http://schemas.microsoft.com/office/powerpoint/2010/main" val="43637646"/>
      </p:ext>
    </p:extLst>
  </p:cSld>
</p:sld>
</file>

<file path=ppt/slides/slide341.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Arzneimittel-Check</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PRÜFUNGSSCHEMA · VOR / WÄHREND / NACH</a:t>
            </a:r>
            <a:endParaRPr/>
          </a:p>
        </p:txBody>
      </p:sp>
      <p:sp>
        <p:nvSpPr>
          <p:cNvPr id="4" name="">
            <a:extLst xmlns:a="http://schemas.openxmlformats.org/drawingml/2006/main">
              <a:ext uri="{FF2B5EF4-FFF2-40B4-BE49-F238E27FC236}">
                <a16:creationId xmlns:a16="http://schemas.microsoft.com/office/drawing/2014/main" id="{201BC717-1235-463C-B5A0-09E9FC356FDD}"/>
              </a:ext>
            </a:extLst>
          </p:cNvPr>
          <p:cNvSpPr>
            <a:spLocks xmlns:a="http://schemas.openxmlformats.org/drawingml/2006/main" noGrp="1"/>
          </p:cNvSpPr>
          <p:nvPr/>
        </p:nvSpPr>
        <p:spPr>
          <a:xfrm xmlns:a="http://schemas.openxmlformats.org/drawingml/2006/main">
            <a:off x="1809750" y="1952625"/>
            <a:ext cx="400050" cy="64389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1E170BBF-4604-414A-AED2-79E1D90C11DA}"/>
              </a:ext>
            </a:extLst>
          </p:cNvPr>
          <p:cNvSpPr>
            <a:spLocks xmlns:a="http://schemas.openxmlformats.org/drawingml/2006/main" noGrp="1"/>
          </p:cNvSpPr>
          <p:nvPr/>
        </p:nvSpPr>
        <p:spPr>
          <a:xfrm xmlns:a="http://schemas.openxmlformats.org/drawingml/2006/main">
            <a:off x="1809750" y="1952625"/>
            <a:ext cx="400050" cy="6438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6" name="">
            <a:extLst xmlns:a="http://schemas.openxmlformats.org/drawingml/2006/main">
              <a:ext uri="{FF2B5EF4-FFF2-40B4-BE49-F238E27FC236}">
                <a16:creationId xmlns:a16="http://schemas.microsoft.com/office/drawing/2014/main" id="{2EC342F1-BFD8-41A4-9462-D19C8BE25709}"/>
              </a:ext>
            </a:extLst>
          </p:cNvPr>
          <p:cNvSpPr>
            <a:spLocks xmlns:a="http://schemas.openxmlformats.org/drawingml/2006/main" noGrp="1"/>
          </p:cNvSpPr>
          <p:nvPr/>
        </p:nvSpPr>
        <p:spPr>
          <a:xfrm xmlns:a="http://schemas.openxmlformats.org/drawingml/2006/main">
            <a:off x="2324100" y="1962150"/>
            <a:ext cx="2381250" cy="624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1. Vorher</a:t>
            </a:r>
          </a:p>
        </p:txBody>
      </p:sp>
      <p:sp>
        <p:nvSpPr>
          <p:cNvPr id="7" name="">
            <a:extLst xmlns:a="http://schemas.openxmlformats.org/drawingml/2006/main">
              <a:ext uri="{FF2B5EF4-FFF2-40B4-BE49-F238E27FC236}">
                <a16:creationId xmlns:a16="http://schemas.microsoft.com/office/drawing/2014/main" id="{D79C4B07-5D41-448A-8A4F-B36878AF73E4}"/>
              </a:ext>
            </a:extLst>
          </p:cNvPr>
          <p:cNvSpPr>
            <a:spLocks xmlns:a="http://schemas.openxmlformats.org/drawingml/2006/main" noGrp="1"/>
          </p:cNvSpPr>
          <p:nvPr/>
        </p:nvSpPr>
        <p:spPr>
          <a:xfrm xmlns:a="http://schemas.openxmlformats.org/drawingml/2006/main">
            <a:off x="4819650" y="1962150"/>
            <a:ext cx="6419850" cy="624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Indikation, Allergien, Interaktionen, Organfunktion, Schwangerschaft, Einwilligung und Kostenthemen prüfen.</a:t>
            </a:r>
          </a:p>
        </p:txBody>
      </p:sp>
      <p:sp>
        <p:nvSpPr>
          <p:cNvPr id="8" name="">
            <a:extLst xmlns:a="http://schemas.openxmlformats.org/drawingml/2006/main">
              <a:ext uri="{FF2B5EF4-FFF2-40B4-BE49-F238E27FC236}">
                <a16:creationId xmlns:a16="http://schemas.microsoft.com/office/drawing/2014/main" id="{43AFC447-679A-44DD-BBD0-89411A586DDB}"/>
              </a:ext>
            </a:extLst>
          </p:cNvPr>
          <p:cNvSpPr>
            <a:spLocks xmlns:a="http://schemas.openxmlformats.org/drawingml/2006/main" noGrp="1"/>
          </p:cNvSpPr>
          <p:nvPr/>
        </p:nvSpPr>
        <p:spPr>
          <a:xfrm xmlns:a="http://schemas.openxmlformats.org/drawingml/2006/main">
            <a:off x="1809750" y="2672715"/>
            <a:ext cx="400050" cy="64389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9" name="">
            <a:extLst xmlns:a="http://schemas.openxmlformats.org/drawingml/2006/main">
              <a:ext uri="{FF2B5EF4-FFF2-40B4-BE49-F238E27FC236}">
                <a16:creationId xmlns:a16="http://schemas.microsoft.com/office/drawing/2014/main" id="{9FD87D45-D51C-41D5-85A9-70FB47C3933F}"/>
              </a:ext>
            </a:extLst>
          </p:cNvPr>
          <p:cNvSpPr>
            <a:spLocks xmlns:a="http://schemas.openxmlformats.org/drawingml/2006/main" noGrp="1"/>
          </p:cNvSpPr>
          <p:nvPr/>
        </p:nvSpPr>
        <p:spPr>
          <a:xfrm xmlns:a="http://schemas.openxmlformats.org/drawingml/2006/main">
            <a:off x="1809750" y="2672715"/>
            <a:ext cx="400050" cy="6438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0" name="">
            <a:extLst xmlns:a="http://schemas.openxmlformats.org/drawingml/2006/main">
              <a:ext uri="{FF2B5EF4-FFF2-40B4-BE49-F238E27FC236}">
                <a16:creationId xmlns:a16="http://schemas.microsoft.com/office/drawing/2014/main" id="{51DEA9AD-B083-4C0B-8144-8158BF1367BE}"/>
              </a:ext>
            </a:extLst>
          </p:cNvPr>
          <p:cNvSpPr>
            <a:spLocks xmlns:a="http://schemas.openxmlformats.org/drawingml/2006/main" noGrp="1"/>
          </p:cNvSpPr>
          <p:nvPr/>
        </p:nvSpPr>
        <p:spPr>
          <a:xfrm xmlns:a="http://schemas.openxmlformats.org/drawingml/2006/main">
            <a:off x="2324100" y="2682240"/>
            <a:ext cx="2381250" cy="624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2. Anordnen</a:t>
            </a:r>
          </a:p>
        </p:txBody>
      </p:sp>
      <p:sp>
        <p:nvSpPr>
          <p:cNvPr id="11" name="">
            <a:extLst xmlns:a="http://schemas.openxmlformats.org/drawingml/2006/main">
              <a:ext uri="{FF2B5EF4-FFF2-40B4-BE49-F238E27FC236}">
                <a16:creationId xmlns:a16="http://schemas.microsoft.com/office/drawing/2014/main" id="{8D180247-C25E-4BCA-9AE9-34F7AF5C6DD3}"/>
              </a:ext>
            </a:extLst>
          </p:cNvPr>
          <p:cNvSpPr>
            <a:spLocks xmlns:a="http://schemas.openxmlformats.org/drawingml/2006/main" noGrp="1"/>
          </p:cNvSpPr>
          <p:nvPr/>
        </p:nvSpPr>
        <p:spPr>
          <a:xfrm xmlns:a="http://schemas.openxmlformats.org/drawingml/2006/main">
            <a:off x="4819650" y="2682240"/>
            <a:ext cx="6419850" cy="624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Wirkstoff, Präparat, Dosis, Weg, Zeitpunkt, Dauer und Abbruchkriterien eindeutig festlegen.</a:t>
            </a:r>
          </a:p>
        </p:txBody>
      </p:sp>
      <p:sp>
        <p:nvSpPr>
          <p:cNvPr id="12" name="">
            <a:extLst xmlns:a="http://schemas.openxmlformats.org/drawingml/2006/main">
              <a:ext uri="{FF2B5EF4-FFF2-40B4-BE49-F238E27FC236}">
                <a16:creationId xmlns:a16="http://schemas.microsoft.com/office/drawing/2014/main" id="{EAE8B772-1579-4ECA-9192-2B37948B0879}"/>
              </a:ext>
            </a:extLst>
          </p:cNvPr>
          <p:cNvSpPr>
            <a:spLocks xmlns:a="http://schemas.openxmlformats.org/drawingml/2006/main" noGrp="1"/>
          </p:cNvSpPr>
          <p:nvPr/>
        </p:nvSpPr>
        <p:spPr>
          <a:xfrm xmlns:a="http://schemas.openxmlformats.org/drawingml/2006/main">
            <a:off x="1809750" y="3392805"/>
            <a:ext cx="400050" cy="64389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3" name="">
            <a:extLst xmlns:a="http://schemas.openxmlformats.org/drawingml/2006/main">
              <a:ext uri="{FF2B5EF4-FFF2-40B4-BE49-F238E27FC236}">
                <a16:creationId xmlns:a16="http://schemas.microsoft.com/office/drawing/2014/main" id="{65034D04-BF53-4B23-8EF1-F4A3E7C1DEF0}"/>
              </a:ext>
            </a:extLst>
          </p:cNvPr>
          <p:cNvSpPr>
            <a:spLocks xmlns:a="http://schemas.openxmlformats.org/drawingml/2006/main" noGrp="1"/>
          </p:cNvSpPr>
          <p:nvPr/>
        </p:nvSpPr>
        <p:spPr>
          <a:xfrm xmlns:a="http://schemas.openxmlformats.org/drawingml/2006/main">
            <a:off x="1809750" y="3392805"/>
            <a:ext cx="400050" cy="6438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4" name="">
            <a:extLst xmlns:a="http://schemas.openxmlformats.org/drawingml/2006/main">
              <a:ext uri="{FF2B5EF4-FFF2-40B4-BE49-F238E27FC236}">
                <a16:creationId xmlns:a16="http://schemas.microsoft.com/office/drawing/2014/main" id="{AF06D24D-5E8C-44D2-9329-028433194429}"/>
              </a:ext>
            </a:extLst>
          </p:cNvPr>
          <p:cNvSpPr>
            <a:spLocks xmlns:a="http://schemas.openxmlformats.org/drawingml/2006/main" noGrp="1"/>
          </p:cNvSpPr>
          <p:nvPr/>
        </p:nvSpPr>
        <p:spPr>
          <a:xfrm xmlns:a="http://schemas.openxmlformats.org/drawingml/2006/main">
            <a:off x="2324100" y="3402330"/>
            <a:ext cx="2381250" cy="624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3. Anwenden</a:t>
            </a:r>
          </a:p>
        </p:txBody>
      </p:sp>
      <p:sp>
        <p:nvSpPr>
          <p:cNvPr id="15" name="">
            <a:extLst xmlns:a="http://schemas.openxmlformats.org/drawingml/2006/main">
              <a:ext uri="{FF2B5EF4-FFF2-40B4-BE49-F238E27FC236}">
                <a16:creationId xmlns:a16="http://schemas.microsoft.com/office/drawing/2014/main" id="{4AD8B717-A794-47AD-85D5-DEECA1ADBF62}"/>
              </a:ext>
            </a:extLst>
          </p:cNvPr>
          <p:cNvSpPr>
            <a:spLocks xmlns:a="http://schemas.openxmlformats.org/drawingml/2006/main" noGrp="1"/>
          </p:cNvSpPr>
          <p:nvPr/>
        </p:nvSpPr>
        <p:spPr>
          <a:xfrm xmlns:a="http://schemas.openxmlformats.org/drawingml/2006/main">
            <a:off x="4819650" y="3402330"/>
            <a:ext cx="6419850" cy="624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Identität, Arznei, Dosis, Zeit, Applikationsweg und Dokumentation kontrollieren; Auffälligkeiten rückfragen.</a:t>
            </a:r>
          </a:p>
        </p:txBody>
      </p:sp>
      <p:sp>
        <p:nvSpPr>
          <p:cNvPr id="16" name="">
            <a:extLst xmlns:a="http://schemas.openxmlformats.org/drawingml/2006/main">
              <a:ext uri="{FF2B5EF4-FFF2-40B4-BE49-F238E27FC236}">
                <a16:creationId xmlns:a16="http://schemas.microsoft.com/office/drawing/2014/main" id="{927840DC-E7D2-478D-A910-486B6D48E5B3}"/>
              </a:ext>
            </a:extLst>
          </p:cNvPr>
          <p:cNvSpPr>
            <a:spLocks xmlns:a="http://schemas.openxmlformats.org/drawingml/2006/main" noGrp="1"/>
          </p:cNvSpPr>
          <p:nvPr/>
        </p:nvSpPr>
        <p:spPr>
          <a:xfrm xmlns:a="http://schemas.openxmlformats.org/drawingml/2006/main">
            <a:off x="1809750" y="4112895"/>
            <a:ext cx="400050" cy="64389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7" name="">
            <a:extLst xmlns:a="http://schemas.openxmlformats.org/drawingml/2006/main">
              <a:ext uri="{FF2B5EF4-FFF2-40B4-BE49-F238E27FC236}">
                <a16:creationId xmlns:a16="http://schemas.microsoft.com/office/drawing/2014/main" id="{6E97651A-4819-4195-AFA8-BCC4C67D84A3}"/>
              </a:ext>
            </a:extLst>
          </p:cNvPr>
          <p:cNvSpPr>
            <a:spLocks xmlns:a="http://schemas.openxmlformats.org/drawingml/2006/main" noGrp="1"/>
          </p:cNvSpPr>
          <p:nvPr/>
        </p:nvSpPr>
        <p:spPr>
          <a:xfrm xmlns:a="http://schemas.openxmlformats.org/drawingml/2006/main">
            <a:off x="1809750" y="4112895"/>
            <a:ext cx="400050" cy="6438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18" name="">
            <a:extLst xmlns:a="http://schemas.openxmlformats.org/drawingml/2006/main">
              <a:ext uri="{FF2B5EF4-FFF2-40B4-BE49-F238E27FC236}">
                <a16:creationId xmlns:a16="http://schemas.microsoft.com/office/drawing/2014/main" id="{A1F1FFD2-2EB9-49A0-91EB-026C0C97B48E}"/>
              </a:ext>
            </a:extLst>
          </p:cNvPr>
          <p:cNvSpPr>
            <a:spLocks xmlns:a="http://schemas.openxmlformats.org/drawingml/2006/main" noGrp="1"/>
          </p:cNvSpPr>
          <p:nvPr/>
        </p:nvSpPr>
        <p:spPr>
          <a:xfrm xmlns:a="http://schemas.openxmlformats.org/drawingml/2006/main">
            <a:off x="2324100" y="4122420"/>
            <a:ext cx="2381250" cy="624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4. Überwachen</a:t>
            </a:r>
          </a:p>
        </p:txBody>
      </p:sp>
      <p:sp>
        <p:nvSpPr>
          <p:cNvPr id="19" name="">
            <a:extLst xmlns:a="http://schemas.openxmlformats.org/drawingml/2006/main">
              <a:ext uri="{FF2B5EF4-FFF2-40B4-BE49-F238E27FC236}">
                <a16:creationId xmlns:a16="http://schemas.microsoft.com/office/drawing/2014/main" id="{D3229A9C-E7C7-4AE4-A188-AA1406C30E19}"/>
              </a:ext>
            </a:extLst>
          </p:cNvPr>
          <p:cNvSpPr>
            <a:spLocks xmlns:a="http://schemas.openxmlformats.org/drawingml/2006/main" noGrp="1"/>
          </p:cNvSpPr>
          <p:nvPr/>
        </p:nvSpPr>
        <p:spPr>
          <a:xfrm xmlns:a="http://schemas.openxmlformats.org/drawingml/2006/main">
            <a:off x="4819650" y="4122420"/>
            <a:ext cx="6419850" cy="624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Wirkung, Nebenwirkung, Labor, Adhärenz und Eskalationsgrenzen planen.</a:t>
            </a:r>
          </a:p>
        </p:txBody>
      </p:sp>
      <p:sp>
        <p:nvSpPr>
          <p:cNvPr id="20" name="">
            <a:extLst xmlns:a="http://schemas.openxmlformats.org/drawingml/2006/main">
              <a:ext uri="{FF2B5EF4-FFF2-40B4-BE49-F238E27FC236}">
                <a16:creationId xmlns:a16="http://schemas.microsoft.com/office/drawing/2014/main" id="{6D317ED5-C128-44F8-A8C4-9686CBA41F13}"/>
              </a:ext>
            </a:extLst>
          </p:cNvPr>
          <p:cNvSpPr>
            <a:spLocks xmlns:a="http://schemas.openxmlformats.org/drawingml/2006/main" noGrp="1"/>
          </p:cNvSpPr>
          <p:nvPr/>
        </p:nvSpPr>
        <p:spPr>
          <a:xfrm xmlns:a="http://schemas.openxmlformats.org/drawingml/2006/main">
            <a:off x="1809750" y="4832985"/>
            <a:ext cx="400050" cy="64389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1" name="">
            <a:extLst xmlns:a="http://schemas.openxmlformats.org/drawingml/2006/main">
              <a:ext uri="{FF2B5EF4-FFF2-40B4-BE49-F238E27FC236}">
                <a16:creationId xmlns:a16="http://schemas.microsoft.com/office/drawing/2014/main" id="{CC3E2EFC-4858-454F-9F5B-9CA96BB2DF02}"/>
              </a:ext>
            </a:extLst>
          </p:cNvPr>
          <p:cNvSpPr>
            <a:spLocks xmlns:a="http://schemas.openxmlformats.org/drawingml/2006/main" noGrp="1"/>
          </p:cNvSpPr>
          <p:nvPr/>
        </p:nvSpPr>
        <p:spPr>
          <a:xfrm xmlns:a="http://schemas.openxmlformats.org/drawingml/2006/main">
            <a:off x="1809750" y="4832985"/>
            <a:ext cx="400050" cy="6438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5</a:t>
            </a:r>
          </a:p>
        </p:txBody>
      </p:sp>
      <p:sp>
        <p:nvSpPr>
          <p:cNvPr id="22" name="">
            <a:extLst xmlns:a="http://schemas.openxmlformats.org/drawingml/2006/main">
              <a:ext uri="{FF2B5EF4-FFF2-40B4-BE49-F238E27FC236}">
                <a16:creationId xmlns:a16="http://schemas.microsoft.com/office/drawing/2014/main" id="{EF172F1C-C3BB-43D5-8A92-D3B1C340AC80}"/>
              </a:ext>
            </a:extLst>
          </p:cNvPr>
          <p:cNvSpPr>
            <a:spLocks xmlns:a="http://schemas.openxmlformats.org/drawingml/2006/main" noGrp="1"/>
          </p:cNvSpPr>
          <p:nvPr/>
        </p:nvSpPr>
        <p:spPr>
          <a:xfrm xmlns:a="http://schemas.openxmlformats.org/drawingml/2006/main">
            <a:off x="2324100" y="4842510"/>
            <a:ext cx="2381250" cy="624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5. Übergabe</a:t>
            </a:r>
          </a:p>
        </p:txBody>
      </p:sp>
      <p:sp>
        <p:nvSpPr>
          <p:cNvPr id="23" name="">
            <a:extLst xmlns:a="http://schemas.openxmlformats.org/drawingml/2006/main">
              <a:ext uri="{FF2B5EF4-FFF2-40B4-BE49-F238E27FC236}">
                <a16:creationId xmlns:a16="http://schemas.microsoft.com/office/drawing/2014/main" id="{882EB00C-7584-4E3A-938C-BCFF404A8935}"/>
              </a:ext>
            </a:extLst>
          </p:cNvPr>
          <p:cNvSpPr>
            <a:spLocks xmlns:a="http://schemas.openxmlformats.org/drawingml/2006/main" noGrp="1"/>
          </p:cNvSpPr>
          <p:nvPr/>
        </p:nvSpPr>
        <p:spPr>
          <a:xfrm xmlns:a="http://schemas.openxmlformats.org/drawingml/2006/main">
            <a:off x="4819650" y="4842510"/>
            <a:ext cx="6419850" cy="6248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Offene Gaben, Änderungen, Begründungen und Monitoringaufgaben geschlossen übergeben.</a:t>
            </a:r>
          </a:p>
        </p:txBody>
      </p:sp>
      <p:sp>
        <p:nvSpPr>
          <p:cNvPr id="24" name="">
            <a:extLst xmlns:a="http://schemas.openxmlformats.org/drawingml/2006/main">
              <a:ext uri="{FF2B5EF4-FFF2-40B4-BE49-F238E27FC236}">
                <a16:creationId xmlns:a16="http://schemas.microsoft.com/office/drawing/2014/main" id="{438B7E08-C705-47F5-8A9E-75999BC6EC82}"/>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5" name="">
            <a:extLst xmlns:a="http://schemas.openxmlformats.org/drawingml/2006/main">
              <a:ext uri="{FF2B5EF4-FFF2-40B4-BE49-F238E27FC236}">
                <a16:creationId xmlns:a16="http://schemas.microsoft.com/office/drawing/2014/main" id="{842967DA-016B-4445-9759-84EBC9899F0D}"/>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Die rechtlich beste Medikationsdokumentation ist diejenige, die den nächsten sicheren Behandlungsschritt ermöglicht.</a:t>
            </a:r>
          </a:p>
        </p:txBody>
      </p:sp>
    </p:spTree>
    <p:extLst>
      <p:ext uri="{BB962C8B-B14F-4D97-AF65-F5344CB8AC3E}">
        <p14:creationId xmlns:p14="http://schemas.microsoft.com/office/powerpoint/2010/main" val="43637646"/>
      </p:ext>
    </p:extLst>
  </p:cSld>
</p:sld>
</file>

<file path=ppt/slides/slide342.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Podcast-Fall: Fentanyl 75 statt L‑Thyroxin 75</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HUMAN FACTORS</a:t>
            </a:r>
            <a:endParaRPr/>
          </a:p>
        </p:txBody>
      </p:sp>
      <p:sp>
        <p:nvSpPr>
          <p:cNvPr id="4" name="">
            <a:extLst xmlns:a="http://schemas.openxmlformats.org/drawingml/2006/main">
              <a:ext uri="{FF2B5EF4-FFF2-40B4-BE49-F238E27FC236}">
                <a16:creationId xmlns:a16="http://schemas.microsoft.com/office/drawing/2014/main" id="{858D9AF0-61C6-4916-AAB6-169A1733B731}"/>
              </a:ext>
            </a:extLst>
          </p:cNvPr>
          <p:cNvSpPr>
            <a:spLocks xmlns:a="http://schemas.openxmlformats.org/drawingml/2006/main" noGrp="1"/>
          </p:cNvSpPr>
          <p:nvPr/>
        </p:nvSpPr>
        <p:spPr>
          <a:xfrm xmlns:a="http://schemas.openxmlformats.org/drawingml/2006/main">
            <a:off x="1809750" y="1952625"/>
            <a:ext cx="5381625" cy="3333750"/>
          </a:xfrm>
          <a:prstGeom xmlns:a="http://schemas.openxmlformats.org/drawingml/2006/main" prst="roundRect">
            <a:avLst>
              <a:gd name="adj" fmla="val 2286"/>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1F331697-C2A4-4FF1-A52E-A727AE0676F8}"/>
              </a:ext>
            </a:extLst>
          </p:cNvPr>
          <p:cNvSpPr>
            <a:spLocks xmlns:a="http://schemas.openxmlformats.org/drawingml/2006/main" noGrp="1"/>
          </p:cNvSpPr>
          <p:nvPr/>
        </p:nvSpPr>
        <p:spPr>
          <a:xfrm xmlns:a="http://schemas.openxmlformats.org/drawingml/2006/main">
            <a:off x="1809750" y="1952625"/>
            <a:ext cx="5381625"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6" name="">
            <a:extLst xmlns:a="http://schemas.openxmlformats.org/drawingml/2006/main">
              <a:ext uri="{FF2B5EF4-FFF2-40B4-BE49-F238E27FC236}">
                <a16:creationId xmlns:a16="http://schemas.microsoft.com/office/drawing/2014/main" id="{EA25C47C-A3E5-4D69-8A94-C713F1B7FF73}"/>
              </a:ext>
            </a:extLst>
          </p:cNvPr>
          <p:cNvSpPr>
            <a:spLocks xmlns:a="http://schemas.openxmlformats.org/drawingml/2006/main" noGrp="1"/>
          </p:cNvSpPr>
          <p:nvPr/>
        </p:nvSpPr>
        <p:spPr>
          <a:xfrm xmlns:a="http://schemas.openxmlformats.org/drawingml/2006/main">
            <a:off x="1962150" y="2085975"/>
            <a:ext cx="5076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00" b="1">
                <a:solidFill>
                  <a:srgbClr val="003F6B"/>
                </a:solidFill>
              </a:defRPr>
            </a:pPr>
            <a:r>
              <a:rPr sz="1500" b="1">
                <a:solidFill>
                  <a:srgbClr val="003F6B"/>
                </a:solidFill>
              </a:rPr>
              <a:t>Ausgangslage</a:t>
            </a:r>
          </a:p>
        </p:txBody>
      </p:sp>
      <p:sp>
        <p:nvSpPr>
          <p:cNvPr id="7" name="">
            <a:extLst xmlns:a="http://schemas.openxmlformats.org/drawingml/2006/main">
              <a:ext uri="{FF2B5EF4-FFF2-40B4-BE49-F238E27FC236}">
                <a16:creationId xmlns:a16="http://schemas.microsoft.com/office/drawing/2014/main" id="{DC796D9E-A148-441D-8FC1-B97CD3233F64}"/>
              </a:ext>
            </a:extLst>
          </p:cNvPr>
          <p:cNvSpPr>
            <a:spLocks xmlns:a="http://schemas.openxmlformats.org/drawingml/2006/main" noGrp="1"/>
          </p:cNvSpPr>
          <p:nvPr/>
        </p:nvSpPr>
        <p:spPr>
          <a:xfrm xmlns:a="http://schemas.openxmlformats.org/drawingml/2006/main">
            <a:off x="1962150" y="2524125"/>
            <a:ext cx="5076825" cy="2628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15232B"/>
                </a:solidFill>
              </a:defRPr>
            </a:pPr>
            <a:r>
              <a:rPr sz="1275">
                <a:solidFill>
                  <a:srgbClr val="15232B"/>
                </a:solidFill>
              </a:rPr>
              <a:t>ähnliche Zahl  →  falsches Arzneimittel / Pflaster  →  fehlende Plausibilitätskontrolle  →  unzureichende Übergabe  →  vorzeitige oder unklare Dokumentation  →  klinische Verschlechterung</a:t>
            </a:r>
          </a:p>
        </p:txBody>
      </p:sp>
      <p:sp>
        <p:nvSpPr>
          <p:cNvPr id="8" name="">
            <a:extLst xmlns:a="http://schemas.openxmlformats.org/drawingml/2006/main">
              <a:ext uri="{FF2B5EF4-FFF2-40B4-BE49-F238E27FC236}">
                <a16:creationId xmlns:a16="http://schemas.microsoft.com/office/drawing/2014/main" id="{33D0440C-9CB4-4432-8227-9B3470826B0F}"/>
              </a:ext>
            </a:extLst>
          </p:cNvPr>
          <p:cNvSpPr>
            <a:spLocks xmlns:a="http://schemas.openxmlformats.org/drawingml/2006/main" noGrp="1"/>
          </p:cNvSpPr>
          <p:nvPr/>
        </p:nvSpPr>
        <p:spPr>
          <a:xfrm xmlns:a="http://schemas.openxmlformats.org/drawingml/2006/main">
            <a:off x="7429500" y="1990725"/>
            <a:ext cx="323850" cy="323850"/>
          </a:xfrm>
          <a:prstGeom xmlns:a="http://schemas.openxmlformats.org/drawingml/2006/main" prst="roundRect">
            <a:avLst>
              <a:gd name="adj" fmla="val 23529"/>
            </a:avLst>
          </a:prstGeom>
          <a:solidFill xmlns:a="http://schemas.openxmlformats.org/drawingml/2006/main">
            <a:srgbClr val="00B2BB"/>
          </a:solidFill>
          <a:ln xmlns:a="http://schemas.openxmlformats.org/drawingml/2006/main" w="0">
            <a:solidFill>
              <a:srgbClr val="00B2BB"/>
            </a:solidFill>
            <a:prstDash val="solid"/>
          </a:ln>
        </p:spPr>
      </p:sp>
      <p:sp>
        <p:nvSpPr>
          <p:cNvPr id="9" name="">
            <a:extLst xmlns:a="http://schemas.openxmlformats.org/drawingml/2006/main">
              <a:ext uri="{FF2B5EF4-FFF2-40B4-BE49-F238E27FC236}">
                <a16:creationId xmlns:a16="http://schemas.microsoft.com/office/drawing/2014/main" id="{D1C1EB78-EA96-48E6-9EAF-925B1DE4ACC8}"/>
              </a:ext>
            </a:extLst>
          </p:cNvPr>
          <p:cNvSpPr>
            <a:spLocks xmlns:a="http://schemas.openxmlformats.org/drawingml/2006/main" noGrp="1"/>
          </p:cNvSpPr>
          <p:nvPr/>
        </p:nvSpPr>
        <p:spPr>
          <a:xfrm xmlns:a="http://schemas.openxmlformats.org/drawingml/2006/main">
            <a:off x="7429500" y="1990725"/>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10" name="">
            <a:extLst xmlns:a="http://schemas.openxmlformats.org/drawingml/2006/main">
              <a:ext uri="{FF2B5EF4-FFF2-40B4-BE49-F238E27FC236}">
                <a16:creationId xmlns:a16="http://schemas.microsoft.com/office/drawing/2014/main" id="{06764989-F321-4E9B-AB21-A86DFC161085}"/>
              </a:ext>
            </a:extLst>
          </p:cNvPr>
          <p:cNvSpPr>
            <a:spLocks xmlns:a="http://schemas.openxmlformats.org/drawingml/2006/main" noGrp="1"/>
          </p:cNvSpPr>
          <p:nvPr/>
        </p:nvSpPr>
        <p:spPr>
          <a:xfrm xmlns:a="http://schemas.openxmlformats.org/drawingml/2006/main">
            <a:off x="7886700" y="1952625"/>
            <a:ext cx="3333750" cy="1022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15" b="0">
                <a:solidFill>
                  <a:srgbClr val="15232B"/>
                </a:solidFill>
              </a:defRPr>
            </a:pPr>
            <a:r>
              <a:rPr sz="1215" b="0">
                <a:solidFill>
                  <a:srgbClr val="15232B"/>
                </a:solidFill>
              </a:rPr>
              <a:t>Wo hätte die Kette unterbrochen werden können?</a:t>
            </a:r>
          </a:p>
        </p:txBody>
      </p:sp>
      <p:sp>
        <p:nvSpPr>
          <p:cNvPr id="11" name="">
            <a:extLst xmlns:a="http://schemas.openxmlformats.org/drawingml/2006/main">
              <a:ext uri="{FF2B5EF4-FFF2-40B4-BE49-F238E27FC236}">
                <a16:creationId xmlns:a16="http://schemas.microsoft.com/office/drawing/2014/main" id="{711ECDCE-FEE7-404E-A35F-9F7C4E5FD885}"/>
              </a:ext>
            </a:extLst>
          </p:cNvPr>
          <p:cNvSpPr>
            <a:spLocks xmlns:a="http://schemas.openxmlformats.org/drawingml/2006/main" noGrp="1"/>
          </p:cNvSpPr>
          <p:nvPr/>
        </p:nvSpPr>
        <p:spPr>
          <a:xfrm xmlns:a="http://schemas.openxmlformats.org/drawingml/2006/main">
            <a:off x="7429500" y="3108325"/>
            <a:ext cx="323850" cy="323850"/>
          </a:xfrm>
          <a:prstGeom xmlns:a="http://schemas.openxmlformats.org/drawingml/2006/main" prst="roundRect">
            <a:avLst>
              <a:gd name="adj" fmla="val 23529"/>
            </a:avLst>
          </a:prstGeom>
          <a:solidFill xmlns:a="http://schemas.openxmlformats.org/drawingml/2006/main">
            <a:srgbClr val="003F6B"/>
          </a:solidFill>
          <a:ln xmlns:a="http://schemas.openxmlformats.org/drawingml/2006/main" w="0">
            <a:solidFill>
              <a:srgbClr val="003F6B"/>
            </a:solidFill>
            <a:prstDash val="solid"/>
          </a:ln>
        </p:spPr>
      </p:sp>
      <p:sp>
        <p:nvSpPr>
          <p:cNvPr id="12" name="">
            <a:extLst xmlns:a="http://schemas.openxmlformats.org/drawingml/2006/main">
              <a:ext uri="{FF2B5EF4-FFF2-40B4-BE49-F238E27FC236}">
                <a16:creationId xmlns:a16="http://schemas.microsoft.com/office/drawing/2014/main" id="{793FFC82-805E-4797-8F88-5A95F0724091}"/>
              </a:ext>
            </a:extLst>
          </p:cNvPr>
          <p:cNvSpPr>
            <a:spLocks xmlns:a="http://schemas.openxmlformats.org/drawingml/2006/main" noGrp="1"/>
          </p:cNvSpPr>
          <p:nvPr/>
        </p:nvSpPr>
        <p:spPr>
          <a:xfrm xmlns:a="http://schemas.openxmlformats.org/drawingml/2006/main">
            <a:off x="7429500" y="3108325"/>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3" name="">
            <a:extLst xmlns:a="http://schemas.openxmlformats.org/drawingml/2006/main">
              <a:ext uri="{FF2B5EF4-FFF2-40B4-BE49-F238E27FC236}">
                <a16:creationId xmlns:a16="http://schemas.microsoft.com/office/drawing/2014/main" id="{986A62DE-2EA5-465C-B698-149609B4213C}"/>
              </a:ext>
            </a:extLst>
          </p:cNvPr>
          <p:cNvSpPr>
            <a:spLocks xmlns:a="http://schemas.openxmlformats.org/drawingml/2006/main" noGrp="1"/>
          </p:cNvSpPr>
          <p:nvPr/>
        </p:nvSpPr>
        <p:spPr>
          <a:xfrm xmlns:a="http://schemas.openxmlformats.org/drawingml/2006/main">
            <a:off x="7886700" y="3070225"/>
            <a:ext cx="3333750" cy="1022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15" b="0">
                <a:solidFill>
                  <a:srgbClr val="15232B"/>
                </a:solidFill>
              </a:defRPr>
            </a:pPr>
            <a:r>
              <a:rPr sz="1215" b="0">
                <a:solidFill>
                  <a:srgbClr val="15232B"/>
                </a:solidFill>
              </a:rPr>
              <a:t>Welche individuellen und welche Systemfaktoren?</a:t>
            </a:r>
          </a:p>
        </p:txBody>
      </p:sp>
      <p:sp>
        <p:nvSpPr>
          <p:cNvPr id="14" name="">
            <a:extLst xmlns:a="http://schemas.openxmlformats.org/drawingml/2006/main">
              <a:ext uri="{FF2B5EF4-FFF2-40B4-BE49-F238E27FC236}">
                <a16:creationId xmlns:a16="http://schemas.microsoft.com/office/drawing/2014/main" id="{580A80B8-A87A-4E90-AC59-DD7256280657}"/>
              </a:ext>
            </a:extLst>
          </p:cNvPr>
          <p:cNvSpPr>
            <a:spLocks xmlns:a="http://schemas.openxmlformats.org/drawingml/2006/main" noGrp="1"/>
          </p:cNvSpPr>
          <p:nvPr/>
        </p:nvSpPr>
        <p:spPr>
          <a:xfrm xmlns:a="http://schemas.openxmlformats.org/drawingml/2006/main">
            <a:off x="7429500" y="4225925"/>
            <a:ext cx="323850" cy="323850"/>
          </a:xfrm>
          <a:prstGeom xmlns:a="http://schemas.openxmlformats.org/drawingml/2006/main" prst="roundRect">
            <a:avLst>
              <a:gd name="adj" fmla="val 23529"/>
            </a:avLst>
          </a:prstGeom>
          <a:solidFill xmlns:a="http://schemas.openxmlformats.org/drawingml/2006/main">
            <a:srgbClr val="00B2BB"/>
          </a:solidFill>
          <a:ln xmlns:a="http://schemas.openxmlformats.org/drawingml/2006/main" w="0">
            <a:solidFill>
              <a:srgbClr val="00B2BB"/>
            </a:solidFill>
            <a:prstDash val="solid"/>
          </a:ln>
        </p:spPr>
      </p:sp>
      <p:sp>
        <p:nvSpPr>
          <p:cNvPr id="15" name="">
            <a:extLst xmlns:a="http://schemas.openxmlformats.org/drawingml/2006/main">
              <a:ext uri="{FF2B5EF4-FFF2-40B4-BE49-F238E27FC236}">
                <a16:creationId xmlns:a16="http://schemas.microsoft.com/office/drawing/2014/main" id="{18FC15DC-A978-4729-9F77-963A79BA75B9}"/>
              </a:ext>
            </a:extLst>
          </p:cNvPr>
          <p:cNvSpPr>
            <a:spLocks xmlns:a="http://schemas.openxmlformats.org/drawingml/2006/main" noGrp="1"/>
          </p:cNvSpPr>
          <p:nvPr/>
        </p:nvSpPr>
        <p:spPr>
          <a:xfrm xmlns:a="http://schemas.openxmlformats.org/drawingml/2006/main">
            <a:off x="7429500" y="4225925"/>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6" name="">
            <a:extLst xmlns:a="http://schemas.openxmlformats.org/drawingml/2006/main">
              <a:ext uri="{FF2B5EF4-FFF2-40B4-BE49-F238E27FC236}">
                <a16:creationId xmlns:a16="http://schemas.microsoft.com/office/drawing/2014/main" id="{3B37FA14-844E-4E9C-A10F-2C36BB1A5E53}"/>
              </a:ext>
            </a:extLst>
          </p:cNvPr>
          <p:cNvSpPr>
            <a:spLocks xmlns:a="http://schemas.openxmlformats.org/drawingml/2006/main" noGrp="1"/>
          </p:cNvSpPr>
          <p:nvPr/>
        </p:nvSpPr>
        <p:spPr>
          <a:xfrm xmlns:a="http://schemas.openxmlformats.org/drawingml/2006/main">
            <a:off x="7886700" y="4187825"/>
            <a:ext cx="3333750" cy="1022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15" b="0">
                <a:solidFill>
                  <a:srgbClr val="15232B"/>
                </a:solidFill>
              </a:defRPr>
            </a:pPr>
            <a:r>
              <a:rPr sz="1215" b="0">
                <a:solidFill>
                  <a:srgbClr val="15232B"/>
                </a:solidFill>
              </a:rPr>
              <a:t>Was passiert nach Entdeckung?</a:t>
            </a:r>
          </a:p>
        </p:txBody>
      </p:sp>
      <p:sp>
        <p:nvSpPr>
          <p:cNvPr id="17" name="">
            <a:extLst xmlns:a="http://schemas.openxmlformats.org/drawingml/2006/main">
              <a:ext uri="{FF2B5EF4-FFF2-40B4-BE49-F238E27FC236}">
                <a16:creationId xmlns:a16="http://schemas.microsoft.com/office/drawing/2014/main" id="{93899408-3442-4DAB-8C1E-4C4492353B6C}"/>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638">
                <a:solidFill>
                  <a:srgbClr val="667680"/>
                </a:solidFill>
              </a:defRPr>
            </a:pPr>
            <a:r>
              <a:rPr sz="638">
                <a:solidFill>
                  <a:srgbClr val="667680"/>
                </a:solidFill>
              </a:rPr>
              <a:t>Recht Medizinisch, Folge 1 „Betäubungsmittel“ · https://podcasts.apple.com/us/podcast/recht-medizinisch/id1896818482 · Vertiefung: BGH, Beschl. v. 11.01.2011 – 5 StR 491/10 · https://juris.bundesgerichtshof.de</a:t>
            </a:r>
          </a:p>
        </p:txBody>
      </p:sp>
      <p:sp>
        <p:nvSpPr>
          <p:cNvPr id="18" name="">
            <a:extLst xmlns:a="http://schemas.openxmlformats.org/drawingml/2006/main">
              <a:ext uri="{FF2B5EF4-FFF2-40B4-BE49-F238E27FC236}">
                <a16:creationId xmlns:a16="http://schemas.microsoft.com/office/drawing/2014/main" id="{35E03EA3-5B46-49EC-B383-C1E736D17E88}"/>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19" name="">
            <a:extLst xmlns:a="http://schemas.openxmlformats.org/drawingml/2006/main">
              <a:ext uri="{FF2B5EF4-FFF2-40B4-BE49-F238E27FC236}">
                <a16:creationId xmlns:a16="http://schemas.microsoft.com/office/drawing/2014/main" id="{81272EFF-A994-4330-BC5D-87FDA6885CCB}"/>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Die juristische Suche nach Verantwortung darf die patientensicherheitsbezogene Suche nach Ursachen nicht ersetzen.</a:t>
            </a:r>
          </a:p>
        </p:txBody>
      </p:sp>
    </p:spTree>
    <p:extLst>
      <p:ext uri="{BB962C8B-B14F-4D97-AF65-F5344CB8AC3E}">
        <p14:creationId xmlns:p14="http://schemas.microsoft.com/office/powerpoint/2010/main" val="43637646"/>
      </p:ext>
    </p:extLst>
  </p:cSld>
</p:sld>
</file>

<file path=ppt/slides/slide343.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Vom individuellen Fehler zur sicheren Barriere</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SYSTEMANALYSE</a:t>
            </a:r>
            <a:endParaRPr/>
          </a:p>
        </p:txBody>
      </p:sp>
      <p:sp>
        <p:nvSpPr>
          <p:cNvPr id="4" name="">
            <a:extLst xmlns:a="http://schemas.openxmlformats.org/drawingml/2006/main">
              <a:ext uri="{FF2B5EF4-FFF2-40B4-BE49-F238E27FC236}">
                <a16:creationId xmlns:a16="http://schemas.microsoft.com/office/drawing/2014/main" id="{FC3D5658-A147-4487-97EA-D92A81B7AA62}"/>
              </a:ext>
            </a:extLst>
          </p:cNvPr>
          <p:cNvSpPr>
            <a:spLocks xmlns:a="http://schemas.openxmlformats.org/drawingml/2006/main" noGrp="1"/>
          </p:cNvSpPr>
          <p:nvPr/>
        </p:nvSpPr>
        <p:spPr>
          <a:xfrm xmlns:a="http://schemas.openxmlformats.org/drawingml/2006/main">
            <a:off x="1809750" y="1952625"/>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1ABEAA31-F7A7-40D3-B6EA-19975E6C9E43}"/>
              </a:ext>
            </a:extLst>
          </p:cNvPr>
          <p:cNvSpPr>
            <a:spLocks xmlns:a="http://schemas.openxmlformats.org/drawingml/2006/main" noGrp="1"/>
          </p:cNvSpPr>
          <p:nvPr/>
        </p:nvSpPr>
        <p:spPr>
          <a:xfrm xmlns:a="http://schemas.openxmlformats.org/drawingml/2006/main">
            <a:off x="1809750" y="1952625"/>
            <a:ext cx="30734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59C05412-DBFF-416E-ADBA-BE0BA1F3DAB0}"/>
              </a:ext>
            </a:extLst>
          </p:cNvPr>
          <p:cNvSpPr>
            <a:spLocks xmlns:a="http://schemas.openxmlformats.org/drawingml/2006/main" noGrp="1"/>
          </p:cNvSpPr>
          <p:nvPr/>
        </p:nvSpPr>
        <p:spPr>
          <a:xfrm xmlns:a="http://schemas.openxmlformats.org/drawingml/2006/main">
            <a:off x="1962150" y="2085975"/>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Verordnung</a:t>
            </a:r>
          </a:p>
        </p:txBody>
      </p:sp>
      <p:sp>
        <p:nvSpPr>
          <p:cNvPr id="7" name="">
            <a:extLst xmlns:a="http://schemas.openxmlformats.org/drawingml/2006/main">
              <a:ext uri="{FF2B5EF4-FFF2-40B4-BE49-F238E27FC236}">
                <a16:creationId xmlns:a16="http://schemas.microsoft.com/office/drawing/2014/main" id="{831408F0-9D9D-44A8-8524-B7ECEBC6AC36}"/>
              </a:ext>
            </a:extLst>
          </p:cNvPr>
          <p:cNvSpPr>
            <a:spLocks xmlns:a="http://schemas.openxmlformats.org/drawingml/2006/main" noGrp="1"/>
          </p:cNvSpPr>
          <p:nvPr/>
        </p:nvSpPr>
        <p:spPr>
          <a:xfrm xmlns:a="http://schemas.openxmlformats.org/drawingml/2006/main">
            <a:off x="1962150" y="2524125"/>
            <a:ext cx="27686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Einheit, Indikation, Dosis unklar</a:t>
            </a:r>
          </a:p>
        </p:txBody>
      </p:sp>
      <p:sp>
        <p:nvSpPr>
          <p:cNvPr id="8" name="">
            <a:extLst xmlns:a="http://schemas.openxmlformats.org/drawingml/2006/main">
              <a:ext uri="{FF2B5EF4-FFF2-40B4-BE49-F238E27FC236}">
                <a16:creationId xmlns:a16="http://schemas.microsoft.com/office/drawing/2014/main" id="{37CBA2F6-E601-4111-8557-DAFEB86DC576}"/>
              </a:ext>
            </a:extLst>
          </p:cNvPr>
          <p:cNvSpPr>
            <a:spLocks xmlns:a="http://schemas.openxmlformats.org/drawingml/2006/main" noGrp="1"/>
          </p:cNvSpPr>
          <p:nvPr/>
        </p:nvSpPr>
        <p:spPr>
          <a:xfrm xmlns:a="http://schemas.openxmlformats.org/drawingml/2006/main">
            <a:off x="5035550" y="1952625"/>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9" name="">
            <a:extLst xmlns:a="http://schemas.openxmlformats.org/drawingml/2006/main">
              <a:ext uri="{FF2B5EF4-FFF2-40B4-BE49-F238E27FC236}">
                <a16:creationId xmlns:a16="http://schemas.microsoft.com/office/drawing/2014/main" id="{628FF229-63BF-4AF4-90B5-586BC7EFD473}"/>
              </a:ext>
            </a:extLst>
          </p:cNvPr>
          <p:cNvSpPr>
            <a:spLocks xmlns:a="http://schemas.openxmlformats.org/drawingml/2006/main" noGrp="1"/>
          </p:cNvSpPr>
          <p:nvPr/>
        </p:nvSpPr>
        <p:spPr>
          <a:xfrm xmlns:a="http://schemas.openxmlformats.org/drawingml/2006/main">
            <a:off x="5035550" y="1952625"/>
            <a:ext cx="307340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26F8A824-138F-4A77-AC3A-6A37C155F8BC}"/>
              </a:ext>
            </a:extLst>
          </p:cNvPr>
          <p:cNvSpPr>
            <a:spLocks xmlns:a="http://schemas.openxmlformats.org/drawingml/2006/main" noGrp="1"/>
          </p:cNvSpPr>
          <p:nvPr/>
        </p:nvSpPr>
        <p:spPr>
          <a:xfrm xmlns:a="http://schemas.openxmlformats.org/drawingml/2006/main">
            <a:off x="5187950" y="2085975"/>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Bereitstellung</a:t>
            </a:r>
          </a:p>
        </p:txBody>
      </p:sp>
      <p:sp>
        <p:nvSpPr>
          <p:cNvPr id="11" name="">
            <a:extLst xmlns:a="http://schemas.openxmlformats.org/drawingml/2006/main">
              <a:ext uri="{FF2B5EF4-FFF2-40B4-BE49-F238E27FC236}">
                <a16:creationId xmlns:a16="http://schemas.microsoft.com/office/drawing/2014/main" id="{DD020707-6686-4E19-A413-DA4423774536}"/>
              </a:ext>
            </a:extLst>
          </p:cNvPr>
          <p:cNvSpPr>
            <a:spLocks xmlns:a="http://schemas.openxmlformats.org/drawingml/2006/main" noGrp="1"/>
          </p:cNvSpPr>
          <p:nvPr/>
        </p:nvSpPr>
        <p:spPr>
          <a:xfrm xmlns:a="http://schemas.openxmlformats.org/drawingml/2006/main">
            <a:off x="5187950" y="2524125"/>
            <a:ext cx="27686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Look-alike / Sound-alike, Lagerung</a:t>
            </a:r>
          </a:p>
        </p:txBody>
      </p:sp>
      <p:sp>
        <p:nvSpPr>
          <p:cNvPr id="12" name="">
            <a:extLst xmlns:a="http://schemas.openxmlformats.org/drawingml/2006/main">
              <a:ext uri="{FF2B5EF4-FFF2-40B4-BE49-F238E27FC236}">
                <a16:creationId xmlns:a16="http://schemas.microsoft.com/office/drawing/2014/main" id="{1C7409CB-97B3-46BB-AF58-FAE73625CA13}"/>
              </a:ext>
            </a:extLst>
          </p:cNvPr>
          <p:cNvSpPr>
            <a:spLocks xmlns:a="http://schemas.openxmlformats.org/drawingml/2006/main" noGrp="1"/>
          </p:cNvSpPr>
          <p:nvPr/>
        </p:nvSpPr>
        <p:spPr>
          <a:xfrm xmlns:a="http://schemas.openxmlformats.org/drawingml/2006/main">
            <a:off x="8261350" y="1952625"/>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13" name="">
            <a:extLst xmlns:a="http://schemas.openxmlformats.org/drawingml/2006/main">
              <a:ext uri="{FF2B5EF4-FFF2-40B4-BE49-F238E27FC236}">
                <a16:creationId xmlns:a16="http://schemas.microsoft.com/office/drawing/2014/main" id="{A5EA9C8D-4F30-4903-B7B9-962E874BCFFE}"/>
              </a:ext>
            </a:extLst>
          </p:cNvPr>
          <p:cNvSpPr>
            <a:spLocks xmlns:a="http://schemas.openxmlformats.org/drawingml/2006/main" noGrp="1"/>
          </p:cNvSpPr>
          <p:nvPr/>
        </p:nvSpPr>
        <p:spPr>
          <a:xfrm xmlns:a="http://schemas.openxmlformats.org/drawingml/2006/main">
            <a:off x="8261350" y="1952625"/>
            <a:ext cx="30734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2F4A64EF-F0FA-4099-8134-579D947F8D4E}"/>
              </a:ext>
            </a:extLst>
          </p:cNvPr>
          <p:cNvSpPr>
            <a:spLocks xmlns:a="http://schemas.openxmlformats.org/drawingml/2006/main" noGrp="1"/>
          </p:cNvSpPr>
          <p:nvPr/>
        </p:nvSpPr>
        <p:spPr>
          <a:xfrm xmlns:a="http://schemas.openxmlformats.org/drawingml/2006/main">
            <a:off x="8413750" y="2085975"/>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Gabe</a:t>
            </a:r>
          </a:p>
        </p:txBody>
      </p:sp>
      <p:sp>
        <p:nvSpPr>
          <p:cNvPr id="15" name="">
            <a:extLst xmlns:a="http://schemas.openxmlformats.org/drawingml/2006/main">
              <a:ext uri="{FF2B5EF4-FFF2-40B4-BE49-F238E27FC236}">
                <a16:creationId xmlns:a16="http://schemas.microsoft.com/office/drawing/2014/main" id="{9054B38B-D2FE-4FEE-AC48-4226F906FF9C}"/>
              </a:ext>
            </a:extLst>
          </p:cNvPr>
          <p:cNvSpPr>
            <a:spLocks xmlns:a="http://schemas.openxmlformats.org/drawingml/2006/main" noGrp="1"/>
          </p:cNvSpPr>
          <p:nvPr/>
        </p:nvSpPr>
        <p:spPr>
          <a:xfrm xmlns:a="http://schemas.openxmlformats.org/drawingml/2006/main">
            <a:off x="8413750" y="2524125"/>
            <a:ext cx="27686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Unterbrechung, Doppelkontrolle fehlt</a:t>
            </a:r>
          </a:p>
        </p:txBody>
      </p:sp>
      <p:sp>
        <p:nvSpPr>
          <p:cNvPr id="16" name="">
            <a:extLst xmlns:a="http://schemas.openxmlformats.org/drawingml/2006/main">
              <a:ext uri="{FF2B5EF4-FFF2-40B4-BE49-F238E27FC236}">
                <a16:creationId xmlns:a16="http://schemas.microsoft.com/office/drawing/2014/main" id="{3FBD808F-FFEF-458C-A354-75A8A937E917}"/>
              </a:ext>
            </a:extLst>
          </p:cNvPr>
          <p:cNvSpPr>
            <a:spLocks xmlns:a="http://schemas.openxmlformats.org/drawingml/2006/main" noGrp="1"/>
          </p:cNvSpPr>
          <p:nvPr/>
        </p:nvSpPr>
        <p:spPr>
          <a:xfrm xmlns:a="http://schemas.openxmlformats.org/drawingml/2006/main">
            <a:off x="1809750" y="3767138"/>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17" name="">
            <a:extLst xmlns:a="http://schemas.openxmlformats.org/drawingml/2006/main">
              <a:ext uri="{FF2B5EF4-FFF2-40B4-BE49-F238E27FC236}">
                <a16:creationId xmlns:a16="http://schemas.microsoft.com/office/drawing/2014/main" id="{CD1237A2-D6BD-427A-973D-C5A05AC16699}"/>
              </a:ext>
            </a:extLst>
          </p:cNvPr>
          <p:cNvSpPr>
            <a:spLocks xmlns:a="http://schemas.openxmlformats.org/drawingml/2006/main" noGrp="1"/>
          </p:cNvSpPr>
          <p:nvPr/>
        </p:nvSpPr>
        <p:spPr>
          <a:xfrm xmlns:a="http://schemas.openxmlformats.org/drawingml/2006/main">
            <a:off x="1809750" y="3767138"/>
            <a:ext cx="307340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0BDEFD10-E71C-4FA3-816A-B534AEC14669}"/>
              </a:ext>
            </a:extLst>
          </p:cNvPr>
          <p:cNvSpPr>
            <a:spLocks xmlns:a="http://schemas.openxmlformats.org/drawingml/2006/main" noGrp="1"/>
          </p:cNvSpPr>
          <p:nvPr/>
        </p:nvSpPr>
        <p:spPr>
          <a:xfrm xmlns:a="http://schemas.openxmlformats.org/drawingml/2006/main">
            <a:off x="1962150" y="3900488"/>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Dokumentation</a:t>
            </a:r>
          </a:p>
        </p:txBody>
      </p:sp>
      <p:sp>
        <p:nvSpPr>
          <p:cNvPr id="19" name="">
            <a:extLst xmlns:a="http://schemas.openxmlformats.org/drawingml/2006/main">
              <a:ext uri="{FF2B5EF4-FFF2-40B4-BE49-F238E27FC236}">
                <a16:creationId xmlns:a16="http://schemas.microsoft.com/office/drawing/2014/main" id="{67B28AEA-CC68-4B9D-9451-7351703FB0AE}"/>
              </a:ext>
            </a:extLst>
          </p:cNvPr>
          <p:cNvSpPr>
            <a:spLocks xmlns:a="http://schemas.openxmlformats.org/drawingml/2006/main" noGrp="1"/>
          </p:cNvSpPr>
          <p:nvPr/>
        </p:nvSpPr>
        <p:spPr>
          <a:xfrm xmlns:a="http://schemas.openxmlformats.org/drawingml/2006/main">
            <a:off x="1962150" y="4338638"/>
            <a:ext cx="27686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vorzeitig, unvollständig, nicht sichtbar</a:t>
            </a:r>
          </a:p>
        </p:txBody>
      </p:sp>
      <p:sp>
        <p:nvSpPr>
          <p:cNvPr id="20" name="">
            <a:extLst xmlns:a="http://schemas.openxmlformats.org/drawingml/2006/main">
              <a:ext uri="{FF2B5EF4-FFF2-40B4-BE49-F238E27FC236}">
                <a16:creationId xmlns:a16="http://schemas.microsoft.com/office/drawing/2014/main" id="{AD93B79B-770B-4F84-8EC1-6CBC35D69BDA}"/>
              </a:ext>
            </a:extLst>
          </p:cNvPr>
          <p:cNvSpPr>
            <a:spLocks xmlns:a="http://schemas.openxmlformats.org/drawingml/2006/main" noGrp="1"/>
          </p:cNvSpPr>
          <p:nvPr/>
        </p:nvSpPr>
        <p:spPr>
          <a:xfrm xmlns:a="http://schemas.openxmlformats.org/drawingml/2006/main">
            <a:off x="5035550" y="3767138"/>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21" name="">
            <a:extLst xmlns:a="http://schemas.openxmlformats.org/drawingml/2006/main">
              <a:ext uri="{FF2B5EF4-FFF2-40B4-BE49-F238E27FC236}">
                <a16:creationId xmlns:a16="http://schemas.microsoft.com/office/drawing/2014/main" id="{4774364A-B880-4129-830C-6C0496A4EBBC}"/>
              </a:ext>
            </a:extLst>
          </p:cNvPr>
          <p:cNvSpPr>
            <a:spLocks xmlns:a="http://schemas.openxmlformats.org/drawingml/2006/main" noGrp="1"/>
          </p:cNvSpPr>
          <p:nvPr/>
        </p:nvSpPr>
        <p:spPr>
          <a:xfrm xmlns:a="http://schemas.openxmlformats.org/drawingml/2006/main">
            <a:off x="5035550" y="3767138"/>
            <a:ext cx="30734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22" name="">
            <a:extLst xmlns:a="http://schemas.openxmlformats.org/drawingml/2006/main">
              <a:ext uri="{FF2B5EF4-FFF2-40B4-BE49-F238E27FC236}">
                <a16:creationId xmlns:a16="http://schemas.microsoft.com/office/drawing/2014/main" id="{5BC1AFFC-7FFF-4B32-8A8E-8CC2023116FB}"/>
              </a:ext>
            </a:extLst>
          </p:cNvPr>
          <p:cNvSpPr>
            <a:spLocks xmlns:a="http://schemas.openxmlformats.org/drawingml/2006/main" noGrp="1"/>
          </p:cNvSpPr>
          <p:nvPr/>
        </p:nvSpPr>
        <p:spPr>
          <a:xfrm xmlns:a="http://schemas.openxmlformats.org/drawingml/2006/main">
            <a:off x="5187950" y="3900488"/>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Monitoring</a:t>
            </a:r>
          </a:p>
        </p:txBody>
      </p:sp>
      <p:sp>
        <p:nvSpPr>
          <p:cNvPr id="23" name="">
            <a:extLst xmlns:a="http://schemas.openxmlformats.org/drawingml/2006/main">
              <a:ext uri="{FF2B5EF4-FFF2-40B4-BE49-F238E27FC236}">
                <a16:creationId xmlns:a16="http://schemas.microsoft.com/office/drawing/2014/main" id="{5EA8A37B-485A-46C8-A504-8F0F8A563AE5}"/>
              </a:ext>
            </a:extLst>
          </p:cNvPr>
          <p:cNvSpPr>
            <a:spLocks xmlns:a="http://schemas.openxmlformats.org/drawingml/2006/main" noGrp="1"/>
          </p:cNvSpPr>
          <p:nvPr/>
        </p:nvSpPr>
        <p:spPr>
          <a:xfrm xmlns:a="http://schemas.openxmlformats.org/drawingml/2006/main">
            <a:off x="5187950" y="4338638"/>
            <a:ext cx="27686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Wirkung / Nebenwirkung nicht erkannt</a:t>
            </a:r>
          </a:p>
        </p:txBody>
      </p:sp>
      <p:sp>
        <p:nvSpPr>
          <p:cNvPr id="24" name="">
            <a:extLst xmlns:a="http://schemas.openxmlformats.org/drawingml/2006/main">
              <a:ext uri="{FF2B5EF4-FFF2-40B4-BE49-F238E27FC236}">
                <a16:creationId xmlns:a16="http://schemas.microsoft.com/office/drawing/2014/main" id="{4F28C54B-EE2F-4E46-B841-BC79F0114768}"/>
              </a:ext>
            </a:extLst>
          </p:cNvPr>
          <p:cNvSpPr>
            <a:spLocks xmlns:a="http://schemas.openxmlformats.org/drawingml/2006/main" noGrp="1"/>
          </p:cNvSpPr>
          <p:nvPr/>
        </p:nvSpPr>
        <p:spPr>
          <a:xfrm xmlns:a="http://schemas.openxmlformats.org/drawingml/2006/main">
            <a:off x="8261350" y="3767138"/>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25" name="">
            <a:extLst xmlns:a="http://schemas.openxmlformats.org/drawingml/2006/main">
              <a:ext uri="{FF2B5EF4-FFF2-40B4-BE49-F238E27FC236}">
                <a16:creationId xmlns:a16="http://schemas.microsoft.com/office/drawing/2014/main" id="{3DD8B310-1E5B-49AB-A612-6857D9D5BA1D}"/>
              </a:ext>
            </a:extLst>
          </p:cNvPr>
          <p:cNvSpPr>
            <a:spLocks xmlns:a="http://schemas.openxmlformats.org/drawingml/2006/main" noGrp="1"/>
          </p:cNvSpPr>
          <p:nvPr/>
        </p:nvSpPr>
        <p:spPr>
          <a:xfrm xmlns:a="http://schemas.openxmlformats.org/drawingml/2006/main">
            <a:off x="8261350" y="3767138"/>
            <a:ext cx="307340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26" name="">
            <a:extLst xmlns:a="http://schemas.openxmlformats.org/drawingml/2006/main">
              <a:ext uri="{FF2B5EF4-FFF2-40B4-BE49-F238E27FC236}">
                <a16:creationId xmlns:a16="http://schemas.microsoft.com/office/drawing/2014/main" id="{1F30E5CA-F251-46EC-8EFB-C399C816AFA8}"/>
              </a:ext>
            </a:extLst>
          </p:cNvPr>
          <p:cNvSpPr>
            <a:spLocks xmlns:a="http://schemas.openxmlformats.org/drawingml/2006/main" noGrp="1"/>
          </p:cNvSpPr>
          <p:nvPr/>
        </p:nvSpPr>
        <p:spPr>
          <a:xfrm xmlns:a="http://schemas.openxmlformats.org/drawingml/2006/main">
            <a:off x="8413750" y="3900488"/>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Robuste Barrieren</a:t>
            </a:r>
          </a:p>
        </p:txBody>
      </p:sp>
      <p:sp>
        <p:nvSpPr>
          <p:cNvPr id="27" name="">
            <a:extLst xmlns:a="http://schemas.openxmlformats.org/drawingml/2006/main">
              <a:ext uri="{FF2B5EF4-FFF2-40B4-BE49-F238E27FC236}">
                <a16:creationId xmlns:a16="http://schemas.microsoft.com/office/drawing/2014/main" id="{E91E96C0-900A-420F-B87D-2F208B51FC06}"/>
              </a:ext>
            </a:extLst>
          </p:cNvPr>
          <p:cNvSpPr>
            <a:spLocks xmlns:a="http://schemas.openxmlformats.org/drawingml/2006/main" noGrp="1"/>
          </p:cNvSpPr>
          <p:nvPr/>
        </p:nvSpPr>
        <p:spPr>
          <a:xfrm xmlns:a="http://schemas.openxmlformats.org/drawingml/2006/main">
            <a:off x="8413750" y="4338638"/>
            <a:ext cx="27686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Plausibilitätsfrage · closed-loop communication · Barcode / Identitätscheck · Vier-Augen-Prinzip risikoadaptiert · Stop-the-line-Kultur</a:t>
            </a:r>
          </a:p>
        </p:txBody>
      </p:sp>
      <p:sp>
        <p:nvSpPr>
          <p:cNvPr id="28" name="">
            <a:extLst xmlns:a="http://schemas.openxmlformats.org/drawingml/2006/main">
              <a:ext uri="{FF2B5EF4-FFF2-40B4-BE49-F238E27FC236}">
                <a16:creationId xmlns:a16="http://schemas.microsoft.com/office/drawing/2014/main" id="{2358E44F-DBA2-4D10-B70C-26814F9D92CA}"/>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9" name="">
            <a:extLst xmlns:a="http://schemas.openxmlformats.org/drawingml/2006/main">
              <a:ext uri="{FF2B5EF4-FFF2-40B4-BE49-F238E27FC236}">
                <a16:creationId xmlns:a16="http://schemas.microsoft.com/office/drawing/2014/main" id="{EC37F48C-373A-44EF-91C7-D93EE4A25B66}"/>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Verantwortung bleibt persönlich; Sicherheit entsteht zusätzlich durch robuste Systeme.</a:t>
            </a:r>
          </a:p>
        </p:txBody>
      </p:sp>
    </p:spTree>
    <p:extLst>
      <p:ext uri="{BB962C8B-B14F-4D97-AF65-F5344CB8AC3E}">
        <p14:creationId xmlns:p14="http://schemas.microsoft.com/office/powerpoint/2010/main" val="43637646"/>
      </p:ext>
    </p:extLst>
  </p:cSld>
</p:sld>
</file>

<file path=ppt/slides/slide344.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BtM: Therapie plus besondere Dokumentation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PRAXIS</a:t>
            </a:r>
            <a:endParaRPr/>
          </a:p>
        </p:txBody>
      </p:sp>
      <p:sp>
        <p:nvSpPr>
          <p:cNvPr id="4" name="">
            <a:extLst xmlns:a="http://schemas.openxmlformats.org/drawingml/2006/main">
              <a:ext uri="{FF2B5EF4-FFF2-40B4-BE49-F238E27FC236}">
                <a16:creationId xmlns:a16="http://schemas.microsoft.com/office/drawing/2014/main" id="{8DA2A0FA-164E-42FD-9218-7DEFCA3AF589}"/>
              </a:ext>
            </a:extLst>
          </p:cNvPr>
          <p:cNvSpPr>
            <a:spLocks xmlns:a="http://schemas.openxmlformats.org/drawingml/2006/main" noGrp="1"/>
          </p:cNvSpPr>
          <p:nvPr/>
        </p:nvSpPr>
        <p:spPr>
          <a:xfrm xmlns:a="http://schemas.openxmlformats.org/drawingml/2006/main">
            <a:off x="1809750" y="1952625"/>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B1029E73-F868-4852-A649-CFADEB82A96D}"/>
              </a:ext>
            </a:extLst>
          </p:cNvPr>
          <p:cNvSpPr>
            <a:spLocks xmlns:a="http://schemas.openxmlformats.org/drawingml/2006/main" noGrp="1"/>
          </p:cNvSpPr>
          <p:nvPr/>
        </p:nvSpPr>
        <p:spPr>
          <a:xfrm xmlns:a="http://schemas.openxmlformats.org/drawingml/2006/main">
            <a:off x="1809750" y="1952625"/>
            <a:ext cx="30734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5351F7F3-2800-48B2-8070-2544524358B2}"/>
              </a:ext>
            </a:extLst>
          </p:cNvPr>
          <p:cNvSpPr>
            <a:spLocks xmlns:a="http://schemas.openxmlformats.org/drawingml/2006/main" noGrp="1"/>
          </p:cNvSpPr>
          <p:nvPr/>
        </p:nvSpPr>
        <p:spPr>
          <a:xfrm xmlns:a="http://schemas.openxmlformats.org/drawingml/2006/main">
            <a:off x="1962150" y="2085975"/>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richtige ärztliche Verschreibung / Anordnung</a:t>
            </a:r>
          </a:p>
        </p:txBody>
      </p:sp>
      <p:sp>
        <p:nvSpPr>
          <p:cNvPr id="7" name="">
            <a:extLst xmlns:a="http://schemas.openxmlformats.org/drawingml/2006/main">
              <a:ext uri="{FF2B5EF4-FFF2-40B4-BE49-F238E27FC236}">
                <a16:creationId xmlns:a16="http://schemas.microsoft.com/office/drawing/2014/main" id="{5A0E037C-AED4-4723-AD2C-6E988ADC265C}"/>
              </a:ext>
            </a:extLst>
          </p:cNvPr>
          <p:cNvSpPr>
            <a:spLocks xmlns:a="http://schemas.openxmlformats.org/drawingml/2006/main" noGrp="1"/>
          </p:cNvSpPr>
          <p:nvPr/>
        </p:nvSpPr>
        <p:spPr>
          <a:xfrm xmlns:a="http://schemas.openxmlformats.org/drawingml/2006/main">
            <a:off x="5035550" y="1952625"/>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8" name="">
            <a:extLst xmlns:a="http://schemas.openxmlformats.org/drawingml/2006/main">
              <a:ext uri="{FF2B5EF4-FFF2-40B4-BE49-F238E27FC236}">
                <a16:creationId xmlns:a16="http://schemas.microsoft.com/office/drawing/2014/main" id="{B6AC4ED5-5338-4F5F-97FB-EEC6AE2CFC21}"/>
              </a:ext>
            </a:extLst>
          </p:cNvPr>
          <p:cNvSpPr>
            <a:spLocks xmlns:a="http://schemas.openxmlformats.org/drawingml/2006/main" noGrp="1"/>
          </p:cNvSpPr>
          <p:nvPr/>
        </p:nvSpPr>
        <p:spPr>
          <a:xfrm xmlns:a="http://schemas.openxmlformats.org/drawingml/2006/main">
            <a:off x="5035550" y="1952625"/>
            <a:ext cx="307340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9" name="">
            <a:extLst xmlns:a="http://schemas.openxmlformats.org/drawingml/2006/main">
              <a:ext uri="{FF2B5EF4-FFF2-40B4-BE49-F238E27FC236}">
                <a16:creationId xmlns:a16="http://schemas.microsoft.com/office/drawing/2014/main" id="{A32F48F3-4D2A-4B6F-9F58-B4774EE55EDA}"/>
              </a:ext>
            </a:extLst>
          </p:cNvPr>
          <p:cNvSpPr>
            <a:spLocks xmlns:a="http://schemas.openxmlformats.org/drawingml/2006/main" noGrp="1"/>
          </p:cNvSpPr>
          <p:nvPr/>
        </p:nvSpPr>
        <p:spPr>
          <a:xfrm xmlns:a="http://schemas.openxmlformats.org/drawingml/2006/main">
            <a:off x="5187950" y="2085975"/>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sichere Aufbewahrung und Zugriff</a:t>
            </a:r>
          </a:p>
        </p:txBody>
      </p:sp>
      <p:sp>
        <p:nvSpPr>
          <p:cNvPr id="10" name="">
            <a:extLst xmlns:a="http://schemas.openxmlformats.org/drawingml/2006/main">
              <a:ext uri="{FF2B5EF4-FFF2-40B4-BE49-F238E27FC236}">
                <a16:creationId xmlns:a16="http://schemas.microsoft.com/office/drawing/2014/main" id="{DDEF18A6-522D-4796-82C1-8F84E9227677}"/>
              </a:ext>
            </a:extLst>
          </p:cNvPr>
          <p:cNvSpPr>
            <a:spLocks xmlns:a="http://schemas.openxmlformats.org/drawingml/2006/main" noGrp="1"/>
          </p:cNvSpPr>
          <p:nvPr/>
        </p:nvSpPr>
        <p:spPr>
          <a:xfrm xmlns:a="http://schemas.openxmlformats.org/drawingml/2006/main">
            <a:off x="8261350" y="1952625"/>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11" name="">
            <a:extLst xmlns:a="http://schemas.openxmlformats.org/drawingml/2006/main">
              <a:ext uri="{FF2B5EF4-FFF2-40B4-BE49-F238E27FC236}">
                <a16:creationId xmlns:a16="http://schemas.microsoft.com/office/drawing/2014/main" id="{B1AB5CC2-F215-45B2-A7A2-1E2A85389EBD}"/>
              </a:ext>
            </a:extLst>
          </p:cNvPr>
          <p:cNvSpPr>
            <a:spLocks xmlns:a="http://schemas.openxmlformats.org/drawingml/2006/main" noGrp="1"/>
          </p:cNvSpPr>
          <p:nvPr/>
        </p:nvSpPr>
        <p:spPr>
          <a:xfrm xmlns:a="http://schemas.openxmlformats.org/drawingml/2006/main">
            <a:off x="8261350" y="1952625"/>
            <a:ext cx="30734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12" name="">
            <a:extLst xmlns:a="http://schemas.openxmlformats.org/drawingml/2006/main">
              <a:ext uri="{FF2B5EF4-FFF2-40B4-BE49-F238E27FC236}">
                <a16:creationId xmlns:a16="http://schemas.microsoft.com/office/drawing/2014/main" id="{939B81FA-BCD1-4E08-9889-943088AEBCA0}"/>
              </a:ext>
            </a:extLst>
          </p:cNvPr>
          <p:cNvSpPr>
            <a:spLocks xmlns:a="http://schemas.openxmlformats.org/drawingml/2006/main" noGrp="1"/>
          </p:cNvSpPr>
          <p:nvPr/>
        </p:nvSpPr>
        <p:spPr>
          <a:xfrm xmlns:a="http://schemas.openxmlformats.org/drawingml/2006/main">
            <a:off x="8413750" y="2085975"/>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Bestands- und Verbleibsdokumentation</a:t>
            </a:r>
          </a:p>
        </p:txBody>
      </p:sp>
      <p:sp>
        <p:nvSpPr>
          <p:cNvPr id="13" name="">
            <a:extLst xmlns:a="http://schemas.openxmlformats.org/drawingml/2006/main">
              <a:ext uri="{FF2B5EF4-FFF2-40B4-BE49-F238E27FC236}">
                <a16:creationId xmlns:a16="http://schemas.microsoft.com/office/drawing/2014/main" id="{049CC1B4-F735-4633-98BD-941E33FFEC72}"/>
              </a:ext>
            </a:extLst>
          </p:cNvPr>
          <p:cNvSpPr>
            <a:spLocks xmlns:a="http://schemas.openxmlformats.org/drawingml/2006/main" noGrp="1"/>
          </p:cNvSpPr>
          <p:nvPr/>
        </p:nvSpPr>
        <p:spPr>
          <a:xfrm xmlns:a="http://schemas.openxmlformats.org/drawingml/2006/main">
            <a:off x="1809750" y="3767138"/>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14" name="">
            <a:extLst xmlns:a="http://schemas.openxmlformats.org/drawingml/2006/main">
              <a:ext uri="{FF2B5EF4-FFF2-40B4-BE49-F238E27FC236}">
                <a16:creationId xmlns:a16="http://schemas.microsoft.com/office/drawing/2014/main" id="{67315416-1C91-4285-8F26-3164A8F94E89}"/>
              </a:ext>
            </a:extLst>
          </p:cNvPr>
          <p:cNvSpPr>
            <a:spLocks xmlns:a="http://schemas.openxmlformats.org/drawingml/2006/main" noGrp="1"/>
          </p:cNvSpPr>
          <p:nvPr/>
        </p:nvSpPr>
        <p:spPr>
          <a:xfrm xmlns:a="http://schemas.openxmlformats.org/drawingml/2006/main">
            <a:off x="1809750" y="3767138"/>
            <a:ext cx="307340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5" name="">
            <a:extLst xmlns:a="http://schemas.openxmlformats.org/drawingml/2006/main">
              <a:ext uri="{FF2B5EF4-FFF2-40B4-BE49-F238E27FC236}">
                <a16:creationId xmlns:a16="http://schemas.microsoft.com/office/drawing/2014/main" id="{4DE5A6E4-F51E-4541-BEA2-F1076925497E}"/>
              </a:ext>
            </a:extLst>
          </p:cNvPr>
          <p:cNvSpPr>
            <a:spLocks xmlns:a="http://schemas.openxmlformats.org/drawingml/2006/main" noGrp="1"/>
          </p:cNvSpPr>
          <p:nvPr/>
        </p:nvSpPr>
        <p:spPr>
          <a:xfrm xmlns:a="http://schemas.openxmlformats.org/drawingml/2006/main">
            <a:off x="1962150" y="3900488"/>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Plausibilitätskontrolle bei Gabe</a:t>
            </a:r>
          </a:p>
        </p:txBody>
      </p:sp>
      <p:sp>
        <p:nvSpPr>
          <p:cNvPr id="16" name="">
            <a:extLst xmlns:a="http://schemas.openxmlformats.org/drawingml/2006/main">
              <a:ext uri="{FF2B5EF4-FFF2-40B4-BE49-F238E27FC236}">
                <a16:creationId xmlns:a16="http://schemas.microsoft.com/office/drawing/2014/main" id="{59172F3E-963E-4FE3-A8AE-295AFD1D31C8}"/>
              </a:ext>
            </a:extLst>
          </p:cNvPr>
          <p:cNvSpPr>
            <a:spLocks xmlns:a="http://schemas.openxmlformats.org/drawingml/2006/main" noGrp="1"/>
          </p:cNvSpPr>
          <p:nvPr/>
        </p:nvSpPr>
        <p:spPr>
          <a:xfrm xmlns:a="http://schemas.openxmlformats.org/drawingml/2006/main">
            <a:off x="5035550" y="3767138"/>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17" name="">
            <a:extLst xmlns:a="http://schemas.openxmlformats.org/drawingml/2006/main">
              <a:ext uri="{FF2B5EF4-FFF2-40B4-BE49-F238E27FC236}">
                <a16:creationId xmlns:a16="http://schemas.microsoft.com/office/drawing/2014/main" id="{C2A29F74-3DC1-476D-AB11-0EFEA4133455}"/>
              </a:ext>
            </a:extLst>
          </p:cNvPr>
          <p:cNvSpPr>
            <a:spLocks xmlns:a="http://schemas.openxmlformats.org/drawingml/2006/main" noGrp="1"/>
          </p:cNvSpPr>
          <p:nvPr/>
        </p:nvSpPr>
        <p:spPr>
          <a:xfrm xmlns:a="http://schemas.openxmlformats.org/drawingml/2006/main">
            <a:off x="5035550" y="3767138"/>
            <a:ext cx="30734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18" name="">
            <a:extLst xmlns:a="http://schemas.openxmlformats.org/drawingml/2006/main">
              <a:ext uri="{FF2B5EF4-FFF2-40B4-BE49-F238E27FC236}">
                <a16:creationId xmlns:a16="http://schemas.microsoft.com/office/drawing/2014/main" id="{D7ACCE5A-EAAC-4266-873E-B9B6A1A041E2}"/>
              </a:ext>
            </a:extLst>
          </p:cNvPr>
          <p:cNvSpPr>
            <a:spLocks xmlns:a="http://schemas.openxmlformats.org/drawingml/2006/main" noGrp="1"/>
          </p:cNvSpPr>
          <p:nvPr/>
        </p:nvSpPr>
        <p:spPr>
          <a:xfrm xmlns:a="http://schemas.openxmlformats.org/drawingml/2006/main">
            <a:off x="5187950" y="3900488"/>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Abweichung sofort klinisch und organisatorisch eskalieren</a:t>
            </a:r>
          </a:p>
        </p:txBody>
      </p:sp>
      <p:sp>
        <p:nvSpPr>
          <p:cNvPr id="19" name="">
            <a:extLst xmlns:a="http://schemas.openxmlformats.org/drawingml/2006/main">
              <a:ext uri="{FF2B5EF4-FFF2-40B4-BE49-F238E27FC236}">
                <a16:creationId xmlns:a16="http://schemas.microsoft.com/office/drawing/2014/main" id="{947DC82B-B072-4B40-9686-3CF43B9C9704}"/>
              </a:ext>
            </a:extLst>
          </p:cNvPr>
          <p:cNvSpPr>
            <a:spLocks xmlns:a="http://schemas.openxmlformats.org/drawingml/2006/main" noGrp="1"/>
          </p:cNvSpPr>
          <p:nvPr/>
        </p:nvSpPr>
        <p:spPr>
          <a:xfrm xmlns:a="http://schemas.openxmlformats.org/drawingml/2006/main">
            <a:off x="8261350" y="3767138"/>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20" name="">
            <a:extLst xmlns:a="http://schemas.openxmlformats.org/drawingml/2006/main">
              <a:ext uri="{FF2B5EF4-FFF2-40B4-BE49-F238E27FC236}">
                <a16:creationId xmlns:a16="http://schemas.microsoft.com/office/drawing/2014/main" id="{780FEF76-8A89-49A9-A41E-B9B79633C06B}"/>
              </a:ext>
            </a:extLst>
          </p:cNvPr>
          <p:cNvSpPr>
            <a:spLocks xmlns:a="http://schemas.openxmlformats.org/drawingml/2006/main" noGrp="1"/>
          </p:cNvSpPr>
          <p:nvPr/>
        </p:nvSpPr>
        <p:spPr>
          <a:xfrm xmlns:a="http://schemas.openxmlformats.org/drawingml/2006/main">
            <a:off x="8261350" y="3767138"/>
            <a:ext cx="307340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21" name="">
            <a:extLst xmlns:a="http://schemas.openxmlformats.org/drawingml/2006/main">
              <a:ext uri="{FF2B5EF4-FFF2-40B4-BE49-F238E27FC236}">
                <a16:creationId xmlns:a16="http://schemas.microsoft.com/office/drawing/2014/main" id="{4BB4F94B-FE1B-4094-BF95-4CD567F19468}"/>
              </a:ext>
            </a:extLst>
          </p:cNvPr>
          <p:cNvSpPr>
            <a:spLocks xmlns:a="http://schemas.openxmlformats.org/drawingml/2006/main" noGrp="1"/>
          </p:cNvSpPr>
          <p:nvPr/>
        </p:nvSpPr>
        <p:spPr>
          <a:xfrm xmlns:a="http://schemas.openxmlformats.org/drawingml/2006/main">
            <a:off x="8413750" y="3900488"/>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Rechtsprechungsfall</a:t>
            </a:r>
          </a:p>
        </p:txBody>
      </p:sp>
      <p:sp>
        <p:nvSpPr>
          <p:cNvPr id="22" name="">
            <a:extLst xmlns:a="http://schemas.openxmlformats.org/drawingml/2006/main">
              <a:ext uri="{FF2B5EF4-FFF2-40B4-BE49-F238E27FC236}">
                <a16:creationId xmlns:a16="http://schemas.microsoft.com/office/drawing/2014/main" id="{D8E97F09-12AE-42A1-AFBC-3EA5A5659413}"/>
              </a:ext>
            </a:extLst>
          </p:cNvPr>
          <p:cNvSpPr>
            <a:spLocks xmlns:a="http://schemas.openxmlformats.org/drawingml/2006/main" noGrp="1"/>
          </p:cNvSpPr>
          <p:nvPr/>
        </p:nvSpPr>
        <p:spPr>
          <a:xfrm xmlns:a="http://schemas.openxmlformats.org/drawingml/2006/main">
            <a:off x="8413750" y="4338638"/>
            <a:ext cx="27686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LG Frankfurt a. M., Urteil vom 04.04.2017 – 5/27 KLs 16/16: Medikamentenverwechslung und Kontrollversagen als strafrechtlicher Lehrfall.</a:t>
            </a:r>
          </a:p>
        </p:txBody>
      </p:sp>
      <p:sp>
        <p:nvSpPr>
          <p:cNvPr id="23" name="">
            <a:extLst xmlns:a="http://schemas.openxmlformats.org/drawingml/2006/main">
              <a:ext uri="{FF2B5EF4-FFF2-40B4-BE49-F238E27FC236}">
                <a16:creationId xmlns:a16="http://schemas.microsoft.com/office/drawing/2014/main" id="{B1006663-73D3-4966-8B3C-38A3E0EEB846}"/>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4" name="">
            <a:extLst xmlns:a="http://schemas.openxmlformats.org/drawingml/2006/main">
              <a:ext uri="{FF2B5EF4-FFF2-40B4-BE49-F238E27FC236}">
                <a16:creationId xmlns:a16="http://schemas.microsoft.com/office/drawing/2014/main" id="{52B5BB37-EE4D-4E53-B38F-4E5BAA1E98F0}"/>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Vorzeitige Dokumentation zerstört ihre Kontrollfunktion – und kann später den tatsächlichen Ablauf verdecken.</a:t>
            </a:r>
          </a:p>
        </p:txBody>
      </p:sp>
    </p:spTree>
    <p:extLst>
      <p:ext uri="{BB962C8B-B14F-4D97-AF65-F5344CB8AC3E}">
        <p14:creationId xmlns:p14="http://schemas.microsoft.com/office/powerpoint/2010/main" val="43637646"/>
      </p:ext>
    </p:extLst>
  </p:cSld>
</p:sld>
</file>

<file path=ppt/slides/slide345.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Die sichere Eskalationssprache</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PJ / ASSISTENZZEIT</a:t>
            </a:r>
            <a:endParaRPr/>
          </a:p>
        </p:txBody>
      </p:sp>
      <p:sp>
        <p:nvSpPr>
          <p:cNvPr id="4" name="">
            <a:extLst xmlns:a="http://schemas.openxmlformats.org/drawingml/2006/main">
              <a:ext uri="{FF2B5EF4-FFF2-40B4-BE49-F238E27FC236}">
                <a16:creationId xmlns:a16="http://schemas.microsoft.com/office/drawing/2014/main" id="{241BD3AC-157A-440E-A763-930519CC66EE}"/>
              </a:ext>
            </a:extLst>
          </p:cNvPr>
          <p:cNvSpPr>
            <a:spLocks xmlns:a="http://schemas.openxmlformats.org/drawingml/2006/main" noGrp="1"/>
          </p:cNvSpPr>
          <p:nvPr/>
        </p:nvSpPr>
        <p:spPr>
          <a:xfrm xmlns:a="http://schemas.openxmlformats.org/drawingml/2006/main">
            <a:off x="1809750" y="2038350"/>
            <a:ext cx="323850" cy="323850"/>
          </a:xfrm>
          <a:prstGeom xmlns:a="http://schemas.openxmlformats.org/drawingml/2006/main" prst="ellipse">
            <a:avLst/>
          </a:prstGeom>
          <a:solidFill xmlns:a="http://schemas.openxmlformats.org/drawingml/2006/main">
            <a:srgbClr val="00B2BB"/>
          </a:solidFill>
          <a:ln xmlns:a="http://schemas.openxmlformats.org/drawingml/2006/main" w="0">
            <a:solidFill>
              <a:srgbClr val="FFFFFF"/>
            </a:solidFill>
            <a:prstDash val="solid"/>
          </a:ln>
        </p:spPr>
      </p:sp>
      <p:sp>
        <p:nvSpPr>
          <p:cNvPr id="5" name="">
            <a:extLst xmlns:a="http://schemas.openxmlformats.org/drawingml/2006/main">
              <a:ext uri="{FF2B5EF4-FFF2-40B4-BE49-F238E27FC236}">
                <a16:creationId xmlns:a16="http://schemas.microsoft.com/office/drawing/2014/main" id="{27FE8664-A4A8-4809-9E5D-CFDFE319888E}"/>
              </a:ext>
            </a:extLst>
          </p:cNvPr>
          <p:cNvSpPr>
            <a:spLocks xmlns:a="http://schemas.openxmlformats.org/drawingml/2006/main" noGrp="1"/>
          </p:cNvSpPr>
          <p:nvPr/>
        </p:nvSpPr>
        <p:spPr>
          <a:xfrm xmlns:a="http://schemas.openxmlformats.org/drawingml/2006/main">
            <a:off x="1809750" y="20383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713" b="1">
                <a:solidFill>
                  <a:srgbClr val="FFFFFF"/>
                </a:solidFill>
              </a:defRPr>
            </a:pPr>
            <a:r>
              <a:rPr sz="713" b="1">
                <a:solidFill>
                  <a:srgbClr val="FFFFFF"/>
                </a:solidFill>
              </a:rPr>
              <a:t>1</a:t>
            </a:r>
          </a:p>
        </p:txBody>
      </p:sp>
      <p:sp>
        <p:nvSpPr>
          <p:cNvPr id="6" name="">
            <a:extLst xmlns:a="http://schemas.openxmlformats.org/drawingml/2006/main">
              <a:ext uri="{FF2B5EF4-FFF2-40B4-BE49-F238E27FC236}">
                <a16:creationId xmlns:a16="http://schemas.microsoft.com/office/drawing/2014/main" id="{8E85C11B-9AB4-44C1-9497-69C54E76B3CE}"/>
              </a:ext>
            </a:extLst>
          </p:cNvPr>
          <p:cNvSpPr>
            <a:spLocks xmlns:a="http://schemas.openxmlformats.org/drawingml/2006/main" noGrp="1"/>
          </p:cNvSpPr>
          <p:nvPr/>
        </p:nvSpPr>
        <p:spPr>
          <a:xfrm xmlns:a="http://schemas.openxmlformats.org/drawingml/2006/main">
            <a:off x="2266950" y="2000250"/>
            <a:ext cx="9067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a:solidFill>
                  <a:srgbClr val="15232B"/>
                </a:solidFill>
              </a:defRPr>
            </a:pPr>
            <a:r>
              <a:rPr sz="1275">
                <a:solidFill>
                  <a:srgbClr val="15232B"/>
                </a:solidFill>
              </a:rPr>
              <a:t>‚Die Dosis passt für mich nicht zur Indikation – bitte prüfen wir das gemeinsam.‘</a:t>
            </a:r>
          </a:p>
        </p:txBody>
      </p:sp>
      <p:sp>
        <p:nvSpPr>
          <p:cNvPr id="7" name="">
            <a:extLst xmlns:a="http://schemas.openxmlformats.org/drawingml/2006/main">
              <a:ext uri="{FF2B5EF4-FFF2-40B4-BE49-F238E27FC236}">
                <a16:creationId xmlns:a16="http://schemas.microsoft.com/office/drawing/2014/main" id="{92E54A53-214B-4F23-8D1E-7F891B2AE77D}"/>
              </a:ext>
            </a:extLst>
          </p:cNvPr>
          <p:cNvSpPr>
            <a:spLocks xmlns:a="http://schemas.openxmlformats.org/drawingml/2006/main" noGrp="1"/>
          </p:cNvSpPr>
          <p:nvPr/>
        </p:nvSpPr>
        <p:spPr>
          <a:xfrm xmlns:a="http://schemas.openxmlformats.org/drawingml/2006/main">
            <a:off x="1809750" y="2590800"/>
            <a:ext cx="323850" cy="323850"/>
          </a:xfrm>
          <a:prstGeom xmlns:a="http://schemas.openxmlformats.org/drawingml/2006/main" prst="ellipse">
            <a:avLst/>
          </a:prstGeom>
          <a:solidFill xmlns:a="http://schemas.openxmlformats.org/drawingml/2006/main">
            <a:srgbClr val="003F6B"/>
          </a:solidFill>
          <a:ln xmlns:a="http://schemas.openxmlformats.org/drawingml/2006/main" w="0">
            <a:solidFill>
              <a:srgbClr val="FFFFFF"/>
            </a:solidFill>
            <a:prstDash val="solid"/>
          </a:ln>
        </p:spPr>
      </p:sp>
      <p:sp>
        <p:nvSpPr>
          <p:cNvPr id="8" name="">
            <a:extLst xmlns:a="http://schemas.openxmlformats.org/drawingml/2006/main">
              <a:ext uri="{FF2B5EF4-FFF2-40B4-BE49-F238E27FC236}">
                <a16:creationId xmlns:a16="http://schemas.microsoft.com/office/drawing/2014/main" id="{135E65FD-BDD0-49D2-99DC-168CA2DD2E86}"/>
              </a:ext>
            </a:extLst>
          </p:cNvPr>
          <p:cNvSpPr>
            <a:spLocks xmlns:a="http://schemas.openxmlformats.org/drawingml/2006/main" noGrp="1"/>
          </p:cNvSpPr>
          <p:nvPr/>
        </p:nvSpPr>
        <p:spPr>
          <a:xfrm xmlns:a="http://schemas.openxmlformats.org/drawingml/2006/main">
            <a:off x="1809750" y="259080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713" b="1">
                <a:solidFill>
                  <a:srgbClr val="FFFFFF"/>
                </a:solidFill>
              </a:defRPr>
            </a:pPr>
            <a:r>
              <a:rPr sz="713" b="1">
                <a:solidFill>
                  <a:srgbClr val="FFFFFF"/>
                </a:solidFill>
              </a:rPr>
              <a:t>2</a:t>
            </a:r>
          </a:p>
        </p:txBody>
      </p:sp>
      <p:sp>
        <p:nvSpPr>
          <p:cNvPr id="9" name="">
            <a:extLst xmlns:a="http://schemas.openxmlformats.org/drawingml/2006/main">
              <a:ext uri="{FF2B5EF4-FFF2-40B4-BE49-F238E27FC236}">
                <a16:creationId xmlns:a16="http://schemas.microsoft.com/office/drawing/2014/main" id="{771FFCF8-C826-43EB-A711-43574DC09568}"/>
              </a:ext>
            </a:extLst>
          </p:cNvPr>
          <p:cNvSpPr>
            <a:spLocks xmlns:a="http://schemas.openxmlformats.org/drawingml/2006/main" noGrp="1"/>
          </p:cNvSpPr>
          <p:nvPr/>
        </p:nvSpPr>
        <p:spPr>
          <a:xfrm xmlns:a="http://schemas.openxmlformats.org/drawingml/2006/main">
            <a:off x="2266950" y="2552700"/>
            <a:ext cx="9067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a:solidFill>
                  <a:srgbClr val="15232B"/>
                </a:solidFill>
              </a:defRPr>
            </a:pPr>
            <a:r>
              <a:rPr sz="1275">
                <a:solidFill>
                  <a:srgbClr val="15232B"/>
                </a:solidFill>
              </a:rPr>
              <a:t>‚Ich habe diese Maßnahme noch nicht selbstständig durchgeführt. Ich brauche unmittelbare Supervision.‘</a:t>
            </a:r>
          </a:p>
        </p:txBody>
      </p:sp>
      <p:sp>
        <p:nvSpPr>
          <p:cNvPr id="10" name="">
            <a:extLst xmlns:a="http://schemas.openxmlformats.org/drawingml/2006/main">
              <a:ext uri="{FF2B5EF4-FFF2-40B4-BE49-F238E27FC236}">
                <a16:creationId xmlns:a16="http://schemas.microsoft.com/office/drawing/2014/main" id="{0B40A399-3CFF-4B56-B5E8-C268814B9F0F}"/>
              </a:ext>
            </a:extLst>
          </p:cNvPr>
          <p:cNvSpPr>
            <a:spLocks xmlns:a="http://schemas.openxmlformats.org/drawingml/2006/main" noGrp="1"/>
          </p:cNvSpPr>
          <p:nvPr/>
        </p:nvSpPr>
        <p:spPr>
          <a:xfrm xmlns:a="http://schemas.openxmlformats.org/drawingml/2006/main">
            <a:off x="1809750" y="3143250"/>
            <a:ext cx="323850" cy="323850"/>
          </a:xfrm>
          <a:prstGeom xmlns:a="http://schemas.openxmlformats.org/drawingml/2006/main" prst="ellipse">
            <a:avLst/>
          </a:prstGeom>
          <a:solidFill xmlns:a="http://schemas.openxmlformats.org/drawingml/2006/main">
            <a:srgbClr val="00B2BB"/>
          </a:solidFill>
          <a:ln xmlns:a="http://schemas.openxmlformats.org/drawingml/2006/main" w="0">
            <a:solidFill>
              <a:srgbClr val="FFFFFF"/>
            </a:solidFill>
            <a:prstDash val="solid"/>
          </a:ln>
        </p:spPr>
      </p:sp>
      <p:sp>
        <p:nvSpPr>
          <p:cNvPr id="11" name="">
            <a:extLst xmlns:a="http://schemas.openxmlformats.org/drawingml/2006/main">
              <a:ext uri="{FF2B5EF4-FFF2-40B4-BE49-F238E27FC236}">
                <a16:creationId xmlns:a16="http://schemas.microsoft.com/office/drawing/2014/main" id="{CA21F900-E245-40ED-83CC-55D4E772C6DC}"/>
              </a:ext>
            </a:extLst>
          </p:cNvPr>
          <p:cNvSpPr>
            <a:spLocks xmlns:a="http://schemas.openxmlformats.org/drawingml/2006/main" noGrp="1"/>
          </p:cNvSpPr>
          <p:nvPr/>
        </p:nvSpPr>
        <p:spPr>
          <a:xfrm xmlns:a="http://schemas.openxmlformats.org/drawingml/2006/main">
            <a:off x="1809750" y="31432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713" b="1">
                <a:solidFill>
                  <a:srgbClr val="FFFFFF"/>
                </a:solidFill>
              </a:defRPr>
            </a:pPr>
            <a:r>
              <a:rPr sz="713" b="1">
                <a:solidFill>
                  <a:srgbClr val="FFFFFF"/>
                </a:solidFill>
              </a:rPr>
              <a:t>3</a:t>
            </a:r>
          </a:p>
        </p:txBody>
      </p:sp>
      <p:sp>
        <p:nvSpPr>
          <p:cNvPr id="12" name="">
            <a:extLst xmlns:a="http://schemas.openxmlformats.org/drawingml/2006/main">
              <a:ext uri="{FF2B5EF4-FFF2-40B4-BE49-F238E27FC236}">
                <a16:creationId xmlns:a16="http://schemas.microsoft.com/office/drawing/2014/main" id="{721615E6-68AD-4930-A954-EB73152BB624}"/>
              </a:ext>
            </a:extLst>
          </p:cNvPr>
          <p:cNvSpPr>
            <a:spLocks xmlns:a="http://schemas.openxmlformats.org/drawingml/2006/main" noGrp="1"/>
          </p:cNvSpPr>
          <p:nvPr/>
        </p:nvSpPr>
        <p:spPr>
          <a:xfrm xmlns:a="http://schemas.openxmlformats.org/drawingml/2006/main">
            <a:off x="2266950" y="3105150"/>
            <a:ext cx="9067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a:solidFill>
                  <a:srgbClr val="15232B"/>
                </a:solidFill>
              </a:defRPr>
            </a:pPr>
            <a:r>
              <a:rPr sz="1275">
                <a:solidFill>
                  <a:srgbClr val="15232B"/>
                </a:solidFill>
              </a:rPr>
              <a:t>‚Ich bin unsicher, ob die Patientin stabil ist. Ich eskaliere jetzt nach unserem Schema.‘</a:t>
            </a:r>
          </a:p>
        </p:txBody>
      </p:sp>
      <p:sp>
        <p:nvSpPr>
          <p:cNvPr id="13" name="">
            <a:extLst xmlns:a="http://schemas.openxmlformats.org/drawingml/2006/main">
              <a:ext uri="{FF2B5EF4-FFF2-40B4-BE49-F238E27FC236}">
                <a16:creationId xmlns:a16="http://schemas.microsoft.com/office/drawing/2014/main" id="{182FFEE9-8344-4A5F-B44D-F143119E79E3}"/>
              </a:ext>
            </a:extLst>
          </p:cNvPr>
          <p:cNvSpPr>
            <a:spLocks xmlns:a="http://schemas.openxmlformats.org/drawingml/2006/main" noGrp="1"/>
          </p:cNvSpPr>
          <p:nvPr/>
        </p:nvSpPr>
        <p:spPr>
          <a:xfrm xmlns:a="http://schemas.openxmlformats.org/drawingml/2006/main">
            <a:off x="1809750" y="3695700"/>
            <a:ext cx="323850" cy="323850"/>
          </a:xfrm>
          <a:prstGeom xmlns:a="http://schemas.openxmlformats.org/drawingml/2006/main" prst="ellipse">
            <a:avLst/>
          </a:prstGeom>
          <a:solidFill xmlns:a="http://schemas.openxmlformats.org/drawingml/2006/main">
            <a:srgbClr val="003F6B"/>
          </a:solidFill>
          <a:ln xmlns:a="http://schemas.openxmlformats.org/drawingml/2006/main" w="0">
            <a:solidFill>
              <a:srgbClr val="FFFFFF"/>
            </a:solidFill>
            <a:prstDash val="solid"/>
          </a:ln>
        </p:spPr>
      </p:sp>
      <p:sp>
        <p:nvSpPr>
          <p:cNvPr id="14" name="">
            <a:extLst xmlns:a="http://schemas.openxmlformats.org/drawingml/2006/main">
              <a:ext uri="{FF2B5EF4-FFF2-40B4-BE49-F238E27FC236}">
                <a16:creationId xmlns:a16="http://schemas.microsoft.com/office/drawing/2014/main" id="{71F0A351-E981-45E6-8B4F-BA9F4754BF8B}"/>
              </a:ext>
            </a:extLst>
          </p:cNvPr>
          <p:cNvSpPr>
            <a:spLocks xmlns:a="http://schemas.openxmlformats.org/drawingml/2006/main" noGrp="1"/>
          </p:cNvSpPr>
          <p:nvPr/>
        </p:nvSpPr>
        <p:spPr>
          <a:xfrm xmlns:a="http://schemas.openxmlformats.org/drawingml/2006/main">
            <a:off x="1809750" y="369570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713" b="1">
                <a:solidFill>
                  <a:srgbClr val="FFFFFF"/>
                </a:solidFill>
              </a:defRPr>
            </a:pPr>
            <a:r>
              <a:rPr sz="713" b="1">
                <a:solidFill>
                  <a:srgbClr val="FFFFFF"/>
                </a:solidFill>
              </a:rPr>
              <a:t>4</a:t>
            </a:r>
          </a:p>
        </p:txBody>
      </p:sp>
      <p:sp>
        <p:nvSpPr>
          <p:cNvPr id="15" name="">
            <a:extLst xmlns:a="http://schemas.openxmlformats.org/drawingml/2006/main">
              <a:ext uri="{FF2B5EF4-FFF2-40B4-BE49-F238E27FC236}">
                <a16:creationId xmlns:a16="http://schemas.microsoft.com/office/drawing/2014/main" id="{CDD506DE-832B-43FC-8051-6118596D3A3C}"/>
              </a:ext>
            </a:extLst>
          </p:cNvPr>
          <p:cNvSpPr>
            <a:spLocks xmlns:a="http://schemas.openxmlformats.org/drawingml/2006/main" noGrp="1"/>
          </p:cNvSpPr>
          <p:nvPr/>
        </p:nvSpPr>
        <p:spPr>
          <a:xfrm xmlns:a="http://schemas.openxmlformats.org/drawingml/2006/main">
            <a:off x="2266950" y="3657600"/>
            <a:ext cx="9067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a:solidFill>
                  <a:srgbClr val="15232B"/>
                </a:solidFill>
              </a:defRPr>
            </a:pPr>
            <a:r>
              <a:rPr sz="1275">
                <a:solidFill>
                  <a:srgbClr val="15232B"/>
                </a:solidFill>
              </a:rPr>
              <a:t>‚Die Dokumentation sagt X; ich habe Y beobachtet. Wir müssen den Widerspruch klären, nicht überschreiben.‘</a:t>
            </a:r>
          </a:p>
        </p:txBody>
      </p:sp>
      <p:sp>
        <p:nvSpPr>
          <p:cNvPr id="16" name="">
            <a:extLst xmlns:a="http://schemas.openxmlformats.org/drawingml/2006/main">
              <a:ext uri="{FF2B5EF4-FFF2-40B4-BE49-F238E27FC236}">
                <a16:creationId xmlns:a16="http://schemas.microsoft.com/office/drawing/2014/main" id="{8FF7A925-9869-4445-AF2B-EB204C711243}"/>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17" name="">
            <a:extLst xmlns:a="http://schemas.openxmlformats.org/drawingml/2006/main">
              <a:ext uri="{FF2B5EF4-FFF2-40B4-BE49-F238E27FC236}">
                <a16:creationId xmlns:a16="http://schemas.microsoft.com/office/drawing/2014/main" id="{1093BCF2-89A7-47FC-816B-D64F6EE73512}"/>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Rechtlich und medizinisch stark ist die Person, die relevante Unsicherheit früh sichtbar macht.</a:t>
            </a:r>
          </a:p>
        </p:txBody>
      </p:sp>
    </p:spTree>
    <p:extLst>
      <p:ext uri="{BB962C8B-B14F-4D97-AF65-F5344CB8AC3E}">
        <p14:creationId xmlns:p14="http://schemas.microsoft.com/office/powerpoint/2010/main" val="43637646"/>
      </p:ext>
    </p:extLst>
  </p:cSld>
</p:sld>
</file>

<file path=ppt/slides/slide346.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M&amp;M-Konferenz: lernen, ohne Beweise zu erfinden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NACH DEM EREIGNIS</a:t>
            </a:r>
            <a:endParaRPr/>
          </a:p>
        </p:txBody>
      </p:sp>
      <p:sp>
        <p:nvSpPr>
          <p:cNvPr id="4" name="">
            <a:extLst xmlns:a="http://schemas.openxmlformats.org/drawingml/2006/main">
              <a:ext uri="{FF2B5EF4-FFF2-40B4-BE49-F238E27FC236}">
                <a16:creationId xmlns:a16="http://schemas.microsoft.com/office/drawing/2014/main" id="{B09AA4DF-5AAC-4E79-9260-6EC1AC8127A0}"/>
              </a:ext>
            </a:extLst>
          </p:cNvPr>
          <p:cNvSpPr>
            <a:spLocks xmlns:a="http://schemas.openxmlformats.org/drawingml/2006/main" noGrp="1"/>
          </p:cNvSpPr>
          <p:nvPr/>
        </p:nvSpPr>
        <p:spPr>
          <a:xfrm xmlns:a="http://schemas.openxmlformats.org/drawingml/2006/main">
            <a:off x="1809750" y="1952625"/>
            <a:ext cx="226695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671B405A-B057-4B6D-AF4A-F7EB457BB6E3}"/>
              </a:ext>
            </a:extLst>
          </p:cNvPr>
          <p:cNvSpPr>
            <a:spLocks xmlns:a="http://schemas.openxmlformats.org/drawingml/2006/main" noGrp="1"/>
          </p:cNvSpPr>
          <p:nvPr/>
        </p:nvSpPr>
        <p:spPr>
          <a:xfrm xmlns:a="http://schemas.openxmlformats.org/drawingml/2006/main">
            <a:off x="1809750" y="1952625"/>
            <a:ext cx="226695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69DFEA6F-43A0-4388-B5AF-A724E8BB0B97}"/>
              </a:ext>
            </a:extLst>
          </p:cNvPr>
          <p:cNvSpPr>
            <a:spLocks xmlns:a="http://schemas.openxmlformats.org/drawingml/2006/main" noGrp="1"/>
          </p:cNvSpPr>
          <p:nvPr/>
        </p:nvSpPr>
        <p:spPr>
          <a:xfrm xmlns:a="http://schemas.openxmlformats.org/drawingml/2006/main">
            <a:off x="1962150" y="2085975"/>
            <a:ext cx="1962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25" b="1">
                <a:solidFill>
                  <a:srgbClr val="003F6B"/>
                </a:solidFill>
              </a:defRPr>
            </a:pPr>
            <a:r>
              <a:rPr sz="1125" b="1">
                <a:solidFill>
                  <a:srgbClr val="003F6B"/>
                </a:solidFill>
              </a:rPr>
              <a:t>Faktenchronologie</a:t>
            </a:r>
          </a:p>
        </p:txBody>
      </p:sp>
      <p:sp>
        <p:nvSpPr>
          <p:cNvPr id="7" name="">
            <a:extLst xmlns:a="http://schemas.openxmlformats.org/drawingml/2006/main">
              <a:ext uri="{FF2B5EF4-FFF2-40B4-BE49-F238E27FC236}">
                <a16:creationId xmlns:a16="http://schemas.microsoft.com/office/drawing/2014/main" id="{7158A0F6-0DBC-418D-B668-1C63F4949355}"/>
              </a:ext>
            </a:extLst>
          </p:cNvPr>
          <p:cNvSpPr>
            <a:spLocks xmlns:a="http://schemas.openxmlformats.org/drawingml/2006/main" noGrp="1"/>
          </p:cNvSpPr>
          <p:nvPr/>
        </p:nvSpPr>
        <p:spPr>
          <a:xfrm xmlns:a="http://schemas.openxmlformats.org/drawingml/2006/main">
            <a:off x="4229100" y="1952625"/>
            <a:ext cx="226695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8" name="">
            <a:extLst xmlns:a="http://schemas.openxmlformats.org/drawingml/2006/main">
              <a:ext uri="{FF2B5EF4-FFF2-40B4-BE49-F238E27FC236}">
                <a16:creationId xmlns:a16="http://schemas.microsoft.com/office/drawing/2014/main" id="{D8D77BA7-1B19-4A22-89A8-864011475BFE}"/>
              </a:ext>
            </a:extLst>
          </p:cNvPr>
          <p:cNvSpPr>
            <a:spLocks xmlns:a="http://schemas.openxmlformats.org/drawingml/2006/main" noGrp="1"/>
          </p:cNvSpPr>
          <p:nvPr/>
        </p:nvSpPr>
        <p:spPr>
          <a:xfrm xmlns:a="http://schemas.openxmlformats.org/drawingml/2006/main">
            <a:off x="4229100" y="1952625"/>
            <a:ext cx="226695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9" name="">
            <a:extLst xmlns:a="http://schemas.openxmlformats.org/drawingml/2006/main">
              <a:ext uri="{FF2B5EF4-FFF2-40B4-BE49-F238E27FC236}">
                <a16:creationId xmlns:a16="http://schemas.microsoft.com/office/drawing/2014/main" id="{22C37E30-2C3B-4C8D-B279-D71DCA3FC1DA}"/>
              </a:ext>
            </a:extLst>
          </p:cNvPr>
          <p:cNvSpPr>
            <a:spLocks xmlns:a="http://schemas.openxmlformats.org/drawingml/2006/main" noGrp="1"/>
          </p:cNvSpPr>
          <p:nvPr/>
        </p:nvSpPr>
        <p:spPr>
          <a:xfrm xmlns:a="http://schemas.openxmlformats.org/drawingml/2006/main">
            <a:off x="4381500" y="2085975"/>
            <a:ext cx="1962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25" b="1">
                <a:solidFill>
                  <a:srgbClr val="003F6B"/>
                </a:solidFill>
              </a:defRPr>
            </a:pPr>
            <a:r>
              <a:rPr sz="1125" b="1">
                <a:solidFill>
                  <a:srgbClr val="003F6B"/>
                </a:solidFill>
              </a:rPr>
              <a:t>Abweichungen / Variabilität</a:t>
            </a:r>
          </a:p>
        </p:txBody>
      </p:sp>
      <p:sp>
        <p:nvSpPr>
          <p:cNvPr id="10" name="">
            <a:extLst xmlns:a="http://schemas.openxmlformats.org/drawingml/2006/main">
              <a:ext uri="{FF2B5EF4-FFF2-40B4-BE49-F238E27FC236}">
                <a16:creationId xmlns:a16="http://schemas.microsoft.com/office/drawing/2014/main" id="{5E61E90D-9A44-4DB7-A380-F8BE29A0AEAF}"/>
              </a:ext>
            </a:extLst>
          </p:cNvPr>
          <p:cNvSpPr>
            <a:spLocks xmlns:a="http://schemas.openxmlformats.org/drawingml/2006/main" noGrp="1"/>
          </p:cNvSpPr>
          <p:nvPr/>
        </p:nvSpPr>
        <p:spPr>
          <a:xfrm xmlns:a="http://schemas.openxmlformats.org/drawingml/2006/main">
            <a:off x="6648450" y="1952625"/>
            <a:ext cx="226695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11" name="">
            <a:extLst xmlns:a="http://schemas.openxmlformats.org/drawingml/2006/main">
              <a:ext uri="{FF2B5EF4-FFF2-40B4-BE49-F238E27FC236}">
                <a16:creationId xmlns:a16="http://schemas.microsoft.com/office/drawing/2014/main" id="{469710C1-56EB-4BDC-9955-A33465D03890}"/>
              </a:ext>
            </a:extLst>
          </p:cNvPr>
          <p:cNvSpPr>
            <a:spLocks xmlns:a="http://schemas.openxmlformats.org/drawingml/2006/main" noGrp="1"/>
          </p:cNvSpPr>
          <p:nvPr/>
        </p:nvSpPr>
        <p:spPr>
          <a:xfrm xmlns:a="http://schemas.openxmlformats.org/drawingml/2006/main">
            <a:off x="6648450" y="1952625"/>
            <a:ext cx="226695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12" name="">
            <a:extLst xmlns:a="http://schemas.openxmlformats.org/drawingml/2006/main">
              <a:ext uri="{FF2B5EF4-FFF2-40B4-BE49-F238E27FC236}">
                <a16:creationId xmlns:a16="http://schemas.microsoft.com/office/drawing/2014/main" id="{9EC56C5D-09B6-433F-ACB0-5DA12E88CE9A}"/>
              </a:ext>
            </a:extLst>
          </p:cNvPr>
          <p:cNvSpPr>
            <a:spLocks xmlns:a="http://schemas.openxmlformats.org/drawingml/2006/main" noGrp="1"/>
          </p:cNvSpPr>
          <p:nvPr/>
        </p:nvSpPr>
        <p:spPr>
          <a:xfrm xmlns:a="http://schemas.openxmlformats.org/drawingml/2006/main">
            <a:off x="6800850" y="2085975"/>
            <a:ext cx="1962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25" b="1">
                <a:solidFill>
                  <a:srgbClr val="003F6B"/>
                </a:solidFill>
              </a:defRPr>
            </a:pPr>
            <a:r>
              <a:rPr sz="1125" b="1">
                <a:solidFill>
                  <a:srgbClr val="003F6B"/>
                </a:solidFill>
              </a:rPr>
              <a:t>individuelle und Systemfaktoren</a:t>
            </a:r>
          </a:p>
        </p:txBody>
      </p:sp>
      <p:sp>
        <p:nvSpPr>
          <p:cNvPr id="13" name="">
            <a:extLst xmlns:a="http://schemas.openxmlformats.org/drawingml/2006/main">
              <a:ext uri="{FF2B5EF4-FFF2-40B4-BE49-F238E27FC236}">
                <a16:creationId xmlns:a16="http://schemas.microsoft.com/office/drawing/2014/main" id="{A4F8A6DD-F17B-44B2-B901-AF50256AAA48}"/>
              </a:ext>
            </a:extLst>
          </p:cNvPr>
          <p:cNvSpPr>
            <a:spLocks xmlns:a="http://schemas.openxmlformats.org/drawingml/2006/main" noGrp="1"/>
          </p:cNvSpPr>
          <p:nvPr/>
        </p:nvSpPr>
        <p:spPr>
          <a:xfrm xmlns:a="http://schemas.openxmlformats.org/drawingml/2006/main">
            <a:off x="9067800" y="1952625"/>
            <a:ext cx="226695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14" name="">
            <a:extLst xmlns:a="http://schemas.openxmlformats.org/drawingml/2006/main">
              <a:ext uri="{FF2B5EF4-FFF2-40B4-BE49-F238E27FC236}">
                <a16:creationId xmlns:a16="http://schemas.microsoft.com/office/drawing/2014/main" id="{6763B6BA-BE1E-459A-9E67-BF885CEA148D}"/>
              </a:ext>
            </a:extLst>
          </p:cNvPr>
          <p:cNvSpPr>
            <a:spLocks xmlns:a="http://schemas.openxmlformats.org/drawingml/2006/main" noGrp="1"/>
          </p:cNvSpPr>
          <p:nvPr/>
        </p:nvSpPr>
        <p:spPr>
          <a:xfrm xmlns:a="http://schemas.openxmlformats.org/drawingml/2006/main">
            <a:off x="9067800" y="1952625"/>
            <a:ext cx="226695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5" name="">
            <a:extLst xmlns:a="http://schemas.openxmlformats.org/drawingml/2006/main">
              <a:ext uri="{FF2B5EF4-FFF2-40B4-BE49-F238E27FC236}">
                <a16:creationId xmlns:a16="http://schemas.microsoft.com/office/drawing/2014/main" id="{3E255F9C-4595-4165-89BF-0588C9587ADF}"/>
              </a:ext>
            </a:extLst>
          </p:cNvPr>
          <p:cNvSpPr>
            <a:spLocks xmlns:a="http://schemas.openxmlformats.org/drawingml/2006/main" noGrp="1"/>
          </p:cNvSpPr>
          <p:nvPr/>
        </p:nvSpPr>
        <p:spPr>
          <a:xfrm xmlns:a="http://schemas.openxmlformats.org/drawingml/2006/main">
            <a:off x="9220200" y="2085975"/>
            <a:ext cx="1962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25" b="1">
                <a:solidFill>
                  <a:srgbClr val="003F6B"/>
                </a:solidFill>
              </a:defRPr>
            </a:pPr>
            <a:r>
              <a:rPr sz="1125" b="1">
                <a:solidFill>
                  <a:srgbClr val="003F6B"/>
                </a:solidFill>
              </a:rPr>
              <a:t>Barrieren, die fehlten oder wirkten</a:t>
            </a:r>
          </a:p>
        </p:txBody>
      </p:sp>
      <p:sp>
        <p:nvSpPr>
          <p:cNvPr id="16" name="">
            <a:extLst xmlns:a="http://schemas.openxmlformats.org/drawingml/2006/main">
              <a:ext uri="{FF2B5EF4-FFF2-40B4-BE49-F238E27FC236}">
                <a16:creationId xmlns:a16="http://schemas.microsoft.com/office/drawing/2014/main" id="{EA98EF45-B085-451C-ABDD-EA8E417853E5}"/>
              </a:ext>
            </a:extLst>
          </p:cNvPr>
          <p:cNvSpPr>
            <a:spLocks xmlns:a="http://schemas.openxmlformats.org/drawingml/2006/main" noGrp="1"/>
          </p:cNvSpPr>
          <p:nvPr/>
        </p:nvSpPr>
        <p:spPr>
          <a:xfrm xmlns:a="http://schemas.openxmlformats.org/drawingml/2006/main">
            <a:off x="1809750" y="3767138"/>
            <a:ext cx="226695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17" name="">
            <a:extLst xmlns:a="http://schemas.openxmlformats.org/drawingml/2006/main">
              <a:ext uri="{FF2B5EF4-FFF2-40B4-BE49-F238E27FC236}">
                <a16:creationId xmlns:a16="http://schemas.microsoft.com/office/drawing/2014/main" id="{1FA2FB3B-5AA4-468C-861E-AB7502CCCE29}"/>
              </a:ext>
            </a:extLst>
          </p:cNvPr>
          <p:cNvSpPr>
            <a:spLocks xmlns:a="http://schemas.openxmlformats.org/drawingml/2006/main" noGrp="1"/>
          </p:cNvSpPr>
          <p:nvPr/>
        </p:nvSpPr>
        <p:spPr>
          <a:xfrm xmlns:a="http://schemas.openxmlformats.org/drawingml/2006/main">
            <a:off x="1809750" y="3767138"/>
            <a:ext cx="226695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18" name="">
            <a:extLst xmlns:a="http://schemas.openxmlformats.org/drawingml/2006/main">
              <a:ext uri="{FF2B5EF4-FFF2-40B4-BE49-F238E27FC236}">
                <a16:creationId xmlns:a16="http://schemas.microsoft.com/office/drawing/2014/main" id="{5A162931-4E6E-41AA-8B6C-AE808EE05164}"/>
              </a:ext>
            </a:extLst>
          </p:cNvPr>
          <p:cNvSpPr>
            <a:spLocks xmlns:a="http://schemas.openxmlformats.org/drawingml/2006/main" noGrp="1"/>
          </p:cNvSpPr>
          <p:nvPr/>
        </p:nvSpPr>
        <p:spPr>
          <a:xfrm xmlns:a="http://schemas.openxmlformats.org/drawingml/2006/main">
            <a:off x="1962150" y="3900488"/>
            <a:ext cx="1962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25" b="1">
                <a:solidFill>
                  <a:srgbClr val="003F6B"/>
                </a:solidFill>
              </a:defRPr>
            </a:pPr>
            <a:r>
              <a:rPr sz="1125" b="1">
                <a:solidFill>
                  <a:srgbClr val="003F6B"/>
                </a:solidFill>
              </a:rPr>
              <a:t>konkrete Maßnahmen mit Verantwortlichen und Termin</a:t>
            </a:r>
          </a:p>
        </p:txBody>
      </p:sp>
      <p:sp>
        <p:nvSpPr>
          <p:cNvPr id="19" name="">
            <a:extLst xmlns:a="http://schemas.openxmlformats.org/drawingml/2006/main">
              <a:ext uri="{FF2B5EF4-FFF2-40B4-BE49-F238E27FC236}">
                <a16:creationId xmlns:a16="http://schemas.microsoft.com/office/drawing/2014/main" id="{0266DC24-6023-4EF6-A81E-39DA7A3DADD1}"/>
              </a:ext>
            </a:extLst>
          </p:cNvPr>
          <p:cNvSpPr>
            <a:spLocks xmlns:a="http://schemas.openxmlformats.org/drawingml/2006/main" noGrp="1"/>
          </p:cNvSpPr>
          <p:nvPr/>
        </p:nvSpPr>
        <p:spPr>
          <a:xfrm xmlns:a="http://schemas.openxmlformats.org/drawingml/2006/main">
            <a:off x="4229100" y="3767138"/>
            <a:ext cx="226695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20" name="">
            <a:extLst xmlns:a="http://schemas.openxmlformats.org/drawingml/2006/main">
              <a:ext uri="{FF2B5EF4-FFF2-40B4-BE49-F238E27FC236}">
                <a16:creationId xmlns:a16="http://schemas.microsoft.com/office/drawing/2014/main" id="{D800DB22-AF71-449E-BFBA-E50347646EE7}"/>
              </a:ext>
            </a:extLst>
          </p:cNvPr>
          <p:cNvSpPr>
            <a:spLocks xmlns:a="http://schemas.openxmlformats.org/drawingml/2006/main" noGrp="1"/>
          </p:cNvSpPr>
          <p:nvPr/>
        </p:nvSpPr>
        <p:spPr>
          <a:xfrm xmlns:a="http://schemas.openxmlformats.org/drawingml/2006/main">
            <a:off x="4229100" y="3767138"/>
            <a:ext cx="226695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21" name="">
            <a:extLst xmlns:a="http://schemas.openxmlformats.org/drawingml/2006/main">
              <a:ext uri="{FF2B5EF4-FFF2-40B4-BE49-F238E27FC236}">
                <a16:creationId xmlns:a16="http://schemas.microsoft.com/office/drawing/2014/main" id="{297E6F41-6214-4854-8A83-A41487F99B18}"/>
              </a:ext>
            </a:extLst>
          </p:cNvPr>
          <p:cNvSpPr>
            <a:spLocks xmlns:a="http://schemas.openxmlformats.org/drawingml/2006/main" noGrp="1"/>
          </p:cNvSpPr>
          <p:nvPr/>
        </p:nvSpPr>
        <p:spPr>
          <a:xfrm xmlns:a="http://schemas.openxmlformats.org/drawingml/2006/main">
            <a:off x="4381500" y="3900488"/>
            <a:ext cx="1962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25" b="1">
                <a:solidFill>
                  <a:srgbClr val="003F6B"/>
                </a:solidFill>
              </a:defRPr>
            </a:pPr>
            <a:r>
              <a:rPr sz="1125" b="1">
                <a:solidFill>
                  <a:srgbClr val="003F6B"/>
                </a:solidFill>
              </a:rPr>
              <a:t>Wirksamkeit später prüfen</a:t>
            </a:r>
          </a:p>
        </p:txBody>
      </p:sp>
      <p:sp>
        <p:nvSpPr>
          <p:cNvPr id="22" name="">
            <a:extLst xmlns:a="http://schemas.openxmlformats.org/drawingml/2006/main">
              <a:ext uri="{FF2B5EF4-FFF2-40B4-BE49-F238E27FC236}">
                <a16:creationId xmlns:a16="http://schemas.microsoft.com/office/drawing/2014/main" id="{F77D6E1D-5ACB-4AA9-BF97-38202C8EFBE9}"/>
              </a:ext>
            </a:extLst>
          </p:cNvPr>
          <p:cNvSpPr>
            <a:spLocks xmlns:a="http://schemas.openxmlformats.org/drawingml/2006/main" noGrp="1"/>
          </p:cNvSpPr>
          <p:nvPr/>
        </p:nvSpPr>
        <p:spPr>
          <a:xfrm xmlns:a="http://schemas.openxmlformats.org/drawingml/2006/main">
            <a:off x="6648450" y="3767138"/>
            <a:ext cx="226695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23" name="">
            <a:extLst xmlns:a="http://schemas.openxmlformats.org/drawingml/2006/main">
              <a:ext uri="{FF2B5EF4-FFF2-40B4-BE49-F238E27FC236}">
                <a16:creationId xmlns:a16="http://schemas.microsoft.com/office/drawing/2014/main" id="{2A302944-A977-41DA-BC18-71C7FBD4C1F1}"/>
              </a:ext>
            </a:extLst>
          </p:cNvPr>
          <p:cNvSpPr>
            <a:spLocks xmlns:a="http://schemas.openxmlformats.org/drawingml/2006/main" noGrp="1"/>
          </p:cNvSpPr>
          <p:nvPr/>
        </p:nvSpPr>
        <p:spPr>
          <a:xfrm xmlns:a="http://schemas.openxmlformats.org/drawingml/2006/main">
            <a:off x="6648450" y="3767138"/>
            <a:ext cx="226695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24" name="">
            <a:extLst xmlns:a="http://schemas.openxmlformats.org/drawingml/2006/main">
              <a:ext uri="{FF2B5EF4-FFF2-40B4-BE49-F238E27FC236}">
                <a16:creationId xmlns:a16="http://schemas.microsoft.com/office/drawing/2014/main" id="{21DA08AF-D1AB-44E4-BC7F-1A5BE9CEADFF}"/>
              </a:ext>
            </a:extLst>
          </p:cNvPr>
          <p:cNvSpPr>
            <a:spLocks xmlns:a="http://schemas.openxmlformats.org/drawingml/2006/main" noGrp="1"/>
          </p:cNvSpPr>
          <p:nvPr/>
        </p:nvSpPr>
        <p:spPr>
          <a:xfrm xmlns:a="http://schemas.openxmlformats.org/drawingml/2006/main">
            <a:off x="6800850" y="3900488"/>
            <a:ext cx="1962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25" b="1">
                <a:solidFill>
                  <a:srgbClr val="003F6B"/>
                </a:solidFill>
              </a:defRPr>
            </a:pPr>
            <a:r>
              <a:rPr sz="1125" b="1">
                <a:solidFill>
                  <a:srgbClr val="003F6B"/>
                </a:solidFill>
              </a:rPr>
              <a:t>Leitplanken</a:t>
            </a:r>
          </a:p>
        </p:txBody>
      </p:sp>
      <p:sp>
        <p:nvSpPr>
          <p:cNvPr id="25" name="">
            <a:extLst xmlns:a="http://schemas.openxmlformats.org/drawingml/2006/main">
              <a:ext uri="{FF2B5EF4-FFF2-40B4-BE49-F238E27FC236}">
                <a16:creationId xmlns:a16="http://schemas.microsoft.com/office/drawing/2014/main" id="{61C5F26D-EAEA-4792-8765-B91E658A5F85}"/>
              </a:ext>
            </a:extLst>
          </p:cNvPr>
          <p:cNvSpPr>
            <a:spLocks xmlns:a="http://schemas.openxmlformats.org/drawingml/2006/main" noGrp="1"/>
          </p:cNvSpPr>
          <p:nvPr/>
        </p:nvSpPr>
        <p:spPr>
          <a:xfrm xmlns:a="http://schemas.openxmlformats.org/drawingml/2006/main">
            <a:off x="6800850" y="4338638"/>
            <a:ext cx="196215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keine Bloßstellung · keine nachträgliche Aktenangleichung · keine Spekulation als Tatsache · Vertraulichkeit rechtlich nicht überschätzen</a:t>
            </a:r>
          </a:p>
        </p:txBody>
      </p:sp>
      <p:sp>
        <p:nvSpPr>
          <p:cNvPr id="26" name="">
            <a:extLst xmlns:a="http://schemas.openxmlformats.org/drawingml/2006/main">
              <a:ext uri="{FF2B5EF4-FFF2-40B4-BE49-F238E27FC236}">
                <a16:creationId xmlns:a16="http://schemas.microsoft.com/office/drawing/2014/main" id="{6EB6B533-4BC3-4C21-B606-8B34088BEBEC}"/>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7" name="">
            <a:extLst xmlns:a="http://schemas.openxmlformats.org/drawingml/2006/main">
              <a:ext uri="{FF2B5EF4-FFF2-40B4-BE49-F238E27FC236}">
                <a16:creationId xmlns:a16="http://schemas.microsoft.com/office/drawing/2014/main" id="{DCD3AA07-28D2-4220-8CAD-3A1AAE82893B}"/>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M&amp;M beantwortet: Wie verhindern wir Wiederholung? Das Gericht beantwortet andere Fragen.</a:t>
            </a:r>
          </a:p>
        </p:txBody>
      </p:sp>
    </p:spTree>
    <p:extLst>
      <p:ext uri="{BB962C8B-B14F-4D97-AF65-F5344CB8AC3E}">
        <p14:creationId xmlns:p14="http://schemas.microsoft.com/office/powerpoint/2010/main" val="43637646"/>
      </p:ext>
    </p:extLst>
  </p:cSld>
</p:sld>
</file>

<file path=ppt/slides/slide347.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Zum Nachlesen · Termin 11: Arzneimittel, BtM, Delegation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LITERATUR &amp; SICHTBARE QUELLEN</a:t>
            </a:r>
            <a:endParaRPr/>
          </a:p>
        </p:txBody>
      </p:sp>
      <p:sp>
        <p:nvSpPr>
          <p:cNvPr id="4" name="">
            <a:extLst xmlns:a="http://schemas.openxmlformats.org/drawingml/2006/main">
              <a:ext uri="{FF2B5EF4-FFF2-40B4-BE49-F238E27FC236}">
                <a16:creationId xmlns:a16="http://schemas.microsoft.com/office/drawing/2014/main" id="{8149B6AE-E4DB-4D6F-B61A-3F54EBBC9ECE}"/>
              </a:ext>
            </a:extLst>
          </p:cNvPr>
          <p:cNvSpPr>
            <a:spLocks xmlns:a="http://schemas.openxmlformats.org/drawingml/2006/main" noGrp="1"/>
          </p:cNvSpPr>
          <p:nvPr/>
        </p:nvSpPr>
        <p:spPr>
          <a:xfrm xmlns:a="http://schemas.openxmlformats.org/drawingml/2006/main">
            <a:off x="1809750" y="1943100"/>
            <a:ext cx="461010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16DF7986-3AFE-4DEB-9493-5FC2537F9B2C}"/>
              </a:ext>
            </a:extLst>
          </p:cNvPr>
          <p:cNvSpPr>
            <a:spLocks xmlns:a="http://schemas.openxmlformats.org/drawingml/2006/main" noGrp="1"/>
          </p:cNvSpPr>
          <p:nvPr/>
        </p:nvSpPr>
        <p:spPr>
          <a:xfrm xmlns:a="http://schemas.openxmlformats.org/drawingml/2006/main">
            <a:off x="1809750" y="1943100"/>
            <a:ext cx="4610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Vertiefung</a:t>
            </a:r>
          </a:p>
        </p:txBody>
      </p:sp>
      <p:sp>
        <p:nvSpPr>
          <p:cNvPr id="6" name="">
            <a:extLst xmlns:a="http://schemas.openxmlformats.org/drawingml/2006/main">
              <a:ext uri="{FF2B5EF4-FFF2-40B4-BE49-F238E27FC236}">
                <a16:creationId xmlns:a16="http://schemas.microsoft.com/office/drawing/2014/main" id="{1EBB484A-4D1A-4DFE-90E9-51CA4BE4C67A}"/>
              </a:ext>
            </a:extLst>
          </p:cNvPr>
          <p:cNvSpPr>
            <a:spLocks xmlns:a="http://schemas.openxmlformats.org/drawingml/2006/main" noGrp="1"/>
          </p:cNvSpPr>
          <p:nvPr/>
        </p:nvSpPr>
        <p:spPr>
          <a:xfrm xmlns:a="http://schemas.openxmlformats.org/drawingml/2006/main">
            <a:off x="1809750" y="30289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7" name="">
            <a:extLst xmlns:a="http://schemas.openxmlformats.org/drawingml/2006/main">
              <a:ext uri="{FF2B5EF4-FFF2-40B4-BE49-F238E27FC236}">
                <a16:creationId xmlns:a16="http://schemas.microsoft.com/office/drawing/2014/main" id="{9903E5F8-E792-4E8A-B8A8-DDC31D83A359}"/>
              </a:ext>
            </a:extLst>
          </p:cNvPr>
          <p:cNvSpPr>
            <a:spLocks xmlns:a="http://schemas.openxmlformats.org/drawingml/2006/main" noGrp="1"/>
          </p:cNvSpPr>
          <p:nvPr/>
        </p:nvSpPr>
        <p:spPr>
          <a:xfrm xmlns:a="http://schemas.openxmlformats.org/drawingml/2006/main">
            <a:off x="1809750" y="24765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9BAB"/>
                </a:solidFill>
              </a:defRPr>
            </a:pPr>
            <a:r>
              <a:rPr sz="960" b="1">
                <a:solidFill>
                  <a:srgbClr val="009BAB"/>
                </a:solidFill>
              </a:rPr>
              <a:t>BtM-Recht</a:t>
            </a:r>
          </a:p>
        </p:txBody>
      </p:sp>
      <p:sp>
        <p:nvSpPr>
          <p:cNvPr id="8" name="">
            <a:extLst xmlns:a="http://schemas.openxmlformats.org/drawingml/2006/main">
              <a:ext uri="{FF2B5EF4-FFF2-40B4-BE49-F238E27FC236}">
                <a16:creationId xmlns:a16="http://schemas.microsoft.com/office/drawing/2014/main" id="{46C58B34-F226-4F64-8EA6-8E21ED83D723}"/>
              </a:ext>
            </a:extLst>
          </p:cNvPr>
          <p:cNvSpPr>
            <a:spLocks xmlns:a="http://schemas.openxmlformats.org/drawingml/2006/main" noGrp="1"/>
          </p:cNvSpPr>
          <p:nvPr/>
        </p:nvSpPr>
        <p:spPr>
          <a:xfrm xmlns:a="http://schemas.openxmlformats.org/drawingml/2006/main">
            <a:off x="2952750" y="24765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Körner/Patzak/Volkmer, BtMG, insbesondere §§ 13 und 29.</a:t>
            </a:r>
          </a:p>
        </p:txBody>
      </p:sp>
      <p:sp>
        <p:nvSpPr>
          <p:cNvPr id="9" name="">
            <a:extLst xmlns:a="http://schemas.openxmlformats.org/drawingml/2006/main">
              <a:ext uri="{FF2B5EF4-FFF2-40B4-BE49-F238E27FC236}">
                <a16:creationId xmlns:a16="http://schemas.microsoft.com/office/drawing/2014/main" id="{7C38F31F-C04A-4985-8F39-C91B423FD06C}"/>
              </a:ext>
            </a:extLst>
          </p:cNvPr>
          <p:cNvSpPr>
            <a:spLocks xmlns:a="http://schemas.openxmlformats.org/drawingml/2006/main" noGrp="1"/>
          </p:cNvSpPr>
          <p:nvPr/>
        </p:nvSpPr>
        <p:spPr>
          <a:xfrm xmlns:a="http://schemas.openxmlformats.org/drawingml/2006/main">
            <a:off x="1809750" y="36385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10" name="">
            <a:extLst xmlns:a="http://schemas.openxmlformats.org/drawingml/2006/main">
              <a:ext uri="{FF2B5EF4-FFF2-40B4-BE49-F238E27FC236}">
                <a16:creationId xmlns:a16="http://schemas.microsoft.com/office/drawing/2014/main" id="{B45A6270-E615-40AB-9B68-71CD258B6C44}"/>
              </a:ext>
            </a:extLst>
          </p:cNvPr>
          <p:cNvSpPr>
            <a:spLocks xmlns:a="http://schemas.openxmlformats.org/drawingml/2006/main" noGrp="1"/>
          </p:cNvSpPr>
          <p:nvPr/>
        </p:nvSpPr>
        <p:spPr>
          <a:xfrm xmlns:a="http://schemas.openxmlformats.org/drawingml/2006/main">
            <a:off x="1809750" y="30861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9BAB"/>
                </a:solidFill>
              </a:defRPr>
            </a:pPr>
            <a:r>
              <a:rPr sz="960" b="1">
                <a:solidFill>
                  <a:srgbClr val="009BAB"/>
                </a:solidFill>
              </a:rPr>
              <a:t>Medikationssicherheit</a:t>
            </a:r>
          </a:p>
        </p:txBody>
      </p:sp>
      <p:sp>
        <p:nvSpPr>
          <p:cNvPr id="11" name="">
            <a:extLst xmlns:a="http://schemas.openxmlformats.org/drawingml/2006/main">
              <a:ext uri="{FF2B5EF4-FFF2-40B4-BE49-F238E27FC236}">
                <a16:creationId xmlns:a16="http://schemas.microsoft.com/office/drawing/2014/main" id="{25C876E4-E1FF-4097-AF79-B281289A590E}"/>
              </a:ext>
            </a:extLst>
          </p:cNvPr>
          <p:cNvSpPr>
            <a:spLocks xmlns:a="http://schemas.openxmlformats.org/drawingml/2006/main" noGrp="1"/>
          </p:cNvSpPr>
          <p:nvPr/>
        </p:nvSpPr>
        <p:spPr>
          <a:xfrm xmlns:a="http://schemas.openxmlformats.org/drawingml/2006/main">
            <a:off x="2952750" y="30861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WHO Medication Without Harm und lokale SOPs.</a:t>
            </a:r>
          </a:p>
        </p:txBody>
      </p:sp>
      <p:sp>
        <p:nvSpPr>
          <p:cNvPr id="12" name="">
            <a:extLst xmlns:a="http://schemas.openxmlformats.org/drawingml/2006/main">
              <a:ext uri="{FF2B5EF4-FFF2-40B4-BE49-F238E27FC236}">
                <a16:creationId xmlns:a16="http://schemas.microsoft.com/office/drawing/2014/main" id="{D9DDD396-8643-4A33-800A-CCDDD763536D}"/>
              </a:ext>
            </a:extLst>
          </p:cNvPr>
          <p:cNvSpPr>
            <a:spLocks xmlns:a="http://schemas.openxmlformats.org/drawingml/2006/main" noGrp="1"/>
          </p:cNvSpPr>
          <p:nvPr/>
        </p:nvSpPr>
        <p:spPr>
          <a:xfrm xmlns:a="http://schemas.openxmlformats.org/drawingml/2006/main">
            <a:off x="1809750" y="42481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13" name="">
            <a:extLst xmlns:a="http://schemas.openxmlformats.org/drawingml/2006/main">
              <a:ext uri="{FF2B5EF4-FFF2-40B4-BE49-F238E27FC236}">
                <a16:creationId xmlns:a16="http://schemas.microsoft.com/office/drawing/2014/main" id="{2AA42178-7B66-4F93-9084-65F882018D29}"/>
              </a:ext>
            </a:extLst>
          </p:cNvPr>
          <p:cNvSpPr>
            <a:spLocks xmlns:a="http://schemas.openxmlformats.org/drawingml/2006/main" noGrp="1"/>
          </p:cNvSpPr>
          <p:nvPr/>
        </p:nvSpPr>
        <p:spPr>
          <a:xfrm xmlns:a="http://schemas.openxmlformats.org/drawingml/2006/main">
            <a:off x="1809750" y="36957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9BAB"/>
                </a:solidFill>
              </a:defRPr>
            </a:pPr>
            <a:r>
              <a:rPr sz="960" b="1">
                <a:solidFill>
                  <a:srgbClr val="009BAB"/>
                </a:solidFill>
              </a:rPr>
              <a:t>Human Factors</a:t>
            </a:r>
          </a:p>
        </p:txBody>
      </p:sp>
      <p:sp>
        <p:nvSpPr>
          <p:cNvPr id="14" name="">
            <a:extLst xmlns:a="http://schemas.openxmlformats.org/drawingml/2006/main">
              <a:ext uri="{FF2B5EF4-FFF2-40B4-BE49-F238E27FC236}">
                <a16:creationId xmlns:a16="http://schemas.microsoft.com/office/drawing/2014/main" id="{89235B26-CD50-4318-93FD-89F6F574BEB7}"/>
              </a:ext>
            </a:extLst>
          </p:cNvPr>
          <p:cNvSpPr>
            <a:spLocks xmlns:a="http://schemas.openxmlformats.org/drawingml/2006/main" noGrp="1"/>
          </p:cNvSpPr>
          <p:nvPr/>
        </p:nvSpPr>
        <p:spPr>
          <a:xfrm xmlns:a="http://schemas.openxmlformats.org/drawingml/2006/main">
            <a:off x="2952750" y="36957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Swiss-cheese-Modell, Doppelkontrollen und Look-alike/Sound-alike-Risiken.</a:t>
            </a:r>
          </a:p>
        </p:txBody>
      </p:sp>
      <p:sp>
        <p:nvSpPr>
          <p:cNvPr id="15" name="">
            <a:extLst xmlns:a="http://schemas.openxmlformats.org/drawingml/2006/main">
              <a:ext uri="{FF2B5EF4-FFF2-40B4-BE49-F238E27FC236}">
                <a16:creationId xmlns:a16="http://schemas.microsoft.com/office/drawing/2014/main" id="{88A5EF41-05B1-4254-9954-441F5AB94ACB}"/>
              </a:ext>
            </a:extLst>
          </p:cNvPr>
          <p:cNvSpPr>
            <a:spLocks xmlns:a="http://schemas.openxmlformats.org/drawingml/2006/main" noGrp="1"/>
          </p:cNvSpPr>
          <p:nvPr/>
        </p:nvSpPr>
        <p:spPr>
          <a:xfrm xmlns:a="http://schemas.openxmlformats.org/drawingml/2006/main">
            <a:off x="1809750" y="48577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16" name="">
            <a:extLst xmlns:a="http://schemas.openxmlformats.org/drawingml/2006/main">
              <a:ext uri="{FF2B5EF4-FFF2-40B4-BE49-F238E27FC236}">
                <a16:creationId xmlns:a16="http://schemas.microsoft.com/office/drawing/2014/main" id="{940DF0BB-1096-4FD0-A3E4-7CAC9EE248AE}"/>
              </a:ext>
            </a:extLst>
          </p:cNvPr>
          <p:cNvSpPr>
            <a:spLocks xmlns:a="http://schemas.openxmlformats.org/drawingml/2006/main" noGrp="1"/>
          </p:cNvSpPr>
          <p:nvPr/>
        </p:nvSpPr>
        <p:spPr>
          <a:xfrm xmlns:a="http://schemas.openxmlformats.org/drawingml/2006/main">
            <a:off x="1809750" y="43053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9BAB"/>
                </a:solidFill>
              </a:defRPr>
            </a:pPr>
            <a:r>
              <a:rPr sz="960" b="1">
                <a:solidFill>
                  <a:srgbClr val="009BAB"/>
                </a:solidFill>
              </a:rPr>
              <a:t>Podcast</a:t>
            </a:r>
          </a:p>
        </p:txBody>
      </p:sp>
      <p:sp>
        <p:nvSpPr>
          <p:cNvPr id="17" name="">
            <a:extLst xmlns:a="http://schemas.openxmlformats.org/drawingml/2006/main">
              <a:ext uri="{FF2B5EF4-FFF2-40B4-BE49-F238E27FC236}">
                <a16:creationId xmlns:a16="http://schemas.microsoft.com/office/drawing/2014/main" id="{1F1DA4ED-AF5D-4144-8109-C9B565A8A9EE}"/>
              </a:ext>
            </a:extLst>
          </p:cNvPr>
          <p:cNvSpPr>
            <a:spLocks xmlns:a="http://schemas.openxmlformats.org/drawingml/2006/main" noGrp="1"/>
          </p:cNvSpPr>
          <p:nvPr/>
        </p:nvSpPr>
        <p:spPr>
          <a:xfrm xmlns:a="http://schemas.openxmlformats.org/drawingml/2006/main">
            <a:off x="2952750" y="43053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Recht Medizinisch, Folge 1: Betäubungsmittel im Klinikalltag.</a:t>
            </a:r>
          </a:p>
        </p:txBody>
      </p:sp>
      <p:sp>
        <p:nvSpPr>
          <p:cNvPr id="18" name="">
            <a:extLst xmlns:a="http://schemas.openxmlformats.org/drawingml/2006/main">
              <a:ext uri="{FF2B5EF4-FFF2-40B4-BE49-F238E27FC236}">
                <a16:creationId xmlns:a16="http://schemas.microsoft.com/office/drawing/2014/main" id="{94796A89-0989-4E65-9B37-582A2D380CA9}"/>
              </a:ext>
            </a:extLst>
          </p:cNvPr>
          <p:cNvSpPr>
            <a:spLocks xmlns:a="http://schemas.openxmlformats.org/drawingml/2006/main" noGrp="1"/>
          </p:cNvSpPr>
          <p:nvPr/>
        </p:nvSpPr>
        <p:spPr>
          <a:xfrm xmlns:a="http://schemas.openxmlformats.org/drawingml/2006/main">
            <a:off x="6724650" y="1943100"/>
            <a:ext cx="461010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9" name="">
            <a:extLst xmlns:a="http://schemas.openxmlformats.org/drawingml/2006/main">
              <a:ext uri="{FF2B5EF4-FFF2-40B4-BE49-F238E27FC236}">
                <a16:creationId xmlns:a16="http://schemas.microsoft.com/office/drawing/2014/main" id="{F578EB73-4BF1-4BD4-A85B-F3A515222BA4}"/>
              </a:ext>
            </a:extLst>
          </p:cNvPr>
          <p:cNvSpPr>
            <a:spLocks xmlns:a="http://schemas.openxmlformats.org/drawingml/2006/main" noGrp="1"/>
          </p:cNvSpPr>
          <p:nvPr/>
        </p:nvSpPr>
        <p:spPr>
          <a:xfrm xmlns:a="http://schemas.openxmlformats.org/drawingml/2006/main">
            <a:off x="6724650" y="1943100"/>
            <a:ext cx="4610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Primärquellen &amp; Rechtsprechung</a:t>
            </a:r>
          </a:p>
        </p:txBody>
      </p:sp>
      <p:sp>
        <p:nvSpPr>
          <p:cNvPr id="20" name="">
            <a:extLst xmlns:a="http://schemas.openxmlformats.org/drawingml/2006/main">
              <a:ext uri="{FF2B5EF4-FFF2-40B4-BE49-F238E27FC236}">
                <a16:creationId xmlns:a16="http://schemas.microsoft.com/office/drawing/2014/main" id="{10939E3D-A6E6-4854-A090-94B85F5D9B6C}"/>
              </a:ext>
            </a:extLst>
          </p:cNvPr>
          <p:cNvSpPr>
            <a:spLocks xmlns:a="http://schemas.openxmlformats.org/drawingml/2006/main" noGrp="1"/>
          </p:cNvSpPr>
          <p:nvPr/>
        </p:nvSpPr>
        <p:spPr>
          <a:xfrm xmlns:a="http://schemas.openxmlformats.org/drawingml/2006/main">
            <a:off x="6724650" y="30289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21" name="">
            <a:extLst xmlns:a="http://schemas.openxmlformats.org/drawingml/2006/main">
              <a:ext uri="{FF2B5EF4-FFF2-40B4-BE49-F238E27FC236}">
                <a16:creationId xmlns:a16="http://schemas.microsoft.com/office/drawing/2014/main" id="{E0602D89-15D6-41D5-931F-6DBA26B4363B}"/>
              </a:ext>
            </a:extLst>
          </p:cNvPr>
          <p:cNvSpPr>
            <a:spLocks xmlns:a="http://schemas.openxmlformats.org/drawingml/2006/main" noGrp="1"/>
          </p:cNvSpPr>
          <p:nvPr/>
        </p:nvSpPr>
        <p:spPr>
          <a:xfrm xmlns:a="http://schemas.openxmlformats.org/drawingml/2006/main">
            <a:off x="6724650" y="24765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3F6B"/>
                </a:solidFill>
              </a:defRPr>
            </a:pPr>
            <a:r>
              <a:rPr sz="960" b="1">
                <a:solidFill>
                  <a:srgbClr val="003F6B"/>
                </a:solidFill>
              </a:rPr>
              <a:t>Normen</a:t>
            </a:r>
          </a:p>
        </p:txBody>
      </p:sp>
      <p:sp>
        <p:nvSpPr>
          <p:cNvPr id="22" name="">
            <a:extLst xmlns:a="http://schemas.openxmlformats.org/drawingml/2006/main">
              <a:ext uri="{FF2B5EF4-FFF2-40B4-BE49-F238E27FC236}">
                <a16:creationId xmlns:a16="http://schemas.microsoft.com/office/drawing/2014/main" id="{CC0B5D3E-94A3-41AA-84AC-2DC7AFF4646B}"/>
              </a:ext>
            </a:extLst>
          </p:cNvPr>
          <p:cNvSpPr>
            <a:spLocks xmlns:a="http://schemas.openxmlformats.org/drawingml/2006/main" noGrp="1"/>
          </p:cNvSpPr>
          <p:nvPr/>
        </p:nvSpPr>
        <p:spPr>
          <a:xfrm xmlns:a="http://schemas.openxmlformats.org/drawingml/2006/main">
            <a:off x="7867650" y="24765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 13, 29 BtMG; §§ 222, 229 StGB; § 823 BGB.</a:t>
            </a:r>
          </a:p>
        </p:txBody>
      </p:sp>
      <p:sp>
        <p:nvSpPr>
          <p:cNvPr id="23" name="">
            <a:extLst xmlns:a="http://schemas.openxmlformats.org/drawingml/2006/main">
              <a:ext uri="{FF2B5EF4-FFF2-40B4-BE49-F238E27FC236}">
                <a16:creationId xmlns:a16="http://schemas.microsoft.com/office/drawing/2014/main" id="{7EC997C9-2D0C-4C3D-8A16-2F6B301598F5}"/>
              </a:ext>
            </a:extLst>
          </p:cNvPr>
          <p:cNvSpPr>
            <a:spLocks xmlns:a="http://schemas.openxmlformats.org/drawingml/2006/main" noGrp="1"/>
          </p:cNvSpPr>
          <p:nvPr/>
        </p:nvSpPr>
        <p:spPr>
          <a:xfrm xmlns:a="http://schemas.openxmlformats.org/drawingml/2006/main">
            <a:off x="6724650" y="36385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24" name="">
            <a:extLst xmlns:a="http://schemas.openxmlformats.org/drawingml/2006/main">
              <a:ext uri="{FF2B5EF4-FFF2-40B4-BE49-F238E27FC236}">
                <a16:creationId xmlns:a16="http://schemas.microsoft.com/office/drawing/2014/main" id="{43B18543-5B71-4F9D-94A2-432FAFDC7DDB}"/>
              </a:ext>
            </a:extLst>
          </p:cNvPr>
          <p:cNvSpPr>
            <a:spLocks xmlns:a="http://schemas.openxmlformats.org/drawingml/2006/main" noGrp="1"/>
          </p:cNvSpPr>
          <p:nvPr/>
        </p:nvSpPr>
        <p:spPr>
          <a:xfrm xmlns:a="http://schemas.openxmlformats.org/drawingml/2006/main">
            <a:off x="6724650" y="30861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3F6B"/>
                </a:solidFill>
              </a:defRPr>
            </a:pPr>
            <a:r>
              <a:rPr sz="960" b="1">
                <a:solidFill>
                  <a:srgbClr val="003F6B"/>
                </a:solidFill>
              </a:rPr>
              <a:t>BGH</a:t>
            </a:r>
          </a:p>
        </p:txBody>
      </p:sp>
      <p:sp>
        <p:nvSpPr>
          <p:cNvPr id="25" name="">
            <a:extLst xmlns:a="http://schemas.openxmlformats.org/drawingml/2006/main">
              <a:ext uri="{FF2B5EF4-FFF2-40B4-BE49-F238E27FC236}">
                <a16:creationId xmlns:a16="http://schemas.microsoft.com/office/drawing/2014/main" id="{7C2324EF-AD40-48AC-A4E5-2DA385A3B07D}"/>
              </a:ext>
            </a:extLst>
          </p:cNvPr>
          <p:cNvSpPr>
            <a:spLocks xmlns:a="http://schemas.openxmlformats.org/drawingml/2006/main" noGrp="1"/>
          </p:cNvSpPr>
          <p:nvPr/>
        </p:nvSpPr>
        <p:spPr>
          <a:xfrm xmlns:a="http://schemas.openxmlformats.org/drawingml/2006/main">
            <a:off x="7867650" y="30861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5 StR 491/10 · Dosierungsfehler und individueller Schuldgrad.</a:t>
            </a:r>
          </a:p>
        </p:txBody>
      </p:sp>
      <p:sp>
        <p:nvSpPr>
          <p:cNvPr id="26" name="">
            <a:extLst xmlns:a="http://schemas.openxmlformats.org/drawingml/2006/main">
              <a:ext uri="{FF2B5EF4-FFF2-40B4-BE49-F238E27FC236}">
                <a16:creationId xmlns:a16="http://schemas.microsoft.com/office/drawing/2014/main" id="{66740124-0DA2-4EAE-B79F-567A00838ED6}"/>
              </a:ext>
            </a:extLst>
          </p:cNvPr>
          <p:cNvSpPr>
            <a:spLocks xmlns:a="http://schemas.openxmlformats.org/drawingml/2006/main" noGrp="1"/>
          </p:cNvSpPr>
          <p:nvPr/>
        </p:nvSpPr>
        <p:spPr>
          <a:xfrm xmlns:a="http://schemas.openxmlformats.org/drawingml/2006/main">
            <a:off x="6724650" y="42481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27" name="">
            <a:extLst xmlns:a="http://schemas.openxmlformats.org/drawingml/2006/main">
              <a:ext uri="{FF2B5EF4-FFF2-40B4-BE49-F238E27FC236}">
                <a16:creationId xmlns:a16="http://schemas.microsoft.com/office/drawing/2014/main" id="{FA77FA93-928D-4F7F-A4A7-6739C27C93DA}"/>
              </a:ext>
            </a:extLst>
          </p:cNvPr>
          <p:cNvSpPr>
            <a:spLocks xmlns:a="http://schemas.openxmlformats.org/drawingml/2006/main" noGrp="1"/>
          </p:cNvSpPr>
          <p:nvPr/>
        </p:nvSpPr>
        <p:spPr>
          <a:xfrm xmlns:a="http://schemas.openxmlformats.org/drawingml/2006/main">
            <a:off x="6724650" y="36957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3F6B"/>
                </a:solidFill>
              </a:defRPr>
            </a:pPr>
            <a:r>
              <a:rPr sz="960" b="1">
                <a:solidFill>
                  <a:srgbClr val="003F6B"/>
                </a:solidFill>
              </a:rPr>
              <a:t>Podcastfall</a:t>
            </a:r>
          </a:p>
        </p:txBody>
      </p:sp>
      <p:sp>
        <p:nvSpPr>
          <p:cNvPr id="28" name="">
            <a:extLst xmlns:a="http://schemas.openxmlformats.org/drawingml/2006/main">
              <a:ext uri="{FF2B5EF4-FFF2-40B4-BE49-F238E27FC236}">
                <a16:creationId xmlns:a16="http://schemas.microsoft.com/office/drawing/2014/main" id="{4380BE2C-B6A4-4743-A86B-80756360B645}"/>
              </a:ext>
            </a:extLst>
          </p:cNvPr>
          <p:cNvSpPr>
            <a:spLocks xmlns:a="http://schemas.openxmlformats.org/drawingml/2006/main" noGrp="1"/>
          </p:cNvSpPr>
          <p:nvPr/>
        </p:nvSpPr>
        <p:spPr>
          <a:xfrm xmlns:a="http://schemas.openxmlformats.org/drawingml/2006/main">
            <a:off x="7867650" y="36957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LG Frankfurt/Main, 04.04.2017 – 5/27 KLs 16/16.</a:t>
            </a:r>
          </a:p>
        </p:txBody>
      </p:sp>
      <p:sp>
        <p:nvSpPr>
          <p:cNvPr id="29" name="">
            <a:extLst xmlns:a="http://schemas.openxmlformats.org/drawingml/2006/main">
              <a:ext uri="{FF2B5EF4-FFF2-40B4-BE49-F238E27FC236}">
                <a16:creationId xmlns:a16="http://schemas.microsoft.com/office/drawing/2014/main" id="{FB55C819-F297-4EAB-B241-F2A47048FB76}"/>
              </a:ext>
            </a:extLst>
          </p:cNvPr>
          <p:cNvSpPr>
            <a:spLocks xmlns:a="http://schemas.openxmlformats.org/drawingml/2006/main" noGrp="1"/>
          </p:cNvSpPr>
          <p:nvPr/>
        </p:nvSpPr>
        <p:spPr>
          <a:xfrm xmlns:a="http://schemas.openxmlformats.org/drawingml/2006/main">
            <a:off x="6724650" y="48577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30" name="">
            <a:extLst xmlns:a="http://schemas.openxmlformats.org/drawingml/2006/main">
              <a:ext uri="{FF2B5EF4-FFF2-40B4-BE49-F238E27FC236}">
                <a16:creationId xmlns:a16="http://schemas.microsoft.com/office/drawing/2014/main" id="{EB961511-36EB-485D-8543-0E9F8B2C8EC0}"/>
              </a:ext>
            </a:extLst>
          </p:cNvPr>
          <p:cNvSpPr>
            <a:spLocks xmlns:a="http://schemas.openxmlformats.org/drawingml/2006/main" noGrp="1"/>
          </p:cNvSpPr>
          <p:nvPr/>
        </p:nvSpPr>
        <p:spPr>
          <a:xfrm xmlns:a="http://schemas.openxmlformats.org/drawingml/2006/main">
            <a:off x="6724650" y="43053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3F6B"/>
                </a:solidFill>
              </a:defRPr>
            </a:pPr>
            <a:r>
              <a:rPr sz="960" b="1">
                <a:solidFill>
                  <a:srgbClr val="003F6B"/>
                </a:solidFill>
              </a:rPr>
              <a:t>Podcastfall</a:t>
            </a:r>
          </a:p>
        </p:txBody>
      </p:sp>
      <p:sp>
        <p:nvSpPr>
          <p:cNvPr id="31" name="">
            <a:extLst xmlns:a="http://schemas.openxmlformats.org/drawingml/2006/main">
              <a:ext uri="{FF2B5EF4-FFF2-40B4-BE49-F238E27FC236}">
                <a16:creationId xmlns:a16="http://schemas.microsoft.com/office/drawing/2014/main" id="{965EF030-00A2-4DC5-84F0-4DDB2CCAFC2A}"/>
              </a:ext>
            </a:extLst>
          </p:cNvPr>
          <p:cNvSpPr>
            <a:spLocks xmlns:a="http://schemas.openxmlformats.org/drawingml/2006/main" noGrp="1"/>
          </p:cNvSpPr>
          <p:nvPr/>
        </p:nvSpPr>
        <p:spPr>
          <a:xfrm xmlns:a="http://schemas.openxmlformats.org/drawingml/2006/main">
            <a:off x="7867650" y="43053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LG Bielefeld, 14.08.2013 – 011 Ns-16 Js 279/11-11/13.</a:t>
            </a:r>
          </a:p>
        </p:txBody>
      </p:sp>
      <p:sp>
        <p:nvSpPr>
          <p:cNvPr id="32" name="">
            <a:extLst xmlns:a="http://schemas.openxmlformats.org/drawingml/2006/main">
              <a:ext uri="{FF2B5EF4-FFF2-40B4-BE49-F238E27FC236}">
                <a16:creationId xmlns:a16="http://schemas.microsoft.com/office/drawing/2014/main" id="{2A1B6FF5-7FCD-44BB-B7EA-4B5FBE9E0823}"/>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20">
                <a:solidFill>
                  <a:srgbClr val="667680"/>
                </a:solidFill>
              </a:defRPr>
            </a:pPr>
            <a:r>
              <a:rPr sz="720">
                <a:solidFill>
                  <a:srgbClr val="667680"/>
                </a:solidFill>
              </a:rPr>
              <a:t>Alle Internetquellen Abruf/Stand: 20.08.2026. Gesetze: aktuelle Fassung jeweils vor Anwendung prüfen · https://www.rechtsprechung-im-internet.de</a:t>
            </a:r>
          </a:p>
        </p:txBody>
      </p:sp>
    </p:spTree>
    <p:extLst>
      <p:ext uri="{BB962C8B-B14F-4D97-AF65-F5344CB8AC3E}">
        <p14:creationId xmlns:p14="http://schemas.microsoft.com/office/powerpoint/2010/main" val="43637646"/>
      </p:ext>
    </p:extLst>
  </p:cSld>
</p:sld>
</file>

<file path=ppt/slides/slide348.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endParaRPr/>
          </a:p>
        </p:txBody>
      </p:sp>
      <p:sp>
        <p:nvSpPr>
          <p:cNvPr id="4" name="">
            <a:extLst xmlns:a="http://schemas.openxmlformats.org/drawingml/2006/main">
              <a:ext uri="{FF2B5EF4-FFF2-40B4-BE49-F238E27FC236}">
                <a16:creationId xmlns:a16="http://schemas.microsoft.com/office/drawing/2014/main" id="{D55B8E07-AC2B-4A00-BE69-676B01F29D40}"/>
              </a:ext>
            </a:extLst>
          </p:cNvPr>
          <p:cNvSpPr>
            <a:spLocks xmlns:a="http://schemas.openxmlformats.org/drawingml/2006/main" noGrp="1"/>
          </p:cNvSpPr>
          <p:nvPr/>
        </p:nvSpPr>
        <p:spPr>
          <a:xfrm xmlns:a="http://schemas.openxmlformats.org/drawingml/2006/main">
            <a:off x="2571750" y="2038350"/>
            <a:ext cx="838200" cy="628650"/>
          </a:xfrm>
          <a:prstGeom xmlns:a="http://schemas.openxmlformats.org/drawingml/2006/main" prst="roundRect">
            <a:avLst>
              <a:gd name="adj" fmla="val 12121"/>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22EDC7EA-4A2B-4F82-A364-79D2820B7FED}"/>
              </a:ext>
            </a:extLst>
          </p:cNvPr>
          <p:cNvSpPr>
            <a:spLocks xmlns:a="http://schemas.openxmlformats.org/drawingml/2006/main" noGrp="1"/>
          </p:cNvSpPr>
          <p:nvPr/>
        </p:nvSpPr>
        <p:spPr>
          <a:xfrm xmlns:a="http://schemas.openxmlformats.org/drawingml/2006/main">
            <a:off x="2571750" y="2038350"/>
            <a:ext cx="8382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FFFFFF"/>
                </a:solidFill>
              </a:defRPr>
            </a:pPr>
            <a:r>
              <a:rPr sz="2100" b="1">
                <a:solidFill>
                  <a:srgbClr val="FFFFFF"/>
                </a:solidFill>
              </a:rPr>
              <a:t>12</a:t>
            </a:r>
          </a:p>
        </p:txBody>
      </p:sp>
      <p:sp>
        <p:nvSpPr>
          <p:cNvPr id="6" name="">
            <a:extLst xmlns:a="http://schemas.openxmlformats.org/drawingml/2006/main">
              <a:ext uri="{FF2B5EF4-FFF2-40B4-BE49-F238E27FC236}">
                <a16:creationId xmlns:a16="http://schemas.microsoft.com/office/drawing/2014/main" id="{4F324C95-23C2-4102-BD88-87C5E226D141}"/>
              </a:ext>
            </a:extLst>
          </p:cNvPr>
          <p:cNvSpPr>
            <a:spLocks xmlns:a="http://schemas.openxmlformats.org/drawingml/2006/main" noGrp="1"/>
          </p:cNvSpPr>
          <p:nvPr/>
        </p:nvSpPr>
        <p:spPr>
          <a:xfrm xmlns:a="http://schemas.openxmlformats.org/drawingml/2006/main">
            <a:off x="3667125" y="2000250"/>
            <a:ext cx="8096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4400">
                <a:solidFill>
                  <a:srgbClr val="003F6B"/>
                </a:solidFill>
              </a:defRPr>
            </a:pPr>
            <a:r>
              <a:rPr sz="4400">
                <a:solidFill>
                  <a:srgbClr val="003F6B"/>
                </a:solidFill>
              </a:rPr>
              <a:t>Übergaben, Rettungsdienst, Systemdruck</a:t>
            </a:r>
          </a:p>
        </p:txBody>
      </p:sp>
      <p:sp>
        <p:nvSpPr>
          <p:cNvPr id="7" name="">
            <a:extLst xmlns:a="http://schemas.openxmlformats.org/drawingml/2006/main">
              <a:ext uri="{FF2B5EF4-FFF2-40B4-BE49-F238E27FC236}">
                <a16:creationId xmlns:a16="http://schemas.microsoft.com/office/drawing/2014/main" id="{51A8963D-DABD-4AC2-8E29-BF5B03A29E52}"/>
              </a:ext>
            </a:extLst>
          </p:cNvPr>
          <p:cNvSpPr>
            <a:spLocks xmlns:a="http://schemas.openxmlformats.org/drawingml/2006/main" noGrp="1"/>
          </p:cNvSpPr>
          <p:nvPr/>
        </p:nvSpPr>
        <p:spPr>
          <a:xfrm xmlns:a="http://schemas.openxmlformats.org/drawingml/2006/main">
            <a:off x="3238500" y="3333750"/>
            <a:ext cx="8524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400">
                <a:solidFill>
                  <a:srgbClr val="003F6B"/>
                </a:solidFill>
              </a:defRPr>
            </a:pPr>
            <a:r>
              <a:rPr sz="2400">
                <a:solidFill>
                  <a:srgbClr val="003F6B"/>
                </a:solidFill>
              </a:rPr>
              <a:t>Termin: 13.01.2027 · 16:30–17:45 · V03 0-C001</a:t>
            </a:r>
          </a:p>
        </p:txBody>
      </p:sp>
      <p:sp>
        <p:nvSpPr>
          <p:cNvPr id="8" name="">
            <a:extLst xmlns:a="http://schemas.openxmlformats.org/drawingml/2006/main">
              <a:ext uri="{FF2B5EF4-FFF2-40B4-BE49-F238E27FC236}">
                <a16:creationId xmlns:a16="http://schemas.microsoft.com/office/drawing/2014/main" id="{008AA356-2CE3-4250-B0A2-8C4E4D11B6DC}"/>
              </a:ext>
            </a:extLst>
          </p:cNvPr>
          <p:cNvSpPr>
            <a:spLocks xmlns:a="http://schemas.openxmlformats.org/drawingml/2006/main" noGrp="1"/>
          </p:cNvSpPr>
          <p:nvPr/>
        </p:nvSpPr>
        <p:spPr>
          <a:xfrm xmlns:a="http://schemas.openxmlformats.org/drawingml/2006/main">
            <a:off x="3238500" y="3752850"/>
            <a:ext cx="8524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400">
                <a:solidFill>
                  <a:srgbClr val="003F6B"/>
                </a:solidFill>
              </a:defRPr>
            </a:pPr>
            <a:r>
              <a:rPr sz="2400">
                <a:solidFill>
                  <a:srgbClr val="003F6B"/>
                </a:solidFill>
              </a:rPr>
              <a:t>Wo Verantwortung zwischen Sektoren verloren geht</a:t>
            </a:r>
          </a:p>
        </p:txBody>
      </p:sp>
      <p:sp>
        <p:nvSpPr>
          <p:cNvPr id="9" name="">
            <a:extLst xmlns:a="http://schemas.openxmlformats.org/drawingml/2006/main">
              <a:ext uri="{FF2B5EF4-FFF2-40B4-BE49-F238E27FC236}">
                <a16:creationId xmlns:a16="http://schemas.microsoft.com/office/drawing/2014/main" id="{E1150D2C-577B-4CB7-BC0C-219916DA7190}"/>
              </a:ext>
            </a:extLst>
          </p:cNvPr>
          <p:cNvSpPr>
            <a:spLocks xmlns:a="http://schemas.openxmlformats.org/drawingml/2006/main" noGrp="1"/>
          </p:cNvSpPr>
          <p:nvPr/>
        </p:nvSpPr>
        <p:spPr>
          <a:xfrm xmlns:a="http://schemas.openxmlformats.org/drawingml/2006/main">
            <a:off x="3238500" y="4552950"/>
            <a:ext cx="8524875"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400">
                <a:solidFill>
                  <a:srgbClr val="003F6B"/>
                </a:solidFill>
              </a:defRPr>
            </a:pPr>
            <a:r>
              <a:rPr sz="2400">
                <a:solidFill>
                  <a:srgbClr val="003F6B"/>
                </a:solidFill>
              </a:rPr>
              <a:t>Eine präzise Sorge ist stärker als eine erfundene Dramatik.</a:t>
            </a:r>
          </a:p>
        </p:txBody>
      </p:sp>
    </p:spTree>
    <p:extLst>
      <p:ext uri="{BB962C8B-B14F-4D97-AF65-F5344CB8AC3E}">
        <p14:creationId xmlns:p14="http://schemas.microsoft.com/office/powerpoint/2010/main" val="43637646"/>
      </p:ext>
    </p:extLst>
  </p:cSld>
</p:sld>
</file>

<file path=ppt/slides/slide349.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Lernziele Termin 12: Übergaben, Rettungsdienst, Systemdruck</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CHECKLISTE · AM ENDE DES HEUTIGEN TERMINS KANN ICH …</a:t>
            </a:r>
            <a:endParaRPr/>
          </a:p>
        </p:txBody>
      </p:sp>
      <p:sp>
        <p:nvSpPr>
          <p:cNvPr id="4" name="">
            <a:extLst xmlns:a="http://schemas.openxmlformats.org/drawingml/2006/main">
              <a:ext uri="{FF2B5EF4-FFF2-40B4-BE49-F238E27FC236}">
                <a16:creationId xmlns:a16="http://schemas.microsoft.com/office/drawing/2014/main" id="{68E505C1-7779-4324-9F07-EB74E446A93D}"/>
              </a:ext>
            </a:extLst>
          </p:cNvPr>
          <p:cNvSpPr>
            <a:spLocks xmlns:a="http://schemas.openxmlformats.org/drawingml/2006/main" noGrp="1"/>
          </p:cNvSpPr>
          <p:nvPr/>
        </p:nvSpPr>
        <p:spPr>
          <a:xfrm xmlns:a="http://schemas.openxmlformats.org/drawingml/2006/main">
            <a:off x="1809750" y="198120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B2BB"/>
            </a:solidFill>
            <a:prstDash val="solid"/>
          </a:ln>
        </p:spPr>
      </p:sp>
      <p:sp>
        <p:nvSpPr>
          <p:cNvPr id="5" name="">
            <a:extLst xmlns:a="http://schemas.openxmlformats.org/drawingml/2006/main">
              <a:ext uri="{FF2B5EF4-FFF2-40B4-BE49-F238E27FC236}">
                <a16:creationId xmlns:a16="http://schemas.microsoft.com/office/drawing/2014/main" id="{6D598CFB-C0B2-4003-BCA8-76C798A5B28A}"/>
              </a:ext>
            </a:extLst>
          </p:cNvPr>
          <p:cNvSpPr>
            <a:spLocks xmlns:a="http://schemas.openxmlformats.org/drawingml/2006/main" noGrp="1"/>
          </p:cNvSpPr>
          <p:nvPr/>
        </p:nvSpPr>
        <p:spPr>
          <a:xfrm xmlns:a="http://schemas.openxmlformats.org/drawingml/2006/main">
            <a:off x="1943100" y="2124075"/>
            <a:ext cx="40005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90726D71-57A3-4BCC-B126-1E77A2FA29D0}"/>
              </a:ext>
            </a:extLst>
          </p:cNvPr>
          <p:cNvSpPr>
            <a:spLocks xmlns:a="http://schemas.openxmlformats.org/drawingml/2006/main" noGrp="1"/>
          </p:cNvSpPr>
          <p:nvPr/>
        </p:nvSpPr>
        <p:spPr>
          <a:xfrm xmlns:a="http://schemas.openxmlformats.org/drawingml/2006/main">
            <a:off x="1943100" y="21050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7" name="">
            <a:extLst xmlns:a="http://schemas.openxmlformats.org/drawingml/2006/main">
              <a:ext uri="{FF2B5EF4-FFF2-40B4-BE49-F238E27FC236}">
                <a16:creationId xmlns:a16="http://schemas.microsoft.com/office/drawing/2014/main" id="{B5751B60-8289-418C-92D5-96DA2F7BA868}"/>
              </a:ext>
            </a:extLst>
          </p:cNvPr>
          <p:cNvSpPr>
            <a:spLocks xmlns:a="http://schemas.openxmlformats.org/drawingml/2006/main" noGrp="1"/>
          </p:cNvSpPr>
          <p:nvPr/>
        </p:nvSpPr>
        <p:spPr>
          <a:xfrm xmlns:a="http://schemas.openxmlformats.org/drawingml/2006/main">
            <a:off x="2476500" y="207645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Verantwortungsübergänge und offene Aufgaben sichtbar machen.</a:t>
            </a:r>
          </a:p>
        </p:txBody>
      </p:sp>
      <p:sp>
        <p:nvSpPr>
          <p:cNvPr id="8" name="">
            <a:extLst xmlns:a="http://schemas.openxmlformats.org/drawingml/2006/main">
              <a:ext uri="{FF2B5EF4-FFF2-40B4-BE49-F238E27FC236}">
                <a16:creationId xmlns:a16="http://schemas.microsoft.com/office/drawing/2014/main" id="{958E83BC-D38C-4A5A-92EE-77D4BCA49871}"/>
              </a:ext>
            </a:extLst>
          </p:cNvPr>
          <p:cNvSpPr>
            <a:spLocks xmlns:a="http://schemas.openxmlformats.org/drawingml/2006/main" noGrp="1"/>
          </p:cNvSpPr>
          <p:nvPr/>
        </p:nvSpPr>
        <p:spPr>
          <a:xfrm xmlns:a="http://schemas.openxmlformats.org/drawingml/2006/main">
            <a:off x="6696075" y="198120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3F6B"/>
            </a:solidFill>
            <a:prstDash val="solid"/>
          </a:ln>
        </p:spPr>
      </p:sp>
      <p:sp>
        <p:nvSpPr>
          <p:cNvPr id="9" name="">
            <a:extLst xmlns:a="http://schemas.openxmlformats.org/drawingml/2006/main">
              <a:ext uri="{FF2B5EF4-FFF2-40B4-BE49-F238E27FC236}">
                <a16:creationId xmlns:a16="http://schemas.microsoft.com/office/drawing/2014/main" id="{A78F2691-77F1-420A-8689-DADB87E25512}"/>
              </a:ext>
            </a:extLst>
          </p:cNvPr>
          <p:cNvSpPr>
            <a:spLocks xmlns:a="http://schemas.openxmlformats.org/drawingml/2006/main" noGrp="1"/>
          </p:cNvSpPr>
          <p:nvPr/>
        </p:nvSpPr>
        <p:spPr>
          <a:xfrm xmlns:a="http://schemas.openxmlformats.org/drawingml/2006/main">
            <a:off x="6829425" y="2124075"/>
            <a:ext cx="4000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DFAA02AE-CC37-4C30-9242-36FFAAC8E270}"/>
              </a:ext>
            </a:extLst>
          </p:cNvPr>
          <p:cNvSpPr>
            <a:spLocks xmlns:a="http://schemas.openxmlformats.org/drawingml/2006/main" noGrp="1"/>
          </p:cNvSpPr>
          <p:nvPr/>
        </p:nvSpPr>
        <p:spPr>
          <a:xfrm xmlns:a="http://schemas.openxmlformats.org/drawingml/2006/main">
            <a:off x="6829425" y="21050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11" name="">
            <a:extLst xmlns:a="http://schemas.openxmlformats.org/drawingml/2006/main">
              <a:ext uri="{FF2B5EF4-FFF2-40B4-BE49-F238E27FC236}">
                <a16:creationId xmlns:a16="http://schemas.microsoft.com/office/drawing/2014/main" id="{A6DC4705-739C-4BBA-9A51-F05A6EB614B2}"/>
              </a:ext>
            </a:extLst>
          </p:cNvPr>
          <p:cNvSpPr>
            <a:spLocks xmlns:a="http://schemas.openxmlformats.org/drawingml/2006/main" noGrp="1"/>
          </p:cNvSpPr>
          <p:nvPr/>
        </p:nvSpPr>
        <p:spPr>
          <a:xfrm xmlns:a="http://schemas.openxmlformats.org/drawingml/2006/main">
            <a:off x="7362825" y="207645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eine strukturierte Übergabe nach I-PASS/SBAR durchführen.</a:t>
            </a:r>
          </a:p>
        </p:txBody>
      </p:sp>
      <p:sp>
        <p:nvSpPr>
          <p:cNvPr id="12" name="">
            <a:extLst xmlns:a="http://schemas.openxmlformats.org/drawingml/2006/main">
              <a:ext uri="{FF2B5EF4-FFF2-40B4-BE49-F238E27FC236}">
                <a16:creationId xmlns:a16="http://schemas.microsoft.com/office/drawing/2014/main" id="{8EBCF9F3-4783-42FA-9C6C-5CE99E189431}"/>
              </a:ext>
            </a:extLst>
          </p:cNvPr>
          <p:cNvSpPr>
            <a:spLocks xmlns:a="http://schemas.openxmlformats.org/drawingml/2006/main" noGrp="1"/>
          </p:cNvSpPr>
          <p:nvPr/>
        </p:nvSpPr>
        <p:spPr>
          <a:xfrm xmlns:a="http://schemas.openxmlformats.org/drawingml/2006/main">
            <a:off x="1809750" y="316865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B2BB"/>
            </a:solidFill>
            <a:prstDash val="solid"/>
          </a:ln>
        </p:spPr>
      </p:sp>
      <p:sp>
        <p:nvSpPr>
          <p:cNvPr id="13" name="">
            <a:extLst xmlns:a="http://schemas.openxmlformats.org/drawingml/2006/main">
              <a:ext uri="{FF2B5EF4-FFF2-40B4-BE49-F238E27FC236}">
                <a16:creationId xmlns:a16="http://schemas.microsoft.com/office/drawing/2014/main" id="{A4E26017-B8D9-4BE9-B89B-7B7C632929F8}"/>
              </a:ext>
            </a:extLst>
          </p:cNvPr>
          <p:cNvSpPr>
            <a:spLocks xmlns:a="http://schemas.openxmlformats.org/drawingml/2006/main" noGrp="1"/>
          </p:cNvSpPr>
          <p:nvPr/>
        </p:nvSpPr>
        <p:spPr>
          <a:xfrm xmlns:a="http://schemas.openxmlformats.org/drawingml/2006/main">
            <a:off x="1943100" y="3311525"/>
            <a:ext cx="40005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C63D73AE-10FB-41E0-A9CE-15168E9F34F1}"/>
              </a:ext>
            </a:extLst>
          </p:cNvPr>
          <p:cNvSpPr>
            <a:spLocks xmlns:a="http://schemas.openxmlformats.org/drawingml/2006/main" noGrp="1"/>
          </p:cNvSpPr>
          <p:nvPr/>
        </p:nvSpPr>
        <p:spPr>
          <a:xfrm xmlns:a="http://schemas.openxmlformats.org/drawingml/2006/main">
            <a:off x="1943100" y="32924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15" name="">
            <a:extLst xmlns:a="http://schemas.openxmlformats.org/drawingml/2006/main">
              <a:ext uri="{FF2B5EF4-FFF2-40B4-BE49-F238E27FC236}">
                <a16:creationId xmlns:a16="http://schemas.microsoft.com/office/drawing/2014/main" id="{D54F1508-84F9-465D-BE73-2D6D959DAE5A}"/>
              </a:ext>
            </a:extLst>
          </p:cNvPr>
          <p:cNvSpPr>
            <a:spLocks xmlns:a="http://schemas.openxmlformats.org/drawingml/2006/main" noGrp="1"/>
          </p:cNvSpPr>
          <p:nvPr/>
        </p:nvSpPr>
        <p:spPr>
          <a:xfrm xmlns:a="http://schemas.openxmlformats.org/drawingml/2006/main">
            <a:off x="2476500" y="326390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Schweigepflicht und Datenschutz von notwendigem Informationsfluss trennen.</a:t>
            </a:r>
          </a:p>
        </p:txBody>
      </p:sp>
      <p:sp>
        <p:nvSpPr>
          <p:cNvPr id="16" name="">
            <a:extLst xmlns:a="http://schemas.openxmlformats.org/drawingml/2006/main">
              <a:ext uri="{FF2B5EF4-FFF2-40B4-BE49-F238E27FC236}">
                <a16:creationId xmlns:a16="http://schemas.microsoft.com/office/drawing/2014/main" id="{D3E1F910-898C-4331-976D-67D8FEF2829B}"/>
              </a:ext>
            </a:extLst>
          </p:cNvPr>
          <p:cNvSpPr>
            <a:spLocks xmlns:a="http://schemas.openxmlformats.org/drawingml/2006/main" noGrp="1"/>
          </p:cNvSpPr>
          <p:nvPr/>
        </p:nvSpPr>
        <p:spPr>
          <a:xfrm xmlns:a="http://schemas.openxmlformats.org/drawingml/2006/main">
            <a:off x="6696075" y="316865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3F6B"/>
            </a:solidFill>
            <a:prstDash val="solid"/>
          </a:ln>
        </p:spPr>
      </p:sp>
      <p:sp>
        <p:nvSpPr>
          <p:cNvPr id="17" name="">
            <a:extLst xmlns:a="http://schemas.openxmlformats.org/drawingml/2006/main">
              <a:ext uri="{FF2B5EF4-FFF2-40B4-BE49-F238E27FC236}">
                <a16:creationId xmlns:a16="http://schemas.microsoft.com/office/drawing/2014/main" id="{CB05A3D5-00EF-4E1F-A58D-7CAC16DFDF85}"/>
              </a:ext>
            </a:extLst>
          </p:cNvPr>
          <p:cNvSpPr>
            <a:spLocks xmlns:a="http://schemas.openxmlformats.org/drawingml/2006/main" noGrp="1"/>
          </p:cNvSpPr>
          <p:nvPr/>
        </p:nvSpPr>
        <p:spPr>
          <a:xfrm xmlns:a="http://schemas.openxmlformats.org/drawingml/2006/main">
            <a:off x="6829425" y="3311525"/>
            <a:ext cx="4000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8293EF6F-4943-4009-B503-1A39373FBC7E}"/>
              </a:ext>
            </a:extLst>
          </p:cNvPr>
          <p:cNvSpPr>
            <a:spLocks xmlns:a="http://schemas.openxmlformats.org/drawingml/2006/main" noGrp="1"/>
          </p:cNvSpPr>
          <p:nvPr/>
        </p:nvSpPr>
        <p:spPr>
          <a:xfrm xmlns:a="http://schemas.openxmlformats.org/drawingml/2006/main">
            <a:off x="6829425" y="32924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19" name="">
            <a:extLst xmlns:a="http://schemas.openxmlformats.org/drawingml/2006/main">
              <a:ext uri="{FF2B5EF4-FFF2-40B4-BE49-F238E27FC236}">
                <a16:creationId xmlns:a16="http://schemas.microsoft.com/office/drawing/2014/main" id="{5B91C936-61CC-42B4-9FD2-DFACB4A28D7B}"/>
              </a:ext>
            </a:extLst>
          </p:cNvPr>
          <p:cNvSpPr>
            <a:spLocks xmlns:a="http://schemas.openxmlformats.org/drawingml/2006/main" noGrp="1"/>
          </p:cNvSpPr>
          <p:nvPr/>
        </p:nvSpPr>
        <p:spPr>
          <a:xfrm xmlns:a="http://schemas.openxmlformats.org/drawingml/2006/main">
            <a:off x="7362825" y="326390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Schnittstellenfehler kausal und organisatorisch analysieren.</a:t>
            </a:r>
          </a:p>
        </p:txBody>
      </p:sp>
      <p:sp>
        <p:nvSpPr>
          <p:cNvPr id="20" name="">
            <a:extLst xmlns:a="http://schemas.openxmlformats.org/drawingml/2006/main">
              <a:ext uri="{FF2B5EF4-FFF2-40B4-BE49-F238E27FC236}">
                <a16:creationId xmlns:a16="http://schemas.microsoft.com/office/drawing/2014/main" id="{27BAE5B9-96F0-4A36-ACC7-C636511BDCCE}"/>
              </a:ext>
            </a:extLst>
          </p:cNvPr>
          <p:cNvSpPr>
            <a:spLocks xmlns:a="http://schemas.openxmlformats.org/drawingml/2006/main" noGrp="1"/>
          </p:cNvSpPr>
          <p:nvPr/>
        </p:nvSpPr>
        <p:spPr>
          <a:xfrm xmlns:a="http://schemas.openxmlformats.org/drawingml/2006/main">
            <a:off x="1809750" y="435610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B2BB"/>
            </a:solidFill>
            <a:prstDash val="solid"/>
          </a:ln>
        </p:spPr>
      </p:sp>
      <p:sp>
        <p:nvSpPr>
          <p:cNvPr id="21" name="">
            <a:extLst xmlns:a="http://schemas.openxmlformats.org/drawingml/2006/main">
              <a:ext uri="{FF2B5EF4-FFF2-40B4-BE49-F238E27FC236}">
                <a16:creationId xmlns:a16="http://schemas.microsoft.com/office/drawing/2014/main" id="{8E543F58-A500-4CBA-A956-01EB39C72CDD}"/>
              </a:ext>
            </a:extLst>
          </p:cNvPr>
          <p:cNvSpPr>
            <a:spLocks xmlns:a="http://schemas.openxmlformats.org/drawingml/2006/main" noGrp="1"/>
          </p:cNvSpPr>
          <p:nvPr/>
        </p:nvSpPr>
        <p:spPr>
          <a:xfrm xmlns:a="http://schemas.openxmlformats.org/drawingml/2006/main">
            <a:off x="1943100" y="4498975"/>
            <a:ext cx="40005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2" name="">
            <a:extLst xmlns:a="http://schemas.openxmlformats.org/drawingml/2006/main">
              <a:ext uri="{FF2B5EF4-FFF2-40B4-BE49-F238E27FC236}">
                <a16:creationId xmlns:a16="http://schemas.microsoft.com/office/drawing/2014/main" id="{9E20D1C8-6CAA-46A4-BC11-E562D2D4313C}"/>
              </a:ext>
            </a:extLst>
          </p:cNvPr>
          <p:cNvSpPr>
            <a:spLocks xmlns:a="http://schemas.openxmlformats.org/drawingml/2006/main" noGrp="1"/>
          </p:cNvSpPr>
          <p:nvPr/>
        </p:nvSpPr>
        <p:spPr>
          <a:xfrm xmlns:a="http://schemas.openxmlformats.org/drawingml/2006/main">
            <a:off x="1943100" y="44799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23" name="">
            <a:extLst xmlns:a="http://schemas.openxmlformats.org/drawingml/2006/main">
              <a:ext uri="{FF2B5EF4-FFF2-40B4-BE49-F238E27FC236}">
                <a16:creationId xmlns:a16="http://schemas.microsoft.com/office/drawing/2014/main" id="{B47BB758-3BBD-468E-97E4-35340CE6ABEF}"/>
              </a:ext>
            </a:extLst>
          </p:cNvPr>
          <p:cNvSpPr>
            <a:spLocks xmlns:a="http://schemas.openxmlformats.org/drawingml/2006/main" noGrp="1"/>
          </p:cNvSpPr>
          <p:nvPr/>
        </p:nvSpPr>
        <p:spPr>
          <a:xfrm xmlns:a="http://schemas.openxmlformats.org/drawingml/2006/main">
            <a:off x="2476500" y="445135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Eskalation bei Ressourcen- und Kompetenzgrenzen dokumentieren.</a:t>
            </a:r>
          </a:p>
        </p:txBody>
      </p:sp>
      <p:sp>
        <p:nvSpPr>
          <p:cNvPr id="24" name="">
            <a:extLst xmlns:a="http://schemas.openxmlformats.org/drawingml/2006/main">
              <a:ext uri="{FF2B5EF4-FFF2-40B4-BE49-F238E27FC236}">
                <a16:creationId xmlns:a16="http://schemas.microsoft.com/office/drawing/2014/main" id="{056C80E2-E2CF-49AD-98A1-415CDF799620}"/>
              </a:ext>
            </a:extLst>
          </p:cNvPr>
          <p:cNvSpPr>
            <a:spLocks xmlns:a="http://schemas.openxmlformats.org/drawingml/2006/main" noGrp="1"/>
          </p:cNvSpPr>
          <p:nvPr/>
        </p:nvSpPr>
        <p:spPr>
          <a:xfrm xmlns:a="http://schemas.openxmlformats.org/drawingml/2006/main">
            <a:off x="6696075" y="435610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3F6B"/>
            </a:solidFill>
            <a:prstDash val="solid"/>
          </a:ln>
        </p:spPr>
      </p:sp>
      <p:sp>
        <p:nvSpPr>
          <p:cNvPr id="25" name="">
            <a:extLst xmlns:a="http://schemas.openxmlformats.org/drawingml/2006/main">
              <a:ext uri="{FF2B5EF4-FFF2-40B4-BE49-F238E27FC236}">
                <a16:creationId xmlns:a16="http://schemas.microsoft.com/office/drawing/2014/main" id="{30A007FC-B584-43C4-B5BB-8CAF3D227EC8}"/>
              </a:ext>
            </a:extLst>
          </p:cNvPr>
          <p:cNvSpPr>
            <a:spLocks xmlns:a="http://schemas.openxmlformats.org/drawingml/2006/main" noGrp="1"/>
          </p:cNvSpPr>
          <p:nvPr/>
        </p:nvSpPr>
        <p:spPr>
          <a:xfrm xmlns:a="http://schemas.openxmlformats.org/drawingml/2006/main">
            <a:off x="6829425" y="4498975"/>
            <a:ext cx="4000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26" name="">
            <a:extLst xmlns:a="http://schemas.openxmlformats.org/drawingml/2006/main">
              <a:ext uri="{FF2B5EF4-FFF2-40B4-BE49-F238E27FC236}">
                <a16:creationId xmlns:a16="http://schemas.microsoft.com/office/drawing/2014/main" id="{97A6207D-5528-46C8-9275-87FE9FB9C7F0}"/>
              </a:ext>
            </a:extLst>
          </p:cNvPr>
          <p:cNvSpPr>
            <a:spLocks xmlns:a="http://schemas.openxmlformats.org/drawingml/2006/main" noGrp="1"/>
          </p:cNvSpPr>
          <p:nvPr/>
        </p:nvSpPr>
        <p:spPr>
          <a:xfrm xmlns:a="http://schemas.openxmlformats.org/drawingml/2006/main">
            <a:off x="6829425" y="44799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27" name="">
            <a:extLst xmlns:a="http://schemas.openxmlformats.org/drawingml/2006/main">
              <a:ext uri="{FF2B5EF4-FFF2-40B4-BE49-F238E27FC236}">
                <a16:creationId xmlns:a16="http://schemas.microsoft.com/office/drawing/2014/main" id="{1A947CA2-38C2-431E-BC22-849CB922CFDF}"/>
              </a:ext>
            </a:extLst>
          </p:cNvPr>
          <p:cNvSpPr>
            <a:spLocks xmlns:a="http://schemas.openxmlformats.org/drawingml/2006/main" noGrp="1"/>
          </p:cNvSpPr>
          <p:nvPr/>
        </p:nvSpPr>
        <p:spPr>
          <a:xfrm xmlns:a="http://schemas.openxmlformats.org/drawingml/2006/main">
            <a:off x="7362825" y="445135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Systemdruck ohne pauschale Entschuldigung rechtlich einordnen.</a:t>
            </a:r>
          </a:p>
        </p:txBody>
      </p:sp>
      <p:sp>
        <p:nvSpPr>
          <p:cNvPr id="28" name="">
            <a:extLst xmlns:a="http://schemas.openxmlformats.org/drawingml/2006/main">
              <a:ext uri="{FF2B5EF4-FFF2-40B4-BE49-F238E27FC236}">
                <a16:creationId xmlns:a16="http://schemas.microsoft.com/office/drawing/2014/main" id="{B8266F32-0CE3-42B2-9895-63E20B54C16C}"/>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638">
                <a:solidFill>
                  <a:srgbClr val="667680"/>
                </a:solidFill>
              </a:defRPr>
            </a:pPr>
            <a:r>
              <a:rPr sz="638">
                <a:solidFill>
                  <a:srgbClr val="667680"/>
                </a:solidFill>
              </a:rPr>
              <a:t>Lernziele aus Seminarbeschreibung und Vorlesungsstruktur abgeleitet · https://elearning.uni-oldenburg.de/dispatch.php/course/details/index/64fffee6d869d134c6683909368deed9?cancel_login=1</a:t>
            </a:r>
          </a:p>
        </p:txBody>
      </p:sp>
    </p:spTree>
    <p:extLst>
      <p:ext uri="{BB962C8B-B14F-4D97-AF65-F5344CB8AC3E}">
        <p14:creationId xmlns:p14="http://schemas.microsoft.com/office/powerpoint/2010/main" val="43637646"/>
      </p:ext>
    </p:extLst>
  </p:cSld>
</p:sld>
</file>

<file path=ppt/slides/slide350.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Leitentscheidung · Medikamentenverwechslung und unterlassene Rettungsinformation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ORIGINALENTSCHEIDUNG · TERMIN 12</a:t>
            </a:r>
            <a:endParaRPr/>
          </a:p>
        </p:txBody>
      </p:sp>
      <p:sp>
        <p:nvSpPr>
          <p:cNvPr id="4" name="">
            <a:extLst xmlns:a="http://schemas.openxmlformats.org/drawingml/2006/main">
              <a:ext uri="{FF2B5EF4-FFF2-40B4-BE49-F238E27FC236}">
                <a16:creationId xmlns:a16="http://schemas.microsoft.com/office/drawing/2014/main" id="{A6CB8040-3202-47DF-8C59-4FEA9BF8E3E7}"/>
              </a:ext>
            </a:extLst>
          </p:cNvPr>
          <p:cNvSpPr>
            <a:spLocks xmlns:a="http://schemas.openxmlformats.org/drawingml/2006/main" noGrp="1"/>
          </p:cNvSpPr>
          <p:nvPr/>
        </p:nvSpPr>
        <p:spPr>
          <a:xfrm xmlns:a="http://schemas.openxmlformats.org/drawingml/2006/main">
            <a:off x="1809750" y="1943100"/>
            <a:ext cx="11239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545FA762-824F-4A8F-BB25-32B9E35EC7A4}"/>
              </a:ext>
            </a:extLst>
          </p:cNvPr>
          <p:cNvSpPr>
            <a:spLocks xmlns:a="http://schemas.openxmlformats.org/drawingml/2006/main" noGrp="1"/>
          </p:cNvSpPr>
          <p:nvPr/>
        </p:nvSpPr>
        <p:spPr>
          <a:xfrm xmlns:a="http://schemas.openxmlformats.org/drawingml/2006/main">
            <a:off x="1809750" y="1943100"/>
            <a:ext cx="1123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38" b="1">
                <a:solidFill>
                  <a:srgbClr val="FFFFFF"/>
                </a:solidFill>
              </a:defRPr>
            </a:pPr>
            <a:r>
              <a:rPr sz="938" b="1">
                <a:solidFill>
                  <a:srgbClr val="FFFFFF"/>
                </a:solidFill>
              </a:rPr>
              <a:t>BGH</a:t>
            </a:r>
          </a:p>
        </p:txBody>
      </p:sp>
      <p:sp>
        <p:nvSpPr>
          <p:cNvPr id="6" name="">
            <a:extLst xmlns:a="http://schemas.openxmlformats.org/drawingml/2006/main">
              <a:ext uri="{FF2B5EF4-FFF2-40B4-BE49-F238E27FC236}">
                <a16:creationId xmlns:a16="http://schemas.microsoft.com/office/drawing/2014/main" id="{8C7152CB-9144-4012-A5FD-8C7C919818ED}"/>
              </a:ext>
            </a:extLst>
          </p:cNvPr>
          <p:cNvSpPr>
            <a:spLocks xmlns:a="http://schemas.openxmlformats.org/drawingml/2006/main" noGrp="1"/>
          </p:cNvSpPr>
          <p:nvPr/>
        </p:nvSpPr>
        <p:spPr>
          <a:xfrm xmlns:a="http://schemas.openxmlformats.org/drawingml/2006/main">
            <a:off x="312420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19.08.2020 · 1 StR 474/19</a:t>
            </a:r>
          </a:p>
        </p:txBody>
      </p:sp>
      <p:sp>
        <p:nvSpPr>
          <p:cNvPr id="7" name="">
            <a:extLst xmlns:a="http://schemas.openxmlformats.org/drawingml/2006/main">
              <a:ext uri="{FF2B5EF4-FFF2-40B4-BE49-F238E27FC236}">
                <a16:creationId xmlns:a16="http://schemas.microsoft.com/office/drawing/2014/main" id="{2B5A7BFC-FD13-4AA5-AF18-563B0DC59D03}"/>
              </a:ext>
            </a:extLst>
          </p:cNvPr>
          <p:cNvSpPr>
            <a:spLocks xmlns:a="http://schemas.openxmlformats.org/drawingml/2006/main" noGrp="1"/>
          </p:cNvSpPr>
          <p:nvPr/>
        </p:nvSpPr>
        <p:spPr>
          <a:xfrm xmlns:a="http://schemas.openxmlformats.org/drawingml/2006/main">
            <a:off x="733425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050">
                <a:solidFill>
                  <a:srgbClr val="667680"/>
                </a:solidFill>
              </a:defRPr>
            </a:pPr>
            <a:r>
              <a:rPr sz="1050">
                <a:solidFill>
                  <a:srgbClr val="667680"/>
                </a:solidFill>
              </a:rPr>
              <a:t>Nach dem Fehler kann ein neuer strafrechtlicher Vorwurf entstehen</a:t>
            </a:r>
          </a:p>
        </p:txBody>
      </p:sp>
      <p:sp>
        <p:nvSpPr>
          <p:cNvPr id="8" name="">
            <a:extLst xmlns:a="http://schemas.openxmlformats.org/drawingml/2006/main">
              <a:ext uri="{FF2B5EF4-FFF2-40B4-BE49-F238E27FC236}">
                <a16:creationId xmlns:a16="http://schemas.microsoft.com/office/drawing/2014/main" id="{1615E49F-4763-408F-94E8-8559C61A098A}"/>
              </a:ext>
            </a:extLst>
          </p:cNvPr>
          <p:cNvSpPr>
            <a:spLocks xmlns:a="http://schemas.openxmlformats.org/drawingml/2006/main" noGrp="1"/>
          </p:cNvSpPr>
          <p:nvPr/>
        </p:nvSpPr>
        <p:spPr>
          <a:xfrm xmlns:a="http://schemas.openxmlformats.org/drawingml/2006/main">
            <a:off x="1809750" y="2533650"/>
            <a:ext cx="1676400" cy="781050"/>
          </a:xfrm>
          <a:prstGeom xmlns:a="http://schemas.openxmlformats.org/drawingml/2006/main" prst="roundRect">
            <a:avLst>
              <a:gd name="adj" fmla="val 9756"/>
            </a:avLst>
          </a:prstGeom>
          <a:solidFill xmlns:a="http://schemas.openxmlformats.org/drawingml/2006/main">
            <a:srgbClr val="00B2BB"/>
          </a:solidFill>
          <a:ln xmlns:a="http://schemas.openxmlformats.org/drawingml/2006/main" w="0">
            <a:solidFill>
              <a:srgbClr val="00B2BB"/>
            </a:solidFill>
            <a:prstDash val="solid"/>
          </a:ln>
        </p:spPr>
      </p:sp>
      <p:sp>
        <p:nvSpPr>
          <p:cNvPr id="9" name="">
            <a:extLst xmlns:a="http://schemas.openxmlformats.org/drawingml/2006/main">
              <a:ext uri="{FF2B5EF4-FFF2-40B4-BE49-F238E27FC236}">
                <a16:creationId xmlns:a16="http://schemas.microsoft.com/office/drawing/2014/main" id="{8599372D-50D6-4D15-974F-DD4AEB292348}"/>
              </a:ext>
            </a:extLst>
          </p:cNvPr>
          <p:cNvSpPr>
            <a:spLocks xmlns:a="http://schemas.openxmlformats.org/drawingml/2006/main" noGrp="1"/>
          </p:cNvSpPr>
          <p:nvPr/>
        </p:nvSpPr>
        <p:spPr>
          <a:xfrm xmlns:a="http://schemas.openxmlformats.org/drawingml/2006/main">
            <a:off x="1924050" y="25336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Ausgangsfall</a:t>
            </a:r>
          </a:p>
        </p:txBody>
      </p:sp>
      <p:sp>
        <p:nvSpPr>
          <p:cNvPr id="10" name="">
            <a:extLst xmlns:a="http://schemas.openxmlformats.org/drawingml/2006/main">
              <a:ext uri="{FF2B5EF4-FFF2-40B4-BE49-F238E27FC236}">
                <a16:creationId xmlns:a16="http://schemas.microsoft.com/office/drawing/2014/main" id="{7DA980D5-7913-4EE8-8E16-CA57A4100CF6}"/>
              </a:ext>
            </a:extLst>
          </p:cNvPr>
          <p:cNvSpPr>
            <a:spLocks xmlns:a="http://schemas.openxmlformats.org/drawingml/2006/main" noGrp="1"/>
          </p:cNvSpPr>
          <p:nvPr/>
        </p:nvSpPr>
        <p:spPr>
          <a:xfrm xmlns:a="http://schemas.openxmlformats.org/drawingml/2006/main">
            <a:off x="3695700" y="25336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In einer Pflegeeinrichtung wurde ein Medikament verwechselt. Ärztliche Hilfe erhielt anschließend nicht rechtzeitig die wahre Information über Stoff, Dosis und Hergang.</a:t>
            </a:r>
          </a:p>
        </p:txBody>
      </p:sp>
      <p:sp>
        <p:nvSpPr>
          <p:cNvPr id="11" name="">
            <a:extLst xmlns:a="http://schemas.openxmlformats.org/drawingml/2006/main">
              <a:ext uri="{FF2B5EF4-FFF2-40B4-BE49-F238E27FC236}">
                <a16:creationId xmlns:a16="http://schemas.microsoft.com/office/drawing/2014/main" id="{61945B83-BBEC-452D-8AED-147CDD1DB5F2}"/>
              </a:ext>
            </a:extLst>
          </p:cNvPr>
          <p:cNvSpPr>
            <a:spLocks xmlns:a="http://schemas.openxmlformats.org/drawingml/2006/main" noGrp="1"/>
          </p:cNvSpPr>
          <p:nvPr/>
        </p:nvSpPr>
        <p:spPr>
          <a:xfrm xmlns:a="http://schemas.openxmlformats.org/drawingml/2006/main">
            <a:off x="1809750" y="3486150"/>
            <a:ext cx="1676400" cy="781050"/>
          </a:xfrm>
          <a:prstGeom xmlns:a="http://schemas.openxmlformats.org/drawingml/2006/main" prst="roundRect">
            <a:avLst>
              <a:gd name="adj" fmla="val 9756"/>
            </a:avLst>
          </a:prstGeom>
          <a:solidFill xmlns:a="http://schemas.openxmlformats.org/drawingml/2006/main">
            <a:srgbClr val="003F6B"/>
          </a:solidFill>
          <a:ln xmlns:a="http://schemas.openxmlformats.org/drawingml/2006/main" w="0">
            <a:solidFill>
              <a:srgbClr val="003F6B"/>
            </a:solidFill>
            <a:prstDash val="solid"/>
          </a:ln>
        </p:spPr>
      </p:sp>
      <p:sp>
        <p:nvSpPr>
          <p:cNvPr id="12" name="">
            <a:extLst xmlns:a="http://schemas.openxmlformats.org/drawingml/2006/main">
              <a:ext uri="{FF2B5EF4-FFF2-40B4-BE49-F238E27FC236}">
                <a16:creationId xmlns:a16="http://schemas.microsoft.com/office/drawing/2014/main" id="{1F6E4E72-C615-4D27-824D-2C58630DF2B3}"/>
              </a:ext>
            </a:extLst>
          </p:cNvPr>
          <p:cNvSpPr>
            <a:spLocks xmlns:a="http://schemas.openxmlformats.org/drawingml/2006/main" noGrp="1"/>
          </p:cNvSpPr>
          <p:nvPr/>
        </p:nvSpPr>
        <p:spPr>
          <a:xfrm xmlns:a="http://schemas.openxmlformats.org/drawingml/2006/main">
            <a:off x="1924050" y="34861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Leitsatzkern</a:t>
            </a:r>
          </a:p>
        </p:txBody>
      </p:sp>
      <p:sp>
        <p:nvSpPr>
          <p:cNvPr id="13" name="">
            <a:extLst xmlns:a="http://schemas.openxmlformats.org/drawingml/2006/main">
              <a:ext uri="{FF2B5EF4-FFF2-40B4-BE49-F238E27FC236}">
                <a16:creationId xmlns:a16="http://schemas.microsoft.com/office/drawing/2014/main" id="{7E871DC3-8545-45E5-9B87-F85906D60D8E}"/>
              </a:ext>
            </a:extLst>
          </p:cNvPr>
          <p:cNvSpPr>
            <a:spLocks xmlns:a="http://schemas.openxmlformats.org/drawingml/2006/main" noGrp="1"/>
          </p:cNvSpPr>
          <p:nvPr/>
        </p:nvSpPr>
        <p:spPr>
          <a:xfrm xmlns:a="http://schemas.openxmlformats.org/drawingml/2006/main">
            <a:off x="3695700" y="34861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Leitsatzkern (paraphrasiert): Garantenpflicht, Rettungsmöglichkeit, Wissensstand und Beweggründe können nach dem Ausgangsfehler ein eigenständiges strafrechtliches Gewicht erhalten. Vertuschung kann Rettungschancen beeinträchtigen.</a:t>
            </a:r>
          </a:p>
        </p:txBody>
      </p:sp>
      <p:sp>
        <p:nvSpPr>
          <p:cNvPr id="14" name="">
            <a:extLst xmlns:a="http://schemas.openxmlformats.org/drawingml/2006/main">
              <a:ext uri="{FF2B5EF4-FFF2-40B4-BE49-F238E27FC236}">
                <a16:creationId xmlns:a16="http://schemas.microsoft.com/office/drawing/2014/main" id="{72C1E528-F36A-4140-9197-C0AAEDF7AA7F}"/>
              </a:ext>
            </a:extLst>
          </p:cNvPr>
          <p:cNvSpPr>
            <a:spLocks xmlns:a="http://schemas.openxmlformats.org/drawingml/2006/main" noGrp="1"/>
          </p:cNvSpPr>
          <p:nvPr/>
        </p:nvSpPr>
        <p:spPr>
          <a:xfrm xmlns:a="http://schemas.openxmlformats.org/drawingml/2006/main">
            <a:off x="1809750" y="4438650"/>
            <a:ext cx="1676400" cy="781050"/>
          </a:xfrm>
          <a:prstGeom xmlns:a="http://schemas.openxmlformats.org/drawingml/2006/main" prst="roundRect">
            <a:avLst>
              <a:gd name="adj" fmla="val 9756"/>
            </a:avLst>
          </a:prstGeom>
          <a:solidFill xmlns:a="http://schemas.openxmlformats.org/drawingml/2006/main">
            <a:srgbClr val="00B2BB"/>
          </a:solidFill>
          <a:ln xmlns:a="http://schemas.openxmlformats.org/drawingml/2006/main" w="0">
            <a:solidFill>
              <a:srgbClr val="00B2BB"/>
            </a:solidFill>
            <a:prstDash val="solid"/>
          </a:ln>
        </p:spPr>
      </p:sp>
      <p:sp>
        <p:nvSpPr>
          <p:cNvPr id="15" name="">
            <a:extLst xmlns:a="http://schemas.openxmlformats.org/drawingml/2006/main">
              <a:ext uri="{FF2B5EF4-FFF2-40B4-BE49-F238E27FC236}">
                <a16:creationId xmlns:a16="http://schemas.microsoft.com/office/drawing/2014/main" id="{96AA573A-7971-41CC-BF99-12580ECDB2B9}"/>
              </a:ext>
            </a:extLst>
          </p:cNvPr>
          <p:cNvSpPr>
            <a:spLocks xmlns:a="http://schemas.openxmlformats.org/drawingml/2006/main" noGrp="1"/>
          </p:cNvSpPr>
          <p:nvPr/>
        </p:nvSpPr>
        <p:spPr>
          <a:xfrm xmlns:a="http://schemas.openxmlformats.org/drawingml/2006/main">
            <a:off x="1924050" y="44386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Für die Praxis</a:t>
            </a:r>
          </a:p>
        </p:txBody>
      </p:sp>
      <p:sp>
        <p:nvSpPr>
          <p:cNvPr id="16" name="">
            <a:extLst xmlns:a="http://schemas.openxmlformats.org/drawingml/2006/main">
              <a:ext uri="{FF2B5EF4-FFF2-40B4-BE49-F238E27FC236}">
                <a16:creationId xmlns:a16="http://schemas.microsoft.com/office/drawing/2014/main" id="{66D964EF-2AC0-4330-A36A-B372F429D4E8}"/>
              </a:ext>
            </a:extLst>
          </p:cNvPr>
          <p:cNvSpPr>
            <a:spLocks xmlns:a="http://schemas.openxmlformats.org/drawingml/2006/main" noGrp="1"/>
          </p:cNvSpPr>
          <p:nvPr/>
        </p:nvSpPr>
        <p:spPr>
          <a:xfrm xmlns:a="http://schemas.openxmlformats.org/drawingml/2006/main">
            <a:off x="3695700" y="44386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Sofort klinisch eskalieren, Wirkstoff/Dosis/Zeit nennen, Gegenmaßnahmen ermöglichen und den tatsächlichen Ablauf unverfälscht sichern.</a:t>
            </a:r>
          </a:p>
        </p:txBody>
      </p:sp>
      <p:sp>
        <p:nvSpPr>
          <p:cNvPr id="17" name="">
            <a:extLst xmlns:a="http://schemas.openxmlformats.org/drawingml/2006/main">
              <a:ext uri="{FF2B5EF4-FFF2-40B4-BE49-F238E27FC236}">
                <a16:creationId xmlns:a16="http://schemas.microsoft.com/office/drawing/2014/main" id="{8D20895E-2032-4FB0-8ECB-82F9B30107ED}"/>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638">
                <a:solidFill>
                  <a:srgbClr val="667680"/>
                </a:solidFill>
              </a:defRPr>
            </a:pPr>
            <a:r>
              <a:rPr sz="638">
                <a:solidFill>
                  <a:srgbClr val="667680"/>
                </a:solidFill>
              </a:rPr>
              <a:t>BGH, Urt. v. 19.08.2020 – 1 StR 474/19 · https://www.hrr-strafrecht.de/hrr/1/19/1-474-19.pdf · https://dejure.org/dienste/vernetzung/rechtsprechung?Text=1+StR+474%2F19</a:t>
            </a:r>
          </a:p>
        </p:txBody>
      </p:sp>
    </p:spTree>
    <p:extLst>
      <p:ext uri="{BB962C8B-B14F-4D97-AF65-F5344CB8AC3E}">
        <p14:creationId xmlns:p14="http://schemas.microsoft.com/office/powerpoint/2010/main" val="43637646"/>
      </p:ext>
    </p:extLst>
  </p:cSld>
</p:sld>
</file>

<file path=ppt/slides/slide351.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Datenschutz: Zweck, Sicherheit und Gesundheitsdaten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GESETZESTEXT · GEKÜRZTER LEHRAUSZUG</a:t>
            </a:r>
            <a:endParaRPr/>
          </a:p>
        </p:txBody>
      </p:sp>
      <p:sp>
        <p:nvSpPr>
          <p:cNvPr id="4" name="">
            <a:extLst xmlns:a="http://schemas.openxmlformats.org/drawingml/2006/main">
              <a:ext uri="{FF2B5EF4-FFF2-40B4-BE49-F238E27FC236}">
                <a16:creationId xmlns:a16="http://schemas.microsoft.com/office/drawing/2014/main" id="{8341B3E5-D2A1-46A2-8E32-CB2D901DC6EE}"/>
              </a:ext>
            </a:extLst>
          </p:cNvPr>
          <p:cNvSpPr>
            <a:spLocks xmlns:a="http://schemas.openxmlformats.org/drawingml/2006/main" noGrp="1"/>
          </p:cNvSpPr>
          <p:nvPr/>
        </p:nvSpPr>
        <p:spPr>
          <a:xfrm xmlns:a="http://schemas.openxmlformats.org/drawingml/2006/main">
            <a:off x="1809750" y="1943100"/>
            <a:ext cx="4648200" cy="3371850"/>
          </a:xfrm>
          <a:prstGeom xmlns:a="http://schemas.openxmlformats.org/drawingml/2006/main" prst="roundRect">
            <a:avLst>
              <a:gd name="adj" fmla="val 2260"/>
            </a:avLst>
          </a:prstGeom>
          <a:solidFill xmlns:a="http://schemas.openxmlformats.org/drawingml/2006/main">
            <a:srgbClr val="F3F7F9"/>
          </a:solidFill>
          <a:ln xmlns:a="http://schemas.openxmlformats.org/drawingml/2006/main" w="11430">
            <a:solidFill>
              <a:srgbClr val="00B2BB"/>
            </a:solidFill>
            <a:prstDash val="solid"/>
          </a:ln>
        </p:spPr>
      </p:sp>
      <p:sp>
        <p:nvSpPr>
          <p:cNvPr id="5" name="">
            <a:extLst xmlns:a="http://schemas.openxmlformats.org/drawingml/2006/main">
              <a:ext uri="{FF2B5EF4-FFF2-40B4-BE49-F238E27FC236}">
                <a16:creationId xmlns:a16="http://schemas.microsoft.com/office/drawing/2014/main" id="{459AD408-137F-4011-9CB1-6DC5ECC84141}"/>
              </a:ext>
            </a:extLst>
          </p:cNvPr>
          <p:cNvSpPr>
            <a:spLocks xmlns:a="http://schemas.openxmlformats.org/drawingml/2006/main" noGrp="1"/>
          </p:cNvSpPr>
          <p:nvPr/>
        </p:nvSpPr>
        <p:spPr>
          <a:xfrm xmlns:a="http://schemas.openxmlformats.org/drawingml/2006/main">
            <a:off x="1943100" y="2076450"/>
            <a:ext cx="1409700" cy="381000"/>
          </a:xfrm>
          <a:prstGeom xmlns:a="http://schemas.openxmlformats.org/drawingml/2006/main" prst="roundRect">
            <a:avLst>
              <a:gd name="adj" fmla="val 20000"/>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57818D3C-E6C5-4555-8BE5-2C08BEACFA73}"/>
              </a:ext>
            </a:extLst>
          </p:cNvPr>
          <p:cNvSpPr>
            <a:spLocks xmlns:a="http://schemas.openxmlformats.org/drawingml/2006/main" noGrp="1"/>
          </p:cNvSpPr>
          <p:nvPr/>
        </p:nvSpPr>
        <p:spPr>
          <a:xfrm xmlns:a="http://schemas.openxmlformats.org/drawingml/2006/main">
            <a:off x="1943100" y="207645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Art. 5 I DSGVO</a:t>
            </a:r>
          </a:p>
        </p:txBody>
      </p:sp>
      <p:sp>
        <p:nvSpPr>
          <p:cNvPr id="7" name="">
            <a:extLst xmlns:a="http://schemas.openxmlformats.org/drawingml/2006/main">
              <a:ext uri="{FF2B5EF4-FFF2-40B4-BE49-F238E27FC236}">
                <a16:creationId xmlns:a16="http://schemas.microsoft.com/office/drawing/2014/main" id="{A6D9F073-D5C4-4C5C-9844-A69FFB3DBF23}"/>
              </a:ext>
            </a:extLst>
          </p:cNvPr>
          <p:cNvSpPr>
            <a:spLocks xmlns:a="http://schemas.openxmlformats.org/drawingml/2006/main" noGrp="1"/>
          </p:cNvSpPr>
          <p:nvPr/>
        </p:nvSpPr>
        <p:spPr>
          <a:xfrm xmlns:a="http://schemas.openxmlformats.org/drawingml/2006/main">
            <a:off x="3486150" y="2057400"/>
            <a:ext cx="2838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Grundsätze · Auszug</a:t>
            </a:r>
          </a:p>
        </p:txBody>
      </p:sp>
      <p:sp>
        <p:nvSpPr>
          <p:cNvPr id="8" name="">
            <a:extLst xmlns:a="http://schemas.openxmlformats.org/drawingml/2006/main">
              <a:ext uri="{FF2B5EF4-FFF2-40B4-BE49-F238E27FC236}">
                <a16:creationId xmlns:a16="http://schemas.microsoft.com/office/drawing/2014/main" id="{4FE2EDAA-7ED5-4ED8-847B-8E37C20DD7CC}"/>
              </a:ext>
            </a:extLst>
          </p:cNvPr>
          <p:cNvSpPr>
            <a:spLocks xmlns:a="http://schemas.openxmlformats.org/drawingml/2006/main" noGrp="1"/>
          </p:cNvSpPr>
          <p:nvPr/>
        </p:nvSpPr>
        <p:spPr>
          <a:xfrm xmlns:a="http://schemas.openxmlformats.org/drawingml/2006/main">
            <a:off x="1981200" y="2609850"/>
            <a:ext cx="4305300" cy="2533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8">
                <a:solidFill>
                  <a:srgbClr val="15232B"/>
                </a:solidFill>
              </a:defRPr>
            </a:pPr>
            <a:r>
              <a:rPr sz="1148">
                <a:solidFill>
                  <a:srgbClr val="15232B"/>
                </a:solidFill>
              </a:rPr>
              <a:t>Personenbezogene Daten müssen rechtmäßig, fair und transparent, für festgelegte Zwecke, auf das Notwendige beschränkt, sachlich richtig, zeitlich begrenzt sowie durch angemessene technische und organisatorische Maßnahmen sicher verarbeitet werden.</a:t>
            </a:r>
          </a:p>
        </p:txBody>
      </p:sp>
      <p:sp>
        <p:nvSpPr>
          <p:cNvPr id="9" name="">
            <a:extLst xmlns:a="http://schemas.openxmlformats.org/drawingml/2006/main">
              <a:ext uri="{FF2B5EF4-FFF2-40B4-BE49-F238E27FC236}">
                <a16:creationId xmlns:a16="http://schemas.microsoft.com/office/drawing/2014/main" id="{5BAF1118-4504-41CB-9EBE-89F9846E7D91}"/>
              </a:ext>
            </a:extLst>
          </p:cNvPr>
          <p:cNvSpPr>
            <a:spLocks xmlns:a="http://schemas.openxmlformats.org/drawingml/2006/main" noGrp="1"/>
          </p:cNvSpPr>
          <p:nvPr/>
        </p:nvSpPr>
        <p:spPr>
          <a:xfrm xmlns:a="http://schemas.openxmlformats.org/drawingml/2006/main">
            <a:off x="6686550" y="1943100"/>
            <a:ext cx="4648200" cy="3371850"/>
          </a:xfrm>
          <a:prstGeom xmlns:a="http://schemas.openxmlformats.org/drawingml/2006/main" prst="roundRect">
            <a:avLst>
              <a:gd name="adj" fmla="val 2260"/>
            </a:avLst>
          </a:prstGeom>
          <a:solidFill xmlns:a="http://schemas.openxmlformats.org/drawingml/2006/main">
            <a:srgbClr val="F3F7F9"/>
          </a:solidFill>
          <a:ln xmlns:a="http://schemas.openxmlformats.org/drawingml/2006/main" w="11430">
            <a:solidFill>
              <a:srgbClr val="003F6B"/>
            </a:solidFill>
            <a:prstDash val="solid"/>
          </a:ln>
        </p:spPr>
      </p:sp>
      <p:sp>
        <p:nvSpPr>
          <p:cNvPr id="10" name="">
            <a:extLst xmlns:a="http://schemas.openxmlformats.org/drawingml/2006/main">
              <a:ext uri="{FF2B5EF4-FFF2-40B4-BE49-F238E27FC236}">
                <a16:creationId xmlns:a16="http://schemas.microsoft.com/office/drawing/2014/main" id="{25707414-2CDE-4C28-ADF6-878DF48ED84F}"/>
              </a:ext>
            </a:extLst>
          </p:cNvPr>
          <p:cNvSpPr>
            <a:spLocks xmlns:a="http://schemas.openxmlformats.org/drawingml/2006/main" noGrp="1"/>
          </p:cNvSpPr>
          <p:nvPr/>
        </p:nvSpPr>
        <p:spPr>
          <a:xfrm xmlns:a="http://schemas.openxmlformats.org/drawingml/2006/main">
            <a:off x="6819900" y="2076450"/>
            <a:ext cx="1409700" cy="381000"/>
          </a:xfrm>
          <a:prstGeom xmlns:a="http://schemas.openxmlformats.org/drawingml/2006/main" prst="roundRect">
            <a:avLst>
              <a:gd name="adj" fmla="val 20000"/>
            </a:avLst>
          </a:prstGeom>
          <a:solidFill xmlns:a="http://schemas.openxmlformats.org/drawingml/2006/main">
            <a:srgbClr val="003F6B"/>
          </a:solidFill>
          <a:ln xmlns:a="http://schemas.openxmlformats.org/drawingml/2006/main" w="0">
            <a:solidFill>
              <a:srgbClr val="003F6B"/>
            </a:solidFill>
            <a:prstDash val="solid"/>
          </a:ln>
        </p:spPr>
      </p:sp>
      <p:sp>
        <p:nvSpPr>
          <p:cNvPr id="11" name="">
            <a:extLst xmlns:a="http://schemas.openxmlformats.org/drawingml/2006/main">
              <a:ext uri="{FF2B5EF4-FFF2-40B4-BE49-F238E27FC236}">
                <a16:creationId xmlns:a16="http://schemas.microsoft.com/office/drawing/2014/main" id="{2C1D7A93-5DD3-4E0A-B289-342615E41A41}"/>
              </a:ext>
            </a:extLst>
          </p:cNvPr>
          <p:cNvSpPr>
            <a:spLocks xmlns:a="http://schemas.openxmlformats.org/drawingml/2006/main" noGrp="1"/>
          </p:cNvSpPr>
          <p:nvPr/>
        </p:nvSpPr>
        <p:spPr>
          <a:xfrm xmlns:a="http://schemas.openxmlformats.org/drawingml/2006/main">
            <a:off x="6819900" y="207645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Art. 9 I, II h DSGVO</a:t>
            </a:r>
          </a:p>
        </p:txBody>
      </p:sp>
      <p:sp>
        <p:nvSpPr>
          <p:cNvPr id="12" name="">
            <a:extLst xmlns:a="http://schemas.openxmlformats.org/drawingml/2006/main">
              <a:ext uri="{FF2B5EF4-FFF2-40B4-BE49-F238E27FC236}">
                <a16:creationId xmlns:a16="http://schemas.microsoft.com/office/drawing/2014/main" id="{06F83EF2-98D3-4162-BFCA-CDEBD8BABF27}"/>
              </a:ext>
            </a:extLst>
          </p:cNvPr>
          <p:cNvSpPr>
            <a:spLocks xmlns:a="http://schemas.openxmlformats.org/drawingml/2006/main" noGrp="1"/>
          </p:cNvSpPr>
          <p:nvPr/>
        </p:nvSpPr>
        <p:spPr>
          <a:xfrm xmlns:a="http://schemas.openxmlformats.org/drawingml/2006/main">
            <a:off x="8362950" y="2057400"/>
            <a:ext cx="2838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Gesundheitsdaten · Kern</a:t>
            </a:r>
          </a:p>
        </p:txBody>
      </p:sp>
      <p:sp>
        <p:nvSpPr>
          <p:cNvPr id="13" name="">
            <a:extLst xmlns:a="http://schemas.openxmlformats.org/drawingml/2006/main">
              <a:ext uri="{FF2B5EF4-FFF2-40B4-BE49-F238E27FC236}">
                <a16:creationId xmlns:a16="http://schemas.microsoft.com/office/drawing/2014/main" id="{5ABCB2AB-7CE9-4101-9950-1770D51C6546}"/>
              </a:ext>
            </a:extLst>
          </p:cNvPr>
          <p:cNvSpPr>
            <a:spLocks xmlns:a="http://schemas.openxmlformats.org/drawingml/2006/main" noGrp="1"/>
          </p:cNvSpPr>
          <p:nvPr/>
        </p:nvSpPr>
        <p:spPr>
          <a:xfrm xmlns:a="http://schemas.openxmlformats.org/drawingml/2006/main">
            <a:off x="6858000" y="2609850"/>
            <a:ext cx="4305300" cy="2533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8">
                <a:solidFill>
                  <a:srgbClr val="15232B"/>
                </a:solidFill>
              </a:defRPr>
            </a:pPr>
            <a:r>
              <a:rPr sz="1148">
                <a:solidFill>
                  <a:srgbClr val="15232B"/>
                </a:solidFill>
              </a:rPr>
              <a:t>Die Verarbeitung von Gesundheitsdaten ist grundsätzlich untersagt. Sie ist unter anderem zulässig, wenn sie für Gesundheitsvorsorge, medizinische Diagnostik, Versorgung oder Verwaltung von Systemen und Diensten im Gesundheitsbereich auf unions- oder mitgliedstaatlicher Rechtsgrundlage und unter beruflicher Geheimhaltung erforderlich ist.</a:t>
            </a:r>
          </a:p>
        </p:txBody>
      </p:sp>
      <p:sp>
        <p:nvSpPr>
          <p:cNvPr id="14" name="">
            <a:extLst xmlns:a="http://schemas.openxmlformats.org/drawingml/2006/main">
              <a:ext uri="{FF2B5EF4-FFF2-40B4-BE49-F238E27FC236}">
                <a16:creationId xmlns:a16="http://schemas.microsoft.com/office/drawing/2014/main" id="{B18E151F-F5B4-4A55-B9AC-D1CE39475D28}"/>
              </a:ext>
            </a:extLst>
          </p:cNvPr>
          <p:cNvSpPr>
            <a:spLocks xmlns:a="http://schemas.openxmlformats.org/drawingml/2006/main" noGrp="1"/>
          </p:cNvSpPr>
          <p:nvPr/>
        </p:nvSpPr>
        <p:spPr>
          <a:xfrm xmlns:a="http://schemas.openxmlformats.org/drawingml/2006/main">
            <a:off x="1809750" y="5619750"/>
            <a:ext cx="9525000" cy="419100"/>
          </a:xfrm>
          <a:prstGeom xmlns:a="http://schemas.openxmlformats.org/drawingml/2006/main" prst="roundRect">
            <a:avLst>
              <a:gd name="adj" fmla="val 18182"/>
            </a:avLst>
          </a:prstGeom>
          <a:noFill xmlns:a="http://schemas.openxmlformats.org/drawingml/2006/main"/>
          <a:ln xmlns:a="http://schemas.openxmlformats.org/drawingml/2006/main" w="11430">
            <a:solidFill>
              <a:srgbClr val="00B2BB"/>
            </a:solidFill>
            <a:prstDash val="solid"/>
          </a:ln>
        </p:spPr>
      </p:sp>
      <p:sp>
        <p:nvSpPr>
          <p:cNvPr id="15" name="">
            <a:extLst xmlns:a="http://schemas.openxmlformats.org/drawingml/2006/main">
              <a:ext uri="{FF2B5EF4-FFF2-40B4-BE49-F238E27FC236}">
                <a16:creationId xmlns:a16="http://schemas.microsoft.com/office/drawing/2014/main" id="{BD3A2926-8832-483C-812D-EE77AE4323E4}"/>
              </a:ext>
            </a:extLst>
          </p:cNvPr>
          <p:cNvSpPr>
            <a:spLocks xmlns:a="http://schemas.openxmlformats.org/drawingml/2006/main" noGrp="1"/>
          </p:cNvSpPr>
          <p:nvPr/>
        </p:nvSpPr>
        <p:spPr>
          <a:xfrm xmlns:a="http://schemas.openxmlformats.org/drawingml/2006/main">
            <a:off x="1962150" y="5638800"/>
            <a:ext cx="9220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13" b="1">
                <a:solidFill>
                  <a:srgbClr val="003F6B"/>
                </a:solidFill>
              </a:defRPr>
            </a:pPr>
            <a:r>
              <a:rPr sz="1013" b="1">
                <a:solidFill>
                  <a:srgbClr val="003F6B"/>
                </a:solidFill>
              </a:rPr>
              <a:t>Praxislesart: Datenschutz verbietet nicht die notwendige Behandlungskommunikation; er verlangt Zweckbindung, Erforderlichkeit und sichere Kanäle.</a:t>
            </a:r>
          </a:p>
        </p:txBody>
      </p:sp>
      <p:sp>
        <p:nvSpPr>
          <p:cNvPr id="16" name="">
            <a:extLst xmlns:a="http://schemas.openxmlformats.org/drawingml/2006/main">
              <a:ext uri="{FF2B5EF4-FFF2-40B4-BE49-F238E27FC236}">
                <a16:creationId xmlns:a16="http://schemas.microsoft.com/office/drawing/2014/main" id="{9DFDE6A5-BF85-4FF7-9F40-1FCC9F69BC2B}"/>
              </a:ext>
            </a:extLst>
          </p:cNvPr>
          <p:cNvSpPr>
            <a:spLocks xmlns:a="http://schemas.openxmlformats.org/drawingml/2006/main" noGrp="1"/>
          </p:cNvSpPr>
          <p:nvPr/>
        </p:nvSpPr>
        <p:spPr>
          <a:xfrm xmlns:a="http://schemas.openxmlformats.org/drawingml/2006/main">
            <a:off x="1809750" y="535305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05">
                <a:solidFill>
                  <a:srgbClr val="667680"/>
                </a:solidFill>
              </a:defRPr>
            </a:pPr>
            <a:r>
              <a:rPr sz="705">
                <a:solidFill>
                  <a:srgbClr val="667680"/>
                </a:solidFill>
              </a:rPr>
              <a:t>EUR-Lex, Verordnung (EU) 2016/679, Art. 5 und 9 · Abruf/Stand: 20.08.2026 · https://www.rechtsprechung-im-internet.de</a:t>
            </a:r>
          </a:p>
        </p:txBody>
      </p:sp>
    </p:spTree>
    <p:extLst>
      <p:ext uri="{BB962C8B-B14F-4D97-AF65-F5344CB8AC3E}">
        <p14:creationId xmlns:p14="http://schemas.microsoft.com/office/powerpoint/2010/main" val="43637646"/>
      </p:ext>
    </p:extLst>
  </p:cSld>
</p:sld>
</file>

<file path=ppt/slides/slide352.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Strukturierte Übergaben können Fehler reduzieren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WISSENSCHAFTLICHE EVIDENZ</a:t>
            </a:r>
            <a:endParaRPr/>
          </a:p>
        </p:txBody>
      </p:sp>
      <p:sp>
        <p:nvSpPr>
          <p:cNvPr id="4" name="">
            <a:extLst xmlns:a="http://schemas.openxmlformats.org/drawingml/2006/main">
              <a:ext uri="{FF2B5EF4-FFF2-40B4-BE49-F238E27FC236}">
                <a16:creationId xmlns:a16="http://schemas.microsoft.com/office/drawing/2014/main" id="{B44BB774-680C-49ED-A9DB-B7389D2F99A0}"/>
              </a:ext>
            </a:extLst>
          </p:cNvPr>
          <p:cNvSpPr>
            <a:spLocks xmlns:a="http://schemas.openxmlformats.org/drawingml/2006/main" noGrp="1"/>
          </p:cNvSpPr>
          <p:nvPr/>
        </p:nvSpPr>
        <p:spPr>
          <a:xfrm xmlns:a="http://schemas.openxmlformats.org/drawingml/2006/main">
            <a:off x="1809750" y="1962150"/>
            <a:ext cx="2381250" cy="1428750"/>
          </a:xfrm>
          <a:prstGeom xmlns:a="http://schemas.openxmlformats.org/drawingml/2006/main" prst="roundRect">
            <a:avLst>
              <a:gd name="adj" fmla="val 5333"/>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36AE809F-8890-4AC2-8640-A274ECC2BB84}"/>
              </a:ext>
            </a:extLst>
          </p:cNvPr>
          <p:cNvSpPr>
            <a:spLocks xmlns:a="http://schemas.openxmlformats.org/drawingml/2006/main" noGrp="1"/>
          </p:cNvSpPr>
          <p:nvPr/>
        </p:nvSpPr>
        <p:spPr>
          <a:xfrm xmlns:a="http://schemas.openxmlformats.org/drawingml/2006/main">
            <a:off x="1981200" y="2095500"/>
            <a:ext cx="20383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FFFFFF"/>
                </a:solidFill>
              </a:defRPr>
            </a:pPr>
            <a:r>
              <a:rPr sz="2550" b="1">
                <a:solidFill>
                  <a:srgbClr val="FFFFFF"/>
                </a:solidFill>
              </a:rPr>
              <a:t>−23 %</a:t>
            </a:r>
          </a:p>
        </p:txBody>
      </p:sp>
      <p:sp>
        <p:nvSpPr>
          <p:cNvPr id="6" name="">
            <a:extLst xmlns:a="http://schemas.openxmlformats.org/drawingml/2006/main">
              <a:ext uri="{FF2B5EF4-FFF2-40B4-BE49-F238E27FC236}">
                <a16:creationId xmlns:a16="http://schemas.microsoft.com/office/drawing/2014/main" id="{2BEA6112-2FA1-4D7D-AE0E-97EDA45A560B}"/>
              </a:ext>
            </a:extLst>
          </p:cNvPr>
          <p:cNvSpPr>
            <a:spLocks xmlns:a="http://schemas.openxmlformats.org/drawingml/2006/main" noGrp="1"/>
          </p:cNvSpPr>
          <p:nvPr/>
        </p:nvSpPr>
        <p:spPr>
          <a:xfrm xmlns:a="http://schemas.openxmlformats.org/drawingml/2006/main">
            <a:off x="1981200" y="2762250"/>
            <a:ext cx="2038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88">
                <a:solidFill>
                  <a:srgbClr val="FFFFFF"/>
                </a:solidFill>
              </a:defRPr>
            </a:pPr>
            <a:r>
              <a:rPr sz="1088">
                <a:solidFill>
                  <a:srgbClr val="FFFFFF"/>
                </a:solidFill>
              </a:rPr>
              <a:t>medizinische Fehler</a:t>
            </a:r>
          </a:p>
        </p:txBody>
      </p:sp>
      <p:sp>
        <p:nvSpPr>
          <p:cNvPr id="7" name="">
            <a:extLst xmlns:a="http://schemas.openxmlformats.org/drawingml/2006/main">
              <a:ext uri="{FF2B5EF4-FFF2-40B4-BE49-F238E27FC236}">
                <a16:creationId xmlns:a16="http://schemas.microsoft.com/office/drawing/2014/main" id="{70F4A786-E163-48E8-ABE1-576305A8B4F3}"/>
              </a:ext>
            </a:extLst>
          </p:cNvPr>
          <p:cNvSpPr>
            <a:spLocks xmlns:a="http://schemas.openxmlformats.org/drawingml/2006/main" noGrp="1"/>
          </p:cNvSpPr>
          <p:nvPr/>
        </p:nvSpPr>
        <p:spPr>
          <a:xfrm xmlns:a="http://schemas.openxmlformats.org/drawingml/2006/main">
            <a:off x="4495800" y="1981200"/>
            <a:ext cx="683895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500" b="1">
                <a:solidFill>
                  <a:srgbClr val="003F6B"/>
                </a:solidFill>
              </a:defRPr>
            </a:pPr>
            <a:r>
              <a:rPr sz="1500" b="1">
                <a:solidFill>
                  <a:srgbClr val="003F6B"/>
                </a:solidFill>
              </a:rPr>
              <a:t>Nach Einführung des I‑PASS-Bündels in neun akademischen Kinderkliniken sank die Rate medizinischer Fehler relativ um 23 %, vermeidbare unerwünschte Ereignisse um 30 % – ohne messbaren Zeitverlust bei Übergaben.</a:t>
            </a:r>
          </a:p>
        </p:txBody>
      </p:sp>
      <p:sp>
        <p:nvSpPr>
          <p:cNvPr id="8" name="">
            <a:extLst xmlns:a="http://schemas.openxmlformats.org/drawingml/2006/main">
              <a:ext uri="{FF2B5EF4-FFF2-40B4-BE49-F238E27FC236}">
                <a16:creationId xmlns:a16="http://schemas.microsoft.com/office/drawing/2014/main" id="{6A7258A7-7883-4BF2-AA37-87B42958F4EC}"/>
              </a:ext>
            </a:extLst>
          </p:cNvPr>
          <p:cNvSpPr>
            <a:spLocks xmlns:a="http://schemas.openxmlformats.org/drawingml/2006/main" noGrp="1"/>
          </p:cNvSpPr>
          <p:nvPr/>
        </p:nvSpPr>
        <p:spPr>
          <a:xfrm xmlns:a="http://schemas.openxmlformats.org/drawingml/2006/main">
            <a:off x="1809750" y="3638550"/>
            <a:ext cx="133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40" b="1">
                <a:solidFill>
                  <a:srgbClr val="003F6B"/>
                </a:solidFill>
              </a:defRPr>
            </a:pPr>
            <a:r>
              <a:rPr sz="1140" b="1">
                <a:solidFill>
                  <a:srgbClr val="003F6B"/>
                </a:solidFill>
              </a:rPr>
              <a:t>Studientyp</a:t>
            </a:r>
          </a:p>
        </p:txBody>
      </p:sp>
      <p:sp>
        <p:nvSpPr>
          <p:cNvPr id="9" name="">
            <a:extLst xmlns:a="http://schemas.openxmlformats.org/drawingml/2006/main">
              <a:ext uri="{FF2B5EF4-FFF2-40B4-BE49-F238E27FC236}">
                <a16:creationId xmlns:a16="http://schemas.microsoft.com/office/drawing/2014/main" id="{188E0F6D-878A-41E6-A76A-019BE1944345}"/>
              </a:ext>
            </a:extLst>
          </p:cNvPr>
          <p:cNvSpPr>
            <a:spLocks xmlns:a="http://schemas.openxmlformats.org/drawingml/2006/main" noGrp="1"/>
          </p:cNvSpPr>
          <p:nvPr/>
        </p:nvSpPr>
        <p:spPr>
          <a:xfrm xmlns:a="http://schemas.openxmlformats.org/drawingml/2006/main">
            <a:off x="3276600" y="3638550"/>
            <a:ext cx="805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Prospektive Multicenter-Intervention mit standardisierter mündlicher und schriftlicher Übergabe, Training und Beobachtung.</a:t>
            </a:r>
          </a:p>
        </p:txBody>
      </p:sp>
      <p:sp>
        <p:nvSpPr>
          <p:cNvPr id="10" name="">
            <a:extLst xmlns:a="http://schemas.openxmlformats.org/drawingml/2006/main">
              <a:ext uri="{FF2B5EF4-FFF2-40B4-BE49-F238E27FC236}">
                <a16:creationId xmlns:a16="http://schemas.microsoft.com/office/drawing/2014/main" id="{A0E29CAE-B75B-425F-AD8D-088F92B2B0E1}"/>
              </a:ext>
            </a:extLst>
          </p:cNvPr>
          <p:cNvSpPr>
            <a:spLocks xmlns:a="http://schemas.openxmlformats.org/drawingml/2006/main" noGrp="1"/>
          </p:cNvSpPr>
          <p:nvPr/>
        </p:nvSpPr>
        <p:spPr>
          <a:xfrm xmlns:a="http://schemas.openxmlformats.org/drawingml/2006/main">
            <a:off x="1809750" y="4257675"/>
            <a:ext cx="133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40" b="1">
                <a:solidFill>
                  <a:srgbClr val="003F6B"/>
                </a:solidFill>
              </a:defRPr>
            </a:pPr>
            <a:r>
              <a:rPr sz="1140" b="1">
                <a:solidFill>
                  <a:srgbClr val="003F6B"/>
                </a:solidFill>
              </a:rPr>
              <a:t>Grenze</a:t>
            </a:r>
          </a:p>
        </p:txBody>
      </p:sp>
      <p:sp>
        <p:nvSpPr>
          <p:cNvPr id="11" name="">
            <a:extLst xmlns:a="http://schemas.openxmlformats.org/drawingml/2006/main">
              <a:ext uri="{FF2B5EF4-FFF2-40B4-BE49-F238E27FC236}">
                <a16:creationId xmlns:a16="http://schemas.microsoft.com/office/drawing/2014/main" id="{D7E3543B-8B3C-4135-80B9-314A98A327DA}"/>
              </a:ext>
            </a:extLst>
          </p:cNvPr>
          <p:cNvSpPr>
            <a:spLocks xmlns:a="http://schemas.openxmlformats.org/drawingml/2006/main" noGrp="1"/>
          </p:cNvSpPr>
          <p:nvPr/>
        </p:nvSpPr>
        <p:spPr>
          <a:xfrm xmlns:a="http://schemas.openxmlformats.org/drawingml/2006/main">
            <a:off x="3276600" y="4257675"/>
            <a:ext cx="805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Vorher-nachher-Design; Effekte unterschieden sich zwischen Standorten und sind nicht automatisch auf jedes Setting übertragbar.</a:t>
            </a:r>
          </a:p>
        </p:txBody>
      </p:sp>
      <p:sp>
        <p:nvSpPr>
          <p:cNvPr id="12" name="">
            <a:extLst xmlns:a="http://schemas.openxmlformats.org/drawingml/2006/main">
              <a:ext uri="{FF2B5EF4-FFF2-40B4-BE49-F238E27FC236}">
                <a16:creationId xmlns:a16="http://schemas.microsoft.com/office/drawing/2014/main" id="{C4784FCB-81CD-4F48-865A-85C51183DA91}"/>
              </a:ext>
            </a:extLst>
          </p:cNvPr>
          <p:cNvSpPr>
            <a:spLocks xmlns:a="http://schemas.openxmlformats.org/drawingml/2006/main" noGrp="1"/>
          </p:cNvSpPr>
          <p:nvPr/>
        </p:nvSpPr>
        <p:spPr>
          <a:xfrm xmlns:a="http://schemas.openxmlformats.org/drawingml/2006/main">
            <a:off x="1809750" y="4876800"/>
            <a:ext cx="133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40" b="1">
                <a:solidFill>
                  <a:srgbClr val="003F6B"/>
                </a:solidFill>
              </a:defRPr>
            </a:pPr>
            <a:r>
              <a:rPr sz="1140" b="1">
                <a:solidFill>
                  <a:srgbClr val="003F6B"/>
                </a:solidFill>
              </a:rPr>
              <a:t>Konsequenz</a:t>
            </a:r>
          </a:p>
        </p:txBody>
      </p:sp>
      <p:sp>
        <p:nvSpPr>
          <p:cNvPr id="13" name="">
            <a:extLst xmlns:a="http://schemas.openxmlformats.org/drawingml/2006/main">
              <a:ext uri="{FF2B5EF4-FFF2-40B4-BE49-F238E27FC236}">
                <a16:creationId xmlns:a16="http://schemas.microsoft.com/office/drawing/2014/main" id="{997AD95D-F70A-43E5-909C-882BCAF0583B}"/>
              </a:ext>
            </a:extLst>
          </p:cNvPr>
          <p:cNvSpPr>
            <a:spLocks xmlns:a="http://schemas.openxmlformats.org/drawingml/2006/main" noGrp="1"/>
          </p:cNvSpPr>
          <p:nvPr/>
        </p:nvSpPr>
        <p:spPr>
          <a:xfrm xmlns:a="http://schemas.openxmlformats.org/drawingml/2006/main">
            <a:off x="3276600" y="4876800"/>
            <a:ext cx="805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Übergaben als klinische Sicherheitsintervention gestalten: Schweregrad, Handlungsliste, Situationsbewusstsein, Synthese durch Empfänger.</a:t>
            </a:r>
          </a:p>
        </p:txBody>
      </p:sp>
      <p:sp>
        <p:nvSpPr>
          <p:cNvPr id="14" name="">
            <a:extLst xmlns:a="http://schemas.openxmlformats.org/drawingml/2006/main">
              <a:ext uri="{FF2B5EF4-FFF2-40B4-BE49-F238E27FC236}">
                <a16:creationId xmlns:a16="http://schemas.microsoft.com/office/drawing/2014/main" id="{DFF6C450-3ADC-430A-BDBA-48B164F39EB5}"/>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20">
                <a:solidFill>
                  <a:srgbClr val="667680"/>
                </a:solidFill>
              </a:defRPr>
            </a:pPr>
            <a:r>
              <a:rPr sz="720">
                <a:solidFill>
                  <a:srgbClr val="667680"/>
                </a:solidFill>
              </a:rPr>
              <a:t>Starmer et al., N Engl J Med 2014;371:1803–1812, doi:10.1056/NEJMsa1405556 · https://doi.org/10.1056/NEJMsa1405556</a:t>
            </a:r>
          </a:p>
        </p:txBody>
      </p:sp>
    </p:spTree>
    <p:extLst>
      <p:ext uri="{BB962C8B-B14F-4D97-AF65-F5344CB8AC3E}">
        <p14:creationId xmlns:p14="http://schemas.microsoft.com/office/powerpoint/2010/main" val="43637646"/>
      </p:ext>
    </p:extLst>
  </p:cSld>
</p:sld>
</file>

<file path=ppt/slides/slide353.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Übergaben sind Behandlung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C210AF52-CB28-42DB-B03E-AF87C0E8E598}"/>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Informationsverlust an Schnittstellen kann eine eigenständige Standard- und Organisationsverletzung sein.</a:t>
            </a:r>
          </a:p>
        </p:txBody>
      </p:sp>
      <p:sp>
        <p:nvSpPr>
          <p:cNvPr id="5" name="">
            <a:extLst xmlns:a="http://schemas.openxmlformats.org/drawingml/2006/main">
              <a:ext uri="{FF2B5EF4-FFF2-40B4-BE49-F238E27FC236}">
                <a16:creationId xmlns:a16="http://schemas.microsoft.com/office/drawing/2014/main" id="{DBB6C9B2-6651-4D66-BDF9-9530677FA623}"/>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77F0423E-69E0-4545-90C6-8B21074C7803}"/>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8C92E4D0-E979-4BA5-8653-C9E8FEB4BAA2}"/>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Relevanz auswählen</a:t>
            </a:r>
          </a:p>
        </p:txBody>
      </p:sp>
      <p:sp>
        <p:nvSpPr>
          <p:cNvPr id="8" name="">
            <a:extLst xmlns:a="http://schemas.openxmlformats.org/drawingml/2006/main">
              <a:ext uri="{FF2B5EF4-FFF2-40B4-BE49-F238E27FC236}">
                <a16:creationId xmlns:a16="http://schemas.microsoft.com/office/drawing/2014/main" id="{336C0A92-2DCD-4284-8D3E-90532131AE61}"/>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Diagnosen, Risiken, aktuelle Veränderungen, offene Aufgaben und Eskalationskriterien werden priorisiert.</a:t>
            </a:r>
          </a:p>
        </p:txBody>
      </p:sp>
      <p:sp>
        <p:nvSpPr>
          <p:cNvPr id="9" name="">
            <a:extLst xmlns:a="http://schemas.openxmlformats.org/drawingml/2006/main">
              <a:ext uri="{FF2B5EF4-FFF2-40B4-BE49-F238E27FC236}">
                <a16:creationId xmlns:a16="http://schemas.microsoft.com/office/drawing/2014/main" id="{F854B9D7-6B3C-4154-B1C3-1AF2DE6E0DC0}"/>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D5590F01-5E59-4D45-A654-78259AA61374}"/>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7D26DE40-5E59-40AB-AD5D-59DFC486F3AF}"/>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Geschlossene Kommunikation</a:t>
            </a:r>
          </a:p>
        </p:txBody>
      </p:sp>
      <p:sp>
        <p:nvSpPr>
          <p:cNvPr id="12" name="">
            <a:extLst xmlns:a="http://schemas.openxmlformats.org/drawingml/2006/main">
              <a:ext uri="{FF2B5EF4-FFF2-40B4-BE49-F238E27FC236}">
                <a16:creationId xmlns:a16="http://schemas.microsoft.com/office/drawing/2014/main" id="{F078ED3F-58D2-4D21-8A82-1647FA939F63}"/>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Empfänger wiederholt kritische Informationen und bestätigt Verantwortung.</a:t>
            </a:r>
          </a:p>
        </p:txBody>
      </p:sp>
      <p:sp>
        <p:nvSpPr>
          <p:cNvPr id="13" name="">
            <a:extLst xmlns:a="http://schemas.openxmlformats.org/drawingml/2006/main">
              <a:ext uri="{FF2B5EF4-FFF2-40B4-BE49-F238E27FC236}">
                <a16:creationId xmlns:a16="http://schemas.microsoft.com/office/drawing/2014/main" id="{0AB1E41D-28C5-4947-A83B-CD9E80510D0E}"/>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2943A4E2-8733-4770-B2BB-BE2342A9052E}"/>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B051F40F-35FC-4944-9780-E1A6C370EEBC}"/>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Zeit und Ort</a:t>
            </a:r>
          </a:p>
        </p:txBody>
      </p:sp>
      <p:sp>
        <p:nvSpPr>
          <p:cNvPr id="16" name="">
            <a:extLst xmlns:a="http://schemas.openxmlformats.org/drawingml/2006/main">
              <a:ext uri="{FF2B5EF4-FFF2-40B4-BE49-F238E27FC236}">
                <a16:creationId xmlns:a16="http://schemas.microsoft.com/office/drawing/2014/main" id="{FF20622C-D041-4115-B5F8-AAA4DC1DA419}"/>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Störungen werden minimiert; bei instabilen Patienten erfolgt persönliche und unmittelbare Übergabe.</a:t>
            </a:r>
          </a:p>
        </p:txBody>
      </p:sp>
      <p:sp>
        <p:nvSpPr>
          <p:cNvPr id="17" name="">
            <a:extLst xmlns:a="http://schemas.openxmlformats.org/drawingml/2006/main">
              <a:ext uri="{FF2B5EF4-FFF2-40B4-BE49-F238E27FC236}">
                <a16:creationId xmlns:a16="http://schemas.microsoft.com/office/drawing/2014/main" id="{6D5F5FB4-1786-4D49-B7AA-CA1014733DA6}"/>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92B1AC1C-61D5-4CAA-A5BD-965E4722C05F}"/>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EC224D74-A620-4539-9BAA-53A3B0313E3D}"/>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Dokumentation</a:t>
            </a:r>
          </a:p>
        </p:txBody>
      </p:sp>
      <p:sp>
        <p:nvSpPr>
          <p:cNvPr id="20" name="">
            <a:extLst xmlns:a="http://schemas.openxmlformats.org/drawingml/2006/main">
              <a:ext uri="{FF2B5EF4-FFF2-40B4-BE49-F238E27FC236}">
                <a16:creationId xmlns:a16="http://schemas.microsoft.com/office/drawing/2014/main" id="{B5E0B76C-D927-4705-AAEF-0E751F5B6DE9}"/>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Übergabe ersetzt nicht Akte und Akte ersetzt nicht Übergabe; beide müssen zusammenpassen.</a:t>
            </a:r>
          </a:p>
        </p:txBody>
      </p:sp>
      <p:sp>
        <p:nvSpPr>
          <p:cNvPr id="21" name="">
            <a:extLst xmlns:a="http://schemas.openxmlformats.org/drawingml/2006/main">
              <a:ext uri="{FF2B5EF4-FFF2-40B4-BE49-F238E27FC236}">
                <a16:creationId xmlns:a16="http://schemas.microsoft.com/office/drawing/2014/main" id="{6EC43661-5AA8-4940-9F53-0CEC65941EB0}"/>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CF8516D0-8C5E-42BD-B3EE-C8738BBEF373}"/>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Verantwortung wechselt erst, wenn relevante Information angekommen und Übernahme geklärt ist.</a:t>
            </a:r>
          </a:p>
        </p:txBody>
      </p:sp>
    </p:spTree>
    <p:extLst>
      <p:ext uri="{BB962C8B-B14F-4D97-AF65-F5344CB8AC3E}">
        <p14:creationId xmlns:p14="http://schemas.microsoft.com/office/powerpoint/2010/main" val="43637646"/>
      </p:ext>
    </p:extLst>
  </p:cSld>
</p:sld>
</file>

<file path=ppt/slides/slide354.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ISBAR mit Rechtsbezug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PRÜFUNGSSCHEMA · ÜBERGABETOOL</a:t>
            </a:r>
            <a:endParaRPr/>
          </a:p>
        </p:txBody>
      </p:sp>
      <p:sp>
        <p:nvSpPr>
          <p:cNvPr id="4" name="">
            <a:extLst xmlns:a="http://schemas.openxmlformats.org/drawingml/2006/main">
              <a:ext uri="{FF2B5EF4-FFF2-40B4-BE49-F238E27FC236}">
                <a16:creationId xmlns:a16="http://schemas.microsoft.com/office/drawing/2014/main" id="{C2956830-7992-4E83-B351-A5598015293D}"/>
              </a:ext>
            </a:extLst>
          </p:cNvPr>
          <p:cNvSpPr>
            <a:spLocks xmlns:a="http://schemas.openxmlformats.org/drawingml/2006/main" noGrp="1"/>
          </p:cNvSpPr>
          <p:nvPr/>
        </p:nvSpPr>
        <p:spPr>
          <a:xfrm xmlns:a="http://schemas.openxmlformats.org/drawingml/2006/main">
            <a:off x="1809750" y="195262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D8EB7746-5F66-4020-BF0A-B2497D110B9F}"/>
              </a:ext>
            </a:extLst>
          </p:cNvPr>
          <p:cNvSpPr>
            <a:spLocks xmlns:a="http://schemas.openxmlformats.org/drawingml/2006/main" noGrp="1"/>
          </p:cNvSpPr>
          <p:nvPr/>
        </p:nvSpPr>
        <p:spPr>
          <a:xfrm xmlns:a="http://schemas.openxmlformats.org/drawingml/2006/main">
            <a:off x="1809750" y="19526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6" name="">
            <a:extLst xmlns:a="http://schemas.openxmlformats.org/drawingml/2006/main">
              <a:ext uri="{FF2B5EF4-FFF2-40B4-BE49-F238E27FC236}">
                <a16:creationId xmlns:a16="http://schemas.microsoft.com/office/drawing/2014/main" id="{B1F101D2-D0BA-4B59-8BE2-9D94DE5ADF7E}"/>
              </a:ext>
            </a:extLst>
          </p:cNvPr>
          <p:cNvSpPr>
            <a:spLocks xmlns:a="http://schemas.openxmlformats.org/drawingml/2006/main" noGrp="1"/>
          </p:cNvSpPr>
          <p:nvPr/>
        </p:nvSpPr>
        <p:spPr>
          <a:xfrm xmlns:a="http://schemas.openxmlformats.org/drawingml/2006/main">
            <a:off x="2324100" y="196215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I – Identify</a:t>
            </a:r>
          </a:p>
        </p:txBody>
      </p:sp>
      <p:sp>
        <p:nvSpPr>
          <p:cNvPr id="7" name="">
            <a:extLst xmlns:a="http://schemas.openxmlformats.org/drawingml/2006/main">
              <a:ext uri="{FF2B5EF4-FFF2-40B4-BE49-F238E27FC236}">
                <a16:creationId xmlns:a16="http://schemas.microsoft.com/office/drawing/2014/main" id="{97B8D2ED-2F9C-42B8-8155-7A784917D573}"/>
              </a:ext>
            </a:extLst>
          </p:cNvPr>
          <p:cNvSpPr>
            <a:spLocks xmlns:a="http://schemas.openxmlformats.org/drawingml/2006/main" noGrp="1"/>
          </p:cNvSpPr>
          <p:nvPr/>
        </p:nvSpPr>
        <p:spPr>
          <a:xfrm xmlns:a="http://schemas.openxmlformats.org/drawingml/2006/main">
            <a:off x="4819650" y="196215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Patient, übergebende und übernehmende Person eindeutig benennen.</a:t>
            </a:r>
          </a:p>
        </p:txBody>
      </p:sp>
      <p:sp>
        <p:nvSpPr>
          <p:cNvPr id="8" name="">
            <a:extLst xmlns:a="http://schemas.openxmlformats.org/drawingml/2006/main">
              <a:ext uri="{FF2B5EF4-FFF2-40B4-BE49-F238E27FC236}">
                <a16:creationId xmlns:a16="http://schemas.microsoft.com/office/drawing/2014/main" id="{13F310C1-3D0B-4C36-BA14-F63F9A19362F}"/>
              </a:ext>
            </a:extLst>
          </p:cNvPr>
          <p:cNvSpPr>
            <a:spLocks xmlns:a="http://schemas.openxmlformats.org/drawingml/2006/main" noGrp="1"/>
          </p:cNvSpPr>
          <p:nvPr/>
        </p:nvSpPr>
        <p:spPr>
          <a:xfrm xmlns:a="http://schemas.openxmlformats.org/drawingml/2006/main">
            <a:off x="1809750" y="255270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9" name="">
            <a:extLst xmlns:a="http://schemas.openxmlformats.org/drawingml/2006/main">
              <a:ext uri="{FF2B5EF4-FFF2-40B4-BE49-F238E27FC236}">
                <a16:creationId xmlns:a16="http://schemas.microsoft.com/office/drawing/2014/main" id="{69D8A48A-670F-4DB7-8493-A37404FF2029}"/>
              </a:ext>
            </a:extLst>
          </p:cNvPr>
          <p:cNvSpPr>
            <a:spLocks xmlns:a="http://schemas.openxmlformats.org/drawingml/2006/main" noGrp="1"/>
          </p:cNvSpPr>
          <p:nvPr/>
        </p:nvSpPr>
        <p:spPr>
          <a:xfrm xmlns:a="http://schemas.openxmlformats.org/drawingml/2006/main">
            <a:off x="1809750" y="255270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0" name="">
            <a:extLst xmlns:a="http://schemas.openxmlformats.org/drawingml/2006/main">
              <a:ext uri="{FF2B5EF4-FFF2-40B4-BE49-F238E27FC236}">
                <a16:creationId xmlns:a16="http://schemas.microsoft.com/office/drawing/2014/main" id="{445EA355-3782-4124-B9D9-0CDB6533F63F}"/>
              </a:ext>
            </a:extLst>
          </p:cNvPr>
          <p:cNvSpPr>
            <a:spLocks xmlns:a="http://schemas.openxmlformats.org/drawingml/2006/main" noGrp="1"/>
          </p:cNvSpPr>
          <p:nvPr/>
        </p:nvSpPr>
        <p:spPr>
          <a:xfrm xmlns:a="http://schemas.openxmlformats.org/drawingml/2006/main">
            <a:off x="2324100" y="256222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S – Situation</a:t>
            </a:r>
          </a:p>
        </p:txBody>
      </p:sp>
      <p:sp>
        <p:nvSpPr>
          <p:cNvPr id="11" name="">
            <a:extLst xmlns:a="http://schemas.openxmlformats.org/drawingml/2006/main">
              <a:ext uri="{FF2B5EF4-FFF2-40B4-BE49-F238E27FC236}">
                <a16:creationId xmlns:a16="http://schemas.microsoft.com/office/drawing/2014/main" id="{6A2424C5-C034-403E-BBDF-C7DFCF51B536}"/>
              </a:ext>
            </a:extLst>
          </p:cNvPr>
          <p:cNvSpPr>
            <a:spLocks xmlns:a="http://schemas.openxmlformats.org/drawingml/2006/main" noGrp="1"/>
          </p:cNvSpPr>
          <p:nvPr/>
        </p:nvSpPr>
        <p:spPr>
          <a:xfrm xmlns:a="http://schemas.openxmlformats.org/drawingml/2006/main">
            <a:off x="4819650" y="256222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Akutes Problem, Dringlichkeit und aktueller Zustand in einem Satz.</a:t>
            </a:r>
          </a:p>
        </p:txBody>
      </p:sp>
      <p:sp>
        <p:nvSpPr>
          <p:cNvPr id="12" name="">
            <a:extLst xmlns:a="http://schemas.openxmlformats.org/drawingml/2006/main">
              <a:ext uri="{FF2B5EF4-FFF2-40B4-BE49-F238E27FC236}">
                <a16:creationId xmlns:a16="http://schemas.microsoft.com/office/drawing/2014/main" id="{ECEDB1C1-C4EF-434F-80A7-0D70017EF719}"/>
              </a:ext>
            </a:extLst>
          </p:cNvPr>
          <p:cNvSpPr>
            <a:spLocks xmlns:a="http://schemas.openxmlformats.org/drawingml/2006/main" noGrp="1"/>
          </p:cNvSpPr>
          <p:nvPr/>
        </p:nvSpPr>
        <p:spPr>
          <a:xfrm xmlns:a="http://schemas.openxmlformats.org/drawingml/2006/main">
            <a:off x="1809750" y="315277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3" name="">
            <a:extLst xmlns:a="http://schemas.openxmlformats.org/drawingml/2006/main">
              <a:ext uri="{FF2B5EF4-FFF2-40B4-BE49-F238E27FC236}">
                <a16:creationId xmlns:a16="http://schemas.microsoft.com/office/drawing/2014/main" id="{1D7767C9-003C-4BD9-A990-4E393CBF9A0A}"/>
              </a:ext>
            </a:extLst>
          </p:cNvPr>
          <p:cNvSpPr>
            <a:spLocks xmlns:a="http://schemas.openxmlformats.org/drawingml/2006/main" noGrp="1"/>
          </p:cNvSpPr>
          <p:nvPr/>
        </p:nvSpPr>
        <p:spPr>
          <a:xfrm xmlns:a="http://schemas.openxmlformats.org/drawingml/2006/main">
            <a:off x="1809750" y="315277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4" name="">
            <a:extLst xmlns:a="http://schemas.openxmlformats.org/drawingml/2006/main">
              <a:ext uri="{FF2B5EF4-FFF2-40B4-BE49-F238E27FC236}">
                <a16:creationId xmlns:a16="http://schemas.microsoft.com/office/drawing/2014/main" id="{0E145D26-D491-49DB-B48C-DCE2BAC7AEC3}"/>
              </a:ext>
            </a:extLst>
          </p:cNvPr>
          <p:cNvSpPr>
            <a:spLocks xmlns:a="http://schemas.openxmlformats.org/drawingml/2006/main" noGrp="1"/>
          </p:cNvSpPr>
          <p:nvPr/>
        </p:nvSpPr>
        <p:spPr>
          <a:xfrm xmlns:a="http://schemas.openxmlformats.org/drawingml/2006/main">
            <a:off x="2324100" y="316230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B – Background</a:t>
            </a:r>
          </a:p>
        </p:txBody>
      </p:sp>
      <p:sp>
        <p:nvSpPr>
          <p:cNvPr id="15" name="">
            <a:extLst xmlns:a="http://schemas.openxmlformats.org/drawingml/2006/main">
              <a:ext uri="{FF2B5EF4-FFF2-40B4-BE49-F238E27FC236}">
                <a16:creationId xmlns:a16="http://schemas.microsoft.com/office/drawing/2014/main" id="{AD3C6EBD-5037-45D2-A8BB-4BB6EDFFD8F8}"/>
              </a:ext>
            </a:extLst>
          </p:cNvPr>
          <p:cNvSpPr>
            <a:spLocks xmlns:a="http://schemas.openxmlformats.org/drawingml/2006/main" noGrp="1"/>
          </p:cNvSpPr>
          <p:nvPr/>
        </p:nvSpPr>
        <p:spPr>
          <a:xfrm xmlns:a="http://schemas.openxmlformats.org/drawingml/2006/main">
            <a:off x="4819650" y="316230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Nur entscheidungsrelevante Vorgeschichte, Befunde und Therapien.</a:t>
            </a:r>
          </a:p>
        </p:txBody>
      </p:sp>
      <p:sp>
        <p:nvSpPr>
          <p:cNvPr id="16" name="">
            <a:extLst xmlns:a="http://schemas.openxmlformats.org/drawingml/2006/main">
              <a:ext uri="{FF2B5EF4-FFF2-40B4-BE49-F238E27FC236}">
                <a16:creationId xmlns:a16="http://schemas.microsoft.com/office/drawing/2014/main" id="{4229955F-C40F-4018-B060-A96B26975C48}"/>
              </a:ext>
            </a:extLst>
          </p:cNvPr>
          <p:cNvSpPr>
            <a:spLocks xmlns:a="http://schemas.openxmlformats.org/drawingml/2006/main" noGrp="1"/>
          </p:cNvSpPr>
          <p:nvPr/>
        </p:nvSpPr>
        <p:spPr>
          <a:xfrm xmlns:a="http://schemas.openxmlformats.org/drawingml/2006/main">
            <a:off x="1809750" y="375285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7" name="">
            <a:extLst xmlns:a="http://schemas.openxmlformats.org/drawingml/2006/main">
              <a:ext uri="{FF2B5EF4-FFF2-40B4-BE49-F238E27FC236}">
                <a16:creationId xmlns:a16="http://schemas.microsoft.com/office/drawing/2014/main" id="{EF938E36-A008-4623-9996-E294AF6D3033}"/>
              </a:ext>
            </a:extLst>
          </p:cNvPr>
          <p:cNvSpPr>
            <a:spLocks xmlns:a="http://schemas.openxmlformats.org/drawingml/2006/main" noGrp="1"/>
          </p:cNvSpPr>
          <p:nvPr/>
        </p:nvSpPr>
        <p:spPr>
          <a:xfrm xmlns:a="http://schemas.openxmlformats.org/drawingml/2006/main">
            <a:off x="1809750" y="375285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18" name="">
            <a:extLst xmlns:a="http://schemas.openxmlformats.org/drawingml/2006/main">
              <a:ext uri="{FF2B5EF4-FFF2-40B4-BE49-F238E27FC236}">
                <a16:creationId xmlns:a16="http://schemas.microsoft.com/office/drawing/2014/main" id="{18B6F3A5-836E-4DF0-8C58-80D809EA8A4A}"/>
              </a:ext>
            </a:extLst>
          </p:cNvPr>
          <p:cNvSpPr>
            <a:spLocks xmlns:a="http://schemas.openxmlformats.org/drawingml/2006/main" noGrp="1"/>
          </p:cNvSpPr>
          <p:nvPr/>
        </p:nvSpPr>
        <p:spPr>
          <a:xfrm xmlns:a="http://schemas.openxmlformats.org/drawingml/2006/main">
            <a:off x="2324100" y="376237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A – Assessment</a:t>
            </a:r>
          </a:p>
        </p:txBody>
      </p:sp>
      <p:sp>
        <p:nvSpPr>
          <p:cNvPr id="19" name="">
            <a:extLst xmlns:a="http://schemas.openxmlformats.org/drawingml/2006/main">
              <a:ext uri="{FF2B5EF4-FFF2-40B4-BE49-F238E27FC236}">
                <a16:creationId xmlns:a16="http://schemas.microsoft.com/office/drawing/2014/main" id="{B2A066BD-2C98-4FEA-9A30-E80BEC1CE62D}"/>
              </a:ext>
            </a:extLst>
          </p:cNvPr>
          <p:cNvSpPr>
            <a:spLocks xmlns:a="http://schemas.openxmlformats.org/drawingml/2006/main" noGrp="1"/>
          </p:cNvSpPr>
          <p:nvPr/>
        </p:nvSpPr>
        <p:spPr>
          <a:xfrm xmlns:a="http://schemas.openxmlformats.org/drawingml/2006/main">
            <a:off x="4819650" y="376237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Eigene Bewertung, Unsicherheit und relevante Differentialdiagnosen offenlegen.</a:t>
            </a:r>
          </a:p>
        </p:txBody>
      </p:sp>
      <p:sp>
        <p:nvSpPr>
          <p:cNvPr id="20" name="">
            <a:extLst xmlns:a="http://schemas.openxmlformats.org/drawingml/2006/main">
              <a:ext uri="{FF2B5EF4-FFF2-40B4-BE49-F238E27FC236}">
                <a16:creationId xmlns:a16="http://schemas.microsoft.com/office/drawing/2014/main" id="{0F8B6D09-C7DE-48ED-889C-3BA6329BA757}"/>
              </a:ext>
            </a:extLst>
          </p:cNvPr>
          <p:cNvSpPr>
            <a:spLocks xmlns:a="http://schemas.openxmlformats.org/drawingml/2006/main" noGrp="1"/>
          </p:cNvSpPr>
          <p:nvPr/>
        </p:nvSpPr>
        <p:spPr>
          <a:xfrm xmlns:a="http://schemas.openxmlformats.org/drawingml/2006/main">
            <a:off x="1809750" y="435292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1" name="">
            <a:extLst xmlns:a="http://schemas.openxmlformats.org/drawingml/2006/main">
              <a:ext uri="{FF2B5EF4-FFF2-40B4-BE49-F238E27FC236}">
                <a16:creationId xmlns:a16="http://schemas.microsoft.com/office/drawing/2014/main" id="{A7327576-FDD4-42B2-90AB-7336DC8600AB}"/>
              </a:ext>
            </a:extLst>
          </p:cNvPr>
          <p:cNvSpPr>
            <a:spLocks xmlns:a="http://schemas.openxmlformats.org/drawingml/2006/main" noGrp="1"/>
          </p:cNvSpPr>
          <p:nvPr/>
        </p:nvSpPr>
        <p:spPr>
          <a:xfrm xmlns:a="http://schemas.openxmlformats.org/drawingml/2006/main">
            <a:off x="1809750" y="43529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5</a:t>
            </a:r>
          </a:p>
        </p:txBody>
      </p:sp>
      <p:sp>
        <p:nvSpPr>
          <p:cNvPr id="22" name="">
            <a:extLst xmlns:a="http://schemas.openxmlformats.org/drawingml/2006/main">
              <a:ext uri="{FF2B5EF4-FFF2-40B4-BE49-F238E27FC236}">
                <a16:creationId xmlns:a16="http://schemas.microsoft.com/office/drawing/2014/main" id="{567D95C4-DDBE-4109-BB89-55B7B05CA812}"/>
              </a:ext>
            </a:extLst>
          </p:cNvPr>
          <p:cNvSpPr>
            <a:spLocks xmlns:a="http://schemas.openxmlformats.org/drawingml/2006/main" noGrp="1"/>
          </p:cNvSpPr>
          <p:nvPr/>
        </p:nvSpPr>
        <p:spPr>
          <a:xfrm xmlns:a="http://schemas.openxmlformats.org/drawingml/2006/main">
            <a:off x="2324100" y="436245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R – Recommendation</a:t>
            </a:r>
          </a:p>
        </p:txBody>
      </p:sp>
      <p:sp>
        <p:nvSpPr>
          <p:cNvPr id="23" name="">
            <a:extLst xmlns:a="http://schemas.openxmlformats.org/drawingml/2006/main">
              <a:ext uri="{FF2B5EF4-FFF2-40B4-BE49-F238E27FC236}">
                <a16:creationId xmlns:a16="http://schemas.microsoft.com/office/drawing/2014/main" id="{2B822E1E-5757-4AB2-9B57-161EF8501A5B}"/>
              </a:ext>
            </a:extLst>
          </p:cNvPr>
          <p:cNvSpPr>
            <a:spLocks xmlns:a="http://schemas.openxmlformats.org/drawingml/2006/main" noGrp="1"/>
          </p:cNvSpPr>
          <p:nvPr/>
        </p:nvSpPr>
        <p:spPr>
          <a:xfrm xmlns:a="http://schemas.openxmlformats.org/drawingml/2006/main">
            <a:off x="4819650" y="436245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Konkrete Aufgabe, Zeitpunkt, Schwelle zur Eskalation und Rückmeldung vereinbaren.</a:t>
            </a:r>
          </a:p>
        </p:txBody>
      </p:sp>
      <p:sp>
        <p:nvSpPr>
          <p:cNvPr id="24" name="">
            <a:extLst xmlns:a="http://schemas.openxmlformats.org/drawingml/2006/main">
              <a:ext uri="{FF2B5EF4-FFF2-40B4-BE49-F238E27FC236}">
                <a16:creationId xmlns:a16="http://schemas.microsoft.com/office/drawing/2014/main" id="{28E9EB59-DF89-421E-850A-8FCE65FB4B56}"/>
              </a:ext>
            </a:extLst>
          </p:cNvPr>
          <p:cNvSpPr>
            <a:spLocks xmlns:a="http://schemas.openxmlformats.org/drawingml/2006/main" noGrp="1"/>
          </p:cNvSpPr>
          <p:nvPr/>
        </p:nvSpPr>
        <p:spPr>
          <a:xfrm xmlns:a="http://schemas.openxmlformats.org/drawingml/2006/main">
            <a:off x="1809750" y="495300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25" name="">
            <a:extLst xmlns:a="http://schemas.openxmlformats.org/drawingml/2006/main">
              <a:ext uri="{FF2B5EF4-FFF2-40B4-BE49-F238E27FC236}">
                <a16:creationId xmlns:a16="http://schemas.microsoft.com/office/drawing/2014/main" id="{765CB27B-B207-4604-9E4B-7B94D9ED7F70}"/>
              </a:ext>
            </a:extLst>
          </p:cNvPr>
          <p:cNvSpPr>
            <a:spLocks xmlns:a="http://schemas.openxmlformats.org/drawingml/2006/main" noGrp="1"/>
          </p:cNvSpPr>
          <p:nvPr/>
        </p:nvSpPr>
        <p:spPr>
          <a:xfrm xmlns:a="http://schemas.openxmlformats.org/drawingml/2006/main">
            <a:off x="1809750" y="495300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6</a:t>
            </a:r>
          </a:p>
        </p:txBody>
      </p:sp>
      <p:sp>
        <p:nvSpPr>
          <p:cNvPr id="26" name="">
            <a:extLst xmlns:a="http://schemas.openxmlformats.org/drawingml/2006/main">
              <a:ext uri="{FF2B5EF4-FFF2-40B4-BE49-F238E27FC236}">
                <a16:creationId xmlns:a16="http://schemas.microsoft.com/office/drawing/2014/main" id="{A019ABD4-8554-410B-A3FB-D5D6C2E7B045}"/>
              </a:ext>
            </a:extLst>
          </p:cNvPr>
          <p:cNvSpPr>
            <a:spLocks xmlns:a="http://schemas.openxmlformats.org/drawingml/2006/main" noGrp="1"/>
          </p:cNvSpPr>
          <p:nvPr/>
        </p:nvSpPr>
        <p:spPr>
          <a:xfrm xmlns:a="http://schemas.openxmlformats.org/drawingml/2006/main">
            <a:off x="2324100" y="496252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Read-back</a:t>
            </a:r>
          </a:p>
        </p:txBody>
      </p:sp>
      <p:sp>
        <p:nvSpPr>
          <p:cNvPr id="27" name="">
            <a:extLst xmlns:a="http://schemas.openxmlformats.org/drawingml/2006/main">
              <a:ext uri="{FF2B5EF4-FFF2-40B4-BE49-F238E27FC236}">
                <a16:creationId xmlns:a16="http://schemas.microsoft.com/office/drawing/2014/main" id="{5240EFBF-2CB3-4D7C-A6B9-E0A37B273B59}"/>
              </a:ext>
            </a:extLst>
          </p:cNvPr>
          <p:cNvSpPr>
            <a:spLocks xmlns:a="http://schemas.openxmlformats.org/drawingml/2006/main" noGrp="1"/>
          </p:cNvSpPr>
          <p:nvPr/>
        </p:nvSpPr>
        <p:spPr>
          <a:xfrm xmlns:a="http://schemas.openxmlformats.org/drawingml/2006/main">
            <a:off x="4819650" y="496252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Kritische Inhalte und Verantwortungsübernahme bestätigen lassen.</a:t>
            </a:r>
          </a:p>
        </p:txBody>
      </p:sp>
      <p:sp>
        <p:nvSpPr>
          <p:cNvPr id="28" name="">
            <a:extLst xmlns:a="http://schemas.openxmlformats.org/drawingml/2006/main">
              <a:ext uri="{FF2B5EF4-FFF2-40B4-BE49-F238E27FC236}">
                <a16:creationId xmlns:a16="http://schemas.microsoft.com/office/drawing/2014/main" id="{32B2238D-A390-4BF6-9151-67521BC1D5B3}"/>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9" name="">
            <a:extLst xmlns:a="http://schemas.openxmlformats.org/drawingml/2006/main">
              <a:ext uri="{FF2B5EF4-FFF2-40B4-BE49-F238E27FC236}">
                <a16:creationId xmlns:a16="http://schemas.microsoft.com/office/drawing/2014/main" id="{035E260F-033A-41EA-A443-4DD34D991E24}"/>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Eine Übergabe ist erst vollständig, wenn Aufgabe, Zeitpunkt und Eskalation eindeutig sind.</a:t>
            </a:r>
          </a:p>
        </p:txBody>
      </p:sp>
    </p:spTree>
    <p:extLst>
      <p:ext uri="{BB962C8B-B14F-4D97-AF65-F5344CB8AC3E}">
        <p14:creationId xmlns:p14="http://schemas.microsoft.com/office/powerpoint/2010/main" val="43637646"/>
      </p:ext>
    </p:extLst>
  </p:cSld>
</p:sld>
</file>

<file path=ppt/slides/slide355.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Rettungsdienst und Klinik</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ECEB35A7-3A3F-4F96-B64B-4F406B38321F}"/>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An der präklinisch-klinischen Schnittstelle treffen unterschiedliche Systeme, Dokumentationen und Verantwortlichkeiten aufeinander.</a:t>
            </a:r>
          </a:p>
        </p:txBody>
      </p:sp>
      <p:sp>
        <p:nvSpPr>
          <p:cNvPr id="5" name="">
            <a:extLst xmlns:a="http://schemas.openxmlformats.org/drawingml/2006/main">
              <a:ext uri="{FF2B5EF4-FFF2-40B4-BE49-F238E27FC236}">
                <a16:creationId xmlns:a16="http://schemas.microsoft.com/office/drawing/2014/main" id="{70987E13-5994-408A-BA72-CE51BF15168A}"/>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726F4F9E-6D44-4EA4-8573-0E260E7FEA42}"/>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F8A9506B-272B-4A66-8802-A591E3E4C47D}"/>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Lagebild</a:t>
            </a:r>
          </a:p>
        </p:txBody>
      </p:sp>
      <p:sp>
        <p:nvSpPr>
          <p:cNvPr id="8" name="">
            <a:extLst xmlns:a="http://schemas.openxmlformats.org/drawingml/2006/main">
              <a:ext uri="{FF2B5EF4-FFF2-40B4-BE49-F238E27FC236}">
                <a16:creationId xmlns:a16="http://schemas.microsoft.com/office/drawing/2014/main" id="{35F35A05-21D7-449B-A750-BE8289B4A937}"/>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Vitalparameter, Verlauf, Maßnahmen, Medikamente und Reaktion werden strukturiert übergeben.</a:t>
            </a:r>
          </a:p>
        </p:txBody>
      </p:sp>
      <p:sp>
        <p:nvSpPr>
          <p:cNvPr id="9" name="">
            <a:extLst xmlns:a="http://schemas.openxmlformats.org/drawingml/2006/main">
              <a:ext uri="{FF2B5EF4-FFF2-40B4-BE49-F238E27FC236}">
                <a16:creationId xmlns:a16="http://schemas.microsoft.com/office/drawing/2014/main" id="{7CB789E4-245D-4362-B423-0EAD32F8FAE6}"/>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80035736-2CEB-4D1D-843B-46552DFD0B25}"/>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7966A876-1CAD-48E0-B20E-5019FA07A120}"/>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Priorität</a:t>
            </a:r>
          </a:p>
        </p:txBody>
      </p:sp>
      <p:sp>
        <p:nvSpPr>
          <p:cNvPr id="12" name="">
            <a:extLst xmlns:a="http://schemas.openxmlformats.org/drawingml/2006/main">
              <a:ext uri="{FF2B5EF4-FFF2-40B4-BE49-F238E27FC236}">
                <a16:creationId xmlns:a16="http://schemas.microsoft.com/office/drawing/2014/main" id="{FFFFB0FD-98B0-4FD1-8B6D-97B5B60E5C7B}"/>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Zeitkritische Information wird vor administrativen Details vermittelt.</a:t>
            </a:r>
          </a:p>
        </p:txBody>
      </p:sp>
      <p:sp>
        <p:nvSpPr>
          <p:cNvPr id="13" name="">
            <a:extLst xmlns:a="http://schemas.openxmlformats.org/drawingml/2006/main">
              <a:ext uri="{FF2B5EF4-FFF2-40B4-BE49-F238E27FC236}">
                <a16:creationId xmlns:a16="http://schemas.microsoft.com/office/drawing/2014/main" id="{51C722B9-8DE8-480F-97F5-5DA5A356569C}"/>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6D81F645-E7F2-4446-8ACB-B4583C00AC55}"/>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CDA739C2-33C1-4979-A4B3-FB4D4B9C496B}"/>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Übernahme</a:t>
            </a:r>
          </a:p>
        </p:txBody>
      </p:sp>
      <p:sp>
        <p:nvSpPr>
          <p:cNvPr id="16" name="">
            <a:extLst xmlns:a="http://schemas.openxmlformats.org/drawingml/2006/main">
              <a:ext uri="{FF2B5EF4-FFF2-40B4-BE49-F238E27FC236}">
                <a16:creationId xmlns:a16="http://schemas.microsoft.com/office/drawing/2014/main" id="{A8CC31BD-C0EF-4BC2-B1A6-5539519F9A84}"/>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Es wird klar benannt, wer ab welchem Zeitpunkt die weitere Verantwortung trägt.</a:t>
            </a:r>
          </a:p>
        </p:txBody>
      </p:sp>
      <p:sp>
        <p:nvSpPr>
          <p:cNvPr id="17" name="">
            <a:extLst xmlns:a="http://schemas.openxmlformats.org/drawingml/2006/main">
              <a:ext uri="{FF2B5EF4-FFF2-40B4-BE49-F238E27FC236}">
                <a16:creationId xmlns:a16="http://schemas.microsoft.com/office/drawing/2014/main" id="{E9CCC7F8-CCC8-492C-8361-7C1BCABF3FD0}"/>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6ECA5EE5-FC9C-4C2D-BA21-0981A67F0C33}"/>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ABE28128-27C4-4013-BD9F-4AC9589A987D}"/>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Datenlücken</a:t>
            </a:r>
          </a:p>
        </p:txBody>
      </p:sp>
      <p:sp>
        <p:nvSpPr>
          <p:cNvPr id="20" name="">
            <a:extLst xmlns:a="http://schemas.openxmlformats.org/drawingml/2006/main">
              <a:ext uri="{FF2B5EF4-FFF2-40B4-BE49-F238E27FC236}">
                <a16:creationId xmlns:a16="http://schemas.microsoft.com/office/drawing/2014/main" id="{C8CB0EA6-62FE-4322-A6CA-D55CEEC400C4}"/>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Unsichere oder nicht erhobene Informationen werden als solche bezeichnet, nicht stillschweigend ergänzt.</a:t>
            </a:r>
          </a:p>
        </p:txBody>
      </p:sp>
      <p:sp>
        <p:nvSpPr>
          <p:cNvPr id="21" name="">
            <a:extLst xmlns:a="http://schemas.openxmlformats.org/drawingml/2006/main">
              <a:ext uri="{FF2B5EF4-FFF2-40B4-BE49-F238E27FC236}">
                <a16:creationId xmlns:a16="http://schemas.microsoft.com/office/drawing/2014/main" id="{1B157D75-D695-42EC-B3E0-708A89F15C9D}"/>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2EBCB998-68AB-442E-8471-23660A8AB3DE}"/>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Schnittstellenrecht beginnt mit sicherer klinischer Kommunikation.</a:t>
            </a:r>
          </a:p>
        </p:txBody>
      </p:sp>
    </p:spTree>
    <p:extLst>
      <p:ext uri="{BB962C8B-B14F-4D97-AF65-F5344CB8AC3E}">
        <p14:creationId xmlns:p14="http://schemas.microsoft.com/office/powerpoint/2010/main" val="43637646"/>
      </p:ext>
    </p:extLst>
  </p:cSld>
</p:sld>
</file>

<file path=ppt/slides/slide356.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Schweigepflicht im Team</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9B79E0C1-4D2E-471E-8B38-B0D5FA08CAA3}"/>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Innerhalb des Behandlungsteams ist Informationsaustausch nur zweckbezogen und erforderlich zulässig.</a:t>
            </a:r>
          </a:p>
        </p:txBody>
      </p:sp>
      <p:sp>
        <p:nvSpPr>
          <p:cNvPr id="5" name="">
            <a:extLst xmlns:a="http://schemas.openxmlformats.org/drawingml/2006/main">
              <a:ext uri="{FF2B5EF4-FFF2-40B4-BE49-F238E27FC236}">
                <a16:creationId xmlns:a16="http://schemas.microsoft.com/office/drawing/2014/main" id="{2A3C2D01-EC7D-42BA-BD5F-7F8324137C78}"/>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A5BAA9B9-18CD-4787-BD77-720B98B2F546}"/>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46BE09AF-DA99-4C63-8C9D-96B5C8202E4C}"/>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Behandlungsbezug</a:t>
            </a:r>
          </a:p>
        </p:txBody>
      </p:sp>
      <p:sp>
        <p:nvSpPr>
          <p:cNvPr id="8" name="">
            <a:extLst xmlns:a="http://schemas.openxmlformats.org/drawingml/2006/main">
              <a:ext uri="{FF2B5EF4-FFF2-40B4-BE49-F238E27FC236}">
                <a16:creationId xmlns:a16="http://schemas.microsoft.com/office/drawing/2014/main" id="{50E70BC0-18AE-4E81-B73A-90706C18F63B}"/>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Informationen werden an Personen weitergegeben, die sie für die konkrete Versorgung benötigen.</a:t>
            </a:r>
          </a:p>
        </p:txBody>
      </p:sp>
      <p:sp>
        <p:nvSpPr>
          <p:cNvPr id="9" name="">
            <a:extLst xmlns:a="http://schemas.openxmlformats.org/drawingml/2006/main">
              <a:ext uri="{FF2B5EF4-FFF2-40B4-BE49-F238E27FC236}">
                <a16:creationId xmlns:a16="http://schemas.microsoft.com/office/drawing/2014/main" id="{158EF872-AC11-49CF-8844-C0D1F519C72F}"/>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8561D7BE-971A-4A19-86F5-FC56BC8B411C}"/>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63885526-958F-4055-B435-942648A7D06E}"/>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Need-to-know</a:t>
            </a:r>
          </a:p>
        </p:txBody>
      </p:sp>
      <p:sp>
        <p:nvSpPr>
          <p:cNvPr id="12" name="">
            <a:extLst xmlns:a="http://schemas.openxmlformats.org/drawingml/2006/main">
              <a:ext uri="{FF2B5EF4-FFF2-40B4-BE49-F238E27FC236}">
                <a16:creationId xmlns:a16="http://schemas.microsoft.com/office/drawing/2014/main" id="{1E5C3A1B-3B28-48FE-842B-B0859624D1C1}"/>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Nicht jede Beschäftigung im Krankenhaus schafft Zugriff auf jede Akte.</a:t>
            </a:r>
          </a:p>
        </p:txBody>
      </p:sp>
      <p:sp>
        <p:nvSpPr>
          <p:cNvPr id="13" name="">
            <a:extLst xmlns:a="http://schemas.openxmlformats.org/drawingml/2006/main">
              <a:ext uri="{FF2B5EF4-FFF2-40B4-BE49-F238E27FC236}">
                <a16:creationId xmlns:a16="http://schemas.microsoft.com/office/drawing/2014/main" id="{218B8D92-7D84-439A-9A8C-064F82A0C3B9}"/>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2C5DEF54-BA47-4A56-A4BA-595CA42A56E3}"/>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5EF5039B-8DB8-4BF4-BA5E-8F3D3631B033}"/>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Externe Beteiligte</a:t>
            </a:r>
          </a:p>
        </p:txBody>
      </p:sp>
      <p:sp>
        <p:nvSpPr>
          <p:cNvPr id="16" name="">
            <a:extLst xmlns:a="http://schemas.openxmlformats.org/drawingml/2006/main">
              <a:ext uri="{FF2B5EF4-FFF2-40B4-BE49-F238E27FC236}">
                <a16:creationId xmlns:a16="http://schemas.microsoft.com/office/drawing/2014/main" id="{5841FD3D-385A-4DC1-8B56-3C4AD014FD3D}"/>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Familie, Arbeitgeber, Polizei, Versicherer und Medien benötigen eine eigene Rechtsgrundlage oder Einwilligung.</a:t>
            </a:r>
          </a:p>
        </p:txBody>
      </p:sp>
      <p:sp>
        <p:nvSpPr>
          <p:cNvPr id="17" name="">
            <a:extLst xmlns:a="http://schemas.openxmlformats.org/drawingml/2006/main">
              <a:ext uri="{FF2B5EF4-FFF2-40B4-BE49-F238E27FC236}">
                <a16:creationId xmlns:a16="http://schemas.microsoft.com/office/drawing/2014/main" id="{F64729E5-7954-4FE7-9DE3-7561FF7E421C}"/>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CA2502E4-93B4-42C3-9586-E8149AC2EC3B}"/>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1D659C44-039A-449E-B8DA-B43A22041E45}"/>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Technische Sicherheit</a:t>
            </a:r>
          </a:p>
        </p:txBody>
      </p:sp>
      <p:sp>
        <p:nvSpPr>
          <p:cNvPr id="20" name="">
            <a:extLst xmlns:a="http://schemas.openxmlformats.org/drawingml/2006/main">
              <a:ext uri="{FF2B5EF4-FFF2-40B4-BE49-F238E27FC236}">
                <a16:creationId xmlns:a16="http://schemas.microsoft.com/office/drawing/2014/main" id="{7A8A6CBB-8A92-478E-9887-AD6768E84246}"/>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Zugriffsrechte, Bildschirmschutz, Messenger und Ausdrucke werden organisatorisch abgesichert.</a:t>
            </a:r>
          </a:p>
        </p:txBody>
      </p:sp>
      <p:sp>
        <p:nvSpPr>
          <p:cNvPr id="21" name="">
            <a:extLst xmlns:a="http://schemas.openxmlformats.org/drawingml/2006/main">
              <a:ext uri="{FF2B5EF4-FFF2-40B4-BE49-F238E27FC236}">
                <a16:creationId xmlns:a16="http://schemas.microsoft.com/office/drawing/2014/main" id="{98A60209-6AE3-4E86-A56A-6983503FE679}"/>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AACD46F7-2725-4479-AB2C-8258B8B2512B}"/>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Teamnähe ersetzt nicht Zweckbindung und Erforderlichkeit.</a:t>
            </a:r>
          </a:p>
        </p:txBody>
      </p:sp>
    </p:spTree>
    <p:extLst>
      <p:ext uri="{BB962C8B-B14F-4D97-AF65-F5344CB8AC3E}">
        <p14:creationId xmlns:p14="http://schemas.microsoft.com/office/powerpoint/2010/main" val="43637646"/>
      </p:ext>
    </p:extLst>
  </p:cSld>
</p:sld>
</file>

<file path=ppt/slides/slide357.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Datenschutz-Grundprinzipien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A350361F-C0E9-49F2-927C-B4CF8B64A3D3}"/>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Gesundheitsdaten sind besonders geschützt; Behandlung und Forschung benötigen jeweils tragfähige Rechtsgrundlagen.</a:t>
            </a:r>
          </a:p>
        </p:txBody>
      </p:sp>
      <p:sp>
        <p:nvSpPr>
          <p:cNvPr id="5" name="">
            <a:extLst xmlns:a="http://schemas.openxmlformats.org/drawingml/2006/main">
              <a:ext uri="{FF2B5EF4-FFF2-40B4-BE49-F238E27FC236}">
                <a16:creationId xmlns:a16="http://schemas.microsoft.com/office/drawing/2014/main" id="{079BA469-EA9E-46EA-82E2-DB766572DDEA}"/>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E77E6E9D-D2A9-4916-AC06-04B636ACA508}"/>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71161F86-8D7A-4E08-BDFF-191FCD0D36CB}"/>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Rechtmäßigkeit und Transparenz</a:t>
            </a:r>
          </a:p>
        </p:txBody>
      </p:sp>
      <p:sp>
        <p:nvSpPr>
          <p:cNvPr id="8" name="">
            <a:extLst xmlns:a="http://schemas.openxmlformats.org/drawingml/2006/main">
              <a:ext uri="{FF2B5EF4-FFF2-40B4-BE49-F238E27FC236}">
                <a16:creationId xmlns:a16="http://schemas.microsoft.com/office/drawing/2014/main" id="{0518FBC9-93E7-428B-97AB-8952813E5053}"/>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Die Verarbeitung braucht eine Rechtsgrundlage und nachvollziehbare Information.</a:t>
            </a:r>
          </a:p>
        </p:txBody>
      </p:sp>
      <p:sp>
        <p:nvSpPr>
          <p:cNvPr id="9" name="">
            <a:extLst xmlns:a="http://schemas.openxmlformats.org/drawingml/2006/main">
              <a:ext uri="{FF2B5EF4-FFF2-40B4-BE49-F238E27FC236}">
                <a16:creationId xmlns:a16="http://schemas.microsoft.com/office/drawing/2014/main" id="{FD10B457-92D3-41D4-B25E-FCA52BCA2AC3}"/>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0C0C4687-4E04-41C3-91F5-8D0E0BC9D959}"/>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794F9EDB-C81C-48B0-A86F-7FB457D05F1E}"/>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Zweckbindung</a:t>
            </a:r>
          </a:p>
        </p:txBody>
      </p:sp>
      <p:sp>
        <p:nvSpPr>
          <p:cNvPr id="12" name="">
            <a:extLst xmlns:a="http://schemas.openxmlformats.org/drawingml/2006/main">
              <a:ext uri="{FF2B5EF4-FFF2-40B4-BE49-F238E27FC236}">
                <a16:creationId xmlns:a16="http://schemas.microsoft.com/office/drawing/2014/main" id="{CC8F7AC0-093D-4CA5-91DB-9CB5C5447C15}"/>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Daten werden für festgelegte Zwecke erhoben und nicht beliebig weiterverwendet.</a:t>
            </a:r>
          </a:p>
        </p:txBody>
      </p:sp>
      <p:sp>
        <p:nvSpPr>
          <p:cNvPr id="13" name="">
            <a:extLst xmlns:a="http://schemas.openxmlformats.org/drawingml/2006/main">
              <a:ext uri="{FF2B5EF4-FFF2-40B4-BE49-F238E27FC236}">
                <a16:creationId xmlns:a16="http://schemas.microsoft.com/office/drawing/2014/main" id="{EB8E9F42-3AAA-4242-B2C8-1B1EA2E64054}"/>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BB471A46-8967-42AE-B78E-1986BBDA5ECB}"/>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C56B7FAC-FC62-408D-8FF4-05FD91F4B46E}"/>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Datenminimierung</a:t>
            </a:r>
          </a:p>
        </p:txBody>
      </p:sp>
      <p:sp>
        <p:nvSpPr>
          <p:cNvPr id="16" name="">
            <a:extLst xmlns:a="http://schemas.openxmlformats.org/drawingml/2006/main">
              <a:ext uri="{FF2B5EF4-FFF2-40B4-BE49-F238E27FC236}">
                <a16:creationId xmlns:a16="http://schemas.microsoft.com/office/drawing/2014/main" id="{B1A649EC-4B8F-405F-9BDA-D70AB17AD173}"/>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Es werden nur die für den Zweck erforderlichen Daten verarbeitet.</a:t>
            </a:r>
          </a:p>
        </p:txBody>
      </p:sp>
      <p:sp>
        <p:nvSpPr>
          <p:cNvPr id="17" name="">
            <a:extLst xmlns:a="http://schemas.openxmlformats.org/drawingml/2006/main">
              <a:ext uri="{FF2B5EF4-FFF2-40B4-BE49-F238E27FC236}">
                <a16:creationId xmlns:a16="http://schemas.microsoft.com/office/drawing/2014/main" id="{27A0B845-C39B-48A4-95FC-3DC79B17350B}"/>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98E70A59-CC80-4418-AEB2-A2AD10065D4E}"/>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19448344-44D3-4F6E-A3EA-4E35A4205923}"/>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Integrität und Vertraulichkeit</a:t>
            </a:r>
          </a:p>
        </p:txBody>
      </p:sp>
      <p:sp>
        <p:nvSpPr>
          <p:cNvPr id="20" name="">
            <a:extLst xmlns:a="http://schemas.openxmlformats.org/drawingml/2006/main">
              <a:ext uri="{FF2B5EF4-FFF2-40B4-BE49-F238E27FC236}">
                <a16:creationId xmlns:a16="http://schemas.microsoft.com/office/drawing/2014/main" id="{95221E68-D304-44FF-83F7-97FE915C729E}"/>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Technische und organisatorische Maßnahmen schützen vor Verlust, Veränderung und unbefugtem Zugriff.</a:t>
            </a:r>
          </a:p>
        </p:txBody>
      </p:sp>
      <p:sp>
        <p:nvSpPr>
          <p:cNvPr id="21" name="">
            <a:extLst xmlns:a="http://schemas.openxmlformats.org/drawingml/2006/main">
              <a:ext uri="{FF2B5EF4-FFF2-40B4-BE49-F238E27FC236}">
                <a16:creationId xmlns:a16="http://schemas.microsoft.com/office/drawing/2014/main" id="{07F046C4-BAF0-459E-9F17-4DBF4F4F58A6}"/>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11EE0BD4-B4AE-4461-AA6A-5EF314CEAD7E}"/>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Datenschutz soll sichere Behandlung ermöglichen und unnötige Offenbarung verhindern.</a:t>
            </a:r>
          </a:p>
        </p:txBody>
      </p:sp>
    </p:spTree>
    <p:extLst>
      <p:ext uri="{BB962C8B-B14F-4D97-AF65-F5344CB8AC3E}">
        <p14:creationId xmlns:p14="http://schemas.microsoft.com/office/powerpoint/2010/main" val="43637646"/>
      </p:ext>
    </p:extLst>
  </p:cSld>
</p:sld>
</file>

<file path=ppt/slides/slide358.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Datenschutzverletzung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9A432609-447B-4116-9318-88DDF10CF3B9}"/>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Fehlversand, unbefugter Zugriff oder verlorene Geräte lösen einen zeitkritischen Prüfprozess aus.</a:t>
            </a:r>
          </a:p>
        </p:txBody>
      </p:sp>
      <p:sp>
        <p:nvSpPr>
          <p:cNvPr id="5" name="">
            <a:extLst xmlns:a="http://schemas.openxmlformats.org/drawingml/2006/main">
              <a:ext uri="{FF2B5EF4-FFF2-40B4-BE49-F238E27FC236}">
                <a16:creationId xmlns:a16="http://schemas.microsoft.com/office/drawing/2014/main" id="{EAC9A70C-3BB7-43D7-83FE-CF0566D5411E}"/>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BB373B30-46DD-451D-BF65-7DBD2888C924}"/>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A1AE93CB-48EE-4927-BC6F-8C5991ACB3EA}"/>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Sofort begrenzen</a:t>
            </a:r>
          </a:p>
        </p:txBody>
      </p:sp>
      <p:sp>
        <p:nvSpPr>
          <p:cNvPr id="8" name="">
            <a:extLst xmlns:a="http://schemas.openxmlformats.org/drawingml/2006/main">
              <a:ext uri="{FF2B5EF4-FFF2-40B4-BE49-F238E27FC236}">
                <a16:creationId xmlns:a16="http://schemas.microsoft.com/office/drawing/2014/main" id="{B55CA03F-A83B-40C3-971B-ACE09EE33FC3}"/>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Zugriff sperren, Rückruf versuchen, Geräte sichern und weitere Offenbarung stoppen.</a:t>
            </a:r>
          </a:p>
        </p:txBody>
      </p:sp>
      <p:sp>
        <p:nvSpPr>
          <p:cNvPr id="9" name="">
            <a:extLst xmlns:a="http://schemas.openxmlformats.org/drawingml/2006/main">
              <a:ext uri="{FF2B5EF4-FFF2-40B4-BE49-F238E27FC236}">
                <a16:creationId xmlns:a16="http://schemas.microsoft.com/office/drawing/2014/main" id="{4F0FF7DC-C0E1-4DD7-81CD-8B5C2F50D742}"/>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0FA78451-10AD-43D0-8018-20C7119B4954}"/>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122B71D4-6DA8-4720-90FB-C2226B17F08B}"/>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Intern melden</a:t>
            </a:r>
          </a:p>
        </p:txBody>
      </p:sp>
      <p:sp>
        <p:nvSpPr>
          <p:cNvPr id="12" name="">
            <a:extLst xmlns:a="http://schemas.openxmlformats.org/drawingml/2006/main">
              <a:ext uri="{FF2B5EF4-FFF2-40B4-BE49-F238E27FC236}">
                <a16:creationId xmlns:a16="http://schemas.microsoft.com/office/drawing/2014/main" id="{63884618-CF18-4893-8D0C-AED6C92A5F06}"/>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Datenschutzbeauftragte und zuständige Stellen erhalten unverzüglich gesicherte Fakten.</a:t>
            </a:r>
          </a:p>
        </p:txBody>
      </p:sp>
      <p:sp>
        <p:nvSpPr>
          <p:cNvPr id="13" name="">
            <a:extLst xmlns:a="http://schemas.openxmlformats.org/drawingml/2006/main">
              <a:ext uri="{FF2B5EF4-FFF2-40B4-BE49-F238E27FC236}">
                <a16:creationId xmlns:a16="http://schemas.microsoft.com/office/drawing/2014/main" id="{BB0AC233-D8CC-4FBA-9BA7-71D6B974E085}"/>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E755DCE6-7918-4E85-B029-3D0437A205B3}"/>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42BCBA6C-C4DD-402F-8175-402E5AC3BA0C}"/>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Risiko bewerten</a:t>
            </a:r>
          </a:p>
        </p:txBody>
      </p:sp>
      <p:sp>
        <p:nvSpPr>
          <p:cNvPr id="16" name="">
            <a:extLst xmlns:a="http://schemas.openxmlformats.org/drawingml/2006/main">
              <a:ext uri="{FF2B5EF4-FFF2-40B4-BE49-F238E27FC236}">
                <a16:creationId xmlns:a16="http://schemas.microsoft.com/office/drawing/2014/main" id="{6AC2D01F-2939-43A7-A8C9-A0C0F5225939}"/>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Art, Umfang, Sensibilität, Betroffene und mögliche Folgen bestimmen Melde- und Benachrichtigungspflichten.</a:t>
            </a:r>
          </a:p>
        </p:txBody>
      </p:sp>
      <p:sp>
        <p:nvSpPr>
          <p:cNvPr id="17" name="">
            <a:extLst xmlns:a="http://schemas.openxmlformats.org/drawingml/2006/main">
              <a:ext uri="{FF2B5EF4-FFF2-40B4-BE49-F238E27FC236}">
                <a16:creationId xmlns:a16="http://schemas.microsoft.com/office/drawing/2014/main" id="{5BBCCCCA-5875-43D7-BBDE-488605BA48D4}"/>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5DADE15F-51AC-4079-B90F-CD085C55EFE1}"/>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A8737E07-5588-4286-8663-A8887044D43C}"/>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Dokumentieren und lernen</a:t>
            </a:r>
          </a:p>
        </p:txBody>
      </p:sp>
      <p:sp>
        <p:nvSpPr>
          <p:cNvPr id="20" name="">
            <a:extLst xmlns:a="http://schemas.openxmlformats.org/drawingml/2006/main">
              <a:ext uri="{FF2B5EF4-FFF2-40B4-BE49-F238E27FC236}">
                <a16:creationId xmlns:a16="http://schemas.microsoft.com/office/drawing/2014/main" id="{BB33CFA0-05D8-4C67-BE1F-A992576168B5}"/>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Ablauf, Entscheidung und Abhilfemaßnahmen werden dokumentiert; Systemursachen werden behoben.</a:t>
            </a:r>
          </a:p>
        </p:txBody>
      </p:sp>
      <p:sp>
        <p:nvSpPr>
          <p:cNvPr id="21" name="">
            <a:extLst xmlns:a="http://schemas.openxmlformats.org/drawingml/2006/main">
              <a:ext uri="{FF2B5EF4-FFF2-40B4-BE49-F238E27FC236}">
                <a16:creationId xmlns:a16="http://schemas.microsoft.com/office/drawing/2014/main" id="{FFC14FE8-EEB4-4B5B-A1D2-DDE2A885E160}"/>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B37E92D1-C11A-4AA2-94E6-DD6C01A0CB9E}"/>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Nicht verheimlichen: Frühe Meldung ermöglicht Schadensbegrenzung und fristgerechte Reaktion.</a:t>
            </a:r>
          </a:p>
        </p:txBody>
      </p:sp>
    </p:spTree>
    <p:extLst>
      <p:ext uri="{BB962C8B-B14F-4D97-AF65-F5344CB8AC3E}">
        <p14:creationId xmlns:p14="http://schemas.microsoft.com/office/powerpoint/2010/main" val="43637646"/>
      </p:ext>
    </p:extLst>
  </p:cSld>
</p:sld>
</file>

<file path=ppt/slides/slide359.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Systemverantwortung und Ressourcenknappheit</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2F75FF03-EC2B-4A40-9584-ABD37023DFEB}"/>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Personalmangel erklärt Kontext, beseitigt aber nicht automatisch konkrete Schutzpflichten.</a:t>
            </a:r>
          </a:p>
        </p:txBody>
      </p:sp>
      <p:sp>
        <p:nvSpPr>
          <p:cNvPr id="5" name="">
            <a:extLst xmlns:a="http://schemas.openxmlformats.org/drawingml/2006/main">
              <a:ext uri="{FF2B5EF4-FFF2-40B4-BE49-F238E27FC236}">
                <a16:creationId xmlns:a16="http://schemas.microsoft.com/office/drawing/2014/main" id="{08A14412-71BC-4B3E-ADBA-9C10DE83D6D7}"/>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A85D6142-41CB-4F7A-A8CD-DAFE6FF4542D}"/>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C8B844FD-3197-463B-A821-5FBD07F95AE8}"/>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Erkennbare Grenze</a:t>
            </a:r>
          </a:p>
        </p:txBody>
      </p:sp>
      <p:sp>
        <p:nvSpPr>
          <p:cNvPr id="8" name="">
            <a:extLst xmlns:a="http://schemas.openxmlformats.org/drawingml/2006/main">
              <a:ext uri="{FF2B5EF4-FFF2-40B4-BE49-F238E27FC236}">
                <a16:creationId xmlns:a16="http://schemas.microsoft.com/office/drawing/2014/main" id="{8AFBAA4A-B896-41B0-A204-A7C6C41AF835}"/>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Überlastung, fehlende Betten oder Technik werden früh konkret benannt und eskaliert.</a:t>
            </a:r>
          </a:p>
        </p:txBody>
      </p:sp>
      <p:sp>
        <p:nvSpPr>
          <p:cNvPr id="9" name="">
            <a:extLst xmlns:a="http://schemas.openxmlformats.org/drawingml/2006/main">
              <a:ext uri="{FF2B5EF4-FFF2-40B4-BE49-F238E27FC236}">
                <a16:creationId xmlns:a16="http://schemas.microsoft.com/office/drawing/2014/main" id="{7BA30A9A-9297-4D34-8789-C6331539569D}"/>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23D22BAC-54DF-4AD2-B690-932C0F051462}"/>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4BE60270-E23A-44B4-8E12-365A3E9DCF14}"/>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Priorisierung</a:t>
            </a:r>
          </a:p>
        </p:txBody>
      </p:sp>
      <p:sp>
        <p:nvSpPr>
          <p:cNvPr id="12" name="">
            <a:extLst xmlns:a="http://schemas.openxmlformats.org/drawingml/2006/main">
              <a:ext uri="{FF2B5EF4-FFF2-40B4-BE49-F238E27FC236}">
                <a16:creationId xmlns:a16="http://schemas.microsoft.com/office/drawing/2014/main" id="{38E5D8D2-1C94-42D4-9564-084F9A18DCB0}"/>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Medizinische Dringlichkeit und transparente Kriterien steuern Ressourcen; sachfremde Auswahl ist zu vermeiden.</a:t>
            </a:r>
          </a:p>
        </p:txBody>
      </p:sp>
      <p:sp>
        <p:nvSpPr>
          <p:cNvPr id="13" name="">
            <a:extLst xmlns:a="http://schemas.openxmlformats.org/drawingml/2006/main">
              <a:ext uri="{FF2B5EF4-FFF2-40B4-BE49-F238E27FC236}">
                <a16:creationId xmlns:a16="http://schemas.microsoft.com/office/drawing/2014/main" id="{C8930C33-69BD-4799-8179-9645E61716B2}"/>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9CCDF2FC-D1A6-4F5F-A786-79F2BE6D2DDE}"/>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1C830B62-7FDD-4224-AF8B-5A5BB49E615D}"/>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Organisationspflicht</a:t>
            </a:r>
          </a:p>
        </p:txBody>
      </p:sp>
      <p:sp>
        <p:nvSpPr>
          <p:cNvPr id="16" name="">
            <a:extLst xmlns:a="http://schemas.openxmlformats.org/drawingml/2006/main">
              <a:ext uri="{FF2B5EF4-FFF2-40B4-BE49-F238E27FC236}">
                <a16:creationId xmlns:a16="http://schemas.microsoft.com/office/drawing/2014/main" id="{508A8FA1-5233-48CD-B9C9-75D5D2C46EEE}"/>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Träger müssen vorhersehbare Risiken durch Personal-, Eskalations- und Ausfallkonzepte beherrschen.</a:t>
            </a:r>
          </a:p>
        </p:txBody>
      </p:sp>
      <p:sp>
        <p:nvSpPr>
          <p:cNvPr id="17" name="">
            <a:extLst xmlns:a="http://schemas.openxmlformats.org/drawingml/2006/main">
              <a:ext uri="{FF2B5EF4-FFF2-40B4-BE49-F238E27FC236}">
                <a16:creationId xmlns:a16="http://schemas.microsoft.com/office/drawing/2014/main" id="{ECE2F932-8F19-4443-8D3A-589C71443AA3}"/>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7E56E496-B8C0-480B-8492-C6CE3CCD8395}"/>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6C815029-A14C-4B37-A861-60D28485ABB7}"/>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Individualebene</a:t>
            </a:r>
          </a:p>
        </p:txBody>
      </p:sp>
      <p:sp>
        <p:nvSpPr>
          <p:cNvPr id="20" name="">
            <a:extLst xmlns:a="http://schemas.openxmlformats.org/drawingml/2006/main">
              <a:ext uri="{FF2B5EF4-FFF2-40B4-BE49-F238E27FC236}">
                <a16:creationId xmlns:a16="http://schemas.microsoft.com/office/drawing/2014/main" id="{A8EA40CD-63B8-486E-A3FC-60402A144A25}"/>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Die einzelne Person muss im Möglichen sicher handeln, Hilfe anfordern und unvertretbare Übernahme ablehnen.</a:t>
            </a:r>
          </a:p>
        </p:txBody>
      </p:sp>
      <p:sp>
        <p:nvSpPr>
          <p:cNvPr id="21" name="">
            <a:extLst xmlns:a="http://schemas.openxmlformats.org/drawingml/2006/main">
              <a:ext uri="{FF2B5EF4-FFF2-40B4-BE49-F238E27FC236}">
                <a16:creationId xmlns:a16="http://schemas.microsoft.com/office/drawing/2014/main" id="{10896BCB-3EE7-44F8-80DE-E83F0BB3A083}"/>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B448576D-3FBD-4A2B-8032-2F8EA35DCC7F}"/>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Überlastung muss in sichere Eskalationsentscheidungen übersetzt werden, nicht nur in einen späteren Rechtfertigungssatz.</a:t>
            </a:r>
          </a:p>
        </p:txBody>
      </p:sp>
    </p:spTree>
    <p:extLst>
      <p:ext uri="{BB962C8B-B14F-4D97-AF65-F5344CB8AC3E}">
        <p14:creationId xmlns:p14="http://schemas.microsoft.com/office/powerpoint/2010/main" val="43637646"/>
      </p:ext>
    </p:extLst>
  </p:cSld>
</p:sld>
</file>

<file path=ppt/slides/slide360.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Unterbesetzung muss in konkrete Eskalation übersetzt werden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PODCAST-PRAXISFALL · ÜBERNAHME- UND ORGANISATIONSVERANTWORTUNG</a:t>
            </a:r>
            <a:endParaRPr/>
          </a:p>
        </p:txBody>
      </p:sp>
      <p:sp>
        <p:nvSpPr>
          <p:cNvPr id="4" name="">
            <a:extLst xmlns:a="http://schemas.openxmlformats.org/drawingml/2006/main">
              <a:ext uri="{FF2B5EF4-FFF2-40B4-BE49-F238E27FC236}">
                <a16:creationId xmlns:a16="http://schemas.microsoft.com/office/drawing/2014/main" id="{64EFD606-1ABD-4E35-BB90-3DCD2FCE1C71}"/>
              </a:ext>
            </a:extLst>
          </p:cNvPr>
          <p:cNvSpPr>
            <a:spLocks xmlns:a="http://schemas.openxmlformats.org/drawingml/2006/main" noGrp="1"/>
          </p:cNvSpPr>
          <p:nvPr/>
        </p:nvSpPr>
        <p:spPr>
          <a:xfrm xmlns:a="http://schemas.openxmlformats.org/drawingml/2006/main">
            <a:off x="1809750" y="195262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427F11CD-BF44-4D80-B5ED-30C670C70E2B}"/>
              </a:ext>
            </a:extLst>
          </p:cNvPr>
          <p:cNvSpPr>
            <a:spLocks xmlns:a="http://schemas.openxmlformats.org/drawingml/2006/main" noGrp="1"/>
          </p:cNvSpPr>
          <p:nvPr/>
        </p:nvSpPr>
        <p:spPr>
          <a:xfrm xmlns:a="http://schemas.openxmlformats.org/drawingml/2006/main">
            <a:off x="1809750" y="19526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6" name="">
            <a:extLst xmlns:a="http://schemas.openxmlformats.org/drawingml/2006/main">
              <a:ext uri="{FF2B5EF4-FFF2-40B4-BE49-F238E27FC236}">
                <a16:creationId xmlns:a16="http://schemas.microsoft.com/office/drawing/2014/main" id="{765A3AA3-AE56-4E7B-B4C6-20933BE59DBE}"/>
              </a:ext>
            </a:extLst>
          </p:cNvPr>
          <p:cNvSpPr>
            <a:spLocks xmlns:a="http://schemas.openxmlformats.org/drawingml/2006/main" noGrp="1"/>
          </p:cNvSpPr>
          <p:nvPr/>
        </p:nvSpPr>
        <p:spPr>
          <a:xfrm xmlns:a="http://schemas.openxmlformats.org/drawingml/2006/main">
            <a:off x="2324100" y="196215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Risiko benennen</a:t>
            </a:r>
          </a:p>
        </p:txBody>
      </p:sp>
      <p:sp>
        <p:nvSpPr>
          <p:cNvPr id="7" name="">
            <a:extLst xmlns:a="http://schemas.openxmlformats.org/drawingml/2006/main">
              <a:ext uri="{FF2B5EF4-FFF2-40B4-BE49-F238E27FC236}">
                <a16:creationId xmlns:a16="http://schemas.microsoft.com/office/drawing/2014/main" id="{E813EAF5-1FED-4D62-A0B0-C1699E9E7B21}"/>
              </a:ext>
            </a:extLst>
          </p:cNvPr>
          <p:cNvSpPr>
            <a:spLocks xmlns:a="http://schemas.openxmlformats.org/drawingml/2006/main" noGrp="1"/>
          </p:cNvSpPr>
          <p:nvPr/>
        </p:nvSpPr>
        <p:spPr>
          <a:xfrm xmlns:a="http://schemas.openxmlformats.org/drawingml/2006/main">
            <a:off x="4819650" y="196215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Welche konkrete Versorgung kann bei vorhandener Besetzung, Qualifikation, Bettenlage oder Technik nicht sicher geleistet werden?</a:t>
            </a:r>
          </a:p>
        </p:txBody>
      </p:sp>
      <p:sp>
        <p:nvSpPr>
          <p:cNvPr id="8" name="">
            <a:extLst xmlns:a="http://schemas.openxmlformats.org/drawingml/2006/main">
              <a:ext uri="{FF2B5EF4-FFF2-40B4-BE49-F238E27FC236}">
                <a16:creationId xmlns:a16="http://schemas.microsoft.com/office/drawing/2014/main" id="{0E18B43F-C769-4F7D-BCE2-517EC9D50067}"/>
              </a:ext>
            </a:extLst>
          </p:cNvPr>
          <p:cNvSpPr>
            <a:spLocks xmlns:a="http://schemas.openxmlformats.org/drawingml/2006/main" noGrp="1"/>
          </p:cNvSpPr>
          <p:nvPr/>
        </p:nvSpPr>
        <p:spPr>
          <a:xfrm xmlns:a="http://schemas.openxmlformats.org/drawingml/2006/main">
            <a:off x="1809750" y="255270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9" name="">
            <a:extLst xmlns:a="http://schemas.openxmlformats.org/drawingml/2006/main">
              <a:ext uri="{FF2B5EF4-FFF2-40B4-BE49-F238E27FC236}">
                <a16:creationId xmlns:a16="http://schemas.microsoft.com/office/drawing/2014/main" id="{4F18FE48-BA33-4C54-B5E4-CF0F4AF9EC3D}"/>
              </a:ext>
            </a:extLst>
          </p:cNvPr>
          <p:cNvSpPr>
            <a:spLocks xmlns:a="http://schemas.openxmlformats.org/drawingml/2006/main" noGrp="1"/>
          </p:cNvSpPr>
          <p:nvPr/>
        </p:nvSpPr>
        <p:spPr>
          <a:xfrm xmlns:a="http://schemas.openxmlformats.org/drawingml/2006/main">
            <a:off x="1809750" y="255270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0" name="">
            <a:extLst xmlns:a="http://schemas.openxmlformats.org/drawingml/2006/main">
              <a:ext uri="{FF2B5EF4-FFF2-40B4-BE49-F238E27FC236}">
                <a16:creationId xmlns:a16="http://schemas.microsoft.com/office/drawing/2014/main" id="{664F8E1F-804E-4ADA-856E-78DFB767E8B0}"/>
              </a:ext>
            </a:extLst>
          </p:cNvPr>
          <p:cNvSpPr>
            <a:spLocks xmlns:a="http://schemas.openxmlformats.org/drawingml/2006/main" noGrp="1"/>
          </p:cNvSpPr>
          <p:nvPr/>
        </p:nvSpPr>
        <p:spPr>
          <a:xfrm xmlns:a="http://schemas.openxmlformats.org/drawingml/2006/main">
            <a:off x="2324100" y="256222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Priorisieren</a:t>
            </a:r>
          </a:p>
        </p:txBody>
      </p:sp>
      <p:sp>
        <p:nvSpPr>
          <p:cNvPr id="11" name="">
            <a:extLst xmlns:a="http://schemas.openxmlformats.org/drawingml/2006/main">
              <a:ext uri="{FF2B5EF4-FFF2-40B4-BE49-F238E27FC236}">
                <a16:creationId xmlns:a16="http://schemas.microsoft.com/office/drawing/2014/main" id="{310977E8-7E6C-428F-BDA7-5AF1765F14E4}"/>
              </a:ext>
            </a:extLst>
          </p:cNvPr>
          <p:cNvSpPr>
            <a:spLocks xmlns:a="http://schemas.openxmlformats.org/drawingml/2006/main" noGrp="1"/>
          </p:cNvSpPr>
          <p:nvPr/>
        </p:nvSpPr>
        <p:spPr>
          <a:xfrm xmlns:a="http://schemas.openxmlformats.org/drawingml/2006/main">
            <a:off x="4819650" y="256222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Zeitkritische Patientinnen und Patienten sowie unaufschiebbare Aufgaben sichtbar priorisieren.</a:t>
            </a:r>
          </a:p>
        </p:txBody>
      </p:sp>
      <p:sp>
        <p:nvSpPr>
          <p:cNvPr id="12" name="">
            <a:extLst xmlns:a="http://schemas.openxmlformats.org/drawingml/2006/main">
              <a:ext uri="{FF2B5EF4-FFF2-40B4-BE49-F238E27FC236}">
                <a16:creationId xmlns:a16="http://schemas.microsoft.com/office/drawing/2014/main" id="{7EEA8646-1E0A-4771-9C09-259DA0E63008}"/>
              </a:ext>
            </a:extLst>
          </p:cNvPr>
          <p:cNvSpPr>
            <a:spLocks xmlns:a="http://schemas.openxmlformats.org/drawingml/2006/main" noGrp="1"/>
          </p:cNvSpPr>
          <p:nvPr/>
        </p:nvSpPr>
        <p:spPr>
          <a:xfrm xmlns:a="http://schemas.openxmlformats.org/drawingml/2006/main">
            <a:off x="1809750" y="315277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3" name="">
            <a:extLst xmlns:a="http://schemas.openxmlformats.org/drawingml/2006/main">
              <a:ext uri="{FF2B5EF4-FFF2-40B4-BE49-F238E27FC236}">
                <a16:creationId xmlns:a16="http://schemas.microsoft.com/office/drawing/2014/main" id="{0D8BAD38-80B7-4430-AE31-FECA96B73122}"/>
              </a:ext>
            </a:extLst>
          </p:cNvPr>
          <p:cNvSpPr>
            <a:spLocks xmlns:a="http://schemas.openxmlformats.org/drawingml/2006/main" noGrp="1"/>
          </p:cNvSpPr>
          <p:nvPr/>
        </p:nvSpPr>
        <p:spPr>
          <a:xfrm xmlns:a="http://schemas.openxmlformats.org/drawingml/2006/main">
            <a:off x="1809750" y="315277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4" name="">
            <a:extLst xmlns:a="http://schemas.openxmlformats.org/drawingml/2006/main">
              <a:ext uri="{FF2B5EF4-FFF2-40B4-BE49-F238E27FC236}">
                <a16:creationId xmlns:a16="http://schemas.microsoft.com/office/drawing/2014/main" id="{D69FF797-5CCB-409D-82A1-21D8B5E1F5B1}"/>
              </a:ext>
            </a:extLst>
          </p:cNvPr>
          <p:cNvSpPr>
            <a:spLocks xmlns:a="http://schemas.openxmlformats.org/drawingml/2006/main" noGrp="1"/>
          </p:cNvSpPr>
          <p:nvPr/>
        </p:nvSpPr>
        <p:spPr>
          <a:xfrm xmlns:a="http://schemas.openxmlformats.org/drawingml/2006/main">
            <a:off x="2324100" y="316230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Eskalieren</a:t>
            </a:r>
          </a:p>
        </p:txBody>
      </p:sp>
      <p:sp>
        <p:nvSpPr>
          <p:cNvPr id="15" name="">
            <a:extLst xmlns:a="http://schemas.openxmlformats.org/drawingml/2006/main">
              <a:ext uri="{FF2B5EF4-FFF2-40B4-BE49-F238E27FC236}">
                <a16:creationId xmlns:a16="http://schemas.microsoft.com/office/drawing/2014/main" id="{894202CA-0F01-4AC2-AFA9-3E50338784A7}"/>
              </a:ext>
            </a:extLst>
          </p:cNvPr>
          <p:cNvSpPr>
            <a:spLocks xmlns:a="http://schemas.openxmlformats.org/drawingml/2006/main" noGrp="1"/>
          </p:cNvSpPr>
          <p:nvPr/>
        </p:nvSpPr>
        <p:spPr>
          <a:xfrm xmlns:a="http://schemas.openxmlformats.org/drawingml/2006/main">
            <a:off x="4819650" y="316230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Diensthabende Leitung, Hintergrund, Bettensteuerung und Organisationsverantwortliche mit klarer Rückmeldung einbinden.</a:t>
            </a:r>
          </a:p>
        </p:txBody>
      </p:sp>
      <p:sp>
        <p:nvSpPr>
          <p:cNvPr id="16" name="">
            <a:extLst xmlns:a="http://schemas.openxmlformats.org/drawingml/2006/main">
              <a:ext uri="{FF2B5EF4-FFF2-40B4-BE49-F238E27FC236}">
                <a16:creationId xmlns:a16="http://schemas.microsoft.com/office/drawing/2014/main" id="{1EC6F7B0-73E7-402A-91AB-D1029DDA55FA}"/>
              </a:ext>
            </a:extLst>
          </p:cNvPr>
          <p:cNvSpPr>
            <a:spLocks xmlns:a="http://schemas.openxmlformats.org/drawingml/2006/main" noGrp="1"/>
          </p:cNvSpPr>
          <p:nvPr/>
        </p:nvSpPr>
        <p:spPr>
          <a:xfrm xmlns:a="http://schemas.openxmlformats.org/drawingml/2006/main">
            <a:off x="1809750" y="375285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7" name="">
            <a:extLst xmlns:a="http://schemas.openxmlformats.org/drawingml/2006/main">
              <a:ext uri="{FF2B5EF4-FFF2-40B4-BE49-F238E27FC236}">
                <a16:creationId xmlns:a16="http://schemas.microsoft.com/office/drawing/2014/main" id="{EB654E77-5130-4922-B0FC-5C345A26571D}"/>
              </a:ext>
            </a:extLst>
          </p:cNvPr>
          <p:cNvSpPr>
            <a:spLocks xmlns:a="http://schemas.openxmlformats.org/drawingml/2006/main" noGrp="1"/>
          </p:cNvSpPr>
          <p:nvPr/>
        </p:nvSpPr>
        <p:spPr>
          <a:xfrm xmlns:a="http://schemas.openxmlformats.org/drawingml/2006/main">
            <a:off x="1809750" y="375285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18" name="">
            <a:extLst xmlns:a="http://schemas.openxmlformats.org/drawingml/2006/main">
              <a:ext uri="{FF2B5EF4-FFF2-40B4-BE49-F238E27FC236}">
                <a16:creationId xmlns:a16="http://schemas.microsoft.com/office/drawing/2014/main" id="{CAF3D51D-340A-429C-ABA6-92D3F020A556}"/>
              </a:ext>
            </a:extLst>
          </p:cNvPr>
          <p:cNvSpPr>
            <a:spLocks xmlns:a="http://schemas.openxmlformats.org/drawingml/2006/main" noGrp="1"/>
          </p:cNvSpPr>
          <p:nvPr/>
        </p:nvSpPr>
        <p:spPr>
          <a:xfrm xmlns:a="http://schemas.openxmlformats.org/drawingml/2006/main">
            <a:off x="2324100" y="376237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Alternativen</a:t>
            </a:r>
          </a:p>
        </p:txBody>
      </p:sp>
      <p:sp>
        <p:nvSpPr>
          <p:cNvPr id="19" name="">
            <a:extLst xmlns:a="http://schemas.openxmlformats.org/drawingml/2006/main">
              <a:ext uri="{FF2B5EF4-FFF2-40B4-BE49-F238E27FC236}">
                <a16:creationId xmlns:a16="http://schemas.microsoft.com/office/drawing/2014/main" id="{3D982D42-CB89-47C0-9907-86AC33224DA8}"/>
              </a:ext>
            </a:extLst>
          </p:cNvPr>
          <p:cNvSpPr>
            <a:spLocks xmlns:a="http://schemas.openxmlformats.org/drawingml/2006/main" noGrp="1"/>
          </p:cNvSpPr>
          <p:nvPr/>
        </p:nvSpPr>
        <p:spPr>
          <a:xfrm xmlns:a="http://schemas.openxmlformats.org/drawingml/2006/main">
            <a:off x="4819650" y="376237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Verlegung, Unterstützung, Aufgabenstopp oder angepasste Aufnahmeentscheidung aktiv prüfen.</a:t>
            </a:r>
          </a:p>
        </p:txBody>
      </p:sp>
      <p:sp>
        <p:nvSpPr>
          <p:cNvPr id="20" name="">
            <a:extLst xmlns:a="http://schemas.openxmlformats.org/drawingml/2006/main">
              <a:ext uri="{FF2B5EF4-FFF2-40B4-BE49-F238E27FC236}">
                <a16:creationId xmlns:a16="http://schemas.microsoft.com/office/drawing/2014/main" id="{C8E91078-C34B-4D3B-84D9-A4B413301376}"/>
              </a:ext>
            </a:extLst>
          </p:cNvPr>
          <p:cNvSpPr>
            <a:spLocks xmlns:a="http://schemas.openxmlformats.org/drawingml/2006/main" noGrp="1"/>
          </p:cNvSpPr>
          <p:nvPr/>
        </p:nvSpPr>
        <p:spPr>
          <a:xfrm xmlns:a="http://schemas.openxmlformats.org/drawingml/2006/main">
            <a:off x="1809750" y="435292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1" name="">
            <a:extLst xmlns:a="http://schemas.openxmlformats.org/drawingml/2006/main">
              <a:ext uri="{FF2B5EF4-FFF2-40B4-BE49-F238E27FC236}">
                <a16:creationId xmlns:a16="http://schemas.microsoft.com/office/drawing/2014/main" id="{D7E6EDBD-3D7C-4928-BD92-E7AE0789F994}"/>
              </a:ext>
            </a:extLst>
          </p:cNvPr>
          <p:cNvSpPr>
            <a:spLocks xmlns:a="http://schemas.openxmlformats.org/drawingml/2006/main" noGrp="1"/>
          </p:cNvSpPr>
          <p:nvPr/>
        </p:nvSpPr>
        <p:spPr>
          <a:xfrm xmlns:a="http://schemas.openxmlformats.org/drawingml/2006/main">
            <a:off x="1809750" y="43529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5</a:t>
            </a:r>
          </a:p>
        </p:txBody>
      </p:sp>
      <p:sp>
        <p:nvSpPr>
          <p:cNvPr id="22" name="">
            <a:extLst xmlns:a="http://schemas.openxmlformats.org/drawingml/2006/main">
              <a:ext uri="{FF2B5EF4-FFF2-40B4-BE49-F238E27FC236}">
                <a16:creationId xmlns:a16="http://schemas.microsoft.com/office/drawing/2014/main" id="{DE7A89C3-E58A-47C0-AFA6-69B78EE34128}"/>
              </a:ext>
            </a:extLst>
          </p:cNvPr>
          <p:cNvSpPr>
            <a:spLocks xmlns:a="http://schemas.openxmlformats.org/drawingml/2006/main" noGrp="1"/>
          </p:cNvSpPr>
          <p:nvPr/>
        </p:nvSpPr>
        <p:spPr>
          <a:xfrm xmlns:a="http://schemas.openxmlformats.org/drawingml/2006/main">
            <a:off x="2324100" y="436245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Übergeben</a:t>
            </a:r>
          </a:p>
        </p:txBody>
      </p:sp>
      <p:sp>
        <p:nvSpPr>
          <p:cNvPr id="23" name="">
            <a:extLst xmlns:a="http://schemas.openxmlformats.org/drawingml/2006/main">
              <a:ext uri="{FF2B5EF4-FFF2-40B4-BE49-F238E27FC236}">
                <a16:creationId xmlns:a16="http://schemas.microsoft.com/office/drawing/2014/main" id="{8C3AA958-0E03-45C2-8034-3BB201ED410B}"/>
              </a:ext>
            </a:extLst>
          </p:cNvPr>
          <p:cNvSpPr>
            <a:spLocks xmlns:a="http://schemas.openxmlformats.org/drawingml/2006/main" noGrp="1"/>
          </p:cNvSpPr>
          <p:nvPr/>
        </p:nvSpPr>
        <p:spPr>
          <a:xfrm xmlns:a="http://schemas.openxmlformats.org/drawingml/2006/main">
            <a:off x="4819650" y="436245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Offene Aufgaben mit Person, Frist, Kontrollpunkt und Eskalationsschwelle übergeben.</a:t>
            </a:r>
          </a:p>
        </p:txBody>
      </p:sp>
      <p:sp>
        <p:nvSpPr>
          <p:cNvPr id="24" name="">
            <a:extLst xmlns:a="http://schemas.openxmlformats.org/drawingml/2006/main">
              <a:ext uri="{FF2B5EF4-FFF2-40B4-BE49-F238E27FC236}">
                <a16:creationId xmlns:a16="http://schemas.microsoft.com/office/drawing/2014/main" id="{BC52D604-254B-4278-B5F1-E4F35CAD7A33}"/>
              </a:ext>
            </a:extLst>
          </p:cNvPr>
          <p:cNvSpPr>
            <a:spLocks xmlns:a="http://schemas.openxmlformats.org/drawingml/2006/main" noGrp="1"/>
          </p:cNvSpPr>
          <p:nvPr/>
        </p:nvSpPr>
        <p:spPr>
          <a:xfrm xmlns:a="http://schemas.openxmlformats.org/drawingml/2006/main">
            <a:off x="1809750" y="495300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25" name="">
            <a:extLst xmlns:a="http://schemas.openxmlformats.org/drawingml/2006/main">
              <a:ext uri="{FF2B5EF4-FFF2-40B4-BE49-F238E27FC236}">
                <a16:creationId xmlns:a16="http://schemas.microsoft.com/office/drawing/2014/main" id="{628DCC39-A9E1-401A-A8B9-B8673966FBAE}"/>
              </a:ext>
            </a:extLst>
          </p:cNvPr>
          <p:cNvSpPr>
            <a:spLocks xmlns:a="http://schemas.openxmlformats.org/drawingml/2006/main" noGrp="1"/>
          </p:cNvSpPr>
          <p:nvPr/>
        </p:nvSpPr>
        <p:spPr>
          <a:xfrm xmlns:a="http://schemas.openxmlformats.org/drawingml/2006/main">
            <a:off x="1809750" y="495300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6</a:t>
            </a:r>
          </a:p>
        </p:txBody>
      </p:sp>
      <p:sp>
        <p:nvSpPr>
          <p:cNvPr id="26" name="">
            <a:extLst xmlns:a="http://schemas.openxmlformats.org/drawingml/2006/main">
              <a:ext uri="{FF2B5EF4-FFF2-40B4-BE49-F238E27FC236}">
                <a16:creationId xmlns:a16="http://schemas.microsoft.com/office/drawing/2014/main" id="{97E101EF-2DCF-4FAF-AEC4-3BF962433B9E}"/>
              </a:ext>
            </a:extLst>
          </p:cNvPr>
          <p:cNvSpPr>
            <a:spLocks xmlns:a="http://schemas.openxmlformats.org/drawingml/2006/main" noGrp="1"/>
          </p:cNvSpPr>
          <p:nvPr/>
        </p:nvSpPr>
        <p:spPr>
          <a:xfrm xmlns:a="http://schemas.openxmlformats.org/drawingml/2006/main">
            <a:off x="2324100" y="496252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Dokumentieren</a:t>
            </a:r>
          </a:p>
        </p:txBody>
      </p:sp>
      <p:sp>
        <p:nvSpPr>
          <p:cNvPr id="27" name="">
            <a:extLst xmlns:a="http://schemas.openxmlformats.org/drawingml/2006/main">
              <a:ext uri="{FF2B5EF4-FFF2-40B4-BE49-F238E27FC236}">
                <a16:creationId xmlns:a16="http://schemas.microsoft.com/office/drawing/2014/main" id="{9920701F-DBCD-4FF4-AD64-93987F64A4AB}"/>
              </a:ext>
            </a:extLst>
          </p:cNvPr>
          <p:cNvSpPr>
            <a:spLocks xmlns:a="http://schemas.openxmlformats.org/drawingml/2006/main" noGrp="1"/>
          </p:cNvSpPr>
          <p:nvPr/>
        </p:nvSpPr>
        <p:spPr>
          <a:xfrm xmlns:a="http://schemas.openxmlformats.org/drawingml/2006/main">
            <a:off x="4819650" y="496252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Patientenbezogene Folgen in der Akte, systemische Engpässe im vorgesehenen Meldeweg dokumentieren; keine Textlawine zur Selbstentlastung.</a:t>
            </a:r>
          </a:p>
        </p:txBody>
      </p:sp>
      <p:sp>
        <p:nvSpPr>
          <p:cNvPr id="28" name="">
            <a:extLst xmlns:a="http://schemas.openxmlformats.org/drawingml/2006/main">
              <a:ext uri="{FF2B5EF4-FFF2-40B4-BE49-F238E27FC236}">
                <a16:creationId xmlns:a16="http://schemas.microsoft.com/office/drawing/2014/main" id="{D314713D-368D-4608-A737-22A22F4E4757}"/>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9" name="">
            <a:extLst xmlns:a="http://schemas.openxmlformats.org/drawingml/2006/main">
              <a:ext uri="{FF2B5EF4-FFF2-40B4-BE49-F238E27FC236}">
                <a16:creationId xmlns:a16="http://schemas.microsoft.com/office/drawing/2014/main" id="{860893AD-E592-475C-894A-ADF1BA9BEFAA}"/>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„Wir waren unterbesetzt“ ist keine Handlung; rechtlich relevant wird, welche konkrete Gefahr erkannt und wie darauf reagiert wurde.</a:t>
            </a:r>
          </a:p>
        </p:txBody>
      </p:sp>
    </p:spTree>
    <p:extLst>
      <p:ext uri="{BB962C8B-B14F-4D97-AF65-F5344CB8AC3E}">
        <p14:creationId xmlns:p14="http://schemas.microsoft.com/office/powerpoint/2010/main" val="43637646"/>
      </p:ext>
    </p:extLst>
  </p:cSld>
</p:sld>
</file>

<file path=ppt/slides/slide361.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Leitentscheidung · Medikamentenverwechslung und unterlassene Rettungsinformation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ORIGINALENTSCHEIDUNG · TERMIN 12</a:t>
            </a:r>
            <a:endParaRPr/>
          </a:p>
        </p:txBody>
      </p:sp>
      <p:sp>
        <p:nvSpPr>
          <p:cNvPr id="4" name="">
            <a:extLst xmlns:a="http://schemas.openxmlformats.org/drawingml/2006/main">
              <a:ext uri="{FF2B5EF4-FFF2-40B4-BE49-F238E27FC236}">
                <a16:creationId xmlns:a16="http://schemas.microsoft.com/office/drawing/2014/main" id="{9E12BC79-FD1E-4856-B948-7EEE771CDE56}"/>
              </a:ext>
            </a:extLst>
          </p:cNvPr>
          <p:cNvSpPr>
            <a:spLocks xmlns:a="http://schemas.openxmlformats.org/drawingml/2006/main" noGrp="1"/>
          </p:cNvSpPr>
          <p:nvPr/>
        </p:nvSpPr>
        <p:spPr>
          <a:xfrm xmlns:a="http://schemas.openxmlformats.org/drawingml/2006/main">
            <a:off x="1809750" y="1943100"/>
            <a:ext cx="11239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EF1582EE-E245-4A07-89EB-147F3C2B7AFD}"/>
              </a:ext>
            </a:extLst>
          </p:cNvPr>
          <p:cNvSpPr>
            <a:spLocks xmlns:a="http://schemas.openxmlformats.org/drawingml/2006/main" noGrp="1"/>
          </p:cNvSpPr>
          <p:nvPr/>
        </p:nvSpPr>
        <p:spPr>
          <a:xfrm xmlns:a="http://schemas.openxmlformats.org/drawingml/2006/main">
            <a:off x="1809750" y="1943100"/>
            <a:ext cx="1123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38" b="1">
                <a:solidFill>
                  <a:srgbClr val="FFFFFF"/>
                </a:solidFill>
              </a:defRPr>
            </a:pPr>
            <a:r>
              <a:rPr sz="938" b="1">
                <a:solidFill>
                  <a:srgbClr val="FFFFFF"/>
                </a:solidFill>
              </a:rPr>
              <a:t>BGH</a:t>
            </a:r>
          </a:p>
        </p:txBody>
      </p:sp>
      <p:sp>
        <p:nvSpPr>
          <p:cNvPr id="6" name="">
            <a:extLst xmlns:a="http://schemas.openxmlformats.org/drawingml/2006/main">
              <a:ext uri="{FF2B5EF4-FFF2-40B4-BE49-F238E27FC236}">
                <a16:creationId xmlns:a16="http://schemas.microsoft.com/office/drawing/2014/main" id="{16C5AE31-FBC9-49B4-981E-0B1D342455AC}"/>
              </a:ext>
            </a:extLst>
          </p:cNvPr>
          <p:cNvSpPr>
            <a:spLocks xmlns:a="http://schemas.openxmlformats.org/drawingml/2006/main" noGrp="1"/>
          </p:cNvSpPr>
          <p:nvPr/>
        </p:nvSpPr>
        <p:spPr>
          <a:xfrm xmlns:a="http://schemas.openxmlformats.org/drawingml/2006/main">
            <a:off x="312420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19.08.2020 · 1 StR 474/19</a:t>
            </a:r>
          </a:p>
        </p:txBody>
      </p:sp>
      <p:sp>
        <p:nvSpPr>
          <p:cNvPr id="7" name="">
            <a:extLst xmlns:a="http://schemas.openxmlformats.org/drawingml/2006/main">
              <a:ext uri="{FF2B5EF4-FFF2-40B4-BE49-F238E27FC236}">
                <a16:creationId xmlns:a16="http://schemas.microsoft.com/office/drawing/2014/main" id="{A0153C86-4061-4684-A15F-BED578CCAB71}"/>
              </a:ext>
            </a:extLst>
          </p:cNvPr>
          <p:cNvSpPr>
            <a:spLocks xmlns:a="http://schemas.openxmlformats.org/drawingml/2006/main" noGrp="1"/>
          </p:cNvSpPr>
          <p:nvPr/>
        </p:nvSpPr>
        <p:spPr>
          <a:xfrm xmlns:a="http://schemas.openxmlformats.org/drawingml/2006/main">
            <a:off x="733425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050">
                <a:solidFill>
                  <a:srgbClr val="667680"/>
                </a:solidFill>
              </a:defRPr>
            </a:pPr>
            <a:r>
              <a:rPr sz="1050">
                <a:solidFill>
                  <a:srgbClr val="667680"/>
                </a:solidFill>
              </a:rPr>
              <a:t>Nach dem Fehler kann ein neuer strafrechtlicher Vorwurf entstehen</a:t>
            </a:r>
          </a:p>
        </p:txBody>
      </p:sp>
      <p:sp>
        <p:nvSpPr>
          <p:cNvPr id="8" name="">
            <a:extLst xmlns:a="http://schemas.openxmlformats.org/drawingml/2006/main">
              <a:ext uri="{FF2B5EF4-FFF2-40B4-BE49-F238E27FC236}">
                <a16:creationId xmlns:a16="http://schemas.microsoft.com/office/drawing/2014/main" id="{26B44A4F-F946-4DE4-9252-579B12EB7E5D}"/>
              </a:ext>
            </a:extLst>
          </p:cNvPr>
          <p:cNvSpPr>
            <a:spLocks xmlns:a="http://schemas.openxmlformats.org/drawingml/2006/main" noGrp="1"/>
          </p:cNvSpPr>
          <p:nvPr/>
        </p:nvSpPr>
        <p:spPr>
          <a:xfrm xmlns:a="http://schemas.openxmlformats.org/drawingml/2006/main">
            <a:off x="1809750" y="2533650"/>
            <a:ext cx="1676400" cy="781050"/>
          </a:xfrm>
          <a:prstGeom xmlns:a="http://schemas.openxmlformats.org/drawingml/2006/main" prst="roundRect">
            <a:avLst>
              <a:gd name="adj" fmla="val 9756"/>
            </a:avLst>
          </a:prstGeom>
          <a:solidFill xmlns:a="http://schemas.openxmlformats.org/drawingml/2006/main">
            <a:srgbClr val="00B2BB"/>
          </a:solidFill>
          <a:ln xmlns:a="http://schemas.openxmlformats.org/drawingml/2006/main" w="0">
            <a:solidFill>
              <a:srgbClr val="00B2BB"/>
            </a:solidFill>
            <a:prstDash val="solid"/>
          </a:ln>
        </p:spPr>
      </p:sp>
      <p:sp>
        <p:nvSpPr>
          <p:cNvPr id="9" name="">
            <a:extLst xmlns:a="http://schemas.openxmlformats.org/drawingml/2006/main">
              <a:ext uri="{FF2B5EF4-FFF2-40B4-BE49-F238E27FC236}">
                <a16:creationId xmlns:a16="http://schemas.microsoft.com/office/drawing/2014/main" id="{7C55D696-36FC-4819-B3C2-40F8255644DA}"/>
              </a:ext>
            </a:extLst>
          </p:cNvPr>
          <p:cNvSpPr>
            <a:spLocks xmlns:a="http://schemas.openxmlformats.org/drawingml/2006/main" noGrp="1"/>
          </p:cNvSpPr>
          <p:nvPr/>
        </p:nvSpPr>
        <p:spPr>
          <a:xfrm xmlns:a="http://schemas.openxmlformats.org/drawingml/2006/main">
            <a:off x="1924050" y="25336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Ausgangsfall</a:t>
            </a:r>
          </a:p>
        </p:txBody>
      </p:sp>
      <p:sp>
        <p:nvSpPr>
          <p:cNvPr id="10" name="">
            <a:extLst xmlns:a="http://schemas.openxmlformats.org/drawingml/2006/main">
              <a:ext uri="{FF2B5EF4-FFF2-40B4-BE49-F238E27FC236}">
                <a16:creationId xmlns:a16="http://schemas.microsoft.com/office/drawing/2014/main" id="{B35631E3-2019-447F-AA4A-917F09CCC2EF}"/>
              </a:ext>
            </a:extLst>
          </p:cNvPr>
          <p:cNvSpPr>
            <a:spLocks xmlns:a="http://schemas.openxmlformats.org/drawingml/2006/main" noGrp="1"/>
          </p:cNvSpPr>
          <p:nvPr/>
        </p:nvSpPr>
        <p:spPr>
          <a:xfrm xmlns:a="http://schemas.openxmlformats.org/drawingml/2006/main">
            <a:off x="3695700" y="25336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In einer Pflegeeinrichtung wurde ein Medikament verwechselt. Ärztliche Hilfe erhielt anschließend nicht rechtzeitig die wahre Information über Stoff, Dosis und Hergang.</a:t>
            </a:r>
          </a:p>
        </p:txBody>
      </p:sp>
      <p:sp>
        <p:nvSpPr>
          <p:cNvPr id="11" name="">
            <a:extLst xmlns:a="http://schemas.openxmlformats.org/drawingml/2006/main">
              <a:ext uri="{FF2B5EF4-FFF2-40B4-BE49-F238E27FC236}">
                <a16:creationId xmlns:a16="http://schemas.microsoft.com/office/drawing/2014/main" id="{5067EAB2-2C17-4397-9AA2-EBA11001D977}"/>
              </a:ext>
            </a:extLst>
          </p:cNvPr>
          <p:cNvSpPr>
            <a:spLocks xmlns:a="http://schemas.openxmlformats.org/drawingml/2006/main" noGrp="1"/>
          </p:cNvSpPr>
          <p:nvPr/>
        </p:nvSpPr>
        <p:spPr>
          <a:xfrm xmlns:a="http://schemas.openxmlformats.org/drawingml/2006/main">
            <a:off x="1809750" y="3486150"/>
            <a:ext cx="1676400" cy="781050"/>
          </a:xfrm>
          <a:prstGeom xmlns:a="http://schemas.openxmlformats.org/drawingml/2006/main" prst="roundRect">
            <a:avLst>
              <a:gd name="adj" fmla="val 9756"/>
            </a:avLst>
          </a:prstGeom>
          <a:solidFill xmlns:a="http://schemas.openxmlformats.org/drawingml/2006/main">
            <a:srgbClr val="003F6B"/>
          </a:solidFill>
          <a:ln xmlns:a="http://schemas.openxmlformats.org/drawingml/2006/main" w="0">
            <a:solidFill>
              <a:srgbClr val="003F6B"/>
            </a:solidFill>
            <a:prstDash val="solid"/>
          </a:ln>
        </p:spPr>
      </p:sp>
      <p:sp>
        <p:nvSpPr>
          <p:cNvPr id="12" name="">
            <a:extLst xmlns:a="http://schemas.openxmlformats.org/drawingml/2006/main">
              <a:ext uri="{FF2B5EF4-FFF2-40B4-BE49-F238E27FC236}">
                <a16:creationId xmlns:a16="http://schemas.microsoft.com/office/drawing/2014/main" id="{759E8A72-4D19-4C22-B6C6-E2D4C503FA91}"/>
              </a:ext>
            </a:extLst>
          </p:cNvPr>
          <p:cNvSpPr>
            <a:spLocks xmlns:a="http://schemas.openxmlformats.org/drawingml/2006/main" noGrp="1"/>
          </p:cNvSpPr>
          <p:nvPr/>
        </p:nvSpPr>
        <p:spPr>
          <a:xfrm xmlns:a="http://schemas.openxmlformats.org/drawingml/2006/main">
            <a:off x="1924050" y="34861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Leitsatzkern</a:t>
            </a:r>
          </a:p>
        </p:txBody>
      </p:sp>
      <p:sp>
        <p:nvSpPr>
          <p:cNvPr id="13" name="">
            <a:extLst xmlns:a="http://schemas.openxmlformats.org/drawingml/2006/main">
              <a:ext uri="{FF2B5EF4-FFF2-40B4-BE49-F238E27FC236}">
                <a16:creationId xmlns:a16="http://schemas.microsoft.com/office/drawing/2014/main" id="{3C847ADB-1955-46BE-A2C0-ED2D05199F0F}"/>
              </a:ext>
            </a:extLst>
          </p:cNvPr>
          <p:cNvSpPr>
            <a:spLocks xmlns:a="http://schemas.openxmlformats.org/drawingml/2006/main" noGrp="1"/>
          </p:cNvSpPr>
          <p:nvPr/>
        </p:nvSpPr>
        <p:spPr>
          <a:xfrm xmlns:a="http://schemas.openxmlformats.org/drawingml/2006/main">
            <a:off x="3695700" y="34861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Leitsatzkern (paraphrasiert): Garantenpflicht, Rettungsmöglichkeit, Wissensstand und Beweggründe können nach dem Ausgangsfehler ein eigenständiges strafrechtliches Gewicht erhalten. Vertuschung kann Rettungschancen beeinträchtigen.</a:t>
            </a:r>
          </a:p>
        </p:txBody>
      </p:sp>
      <p:sp>
        <p:nvSpPr>
          <p:cNvPr id="14" name="">
            <a:extLst xmlns:a="http://schemas.openxmlformats.org/drawingml/2006/main">
              <a:ext uri="{FF2B5EF4-FFF2-40B4-BE49-F238E27FC236}">
                <a16:creationId xmlns:a16="http://schemas.microsoft.com/office/drawing/2014/main" id="{14CA858F-9149-444D-9B49-92B6F105D21B}"/>
              </a:ext>
            </a:extLst>
          </p:cNvPr>
          <p:cNvSpPr>
            <a:spLocks xmlns:a="http://schemas.openxmlformats.org/drawingml/2006/main" noGrp="1"/>
          </p:cNvSpPr>
          <p:nvPr/>
        </p:nvSpPr>
        <p:spPr>
          <a:xfrm xmlns:a="http://schemas.openxmlformats.org/drawingml/2006/main">
            <a:off x="1809750" y="4438650"/>
            <a:ext cx="1676400" cy="781050"/>
          </a:xfrm>
          <a:prstGeom xmlns:a="http://schemas.openxmlformats.org/drawingml/2006/main" prst="roundRect">
            <a:avLst>
              <a:gd name="adj" fmla="val 9756"/>
            </a:avLst>
          </a:prstGeom>
          <a:solidFill xmlns:a="http://schemas.openxmlformats.org/drawingml/2006/main">
            <a:srgbClr val="00B2BB"/>
          </a:solidFill>
          <a:ln xmlns:a="http://schemas.openxmlformats.org/drawingml/2006/main" w="0">
            <a:solidFill>
              <a:srgbClr val="00B2BB"/>
            </a:solidFill>
            <a:prstDash val="solid"/>
          </a:ln>
        </p:spPr>
      </p:sp>
      <p:sp>
        <p:nvSpPr>
          <p:cNvPr id="15" name="">
            <a:extLst xmlns:a="http://schemas.openxmlformats.org/drawingml/2006/main">
              <a:ext uri="{FF2B5EF4-FFF2-40B4-BE49-F238E27FC236}">
                <a16:creationId xmlns:a16="http://schemas.microsoft.com/office/drawing/2014/main" id="{2D1ECD58-7816-4D98-B9A8-BCE5A07DF570}"/>
              </a:ext>
            </a:extLst>
          </p:cNvPr>
          <p:cNvSpPr>
            <a:spLocks xmlns:a="http://schemas.openxmlformats.org/drawingml/2006/main" noGrp="1"/>
          </p:cNvSpPr>
          <p:nvPr/>
        </p:nvSpPr>
        <p:spPr>
          <a:xfrm xmlns:a="http://schemas.openxmlformats.org/drawingml/2006/main">
            <a:off x="1924050" y="44386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Für die Praxis</a:t>
            </a:r>
          </a:p>
        </p:txBody>
      </p:sp>
      <p:sp>
        <p:nvSpPr>
          <p:cNvPr id="16" name="">
            <a:extLst xmlns:a="http://schemas.openxmlformats.org/drawingml/2006/main">
              <a:ext uri="{FF2B5EF4-FFF2-40B4-BE49-F238E27FC236}">
                <a16:creationId xmlns:a16="http://schemas.microsoft.com/office/drawing/2014/main" id="{6D5DD3CD-ABF0-4462-8A1F-0DB0D8BF5BFF}"/>
              </a:ext>
            </a:extLst>
          </p:cNvPr>
          <p:cNvSpPr>
            <a:spLocks xmlns:a="http://schemas.openxmlformats.org/drawingml/2006/main" noGrp="1"/>
          </p:cNvSpPr>
          <p:nvPr/>
        </p:nvSpPr>
        <p:spPr>
          <a:xfrm xmlns:a="http://schemas.openxmlformats.org/drawingml/2006/main">
            <a:off x="3695700" y="44386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Sofort klinisch eskalieren, Wirkstoff/Dosis/Zeit nennen, Gegenmaßnahmen ermöglichen und den tatsächlichen Ablauf unverfälscht sichern.</a:t>
            </a:r>
          </a:p>
        </p:txBody>
      </p:sp>
      <p:sp>
        <p:nvSpPr>
          <p:cNvPr id="17" name="">
            <a:extLst xmlns:a="http://schemas.openxmlformats.org/drawingml/2006/main">
              <a:ext uri="{FF2B5EF4-FFF2-40B4-BE49-F238E27FC236}">
                <a16:creationId xmlns:a16="http://schemas.microsoft.com/office/drawing/2014/main" id="{FF243256-2AF9-403E-A6F4-4E9CD0AF9330}"/>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638">
                <a:solidFill>
                  <a:srgbClr val="667680"/>
                </a:solidFill>
              </a:defRPr>
            </a:pPr>
            <a:r>
              <a:rPr sz="638">
                <a:solidFill>
                  <a:srgbClr val="667680"/>
                </a:solidFill>
              </a:rPr>
              <a:t>BGH, Urt. v. 19.08.2020 – 1 StR 474/19 · https://www.hrr-strafrecht.de/hrr/1/19/1-474-19.pdf · https://dejure.org/dienste/vernetzung/rechtsprechung?Text=1+StR+474%2F19</a:t>
            </a:r>
          </a:p>
        </p:txBody>
      </p:sp>
    </p:spTree>
    <p:extLst>
      <p:ext uri="{BB962C8B-B14F-4D97-AF65-F5344CB8AC3E}">
        <p14:creationId xmlns:p14="http://schemas.microsoft.com/office/powerpoint/2010/main" val="43637646"/>
      </p:ext>
    </p:extLst>
  </p:cSld>
</p:sld>
</file>

<file path=ppt/slides/slide362.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Schnittstellen-Check</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PRÜFUNGSSCHEMA · VOR VERANTWORTUNGSWECHSEL</a:t>
            </a:r>
            <a:endParaRPr/>
          </a:p>
        </p:txBody>
      </p:sp>
      <p:sp>
        <p:nvSpPr>
          <p:cNvPr id="4" name="">
            <a:extLst xmlns:a="http://schemas.openxmlformats.org/drawingml/2006/main">
              <a:ext uri="{FF2B5EF4-FFF2-40B4-BE49-F238E27FC236}">
                <a16:creationId xmlns:a16="http://schemas.microsoft.com/office/drawing/2014/main" id="{9BBE5CFD-35A3-4AFF-9058-D4A4BCC7F1D5}"/>
              </a:ext>
            </a:extLst>
          </p:cNvPr>
          <p:cNvSpPr>
            <a:spLocks xmlns:a="http://schemas.openxmlformats.org/drawingml/2006/main" noGrp="1"/>
          </p:cNvSpPr>
          <p:nvPr/>
        </p:nvSpPr>
        <p:spPr>
          <a:xfrm xmlns:a="http://schemas.openxmlformats.org/drawingml/2006/main">
            <a:off x="1809750" y="195262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F47D66B8-C600-497E-81BF-1212D69AC319}"/>
              </a:ext>
            </a:extLst>
          </p:cNvPr>
          <p:cNvSpPr>
            <a:spLocks xmlns:a="http://schemas.openxmlformats.org/drawingml/2006/main" noGrp="1"/>
          </p:cNvSpPr>
          <p:nvPr/>
        </p:nvSpPr>
        <p:spPr>
          <a:xfrm xmlns:a="http://schemas.openxmlformats.org/drawingml/2006/main">
            <a:off x="1809750" y="19526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6" name="">
            <a:extLst xmlns:a="http://schemas.openxmlformats.org/drawingml/2006/main">
              <a:ext uri="{FF2B5EF4-FFF2-40B4-BE49-F238E27FC236}">
                <a16:creationId xmlns:a16="http://schemas.microsoft.com/office/drawing/2014/main" id="{79D9DBF0-9569-4C8A-9492-97C489A8EBAC}"/>
              </a:ext>
            </a:extLst>
          </p:cNvPr>
          <p:cNvSpPr>
            <a:spLocks xmlns:a="http://schemas.openxmlformats.org/drawingml/2006/main" noGrp="1"/>
          </p:cNvSpPr>
          <p:nvPr/>
        </p:nvSpPr>
        <p:spPr>
          <a:xfrm xmlns:a="http://schemas.openxmlformats.org/drawingml/2006/main">
            <a:off x="2324100" y="196215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1. Identität und Zustand</a:t>
            </a:r>
          </a:p>
        </p:txBody>
      </p:sp>
      <p:sp>
        <p:nvSpPr>
          <p:cNvPr id="7" name="">
            <a:extLst xmlns:a="http://schemas.openxmlformats.org/drawingml/2006/main">
              <a:ext uri="{FF2B5EF4-FFF2-40B4-BE49-F238E27FC236}">
                <a16:creationId xmlns:a16="http://schemas.microsoft.com/office/drawing/2014/main" id="{86E1CDF8-B75F-46F3-85BF-ACAB7DB48850}"/>
              </a:ext>
            </a:extLst>
          </p:cNvPr>
          <p:cNvSpPr>
            <a:spLocks xmlns:a="http://schemas.openxmlformats.org/drawingml/2006/main" noGrp="1"/>
          </p:cNvSpPr>
          <p:nvPr/>
        </p:nvSpPr>
        <p:spPr>
          <a:xfrm xmlns:a="http://schemas.openxmlformats.org/drawingml/2006/main">
            <a:off x="4819650" y="196215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Patient und aktuelles Risiko eindeutig benennen.</a:t>
            </a:r>
          </a:p>
        </p:txBody>
      </p:sp>
      <p:sp>
        <p:nvSpPr>
          <p:cNvPr id="8" name="">
            <a:extLst xmlns:a="http://schemas.openxmlformats.org/drawingml/2006/main">
              <a:ext uri="{FF2B5EF4-FFF2-40B4-BE49-F238E27FC236}">
                <a16:creationId xmlns:a16="http://schemas.microsoft.com/office/drawing/2014/main" id="{DB3B99D4-3607-4F7A-A145-62C62A1DFB87}"/>
              </a:ext>
            </a:extLst>
          </p:cNvPr>
          <p:cNvSpPr>
            <a:spLocks xmlns:a="http://schemas.openxmlformats.org/drawingml/2006/main" noGrp="1"/>
          </p:cNvSpPr>
          <p:nvPr/>
        </p:nvSpPr>
        <p:spPr>
          <a:xfrm xmlns:a="http://schemas.openxmlformats.org/drawingml/2006/main">
            <a:off x="1809750" y="255270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9" name="">
            <a:extLst xmlns:a="http://schemas.openxmlformats.org/drawingml/2006/main">
              <a:ext uri="{FF2B5EF4-FFF2-40B4-BE49-F238E27FC236}">
                <a16:creationId xmlns:a16="http://schemas.microsoft.com/office/drawing/2014/main" id="{64A7E5CA-1EB9-4003-927F-5349BFD57D35}"/>
              </a:ext>
            </a:extLst>
          </p:cNvPr>
          <p:cNvSpPr>
            <a:spLocks xmlns:a="http://schemas.openxmlformats.org/drawingml/2006/main" noGrp="1"/>
          </p:cNvSpPr>
          <p:nvPr/>
        </p:nvSpPr>
        <p:spPr>
          <a:xfrm xmlns:a="http://schemas.openxmlformats.org/drawingml/2006/main">
            <a:off x="1809750" y="255270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0" name="">
            <a:extLst xmlns:a="http://schemas.openxmlformats.org/drawingml/2006/main">
              <a:ext uri="{FF2B5EF4-FFF2-40B4-BE49-F238E27FC236}">
                <a16:creationId xmlns:a16="http://schemas.microsoft.com/office/drawing/2014/main" id="{3BDE6A2C-24ED-4275-8EF7-24E670579311}"/>
              </a:ext>
            </a:extLst>
          </p:cNvPr>
          <p:cNvSpPr>
            <a:spLocks xmlns:a="http://schemas.openxmlformats.org/drawingml/2006/main" noGrp="1"/>
          </p:cNvSpPr>
          <p:nvPr/>
        </p:nvSpPr>
        <p:spPr>
          <a:xfrm xmlns:a="http://schemas.openxmlformats.org/drawingml/2006/main">
            <a:off x="2324100" y="256222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2. Offene Aufgaben</a:t>
            </a:r>
          </a:p>
        </p:txBody>
      </p:sp>
      <p:sp>
        <p:nvSpPr>
          <p:cNvPr id="11" name="">
            <a:extLst xmlns:a="http://schemas.openxmlformats.org/drawingml/2006/main">
              <a:ext uri="{FF2B5EF4-FFF2-40B4-BE49-F238E27FC236}">
                <a16:creationId xmlns:a16="http://schemas.microsoft.com/office/drawing/2014/main" id="{6D44D96E-E761-4170-B3B7-92AA58C0C505}"/>
              </a:ext>
            </a:extLst>
          </p:cNvPr>
          <p:cNvSpPr>
            <a:spLocks xmlns:a="http://schemas.openxmlformats.org/drawingml/2006/main" noGrp="1"/>
          </p:cNvSpPr>
          <p:nvPr/>
        </p:nvSpPr>
        <p:spPr>
          <a:xfrm xmlns:a="http://schemas.openxmlformats.org/drawingml/2006/main">
            <a:off x="4819650" y="256222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Was ist noch zu tun, bis wann und durch wen?</a:t>
            </a:r>
          </a:p>
        </p:txBody>
      </p:sp>
      <p:sp>
        <p:nvSpPr>
          <p:cNvPr id="12" name="">
            <a:extLst xmlns:a="http://schemas.openxmlformats.org/drawingml/2006/main">
              <a:ext uri="{FF2B5EF4-FFF2-40B4-BE49-F238E27FC236}">
                <a16:creationId xmlns:a16="http://schemas.microsoft.com/office/drawing/2014/main" id="{C087C40A-F824-43B8-83D0-68FCD5A5FDFC}"/>
              </a:ext>
            </a:extLst>
          </p:cNvPr>
          <p:cNvSpPr>
            <a:spLocks xmlns:a="http://schemas.openxmlformats.org/drawingml/2006/main" noGrp="1"/>
          </p:cNvSpPr>
          <p:nvPr/>
        </p:nvSpPr>
        <p:spPr>
          <a:xfrm xmlns:a="http://schemas.openxmlformats.org/drawingml/2006/main">
            <a:off x="1809750" y="315277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3" name="">
            <a:extLst xmlns:a="http://schemas.openxmlformats.org/drawingml/2006/main">
              <a:ext uri="{FF2B5EF4-FFF2-40B4-BE49-F238E27FC236}">
                <a16:creationId xmlns:a16="http://schemas.microsoft.com/office/drawing/2014/main" id="{9D55BDC5-E8F9-4AD4-9F5A-E4F4B10DC681}"/>
              </a:ext>
            </a:extLst>
          </p:cNvPr>
          <p:cNvSpPr>
            <a:spLocks xmlns:a="http://schemas.openxmlformats.org/drawingml/2006/main" noGrp="1"/>
          </p:cNvSpPr>
          <p:nvPr/>
        </p:nvSpPr>
        <p:spPr>
          <a:xfrm xmlns:a="http://schemas.openxmlformats.org/drawingml/2006/main">
            <a:off x="1809750" y="315277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4" name="">
            <a:extLst xmlns:a="http://schemas.openxmlformats.org/drawingml/2006/main">
              <a:ext uri="{FF2B5EF4-FFF2-40B4-BE49-F238E27FC236}">
                <a16:creationId xmlns:a16="http://schemas.microsoft.com/office/drawing/2014/main" id="{402ED0EF-1C01-4B43-A866-76085EA4EBD9}"/>
              </a:ext>
            </a:extLst>
          </p:cNvPr>
          <p:cNvSpPr>
            <a:spLocks xmlns:a="http://schemas.openxmlformats.org/drawingml/2006/main" noGrp="1"/>
          </p:cNvSpPr>
          <p:nvPr/>
        </p:nvSpPr>
        <p:spPr>
          <a:xfrm xmlns:a="http://schemas.openxmlformats.org/drawingml/2006/main">
            <a:off x="2324100" y="316230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3. Eskalation</a:t>
            </a:r>
          </a:p>
        </p:txBody>
      </p:sp>
      <p:sp>
        <p:nvSpPr>
          <p:cNvPr id="15" name="">
            <a:extLst xmlns:a="http://schemas.openxmlformats.org/drawingml/2006/main">
              <a:ext uri="{FF2B5EF4-FFF2-40B4-BE49-F238E27FC236}">
                <a16:creationId xmlns:a16="http://schemas.microsoft.com/office/drawing/2014/main" id="{147A90ED-0B7F-4F7B-B385-4B3702974AD4}"/>
              </a:ext>
            </a:extLst>
          </p:cNvPr>
          <p:cNvSpPr>
            <a:spLocks xmlns:a="http://schemas.openxmlformats.org/drawingml/2006/main" noGrp="1"/>
          </p:cNvSpPr>
          <p:nvPr/>
        </p:nvSpPr>
        <p:spPr>
          <a:xfrm xmlns:a="http://schemas.openxmlformats.org/drawingml/2006/main">
            <a:off x="4819650" y="316230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Welche Befunde verlangen sofortige Rückmeldung oder höheres Versorgungsniveau?</a:t>
            </a:r>
          </a:p>
        </p:txBody>
      </p:sp>
      <p:sp>
        <p:nvSpPr>
          <p:cNvPr id="16" name="">
            <a:extLst xmlns:a="http://schemas.openxmlformats.org/drawingml/2006/main">
              <a:ext uri="{FF2B5EF4-FFF2-40B4-BE49-F238E27FC236}">
                <a16:creationId xmlns:a16="http://schemas.microsoft.com/office/drawing/2014/main" id="{123E87AB-3762-456F-82C7-D5FF43770FC8}"/>
              </a:ext>
            </a:extLst>
          </p:cNvPr>
          <p:cNvSpPr>
            <a:spLocks xmlns:a="http://schemas.openxmlformats.org/drawingml/2006/main" noGrp="1"/>
          </p:cNvSpPr>
          <p:nvPr/>
        </p:nvSpPr>
        <p:spPr>
          <a:xfrm xmlns:a="http://schemas.openxmlformats.org/drawingml/2006/main">
            <a:off x="1809750" y="375285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7" name="">
            <a:extLst xmlns:a="http://schemas.openxmlformats.org/drawingml/2006/main">
              <a:ext uri="{FF2B5EF4-FFF2-40B4-BE49-F238E27FC236}">
                <a16:creationId xmlns:a16="http://schemas.microsoft.com/office/drawing/2014/main" id="{6C374214-C603-425E-BB8F-EBF42A0CFCDE}"/>
              </a:ext>
            </a:extLst>
          </p:cNvPr>
          <p:cNvSpPr>
            <a:spLocks xmlns:a="http://schemas.openxmlformats.org/drawingml/2006/main" noGrp="1"/>
          </p:cNvSpPr>
          <p:nvPr/>
        </p:nvSpPr>
        <p:spPr>
          <a:xfrm xmlns:a="http://schemas.openxmlformats.org/drawingml/2006/main">
            <a:off x="1809750" y="375285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18" name="">
            <a:extLst xmlns:a="http://schemas.openxmlformats.org/drawingml/2006/main">
              <a:ext uri="{FF2B5EF4-FFF2-40B4-BE49-F238E27FC236}">
                <a16:creationId xmlns:a16="http://schemas.microsoft.com/office/drawing/2014/main" id="{9113DA2D-8890-4554-A054-388FFB758A6E}"/>
              </a:ext>
            </a:extLst>
          </p:cNvPr>
          <p:cNvSpPr>
            <a:spLocks xmlns:a="http://schemas.openxmlformats.org/drawingml/2006/main" noGrp="1"/>
          </p:cNvSpPr>
          <p:nvPr/>
        </p:nvSpPr>
        <p:spPr>
          <a:xfrm xmlns:a="http://schemas.openxmlformats.org/drawingml/2006/main">
            <a:off x="2324100" y="376237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4. Daten</a:t>
            </a:r>
          </a:p>
        </p:txBody>
      </p:sp>
      <p:sp>
        <p:nvSpPr>
          <p:cNvPr id="19" name="">
            <a:extLst xmlns:a="http://schemas.openxmlformats.org/drawingml/2006/main">
              <a:ext uri="{FF2B5EF4-FFF2-40B4-BE49-F238E27FC236}">
                <a16:creationId xmlns:a16="http://schemas.microsoft.com/office/drawing/2014/main" id="{76562555-E945-4D03-9508-69867FE1E069}"/>
              </a:ext>
            </a:extLst>
          </p:cNvPr>
          <p:cNvSpPr>
            <a:spLocks xmlns:a="http://schemas.openxmlformats.org/drawingml/2006/main" noGrp="1"/>
          </p:cNvSpPr>
          <p:nvPr/>
        </p:nvSpPr>
        <p:spPr>
          <a:xfrm xmlns:a="http://schemas.openxmlformats.org/drawingml/2006/main">
            <a:off x="4819650" y="376237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Sind Befunde, Bilder, Medikamente und Einwilligungsgrenzen verfügbar?</a:t>
            </a:r>
          </a:p>
        </p:txBody>
      </p:sp>
      <p:sp>
        <p:nvSpPr>
          <p:cNvPr id="20" name="">
            <a:extLst xmlns:a="http://schemas.openxmlformats.org/drawingml/2006/main">
              <a:ext uri="{FF2B5EF4-FFF2-40B4-BE49-F238E27FC236}">
                <a16:creationId xmlns:a16="http://schemas.microsoft.com/office/drawing/2014/main" id="{C2D625EA-4484-4C50-A019-9A3D85C6AE1C}"/>
              </a:ext>
            </a:extLst>
          </p:cNvPr>
          <p:cNvSpPr>
            <a:spLocks xmlns:a="http://schemas.openxmlformats.org/drawingml/2006/main" noGrp="1"/>
          </p:cNvSpPr>
          <p:nvPr/>
        </p:nvSpPr>
        <p:spPr>
          <a:xfrm xmlns:a="http://schemas.openxmlformats.org/drawingml/2006/main">
            <a:off x="1809750" y="435292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1" name="">
            <a:extLst xmlns:a="http://schemas.openxmlformats.org/drawingml/2006/main">
              <a:ext uri="{FF2B5EF4-FFF2-40B4-BE49-F238E27FC236}">
                <a16:creationId xmlns:a16="http://schemas.microsoft.com/office/drawing/2014/main" id="{7C6225F8-1A0B-4A4B-B3EB-A39FAB459EC6}"/>
              </a:ext>
            </a:extLst>
          </p:cNvPr>
          <p:cNvSpPr>
            <a:spLocks xmlns:a="http://schemas.openxmlformats.org/drawingml/2006/main" noGrp="1"/>
          </p:cNvSpPr>
          <p:nvPr/>
        </p:nvSpPr>
        <p:spPr>
          <a:xfrm xmlns:a="http://schemas.openxmlformats.org/drawingml/2006/main">
            <a:off x="1809750" y="43529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5</a:t>
            </a:r>
          </a:p>
        </p:txBody>
      </p:sp>
      <p:sp>
        <p:nvSpPr>
          <p:cNvPr id="22" name="">
            <a:extLst xmlns:a="http://schemas.openxmlformats.org/drawingml/2006/main">
              <a:ext uri="{FF2B5EF4-FFF2-40B4-BE49-F238E27FC236}">
                <a16:creationId xmlns:a16="http://schemas.microsoft.com/office/drawing/2014/main" id="{7B489792-EB02-491D-94FE-A67C637E81F4}"/>
              </a:ext>
            </a:extLst>
          </p:cNvPr>
          <p:cNvSpPr>
            <a:spLocks xmlns:a="http://schemas.openxmlformats.org/drawingml/2006/main" noGrp="1"/>
          </p:cNvSpPr>
          <p:nvPr/>
        </p:nvSpPr>
        <p:spPr>
          <a:xfrm xmlns:a="http://schemas.openxmlformats.org/drawingml/2006/main">
            <a:off x="2324100" y="436245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5. Übernahme</a:t>
            </a:r>
          </a:p>
        </p:txBody>
      </p:sp>
      <p:sp>
        <p:nvSpPr>
          <p:cNvPr id="23" name="">
            <a:extLst xmlns:a="http://schemas.openxmlformats.org/drawingml/2006/main">
              <a:ext uri="{FF2B5EF4-FFF2-40B4-BE49-F238E27FC236}">
                <a16:creationId xmlns:a16="http://schemas.microsoft.com/office/drawing/2014/main" id="{603F19E3-ACED-4776-B4F4-D51E93BE00BA}"/>
              </a:ext>
            </a:extLst>
          </p:cNvPr>
          <p:cNvSpPr>
            <a:spLocks xmlns:a="http://schemas.openxmlformats.org/drawingml/2006/main" noGrp="1"/>
          </p:cNvSpPr>
          <p:nvPr/>
        </p:nvSpPr>
        <p:spPr>
          <a:xfrm xmlns:a="http://schemas.openxmlformats.org/drawingml/2006/main">
            <a:off x="4819650" y="436245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Hat die empfangende Person verstanden und Verantwortung ausdrücklich übernommen?</a:t>
            </a:r>
          </a:p>
        </p:txBody>
      </p:sp>
      <p:sp>
        <p:nvSpPr>
          <p:cNvPr id="24" name="">
            <a:extLst xmlns:a="http://schemas.openxmlformats.org/drawingml/2006/main">
              <a:ext uri="{FF2B5EF4-FFF2-40B4-BE49-F238E27FC236}">
                <a16:creationId xmlns:a16="http://schemas.microsoft.com/office/drawing/2014/main" id="{2532FE54-28BF-4469-9E80-09A07FEE051C}"/>
              </a:ext>
            </a:extLst>
          </p:cNvPr>
          <p:cNvSpPr>
            <a:spLocks xmlns:a="http://schemas.openxmlformats.org/drawingml/2006/main" noGrp="1"/>
          </p:cNvSpPr>
          <p:nvPr/>
        </p:nvSpPr>
        <p:spPr>
          <a:xfrm xmlns:a="http://schemas.openxmlformats.org/drawingml/2006/main">
            <a:off x="1809750" y="495300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25" name="">
            <a:extLst xmlns:a="http://schemas.openxmlformats.org/drawingml/2006/main">
              <a:ext uri="{FF2B5EF4-FFF2-40B4-BE49-F238E27FC236}">
                <a16:creationId xmlns:a16="http://schemas.microsoft.com/office/drawing/2014/main" id="{DA2301CD-D0E8-473A-8592-8C5D3239162D}"/>
              </a:ext>
            </a:extLst>
          </p:cNvPr>
          <p:cNvSpPr>
            <a:spLocks xmlns:a="http://schemas.openxmlformats.org/drawingml/2006/main" noGrp="1"/>
          </p:cNvSpPr>
          <p:nvPr/>
        </p:nvSpPr>
        <p:spPr>
          <a:xfrm xmlns:a="http://schemas.openxmlformats.org/drawingml/2006/main">
            <a:off x="1809750" y="495300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6</a:t>
            </a:r>
          </a:p>
        </p:txBody>
      </p:sp>
      <p:sp>
        <p:nvSpPr>
          <p:cNvPr id="26" name="">
            <a:extLst xmlns:a="http://schemas.openxmlformats.org/drawingml/2006/main">
              <a:ext uri="{FF2B5EF4-FFF2-40B4-BE49-F238E27FC236}">
                <a16:creationId xmlns:a16="http://schemas.microsoft.com/office/drawing/2014/main" id="{7EC0ABFE-6B48-4307-B0F6-7379C015926A}"/>
              </a:ext>
            </a:extLst>
          </p:cNvPr>
          <p:cNvSpPr>
            <a:spLocks xmlns:a="http://schemas.openxmlformats.org/drawingml/2006/main" noGrp="1"/>
          </p:cNvSpPr>
          <p:nvPr/>
        </p:nvSpPr>
        <p:spPr>
          <a:xfrm xmlns:a="http://schemas.openxmlformats.org/drawingml/2006/main">
            <a:off x="2324100" y="496252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6. Dokumentation</a:t>
            </a:r>
          </a:p>
        </p:txBody>
      </p:sp>
      <p:sp>
        <p:nvSpPr>
          <p:cNvPr id="27" name="">
            <a:extLst xmlns:a="http://schemas.openxmlformats.org/drawingml/2006/main">
              <a:ext uri="{FF2B5EF4-FFF2-40B4-BE49-F238E27FC236}">
                <a16:creationId xmlns:a16="http://schemas.microsoft.com/office/drawing/2014/main" id="{465F9E49-4171-4B5F-99F4-25DAB7539FD3}"/>
              </a:ext>
            </a:extLst>
          </p:cNvPr>
          <p:cNvSpPr>
            <a:spLocks xmlns:a="http://schemas.openxmlformats.org/drawingml/2006/main" noGrp="1"/>
          </p:cNvSpPr>
          <p:nvPr/>
        </p:nvSpPr>
        <p:spPr>
          <a:xfrm xmlns:a="http://schemas.openxmlformats.org/drawingml/2006/main">
            <a:off x="4819650" y="496252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Passen mündliche Übergabe, Aufgabenliste und Akte zusammen?</a:t>
            </a:r>
          </a:p>
        </p:txBody>
      </p:sp>
      <p:sp>
        <p:nvSpPr>
          <p:cNvPr id="28" name="">
            <a:extLst xmlns:a="http://schemas.openxmlformats.org/drawingml/2006/main">
              <a:ext uri="{FF2B5EF4-FFF2-40B4-BE49-F238E27FC236}">
                <a16:creationId xmlns:a16="http://schemas.microsoft.com/office/drawing/2014/main" id="{94781AF1-DF37-407B-89F4-563E718F5F45}"/>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9" name="">
            <a:extLst xmlns:a="http://schemas.openxmlformats.org/drawingml/2006/main">
              <a:ext uri="{FF2B5EF4-FFF2-40B4-BE49-F238E27FC236}">
                <a16:creationId xmlns:a16="http://schemas.microsoft.com/office/drawing/2014/main" id="{06BC1B1C-5AAB-472F-8F14-DDA5013FD115}"/>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Unklare Verantwortungsübergänge werden sofort geschlossen, nicht dem nächsten Dienst überlassen.</a:t>
            </a:r>
          </a:p>
        </p:txBody>
      </p:sp>
    </p:spTree>
    <p:extLst>
      <p:ext uri="{BB962C8B-B14F-4D97-AF65-F5344CB8AC3E}">
        <p14:creationId xmlns:p14="http://schemas.microsoft.com/office/powerpoint/2010/main" val="43637646"/>
      </p:ext>
    </p:extLst>
  </p:cSld>
</p:sld>
</file>

<file path=ppt/slides/slide363.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Haftungsrisiken entlang der Rettungskette</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SCHNITTSTELLEN</a:t>
            </a:r>
            <a:endParaRPr/>
          </a:p>
        </p:txBody>
      </p:sp>
      <p:sp>
        <p:nvSpPr>
          <p:cNvPr id="4" name="">
            <a:extLst xmlns:a="http://schemas.openxmlformats.org/drawingml/2006/main">
              <a:ext uri="{FF2B5EF4-FFF2-40B4-BE49-F238E27FC236}">
                <a16:creationId xmlns:a16="http://schemas.microsoft.com/office/drawing/2014/main" id="{163BDC7E-BEE1-4E89-84B7-A3B39D98FC03}"/>
              </a:ext>
            </a:extLst>
          </p:cNvPr>
          <p:cNvSpPr>
            <a:spLocks xmlns:a="http://schemas.openxmlformats.org/drawingml/2006/main" noGrp="1"/>
          </p:cNvSpPr>
          <p:nvPr/>
        </p:nvSpPr>
        <p:spPr>
          <a:xfrm xmlns:a="http://schemas.openxmlformats.org/drawingml/2006/main">
            <a:off x="2000250" y="2657475"/>
            <a:ext cx="9144000" cy="0"/>
          </a:xfrm>
          <a:prstGeom xmlns:a="http://schemas.openxmlformats.org/drawingml/2006/main" prst="line">
            <a:avLst/>
          </a:prstGeom>
          <a:noFill xmlns:a="http://schemas.openxmlformats.org/drawingml/2006/main"/>
          <a:ln xmlns:a="http://schemas.openxmlformats.org/drawingml/2006/main" w="28575">
            <a:solidFill>
              <a:srgbClr val="B9CAD2"/>
            </a:solidFill>
            <a:prstDash val="solid"/>
          </a:ln>
        </p:spPr>
      </p:sp>
      <p:sp>
        <p:nvSpPr>
          <p:cNvPr id="5" name="">
            <a:extLst xmlns:a="http://schemas.openxmlformats.org/drawingml/2006/main">
              <a:ext uri="{FF2B5EF4-FFF2-40B4-BE49-F238E27FC236}">
                <a16:creationId xmlns:a16="http://schemas.microsoft.com/office/drawing/2014/main" id="{79BF3940-4113-4495-860B-01BF0A833F71}"/>
              </a:ext>
            </a:extLst>
          </p:cNvPr>
          <p:cNvSpPr>
            <a:spLocks xmlns:a="http://schemas.openxmlformats.org/drawingml/2006/main" noGrp="1"/>
          </p:cNvSpPr>
          <p:nvPr/>
        </p:nvSpPr>
        <p:spPr>
          <a:xfrm xmlns:a="http://schemas.openxmlformats.org/drawingml/2006/main">
            <a:off x="2441575" y="2543175"/>
            <a:ext cx="228600" cy="228600"/>
          </a:xfrm>
          <a:prstGeom xmlns:a="http://schemas.openxmlformats.org/drawingml/2006/main" prst="ellipse">
            <a:avLst/>
          </a:prstGeom>
          <a:solidFill xmlns:a="http://schemas.openxmlformats.org/drawingml/2006/main">
            <a:srgbClr val="003F6B"/>
          </a:solidFill>
          <a:ln xmlns:a="http://schemas.openxmlformats.org/drawingml/2006/main" w="19050">
            <a:solidFill>
              <a:srgbClr val="FFFFFF"/>
            </a:solidFill>
            <a:prstDash val="solid"/>
          </a:ln>
        </p:spPr>
      </p:sp>
      <p:sp>
        <p:nvSpPr>
          <p:cNvPr id="6" name="">
            <a:extLst xmlns:a="http://schemas.openxmlformats.org/drawingml/2006/main">
              <a:ext uri="{FF2B5EF4-FFF2-40B4-BE49-F238E27FC236}">
                <a16:creationId xmlns:a16="http://schemas.microsoft.com/office/drawing/2014/main" id="{5DEC4138-7797-44CA-BA3F-7D228346E339}"/>
              </a:ext>
            </a:extLst>
          </p:cNvPr>
          <p:cNvSpPr>
            <a:spLocks xmlns:a="http://schemas.openxmlformats.org/drawingml/2006/main" noGrp="1"/>
          </p:cNvSpPr>
          <p:nvPr/>
        </p:nvSpPr>
        <p:spPr>
          <a:xfrm xmlns:a="http://schemas.openxmlformats.org/drawingml/2006/main">
            <a:off x="1809750" y="2105025"/>
            <a:ext cx="149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63" b="1">
                <a:solidFill>
                  <a:srgbClr val="003F6B"/>
                </a:solidFill>
              </a:defRPr>
            </a:pPr>
            <a:r>
              <a:rPr sz="1163" b="1">
                <a:solidFill>
                  <a:srgbClr val="003F6B"/>
                </a:solidFill>
              </a:rPr>
              <a:t>Notruf</a:t>
            </a:r>
          </a:p>
        </p:txBody>
      </p:sp>
      <p:sp>
        <p:nvSpPr>
          <p:cNvPr id="7" name="">
            <a:extLst xmlns:a="http://schemas.openxmlformats.org/drawingml/2006/main">
              <a:ext uri="{FF2B5EF4-FFF2-40B4-BE49-F238E27FC236}">
                <a16:creationId xmlns:a16="http://schemas.microsoft.com/office/drawing/2014/main" id="{69D409D7-6DD0-4765-B661-5168F1CD0F7C}"/>
              </a:ext>
            </a:extLst>
          </p:cNvPr>
          <p:cNvSpPr>
            <a:spLocks xmlns:a="http://schemas.openxmlformats.org/drawingml/2006/main" noGrp="1"/>
          </p:cNvSpPr>
          <p:nvPr/>
        </p:nvSpPr>
        <p:spPr>
          <a:xfrm xmlns:a="http://schemas.openxmlformats.org/drawingml/2006/main">
            <a:off x="1847850" y="2924175"/>
            <a:ext cx="14160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13">
                <a:solidFill>
                  <a:srgbClr val="15232B"/>
                </a:solidFill>
              </a:defRPr>
            </a:pPr>
            <a:r>
              <a:rPr sz="1013">
                <a:solidFill>
                  <a:srgbClr val="15232B"/>
                </a:solidFill>
              </a:rPr>
              <a:t>Abfrage, Priorisierung, Disposition</a:t>
            </a:r>
          </a:p>
        </p:txBody>
      </p:sp>
      <p:sp>
        <p:nvSpPr>
          <p:cNvPr id="8" name="">
            <a:extLst xmlns:a="http://schemas.openxmlformats.org/drawingml/2006/main">
              <a:ext uri="{FF2B5EF4-FFF2-40B4-BE49-F238E27FC236}">
                <a16:creationId xmlns:a16="http://schemas.microsoft.com/office/drawing/2014/main" id="{7CCDC32D-B19E-400D-B674-D85C8327FB72}"/>
              </a:ext>
            </a:extLst>
          </p:cNvPr>
          <p:cNvSpPr>
            <a:spLocks xmlns:a="http://schemas.openxmlformats.org/drawingml/2006/main" noGrp="1"/>
          </p:cNvSpPr>
          <p:nvPr/>
        </p:nvSpPr>
        <p:spPr>
          <a:xfrm xmlns:a="http://schemas.openxmlformats.org/drawingml/2006/main">
            <a:off x="4048125" y="2543175"/>
            <a:ext cx="228600" cy="22860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9" name="">
            <a:extLst xmlns:a="http://schemas.openxmlformats.org/drawingml/2006/main">
              <a:ext uri="{FF2B5EF4-FFF2-40B4-BE49-F238E27FC236}">
                <a16:creationId xmlns:a16="http://schemas.microsoft.com/office/drawing/2014/main" id="{153A081E-CF21-4022-9942-21929D105A73}"/>
              </a:ext>
            </a:extLst>
          </p:cNvPr>
          <p:cNvSpPr>
            <a:spLocks xmlns:a="http://schemas.openxmlformats.org/drawingml/2006/main" noGrp="1"/>
          </p:cNvSpPr>
          <p:nvPr/>
        </p:nvSpPr>
        <p:spPr>
          <a:xfrm xmlns:a="http://schemas.openxmlformats.org/drawingml/2006/main">
            <a:off x="3416300" y="2105025"/>
            <a:ext cx="149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63" b="1">
                <a:solidFill>
                  <a:srgbClr val="003F6B"/>
                </a:solidFill>
              </a:defRPr>
            </a:pPr>
            <a:r>
              <a:rPr sz="1163" b="1">
                <a:solidFill>
                  <a:srgbClr val="003F6B"/>
                </a:solidFill>
              </a:rPr>
              <a:t>Einsatz</a:t>
            </a:r>
          </a:p>
        </p:txBody>
      </p:sp>
      <p:sp>
        <p:nvSpPr>
          <p:cNvPr id="10" name="">
            <a:extLst xmlns:a="http://schemas.openxmlformats.org/drawingml/2006/main">
              <a:ext uri="{FF2B5EF4-FFF2-40B4-BE49-F238E27FC236}">
                <a16:creationId xmlns:a16="http://schemas.microsoft.com/office/drawing/2014/main" id="{4F187F1F-6092-4B63-A760-E76006F1A72C}"/>
              </a:ext>
            </a:extLst>
          </p:cNvPr>
          <p:cNvSpPr>
            <a:spLocks xmlns:a="http://schemas.openxmlformats.org/drawingml/2006/main" noGrp="1"/>
          </p:cNvSpPr>
          <p:nvPr/>
        </p:nvSpPr>
        <p:spPr>
          <a:xfrm xmlns:a="http://schemas.openxmlformats.org/drawingml/2006/main">
            <a:off x="3454400" y="2924175"/>
            <a:ext cx="14160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13">
                <a:solidFill>
                  <a:srgbClr val="15232B"/>
                </a:solidFill>
              </a:defRPr>
            </a:pPr>
            <a:r>
              <a:rPr sz="1013">
                <a:solidFill>
                  <a:srgbClr val="15232B"/>
                </a:solidFill>
              </a:rPr>
              <a:t>ABCDE/SAMPLE, Befund, Kompetenz</a:t>
            </a:r>
          </a:p>
        </p:txBody>
      </p:sp>
      <p:sp>
        <p:nvSpPr>
          <p:cNvPr id="11" name="">
            <a:extLst xmlns:a="http://schemas.openxmlformats.org/drawingml/2006/main">
              <a:ext uri="{FF2B5EF4-FFF2-40B4-BE49-F238E27FC236}">
                <a16:creationId xmlns:a16="http://schemas.microsoft.com/office/drawing/2014/main" id="{DEB71BF3-6ABE-47C6-98A9-0BC366365CF0}"/>
              </a:ext>
            </a:extLst>
          </p:cNvPr>
          <p:cNvSpPr>
            <a:spLocks xmlns:a="http://schemas.openxmlformats.org/drawingml/2006/main" noGrp="1"/>
          </p:cNvSpPr>
          <p:nvPr/>
        </p:nvSpPr>
        <p:spPr>
          <a:xfrm xmlns:a="http://schemas.openxmlformats.org/drawingml/2006/main">
            <a:off x="5654675" y="2543175"/>
            <a:ext cx="228600" cy="22860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12" name="">
            <a:extLst xmlns:a="http://schemas.openxmlformats.org/drawingml/2006/main">
              <a:ext uri="{FF2B5EF4-FFF2-40B4-BE49-F238E27FC236}">
                <a16:creationId xmlns:a16="http://schemas.microsoft.com/office/drawing/2014/main" id="{AF267A77-E998-4087-8828-0C4E53D30307}"/>
              </a:ext>
            </a:extLst>
          </p:cNvPr>
          <p:cNvSpPr>
            <a:spLocks xmlns:a="http://schemas.openxmlformats.org/drawingml/2006/main" noGrp="1"/>
          </p:cNvSpPr>
          <p:nvPr/>
        </p:nvSpPr>
        <p:spPr>
          <a:xfrm xmlns:a="http://schemas.openxmlformats.org/drawingml/2006/main">
            <a:off x="5022850" y="2105025"/>
            <a:ext cx="149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63" b="1">
                <a:solidFill>
                  <a:srgbClr val="003F6B"/>
                </a:solidFill>
              </a:defRPr>
            </a:pPr>
            <a:r>
              <a:rPr sz="1163" b="1">
                <a:solidFill>
                  <a:srgbClr val="003F6B"/>
                </a:solidFill>
              </a:rPr>
              <a:t>Entscheidung</a:t>
            </a:r>
          </a:p>
        </p:txBody>
      </p:sp>
      <p:sp>
        <p:nvSpPr>
          <p:cNvPr id="13" name="">
            <a:extLst xmlns:a="http://schemas.openxmlformats.org/drawingml/2006/main">
              <a:ext uri="{FF2B5EF4-FFF2-40B4-BE49-F238E27FC236}">
                <a16:creationId xmlns:a16="http://schemas.microsoft.com/office/drawing/2014/main" id="{95A9023A-C82C-46F4-9C79-6123D1A688A6}"/>
              </a:ext>
            </a:extLst>
          </p:cNvPr>
          <p:cNvSpPr>
            <a:spLocks xmlns:a="http://schemas.openxmlformats.org/drawingml/2006/main" noGrp="1"/>
          </p:cNvSpPr>
          <p:nvPr/>
        </p:nvSpPr>
        <p:spPr>
          <a:xfrm xmlns:a="http://schemas.openxmlformats.org/drawingml/2006/main">
            <a:off x="5060950" y="2924175"/>
            <a:ext cx="14160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13">
                <a:solidFill>
                  <a:srgbClr val="15232B"/>
                </a:solidFill>
              </a:defRPr>
            </a:pPr>
            <a:r>
              <a:rPr sz="1013">
                <a:solidFill>
                  <a:srgbClr val="15232B"/>
                </a:solidFill>
              </a:rPr>
              <a:t>Therapie, Transport, Zielklinik</a:t>
            </a:r>
          </a:p>
        </p:txBody>
      </p:sp>
      <p:sp>
        <p:nvSpPr>
          <p:cNvPr id="14" name="">
            <a:extLst xmlns:a="http://schemas.openxmlformats.org/drawingml/2006/main">
              <a:ext uri="{FF2B5EF4-FFF2-40B4-BE49-F238E27FC236}">
                <a16:creationId xmlns:a16="http://schemas.microsoft.com/office/drawing/2014/main" id="{A76B53C5-44D3-49D8-90D2-3C5BF22CD77D}"/>
              </a:ext>
            </a:extLst>
          </p:cNvPr>
          <p:cNvSpPr>
            <a:spLocks xmlns:a="http://schemas.openxmlformats.org/drawingml/2006/main" noGrp="1"/>
          </p:cNvSpPr>
          <p:nvPr/>
        </p:nvSpPr>
        <p:spPr>
          <a:xfrm xmlns:a="http://schemas.openxmlformats.org/drawingml/2006/main">
            <a:off x="7261225" y="2543175"/>
            <a:ext cx="228600" cy="22860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15" name="">
            <a:extLst xmlns:a="http://schemas.openxmlformats.org/drawingml/2006/main">
              <a:ext uri="{FF2B5EF4-FFF2-40B4-BE49-F238E27FC236}">
                <a16:creationId xmlns:a16="http://schemas.microsoft.com/office/drawing/2014/main" id="{670E4E62-3B8A-4E4A-A09A-3E27DE5D1323}"/>
              </a:ext>
            </a:extLst>
          </p:cNvPr>
          <p:cNvSpPr>
            <a:spLocks xmlns:a="http://schemas.openxmlformats.org/drawingml/2006/main" noGrp="1"/>
          </p:cNvSpPr>
          <p:nvPr/>
        </p:nvSpPr>
        <p:spPr>
          <a:xfrm xmlns:a="http://schemas.openxmlformats.org/drawingml/2006/main">
            <a:off x="6629400" y="2105025"/>
            <a:ext cx="149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63" b="1">
                <a:solidFill>
                  <a:srgbClr val="003F6B"/>
                </a:solidFill>
              </a:defRPr>
            </a:pPr>
            <a:r>
              <a:rPr sz="1163" b="1">
                <a:solidFill>
                  <a:srgbClr val="003F6B"/>
                </a:solidFill>
              </a:rPr>
              <a:t>Ablehnung</a:t>
            </a:r>
          </a:p>
        </p:txBody>
      </p:sp>
      <p:sp>
        <p:nvSpPr>
          <p:cNvPr id="16" name="">
            <a:extLst xmlns:a="http://schemas.openxmlformats.org/drawingml/2006/main">
              <a:ext uri="{FF2B5EF4-FFF2-40B4-BE49-F238E27FC236}">
                <a16:creationId xmlns:a16="http://schemas.microsoft.com/office/drawing/2014/main" id="{CC910E40-482C-49AB-AE48-E49C40CF4685}"/>
              </a:ext>
            </a:extLst>
          </p:cNvPr>
          <p:cNvSpPr>
            <a:spLocks xmlns:a="http://schemas.openxmlformats.org/drawingml/2006/main" noGrp="1"/>
          </p:cNvSpPr>
          <p:nvPr/>
        </p:nvSpPr>
        <p:spPr>
          <a:xfrm xmlns:a="http://schemas.openxmlformats.org/drawingml/2006/main">
            <a:off x="6667500" y="2924175"/>
            <a:ext cx="14160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13">
                <a:solidFill>
                  <a:srgbClr val="15232B"/>
                </a:solidFill>
              </a:defRPr>
            </a:pPr>
            <a:r>
              <a:rPr sz="1013">
                <a:solidFill>
                  <a:srgbClr val="15232B"/>
                </a:solidFill>
              </a:rPr>
              <a:t>Einwilligungsfähigkeit, Risiken, Sicherungsaufklärung</a:t>
            </a:r>
          </a:p>
        </p:txBody>
      </p:sp>
      <p:sp>
        <p:nvSpPr>
          <p:cNvPr id="17" name="">
            <a:extLst xmlns:a="http://schemas.openxmlformats.org/drawingml/2006/main">
              <a:ext uri="{FF2B5EF4-FFF2-40B4-BE49-F238E27FC236}">
                <a16:creationId xmlns:a16="http://schemas.microsoft.com/office/drawing/2014/main" id="{E59BD37E-942F-4C93-8AD6-8651708260B5}"/>
              </a:ext>
            </a:extLst>
          </p:cNvPr>
          <p:cNvSpPr>
            <a:spLocks xmlns:a="http://schemas.openxmlformats.org/drawingml/2006/main" noGrp="1"/>
          </p:cNvSpPr>
          <p:nvPr/>
        </p:nvSpPr>
        <p:spPr>
          <a:xfrm xmlns:a="http://schemas.openxmlformats.org/drawingml/2006/main">
            <a:off x="8867775" y="2543175"/>
            <a:ext cx="228600" cy="22860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18" name="">
            <a:extLst xmlns:a="http://schemas.openxmlformats.org/drawingml/2006/main">
              <a:ext uri="{FF2B5EF4-FFF2-40B4-BE49-F238E27FC236}">
                <a16:creationId xmlns:a16="http://schemas.microsoft.com/office/drawing/2014/main" id="{BA51BA88-3335-4D74-9318-17BA72CC4700}"/>
              </a:ext>
            </a:extLst>
          </p:cNvPr>
          <p:cNvSpPr>
            <a:spLocks xmlns:a="http://schemas.openxmlformats.org/drawingml/2006/main" noGrp="1"/>
          </p:cNvSpPr>
          <p:nvPr/>
        </p:nvSpPr>
        <p:spPr>
          <a:xfrm xmlns:a="http://schemas.openxmlformats.org/drawingml/2006/main">
            <a:off x="8235950" y="2105025"/>
            <a:ext cx="149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63" b="1">
                <a:solidFill>
                  <a:srgbClr val="003F6B"/>
                </a:solidFill>
              </a:defRPr>
            </a:pPr>
            <a:r>
              <a:rPr sz="1163" b="1">
                <a:solidFill>
                  <a:srgbClr val="003F6B"/>
                </a:solidFill>
              </a:rPr>
              <a:t>Übergabe</a:t>
            </a:r>
          </a:p>
        </p:txBody>
      </p:sp>
      <p:sp>
        <p:nvSpPr>
          <p:cNvPr id="19" name="">
            <a:extLst xmlns:a="http://schemas.openxmlformats.org/drawingml/2006/main">
              <a:ext uri="{FF2B5EF4-FFF2-40B4-BE49-F238E27FC236}">
                <a16:creationId xmlns:a16="http://schemas.microsoft.com/office/drawing/2014/main" id="{1C94C741-716B-4D75-B0C9-CF07A3C69875}"/>
              </a:ext>
            </a:extLst>
          </p:cNvPr>
          <p:cNvSpPr>
            <a:spLocks xmlns:a="http://schemas.openxmlformats.org/drawingml/2006/main" noGrp="1"/>
          </p:cNvSpPr>
          <p:nvPr/>
        </p:nvSpPr>
        <p:spPr>
          <a:xfrm xmlns:a="http://schemas.openxmlformats.org/drawingml/2006/main">
            <a:off x="8274050" y="2924175"/>
            <a:ext cx="14160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13">
                <a:solidFill>
                  <a:srgbClr val="15232B"/>
                </a:solidFill>
              </a:defRPr>
            </a:pPr>
            <a:r>
              <a:rPr sz="1013">
                <a:solidFill>
                  <a:srgbClr val="15232B"/>
                </a:solidFill>
              </a:rPr>
              <a:t>closed loop, kritische Information, Dokumentation</a:t>
            </a:r>
          </a:p>
        </p:txBody>
      </p:sp>
      <p:sp>
        <p:nvSpPr>
          <p:cNvPr id="20" name="">
            <a:extLst xmlns:a="http://schemas.openxmlformats.org/drawingml/2006/main">
              <a:ext uri="{FF2B5EF4-FFF2-40B4-BE49-F238E27FC236}">
                <a16:creationId xmlns:a16="http://schemas.microsoft.com/office/drawing/2014/main" id="{2C69EB2C-AAC0-43B2-BEA4-6F28DC2B2EA6}"/>
              </a:ext>
            </a:extLst>
          </p:cNvPr>
          <p:cNvSpPr>
            <a:spLocks xmlns:a="http://schemas.openxmlformats.org/drawingml/2006/main" noGrp="1"/>
          </p:cNvSpPr>
          <p:nvPr/>
        </p:nvSpPr>
        <p:spPr>
          <a:xfrm xmlns:a="http://schemas.openxmlformats.org/drawingml/2006/main">
            <a:off x="10474325" y="2543175"/>
            <a:ext cx="228600" cy="22860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21" name="">
            <a:extLst xmlns:a="http://schemas.openxmlformats.org/drawingml/2006/main">
              <a:ext uri="{FF2B5EF4-FFF2-40B4-BE49-F238E27FC236}">
                <a16:creationId xmlns:a16="http://schemas.microsoft.com/office/drawing/2014/main" id="{D565958A-D1B8-4ECF-BE7A-8F073A30909D}"/>
              </a:ext>
            </a:extLst>
          </p:cNvPr>
          <p:cNvSpPr>
            <a:spLocks xmlns:a="http://schemas.openxmlformats.org/drawingml/2006/main" noGrp="1"/>
          </p:cNvSpPr>
          <p:nvPr/>
        </p:nvSpPr>
        <p:spPr>
          <a:xfrm xmlns:a="http://schemas.openxmlformats.org/drawingml/2006/main">
            <a:off x="9842500" y="2105025"/>
            <a:ext cx="149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63" b="1">
                <a:solidFill>
                  <a:srgbClr val="003F6B"/>
                </a:solidFill>
              </a:defRPr>
            </a:pPr>
            <a:r>
              <a:rPr sz="1163" b="1">
                <a:solidFill>
                  <a:srgbClr val="003F6B"/>
                </a:solidFill>
              </a:rPr>
              <a:t>Weiterbehandlung</a:t>
            </a:r>
          </a:p>
        </p:txBody>
      </p:sp>
      <p:sp>
        <p:nvSpPr>
          <p:cNvPr id="22" name="">
            <a:extLst xmlns:a="http://schemas.openxmlformats.org/drawingml/2006/main">
              <a:ext uri="{FF2B5EF4-FFF2-40B4-BE49-F238E27FC236}">
                <a16:creationId xmlns:a16="http://schemas.microsoft.com/office/drawing/2014/main" id="{F7E38ED7-9C77-4D7A-8200-9070D1E94A17}"/>
              </a:ext>
            </a:extLst>
          </p:cNvPr>
          <p:cNvSpPr>
            <a:spLocks xmlns:a="http://schemas.openxmlformats.org/drawingml/2006/main" noGrp="1"/>
          </p:cNvSpPr>
          <p:nvPr/>
        </p:nvSpPr>
        <p:spPr>
          <a:xfrm xmlns:a="http://schemas.openxmlformats.org/drawingml/2006/main">
            <a:off x="9880600" y="2924175"/>
            <a:ext cx="14160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13">
                <a:solidFill>
                  <a:srgbClr val="15232B"/>
                </a:solidFill>
              </a:defRPr>
            </a:pPr>
            <a:r>
              <a:rPr sz="1013">
                <a:solidFill>
                  <a:srgbClr val="15232B"/>
                </a:solidFill>
              </a:rPr>
              <a:t>Verantwortungsübernahme sichtbar</a:t>
            </a:r>
          </a:p>
        </p:txBody>
      </p:sp>
      <p:sp>
        <p:nvSpPr>
          <p:cNvPr id="23" name="">
            <a:extLst xmlns:a="http://schemas.openxmlformats.org/drawingml/2006/main">
              <a:ext uri="{FF2B5EF4-FFF2-40B4-BE49-F238E27FC236}">
                <a16:creationId xmlns:a16="http://schemas.microsoft.com/office/drawing/2014/main" id="{04DD6682-CE70-40BE-BEE8-3685B2D5ABC1}"/>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4" name="">
            <a:extLst xmlns:a="http://schemas.openxmlformats.org/drawingml/2006/main">
              <a:ext uri="{FF2B5EF4-FFF2-40B4-BE49-F238E27FC236}">
                <a16:creationId xmlns:a16="http://schemas.microsoft.com/office/drawing/2014/main" id="{9FEAC7BB-BF26-4A47-BB3A-734E6BF49EB1}"/>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Schnittstellenfehler sind oft Informations- und Organisationsfehler, nicht spektakuläre Einzelakte.</a:t>
            </a:r>
          </a:p>
        </p:txBody>
      </p:sp>
    </p:spTree>
    <p:extLst>
      <p:ext uri="{BB962C8B-B14F-4D97-AF65-F5344CB8AC3E}">
        <p14:creationId xmlns:p14="http://schemas.microsoft.com/office/powerpoint/2010/main" val="43637646"/>
      </p:ext>
    </p:extLst>
  </p:cSld>
</p:sld>
</file>

<file path=ppt/slides/slide364.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‚Sonst nimmt uns die Klinik nicht‘: Darf man dramatisieren?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WAHRHEIT IN DER ÜBERGABE</a:t>
            </a:r>
            <a:endParaRPr/>
          </a:p>
        </p:txBody>
      </p:sp>
      <p:sp>
        <p:nvSpPr>
          <p:cNvPr id="4" name="">
            <a:extLst xmlns:a="http://schemas.openxmlformats.org/drawingml/2006/main">
              <a:ext uri="{FF2B5EF4-FFF2-40B4-BE49-F238E27FC236}">
                <a16:creationId xmlns:a16="http://schemas.microsoft.com/office/drawing/2014/main" id="{343B5546-DE3C-4145-94EE-6255717D53AA}"/>
              </a:ext>
            </a:extLst>
          </p:cNvPr>
          <p:cNvSpPr>
            <a:spLocks xmlns:a="http://schemas.openxmlformats.org/drawingml/2006/main" noGrp="1"/>
          </p:cNvSpPr>
          <p:nvPr/>
        </p:nvSpPr>
        <p:spPr>
          <a:xfrm xmlns:a="http://schemas.openxmlformats.org/drawingml/2006/main">
            <a:off x="1809750" y="1952625"/>
            <a:ext cx="5381625" cy="3333750"/>
          </a:xfrm>
          <a:prstGeom xmlns:a="http://schemas.openxmlformats.org/drawingml/2006/main" prst="roundRect">
            <a:avLst>
              <a:gd name="adj" fmla="val 2286"/>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DAEFD77A-DA44-4786-B7F2-35B18D19E71C}"/>
              </a:ext>
            </a:extLst>
          </p:cNvPr>
          <p:cNvSpPr>
            <a:spLocks xmlns:a="http://schemas.openxmlformats.org/drawingml/2006/main" noGrp="1"/>
          </p:cNvSpPr>
          <p:nvPr/>
        </p:nvSpPr>
        <p:spPr>
          <a:xfrm xmlns:a="http://schemas.openxmlformats.org/drawingml/2006/main">
            <a:off x="1809750" y="1952625"/>
            <a:ext cx="5381625"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6" name="">
            <a:extLst xmlns:a="http://schemas.openxmlformats.org/drawingml/2006/main">
              <a:ext uri="{FF2B5EF4-FFF2-40B4-BE49-F238E27FC236}">
                <a16:creationId xmlns:a16="http://schemas.microsoft.com/office/drawing/2014/main" id="{E4CD02DB-EC82-47BB-A116-F713F1C61EA4}"/>
              </a:ext>
            </a:extLst>
          </p:cNvPr>
          <p:cNvSpPr>
            <a:spLocks xmlns:a="http://schemas.openxmlformats.org/drawingml/2006/main" noGrp="1"/>
          </p:cNvSpPr>
          <p:nvPr/>
        </p:nvSpPr>
        <p:spPr>
          <a:xfrm xmlns:a="http://schemas.openxmlformats.org/drawingml/2006/main">
            <a:off x="1962150" y="2085975"/>
            <a:ext cx="5076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00" b="1">
                <a:solidFill>
                  <a:srgbClr val="003F6B"/>
                </a:solidFill>
              </a:defRPr>
            </a:pPr>
            <a:r>
              <a:rPr sz="1500" b="1">
                <a:solidFill>
                  <a:srgbClr val="003F6B"/>
                </a:solidFill>
              </a:rPr>
              <a:t>Ausgangslage</a:t>
            </a:r>
          </a:p>
        </p:txBody>
      </p:sp>
      <p:sp>
        <p:nvSpPr>
          <p:cNvPr id="7" name="">
            <a:extLst xmlns:a="http://schemas.openxmlformats.org/drawingml/2006/main">
              <a:ext uri="{FF2B5EF4-FFF2-40B4-BE49-F238E27FC236}">
                <a16:creationId xmlns:a16="http://schemas.microsoft.com/office/drawing/2014/main" id="{3912BE3F-D9E7-49FE-8F04-923CA587E60D}"/>
              </a:ext>
            </a:extLst>
          </p:cNvPr>
          <p:cNvSpPr>
            <a:spLocks xmlns:a="http://schemas.openxmlformats.org/drawingml/2006/main" noGrp="1"/>
          </p:cNvSpPr>
          <p:nvPr/>
        </p:nvSpPr>
        <p:spPr>
          <a:xfrm xmlns:a="http://schemas.openxmlformats.org/drawingml/2006/main">
            <a:off x="1962150" y="2524125"/>
            <a:ext cx="5076825" cy="2628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15232B"/>
                </a:solidFill>
              </a:defRPr>
            </a:pPr>
            <a:r>
              <a:rPr sz="1275">
                <a:solidFill>
                  <a:srgbClr val="15232B"/>
                </a:solidFill>
              </a:rPr>
              <a:t>Um eine zeitnahe Aufnahme zu erreichen, wird aus ‚drohender Verschlechterung‘ eine tatsächlich nicht beobachtete Synkope. Später steht sie auch im Protokoll.</a:t>
            </a:r>
          </a:p>
        </p:txBody>
      </p:sp>
      <p:sp>
        <p:nvSpPr>
          <p:cNvPr id="8" name="">
            <a:extLst xmlns:a="http://schemas.openxmlformats.org/drawingml/2006/main">
              <a:ext uri="{FF2B5EF4-FFF2-40B4-BE49-F238E27FC236}">
                <a16:creationId xmlns:a16="http://schemas.microsoft.com/office/drawing/2014/main" id="{84E69136-F49A-4161-A9DC-05DDE4259B68}"/>
              </a:ext>
            </a:extLst>
          </p:cNvPr>
          <p:cNvSpPr>
            <a:spLocks xmlns:a="http://schemas.openxmlformats.org/drawingml/2006/main" noGrp="1"/>
          </p:cNvSpPr>
          <p:nvPr/>
        </p:nvSpPr>
        <p:spPr>
          <a:xfrm xmlns:a="http://schemas.openxmlformats.org/drawingml/2006/main">
            <a:off x="7429500" y="1990725"/>
            <a:ext cx="323850" cy="323850"/>
          </a:xfrm>
          <a:prstGeom xmlns:a="http://schemas.openxmlformats.org/drawingml/2006/main" prst="roundRect">
            <a:avLst>
              <a:gd name="adj" fmla="val 23529"/>
            </a:avLst>
          </a:prstGeom>
          <a:solidFill xmlns:a="http://schemas.openxmlformats.org/drawingml/2006/main">
            <a:srgbClr val="00B2BB"/>
          </a:solidFill>
          <a:ln xmlns:a="http://schemas.openxmlformats.org/drawingml/2006/main" w="0">
            <a:solidFill>
              <a:srgbClr val="00B2BB"/>
            </a:solidFill>
            <a:prstDash val="solid"/>
          </a:ln>
        </p:spPr>
      </p:sp>
      <p:sp>
        <p:nvSpPr>
          <p:cNvPr id="9" name="">
            <a:extLst xmlns:a="http://schemas.openxmlformats.org/drawingml/2006/main">
              <a:ext uri="{FF2B5EF4-FFF2-40B4-BE49-F238E27FC236}">
                <a16:creationId xmlns:a16="http://schemas.microsoft.com/office/drawing/2014/main" id="{F4BF4995-22A3-49F3-BF19-1ED348767402}"/>
              </a:ext>
            </a:extLst>
          </p:cNvPr>
          <p:cNvSpPr>
            <a:spLocks xmlns:a="http://schemas.openxmlformats.org/drawingml/2006/main" noGrp="1"/>
          </p:cNvSpPr>
          <p:nvPr/>
        </p:nvSpPr>
        <p:spPr>
          <a:xfrm xmlns:a="http://schemas.openxmlformats.org/drawingml/2006/main">
            <a:off x="7429500" y="1990725"/>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10" name="">
            <a:extLst xmlns:a="http://schemas.openxmlformats.org/drawingml/2006/main">
              <a:ext uri="{FF2B5EF4-FFF2-40B4-BE49-F238E27FC236}">
                <a16:creationId xmlns:a16="http://schemas.microsoft.com/office/drawing/2014/main" id="{68B4DD31-87B7-4108-A484-9228FC365981}"/>
              </a:ext>
            </a:extLst>
          </p:cNvPr>
          <p:cNvSpPr>
            <a:spLocks xmlns:a="http://schemas.openxmlformats.org/drawingml/2006/main" noGrp="1"/>
          </p:cNvSpPr>
          <p:nvPr/>
        </p:nvSpPr>
        <p:spPr>
          <a:xfrm xmlns:a="http://schemas.openxmlformats.org/drawingml/2006/main">
            <a:off x="7886700" y="1952625"/>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15" b="1">
                <a:solidFill>
                  <a:srgbClr val="15232B"/>
                </a:solidFill>
              </a:defRPr>
            </a:pPr>
            <a:r>
              <a:rPr sz="1215" b="1">
                <a:solidFill>
                  <a:srgbClr val="15232B"/>
                </a:solidFill>
              </a:rPr>
              <a:t>Risiken</a:t>
            </a:r>
          </a:p>
        </p:txBody>
      </p:sp>
      <p:sp>
        <p:nvSpPr>
          <p:cNvPr id="11" name="">
            <a:extLst xmlns:a="http://schemas.openxmlformats.org/drawingml/2006/main">
              <a:ext uri="{FF2B5EF4-FFF2-40B4-BE49-F238E27FC236}">
                <a16:creationId xmlns:a16="http://schemas.microsoft.com/office/drawing/2014/main" id="{93678589-8F9E-4B57-AAB4-A005CED029CD}"/>
              </a:ext>
            </a:extLst>
          </p:cNvPr>
          <p:cNvSpPr>
            <a:spLocks xmlns:a="http://schemas.openxmlformats.org/drawingml/2006/main" noGrp="1"/>
          </p:cNvSpPr>
          <p:nvPr/>
        </p:nvSpPr>
        <p:spPr>
          <a:xfrm xmlns:a="http://schemas.openxmlformats.org/drawingml/2006/main">
            <a:off x="7886700" y="2238375"/>
            <a:ext cx="3333750" cy="1499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13">
                <a:solidFill>
                  <a:srgbClr val="667680"/>
                </a:solidFill>
              </a:defRPr>
            </a:pPr>
            <a:r>
              <a:rPr sz="1013">
                <a:solidFill>
                  <a:srgbClr val="667680"/>
                </a:solidFill>
              </a:rPr>
              <a:t>falsche klinische Weichenstellung · Vertrauens- und Berufsrechtsproblem · zivilrechtliche Kausalität bei Folgeschaden · strafrechtliche Fragen je nach konkreter Dokumentmanipulation · Beweiswert schriftlicher Falschangabe</a:t>
            </a:r>
          </a:p>
        </p:txBody>
      </p:sp>
      <p:sp>
        <p:nvSpPr>
          <p:cNvPr id="12" name="">
            <a:extLst xmlns:a="http://schemas.openxmlformats.org/drawingml/2006/main">
              <a:ext uri="{FF2B5EF4-FFF2-40B4-BE49-F238E27FC236}">
                <a16:creationId xmlns:a16="http://schemas.microsoft.com/office/drawing/2014/main" id="{978063C2-5311-44EA-B222-FCF684E8E08F}"/>
              </a:ext>
            </a:extLst>
          </p:cNvPr>
          <p:cNvSpPr>
            <a:spLocks xmlns:a="http://schemas.openxmlformats.org/drawingml/2006/main" noGrp="1"/>
          </p:cNvSpPr>
          <p:nvPr/>
        </p:nvSpPr>
        <p:spPr>
          <a:xfrm xmlns:a="http://schemas.openxmlformats.org/drawingml/2006/main">
            <a:off x="7429500" y="3871313"/>
            <a:ext cx="323850" cy="323850"/>
          </a:xfrm>
          <a:prstGeom xmlns:a="http://schemas.openxmlformats.org/drawingml/2006/main" prst="roundRect">
            <a:avLst>
              <a:gd name="adj" fmla="val 23529"/>
            </a:avLst>
          </a:prstGeom>
          <a:solidFill xmlns:a="http://schemas.openxmlformats.org/drawingml/2006/main">
            <a:srgbClr val="003F6B"/>
          </a:solidFill>
          <a:ln xmlns:a="http://schemas.openxmlformats.org/drawingml/2006/main" w="0">
            <a:solidFill>
              <a:srgbClr val="003F6B"/>
            </a:solidFill>
            <a:prstDash val="solid"/>
          </a:ln>
        </p:spPr>
      </p:sp>
      <p:sp>
        <p:nvSpPr>
          <p:cNvPr id="13" name="">
            <a:extLst xmlns:a="http://schemas.openxmlformats.org/drawingml/2006/main">
              <a:ext uri="{FF2B5EF4-FFF2-40B4-BE49-F238E27FC236}">
                <a16:creationId xmlns:a16="http://schemas.microsoft.com/office/drawing/2014/main" id="{BF076596-CFB8-4C5C-B39E-B03A6DF9085F}"/>
              </a:ext>
            </a:extLst>
          </p:cNvPr>
          <p:cNvSpPr>
            <a:spLocks xmlns:a="http://schemas.openxmlformats.org/drawingml/2006/main" noGrp="1"/>
          </p:cNvSpPr>
          <p:nvPr/>
        </p:nvSpPr>
        <p:spPr>
          <a:xfrm xmlns:a="http://schemas.openxmlformats.org/drawingml/2006/main">
            <a:off x="7429500" y="3871313"/>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4" name="">
            <a:extLst xmlns:a="http://schemas.openxmlformats.org/drawingml/2006/main">
              <a:ext uri="{FF2B5EF4-FFF2-40B4-BE49-F238E27FC236}">
                <a16:creationId xmlns:a16="http://schemas.microsoft.com/office/drawing/2014/main" id="{803150C6-DE37-40AD-BE44-957FCF77C071}"/>
              </a:ext>
            </a:extLst>
          </p:cNvPr>
          <p:cNvSpPr>
            <a:spLocks xmlns:a="http://schemas.openxmlformats.org/drawingml/2006/main" noGrp="1"/>
          </p:cNvSpPr>
          <p:nvPr/>
        </p:nvSpPr>
        <p:spPr>
          <a:xfrm xmlns:a="http://schemas.openxmlformats.org/drawingml/2006/main">
            <a:off x="7886700" y="3833213"/>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15" b="1">
                <a:solidFill>
                  <a:srgbClr val="15232B"/>
                </a:solidFill>
              </a:defRPr>
            </a:pPr>
            <a:r>
              <a:rPr sz="1215" b="1">
                <a:solidFill>
                  <a:srgbClr val="15232B"/>
                </a:solidFill>
              </a:rPr>
              <a:t>Bessere Alternative</a:t>
            </a:r>
          </a:p>
        </p:txBody>
      </p:sp>
      <p:sp>
        <p:nvSpPr>
          <p:cNvPr id="15" name="">
            <a:extLst xmlns:a="http://schemas.openxmlformats.org/drawingml/2006/main">
              <a:ext uri="{FF2B5EF4-FFF2-40B4-BE49-F238E27FC236}">
                <a16:creationId xmlns:a16="http://schemas.microsoft.com/office/drawing/2014/main" id="{0890E25C-6139-4454-A130-CDBA75D73F10}"/>
              </a:ext>
            </a:extLst>
          </p:cNvPr>
          <p:cNvSpPr>
            <a:spLocks xmlns:a="http://schemas.openxmlformats.org/drawingml/2006/main" noGrp="1"/>
          </p:cNvSpPr>
          <p:nvPr/>
        </p:nvSpPr>
        <p:spPr>
          <a:xfrm xmlns:a="http://schemas.openxmlformats.org/drawingml/2006/main">
            <a:off x="7886700" y="4118963"/>
            <a:ext cx="3333750" cy="10912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13">
                <a:solidFill>
                  <a:srgbClr val="667680"/>
                </a:solidFill>
              </a:defRPr>
            </a:pPr>
            <a:r>
              <a:rPr sz="1013">
                <a:solidFill>
                  <a:srgbClr val="667680"/>
                </a:solidFill>
              </a:rPr>
              <a:t>‚Ich habe keine Synkope beobachtet. Meine Sorge ist: rasche Verschlechterung wegen … Ich brauche ärztliche Rücksprache / geeignete Zielklinik.‘</a:t>
            </a:r>
          </a:p>
        </p:txBody>
      </p:sp>
      <p:sp>
        <p:nvSpPr>
          <p:cNvPr id="16" name="">
            <a:extLst xmlns:a="http://schemas.openxmlformats.org/drawingml/2006/main">
              <a:ext uri="{FF2B5EF4-FFF2-40B4-BE49-F238E27FC236}">
                <a16:creationId xmlns:a16="http://schemas.microsoft.com/office/drawing/2014/main" id="{D057E28D-E87B-47A3-9DFD-1B2E8827DE02}"/>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17" name="">
            <a:extLst xmlns:a="http://schemas.openxmlformats.org/drawingml/2006/main">
              <a:ext uri="{FF2B5EF4-FFF2-40B4-BE49-F238E27FC236}">
                <a16:creationId xmlns:a16="http://schemas.microsoft.com/office/drawing/2014/main" id="{06DCFC3A-4457-4271-AE08-AD815AC737BF}"/>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Nicht erfinden. Die reale Sorge konkret, messbar und eskalierbar formulieren.</a:t>
            </a:r>
          </a:p>
        </p:txBody>
      </p:sp>
    </p:spTree>
    <p:extLst>
      <p:ext uri="{BB962C8B-B14F-4D97-AF65-F5344CB8AC3E}">
        <p14:creationId xmlns:p14="http://schemas.microsoft.com/office/powerpoint/2010/main" val="43637646"/>
      </p:ext>
    </p:extLst>
  </p:cSld>
</p:sld>
</file>

<file path=ppt/slides/slide365.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Rechtssichere Übergabe heißt: klinisch brauchbar</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MINI-SBAR</a:t>
            </a:r>
            <a:endParaRPr/>
          </a:p>
        </p:txBody>
      </p:sp>
      <p:sp>
        <p:nvSpPr>
          <p:cNvPr id="4" name="">
            <a:extLst xmlns:a="http://schemas.openxmlformats.org/drawingml/2006/main">
              <a:ext uri="{FF2B5EF4-FFF2-40B4-BE49-F238E27FC236}">
                <a16:creationId xmlns:a16="http://schemas.microsoft.com/office/drawing/2014/main" id="{6DBD1FBE-E245-4152-AC5A-6BA8C54DBDE3}"/>
              </a:ext>
            </a:extLst>
          </p:cNvPr>
          <p:cNvSpPr>
            <a:spLocks xmlns:a="http://schemas.openxmlformats.org/drawingml/2006/main" noGrp="1"/>
          </p:cNvSpPr>
          <p:nvPr/>
        </p:nvSpPr>
        <p:spPr>
          <a:xfrm xmlns:a="http://schemas.openxmlformats.org/drawingml/2006/main">
            <a:off x="1809750" y="1952625"/>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4FE89D23-527F-4503-BCF0-E01CE19B69A1}"/>
              </a:ext>
            </a:extLst>
          </p:cNvPr>
          <p:cNvSpPr>
            <a:spLocks xmlns:a="http://schemas.openxmlformats.org/drawingml/2006/main" noGrp="1"/>
          </p:cNvSpPr>
          <p:nvPr/>
        </p:nvSpPr>
        <p:spPr>
          <a:xfrm xmlns:a="http://schemas.openxmlformats.org/drawingml/2006/main">
            <a:off x="1809750" y="1952625"/>
            <a:ext cx="30734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9D4D7A4A-4CBC-491A-B85E-E68F692E48F9}"/>
              </a:ext>
            </a:extLst>
          </p:cNvPr>
          <p:cNvSpPr>
            <a:spLocks xmlns:a="http://schemas.openxmlformats.org/drawingml/2006/main" noGrp="1"/>
          </p:cNvSpPr>
          <p:nvPr/>
        </p:nvSpPr>
        <p:spPr>
          <a:xfrm xmlns:a="http://schemas.openxmlformats.org/drawingml/2006/main">
            <a:off x="1962150" y="2085975"/>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Situation</a:t>
            </a:r>
          </a:p>
        </p:txBody>
      </p:sp>
      <p:sp>
        <p:nvSpPr>
          <p:cNvPr id="7" name="">
            <a:extLst xmlns:a="http://schemas.openxmlformats.org/drawingml/2006/main">
              <a:ext uri="{FF2B5EF4-FFF2-40B4-BE49-F238E27FC236}">
                <a16:creationId xmlns:a16="http://schemas.microsoft.com/office/drawing/2014/main" id="{A5471DA9-BC72-493A-BC57-0B4941C56D44}"/>
              </a:ext>
            </a:extLst>
          </p:cNvPr>
          <p:cNvSpPr>
            <a:spLocks xmlns:a="http://schemas.openxmlformats.org/drawingml/2006/main" noGrp="1"/>
          </p:cNvSpPr>
          <p:nvPr/>
        </p:nvSpPr>
        <p:spPr>
          <a:xfrm xmlns:a="http://schemas.openxmlformats.org/drawingml/2006/main">
            <a:off x="1962150" y="2524125"/>
            <a:ext cx="27686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Wer? Was ist akut? Welche Hilfe wird jetzt gebraucht?</a:t>
            </a:r>
          </a:p>
        </p:txBody>
      </p:sp>
      <p:sp>
        <p:nvSpPr>
          <p:cNvPr id="8" name="">
            <a:extLst xmlns:a="http://schemas.openxmlformats.org/drawingml/2006/main">
              <a:ext uri="{FF2B5EF4-FFF2-40B4-BE49-F238E27FC236}">
                <a16:creationId xmlns:a16="http://schemas.microsoft.com/office/drawing/2014/main" id="{81EB6BC9-A304-466B-9AD9-DA09DF861E7E}"/>
              </a:ext>
            </a:extLst>
          </p:cNvPr>
          <p:cNvSpPr>
            <a:spLocks xmlns:a="http://schemas.openxmlformats.org/drawingml/2006/main" noGrp="1"/>
          </p:cNvSpPr>
          <p:nvPr/>
        </p:nvSpPr>
        <p:spPr>
          <a:xfrm xmlns:a="http://schemas.openxmlformats.org/drawingml/2006/main">
            <a:off x="5035550" y="1952625"/>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9" name="">
            <a:extLst xmlns:a="http://schemas.openxmlformats.org/drawingml/2006/main">
              <a:ext uri="{FF2B5EF4-FFF2-40B4-BE49-F238E27FC236}">
                <a16:creationId xmlns:a16="http://schemas.microsoft.com/office/drawing/2014/main" id="{59BDFE05-8F8B-4539-97AD-6FE43858B2AD}"/>
              </a:ext>
            </a:extLst>
          </p:cNvPr>
          <p:cNvSpPr>
            <a:spLocks xmlns:a="http://schemas.openxmlformats.org/drawingml/2006/main" noGrp="1"/>
          </p:cNvSpPr>
          <p:nvPr/>
        </p:nvSpPr>
        <p:spPr>
          <a:xfrm xmlns:a="http://schemas.openxmlformats.org/drawingml/2006/main">
            <a:off x="5035550" y="1952625"/>
            <a:ext cx="307340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D287F7D5-E7A1-4DD4-BC91-39C8C7FCE6D0}"/>
              </a:ext>
            </a:extLst>
          </p:cNvPr>
          <p:cNvSpPr>
            <a:spLocks xmlns:a="http://schemas.openxmlformats.org/drawingml/2006/main" noGrp="1"/>
          </p:cNvSpPr>
          <p:nvPr/>
        </p:nvSpPr>
        <p:spPr>
          <a:xfrm xmlns:a="http://schemas.openxmlformats.org/drawingml/2006/main">
            <a:off x="5187950" y="2085975"/>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Background</a:t>
            </a:r>
          </a:p>
        </p:txBody>
      </p:sp>
      <p:sp>
        <p:nvSpPr>
          <p:cNvPr id="11" name="">
            <a:extLst xmlns:a="http://schemas.openxmlformats.org/drawingml/2006/main">
              <a:ext uri="{FF2B5EF4-FFF2-40B4-BE49-F238E27FC236}">
                <a16:creationId xmlns:a16="http://schemas.microsoft.com/office/drawing/2014/main" id="{D1CB78FC-F679-4376-9394-F67541D0A3C6}"/>
              </a:ext>
            </a:extLst>
          </p:cNvPr>
          <p:cNvSpPr>
            <a:spLocks xmlns:a="http://schemas.openxmlformats.org/drawingml/2006/main" noGrp="1"/>
          </p:cNvSpPr>
          <p:nvPr/>
        </p:nvSpPr>
        <p:spPr>
          <a:xfrm xmlns:a="http://schemas.openxmlformats.org/drawingml/2006/main">
            <a:off x="5187950" y="2524125"/>
            <a:ext cx="27686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relevante Vorgeschichte, Medikamente, Ereigniszeit</a:t>
            </a:r>
          </a:p>
        </p:txBody>
      </p:sp>
      <p:sp>
        <p:nvSpPr>
          <p:cNvPr id="12" name="">
            <a:extLst xmlns:a="http://schemas.openxmlformats.org/drawingml/2006/main">
              <a:ext uri="{FF2B5EF4-FFF2-40B4-BE49-F238E27FC236}">
                <a16:creationId xmlns:a16="http://schemas.microsoft.com/office/drawing/2014/main" id="{941447C2-9086-4B13-9C36-4D1C88BA9AE2}"/>
              </a:ext>
            </a:extLst>
          </p:cNvPr>
          <p:cNvSpPr>
            <a:spLocks xmlns:a="http://schemas.openxmlformats.org/drawingml/2006/main" noGrp="1"/>
          </p:cNvSpPr>
          <p:nvPr/>
        </p:nvSpPr>
        <p:spPr>
          <a:xfrm xmlns:a="http://schemas.openxmlformats.org/drawingml/2006/main">
            <a:off x="8261350" y="1952625"/>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13" name="">
            <a:extLst xmlns:a="http://schemas.openxmlformats.org/drawingml/2006/main">
              <a:ext uri="{FF2B5EF4-FFF2-40B4-BE49-F238E27FC236}">
                <a16:creationId xmlns:a16="http://schemas.microsoft.com/office/drawing/2014/main" id="{7BEAEAB3-D628-4233-B879-2387B2069F28}"/>
              </a:ext>
            </a:extLst>
          </p:cNvPr>
          <p:cNvSpPr>
            <a:spLocks xmlns:a="http://schemas.openxmlformats.org/drawingml/2006/main" noGrp="1"/>
          </p:cNvSpPr>
          <p:nvPr/>
        </p:nvSpPr>
        <p:spPr>
          <a:xfrm xmlns:a="http://schemas.openxmlformats.org/drawingml/2006/main">
            <a:off x="8261350" y="1952625"/>
            <a:ext cx="30734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E9B9F70D-E7BD-4B67-B6BD-4B8051997A70}"/>
              </a:ext>
            </a:extLst>
          </p:cNvPr>
          <p:cNvSpPr>
            <a:spLocks xmlns:a="http://schemas.openxmlformats.org/drawingml/2006/main" noGrp="1"/>
          </p:cNvSpPr>
          <p:nvPr/>
        </p:nvSpPr>
        <p:spPr>
          <a:xfrm xmlns:a="http://schemas.openxmlformats.org/drawingml/2006/main">
            <a:off x="8413750" y="2085975"/>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Assessment</a:t>
            </a:r>
          </a:p>
        </p:txBody>
      </p:sp>
      <p:sp>
        <p:nvSpPr>
          <p:cNvPr id="15" name="">
            <a:extLst xmlns:a="http://schemas.openxmlformats.org/drawingml/2006/main">
              <a:ext uri="{FF2B5EF4-FFF2-40B4-BE49-F238E27FC236}">
                <a16:creationId xmlns:a16="http://schemas.microsoft.com/office/drawing/2014/main" id="{5E7558CB-DDFF-4039-879D-2F77154FE82B}"/>
              </a:ext>
            </a:extLst>
          </p:cNvPr>
          <p:cNvSpPr>
            <a:spLocks xmlns:a="http://schemas.openxmlformats.org/drawingml/2006/main" noGrp="1"/>
          </p:cNvSpPr>
          <p:nvPr/>
        </p:nvSpPr>
        <p:spPr>
          <a:xfrm xmlns:a="http://schemas.openxmlformats.org/drawingml/2006/main">
            <a:off x="8413750" y="2524125"/>
            <a:ext cx="27686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Befunde, Trends, Unsicherheit, Differenzialdiagnosen</a:t>
            </a:r>
          </a:p>
        </p:txBody>
      </p:sp>
      <p:sp>
        <p:nvSpPr>
          <p:cNvPr id="16" name="">
            <a:extLst xmlns:a="http://schemas.openxmlformats.org/drawingml/2006/main">
              <a:ext uri="{FF2B5EF4-FFF2-40B4-BE49-F238E27FC236}">
                <a16:creationId xmlns:a16="http://schemas.microsoft.com/office/drawing/2014/main" id="{38046BBD-8A6F-4F80-BB6E-66C6E3ADBC46}"/>
              </a:ext>
            </a:extLst>
          </p:cNvPr>
          <p:cNvSpPr>
            <a:spLocks xmlns:a="http://schemas.openxmlformats.org/drawingml/2006/main" noGrp="1"/>
          </p:cNvSpPr>
          <p:nvPr/>
        </p:nvSpPr>
        <p:spPr>
          <a:xfrm xmlns:a="http://schemas.openxmlformats.org/drawingml/2006/main">
            <a:off x="1809750" y="3767138"/>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17" name="">
            <a:extLst xmlns:a="http://schemas.openxmlformats.org/drawingml/2006/main">
              <a:ext uri="{FF2B5EF4-FFF2-40B4-BE49-F238E27FC236}">
                <a16:creationId xmlns:a16="http://schemas.microsoft.com/office/drawing/2014/main" id="{11AC4404-2CF0-4C6C-A698-8F62E1927B54}"/>
              </a:ext>
            </a:extLst>
          </p:cNvPr>
          <p:cNvSpPr>
            <a:spLocks xmlns:a="http://schemas.openxmlformats.org/drawingml/2006/main" noGrp="1"/>
          </p:cNvSpPr>
          <p:nvPr/>
        </p:nvSpPr>
        <p:spPr>
          <a:xfrm xmlns:a="http://schemas.openxmlformats.org/drawingml/2006/main">
            <a:off x="1809750" y="3767138"/>
            <a:ext cx="307340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ED4BE859-396F-413E-8762-1CC4406930A3}"/>
              </a:ext>
            </a:extLst>
          </p:cNvPr>
          <p:cNvSpPr>
            <a:spLocks xmlns:a="http://schemas.openxmlformats.org/drawingml/2006/main" noGrp="1"/>
          </p:cNvSpPr>
          <p:nvPr/>
        </p:nvSpPr>
        <p:spPr>
          <a:xfrm xmlns:a="http://schemas.openxmlformats.org/drawingml/2006/main">
            <a:off x="1962150" y="3900488"/>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Recommendation</a:t>
            </a:r>
          </a:p>
        </p:txBody>
      </p:sp>
      <p:sp>
        <p:nvSpPr>
          <p:cNvPr id="19" name="">
            <a:extLst xmlns:a="http://schemas.openxmlformats.org/drawingml/2006/main">
              <a:ext uri="{FF2B5EF4-FFF2-40B4-BE49-F238E27FC236}">
                <a16:creationId xmlns:a16="http://schemas.microsoft.com/office/drawing/2014/main" id="{C0569DD7-BA7F-4F0E-AB7A-A1A7C8254106}"/>
              </a:ext>
            </a:extLst>
          </p:cNvPr>
          <p:cNvSpPr>
            <a:spLocks xmlns:a="http://schemas.openxmlformats.org/drawingml/2006/main" noGrp="1"/>
          </p:cNvSpPr>
          <p:nvPr/>
        </p:nvSpPr>
        <p:spPr>
          <a:xfrm xmlns:a="http://schemas.openxmlformats.org/drawingml/2006/main">
            <a:off x="1962150" y="4338638"/>
            <a:ext cx="27686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konkrete Bitte, Zeitkritik, Rücklese-Bestätigung</a:t>
            </a:r>
          </a:p>
        </p:txBody>
      </p:sp>
      <p:sp>
        <p:nvSpPr>
          <p:cNvPr id="20" name="">
            <a:extLst xmlns:a="http://schemas.openxmlformats.org/drawingml/2006/main">
              <a:ext uri="{FF2B5EF4-FFF2-40B4-BE49-F238E27FC236}">
                <a16:creationId xmlns:a16="http://schemas.microsoft.com/office/drawing/2014/main" id="{6EDAB720-B2BC-4C2B-90EB-00D22C13FE2F}"/>
              </a:ext>
            </a:extLst>
          </p:cNvPr>
          <p:cNvSpPr>
            <a:spLocks xmlns:a="http://schemas.openxmlformats.org/drawingml/2006/main" noGrp="1"/>
          </p:cNvSpPr>
          <p:nvPr/>
        </p:nvSpPr>
        <p:spPr>
          <a:xfrm xmlns:a="http://schemas.openxmlformats.org/drawingml/2006/main">
            <a:off x="5035550" y="3767138"/>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21" name="">
            <a:extLst xmlns:a="http://schemas.openxmlformats.org/drawingml/2006/main">
              <a:ext uri="{FF2B5EF4-FFF2-40B4-BE49-F238E27FC236}">
                <a16:creationId xmlns:a16="http://schemas.microsoft.com/office/drawing/2014/main" id="{FE060739-6692-4ACC-AE2A-DE1E25F72DB0}"/>
              </a:ext>
            </a:extLst>
          </p:cNvPr>
          <p:cNvSpPr>
            <a:spLocks xmlns:a="http://schemas.openxmlformats.org/drawingml/2006/main" noGrp="1"/>
          </p:cNvSpPr>
          <p:nvPr/>
        </p:nvSpPr>
        <p:spPr>
          <a:xfrm xmlns:a="http://schemas.openxmlformats.org/drawingml/2006/main">
            <a:off x="5035550" y="3767138"/>
            <a:ext cx="30734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22" name="">
            <a:extLst xmlns:a="http://schemas.openxmlformats.org/drawingml/2006/main">
              <a:ext uri="{FF2B5EF4-FFF2-40B4-BE49-F238E27FC236}">
                <a16:creationId xmlns:a16="http://schemas.microsoft.com/office/drawing/2014/main" id="{344E9F78-2925-430C-A4BC-4F172C62DE2A}"/>
              </a:ext>
            </a:extLst>
          </p:cNvPr>
          <p:cNvSpPr>
            <a:spLocks xmlns:a="http://schemas.openxmlformats.org/drawingml/2006/main" noGrp="1"/>
          </p:cNvSpPr>
          <p:nvPr/>
        </p:nvSpPr>
        <p:spPr>
          <a:xfrm xmlns:a="http://schemas.openxmlformats.org/drawingml/2006/main">
            <a:off x="5187950" y="3900488"/>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Dokumentieren</a:t>
            </a:r>
          </a:p>
        </p:txBody>
      </p:sp>
      <p:sp>
        <p:nvSpPr>
          <p:cNvPr id="23" name="">
            <a:extLst xmlns:a="http://schemas.openxmlformats.org/drawingml/2006/main">
              <a:ext uri="{FF2B5EF4-FFF2-40B4-BE49-F238E27FC236}">
                <a16:creationId xmlns:a16="http://schemas.microsoft.com/office/drawing/2014/main" id="{D1EF0B17-9609-41BF-8247-9BA61434E47C}"/>
              </a:ext>
            </a:extLst>
          </p:cNvPr>
          <p:cNvSpPr>
            <a:spLocks xmlns:a="http://schemas.openxmlformats.org/drawingml/2006/main" noGrp="1"/>
          </p:cNvSpPr>
          <p:nvPr/>
        </p:nvSpPr>
        <p:spPr>
          <a:xfrm xmlns:a="http://schemas.openxmlformats.org/drawingml/2006/main">
            <a:off x="5187950" y="4338638"/>
            <a:ext cx="27686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Dokumentieren: Zeitpunkt, Gesprächspartner:in, Kerninformation, Rückmeldung, Verantwortungsübernahme.</a:t>
            </a:r>
          </a:p>
        </p:txBody>
      </p:sp>
      <p:sp>
        <p:nvSpPr>
          <p:cNvPr id="24" name="">
            <a:extLst xmlns:a="http://schemas.openxmlformats.org/drawingml/2006/main">
              <a:ext uri="{FF2B5EF4-FFF2-40B4-BE49-F238E27FC236}">
                <a16:creationId xmlns:a16="http://schemas.microsoft.com/office/drawing/2014/main" id="{82D8D232-46F1-4587-9F4D-42DFAC41B4E3}"/>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5" name="">
            <a:extLst xmlns:a="http://schemas.openxmlformats.org/drawingml/2006/main">
              <a:ext uri="{FF2B5EF4-FFF2-40B4-BE49-F238E27FC236}">
                <a16:creationId xmlns:a16="http://schemas.microsoft.com/office/drawing/2014/main" id="{AE2A1C7C-A996-432C-9862-40A623C96397}"/>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Die Übergabe ist erst beendet, wenn die Verantwortung verstanden übernommen wurde.</a:t>
            </a:r>
          </a:p>
        </p:txBody>
      </p:sp>
    </p:spTree>
    <p:extLst>
      <p:ext uri="{BB962C8B-B14F-4D97-AF65-F5344CB8AC3E}">
        <p14:creationId xmlns:p14="http://schemas.microsoft.com/office/powerpoint/2010/main" val="43637646"/>
      </p:ext>
    </p:extLst>
  </p:cSld>
</p:sld>
</file>

<file path=ppt/slides/slide366.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Transport- oder Behandlungsablehnung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SICHERUNGSAUFKLÄRUNG</a:t>
            </a:r>
            <a:endParaRPr/>
          </a:p>
        </p:txBody>
      </p:sp>
      <p:sp>
        <p:nvSpPr>
          <p:cNvPr id="4" name="">
            <a:extLst xmlns:a="http://schemas.openxmlformats.org/drawingml/2006/main">
              <a:ext uri="{FF2B5EF4-FFF2-40B4-BE49-F238E27FC236}">
                <a16:creationId xmlns:a16="http://schemas.microsoft.com/office/drawing/2014/main" id="{6E686148-FE45-4CE3-A869-C6D2314C35B7}"/>
              </a:ext>
            </a:extLst>
          </p:cNvPr>
          <p:cNvSpPr>
            <a:spLocks xmlns:a="http://schemas.openxmlformats.org/drawingml/2006/main" noGrp="1"/>
          </p:cNvSpPr>
          <p:nvPr/>
        </p:nvSpPr>
        <p:spPr>
          <a:xfrm xmlns:a="http://schemas.openxmlformats.org/drawingml/2006/main">
            <a:off x="1809750" y="1952625"/>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FEFA91CC-1F10-4934-AE70-79460FCEF91C}"/>
              </a:ext>
            </a:extLst>
          </p:cNvPr>
          <p:cNvSpPr>
            <a:spLocks xmlns:a="http://schemas.openxmlformats.org/drawingml/2006/main" noGrp="1"/>
          </p:cNvSpPr>
          <p:nvPr/>
        </p:nvSpPr>
        <p:spPr>
          <a:xfrm xmlns:a="http://schemas.openxmlformats.org/drawingml/2006/main">
            <a:off x="1809750" y="1952625"/>
            <a:ext cx="30734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EFF82A27-42CD-4CA9-A7EC-5E75D9E9B065}"/>
              </a:ext>
            </a:extLst>
          </p:cNvPr>
          <p:cNvSpPr>
            <a:spLocks xmlns:a="http://schemas.openxmlformats.org/drawingml/2006/main" noGrp="1"/>
          </p:cNvSpPr>
          <p:nvPr/>
        </p:nvSpPr>
        <p:spPr>
          <a:xfrm xmlns:a="http://schemas.openxmlformats.org/drawingml/2006/main">
            <a:off x="1962150" y="2085975"/>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Ist die Person entscheidungsfähig?</a:t>
            </a:r>
          </a:p>
        </p:txBody>
      </p:sp>
      <p:sp>
        <p:nvSpPr>
          <p:cNvPr id="7" name="">
            <a:extLst xmlns:a="http://schemas.openxmlformats.org/drawingml/2006/main">
              <a:ext uri="{FF2B5EF4-FFF2-40B4-BE49-F238E27FC236}">
                <a16:creationId xmlns:a16="http://schemas.microsoft.com/office/drawing/2014/main" id="{2C75EE0E-9A46-4EC3-A0D2-4E6CD181278A}"/>
              </a:ext>
            </a:extLst>
          </p:cNvPr>
          <p:cNvSpPr>
            <a:spLocks xmlns:a="http://schemas.openxmlformats.org/drawingml/2006/main" noGrp="1"/>
          </p:cNvSpPr>
          <p:nvPr/>
        </p:nvSpPr>
        <p:spPr>
          <a:xfrm xmlns:a="http://schemas.openxmlformats.org/drawingml/2006/main">
            <a:off x="5035550" y="1952625"/>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8" name="">
            <a:extLst xmlns:a="http://schemas.openxmlformats.org/drawingml/2006/main">
              <a:ext uri="{FF2B5EF4-FFF2-40B4-BE49-F238E27FC236}">
                <a16:creationId xmlns:a16="http://schemas.microsoft.com/office/drawing/2014/main" id="{A3F7225F-74A9-469B-A93B-42C7ACD879C9}"/>
              </a:ext>
            </a:extLst>
          </p:cNvPr>
          <p:cNvSpPr>
            <a:spLocks xmlns:a="http://schemas.openxmlformats.org/drawingml/2006/main" noGrp="1"/>
          </p:cNvSpPr>
          <p:nvPr/>
        </p:nvSpPr>
        <p:spPr>
          <a:xfrm xmlns:a="http://schemas.openxmlformats.org/drawingml/2006/main">
            <a:off x="5035550" y="1952625"/>
            <a:ext cx="307340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9" name="">
            <a:extLst xmlns:a="http://schemas.openxmlformats.org/drawingml/2006/main">
              <a:ext uri="{FF2B5EF4-FFF2-40B4-BE49-F238E27FC236}">
                <a16:creationId xmlns:a16="http://schemas.microsoft.com/office/drawing/2014/main" id="{F17323DB-2AFA-4CF7-A40E-88F5A6F485F5}"/>
              </a:ext>
            </a:extLst>
          </p:cNvPr>
          <p:cNvSpPr>
            <a:spLocks xmlns:a="http://schemas.openxmlformats.org/drawingml/2006/main" noGrp="1"/>
          </p:cNvSpPr>
          <p:nvPr/>
        </p:nvSpPr>
        <p:spPr>
          <a:xfrm xmlns:a="http://schemas.openxmlformats.org/drawingml/2006/main">
            <a:off x="5187950" y="2085975"/>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Welche konkrete Gefahr besteht bei Ablehnung?</a:t>
            </a:r>
          </a:p>
        </p:txBody>
      </p:sp>
      <p:sp>
        <p:nvSpPr>
          <p:cNvPr id="10" name="">
            <a:extLst xmlns:a="http://schemas.openxmlformats.org/drawingml/2006/main">
              <a:ext uri="{FF2B5EF4-FFF2-40B4-BE49-F238E27FC236}">
                <a16:creationId xmlns:a16="http://schemas.microsoft.com/office/drawing/2014/main" id="{F8FF8A9F-C475-4A8F-B87B-C9FEDECDF20E}"/>
              </a:ext>
            </a:extLst>
          </p:cNvPr>
          <p:cNvSpPr>
            <a:spLocks xmlns:a="http://schemas.openxmlformats.org/drawingml/2006/main" noGrp="1"/>
          </p:cNvSpPr>
          <p:nvPr/>
        </p:nvSpPr>
        <p:spPr>
          <a:xfrm xmlns:a="http://schemas.openxmlformats.org/drawingml/2006/main">
            <a:off x="8261350" y="1952625"/>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11" name="">
            <a:extLst xmlns:a="http://schemas.openxmlformats.org/drawingml/2006/main">
              <a:ext uri="{FF2B5EF4-FFF2-40B4-BE49-F238E27FC236}">
                <a16:creationId xmlns:a16="http://schemas.microsoft.com/office/drawing/2014/main" id="{C20F0D63-0C41-4BF0-A5C9-6E0528C57421}"/>
              </a:ext>
            </a:extLst>
          </p:cNvPr>
          <p:cNvSpPr>
            <a:spLocks xmlns:a="http://schemas.openxmlformats.org/drawingml/2006/main" noGrp="1"/>
          </p:cNvSpPr>
          <p:nvPr/>
        </p:nvSpPr>
        <p:spPr>
          <a:xfrm xmlns:a="http://schemas.openxmlformats.org/drawingml/2006/main">
            <a:off x="8261350" y="1952625"/>
            <a:ext cx="30734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12" name="">
            <a:extLst xmlns:a="http://schemas.openxmlformats.org/drawingml/2006/main">
              <a:ext uri="{FF2B5EF4-FFF2-40B4-BE49-F238E27FC236}">
                <a16:creationId xmlns:a16="http://schemas.microsoft.com/office/drawing/2014/main" id="{F7BC4F7F-AFBA-475F-8AA1-35CDEF49BC0F}"/>
              </a:ext>
            </a:extLst>
          </p:cNvPr>
          <p:cNvSpPr>
            <a:spLocks xmlns:a="http://schemas.openxmlformats.org/drawingml/2006/main" noGrp="1"/>
          </p:cNvSpPr>
          <p:nvPr/>
        </p:nvSpPr>
        <p:spPr>
          <a:xfrm xmlns:a="http://schemas.openxmlformats.org/drawingml/2006/main">
            <a:off x="8413750" y="2085975"/>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Wurde sie verständlich und patientenbezogen erklärt?</a:t>
            </a:r>
          </a:p>
        </p:txBody>
      </p:sp>
      <p:sp>
        <p:nvSpPr>
          <p:cNvPr id="13" name="">
            <a:extLst xmlns:a="http://schemas.openxmlformats.org/drawingml/2006/main">
              <a:ext uri="{FF2B5EF4-FFF2-40B4-BE49-F238E27FC236}">
                <a16:creationId xmlns:a16="http://schemas.microsoft.com/office/drawing/2014/main" id="{9EBCA5B5-6EB5-4B10-91A4-FDB808F83B99}"/>
              </a:ext>
            </a:extLst>
          </p:cNvPr>
          <p:cNvSpPr>
            <a:spLocks xmlns:a="http://schemas.openxmlformats.org/drawingml/2006/main" noGrp="1"/>
          </p:cNvSpPr>
          <p:nvPr/>
        </p:nvSpPr>
        <p:spPr>
          <a:xfrm xmlns:a="http://schemas.openxmlformats.org/drawingml/2006/main">
            <a:off x="1809750" y="3767138"/>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14" name="">
            <a:extLst xmlns:a="http://schemas.openxmlformats.org/drawingml/2006/main">
              <a:ext uri="{FF2B5EF4-FFF2-40B4-BE49-F238E27FC236}">
                <a16:creationId xmlns:a16="http://schemas.microsoft.com/office/drawing/2014/main" id="{BF230FB2-D5C4-4D85-B354-B34DE0359EAB}"/>
              </a:ext>
            </a:extLst>
          </p:cNvPr>
          <p:cNvSpPr>
            <a:spLocks xmlns:a="http://schemas.openxmlformats.org/drawingml/2006/main" noGrp="1"/>
          </p:cNvSpPr>
          <p:nvPr/>
        </p:nvSpPr>
        <p:spPr>
          <a:xfrm xmlns:a="http://schemas.openxmlformats.org/drawingml/2006/main">
            <a:off x="1809750" y="3767138"/>
            <a:ext cx="307340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5" name="">
            <a:extLst xmlns:a="http://schemas.openxmlformats.org/drawingml/2006/main">
              <a:ext uri="{FF2B5EF4-FFF2-40B4-BE49-F238E27FC236}">
                <a16:creationId xmlns:a16="http://schemas.microsoft.com/office/drawing/2014/main" id="{D391D62A-972E-4E9C-A303-8E3E4A3B1336}"/>
              </a:ext>
            </a:extLst>
          </p:cNvPr>
          <p:cNvSpPr>
            <a:spLocks xmlns:a="http://schemas.openxmlformats.org/drawingml/2006/main" noGrp="1"/>
          </p:cNvSpPr>
          <p:nvPr/>
        </p:nvSpPr>
        <p:spPr>
          <a:xfrm xmlns:a="http://schemas.openxmlformats.org/drawingml/2006/main">
            <a:off x="1962150" y="3900488"/>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Gibt es weniger eingreifende Alternativen?</a:t>
            </a:r>
          </a:p>
        </p:txBody>
      </p:sp>
      <p:sp>
        <p:nvSpPr>
          <p:cNvPr id="16" name="">
            <a:extLst xmlns:a="http://schemas.openxmlformats.org/drawingml/2006/main">
              <a:ext uri="{FF2B5EF4-FFF2-40B4-BE49-F238E27FC236}">
                <a16:creationId xmlns:a16="http://schemas.microsoft.com/office/drawing/2014/main" id="{42039118-DA36-436A-9639-10D62A655F34}"/>
              </a:ext>
            </a:extLst>
          </p:cNvPr>
          <p:cNvSpPr>
            <a:spLocks xmlns:a="http://schemas.openxmlformats.org/drawingml/2006/main" noGrp="1"/>
          </p:cNvSpPr>
          <p:nvPr/>
        </p:nvSpPr>
        <p:spPr>
          <a:xfrm xmlns:a="http://schemas.openxmlformats.org/drawingml/2006/main">
            <a:off x="5035550" y="3767138"/>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17" name="">
            <a:extLst xmlns:a="http://schemas.openxmlformats.org/drawingml/2006/main">
              <a:ext uri="{FF2B5EF4-FFF2-40B4-BE49-F238E27FC236}">
                <a16:creationId xmlns:a16="http://schemas.microsoft.com/office/drawing/2014/main" id="{E1F832CB-80BB-49F3-9427-1400F5373C07}"/>
              </a:ext>
            </a:extLst>
          </p:cNvPr>
          <p:cNvSpPr>
            <a:spLocks xmlns:a="http://schemas.openxmlformats.org/drawingml/2006/main" noGrp="1"/>
          </p:cNvSpPr>
          <p:nvPr/>
        </p:nvSpPr>
        <p:spPr>
          <a:xfrm xmlns:a="http://schemas.openxmlformats.org/drawingml/2006/main">
            <a:off x="5035550" y="3767138"/>
            <a:ext cx="30734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18" name="">
            <a:extLst xmlns:a="http://schemas.openxmlformats.org/drawingml/2006/main">
              <a:ext uri="{FF2B5EF4-FFF2-40B4-BE49-F238E27FC236}">
                <a16:creationId xmlns:a16="http://schemas.microsoft.com/office/drawing/2014/main" id="{2AC7F755-0AC3-4963-BE4B-FAF3C0E60EB0}"/>
              </a:ext>
            </a:extLst>
          </p:cNvPr>
          <p:cNvSpPr>
            <a:spLocks xmlns:a="http://schemas.openxmlformats.org/drawingml/2006/main" noGrp="1"/>
          </p:cNvSpPr>
          <p:nvPr/>
        </p:nvSpPr>
        <p:spPr>
          <a:xfrm xmlns:a="http://schemas.openxmlformats.org/drawingml/2006/main">
            <a:off x="5187950" y="3900488"/>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Welche Rückkehr- und Warnzeichen gelten?</a:t>
            </a:r>
          </a:p>
        </p:txBody>
      </p:sp>
      <p:sp>
        <p:nvSpPr>
          <p:cNvPr id="19" name="">
            <a:extLst xmlns:a="http://schemas.openxmlformats.org/drawingml/2006/main">
              <a:ext uri="{FF2B5EF4-FFF2-40B4-BE49-F238E27FC236}">
                <a16:creationId xmlns:a16="http://schemas.microsoft.com/office/drawing/2014/main" id="{6EDA46BC-1FC1-4283-B330-EDC767B45111}"/>
              </a:ext>
            </a:extLst>
          </p:cNvPr>
          <p:cNvSpPr>
            <a:spLocks xmlns:a="http://schemas.openxmlformats.org/drawingml/2006/main" noGrp="1"/>
          </p:cNvSpPr>
          <p:nvPr/>
        </p:nvSpPr>
        <p:spPr>
          <a:xfrm xmlns:a="http://schemas.openxmlformats.org/drawingml/2006/main">
            <a:off x="8261350" y="3767138"/>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20" name="">
            <a:extLst xmlns:a="http://schemas.openxmlformats.org/drawingml/2006/main">
              <a:ext uri="{FF2B5EF4-FFF2-40B4-BE49-F238E27FC236}">
                <a16:creationId xmlns:a16="http://schemas.microsoft.com/office/drawing/2014/main" id="{ED73969E-A1CA-487C-913F-E998C4CC1BED}"/>
              </a:ext>
            </a:extLst>
          </p:cNvPr>
          <p:cNvSpPr>
            <a:spLocks xmlns:a="http://schemas.openxmlformats.org/drawingml/2006/main" noGrp="1"/>
          </p:cNvSpPr>
          <p:nvPr/>
        </p:nvSpPr>
        <p:spPr>
          <a:xfrm xmlns:a="http://schemas.openxmlformats.org/drawingml/2006/main">
            <a:off x="8261350" y="3767138"/>
            <a:ext cx="307340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21" name="">
            <a:extLst xmlns:a="http://schemas.openxmlformats.org/drawingml/2006/main">
              <a:ext uri="{FF2B5EF4-FFF2-40B4-BE49-F238E27FC236}">
                <a16:creationId xmlns:a16="http://schemas.microsoft.com/office/drawing/2014/main" id="{644DD140-90CA-4516-B684-096466A83988}"/>
              </a:ext>
            </a:extLst>
          </p:cNvPr>
          <p:cNvSpPr>
            <a:spLocks xmlns:a="http://schemas.openxmlformats.org/drawingml/2006/main" noGrp="1"/>
          </p:cNvSpPr>
          <p:nvPr/>
        </p:nvSpPr>
        <p:spPr>
          <a:xfrm xmlns:a="http://schemas.openxmlformats.org/drawingml/2006/main">
            <a:off x="8413750" y="3900488"/>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Wer war beteiligt und was wurde dokumentiert?</a:t>
            </a:r>
          </a:p>
        </p:txBody>
      </p:sp>
      <p:sp>
        <p:nvSpPr>
          <p:cNvPr id="22" name="">
            <a:extLst xmlns:a="http://schemas.openxmlformats.org/drawingml/2006/main">
              <a:ext uri="{FF2B5EF4-FFF2-40B4-BE49-F238E27FC236}">
                <a16:creationId xmlns:a16="http://schemas.microsoft.com/office/drawing/2014/main" id="{6946C064-13AA-4A80-ADF7-871F139A73BE}"/>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3" name="">
            <a:extLst xmlns:a="http://schemas.openxmlformats.org/drawingml/2006/main">
              <a:ext uri="{FF2B5EF4-FFF2-40B4-BE49-F238E27FC236}">
                <a16:creationId xmlns:a16="http://schemas.microsoft.com/office/drawing/2014/main" id="{2C92B122-87C8-4851-9D28-9C141061BCA6}"/>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Eine Unterschrift ersetzt weder Einwilligungsfähigkeitsprüfung noch verständliche Risikoaufklärung.</a:t>
            </a:r>
          </a:p>
        </p:txBody>
      </p:sp>
    </p:spTree>
    <p:extLst>
      <p:ext uri="{BB962C8B-B14F-4D97-AF65-F5344CB8AC3E}">
        <p14:creationId xmlns:p14="http://schemas.microsoft.com/office/powerpoint/2010/main" val="43637646"/>
      </p:ext>
    </p:extLst>
  </p:cSld>
</p:sld>
</file>

<file path=ppt/slides/slide367.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Simulation: Die schwierige Voranmeldung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8 + 7 MIN</a:t>
            </a:r>
            <a:endParaRPr/>
          </a:p>
        </p:txBody>
      </p:sp>
      <p:sp>
        <p:nvSpPr>
          <p:cNvPr id="4" name="">
            <a:extLst xmlns:a="http://schemas.openxmlformats.org/drawingml/2006/main">
              <a:ext uri="{FF2B5EF4-FFF2-40B4-BE49-F238E27FC236}">
                <a16:creationId xmlns:a16="http://schemas.microsoft.com/office/drawing/2014/main" id="{A48358CE-C266-42E3-B11C-E80895389F6D}"/>
              </a:ext>
            </a:extLst>
          </p:cNvPr>
          <p:cNvSpPr>
            <a:spLocks xmlns:a="http://schemas.openxmlformats.org/drawingml/2006/main" noGrp="1"/>
          </p:cNvSpPr>
          <p:nvPr/>
        </p:nvSpPr>
        <p:spPr>
          <a:xfrm xmlns:a="http://schemas.openxmlformats.org/drawingml/2006/main">
            <a:off x="1809750" y="1952625"/>
            <a:ext cx="4429125" cy="3276600"/>
          </a:xfrm>
          <a:prstGeom xmlns:a="http://schemas.openxmlformats.org/drawingml/2006/main" prst="roundRect">
            <a:avLst>
              <a:gd name="adj" fmla="val 2326"/>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91D1A163-EB5A-474F-BAB5-E0125EB7C762}"/>
              </a:ext>
            </a:extLst>
          </p:cNvPr>
          <p:cNvSpPr>
            <a:spLocks xmlns:a="http://schemas.openxmlformats.org/drawingml/2006/main" noGrp="1"/>
          </p:cNvSpPr>
          <p:nvPr/>
        </p:nvSpPr>
        <p:spPr>
          <a:xfrm xmlns:a="http://schemas.openxmlformats.org/drawingml/2006/main">
            <a:off x="1809750" y="1952625"/>
            <a:ext cx="4429125" cy="76200"/>
          </a:xfrm>
          <a:prstGeom xmlns:a="http://schemas.openxmlformats.org/drawingml/2006/main" prst="rect">
            <a:avLst/>
          </a:prstGeom>
          <a:solidFill xmlns:a="http://schemas.openxmlformats.org/drawingml/2006/main">
            <a:srgbClr val="D53D0E"/>
          </a:solidFill>
          <a:ln xmlns:a="http://schemas.openxmlformats.org/drawingml/2006/main" w="0">
            <a:solidFill>
              <a:srgbClr val="D53D0E"/>
            </a:solidFill>
            <a:prstDash val="solid"/>
          </a:ln>
        </p:spPr>
      </p:sp>
      <p:sp>
        <p:nvSpPr>
          <p:cNvPr id="6" name="">
            <a:extLst xmlns:a="http://schemas.openxmlformats.org/drawingml/2006/main">
              <a:ext uri="{FF2B5EF4-FFF2-40B4-BE49-F238E27FC236}">
                <a16:creationId xmlns:a16="http://schemas.microsoft.com/office/drawing/2014/main" id="{85073E51-DE8A-448E-BD3B-9690F94622AB}"/>
              </a:ext>
            </a:extLst>
          </p:cNvPr>
          <p:cNvSpPr>
            <a:spLocks xmlns:a="http://schemas.openxmlformats.org/drawingml/2006/main" noGrp="1"/>
          </p:cNvSpPr>
          <p:nvPr/>
        </p:nvSpPr>
        <p:spPr>
          <a:xfrm xmlns:a="http://schemas.openxmlformats.org/drawingml/2006/main">
            <a:off x="1962150" y="2085975"/>
            <a:ext cx="41243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350" b="1">
                <a:solidFill>
                  <a:srgbClr val="003F6B"/>
                </a:solidFill>
              </a:defRPr>
            </a:pPr>
            <a:r>
              <a:rPr sz="1350" b="1">
                <a:solidFill>
                  <a:srgbClr val="003F6B"/>
                </a:solidFill>
              </a:rPr>
              <a:t>Szenario</a:t>
            </a:r>
          </a:p>
        </p:txBody>
      </p:sp>
      <p:sp>
        <p:nvSpPr>
          <p:cNvPr id="7" name="">
            <a:extLst xmlns:a="http://schemas.openxmlformats.org/drawingml/2006/main">
              <a:ext uri="{FF2B5EF4-FFF2-40B4-BE49-F238E27FC236}">
                <a16:creationId xmlns:a16="http://schemas.microsoft.com/office/drawing/2014/main" id="{B269FEC8-7610-4D55-80C1-E48183DCACB2}"/>
              </a:ext>
            </a:extLst>
          </p:cNvPr>
          <p:cNvSpPr>
            <a:spLocks xmlns:a="http://schemas.openxmlformats.org/drawingml/2006/main" noGrp="1"/>
          </p:cNvSpPr>
          <p:nvPr/>
        </p:nvSpPr>
        <p:spPr>
          <a:xfrm xmlns:a="http://schemas.openxmlformats.org/drawingml/2006/main">
            <a:off x="1962150" y="2524125"/>
            <a:ext cx="4124325"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a:solidFill>
                  <a:srgbClr val="15232B"/>
                </a:solidFill>
              </a:defRPr>
            </a:pPr>
            <a:r>
              <a:rPr sz="1238">
                <a:solidFill>
                  <a:srgbClr val="15232B"/>
                </a:solidFill>
              </a:rPr>
              <a:t>Verdacht auf Mesenterialinfarkt, aber unspezifischer Befund. Die Zielklinik signalisiert Überlastung. Der Patient verschlechtert sich.</a:t>
            </a:r>
          </a:p>
        </p:txBody>
      </p:sp>
      <p:sp>
        <p:nvSpPr>
          <p:cNvPr id="8" name="">
            <a:extLst xmlns:a="http://schemas.openxmlformats.org/drawingml/2006/main">
              <a:ext uri="{FF2B5EF4-FFF2-40B4-BE49-F238E27FC236}">
                <a16:creationId xmlns:a16="http://schemas.microsoft.com/office/drawing/2014/main" id="{69C2FDB7-432B-4F60-9F5E-32DFF02F4278}"/>
              </a:ext>
            </a:extLst>
          </p:cNvPr>
          <p:cNvSpPr>
            <a:spLocks xmlns:a="http://schemas.openxmlformats.org/drawingml/2006/main" noGrp="1"/>
          </p:cNvSpPr>
          <p:nvPr/>
        </p:nvSpPr>
        <p:spPr>
          <a:xfrm xmlns:a="http://schemas.openxmlformats.org/drawingml/2006/main">
            <a:off x="6477000" y="1952625"/>
            <a:ext cx="2343150" cy="885825"/>
          </a:xfrm>
          <a:prstGeom xmlns:a="http://schemas.openxmlformats.org/drawingml/2006/main" prst="roundRect">
            <a:avLst>
              <a:gd name="adj" fmla="val 8602"/>
            </a:avLst>
          </a:prstGeom>
          <a:noFill xmlns:a="http://schemas.openxmlformats.org/drawingml/2006/main"/>
          <a:ln xmlns:a="http://schemas.openxmlformats.org/drawingml/2006/main" w="9525">
            <a:solidFill>
              <a:srgbClr val="B9CAD2"/>
            </a:solidFill>
            <a:prstDash val="solid"/>
          </a:ln>
        </p:spPr>
      </p:sp>
      <p:sp>
        <p:nvSpPr>
          <p:cNvPr id="9" name="">
            <a:extLst xmlns:a="http://schemas.openxmlformats.org/drawingml/2006/main">
              <a:ext uri="{FF2B5EF4-FFF2-40B4-BE49-F238E27FC236}">
                <a16:creationId xmlns:a16="http://schemas.microsoft.com/office/drawing/2014/main" id="{3CB7FED1-00DA-4A60-91FF-F7FE7DD3D964}"/>
              </a:ext>
            </a:extLst>
          </p:cNvPr>
          <p:cNvSpPr>
            <a:spLocks xmlns:a="http://schemas.openxmlformats.org/drawingml/2006/main" noGrp="1"/>
          </p:cNvSpPr>
          <p:nvPr/>
        </p:nvSpPr>
        <p:spPr>
          <a:xfrm xmlns:a="http://schemas.openxmlformats.org/drawingml/2006/main">
            <a:off x="6477000" y="1952625"/>
            <a:ext cx="234315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10" name="">
            <a:extLst xmlns:a="http://schemas.openxmlformats.org/drawingml/2006/main">
              <a:ext uri="{FF2B5EF4-FFF2-40B4-BE49-F238E27FC236}">
                <a16:creationId xmlns:a16="http://schemas.microsoft.com/office/drawing/2014/main" id="{B88CA6F4-332A-422C-BB01-E818C0DA88A4}"/>
              </a:ext>
            </a:extLst>
          </p:cNvPr>
          <p:cNvSpPr>
            <a:spLocks xmlns:a="http://schemas.openxmlformats.org/drawingml/2006/main" noGrp="1"/>
          </p:cNvSpPr>
          <p:nvPr/>
        </p:nvSpPr>
        <p:spPr>
          <a:xfrm xmlns:a="http://schemas.openxmlformats.org/drawingml/2006/main">
            <a:off x="6629400" y="2085975"/>
            <a:ext cx="203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b="1">
                <a:solidFill>
                  <a:srgbClr val="003F6B"/>
                </a:solidFill>
              </a:defRPr>
            </a:pPr>
            <a:r>
              <a:rPr sz="1050" b="1">
                <a:solidFill>
                  <a:srgbClr val="003F6B"/>
                </a:solidFill>
              </a:rPr>
              <a:t>Rettungsdienst / Zuweiser</a:t>
            </a:r>
          </a:p>
        </p:txBody>
      </p:sp>
      <p:sp>
        <p:nvSpPr>
          <p:cNvPr id="11" name="">
            <a:extLst xmlns:a="http://schemas.openxmlformats.org/drawingml/2006/main">
              <a:ext uri="{FF2B5EF4-FFF2-40B4-BE49-F238E27FC236}">
                <a16:creationId xmlns:a16="http://schemas.microsoft.com/office/drawing/2014/main" id="{35703A68-7621-4168-88C9-33049983BB24}"/>
              </a:ext>
            </a:extLst>
          </p:cNvPr>
          <p:cNvSpPr>
            <a:spLocks xmlns:a="http://schemas.openxmlformats.org/drawingml/2006/main" noGrp="1"/>
          </p:cNvSpPr>
          <p:nvPr/>
        </p:nvSpPr>
        <p:spPr>
          <a:xfrm xmlns:a="http://schemas.openxmlformats.org/drawingml/2006/main">
            <a:off x="8896350" y="1952625"/>
            <a:ext cx="2343150" cy="885825"/>
          </a:xfrm>
          <a:prstGeom xmlns:a="http://schemas.openxmlformats.org/drawingml/2006/main" prst="roundRect">
            <a:avLst>
              <a:gd name="adj" fmla="val 8602"/>
            </a:avLst>
          </a:prstGeom>
          <a:noFill xmlns:a="http://schemas.openxmlformats.org/drawingml/2006/main"/>
          <a:ln xmlns:a="http://schemas.openxmlformats.org/drawingml/2006/main" w="9525">
            <a:solidFill>
              <a:srgbClr val="B9CAD2"/>
            </a:solidFill>
            <a:prstDash val="solid"/>
          </a:ln>
        </p:spPr>
      </p:sp>
      <p:sp>
        <p:nvSpPr>
          <p:cNvPr id="12" name="">
            <a:extLst xmlns:a="http://schemas.openxmlformats.org/drawingml/2006/main">
              <a:ext uri="{FF2B5EF4-FFF2-40B4-BE49-F238E27FC236}">
                <a16:creationId xmlns:a16="http://schemas.microsoft.com/office/drawing/2014/main" id="{D6DD4F5E-769F-4862-A385-B71344D92CF7}"/>
              </a:ext>
            </a:extLst>
          </p:cNvPr>
          <p:cNvSpPr>
            <a:spLocks xmlns:a="http://schemas.openxmlformats.org/drawingml/2006/main" noGrp="1"/>
          </p:cNvSpPr>
          <p:nvPr/>
        </p:nvSpPr>
        <p:spPr>
          <a:xfrm xmlns:a="http://schemas.openxmlformats.org/drawingml/2006/main">
            <a:off x="8896350" y="1952625"/>
            <a:ext cx="234315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3" name="">
            <a:extLst xmlns:a="http://schemas.openxmlformats.org/drawingml/2006/main">
              <a:ext uri="{FF2B5EF4-FFF2-40B4-BE49-F238E27FC236}">
                <a16:creationId xmlns:a16="http://schemas.microsoft.com/office/drawing/2014/main" id="{E83C1D71-AE9C-450D-AB29-52414FE1E9F1}"/>
              </a:ext>
            </a:extLst>
          </p:cNvPr>
          <p:cNvSpPr>
            <a:spLocks xmlns:a="http://schemas.openxmlformats.org/drawingml/2006/main" noGrp="1"/>
          </p:cNvSpPr>
          <p:nvPr/>
        </p:nvSpPr>
        <p:spPr>
          <a:xfrm xmlns:a="http://schemas.openxmlformats.org/drawingml/2006/main">
            <a:off x="9048750" y="2085975"/>
            <a:ext cx="203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b="1">
                <a:solidFill>
                  <a:srgbClr val="003F6B"/>
                </a:solidFill>
              </a:defRPr>
            </a:pPr>
            <a:r>
              <a:rPr sz="1050" b="1">
                <a:solidFill>
                  <a:srgbClr val="003F6B"/>
                </a:solidFill>
              </a:rPr>
              <a:t>aufnehmende Ärztin / Arzt</a:t>
            </a:r>
          </a:p>
        </p:txBody>
      </p:sp>
      <p:sp>
        <p:nvSpPr>
          <p:cNvPr id="14" name="">
            <a:extLst xmlns:a="http://schemas.openxmlformats.org/drawingml/2006/main">
              <a:ext uri="{FF2B5EF4-FFF2-40B4-BE49-F238E27FC236}">
                <a16:creationId xmlns:a16="http://schemas.microsoft.com/office/drawing/2014/main" id="{8BB4CB6C-05C8-4D51-B2A3-21C51F15D898}"/>
              </a:ext>
            </a:extLst>
          </p:cNvPr>
          <p:cNvSpPr>
            <a:spLocks xmlns:a="http://schemas.openxmlformats.org/drawingml/2006/main" noGrp="1"/>
          </p:cNvSpPr>
          <p:nvPr/>
        </p:nvSpPr>
        <p:spPr>
          <a:xfrm xmlns:a="http://schemas.openxmlformats.org/drawingml/2006/main">
            <a:off x="6477000" y="2971800"/>
            <a:ext cx="2343150" cy="885825"/>
          </a:xfrm>
          <a:prstGeom xmlns:a="http://schemas.openxmlformats.org/drawingml/2006/main" prst="roundRect">
            <a:avLst>
              <a:gd name="adj" fmla="val 8602"/>
            </a:avLst>
          </a:prstGeom>
          <a:noFill xmlns:a="http://schemas.openxmlformats.org/drawingml/2006/main"/>
          <a:ln xmlns:a="http://schemas.openxmlformats.org/drawingml/2006/main" w="9525">
            <a:solidFill>
              <a:srgbClr val="B9CAD2"/>
            </a:solidFill>
            <a:prstDash val="solid"/>
          </a:ln>
        </p:spPr>
      </p:sp>
      <p:sp>
        <p:nvSpPr>
          <p:cNvPr id="15" name="">
            <a:extLst xmlns:a="http://schemas.openxmlformats.org/drawingml/2006/main">
              <a:ext uri="{FF2B5EF4-FFF2-40B4-BE49-F238E27FC236}">
                <a16:creationId xmlns:a16="http://schemas.microsoft.com/office/drawing/2014/main" id="{7E04D19B-1FC7-4B0F-8ACC-FF370B68F461}"/>
              </a:ext>
            </a:extLst>
          </p:cNvPr>
          <p:cNvSpPr>
            <a:spLocks xmlns:a="http://schemas.openxmlformats.org/drawingml/2006/main" noGrp="1"/>
          </p:cNvSpPr>
          <p:nvPr/>
        </p:nvSpPr>
        <p:spPr>
          <a:xfrm xmlns:a="http://schemas.openxmlformats.org/drawingml/2006/main">
            <a:off x="6477000" y="2971800"/>
            <a:ext cx="234315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16" name="">
            <a:extLst xmlns:a="http://schemas.openxmlformats.org/drawingml/2006/main">
              <a:ext uri="{FF2B5EF4-FFF2-40B4-BE49-F238E27FC236}">
                <a16:creationId xmlns:a16="http://schemas.microsoft.com/office/drawing/2014/main" id="{9561626F-2C56-4AB8-A4ED-90CDC695E29C}"/>
              </a:ext>
            </a:extLst>
          </p:cNvPr>
          <p:cNvSpPr>
            <a:spLocks xmlns:a="http://schemas.openxmlformats.org/drawingml/2006/main" noGrp="1"/>
          </p:cNvSpPr>
          <p:nvPr/>
        </p:nvSpPr>
        <p:spPr>
          <a:xfrm xmlns:a="http://schemas.openxmlformats.org/drawingml/2006/main">
            <a:off x="6629400" y="3105150"/>
            <a:ext cx="203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b="1">
                <a:solidFill>
                  <a:srgbClr val="003F6B"/>
                </a:solidFill>
              </a:defRPr>
            </a:pPr>
            <a:r>
              <a:rPr sz="1050" b="1">
                <a:solidFill>
                  <a:srgbClr val="003F6B"/>
                </a:solidFill>
              </a:rPr>
              <a:t>Beobachter:in</a:t>
            </a:r>
          </a:p>
        </p:txBody>
      </p:sp>
      <p:sp>
        <p:nvSpPr>
          <p:cNvPr id="17" name="">
            <a:extLst xmlns:a="http://schemas.openxmlformats.org/drawingml/2006/main">
              <a:ext uri="{FF2B5EF4-FFF2-40B4-BE49-F238E27FC236}">
                <a16:creationId xmlns:a16="http://schemas.microsoft.com/office/drawing/2014/main" id="{A82FBC58-06C0-49B2-9B23-A2B29A859D07}"/>
              </a:ext>
            </a:extLst>
          </p:cNvPr>
          <p:cNvSpPr>
            <a:spLocks xmlns:a="http://schemas.openxmlformats.org/drawingml/2006/main" noGrp="1"/>
          </p:cNvSpPr>
          <p:nvPr/>
        </p:nvSpPr>
        <p:spPr>
          <a:xfrm xmlns:a="http://schemas.openxmlformats.org/drawingml/2006/main">
            <a:off x="6572250" y="4048125"/>
            <a:ext cx="4619625"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 Fakten statt Dramatisierung</a:t>
            </a:r>
          </a:p>
          <a:p xmlns:a="http://schemas.openxmlformats.org/drawingml/2006/main">
            <a:pPr>
              <a:buNone/>
              <a:defRPr sz="1065">
                <a:solidFill>
                  <a:srgbClr val="15232B"/>
                </a:solidFill>
              </a:defRPr>
            </a:pPr>
            <a:r>
              <a:rPr sz="1065">
                <a:solidFill>
                  <a:srgbClr val="15232B"/>
                </a:solidFill>
              </a:rPr>
              <a:t>• Zeitkritik begründet</a:t>
            </a:r>
          </a:p>
          <a:p xmlns:a="http://schemas.openxmlformats.org/drawingml/2006/main">
            <a:pPr>
              <a:buNone/>
              <a:defRPr sz="1065">
                <a:solidFill>
                  <a:srgbClr val="15232B"/>
                </a:solidFill>
              </a:defRPr>
            </a:pPr>
            <a:r>
              <a:rPr sz="1065">
                <a:solidFill>
                  <a:srgbClr val="15232B"/>
                </a:solidFill>
              </a:rPr>
              <a:t>• konkrete Anfrage</a:t>
            </a:r>
          </a:p>
          <a:p xmlns:a="http://schemas.openxmlformats.org/drawingml/2006/main">
            <a:pPr>
              <a:buNone/>
              <a:defRPr sz="1065">
                <a:solidFill>
                  <a:srgbClr val="15232B"/>
                </a:solidFill>
              </a:defRPr>
            </a:pPr>
            <a:r>
              <a:rPr sz="1065">
                <a:solidFill>
                  <a:srgbClr val="15232B"/>
                </a:solidFill>
              </a:rPr>
              <a:t>• Rücklese-Bestätigung</a:t>
            </a:r>
          </a:p>
          <a:p xmlns:a="http://schemas.openxmlformats.org/drawingml/2006/main">
            <a:pPr>
              <a:buNone/>
              <a:defRPr sz="1065">
                <a:solidFill>
                  <a:srgbClr val="15232B"/>
                </a:solidFill>
              </a:defRPr>
            </a:pPr>
            <a:r>
              <a:rPr sz="1065">
                <a:solidFill>
                  <a:srgbClr val="15232B"/>
                </a:solidFill>
              </a:rPr>
              <a:t>• Eskalationsweg bei Ablehnung</a:t>
            </a:r>
          </a:p>
        </p:txBody>
      </p:sp>
    </p:spTree>
    <p:extLst>
      <p:ext uri="{BB962C8B-B14F-4D97-AF65-F5344CB8AC3E}">
        <p14:creationId xmlns:p14="http://schemas.microsoft.com/office/powerpoint/2010/main" val="43637646"/>
      </p:ext>
    </p:extLst>
  </p:cSld>
</p:sld>
</file>

<file path=ppt/slides/slide368.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Zum Nachlesen · Termin 12: Übergaben, Rettungsdienst, Systemdruck</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LITERATUR &amp; SICHTBARE QUELLEN</a:t>
            </a:r>
            <a:endParaRPr/>
          </a:p>
        </p:txBody>
      </p:sp>
      <p:sp>
        <p:nvSpPr>
          <p:cNvPr id="4" name="">
            <a:extLst xmlns:a="http://schemas.openxmlformats.org/drawingml/2006/main">
              <a:ext uri="{FF2B5EF4-FFF2-40B4-BE49-F238E27FC236}">
                <a16:creationId xmlns:a16="http://schemas.microsoft.com/office/drawing/2014/main" id="{04F88387-D457-4467-917D-965CD91C5C0D}"/>
              </a:ext>
            </a:extLst>
          </p:cNvPr>
          <p:cNvSpPr>
            <a:spLocks xmlns:a="http://schemas.openxmlformats.org/drawingml/2006/main" noGrp="1"/>
          </p:cNvSpPr>
          <p:nvPr/>
        </p:nvSpPr>
        <p:spPr>
          <a:xfrm xmlns:a="http://schemas.openxmlformats.org/drawingml/2006/main">
            <a:off x="1809750" y="1943100"/>
            <a:ext cx="461010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5A447F2E-81E0-4F74-B69F-CB4D8B31DEE4}"/>
              </a:ext>
            </a:extLst>
          </p:cNvPr>
          <p:cNvSpPr>
            <a:spLocks xmlns:a="http://schemas.openxmlformats.org/drawingml/2006/main" noGrp="1"/>
          </p:cNvSpPr>
          <p:nvPr/>
        </p:nvSpPr>
        <p:spPr>
          <a:xfrm xmlns:a="http://schemas.openxmlformats.org/drawingml/2006/main">
            <a:off x="1809750" y="1943100"/>
            <a:ext cx="4610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Vertiefung</a:t>
            </a:r>
          </a:p>
        </p:txBody>
      </p:sp>
      <p:sp>
        <p:nvSpPr>
          <p:cNvPr id="6" name="">
            <a:extLst xmlns:a="http://schemas.openxmlformats.org/drawingml/2006/main">
              <a:ext uri="{FF2B5EF4-FFF2-40B4-BE49-F238E27FC236}">
                <a16:creationId xmlns:a16="http://schemas.microsoft.com/office/drawing/2014/main" id="{95271F91-146F-44FD-81DC-3FDD07C707C1}"/>
              </a:ext>
            </a:extLst>
          </p:cNvPr>
          <p:cNvSpPr>
            <a:spLocks xmlns:a="http://schemas.openxmlformats.org/drawingml/2006/main" noGrp="1"/>
          </p:cNvSpPr>
          <p:nvPr/>
        </p:nvSpPr>
        <p:spPr>
          <a:xfrm xmlns:a="http://schemas.openxmlformats.org/drawingml/2006/main">
            <a:off x="1809750" y="30289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7" name="">
            <a:extLst xmlns:a="http://schemas.openxmlformats.org/drawingml/2006/main">
              <a:ext uri="{FF2B5EF4-FFF2-40B4-BE49-F238E27FC236}">
                <a16:creationId xmlns:a16="http://schemas.microsoft.com/office/drawing/2014/main" id="{58853199-6787-440C-B5A3-BECFE5FDC4BD}"/>
              </a:ext>
            </a:extLst>
          </p:cNvPr>
          <p:cNvSpPr>
            <a:spLocks xmlns:a="http://schemas.openxmlformats.org/drawingml/2006/main" noGrp="1"/>
          </p:cNvSpPr>
          <p:nvPr/>
        </p:nvSpPr>
        <p:spPr>
          <a:xfrm xmlns:a="http://schemas.openxmlformats.org/drawingml/2006/main">
            <a:off x="1809750" y="24765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9BAB"/>
                </a:solidFill>
              </a:defRPr>
            </a:pPr>
            <a:r>
              <a:rPr sz="960" b="1">
                <a:solidFill>
                  <a:srgbClr val="009BAB"/>
                </a:solidFill>
              </a:rPr>
              <a:t>Übergabe</a:t>
            </a:r>
          </a:p>
        </p:txBody>
      </p:sp>
      <p:sp>
        <p:nvSpPr>
          <p:cNvPr id="8" name="">
            <a:extLst xmlns:a="http://schemas.openxmlformats.org/drawingml/2006/main">
              <a:ext uri="{FF2B5EF4-FFF2-40B4-BE49-F238E27FC236}">
                <a16:creationId xmlns:a16="http://schemas.microsoft.com/office/drawing/2014/main" id="{06AF642A-5427-477D-87DB-2EE547903057}"/>
              </a:ext>
            </a:extLst>
          </p:cNvPr>
          <p:cNvSpPr>
            <a:spLocks xmlns:a="http://schemas.openxmlformats.org/drawingml/2006/main" noGrp="1"/>
          </p:cNvSpPr>
          <p:nvPr/>
        </p:nvSpPr>
        <p:spPr>
          <a:xfrm xmlns:a="http://schemas.openxmlformats.org/drawingml/2006/main">
            <a:off x="2952750" y="24765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Starmer et al., NEJM 2014, doi:10.1056/NEJMsa1405556.</a:t>
            </a:r>
          </a:p>
        </p:txBody>
      </p:sp>
      <p:sp>
        <p:nvSpPr>
          <p:cNvPr id="9" name="">
            <a:extLst xmlns:a="http://schemas.openxmlformats.org/drawingml/2006/main">
              <a:ext uri="{FF2B5EF4-FFF2-40B4-BE49-F238E27FC236}">
                <a16:creationId xmlns:a16="http://schemas.microsoft.com/office/drawing/2014/main" id="{07A3AD5A-921E-4D82-8B01-5F5A3AB59B0B}"/>
              </a:ext>
            </a:extLst>
          </p:cNvPr>
          <p:cNvSpPr>
            <a:spLocks xmlns:a="http://schemas.openxmlformats.org/drawingml/2006/main" noGrp="1"/>
          </p:cNvSpPr>
          <p:nvPr/>
        </p:nvSpPr>
        <p:spPr>
          <a:xfrm xmlns:a="http://schemas.openxmlformats.org/drawingml/2006/main">
            <a:off x="1809750" y="36385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10" name="">
            <a:extLst xmlns:a="http://schemas.openxmlformats.org/drawingml/2006/main">
              <a:ext uri="{FF2B5EF4-FFF2-40B4-BE49-F238E27FC236}">
                <a16:creationId xmlns:a16="http://schemas.microsoft.com/office/drawing/2014/main" id="{36B779EE-4163-46D4-B182-2234F826109A}"/>
              </a:ext>
            </a:extLst>
          </p:cNvPr>
          <p:cNvSpPr>
            <a:spLocks xmlns:a="http://schemas.openxmlformats.org/drawingml/2006/main" noGrp="1"/>
          </p:cNvSpPr>
          <p:nvPr/>
        </p:nvSpPr>
        <p:spPr>
          <a:xfrm xmlns:a="http://schemas.openxmlformats.org/drawingml/2006/main">
            <a:off x="1809750" y="30861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9BAB"/>
                </a:solidFill>
              </a:defRPr>
            </a:pPr>
            <a:r>
              <a:rPr sz="960" b="1">
                <a:solidFill>
                  <a:srgbClr val="009BAB"/>
                </a:solidFill>
              </a:rPr>
              <a:t>Curriculum</a:t>
            </a:r>
          </a:p>
        </p:txBody>
      </p:sp>
      <p:sp>
        <p:nvSpPr>
          <p:cNvPr id="11" name="">
            <a:extLst xmlns:a="http://schemas.openxmlformats.org/drawingml/2006/main">
              <a:ext uri="{FF2B5EF4-FFF2-40B4-BE49-F238E27FC236}">
                <a16:creationId xmlns:a16="http://schemas.microsoft.com/office/drawing/2014/main" id="{481FDE90-EBD5-4BAA-805D-D3CF6753C743}"/>
              </a:ext>
            </a:extLst>
          </p:cNvPr>
          <p:cNvSpPr>
            <a:spLocks xmlns:a="http://schemas.openxmlformats.org/drawingml/2006/main" noGrp="1"/>
          </p:cNvSpPr>
          <p:nvPr/>
        </p:nvSpPr>
        <p:spPr>
          <a:xfrm xmlns:a="http://schemas.openxmlformats.org/drawingml/2006/main">
            <a:off x="2952750" y="30861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Starmer et al., Acad Med 2014, doi:10.1097/ACM.0000000000000264.</a:t>
            </a:r>
          </a:p>
        </p:txBody>
      </p:sp>
      <p:sp>
        <p:nvSpPr>
          <p:cNvPr id="12" name="">
            <a:extLst xmlns:a="http://schemas.openxmlformats.org/drawingml/2006/main">
              <a:ext uri="{FF2B5EF4-FFF2-40B4-BE49-F238E27FC236}">
                <a16:creationId xmlns:a16="http://schemas.microsoft.com/office/drawing/2014/main" id="{60A7BE3D-1DDB-4198-A423-FFF8204D3A31}"/>
              </a:ext>
            </a:extLst>
          </p:cNvPr>
          <p:cNvSpPr>
            <a:spLocks xmlns:a="http://schemas.openxmlformats.org/drawingml/2006/main" noGrp="1"/>
          </p:cNvSpPr>
          <p:nvPr/>
        </p:nvSpPr>
        <p:spPr>
          <a:xfrm xmlns:a="http://schemas.openxmlformats.org/drawingml/2006/main">
            <a:off x="1809750" y="42481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13" name="">
            <a:extLst xmlns:a="http://schemas.openxmlformats.org/drawingml/2006/main">
              <a:ext uri="{FF2B5EF4-FFF2-40B4-BE49-F238E27FC236}">
                <a16:creationId xmlns:a16="http://schemas.microsoft.com/office/drawing/2014/main" id="{1AAB9FD2-B3BD-4320-BBA5-3DC5EC450F8E}"/>
              </a:ext>
            </a:extLst>
          </p:cNvPr>
          <p:cNvSpPr>
            <a:spLocks xmlns:a="http://schemas.openxmlformats.org/drawingml/2006/main" noGrp="1"/>
          </p:cNvSpPr>
          <p:nvPr/>
        </p:nvSpPr>
        <p:spPr>
          <a:xfrm xmlns:a="http://schemas.openxmlformats.org/drawingml/2006/main">
            <a:off x="1809750" y="36957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9BAB"/>
                </a:solidFill>
              </a:defRPr>
            </a:pPr>
            <a:r>
              <a:rPr sz="960" b="1">
                <a:solidFill>
                  <a:srgbClr val="009BAB"/>
                </a:solidFill>
              </a:rPr>
              <a:t>Datenschutz</a:t>
            </a:r>
          </a:p>
        </p:txBody>
      </p:sp>
      <p:sp>
        <p:nvSpPr>
          <p:cNvPr id="14" name="">
            <a:extLst xmlns:a="http://schemas.openxmlformats.org/drawingml/2006/main">
              <a:ext uri="{FF2B5EF4-FFF2-40B4-BE49-F238E27FC236}">
                <a16:creationId xmlns:a16="http://schemas.microsoft.com/office/drawing/2014/main" id="{D2E7705D-6738-4538-9916-56E79B8A201D}"/>
              </a:ext>
            </a:extLst>
          </p:cNvPr>
          <p:cNvSpPr>
            <a:spLocks xmlns:a="http://schemas.openxmlformats.org/drawingml/2006/main" noGrp="1"/>
          </p:cNvSpPr>
          <p:nvPr/>
        </p:nvSpPr>
        <p:spPr>
          <a:xfrm xmlns:a="http://schemas.openxmlformats.org/drawingml/2006/main">
            <a:off x="2952750" y="36957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DSGVO-Kommentierung zu Art. 5 und Art. 9.</a:t>
            </a:r>
          </a:p>
        </p:txBody>
      </p:sp>
      <p:sp>
        <p:nvSpPr>
          <p:cNvPr id="15" name="">
            <a:extLst xmlns:a="http://schemas.openxmlformats.org/drawingml/2006/main">
              <a:ext uri="{FF2B5EF4-FFF2-40B4-BE49-F238E27FC236}">
                <a16:creationId xmlns:a16="http://schemas.microsoft.com/office/drawing/2014/main" id="{740013A5-F764-4570-8A80-34D7B36BD885}"/>
              </a:ext>
            </a:extLst>
          </p:cNvPr>
          <p:cNvSpPr>
            <a:spLocks xmlns:a="http://schemas.openxmlformats.org/drawingml/2006/main" noGrp="1"/>
          </p:cNvSpPr>
          <p:nvPr/>
        </p:nvSpPr>
        <p:spPr>
          <a:xfrm xmlns:a="http://schemas.openxmlformats.org/drawingml/2006/main">
            <a:off x="1809750" y="48577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16" name="">
            <a:extLst xmlns:a="http://schemas.openxmlformats.org/drawingml/2006/main">
              <a:ext uri="{FF2B5EF4-FFF2-40B4-BE49-F238E27FC236}">
                <a16:creationId xmlns:a16="http://schemas.microsoft.com/office/drawing/2014/main" id="{A29EE1EA-19C3-4F60-B62D-9B7660F3F971}"/>
              </a:ext>
            </a:extLst>
          </p:cNvPr>
          <p:cNvSpPr>
            <a:spLocks xmlns:a="http://schemas.openxmlformats.org/drawingml/2006/main" noGrp="1"/>
          </p:cNvSpPr>
          <p:nvPr/>
        </p:nvSpPr>
        <p:spPr>
          <a:xfrm xmlns:a="http://schemas.openxmlformats.org/drawingml/2006/main">
            <a:off x="1809750" y="43053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9BAB"/>
                </a:solidFill>
              </a:defRPr>
            </a:pPr>
            <a:r>
              <a:rPr sz="960" b="1">
                <a:solidFill>
                  <a:srgbClr val="009BAB"/>
                </a:solidFill>
              </a:rPr>
              <a:t>Sicherheit</a:t>
            </a:r>
          </a:p>
        </p:txBody>
      </p:sp>
      <p:sp>
        <p:nvSpPr>
          <p:cNvPr id="17" name="">
            <a:extLst xmlns:a="http://schemas.openxmlformats.org/drawingml/2006/main">
              <a:ext uri="{FF2B5EF4-FFF2-40B4-BE49-F238E27FC236}">
                <a16:creationId xmlns:a16="http://schemas.microsoft.com/office/drawing/2014/main" id="{5F8CB0F1-FE26-411B-934A-DA849F343E30}"/>
              </a:ext>
            </a:extLst>
          </p:cNvPr>
          <p:cNvSpPr>
            <a:spLocks xmlns:a="http://schemas.openxmlformats.org/drawingml/2006/main" noGrp="1"/>
          </p:cNvSpPr>
          <p:nvPr/>
        </p:nvSpPr>
        <p:spPr>
          <a:xfrm xmlns:a="http://schemas.openxmlformats.org/drawingml/2006/main">
            <a:off x="2952750" y="43053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CIRS, Just Culture und eskalationsfähige Arbeitslisten.</a:t>
            </a:r>
          </a:p>
        </p:txBody>
      </p:sp>
      <p:sp>
        <p:nvSpPr>
          <p:cNvPr id="18" name="">
            <a:extLst xmlns:a="http://schemas.openxmlformats.org/drawingml/2006/main">
              <a:ext uri="{FF2B5EF4-FFF2-40B4-BE49-F238E27FC236}">
                <a16:creationId xmlns:a16="http://schemas.microsoft.com/office/drawing/2014/main" id="{B518193C-D234-48E7-AB10-3E1B0DD19C5A}"/>
              </a:ext>
            </a:extLst>
          </p:cNvPr>
          <p:cNvSpPr>
            <a:spLocks xmlns:a="http://schemas.openxmlformats.org/drawingml/2006/main" noGrp="1"/>
          </p:cNvSpPr>
          <p:nvPr/>
        </p:nvSpPr>
        <p:spPr>
          <a:xfrm xmlns:a="http://schemas.openxmlformats.org/drawingml/2006/main">
            <a:off x="6724650" y="1943100"/>
            <a:ext cx="461010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9" name="">
            <a:extLst xmlns:a="http://schemas.openxmlformats.org/drawingml/2006/main">
              <a:ext uri="{FF2B5EF4-FFF2-40B4-BE49-F238E27FC236}">
                <a16:creationId xmlns:a16="http://schemas.microsoft.com/office/drawing/2014/main" id="{90929B23-2C93-4D55-A671-68108CEF69B7}"/>
              </a:ext>
            </a:extLst>
          </p:cNvPr>
          <p:cNvSpPr>
            <a:spLocks xmlns:a="http://schemas.openxmlformats.org/drawingml/2006/main" noGrp="1"/>
          </p:cNvSpPr>
          <p:nvPr/>
        </p:nvSpPr>
        <p:spPr>
          <a:xfrm xmlns:a="http://schemas.openxmlformats.org/drawingml/2006/main">
            <a:off x="6724650" y="1943100"/>
            <a:ext cx="4610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Primärquellen &amp; Rechtsprechung</a:t>
            </a:r>
          </a:p>
        </p:txBody>
      </p:sp>
      <p:sp>
        <p:nvSpPr>
          <p:cNvPr id="20" name="">
            <a:extLst xmlns:a="http://schemas.openxmlformats.org/drawingml/2006/main">
              <a:ext uri="{FF2B5EF4-FFF2-40B4-BE49-F238E27FC236}">
                <a16:creationId xmlns:a16="http://schemas.microsoft.com/office/drawing/2014/main" id="{1FDAC350-1235-4A74-8756-323FB22382DE}"/>
              </a:ext>
            </a:extLst>
          </p:cNvPr>
          <p:cNvSpPr>
            <a:spLocks xmlns:a="http://schemas.openxmlformats.org/drawingml/2006/main" noGrp="1"/>
          </p:cNvSpPr>
          <p:nvPr/>
        </p:nvSpPr>
        <p:spPr>
          <a:xfrm xmlns:a="http://schemas.openxmlformats.org/drawingml/2006/main">
            <a:off x="6724650" y="30289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21" name="">
            <a:extLst xmlns:a="http://schemas.openxmlformats.org/drawingml/2006/main">
              <a:ext uri="{FF2B5EF4-FFF2-40B4-BE49-F238E27FC236}">
                <a16:creationId xmlns:a16="http://schemas.microsoft.com/office/drawing/2014/main" id="{E0BF2B08-6815-4A13-9EDC-4B8CB7373B90}"/>
              </a:ext>
            </a:extLst>
          </p:cNvPr>
          <p:cNvSpPr>
            <a:spLocks xmlns:a="http://schemas.openxmlformats.org/drawingml/2006/main" noGrp="1"/>
          </p:cNvSpPr>
          <p:nvPr/>
        </p:nvSpPr>
        <p:spPr>
          <a:xfrm xmlns:a="http://schemas.openxmlformats.org/drawingml/2006/main">
            <a:off x="6724650" y="24765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3F6B"/>
                </a:solidFill>
              </a:defRPr>
            </a:pPr>
            <a:r>
              <a:rPr sz="960" b="1">
                <a:solidFill>
                  <a:srgbClr val="003F6B"/>
                </a:solidFill>
              </a:rPr>
              <a:t>EU-Recht</a:t>
            </a:r>
          </a:p>
        </p:txBody>
      </p:sp>
      <p:sp>
        <p:nvSpPr>
          <p:cNvPr id="22" name="">
            <a:extLst xmlns:a="http://schemas.openxmlformats.org/drawingml/2006/main">
              <a:ext uri="{FF2B5EF4-FFF2-40B4-BE49-F238E27FC236}">
                <a16:creationId xmlns:a16="http://schemas.microsoft.com/office/drawing/2014/main" id="{EC9CEE00-D5BB-482C-A1E2-633ABB7BC10C}"/>
              </a:ext>
            </a:extLst>
          </p:cNvPr>
          <p:cNvSpPr>
            <a:spLocks xmlns:a="http://schemas.openxmlformats.org/drawingml/2006/main" noGrp="1"/>
          </p:cNvSpPr>
          <p:nvPr/>
        </p:nvSpPr>
        <p:spPr>
          <a:xfrm xmlns:a="http://schemas.openxmlformats.org/drawingml/2006/main">
            <a:off x="7867650" y="24765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Art. 5 und 9 DSGVO · EUR-Lex 2016/679.</a:t>
            </a:r>
          </a:p>
        </p:txBody>
      </p:sp>
      <p:sp>
        <p:nvSpPr>
          <p:cNvPr id="23" name="">
            <a:extLst xmlns:a="http://schemas.openxmlformats.org/drawingml/2006/main">
              <a:ext uri="{FF2B5EF4-FFF2-40B4-BE49-F238E27FC236}">
                <a16:creationId xmlns:a16="http://schemas.microsoft.com/office/drawing/2014/main" id="{FF256DEE-947C-48E9-B9C6-4ADA1E452603}"/>
              </a:ext>
            </a:extLst>
          </p:cNvPr>
          <p:cNvSpPr>
            <a:spLocks xmlns:a="http://schemas.openxmlformats.org/drawingml/2006/main" noGrp="1"/>
          </p:cNvSpPr>
          <p:nvPr/>
        </p:nvSpPr>
        <p:spPr>
          <a:xfrm xmlns:a="http://schemas.openxmlformats.org/drawingml/2006/main">
            <a:off x="6724650" y="36385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24" name="">
            <a:extLst xmlns:a="http://schemas.openxmlformats.org/drawingml/2006/main">
              <a:ext uri="{FF2B5EF4-FFF2-40B4-BE49-F238E27FC236}">
                <a16:creationId xmlns:a16="http://schemas.microsoft.com/office/drawing/2014/main" id="{2A86BECA-A012-4866-813A-93E55E6CFE44}"/>
              </a:ext>
            </a:extLst>
          </p:cNvPr>
          <p:cNvSpPr>
            <a:spLocks xmlns:a="http://schemas.openxmlformats.org/drawingml/2006/main" noGrp="1"/>
          </p:cNvSpPr>
          <p:nvPr/>
        </p:nvSpPr>
        <p:spPr>
          <a:xfrm xmlns:a="http://schemas.openxmlformats.org/drawingml/2006/main">
            <a:off x="6724650" y="30861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3F6B"/>
                </a:solidFill>
              </a:defRPr>
            </a:pPr>
            <a:r>
              <a:rPr sz="960" b="1">
                <a:solidFill>
                  <a:srgbClr val="003F6B"/>
                </a:solidFill>
              </a:rPr>
              <a:t>StGB</a:t>
            </a:r>
          </a:p>
        </p:txBody>
      </p:sp>
      <p:sp>
        <p:nvSpPr>
          <p:cNvPr id="25" name="">
            <a:extLst xmlns:a="http://schemas.openxmlformats.org/drawingml/2006/main">
              <a:ext uri="{FF2B5EF4-FFF2-40B4-BE49-F238E27FC236}">
                <a16:creationId xmlns:a16="http://schemas.microsoft.com/office/drawing/2014/main" id="{6663045A-75F4-4CC3-A7CE-E50F77324A67}"/>
              </a:ext>
            </a:extLst>
          </p:cNvPr>
          <p:cNvSpPr>
            <a:spLocks xmlns:a="http://schemas.openxmlformats.org/drawingml/2006/main" noGrp="1"/>
          </p:cNvSpPr>
          <p:nvPr/>
        </p:nvSpPr>
        <p:spPr>
          <a:xfrm xmlns:a="http://schemas.openxmlformats.org/drawingml/2006/main">
            <a:off x="7867650" y="30861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 203 StGB · ärztliche Schweigepflicht.</a:t>
            </a:r>
          </a:p>
        </p:txBody>
      </p:sp>
      <p:sp>
        <p:nvSpPr>
          <p:cNvPr id="26" name="">
            <a:extLst xmlns:a="http://schemas.openxmlformats.org/drawingml/2006/main">
              <a:ext uri="{FF2B5EF4-FFF2-40B4-BE49-F238E27FC236}">
                <a16:creationId xmlns:a16="http://schemas.microsoft.com/office/drawing/2014/main" id="{7D3764CD-7785-4509-B9EF-ECA74823062E}"/>
              </a:ext>
            </a:extLst>
          </p:cNvPr>
          <p:cNvSpPr>
            <a:spLocks xmlns:a="http://schemas.openxmlformats.org/drawingml/2006/main" noGrp="1"/>
          </p:cNvSpPr>
          <p:nvPr/>
        </p:nvSpPr>
        <p:spPr>
          <a:xfrm xmlns:a="http://schemas.openxmlformats.org/drawingml/2006/main">
            <a:off x="6724650" y="42481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27" name="">
            <a:extLst xmlns:a="http://schemas.openxmlformats.org/drawingml/2006/main">
              <a:ext uri="{FF2B5EF4-FFF2-40B4-BE49-F238E27FC236}">
                <a16:creationId xmlns:a16="http://schemas.microsoft.com/office/drawing/2014/main" id="{468CEA02-4267-435C-8264-D5438EDDA980}"/>
              </a:ext>
            </a:extLst>
          </p:cNvPr>
          <p:cNvSpPr>
            <a:spLocks xmlns:a="http://schemas.openxmlformats.org/drawingml/2006/main" noGrp="1"/>
          </p:cNvSpPr>
          <p:nvPr/>
        </p:nvSpPr>
        <p:spPr>
          <a:xfrm xmlns:a="http://schemas.openxmlformats.org/drawingml/2006/main">
            <a:off x="6724650" y="36957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3F6B"/>
                </a:solidFill>
              </a:defRPr>
            </a:pPr>
            <a:r>
              <a:rPr sz="960" b="1">
                <a:solidFill>
                  <a:srgbClr val="003F6B"/>
                </a:solidFill>
              </a:rPr>
              <a:t>BGB</a:t>
            </a:r>
          </a:p>
        </p:txBody>
      </p:sp>
      <p:sp>
        <p:nvSpPr>
          <p:cNvPr id="28" name="">
            <a:extLst xmlns:a="http://schemas.openxmlformats.org/drawingml/2006/main">
              <a:ext uri="{FF2B5EF4-FFF2-40B4-BE49-F238E27FC236}">
                <a16:creationId xmlns:a16="http://schemas.microsoft.com/office/drawing/2014/main" id="{14C8800A-EA94-48B8-AC73-DD6263D19C9C}"/>
              </a:ext>
            </a:extLst>
          </p:cNvPr>
          <p:cNvSpPr>
            <a:spLocks xmlns:a="http://schemas.openxmlformats.org/drawingml/2006/main" noGrp="1"/>
          </p:cNvSpPr>
          <p:nvPr/>
        </p:nvSpPr>
        <p:spPr>
          <a:xfrm xmlns:a="http://schemas.openxmlformats.org/drawingml/2006/main">
            <a:off x="7867650" y="36957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 630f BGB · behandlungsrelevante Dokumentation.</a:t>
            </a:r>
          </a:p>
        </p:txBody>
      </p:sp>
      <p:sp>
        <p:nvSpPr>
          <p:cNvPr id="29" name="">
            <a:extLst xmlns:a="http://schemas.openxmlformats.org/drawingml/2006/main">
              <a:ext uri="{FF2B5EF4-FFF2-40B4-BE49-F238E27FC236}">
                <a16:creationId xmlns:a16="http://schemas.microsoft.com/office/drawing/2014/main" id="{E6DE3DCF-1DCB-4337-9C80-5D03647D9BA1}"/>
              </a:ext>
            </a:extLst>
          </p:cNvPr>
          <p:cNvSpPr>
            <a:spLocks xmlns:a="http://schemas.openxmlformats.org/drawingml/2006/main" noGrp="1"/>
          </p:cNvSpPr>
          <p:nvPr/>
        </p:nvSpPr>
        <p:spPr>
          <a:xfrm xmlns:a="http://schemas.openxmlformats.org/drawingml/2006/main">
            <a:off x="6724650" y="48577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30" name="">
            <a:extLst xmlns:a="http://schemas.openxmlformats.org/drawingml/2006/main">
              <a:ext uri="{FF2B5EF4-FFF2-40B4-BE49-F238E27FC236}">
                <a16:creationId xmlns:a16="http://schemas.microsoft.com/office/drawing/2014/main" id="{C90BE020-88B6-4501-BFBF-D4C254737A58}"/>
              </a:ext>
            </a:extLst>
          </p:cNvPr>
          <p:cNvSpPr>
            <a:spLocks xmlns:a="http://schemas.openxmlformats.org/drawingml/2006/main" noGrp="1"/>
          </p:cNvSpPr>
          <p:nvPr/>
        </p:nvSpPr>
        <p:spPr>
          <a:xfrm xmlns:a="http://schemas.openxmlformats.org/drawingml/2006/main">
            <a:off x="6724650" y="43053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3F6B"/>
                </a:solidFill>
              </a:defRPr>
            </a:pPr>
            <a:r>
              <a:rPr sz="960" b="1">
                <a:solidFill>
                  <a:srgbClr val="003F6B"/>
                </a:solidFill>
              </a:rPr>
              <a:t>Evidenz</a:t>
            </a:r>
          </a:p>
        </p:txBody>
      </p:sp>
      <p:sp>
        <p:nvSpPr>
          <p:cNvPr id="31" name="">
            <a:extLst xmlns:a="http://schemas.openxmlformats.org/drawingml/2006/main">
              <a:ext uri="{FF2B5EF4-FFF2-40B4-BE49-F238E27FC236}">
                <a16:creationId xmlns:a16="http://schemas.microsoft.com/office/drawing/2014/main" id="{0AB10B37-D90C-445C-8E7B-E84234E3CB08}"/>
              </a:ext>
            </a:extLst>
          </p:cNvPr>
          <p:cNvSpPr>
            <a:spLocks xmlns:a="http://schemas.openxmlformats.org/drawingml/2006/main" noGrp="1"/>
          </p:cNvSpPr>
          <p:nvPr/>
        </p:nvSpPr>
        <p:spPr>
          <a:xfrm xmlns:a="http://schemas.openxmlformats.org/drawingml/2006/main">
            <a:off x="7867650" y="43053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I-PASS: 23 % relative Fehlerreduktion im Multicenter-Projekt.</a:t>
            </a:r>
          </a:p>
        </p:txBody>
      </p:sp>
      <p:sp>
        <p:nvSpPr>
          <p:cNvPr id="32" name="">
            <a:extLst xmlns:a="http://schemas.openxmlformats.org/drawingml/2006/main">
              <a:ext uri="{FF2B5EF4-FFF2-40B4-BE49-F238E27FC236}">
                <a16:creationId xmlns:a16="http://schemas.microsoft.com/office/drawing/2014/main" id="{E06669B0-75C5-4DC5-AE00-E9C43EB0B068}"/>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20">
                <a:solidFill>
                  <a:srgbClr val="667680"/>
                </a:solidFill>
              </a:defRPr>
            </a:pPr>
            <a:r>
              <a:rPr sz="720">
                <a:solidFill>
                  <a:srgbClr val="667680"/>
                </a:solidFill>
              </a:rPr>
              <a:t>Alle Internetquellen Abruf/Stand: 20.08.2026. Gesetze: aktuelle Fassung jeweils vor Anwendung prüfen · https://www.rechtsprechung-im-internet.de</a:t>
            </a:r>
          </a:p>
        </p:txBody>
      </p:sp>
    </p:spTree>
    <p:extLst>
      <p:ext uri="{BB962C8B-B14F-4D97-AF65-F5344CB8AC3E}">
        <p14:creationId xmlns:p14="http://schemas.microsoft.com/office/powerpoint/2010/main" val="43637646"/>
      </p:ext>
    </p:extLst>
  </p:cSld>
</p:sld>
</file>

<file path=ppt/slides/slide369.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endParaRPr/>
          </a:p>
        </p:txBody>
      </p:sp>
      <p:sp>
        <p:nvSpPr>
          <p:cNvPr id="4" name="">
            <a:extLst xmlns:a="http://schemas.openxmlformats.org/drawingml/2006/main">
              <a:ext uri="{FF2B5EF4-FFF2-40B4-BE49-F238E27FC236}">
                <a16:creationId xmlns:a16="http://schemas.microsoft.com/office/drawing/2014/main" id="{28AADB41-8F81-42A8-BC88-D7C42E54608E}"/>
              </a:ext>
            </a:extLst>
          </p:cNvPr>
          <p:cNvSpPr>
            <a:spLocks xmlns:a="http://schemas.openxmlformats.org/drawingml/2006/main" noGrp="1"/>
          </p:cNvSpPr>
          <p:nvPr/>
        </p:nvSpPr>
        <p:spPr>
          <a:xfrm xmlns:a="http://schemas.openxmlformats.org/drawingml/2006/main">
            <a:off x="2571750" y="2038350"/>
            <a:ext cx="838200" cy="628650"/>
          </a:xfrm>
          <a:prstGeom xmlns:a="http://schemas.openxmlformats.org/drawingml/2006/main" prst="roundRect">
            <a:avLst>
              <a:gd name="adj" fmla="val 12121"/>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29E88361-3A08-4587-A5A8-6C89AC0A3B09}"/>
              </a:ext>
            </a:extLst>
          </p:cNvPr>
          <p:cNvSpPr>
            <a:spLocks xmlns:a="http://schemas.openxmlformats.org/drawingml/2006/main" noGrp="1"/>
          </p:cNvSpPr>
          <p:nvPr/>
        </p:nvSpPr>
        <p:spPr>
          <a:xfrm xmlns:a="http://schemas.openxmlformats.org/drawingml/2006/main">
            <a:off x="2571750" y="2038350"/>
            <a:ext cx="8382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FFFFFF"/>
                </a:solidFill>
              </a:defRPr>
            </a:pPr>
            <a:r>
              <a:rPr sz="2100" b="1">
                <a:solidFill>
                  <a:srgbClr val="FFFFFF"/>
                </a:solidFill>
              </a:rPr>
              <a:t>13</a:t>
            </a:r>
          </a:p>
        </p:txBody>
      </p:sp>
      <p:sp>
        <p:nvSpPr>
          <p:cNvPr id="6" name="">
            <a:extLst xmlns:a="http://schemas.openxmlformats.org/drawingml/2006/main">
              <a:ext uri="{FF2B5EF4-FFF2-40B4-BE49-F238E27FC236}">
                <a16:creationId xmlns:a16="http://schemas.microsoft.com/office/drawing/2014/main" id="{E8868865-42EA-4D57-93C7-7F379CD33EDB}"/>
              </a:ext>
            </a:extLst>
          </p:cNvPr>
          <p:cNvSpPr>
            <a:spLocks xmlns:a="http://schemas.openxmlformats.org/drawingml/2006/main" noGrp="1"/>
          </p:cNvSpPr>
          <p:nvPr/>
        </p:nvSpPr>
        <p:spPr>
          <a:xfrm xmlns:a="http://schemas.openxmlformats.org/drawingml/2006/main">
            <a:off x="3667125" y="2000250"/>
            <a:ext cx="8096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4400">
                <a:solidFill>
                  <a:srgbClr val="003F6B"/>
                </a:solidFill>
              </a:defRPr>
            </a:pPr>
            <a:r>
              <a:rPr sz="4400">
                <a:solidFill>
                  <a:srgbClr val="003F6B"/>
                </a:solidFill>
              </a:rPr>
              <a:t>Defensive Medizin</a:t>
            </a:r>
          </a:p>
        </p:txBody>
      </p:sp>
      <p:sp>
        <p:nvSpPr>
          <p:cNvPr id="7" name="">
            <a:extLst xmlns:a="http://schemas.openxmlformats.org/drawingml/2006/main">
              <a:ext uri="{FF2B5EF4-FFF2-40B4-BE49-F238E27FC236}">
                <a16:creationId xmlns:a16="http://schemas.microsoft.com/office/drawing/2014/main" id="{28DF0F0E-56A2-41F5-9A71-F5EF3C0B349B}"/>
              </a:ext>
            </a:extLst>
          </p:cNvPr>
          <p:cNvSpPr>
            <a:spLocks xmlns:a="http://schemas.openxmlformats.org/drawingml/2006/main" noGrp="1"/>
          </p:cNvSpPr>
          <p:nvPr/>
        </p:nvSpPr>
        <p:spPr>
          <a:xfrm xmlns:a="http://schemas.openxmlformats.org/drawingml/2006/main">
            <a:off x="3238500" y="3333750"/>
            <a:ext cx="8524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400">
                <a:solidFill>
                  <a:srgbClr val="003F6B"/>
                </a:solidFill>
              </a:defRPr>
            </a:pPr>
            <a:r>
              <a:rPr sz="2400">
                <a:solidFill>
                  <a:srgbClr val="003F6B"/>
                </a:solidFill>
              </a:rPr>
              <a:t>Termin: 20.01.2027 · 16:30–17:45 · V03 0-C001</a:t>
            </a:r>
          </a:p>
        </p:txBody>
      </p:sp>
      <p:sp>
        <p:nvSpPr>
          <p:cNvPr id="8" name="">
            <a:extLst xmlns:a="http://schemas.openxmlformats.org/drawingml/2006/main">
              <a:ext uri="{FF2B5EF4-FFF2-40B4-BE49-F238E27FC236}">
                <a16:creationId xmlns:a16="http://schemas.microsoft.com/office/drawing/2014/main" id="{905B87A3-2A43-41A3-BE8C-C896FE957BD0}"/>
              </a:ext>
            </a:extLst>
          </p:cNvPr>
          <p:cNvSpPr>
            <a:spLocks xmlns:a="http://schemas.openxmlformats.org/drawingml/2006/main" noGrp="1"/>
          </p:cNvSpPr>
          <p:nvPr/>
        </p:nvSpPr>
        <p:spPr>
          <a:xfrm xmlns:a="http://schemas.openxmlformats.org/drawingml/2006/main">
            <a:off x="3238500" y="3752850"/>
            <a:ext cx="8524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400">
                <a:solidFill>
                  <a:srgbClr val="003F6B"/>
                </a:solidFill>
              </a:defRPr>
            </a:pPr>
            <a:r>
              <a:rPr sz="2400">
                <a:solidFill>
                  <a:srgbClr val="003F6B"/>
                </a:solidFill>
              </a:rPr>
              <a:t>Sicher entscheiden, ohne nur für die Akte zu behandeln</a:t>
            </a:r>
          </a:p>
        </p:txBody>
      </p:sp>
      <p:sp>
        <p:nvSpPr>
          <p:cNvPr id="9" name="">
            <a:extLst xmlns:a="http://schemas.openxmlformats.org/drawingml/2006/main">
              <a:ext uri="{FF2B5EF4-FFF2-40B4-BE49-F238E27FC236}">
                <a16:creationId xmlns:a16="http://schemas.microsoft.com/office/drawing/2014/main" id="{51B3DE99-AE30-4EA3-AC9E-87545739E78E}"/>
              </a:ext>
            </a:extLst>
          </p:cNvPr>
          <p:cNvSpPr>
            <a:spLocks xmlns:a="http://schemas.openxmlformats.org/drawingml/2006/main" noGrp="1"/>
          </p:cNvSpPr>
          <p:nvPr/>
        </p:nvSpPr>
        <p:spPr>
          <a:xfrm xmlns:a="http://schemas.openxmlformats.org/drawingml/2006/main">
            <a:off x="3238500" y="4552950"/>
            <a:ext cx="8524875"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400">
                <a:solidFill>
                  <a:srgbClr val="003F6B"/>
                </a:solidFill>
              </a:defRPr>
            </a:pPr>
            <a:r>
              <a:rPr sz="2400">
                <a:solidFill>
                  <a:srgbClr val="003F6B"/>
                </a:solidFill>
              </a:rPr>
              <a:t>Mehr Diagnostik ist nicht automatisch mehr Rechtssicherheit.</a:t>
            </a:r>
          </a:p>
        </p:txBody>
      </p:sp>
    </p:spTree>
    <p:extLst>
      <p:ext uri="{BB962C8B-B14F-4D97-AF65-F5344CB8AC3E}">
        <p14:creationId xmlns:p14="http://schemas.microsoft.com/office/powerpoint/2010/main" val="43637646"/>
      </p:ext>
    </p:extLst>
  </p:cSld>
</p:sld>
</file>

<file path=ppt/slides/slide370.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Lernziele Termin 13: Defensive Medizin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CHECKLISTE · AM ENDE DES HEUTIGEN TERMINS KANN ICH …</a:t>
            </a:r>
            <a:endParaRPr/>
          </a:p>
        </p:txBody>
      </p:sp>
      <p:sp>
        <p:nvSpPr>
          <p:cNvPr id="4" name="">
            <a:extLst xmlns:a="http://schemas.openxmlformats.org/drawingml/2006/main">
              <a:ext uri="{FF2B5EF4-FFF2-40B4-BE49-F238E27FC236}">
                <a16:creationId xmlns:a16="http://schemas.microsoft.com/office/drawing/2014/main" id="{7032C3FA-0983-4621-818E-764804414E6C}"/>
              </a:ext>
            </a:extLst>
          </p:cNvPr>
          <p:cNvSpPr>
            <a:spLocks xmlns:a="http://schemas.openxmlformats.org/drawingml/2006/main" noGrp="1"/>
          </p:cNvSpPr>
          <p:nvPr/>
        </p:nvSpPr>
        <p:spPr>
          <a:xfrm xmlns:a="http://schemas.openxmlformats.org/drawingml/2006/main">
            <a:off x="1809750" y="198120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B2BB"/>
            </a:solidFill>
            <a:prstDash val="solid"/>
          </a:ln>
        </p:spPr>
      </p:sp>
      <p:sp>
        <p:nvSpPr>
          <p:cNvPr id="5" name="">
            <a:extLst xmlns:a="http://schemas.openxmlformats.org/drawingml/2006/main">
              <a:ext uri="{FF2B5EF4-FFF2-40B4-BE49-F238E27FC236}">
                <a16:creationId xmlns:a16="http://schemas.microsoft.com/office/drawing/2014/main" id="{DBA6996F-ECB7-41C1-BE28-68D955BC3E84}"/>
              </a:ext>
            </a:extLst>
          </p:cNvPr>
          <p:cNvSpPr>
            <a:spLocks xmlns:a="http://schemas.openxmlformats.org/drawingml/2006/main" noGrp="1"/>
          </p:cNvSpPr>
          <p:nvPr/>
        </p:nvSpPr>
        <p:spPr>
          <a:xfrm xmlns:a="http://schemas.openxmlformats.org/drawingml/2006/main">
            <a:off x="1943100" y="2124075"/>
            <a:ext cx="40005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937D99B8-4FBB-4D9A-9631-AB28824F959F}"/>
              </a:ext>
            </a:extLst>
          </p:cNvPr>
          <p:cNvSpPr>
            <a:spLocks xmlns:a="http://schemas.openxmlformats.org/drawingml/2006/main" noGrp="1"/>
          </p:cNvSpPr>
          <p:nvPr/>
        </p:nvSpPr>
        <p:spPr>
          <a:xfrm xmlns:a="http://schemas.openxmlformats.org/drawingml/2006/main">
            <a:off x="1943100" y="21050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7" name="">
            <a:extLst xmlns:a="http://schemas.openxmlformats.org/drawingml/2006/main">
              <a:ext uri="{FF2B5EF4-FFF2-40B4-BE49-F238E27FC236}">
                <a16:creationId xmlns:a16="http://schemas.microsoft.com/office/drawing/2014/main" id="{33EAD02D-3C8F-4960-9445-7C176128C166}"/>
              </a:ext>
            </a:extLst>
          </p:cNvPr>
          <p:cNvSpPr>
            <a:spLocks xmlns:a="http://schemas.openxmlformats.org/drawingml/2006/main" noGrp="1"/>
          </p:cNvSpPr>
          <p:nvPr/>
        </p:nvSpPr>
        <p:spPr>
          <a:xfrm xmlns:a="http://schemas.openxmlformats.org/drawingml/2006/main">
            <a:off x="2476500" y="207645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positive und negative defensive Medizin erkennen.</a:t>
            </a:r>
          </a:p>
        </p:txBody>
      </p:sp>
      <p:sp>
        <p:nvSpPr>
          <p:cNvPr id="8" name="">
            <a:extLst xmlns:a="http://schemas.openxmlformats.org/drawingml/2006/main">
              <a:ext uri="{FF2B5EF4-FFF2-40B4-BE49-F238E27FC236}">
                <a16:creationId xmlns:a16="http://schemas.microsoft.com/office/drawing/2014/main" id="{2C33B467-60AE-4F95-A06C-D3B1F67822E9}"/>
              </a:ext>
            </a:extLst>
          </p:cNvPr>
          <p:cNvSpPr>
            <a:spLocks xmlns:a="http://schemas.openxmlformats.org/drawingml/2006/main" noGrp="1"/>
          </p:cNvSpPr>
          <p:nvPr/>
        </p:nvSpPr>
        <p:spPr>
          <a:xfrm xmlns:a="http://schemas.openxmlformats.org/drawingml/2006/main">
            <a:off x="6696075" y="198120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3F6B"/>
            </a:solidFill>
            <a:prstDash val="solid"/>
          </a:ln>
        </p:spPr>
      </p:sp>
      <p:sp>
        <p:nvSpPr>
          <p:cNvPr id="9" name="">
            <a:extLst xmlns:a="http://schemas.openxmlformats.org/drawingml/2006/main">
              <a:ext uri="{FF2B5EF4-FFF2-40B4-BE49-F238E27FC236}">
                <a16:creationId xmlns:a16="http://schemas.microsoft.com/office/drawing/2014/main" id="{D5D8237A-9C01-4FFB-A728-D5FA27867667}"/>
              </a:ext>
            </a:extLst>
          </p:cNvPr>
          <p:cNvSpPr>
            <a:spLocks xmlns:a="http://schemas.openxmlformats.org/drawingml/2006/main" noGrp="1"/>
          </p:cNvSpPr>
          <p:nvPr/>
        </p:nvSpPr>
        <p:spPr>
          <a:xfrm xmlns:a="http://schemas.openxmlformats.org/drawingml/2006/main">
            <a:off x="6829425" y="2124075"/>
            <a:ext cx="4000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3E1468A3-2E8B-497D-9182-56858464F005}"/>
              </a:ext>
            </a:extLst>
          </p:cNvPr>
          <p:cNvSpPr>
            <a:spLocks xmlns:a="http://schemas.openxmlformats.org/drawingml/2006/main" noGrp="1"/>
          </p:cNvSpPr>
          <p:nvPr/>
        </p:nvSpPr>
        <p:spPr>
          <a:xfrm xmlns:a="http://schemas.openxmlformats.org/drawingml/2006/main">
            <a:off x="6829425" y="21050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11" name="">
            <a:extLst xmlns:a="http://schemas.openxmlformats.org/drawingml/2006/main">
              <a:ext uri="{FF2B5EF4-FFF2-40B4-BE49-F238E27FC236}">
                <a16:creationId xmlns:a16="http://schemas.microsoft.com/office/drawing/2014/main" id="{BCC0ECEE-7423-4DAD-9CA9-0FCE606498B5}"/>
              </a:ext>
            </a:extLst>
          </p:cNvPr>
          <p:cNvSpPr>
            <a:spLocks xmlns:a="http://schemas.openxmlformats.org/drawingml/2006/main" noGrp="1"/>
          </p:cNvSpPr>
          <p:nvPr/>
        </p:nvSpPr>
        <p:spPr>
          <a:xfrm xmlns:a="http://schemas.openxmlformats.org/drawingml/2006/main">
            <a:off x="7362825" y="207645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medizinische Indikation von juristischer Angst trennen.</a:t>
            </a:r>
          </a:p>
        </p:txBody>
      </p:sp>
      <p:sp>
        <p:nvSpPr>
          <p:cNvPr id="12" name="">
            <a:extLst xmlns:a="http://schemas.openxmlformats.org/drawingml/2006/main">
              <a:ext uri="{FF2B5EF4-FFF2-40B4-BE49-F238E27FC236}">
                <a16:creationId xmlns:a16="http://schemas.microsoft.com/office/drawing/2014/main" id="{4A8FB7EF-D585-4C89-A5EE-B2B9C1BB9CEB}"/>
              </a:ext>
            </a:extLst>
          </p:cNvPr>
          <p:cNvSpPr>
            <a:spLocks xmlns:a="http://schemas.openxmlformats.org/drawingml/2006/main" noGrp="1"/>
          </p:cNvSpPr>
          <p:nvPr/>
        </p:nvSpPr>
        <p:spPr>
          <a:xfrm xmlns:a="http://schemas.openxmlformats.org/drawingml/2006/main">
            <a:off x="1809750" y="316865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B2BB"/>
            </a:solidFill>
            <a:prstDash val="solid"/>
          </a:ln>
        </p:spPr>
      </p:sp>
      <p:sp>
        <p:nvSpPr>
          <p:cNvPr id="13" name="">
            <a:extLst xmlns:a="http://schemas.openxmlformats.org/drawingml/2006/main">
              <a:ext uri="{FF2B5EF4-FFF2-40B4-BE49-F238E27FC236}">
                <a16:creationId xmlns:a16="http://schemas.microsoft.com/office/drawing/2014/main" id="{58E55CE9-B378-461C-82A5-0940F6C78D1E}"/>
              </a:ext>
            </a:extLst>
          </p:cNvPr>
          <p:cNvSpPr>
            <a:spLocks xmlns:a="http://schemas.openxmlformats.org/drawingml/2006/main" noGrp="1"/>
          </p:cNvSpPr>
          <p:nvPr/>
        </p:nvSpPr>
        <p:spPr>
          <a:xfrm xmlns:a="http://schemas.openxmlformats.org/drawingml/2006/main">
            <a:off x="1943100" y="3311525"/>
            <a:ext cx="40005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13FCC613-A929-4021-9561-D3B8C15F297C}"/>
              </a:ext>
            </a:extLst>
          </p:cNvPr>
          <p:cNvSpPr>
            <a:spLocks xmlns:a="http://schemas.openxmlformats.org/drawingml/2006/main" noGrp="1"/>
          </p:cNvSpPr>
          <p:nvPr/>
        </p:nvSpPr>
        <p:spPr>
          <a:xfrm xmlns:a="http://schemas.openxmlformats.org/drawingml/2006/main">
            <a:off x="1943100" y="32924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15" name="">
            <a:extLst xmlns:a="http://schemas.openxmlformats.org/drawingml/2006/main">
              <a:ext uri="{FF2B5EF4-FFF2-40B4-BE49-F238E27FC236}">
                <a16:creationId xmlns:a16="http://schemas.microsoft.com/office/drawing/2014/main" id="{57527722-D36E-4B63-9D0D-00AC5D19AEDB}"/>
              </a:ext>
            </a:extLst>
          </p:cNvPr>
          <p:cNvSpPr>
            <a:spLocks xmlns:a="http://schemas.openxmlformats.org/drawingml/2006/main" noGrp="1"/>
          </p:cNvSpPr>
          <p:nvPr/>
        </p:nvSpPr>
        <p:spPr>
          <a:xfrm xmlns:a="http://schemas.openxmlformats.org/drawingml/2006/main">
            <a:off x="2476500" y="326390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Evidenz zu defensivem Verhalten kritisch interpretieren.</a:t>
            </a:r>
          </a:p>
        </p:txBody>
      </p:sp>
      <p:sp>
        <p:nvSpPr>
          <p:cNvPr id="16" name="">
            <a:extLst xmlns:a="http://schemas.openxmlformats.org/drawingml/2006/main">
              <a:ext uri="{FF2B5EF4-FFF2-40B4-BE49-F238E27FC236}">
                <a16:creationId xmlns:a16="http://schemas.microsoft.com/office/drawing/2014/main" id="{48827EEF-7D80-4723-81B8-150D309F4A63}"/>
              </a:ext>
            </a:extLst>
          </p:cNvPr>
          <p:cNvSpPr>
            <a:spLocks xmlns:a="http://schemas.openxmlformats.org/drawingml/2006/main" noGrp="1"/>
          </p:cNvSpPr>
          <p:nvPr/>
        </p:nvSpPr>
        <p:spPr>
          <a:xfrm xmlns:a="http://schemas.openxmlformats.org/drawingml/2006/main">
            <a:off x="6696075" y="316865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3F6B"/>
            </a:solidFill>
            <a:prstDash val="solid"/>
          </a:ln>
        </p:spPr>
      </p:sp>
      <p:sp>
        <p:nvSpPr>
          <p:cNvPr id="17" name="">
            <a:extLst xmlns:a="http://schemas.openxmlformats.org/drawingml/2006/main">
              <a:ext uri="{FF2B5EF4-FFF2-40B4-BE49-F238E27FC236}">
                <a16:creationId xmlns:a16="http://schemas.microsoft.com/office/drawing/2014/main" id="{33D977BD-759D-4069-8B73-789EE7FF29B8}"/>
              </a:ext>
            </a:extLst>
          </p:cNvPr>
          <p:cNvSpPr>
            <a:spLocks xmlns:a="http://schemas.openxmlformats.org/drawingml/2006/main" noGrp="1"/>
          </p:cNvSpPr>
          <p:nvPr/>
        </p:nvSpPr>
        <p:spPr>
          <a:xfrm xmlns:a="http://schemas.openxmlformats.org/drawingml/2006/main">
            <a:off x="6829425" y="3311525"/>
            <a:ext cx="4000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6A2F993C-BD82-456C-B7AB-9514109EE4B2}"/>
              </a:ext>
            </a:extLst>
          </p:cNvPr>
          <p:cNvSpPr>
            <a:spLocks xmlns:a="http://schemas.openxmlformats.org/drawingml/2006/main" noGrp="1"/>
          </p:cNvSpPr>
          <p:nvPr/>
        </p:nvSpPr>
        <p:spPr>
          <a:xfrm xmlns:a="http://schemas.openxmlformats.org/drawingml/2006/main">
            <a:off x="6829425" y="32924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19" name="">
            <a:extLst xmlns:a="http://schemas.openxmlformats.org/drawingml/2006/main">
              <a:ext uri="{FF2B5EF4-FFF2-40B4-BE49-F238E27FC236}">
                <a16:creationId xmlns:a16="http://schemas.microsoft.com/office/drawing/2014/main" id="{6C08F305-7D98-4883-B422-71DF813AB2CE}"/>
              </a:ext>
            </a:extLst>
          </p:cNvPr>
          <p:cNvSpPr>
            <a:spLocks xmlns:a="http://schemas.openxmlformats.org/drawingml/2006/main" noGrp="1"/>
          </p:cNvSpPr>
          <p:nvPr/>
        </p:nvSpPr>
        <p:spPr>
          <a:xfrm xmlns:a="http://schemas.openxmlformats.org/drawingml/2006/main">
            <a:off x="7362825" y="326390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Überdiagnostik, Unterversorgung und Patientenschäden benennen.</a:t>
            </a:r>
          </a:p>
        </p:txBody>
      </p:sp>
      <p:sp>
        <p:nvSpPr>
          <p:cNvPr id="20" name="">
            <a:extLst xmlns:a="http://schemas.openxmlformats.org/drawingml/2006/main">
              <a:ext uri="{FF2B5EF4-FFF2-40B4-BE49-F238E27FC236}">
                <a16:creationId xmlns:a16="http://schemas.microsoft.com/office/drawing/2014/main" id="{8CE7702C-4E69-4B32-A325-FC888D5035CD}"/>
              </a:ext>
            </a:extLst>
          </p:cNvPr>
          <p:cNvSpPr>
            <a:spLocks xmlns:a="http://schemas.openxmlformats.org/drawingml/2006/main" noGrp="1"/>
          </p:cNvSpPr>
          <p:nvPr/>
        </p:nvSpPr>
        <p:spPr>
          <a:xfrm xmlns:a="http://schemas.openxmlformats.org/drawingml/2006/main">
            <a:off x="1809750" y="435610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B2BB"/>
            </a:solidFill>
            <a:prstDash val="solid"/>
          </a:ln>
        </p:spPr>
      </p:sp>
      <p:sp>
        <p:nvSpPr>
          <p:cNvPr id="21" name="">
            <a:extLst xmlns:a="http://schemas.openxmlformats.org/drawingml/2006/main">
              <a:ext uri="{FF2B5EF4-FFF2-40B4-BE49-F238E27FC236}">
                <a16:creationId xmlns:a16="http://schemas.microsoft.com/office/drawing/2014/main" id="{BF70D239-35E3-4B9A-AAE8-5AACBF36356D}"/>
              </a:ext>
            </a:extLst>
          </p:cNvPr>
          <p:cNvSpPr>
            <a:spLocks xmlns:a="http://schemas.openxmlformats.org/drawingml/2006/main" noGrp="1"/>
          </p:cNvSpPr>
          <p:nvPr/>
        </p:nvSpPr>
        <p:spPr>
          <a:xfrm xmlns:a="http://schemas.openxmlformats.org/drawingml/2006/main">
            <a:off x="1943100" y="4498975"/>
            <a:ext cx="40005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2" name="">
            <a:extLst xmlns:a="http://schemas.openxmlformats.org/drawingml/2006/main">
              <a:ext uri="{FF2B5EF4-FFF2-40B4-BE49-F238E27FC236}">
                <a16:creationId xmlns:a16="http://schemas.microsoft.com/office/drawing/2014/main" id="{076F3E18-AA6B-4A2C-B5CF-DB593FC4CE41}"/>
              </a:ext>
            </a:extLst>
          </p:cNvPr>
          <p:cNvSpPr>
            <a:spLocks xmlns:a="http://schemas.openxmlformats.org/drawingml/2006/main" noGrp="1"/>
          </p:cNvSpPr>
          <p:nvPr/>
        </p:nvSpPr>
        <p:spPr>
          <a:xfrm xmlns:a="http://schemas.openxmlformats.org/drawingml/2006/main">
            <a:off x="1943100" y="44799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23" name="">
            <a:extLst xmlns:a="http://schemas.openxmlformats.org/drawingml/2006/main">
              <a:ext uri="{FF2B5EF4-FFF2-40B4-BE49-F238E27FC236}">
                <a16:creationId xmlns:a16="http://schemas.microsoft.com/office/drawing/2014/main" id="{6606FA58-2FD5-43AA-AAE9-8862E20EEBFE}"/>
              </a:ext>
            </a:extLst>
          </p:cNvPr>
          <p:cNvSpPr>
            <a:spLocks xmlns:a="http://schemas.openxmlformats.org/drawingml/2006/main" noGrp="1"/>
          </p:cNvSpPr>
          <p:nvPr/>
        </p:nvSpPr>
        <p:spPr>
          <a:xfrm xmlns:a="http://schemas.openxmlformats.org/drawingml/2006/main">
            <a:off x="2476500" y="445135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eine rechtlich tragfähige, patientenzentrierte Entscheidung begründen.</a:t>
            </a:r>
          </a:p>
        </p:txBody>
      </p:sp>
      <p:sp>
        <p:nvSpPr>
          <p:cNvPr id="24" name="">
            <a:extLst xmlns:a="http://schemas.openxmlformats.org/drawingml/2006/main">
              <a:ext uri="{FF2B5EF4-FFF2-40B4-BE49-F238E27FC236}">
                <a16:creationId xmlns:a16="http://schemas.microsoft.com/office/drawing/2014/main" id="{09EAF28D-45D4-45D4-838D-D71F0600799D}"/>
              </a:ext>
            </a:extLst>
          </p:cNvPr>
          <p:cNvSpPr>
            <a:spLocks xmlns:a="http://schemas.openxmlformats.org/drawingml/2006/main" noGrp="1"/>
          </p:cNvSpPr>
          <p:nvPr/>
        </p:nvSpPr>
        <p:spPr>
          <a:xfrm xmlns:a="http://schemas.openxmlformats.org/drawingml/2006/main">
            <a:off x="6696075" y="435610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3F6B"/>
            </a:solidFill>
            <a:prstDash val="solid"/>
          </a:ln>
        </p:spPr>
      </p:sp>
      <p:sp>
        <p:nvSpPr>
          <p:cNvPr id="25" name="">
            <a:extLst xmlns:a="http://schemas.openxmlformats.org/drawingml/2006/main">
              <a:ext uri="{FF2B5EF4-FFF2-40B4-BE49-F238E27FC236}">
                <a16:creationId xmlns:a16="http://schemas.microsoft.com/office/drawing/2014/main" id="{75DD9288-E038-498C-BEDF-5FCA015A482C}"/>
              </a:ext>
            </a:extLst>
          </p:cNvPr>
          <p:cNvSpPr>
            <a:spLocks xmlns:a="http://schemas.openxmlformats.org/drawingml/2006/main" noGrp="1"/>
          </p:cNvSpPr>
          <p:nvPr/>
        </p:nvSpPr>
        <p:spPr>
          <a:xfrm xmlns:a="http://schemas.openxmlformats.org/drawingml/2006/main">
            <a:off x="6829425" y="4498975"/>
            <a:ext cx="4000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26" name="">
            <a:extLst xmlns:a="http://schemas.openxmlformats.org/drawingml/2006/main">
              <a:ext uri="{FF2B5EF4-FFF2-40B4-BE49-F238E27FC236}">
                <a16:creationId xmlns:a16="http://schemas.microsoft.com/office/drawing/2014/main" id="{BFE86A4E-A88C-4AB0-9631-17593535B03D}"/>
              </a:ext>
            </a:extLst>
          </p:cNvPr>
          <p:cNvSpPr>
            <a:spLocks xmlns:a="http://schemas.openxmlformats.org/drawingml/2006/main" noGrp="1"/>
          </p:cNvSpPr>
          <p:nvPr/>
        </p:nvSpPr>
        <p:spPr>
          <a:xfrm xmlns:a="http://schemas.openxmlformats.org/drawingml/2006/main">
            <a:off x="6829425" y="44799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27" name="">
            <a:extLst xmlns:a="http://schemas.openxmlformats.org/drawingml/2006/main">
              <a:ext uri="{FF2B5EF4-FFF2-40B4-BE49-F238E27FC236}">
                <a16:creationId xmlns:a16="http://schemas.microsoft.com/office/drawing/2014/main" id="{76774389-4518-4053-AA0F-A0C1F5995890}"/>
              </a:ext>
            </a:extLst>
          </p:cNvPr>
          <p:cNvSpPr>
            <a:spLocks xmlns:a="http://schemas.openxmlformats.org/drawingml/2006/main" noGrp="1"/>
          </p:cNvSpPr>
          <p:nvPr/>
        </p:nvSpPr>
        <p:spPr>
          <a:xfrm xmlns:a="http://schemas.openxmlformats.org/drawingml/2006/main">
            <a:off x="7362825" y="445135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Unsicherheit transparent dokumentieren, ohne Scheinabsicherung.</a:t>
            </a:r>
          </a:p>
        </p:txBody>
      </p:sp>
      <p:sp>
        <p:nvSpPr>
          <p:cNvPr id="28" name="">
            <a:extLst xmlns:a="http://schemas.openxmlformats.org/drawingml/2006/main">
              <a:ext uri="{FF2B5EF4-FFF2-40B4-BE49-F238E27FC236}">
                <a16:creationId xmlns:a16="http://schemas.microsoft.com/office/drawing/2014/main" id="{07360025-AE74-4FCE-B582-4BAC0C46D63E}"/>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638">
                <a:solidFill>
                  <a:srgbClr val="667680"/>
                </a:solidFill>
              </a:defRPr>
            </a:pPr>
            <a:r>
              <a:rPr sz="638">
                <a:solidFill>
                  <a:srgbClr val="667680"/>
                </a:solidFill>
              </a:rPr>
              <a:t>Lernziele aus Seminarbeschreibung und Vorlesungsstruktur abgeleitet · https://elearning.uni-oldenburg.de/dispatch.php/course/details/index/64fffee6d869d134c6683909368deed9?cancel_login=1</a:t>
            </a:r>
          </a:p>
        </p:txBody>
      </p:sp>
    </p:spTree>
    <p:extLst>
      <p:ext uri="{BB962C8B-B14F-4D97-AF65-F5344CB8AC3E}">
        <p14:creationId xmlns:p14="http://schemas.microsoft.com/office/powerpoint/2010/main" val="43637646"/>
      </p:ext>
    </p:extLst>
  </p:cSld>
</p:sld>
</file>

<file path=ppt/slides/slide371.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Leitentscheidung · Leitlinie ist nicht automatisch medizinischer Standard</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ORIGINALENTSCHEIDUNG · TERMIN 13</a:t>
            </a:r>
            <a:endParaRPr/>
          </a:p>
        </p:txBody>
      </p:sp>
      <p:sp>
        <p:nvSpPr>
          <p:cNvPr id="4" name="">
            <a:extLst xmlns:a="http://schemas.openxmlformats.org/drawingml/2006/main">
              <a:ext uri="{FF2B5EF4-FFF2-40B4-BE49-F238E27FC236}">
                <a16:creationId xmlns:a16="http://schemas.microsoft.com/office/drawing/2014/main" id="{60F98D55-6026-4505-AE58-EF987AB1CABC}"/>
              </a:ext>
            </a:extLst>
          </p:cNvPr>
          <p:cNvSpPr>
            <a:spLocks xmlns:a="http://schemas.openxmlformats.org/drawingml/2006/main" noGrp="1"/>
          </p:cNvSpPr>
          <p:nvPr/>
        </p:nvSpPr>
        <p:spPr>
          <a:xfrm xmlns:a="http://schemas.openxmlformats.org/drawingml/2006/main">
            <a:off x="1809750" y="1943100"/>
            <a:ext cx="11239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A534191F-6B39-49EC-B720-CF758E3AD6A5}"/>
              </a:ext>
            </a:extLst>
          </p:cNvPr>
          <p:cNvSpPr>
            <a:spLocks xmlns:a="http://schemas.openxmlformats.org/drawingml/2006/main" noGrp="1"/>
          </p:cNvSpPr>
          <p:nvPr/>
        </p:nvSpPr>
        <p:spPr>
          <a:xfrm xmlns:a="http://schemas.openxmlformats.org/drawingml/2006/main">
            <a:off x="1809750" y="1943100"/>
            <a:ext cx="1123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38" b="1">
                <a:solidFill>
                  <a:srgbClr val="FFFFFF"/>
                </a:solidFill>
              </a:defRPr>
            </a:pPr>
            <a:r>
              <a:rPr sz="938" b="1">
                <a:solidFill>
                  <a:srgbClr val="FFFFFF"/>
                </a:solidFill>
              </a:rPr>
              <a:t>BGH</a:t>
            </a:r>
          </a:p>
        </p:txBody>
      </p:sp>
      <p:sp>
        <p:nvSpPr>
          <p:cNvPr id="6" name="">
            <a:extLst xmlns:a="http://schemas.openxmlformats.org/drawingml/2006/main">
              <a:ext uri="{FF2B5EF4-FFF2-40B4-BE49-F238E27FC236}">
                <a16:creationId xmlns:a16="http://schemas.microsoft.com/office/drawing/2014/main" id="{B47C596C-1CBB-4902-94A2-1FFC0D13FA3A}"/>
              </a:ext>
            </a:extLst>
          </p:cNvPr>
          <p:cNvSpPr>
            <a:spLocks xmlns:a="http://schemas.openxmlformats.org/drawingml/2006/main" noGrp="1"/>
          </p:cNvSpPr>
          <p:nvPr/>
        </p:nvSpPr>
        <p:spPr>
          <a:xfrm xmlns:a="http://schemas.openxmlformats.org/drawingml/2006/main">
            <a:off x="312420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15.04.2014 · VI ZR 382/12</a:t>
            </a:r>
          </a:p>
        </p:txBody>
      </p:sp>
      <p:sp>
        <p:nvSpPr>
          <p:cNvPr id="7" name="">
            <a:extLst xmlns:a="http://schemas.openxmlformats.org/drawingml/2006/main">
              <a:ext uri="{FF2B5EF4-FFF2-40B4-BE49-F238E27FC236}">
                <a16:creationId xmlns:a16="http://schemas.microsoft.com/office/drawing/2014/main" id="{C7757666-1A11-420B-BB9E-2E434CD11B96}"/>
              </a:ext>
            </a:extLst>
          </p:cNvPr>
          <p:cNvSpPr>
            <a:spLocks xmlns:a="http://schemas.openxmlformats.org/drawingml/2006/main" noGrp="1"/>
          </p:cNvSpPr>
          <p:nvPr/>
        </p:nvSpPr>
        <p:spPr>
          <a:xfrm xmlns:a="http://schemas.openxmlformats.org/drawingml/2006/main">
            <a:off x="733425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050">
                <a:solidFill>
                  <a:srgbClr val="667680"/>
                </a:solidFill>
              </a:defRPr>
            </a:pPr>
            <a:r>
              <a:rPr sz="1050">
                <a:solidFill>
                  <a:srgbClr val="667680"/>
                </a:solidFill>
              </a:rPr>
              <a:t>Defensive Medizin wird nicht durch Schlagworte vermieden</a:t>
            </a:r>
          </a:p>
        </p:txBody>
      </p:sp>
      <p:sp>
        <p:nvSpPr>
          <p:cNvPr id="8" name="">
            <a:extLst xmlns:a="http://schemas.openxmlformats.org/drawingml/2006/main">
              <a:ext uri="{FF2B5EF4-FFF2-40B4-BE49-F238E27FC236}">
                <a16:creationId xmlns:a16="http://schemas.microsoft.com/office/drawing/2014/main" id="{3DBB0AB2-1F29-4902-8C1D-98575F39CA20}"/>
              </a:ext>
            </a:extLst>
          </p:cNvPr>
          <p:cNvSpPr>
            <a:spLocks xmlns:a="http://schemas.openxmlformats.org/drawingml/2006/main" noGrp="1"/>
          </p:cNvSpPr>
          <p:nvPr/>
        </p:nvSpPr>
        <p:spPr>
          <a:xfrm xmlns:a="http://schemas.openxmlformats.org/drawingml/2006/main">
            <a:off x="1809750" y="2533650"/>
            <a:ext cx="1676400" cy="781050"/>
          </a:xfrm>
          <a:prstGeom xmlns:a="http://schemas.openxmlformats.org/drawingml/2006/main" prst="roundRect">
            <a:avLst>
              <a:gd name="adj" fmla="val 9756"/>
            </a:avLst>
          </a:prstGeom>
          <a:solidFill xmlns:a="http://schemas.openxmlformats.org/drawingml/2006/main">
            <a:srgbClr val="00B2BB"/>
          </a:solidFill>
          <a:ln xmlns:a="http://schemas.openxmlformats.org/drawingml/2006/main" w="0">
            <a:solidFill>
              <a:srgbClr val="00B2BB"/>
            </a:solidFill>
            <a:prstDash val="solid"/>
          </a:ln>
        </p:spPr>
      </p:sp>
      <p:sp>
        <p:nvSpPr>
          <p:cNvPr id="9" name="">
            <a:extLst xmlns:a="http://schemas.openxmlformats.org/drawingml/2006/main">
              <a:ext uri="{FF2B5EF4-FFF2-40B4-BE49-F238E27FC236}">
                <a16:creationId xmlns:a16="http://schemas.microsoft.com/office/drawing/2014/main" id="{29FE9446-0D02-42DC-B8FD-117927746D03}"/>
              </a:ext>
            </a:extLst>
          </p:cNvPr>
          <p:cNvSpPr>
            <a:spLocks xmlns:a="http://schemas.openxmlformats.org/drawingml/2006/main" noGrp="1"/>
          </p:cNvSpPr>
          <p:nvPr/>
        </p:nvSpPr>
        <p:spPr>
          <a:xfrm xmlns:a="http://schemas.openxmlformats.org/drawingml/2006/main">
            <a:off x="1924050" y="25336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Ausgangsfall</a:t>
            </a:r>
          </a:p>
        </p:txBody>
      </p:sp>
      <p:sp>
        <p:nvSpPr>
          <p:cNvPr id="10" name="">
            <a:extLst xmlns:a="http://schemas.openxmlformats.org/drawingml/2006/main">
              <a:ext uri="{FF2B5EF4-FFF2-40B4-BE49-F238E27FC236}">
                <a16:creationId xmlns:a16="http://schemas.microsoft.com/office/drawing/2014/main" id="{0626A568-16FC-4C47-81CE-1E10A8CEC933}"/>
              </a:ext>
            </a:extLst>
          </p:cNvPr>
          <p:cNvSpPr>
            <a:spLocks xmlns:a="http://schemas.openxmlformats.org/drawingml/2006/main" noGrp="1"/>
          </p:cNvSpPr>
          <p:nvPr/>
        </p:nvSpPr>
        <p:spPr>
          <a:xfrm xmlns:a="http://schemas.openxmlformats.org/drawingml/2006/main">
            <a:off x="3695700" y="25336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In einem geburtshilflichen Haftungsfall war zu klären, welche Bedeutung Leitlinien für die Bestimmung des medizinischen Standards und die gerichtliche Beweiswürdigung haben.</a:t>
            </a:r>
          </a:p>
        </p:txBody>
      </p:sp>
      <p:sp>
        <p:nvSpPr>
          <p:cNvPr id="11" name="">
            <a:extLst xmlns:a="http://schemas.openxmlformats.org/drawingml/2006/main">
              <a:ext uri="{FF2B5EF4-FFF2-40B4-BE49-F238E27FC236}">
                <a16:creationId xmlns:a16="http://schemas.microsoft.com/office/drawing/2014/main" id="{37D9A3ED-1C5E-46FA-B28B-11E7593981AE}"/>
              </a:ext>
            </a:extLst>
          </p:cNvPr>
          <p:cNvSpPr>
            <a:spLocks xmlns:a="http://schemas.openxmlformats.org/drawingml/2006/main" noGrp="1"/>
          </p:cNvSpPr>
          <p:nvPr/>
        </p:nvSpPr>
        <p:spPr>
          <a:xfrm xmlns:a="http://schemas.openxmlformats.org/drawingml/2006/main">
            <a:off x="1809750" y="3486150"/>
            <a:ext cx="1676400" cy="781050"/>
          </a:xfrm>
          <a:prstGeom xmlns:a="http://schemas.openxmlformats.org/drawingml/2006/main" prst="roundRect">
            <a:avLst>
              <a:gd name="adj" fmla="val 9756"/>
            </a:avLst>
          </a:prstGeom>
          <a:solidFill xmlns:a="http://schemas.openxmlformats.org/drawingml/2006/main">
            <a:srgbClr val="003F6B"/>
          </a:solidFill>
          <a:ln xmlns:a="http://schemas.openxmlformats.org/drawingml/2006/main" w="0">
            <a:solidFill>
              <a:srgbClr val="003F6B"/>
            </a:solidFill>
            <a:prstDash val="solid"/>
          </a:ln>
        </p:spPr>
      </p:sp>
      <p:sp>
        <p:nvSpPr>
          <p:cNvPr id="12" name="">
            <a:extLst xmlns:a="http://schemas.openxmlformats.org/drawingml/2006/main">
              <a:ext uri="{FF2B5EF4-FFF2-40B4-BE49-F238E27FC236}">
                <a16:creationId xmlns:a16="http://schemas.microsoft.com/office/drawing/2014/main" id="{82BC3A66-E210-4666-B3C8-5B8B6C184FC4}"/>
              </a:ext>
            </a:extLst>
          </p:cNvPr>
          <p:cNvSpPr>
            <a:spLocks xmlns:a="http://schemas.openxmlformats.org/drawingml/2006/main" noGrp="1"/>
          </p:cNvSpPr>
          <p:nvPr/>
        </p:nvSpPr>
        <p:spPr>
          <a:xfrm xmlns:a="http://schemas.openxmlformats.org/drawingml/2006/main">
            <a:off x="1924050" y="34861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Leitsatzkern</a:t>
            </a:r>
          </a:p>
        </p:txBody>
      </p:sp>
      <p:sp>
        <p:nvSpPr>
          <p:cNvPr id="13" name="">
            <a:extLst xmlns:a="http://schemas.openxmlformats.org/drawingml/2006/main">
              <a:ext uri="{FF2B5EF4-FFF2-40B4-BE49-F238E27FC236}">
                <a16:creationId xmlns:a16="http://schemas.microsoft.com/office/drawing/2014/main" id="{ED9DE44E-5827-4769-A989-BC8E76919F8A}"/>
              </a:ext>
            </a:extLst>
          </p:cNvPr>
          <p:cNvSpPr>
            <a:spLocks xmlns:a="http://schemas.openxmlformats.org/drawingml/2006/main" noGrp="1"/>
          </p:cNvSpPr>
          <p:nvPr/>
        </p:nvSpPr>
        <p:spPr>
          <a:xfrm xmlns:a="http://schemas.openxmlformats.org/drawingml/2006/main">
            <a:off x="3695700" y="34861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Leitsatzkern (paraphrasiert): Leitlinien können den Standard abbilden, ihm voraus- oder hinterherlaufen. Sie ersetzen nicht die sachverständige Prüfung des konkreten Behandlungszeitpunkts und Einzelfalls.</a:t>
            </a:r>
          </a:p>
        </p:txBody>
      </p:sp>
      <p:sp>
        <p:nvSpPr>
          <p:cNvPr id="14" name="">
            <a:extLst xmlns:a="http://schemas.openxmlformats.org/drawingml/2006/main">
              <a:ext uri="{FF2B5EF4-FFF2-40B4-BE49-F238E27FC236}">
                <a16:creationId xmlns:a16="http://schemas.microsoft.com/office/drawing/2014/main" id="{8D09E132-C27B-4B43-B3D7-9158C8DC24B5}"/>
              </a:ext>
            </a:extLst>
          </p:cNvPr>
          <p:cNvSpPr>
            <a:spLocks xmlns:a="http://schemas.openxmlformats.org/drawingml/2006/main" noGrp="1"/>
          </p:cNvSpPr>
          <p:nvPr/>
        </p:nvSpPr>
        <p:spPr>
          <a:xfrm xmlns:a="http://schemas.openxmlformats.org/drawingml/2006/main">
            <a:off x="1809750" y="4438650"/>
            <a:ext cx="1676400" cy="781050"/>
          </a:xfrm>
          <a:prstGeom xmlns:a="http://schemas.openxmlformats.org/drawingml/2006/main" prst="roundRect">
            <a:avLst>
              <a:gd name="adj" fmla="val 9756"/>
            </a:avLst>
          </a:prstGeom>
          <a:solidFill xmlns:a="http://schemas.openxmlformats.org/drawingml/2006/main">
            <a:srgbClr val="00B2BB"/>
          </a:solidFill>
          <a:ln xmlns:a="http://schemas.openxmlformats.org/drawingml/2006/main" w="0">
            <a:solidFill>
              <a:srgbClr val="00B2BB"/>
            </a:solidFill>
            <a:prstDash val="solid"/>
          </a:ln>
        </p:spPr>
      </p:sp>
      <p:sp>
        <p:nvSpPr>
          <p:cNvPr id="15" name="">
            <a:extLst xmlns:a="http://schemas.openxmlformats.org/drawingml/2006/main">
              <a:ext uri="{FF2B5EF4-FFF2-40B4-BE49-F238E27FC236}">
                <a16:creationId xmlns:a16="http://schemas.microsoft.com/office/drawing/2014/main" id="{4A7CFF80-B3B8-45C3-B9F9-5B61BBAE16E5}"/>
              </a:ext>
            </a:extLst>
          </p:cNvPr>
          <p:cNvSpPr>
            <a:spLocks xmlns:a="http://schemas.openxmlformats.org/drawingml/2006/main" noGrp="1"/>
          </p:cNvSpPr>
          <p:nvPr/>
        </p:nvSpPr>
        <p:spPr>
          <a:xfrm xmlns:a="http://schemas.openxmlformats.org/drawingml/2006/main">
            <a:off x="1924050" y="44386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Für die Praxis</a:t>
            </a:r>
          </a:p>
        </p:txBody>
      </p:sp>
      <p:sp>
        <p:nvSpPr>
          <p:cNvPr id="16" name="">
            <a:extLst xmlns:a="http://schemas.openxmlformats.org/drawingml/2006/main">
              <a:ext uri="{FF2B5EF4-FFF2-40B4-BE49-F238E27FC236}">
                <a16:creationId xmlns:a16="http://schemas.microsoft.com/office/drawing/2014/main" id="{5FCE940A-8CE4-4D60-9C2B-E2550CF07BC3}"/>
              </a:ext>
            </a:extLst>
          </p:cNvPr>
          <p:cNvSpPr>
            <a:spLocks xmlns:a="http://schemas.openxmlformats.org/drawingml/2006/main" noGrp="1"/>
          </p:cNvSpPr>
          <p:nvPr/>
        </p:nvSpPr>
        <p:spPr>
          <a:xfrm xmlns:a="http://schemas.openxmlformats.org/drawingml/2006/main">
            <a:off x="3695700" y="44386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Nicht nur ‚leitliniengerecht‘ dokumentieren, sondern Indikation, Patientenpräferenz, Nutzen-Risiko-Abwägung und Gründe einer Anwendung oder Abweichung.</a:t>
            </a:r>
          </a:p>
        </p:txBody>
      </p:sp>
      <p:sp>
        <p:nvSpPr>
          <p:cNvPr id="17" name="">
            <a:extLst xmlns:a="http://schemas.openxmlformats.org/drawingml/2006/main">
              <a:ext uri="{FF2B5EF4-FFF2-40B4-BE49-F238E27FC236}">
                <a16:creationId xmlns:a16="http://schemas.microsoft.com/office/drawing/2014/main" id="{1A4C6A4A-B0AC-4FA3-8C35-FAAC4140D41D}"/>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585">
                <a:solidFill>
                  <a:srgbClr val="667680"/>
                </a:solidFill>
              </a:defRPr>
            </a:pPr>
            <a:r>
              <a:rPr sz="585">
                <a:solidFill>
                  <a:srgbClr val="667680"/>
                </a:solidFill>
              </a:rPr>
              <a:t>BGH, Urt. v. 15.04.2014 – VI ZR 382/12 · https://juris.bundesgerichtshof.de/cgi-bin/rechtsprechung/document.py?Art=en&amp;Blank=1.pdf&amp;Datum=2014-4&amp;Gericht=bgh&amp;Seite=5&amp;Sort=1026&amp;anz=263&amp;nr=67688&amp;pos=177 · Evidenz: https://doi.org/10.1001/jama.293.21.2609</a:t>
            </a:r>
          </a:p>
        </p:txBody>
      </p:sp>
    </p:spTree>
    <p:extLst>
      <p:ext uri="{BB962C8B-B14F-4D97-AF65-F5344CB8AC3E}">
        <p14:creationId xmlns:p14="http://schemas.microsoft.com/office/powerpoint/2010/main" val="43637646"/>
      </p:ext>
    </p:extLst>
  </p:cSld>
</p:sld>
</file>

<file path=ppt/slides/slide372.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Defensive Medizin in Deutschland ist messbar</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WISSENSCHAFTLICHE EVIDENZ</a:t>
            </a:r>
            <a:endParaRPr/>
          </a:p>
        </p:txBody>
      </p:sp>
      <p:sp>
        <p:nvSpPr>
          <p:cNvPr id="4" name="">
            <a:extLst xmlns:a="http://schemas.openxmlformats.org/drawingml/2006/main">
              <a:ext uri="{FF2B5EF4-FFF2-40B4-BE49-F238E27FC236}">
                <a16:creationId xmlns:a16="http://schemas.microsoft.com/office/drawing/2014/main" id="{3D1987C0-93ED-4DCE-AADD-C16703FA9C94}"/>
              </a:ext>
            </a:extLst>
          </p:cNvPr>
          <p:cNvSpPr>
            <a:spLocks xmlns:a="http://schemas.openxmlformats.org/drawingml/2006/main" noGrp="1"/>
          </p:cNvSpPr>
          <p:nvPr/>
        </p:nvSpPr>
        <p:spPr>
          <a:xfrm xmlns:a="http://schemas.openxmlformats.org/drawingml/2006/main">
            <a:off x="1809750" y="1962150"/>
            <a:ext cx="2381250" cy="1428750"/>
          </a:xfrm>
          <a:prstGeom xmlns:a="http://schemas.openxmlformats.org/drawingml/2006/main" prst="roundRect">
            <a:avLst>
              <a:gd name="adj" fmla="val 5333"/>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1A966601-0771-421A-BA6F-7B3775CB6AF4}"/>
              </a:ext>
            </a:extLst>
          </p:cNvPr>
          <p:cNvSpPr>
            <a:spLocks xmlns:a="http://schemas.openxmlformats.org/drawingml/2006/main" noGrp="1"/>
          </p:cNvSpPr>
          <p:nvPr/>
        </p:nvSpPr>
        <p:spPr>
          <a:xfrm xmlns:a="http://schemas.openxmlformats.org/drawingml/2006/main">
            <a:off x="1981200" y="2095500"/>
            <a:ext cx="20383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FFFFFF"/>
                </a:solidFill>
              </a:defRPr>
            </a:pPr>
            <a:r>
              <a:rPr sz="2550" b="1">
                <a:solidFill>
                  <a:srgbClr val="FFFFFF"/>
                </a:solidFill>
              </a:rPr>
              <a:t>27 %</a:t>
            </a:r>
          </a:p>
        </p:txBody>
      </p:sp>
      <p:sp>
        <p:nvSpPr>
          <p:cNvPr id="6" name="">
            <a:extLst xmlns:a="http://schemas.openxmlformats.org/drawingml/2006/main">
              <a:ext uri="{FF2B5EF4-FFF2-40B4-BE49-F238E27FC236}">
                <a16:creationId xmlns:a16="http://schemas.microsoft.com/office/drawing/2014/main" id="{541FA278-435C-4920-9E29-427AFF2D92E7}"/>
              </a:ext>
            </a:extLst>
          </p:cNvPr>
          <p:cNvSpPr>
            <a:spLocks xmlns:a="http://schemas.openxmlformats.org/drawingml/2006/main" noGrp="1"/>
          </p:cNvSpPr>
          <p:nvPr/>
        </p:nvSpPr>
        <p:spPr>
          <a:xfrm xmlns:a="http://schemas.openxmlformats.org/drawingml/2006/main">
            <a:off x="1981200" y="2762250"/>
            <a:ext cx="2038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88">
                <a:solidFill>
                  <a:srgbClr val="FFFFFF"/>
                </a:solidFill>
              </a:defRPr>
            </a:pPr>
            <a:r>
              <a:rPr sz="1088">
                <a:solidFill>
                  <a:srgbClr val="FFFFFF"/>
                </a:solidFill>
              </a:rPr>
              <a:t>starke/sehr starke Rechtsangst</a:t>
            </a:r>
          </a:p>
        </p:txBody>
      </p:sp>
      <p:sp>
        <p:nvSpPr>
          <p:cNvPr id="7" name="">
            <a:extLst xmlns:a="http://schemas.openxmlformats.org/drawingml/2006/main">
              <a:ext uri="{FF2B5EF4-FFF2-40B4-BE49-F238E27FC236}">
                <a16:creationId xmlns:a16="http://schemas.microsoft.com/office/drawing/2014/main" id="{E0E2F234-8A69-4CD1-98C2-D56E542BFF3A}"/>
              </a:ext>
            </a:extLst>
          </p:cNvPr>
          <p:cNvSpPr>
            <a:spLocks xmlns:a="http://schemas.openxmlformats.org/drawingml/2006/main" noGrp="1"/>
          </p:cNvSpPr>
          <p:nvPr/>
        </p:nvSpPr>
        <p:spPr>
          <a:xfrm xmlns:a="http://schemas.openxmlformats.org/drawingml/2006/main">
            <a:off x="4495800" y="1981200"/>
            <a:ext cx="683895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500" b="1">
                <a:solidFill>
                  <a:srgbClr val="003F6B"/>
                </a:solidFill>
              </a:defRPr>
            </a:pPr>
            <a:r>
              <a:rPr sz="1500" b="1">
                <a:solidFill>
                  <a:srgbClr val="003F6B"/>
                </a:solidFill>
              </a:rPr>
              <a:t>In einer deutschen Befragung von 413 Hausärztinnen und Hausärzten berichteten 50 % mindestens wöchentlich unnötige Labortests; 40 % mindestens monatlich radiologische Überweisungen ohne medizinische Indikation. Rechtlicher Selbstschutz war häufiges Motiv.</a:t>
            </a:r>
          </a:p>
        </p:txBody>
      </p:sp>
      <p:sp>
        <p:nvSpPr>
          <p:cNvPr id="8" name="">
            <a:extLst xmlns:a="http://schemas.openxmlformats.org/drawingml/2006/main">
              <a:ext uri="{FF2B5EF4-FFF2-40B4-BE49-F238E27FC236}">
                <a16:creationId xmlns:a16="http://schemas.microsoft.com/office/drawing/2014/main" id="{06493647-9149-4EFA-86FA-6748A5F9D119}"/>
              </a:ext>
            </a:extLst>
          </p:cNvPr>
          <p:cNvSpPr>
            <a:spLocks xmlns:a="http://schemas.openxmlformats.org/drawingml/2006/main" noGrp="1"/>
          </p:cNvSpPr>
          <p:nvPr/>
        </p:nvSpPr>
        <p:spPr>
          <a:xfrm xmlns:a="http://schemas.openxmlformats.org/drawingml/2006/main">
            <a:off x="1809750" y="3638550"/>
            <a:ext cx="133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40" b="1">
                <a:solidFill>
                  <a:srgbClr val="003F6B"/>
                </a:solidFill>
              </a:defRPr>
            </a:pPr>
            <a:r>
              <a:rPr sz="1140" b="1">
                <a:solidFill>
                  <a:srgbClr val="003F6B"/>
                </a:solidFill>
              </a:rPr>
              <a:t>Studientyp</a:t>
            </a:r>
          </a:p>
        </p:txBody>
      </p:sp>
      <p:sp>
        <p:nvSpPr>
          <p:cNvPr id="9" name="">
            <a:extLst xmlns:a="http://schemas.openxmlformats.org/drawingml/2006/main">
              <a:ext uri="{FF2B5EF4-FFF2-40B4-BE49-F238E27FC236}">
                <a16:creationId xmlns:a16="http://schemas.microsoft.com/office/drawing/2014/main" id="{F89DBF39-E486-40BF-ADEF-B7717942A14B}"/>
              </a:ext>
            </a:extLst>
          </p:cNvPr>
          <p:cNvSpPr>
            <a:spLocks xmlns:a="http://schemas.openxmlformats.org/drawingml/2006/main" noGrp="1"/>
          </p:cNvSpPr>
          <p:nvPr/>
        </p:nvSpPr>
        <p:spPr>
          <a:xfrm xmlns:a="http://schemas.openxmlformats.org/drawingml/2006/main">
            <a:off x="3276600" y="3638550"/>
            <a:ext cx="805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Querschnittsbefragung deutscher Hausärztinnen und Hausärzte, Erhebung April–Mai 2022.</a:t>
            </a:r>
          </a:p>
        </p:txBody>
      </p:sp>
      <p:sp>
        <p:nvSpPr>
          <p:cNvPr id="10" name="">
            <a:extLst xmlns:a="http://schemas.openxmlformats.org/drawingml/2006/main">
              <a:ext uri="{FF2B5EF4-FFF2-40B4-BE49-F238E27FC236}">
                <a16:creationId xmlns:a16="http://schemas.microsoft.com/office/drawing/2014/main" id="{00D6C5D3-F92C-470F-AC05-F4963AE6B333}"/>
              </a:ext>
            </a:extLst>
          </p:cNvPr>
          <p:cNvSpPr>
            <a:spLocks xmlns:a="http://schemas.openxmlformats.org/drawingml/2006/main" noGrp="1"/>
          </p:cNvSpPr>
          <p:nvPr/>
        </p:nvSpPr>
        <p:spPr>
          <a:xfrm xmlns:a="http://schemas.openxmlformats.org/drawingml/2006/main">
            <a:off x="1809750" y="4257675"/>
            <a:ext cx="133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40" b="1">
                <a:solidFill>
                  <a:srgbClr val="003F6B"/>
                </a:solidFill>
              </a:defRPr>
            </a:pPr>
            <a:r>
              <a:rPr sz="1140" b="1">
                <a:solidFill>
                  <a:srgbClr val="003F6B"/>
                </a:solidFill>
              </a:rPr>
              <a:t>Grenze</a:t>
            </a:r>
          </a:p>
        </p:txBody>
      </p:sp>
      <p:sp>
        <p:nvSpPr>
          <p:cNvPr id="11" name="">
            <a:extLst xmlns:a="http://schemas.openxmlformats.org/drawingml/2006/main">
              <a:ext uri="{FF2B5EF4-FFF2-40B4-BE49-F238E27FC236}">
                <a16:creationId xmlns:a16="http://schemas.microsoft.com/office/drawing/2014/main" id="{08098956-3BE5-4C28-96B3-C11C53F86A39}"/>
              </a:ext>
            </a:extLst>
          </p:cNvPr>
          <p:cNvSpPr>
            <a:spLocks xmlns:a="http://schemas.openxmlformats.org/drawingml/2006/main" noGrp="1"/>
          </p:cNvSpPr>
          <p:nvPr/>
        </p:nvSpPr>
        <p:spPr>
          <a:xfrm xmlns:a="http://schemas.openxmlformats.org/drawingml/2006/main">
            <a:off x="3276600" y="4257675"/>
            <a:ext cx="805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Selbstbericht, selektive Teilnahme und keine direkte Messung tatsächlicher Indikationsqualität oder Patientenschäden.</a:t>
            </a:r>
          </a:p>
        </p:txBody>
      </p:sp>
      <p:sp>
        <p:nvSpPr>
          <p:cNvPr id="12" name="">
            <a:extLst xmlns:a="http://schemas.openxmlformats.org/drawingml/2006/main">
              <a:ext uri="{FF2B5EF4-FFF2-40B4-BE49-F238E27FC236}">
                <a16:creationId xmlns:a16="http://schemas.microsoft.com/office/drawing/2014/main" id="{8AF3E9BB-9F25-453B-97F3-7E5C266AC242}"/>
              </a:ext>
            </a:extLst>
          </p:cNvPr>
          <p:cNvSpPr>
            <a:spLocks xmlns:a="http://schemas.openxmlformats.org/drawingml/2006/main" noGrp="1"/>
          </p:cNvSpPr>
          <p:nvPr/>
        </p:nvSpPr>
        <p:spPr>
          <a:xfrm xmlns:a="http://schemas.openxmlformats.org/drawingml/2006/main">
            <a:off x="1809750" y="4876800"/>
            <a:ext cx="133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40" b="1">
                <a:solidFill>
                  <a:srgbClr val="003F6B"/>
                </a:solidFill>
              </a:defRPr>
            </a:pPr>
            <a:r>
              <a:rPr sz="1140" b="1">
                <a:solidFill>
                  <a:srgbClr val="003F6B"/>
                </a:solidFill>
              </a:rPr>
              <a:t>Konsequenz</a:t>
            </a:r>
          </a:p>
        </p:txBody>
      </p:sp>
      <p:sp>
        <p:nvSpPr>
          <p:cNvPr id="13" name="">
            <a:extLst xmlns:a="http://schemas.openxmlformats.org/drawingml/2006/main">
              <a:ext uri="{FF2B5EF4-FFF2-40B4-BE49-F238E27FC236}">
                <a16:creationId xmlns:a16="http://schemas.microsoft.com/office/drawing/2014/main" id="{C51FDB1E-B536-4920-A1EC-DE4194A0ED61}"/>
              </a:ext>
            </a:extLst>
          </p:cNvPr>
          <p:cNvSpPr>
            <a:spLocks xmlns:a="http://schemas.openxmlformats.org/drawingml/2006/main" noGrp="1"/>
          </p:cNvSpPr>
          <p:nvPr/>
        </p:nvSpPr>
        <p:spPr>
          <a:xfrm xmlns:a="http://schemas.openxmlformats.org/drawingml/2006/main">
            <a:off x="3276600" y="4876800"/>
            <a:ext cx="805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Mehr Rechtswissen soll Angst nicht maximieren, sondern unnötige Absicherungsmedizin durch begründete Entscheidungen ersetzen.</a:t>
            </a:r>
          </a:p>
        </p:txBody>
      </p:sp>
      <p:sp>
        <p:nvSpPr>
          <p:cNvPr id="14" name="">
            <a:extLst xmlns:a="http://schemas.openxmlformats.org/drawingml/2006/main">
              <a:ext uri="{FF2B5EF4-FFF2-40B4-BE49-F238E27FC236}">
                <a16:creationId xmlns:a16="http://schemas.microsoft.com/office/drawing/2014/main" id="{3EEF914B-31B3-4805-8F56-53B86A9A2A47}"/>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20">
                <a:solidFill>
                  <a:srgbClr val="667680"/>
                </a:solidFill>
              </a:defRPr>
            </a:pPr>
            <a:r>
              <a:rPr sz="720">
                <a:solidFill>
                  <a:srgbClr val="667680"/>
                </a:solidFill>
              </a:rPr>
              <a:t>Goetz et al., BMC Primary Care 2024;25:23, doi:10.1186/s12875-024-02267-x · https://doi.org/10.1186/s12875-024-02267-x</a:t>
            </a:r>
          </a:p>
        </p:txBody>
      </p:sp>
    </p:spTree>
    <p:extLst>
      <p:ext uri="{BB962C8B-B14F-4D97-AF65-F5344CB8AC3E}">
        <p14:creationId xmlns:p14="http://schemas.microsoft.com/office/powerpoint/2010/main" val="43637646"/>
      </p:ext>
    </p:extLst>
  </p:cSld>
</p:sld>
</file>

<file path=ppt/slides/slide373.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Gute Einwilligung ist mehr als mehr Text</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WISSENSCHAFTLICHE EVIDENZ</a:t>
            </a:r>
            <a:endParaRPr/>
          </a:p>
        </p:txBody>
      </p:sp>
      <p:sp>
        <p:nvSpPr>
          <p:cNvPr id="4" name="">
            <a:extLst xmlns:a="http://schemas.openxmlformats.org/drawingml/2006/main">
              <a:ext uri="{FF2B5EF4-FFF2-40B4-BE49-F238E27FC236}">
                <a16:creationId xmlns:a16="http://schemas.microsoft.com/office/drawing/2014/main" id="{20443A6A-E10B-4DBF-B57E-4CFD13A280A4}"/>
              </a:ext>
            </a:extLst>
          </p:cNvPr>
          <p:cNvSpPr>
            <a:spLocks xmlns:a="http://schemas.openxmlformats.org/drawingml/2006/main" noGrp="1"/>
          </p:cNvSpPr>
          <p:nvPr/>
        </p:nvSpPr>
        <p:spPr>
          <a:xfrm xmlns:a="http://schemas.openxmlformats.org/drawingml/2006/main">
            <a:off x="1809750" y="1962150"/>
            <a:ext cx="2381250" cy="1428750"/>
          </a:xfrm>
          <a:prstGeom xmlns:a="http://schemas.openxmlformats.org/drawingml/2006/main" prst="roundRect">
            <a:avLst>
              <a:gd name="adj" fmla="val 5333"/>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E4209482-6E34-4CF7-A6C8-2F0E8C3C8F9B}"/>
              </a:ext>
            </a:extLst>
          </p:cNvPr>
          <p:cNvSpPr>
            <a:spLocks xmlns:a="http://schemas.openxmlformats.org/drawingml/2006/main" noGrp="1"/>
          </p:cNvSpPr>
          <p:nvPr/>
        </p:nvSpPr>
        <p:spPr>
          <a:xfrm xmlns:a="http://schemas.openxmlformats.org/drawingml/2006/main">
            <a:off x="1981200" y="2095500"/>
            <a:ext cx="20383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FFFFFF"/>
                </a:solidFill>
              </a:defRPr>
            </a:pPr>
            <a:r>
              <a:rPr sz="2550" b="1">
                <a:solidFill>
                  <a:srgbClr val="FFFFFF"/>
                </a:solidFill>
              </a:rPr>
              <a:t>3/3</a:t>
            </a:r>
          </a:p>
        </p:txBody>
      </p:sp>
      <p:sp>
        <p:nvSpPr>
          <p:cNvPr id="6" name="">
            <a:extLst xmlns:a="http://schemas.openxmlformats.org/drawingml/2006/main">
              <a:ext uri="{FF2B5EF4-FFF2-40B4-BE49-F238E27FC236}">
                <a16:creationId xmlns:a16="http://schemas.microsoft.com/office/drawing/2014/main" id="{E643F262-5597-4F94-9C6A-98BAA1A6AA59}"/>
              </a:ext>
            </a:extLst>
          </p:cNvPr>
          <p:cNvSpPr>
            <a:spLocks xmlns:a="http://schemas.openxmlformats.org/drawingml/2006/main" noGrp="1"/>
          </p:cNvSpPr>
          <p:nvPr/>
        </p:nvSpPr>
        <p:spPr>
          <a:xfrm xmlns:a="http://schemas.openxmlformats.org/drawingml/2006/main">
            <a:off x="1981200" y="2762250"/>
            <a:ext cx="2038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88">
                <a:solidFill>
                  <a:srgbClr val="FFFFFF"/>
                </a:solidFill>
              </a:defRPr>
            </a:pPr>
            <a:r>
              <a:rPr sz="1088">
                <a:solidFill>
                  <a:srgbClr val="FFFFFF"/>
                </a:solidFill>
              </a:rPr>
              <a:t>verbale Test-/Feedback-Formate</a:t>
            </a:r>
          </a:p>
        </p:txBody>
      </p:sp>
      <p:sp>
        <p:nvSpPr>
          <p:cNvPr id="7" name="">
            <a:extLst xmlns:a="http://schemas.openxmlformats.org/drawingml/2006/main">
              <a:ext uri="{FF2B5EF4-FFF2-40B4-BE49-F238E27FC236}">
                <a16:creationId xmlns:a16="http://schemas.microsoft.com/office/drawing/2014/main" id="{E1392592-3E51-48AA-B659-2699756C74E2}"/>
              </a:ext>
            </a:extLst>
          </p:cNvPr>
          <p:cNvSpPr>
            <a:spLocks xmlns:a="http://schemas.openxmlformats.org/drawingml/2006/main" noGrp="1"/>
          </p:cNvSpPr>
          <p:nvPr/>
        </p:nvSpPr>
        <p:spPr>
          <a:xfrm xmlns:a="http://schemas.openxmlformats.org/drawingml/2006/main">
            <a:off x="4495800" y="1981200"/>
            <a:ext cx="683895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500" b="1">
                <a:solidFill>
                  <a:srgbClr val="003F6B"/>
                </a:solidFill>
              </a:defRPr>
            </a:pPr>
            <a:r>
              <a:rPr sz="1500" b="1">
                <a:solidFill>
                  <a:srgbClr val="003F6B"/>
                </a:solidFill>
              </a:rPr>
              <a:t>In der systematischen Übersicht verbesserten alle drei verbalen Test-/Feedback-Verfahren – darunter Teach-back – das Verständnis. Insgesamt waren interaktive Verfahren häufiger wirksam als bloße schriftliche Information.</a:t>
            </a:r>
          </a:p>
        </p:txBody>
      </p:sp>
      <p:sp>
        <p:nvSpPr>
          <p:cNvPr id="8" name="">
            <a:extLst xmlns:a="http://schemas.openxmlformats.org/drawingml/2006/main">
              <a:ext uri="{FF2B5EF4-FFF2-40B4-BE49-F238E27FC236}">
                <a16:creationId xmlns:a16="http://schemas.microsoft.com/office/drawing/2014/main" id="{4C335C49-0AE1-409F-AE82-2928534328A6}"/>
              </a:ext>
            </a:extLst>
          </p:cNvPr>
          <p:cNvSpPr>
            <a:spLocks xmlns:a="http://schemas.openxmlformats.org/drawingml/2006/main" noGrp="1"/>
          </p:cNvSpPr>
          <p:nvPr/>
        </p:nvSpPr>
        <p:spPr>
          <a:xfrm xmlns:a="http://schemas.openxmlformats.org/drawingml/2006/main">
            <a:off x="1809750" y="3638550"/>
            <a:ext cx="133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40" b="1">
                <a:solidFill>
                  <a:srgbClr val="003F6B"/>
                </a:solidFill>
              </a:defRPr>
            </a:pPr>
            <a:r>
              <a:rPr sz="1140" b="1">
                <a:solidFill>
                  <a:srgbClr val="003F6B"/>
                </a:solidFill>
              </a:rPr>
              <a:t>Studientyp</a:t>
            </a:r>
          </a:p>
        </p:txBody>
      </p:sp>
      <p:sp>
        <p:nvSpPr>
          <p:cNvPr id="9" name="">
            <a:extLst xmlns:a="http://schemas.openxmlformats.org/drawingml/2006/main">
              <a:ext uri="{FF2B5EF4-FFF2-40B4-BE49-F238E27FC236}">
                <a16:creationId xmlns:a16="http://schemas.microsoft.com/office/drawing/2014/main" id="{08A5C84C-2BAF-405A-81B3-8F5BB8C42C2E}"/>
              </a:ext>
            </a:extLst>
          </p:cNvPr>
          <p:cNvSpPr>
            <a:spLocks xmlns:a="http://schemas.openxmlformats.org/drawingml/2006/main" noGrp="1"/>
          </p:cNvSpPr>
          <p:nvPr/>
        </p:nvSpPr>
        <p:spPr>
          <a:xfrm xmlns:a="http://schemas.openxmlformats.org/drawingml/2006/main">
            <a:off x="3276600" y="3638550"/>
            <a:ext cx="805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Aktualisierte systematische Übersicht von 52 Studien mit 60 Interventionen zum Verständnis klinischer Einwilligung.</a:t>
            </a:r>
          </a:p>
        </p:txBody>
      </p:sp>
      <p:sp>
        <p:nvSpPr>
          <p:cNvPr id="10" name="">
            <a:extLst xmlns:a="http://schemas.openxmlformats.org/drawingml/2006/main">
              <a:ext uri="{FF2B5EF4-FFF2-40B4-BE49-F238E27FC236}">
                <a16:creationId xmlns:a16="http://schemas.microsoft.com/office/drawing/2014/main" id="{ED09FE79-42CF-4EBA-8A5C-5AB7686B0566}"/>
              </a:ext>
            </a:extLst>
          </p:cNvPr>
          <p:cNvSpPr>
            <a:spLocks xmlns:a="http://schemas.openxmlformats.org/drawingml/2006/main" noGrp="1"/>
          </p:cNvSpPr>
          <p:nvPr/>
        </p:nvSpPr>
        <p:spPr>
          <a:xfrm xmlns:a="http://schemas.openxmlformats.org/drawingml/2006/main">
            <a:off x="1809750" y="4257675"/>
            <a:ext cx="133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40" b="1">
                <a:solidFill>
                  <a:srgbClr val="003F6B"/>
                </a:solidFill>
              </a:defRPr>
            </a:pPr>
            <a:r>
              <a:rPr sz="1140" b="1">
                <a:solidFill>
                  <a:srgbClr val="003F6B"/>
                </a:solidFill>
              </a:rPr>
              <a:t>Grenze</a:t>
            </a:r>
          </a:p>
        </p:txBody>
      </p:sp>
      <p:sp>
        <p:nvSpPr>
          <p:cNvPr id="11" name="">
            <a:extLst xmlns:a="http://schemas.openxmlformats.org/drawingml/2006/main">
              <a:ext uri="{FF2B5EF4-FFF2-40B4-BE49-F238E27FC236}">
                <a16:creationId xmlns:a16="http://schemas.microsoft.com/office/drawing/2014/main" id="{DF1ED754-50B2-4816-8B1A-B6D72DF243C8}"/>
              </a:ext>
            </a:extLst>
          </p:cNvPr>
          <p:cNvSpPr>
            <a:spLocks xmlns:a="http://schemas.openxmlformats.org/drawingml/2006/main" noGrp="1"/>
          </p:cNvSpPr>
          <p:nvPr/>
        </p:nvSpPr>
        <p:spPr>
          <a:xfrm xmlns:a="http://schemas.openxmlformats.org/drawingml/2006/main">
            <a:off x="3276600" y="4257675"/>
            <a:ext cx="805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Heterogene Interventionen und Endpunkte; nahezu die Hälfte der Studien hatte hohes Verzerrungsrisiko für den Verständnis-Endpunkt.</a:t>
            </a:r>
          </a:p>
        </p:txBody>
      </p:sp>
      <p:sp>
        <p:nvSpPr>
          <p:cNvPr id="12" name="">
            <a:extLst xmlns:a="http://schemas.openxmlformats.org/drawingml/2006/main">
              <a:ext uri="{FF2B5EF4-FFF2-40B4-BE49-F238E27FC236}">
                <a16:creationId xmlns:a16="http://schemas.microsoft.com/office/drawing/2014/main" id="{D3F6E3BD-7CB6-4FB9-BDCA-473EE00E329F}"/>
              </a:ext>
            </a:extLst>
          </p:cNvPr>
          <p:cNvSpPr>
            <a:spLocks xmlns:a="http://schemas.openxmlformats.org/drawingml/2006/main" noGrp="1"/>
          </p:cNvSpPr>
          <p:nvPr/>
        </p:nvSpPr>
        <p:spPr>
          <a:xfrm xmlns:a="http://schemas.openxmlformats.org/drawingml/2006/main">
            <a:off x="1809750" y="4876800"/>
            <a:ext cx="133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40" b="1">
                <a:solidFill>
                  <a:srgbClr val="003F6B"/>
                </a:solidFill>
              </a:defRPr>
            </a:pPr>
            <a:r>
              <a:rPr sz="1140" b="1">
                <a:solidFill>
                  <a:srgbClr val="003F6B"/>
                </a:solidFill>
              </a:rPr>
              <a:t>Konsequenz</a:t>
            </a:r>
          </a:p>
        </p:txBody>
      </p:sp>
      <p:sp>
        <p:nvSpPr>
          <p:cNvPr id="13" name="">
            <a:extLst xmlns:a="http://schemas.openxmlformats.org/drawingml/2006/main">
              <a:ext uri="{FF2B5EF4-FFF2-40B4-BE49-F238E27FC236}">
                <a16:creationId xmlns:a16="http://schemas.microsoft.com/office/drawing/2014/main" id="{3D09147F-CE1B-48A0-A912-E278B0F7DD89}"/>
              </a:ext>
            </a:extLst>
          </p:cNvPr>
          <p:cNvSpPr>
            <a:spLocks xmlns:a="http://schemas.openxmlformats.org/drawingml/2006/main" noGrp="1"/>
          </p:cNvSpPr>
          <p:nvPr/>
        </p:nvSpPr>
        <p:spPr>
          <a:xfrm xmlns:a="http://schemas.openxmlformats.org/drawingml/2006/main">
            <a:off x="3276600" y="4876800"/>
            <a:ext cx="805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Rechtssicherheit durch verständliche Kommunikation, Rückfrage und gemeinsame Entscheidung – nicht durch immer längere Formulare.</a:t>
            </a:r>
          </a:p>
        </p:txBody>
      </p:sp>
      <p:sp>
        <p:nvSpPr>
          <p:cNvPr id="14" name="">
            <a:extLst xmlns:a="http://schemas.openxmlformats.org/drawingml/2006/main">
              <a:ext uri="{FF2B5EF4-FFF2-40B4-BE49-F238E27FC236}">
                <a16:creationId xmlns:a16="http://schemas.microsoft.com/office/drawing/2014/main" id="{0CF45361-00C8-40A8-969A-6E54924FC1CE}"/>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20">
                <a:solidFill>
                  <a:srgbClr val="667680"/>
                </a:solidFill>
              </a:defRPr>
            </a:pPr>
            <a:r>
              <a:rPr sz="720">
                <a:solidFill>
                  <a:srgbClr val="667680"/>
                </a:solidFill>
              </a:rPr>
              <a:t>Glaser et al., Med Decis Making 2020;40:119–143, doi:10.1177/0272989X19896348 · https://doi.org/10.1177/0272989X19896348</a:t>
            </a:r>
          </a:p>
        </p:txBody>
      </p:sp>
    </p:spTree>
    <p:extLst>
      <p:ext uri="{BB962C8B-B14F-4D97-AF65-F5344CB8AC3E}">
        <p14:creationId xmlns:p14="http://schemas.microsoft.com/office/powerpoint/2010/main" val="43637646"/>
      </p:ext>
    </p:extLst>
  </p:cSld>
</p:sld>
</file>

<file path=ppt/slides/slide374.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Was ist defensive Medizin?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77F04E26-F430-4212-B095-656CAC5509B5}"/>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Defensive Medizin richtet Entscheidungen primär an vermuteter rechtlicher Absicherung statt am individuellen Patientennutzen aus.</a:t>
            </a:r>
          </a:p>
        </p:txBody>
      </p:sp>
      <p:sp>
        <p:nvSpPr>
          <p:cNvPr id="5" name="">
            <a:extLst xmlns:a="http://schemas.openxmlformats.org/drawingml/2006/main">
              <a:ext uri="{FF2B5EF4-FFF2-40B4-BE49-F238E27FC236}">
                <a16:creationId xmlns:a16="http://schemas.microsoft.com/office/drawing/2014/main" id="{1939304F-3B11-4731-BAAD-D19423739D89}"/>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CBAEFD06-0CB1-4274-AE73-8F9D8011132B}"/>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BF62979F-1C5C-4165-8493-707B4C46D3D6}"/>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Positive Defensive</a:t>
            </a:r>
          </a:p>
        </p:txBody>
      </p:sp>
      <p:sp>
        <p:nvSpPr>
          <p:cNvPr id="8" name="">
            <a:extLst xmlns:a="http://schemas.openxmlformats.org/drawingml/2006/main">
              <a:ext uri="{FF2B5EF4-FFF2-40B4-BE49-F238E27FC236}">
                <a16:creationId xmlns:a16="http://schemas.microsoft.com/office/drawing/2014/main" id="{583D592B-87CE-4727-BB37-5814E21176DB}"/>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Zusätzliche Diagnostik, Überweisungen oder Dokumentation werden ohne hinreichenden medizinischen Nutzen veranlasst.</a:t>
            </a:r>
          </a:p>
        </p:txBody>
      </p:sp>
      <p:sp>
        <p:nvSpPr>
          <p:cNvPr id="9" name="">
            <a:extLst xmlns:a="http://schemas.openxmlformats.org/drawingml/2006/main">
              <a:ext uri="{FF2B5EF4-FFF2-40B4-BE49-F238E27FC236}">
                <a16:creationId xmlns:a16="http://schemas.microsoft.com/office/drawing/2014/main" id="{2BCBAD2E-7501-43B8-96A5-D387EF90059B}"/>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4B8383E5-6C70-4468-9A6F-5747CB17EB40}"/>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D48282D3-046F-45DB-A0C9-6F16EDFC7749}"/>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Negative Defensive</a:t>
            </a:r>
          </a:p>
        </p:txBody>
      </p:sp>
      <p:sp>
        <p:nvSpPr>
          <p:cNvPr id="12" name="">
            <a:extLst xmlns:a="http://schemas.openxmlformats.org/drawingml/2006/main">
              <a:ext uri="{FF2B5EF4-FFF2-40B4-BE49-F238E27FC236}">
                <a16:creationId xmlns:a16="http://schemas.microsoft.com/office/drawing/2014/main" id="{B812A944-BEA2-4DA8-9968-6BE9717AB66D}"/>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Risikoreiche Patientinnen oder sinnvolle Verfahren werden aus Haftungsangst gemieden.</a:t>
            </a:r>
          </a:p>
        </p:txBody>
      </p:sp>
      <p:sp>
        <p:nvSpPr>
          <p:cNvPr id="13" name="">
            <a:extLst xmlns:a="http://schemas.openxmlformats.org/drawingml/2006/main">
              <a:ext uri="{FF2B5EF4-FFF2-40B4-BE49-F238E27FC236}">
                <a16:creationId xmlns:a16="http://schemas.microsoft.com/office/drawing/2014/main" id="{71F64745-4718-4EBD-B01A-957B03652458}"/>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9F748863-9D2A-4D9E-BC9F-CB8C93B20EC9}"/>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FAF68ED8-659C-42DA-988C-3F2AC46B74AC}"/>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Folgen</a:t>
            </a:r>
          </a:p>
        </p:txBody>
      </p:sp>
      <p:sp>
        <p:nvSpPr>
          <p:cNvPr id="16" name="">
            <a:extLst xmlns:a="http://schemas.openxmlformats.org/drawingml/2006/main">
              <a:ext uri="{FF2B5EF4-FFF2-40B4-BE49-F238E27FC236}">
                <a16:creationId xmlns:a16="http://schemas.microsoft.com/office/drawing/2014/main" id="{2F4A8FB2-8C5B-4729-BFE1-5BD96F8CA25E}"/>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Überdiagnostik, Zufallsbefunde, Strahlenexposition, Ressourcenverbrauch und verzögerte Behandlung können Patienten schaden.</a:t>
            </a:r>
          </a:p>
        </p:txBody>
      </p:sp>
      <p:sp>
        <p:nvSpPr>
          <p:cNvPr id="17" name="">
            <a:extLst xmlns:a="http://schemas.openxmlformats.org/drawingml/2006/main">
              <a:ext uri="{FF2B5EF4-FFF2-40B4-BE49-F238E27FC236}">
                <a16:creationId xmlns:a16="http://schemas.microsoft.com/office/drawing/2014/main" id="{5A3F9AFB-640E-4D7D-BFEB-CFBC0A78C06E}"/>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118327EA-AA26-453F-AA2E-DB6439F8410C}"/>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80BA20AB-7BF8-42C1-B70D-2354C94FD71A}"/>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Rechtsirrtum</a:t>
            </a:r>
          </a:p>
        </p:txBody>
      </p:sp>
      <p:sp>
        <p:nvSpPr>
          <p:cNvPr id="20" name="">
            <a:extLst xmlns:a="http://schemas.openxmlformats.org/drawingml/2006/main">
              <a:ext uri="{FF2B5EF4-FFF2-40B4-BE49-F238E27FC236}">
                <a16:creationId xmlns:a16="http://schemas.microsoft.com/office/drawing/2014/main" id="{869B09DB-EAA4-4ECE-B433-D596B871399E}"/>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Mehr Medizin ist nicht automatisch rechtssicherer; unnötige Maßnahmen brauchen ebenfalls Indikation und Einwilligung.</a:t>
            </a:r>
          </a:p>
        </p:txBody>
      </p:sp>
      <p:sp>
        <p:nvSpPr>
          <p:cNvPr id="21" name="">
            <a:extLst xmlns:a="http://schemas.openxmlformats.org/drawingml/2006/main">
              <a:ext uri="{FF2B5EF4-FFF2-40B4-BE49-F238E27FC236}">
                <a16:creationId xmlns:a16="http://schemas.microsoft.com/office/drawing/2014/main" id="{EF28184A-A595-4BDD-A949-491458F2207C}"/>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91B09307-0A71-42E4-9E81-652305C5ED6B}"/>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Recht verlangt sorgfältige, patientenbezogene Entscheidung – nicht maximale Diagnostik.</a:t>
            </a:r>
          </a:p>
        </p:txBody>
      </p:sp>
    </p:spTree>
    <p:extLst>
      <p:ext uri="{BB962C8B-B14F-4D97-AF65-F5344CB8AC3E}">
        <p14:creationId xmlns:p14="http://schemas.microsoft.com/office/powerpoint/2010/main" val="43637646"/>
      </p:ext>
    </p:extLst>
  </p:cSld>
</p:sld>
</file>

<file path=ppt/slides/slide375.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Sicherheitsorientiert oder defensiv?</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UNTERSCHEIDEN KÖNNEN</a:t>
            </a:r>
            <a:endParaRPr/>
          </a:p>
        </p:txBody>
      </p:sp>
      <p:sp>
        <p:nvSpPr>
          <p:cNvPr id="4" name="">
            <a:extLst xmlns:a="http://schemas.openxmlformats.org/drawingml/2006/main">
              <a:ext uri="{FF2B5EF4-FFF2-40B4-BE49-F238E27FC236}">
                <a16:creationId xmlns:a16="http://schemas.microsoft.com/office/drawing/2014/main" id="{D50C005E-2443-4D37-B282-94E80740DA97}"/>
              </a:ext>
            </a:extLst>
          </p:cNvPr>
          <p:cNvSpPr>
            <a:spLocks xmlns:a="http://schemas.openxmlformats.org/drawingml/2006/main" noGrp="1"/>
          </p:cNvSpPr>
          <p:nvPr/>
        </p:nvSpPr>
        <p:spPr>
          <a:xfrm xmlns:a="http://schemas.openxmlformats.org/drawingml/2006/main">
            <a:off x="1809750" y="2000250"/>
            <a:ext cx="4619625" cy="3286125"/>
          </a:xfrm>
          <a:prstGeom xmlns:a="http://schemas.openxmlformats.org/drawingml/2006/main" prst="roundRect">
            <a:avLst>
              <a:gd name="adj" fmla="val 2319"/>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31625F11-0EF8-41D9-AE71-06B8CB05D078}"/>
              </a:ext>
            </a:extLst>
          </p:cNvPr>
          <p:cNvSpPr>
            <a:spLocks xmlns:a="http://schemas.openxmlformats.org/drawingml/2006/main" noGrp="1"/>
          </p:cNvSpPr>
          <p:nvPr/>
        </p:nvSpPr>
        <p:spPr>
          <a:xfrm xmlns:a="http://schemas.openxmlformats.org/drawingml/2006/main">
            <a:off x="1809750" y="2000250"/>
            <a:ext cx="4619625"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91C64EA1-9D65-4ED0-97A6-B6C57F849ADA}"/>
              </a:ext>
            </a:extLst>
          </p:cNvPr>
          <p:cNvSpPr>
            <a:spLocks xmlns:a="http://schemas.openxmlformats.org/drawingml/2006/main" noGrp="1"/>
          </p:cNvSpPr>
          <p:nvPr/>
        </p:nvSpPr>
        <p:spPr>
          <a:xfrm xmlns:a="http://schemas.openxmlformats.org/drawingml/2006/main">
            <a:off x="1962150" y="2133600"/>
            <a:ext cx="4314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75" b="1">
                <a:solidFill>
                  <a:srgbClr val="003F6B"/>
                </a:solidFill>
              </a:defRPr>
            </a:pPr>
            <a:r>
              <a:rPr sz="1575" b="1">
                <a:solidFill>
                  <a:srgbClr val="003F6B"/>
                </a:solidFill>
              </a:rPr>
              <a:t>Sicherheitsorientiert</a:t>
            </a:r>
          </a:p>
        </p:txBody>
      </p:sp>
      <p:sp>
        <p:nvSpPr>
          <p:cNvPr id="7" name="">
            <a:extLst xmlns:a="http://schemas.openxmlformats.org/drawingml/2006/main">
              <a:ext uri="{FF2B5EF4-FFF2-40B4-BE49-F238E27FC236}">
                <a16:creationId xmlns:a16="http://schemas.microsoft.com/office/drawing/2014/main" id="{BAAD7E1B-72DB-42D4-94D5-5B3A68453E25}"/>
              </a:ext>
            </a:extLst>
          </p:cNvPr>
          <p:cNvSpPr>
            <a:spLocks xmlns:a="http://schemas.openxmlformats.org/drawingml/2006/main" noGrp="1"/>
          </p:cNvSpPr>
          <p:nvPr/>
        </p:nvSpPr>
        <p:spPr>
          <a:xfrm xmlns:a="http://schemas.openxmlformats.org/drawingml/2006/main">
            <a:off x="1962150" y="2571750"/>
            <a:ext cx="4314825"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15232B"/>
                </a:solidFill>
              </a:defRPr>
            </a:pPr>
            <a:r>
              <a:rPr sz="1200">
                <a:solidFill>
                  <a:srgbClr val="15232B"/>
                </a:solidFill>
              </a:rPr>
              <a:t>• Eine konkrete Gefährdung wird mit geeigneter, verhältnismäßiger Maßnahme adressiert.</a:t>
            </a:r>
          </a:p>
          <a:p xmlns:a="http://schemas.openxmlformats.org/drawingml/2006/main">
            <a:pPr>
              <a:buNone/>
              <a:defRPr sz="1200">
                <a:solidFill>
                  <a:srgbClr val="15232B"/>
                </a:solidFill>
              </a:defRPr>
            </a:pPr>
            <a:r>
              <a:rPr sz="1200">
                <a:solidFill>
                  <a:srgbClr val="15232B"/>
                </a:solidFill>
              </a:rPr>
              <a:t>• Nutzen, Risiken, Alternativen und Patientenpräferenzen werden abgewogen.</a:t>
            </a:r>
          </a:p>
          <a:p xmlns:a="http://schemas.openxmlformats.org/drawingml/2006/main">
            <a:pPr>
              <a:buNone/>
              <a:defRPr sz="1200">
                <a:solidFill>
                  <a:srgbClr val="15232B"/>
                </a:solidFill>
              </a:defRPr>
            </a:pPr>
            <a:r>
              <a:rPr sz="1200">
                <a:solidFill>
                  <a:srgbClr val="15232B"/>
                </a:solidFill>
              </a:rPr>
              <a:t>• Entscheidungsweg und Sicherheitsnetz werden nachvollziehbar dokumentiert.</a:t>
            </a:r>
          </a:p>
        </p:txBody>
      </p:sp>
      <p:sp>
        <p:nvSpPr>
          <p:cNvPr id="8" name="">
            <a:extLst xmlns:a="http://schemas.openxmlformats.org/drawingml/2006/main">
              <a:ext uri="{FF2B5EF4-FFF2-40B4-BE49-F238E27FC236}">
                <a16:creationId xmlns:a16="http://schemas.microsoft.com/office/drawing/2014/main" id="{5F63D6FD-1858-494D-BBBB-325DDD7ABF78}"/>
              </a:ext>
            </a:extLst>
          </p:cNvPr>
          <p:cNvSpPr>
            <a:spLocks xmlns:a="http://schemas.openxmlformats.org/drawingml/2006/main" noGrp="1"/>
          </p:cNvSpPr>
          <p:nvPr/>
        </p:nvSpPr>
        <p:spPr>
          <a:xfrm xmlns:a="http://schemas.openxmlformats.org/drawingml/2006/main">
            <a:off x="6715125" y="2000250"/>
            <a:ext cx="4619625" cy="3286125"/>
          </a:xfrm>
          <a:prstGeom xmlns:a="http://schemas.openxmlformats.org/drawingml/2006/main" prst="roundRect">
            <a:avLst>
              <a:gd name="adj" fmla="val 2319"/>
            </a:avLst>
          </a:prstGeom>
          <a:noFill xmlns:a="http://schemas.openxmlformats.org/drawingml/2006/main"/>
          <a:ln xmlns:a="http://schemas.openxmlformats.org/drawingml/2006/main" w="9525">
            <a:solidFill>
              <a:srgbClr val="B9CAD2"/>
            </a:solidFill>
            <a:prstDash val="solid"/>
          </a:ln>
        </p:spPr>
      </p:sp>
      <p:sp>
        <p:nvSpPr>
          <p:cNvPr id="9" name="">
            <a:extLst xmlns:a="http://schemas.openxmlformats.org/drawingml/2006/main">
              <a:ext uri="{FF2B5EF4-FFF2-40B4-BE49-F238E27FC236}">
                <a16:creationId xmlns:a16="http://schemas.microsoft.com/office/drawing/2014/main" id="{A5D27FA6-A623-4332-8702-7E328AF481FB}"/>
              </a:ext>
            </a:extLst>
          </p:cNvPr>
          <p:cNvSpPr>
            <a:spLocks xmlns:a="http://schemas.openxmlformats.org/drawingml/2006/main" noGrp="1"/>
          </p:cNvSpPr>
          <p:nvPr/>
        </p:nvSpPr>
        <p:spPr>
          <a:xfrm xmlns:a="http://schemas.openxmlformats.org/drawingml/2006/main">
            <a:off x="6715125" y="2000250"/>
            <a:ext cx="4619625"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ADEB6705-7E03-4279-9D5C-7A512A088653}"/>
              </a:ext>
            </a:extLst>
          </p:cNvPr>
          <p:cNvSpPr>
            <a:spLocks xmlns:a="http://schemas.openxmlformats.org/drawingml/2006/main" noGrp="1"/>
          </p:cNvSpPr>
          <p:nvPr/>
        </p:nvSpPr>
        <p:spPr>
          <a:xfrm xmlns:a="http://schemas.openxmlformats.org/drawingml/2006/main">
            <a:off x="6867525" y="2133600"/>
            <a:ext cx="4314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75" b="1">
                <a:solidFill>
                  <a:srgbClr val="003F6B"/>
                </a:solidFill>
              </a:defRPr>
            </a:pPr>
            <a:r>
              <a:rPr sz="1575" b="1">
                <a:solidFill>
                  <a:srgbClr val="003F6B"/>
                </a:solidFill>
              </a:rPr>
              <a:t>Defensiv</a:t>
            </a:r>
          </a:p>
        </p:txBody>
      </p:sp>
      <p:sp>
        <p:nvSpPr>
          <p:cNvPr id="11" name="">
            <a:extLst xmlns:a="http://schemas.openxmlformats.org/drawingml/2006/main">
              <a:ext uri="{FF2B5EF4-FFF2-40B4-BE49-F238E27FC236}">
                <a16:creationId xmlns:a16="http://schemas.microsoft.com/office/drawing/2014/main" id="{2B9ED78F-39A1-4E43-A39E-9FB4B26429D4}"/>
              </a:ext>
            </a:extLst>
          </p:cNvPr>
          <p:cNvSpPr>
            <a:spLocks xmlns:a="http://schemas.openxmlformats.org/drawingml/2006/main" noGrp="1"/>
          </p:cNvSpPr>
          <p:nvPr/>
        </p:nvSpPr>
        <p:spPr>
          <a:xfrm xmlns:a="http://schemas.openxmlformats.org/drawingml/2006/main">
            <a:off x="6867525" y="2571750"/>
            <a:ext cx="4314825"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15232B"/>
                </a:solidFill>
              </a:defRPr>
            </a:pPr>
            <a:r>
              <a:rPr sz="1200">
                <a:solidFill>
                  <a:srgbClr val="15232B"/>
                </a:solidFill>
              </a:rPr>
              <a:t>• Maßnahme dient vor allem der persönlichen Absicherung ohne plausiblen Patientennutzen.</a:t>
            </a:r>
          </a:p>
          <a:p xmlns:a="http://schemas.openxmlformats.org/drawingml/2006/main">
            <a:pPr>
              <a:buNone/>
              <a:defRPr sz="1200">
                <a:solidFill>
                  <a:srgbClr val="15232B"/>
                </a:solidFill>
              </a:defRPr>
            </a:pPr>
            <a:r>
              <a:rPr sz="1200">
                <a:solidFill>
                  <a:srgbClr val="15232B"/>
                </a:solidFill>
              </a:rPr>
              <a:t>• Risiken und Folgekaskaden der Zusatzdiagnostik werden ausgeblendet.</a:t>
            </a:r>
          </a:p>
          <a:p xmlns:a="http://schemas.openxmlformats.org/drawingml/2006/main">
            <a:pPr>
              <a:buNone/>
              <a:defRPr sz="1200">
                <a:solidFill>
                  <a:srgbClr val="15232B"/>
                </a:solidFill>
              </a:defRPr>
            </a:pPr>
            <a:r>
              <a:rPr sz="1200">
                <a:solidFill>
                  <a:srgbClr val="15232B"/>
                </a:solidFill>
              </a:rPr>
              <a:t>• Haftungsangst ersetzt klinische Indikation und gemeinsame Entscheidung.</a:t>
            </a:r>
          </a:p>
        </p:txBody>
      </p:sp>
      <p:sp>
        <p:nvSpPr>
          <p:cNvPr id="12" name="">
            <a:extLst xmlns:a="http://schemas.openxmlformats.org/drawingml/2006/main">
              <a:ext uri="{FF2B5EF4-FFF2-40B4-BE49-F238E27FC236}">
                <a16:creationId xmlns:a16="http://schemas.microsoft.com/office/drawing/2014/main" id="{424FA120-D4AC-4324-9AE9-8472833C3E5B}"/>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13" name="">
            <a:extLst xmlns:a="http://schemas.openxmlformats.org/drawingml/2006/main">
              <a:ext uri="{FF2B5EF4-FFF2-40B4-BE49-F238E27FC236}">
                <a16:creationId xmlns:a16="http://schemas.microsoft.com/office/drawing/2014/main" id="{C3A3EF85-CBD2-461F-9CAE-685EAF8908F2}"/>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Die gleiche Untersuchung kann je nach konkreter Indikation sinnvoll oder defensiv sein.</a:t>
            </a:r>
          </a:p>
        </p:txBody>
      </p:sp>
    </p:spTree>
    <p:extLst>
      <p:ext uri="{BB962C8B-B14F-4D97-AF65-F5344CB8AC3E}">
        <p14:creationId xmlns:p14="http://schemas.microsoft.com/office/powerpoint/2010/main" val="43637646"/>
      </p:ext>
    </p:extLst>
  </p:cSld>
</p:sld>
</file>

<file path=ppt/slides/slide376.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Was Recht tatsächlich verlangt</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84CEC90C-CE5A-423E-A46F-E7DAD015E937}"/>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Der Standard verlangt vertretbare Medizin und einen nachvollziehbaren Entscheidungsprozess.</a:t>
            </a:r>
          </a:p>
        </p:txBody>
      </p:sp>
      <p:sp>
        <p:nvSpPr>
          <p:cNvPr id="5" name="">
            <a:extLst xmlns:a="http://schemas.openxmlformats.org/drawingml/2006/main">
              <a:ext uri="{FF2B5EF4-FFF2-40B4-BE49-F238E27FC236}">
                <a16:creationId xmlns:a16="http://schemas.microsoft.com/office/drawing/2014/main" id="{FE6947EC-DDDE-4A86-B410-86D4ABCE40CB}"/>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84653976-9E31-4EEE-B683-F614CD70E21A}"/>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22006D80-D1AA-4707-A4A9-A37FBEA6D294}"/>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Risiko erkennen</a:t>
            </a:r>
          </a:p>
        </p:txBody>
      </p:sp>
      <p:sp>
        <p:nvSpPr>
          <p:cNvPr id="8" name="">
            <a:extLst xmlns:a="http://schemas.openxmlformats.org/drawingml/2006/main">
              <a:ext uri="{FF2B5EF4-FFF2-40B4-BE49-F238E27FC236}">
                <a16:creationId xmlns:a16="http://schemas.microsoft.com/office/drawing/2014/main" id="{47835136-73FB-4CDA-9E30-5D7C7E2F99C9}"/>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Relevante Differenzialdiagnosen und Warnzeichen werden angemessen geprüft.</a:t>
            </a:r>
          </a:p>
        </p:txBody>
      </p:sp>
      <p:sp>
        <p:nvSpPr>
          <p:cNvPr id="9" name="">
            <a:extLst xmlns:a="http://schemas.openxmlformats.org/drawingml/2006/main">
              <a:ext uri="{FF2B5EF4-FFF2-40B4-BE49-F238E27FC236}">
                <a16:creationId xmlns:a16="http://schemas.microsoft.com/office/drawing/2014/main" id="{23C58962-97D4-49FA-BBB6-57BDBDE68AFA}"/>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5E498715-C21A-4891-B773-0D0F34450A53}"/>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01E96A4F-8A19-47DB-A2FB-C2320CA652C0}"/>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Verhältnismäßig handeln</a:t>
            </a:r>
          </a:p>
        </p:txBody>
      </p:sp>
      <p:sp>
        <p:nvSpPr>
          <p:cNvPr id="12" name="">
            <a:extLst xmlns:a="http://schemas.openxmlformats.org/drawingml/2006/main">
              <a:ext uri="{FF2B5EF4-FFF2-40B4-BE49-F238E27FC236}">
                <a16:creationId xmlns:a16="http://schemas.microsoft.com/office/drawing/2014/main" id="{54FD0C7A-D2A4-46D1-A7A0-540442BA6564}"/>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Diagnostik und Therapie richten sich nach Wahrscheinlichkeit, Schadensschwere und Belastung.</a:t>
            </a:r>
          </a:p>
        </p:txBody>
      </p:sp>
      <p:sp>
        <p:nvSpPr>
          <p:cNvPr id="13" name="">
            <a:extLst xmlns:a="http://schemas.openxmlformats.org/drawingml/2006/main">
              <a:ext uri="{FF2B5EF4-FFF2-40B4-BE49-F238E27FC236}">
                <a16:creationId xmlns:a16="http://schemas.microsoft.com/office/drawing/2014/main" id="{2E17E65D-D0F7-4CB9-86CE-E80B500ED97B}"/>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9FA56C62-0002-40C2-94C8-D42F22055582}"/>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6A042C22-2102-4C8E-B769-AE29787AB89C}"/>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Unsicherheit kommunizieren</a:t>
            </a:r>
          </a:p>
        </p:txBody>
      </p:sp>
      <p:sp>
        <p:nvSpPr>
          <p:cNvPr id="16" name="">
            <a:extLst xmlns:a="http://schemas.openxmlformats.org/drawingml/2006/main">
              <a:ext uri="{FF2B5EF4-FFF2-40B4-BE49-F238E27FC236}">
                <a16:creationId xmlns:a16="http://schemas.microsoft.com/office/drawing/2014/main" id="{69CAA7A0-9248-41E6-9D6C-0808B2F6D041}"/>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Restunsicherheit wird nicht versteckt, sondern durch Sicherheitsnetz und Verlaufskontrolle beherrscht.</a:t>
            </a:r>
          </a:p>
        </p:txBody>
      </p:sp>
      <p:sp>
        <p:nvSpPr>
          <p:cNvPr id="17" name="">
            <a:extLst xmlns:a="http://schemas.openxmlformats.org/drawingml/2006/main">
              <a:ext uri="{FF2B5EF4-FFF2-40B4-BE49-F238E27FC236}">
                <a16:creationId xmlns:a16="http://schemas.microsoft.com/office/drawing/2014/main" id="{030FD271-4496-4C12-B9EA-19FDA28A1528}"/>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DFFDAAAB-9657-4715-B556-20F7F3517BEE}"/>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C1B6F9BB-D6ED-4046-85A4-FEF5009846D3}"/>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Begründen</a:t>
            </a:r>
          </a:p>
        </p:txBody>
      </p:sp>
      <p:sp>
        <p:nvSpPr>
          <p:cNvPr id="20" name="">
            <a:extLst xmlns:a="http://schemas.openxmlformats.org/drawingml/2006/main">
              <a:ext uri="{FF2B5EF4-FFF2-40B4-BE49-F238E27FC236}">
                <a16:creationId xmlns:a16="http://schemas.microsoft.com/office/drawing/2014/main" id="{D19E2D39-3FBD-49BE-A94B-1E2CEB62AB35}"/>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Abweichungen, Priorisierungen und Patientenpräferenzen werden sachlich dokumentiert.</a:t>
            </a:r>
          </a:p>
        </p:txBody>
      </p:sp>
      <p:sp>
        <p:nvSpPr>
          <p:cNvPr id="21" name="">
            <a:extLst xmlns:a="http://schemas.openxmlformats.org/drawingml/2006/main">
              <a:ext uri="{FF2B5EF4-FFF2-40B4-BE49-F238E27FC236}">
                <a16:creationId xmlns:a16="http://schemas.microsoft.com/office/drawing/2014/main" id="{04F52F4C-B982-4A91-9F92-F05D6227D9F8}"/>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C995FF19-9EFE-4DD2-A9DC-A699DC9C1CDE}"/>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Rechtssicherheit wächst durch gute Medizin und klare Kommunikation, nicht durch wahllose Maximaldiagnostik.</a:t>
            </a:r>
          </a:p>
        </p:txBody>
      </p:sp>
    </p:spTree>
    <p:extLst>
      <p:ext uri="{BB962C8B-B14F-4D97-AF65-F5344CB8AC3E}">
        <p14:creationId xmlns:p14="http://schemas.microsoft.com/office/powerpoint/2010/main" val="43637646"/>
      </p:ext>
    </p:extLst>
  </p:cSld>
</p:sld>
</file>

<file path=ppt/slides/slide377.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5K+R trennt medizinische Indikation von juristischer Beruhigungsdiagnostik</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RECHT MEDIZINISCH · ABSICHERUNGSMEDIZIN</a:t>
            </a:r>
            <a:endParaRPr/>
          </a:p>
        </p:txBody>
      </p:sp>
      <p:sp>
        <p:nvSpPr>
          <p:cNvPr id="4" name="">
            <a:extLst xmlns:a="http://schemas.openxmlformats.org/drawingml/2006/main">
              <a:ext uri="{FF2B5EF4-FFF2-40B4-BE49-F238E27FC236}">
                <a16:creationId xmlns:a16="http://schemas.microsoft.com/office/drawing/2014/main" id="{42EEC51A-58BE-47FC-844F-927041CA6899}"/>
              </a:ext>
            </a:extLst>
          </p:cNvPr>
          <p:cNvSpPr>
            <a:spLocks xmlns:a="http://schemas.openxmlformats.org/drawingml/2006/main" noGrp="1"/>
          </p:cNvSpPr>
          <p:nvPr/>
        </p:nvSpPr>
        <p:spPr>
          <a:xfrm xmlns:a="http://schemas.openxmlformats.org/drawingml/2006/main">
            <a:off x="1809750" y="1952625"/>
            <a:ext cx="400050" cy="468313"/>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3F64813A-3EB9-4623-912A-73431938E7EA}"/>
              </a:ext>
            </a:extLst>
          </p:cNvPr>
          <p:cNvSpPr>
            <a:spLocks xmlns:a="http://schemas.openxmlformats.org/drawingml/2006/main" noGrp="1"/>
          </p:cNvSpPr>
          <p:nvPr/>
        </p:nvSpPr>
        <p:spPr>
          <a:xfrm xmlns:a="http://schemas.openxmlformats.org/drawingml/2006/main">
            <a:off x="1809750" y="1952625"/>
            <a:ext cx="400050" cy="468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6" name="">
            <a:extLst xmlns:a="http://schemas.openxmlformats.org/drawingml/2006/main">
              <a:ext uri="{FF2B5EF4-FFF2-40B4-BE49-F238E27FC236}">
                <a16:creationId xmlns:a16="http://schemas.microsoft.com/office/drawing/2014/main" id="{C714AC16-71A4-4139-9032-8FF46A7B9D9A}"/>
              </a:ext>
            </a:extLst>
          </p:cNvPr>
          <p:cNvSpPr>
            <a:spLocks xmlns:a="http://schemas.openxmlformats.org/drawingml/2006/main" noGrp="1"/>
          </p:cNvSpPr>
          <p:nvPr/>
        </p:nvSpPr>
        <p:spPr>
          <a:xfrm xmlns:a="http://schemas.openxmlformats.org/drawingml/2006/main">
            <a:off x="2324100" y="1962150"/>
            <a:ext cx="2381250" cy="4492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Klinische Frage</a:t>
            </a:r>
          </a:p>
        </p:txBody>
      </p:sp>
      <p:sp>
        <p:nvSpPr>
          <p:cNvPr id="7" name="">
            <a:extLst xmlns:a="http://schemas.openxmlformats.org/drawingml/2006/main">
              <a:ext uri="{FF2B5EF4-FFF2-40B4-BE49-F238E27FC236}">
                <a16:creationId xmlns:a16="http://schemas.microsoft.com/office/drawing/2014/main" id="{F7019E7B-C470-460C-8DCC-69C2AD039EBB}"/>
              </a:ext>
            </a:extLst>
          </p:cNvPr>
          <p:cNvSpPr>
            <a:spLocks xmlns:a="http://schemas.openxmlformats.org/drawingml/2006/main" noGrp="1"/>
          </p:cNvSpPr>
          <p:nvPr/>
        </p:nvSpPr>
        <p:spPr>
          <a:xfrm xmlns:a="http://schemas.openxmlformats.org/drawingml/2006/main">
            <a:off x="4819650" y="1962150"/>
            <a:ext cx="6419850" cy="4492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Welche konkrete Diagnose- oder Therapiefrage soll die Untersuchung beantworten?</a:t>
            </a:r>
          </a:p>
        </p:txBody>
      </p:sp>
      <p:sp>
        <p:nvSpPr>
          <p:cNvPr id="8" name="">
            <a:extLst xmlns:a="http://schemas.openxmlformats.org/drawingml/2006/main">
              <a:ext uri="{FF2B5EF4-FFF2-40B4-BE49-F238E27FC236}">
                <a16:creationId xmlns:a16="http://schemas.microsoft.com/office/drawing/2014/main" id="{BE52D992-A567-40DF-94A0-D600A7CB344A}"/>
              </a:ext>
            </a:extLst>
          </p:cNvPr>
          <p:cNvSpPr>
            <a:spLocks xmlns:a="http://schemas.openxmlformats.org/drawingml/2006/main" noGrp="1"/>
          </p:cNvSpPr>
          <p:nvPr/>
        </p:nvSpPr>
        <p:spPr>
          <a:xfrm xmlns:a="http://schemas.openxmlformats.org/drawingml/2006/main">
            <a:off x="1809750" y="2497138"/>
            <a:ext cx="400050" cy="468313"/>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9" name="">
            <a:extLst xmlns:a="http://schemas.openxmlformats.org/drawingml/2006/main">
              <a:ext uri="{FF2B5EF4-FFF2-40B4-BE49-F238E27FC236}">
                <a16:creationId xmlns:a16="http://schemas.microsoft.com/office/drawing/2014/main" id="{4AE9AD64-11A3-41EB-A8B0-9EB2DFE2DAD6}"/>
              </a:ext>
            </a:extLst>
          </p:cNvPr>
          <p:cNvSpPr>
            <a:spLocks xmlns:a="http://schemas.openxmlformats.org/drawingml/2006/main" noGrp="1"/>
          </p:cNvSpPr>
          <p:nvPr/>
        </p:nvSpPr>
        <p:spPr>
          <a:xfrm xmlns:a="http://schemas.openxmlformats.org/drawingml/2006/main">
            <a:off x="1809750" y="2497138"/>
            <a:ext cx="400050" cy="468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0" name="">
            <a:extLst xmlns:a="http://schemas.openxmlformats.org/drawingml/2006/main">
              <a:ext uri="{FF2B5EF4-FFF2-40B4-BE49-F238E27FC236}">
                <a16:creationId xmlns:a16="http://schemas.microsoft.com/office/drawing/2014/main" id="{43F72277-8D44-4E3B-8A55-2EB29729B6E0}"/>
              </a:ext>
            </a:extLst>
          </p:cNvPr>
          <p:cNvSpPr>
            <a:spLocks xmlns:a="http://schemas.openxmlformats.org/drawingml/2006/main" noGrp="1"/>
          </p:cNvSpPr>
          <p:nvPr/>
        </p:nvSpPr>
        <p:spPr>
          <a:xfrm xmlns:a="http://schemas.openxmlformats.org/drawingml/2006/main">
            <a:off x="2324100" y="2506663"/>
            <a:ext cx="2381250" cy="4492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Konsequenz</a:t>
            </a:r>
          </a:p>
        </p:txBody>
      </p:sp>
      <p:sp>
        <p:nvSpPr>
          <p:cNvPr id="11" name="">
            <a:extLst xmlns:a="http://schemas.openxmlformats.org/drawingml/2006/main">
              <a:ext uri="{FF2B5EF4-FFF2-40B4-BE49-F238E27FC236}">
                <a16:creationId xmlns:a16="http://schemas.microsoft.com/office/drawing/2014/main" id="{5893F17E-25E0-49A6-A4CF-947BE414E9E1}"/>
              </a:ext>
            </a:extLst>
          </p:cNvPr>
          <p:cNvSpPr>
            <a:spLocks xmlns:a="http://schemas.openxmlformats.org/drawingml/2006/main" noGrp="1"/>
          </p:cNvSpPr>
          <p:nvPr/>
        </p:nvSpPr>
        <p:spPr>
          <a:xfrm xmlns:a="http://schemas.openxmlformats.org/drawingml/2006/main">
            <a:off x="4819650" y="2506663"/>
            <a:ext cx="6419850" cy="4492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Welche Entscheidung ändert sich bei positivem, negativem oder unklarem Ergebnis?</a:t>
            </a:r>
          </a:p>
        </p:txBody>
      </p:sp>
      <p:sp>
        <p:nvSpPr>
          <p:cNvPr id="12" name="">
            <a:extLst xmlns:a="http://schemas.openxmlformats.org/drawingml/2006/main">
              <a:ext uri="{FF2B5EF4-FFF2-40B4-BE49-F238E27FC236}">
                <a16:creationId xmlns:a16="http://schemas.microsoft.com/office/drawing/2014/main" id="{EFD40D47-7832-4F4F-9731-EDB2D913D00E}"/>
              </a:ext>
            </a:extLst>
          </p:cNvPr>
          <p:cNvSpPr>
            <a:spLocks xmlns:a="http://schemas.openxmlformats.org/drawingml/2006/main" noGrp="1"/>
          </p:cNvSpPr>
          <p:nvPr/>
        </p:nvSpPr>
        <p:spPr>
          <a:xfrm xmlns:a="http://schemas.openxmlformats.org/drawingml/2006/main">
            <a:off x="1809750" y="3041650"/>
            <a:ext cx="400050" cy="468313"/>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3" name="">
            <a:extLst xmlns:a="http://schemas.openxmlformats.org/drawingml/2006/main">
              <a:ext uri="{FF2B5EF4-FFF2-40B4-BE49-F238E27FC236}">
                <a16:creationId xmlns:a16="http://schemas.microsoft.com/office/drawing/2014/main" id="{CDF63742-D6CD-4111-A277-9C020781E360}"/>
              </a:ext>
            </a:extLst>
          </p:cNvPr>
          <p:cNvSpPr>
            <a:spLocks xmlns:a="http://schemas.openxmlformats.org/drawingml/2006/main" noGrp="1"/>
          </p:cNvSpPr>
          <p:nvPr/>
        </p:nvSpPr>
        <p:spPr>
          <a:xfrm xmlns:a="http://schemas.openxmlformats.org/drawingml/2006/main">
            <a:off x="1809750" y="3041650"/>
            <a:ext cx="400050" cy="468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4" name="">
            <a:extLst xmlns:a="http://schemas.openxmlformats.org/drawingml/2006/main">
              <a:ext uri="{FF2B5EF4-FFF2-40B4-BE49-F238E27FC236}">
                <a16:creationId xmlns:a16="http://schemas.microsoft.com/office/drawing/2014/main" id="{B7EC3F1B-1321-4CB6-B454-82281A61C93E}"/>
              </a:ext>
            </a:extLst>
          </p:cNvPr>
          <p:cNvSpPr>
            <a:spLocks xmlns:a="http://schemas.openxmlformats.org/drawingml/2006/main" noGrp="1"/>
          </p:cNvSpPr>
          <p:nvPr/>
        </p:nvSpPr>
        <p:spPr>
          <a:xfrm xmlns:a="http://schemas.openxmlformats.org/drawingml/2006/main">
            <a:off x="2324100" y="3051175"/>
            <a:ext cx="2381250" cy="4492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Konformität</a:t>
            </a:r>
          </a:p>
        </p:txBody>
      </p:sp>
      <p:sp>
        <p:nvSpPr>
          <p:cNvPr id="15" name="">
            <a:extLst xmlns:a="http://schemas.openxmlformats.org/drawingml/2006/main">
              <a:ext uri="{FF2B5EF4-FFF2-40B4-BE49-F238E27FC236}">
                <a16:creationId xmlns:a16="http://schemas.microsoft.com/office/drawing/2014/main" id="{B7B1AD8C-4A02-45C3-A7CA-57F28FE60C87}"/>
              </a:ext>
            </a:extLst>
          </p:cNvPr>
          <p:cNvSpPr>
            <a:spLocks xmlns:a="http://schemas.openxmlformats.org/drawingml/2006/main" noGrp="1"/>
          </p:cNvSpPr>
          <p:nvPr/>
        </p:nvSpPr>
        <p:spPr>
          <a:xfrm xmlns:a="http://schemas.openxmlformats.org/drawingml/2006/main">
            <a:off x="4819650" y="3051175"/>
            <a:ext cx="6419850" cy="4492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Passt die Maßnahme zu Standard, Leitlinie, Vortestwahrscheinlichkeit und individueller Situation?</a:t>
            </a:r>
          </a:p>
        </p:txBody>
      </p:sp>
      <p:sp>
        <p:nvSpPr>
          <p:cNvPr id="16" name="">
            <a:extLst xmlns:a="http://schemas.openxmlformats.org/drawingml/2006/main">
              <a:ext uri="{FF2B5EF4-FFF2-40B4-BE49-F238E27FC236}">
                <a16:creationId xmlns:a16="http://schemas.microsoft.com/office/drawing/2014/main" id="{105CE914-84A0-4D12-BCCC-E8C29A379F0B}"/>
              </a:ext>
            </a:extLst>
          </p:cNvPr>
          <p:cNvSpPr>
            <a:spLocks xmlns:a="http://schemas.openxmlformats.org/drawingml/2006/main" noGrp="1"/>
          </p:cNvSpPr>
          <p:nvPr/>
        </p:nvSpPr>
        <p:spPr>
          <a:xfrm xmlns:a="http://schemas.openxmlformats.org/drawingml/2006/main">
            <a:off x="1809750" y="3586163"/>
            <a:ext cx="400050" cy="468313"/>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7" name="">
            <a:extLst xmlns:a="http://schemas.openxmlformats.org/drawingml/2006/main">
              <a:ext uri="{FF2B5EF4-FFF2-40B4-BE49-F238E27FC236}">
                <a16:creationId xmlns:a16="http://schemas.microsoft.com/office/drawing/2014/main" id="{71F8B729-25F8-4A11-870A-DF3160C5E68F}"/>
              </a:ext>
            </a:extLst>
          </p:cNvPr>
          <p:cNvSpPr>
            <a:spLocks xmlns:a="http://schemas.openxmlformats.org/drawingml/2006/main" noGrp="1"/>
          </p:cNvSpPr>
          <p:nvPr/>
        </p:nvSpPr>
        <p:spPr>
          <a:xfrm xmlns:a="http://schemas.openxmlformats.org/drawingml/2006/main">
            <a:off x="1809750" y="3586163"/>
            <a:ext cx="400050" cy="468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18" name="">
            <a:extLst xmlns:a="http://schemas.openxmlformats.org/drawingml/2006/main">
              <a:ext uri="{FF2B5EF4-FFF2-40B4-BE49-F238E27FC236}">
                <a16:creationId xmlns:a16="http://schemas.microsoft.com/office/drawing/2014/main" id="{FA885A01-9CEA-426D-9755-D660ED414DB7}"/>
              </a:ext>
            </a:extLst>
          </p:cNvPr>
          <p:cNvSpPr>
            <a:spLocks xmlns:a="http://schemas.openxmlformats.org/drawingml/2006/main" noGrp="1"/>
          </p:cNvSpPr>
          <p:nvPr/>
        </p:nvSpPr>
        <p:spPr>
          <a:xfrm xmlns:a="http://schemas.openxmlformats.org/drawingml/2006/main">
            <a:off x="2324100" y="3595688"/>
            <a:ext cx="2381250" cy="4492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Kollateralschaden</a:t>
            </a:r>
          </a:p>
        </p:txBody>
      </p:sp>
      <p:sp>
        <p:nvSpPr>
          <p:cNvPr id="19" name="">
            <a:extLst xmlns:a="http://schemas.openxmlformats.org/drawingml/2006/main">
              <a:ext uri="{FF2B5EF4-FFF2-40B4-BE49-F238E27FC236}">
                <a16:creationId xmlns:a16="http://schemas.microsoft.com/office/drawing/2014/main" id="{698A80C2-71C2-401E-803D-BD54E0F80235}"/>
              </a:ext>
            </a:extLst>
          </p:cNvPr>
          <p:cNvSpPr>
            <a:spLocks xmlns:a="http://schemas.openxmlformats.org/drawingml/2006/main" noGrp="1"/>
          </p:cNvSpPr>
          <p:nvPr/>
        </p:nvSpPr>
        <p:spPr>
          <a:xfrm xmlns:a="http://schemas.openxmlformats.org/drawingml/2006/main">
            <a:off x="4819650" y="3595688"/>
            <a:ext cx="6419850" cy="4492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Strahlung, Kontrastmittel, Überdiagnose, Zufallsbefund, Wartezeit und Folgeeingriffe abwägen.</a:t>
            </a:r>
          </a:p>
        </p:txBody>
      </p:sp>
      <p:sp>
        <p:nvSpPr>
          <p:cNvPr id="20" name="">
            <a:extLst xmlns:a="http://schemas.openxmlformats.org/drawingml/2006/main">
              <a:ext uri="{FF2B5EF4-FFF2-40B4-BE49-F238E27FC236}">
                <a16:creationId xmlns:a16="http://schemas.microsoft.com/office/drawing/2014/main" id="{06B80824-68B0-40A5-8722-502F62E0141A}"/>
              </a:ext>
            </a:extLst>
          </p:cNvPr>
          <p:cNvSpPr>
            <a:spLocks xmlns:a="http://schemas.openxmlformats.org/drawingml/2006/main" noGrp="1"/>
          </p:cNvSpPr>
          <p:nvPr/>
        </p:nvSpPr>
        <p:spPr>
          <a:xfrm xmlns:a="http://schemas.openxmlformats.org/drawingml/2006/main">
            <a:off x="1809750" y="4130675"/>
            <a:ext cx="400050" cy="468313"/>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1" name="">
            <a:extLst xmlns:a="http://schemas.openxmlformats.org/drawingml/2006/main">
              <a:ext uri="{FF2B5EF4-FFF2-40B4-BE49-F238E27FC236}">
                <a16:creationId xmlns:a16="http://schemas.microsoft.com/office/drawing/2014/main" id="{261B1B6C-ECE5-4554-ABB7-B4AA8AEFB411}"/>
              </a:ext>
            </a:extLst>
          </p:cNvPr>
          <p:cNvSpPr>
            <a:spLocks xmlns:a="http://schemas.openxmlformats.org/drawingml/2006/main" noGrp="1"/>
          </p:cNvSpPr>
          <p:nvPr/>
        </p:nvSpPr>
        <p:spPr>
          <a:xfrm xmlns:a="http://schemas.openxmlformats.org/drawingml/2006/main">
            <a:off x="1809750" y="4130675"/>
            <a:ext cx="400050" cy="468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5</a:t>
            </a:r>
          </a:p>
        </p:txBody>
      </p:sp>
      <p:sp>
        <p:nvSpPr>
          <p:cNvPr id="22" name="">
            <a:extLst xmlns:a="http://schemas.openxmlformats.org/drawingml/2006/main">
              <a:ext uri="{FF2B5EF4-FFF2-40B4-BE49-F238E27FC236}">
                <a16:creationId xmlns:a16="http://schemas.microsoft.com/office/drawing/2014/main" id="{1FC6DEB4-C139-48F0-902F-71A9974464AA}"/>
              </a:ext>
            </a:extLst>
          </p:cNvPr>
          <p:cNvSpPr>
            <a:spLocks xmlns:a="http://schemas.openxmlformats.org/drawingml/2006/main" noGrp="1"/>
          </p:cNvSpPr>
          <p:nvPr/>
        </p:nvSpPr>
        <p:spPr>
          <a:xfrm xmlns:a="http://schemas.openxmlformats.org/drawingml/2006/main">
            <a:off x="2324100" y="4140200"/>
            <a:ext cx="2381250" cy="4492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Kontrolle</a:t>
            </a:r>
          </a:p>
        </p:txBody>
      </p:sp>
      <p:sp>
        <p:nvSpPr>
          <p:cNvPr id="23" name="">
            <a:extLst xmlns:a="http://schemas.openxmlformats.org/drawingml/2006/main">
              <a:ext uri="{FF2B5EF4-FFF2-40B4-BE49-F238E27FC236}">
                <a16:creationId xmlns:a16="http://schemas.microsoft.com/office/drawing/2014/main" id="{F79B19A0-2DD9-4B18-95B7-7D21ACDC740D}"/>
              </a:ext>
            </a:extLst>
          </p:cNvPr>
          <p:cNvSpPr>
            <a:spLocks xmlns:a="http://schemas.openxmlformats.org/drawingml/2006/main" noGrp="1"/>
          </p:cNvSpPr>
          <p:nvPr/>
        </p:nvSpPr>
        <p:spPr>
          <a:xfrm xmlns:a="http://schemas.openxmlformats.org/drawingml/2006/main">
            <a:off x="4819650" y="4140200"/>
            <a:ext cx="6419850" cy="4492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Wenn zunächst nicht getestet wird: Sicherheitsnetz, Warnzeichen, Wiedervorstellung und Verlaufskontrolle festlegen.</a:t>
            </a:r>
          </a:p>
        </p:txBody>
      </p:sp>
      <p:sp>
        <p:nvSpPr>
          <p:cNvPr id="24" name="">
            <a:extLst xmlns:a="http://schemas.openxmlformats.org/drawingml/2006/main">
              <a:ext uri="{FF2B5EF4-FFF2-40B4-BE49-F238E27FC236}">
                <a16:creationId xmlns:a16="http://schemas.microsoft.com/office/drawing/2014/main" id="{5B5B078D-DB4B-43AD-8610-4EAB649A8F37}"/>
              </a:ext>
            </a:extLst>
          </p:cNvPr>
          <p:cNvSpPr>
            <a:spLocks xmlns:a="http://schemas.openxmlformats.org/drawingml/2006/main" noGrp="1"/>
          </p:cNvSpPr>
          <p:nvPr/>
        </p:nvSpPr>
        <p:spPr>
          <a:xfrm xmlns:a="http://schemas.openxmlformats.org/drawingml/2006/main">
            <a:off x="1809750" y="4675188"/>
            <a:ext cx="400050" cy="468313"/>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25" name="">
            <a:extLst xmlns:a="http://schemas.openxmlformats.org/drawingml/2006/main">
              <a:ext uri="{FF2B5EF4-FFF2-40B4-BE49-F238E27FC236}">
                <a16:creationId xmlns:a16="http://schemas.microsoft.com/office/drawing/2014/main" id="{4953EA2A-812B-464E-A877-06912C029AB6}"/>
              </a:ext>
            </a:extLst>
          </p:cNvPr>
          <p:cNvSpPr>
            <a:spLocks xmlns:a="http://schemas.openxmlformats.org/drawingml/2006/main" noGrp="1"/>
          </p:cNvSpPr>
          <p:nvPr/>
        </p:nvSpPr>
        <p:spPr>
          <a:xfrm xmlns:a="http://schemas.openxmlformats.org/drawingml/2006/main">
            <a:off x="1809750" y="4675188"/>
            <a:ext cx="400050" cy="468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6</a:t>
            </a:r>
          </a:p>
        </p:txBody>
      </p:sp>
      <p:sp>
        <p:nvSpPr>
          <p:cNvPr id="26" name="">
            <a:extLst xmlns:a="http://schemas.openxmlformats.org/drawingml/2006/main">
              <a:ext uri="{FF2B5EF4-FFF2-40B4-BE49-F238E27FC236}">
                <a16:creationId xmlns:a16="http://schemas.microsoft.com/office/drawing/2014/main" id="{9D471D99-9113-4664-85BC-D1B4273456AB}"/>
              </a:ext>
            </a:extLst>
          </p:cNvPr>
          <p:cNvSpPr>
            <a:spLocks xmlns:a="http://schemas.openxmlformats.org/drawingml/2006/main" noGrp="1"/>
          </p:cNvSpPr>
          <p:nvPr/>
        </p:nvSpPr>
        <p:spPr>
          <a:xfrm xmlns:a="http://schemas.openxmlformats.org/drawingml/2006/main">
            <a:off x="2324100" y="4684713"/>
            <a:ext cx="2381250" cy="4492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 R</a:t>
            </a:r>
          </a:p>
        </p:txBody>
      </p:sp>
      <p:sp>
        <p:nvSpPr>
          <p:cNvPr id="27" name="">
            <a:extLst xmlns:a="http://schemas.openxmlformats.org/drawingml/2006/main">
              <a:ext uri="{FF2B5EF4-FFF2-40B4-BE49-F238E27FC236}">
                <a16:creationId xmlns:a16="http://schemas.microsoft.com/office/drawing/2014/main" id="{FC5B62BE-3743-477F-9A32-D3DDC6AD0F3C}"/>
              </a:ext>
            </a:extLst>
          </p:cNvPr>
          <p:cNvSpPr>
            <a:spLocks xmlns:a="http://schemas.openxmlformats.org/drawingml/2006/main" noGrp="1"/>
          </p:cNvSpPr>
          <p:nvPr/>
        </p:nvSpPr>
        <p:spPr>
          <a:xfrm xmlns:a="http://schemas.openxmlformats.org/drawingml/2006/main">
            <a:off x="4819650" y="4684713"/>
            <a:ext cx="6419850" cy="4492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Bei Röntgen/CT ist die rechtfertigende Indikation eigenständig zu stellen; Patientenwunsch oder Fremdanforderung ersetzt sie nicht.</a:t>
            </a:r>
          </a:p>
        </p:txBody>
      </p:sp>
      <p:sp>
        <p:nvSpPr>
          <p:cNvPr id="28" name="">
            <a:extLst xmlns:a="http://schemas.openxmlformats.org/drawingml/2006/main">
              <a:ext uri="{FF2B5EF4-FFF2-40B4-BE49-F238E27FC236}">
                <a16:creationId xmlns:a16="http://schemas.microsoft.com/office/drawing/2014/main" id="{263DD119-6DC3-4507-9C05-C5F2F03283A6}"/>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638">
                <a:solidFill>
                  <a:srgbClr val="667680"/>
                </a:solidFill>
              </a:defRPr>
            </a:pPr>
            <a:r>
              <a:rPr sz="638">
                <a:solidFill>
                  <a:srgbClr val="667680"/>
                </a:solidFill>
              </a:rPr>
              <a:t>§ 83 StrlSchG; § 119 StrlSchV; Recht Medizinisch, Fachbeitrag „Absicherungsmedizin“, bereitgestellte Fassung 2026 · https://podcasts.apple.com/us/podcast/recht-medizinisch/id1896818482</a:t>
            </a:r>
          </a:p>
        </p:txBody>
      </p:sp>
      <p:sp>
        <p:nvSpPr>
          <p:cNvPr id="29" name="">
            <a:extLst xmlns:a="http://schemas.openxmlformats.org/drawingml/2006/main">
              <a:ext uri="{FF2B5EF4-FFF2-40B4-BE49-F238E27FC236}">
                <a16:creationId xmlns:a16="http://schemas.microsoft.com/office/drawing/2014/main" id="{781B0499-B91E-496E-9356-98B56D739883}"/>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30" name="">
            <a:extLst xmlns:a="http://schemas.openxmlformats.org/drawingml/2006/main">
              <a:ext uri="{FF2B5EF4-FFF2-40B4-BE49-F238E27FC236}">
                <a16:creationId xmlns:a16="http://schemas.microsoft.com/office/drawing/2014/main" id="{7440C5A4-4ED8-47A3-BBE8-15E06A495D65}"/>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Eine Untersuchung ist rechtlich stark, wenn sie eine klinische Entscheidung verbessert – nicht wenn sie nur Angst reduziert.</a:t>
            </a:r>
          </a:p>
        </p:txBody>
      </p:sp>
    </p:spTree>
    <p:extLst>
      <p:ext uri="{BB962C8B-B14F-4D97-AF65-F5344CB8AC3E}">
        <p14:creationId xmlns:p14="http://schemas.microsoft.com/office/powerpoint/2010/main" val="43637646"/>
      </p:ext>
    </p:extLst>
  </p:cSld>
</p:sld>
</file>

<file path=ppt/slides/slide378.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Leitlinie und SOP strukturieren den Standard, ersetzen aber kein ärztliches Urteil</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PODCAST-PRAXISFALL · STANDARD UND ENTSCHEIDUNGSSPIELRAUM</a:t>
            </a:r>
            <a:endParaRPr/>
          </a:p>
        </p:txBody>
      </p:sp>
      <p:sp>
        <p:nvSpPr>
          <p:cNvPr id="4" name="">
            <a:extLst xmlns:a="http://schemas.openxmlformats.org/drawingml/2006/main">
              <a:ext uri="{FF2B5EF4-FFF2-40B4-BE49-F238E27FC236}">
                <a16:creationId xmlns:a16="http://schemas.microsoft.com/office/drawing/2014/main" id="{8B1640E5-FBCC-4574-B1CA-DAF37B741EDB}"/>
              </a:ext>
            </a:extLst>
          </p:cNvPr>
          <p:cNvSpPr>
            <a:spLocks xmlns:a="http://schemas.openxmlformats.org/drawingml/2006/main" noGrp="1"/>
          </p:cNvSpPr>
          <p:nvPr/>
        </p:nvSpPr>
        <p:spPr>
          <a:xfrm xmlns:a="http://schemas.openxmlformats.org/drawingml/2006/main">
            <a:off x="1809750" y="2000250"/>
            <a:ext cx="4619625" cy="3286125"/>
          </a:xfrm>
          <a:prstGeom xmlns:a="http://schemas.openxmlformats.org/drawingml/2006/main" prst="roundRect">
            <a:avLst>
              <a:gd name="adj" fmla="val 2319"/>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7EB63DF2-1566-4DC9-A5DD-516809A3E6AC}"/>
              </a:ext>
            </a:extLst>
          </p:cNvPr>
          <p:cNvSpPr>
            <a:spLocks xmlns:a="http://schemas.openxmlformats.org/drawingml/2006/main" noGrp="1"/>
          </p:cNvSpPr>
          <p:nvPr/>
        </p:nvSpPr>
        <p:spPr>
          <a:xfrm xmlns:a="http://schemas.openxmlformats.org/drawingml/2006/main">
            <a:off x="1809750" y="2000250"/>
            <a:ext cx="4619625"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9ED22E5A-63EE-43DC-8AAC-49F60687710F}"/>
              </a:ext>
            </a:extLst>
          </p:cNvPr>
          <p:cNvSpPr>
            <a:spLocks xmlns:a="http://schemas.openxmlformats.org/drawingml/2006/main" noGrp="1"/>
          </p:cNvSpPr>
          <p:nvPr/>
        </p:nvSpPr>
        <p:spPr>
          <a:xfrm xmlns:a="http://schemas.openxmlformats.org/drawingml/2006/main">
            <a:off x="1962150" y="2133600"/>
            <a:ext cx="4314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75" b="1">
                <a:solidFill>
                  <a:srgbClr val="003F6B"/>
                </a:solidFill>
              </a:defRPr>
            </a:pPr>
            <a:r>
              <a:rPr sz="1575" b="1">
                <a:solidFill>
                  <a:srgbClr val="003F6B"/>
                </a:solidFill>
              </a:rPr>
              <a:t>Was Leitlinie und SOP leisten</a:t>
            </a:r>
          </a:p>
        </p:txBody>
      </p:sp>
      <p:sp>
        <p:nvSpPr>
          <p:cNvPr id="7" name="">
            <a:extLst xmlns:a="http://schemas.openxmlformats.org/drawingml/2006/main">
              <a:ext uri="{FF2B5EF4-FFF2-40B4-BE49-F238E27FC236}">
                <a16:creationId xmlns:a16="http://schemas.microsoft.com/office/drawing/2014/main" id="{E0D45BA6-227B-4C71-9750-0872906B4101}"/>
              </a:ext>
            </a:extLst>
          </p:cNvPr>
          <p:cNvSpPr>
            <a:spLocks xmlns:a="http://schemas.openxmlformats.org/drawingml/2006/main" noGrp="1"/>
          </p:cNvSpPr>
          <p:nvPr/>
        </p:nvSpPr>
        <p:spPr>
          <a:xfrm xmlns:a="http://schemas.openxmlformats.org/drawingml/2006/main">
            <a:off x="1962150" y="2571750"/>
            <a:ext cx="4314825"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15232B"/>
                </a:solidFill>
              </a:defRPr>
            </a:pPr>
            <a:r>
              <a:rPr sz="1200">
                <a:solidFill>
                  <a:srgbClr val="15232B"/>
                </a:solidFill>
              </a:rPr>
              <a:t>• evidenzbasierte Orientierung und Organisationsstandard</a:t>
            </a:r>
          </a:p>
          <a:p xmlns:a="http://schemas.openxmlformats.org/drawingml/2006/main">
            <a:pPr>
              <a:buNone/>
              <a:defRPr sz="1200">
                <a:solidFill>
                  <a:srgbClr val="15232B"/>
                </a:solidFill>
              </a:defRPr>
            </a:pPr>
            <a:r>
              <a:rPr sz="1200">
                <a:solidFill>
                  <a:srgbClr val="15232B"/>
                </a:solidFill>
              </a:rPr>
              <a:t>• Sicherheitsbarrieren, Zuständigkeiten und Mindestprozesse</a:t>
            </a:r>
          </a:p>
          <a:p xmlns:a="http://schemas.openxmlformats.org/drawingml/2006/main">
            <a:pPr>
              <a:buNone/>
              <a:defRPr sz="1200">
                <a:solidFill>
                  <a:srgbClr val="15232B"/>
                </a:solidFill>
              </a:defRPr>
            </a:pPr>
            <a:r>
              <a:rPr sz="1200">
                <a:solidFill>
                  <a:srgbClr val="15232B"/>
                </a:solidFill>
              </a:rPr>
              <a:t>• Begründungsrahmen für typische Situationen</a:t>
            </a:r>
          </a:p>
        </p:txBody>
      </p:sp>
      <p:sp>
        <p:nvSpPr>
          <p:cNvPr id="8" name="">
            <a:extLst xmlns:a="http://schemas.openxmlformats.org/drawingml/2006/main">
              <a:ext uri="{FF2B5EF4-FFF2-40B4-BE49-F238E27FC236}">
                <a16:creationId xmlns:a16="http://schemas.microsoft.com/office/drawing/2014/main" id="{8F7EEA88-117B-45CD-88B8-EFED870740EA}"/>
              </a:ext>
            </a:extLst>
          </p:cNvPr>
          <p:cNvSpPr>
            <a:spLocks xmlns:a="http://schemas.openxmlformats.org/drawingml/2006/main" noGrp="1"/>
          </p:cNvSpPr>
          <p:nvPr/>
        </p:nvSpPr>
        <p:spPr>
          <a:xfrm xmlns:a="http://schemas.openxmlformats.org/drawingml/2006/main">
            <a:off x="6715125" y="2000250"/>
            <a:ext cx="4619625" cy="3286125"/>
          </a:xfrm>
          <a:prstGeom xmlns:a="http://schemas.openxmlformats.org/drawingml/2006/main" prst="roundRect">
            <a:avLst>
              <a:gd name="adj" fmla="val 2319"/>
            </a:avLst>
          </a:prstGeom>
          <a:noFill xmlns:a="http://schemas.openxmlformats.org/drawingml/2006/main"/>
          <a:ln xmlns:a="http://schemas.openxmlformats.org/drawingml/2006/main" w="9525">
            <a:solidFill>
              <a:srgbClr val="B9CAD2"/>
            </a:solidFill>
            <a:prstDash val="solid"/>
          </a:ln>
        </p:spPr>
      </p:sp>
      <p:sp>
        <p:nvSpPr>
          <p:cNvPr id="9" name="">
            <a:extLst xmlns:a="http://schemas.openxmlformats.org/drawingml/2006/main">
              <a:ext uri="{FF2B5EF4-FFF2-40B4-BE49-F238E27FC236}">
                <a16:creationId xmlns:a16="http://schemas.microsoft.com/office/drawing/2014/main" id="{7C665157-A2D6-4775-A715-1A1127972195}"/>
              </a:ext>
            </a:extLst>
          </p:cNvPr>
          <p:cNvSpPr>
            <a:spLocks xmlns:a="http://schemas.openxmlformats.org/drawingml/2006/main" noGrp="1"/>
          </p:cNvSpPr>
          <p:nvPr/>
        </p:nvSpPr>
        <p:spPr>
          <a:xfrm xmlns:a="http://schemas.openxmlformats.org/drawingml/2006/main">
            <a:off x="6715125" y="2000250"/>
            <a:ext cx="4619625"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86E6E5CA-E10A-4572-8DF1-8956FF98622F}"/>
              </a:ext>
            </a:extLst>
          </p:cNvPr>
          <p:cNvSpPr>
            <a:spLocks xmlns:a="http://schemas.openxmlformats.org/drawingml/2006/main" noGrp="1"/>
          </p:cNvSpPr>
          <p:nvPr/>
        </p:nvSpPr>
        <p:spPr>
          <a:xfrm xmlns:a="http://schemas.openxmlformats.org/drawingml/2006/main">
            <a:off x="6867525" y="2133600"/>
            <a:ext cx="4314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75" b="1">
                <a:solidFill>
                  <a:srgbClr val="003F6B"/>
                </a:solidFill>
              </a:defRPr>
            </a:pPr>
            <a:r>
              <a:rPr sz="1575" b="1">
                <a:solidFill>
                  <a:srgbClr val="003F6B"/>
                </a:solidFill>
              </a:rPr>
              <a:t>Was trotzdem individuell bleibt</a:t>
            </a:r>
          </a:p>
        </p:txBody>
      </p:sp>
      <p:sp>
        <p:nvSpPr>
          <p:cNvPr id="11" name="">
            <a:extLst xmlns:a="http://schemas.openxmlformats.org/drawingml/2006/main">
              <a:ext uri="{FF2B5EF4-FFF2-40B4-BE49-F238E27FC236}">
                <a16:creationId xmlns:a16="http://schemas.microsoft.com/office/drawing/2014/main" id="{C20B0F00-83D4-4E04-A23C-6DE48B2F82DD}"/>
              </a:ext>
            </a:extLst>
          </p:cNvPr>
          <p:cNvSpPr>
            <a:spLocks xmlns:a="http://schemas.openxmlformats.org/drawingml/2006/main" noGrp="1"/>
          </p:cNvSpPr>
          <p:nvPr/>
        </p:nvSpPr>
        <p:spPr>
          <a:xfrm xmlns:a="http://schemas.openxmlformats.org/drawingml/2006/main">
            <a:off x="6867525" y="2571750"/>
            <a:ext cx="4314825"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15232B"/>
                </a:solidFill>
              </a:defRPr>
            </a:pPr>
            <a:r>
              <a:rPr sz="1200">
                <a:solidFill>
                  <a:srgbClr val="15232B"/>
                </a:solidFill>
              </a:rPr>
              <a:t>• Anwendbarkeit auf die konkrete Patientin oder den konkreten Patienten</a:t>
            </a:r>
          </a:p>
          <a:p xmlns:a="http://schemas.openxmlformats.org/drawingml/2006/main">
            <a:pPr>
              <a:buNone/>
              <a:defRPr sz="1200">
                <a:solidFill>
                  <a:srgbClr val="15232B"/>
                </a:solidFill>
              </a:defRPr>
            </a:pPr>
            <a:r>
              <a:rPr sz="1200">
                <a:solidFill>
                  <a:srgbClr val="15232B"/>
                </a:solidFill>
              </a:rPr>
              <a:t>• begründete Abweichung bei Komorbidität, Zielkonflikt oder Ressourcenlage</a:t>
            </a:r>
          </a:p>
          <a:p xmlns:a="http://schemas.openxmlformats.org/drawingml/2006/main">
            <a:pPr>
              <a:buNone/>
              <a:defRPr sz="1200">
                <a:solidFill>
                  <a:srgbClr val="15232B"/>
                </a:solidFill>
              </a:defRPr>
            </a:pPr>
            <a:r>
              <a:rPr sz="1200">
                <a:solidFill>
                  <a:srgbClr val="15232B"/>
                </a:solidFill>
              </a:rPr>
              <a:t>• Dokumentation der entscheidungserheblichen Gründe – nicht bloß des Leitliniennamens</a:t>
            </a:r>
          </a:p>
        </p:txBody>
      </p:sp>
      <p:sp>
        <p:nvSpPr>
          <p:cNvPr id="12" name="">
            <a:extLst xmlns:a="http://schemas.openxmlformats.org/drawingml/2006/main">
              <a:ext uri="{FF2B5EF4-FFF2-40B4-BE49-F238E27FC236}">
                <a16:creationId xmlns:a16="http://schemas.microsoft.com/office/drawing/2014/main" id="{D09346BB-D02D-4267-B275-FB8AA9B2EB64}"/>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13" name="">
            <a:extLst xmlns:a="http://schemas.openxmlformats.org/drawingml/2006/main">
              <a:ext uri="{FF2B5EF4-FFF2-40B4-BE49-F238E27FC236}">
                <a16:creationId xmlns:a16="http://schemas.microsoft.com/office/drawing/2014/main" id="{FE64A8E4-D15D-414E-A6BE-D104860AEFAB}"/>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Abweichung ist nicht automatisch Fehler; unbegründete Routine ist nicht automatisch Standard.</a:t>
            </a:r>
          </a:p>
        </p:txBody>
      </p:sp>
    </p:spTree>
    <p:extLst>
      <p:ext uri="{BB962C8B-B14F-4D97-AF65-F5344CB8AC3E}">
        <p14:creationId xmlns:p14="http://schemas.microsoft.com/office/powerpoint/2010/main" val="43637646"/>
      </p:ext>
    </p:extLst>
  </p:cSld>
</p:sld>
</file>

<file path=ppt/slides/slide379.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Dokumentation ohne Textlawine</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50953CD5-6ACC-4672-8754-682879972E39}"/>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Rechtlich hilfreiche Dokumentation macht entscheidende Informationen sichtbar; Textmenge allein schafft keine Qualität.</a:t>
            </a:r>
          </a:p>
        </p:txBody>
      </p:sp>
      <p:sp>
        <p:nvSpPr>
          <p:cNvPr id="5" name="">
            <a:extLst xmlns:a="http://schemas.openxmlformats.org/drawingml/2006/main">
              <a:ext uri="{FF2B5EF4-FFF2-40B4-BE49-F238E27FC236}">
                <a16:creationId xmlns:a16="http://schemas.microsoft.com/office/drawing/2014/main" id="{50067E73-2CF5-4B6C-8BC4-DE5E475FF6AA}"/>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05DADEAB-1B3E-4B7C-88E0-165C6BBE538B}"/>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1C592EDA-53CE-4CAD-8861-1C7B2DB93C1F}"/>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Relevante Positiva und Negativa</a:t>
            </a:r>
          </a:p>
        </p:txBody>
      </p:sp>
      <p:sp>
        <p:nvSpPr>
          <p:cNvPr id="8" name="">
            <a:extLst xmlns:a="http://schemas.openxmlformats.org/drawingml/2006/main">
              <a:ext uri="{FF2B5EF4-FFF2-40B4-BE49-F238E27FC236}">
                <a16:creationId xmlns:a16="http://schemas.microsoft.com/office/drawing/2014/main" id="{83835ADD-8ED7-4FE6-9E18-15E29D98EB7A}"/>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Entscheidungstragende Befunde und gezielt geprüfte Warnzeichen werden konkret benannt.</a:t>
            </a:r>
          </a:p>
        </p:txBody>
      </p:sp>
      <p:sp>
        <p:nvSpPr>
          <p:cNvPr id="9" name="">
            <a:extLst xmlns:a="http://schemas.openxmlformats.org/drawingml/2006/main">
              <a:ext uri="{FF2B5EF4-FFF2-40B4-BE49-F238E27FC236}">
                <a16:creationId xmlns:a16="http://schemas.microsoft.com/office/drawing/2014/main" id="{87FF9C7A-B7E6-4B3A-9016-AC25AA9BB4A5}"/>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F2DA4225-2C1B-4849-BCE5-CC4C259DE15D}"/>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48F43BD0-C76B-47C4-831F-EE45A0317195}"/>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Assessment</a:t>
            </a:r>
          </a:p>
        </p:txBody>
      </p:sp>
      <p:sp>
        <p:nvSpPr>
          <p:cNvPr id="12" name="">
            <a:extLst xmlns:a="http://schemas.openxmlformats.org/drawingml/2006/main">
              <a:ext uri="{FF2B5EF4-FFF2-40B4-BE49-F238E27FC236}">
                <a16:creationId xmlns:a16="http://schemas.microsoft.com/office/drawing/2014/main" id="{2CE9D97D-288D-4A72-96AA-4CA21B86EE03}"/>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Differenzialdiagnosen, Wahrscheinlichkeiten und Gründe für die gewählte Option werden nachvollziehbar.</a:t>
            </a:r>
          </a:p>
        </p:txBody>
      </p:sp>
      <p:sp>
        <p:nvSpPr>
          <p:cNvPr id="13" name="">
            <a:extLst xmlns:a="http://schemas.openxmlformats.org/drawingml/2006/main">
              <a:ext uri="{FF2B5EF4-FFF2-40B4-BE49-F238E27FC236}">
                <a16:creationId xmlns:a16="http://schemas.microsoft.com/office/drawing/2014/main" id="{5D58FFAB-EE36-48D4-99DC-5E926D5E9F0C}"/>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FAE6FD40-A141-47C7-A7F1-5FAC3C77CB7D}"/>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3DCF6FA2-CDDA-4E0A-80AD-CBB7C3663F3B}"/>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Plan</a:t>
            </a:r>
          </a:p>
        </p:txBody>
      </p:sp>
      <p:sp>
        <p:nvSpPr>
          <p:cNvPr id="16" name="">
            <a:extLst xmlns:a="http://schemas.openxmlformats.org/drawingml/2006/main">
              <a:ext uri="{FF2B5EF4-FFF2-40B4-BE49-F238E27FC236}">
                <a16:creationId xmlns:a16="http://schemas.microsoft.com/office/drawing/2014/main" id="{715EDBD0-8F1A-4983-B260-1A6FA5A7DCD3}"/>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Therapie, Kontrolle, Wiedervorstellung und Eskalationskriterien werden eindeutig.</a:t>
            </a:r>
          </a:p>
        </p:txBody>
      </p:sp>
      <p:sp>
        <p:nvSpPr>
          <p:cNvPr id="17" name="">
            <a:extLst xmlns:a="http://schemas.openxmlformats.org/drawingml/2006/main">
              <a:ext uri="{FF2B5EF4-FFF2-40B4-BE49-F238E27FC236}">
                <a16:creationId xmlns:a16="http://schemas.microsoft.com/office/drawing/2014/main" id="{D1609CDF-7806-4A36-8E95-DBD75DE4EDC3}"/>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B606CFAF-70E6-42C4-B26E-55005E7C9633}"/>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10567F10-8D06-44EE-A622-C46B0BAF42A6}"/>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Individualität</a:t>
            </a:r>
          </a:p>
        </p:txBody>
      </p:sp>
      <p:sp>
        <p:nvSpPr>
          <p:cNvPr id="20" name="">
            <a:extLst xmlns:a="http://schemas.openxmlformats.org/drawingml/2006/main">
              <a:ext uri="{FF2B5EF4-FFF2-40B4-BE49-F238E27FC236}">
                <a16:creationId xmlns:a16="http://schemas.microsoft.com/office/drawing/2014/main" id="{7699AAD0-A699-4270-A451-A1ACC41E2621}"/>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Textbausteine werden angepasst; widersprüchliche Copy-paste-Inhalte gefährden Versorgung und Beweiswert.</a:t>
            </a:r>
          </a:p>
        </p:txBody>
      </p:sp>
      <p:sp>
        <p:nvSpPr>
          <p:cNvPr id="21" name="">
            <a:extLst xmlns:a="http://schemas.openxmlformats.org/drawingml/2006/main">
              <a:ext uri="{FF2B5EF4-FFF2-40B4-BE49-F238E27FC236}">
                <a16:creationId xmlns:a16="http://schemas.microsoft.com/office/drawing/2014/main" id="{96B316B2-CB3A-43FF-ADCB-8E6D2B6EEAEF}"/>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6136936E-6E96-4337-B46C-9326AA508926}"/>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Die Akte sollte erklären, warum die Entscheidung für diesen Patienten zu diesem Zeitpunkt vertretbar war.</a:t>
            </a:r>
          </a:p>
        </p:txBody>
      </p:sp>
    </p:spTree>
    <p:extLst>
      <p:ext uri="{BB962C8B-B14F-4D97-AF65-F5344CB8AC3E}">
        <p14:creationId xmlns:p14="http://schemas.microsoft.com/office/powerpoint/2010/main" val="43637646"/>
      </p:ext>
    </p:extLst>
  </p:cSld>
</p:sld>
</file>

<file path=ppt/slides/slide380.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Shared Decision Making als Risikokompetenz</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D8DF6EC5-0915-4BB9-8609-7AF6E4D5D923}"/>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Gemeinsame Entscheidungsfindung verbindet medizinische Evidenz mit den Werten der betroffenen Person.</a:t>
            </a:r>
          </a:p>
        </p:txBody>
      </p:sp>
      <p:sp>
        <p:nvSpPr>
          <p:cNvPr id="5" name="">
            <a:extLst xmlns:a="http://schemas.openxmlformats.org/drawingml/2006/main">
              <a:ext uri="{FF2B5EF4-FFF2-40B4-BE49-F238E27FC236}">
                <a16:creationId xmlns:a16="http://schemas.microsoft.com/office/drawing/2014/main" id="{662CD10D-C756-46B3-9F57-A7A7BDA1D3B3}"/>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151AAC8F-914C-4F84-B39B-96C3E6D475BE}"/>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0B29E3F8-298C-419A-909F-256417000C24}"/>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Optionen</a:t>
            </a:r>
          </a:p>
        </p:txBody>
      </p:sp>
      <p:sp>
        <p:nvSpPr>
          <p:cNvPr id="8" name="">
            <a:extLst xmlns:a="http://schemas.openxmlformats.org/drawingml/2006/main">
              <a:ext uri="{FF2B5EF4-FFF2-40B4-BE49-F238E27FC236}">
                <a16:creationId xmlns:a16="http://schemas.microsoft.com/office/drawing/2014/main" id="{D0697D5F-A5FA-47A7-B013-ABF0A1ACFDE7}"/>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Vertretbare Möglichkeiten einschließlich Abwarten werden benannt.</a:t>
            </a:r>
          </a:p>
        </p:txBody>
      </p:sp>
      <p:sp>
        <p:nvSpPr>
          <p:cNvPr id="9" name="">
            <a:extLst xmlns:a="http://schemas.openxmlformats.org/drawingml/2006/main">
              <a:ext uri="{FF2B5EF4-FFF2-40B4-BE49-F238E27FC236}">
                <a16:creationId xmlns:a16="http://schemas.microsoft.com/office/drawing/2014/main" id="{C247B041-1ACF-45C7-8535-AA48B9854EF9}"/>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93E02F60-F50B-4435-87C1-F2F98CDBBCE1}"/>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65EBA5EA-255E-4C2E-8186-72D0A5F45A8E}"/>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Nutzen und Schaden</a:t>
            </a:r>
          </a:p>
        </p:txBody>
      </p:sp>
      <p:sp>
        <p:nvSpPr>
          <p:cNvPr id="12" name="">
            <a:extLst xmlns:a="http://schemas.openxmlformats.org/drawingml/2006/main">
              <a:ext uri="{FF2B5EF4-FFF2-40B4-BE49-F238E27FC236}">
                <a16:creationId xmlns:a16="http://schemas.microsoft.com/office/drawing/2014/main" id="{972F88F5-165B-4865-9651-ECA3CE0296F7}"/>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Wahrscheinlichkeiten und Konsequenzen werden verständlich und ausgewogen dargestellt.</a:t>
            </a:r>
          </a:p>
        </p:txBody>
      </p:sp>
      <p:sp>
        <p:nvSpPr>
          <p:cNvPr id="13" name="">
            <a:extLst xmlns:a="http://schemas.openxmlformats.org/drawingml/2006/main">
              <a:ext uri="{FF2B5EF4-FFF2-40B4-BE49-F238E27FC236}">
                <a16:creationId xmlns:a16="http://schemas.microsoft.com/office/drawing/2014/main" id="{EA196CA8-CFE9-4A10-A422-D5EB4DF29A74}"/>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BFE60DDB-01E6-4DFD-9F92-E05A6B1ADA4A}"/>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B69A350C-7EB2-48C4-8F00-F29B8C28DDBC}"/>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Präferenzen</a:t>
            </a:r>
          </a:p>
        </p:txBody>
      </p:sp>
      <p:sp>
        <p:nvSpPr>
          <p:cNvPr id="16" name="">
            <a:extLst xmlns:a="http://schemas.openxmlformats.org/drawingml/2006/main">
              <a:ext uri="{FF2B5EF4-FFF2-40B4-BE49-F238E27FC236}">
                <a16:creationId xmlns:a16="http://schemas.microsoft.com/office/drawing/2014/main" id="{F88E7C4A-EA4A-4F70-A5A9-6F61B8CA45F9}"/>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Alltag, Beruf, Risikohaltung und Behandlungsziele fließen in die Wahl ein.</a:t>
            </a:r>
          </a:p>
        </p:txBody>
      </p:sp>
      <p:sp>
        <p:nvSpPr>
          <p:cNvPr id="17" name="">
            <a:extLst xmlns:a="http://schemas.openxmlformats.org/drawingml/2006/main">
              <a:ext uri="{FF2B5EF4-FFF2-40B4-BE49-F238E27FC236}">
                <a16:creationId xmlns:a16="http://schemas.microsoft.com/office/drawing/2014/main" id="{37FBA821-4BFC-452D-991E-1C48C0E9BBF1}"/>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7AE12F13-B22F-4221-91D4-A79B6895D613}"/>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68D8B923-92F7-4A8C-A884-57FA6D07B84E}"/>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Entscheidung und Plan</a:t>
            </a:r>
          </a:p>
        </p:txBody>
      </p:sp>
      <p:sp>
        <p:nvSpPr>
          <p:cNvPr id="20" name="">
            <a:extLst xmlns:a="http://schemas.openxmlformats.org/drawingml/2006/main">
              <a:ext uri="{FF2B5EF4-FFF2-40B4-BE49-F238E27FC236}">
                <a16:creationId xmlns:a16="http://schemas.microsoft.com/office/drawing/2014/main" id="{22519997-364B-4922-8828-44D3EBD6DF73}"/>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Die gemeinsame Wahl, Unsicherheiten und Sicherheitsmaßnahmen werden dokumentiert.</a:t>
            </a:r>
          </a:p>
        </p:txBody>
      </p:sp>
      <p:sp>
        <p:nvSpPr>
          <p:cNvPr id="21" name="">
            <a:extLst xmlns:a="http://schemas.openxmlformats.org/drawingml/2006/main">
              <a:ext uri="{FF2B5EF4-FFF2-40B4-BE49-F238E27FC236}">
                <a16:creationId xmlns:a16="http://schemas.microsoft.com/office/drawing/2014/main" id="{A418893A-A17A-4482-8A20-F2B8CB5A51C0}"/>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34103887-C5C3-432A-914E-751825646CA6}"/>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Gute Einwilligung ist nicht Abwehrdokumentation, sondern qualifizierte Entscheidungskommunikation.</a:t>
            </a:r>
          </a:p>
        </p:txBody>
      </p:sp>
    </p:spTree>
    <p:extLst>
      <p:ext uri="{BB962C8B-B14F-4D97-AF65-F5344CB8AC3E}">
        <p14:creationId xmlns:p14="http://schemas.microsoft.com/office/powerpoint/2010/main" val="43637646"/>
      </p:ext>
    </p:extLst>
  </p:cSld>
</p:sld>
</file>

<file path=ppt/slides/slide381.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M&amp;M, CIRS und Just Culture</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D83E081E-F18E-4D31-AC69-90B8195852C9}"/>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Patientensicherheit braucht eine Kultur, die Lernbereitschaft und Verantwortlichkeit differenziert verbindet.</a:t>
            </a:r>
          </a:p>
        </p:txBody>
      </p:sp>
      <p:sp>
        <p:nvSpPr>
          <p:cNvPr id="5" name="">
            <a:extLst xmlns:a="http://schemas.openxmlformats.org/drawingml/2006/main">
              <a:ext uri="{FF2B5EF4-FFF2-40B4-BE49-F238E27FC236}">
                <a16:creationId xmlns:a16="http://schemas.microsoft.com/office/drawing/2014/main" id="{8FDE7E7D-A373-40AE-948B-E84478BC5556}"/>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3341CAA7-B7B4-4C7C-A236-FCAD993FD8C8}"/>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541B53DA-35F6-4518-ABAB-9E5A157287F4}"/>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Menschlicher Fehler</a:t>
            </a:r>
          </a:p>
        </p:txBody>
      </p:sp>
      <p:sp>
        <p:nvSpPr>
          <p:cNvPr id="8" name="">
            <a:extLst xmlns:a="http://schemas.openxmlformats.org/drawingml/2006/main">
              <a:ext uri="{FF2B5EF4-FFF2-40B4-BE49-F238E27FC236}">
                <a16:creationId xmlns:a16="http://schemas.microsoft.com/office/drawing/2014/main" id="{105A7788-A915-4577-B1C2-4148DD9C43AC}"/>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Unbeabsichtigte Fehler werden durch Systemgestaltung, Training und Barrieren reduziert.</a:t>
            </a:r>
          </a:p>
        </p:txBody>
      </p:sp>
      <p:sp>
        <p:nvSpPr>
          <p:cNvPr id="9" name="">
            <a:extLst xmlns:a="http://schemas.openxmlformats.org/drawingml/2006/main">
              <a:ext uri="{FF2B5EF4-FFF2-40B4-BE49-F238E27FC236}">
                <a16:creationId xmlns:a16="http://schemas.microsoft.com/office/drawing/2014/main" id="{392C3B80-6E00-44EC-AE55-861D0F89E67D}"/>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F3781C6D-08BB-4D3C-A19B-AE9FCB0D6E03}"/>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283940A7-F370-487A-AC57-1B77B1349831}"/>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Riskantes Verhalten</a:t>
            </a:r>
          </a:p>
        </p:txBody>
      </p:sp>
      <p:sp>
        <p:nvSpPr>
          <p:cNvPr id="12" name="">
            <a:extLst xmlns:a="http://schemas.openxmlformats.org/drawingml/2006/main">
              <a:ext uri="{FF2B5EF4-FFF2-40B4-BE49-F238E27FC236}">
                <a16:creationId xmlns:a16="http://schemas.microsoft.com/office/drawing/2014/main" id="{5A9B53D6-0EBB-4E3E-93FD-10B410F1B5D3}"/>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Gewohnheitsmäßige Abkürzungen werden durch Coaching, Anreize und Prozessänderung adressiert.</a:t>
            </a:r>
          </a:p>
        </p:txBody>
      </p:sp>
      <p:sp>
        <p:nvSpPr>
          <p:cNvPr id="13" name="">
            <a:extLst xmlns:a="http://schemas.openxmlformats.org/drawingml/2006/main">
              <a:ext uri="{FF2B5EF4-FFF2-40B4-BE49-F238E27FC236}">
                <a16:creationId xmlns:a16="http://schemas.microsoft.com/office/drawing/2014/main" id="{76084798-98FF-482B-8065-DF018CAD25C7}"/>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ECA76ADF-E0A5-4A2F-8366-B09A5C6DA91A}"/>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F3AD4C29-BAFE-4791-9C01-DE5477AE5915}"/>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Bewusste Missachtung</a:t>
            </a:r>
          </a:p>
        </p:txBody>
      </p:sp>
      <p:sp>
        <p:nvSpPr>
          <p:cNvPr id="16" name="">
            <a:extLst xmlns:a="http://schemas.openxmlformats.org/drawingml/2006/main">
              <a:ext uri="{FF2B5EF4-FFF2-40B4-BE49-F238E27FC236}">
                <a16:creationId xmlns:a16="http://schemas.microsoft.com/office/drawing/2014/main" id="{BB64B700-1920-4315-8396-B5AE7ACA7367}"/>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Wissentliche, nicht gerechtfertigte Regelverletzung kann individuelle Konsequenzen verlangen.</a:t>
            </a:r>
          </a:p>
        </p:txBody>
      </p:sp>
      <p:sp>
        <p:nvSpPr>
          <p:cNvPr id="17" name="">
            <a:extLst xmlns:a="http://schemas.openxmlformats.org/drawingml/2006/main">
              <a:ext uri="{FF2B5EF4-FFF2-40B4-BE49-F238E27FC236}">
                <a16:creationId xmlns:a16="http://schemas.microsoft.com/office/drawing/2014/main" id="{B155112D-A171-406C-9862-7750B53F0688}"/>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962E349B-AA37-4590-B192-646697075F7E}"/>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422667CD-9102-48EA-955A-BF65EBF27490}"/>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Verfahrensschutz</a:t>
            </a:r>
          </a:p>
        </p:txBody>
      </p:sp>
      <p:sp>
        <p:nvSpPr>
          <p:cNvPr id="20" name="">
            <a:extLst xmlns:a="http://schemas.openxmlformats.org/drawingml/2006/main">
              <a:ext uri="{FF2B5EF4-FFF2-40B4-BE49-F238E27FC236}">
                <a16:creationId xmlns:a16="http://schemas.microsoft.com/office/drawing/2014/main" id="{E05303F5-9229-4120-96CF-ABF9823913C6}"/>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Zweck, Vertraulichkeit und mögliche Weitergabe von Analysen müssen institutionell transparent geregelt sein.</a:t>
            </a:r>
          </a:p>
        </p:txBody>
      </p:sp>
      <p:sp>
        <p:nvSpPr>
          <p:cNvPr id="21" name="">
            <a:extLst xmlns:a="http://schemas.openxmlformats.org/drawingml/2006/main">
              <a:ext uri="{FF2B5EF4-FFF2-40B4-BE49-F238E27FC236}">
                <a16:creationId xmlns:a16="http://schemas.microsoft.com/office/drawing/2014/main" id="{A5454EBC-66B1-4DCA-B027-B4449FC2D1B3}"/>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25715781-5199-4C4C-8C5A-EA0E47585BEA}"/>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Lernen ohne Verantwortungszuordnung ist blind; Schuldzuweisung ohne Systemlernen ist kurzsichtig.</a:t>
            </a:r>
          </a:p>
        </p:txBody>
      </p:sp>
    </p:spTree>
    <p:extLst>
      <p:ext uri="{BB962C8B-B14F-4D97-AF65-F5344CB8AC3E}">
        <p14:creationId xmlns:p14="http://schemas.microsoft.com/office/powerpoint/2010/main" val="43637646"/>
      </p:ext>
    </p:extLst>
  </p:cSld>
</p:sld>
</file>

<file path=ppt/slides/slide382.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Defensivmedizin-Fall</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DURCHGEPRÜFTER FALL</a:t>
            </a:r>
            <a:endParaRPr/>
          </a:p>
        </p:txBody>
      </p:sp>
      <p:sp>
        <p:nvSpPr>
          <p:cNvPr id="4" name="">
            <a:extLst xmlns:a="http://schemas.openxmlformats.org/drawingml/2006/main">
              <a:ext uri="{FF2B5EF4-FFF2-40B4-BE49-F238E27FC236}">
                <a16:creationId xmlns:a16="http://schemas.microsoft.com/office/drawing/2014/main" id="{EB0FA092-7F85-4B7F-92EB-A383A2CF080D}"/>
              </a:ext>
            </a:extLst>
          </p:cNvPr>
          <p:cNvSpPr>
            <a:spLocks xmlns:a="http://schemas.openxmlformats.org/drawingml/2006/main" noGrp="1"/>
          </p:cNvSpPr>
          <p:nvPr/>
        </p:nvSpPr>
        <p:spPr>
          <a:xfrm xmlns:a="http://schemas.openxmlformats.org/drawingml/2006/main">
            <a:off x="1809750" y="1924050"/>
            <a:ext cx="9525000" cy="838200"/>
          </a:xfrm>
          <a:prstGeom xmlns:a="http://schemas.openxmlformats.org/drawingml/2006/main" prst="roundRect">
            <a:avLst>
              <a:gd name="adj" fmla="val 9091"/>
            </a:avLst>
          </a:prstGeom>
          <a:solidFill xmlns:a="http://schemas.openxmlformats.org/drawingml/2006/main">
            <a:srgbClr val="EAF6FB"/>
          </a:solidFill>
          <a:ln xmlns:a="http://schemas.openxmlformats.org/drawingml/2006/main" w="9525">
            <a:solidFill>
              <a:srgbClr val="00B2BB"/>
            </a:solidFill>
            <a:prstDash val="solid"/>
          </a:ln>
        </p:spPr>
      </p:sp>
      <p:sp>
        <p:nvSpPr>
          <p:cNvPr id="5" name="">
            <a:extLst xmlns:a="http://schemas.openxmlformats.org/drawingml/2006/main">
              <a:ext uri="{FF2B5EF4-FFF2-40B4-BE49-F238E27FC236}">
                <a16:creationId xmlns:a16="http://schemas.microsoft.com/office/drawing/2014/main" id="{060F125F-D350-40BB-B675-0802D1F55E41}"/>
              </a:ext>
            </a:extLst>
          </p:cNvPr>
          <p:cNvSpPr>
            <a:spLocks xmlns:a="http://schemas.openxmlformats.org/drawingml/2006/main" noGrp="1"/>
          </p:cNvSpPr>
          <p:nvPr/>
        </p:nvSpPr>
        <p:spPr>
          <a:xfrm xmlns:a="http://schemas.openxmlformats.org/drawingml/2006/main">
            <a:off x="1981200" y="2000250"/>
            <a:ext cx="9182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55">
                <a:solidFill>
                  <a:srgbClr val="15232B"/>
                </a:solidFill>
              </a:defRPr>
            </a:pPr>
            <a:r>
              <a:rPr sz="1155">
                <a:solidFill>
                  <a:srgbClr val="15232B"/>
                </a:solidFill>
              </a:rPr>
              <a:t>Bei sehr niedriger klinischer Wahrscheinlichkeit wird aus Haftungsangst eine CT durchgeführt. Es entsteht ein Zufallsbefund mit invasiver Folgeabklärung und Komplikation.</a:t>
            </a:r>
          </a:p>
        </p:txBody>
      </p:sp>
      <p:sp>
        <p:nvSpPr>
          <p:cNvPr id="6" name="">
            <a:extLst xmlns:a="http://schemas.openxmlformats.org/drawingml/2006/main">
              <a:ext uri="{FF2B5EF4-FFF2-40B4-BE49-F238E27FC236}">
                <a16:creationId xmlns:a16="http://schemas.microsoft.com/office/drawing/2014/main" id="{017E046A-031E-4565-AB49-FFE28F6E9DB1}"/>
              </a:ext>
            </a:extLst>
          </p:cNvPr>
          <p:cNvSpPr>
            <a:spLocks xmlns:a="http://schemas.openxmlformats.org/drawingml/2006/main" noGrp="1"/>
          </p:cNvSpPr>
          <p:nvPr/>
        </p:nvSpPr>
        <p:spPr>
          <a:xfrm xmlns:a="http://schemas.openxmlformats.org/drawingml/2006/main">
            <a:off x="1809750" y="2933700"/>
            <a:ext cx="381000" cy="381000"/>
          </a:xfrm>
          <a:prstGeom xmlns:a="http://schemas.openxmlformats.org/drawingml/2006/main" prst="roundRect">
            <a:avLst>
              <a:gd name="adj" fmla="val 20000"/>
            </a:avLst>
          </a:prstGeom>
          <a:solidFill xmlns:a="http://schemas.openxmlformats.org/drawingml/2006/main">
            <a:srgbClr val="00B2BB"/>
          </a:solidFill>
          <a:ln xmlns:a="http://schemas.openxmlformats.org/drawingml/2006/main" w="0">
            <a:solidFill>
              <a:srgbClr val="00B2BB"/>
            </a:solidFill>
            <a:prstDash val="solid"/>
          </a:ln>
        </p:spPr>
      </p:sp>
      <p:sp>
        <p:nvSpPr>
          <p:cNvPr id="7" name="">
            <a:extLst xmlns:a="http://schemas.openxmlformats.org/drawingml/2006/main">
              <a:ext uri="{FF2B5EF4-FFF2-40B4-BE49-F238E27FC236}">
                <a16:creationId xmlns:a16="http://schemas.microsoft.com/office/drawing/2014/main" id="{993C7E36-62EA-4011-9ACE-561854244C4D}"/>
              </a:ext>
            </a:extLst>
          </p:cNvPr>
          <p:cNvSpPr>
            <a:spLocks xmlns:a="http://schemas.openxmlformats.org/drawingml/2006/main" noGrp="1"/>
          </p:cNvSpPr>
          <p:nvPr/>
        </p:nvSpPr>
        <p:spPr>
          <a:xfrm xmlns:a="http://schemas.openxmlformats.org/drawingml/2006/main">
            <a:off x="1809750" y="293370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8" name="">
            <a:extLst xmlns:a="http://schemas.openxmlformats.org/drawingml/2006/main">
              <a:ext uri="{FF2B5EF4-FFF2-40B4-BE49-F238E27FC236}">
                <a16:creationId xmlns:a16="http://schemas.microsoft.com/office/drawing/2014/main" id="{8119C8E5-56F5-4445-B69A-FDB62B4EEEB0}"/>
              </a:ext>
            </a:extLst>
          </p:cNvPr>
          <p:cNvSpPr>
            <a:spLocks xmlns:a="http://schemas.openxmlformats.org/drawingml/2006/main" noGrp="1"/>
          </p:cNvSpPr>
          <p:nvPr/>
        </p:nvSpPr>
        <p:spPr>
          <a:xfrm xmlns:a="http://schemas.openxmlformats.org/drawingml/2006/main">
            <a:off x="2343150" y="2914650"/>
            <a:ext cx="18097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Indikation</a:t>
            </a:r>
          </a:p>
        </p:txBody>
      </p:sp>
      <p:sp>
        <p:nvSpPr>
          <p:cNvPr id="9" name="">
            <a:extLst xmlns:a="http://schemas.openxmlformats.org/drawingml/2006/main">
              <a:ext uri="{FF2B5EF4-FFF2-40B4-BE49-F238E27FC236}">
                <a16:creationId xmlns:a16="http://schemas.microsoft.com/office/drawing/2014/main" id="{E14146AA-08FB-441B-B159-C712628D6FDC}"/>
              </a:ext>
            </a:extLst>
          </p:cNvPr>
          <p:cNvSpPr>
            <a:spLocks xmlns:a="http://schemas.openxmlformats.org/drawingml/2006/main" noGrp="1"/>
          </p:cNvSpPr>
          <p:nvPr/>
        </p:nvSpPr>
        <p:spPr>
          <a:xfrm xmlns:a="http://schemas.openxmlformats.org/drawingml/2006/main">
            <a:off x="4286250" y="2914650"/>
            <a:ext cx="69532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35">
                <a:solidFill>
                  <a:srgbClr val="15232B"/>
                </a:solidFill>
              </a:defRPr>
            </a:pPr>
            <a:r>
              <a:rPr sz="1035">
                <a:solidFill>
                  <a:srgbClr val="15232B"/>
                </a:solidFill>
              </a:rPr>
              <a:t>War die CT ex ante medizinisch vertretbar oder überwog bereits damals die Absicherungslogik?</a:t>
            </a:r>
          </a:p>
        </p:txBody>
      </p:sp>
      <p:sp>
        <p:nvSpPr>
          <p:cNvPr id="10" name="">
            <a:extLst xmlns:a="http://schemas.openxmlformats.org/drawingml/2006/main">
              <a:ext uri="{FF2B5EF4-FFF2-40B4-BE49-F238E27FC236}">
                <a16:creationId xmlns:a16="http://schemas.microsoft.com/office/drawing/2014/main" id="{628EFCE2-3169-4CB6-A8B5-2D0970A76437}"/>
              </a:ext>
            </a:extLst>
          </p:cNvPr>
          <p:cNvSpPr>
            <a:spLocks xmlns:a="http://schemas.openxmlformats.org/drawingml/2006/main" noGrp="1"/>
          </p:cNvSpPr>
          <p:nvPr/>
        </p:nvSpPr>
        <p:spPr>
          <a:xfrm xmlns:a="http://schemas.openxmlformats.org/drawingml/2006/main">
            <a:off x="1809750" y="3394710"/>
            <a:ext cx="381000" cy="381000"/>
          </a:xfrm>
          <a:prstGeom xmlns:a="http://schemas.openxmlformats.org/drawingml/2006/main" prst="roundRect">
            <a:avLst>
              <a:gd name="adj" fmla="val 20000"/>
            </a:avLst>
          </a:prstGeom>
          <a:solidFill xmlns:a="http://schemas.openxmlformats.org/drawingml/2006/main">
            <a:srgbClr val="003F6B"/>
          </a:solidFill>
          <a:ln xmlns:a="http://schemas.openxmlformats.org/drawingml/2006/main" w="0">
            <a:solidFill>
              <a:srgbClr val="003F6B"/>
            </a:solidFill>
            <a:prstDash val="solid"/>
          </a:ln>
        </p:spPr>
      </p:sp>
      <p:sp>
        <p:nvSpPr>
          <p:cNvPr id="11" name="">
            <a:extLst xmlns:a="http://schemas.openxmlformats.org/drawingml/2006/main">
              <a:ext uri="{FF2B5EF4-FFF2-40B4-BE49-F238E27FC236}">
                <a16:creationId xmlns:a16="http://schemas.microsoft.com/office/drawing/2014/main" id="{6C3C5C0F-3E2A-4AE3-A4D8-1782EE83A576}"/>
              </a:ext>
            </a:extLst>
          </p:cNvPr>
          <p:cNvSpPr>
            <a:spLocks xmlns:a="http://schemas.openxmlformats.org/drawingml/2006/main" noGrp="1"/>
          </p:cNvSpPr>
          <p:nvPr/>
        </p:nvSpPr>
        <p:spPr>
          <a:xfrm xmlns:a="http://schemas.openxmlformats.org/drawingml/2006/main">
            <a:off x="1809750" y="339471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2" name="">
            <a:extLst xmlns:a="http://schemas.openxmlformats.org/drawingml/2006/main">
              <a:ext uri="{FF2B5EF4-FFF2-40B4-BE49-F238E27FC236}">
                <a16:creationId xmlns:a16="http://schemas.microsoft.com/office/drawing/2014/main" id="{F49C6071-DA58-439A-BCAD-2F81BDD9E465}"/>
              </a:ext>
            </a:extLst>
          </p:cNvPr>
          <p:cNvSpPr>
            <a:spLocks xmlns:a="http://schemas.openxmlformats.org/drawingml/2006/main" noGrp="1"/>
          </p:cNvSpPr>
          <p:nvPr/>
        </p:nvSpPr>
        <p:spPr>
          <a:xfrm xmlns:a="http://schemas.openxmlformats.org/drawingml/2006/main">
            <a:off x="2343150" y="3375660"/>
            <a:ext cx="18097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Aufklärung</a:t>
            </a:r>
          </a:p>
        </p:txBody>
      </p:sp>
      <p:sp>
        <p:nvSpPr>
          <p:cNvPr id="13" name="">
            <a:extLst xmlns:a="http://schemas.openxmlformats.org/drawingml/2006/main">
              <a:ext uri="{FF2B5EF4-FFF2-40B4-BE49-F238E27FC236}">
                <a16:creationId xmlns:a16="http://schemas.microsoft.com/office/drawing/2014/main" id="{1E48CA25-AAE6-40DA-BFF9-942FD14E10D6}"/>
              </a:ext>
            </a:extLst>
          </p:cNvPr>
          <p:cNvSpPr>
            <a:spLocks xmlns:a="http://schemas.openxmlformats.org/drawingml/2006/main" noGrp="1"/>
          </p:cNvSpPr>
          <p:nvPr/>
        </p:nvSpPr>
        <p:spPr>
          <a:xfrm xmlns:a="http://schemas.openxmlformats.org/drawingml/2006/main">
            <a:off x="4286250" y="3375660"/>
            <a:ext cx="69532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35">
                <a:solidFill>
                  <a:srgbClr val="15232B"/>
                </a:solidFill>
              </a:defRPr>
            </a:pPr>
            <a:r>
              <a:rPr sz="1035">
                <a:solidFill>
                  <a:srgbClr val="15232B"/>
                </a:solidFill>
              </a:rPr>
              <a:t>Wurden Strahlenrisiko, Zufallsbefunde und Alternativen verständlich besprochen?</a:t>
            </a:r>
          </a:p>
        </p:txBody>
      </p:sp>
      <p:sp>
        <p:nvSpPr>
          <p:cNvPr id="14" name="">
            <a:extLst xmlns:a="http://schemas.openxmlformats.org/drawingml/2006/main">
              <a:ext uri="{FF2B5EF4-FFF2-40B4-BE49-F238E27FC236}">
                <a16:creationId xmlns:a16="http://schemas.microsoft.com/office/drawing/2014/main" id="{D03BD48D-3C98-49A6-A0B1-F75DB4D6C2FF}"/>
              </a:ext>
            </a:extLst>
          </p:cNvPr>
          <p:cNvSpPr>
            <a:spLocks xmlns:a="http://schemas.openxmlformats.org/drawingml/2006/main" noGrp="1"/>
          </p:cNvSpPr>
          <p:nvPr/>
        </p:nvSpPr>
        <p:spPr>
          <a:xfrm xmlns:a="http://schemas.openxmlformats.org/drawingml/2006/main">
            <a:off x="1809750" y="3855720"/>
            <a:ext cx="381000" cy="381000"/>
          </a:xfrm>
          <a:prstGeom xmlns:a="http://schemas.openxmlformats.org/drawingml/2006/main" prst="roundRect">
            <a:avLst>
              <a:gd name="adj" fmla="val 20000"/>
            </a:avLst>
          </a:prstGeom>
          <a:solidFill xmlns:a="http://schemas.openxmlformats.org/drawingml/2006/main">
            <a:srgbClr val="00B2BB"/>
          </a:solidFill>
          <a:ln xmlns:a="http://schemas.openxmlformats.org/drawingml/2006/main" w="0">
            <a:solidFill>
              <a:srgbClr val="00B2BB"/>
            </a:solidFill>
            <a:prstDash val="solid"/>
          </a:ln>
        </p:spPr>
      </p:sp>
      <p:sp>
        <p:nvSpPr>
          <p:cNvPr id="15" name="">
            <a:extLst xmlns:a="http://schemas.openxmlformats.org/drawingml/2006/main">
              <a:ext uri="{FF2B5EF4-FFF2-40B4-BE49-F238E27FC236}">
                <a16:creationId xmlns:a16="http://schemas.microsoft.com/office/drawing/2014/main" id="{439C718A-731C-41B7-ACC8-19A4DB6E8BC0}"/>
              </a:ext>
            </a:extLst>
          </p:cNvPr>
          <p:cNvSpPr>
            <a:spLocks xmlns:a="http://schemas.openxmlformats.org/drawingml/2006/main" noGrp="1"/>
          </p:cNvSpPr>
          <p:nvPr/>
        </p:nvSpPr>
        <p:spPr>
          <a:xfrm xmlns:a="http://schemas.openxmlformats.org/drawingml/2006/main">
            <a:off x="1809750" y="385572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6" name="">
            <a:extLst xmlns:a="http://schemas.openxmlformats.org/drawingml/2006/main">
              <a:ext uri="{FF2B5EF4-FFF2-40B4-BE49-F238E27FC236}">
                <a16:creationId xmlns:a16="http://schemas.microsoft.com/office/drawing/2014/main" id="{AA6C0B84-493F-4DC5-8CCA-6660B0A3EC7B}"/>
              </a:ext>
            </a:extLst>
          </p:cNvPr>
          <p:cNvSpPr>
            <a:spLocks xmlns:a="http://schemas.openxmlformats.org/drawingml/2006/main" noGrp="1"/>
          </p:cNvSpPr>
          <p:nvPr/>
        </p:nvSpPr>
        <p:spPr>
          <a:xfrm xmlns:a="http://schemas.openxmlformats.org/drawingml/2006/main">
            <a:off x="2343150" y="3836670"/>
            <a:ext cx="18097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Kausalität</a:t>
            </a:r>
          </a:p>
        </p:txBody>
      </p:sp>
      <p:sp>
        <p:nvSpPr>
          <p:cNvPr id="17" name="">
            <a:extLst xmlns:a="http://schemas.openxmlformats.org/drawingml/2006/main">
              <a:ext uri="{FF2B5EF4-FFF2-40B4-BE49-F238E27FC236}">
                <a16:creationId xmlns:a16="http://schemas.microsoft.com/office/drawing/2014/main" id="{BA12ADF5-9C9E-4CAA-B487-91F9192923DC}"/>
              </a:ext>
            </a:extLst>
          </p:cNvPr>
          <p:cNvSpPr>
            <a:spLocks xmlns:a="http://schemas.openxmlformats.org/drawingml/2006/main" noGrp="1"/>
          </p:cNvSpPr>
          <p:nvPr/>
        </p:nvSpPr>
        <p:spPr>
          <a:xfrm xmlns:a="http://schemas.openxmlformats.org/drawingml/2006/main">
            <a:off x="4286250" y="3836670"/>
            <a:ext cx="69532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35">
                <a:solidFill>
                  <a:srgbClr val="15232B"/>
                </a:solidFill>
              </a:defRPr>
            </a:pPr>
            <a:r>
              <a:rPr sz="1035">
                <a:solidFill>
                  <a:srgbClr val="15232B"/>
                </a:solidFill>
              </a:rPr>
              <a:t>Die Folgeabklärung bildet eine neue Entscheidungskette; jeder Schritt wird eigenständig bewertet.</a:t>
            </a:r>
          </a:p>
        </p:txBody>
      </p:sp>
      <p:sp>
        <p:nvSpPr>
          <p:cNvPr id="18" name="">
            <a:extLst xmlns:a="http://schemas.openxmlformats.org/drawingml/2006/main">
              <a:ext uri="{FF2B5EF4-FFF2-40B4-BE49-F238E27FC236}">
                <a16:creationId xmlns:a16="http://schemas.microsoft.com/office/drawing/2014/main" id="{3B426E98-3CBF-4A0D-B386-04D96839673D}"/>
              </a:ext>
            </a:extLst>
          </p:cNvPr>
          <p:cNvSpPr>
            <a:spLocks xmlns:a="http://schemas.openxmlformats.org/drawingml/2006/main" noGrp="1"/>
          </p:cNvSpPr>
          <p:nvPr/>
        </p:nvSpPr>
        <p:spPr>
          <a:xfrm xmlns:a="http://schemas.openxmlformats.org/drawingml/2006/main">
            <a:off x="1809750" y="4316730"/>
            <a:ext cx="381000" cy="381000"/>
          </a:xfrm>
          <a:prstGeom xmlns:a="http://schemas.openxmlformats.org/drawingml/2006/main" prst="roundRect">
            <a:avLst>
              <a:gd name="adj" fmla="val 20000"/>
            </a:avLst>
          </a:prstGeom>
          <a:solidFill xmlns:a="http://schemas.openxmlformats.org/drawingml/2006/main">
            <a:srgbClr val="003F6B"/>
          </a:solidFill>
          <a:ln xmlns:a="http://schemas.openxmlformats.org/drawingml/2006/main" w="0">
            <a:solidFill>
              <a:srgbClr val="003F6B"/>
            </a:solidFill>
            <a:prstDash val="solid"/>
          </a:ln>
        </p:spPr>
      </p:sp>
      <p:sp>
        <p:nvSpPr>
          <p:cNvPr id="19" name="">
            <a:extLst xmlns:a="http://schemas.openxmlformats.org/drawingml/2006/main">
              <a:ext uri="{FF2B5EF4-FFF2-40B4-BE49-F238E27FC236}">
                <a16:creationId xmlns:a16="http://schemas.microsoft.com/office/drawing/2014/main" id="{8BECB4A5-CD32-43EB-B6CF-28BA9FFB0F16}"/>
              </a:ext>
            </a:extLst>
          </p:cNvPr>
          <p:cNvSpPr>
            <a:spLocks xmlns:a="http://schemas.openxmlformats.org/drawingml/2006/main" noGrp="1"/>
          </p:cNvSpPr>
          <p:nvPr/>
        </p:nvSpPr>
        <p:spPr>
          <a:xfrm xmlns:a="http://schemas.openxmlformats.org/drawingml/2006/main">
            <a:off x="1809750" y="431673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20" name="">
            <a:extLst xmlns:a="http://schemas.openxmlformats.org/drawingml/2006/main">
              <a:ext uri="{FF2B5EF4-FFF2-40B4-BE49-F238E27FC236}">
                <a16:creationId xmlns:a16="http://schemas.microsoft.com/office/drawing/2014/main" id="{F0F15AF4-C69B-46B0-B916-C4E8413D4DD5}"/>
              </a:ext>
            </a:extLst>
          </p:cNvPr>
          <p:cNvSpPr>
            <a:spLocks xmlns:a="http://schemas.openxmlformats.org/drawingml/2006/main" noGrp="1"/>
          </p:cNvSpPr>
          <p:nvPr/>
        </p:nvSpPr>
        <p:spPr>
          <a:xfrm xmlns:a="http://schemas.openxmlformats.org/drawingml/2006/main">
            <a:off x="2343150" y="4297680"/>
            <a:ext cx="18097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Rechtslektion</a:t>
            </a:r>
          </a:p>
        </p:txBody>
      </p:sp>
      <p:sp>
        <p:nvSpPr>
          <p:cNvPr id="21" name="">
            <a:extLst xmlns:a="http://schemas.openxmlformats.org/drawingml/2006/main">
              <a:ext uri="{FF2B5EF4-FFF2-40B4-BE49-F238E27FC236}">
                <a16:creationId xmlns:a16="http://schemas.microsoft.com/office/drawing/2014/main" id="{680127AC-AB7F-4DAD-AB38-72840DE8014E}"/>
              </a:ext>
            </a:extLst>
          </p:cNvPr>
          <p:cNvSpPr>
            <a:spLocks xmlns:a="http://schemas.openxmlformats.org/drawingml/2006/main" noGrp="1"/>
          </p:cNvSpPr>
          <p:nvPr/>
        </p:nvSpPr>
        <p:spPr>
          <a:xfrm xmlns:a="http://schemas.openxmlformats.org/drawingml/2006/main">
            <a:off x="4286250" y="4297680"/>
            <a:ext cx="69532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35">
                <a:solidFill>
                  <a:srgbClr val="15232B"/>
                </a:solidFill>
              </a:defRPr>
            </a:pPr>
            <a:r>
              <a:rPr sz="1035">
                <a:solidFill>
                  <a:srgbClr val="15232B"/>
                </a:solidFill>
              </a:rPr>
              <a:t>Mehr Diagnostik kann eigene Pflicht-, Aufklärungs- und Schadensfragen erzeugen.</a:t>
            </a:r>
          </a:p>
        </p:txBody>
      </p:sp>
      <p:sp>
        <p:nvSpPr>
          <p:cNvPr id="22" name="">
            <a:extLst xmlns:a="http://schemas.openxmlformats.org/drawingml/2006/main">
              <a:ext uri="{FF2B5EF4-FFF2-40B4-BE49-F238E27FC236}">
                <a16:creationId xmlns:a16="http://schemas.microsoft.com/office/drawing/2014/main" id="{6CC670CC-2D8F-4C9C-BA4B-3C03D8E0FAD8}"/>
              </a:ext>
            </a:extLst>
          </p:cNvPr>
          <p:cNvSpPr>
            <a:spLocks xmlns:a="http://schemas.openxmlformats.org/drawingml/2006/main" noGrp="1"/>
          </p:cNvSpPr>
          <p:nvPr/>
        </p:nvSpPr>
        <p:spPr>
          <a:xfrm xmlns:a="http://schemas.openxmlformats.org/drawingml/2006/main">
            <a:off x="1809750" y="4777740"/>
            <a:ext cx="381000" cy="381000"/>
          </a:xfrm>
          <a:prstGeom xmlns:a="http://schemas.openxmlformats.org/drawingml/2006/main" prst="roundRect">
            <a:avLst>
              <a:gd name="adj" fmla="val 20000"/>
            </a:avLst>
          </a:prstGeom>
          <a:solidFill xmlns:a="http://schemas.openxmlformats.org/drawingml/2006/main">
            <a:srgbClr val="00B2BB"/>
          </a:solidFill>
          <a:ln xmlns:a="http://schemas.openxmlformats.org/drawingml/2006/main" w="0">
            <a:solidFill>
              <a:srgbClr val="00B2BB"/>
            </a:solidFill>
            <a:prstDash val="solid"/>
          </a:ln>
        </p:spPr>
      </p:sp>
      <p:sp>
        <p:nvSpPr>
          <p:cNvPr id="23" name="">
            <a:extLst xmlns:a="http://schemas.openxmlformats.org/drawingml/2006/main">
              <a:ext uri="{FF2B5EF4-FFF2-40B4-BE49-F238E27FC236}">
                <a16:creationId xmlns:a16="http://schemas.microsoft.com/office/drawing/2014/main" id="{0C11C52A-C291-47C6-97AA-36FC021303AF}"/>
              </a:ext>
            </a:extLst>
          </p:cNvPr>
          <p:cNvSpPr>
            <a:spLocks xmlns:a="http://schemas.openxmlformats.org/drawingml/2006/main" noGrp="1"/>
          </p:cNvSpPr>
          <p:nvPr/>
        </p:nvSpPr>
        <p:spPr>
          <a:xfrm xmlns:a="http://schemas.openxmlformats.org/drawingml/2006/main">
            <a:off x="1809750" y="477774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5</a:t>
            </a:r>
          </a:p>
        </p:txBody>
      </p:sp>
      <p:sp>
        <p:nvSpPr>
          <p:cNvPr id="24" name="">
            <a:extLst xmlns:a="http://schemas.openxmlformats.org/drawingml/2006/main">
              <a:ext uri="{FF2B5EF4-FFF2-40B4-BE49-F238E27FC236}">
                <a16:creationId xmlns:a16="http://schemas.microsoft.com/office/drawing/2014/main" id="{20777CFE-0CBE-4AA3-8FF4-2DF15745EEA3}"/>
              </a:ext>
            </a:extLst>
          </p:cNvPr>
          <p:cNvSpPr>
            <a:spLocks xmlns:a="http://schemas.openxmlformats.org/drawingml/2006/main" noGrp="1"/>
          </p:cNvSpPr>
          <p:nvPr/>
        </p:nvSpPr>
        <p:spPr>
          <a:xfrm xmlns:a="http://schemas.openxmlformats.org/drawingml/2006/main">
            <a:off x="2343150" y="4758690"/>
            <a:ext cx="18097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Alternative</a:t>
            </a:r>
          </a:p>
        </p:txBody>
      </p:sp>
      <p:sp>
        <p:nvSpPr>
          <p:cNvPr id="25" name="">
            <a:extLst xmlns:a="http://schemas.openxmlformats.org/drawingml/2006/main">
              <a:ext uri="{FF2B5EF4-FFF2-40B4-BE49-F238E27FC236}">
                <a16:creationId xmlns:a16="http://schemas.microsoft.com/office/drawing/2014/main" id="{6194AE1D-E32C-4886-B09F-DCEAC4B74079}"/>
              </a:ext>
            </a:extLst>
          </p:cNvPr>
          <p:cNvSpPr>
            <a:spLocks xmlns:a="http://schemas.openxmlformats.org/drawingml/2006/main" noGrp="1"/>
          </p:cNvSpPr>
          <p:nvPr/>
        </p:nvSpPr>
        <p:spPr>
          <a:xfrm xmlns:a="http://schemas.openxmlformats.org/drawingml/2006/main">
            <a:off x="4286250" y="4758690"/>
            <a:ext cx="69532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35">
                <a:solidFill>
                  <a:srgbClr val="15232B"/>
                </a:solidFill>
              </a:defRPr>
            </a:pPr>
            <a:r>
              <a:rPr sz="1035">
                <a:solidFill>
                  <a:srgbClr val="15232B"/>
                </a:solidFill>
              </a:rPr>
              <a:t>Klinische Beobachtung, Sicherheitsnetz und dokumentierte Verlaufskontrolle können rechtlich und medizinisch besser sein.</a:t>
            </a:r>
          </a:p>
        </p:txBody>
      </p:sp>
      <p:sp>
        <p:nvSpPr>
          <p:cNvPr id="26" name="">
            <a:extLst xmlns:a="http://schemas.openxmlformats.org/drawingml/2006/main">
              <a:ext uri="{FF2B5EF4-FFF2-40B4-BE49-F238E27FC236}">
                <a16:creationId xmlns:a16="http://schemas.microsoft.com/office/drawing/2014/main" id="{E56003DB-A46D-408D-A184-4FB7B0E043F6}"/>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20">
                <a:solidFill>
                  <a:srgbClr val="667680"/>
                </a:solidFill>
              </a:defRPr>
            </a:pPr>
            <a:r>
              <a:rPr sz="720">
                <a:solidFill>
                  <a:srgbClr val="667680"/>
                </a:solidFill>
              </a:rPr>
              <a:t>Didaktischer Transferfall; empirischer Hintergrund: Studdert et al., JAMA 2005;293:2609–2617 · https://doi.org/10.1001/jama.293.21.2609</a:t>
            </a:r>
          </a:p>
        </p:txBody>
      </p:sp>
      <p:sp>
        <p:nvSpPr>
          <p:cNvPr id="27" name="">
            <a:extLst xmlns:a="http://schemas.openxmlformats.org/drawingml/2006/main">
              <a:ext uri="{FF2B5EF4-FFF2-40B4-BE49-F238E27FC236}">
                <a16:creationId xmlns:a16="http://schemas.microsoft.com/office/drawing/2014/main" id="{BE2821D2-3C34-4839-AA84-32359BA3A337}"/>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8" name="">
            <a:extLst xmlns:a="http://schemas.openxmlformats.org/drawingml/2006/main">
              <a:ext uri="{FF2B5EF4-FFF2-40B4-BE49-F238E27FC236}">
                <a16:creationId xmlns:a16="http://schemas.microsoft.com/office/drawing/2014/main" id="{C13EF3DB-3CFC-4A63-9CEB-D8EAF6F74F44}"/>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Defensive Medizin verschiebt Risiken, sie beseitigt sie nicht.</a:t>
            </a:r>
          </a:p>
        </p:txBody>
      </p:sp>
    </p:spTree>
    <p:extLst>
      <p:ext uri="{BB962C8B-B14F-4D97-AF65-F5344CB8AC3E}">
        <p14:creationId xmlns:p14="http://schemas.microsoft.com/office/powerpoint/2010/main" val="43637646"/>
      </p:ext>
    </p:extLst>
  </p:cSld>
</p:sld>
</file>

<file path=ppt/slides/slide383.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Gute Entscheidungsqualität</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PRÜFUNGSSCHEMA · FÜNF FRAGEN</a:t>
            </a:r>
            <a:endParaRPr/>
          </a:p>
        </p:txBody>
      </p:sp>
      <p:sp>
        <p:nvSpPr>
          <p:cNvPr id="4" name="">
            <a:extLst xmlns:a="http://schemas.openxmlformats.org/drawingml/2006/main">
              <a:ext uri="{FF2B5EF4-FFF2-40B4-BE49-F238E27FC236}">
                <a16:creationId xmlns:a16="http://schemas.microsoft.com/office/drawing/2014/main" id="{CFC7BDC4-8CB5-4E86-A0D5-EAB2FA56CC2B}"/>
              </a:ext>
            </a:extLst>
          </p:cNvPr>
          <p:cNvSpPr>
            <a:spLocks xmlns:a="http://schemas.openxmlformats.org/drawingml/2006/main" noGrp="1"/>
          </p:cNvSpPr>
          <p:nvPr/>
        </p:nvSpPr>
        <p:spPr>
          <a:xfrm xmlns:a="http://schemas.openxmlformats.org/drawingml/2006/main">
            <a:off x="1809750" y="195262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21377141-B4AE-4F96-B685-82A6266744BA}"/>
              </a:ext>
            </a:extLst>
          </p:cNvPr>
          <p:cNvSpPr>
            <a:spLocks xmlns:a="http://schemas.openxmlformats.org/drawingml/2006/main" noGrp="1"/>
          </p:cNvSpPr>
          <p:nvPr/>
        </p:nvSpPr>
        <p:spPr>
          <a:xfrm xmlns:a="http://schemas.openxmlformats.org/drawingml/2006/main">
            <a:off x="1809750" y="19526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6" name="">
            <a:extLst xmlns:a="http://schemas.openxmlformats.org/drawingml/2006/main">
              <a:ext uri="{FF2B5EF4-FFF2-40B4-BE49-F238E27FC236}">
                <a16:creationId xmlns:a16="http://schemas.microsoft.com/office/drawing/2014/main" id="{D914001C-1879-42CF-9F7F-2281FAE99DD2}"/>
              </a:ext>
            </a:extLst>
          </p:cNvPr>
          <p:cNvSpPr>
            <a:spLocks xmlns:a="http://schemas.openxmlformats.org/drawingml/2006/main" noGrp="1"/>
          </p:cNvSpPr>
          <p:nvPr/>
        </p:nvSpPr>
        <p:spPr>
          <a:xfrm xmlns:a="http://schemas.openxmlformats.org/drawingml/2006/main">
            <a:off x="2324100" y="196215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1. Medizinische Frage</a:t>
            </a:r>
          </a:p>
        </p:txBody>
      </p:sp>
      <p:sp>
        <p:nvSpPr>
          <p:cNvPr id="7" name="">
            <a:extLst xmlns:a="http://schemas.openxmlformats.org/drawingml/2006/main">
              <a:ext uri="{FF2B5EF4-FFF2-40B4-BE49-F238E27FC236}">
                <a16:creationId xmlns:a16="http://schemas.microsoft.com/office/drawing/2014/main" id="{448B5D93-09DB-4305-819A-AD44DDB9D02F}"/>
              </a:ext>
            </a:extLst>
          </p:cNvPr>
          <p:cNvSpPr>
            <a:spLocks xmlns:a="http://schemas.openxmlformats.org/drawingml/2006/main" noGrp="1"/>
          </p:cNvSpPr>
          <p:nvPr/>
        </p:nvSpPr>
        <p:spPr>
          <a:xfrm xmlns:a="http://schemas.openxmlformats.org/drawingml/2006/main">
            <a:off x="4819650" y="196215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Welche konkrete Gefahr oder welches Therapieziel wird adressiert?</a:t>
            </a:r>
          </a:p>
        </p:txBody>
      </p:sp>
      <p:sp>
        <p:nvSpPr>
          <p:cNvPr id="8" name="">
            <a:extLst xmlns:a="http://schemas.openxmlformats.org/drawingml/2006/main">
              <a:ext uri="{FF2B5EF4-FFF2-40B4-BE49-F238E27FC236}">
                <a16:creationId xmlns:a16="http://schemas.microsoft.com/office/drawing/2014/main" id="{DA51F2DE-DEE5-411F-B571-156C809A2CA0}"/>
              </a:ext>
            </a:extLst>
          </p:cNvPr>
          <p:cNvSpPr>
            <a:spLocks xmlns:a="http://schemas.openxmlformats.org/drawingml/2006/main" noGrp="1"/>
          </p:cNvSpPr>
          <p:nvPr/>
        </p:nvSpPr>
        <p:spPr>
          <a:xfrm xmlns:a="http://schemas.openxmlformats.org/drawingml/2006/main">
            <a:off x="1809750" y="255270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9" name="">
            <a:extLst xmlns:a="http://schemas.openxmlformats.org/drawingml/2006/main">
              <a:ext uri="{FF2B5EF4-FFF2-40B4-BE49-F238E27FC236}">
                <a16:creationId xmlns:a16="http://schemas.microsoft.com/office/drawing/2014/main" id="{B85DA797-8EF4-482F-A7AF-EF694F63BDF7}"/>
              </a:ext>
            </a:extLst>
          </p:cNvPr>
          <p:cNvSpPr>
            <a:spLocks xmlns:a="http://schemas.openxmlformats.org/drawingml/2006/main" noGrp="1"/>
          </p:cNvSpPr>
          <p:nvPr/>
        </p:nvSpPr>
        <p:spPr>
          <a:xfrm xmlns:a="http://schemas.openxmlformats.org/drawingml/2006/main">
            <a:off x="1809750" y="255270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0" name="">
            <a:extLst xmlns:a="http://schemas.openxmlformats.org/drawingml/2006/main">
              <a:ext uri="{FF2B5EF4-FFF2-40B4-BE49-F238E27FC236}">
                <a16:creationId xmlns:a16="http://schemas.microsoft.com/office/drawing/2014/main" id="{09F7970E-11AB-4251-AA75-DCB64F00B6FE}"/>
              </a:ext>
            </a:extLst>
          </p:cNvPr>
          <p:cNvSpPr>
            <a:spLocks xmlns:a="http://schemas.openxmlformats.org/drawingml/2006/main" noGrp="1"/>
          </p:cNvSpPr>
          <p:nvPr/>
        </p:nvSpPr>
        <p:spPr>
          <a:xfrm xmlns:a="http://schemas.openxmlformats.org/drawingml/2006/main">
            <a:off x="2324100" y="256222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2. Evidenz und Standard</a:t>
            </a:r>
          </a:p>
        </p:txBody>
      </p:sp>
      <p:sp>
        <p:nvSpPr>
          <p:cNvPr id="11" name="">
            <a:extLst xmlns:a="http://schemas.openxmlformats.org/drawingml/2006/main">
              <a:ext uri="{FF2B5EF4-FFF2-40B4-BE49-F238E27FC236}">
                <a16:creationId xmlns:a16="http://schemas.microsoft.com/office/drawing/2014/main" id="{4416AD54-ED66-4549-95F4-C139A87C45C8}"/>
              </a:ext>
            </a:extLst>
          </p:cNvPr>
          <p:cNvSpPr>
            <a:spLocks xmlns:a="http://schemas.openxmlformats.org/drawingml/2006/main" noGrp="1"/>
          </p:cNvSpPr>
          <p:nvPr/>
        </p:nvSpPr>
        <p:spPr>
          <a:xfrm xmlns:a="http://schemas.openxmlformats.org/drawingml/2006/main">
            <a:off x="4819650" y="256222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Welche Optionen sind fachlich vertretbar und wie sicher ist die Datenlage?</a:t>
            </a:r>
          </a:p>
        </p:txBody>
      </p:sp>
      <p:sp>
        <p:nvSpPr>
          <p:cNvPr id="12" name="">
            <a:extLst xmlns:a="http://schemas.openxmlformats.org/drawingml/2006/main">
              <a:ext uri="{FF2B5EF4-FFF2-40B4-BE49-F238E27FC236}">
                <a16:creationId xmlns:a16="http://schemas.microsoft.com/office/drawing/2014/main" id="{D7DB39C2-DB3C-40DD-BA90-62AA1740B918}"/>
              </a:ext>
            </a:extLst>
          </p:cNvPr>
          <p:cNvSpPr>
            <a:spLocks xmlns:a="http://schemas.openxmlformats.org/drawingml/2006/main" noGrp="1"/>
          </p:cNvSpPr>
          <p:nvPr/>
        </p:nvSpPr>
        <p:spPr>
          <a:xfrm xmlns:a="http://schemas.openxmlformats.org/drawingml/2006/main">
            <a:off x="1809750" y="315277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3" name="">
            <a:extLst xmlns:a="http://schemas.openxmlformats.org/drawingml/2006/main">
              <a:ext uri="{FF2B5EF4-FFF2-40B4-BE49-F238E27FC236}">
                <a16:creationId xmlns:a16="http://schemas.microsoft.com/office/drawing/2014/main" id="{6FDA3764-9F5D-4B52-B949-5A6B4A5A654C}"/>
              </a:ext>
            </a:extLst>
          </p:cNvPr>
          <p:cNvSpPr>
            <a:spLocks xmlns:a="http://schemas.openxmlformats.org/drawingml/2006/main" noGrp="1"/>
          </p:cNvSpPr>
          <p:nvPr/>
        </p:nvSpPr>
        <p:spPr>
          <a:xfrm xmlns:a="http://schemas.openxmlformats.org/drawingml/2006/main">
            <a:off x="1809750" y="315277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4" name="">
            <a:extLst xmlns:a="http://schemas.openxmlformats.org/drawingml/2006/main">
              <a:ext uri="{FF2B5EF4-FFF2-40B4-BE49-F238E27FC236}">
                <a16:creationId xmlns:a16="http://schemas.microsoft.com/office/drawing/2014/main" id="{E17FB3D5-78EE-4A60-840A-73139583C7A3}"/>
              </a:ext>
            </a:extLst>
          </p:cNvPr>
          <p:cNvSpPr>
            <a:spLocks xmlns:a="http://schemas.openxmlformats.org/drawingml/2006/main" noGrp="1"/>
          </p:cNvSpPr>
          <p:nvPr/>
        </p:nvSpPr>
        <p:spPr>
          <a:xfrm xmlns:a="http://schemas.openxmlformats.org/drawingml/2006/main">
            <a:off x="2324100" y="316230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3. Patientennutzen</a:t>
            </a:r>
          </a:p>
        </p:txBody>
      </p:sp>
      <p:sp>
        <p:nvSpPr>
          <p:cNvPr id="15" name="">
            <a:extLst xmlns:a="http://schemas.openxmlformats.org/drawingml/2006/main">
              <a:ext uri="{FF2B5EF4-FFF2-40B4-BE49-F238E27FC236}">
                <a16:creationId xmlns:a16="http://schemas.microsoft.com/office/drawing/2014/main" id="{5363B6CF-353A-4422-8881-7A20D15353A9}"/>
              </a:ext>
            </a:extLst>
          </p:cNvPr>
          <p:cNvSpPr>
            <a:spLocks xmlns:a="http://schemas.openxmlformats.org/drawingml/2006/main" noGrp="1"/>
          </p:cNvSpPr>
          <p:nvPr/>
        </p:nvSpPr>
        <p:spPr>
          <a:xfrm xmlns:a="http://schemas.openxmlformats.org/drawingml/2006/main">
            <a:off x="4819650" y="316230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Welche Vorteile, Belastungen und Folgerisiken entstehen für diese Person?</a:t>
            </a:r>
          </a:p>
        </p:txBody>
      </p:sp>
      <p:sp>
        <p:nvSpPr>
          <p:cNvPr id="16" name="">
            <a:extLst xmlns:a="http://schemas.openxmlformats.org/drawingml/2006/main">
              <a:ext uri="{FF2B5EF4-FFF2-40B4-BE49-F238E27FC236}">
                <a16:creationId xmlns:a16="http://schemas.microsoft.com/office/drawing/2014/main" id="{EA0E18B2-6AAB-4E9C-A884-16D914232763}"/>
              </a:ext>
            </a:extLst>
          </p:cNvPr>
          <p:cNvSpPr>
            <a:spLocks xmlns:a="http://schemas.openxmlformats.org/drawingml/2006/main" noGrp="1"/>
          </p:cNvSpPr>
          <p:nvPr/>
        </p:nvSpPr>
        <p:spPr>
          <a:xfrm xmlns:a="http://schemas.openxmlformats.org/drawingml/2006/main">
            <a:off x="1809750" y="375285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7" name="">
            <a:extLst xmlns:a="http://schemas.openxmlformats.org/drawingml/2006/main">
              <a:ext uri="{FF2B5EF4-FFF2-40B4-BE49-F238E27FC236}">
                <a16:creationId xmlns:a16="http://schemas.microsoft.com/office/drawing/2014/main" id="{C7351DAC-C94A-4823-821F-F2FFA5DD7471}"/>
              </a:ext>
            </a:extLst>
          </p:cNvPr>
          <p:cNvSpPr>
            <a:spLocks xmlns:a="http://schemas.openxmlformats.org/drawingml/2006/main" noGrp="1"/>
          </p:cNvSpPr>
          <p:nvPr/>
        </p:nvSpPr>
        <p:spPr>
          <a:xfrm xmlns:a="http://schemas.openxmlformats.org/drawingml/2006/main">
            <a:off x="1809750" y="375285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18" name="">
            <a:extLst xmlns:a="http://schemas.openxmlformats.org/drawingml/2006/main">
              <a:ext uri="{FF2B5EF4-FFF2-40B4-BE49-F238E27FC236}">
                <a16:creationId xmlns:a16="http://schemas.microsoft.com/office/drawing/2014/main" id="{AC644F83-4522-4B1E-A979-AA2CCF55BDF3}"/>
              </a:ext>
            </a:extLst>
          </p:cNvPr>
          <p:cNvSpPr>
            <a:spLocks xmlns:a="http://schemas.openxmlformats.org/drawingml/2006/main" noGrp="1"/>
          </p:cNvSpPr>
          <p:nvPr/>
        </p:nvSpPr>
        <p:spPr>
          <a:xfrm xmlns:a="http://schemas.openxmlformats.org/drawingml/2006/main">
            <a:off x="2324100" y="376237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4. Präferenzen</a:t>
            </a:r>
          </a:p>
        </p:txBody>
      </p:sp>
      <p:sp>
        <p:nvSpPr>
          <p:cNvPr id="19" name="">
            <a:extLst xmlns:a="http://schemas.openxmlformats.org/drawingml/2006/main">
              <a:ext uri="{FF2B5EF4-FFF2-40B4-BE49-F238E27FC236}">
                <a16:creationId xmlns:a16="http://schemas.microsoft.com/office/drawing/2014/main" id="{22A171C5-C903-4736-9809-B832182E0BD4}"/>
              </a:ext>
            </a:extLst>
          </p:cNvPr>
          <p:cNvSpPr>
            <a:spLocks xmlns:a="http://schemas.openxmlformats.org/drawingml/2006/main" noGrp="1"/>
          </p:cNvSpPr>
          <p:nvPr/>
        </p:nvSpPr>
        <p:spPr>
          <a:xfrm xmlns:a="http://schemas.openxmlformats.org/drawingml/2006/main">
            <a:off x="4819650" y="376237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Welche Werte und Risikohaltungen bestimmen die Wahl?</a:t>
            </a:r>
          </a:p>
        </p:txBody>
      </p:sp>
      <p:sp>
        <p:nvSpPr>
          <p:cNvPr id="20" name="">
            <a:extLst xmlns:a="http://schemas.openxmlformats.org/drawingml/2006/main">
              <a:ext uri="{FF2B5EF4-FFF2-40B4-BE49-F238E27FC236}">
                <a16:creationId xmlns:a16="http://schemas.microsoft.com/office/drawing/2014/main" id="{9920F278-72D9-4815-94F7-F5139A38F7A0}"/>
              </a:ext>
            </a:extLst>
          </p:cNvPr>
          <p:cNvSpPr>
            <a:spLocks xmlns:a="http://schemas.openxmlformats.org/drawingml/2006/main" noGrp="1"/>
          </p:cNvSpPr>
          <p:nvPr/>
        </p:nvSpPr>
        <p:spPr>
          <a:xfrm xmlns:a="http://schemas.openxmlformats.org/drawingml/2006/main">
            <a:off x="1809750" y="435292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1" name="">
            <a:extLst xmlns:a="http://schemas.openxmlformats.org/drawingml/2006/main">
              <a:ext uri="{FF2B5EF4-FFF2-40B4-BE49-F238E27FC236}">
                <a16:creationId xmlns:a16="http://schemas.microsoft.com/office/drawing/2014/main" id="{032C92A3-D547-4337-B1E4-B887E0B05122}"/>
              </a:ext>
            </a:extLst>
          </p:cNvPr>
          <p:cNvSpPr>
            <a:spLocks xmlns:a="http://schemas.openxmlformats.org/drawingml/2006/main" noGrp="1"/>
          </p:cNvSpPr>
          <p:nvPr/>
        </p:nvSpPr>
        <p:spPr>
          <a:xfrm xmlns:a="http://schemas.openxmlformats.org/drawingml/2006/main">
            <a:off x="1809750" y="43529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5</a:t>
            </a:r>
          </a:p>
        </p:txBody>
      </p:sp>
      <p:sp>
        <p:nvSpPr>
          <p:cNvPr id="22" name="">
            <a:extLst xmlns:a="http://schemas.openxmlformats.org/drawingml/2006/main">
              <a:ext uri="{FF2B5EF4-FFF2-40B4-BE49-F238E27FC236}">
                <a16:creationId xmlns:a16="http://schemas.microsoft.com/office/drawing/2014/main" id="{1A6014AE-2C6F-47D3-A6D6-F155B8E84B7E}"/>
              </a:ext>
            </a:extLst>
          </p:cNvPr>
          <p:cNvSpPr>
            <a:spLocks xmlns:a="http://schemas.openxmlformats.org/drawingml/2006/main" noGrp="1"/>
          </p:cNvSpPr>
          <p:nvPr/>
        </p:nvSpPr>
        <p:spPr>
          <a:xfrm xmlns:a="http://schemas.openxmlformats.org/drawingml/2006/main">
            <a:off x="2324100" y="436245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5. Sicherheitsnetz</a:t>
            </a:r>
          </a:p>
        </p:txBody>
      </p:sp>
      <p:sp>
        <p:nvSpPr>
          <p:cNvPr id="23" name="">
            <a:extLst xmlns:a="http://schemas.openxmlformats.org/drawingml/2006/main">
              <a:ext uri="{FF2B5EF4-FFF2-40B4-BE49-F238E27FC236}">
                <a16:creationId xmlns:a16="http://schemas.microsoft.com/office/drawing/2014/main" id="{FA63D2B1-DDEE-4A76-9D05-29A7DF4B3BC3}"/>
              </a:ext>
            </a:extLst>
          </p:cNvPr>
          <p:cNvSpPr>
            <a:spLocks xmlns:a="http://schemas.openxmlformats.org/drawingml/2006/main" noGrp="1"/>
          </p:cNvSpPr>
          <p:nvPr/>
        </p:nvSpPr>
        <p:spPr>
          <a:xfrm xmlns:a="http://schemas.openxmlformats.org/drawingml/2006/main">
            <a:off x="4819650" y="436245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Wie werden Unsicherheit, Verlauf und Eskalation praktisch beherrscht?</a:t>
            </a:r>
          </a:p>
        </p:txBody>
      </p:sp>
      <p:sp>
        <p:nvSpPr>
          <p:cNvPr id="24" name="">
            <a:extLst xmlns:a="http://schemas.openxmlformats.org/drawingml/2006/main">
              <a:ext uri="{FF2B5EF4-FFF2-40B4-BE49-F238E27FC236}">
                <a16:creationId xmlns:a16="http://schemas.microsoft.com/office/drawing/2014/main" id="{463231E7-D9FE-4113-B8A3-21E325DCB4E1}"/>
              </a:ext>
            </a:extLst>
          </p:cNvPr>
          <p:cNvSpPr>
            <a:spLocks xmlns:a="http://schemas.openxmlformats.org/drawingml/2006/main" noGrp="1"/>
          </p:cNvSpPr>
          <p:nvPr/>
        </p:nvSpPr>
        <p:spPr>
          <a:xfrm xmlns:a="http://schemas.openxmlformats.org/drawingml/2006/main">
            <a:off x="1809750" y="495300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25" name="">
            <a:extLst xmlns:a="http://schemas.openxmlformats.org/drawingml/2006/main">
              <a:ext uri="{FF2B5EF4-FFF2-40B4-BE49-F238E27FC236}">
                <a16:creationId xmlns:a16="http://schemas.microsoft.com/office/drawing/2014/main" id="{1CF84BE6-D5ED-4172-B662-A156C1101434}"/>
              </a:ext>
            </a:extLst>
          </p:cNvPr>
          <p:cNvSpPr>
            <a:spLocks xmlns:a="http://schemas.openxmlformats.org/drawingml/2006/main" noGrp="1"/>
          </p:cNvSpPr>
          <p:nvPr/>
        </p:nvSpPr>
        <p:spPr>
          <a:xfrm xmlns:a="http://schemas.openxmlformats.org/drawingml/2006/main">
            <a:off x="1809750" y="495300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6</a:t>
            </a:r>
          </a:p>
        </p:txBody>
      </p:sp>
      <p:sp>
        <p:nvSpPr>
          <p:cNvPr id="26" name="">
            <a:extLst xmlns:a="http://schemas.openxmlformats.org/drawingml/2006/main">
              <a:ext uri="{FF2B5EF4-FFF2-40B4-BE49-F238E27FC236}">
                <a16:creationId xmlns:a16="http://schemas.microsoft.com/office/drawing/2014/main" id="{77E0E379-9A9C-4B3F-B1BC-6E28204FA234}"/>
              </a:ext>
            </a:extLst>
          </p:cNvPr>
          <p:cNvSpPr>
            <a:spLocks xmlns:a="http://schemas.openxmlformats.org/drawingml/2006/main" noGrp="1"/>
          </p:cNvSpPr>
          <p:nvPr/>
        </p:nvSpPr>
        <p:spPr>
          <a:xfrm xmlns:a="http://schemas.openxmlformats.org/drawingml/2006/main">
            <a:off x="2324100" y="496252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6. Dokumentation</a:t>
            </a:r>
          </a:p>
        </p:txBody>
      </p:sp>
      <p:sp>
        <p:nvSpPr>
          <p:cNvPr id="27" name="">
            <a:extLst xmlns:a="http://schemas.openxmlformats.org/drawingml/2006/main">
              <a:ext uri="{FF2B5EF4-FFF2-40B4-BE49-F238E27FC236}">
                <a16:creationId xmlns:a16="http://schemas.microsoft.com/office/drawing/2014/main" id="{7D2E2893-AEF6-4B67-A1F5-A1977DCAA847}"/>
              </a:ext>
            </a:extLst>
          </p:cNvPr>
          <p:cNvSpPr>
            <a:spLocks xmlns:a="http://schemas.openxmlformats.org/drawingml/2006/main" noGrp="1"/>
          </p:cNvSpPr>
          <p:nvPr/>
        </p:nvSpPr>
        <p:spPr>
          <a:xfrm xmlns:a="http://schemas.openxmlformats.org/drawingml/2006/main">
            <a:off x="4819650" y="496252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Ist der Entscheidungsweg knapp, individuell und später nachvollziehbar?</a:t>
            </a:r>
          </a:p>
        </p:txBody>
      </p:sp>
      <p:sp>
        <p:nvSpPr>
          <p:cNvPr id="28" name="">
            <a:extLst xmlns:a="http://schemas.openxmlformats.org/drawingml/2006/main">
              <a:ext uri="{FF2B5EF4-FFF2-40B4-BE49-F238E27FC236}">
                <a16:creationId xmlns:a16="http://schemas.microsoft.com/office/drawing/2014/main" id="{E2C3708D-179E-4D85-A40C-65436A743F22}"/>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9" name="">
            <a:extLst xmlns:a="http://schemas.openxmlformats.org/drawingml/2006/main">
              <a:ext uri="{FF2B5EF4-FFF2-40B4-BE49-F238E27FC236}">
                <a16:creationId xmlns:a16="http://schemas.microsoft.com/office/drawing/2014/main" id="{98C5BB7A-0CC3-4AD7-A367-92D8F7E683D9}"/>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Die beste rechtliche Prävention ist ein guter, erklärbarer klinischer Prozess.</a:t>
            </a:r>
          </a:p>
        </p:txBody>
      </p:sp>
    </p:spTree>
    <p:extLst>
      <p:ext uri="{BB962C8B-B14F-4D97-AF65-F5344CB8AC3E}">
        <p14:creationId xmlns:p14="http://schemas.microsoft.com/office/powerpoint/2010/main" val="43637646"/>
      </p:ext>
    </p:extLst>
  </p:cSld>
</p:sld>
</file>

<file path=ppt/slides/slide384.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Defensive Medizin hat zwei Gesichter</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NICHT NUR ÜBERDIAGNOSTIK</a:t>
            </a:r>
            <a:endParaRPr/>
          </a:p>
        </p:txBody>
      </p:sp>
      <p:sp>
        <p:nvSpPr>
          <p:cNvPr id="4" name="">
            <a:extLst xmlns:a="http://schemas.openxmlformats.org/drawingml/2006/main">
              <a:ext uri="{FF2B5EF4-FFF2-40B4-BE49-F238E27FC236}">
                <a16:creationId xmlns:a16="http://schemas.microsoft.com/office/drawing/2014/main" id="{4828887F-D46B-4B6C-A236-F8AB7ED8DD9A}"/>
              </a:ext>
            </a:extLst>
          </p:cNvPr>
          <p:cNvSpPr>
            <a:spLocks xmlns:a="http://schemas.openxmlformats.org/drawingml/2006/main" noGrp="1"/>
          </p:cNvSpPr>
          <p:nvPr/>
        </p:nvSpPr>
        <p:spPr>
          <a:xfrm xmlns:a="http://schemas.openxmlformats.org/drawingml/2006/main">
            <a:off x="1809750" y="2000250"/>
            <a:ext cx="4619625" cy="3286125"/>
          </a:xfrm>
          <a:prstGeom xmlns:a="http://schemas.openxmlformats.org/drawingml/2006/main" prst="roundRect">
            <a:avLst>
              <a:gd name="adj" fmla="val 2319"/>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1D6A1E66-F49C-4862-9BCB-D896F7D02550}"/>
              </a:ext>
            </a:extLst>
          </p:cNvPr>
          <p:cNvSpPr>
            <a:spLocks xmlns:a="http://schemas.openxmlformats.org/drawingml/2006/main" noGrp="1"/>
          </p:cNvSpPr>
          <p:nvPr/>
        </p:nvSpPr>
        <p:spPr>
          <a:xfrm xmlns:a="http://schemas.openxmlformats.org/drawingml/2006/main">
            <a:off x="1809750" y="2000250"/>
            <a:ext cx="4619625"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A05D82D1-375F-44A4-B201-3266EB939347}"/>
              </a:ext>
            </a:extLst>
          </p:cNvPr>
          <p:cNvSpPr>
            <a:spLocks xmlns:a="http://schemas.openxmlformats.org/drawingml/2006/main" noGrp="1"/>
          </p:cNvSpPr>
          <p:nvPr/>
        </p:nvSpPr>
        <p:spPr>
          <a:xfrm xmlns:a="http://schemas.openxmlformats.org/drawingml/2006/main">
            <a:off x="1962150" y="2133600"/>
            <a:ext cx="4314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75" b="1">
                <a:solidFill>
                  <a:srgbClr val="003F6B"/>
                </a:solidFill>
              </a:defRPr>
            </a:pPr>
            <a:r>
              <a:rPr sz="1575" b="1">
                <a:solidFill>
                  <a:srgbClr val="003F6B"/>
                </a:solidFill>
              </a:rPr>
              <a:t>Positiv defensiv</a:t>
            </a:r>
          </a:p>
        </p:txBody>
      </p:sp>
      <p:sp>
        <p:nvSpPr>
          <p:cNvPr id="7" name="">
            <a:extLst xmlns:a="http://schemas.openxmlformats.org/drawingml/2006/main">
              <a:ext uri="{FF2B5EF4-FFF2-40B4-BE49-F238E27FC236}">
                <a16:creationId xmlns:a16="http://schemas.microsoft.com/office/drawing/2014/main" id="{4F6929CD-77D1-4593-8794-215F62F5E426}"/>
              </a:ext>
            </a:extLst>
          </p:cNvPr>
          <p:cNvSpPr>
            <a:spLocks xmlns:a="http://schemas.openxmlformats.org/drawingml/2006/main" noGrp="1"/>
          </p:cNvSpPr>
          <p:nvPr/>
        </p:nvSpPr>
        <p:spPr>
          <a:xfrm xmlns:a="http://schemas.openxmlformats.org/drawingml/2006/main">
            <a:off x="1962150" y="2571750"/>
            <a:ext cx="4314825"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15232B"/>
                </a:solidFill>
              </a:defRPr>
            </a:pPr>
            <a:r>
              <a:rPr sz="1200">
                <a:solidFill>
                  <a:srgbClr val="15232B"/>
                </a:solidFill>
              </a:rPr>
              <a:t>zusätzliche Diagnostik, Überweisung oder Aufnahme primär zur rechtlichen Absicherung</a:t>
            </a:r>
          </a:p>
          <a:p xmlns:a="http://schemas.openxmlformats.org/drawingml/2006/main">
            <a:pPr>
              <a:buNone/>
              <a:defRPr sz="1200">
                <a:solidFill>
                  <a:srgbClr val="15232B"/>
                </a:solidFill>
              </a:defRPr>
            </a:pPr>
            <a:r>
              <a:rPr sz="1200">
                <a:solidFill>
                  <a:srgbClr val="15232B"/>
                </a:solidFill>
              </a:rPr>
              <a:t>Risiken: Überdiagnosen · Strahlen-/Interventionsrisiko · Ressourcen · Zufallsbefunde</a:t>
            </a:r>
          </a:p>
        </p:txBody>
      </p:sp>
      <p:sp>
        <p:nvSpPr>
          <p:cNvPr id="8" name="">
            <a:extLst xmlns:a="http://schemas.openxmlformats.org/drawingml/2006/main">
              <a:ext uri="{FF2B5EF4-FFF2-40B4-BE49-F238E27FC236}">
                <a16:creationId xmlns:a16="http://schemas.microsoft.com/office/drawing/2014/main" id="{0BA8B2D0-18F2-4420-A59D-7792ACFCB07D}"/>
              </a:ext>
            </a:extLst>
          </p:cNvPr>
          <p:cNvSpPr>
            <a:spLocks xmlns:a="http://schemas.openxmlformats.org/drawingml/2006/main" noGrp="1"/>
          </p:cNvSpPr>
          <p:nvPr/>
        </p:nvSpPr>
        <p:spPr>
          <a:xfrm xmlns:a="http://schemas.openxmlformats.org/drawingml/2006/main">
            <a:off x="6715125" y="2000250"/>
            <a:ext cx="4619625" cy="3286125"/>
          </a:xfrm>
          <a:prstGeom xmlns:a="http://schemas.openxmlformats.org/drawingml/2006/main" prst="roundRect">
            <a:avLst>
              <a:gd name="adj" fmla="val 2319"/>
            </a:avLst>
          </a:prstGeom>
          <a:noFill xmlns:a="http://schemas.openxmlformats.org/drawingml/2006/main"/>
          <a:ln xmlns:a="http://schemas.openxmlformats.org/drawingml/2006/main" w="9525">
            <a:solidFill>
              <a:srgbClr val="B9CAD2"/>
            </a:solidFill>
            <a:prstDash val="solid"/>
          </a:ln>
        </p:spPr>
      </p:sp>
      <p:sp>
        <p:nvSpPr>
          <p:cNvPr id="9" name="">
            <a:extLst xmlns:a="http://schemas.openxmlformats.org/drawingml/2006/main">
              <a:ext uri="{FF2B5EF4-FFF2-40B4-BE49-F238E27FC236}">
                <a16:creationId xmlns:a16="http://schemas.microsoft.com/office/drawing/2014/main" id="{75E7B848-8410-4B15-B4CA-FDF1426119F1}"/>
              </a:ext>
            </a:extLst>
          </p:cNvPr>
          <p:cNvSpPr>
            <a:spLocks xmlns:a="http://schemas.openxmlformats.org/drawingml/2006/main" noGrp="1"/>
          </p:cNvSpPr>
          <p:nvPr/>
        </p:nvSpPr>
        <p:spPr>
          <a:xfrm xmlns:a="http://schemas.openxmlformats.org/drawingml/2006/main">
            <a:off x="6715125" y="2000250"/>
            <a:ext cx="4619625"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49D668B1-3DCF-42FF-9F28-89C4261C9C09}"/>
              </a:ext>
            </a:extLst>
          </p:cNvPr>
          <p:cNvSpPr>
            <a:spLocks xmlns:a="http://schemas.openxmlformats.org/drawingml/2006/main" noGrp="1"/>
          </p:cNvSpPr>
          <p:nvPr/>
        </p:nvSpPr>
        <p:spPr>
          <a:xfrm xmlns:a="http://schemas.openxmlformats.org/drawingml/2006/main">
            <a:off x="6867525" y="2133600"/>
            <a:ext cx="4314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575" b="1">
                <a:solidFill>
                  <a:srgbClr val="003F6B"/>
                </a:solidFill>
              </a:defRPr>
            </a:pPr>
            <a:r>
              <a:rPr sz="1575" b="1">
                <a:solidFill>
                  <a:srgbClr val="003F6B"/>
                </a:solidFill>
              </a:rPr>
              <a:t>Negativ defensiv</a:t>
            </a:r>
          </a:p>
        </p:txBody>
      </p:sp>
      <p:sp>
        <p:nvSpPr>
          <p:cNvPr id="11" name="">
            <a:extLst xmlns:a="http://schemas.openxmlformats.org/drawingml/2006/main">
              <a:ext uri="{FF2B5EF4-FFF2-40B4-BE49-F238E27FC236}">
                <a16:creationId xmlns:a16="http://schemas.microsoft.com/office/drawing/2014/main" id="{2C1BC9B7-4E29-4E74-8D18-C2D81716788F}"/>
              </a:ext>
            </a:extLst>
          </p:cNvPr>
          <p:cNvSpPr>
            <a:spLocks xmlns:a="http://schemas.openxmlformats.org/drawingml/2006/main" noGrp="1"/>
          </p:cNvSpPr>
          <p:nvPr/>
        </p:nvSpPr>
        <p:spPr>
          <a:xfrm xmlns:a="http://schemas.openxmlformats.org/drawingml/2006/main">
            <a:off x="6867525" y="2571750"/>
            <a:ext cx="4314825"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a:solidFill>
                  <a:srgbClr val="15232B"/>
                </a:solidFill>
              </a:defRPr>
            </a:pPr>
            <a:r>
              <a:rPr sz="1200">
                <a:solidFill>
                  <a:srgbClr val="15232B"/>
                </a:solidFill>
              </a:rPr>
              <a:t>Risikopatient:innen, Eingriffe oder Verantwortung meiden</a:t>
            </a:r>
          </a:p>
          <a:p xmlns:a="http://schemas.openxmlformats.org/drawingml/2006/main">
            <a:pPr>
              <a:buNone/>
              <a:defRPr sz="1200">
                <a:solidFill>
                  <a:srgbClr val="15232B"/>
                </a:solidFill>
              </a:defRPr>
            </a:pPr>
            <a:r>
              <a:rPr sz="1200">
                <a:solidFill>
                  <a:srgbClr val="15232B"/>
                </a:solidFill>
              </a:rPr>
              <a:t>Risiken: Unterversorgung · Verzögerung · Ungleichheit · Übergabeverlust</a:t>
            </a:r>
          </a:p>
        </p:txBody>
      </p:sp>
      <p:sp>
        <p:nvSpPr>
          <p:cNvPr id="12" name="">
            <a:extLst xmlns:a="http://schemas.openxmlformats.org/drawingml/2006/main">
              <a:ext uri="{FF2B5EF4-FFF2-40B4-BE49-F238E27FC236}">
                <a16:creationId xmlns:a16="http://schemas.microsoft.com/office/drawing/2014/main" id="{50A117A4-51FE-45EE-997C-F8387CA00D98}"/>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13" name="">
            <a:extLst xmlns:a="http://schemas.openxmlformats.org/drawingml/2006/main">
              <a:ext uri="{FF2B5EF4-FFF2-40B4-BE49-F238E27FC236}">
                <a16:creationId xmlns:a16="http://schemas.microsoft.com/office/drawing/2014/main" id="{7ABFFB04-8F58-4079-88A4-6D0362E295FB}"/>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Recht verlangt regelmäßig eine vertretbare ex-ante-Entscheidung – keine Nullrisikomedizin.</a:t>
            </a:r>
          </a:p>
        </p:txBody>
      </p:sp>
    </p:spTree>
    <p:extLst>
      <p:ext uri="{BB962C8B-B14F-4D97-AF65-F5344CB8AC3E}">
        <p14:creationId xmlns:p14="http://schemas.microsoft.com/office/powerpoint/2010/main" val="43637646"/>
      </p:ext>
    </p:extLst>
  </p:cSld>
</p:sld>
</file>

<file path=ppt/slides/slide385.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Leitentscheidung · Leitlinie ist nicht automatisch medizinischer Standard</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ORIGINALENTSCHEIDUNG · TERMIN 13</a:t>
            </a:r>
            <a:endParaRPr/>
          </a:p>
        </p:txBody>
      </p:sp>
      <p:sp>
        <p:nvSpPr>
          <p:cNvPr id="4" name="">
            <a:extLst xmlns:a="http://schemas.openxmlformats.org/drawingml/2006/main">
              <a:ext uri="{FF2B5EF4-FFF2-40B4-BE49-F238E27FC236}">
                <a16:creationId xmlns:a16="http://schemas.microsoft.com/office/drawing/2014/main" id="{C6A0D8F0-1E83-4500-9237-2C158611C495}"/>
              </a:ext>
            </a:extLst>
          </p:cNvPr>
          <p:cNvSpPr>
            <a:spLocks xmlns:a="http://schemas.openxmlformats.org/drawingml/2006/main" noGrp="1"/>
          </p:cNvSpPr>
          <p:nvPr/>
        </p:nvSpPr>
        <p:spPr>
          <a:xfrm xmlns:a="http://schemas.openxmlformats.org/drawingml/2006/main">
            <a:off x="1809750" y="1943100"/>
            <a:ext cx="11239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F892C6B0-0E6B-4A1B-A4A0-525FD4ACF25B}"/>
              </a:ext>
            </a:extLst>
          </p:cNvPr>
          <p:cNvSpPr>
            <a:spLocks xmlns:a="http://schemas.openxmlformats.org/drawingml/2006/main" noGrp="1"/>
          </p:cNvSpPr>
          <p:nvPr/>
        </p:nvSpPr>
        <p:spPr>
          <a:xfrm xmlns:a="http://schemas.openxmlformats.org/drawingml/2006/main">
            <a:off x="1809750" y="1943100"/>
            <a:ext cx="1123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38" b="1">
                <a:solidFill>
                  <a:srgbClr val="FFFFFF"/>
                </a:solidFill>
              </a:defRPr>
            </a:pPr>
            <a:r>
              <a:rPr sz="938" b="1">
                <a:solidFill>
                  <a:srgbClr val="FFFFFF"/>
                </a:solidFill>
              </a:rPr>
              <a:t>BGH</a:t>
            </a:r>
          </a:p>
        </p:txBody>
      </p:sp>
      <p:sp>
        <p:nvSpPr>
          <p:cNvPr id="6" name="">
            <a:extLst xmlns:a="http://schemas.openxmlformats.org/drawingml/2006/main">
              <a:ext uri="{FF2B5EF4-FFF2-40B4-BE49-F238E27FC236}">
                <a16:creationId xmlns:a16="http://schemas.microsoft.com/office/drawing/2014/main" id="{6FB166B4-4C2C-4A8E-BBDC-C6FAE2459283}"/>
              </a:ext>
            </a:extLst>
          </p:cNvPr>
          <p:cNvSpPr>
            <a:spLocks xmlns:a="http://schemas.openxmlformats.org/drawingml/2006/main" noGrp="1"/>
          </p:cNvSpPr>
          <p:nvPr/>
        </p:nvSpPr>
        <p:spPr>
          <a:xfrm xmlns:a="http://schemas.openxmlformats.org/drawingml/2006/main">
            <a:off x="312420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15.04.2014 · VI ZR 382/12</a:t>
            </a:r>
          </a:p>
        </p:txBody>
      </p:sp>
      <p:sp>
        <p:nvSpPr>
          <p:cNvPr id="7" name="">
            <a:extLst xmlns:a="http://schemas.openxmlformats.org/drawingml/2006/main">
              <a:ext uri="{FF2B5EF4-FFF2-40B4-BE49-F238E27FC236}">
                <a16:creationId xmlns:a16="http://schemas.microsoft.com/office/drawing/2014/main" id="{3C60FC27-5775-4A29-9A5D-0289422CDD09}"/>
              </a:ext>
            </a:extLst>
          </p:cNvPr>
          <p:cNvSpPr>
            <a:spLocks xmlns:a="http://schemas.openxmlformats.org/drawingml/2006/main" noGrp="1"/>
          </p:cNvSpPr>
          <p:nvPr/>
        </p:nvSpPr>
        <p:spPr>
          <a:xfrm xmlns:a="http://schemas.openxmlformats.org/drawingml/2006/main">
            <a:off x="733425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050">
                <a:solidFill>
                  <a:srgbClr val="667680"/>
                </a:solidFill>
              </a:defRPr>
            </a:pPr>
            <a:r>
              <a:rPr sz="1050">
                <a:solidFill>
                  <a:srgbClr val="667680"/>
                </a:solidFill>
              </a:rPr>
              <a:t>Defensive Medizin wird nicht durch Schlagworte vermieden</a:t>
            </a:r>
          </a:p>
        </p:txBody>
      </p:sp>
      <p:sp>
        <p:nvSpPr>
          <p:cNvPr id="8" name="">
            <a:extLst xmlns:a="http://schemas.openxmlformats.org/drawingml/2006/main">
              <a:ext uri="{FF2B5EF4-FFF2-40B4-BE49-F238E27FC236}">
                <a16:creationId xmlns:a16="http://schemas.microsoft.com/office/drawing/2014/main" id="{EFAB00C9-6878-4D34-8071-5D838D05AD21}"/>
              </a:ext>
            </a:extLst>
          </p:cNvPr>
          <p:cNvSpPr>
            <a:spLocks xmlns:a="http://schemas.openxmlformats.org/drawingml/2006/main" noGrp="1"/>
          </p:cNvSpPr>
          <p:nvPr/>
        </p:nvSpPr>
        <p:spPr>
          <a:xfrm xmlns:a="http://schemas.openxmlformats.org/drawingml/2006/main">
            <a:off x="1809750" y="2533650"/>
            <a:ext cx="1676400" cy="781050"/>
          </a:xfrm>
          <a:prstGeom xmlns:a="http://schemas.openxmlformats.org/drawingml/2006/main" prst="roundRect">
            <a:avLst>
              <a:gd name="adj" fmla="val 9756"/>
            </a:avLst>
          </a:prstGeom>
          <a:solidFill xmlns:a="http://schemas.openxmlformats.org/drawingml/2006/main">
            <a:srgbClr val="00B2BB"/>
          </a:solidFill>
          <a:ln xmlns:a="http://schemas.openxmlformats.org/drawingml/2006/main" w="0">
            <a:solidFill>
              <a:srgbClr val="00B2BB"/>
            </a:solidFill>
            <a:prstDash val="solid"/>
          </a:ln>
        </p:spPr>
      </p:sp>
      <p:sp>
        <p:nvSpPr>
          <p:cNvPr id="9" name="">
            <a:extLst xmlns:a="http://schemas.openxmlformats.org/drawingml/2006/main">
              <a:ext uri="{FF2B5EF4-FFF2-40B4-BE49-F238E27FC236}">
                <a16:creationId xmlns:a16="http://schemas.microsoft.com/office/drawing/2014/main" id="{89105641-3E73-4106-873E-9AA29BE8BC3F}"/>
              </a:ext>
            </a:extLst>
          </p:cNvPr>
          <p:cNvSpPr>
            <a:spLocks xmlns:a="http://schemas.openxmlformats.org/drawingml/2006/main" noGrp="1"/>
          </p:cNvSpPr>
          <p:nvPr/>
        </p:nvSpPr>
        <p:spPr>
          <a:xfrm xmlns:a="http://schemas.openxmlformats.org/drawingml/2006/main">
            <a:off x="1924050" y="25336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Ausgangsfall</a:t>
            </a:r>
          </a:p>
        </p:txBody>
      </p:sp>
      <p:sp>
        <p:nvSpPr>
          <p:cNvPr id="10" name="">
            <a:extLst xmlns:a="http://schemas.openxmlformats.org/drawingml/2006/main">
              <a:ext uri="{FF2B5EF4-FFF2-40B4-BE49-F238E27FC236}">
                <a16:creationId xmlns:a16="http://schemas.microsoft.com/office/drawing/2014/main" id="{840BAF1C-7DEE-4CC4-8325-875C53011560}"/>
              </a:ext>
            </a:extLst>
          </p:cNvPr>
          <p:cNvSpPr>
            <a:spLocks xmlns:a="http://schemas.openxmlformats.org/drawingml/2006/main" noGrp="1"/>
          </p:cNvSpPr>
          <p:nvPr/>
        </p:nvSpPr>
        <p:spPr>
          <a:xfrm xmlns:a="http://schemas.openxmlformats.org/drawingml/2006/main">
            <a:off x="3695700" y="25336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In einem geburtshilflichen Haftungsfall war zu klären, welche Bedeutung Leitlinien für die Bestimmung des medizinischen Standards und die gerichtliche Beweiswürdigung haben.</a:t>
            </a:r>
          </a:p>
        </p:txBody>
      </p:sp>
      <p:sp>
        <p:nvSpPr>
          <p:cNvPr id="11" name="">
            <a:extLst xmlns:a="http://schemas.openxmlformats.org/drawingml/2006/main">
              <a:ext uri="{FF2B5EF4-FFF2-40B4-BE49-F238E27FC236}">
                <a16:creationId xmlns:a16="http://schemas.microsoft.com/office/drawing/2014/main" id="{5C549670-C0BF-4542-AADC-C0A881FBBCE7}"/>
              </a:ext>
            </a:extLst>
          </p:cNvPr>
          <p:cNvSpPr>
            <a:spLocks xmlns:a="http://schemas.openxmlformats.org/drawingml/2006/main" noGrp="1"/>
          </p:cNvSpPr>
          <p:nvPr/>
        </p:nvSpPr>
        <p:spPr>
          <a:xfrm xmlns:a="http://schemas.openxmlformats.org/drawingml/2006/main">
            <a:off x="1809750" y="3486150"/>
            <a:ext cx="1676400" cy="781050"/>
          </a:xfrm>
          <a:prstGeom xmlns:a="http://schemas.openxmlformats.org/drawingml/2006/main" prst="roundRect">
            <a:avLst>
              <a:gd name="adj" fmla="val 9756"/>
            </a:avLst>
          </a:prstGeom>
          <a:solidFill xmlns:a="http://schemas.openxmlformats.org/drawingml/2006/main">
            <a:srgbClr val="003F6B"/>
          </a:solidFill>
          <a:ln xmlns:a="http://schemas.openxmlformats.org/drawingml/2006/main" w="0">
            <a:solidFill>
              <a:srgbClr val="003F6B"/>
            </a:solidFill>
            <a:prstDash val="solid"/>
          </a:ln>
        </p:spPr>
      </p:sp>
      <p:sp>
        <p:nvSpPr>
          <p:cNvPr id="12" name="">
            <a:extLst xmlns:a="http://schemas.openxmlformats.org/drawingml/2006/main">
              <a:ext uri="{FF2B5EF4-FFF2-40B4-BE49-F238E27FC236}">
                <a16:creationId xmlns:a16="http://schemas.microsoft.com/office/drawing/2014/main" id="{7BFB8261-9C61-41F3-BF7E-AA116500072D}"/>
              </a:ext>
            </a:extLst>
          </p:cNvPr>
          <p:cNvSpPr>
            <a:spLocks xmlns:a="http://schemas.openxmlformats.org/drawingml/2006/main" noGrp="1"/>
          </p:cNvSpPr>
          <p:nvPr/>
        </p:nvSpPr>
        <p:spPr>
          <a:xfrm xmlns:a="http://schemas.openxmlformats.org/drawingml/2006/main">
            <a:off x="1924050" y="34861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Leitsatzkern</a:t>
            </a:r>
          </a:p>
        </p:txBody>
      </p:sp>
      <p:sp>
        <p:nvSpPr>
          <p:cNvPr id="13" name="">
            <a:extLst xmlns:a="http://schemas.openxmlformats.org/drawingml/2006/main">
              <a:ext uri="{FF2B5EF4-FFF2-40B4-BE49-F238E27FC236}">
                <a16:creationId xmlns:a16="http://schemas.microsoft.com/office/drawing/2014/main" id="{67281E6B-9F9D-4D8A-B35E-F909D4DB6B6D}"/>
              </a:ext>
            </a:extLst>
          </p:cNvPr>
          <p:cNvSpPr>
            <a:spLocks xmlns:a="http://schemas.openxmlformats.org/drawingml/2006/main" noGrp="1"/>
          </p:cNvSpPr>
          <p:nvPr/>
        </p:nvSpPr>
        <p:spPr>
          <a:xfrm xmlns:a="http://schemas.openxmlformats.org/drawingml/2006/main">
            <a:off x="3695700" y="34861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Leitsatzkern (paraphrasiert): Leitlinien können den Standard abbilden, ihm voraus- oder hinterherlaufen. Sie ersetzen nicht die sachverständige Prüfung des konkreten Behandlungszeitpunkts und Einzelfalls.</a:t>
            </a:r>
          </a:p>
        </p:txBody>
      </p:sp>
      <p:sp>
        <p:nvSpPr>
          <p:cNvPr id="14" name="">
            <a:extLst xmlns:a="http://schemas.openxmlformats.org/drawingml/2006/main">
              <a:ext uri="{FF2B5EF4-FFF2-40B4-BE49-F238E27FC236}">
                <a16:creationId xmlns:a16="http://schemas.microsoft.com/office/drawing/2014/main" id="{879ED313-FF55-4F0E-87BC-6E95A4EA09D3}"/>
              </a:ext>
            </a:extLst>
          </p:cNvPr>
          <p:cNvSpPr>
            <a:spLocks xmlns:a="http://schemas.openxmlformats.org/drawingml/2006/main" noGrp="1"/>
          </p:cNvSpPr>
          <p:nvPr/>
        </p:nvSpPr>
        <p:spPr>
          <a:xfrm xmlns:a="http://schemas.openxmlformats.org/drawingml/2006/main">
            <a:off x="1809750" y="4438650"/>
            <a:ext cx="1676400" cy="781050"/>
          </a:xfrm>
          <a:prstGeom xmlns:a="http://schemas.openxmlformats.org/drawingml/2006/main" prst="roundRect">
            <a:avLst>
              <a:gd name="adj" fmla="val 9756"/>
            </a:avLst>
          </a:prstGeom>
          <a:solidFill xmlns:a="http://schemas.openxmlformats.org/drawingml/2006/main">
            <a:srgbClr val="00B2BB"/>
          </a:solidFill>
          <a:ln xmlns:a="http://schemas.openxmlformats.org/drawingml/2006/main" w="0">
            <a:solidFill>
              <a:srgbClr val="00B2BB"/>
            </a:solidFill>
            <a:prstDash val="solid"/>
          </a:ln>
        </p:spPr>
      </p:sp>
      <p:sp>
        <p:nvSpPr>
          <p:cNvPr id="15" name="">
            <a:extLst xmlns:a="http://schemas.openxmlformats.org/drawingml/2006/main">
              <a:ext uri="{FF2B5EF4-FFF2-40B4-BE49-F238E27FC236}">
                <a16:creationId xmlns:a16="http://schemas.microsoft.com/office/drawing/2014/main" id="{093108EE-05D6-4D2E-8097-AF244CF6DFF5}"/>
              </a:ext>
            </a:extLst>
          </p:cNvPr>
          <p:cNvSpPr>
            <a:spLocks xmlns:a="http://schemas.openxmlformats.org/drawingml/2006/main" noGrp="1"/>
          </p:cNvSpPr>
          <p:nvPr/>
        </p:nvSpPr>
        <p:spPr>
          <a:xfrm xmlns:a="http://schemas.openxmlformats.org/drawingml/2006/main">
            <a:off x="1924050" y="44386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Für die Praxis</a:t>
            </a:r>
          </a:p>
        </p:txBody>
      </p:sp>
      <p:sp>
        <p:nvSpPr>
          <p:cNvPr id="16" name="">
            <a:extLst xmlns:a="http://schemas.openxmlformats.org/drawingml/2006/main">
              <a:ext uri="{FF2B5EF4-FFF2-40B4-BE49-F238E27FC236}">
                <a16:creationId xmlns:a16="http://schemas.microsoft.com/office/drawing/2014/main" id="{23716F8F-1807-462D-A536-614C6F2822D1}"/>
              </a:ext>
            </a:extLst>
          </p:cNvPr>
          <p:cNvSpPr>
            <a:spLocks xmlns:a="http://schemas.openxmlformats.org/drawingml/2006/main" noGrp="1"/>
          </p:cNvSpPr>
          <p:nvPr/>
        </p:nvSpPr>
        <p:spPr>
          <a:xfrm xmlns:a="http://schemas.openxmlformats.org/drawingml/2006/main">
            <a:off x="3695700" y="44386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Nicht nur ‚leitliniengerecht‘ dokumentieren, sondern Indikation, Patientenpräferenz, Nutzen-Risiko-Abwägung und Gründe einer Anwendung oder Abweichung.</a:t>
            </a:r>
          </a:p>
        </p:txBody>
      </p:sp>
      <p:sp>
        <p:nvSpPr>
          <p:cNvPr id="17" name="">
            <a:extLst xmlns:a="http://schemas.openxmlformats.org/drawingml/2006/main">
              <a:ext uri="{FF2B5EF4-FFF2-40B4-BE49-F238E27FC236}">
                <a16:creationId xmlns:a16="http://schemas.microsoft.com/office/drawing/2014/main" id="{34ACF2B7-CEDC-49A2-A7E9-8FF78E87CE8F}"/>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585">
                <a:solidFill>
                  <a:srgbClr val="667680"/>
                </a:solidFill>
              </a:defRPr>
            </a:pPr>
            <a:r>
              <a:rPr sz="585">
                <a:solidFill>
                  <a:srgbClr val="667680"/>
                </a:solidFill>
              </a:rPr>
              <a:t>BGH, Urt. v. 15.04.2014 – VI ZR 382/12 · https://juris.bundesgerichtshof.de/cgi-bin/rechtsprechung/document.py?Art=en&amp;Blank=1.pdf&amp;Datum=2014-4&amp;Gericht=bgh&amp;Seite=5&amp;Sort=1026&amp;anz=263&amp;nr=67688&amp;pos=177 · Evidenz: https://doi.org/10.1001/jama.293.21.2609</a:t>
            </a:r>
          </a:p>
        </p:txBody>
      </p:sp>
    </p:spTree>
    <p:extLst>
      <p:ext uri="{BB962C8B-B14F-4D97-AF65-F5344CB8AC3E}">
        <p14:creationId xmlns:p14="http://schemas.microsoft.com/office/powerpoint/2010/main" val="43637646"/>
      </p:ext>
    </p:extLst>
  </p:cSld>
</p:sld>
</file>

<file path=ppt/slides/slide386.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Was macht eine Entscheidung zugleich medizinisch und rechtlich stark?</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EX-ANTE-QUALITÄT</a:t>
            </a:r>
            <a:endParaRPr/>
          </a:p>
        </p:txBody>
      </p:sp>
      <p:sp>
        <p:nvSpPr>
          <p:cNvPr id="4" name="">
            <a:extLst xmlns:a="http://schemas.openxmlformats.org/drawingml/2006/main">
              <a:ext uri="{FF2B5EF4-FFF2-40B4-BE49-F238E27FC236}">
                <a16:creationId xmlns:a16="http://schemas.microsoft.com/office/drawing/2014/main" id="{EAB12FDC-30F5-4464-82F3-A06950387B43}"/>
              </a:ext>
            </a:extLst>
          </p:cNvPr>
          <p:cNvSpPr>
            <a:spLocks xmlns:a="http://schemas.openxmlformats.org/drawingml/2006/main" noGrp="1"/>
          </p:cNvSpPr>
          <p:nvPr/>
        </p:nvSpPr>
        <p:spPr>
          <a:xfrm xmlns:a="http://schemas.openxmlformats.org/drawingml/2006/main">
            <a:off x="1809750" y="1952625"/>
            <a:ext cx="226695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04F25531-4992-4A15-A6CD-413DD8C253AB}"/>
              </a:ext>
            </a:extLst>
          </p:cNvPr>
          <p:cNvSpPr>
            <a:spLocks xmlns:a="http://schemas.openxmlformats.org/drawingml/2006/main" noGrp="1"/>
          </p:cNvSpPr>
          <p:nvPr/>
        </p:nvSpPr>
        <p:spPr>
          <a:xfrm xmlns:a="http://schemas.openxmlformats.org/drawingml/2006/main">
            <a:off x="1809750" y="1952625"/>
            <a:ext cx="226695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8521B988-499A-45AC-A86A-7908BF181919}"/>
              </a:ext>
            </a:extLst>
          </p:cNvPr>
          <p:cNvSpPr>
            <a:spLocks xmlns:a="http://schemas.openxmlformats.org/drawingml/2006/main" noGrp="1"/>
          </p:cNvSpPr>
          <p:nvPr/>
        </p:nvSpPr>
        <p:spPr>
          <a:xfrm xmlns:a="http://schemas.openxmlformats.org/drawingml/2006/main">
            <a:off x="1962150" y="2085975"/>
            <a:ext cx="1962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25" b="1">
                <a:solidFill>
                  <a:srgbClr val="003F6B"/>
                </a:solidFill>
              </a:defRPr>
            </a:pPr>
            <a:r>
              <a:rPr sz="1125" b="1">
                <a:solidFill>
                  <a:srgbClr val="003F6B"/>
                </a:solidFill>
              </a:rPr>
              <a:t>relevante Befunde erhoben</a:t>
            </a:r>
          </a:p>
        </p:txBody>
      </p:sp>
      <p:sp>
        <p:nvSpPr>
          <p:cNvPr id="7" name="">
            <a:extLst xmlns:a="http://schemas.openxmlformats.org/drawingml/2006/main">
              <a:ext uri="{FF2B5EF4-FFF2-40B4-BE49-F238E27FC236}">
                <a16:creationId xmlns:a16="http://schemas.microsoft.com/office/drawing/2014/main" id="{76BC6ACF-8730-4607-AF88-A080F0C7462C}"/>
              </a:ext>
            </a:extLst>
          </p:cNvPr>
          <p:cNvSpPr>
            <a:spLocks xmlns:a="http://schemas.openxmlformats.org/drawingml/2006/main" noGrp="1"/>
          </p:cNvSpPr>
          <p:nvPr/>
        </p:nvSpPr>
        <p:spPr>
          <a:xfrm xmlns:a="http://schemas.openxmlformats.org/drawingml/2006/main">
            <a:off x="4229100" y="1952625"/>
            <a:ext cx="226695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8" name="">
            <a:extLst xmlns:a="http://schemas.openxmlformats.org/drawingml/2006/main">
              <a:ext uri="{FF2B5EF4-FFF2-40B4-BE49-F238E27FC236}">
                <a16:creationId xmlns:a16="http://schemas.microsoft.com/office/drawing/2014/main" id="{9C3612C8-ABE6-4F8B-8687-1C442016448E}"/>
              </a:ext>
            </a:extLst>
          </p:cNvPr>
          <p:cNvSpPr>
            <a:spLocks xmlns:a="http://schemas.openxmlformats.org/drawingml/2006/main" noGrp="1"/>
          </p:cNvSpPr>
          <p:nvPr/>
        </p:nvSpPr>
        <p:spPr>
          <a:xfrm xmlns:a="http://schemas.openxmlformats.org/drawingml/2006/main">
            <a:off x="4229100" y="1952625"/>
            <a:ext cx="226695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9" name="">
            <a:extLst xmlns:a="http://schemas.openxmlformats.org/drawingml/2006/main">
              <a:ext uri="{FF2B5EF4-FFF2-40B4-BE49-F238E27FC236}">
                <a16:creationId xmlns:a16="http://schemas.microsoft.com/office/drawing/2014/main" id="{620F5854-A236-41F1-8B40-6AD70CE08DD8}"/>
              </a:ext>
            </a:extLst>
          </p:cNvPr>
          <p:cNvSpPr>
            <a:spLocks xmlns:a="http://schemas.openxmlformats.org/drawingml/2006/main" noGrp="1"/>
          </p:cNvSpPr>
          <p:nvPr/>
        </p:nvSpPr>
        <p:spPr>
          <a:xfrm xmlns:a="http://schemas.openxmlformats.org/drawingml/2006/main">
            <a:off x="4381500" y="2085975"/>
            <a:ext cx="1962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25" b="1">
                <a:solidFill>
                  <a:srgbClr val="003F6B"/>
                </a:solidFill>
              </a:defRPr>
            </a:pPr>
            <a:r>
              <a:rPr sz="1125" b="1">
                <a:solidFill>
                  <a:srgbClr val="003F6B"/>
                </a:solidFill>
              </a:rPr>
              <a:t>gefährliche Alternativen priorisiert</a:t>
            </a:r>
          </a:p>
        </p:txBody>
      </p:sp>
      <p:sp>
        <p:nvSpPr>
          <p:cNvPr id="10" name="">
            <a:extLst xmlns:a="http://schemas.openxmlformats.org/drawingml/2006/main">
              <a:ext uri="{FF2B5EF4-FFF2-40B4-BE49-F238E27FC236}">
                <a16:creationId xmlns:a16="http://schemas.microsoft.com/office/drawing/2014/main" id="{9C90372D-0450-4CAA-81EC-B02468667BC7}"/>
              </a:ext>
            </a:extLst>
          </p:cNvPr>
          <p:cNvSpPr>
            <a:spLocks xmlns:a="http://schemas.openxmlformats.org/drawingml/2006/main" noGrp="1"/>
          </p:cNvSpPr>
          <p:nvPr/>
        </p:nvSpPr>
        <p:spPr>
          <a:xfrm xmlns:a="http://schemas.openxmlformats.org/drawingml/2006/main">
            <a:off x="6648450" y="1952625"/>
            <a:ext cx="226695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11" name="">
            <a:extLst xmlns:a="http://schemas.openxmlformats.org/drawingml/2006/main">
              <a:ext uri="{FF2B5EF4-FFF2-40B4-BE49-F238E27FC236}">
                <a16:creationId xmlns:a16="http://schemas.microsoft.com/office/drawing/2014/main" id="{1C6B3AD1-B4BB-4542-AAB1-7AA5B6069968}"/>
              </a:ext>
            </a:extLst>
          </p:cNvPr>
          <p:cNvSpPr>
            <a:spLocks xmlns:a="http://schemas.openxmlformats.org/drawingml/2006/main" noGrp="1"/>
          </p:cNvSpPr>
          <p:nvPr/>
        </p:nvSpPr>
        <p:spPr>
          <a:xfrm xmlns:a="http://schemas.openxmlformats.org/drawingml/2006/main">
            <a:off x="6648450" y="1952625"/>
            <a:ext cx="226695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12" name="">
            <a:extLst xmlns:a="http://schemas.openxmlformats.org/drawingml/2006/main">
              <a:ext uri="{FF2B5EF4-FFF2-40B4-BE49-F238E27FC236}">
                <a16:creationId xmlns:a16="http://schemas.microsoft.com/office/drawing/2014/main" id="{7B77C846-FA25-42D3-B9DC-26328DCF7E9F}"/>
              </a:ext>
            </a:extLst>
          </p:cNvPr>
          <p:cNvSpPr>
            <a:spLocks xmlns:a="http://schemas.openxmlformats.org/drawingml/2006/main" noGrp="1"/>
          </p:cNvSpPr>
          <p:nvPr/>
        </p:nvSpPr>
        <p:spPr>
          <a:xfrm xmlns:a="http://schemas.openxmlformats.org/drawingml/2006/main">
            <a:off x="6800850" y="2085975"/>
            <a:ext cx="1962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25" b="1">
                <a:solidFill>
                  <a:srgbClr val="003F6B"/>
                </a:solidFill>
              </a:defRPr>
            </a:pPr>
            <a:r>
              <a:rPr sz="1125" b="1">
                <a:solidFill>
                  <a:srgbClr val="003F6B"/>
                </a:solidFill>
              </a:rPr>
              <a:t>Nutzen / Schaden / Dringlichkeit abgewogen</a:t>
            </a:r>
          </a:p>
        </p:txBody>
      </p:sp>
      <p:sp>
        <p:nvSpPr>
          <p:cNvPr id="13" name="">
            <a:extLst xmlns:a="http://schemas.openxmlformats.org/drawingml/2006/main">
              <a:ext uri="{FF2B5EF4-FFF2-40B4-BE49-F238E27FC236}">
                <a16:creationId xmlns:a16="http://schemas.microsoft.com/office/drawing/2014/main" id="{5128D5C7-BB15-4241-A89A-CC4C8A0680A0}"/>
              </a:ext>
            </a:extLst>
          </p:cNvPr>
          <p:cNvSpPr>
            <a:spLocks xmlns:a="http://schemas.openxmlformats.org/drawingml/2006/main" noGrp="1"/>
          </p:cNvSpPr>
          <p:nvPr/>
        </p:nvSpPr>
        <p:spPr>
          <a:xfrm xmlns:a="http://schemas.openxmlformats.org/drawingml/2006/main">
            <a:off x="9067800" y="1952625"/>
            <a:ext cx="226695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14" name="">
            <a:extLst xmlns:a="http://schemas.openxmlformats.org/drawingml/2006/main">
              <a:ext uri="{FF2B5EF4-FFF2-40B4-BE49-F238E27FC236}">
                <a16:creationId xmlns:a16="http://schemas.microsoft.com/office/drawing/2014/main" id="{67556A0A-C922-442D-89D7-C49E6843F4F2}"/>
              </a:ext>
            </a:extLst>
          </p:cNvPr>
          <p:cNvSpPr>
            <a:spLocks xmlns:a="http://schemas.openxmlformats.org/drawingml/2006/main" noGrp="1"/>
          </p:cNvSpPr>
          <p:nvPr/>
        </p:nvSpPr>
        <p:spPr>
          <a:xfrm xmlns:a="http://schemas.openxmlformats.org/drawingml/2006/main">
            <a:off x="9067800" y="1952625"/>
            <a:ext cx="226695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5" name="">
            <a:extLst xmlns:a="http://schemas.openxmlformats.org/drawingml/2006/main">
              <a:ext uri="{FF2B5EF4-FFF2-40B4-BE49-F238E27FC236}">
                <a16:creationId xmlns:a16="http://schemas.microsoft.com/office/drawing/2014/main" id="{2E94619D-BBA3-45D9-8469-2A82C36BFBCC}"/>
              </a:ext>
            </a:extLst>
          </p:cNvPr>
          <p:cNvSpPr>
            <a:spLocks xmlns:a="http://schemas.openxmlformats.org/drawingml/2006/main" noGrp="1"/>
          </p:cNvSpPr>
          <p:nvPr/>
        </p:nvSpPr>
        <p:spPr>
          <a:xfrm xmlns:a="http://schemas.openxmlformats.org/drawingml/2006/main">
            <a:off x="9220200" y="2085975"/>
            <a:ext cx="1962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25" b="1">
                <a:solidFill>
                  <a:srgbClr val="003F6B"/>
                </a:solidFill>
              </a:defRPr>
            </a:pPr>
            <a:r>
              <a:rPr sz="1125" b="1">
                <a:solidFill>
                  <a:srgbClr val="003F6B"/>
                </a:solidFill>
              </a:rPr>
              <a:t>Patientenwille einbezogen</a:t>
            </a:r>
          </a:p>
        </p:txBody>
      </p:sp>
      <p:sp>
        <p:nvSpPr>
          <p:cNvPr id="16" name="">
            <a:extLst xmlns:a="http://schemas.openxmlformats.org/drawingml/2006/main">
              <a:ext uri="{FF2B5EF4-FFF2-40B4-BE49-F238E27FC236}">
                <a16:creationId xmlns:a16="http://schemas.microsoft.com/office/drawing/2014/main" id="{15677E99-A578-40F7-A78D-9C3A7E38F4E8}"/>
              </a:ext>
            </a:extLst>
          </p:cNvPr>
          <p:cNvSpPr>
            <a:spLocks xmlns:a="http://schemas.openxmlformats.org/drawingml/2006/main" noGrp="1"/>
          </p:cNvSpPr>
          <p:nvPr/>
        </p:nvSpPr>
        <p:spPr>
          <a:xfrm xmlns:a="http://schemas.openxmlformats.org/drawingml/2006/main">
            <a:off x="1809750" y="3767138"/>
            <a:ext cx="226695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17" name="">
            <a:extLst xmlns:a="http://schemas.openxmlformats.org/drawingml/2006/main">
              <a:ext uri="{FF2B5EF4-FFF2-40B4-BE49-F238E27FC236}">
                <a16:creationId xmlns:a16="http://schemas.microsoft.com/office/drawing/2014/main" id="{A86F90BF-7B2F-425A-8BB0-AA21C025A15B}"/>
              </a:ext>
            </a:extLst>
          </p:cNvPr>
          <p:cNvSpPr>
            <a:spLocks xmlns:a="http://schemas.openxmlformats.org/drawingml/2006/main" noGrp="1"/>
          </p:cNvSpPr>
          <p:nvPr/>
        </p:nvSpPr>
        <p:spPr>
          <a:xfrm xmlns:a="http://schemas.openxmlformats.org/drawingml/2006/main">
            <a:off x="1809750" y="3767138"/>
            <a:ext cx="226695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18" name="">
            <a:extLst xmlns:a="http://schemas.openxmlformats.org/drawingml/2006/main">
              <a:ext uri="{FF2B5EF4-FFF2-40B4-BE49-F238E27FC236}">
                <a16:creationId xmlns:a16="http://schemas.microsoft.com/office/drawing/2014/main" id="{7892701E-391D-42B7-A17A-B432B5482E41}"/>
              </a:ext>
            </a:extLst>
          </p:cNvPr>
          <p:cNvSpPr>
            <a:spLocks xmlns:a="http://schemas.openxmlformats.org/drawingml/2006/main" noGrp="1"/>
          </p:cNvSpPr>
          <p:nvPr/>
        </p:nvSpPr>
        <p:spPr>
          <a:xfrm xmlns:a="http://schemas.openxmlformats.org/drawingml/2006/main">
            <a:off x="1962150" y="3900488"/>
            <a:ext cx="1962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25" b="1">
                <a:solidFill>
                  <a:srgbClr val="003F6B"/>
                </a:solidFill>
              </a:defRPr>
            </a:pPr>
            <a:r>
              <a:rPr sz="1125" b="1">
                <a:solidFill>
                  <a:srgbClr val="003F6B"/>
                </a:solidFill>
              </a:rPr>
              <a:t>Kompetenz und Ressourcen realistisch berücksichtigt</a:t>
            </a:r>
          </a:p>
        </p:txBody>
      </p:sp>
      <p:sp>
        <p:nvSpPr>
          <p:cNvPr id="19" name="">
            <a:extLst xmlns:a="http://schemas.openxmlformats.org/drawingml/2006/main">
              <a:ext uri="{FF2B5EF4-FFF2-40B4-BE49-F238E27FC236}">
                <a16:creationId xmlns:a16="http://schemas.microsoft.com/office/drawing/2014/main" id="{BE1C4293-5D22-4A96-85BF-9954DAA8961A}"/>
              </a:ext>
            </a:extLst>
          </p:cNvPr>
          <p:cNvSpPr>
            <a:spLocks xmlns:a="http://schemas.openxmlformats.org/drawingml/2006/main" noGrp="1"/>
          </p:cNvSpPr>
          <p:nvPr/>
        </p:nvSpPr>
        <p:spPr>
          <a:xfrm xmlns:a="http://schemas.openxmlformats.org/drawingml/2006/main">
            <a:off x="4229100" y="3767138"/>
            <a:ext cx="226695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20" name="">
            <a:extLst xmlns:a="http://schemas.openxmlformats.org/drawingml/2006/main">
              <a:ext uri="{FF2B5EF4-FFF2-40B4-BE49-F238E27FC236}">
                <a16:creationId xmlns:a16="http://schemas.microsoft.com/office/drawing/2014/main" id="{365EBDC9-4860-4F5E-B622-01856BBDA1F5}"/>
              </a:ext>
            </a:extLst>
          </p:cNvPr>
          <p:cNvSpPr>
            <a:spLocks xmlns:a="http://schemas.openxmlformats.org/drawingml/2006/main" noGrp="1"/>
          </p:cNvSpPr>
          <p:nvPr/>
        </p:nvSpPr>
        <p:spPr>
          <a:xfrm xmlns:a="http://schemas.openxmlformats.org/drawingml/2006/main">
            <a:off x="4229100" y="3767138"/>
            <a:ext cx="226695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21" name="">
            <a:extLst xmlns:a="http://schemas.openxmlformats.org/drawingml/2006/main">
              <a:ext uri="{FF2B5EF4-FFF2-40B4-BE49-F238E27FC236}">
                <a16:creationId xmlns:a16="http://schemas.microsoft.com/office/drawing/2014/main" id="{A1D967A4-2345-41BE-A0D4-96EBDB5032D8}"/>
              </a:ext>
            </a:extLst>
          </p:cNvPr>
          <p:cNvSpPr>
            <a:spLocks xmlns:a="http://schemas.openxmlformats.org/drawingml/2006/main" noGrp="1"/>
          </p:cNvSpPr>
          <p:nvPr/>
        </p:nvSpPr>
        <p:spPr>
          <a:xfrm xmlns:a="http://schemas.openxmlformats.org/drawingml/2006/main">
            <a:off x="4381500" y="3900488"/>
            <a:ext cx="1962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25" b="1">
                <a:solidFill>
                  <a:srgbClr val="003F6B"/>
                </a:solidFill>
              </a:defRPr>
            </a:pPr>
            <a:r>
              <a:rPr sz="1125" b="1">
                <a:solidFill>
                  <a:srgbClr val="003F6B"/>
                </a:solidFill>
              </a:rPr>
              <a:t>Eskalations- und Sicherheitsnetz definiert</a:t>
            </a:r>
          </a:p>
        </p:txBody>
      </p:sp>
      <p:sp>
        <p:nvSpPr>
          <p:cNvPr id="22" name="">
            <a:extLst xmlns:a="http://schemas.openxmlformats.org/drawingml/2006/main">
              <a:ext uri="{FF2B5EF4-FFF2-40B4-BE49-F238E27FC236}">
                <a16:creationId xmlns:a16="http://schemas.microsoft.com/office/drawing/2014/main" id="{5C6FC0F3-A23F-477E-8110-3CFFD4F8AAFE}"/>
              </a:ext>
            </a:extLst>
          </p:cNvPr>
          <p:cNvSpPr>
            <a:spLocks xmlns:a="http://schemas.openxmlformats.org/drawingml/2006/main" noGrp="1"/>
          </p:cNvSpPr>
          <p:nvPr/>
        </p:nvSpPr>
        <p:spPr>
          <a:xfrm xmlns:a="http://schemas.openxmlformats.org/drawingml/2006/main">
            <a:off x="6648450" y="3767138"/>
            <a:ext cx="226695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23" name="">
            <a:extLst xmlns:a="http://schemas.openxmlformats.org/drawingml/2006/main">
              <a:ext uri="{FF2B5EF4-FFF2-40B4-BE49-F238E27FC236}">
                <a16:creationId xmlns:a16="http://schemas.microsoft.com/office/drawing/2014/main" id="{B37DCE0C-88F8-4144-8CF3-42973D794C7A}"/>
              </a:ext>
            </a:extLst>
          </p:cNvPr>
          <p:cNvSpPr>
            <a:spLocks xmlns:a="http://schemas.openxmlformats.org/drawingml/2006/main" noGrp="1"/>
          </p:cNvSpPr>
          <p:nvPr/>
        </p:nvSpPr>
        <p:spPr>
          <a:xfrm xmlns:a="http://schemas.openxmlformats.org/drawingml/2006/main">
            <a:off x="6648450" y="3767138"/>
            <a:ext cx="226695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24" name="">
            <a:extLst xmlns:a="http://schemas.openxmlformats.org/drawingml/2006/main">
              <a:ext uri="{FF2B5EF4-FFF2-40B4-BE49-F238E27FC236}">
                <a16:creationId xmlns:a16="http://schemas.microsoft.com/office/drawing/2014/main" id="{6A79D79B-2AA6-4D5E-A085-A51B3A29B7A8}"/>
              </a:ext>
            </a:extLst>
          </p:cNvPr>
          <p:cNvSpPr>
            <a:spLocks xmlns:a="http://schemas.openxmlformats.org/drawingml/2006/main" noGrp="1"/>
          </p:cNvSpPr>
          <p:nvPr/>
        </p:nvSpPr>
        <p:spPr>
          <a:xfrm xmlns:a="http://schemas.openxmlformats.org/drawingml/2006/main">
            <a:off x="6800850" y="3900488"/>
            <a:ext cx="1962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25" b="1">
                <a:solidFill>
                  <a:srgbClr val="003F6B"/>
                </a:solidFill>
              </a:defRPr>
            </a:pPr>
            <a:r>
              <a:rPr sz="1125" b="1">
                <a:solidFill>
                  <a:srgbClr val="003F6B"/>
                </a:solidFill>
              </a:rPr>
              <a:t>Denkweg knapp dokumentiert</a:t>
            </a:r>
          </a:p>
        </p:txBody>
      </p:sp>
      <p:sp>
        <p:nvSpPr>
          <p:cNvPr id="25" name="">
            <a:extLst xmlns:a="http://schemas.openxmlformats.org/drawingml/2006/main">
              <a:ext uri="{FF2B5EF4-FFF2-40B4-BE49-F238E27FC236}">
                <a16:creationId xmlns:a16="http://schemas.microsoft.com/office/drawing/2014/main" id="{F58EBE6F-0CC4-436E-8B59-A2A5EE310CB6}"/>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6" name="">
            <a:extLst xmlns:a="http://schemas.openxmlformats.org/drawingml/2006/main">
              <a:ext uri="{FF2B5EF4-FFF2-40B4-BE49-F238E27FC236}">
                <a16:creationId xmlns:a16="http://schemas.microsoft.com/office/drawing/2014/main" id="{96D3E4E6-6F28-4F2E-B4BF-275C2FF43E17}"/>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Nicht die längste Differentialdiagnose gewinnt, sondern der nachvollziehbare, risikoadaptierte Plan.</a:t>
            </a:r>
          </a:p>
        </p:txBody>
      </p:sp>
    </p:spTree>
    <p:extLst>
      <p:ext uri="{BB962C8B-B14F-4D97-AF65-F5344CB8AC3E}">
        <p14:creationId xmlns:p14="http://schemas.microsoft.com/office/powerpoint/2010/main" val="43637646"/>
      </p:ext>
    </p:extLst>
  </p:cSld>
</p:sld>
</file>

<file path=ppt/slides/slide387.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Zum Nachlesen · Termin 13: Defensive Medizin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LITERATUR &amp; SICHTBARE QUELLEN</a:t>
            </a:r>
            <a:endParaRPr/>
          </a:p>
        </p:txBody>
      </p:sp>
      <p:sp>
        <p:nvSpPr>
          <p:cNvPr id="4" name="">
            <a:extLst xmlns:a="http://schemas.openxmlformats.org/drawingml/2006/main">
              <a:ext uri="{FF2B5EF4-FFF2-40B4-BE49-F238E27FC236}">
                <a16:creationId xmlns:a16="http://schemas.microsoft.com/office/drawing/2014/main" id="{002D9971-1158-480E-AA6A-DA86EC9427D6}"/>
              </a:ext>
            </a:extLst>
          </p:cNvPr>
          <p:cNvSpPr>
            <a:spLocks xmlns:a="http://schemas.openxmlformats.org/drawingml/2006/main" noGrp="1"/>
          </p:cNvSpPr>
          <p:nvPr/>
        </p:nvSpPr>
        <p:spPr>
          <a:xfrm xmlns:a="http://schemas.openxmlformats.org/drawingml/2006/main">
            <a:off x="1809750" y="1943100"/>
            <a:ext cx="461010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195AB968-9E69-4001-BD41-2B58952D8CDF}"/>
              </a:ext>
            </a:extLst>
          </p:cNvPr>
          <p:cNvSpPr>
            <a:spLocks xmlns:a="http://schemas.openxmlformats.org/drawingml/2006/main" noGrp="1"/>
          </p:cNvSpPr>
          <p:nvPr/>
        </p:nvSpPr>
        <p:spPr>
          <a:xfrm xmlns:a="http://schemas.openxmlformats.org/drawingml/2006/main">
            <a:off x="1809750" y="1943100"/>
            <a:ext cx="4610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Vertiefung</a:t>
            </a:r>
          </a:p>
        </p:txBody>
      </p:sp>
      <p:sp>
        <p:nvSpPr>
          <p:cNvPr id="6" name="">
            <a:extLst xmlns:a="http://schemas.openxmlformats.org/drawingml/2006/main">
              <a:ext uri="{FF2B5EF4-FFF2-40B4-BE49-F238E27FC236}">
                <a16:creationId xmlns:a16="http://schemas.microsoft.com/office/drawing/2014/main" id="{6E888EEE-A4D6-49CE-8422-B5D88B0458AE}"/>
              </a:ext>
            </a:extLst>
          </p:cNvPr>
          <p:cNvSpPr>
            <a:spLocks xmlns:a="http://schemas.openxmlformats.org/drawingml/2006/main" noGrp="1"/>
          </p:cNvSpPr>
          <p:nvPr/>
        </p:nvSpPr>
        <p:spPr>
          <a:xfrm xmlns:a="http://schemas.openxmlformats.org/drawingml/2006/main">
            <a:off x="1809750" y="30289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7" name="">
            <a:extLst xmlns:a="http://schemas.openxmlformats.org/drawingml/2006/main">
              <a:ext uri="{FF2B5EF4-FFF2-40B4-BE49-F238E27FC236}">
                <a16:creationId xmlns:a16="http://schemas.microsoft.com/office/drawing/2014/main" id="{417028C6-FCC0-45E4-A370-F421998EB118}"/>
              </a:ext>
            </a:extLst>
          </p:cNvPr>
          <p:cNvSpPr>
            <a:spLocks xmlns:a="http://schemas.openxmlformats.org/drawingml/2006/main" noGrp="1"/>
          </p:cNvSpPr>
          <p:nvPr/>
        </p:nvSpPr>
        <p:spPr>
          <a:xfrm xmlns:a="http://schemas.openxmlformats.org/drawingml/2006/main">
            <a:off x="1809750" y="24765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9BAB"/>
                </a:solidFill>
              </a:defRPr>
            </a:pPr>
            <a:r>
              <a:rPr sz="960" b="1">
                <a:solidFill>
                  <a:srgbClr val="009BAB"/>
                </a:solidFill>
              </a:rPr>
              <a:t>Deutschland</a:t>
            </a:r>
          </a:p>
        </p:txBody>
      </p:sp>
      <p:sp>
        <p:nvSpPr>
          <p:cNvPr id="8" name="">
            <a:extLst xmlns:a="http://schemas.openxmlformats.org/drawingml/2006/main">
              <a:ext uri="{FF2B5EF4-FFF2-40B4-BE49-F238E27FC236}">
                <a16:creationId xmlns:a16="http://schemas.microsoft.com/office/drawing/2014/main" id="{8255F1CE-9361-4A7B-93ED-CEAF5438A960}"/>
              </a:ext>
            </a:extLst>
          </p:cNvPr>
          <p:cNvSpPr>
            <a:spLocks xmlns:a="http://schemas.openxmlformats.org/drawingml/2006/main" noGrp="1"/>
          </p:cNvSpPr>
          <p:nvPr/>
        </p:nvSpPr>
        <p:spPr>
          <a:xfrm xmlns:a="http://schemas.openxmlformats.org/drawingml/2006/main">
            <a:off x="2952750" y="24765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Goetz et al., BMC Primary Care 2024, doi:10.1186/s12875-024-02267-x.</a:t>
            </a:r>
          </a:p>
        </p:txBody>
      </p:sp>
      <p:sp>
        <p:nvSpPr>
          <p:cNvPr id="9" name="">
            <a:extLst xmlns:a="http://schemas.openxmlformats.org/drawingml/2006/main">
              <a:ext uri="{FF2B5EF4-FFF2-40B4-BE49-F238E27FC236}">
                <a16:creationId xmlns:a16="http://schemas.microsoft.com/office/drawing/2014/main" id="{75F2AF31-C198-46F0-8106-D727F761EEC5}"/>
              </a:ext>
            </a:extLst>
          </p:cNvPr>
          <p:cNvSpPr>
            <a:spLocks xmlns:a="http://schemas.openxmlformats.org/drawingml/2006/main" noGrp="1"/>
          </p:cNvSpPr>
          <p:nvPr/>
        </p:nvSpPr>
        <p:spPr>
          <a:xfrm xmlns:a="http://schemas.openxmlformats.org/drawingml/2006/main">
            <a:off x="1809750" y="36385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10" name="">
            <a:extLst xmlns:a="http://schemas.openxmlformats.org/drawingml/2006/main">
              <a:ext uri="{FF2B5EF4-FFF2-40B4-BE49-F238E27FC236}">
                <a16:creationId xmlns:a16="http://schemas.microsoft.com/office/drawing/2014/main" id="{A0CED383-A3CB-4A0F-B916-CF33BD21EA62}"/>
              </a:ext>
            </a:extLst>
          </p:cNvPr>
          <p:cNvSpPr>
            <a:spLocks xmlns:a="http://schemas.openxmlformats.org/drawingml/2006/main" noGrp="1"/>
          </p:cNvSpPr>
          <p:nvPr/>
        </p:nvSpPr>
        <p:spPr>
          <a:xfrm xmlns:a="http://schemas.openxmlformats.org/drawingml/2006/main">
            <a:off x="1809750" y="30861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9BAB"/>
                </a:solidFill>
              </a:defRPr>
            </a:pPr>
            <a:r>
              <a:rPr sz="960" b="1">
                <a:solidFill>
                  <a:srgbClr val="009BAB"/>
                </a:solidFill>
              </a:rPr>
              <a:t>Entscheidungshilfen</a:t>
            </a:r>
          </a:p>
        </p:txBody>
      </p:sp>
      <p:sp>
        <p:nvSpPr>
          <p:cNvPr id="11" name="">
            <a:extLst xmlns:a="http://schemas.openxmlformats.org/drawingml/2006/main">
              <a:ext uri="{FF2B5EF4-FFF2-40B4-BE49-F238E27FC236}">
                <a16:creationId xmlns:a16="http://schemas.microsoft.com/office/drawing/2014/main" id="{A88AC707-6BFE-4B7F-A21F-ED35F90F3BA4}"/>
              </a:ext>
            </a:extLst>
          </p:cNvPr>
          <p:cNvSpPr>
            <a:spLocks xmlns:a="http://schemas.openxmlformats.org/drawingml/2006/main" noGrp="1"/>
          </p:cNvSpPr>
          <p:nvPr/>
        </p:nvSpPr>
        <p:spPr>
          <a:xfrm xmlns:a="http://schemas.openxmlformats.org/drawingml/2006/main">
            <a:off x="2952750" y="30861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Cochrane Review 2024, CD001431.pub6.</a:t>
            </a:r>
          </a:p>
        </p:txBody>
      </p:sp>
      <p:sp>
        <p:nvSpPr>
          <p:cNvPr id="12" name="">
            <a:extLst xmlns:a="http://schemas.openxmlformats.org/drawingml/2006/main">
              <a:ext uri="{FF2B5EF4-FFF2-40B4-BE49-F238E27FC236}">
                <a16:creationId xmlns:a16="http://schemas.microsoft.com/office/drawing/2014/main" id="{E93EB1DF-EC41-4B5C-8AC0-BD2EB587A735}"/>
              </a:ext>
            </a:extLst>
          </p:cNvPr>
          <p:cNvSpPr>
            <a:spLocks xmlns:a="http://schemas.openxmlformats.org/drawingml/2006/main" noGrp="1"/>
          </p:cNvSpPr>
          <p:nvPr/>
        </p:nvSpPr>
        <p:spPr>
          <a:xfrm xmlns:a="http://schemas.openxmlformats.org/drawingml/2006/main">
            <a:off x="1809750" y="42481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13" name="">
            <a:extLst xmlns:a="http://schemas.openxmlformats.org/drawingml/2006/main">
              <a:ext uri="{FF2B5EF4-FFF2-40B4-BE49-F238E27FC236}">
                <a16:creationId xmlns:a16="http://schemas.microsoft.com/office/drawing/2014/main" id="{1C71EC7E-5887-4003-80D6-C6D16DE2A529}"/>
              </a:ext>
            </a:extLst>
          </p:cNvPr>
          <p:cNvSpPr>
            <a:spLocks xmlns:a="http://schemas.openxmlformats.org/drawingml/2006/main" noGrp="1"/>
          </p:cNvSpPr>
          <p:nvPr/>
        </p:nvSpPr>
        <p:spPr>
          <a:xfrm xmlns:a="http://schemas.openxmlformats.org/drawingml/2006/main">
            <a:off x="1809750" y="36957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9BAB"/>
                </a:solidFill>
              </a:defRPr>
            </a:pPr>
            <a:r>
              <a:rPr sz="960" b="1">
                <a:solidFill>
                  <a:srgbClr val="009BAB"/>
                </a:solidFill>
              </a:rPr>
              <a:t>Einwilligung</a:t>
            </a:r>
          </a:p>
        </p:txBody>
      </p:sp>
      <p:sp>
        <p:nvSpPr>
          <p:cNvPr id="14" name="">
            <a:extLst xmlns:a="http://schemas.openxmlformats.org/drawingml/2006/main">
              <a:ext uri="{FF2B5EF4-FFF2-40B4-BE49-F238E27FC236}">
                <a16:creationId xmlns:a16="http://schemas.microsoft.com/office/drawing/2014/main" id="{D7400B98-1F77-4B4D-A538-92B518B377F7}"/>
              </a:ext>
            </a:extLst>
          </p:cNvPr>
          <p:cNvSpPr>
            <a:spLocks xmlns:a="http://schemas.openxmlformats.org/drawingml/2006/main" noGrp="1"/>
          </p:cNvSpPr>
          <p:nvPr/>
        </p:nvSpPr>
        <p:spPr>
          <a:xfrm xmlns:a="http://schemas.openxmlformats.org/drawingml/2006/main">
            <a:off x="2952750" y="36957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Glaser et al., Med Decis Making 2020.</a:t>
            </a:r>
          </a:p>
        </p:txBody>
      </p:sp>
      <p:sp>
        <p:nvSpPr>
          <p:cNvPr id="15" name="">
            <a:extLst xmlns:a="http://schemas.openxmlformats.org/drawingml/2006/main">
              <a:ext uri="{FF2B5EF4-FFF2-40B4-BE49-F238E27FC236}">
                <a16:creationId xmlns:a16="http://schemas.microsoft.com/office/drawing/2014/main" id="{007B6A5E-8D6F-4605-92E1-DECB9CB11E82}"/>
              </a:ext>
            </a:extLst>
          </p:cNvPr>
          <p:cNvSpPr>
            <a:spLocks xmlns:a="http://schemas.openxmlformats.org/drawingml/2006/main" noGrp="1"/>
          </p:cNvSpPr>
          <p:nvPr/>
        </p:nvSpPr>
        <p:spPr>
          <a:xfrm xmlns:a="http://schemas.openxmlformats.org/drawingml/2006/main">
            <a:off x="1809750" y="48577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16" name="">
            <a:extLst xmlns:a="http://schemas.openxmlformats.org/drawingml/2006/main">
              <a:ext uri="{FF2B5EF4-FFF2-40B4-BE49-F238E27FC236}">
                <a16:creationId xmlns:a16="http://schemas.microsoft.com/office/drawing/2014/main" id="{7973D6CA-734A-4496-9025-F8F1C14A1174}"/>
              </a:ext>
            </a:extLst>
          </p:cNvPr>
          <p:cNvSpPr>
            <a:spLocks xmlns:a="http://schemas.openxmlformats.org/drawingml/2006/main" noGrp="1"/>
          </p:cNvSpPr>
          <p:nvPr/>
        </p:nvSpPr>
        <p:spPr>
          <a:xfrm xmlns:a="http://schemas.openxmlformats.org/drawingml/2006/main">
            <a:off x="1809750" y="43053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9BAB"/>
                </a:solidFill>
              </a:defRPr>
            </a:pPr>
            <a:r>
              <a:rPr sz="960" b="1">
                <a:solidFill>
                  <a:srgbClr val="009BAB"/>
                </a:solidFill>
              </a:rPr>
              <a:t>Patientensicherheit</a:t>
            </a:r>
          </a:p>
        </p:txBody>
      </p:sp>
      <p:sp>
        <p:nvSpPr>
          <p:cNvPr id="17" name="">
            <a:extLst xmlns:a="http://schemas.openxmlformats.org/drawingml/2006/main">
              <a:ext uri="{FF2B5EF4-FFF2-40B4-BE49-F238E27FC236}">
                <a16:creationId xmlns:a16="http://schemas.microsoft.com/office/drawing/2014/main" id="{E8430E4D-0446-4C93-8324-C9287020A31B}"/>
              </a:ext>
            </a:extLst>
          </p:cNvPr>
          <p:cNvSpPr>
            <a:spLocks xmlns:a="http://schemas.openxmlformats.org/drawingml/2006/main" noGrp="1"/>
          </p:cNvSpPr>
          <p:nvPr/>
        </p:nvSpPr>
        <p:spPr>
          <a:xfrm xmlns:a="http://schemas.openxmlformats.org/drawingml/2006/main">
            <a:off x="2952750" y="43053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WHO Global Patient Safety Action Plan 2021–2030.</a:t>
            </a:r>
          </a:p>
        </p:txBody>
      </p:sp>
      <p:sp>
        <p:nvSpPr>
          <p:cNvPr id="18" name="">
            <a:extLst xmlns:a="http://schemas.openxmlformats.org/drawingml/2006/main">
              <a:ext uri="{FF2B5EF4-FFF2-40B4-BE49-F238E27FC236}">
                <a16:creationId xmlns:a16="http://schemas.microsoft.com/office/drawing/2014/main" id="{7C6D56C6-B42F-40FE-AB12-3E1BFAF81093}"/>
              </a:ext>
            </a:extLst>
          </p:cNvPr>
          <p:cNvSpPr>
            <a:spLocks xmlns:a="http://schemas.openxmlformats.org/drawingml/2006/main" noGrp="1"/>
          </p:cNvSpPr>
          <p:nvPr/>
        </p:nvSpPr>
        <p:spPr>
          <a:xfrm xmlns:a="http://schemas.openxmlformats.org/drawingml/2006/main">
            <a:off x="6724650" y="1943100"/>
            <a:ext cx="461010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9" name="">
            <a:extLst xmlns:a="http://schemas.openxmlformats.org/drawingml/2006/main">
              <a:ext uri="{FF2B5EF4-FFF2-40B4-BE49-F238E27FC236}">
                <a16:creationId xmlns:a16="http://schemas.microsoft.com/office/drawing/2014/main" id="{258B2816-B6F0-4347-A1C7-CCF189D5D955}"/>
              </a:ext>
            </a:extLst>
          </p:cNvPr>
          <p:cNvSpPr>
            <a:spLocks xmlns:a="http://schemas.openxmlformats.org/drawingml/2006/main" noGrp="1"/>
          </p:cNvSpPr>
          <p:nvPr/>
        </p:nvSpPr>
        <p:spPr>
          <a:xfrm xmlns:a="http://schemas.openxmlformats.org/drawingml/2006/main">
            <a:off x="6724650" y="1943100"/>
            <a:ext cx="4610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Primärquellen &amp; Rechtsprechung</a:t>
            </a:r>
          </a:p>
        </p:txBody>
      </p:sp>
      <p:sp>
        <p:nvSpPr>
          <p:cNvPr id="20" name="">
            <a:extLst xmlns:a="http://schemas.openxmlformats.org/drawingml/2006/main">
              <a:ext uri="{FF2B5EF4-FFF2-40B4-BE49-F238E27FC236}">
                <a16:creationId xmlns:a16="http://schemas.microsoft.com/office/drawing/2014/main" id="{F076EC92-E04B-4D82-A4D1-529D85747E19}"/>
              </a:ext>
            </a:extLst>
          </p:cNvPr>
          <p:cNvSpPr>
            <a:spLocks xmlns:a="http://schemas.openxmlformats.org/drawingml/2006/main" noGrp="1"/>
          </p:cNvSpPr>
          <p:nvPr/>
        </p:nvSpPr>
        <p:spPr>
          <a:xfrm xmlns:a="http://schemas.openxmlformats.org/drawingml/2006/main">
            <a:off x="6724650" y="30289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21" name="">
            <a:extLst xmlns:a="http://schemas.openxmlformats.org/drawingml/2006/main">
              <a:ext uri="{FF2B5EF4-FFF2-40B4-BE49-F238E27FC236}">
                <a16:creationId xmlns:a16="http://schemas.microsoft.com/office/drawing/2014/main" id="{06188B1A-8F6F-490A-AE33-7EA968D11A13}"/>
              </a:ext>
            </a:extLst>
          </p:cNvPr>
          <p:cNvSpPr>
            <a:spLocks xmlns:a="http://schemas.openxmlformats.org/drawingml/2006/main" noGrp="1"/>
          </p:cNvSpPr>
          <p:nvPr/>
        </p:nvSpPr>
        <p:spPr>
          <a:xfrm xmlns:a="http://schemas.openxmlformats.org/drawingml/2006/main">
            <a:off x="6724650" y="24765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3F6B"/>
                </a:solidFill>
              </a:defRPr>
            </a:pPr>
            <a:r>
              <a:rPr sz="960" b="1">
                <a:solidFill>
                  <a:srgbClr val="003F6B"/>
                </a:solidFill>
              </a:rPr>
              <a:t>Grundnorm</a:t>
            </a:r>
          </a:p>
        </p:txBody>
      </p:sp>
      <p:sp>
        <p:nvSpPr>
          <p:cNvPr id="22" name="">
            <a:extLst xmlns:a="http://schemas.openxmlformats.org/drawingml/2006/main">
              <a:ext uri="{FF2B5EF4-FFF2-40B4-BE49-F238E27FC236}">
                <a16:creationId xmlns:a16="http://schemas.microsoft.com/office/drawing/2014/main" id="{AFA438EB-4463-4137-A5CC-F28E5C488A59}"/>
              </a:ext>
            </a:extLst>
          </p:cNvPr>
          <p:cNvSpPr>
            <a:spLocks xmlns:a="http://schemas.openxmlformats.org/drawingml/2006/main" noGrp="1"/>
          </p:cNvSpPr>
          <p:nvPr/>
        </p:nvSpPr>
        <p:spPr>
          <a:xfrm xmlns:a="http://schemas.openxmlformats.org/drawingml/2006/main">
            <a:off x="7867650" y="24765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 630a Abs. 2 BGB · fachlicher Standard statt Angststandard.</a:t>
            </a:r>
          </a:p>
        </p:txBody>
      </p:sp>
      <p:sp>
        <p:nvSpPr>
          <p:cNvPr id="23" name="">
            <a:extLst xmlns:a="http://schemas.openxmlformats.org/drawingml/2006/main">
              <a:ext uri="{FF2B5EF4-FFF2-40B4-BE49-F238E27FC236}">
                <a16:creationId xmlns:a16="http://schemas.microsoft.com/office/drawing/2014/main" id="{A7AEF978-404C-4D08-BFFB-840687BAD2A2}"/>
              </a:ext>
            </a:extLst>
          </p:cNvPr>
          <p:cNvSpPr>
            <a:spLocks xmlns:a="http://schemas.openxmlformats.org/drawingml/2006/main" noGrp="1"/>
          </p:cNvSpPr>
          <p:nvPr/>
        </p:nvSpPr>
        <p:spPr>
          <a:xfrm xmlns:a="http://schemas.openxmlformats.org/drawingml/2006/main">
            <a:off x="6724650" y="36385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24" name="">
            <a:extLst xmlns:a="http://schemas.openxmlformats.org/drawingml/2006/main">
              <a:ext uri="{FF2B5EF4-FFF2-40B4-BE49-F238E27FC236}">
                <a16:creationId xmlns:a16="http://schemas.microsoft.com/office/drawing/2014/main" id="{3421899E-D0C4-404C-BEAB-4B8BAF0D8967}"/>
              </a:ext>
            </a:extLst>
          </p:cNvPr>
          <p:cNvSpPr>
            <a:spLocks xmlns:a="http://schemas.openxmlformats.org/drawingml/2006/main" noGrp="1"/>
          </p:cNvSpPr>
          <p:nvPr/>
        </p:nvSpPr>
        <p:spPr>
          <a:xfrm xmlns:a="http://schemas.openxmlformats.org/drawingml/2006/main">
            <a:off x="6724650" y="30861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3F6B"/>
                </a:solidFill>
              </a:defRPr>
            </a:pPr>
            <a:r>
              <a:rPr sz="960" b="1">
                <a:solidFill>
                  <a:srgbClr val="003F6B"/>
                </a:solidFill>
              </a:rPr>
              <a:t>Aufklärung</a:t>
            </a:r>
          </a:p>
        </p:txBody>
      </p:sp>
      <p:sp>
        <p:nvSpPr>
          <p:cNvPr id="25" name="">
            <a:extLst xmlns:a="http://schemas.openxmlformats.org/drawingml/2006/main">
              <a:ext uri="{FF2B5EF4-FFF2-40B4-BE49-F238E27FC236}">
                <a16:creationId xmlns:a16="http://schemas.microsoft.com/office/drawing/2014/main" id="{3E5F626D-143D-402E-ABD2-39356FCC7FE7}"/>
              </a:ext>
            </a:extLst>
          </p:cNvPr>
          <p:cNvSpPr>
            <a:spLocks xmlns:a="http://schemas.openxmlformats.org/drawingml/2006/main" noGrp="1"/>
          </p:cNvSpPr>
          <p:nvPr/>
        </p:nvSpPr>
        <p:spPr>
          <a:xfrm xmlns:a="http://schemas.openxmlformats.org/drawingml/2006/main">
            <a:off x="7867650" y="30861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 630e BGB · verständliche Entscheidung statt Formularfülle.</a:t>
            </a:r>
          </a:p>
        </p:txBody>
      </p:sp>
      <p:sp>
        <p:nvSpPr>
          <p:cNvPr id="26" name="">
            <a:extLst xmlns:a="http://schemas.openxmlformats.org/drawingml/2006/main">
              <a:ext uri="{FF2B5EF4-FFF2-40B4-BE49-F238E27FC236}">
                <a16:creationId xmlns:a16="http://schemas.microsoft.com/office/drawing/2014/main" id="{A99E407C-0B94-4637-B4B0-9D748868B2FE}"/>
              </a:ext>
            </a:extLst>
          </p:cNvPr>
          <p:cNvSpPr>
            <a:spLocks xmlns:a="http://schemas.openxmlformats.org/drawingml/2006/main" noGrp="1"/>
          </p:cNvSpPr>
          <p:nvPr/>
        </p:nvSpPr>
        <p:spPr>
          <a:xfrm xmlns:a="http://schemas.openxmlformats.org/drawingml/2006/main">
            <a:off x="6724650" y="42481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27" name="">
            <a:extLst xmlns:a="http://schemas.openxmlformats.org/drawingml/2006/main">
              <a:ext uri="{FF2B5EF4-FFF2-40B4-BE49-F238E27FC236}">
                <a16:creationId xmlns:a16="http://schemas.microsoft.com/office/drawing/2014/main" id="{F15FA18F-18B1-409E-A833-52C9E39943DE}"/>
              </a:ext>
            </a:extLst>
          </p:cNvPr>
          <p:cNvSpPr>
            <a:spLocks xmlns:a="http://schemas.openxmlformats.org/drawingml/2006/main" noGrp="1"/>
          </p:cNvSpPr>
          <p:nvPr/>
        </p:nvSpPr>
        <p:spPr>
          <a:xfrm xmlns:a="http://schemas.openxmlformats.org/drawingml/2006/main">
            <a:off x="6724650" y="36957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3F6B"/>
                </a:solidFill>
              </a:defRPr>
            </a:pPr>
            <a:r>
              <a:rPr sz="960" b="1">
                <a:solidFill>
                  <a:srgbClr val="003F6B"/>
                </a:solidFill>
              </a:rPr>
              <a:t>Dokumentation</a:t>
            </a:r>
          </a:p>
        </p:txBody>
      </p:sp>
      <p:sp>
        <p:nvSpPr>
          <p:cNvPr id="28" name="">
            <a:extLst xmlns:a="http://schemas.openxmlformats.org/drawingml/2006/main">
              <a:ext uri="{FF2B5EF4-FFF2-40B4-BE49-F238E27FC236}">
                <a16:creationId xmlns:a16="http://schemas.microsoft.com/office/drawing/2014/main" id="{ADBD9029-4EF9-4559-867B-347A4FCB87A9}"/>
              </a:ext>
            </a:extLst>
          </p:cNvPr>
          <p:cNvSpPr>
            <a:spLocks xmlns:a="http://schemas.openxmlformats.org/drawingml/2006/main" noGrp="1"/>
          </p:cNvSpPr>
          <p:nvPr/>
        </p:nvSpPr>
        <p:spPr>
          <a:xfrm xmlns:a="http://schemas.openxmlformats.org/drawingml/2006/main">
            <a:off x="7867650" y="36957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 630f BGB · medizinisch Wesentliches, transparent und zeitnah.</a:t>
            </a:r>
          </a:p>
        </p:txBody>
      </p:sp>
      <p:sp>
        <p:nvSpPr>
          <p:cNvPr id="29" name="">
            <a:extLst xmlns:a="http://schemas.openxmlformats.org/drawingml/2006/main">
              <a:ext uri="{FF2B5EF4-FFF2-40B4-BE49-F238E27FC236}">
                <a16:creationId xmlns:a16="http://schemas.microsoft.com/office/drawing/2014/main" id="{E694A17A-DEBF-41DA-A534-724260D0DC25}"/>
              </a:ext>
            </a:extLst>
          </p:cNvPr>
          <p:cNvSpPr>
            <a:spLocks xmlns:a="http://schemas.openxmlformats.org/drawingml/2006/main" noGrp="1"/>
          </p:cNvSpPr>
          <p:nvPr/>
        </p:nvSpPr>
        <p:spPr>
          <a:xfrm xmlns:a="http://schemas.openxmlformats.org/drawingml/2006/main">
            <a:off x="6724650" y="48577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30" name="">
            <a:extLst xmlns:a="http://schemas.openxmlformats.org/drawingml/2006/main">
              <a:ext uri="{FF2B5EF4-FFF2-40B4-BE49-F238E27FC236}">
                <a16:creationId xmlns:a16="http://schemas.microsoft.com/office/drawing/2014/main" id="{197E351D-3440-4D0B-98CC-8C637B99F2C5}"/>
              </a:ext>
            </a:extLst>
          </p:cNvPr>
          <p:cNvSpPr>
            <a:spLocks xmlns:a="http://schemas.openxmlformats.org/drawingml/2006/main" noGrp="1"/>
          </p:cNvSpPr>
          <p:nvPr/>
        </p:nvSpPr>
        <p:spPr>
          <a:xfrm xmlns:a="http://schemas.openxmlformats.org/drawingml/2006/main">
            <a:off x="6724650" y="43053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3F6B"/>
                </a:solidFill>
              </a:defRPr>
            </a:pPr>
            <a:r>
              <a:rPr sz="960" b="1">
                <a:solidFill>
                  <a:srgbClr val="003F6B"/>
                </a:solidFill>
              </a:rPr>
              <a:t>Evidenz</a:t>
            </a:r>
          </a:p>
        </p:txBody>
      </p:sp>
      <p:sp>
        <p:nvSpPr>
          <p:cNvPr id="31" name="">
            <a:extLst xmlns:a="http://schemas.openxmlformats.org/drawingml/2006/main">
              <a:ext uri="{FF2B5EF4-FFF2-40B4-BE49-F238E27FC236}">
                <a16:creationId xmlns:a16="http://schemas.microsoft.com/office/drawing/2014/main" id="{95BED324-AED7-4125-AD9D-0D85521ACDA4}"/>
              </a:ext>
            </a:extLst>
          </p:cNvPr>
          <p:cNvSpPr>
            <a:spLocks xmlns:a="http://schemas.openxmlformats.org/drawingml/2006/main" noGrp="1"/>
          </p:cNvSpPr>
          <p:nvPr/>
        </p:nvSpPr>
        <p:spPr>
          <a:xfrm xmlns:a="http://schemas.openxmlformats.org/drawingml/2006/main">
            <a:off x="7867650" y="43053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413 befragte Hausärzt:innen; Querschnitt, keine Kausalitätsstudie.</a:t>
            </a:r>
          </a:p>
        </p:txBody>
      </p:sp>
      <p:sp>
        <p:nvSpPr>
          <p:cNvPr id="32" name="">
            <a:extLst xmlns:a="http://schemas.openxmlformats.org/drawingml/2006/main">
              <a:ext uri="{FF2B5EF4-FFF2-40B4-BE49-F238E27FC236}">
                <a16:creationId xmlns:a16="http://schemas.microsoft.com/office/drawing/2014/main" id="{2BA1C0F4-78A6-4A7C-8A31-22F28D95F6C9}"/>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20">
                <a:solidFill>
                  <a:srgbClr val="667680"/>
                </a:solidFill>
              </a:defRPr>
            </a:pPr>
            <a:r>
              <a:rPr sz="720">
                <a:solidFill>
                  <a:srgbClr val="667680"/>
                </a:solidFill>
              </a:rPr>
              <a:t>Alle Internetquellen Abruf/Stand: 20.08.2026. Gesetze: aktuelle Fassung jeweils vor Anwendung prüfen · https://www.rechtsprechung-im-internet.de</a:t>
            </a:r>
          </a:p>
        </p:txBody>
      </p:sp>
    </p:spTree>
    <p:extLst>
      <p:ext uri="{BB962C8B-B14F-4D97-AF65-F5344CB8AC3E}">
        <p14:creationId xmlns:p14="http://schemas.microsoft.com/office/powerpoint/2010/main" val="43637646"/>
      </p:ext>
    </p:extLst>
  </p:cSld>
</p:sld>
</file>

<file path=ppt/slides/slide388.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endParaRPr/>
          </a:p>
        </p:txBody>
      </p:sp>
      <p:sp>
        <p:nvSpPr>
          <p:cNvPr id="4" name="">
            <a:extLst xmlns:a="http://schemas.openxmlformats.org/drawingml/2006/main">
              <a:ext uri="{FF2B5EF4-FFF2-40B4-BE49-F238E27FC236}">
                <a16:creationId xmlns:a16="http://schemas.microsoft.com/office/drawing/2014/main" id="{034A0AB0-5BB2-4F30-829D-5165E96CB24B}"/>
              </a:ext>
            </a:extLst>
          </p:cNvPr>
          <p:cNvSpPr>
            <a:spLocks xmlns:a="http://schemas.openxmlformats.org/drawingml/2006/main" noGrp="1"/>
          </p:cNvSpPr>
          <p:nvPr/>
        </p:nvSpPr>
        <p:spPr>
          <a:xfrm xmlns:a="http://schemas.openxmlformats.org/drawingml/2006/main">
            <a:off x="2571750" y="2038350"/>
            <a:ext cx="838200" cy="628650"/>
          </a:xfrm>
          <a:prstGeom xmlns:a="http://schemas.openxmlformats.org/drawingml/2006/main" prst="roundRect">
            <a:avLst>
              <a:gd name="adj" fmla="val 12121"/>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A0DB3982-A815-4EB4-B891-EF34145C7DA5}"/>
              </a:ext>
            </a:extLst>
          </p:cNvPr>
          <p:cNvSpPr>
            <a:spLocks xmlns:a="http://schemas.openxmlformats.org/drawingml/2006/main" noGrp="1"/>
          </p:cNvSpPr>
          <p:nvPr/>
        </p:nvSpPr>
        <p:spPr>
          <a:xfrm xmlns:a="http://schemas.openxmlformats.org/drawingml/2006/main">
            <a:off x="2571750" y="2038350"/>
            <a:ext cx="8382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FFFFFF"/>
                </a:solidFill>
              </a:defRPr>
            </a:pPr>
            <a:r>
              <a:rPr sz="2100" b="1">
                <a:solidFill>
                  <a:srgbClr val="FFFFFF"/>
                </a:solidFill>
              </a:rPr>
              <a:t>14</a:t>
            </a:r>
          </a:p>
        </p:txBody>
      </p:sp>
      <p:sp>
        <p:nvSpPr>
          <p:cNvPr id="6" name="">
            <a:extLst xmlns:a="http://schemas.openxmlformats.org/drawingml/2006/main">
              <a:ext uri="{FF2B5EF4-FFF2-40B4-BE49-F238E27FC236}">
                <a16:creationId xmlns:a16="http://schemas.microsoft.com/office/drawing/2014/main" id="{58531D14-945B-487C-B0CF-0171824BA0EF}"/>
              </a:ext>
            </a:extLst>
          </p:cNvPr>
          <p:cNvSpPr>
            <a:spLocks xmlns:a="http://schemas.openxmlformats.org/drawingml/2006/main" noGrp="1"/>
          </p:cNvSpPr>
          <p:nvPr/>
        </p:nvSpPr>
        <p:spPr>
          <a:xfrm xmlns:a="http://schemas.openxmlformats.org/drawingml/2006/main">
            <a:off x="3667125" y="2000250"/>
            <a:ext cx="8096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4400">
                <a:solidFill>
                  <a:srgbClr val="003F6B"/>
                </a:solidFill>
              </a:defRPr>
            </a:pPr>
            <a:r>
              <a:rPr sz="4400">
                <a:solidFill>
                  <a:srgbClr val="003F6B"/>
                </a:solidFill>
              </a:rPr>
              <a:t>Capstone: Verfahren praktisch verbinden</a:t>
            </a:r>
          </a:p>
        </p:txBody>
      </p:sp>
      <p:sp>
        <p:nvSpPr>
          <p:cNvPr id="7" name="">
            <a:extLst xmlns:a="http://schemas.openxmlformats.org/drawingml/2006/main">
              <a:ext uri="{FF2B5EF4-FFF2-40B4-BE49-F238E27FC236}">
                <a16:creationId xmlns:a16="http://schemas.microsoft.com/office/drawing/2014/main" id="{A75AE96A-E96A-4092-B8D0-3F6999C442CD}"/>
              </a:ext>
            </a:extLst>
          </p:cNvPr>
          <p:cNvSpPr>
            <a:spLocks xmlns:a="http://schemas.openxmlformats.org/drawingml/2006/main" noGrp="1"/>
          </p:cNvSpPr>
          <p:nvPr/>
        </p:nvSpPr>
        <p:spPr>
          <a:xfrm xmlns:a="http://schemas.openxmlformats.org/drawingml/2006/main">
            <a:off x="3238500" y="3333750"/>
            <a:ext cx="8524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400">
                <a:solidFill>
                  <a:srgbClr val="003F6B"/>
                </a:solidFill>
              </a:defRPr>
            </a:pPr>
            <a:r>
              <a:rPr sz="2400">
                <a:solidFill>
                  <a:srgbClr val="003F6B"/>
                </a:solidFill>
              </a:rPr>
              <a:t>Termin: 27.01.2027 · 16:30–17:45 · V03 0-C001</a:t>
            </a:r>
          </a:p>
        </p:txBody>
      </p:sp>
      <p:sp>
        <p:nvSpPr>
          <p:cNvPr id="8" name="">
            <a:extLst xmlns:a="http://schemas.openxmlformats.org/drawingml/2006/main">
              <a:ext uri="{FF2B5EF4-FFF2-40B4-BE49-F238E27FC236}">
                <a16:creationId xmlns:a16="http://schemas.microsoft.com/office/drawing/2014/main" id="{EF365465-5BB1-4201-9B5C-A2A87761DF8B}"/>
              </a:ext>
            </a:extLst>
          </p:cNvPr>
          <p:cNvSpPr>
            <a:spLocks xmlns:a="http://schemas.openxmlformats.org/drawingml/2006/main" noGrp="1"/>
          </p:cNvSpPr>
          <p:nvPr/>
        </p:nvSpPr>
        <p:spPr>
          <a:xfrm xmlns:a="http://schemas.openxmlformats.org/drawingml/2006/main">
            <a:off x="3238500" y="3752850"/>
            <a:ext cx="8524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400">
                <a:solidFill>
                  <a:srgbClr val="003F6B"/>
                </a:solidFill>
              </a:defRPr>
            </a:pPr>
            <a:r>
              <a:rPr sz="2400">
                <a:solidFill>
                  <a:srgbClr val="003F6B"/>
                </a:solidFill>
              </a:rPr>
              <a:t>Ein Fall, vier Akten, eine begründete Strategie</a:t>
            </a:r>
          </a:p>
        </p:txBody>
      </p:sp>
      <p:sp>
        <p:nvSpPr>
          <p:cNvPr id="9" name="">
            <a:extLst xmlns:a="http://schemas.openxmlformats.org/drawingml/2006/main">
              <a:ext uri="{FF2B5EF4-FFF2-40B4-BE49-F238E27FC236}">
                <a16:creationId xmlns:a16="http://schemas.microsoft.com/office/drawing/2014/main" id="{3A6FC052-7B82-4419-A8D5-A1F687637A7F}"/>
              </a:ext>
            </a:extLst>
          </p:cNvPr>
          <p:cNvSpPr>
            <a:spLocks xmlns:a="http://schemas.openxmlformats.org/drawingml/2006/main" noGrp="1"/>
          </p:cNvSpPr>
          <p:nvPr/>
        </p:nvSpPr>
        <p:spPr>
          <a:xfrm xmlns:a="http://schemas.openxmlformats.org/drawingml/2006/main">
            <a:off x="3238500" y="4552950"/>
            <a:ext cx="8524875"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400">
                <a:solidFill>
                  <a:srgbClr val="003F6B"/>
                </a:solidFill>
              </a:defRPr>
            </a:pPr>
            <a:r>
              <a:rPr sz="2400">
                <a:solidFill>
                  <a:srgbClr val="003F6B"/>
                </a:solidFill>
              </a:rPr>
              <a:t>Was tun Sie jetzt – und warum genau dieser nächste Schritt?</a:t>
            </a:r>
          </a:p>
        </p:txBody>
      </p:sp>
    </p:spTree>
    <p:extLst>
      <p:ext uri="{BB962C8B-B14F-4D97-AF65-F5344CB8AC3E}">
        <p14:creationId xmlns:p14="http://schemas.microsoft.com/office/powerpoint/2010/main" val="43637646"/>
      </p:ext>
    </p:extLst>
  </p:cSld>
</p:sld>
</file>

<file path=ppt/slides/slide389.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Lernziele Termin 14: Capstone</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CHECKLISTE · AM ENDE DES HEUTIGEN TERMINS KANN ICH …</a:t>
            </a:r>
            <a:endParaRPr/>
          </a:p>
        </p:txBody>
      </p:sp>
      <p:sp>
        <p:nvSpPr>
          <p:cNvPr id="4" name="">
            <a:extLst xmlns:a="http://schemas.openxmlformats.org/drawingml/2006/main">
              <a:ext uri="{FF2B5EF4-FFF2-40B4-BE49-F238E27FC236}">
                <a16:creationId xmlns:a16="http://schemas.microsoft.com/office/drawing/2014/main" id="{94C3EE7B-4EF7-4826-AA7E-F33C2ADBA9F8}"/>
              </a:ext>
            </a:extLst>
          </p:cNvPr>
          <p:cNvSpPr>
            <a:spLocks xmlns:a="http://schemas.openxmlformats.org/drawingml/2006/main" noGrp="1"/>
          </p:cNvSpPr>
          <p:nvPr/>
        </p:nvSpPr>
        <p:spPr>
          <a:xfrm xmlns:a="http://schemas.openxmlformats.org/drawingml/2006/main">
            <a:off x="1809750" y="198120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B2BB"/>
            </a:solidFill>
            <a:prstDash val="solid"/>
          </a:ln>
        </p:spPr>
      </p:sp>
      <p:sp>
        <p:nvSpPr>
          <p:cNvPr id="5" name="">
            <a:extLst xmlns:a="http://schemas.openxmlformats.org/drawingml/2006/main">
              <a:ext uri="{FF2B5EF4-FFF2-40B4-BE49-F238E27FC236}">
                <a16:creationId xmlns:a16="http://schemas.microsoft.com/office/drawing/2014/main" id="{D92E69AA-FBE7-4BCC-9EB7-B47B5AB05E9E}"/>
              </a:ext>
            </a:extLst>
          </p:cNvPr>
          <p:cNvSpPr>
            <a:spLocks xmlns:a="http://schemas.openxmlformats.org/drawingml/2006/main" noGrp="1"/>
          </p:cNvSpPr>
          <p:nvPr/>
        </p:nvSpPr>
        <p:spPr>
          <a:xfrm xmlns:a="http://schemas.openxmlformats.org/drawingml/2006/main">
            <a:off x="1943100" y="2124075"/>
            <a:ext cx="40005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1CB1FD2A-A27F-4637-AA77-FD5D159D96DD}"/>
              </a:ext>
            </a:extLst>
          </p:cNvPr>
          <p:cNvSpPr>
            <a:spLocks xmlns:a="http://schemas.openxmlformats.org/drawingml/2006/main" noGrp="1"/>
          </p:cNvSpPr>
          <p:nvPr/>
        </p:nvSpPr>
        <p:spPr>
          <a:xfrm xmlns:a="http://schemas.openxmlformats.org/drawingml/2006/main">
            <a:off x="1943100" y="21050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7" name="">
            <a:extLst xmlns:a="http://schemas.openxmlformats.org/drawingml/2006/main">
              <a:ext uri="{FF2B5EF4-FFF2-40B4-BE49-F238E27FC236}">
                <a16:creationId xmlns:a16="http://schemas.microsoft.com/office/drawing/2014/main" id="{3C792CA1-E8C0-4BFD-9F81-3B32131EB90C}"/>
              </a:ext>
            </a:extLst>
          </p:cNvPr>
          <p:cNvSpPr>
            <a:spLocks xmlns:a="http://schemas.openxmlformats.org/drawingml/2006/main" noGrp="1"/>
          </p:cNvSpPr>
          <p:nvPr/>
        </p:nvSpPr>
        <p:spPr>
          <a:xfrm xmlns:a="http://schemas.openxmlformats.org/drawingml/2006/main">
            <a:off x="2476500" y="207645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einen Fall parallel zivil-, straf-, berufs- und verwaltungsrechtlich sortieren.</a:t>
            </a:r>
          </a:p>
        </p:txBody>
      </p:sp>
      <p:sp>
        <p:nvSpPr>
          <p:cNvPr id="8" name="">
            <a:extLst xmlns:a="http://schemas.openxmlformats.org/drawingml/2006/main">
              <a:ext uri="{FF2B5EF4-FFF2-40B4-BE49-F238E27FC236}">
                <a16:creationId xmlns:a16="http://schemas.microsoft.com/office/drawing/2014/main" id="{BEC2C2B2-7290-4B14-9C02-C1B7091C3F70}"/>
              </a:ext>
            </a:extLst>
          </p:cNvPr>
          <p:cNvSpPr>
            <a:spLocks xmlns:a="http://schemas.openxmlformats.org/drawingml/2006/main" noGrp="1"/>
          </p:cNvSpPr>
          <p:nvPr/>
        </p:nvSpPr>
        <p:spPr>
          <a:xfrm xmlns:a="http://schemas.openxmlformats.org/drawingml/2006/main">
            <a:off x="6696075" y="198120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3F6B"/>
            </a:solidFill>
            <a:prstDash val="solid"/>
          </a:ln>
        </p:spPr>
      </p:sp>
      <p:sp>
        <p:nvSpPr>
          <p:cNvPr id="9" name="">
            <a:extLst xmlns:a="http://schemas.openxmlformats.org/drawingml/2006/main">
              <a:ext uri="{FF2B5EF4-FFF2-40B4-BE49-F238E27FC236}">
                <a16:creationId xmlns:a16="http://schemas.microsoft.com/office/drawing/2014/main" id="{0CC8F690-A6AF-4FDF-B237-5C25AC62C163}"/>
              </a:ext>
            </a:extLst>
          </p:cNvPr>
          <p:cNvSpPr>
            <a:spLocks xmlns:a="http://schemas.openxmlformats.org/drawingml/2006/main" noGrp="1"/>
          </p:cNvSpPr>
          <p:nvPr/>
        </p:nvSpPr>
        <p:spPr>
          <a:xfrm xmlns:a="http://schemas.openxmlformats.org/drawingml/2006/main">
            <a:off x="6829425" y="2124075"/>
            <a:ext cx="4000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D29BFC61-1D76-45A7-A6D0-93E949F9A2C3}"/>
              </a:ext>
            </a:extLst>
          </p:cNvPr>
          <p:cNvSpPr>
            <a:spLocks xmlns:a="http://schemas.openxmlformats.org/drawingml/2006/main" noGrp="1"/>
          </p:cNvSpPr>
          <p:nvPr/>
        </p:nvSpPr>
        <p:spPr>
          <a:xfrm xmlns:a="http://schemas.openxmlformats.org/drawingml/2006/main">
            <a:off x="6829425" y="21050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11" name="">
            <a:extLst xmlns:a="http://schemas.openxmlformats.org/drawingml/2006/main">
              <a:ext uri="{FF2B5EF4-FFF2-40B4-BE49-F238E27FC236}">
                <a16:creationId xmlns:a16="http://schemas.microsoft.com/office/drawing/2014/main" id="{8F964202-C93F-4CEE-B535-04E63F21FA34}"/>
              </a:ext>
            </a:extLst>
          </p:cNvPr>
          <p:cNvSpPr>
            <a:spLocks xmlns:a="http://schemas.openxmlformats.org/drawingml/2006/main" noGrp="1"/>
          </p:cNvSpPr>
          <p:nvPr/>
        </p:nvSpPr>
        <p:spPr>
          <a:xfrm xmlns:a="http://schemas.openxmlformats.org/drawingml/2006/main">
            <a:off x="7362825" y="207645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Anspruch, Straftatbestand und Verfahrensschritte strukturiert prüfen.</a:t>
            </a:r>
          </a:p>
        </p:txBody>
      </p:sp>
      <p:sp>
        <p:nvSpPr>
          <p:cNvPr id="12" name="">
            <a:extLst xmlns:a="http://schemas.openxmlformats.org/drawingml/2006/main">
              <a:ext uri="{FF2B5EF4-FFF2-40B4-BE49-F238E27FC236}">
                <a16:creationId xmlns:a16="http://schemas.microsoft.com/office/drawing/2014/main" id="{78841004-7A15-44E5-9934-551E790E74BF}"/>
              </a:ext>
            </a:extLst>
          </p:cNvPr>
          <p:cNvSpPr>
            <a:spLocks xmlns:a="http://schemas.openxmlformats.org/drawingml/2006/main" noGrp="1"/>
          </p:cNvSpPr>
          <p:nvPr/>
        </p:nvSpPr>
        <p:spPr>
          <a:xfrm xmlns:a="http://schemas.openxmlformats.org/drawingml/2006/main">
            <a:off x="1809750" y="316865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B2BB"/>
            </a:solidFill>
            <a:prstDash val="solid"/>
          </a:ln>
        </p:spPr>
      </p:sp>
      <p:sp>
        <p:nvSpPr>
          <p:cNvPr id="13" name="">
            <a:extLst xmlns:a="http://schemas.openxmlformats.org/drawingml/2006/main">
              <a:ext uri="{FF2B5EF4-FFF2-40B4-BE49-F238E27FC236}">
                <a16:creationId xmlns:a16="http://schemas.microsoft.com/office/drawing/2014/main" id="{64549105-62DE-4F6C-B8B6-BEFB2A33186E}"/>
              </a:ext>
            </a:extLst>
          </p:cNvPr>
          <p:cNvSpPr>
            <a:spLocks xmlns:a="http://schemas.openxmlformats.org/drawingml/2006/main" noGrp="1"/>
          </p:cNvSpPr>
          <p:nvPr/>
        </p:nvSpPr>
        <p:spPr>
          <a:xfrm xmlns:a="http://schemas.openxmlformats.org/drawingml/2006/main">
            <a:off x="1943100" y="3311525"/>
            <a:ext cx="40005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553D5088-16EB-4577-B1D3-E6E90A13F870}"/>
              </a:ext>
            </a:extLst>
          </p:cNvPr>
          <p:cNvSpPr>
            <a:spLocks xmlns:a="http://schemas.openxmlformats.org/drawingml/2006/main" noGrp="1"/>
          </p:cNvSpPr>
          <p:nvPr/>
        </p:nvSpPr>
        <p:spPr>
          <a:xfrm xmlns:a="http://schemas.openxmlformats.org/drawingml/2006/main">
            <a:off x="1943100" y="32924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15" name="">
            <a:extLst xmlns:a="http://schemas.openxmlformats.org/drawingml/2006/main">
              <a:ext uri="{FF2B5EF4-FFF2-40B4-BE49-F238E27FC236}">
                <a16:creationId xmlns:a16="http://schemas.microsoft.com/office/drawing/2014/main" id="{6BDFF27A-85A3-495F-840A-7F3B94B0DDFA}"/>
              </a:ext>
            </a:extLst>
          </p:cNvPr>
          <p:cNvSpPr>
            <a:spLocks xmlns:a="http://schemas.openxmlformats.org/drawingml/2006/main" noGrp="1"/>
          </p:cNvSpPr>
          <p:nvPr/>
        </p:nvSpPr>
        <p:spPr>
          <a:xfrm xmlns:a="http://schemas.openxmlformats.org/drawingml/2006/main">
            <a:off x="2476500" y="326390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Beweisfragen, Rollen und Kommunikationsziele formulieren.</a:t>
            </a:r>
          </a:p>
        </p:txBody>
      </p:sp>
      <p:sp>
        <p:nvSpPr>
          <p:cNvPr id="16" name="">
            <a:extLst xmlns:a="http://schemas.openxmlformats.org/drawingml/2006/main">
              <a:ext uri="{FF2B5EF4-FFF2-40B4-BE49-F238E27FC236}">
                <a16:creationId xmlns:a16="http://schemas.microsoft.com/office/drawing/2014/main" id="{DB84DA6A-4AF1-4A19-9510-0F130A1E0837}"/>
              </a:ext>
            </a:extLst>
          </p:cNvPr>
          <p:cNvSpPr>
            <a:spLocks xmlns:a="http://schemas.openxmlformats.org/drawingml/2006/main" noGrp="1"/>
          </p:cNvSpPr>
          <p:nvPr/>
        </p:nvSpPr>
        <p:spPr>
          <a:xfrm xmlns:a="http://schemas.openxmlformats.org/drawingml/2006/main">
            <a:off x="6696075" y="316865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3F6B"/>
            </a:solidFill>
            <a:prstDash val="solid"/>
          </a:ln>
        </p:spPr>
      </p:sp>
      <p:sp>
        <p:nvSpPr>
          <p:cNvPr id="17" name="">
            <a:extLst xmlns:a="http://schemas.openxmlformats.org/drawingml/2006/main">
              <a:ext uri="{FF2B5EF4-FFF2-40B4-BE49-F238E27FC236}">
                <a16:creationId xmlns:a16="http://schemas.microsoft.com/office/drawing/2014/main" id="{75141084-8009-437B-9779-47C59A7984D7}"/>
              </a:ext>
            </a:extLst>
          </p:cNvPr>
          <p:cNvSpPr>
            <a:spLocks xmlns:a="http://schemas.openxmlformats.org/drawingml/2006/main" noGrp="1"/>
          </p:cNvSpPr>
          <p:nvPr/>
        </p:nvSpPr>
        <p:spPr>
          <a:xfrm xmlns:a="http://schemas.openxmlformats.org/drawingml/2006/main">
            <a:off x="6829425" y="3311525"/>
            <a:ext cx="4000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4756DE45-8BF5-4B61-A5EE-783DF085328D}"/>
              </a:ext>
            </a:extLst>
          </p:cNvPr>
          <p:cNvSpPr>
            <a:spLocks xmlns:a="http://schemas.openxmlformats.org/drawingml/2006/main" noGrp="1"/>
          </p:cNvSpPr>
          <p:nvPr/>
        </p:nvSpPr>
        <p:spPr>
          <a:xfrm xmlns:a="http://schemas.openxmlformats.org/drawingml/2006/main">
            <a:off x="6829425" y="32924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19" name="">
            <a:extLst xmlns:a="http://schemas.openxmlformats.org/drawingml/2006/main">
              <a:ext uri="{FF2B5EF4-FFF2-40B4-BE49-F238E27FC236}">
                <a16:creationId xmlns:a16="http://schemas.microsoft.com/office/drawing/2014/main" id="{FFE1CFE1-6795-419D-A4AA-37E0EE1C2DCD}"/>
              </a:ext>
            </a:extLst>
          </p:cNvPr>
          <p:cNvSpPr>
            <a:spLocks xmlns:a="http://schemas.openxmlformats.org/drawingml/2006/main" noGrp="1"/>
          </p:cNvSpPr>
          <p:nvPr/>
        </p:nvSpPr>
        <p:spPr>
          <a:xfrm xmlns:a="http://schemas.openxmlformats.org/drawingml/2006/main">
            <a:off x="7362825" y="326390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eine Verhandlungs- oder Anhörungssimulation durchführen.</a:t>
            </a:r>
          </a:p>
        </p:txBody>
      </p:sp>
      <p:sp>
        <p:nvSpPr>
          <p:cNvPr id="20" name="">
            <a:extLst xmlns:a="http://schemas.openxmlformats.org/drawingml/2006/main">
              <a:ext uri="{FF2B5EF4-FFF2-40B4-BE49-F238E27FC236}">
                <a16:creationId xmlns:a16="http://schemas.microsoft.com/office/drawing/2014/main" id="{5A8F9BD8-CB0A-45E1-B9C5-61CBEFCCF1F7}"/>
              </a:ext>
            </a:extLst>
          </p:cNvPr>
          <p:cNvSpPr>
            <a:spLocks xmlns:a="http://schemas.openxmlformats.org/drawingml/2006/main" noGrp="1"/>
          </p:cNvSpPr>
          <p:nvPr/>
        </p:nvSpPr>
        <p:spPr>
          <a:xfrm xmlns:a="http://schemas.openxmlformats.org/drawingml/2006/main">
            <a:off x="1809750" y="435610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B2BB"/>
            </a:solidFill>
            <a:prstDash val="solid"/>
          </a:ln>
        </p:spPr>
      </p:sp>
      <p:sp>
        <p:nvSpPr>
          <p:cNvPr id="21" name="">
            <a:extLst xmlns:a="http://schemas.openxmlformats.org/drawingml/2006/main">
              <a:ext uri="{FF2B5EF4-FFF2-40B4-BE49-F238E27FC236}">
                <a16:creationId xmlns:a16="http://schemas.microsoft.com/office/drawing/2014/main" id="{315E0DAF-D4AF-436F-9E39-A17B2DFBA578}"/>
              </a:ext>
            </a:extLst>
          </p:cNvPr>
          <p:cNvSpPr>
            <a:spLocks xmlns:a="http://schemas.openxmlformats.org/drawingml/2006/main" noGrp="1"/>
          </p:cNvSpPr>
          <p:nvPr/>
        </p:nvSpPr>
        <p:spPr>
          <a:xfrm xmlns:a="http://schemas.openxmlformats.org/drawingml/2006/main">
            <a:off x="1943100" y="4498975"/>
            <a:ext cx="40005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2" name="">
            <a:extLst xmlns:a="http://schemas.openxmlformats.org/drawingml/2006/main">
              <a:ext uri="{FF2B5EF4-FFF2-40B4-BE49-F238E27FC236}">
                <a16:creationId xmlns:a16="http://schemas.microsoft.com/office/drawing/2014/main" id="{43BDA063-EA7D-46DD-9E89-FB26BA57E91D}"/>
              </a:ext>
            </a:extLst>
          </p:cNvPr>
          <p:cNvSpPr>
            <a:spLocks xmlns:a="http://schemas.openxmlformats.org/drawingml/2006/main" noGrp="1"/>
          </p:cNvSpPr>
          <p:nvPr/>
        </p:nvSpPr>
        <p:spPr>
          <a:xfrm xmlns:a="http://schemas.openxmlformats.org/drawingml/2006/main">
            <a:off x="1943100" y="44799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23" name="">
            <a:extLst xmlns:a="http://schemas.openxmlformats.org/drawingml/2006/main">
              <a:ext uri="{FF2B5EF4-FFF2-40B4-BE49-F238E27FC236}">
                <a16:creationId xmlns:a16="http://schemas.microsoft.com/office/drawing/2014/main" id="{5CB8E83C-3156-4CE5-8E6B-ECB3BD156445}"/>
              </a:ext>
            </a:extLst>
          </p:cNvPr>
          <p:cNvSpPr>
            <a:spLocks xmlns:a="http://schemas.openxmlformats.org/drawingml/2006/main" noGrp="1"/>
          </p:cNvSpPr>
          <p:nvPr/>
        </p:nvSpPr>
        <p:spPr>
          <a:xfrm xmlns:a="http://schemas.openxmlformats.org/drawingml/2006/main">
            <a:off x="2476500" y="445135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eine begründete Strategie unter Zeit- und Informationsdruck vertreten.</a:t>
            </a:r>
          </a:p>
        </p:txBody>
      </p:sp>
      <p:sp>
        <p:nvSpPr>
          <p:cNvPr id="24" name="">
            <a:extLst xmlns:a="http://schemas.openxmlformats.org/drawingml/2006/main">
              <a:ext uri="{FF2B5EF4-FFF2-40B4-BE49-F238E27FC236}">
                <a16:creationId xmlns:a16="http://schemas.microsoft.com/office/drawing/2014/main" id="{D3C1B243-B470-45F5-AAB6-BAF78503068F}"/>
              </a:ext>
            </a:extLst>
          </p:cNvPr>
          <p:cNvSpPr>
            <a:spLocks xmlns:a="http://schemas.openxmlformats.org/drawingml/2006/main" noGrp="1"/>
          </p:cNvSpPr>
          <p:nvPr/>
        </p:nvSpPr>
        <p:spPr>
          <a:xfrm xmlns:a="http://schemas.openxmlformats.org/drawingml/2006/main">
            <a:off x="6696075" y="435610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3F6B"/>
            </a:solidFill>
            <a:prstDash val="solid"/>
          </a:ln>
        </p:spPr>
      </p:sp>
      <p:sp>
        <p:nvSpPr>
          <p:cNvPr id="25" name="">
            <a:extLst xmlns:a="http://schemas.openxmlformats.org/drawingml/2006/main">
              <a:ext uri="{FF2B5EF4-FFF2-40B4-BE49-F238E27FC236}">
                <a16:creationId xmlns:a16="http://schemas.microsoft.com/office/drawing/2014/main" id="{A607C530-1525-4A96-B3A4-B6AD5016EB34}"/>
              </a:ext>
            </a:extLst>
          </p:cNvPr>
          <p:cNvSpPr>
            <a:spLocks xmlns:a="http://schemas.openxmlformats.org/drawingml/2006/main" noGrp="1"/>
          </p:cNvSpPr>
          <p:nvPr/>
        </p:nvSpPr>
        <p:spPr>
          <a:xfrm xmlns:a="http://schemas.openxmlformats.org/drawingml/2006/main">
            <a:off x="6829425" y="4498975"/>
            <a:ext cx="4000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26" name="">
            <a:extLst xmlns:a="http://schemas.openxmlformats.org/drawingml/2006/main">
              <a:ext uri="{FF2B5EF4-FFF2-40B4-BE49-F238E27FC236}">
                <a16:creationId xmlns:a16="http://schemas.microsoft.com/office/drawing/2014/main" id="{93463FEE-B30B-4DB9-93EA-DDAB2E962EAD}"/>
              </a:ext>
            </a:extLst>
          </p:cNvPr>
          <p:cNvSpPr>
            <a:spLocks xmlns:a="http://schemas.openxmlformats.org/drawingml/2006/main" noGrp="1"/>
          </p:cNvSpPr>
          <p:nvPr/>
        </p:nvSpPr>
        <p:spPr>
          <a:xfrm xmlns:a="http://schemas.openxmlformats.org/drawingml/2006/main">
            <a:off x="6829425" y="44799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27" name="">
            <a:extLst xmlns:a="http://schemas.openxmlformats.org/drawingml/2006/main">
              <a:ext uri="{FF2B5EF4-FFF2-40B4-BE49-F238E27FC236}">
                <a16:creationId xmlns:a16="http://schemas.microsoft.com/office/drawing/2014/main" id="{FDEAE518-B124-4F63-A3CD-08E15D81BB21}"/>
              </a:ext>
            </a:extLst>
          </p:cNvPr>
          <p:cNvSpPr>
            <a:spLocks xmlns:a="http://schemas.openxmlformats.org/drawingml/2006/main" noGrp="1"/>
          </p:cNvSpPr>
          <p:nvPr/>
        </p:nvSpPr>
        <p:spPr>
          <a:xfrm xmlns:a="http://schemas.openxmlformats.org/drawingml/2006/main">
            <a:off x="7362825" y="445135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den eigenen Lernstand mit der Kurscheckliste selbst prüfen.</a:t>
            </a:r>
          </a:p>
        </p:txBody>
      </p:sp>
      <p:sp>
        <p:nvSpPr>
          <p:cNvPr id="28" name="">
            <a:extLst xmlns:a="http://schemas.openxmlformats.org/drawingml/2006/main">
              <a:ext uri="{FF2B5EF4-FFF2-40B4-BE49-F238E27FC236}">
                <a16:creationId xmlns:a16="http://schemas.microsoft.com/office/drawing/2014/main" id="{BF08C0BC-0688-4AEE-9C93-EFFF3E883965}"/>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638">
                <a:solidFill>
                  <a:srgbClr val="667680"/>
                </a:solidFill>
              </a:defRPr>
            </a:pPr>
            <a:r>
              <a:rPr sz="638">
                <a:solidFill>
                  <a:srgbClr val="667680"/>
                </a:solidFill>
              </a:rPr>
              <a:t>Lernziele aus Seminarbeschreibung und Vorlesungsstruktur abgeleitet · https://elearning.uni-oldenburg.de/dispatch.php/course/details/index/64fffee6d869d134c6683909368deed9?cancel_login=1</a:t>
            </a:r>
          </a:p>
        </p:txBody>
      </p:sp>
    </p:spTree>
    <p:extLst>
      <p:ext uri="{BB962C8B-B14F-4D97-AF65-F5344CB8AC3E}">
        <p14:creationId xmlns:p14="http://schemas.microsoft.com/office/powerpoint/2010/main" val="43637646"/>
      </p:ext>
    </p:extLst>
  </p:cSld>
</p:sld>
</file>

<file path=ppt/slides/slide390.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Leitentscheidung · Erlanger Baby – die zweite Entscheidung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ORIGINALENTSCHEIDUNG · TERMIN 14</a:t>
            </a:r>
            <a:endParaRPr/>
          </a:p>
        </p:txBody>
      </p:sp>
      <p:sp>
        <p:nvSpPr>
          <p:cNvPr id="4" name="">
            <a:extLst xmlns:a="http://schemas.openxmlformats.org/drawingml/2006/main">
              <a:ext uri="{FF2B5EF4-FFF2-40B4-BE49-F238E27FC236}">
                <a16:creationId xmlns:a16="http://schemas.microsoft.com/office/drawing/2014/main" id="{FA43FD1A-3DFA-4D33-9B02-32FA44CF6222}"/>
              </a:ext>
            </a:extLst>
          </p:cNvPr>
          <p:cNvSpPr>
            <a:spLocks xmlns:a="http://schemas.openxmlformats.org/drawingml/2006/main" noGrp="1"/>
          </p:cNvSpPr>
          <p:nvPr/>
        </p:nvSpPr>
        <p:spPr>
          <a:xfrm xmlns:a="http://schemas.openxmlformats.org/drawingml/2006/main">
            <a:off x="1809750" y="1943100"/>
            <a:ext cx="11239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E5602D46-4C8B-4813-8713-3A50E9565D27}"/>
              </a:ext>
            </a:extLst>
          </p:cNvPr>
          <p:cNvSpPr>
            <a:spLocks xmlns:a="http://schemas.openxmlformats.org/drawingml/2006/main" noGrp="1"/>
          </p:cNvSpPr>
          <p:nvPr/>
        </p:nvSpPr>
        <p:spPr>
          <a:xfrm xmlns:a="http://schemas.openxmlformats.org/drawingml/2006/main">
            <a:off x="1809750" y="1943100"/>
            <a:ext cx="1123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38" b="1">
                <a:solidFill>
                  <a:srgbClr val="FFFFFF"/>
                </a:solidFill>
              </a:defRPr>
            </a:pPr>
            <a:r>
              <a:rPr sz="938" b="1">
                <a:solidFill>
                  <a:srgbClr val="FFFFFF"/>
                </a:solidFill>
              </a:rPr>
              <a:t>AG Hersbruck</a:t>
            </a:r>
          </a:p>
        </p:txBody>
      </p:sp>
      <p:sp>
        <p:nvSpPr>
          <p:cNvPr id="6" name="">
            <a:extLst xmlns:a="http://schemas.openxmlformats.org/drawingml/2006/main">
              <a:ext uri="{FF2B5EF4-FFF2-40B4-BE49-F238E27FC236}">
                <a16:creationId xmlns:a16="http://schemas.microsoft.com/office/drawing/2014/main" id="{793EDA2D-C5FB-439F-B10D-D81736405675}"/>
              </a:ext>
            </a:extLst>
          </p:cNvPr>
          <p:cNvSpPr>
            <a:spLocks xmlns:a="http://schemas.openxmlformats.org/drawingml/2006/main" noGrp="1"/>
          </p:cNvSpPr>
          <p:nvPr/>
        </p:nvSpPr>
        <p:spPr>
          <a:xfrm xmlns:a="http://schemas.openxmlformats.org/drawingml/2006/main">
            <a:off x="312420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16.10.1992 · XVII 1556/92 A</a:t>
            </a:r>
          </a:p>
        </p:txBody>
      </p:sp>
      <p:sp>
        <p:nvSpPr>
          <p:cNvPr id="7" name="">
            <a:extLst xmlns:a="http://schemas.openxmlformats.org/drawingml/2006/main">
              <a:ext uri="{FF2B5EF4-FFF2-40B4-BE49-F238E27FC236}">
                <a16:creationId xmlns:a16="http://schemas.microsoft.com/office/drawing/2014/main" id="{95A6C028-0D6D-46C5-B27E-4FF1F9BDBF17}"/>
              </a:ext>
            </a:extLst>
          </p:cNvPr>
          <p:cNvSpPr>
            <a:spLocks xmlns:a="http://schemas.openxmlformats.org/drawingml/2006/main" noGrp="1"/>
          </p:cNvSpPr>
          <p:nvPr/>
        </p:nvSpPr>
        <p:spPr>
          <a:xfrm xmlns:a="http://schemas.openxmlformats.org/drawingml/2006/main">
            <a:off x="733425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050">
                <a:solidFill>
                  <a:srgbClr val="667680"/>
                </a:solidFill>
              </a:defRPr>
            </a:pPr>
            <a:r>
              <a:rPr sz="1050">
                <a:solidFill>
                  <a:srgbClr val="667680"/>
                </a:solidFill>
              </a:rPr>
              <a:t>Lernzuwachs zeigt sich in der Begründung</a:t>
            </a:r>
          </a:p>
        </p:txBody>
      </p:sp>
      <p:sp>
        <p:nvSpPr>
          <p:cNvPr id="8" name="">
            <a:extLst xmlns:a="http://schemas.openxmlformats.org/drawingml/2006/main">
              <a:ext uri="{FF2B5EF4-FFF2-40B4-BE49-F238E27FC236}">
                <a16:creationId xmlns:a16="http://schemas.microsoft.com/office/drawing/2014/main" id="{8D344539-B980-459B-9203-5620FEEDE17C}"/>
              </a:ext>
            </a:extLst>
          </p:cNvPr>
          <p:cNvSpPr>
            <a:spLocks xmlns:a="http://schemas.openxmlformats.org/drawingml/2006/main" noGrp="1"/>
          </p:cNvSpPr>
          <p:nvPr/>
        </p:nvSpPr>
        <p:spPr>
          <a:xfrm xmlns:a="http://schemas.openxmlformats.org/drawingml/2006/main">
            <a:off x="1809750" y="2533650"/>
            <a:ext cx="1676400" cy="781050"/>
          </a:xfrm>
          <a:prstGeom xmlns:a="http://schemas.openxmlformats.org/drawingml/2006/main" prst="roundRect">
            <a:avLst>
              <a:gd name="adj" fmla="val 9756"/>
            </a:avLst>
          </a:prstGeom>
          <a:solidFill xmlns:a="http://schemas.openxmlformats.org/drawingml/2006/main">
            <a:srgbClr val="00B2BB"/>
          </a:solidFill>
          <a:ln xmlns:a="http://schemas.openxmlformats.org/drawingml/2006/main" w="0">
            <a:solidFill>
              <a:srgbClr val="00B2BB"/>
            </a:solidFill>
            <a:prstDash val="solid"/>
          </a:ln>
        </p:spPr>
      </p:sp>
      <p:sp>
        <p:nvSpPr>
          <p:cNvPr id="9" name="">
            <a:extLst xmlns:a="http://schemas.openxmlformats.org/drawingml/2006/main">
              <a:ext uri="{FF2B5EF4-FFF2-40B4-BE49-F238E27FC236}">
                <a16:creationId xmlns:a16="http://schemas.microsoft.com/office/drawing/2014/main" id="{2B9A2B0B-29E9-42B8-A180-1C94D5D40C5A}"/>
              </a:ext>
            </a:extLst>
          </p:cNvPr>
          <p:cNvSpPr>
            <a:spLocks xmlns:a="http://schemas.openxmlformats.org/drawingml/2006/main" noGrp="1"/>
          </p:cNvSpPr>
          <p:nvPr/>
        </p:nvSpPr>
        <p:spPr>
          <a:xfrm xmlns:a="http://schemas.openxmlformats.org/drawingml/2006/main">
            <a:off x="1924050" y="25336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Ausgangsfall</a:t>
            </a:r>
          </a:p>
        </p:txBody>
      </p:sp>
      <p:sp>
        <p:nvSpPr>
          <p:cNvPr id="10" name="">
            <a:extLst xmlns:a="http://schemas.openxmlformats.org/drawingml/2006/main">
              <a:ext uri="{FF2B5EF4-FFF2-40B4-BE49-F238E27FC236}">
                <a16:creationId xmlns:a16="http://schemas.microsoft.com/office/drawing/2014/main" id="{17B2BDA2-AD5B-4A71-8BCA-5E75091FE155}"/>
              </a:ext>
            </a:extLst>
          </p:cNvPr>
          <p:cNvSpPr>
            <a:spLocks xmlns:a="http://schemas.openxmlformats.org/drawingml/2006/main" noGrp="1"/>
          </p:cNvSpPr>
          <p:nvPr/>
        </p:nvSpPr>
        <p:spPr>
          <a:xfrm xmlns:a="http://schemas.openxmlformats.org/drawingml/2006/main">
            <a:off x="3695700" y="25336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Der Ausgangsfall kehrt zurück. Jetzt werden Beteiligtenstellung, Prognose, mutmaßlicher Wille, Schutz ungeborenen Lebens, intensivmedizinische Indikation und reversible Zwischenlösung getrennt geprüft.</a:t>
            </a:r>
          </a:p>
        </p:txBody>
      </p:sp>
      <p:sp>
        <p:nvSpPr>
          <p:cNvPr id="11" name="">
            <a:extLst xmlns:a="http://schemas.openxmlformats.org/drawingml/2006/main">
              <a:ext uri="{FF2B5EF4-FFF2-40B4-BE49-F238E27FC236}">
                <a16:creationId xmlns:a16="http://schemas.microsoft.com/office/drawing/2014/main" id="{B37722BC-213E-4A4F-8002-B0CC95627799}"/>
              </a:ext>
            </a:extLst>
          </p:cNvPr>
          <p:cNvSpPr>
            <a:spLocks xmlns:a="http://schemas.openxmlformats.org/drawingml/2006/main" noGrp="1"/>
          </p:cNvSpPr>
          <p:nvPr/>
        </p:nvSpPr>
        <p:spPr>
          <a:xfrm xmlns:a="http://schemas.openxmlformats.org/drawingml/2006/main">
            <a:off x="1809750" y="3486150"/>
            <a:ext cx="1676400" cy="781050"/>
          </a:xfrm>
          <a:prstGeom xmlns:a="http://schemas.openxmlformats.org/drawingml/2006/main" prst="roundRect">
            <a:avLst>
              <a:gd name="adj" fmla="val 9756"/>
            </a:avLst>
          </a:prstGeom>
          <a:solidFill xmlns:a="http://schemas.openxmlformats.org/drawingml/2006/main">
            <a:srgbClr val="003F6B"/>
          </a:solidFill>
          <a:ln xmlns:a="http://schemas.openxmlformats.org/drawingml/2006/main" w="0">
            <a:solidFill>
              <a:srgbClr val="003F6B"/>
            </a:solidFill>
            <a:prstDash val="solid"/>
          </a:ln>
        </p:spPr>
      </p:sp>
      <p:sp>
        <p:nvSpPr>
          <p:cNvPr id="12" name="">
            <a:extLst xmlns:a="http://schemas.openxmlformats.org/drawingml/2006/main">
              <a:ext uri="{FF2B5EF4-FFF2-40B4-BE49-F238E27FC236}">
                <a16:creationId xmlns:a16="http://schemas.microsoft.com/office/drawing/2014/main" id="{70B78DE0-FDD7-40B5-992B-7C4B1F0A0D23}"/>
              </a:ext>
            </a:extLst>
          </p:cNvPr>
          <p:cNvSpPr>
            <a:spLocks xmlns:a="http://schemas.openxmlformats.org/drawingml/2006/main" noGrp="1"/>
          </p:cNvSpPr>
          <p:nvPr/>
        </p:nvSpPr>
        <p:spPr>
          <a:xfrm xmlns:a="http://schemas.openxmlformats.org/drawingml/2006/main">
            <a:off x="1924050" y="34861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Leitsatzkern</a:t>
            </a:r>
          </a:p>
        </p:txBody>
      </p:sp>
      <p:sp>
        <p:nvSpPr>
          <p:cNvPr id="13" name="">
            <a:extLst xmlns:a="http://schemas.openxmlformats.org/drawingml/2006/main">
              <a:ext uri="{FF2B5EF4-FFF2-40B4-BE49-F238E27FC236}">
                <a16:creationId xmlns:a16="http://schemas.microsoft.com/office/drawing/2014/main" id="{990FC1A2-55F4-4B01-8B3A-C2938AF0A6DF}"/>
              </a:ext>
            </a:extLst>
          </p:cNvPr>
          <p:cNvSpPr>
            <a:spLocks xmlns:a="http://schemas.openxmlformats.org/drawingml/2006/main" noGrp="1"/>
          </p:cNvSpPr>
          <p:nvPr/>
        </p:nvSpPr>
        <p:spPr>
          <a:xfrm xmlns:a="http://schemas.openxmlformats.org/drawingml/2006/main">
            <a:off x="3695700" y="34861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Leitsatzkern (paraphrasiert): In existenziellen Grenzfällen entscheidet nicht ein einzelnes Schlagwort. Die Qualität liegt in transparenter Abwägung und einem Verfahren, das alle betroffenen Rechtspositionen wirksam zur Geltung bringt.</a:t>
            </a:r>
          </a:p>
        </p:txBody>
      </p:sp>
      <p:sp>
        <p:nvSpPr>
          <p:cNvPr id="14" name="">
            <a:extLst xmlns:a="http://schemas.openxmlformats.org/drawingml/2006/main">
              <a:ext uri="{FF2B5EF4-FFF2-40B4-BE49-F238E27FC236}">
                <a16:creationId xmlns:a16="http://schemas.microsoft.com/office/drawing/2014/main" id="{F7EE0229-7CAF-4846-9F70-3CF653642894}"/>
              </a:ext>
            </a:extLst>
          </p:cNvPr>
          <p:cNvSpPr>
            <a:spLocks xmlns:a="http://schemas.openxmlformats.org/drawingml/2006/main" noGrp="1"/>
          </p:cNvSpPr>
          <p:nvPr/>
        </p:nvSpPr>
        <p:spPr>
          <a:xfrm xmlns:a="http://schemas.openxmlformats.org/drawingml/2006/main">
            <a:off x="1809750" y="4438650"/>
            <a:ext cx="1676400" cy="781050"/>
          </a:xfrm>
          <a:prstGeom xmlns:a="http://schemas.openxmlformats.org/drawingml/2006/main" prst="roundRect">
            <a:avLst>
              <a:gd name="adj" fmla="val 9756"/>
            </a:avLst>
          </a:prstGeom>
          <a:solidFill xmlns:a="http://schemas.openxmlformats.org/drawingml/2006/main">
            <a:srgbClr val="00B2BB"/>
          </a:solidFill>
          <a:ln xmlns:a="http://schemas.openxmlformats.org/drawingml/2006/main" w="0">
            <a:solidFill>
              <a:srgbClr val="00B2BB"/>
            </a:solidFill>
            <a:prstDash val="solid"/>
          </a:ln>
        </p:spPr>
      </p:sp>
      <p:sp>
        <p:nvSpPr>
          <p:cNvPr id="15" name="">
            <a:extLst xmlns:a="http://schemas.openxmlformats.org/drawingml/2006/main">
              <a:ext uri="{FF2B5EF4-FFF2-40B4-BE49-F238E27FC236}">
                <a16:creationId xmlns:a16="http://schemas.microsoft.com/office/drawing/2014/main" id="{97BEA821-0F79-490B-9BB4-264431B7AAAF}"/>
              </a:ext>
            </a:extLst>
          </p:cNvPr>
          <p:cNvSpPr>
            <a:spLocks xmlns:a="http://schemas.openxmlformats.org/drawingml/2006/main" noGrp="1"/>
          </p:cNvSpPr>
          <p:nvPr/>
        </p:nvSpPr>
        <p:spPr>
          <a:xfrm xmlns:a="http://schemas.openxmlformats.org/drawingml/2006/main">
            <a:off x="1924050" y="44386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Für die Praxis</a:t>
            </a:r>
          </a:p>
        </p:txBody>
      </p:sp>
      <p:sp>
        <p:nvSpPr>
          <p:cNvPr id="16" name="">
            <a:extLst xmlns:a="http://schemas.openxmlformats.org/drawingml/2006/main">
              <a:ext uri="{FF2B5EF4-FFF2-40B4-BE49-F238E27FC236}">
                <a16:creationId xmlns:a16="http://schemas.microsoft.com/office/drawing/2014/main" id="{26FC6772-B190-4679-9F5B-C9580212FCC3}"/>
              </a:ext>
            </a:extLst>
          </p:cNvPr>
          <p:cNvSpPr>
            <a:spLocks xmlns:a="http://schemas.openxmlformats.org/drawingml/2006/main" noGrp="1"/>
          </p:cNvSpPr>
          <p:nvPr/>
        </p:nvSpPr>
        <p:spPr>
          <a:xfrm xmlns:a="http://schemas.openxmlformats.org/drawingml/2006/main">
            <a:off x="3695700" y="44386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Erstabstimmung und Schlussabstimmung vergleichen. Eine geänderte Position ist begründeter Lernzuwachs; eine gleichbleibende Position braucht jetzt die bessere prozedurale und rechtliche Begründung.</a:t>
            </a:r>
          </a:p>
        </p:txBody>
      </p:sp>
      <p:sp>
        <p:nvSpPr>
          <p:cNvPr id="17" name="">
            <a:extLst xmlns:a="http://schemas.openxmlformats.org/drawingml/2006/main">
              <a:ext uri="{FF2B5EF4-FFF2-40B4-BE49-F238E27FC236}">
                <a16:creationId xmlns:a16="http://schemas.microsoft.com/office/drawing/2014/main" id="{42B8E7BD-7517-4818-90E7-AC79B2C225E1}"/>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20">
                <a:solidFill>
                  <a:srgbClr val="667680"/>
                </a:solidFill>
              </a:defRPr>
            </a:pPr>
            <a:r>
              <a:rPr sz="720">
                <a:solidFill>
                  <a:srgbClr val="667680"/>
                </a:solidFill>
              </a:rPr>
              <a:t>AG Hersbruck, Beschl. v. 16.10.1992 – XVII 1556/92 A · https://dejure.org/1992,4493 · https://doi.org/10.5771/0934-9200-1993-1-9</a:t>
            </a:r>
          </a:p>
        </p:txBody>
      </p:sp>
    </p:spTree>
    <p:extLst>
      <p:ext uri="{BB962C8B-B14F-4D97-AF65-F5344CB8AC3E}">
        <p14:creationId xmlns:p14="http://schemas.microsoft.com/office/powerpoint/2010/main" val="43637646"/>
      </p:ext>
    </p:extLst>
  </p:cSld>
</p:sld>
</file>

<file path=ppt/slides/slide391.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Der integrierte Semesterfall</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VERFAHREN VERSTEHEN</a:t>
            </a:r>
            <a:endParaRPr/>
          </a:p>
        </p:txBody>
      </p:sp>
      <p:sp>
        <p:nvSpPr>
          <p:cNvPr id="4" name="">
            <a:extLst xmlns:a="http://schemas.openxmlformats.org/drawingml/2006/main">
              <a:ext uri="{FF2B5EF4-FFF2-40B4-BE49-F238E27FC236}">
                <a16:creationId xmlns:a16="http://schemas.microsoft.com/office/drawing/2014/main" id="{65983A0F-033B-4D29-8047-0BEF163FD664}"/>
              </a:ext>
            </a:extLst>
          </p:cNvPr>
          <p:cNvSpPr>
            <a:spLocks xmlns:a="http://schemas.openxmlformats.org/drawingml/2006/main" noGrp="1"/>
          </p:cNvSpPr>
          <p:nvPr/>
        </p:nvSpPr>
        <p:spPr>
          <a:xfrm xmlns:a="http://schemas.openxmlformats.org/drawingml/2006/main">
            <a:off x="1809750" y="1885950"/>
            <a:ext cx="9525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15">
                <a:solidFill>
                  <a:srgbClr val="667680"/>
                </a:solidFill>
              </a:defRPr>
            </a:pPr>
            <a:r>
              <a:rPr sz="1215">
                <a:solidFill>
                  <a:srgbClr val="667680"/>
                </a:solidFill>
              </a:rPr>
              <a:t>Zum Abschluss werden materielle Normen und alle Verfahrenswege auf denselben Sachverhalt angewandt.</a:t>
            </a:r>
          </a:p>
        </p:txBody>
      </p:sp>
      <p:sp>
        <p:nvSpPr>
          <p:cNvPr id="5" name="">
            <a:extLst xmlns:a="http://schemas.openxmlformats.org/drawingml/2006/main">
              <a:ext uri="{FF2B5EF4-FFF2-40B4-BE49-F238E27FC236}">
                <a16:creationId xmlns:a16="http://schemas.microsoft.com/office/drawing/2014/main" id="{1190BCAE-0B16-4321-AEDE-DAA4B7FAFB78}"/>
              </a:ext>
            </a:extLst>
          </p:cNvPr>
          <p:cNvSpPr>
            <a:spLocks xmlns:a="http://schemas.openxmlformats.org/drawingml/2006/main" noGrp="1"/>
          </p:cNvSpPr>
          <p:nvPr/>
        </p:nvSpPr>
        <p:spPr>
          <a:xfrm xmlns:a="http://schemas.openxmlformats.org/drawingml/2006/main">
            <a:off x="1981200" y="2952750"/>
            <a:ext cx="9182100" cy="0"/>
          </a:xfrm>
          <a:prstGeom xmlns:a="http://schemas.openxmlformats.org/drawingml/2006/main" prst="line">
            <a:avLst/>
          </a:prstGeom>
          <a:noFill xmlns:a="http://schemas.openxmlformats.org/drawingml/2006/main"/>
          <a:ln xmlns:a="http://schemas.openxmlformats.org/drawingml/2006/main" w="28575">
            <a:solidFill>
              <a:srgbClr val="B9CAD2"/>
            </a:solidFill>
            <a:prstDash val="solid"/>
          </a:ln>
        </p:spPr>
      </p:sp>
      <p:sp>
        <p:nvSpPr>
          <p:cNvPr id="6" name="">
            <a:extLst xmlns:a="http://schemas.openxmlformats.org/drawingml/2006/main">
              <a:ext uri="{FF2B5EF4-FFF2-40B4-BE49-F238E27FC236}">
                <a16:creationId xmlns:a16="http://schemas.microsoft.com/office/drawing/2014/main" id="{97F45033-130A-4FF4-AAFE-7B7214759812}"/>
              </a:ext>
            </a:extLst>
          </p:cNvPr>
          <p:cNvSpPr>
            <a:spLocks xmlns:a="http://schemas.openxmlformats.org/drawingml/2006/main" noGrp="1"/>
          </p:cNvSpPr>
          <p:nvPr/>
        </p:nvSpPr>
        <p:spPr>
          <a:xfrm xmlns:a="http://schemas.openxmlformats.org/drawingml/2006/main">
            <a:off x="1809750" y="2495550"/>
            <a:ext cx="1508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Behandlung</a:t>
            </a:r>
          </a:p>
        </p:txBody>
      </p:sp>
      <p:sp>
        <p:nvSpPr>
          <p:cNvPr id="7" name="">
            <a:extLst xmlns:a="http://schemas.openxmlformats.org/drawingml/2006/main">
              <a:ext uri="{FF2B5EF4-FFF2-40B4-BE49-F238E27FC236}">
                <a16:creationId xmlns:a16="http://schemas.microsoft.com/office/drawing/2014/main" id="{5914DA84-C65B-4AC8-9B32-3FD09805852E}"/>
              </a:ext>
            </a:extLst>
          </p:cNvPr>
          <p:cNvSpPr>
            <a:spLocks xmlns:a="http://schemas.openxmlformats.org/drawingml/2006/main" noGrp="1"/>
          </p:cNvSpPr>
          <p:nvPr/>
        </p:nvSpPr>
        <p:spPr>
          <a:xfrm xmlns:a="http://schemas.openxmlformats.org/drawingml/2006/main">
            <a:off x="2439988" y="2838450"/>
            <a:ext cx="247650" cy="247650"/>
          </a:xfrm>
          <a:prstGeom xmlns:a="http://schemas.openxmlformats.org/drawingml/2006/main" prst="ellipse">
            <a:avLst/>
          </a:prstGeom>
          <a:solidFill xmlns:a="http://schemas.openxmlformats.org/drawingml/2006/main">
            <a:srgbClr val="003F6B"/>
          </a:solidFill>
          <a:ln xmlns:a="http://schemas.openxmlformats.org/drawingml/2006/main" w="19050">
            <a:solidFill>
              <a:srgbClr val="FFFFFF"/>
            </a:solidFill>
            <a:prstDash val="solid"/>
          </a:ln>
        </p:spPr>
      </p:sp>
      <p:sp>
        <p:nvSpPr>
          <p:cNvPr id="8" name="">
            <a:extLst xmlns:a="http://schemas.openxmlformats.org/drawingml/2006/main">
              <a:ext uri="{FF2B5EF4-FFF2-40B4-BE49-F238E27FC236}">
                <a16:creationId xmlns:a16="http://schemas.microsoft.com/office/drawing/2014/main" id="{06B17DA5-E59E-4FC1-8ADF-CE0CD868EA76}"/>
              </a:ext>
            </a:extLst>
          </p:cNvPr>
          <p:cNvSpPr>
            <a:spLocks xmlns:a="http://schemas.openxmlformats.org/drawingml/2006/main" noGrp="1"/>
          </p:cNvSpPr>
          <p:nvPr/>
        </p:nvSpPr>
        <p:spPr>
          <a:xfrm xmlns:a="http://schemas.openxmlformats.org/drawingml/2006/main">
            <a:off x="1809750" y="3219450"/>
            <a:ext cx="1508125" cy="2000250"/>
          </a:xfrm>
          <a:prstGeom xmlns:a="http://schemas.openxmlformats.org/drawingml/2006/main" prst="roundRect">
            <a:avLst>
              <a:gd name="adj" fmla="val 5053"/>
            </a:avLst>
          </a:prstGeom>
          <a:noFill xmlns:a="http://schemas.openxmlformats.org/drawingml/2006/main"/>
          <a:ln xmlns:a="http://schemas.openxmlformats.org/drawingml/2006/main" w="9525">
            <a:solidFill>
              <a:srgbClr val="00B2BB"/>
            </a:solidFill>
            <a:prstDash val="solid"/>
          </a:ln>
        </p:spPr>
      </p:sp>
      <p:sp>
        <p:nvSpPr>
          <p:cNvPr id="9" name="">
            <a:extLst xmlns:a="http://schemas.openxmlformats.org/drawingml/2006/main">
              <a:ext uri="{FF2B5EF4-FFF2-40B4-BE49-F238E27FC236}">
                <a16:creationId xmlns:a16="http://schemas.microsoft.com/office/drawing/2014/main" id="{F1DBF298-970C-45F6-8890-E8002EE7BC7E}"/>
              </a:ext>
            </a:extLst>
          </p:cNvPr>
          <p:cNvSpPr>
            <a:spLocks xmlns:a="http://schemas.openxmlformats.org/drawingml/2006/main" noGrp="1"/>
          </p:cNvSpPr>
          <p:nvPr/>
        </p:nvSpPr>
        <p:spPr>
          <a:xfrm xmlns:a="http://schemas.openxmlformats.org/drawingml/2006/main">
            <a:off x="1905000" y="3314700"/>
            <a:ext cx="13176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Standard, Information, Aufklärung, Einwilligung, Dokumentation und Organisation prüfen.</a:t>
            </a:r>
          </a:p>
        </p:txBody>
      </p:sp>
      <p:sp>
        <p:nvSpPr>
          <p:cNvPr id="10" name="">
            <a:extLst xmlns:a="http://schemas.openxmlformats.org/drawingml/2006/main">
              <a:ext uri="{FF2B5EF4-FFF2-40B4-BE49-F238E27FC236}">
                <a16:creationId xmlns:a16="http://schemas.microsoft.com/office/drawing/2014/main" id="{CFAF15B7-B06E-4F86-A56A-C68AA63E029E}"/>
              </a:ext>
            </a:extLst>
          </p:cNvPr>
          <p:cNvSpPr>
            <a:spLocks xmlns:a="http://schemas.openxmlformats.org/drawingml/2006/main" noGrp="1"/>
          </p:cNvSpPr>
          <p:nvPr/>
        </p:nvSpPr>
        <p:spPr>
          <a:xfrm xmlns:a="http://schemas.openxmlformats.org/drawingml/2006/main">
            <a:off x="3413125" y="2495550"/>
            <a:ext cx="1508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Zivilrecht</a:t>
            </a:r>
          </a:p>
        </p:txBody>
      </p:sp>
      <p:sp>
        <p:nvSpPr>
          <p:cNvPr id="11" name="">
            <a:extLst xmlns:a="http://schemas.openxmlformats.org/drawingml/2006/main">
              <a:ext uri="{FF2B5EF4-FFF2-40B4-BE49-F238E27FC236}">
                <a16:creationId xmlns:a16="http://schemas.microsoft.com/office/drawing/2014/main" id="{0AFF62FD-8B7F-4474-B510-08EDB773C756}"/>
              </a:ext>
            </a:extLst>
          </p:cNvPr>
          <p:cNvSpPr>
            <a:spLocks xmlns:a="http://schemas.openxmlformats.org/drawingml/2006/main" noGrp="1"/>
          </p:cNvSpPr>
          <p:nvPr/>
        </p:nvSpPr>
        <p:spPr>
          <a:xfrm xmlns:a="http://schemas.openxmlformats.org/drawingml/2006/main">
            <a:off x="4043363" y="2838450"/>
            <a:ext cx="247650" cy="24765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12" name="">
            <a:extLst xmlns:a="http://schemas.openxmlformats.org/drawingml/2006/main">
              <a:ext uri="{FF2B5EF4-FFF2-40B4-BE49-F238E27FC236}">
                <a16:creationId xmlns:a16="http://schemas.microsoft.com/office/drawing/2014/main" id="{9CE84CE6-20FE-4D94-8BFE-1B27DB01A28D}"/>
              </a:ext>
            </a:extLst>
          </p:cNvPr>
          <p:cNvSpPr>
            <a:spLocks xmlns:a="http://schemas.openxmlformats.org/drawingml/2006/main" noGrp="1"/>
          </p:cNvSpPr>
          <p:nvPr/>
        </p:nvSpPr>
        <p:spPr>
          <a:xfrm xmlns:a="http://schemas.openxmlformats.org/drawingml/2006/main">
            <a:off x="3413125" y="3219450"/>
            <a:ext cx="1508125" cy="2000250"/>
          </a:xfrm>
          <a:prstGeom xmlns:a="http://schemas.openxmlformats.org/drawingml/2006/main" prst="roundRect">
            <a:avLst>
              <a:gd name="adj" fmla="val 5053"/>
            </a:avLst>
          </a:prstGeom>
          <a:noFill xmlns:a="http://schemas.openxmlformats.org/drawingml/2006/main"/>
          <a:ln xmlns:a="http://schemas.openxmlformats.org/drawingml/2006/main" w="9525">
            <a:solidFill>
              <a:srgbClr val="003F6B"/>
            </a:solidFill>
            <a:prstDash val="solid"/>
          </a:ln>
        </p:spPr>
      </p:sp>
      <p:sp>
        <p:nvSpPr>
          <p:cNvPr id="13" name="">
            <a:extLst xmlns:a="http://schemas.openxmlformats.org/drawingml/2006/main">
              <a:ext uri="{FF2B5EF4-FFF2-40B4-BE49-F238E27FC236}">
                <a16:creationId xmlns:a16="http://schemas.microsoft.com/office/drawing/2014/main" id="{E2BD6B95-22EE-4FF2-B2BC-86DEB7B29D6A}"/>
              </a:ext>
            </a:extLst>
          </p:cNvPr>
          <p:cNvSpPr>
            <a:spLocks xmlns:a="http://schemas.openxmlformats.org/drawingml/2006/main" noGrp="1"/>
          </p:cNvSpPr>
          <p:nvPr/>
        </p:nvSpPr>
        <p:spPr>
          <a:xfrm xmlns:a="http://schemas.openxmlformats.org/drawingml/2006/main">
            <a:off x="3508375" y="3314700"/>
            <a:ext cx="13176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 280, 823 und 630a ff. BGB, Schaden, Kausalität und Beweislast zuordnen.</a:t>
            </a:r>
          </a:p>
        </p:txBody>
      </p:sp>
      <p:sp>
        <p:nvSpPr>
          <p:cNvPr id="14" name="">
            <a:extLst xmlns:a="http://schemas.openxmlformats.org/drawingml/2006/main">
              <a:ext uri="{FF2B5EF4-FFF2-40B4-BE49-F238E27FC236}">
                <a16:creationId xmlns:a16="http://schemas.microsoft.com/office/drawing/2014/main" id="{12091816-A804-4EBA-96A8-A35DE2275ECA}"/>
              </a:ext>
            </a:extLst>
          </p:cNvPr>
          <p:cNvSpPr>
            <a:spLocks xmlns:a="http://schemas.openxmlformats.org/drawingml/2006/main" noGrp="1"/>
          </p:cNvSpPr>
          <p:nvPr/>
        </p:nvSpPr>
        <p:spPr>
          <a:xfrm xmlns:a="http://schemas.openxmlformats.org/drawingml/2006/main">
            <a:off x="5016500" y="2495550"/>
            <a:ext cx="1508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Außergerichtlich</a:t>
            </a:r>
          </a:p>
        </p:txBody>
      </p:sp>
      <p:sp>
        <p:nvSpPr>
          <p:cNvPr id="15" name="">
            <a:extLst xmlns:a="http://schemas.openxmlformats.org/drawingml/2006/main">
              <a:ext uri="{FF2B5EF4-FFF2-40B4-BE49-F238E27FC236}">
                <a16:creationId xmlns:a16="http://schemas.microsoft.com/office/drawing/2014/main" id="{FA61A2C2-BF5D-412D-8A4C-111265E27BBF}"/>
              </a:ext>
            </a:extLst>
          </p:cNvPr>
          <p:cNvSpPr>
            <a:spLocks xmlns:a="http://schemas.openxmlformats.org/drawingml/2006/main" noGrp="1"/>
          </p:cNvSpPr>
          <p:nvPr/>
        </p:nvSpPr>
        <p:spPr>
          <a:xfrm xmlns:a="http://schemas.openxmlformats.org/drawingml/2006/main">
            <a:off x="5646738" y="2838450"/>
            <a:ext cx="247650" cy="24765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16" name="">
            <a:extLst xmlns:a="http://schemas.openxmlformats.org/drawingml/2006/main">
              <a:ext uri="{FF2B5EF4-FFF2-40B4-BE49-F238E27FC236}">
                <a16:creationId xmlns:a16="http://schemas.microsoft.com/office/drawing/2014/main" id="{F106E8E3-AC1C-4882-9FAB-FABF681ECB40}"/>
              </a:ext>
            </a:extLst>
          </p:cNvPr>
          <p:cNvSpPr>
            <a:spLocks xmlns:a="http://schemas.openxmlformats.org/drawingml/2006/main" noGrp="1"/>
          </p:cNvSpPr>
          <p:nvPr/>
        </p:nvSpPr>
        <p:spPr>
          <a:xfrm xmlns:a="http://schemas.openxmlformats.org/drawingml/2006/main">
            <a:off x="5016500" y="3219450"/>
            <a:ext cx="1508125" cy="2000250"/>
          </a:xfrm>
          <a:prstGeom xmlns:a="http://schemas.openxmlformats.org/drawingml/2006/main" prst="roundRect">
            <a:avLst>
              <a:gd name="adj" fmla="val 5053"/>
            </a:avLst>
          </a:prstGeom>
          <a:noFill xmlns:a="http://schemas.openxmlformats.org/drawingml/2006/main"/>
          <a:ln xmlns:a="http://schemas.openxmlformats.org/drawingml/2006/main" w="9525">
            <a:solidFill>
              <a:srgbClr val="00B2BB"/>
            </a:solidFill>
            <a:prstDash val="solid"/>
          </a:ln>
        </p:spPr>
      </p:sp>
      <p:sp>
        <p:nvSpPr>
          <p:cNvPr id="17" name="">
            <a:extLst xmlns:a="http://schemas.openxmlformats.org/drawingml/2006/main">
              <a:ext uri="{FF2B5EF4-FFF2-40B4-BE49-F238E27FC236}">
                <a16:creationId xmlns:a16="http://schemas.microsoft.com/office/drawing/2014/main" id="{3A03A8AE-0190-46E4-BA63-704CA4AC4BCF}"/>
              </a:ext>
            </a:extLst>
          </p:cNvPr>
          <p:cNvSpPr>
            <a:spLocks xmlns:a="http://schemas.openxmlformats.org/drawingml/2006/main" noGrp="1"/>
          </p:cNvSpPr>
          <p:nvPr/>
        </p:nvSpPr>
        <p:spPr>
          <a:xfrm xmlns:a="http://schemas.openxmlformats.org/drawingml/2006/main">
            <a:off x="5111750" y="3314700"/>
            <a:ext cx="13176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Akte, Krankenkasse/MD, Schlichtung, Haftpflicht, Vergleich und Verjährung planen.</a:t>
            </a:r>
          </a:p>
        </p:txBody>
      </p:sp>
      <p:sp>
        <p:nvSpPr>
          <p:cNvPr id="18" name="">
            <a:extLst xmlns:a="http://schemas.openxmlformats.org/drawingml/2006/main">
              <a:ext uri="{FF2B5EF4-FFF2-40B4-BE49-F238E27FC236}">
                <a16:creationId xmlns:a16="http://schemas.microsoft.com/office/drawing/2014/main" id="{B08B20AC-89C3-4AA4-BA52-A0A2AFB3F16D}"/>
              </a:ext>
            </a:extLst>
          </p:cNvPr>
          <p:cNvSpPr>
            <a:spLocks xmlns:a="http://schemas.openxmlformats.org/drawingml/2006/main" noGrp="1"/>
          </p:cNvSpPr>
          <p:nvPr/>
        </p:nvSpPr>
        <p:spPr>
          <a:xfrm xmlns:a="http://schemas.openxmlformats.org/drawingml/2006/main">
            <a:off x="6619875" y="2495550"/>
            <a:ext cx="1508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Strafrecht</a:t>
            </a:r>
          </a:p>
        </p:txBody>
      </p:sp>
      <p:sp>
        <p:nvSpPr>
          <p:cNvPr id="19" name="">
            <a:extLst xmlns:a="http://schemas.openxmlformats.org/drawingml/2006/main">
              <a:ext uri="{FF2B5EF4-FFF2-40B4-BE49-F238E27FC236}">
                <a16:creationId xmlns:a16="http://schemas.microsoft.com/office/drawing/2014/main" id="{29E539FC-24CA-452A-89EC-241B522470EB}"/>
              </a:ext>
            </a:extLst>
          </p:cNvPr>
          <p:cNvSpPr>
            <a:spLocks xmlns:a="http://schemas.openxmlformats.org/drawingml/2006/main" noGrp="1"/>
          </p:cNvSpPr>
          <p:nvPr/>
        </p:nvSpPr>
        <p:spPr>
          <a:xfrm xmlns:a="http://schemas.openxmlformats.org/drawingml/2006/main">
            <a:off x="7250113" y="2838450"/>
            <a:ext cx="247650" cy="24765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20" name="">
            <a:extLst xmlns:a="http://schemas.openxmlformats.org/drawingml/2006/main">
              <a:ext uri="{FF2B5EF4-FFF2-40B4-BE49-F238E27FC236}">
                <a16:creationId xmlns:a16="http://schemas.microsoft.com/office/drawing/2014/main" id="{B9E195A1-0E09-435F-89B6-AA8EBFC86BE6}"/>
              </a:ext>
            </a:extLst>
          </p:cNvPr>
          <p:cNvSpPr>
            <a:spLocks xmlns:a="http://schemas.openxmlformats.org/drawingml/2006/main" noGrp="1"/>
          </p:cNvSpPr>
          <p:nvPr/>
        </p:nvSpPr>
        <p:spPr>
          <a:xfrm xmlns:a="http://schemas.openxmlformats.org/drawingml/2006/main">
            <a:off x="6619875" y="3219450"/>
            <a:ext cx="1508125" cy="2000250"/>
          </a:xfrm>
          <a:prstGeom xmlns:a="http://schemas.openxmlformats.org/drawingml/2006/main" prst="roundRect">
            <a:avLst>
              <a:gd name="adj" fmla="val 5053"/>
            </a:avLst>
          </a:prstGeom>
          <a:noFill xmlns:a="http://schemas.openxmlformats.org/drawingml/2006/main"/>
          <a:ln xmlns:a="http://schemas.openxmlformats.org/drawingml/2006/main" w="9525">
            <a:solidFill>
              <a:srgbClr val="003F6B"/>
            </a:solidFill>
            <a:prstDash val="solid"/>
          </a:ln>
        </p:spPr>
      </p:sp>
      <p:sp>
        <p:nvSpPr>
          <p:cNvPr id="21" name="">
            <a:extLst xmlns:a="http://schemas.openxmlformats.org/drawingml/2006/main">
              <a:ext uri="{FF2B5EF4-FFF2-40B4-BE49-F238E27FC236}">
                <a16:creationId xmlns:a16="http://schemas.microsoft.com/office/drawing/2014/main" id="{E2DBDD2B-9ADF-4591-A3AD-685C8B8FB97F}"/>
              </a:ext>
            </a:extLst>
          </p:cNvPr>
          <p:cNvSpPr>
            <a:spLocks xmlns:a="http://schemas.openxmlformats.org/drawingml/2006/main" noGrp="1"/>
          </p:cNvSpPr>
          <p:nvPr/>
        </p:nvSpPr>
        <p:spPr>
          <a:xfrm xmlns:a="http://schemas.openxmlformats.org/drawingml/2006/main">
            <a:off x="6715125" y="3314700"/>
            <a:ext cx="13176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Individuelle Fahrlässigkeit, Unterlassen, Schweigepflicht und StPO-Rolle analysieren.</a:t>
            </a:r>
          </a:p>
        </p:txBody>
      </p:sp>
      <p:sp>
        <p:nvSpPr>
          <p:cNvPr id="22" name="">
            <a:extLst xmlns:a="http://schemas.openxmlformats.org/drawingml/2006/main">
              <a:ext uri="{FF2B5EF4-FFF2-40B4-BE49-F238E27FC236}">
                <a16:creationId xmlns:a16="http://schemas.microsoft.com/office/drawing/2014/main" id="{317D2311-1A57-4015-A11F-05419ECD6800}"/>
              </a:ext>
            </a:extLst>
          </p:cNvPr>
          <p:cNvSpPr>
            <a:spLocks xmlns:a="http://schemas.openxmlformats.org/drawingml/2006/main" noGrp="1"/>
          </p:cNvSpPr>
          <p:nvPr/>
        </p:nvSpPr>
        <p:spPr>
          <a:xfrm xmlns:a="http://schemas.openxmlformats.org/drawingml/2006/main">
            <a:off x="8223250" y="2495550"/>
            <a:ext cx="1508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Berufs- &amp; Verwaltungsrecht</a:t>
            </a:r>
          </a:p>
        </p:txBody>
      </p:sp>
      <p:sp>
        <p:nvSpPr>
          <p:cNvPr id="23" name="">
            <a:extLst xmlns:a="http://schemas.openxmlformats.org/drawingml/2006/main">
              <a:ext uri="{FF2B5EF4-FFF2-40B4-BE49-F238E27FC236}">
                <a16:creationId xmlns:a16="http://schemas.microsoft.com/office/drawing/2014/main" id="{7F33F314-0F10-4BEC-8219-5F0CC284D1C5}"/>
              </a:ext>
            </a:extLst>
          </p:cNvPr>
          <p:cNvSpPr>
            <a:spLocks xmlns:a="http://schemas.openxmlformats.org/drawingml/2006/main" noGrp="1"/>
          </p:cNvSpPr>
          <p:nvPr/>
        </p:nvSpPr>
        <p:spPr>
          <a:xfrm xmlns:a="http://schemas.openxmlformats.org/drawingml/2006/main">
            <a:off x="8853488" y="2838450"/>
            <a:ext cx="247650" cy="24765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24" name="">
            <a:extLst xmlns:a="http://schemas.openxmlformats.org/drawingml/2006/main">
              <a:ext uri="{FF2B5EF4-FFF2-40B4-BE49-F238E27FC236}">
                <a16:creationId xmlns:a16="http://schemas.microsoft.com/office/drawing/2014/main" id="{00BD97E1-1F40-4764-A768-1D99C748AD61}"/>
              </a:ext>
            </a:extLst>
          </p:cNvPr>
          <p:cNvSpPr>
            <a:spLocks xmlns:a="http://schemas.openxmlformats.org/drawingml/2006/main" noGrp="1"/>
          </p:cNvSpPr>
          <p:nvPr/>
        </p:nvSpPr>
        <p:spPr>
          <a:xfrm xmlns:a="http://schemas.openxmlformats.org/drawingml/2006/main">
            <a:off x="8223250" y="3219450"/>
            <a:ext cx="1508125" cy="2000250"/>
          </a:xfrm>
          <a:prstGeom xmlns:a="http://schemas.openxmlformats.org/drawingml/2006/main" prst="roundRect">
            <a:avLst>
              <a:gd name="adj" fmla="val 5053"/>
            </a:avLst>
          </a:prstGeom>
          <a:noFill xmlns:a="http://schemas.openxmlformats.org/drawingml/2006/main"/>
          <a:ln xmlns:a="http://schemas.openxmlformats.org/drawingml/2006/main" w="9525">
            <a:solidFill>
              <a:srgbClr val="00B2BB"/>
            </a:solidFill>
            <a:prstDash val="solid"/>
          </a:ln>
        </p:spPr>
      </p:sp>
      <p:sp>
        <p:nvSpPr>
          <p:cNvPr id="25" name="">
            <a:extLst xmlns:a="http://schemas.openxmlformats.org/drawingml/2006/main">
              <a:ext uri="{FF2B5EF4-FFF2-40B4-BE49-F238E27FC236}">
                <a16:creationId xmlns:a16="http://schemas.microsoft.com/office/drawing/2014/main" id="{F82ADA20-2645-40E1-B057-2680D733E98F}"/>
              </a:ext>
            </a:extLst>
          </p:cNvPr>
          <p:cNvSpPr>
            <a:spLocks xmlns:a="http://schemas.openxmlformats.org/drawingml/2006/main" noGrp="1"/>
          </p:cNvSpPr>
          <p:nvPr/>
        </p:nvSpPr>
        <p:spPr>
          <a:xfrm xmlns:a="http://schemas.openxmlformats.org/drawingml/2006/main">
            <a:off x="8318500" y="3314700"/>
            <a:ext cx="13176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Kammer, Arbeitgeber und Approbationsbehörde mit eigenem Rechtsschutz einordnen.</a:t>
            </a:r>
          </a:p>
        </p:txBody>
      </p:sp>
      <p:sp>
        <p:nvSpPr>
          <p:cNvPr id="26" name="">
            <a:extLst xmlns:a="http://schemas.openxmlformats.org/drawingml/2006/main">
              <a:ext uri="{FF2B5EF4-FFF2-40B4-BE49-F238E27FC236}">
                <a16:creationId xmlns:a16="http://schemas.microsoft.com/office/drawing/2014/main" id="{85896EFA-48B1-4D3D-9C72-DABB657A0C87}"/>
              </a:ext>
            </a:extLst>
          </p:cNvPr>
          <p:cNvSpPr>
            <a:spLocks xmlns:a="http://schemas.openxmlformats.org/drawingml/2006/main" noGrp="1"/>
          </p:cNvSpPr>
          <p:nvPr/>
        </p:nvSpPr>
        <p:spPr>
          <a:xfrm xmlns:a="http://schemas.openxmlformats.org/drawingml/2006/main">
            <a:off x="9826625" y="2495550"/>
            <a:ext cx="1508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Gericht</a:t>
            </a:r>
          </a:p>
        </p:txBody>
      </p:sp>
      <p:sp>
        <p:nvSpPr>
          <p:cNvPr id="27" name="">
            <a:extLst xmlns:a="http://schemas.openxmlformats.org/drawingml/2006/main">
              <a:ext uri="{FF2B5EF4-FFF2-40B4-BE49-F238E27FC236}">
                <a16:creationId xmlns:a16="http://schemas.microsoft.com/office/drawing/2014/main" id="{DE92C851-9778-46F6-9C0F-73AA6FBD37A2}"/>
              </a:ext>
            </a:extLst>
          </p:cNvPr>
          <p:cNvSpPr>
            <a:spLocks xmlns:a="http://schemas.openxmlformats.org/drawingml/2006/main" noGrp="1"/>
          </p:cNvSpPr>
          <p:nvPr/>
        </p:nvSpPr>
        <p:spPr>
          <a:xfrm xmlns:a="http://schemas.openxmlformats.org/drawingml/2006/main">
            <a:off x="10456863" y="2838450"/>
            <a:ext cx="247650" cy="24765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28" name="">
            <a:extLst xmlns:a="http://schemas.openxmlformats.org/drawingml/2006/main">
              <a:ext uri="{FF2B5EF4-FFF2-40B4-BE49-F238E27FC236}">
                <a16:creationId xmlns:a16="http://schemas.microsoft.com/office/drawing/2014/main" id="{005BD140-FDBB-49A0-867A-847ED703C9B7}"/>
              </a:ext>
            </a:extLst>
          </p:cNvPr>
          <p:cNvSpPr>
            <a:spLocks xmlns:a="http://schemas.openxmlformats.org/drawingml/2006/main" noGrp="1"/>
          </p:cNvSpPr>
          <p:nvPr/>
        </p:nvSpPr>
        <p:spPr>
          <a:xfrm xmlns:a="http://schemas.openxmlformats.org/drawingml/2006/main">
            <a:off x="9826625" y="3219450"/>
            <a:ext cx="1508125" cy="2000250"/>
          </a:xfrm>
          <a:prstGeom xmlns:a="http://schemas.openxmlformats.org/drawingml/2006/main" prst="roundRect">
            <a:avLst>
              <a:gd name="adj" fmla="val 5053"/>
            </a:avLst>
          </a:prstGeom>
          <a:noFill xmlns:a="http://schemas.openxmlformats.org/drawingml/2006/main"/>
          <a:ln xmlns:a="http://schemas.openxmlformats.org/drawingml/2006/main" w="9525">
            <a:solidFill>
              <a:srgbClr val="003F6B"/>
            </a:solidFill>
            <a:prstDash val="solid"/>
          </a:ln>
        </p:spPr>
      </p:sp>
      <p:sp>
        <p:nvSpPr>
          <p:cNvPr id="29" name="">
            <a:extLst xmlns:a="http://schemas.openxmlformats.org/drawingml/2006/main">
              <a:ext uri="{FF2B5EF4-FFF2-40B4-BE49-F238E27FC236}">
                <a16:creationId xmlns:a16="http://schemas.microsoft.com/office/drawing/2014/main" id="{7B562646-C92A-462D-8A0C-BB5BAF7B7AE2}"/>
              </a:ext>
            </a:extLst>
          </p:cNvPr>
          <p:cNvSpPr>
            <a:spLocks xmlns:a="http://schemas.openxmlformats.org/drawingml/2006/main" noGrp="1"/>
          </p:cNvSpPr>
          <p:nvPr/>
        </p:nvSpPr>
        <p:spPr>
          <a:xfrm xmlns:a="http://schemas.openxmlformats.org/drawingml/2006/main">
            <a:off x="9921875" y="3314700"/>
            <a:ext cx="13176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ZPO-Beweisaufnahme beobachten und Erkenntnisse in Patientensicherheit zurückführen.</a:t>
            </a:r>
          </a:p>
        </p:txBody>
      </p:sp>
      <p:sp>
        <p:nvSpPr>
          <p:cNvPr id="30" name="">
            <a:extLst xmlns:a="http://schemas.openxmlformats.org/drawingml/2006/main">
              <a:ext uri="{FF2B5EF4-FFF2-40B4-BE49-F238E27FC236}">
                <a16:creationId xmlns:a16="http://schemas.microsoft.com/office/drawing/2014/main" id="{5A7A36C7-86CB-4F87-87F8-26DFC0E8E0AC}"/>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31" name="">
            <a:extLst xmlns:a="http://schemas.openxmlformats.org/drawingml/2006/main">
              <a:ext uri="{FF2B5EF4-FFF2-40B4-BE49-F238E27FC236}">
                <a16:creationId xmlns:a16="http://schemas.microsoft.com/office/drawing/2014/main" id="{3E616DD2-7C02-44A1-A7A5-6FBCDB57A11D}"/>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Ein Geschehen – mehrere Rechtsordnungen – jeweils eigene Frage, Rolle und Beweisregel.</a:t>
            </a:r>
          </a:p>
        </p:txBody>
      </p:sp>
    </p:spTree>
    <p:extLst>
      <p:ext uri="{BB962C8B-B14F-4D97-AF65-F5344CB8AC3E}">
        <p14:creationId xmlns:p14="http://schemas.microsoft.com/office/powerpoint/2010/main" val="43637646"/>
      </p:ext>
    </p:extLst>
  </p:cSld>
</p:sld>
</file>

<file path=ppt/slides/slide392.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Komplettes Haftungsschema</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PRÜFUNGSSCHEMA · MASTER</a:t>
            </a:r>
            <a:endParaRPr/>
          </a:p>
        </p:txBody>
      </p:sp>
      <p:sp>
        <p:nvSpPr>
          <p:cNvPr id="4" name="">
            <a:extLst xmlns:a="http://schemas.openxmlformats.org/drawingml/2006/main">
              <a:ext uri="{FF2B5EF4-FFF2-40B4-BE49-F238E27FC236}">
                <a16:creationId xmlns:a16="http://schemas.microsoft.com/office/drawing/2014/main" id="{4723ECE1-7963-499A-8942-B48B1D83042C}"/>
              </a:ext>
            </a:extLst>
          </p:cNvPr>
          <p:cNvSpPr>
            <a:spLocks xmlns:a="http://schemas.openxmlformats.org/drawingml/2006/main" noGrp="1"/>
          </p:cNvSpPr>
          <p:nvPr/>
        </p:nvSpPr>
        <p:spPr>
          <a:xfrm xmlns:a="http://schemas.openxmlformats.org/drawingml/2006/main">
            <a:off x="1809750" y="1952625"/>
            <a:ext cx="400050" cy="823913"/>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01AE515C-8BA3-402F-BFA7-C99464EDAE6A}"/>
              </a:ext>
            </a:extLst>
          </p:cNvPr>
          <p:cNvSpPr>
            <a:spLocks xmlns:a="http://schemas.openxmlformats.org/drawingml/2006/main" noGrp="1"/>
          </p:cNvSpPr>
          <p:nvPr/>
        </p:nvSpPr>
        <p:spPr>
          <a:xfrm xmlns:a="http://schemas.openxmlformats.org/drawingml/2006/main">
            <a:off x="1809750" y="1952625"/>
            <a:ext cx="400050" cy="8239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6" name="">
            <a:extLst xmlns:a="http://schemas.openxmlformats.org/drawingml/2006/main">
              <a:ext uri="{FF2B5EF4-FFF2-40B4-BE49-F238E27FC236}">
                <a16:creationId xmlns:a16="http://schemas.microsoft.com/office/drawing/2014/main" id="{F688AD68-8067-4FA9-8171-47E82BFFF461}"/>
              </a:ext>
            </a:extLst>
          </p:cNvPr>
          <p:cNvSpPr>
            <a:spLocks xmlns:a="http://schemas.openxmlformats.org/drawingml/2006/main" noGrp="1"/>
          </p:cNvSpPr>
          <p:nvPr/>
        </p:nvSpPr>
        <p:spPr>
          <a:xfrm xmlns:a="http://schemas.openxmlformats.org/drawingml/2006/main">
            <a:off x="2324100" y="1962150"/>
            <a:ext cx="1476375" cy="8048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95" b="1">
                <a:solidFill>
                  <a:srgbClr val="003F6B"/>
                </a:solidFill>
              </a:defRPr>
            </a:pPr>
            <a:r>
              <a:rPr sz="1095" b="1">
                <a:solidFill>
                  <a:srgbClr val="003F6B"/>
                </a:solidFill>
              </a:rPr>
              <a:t>1. Anspruchsziel und Gegner</a:t>
            </a:r>
          </a:p>
        </p:txBody>
      </p:sp>
      <p:sp>
        <p:nvSpPr>
          <p:cNvPr id="7" name="">
            <a:extLst xmlns:a="http://schemas.openxmlformats.org/drawingml/2006/main">
              <a:ext uri="{FF2B5EF4-FFF2-40B4-BE49-F238E27FC236}">
                <a16:creationId xmlns:a16="http://schemas.microsoft.com/office/drawing/2014/main" id="{90474464-C02C-473D-9710-BE3AF47C6EC1}"/>
              </a:ext>
            </a:extLst>
          </p:cNvPr>
          <p:cNvSpPr>
            <a:spLocks xmlns:a="http://schemas.openxmlformats.org/drawingml/2006/main" noGrp="1"/>
          </p:cNvSpPr>
          <p:nvPr/>
        </p:nvSpPr>
        <p:spPr>
          <a:xfrm xmlns:a="http://schemas.openxmlformats.org/drawingml/2006/main">
            <a:off x="3905250" y="1962150"/>
            <a:ext cx="2457450" cy="8048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98">
                <a:solidFill>
                  <a:srgbClr val="15232B"/>
                </a:solidFill>
              </a:defRPr>
            </a:pPr>
            <a:r>
              <a:rPr sz="998">
                <a:solidFill>
                  <a:srgbClr val="15232B"/>
                </a:solidFill>
              </a:rPr>
              <a:t>Leistung/Feststellung sowie mögliche haftende Personen und Träger bestimmen.</a:t>
            </a:r>
          </a:p>
        </p:txBody>
      </p:sp>
      <p:sp>
        <p:nvSpPr>
          <p:cNvPr id="8" name="">
            <a:extLst xmlns:a="http://schemas.openxmlformats.org/drawingml/2006/main">
              <a:ext uri="{FF2B5EF4-FFF2-40B4-BE49-F238E27FC236}">
                <a16:creationId xmlns:a16="http://schemas.microsoft.com/office/drawing/2014/main" id="{22025297-5BFF-48AE-BB1D-02397E82FE13}"/>
              </a:ext>
            </a:extLst>
          </p:cNvPr>
          <p:cNvSpPr>
            <a:spLocks xmlns:a="http://schemas.openxmlformats.org/drawingml/2006/main" noGrp="1"/>
          </p:cNvSpPr>
          <p:nvPr/>
        </p:nvSpPr>
        <p:spPr>
          <a:xfrm xmlns:a="http://schemas.openxmlformats.org/drawingml/2006/main">
            <a:off x="1809750" y="2852738"/>
            <a:ext cx="400050" cy="823913"/>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9" name="">
            <a:extLst xmlns:a="http://schemas.openxmlformats.org/drawingml/2006/main">
              <a:ext uri="{FF2B5EF4-FFF2-40B4-BE49-F238E27FC236}">
                <a16:creationId xmlns:a16="http://schemas.microsoft.com/office/drawing/2014/main" id="{381157AB-0209-475B-A5AA-4F7746E520AB}"/>
              </a:ext>
            </a:extLst>
          </p:cNvPr>
          <p:cNvSpPr>
            <a:spLocks xmlns:a="http://schemas.openxmlformats.org/drawingml/2006/main" noGrp="1"/>
          </p:cNvSpPr>
          <p:nvPr/>
        </p:nvSpPr>
        <p:spPr>
          <a:xfrm xmlns:a="http://schemas.openxmlformats.org/drawingml/2006/main">
            <a:off x="1809750" y="2852738"/>
            <a:ext cx="400050" cy="8239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0" name="">
            <a:extLst xmlns:a="http://schemas.openxmlformats.org/drawingml/2006/main">
              <a:ext uri="{FF2B5EF4-FFF2-40B4-BE49-F238E27FC236}">
                <a16:creationId xmlns:a16="http://schemas.microsoft.com/office/drawing/2014/main" id="{101EC71B-149C-4F40-BD83-5056B9C4498E}"/>
              </a:ext>
            </a:extLst>
          </p:cNvPr>
          <p:cNvSpPr>
            <a:spLocks xmlns:a="http://schemas.openxmlformats.org/drawingml/2006/main" noGrp="1"/>
          </p:cNvSpPr>
          <p:nvPr/>
        </p:nvSpPr>
        <p:spPr>
          <a:xfrm xmlns:a="http://schemas.openxmlformats.org/drawingml/2006/main">
            <a:off x="2324100" y="2862263"/>
            <a:ext cx="1476375" cy="8048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95" b="1">
                <a:solidFill>
                  <a:srgbClr val="003F6B"/>
                </a:solidFill>
              </a:defRPr>
            </a:pPr>
            <a:r>
              <a:rPr sz="1095" b="1">
                <a:solidFill>
                  <a:srgbClr val="003F6B"/>
                </a:solidFill>
              </a:rPr>
              <a:t>2. Anspruchsgrundlage</a:t>
            </a:r>
          </a:p>
        </p:txBody>
      </p:sp>
      <p:sp>
        <p:nvSpPr>
          <p:cNvPr id="11" name="">
            <a:extLst xmlns:a="http://schemas.openxmlformats.org/drawingml/2006/main">
              <a:ext uri="{FF2B5EF4-FFF2-40B4-BE49-F238E27FC236}">
                <a16:creationId xmlns:a16="http://schemas.microsoft.com/office/drawing/2014/main" id="{F9546D2F-B5AF-4EB7-BAAA-716680E7400D}"/>
              </a:ext>
            </a:extLst>
          </p:cNvPr>
          <p:cNvSpPr>
            <a:spLocks xmlns:a="http://schemas.openxmlformats.org/drawingml/2006/main" noGrp="1"/>
          </p:cNvSpPr>
          <p:nvPr/>
        </p:nvSpPr>
        <p:spPr>
          <a:xfrm xmlns:a="http://schemas.openxmlformats.org/drawingml/2006/main">
            <a:off x="3905250" y="2862263"/>
            <a:ext cx="2457450" cy="8048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98">
                <a:solidFill>
                  <a:srgbClr val="15232B"/>
                </a:solidFill>
              </a:defRPr>
            </a:pPr>
            <a:r>
              <a:rPr sz="998">
                <a:solidFill>
                  <a:srgbClr val="15232B"/>
                </a:solidFill>
              </a:rPr>
              <a:t>Vertraglich § 280 Abs. 1 BGB; deliktisch § 823 Abs. 1/2 BGB und Zurechnungsnormen.</a:t>
            </a:r>
          </a:p>
        </p:txBody>
      </p:sp>
      <p:sp>
        <p:nvSpPr>
          <p:cNvPr id="12" name="">
            <a:extLst xmlns:a="http://schemas.openxmlformats.org/drawingml/2006/main">
              <a:ext uri="{FF2B5EF4-FFF2-40B4-BE49-F238E27FC236}">
                <a16:creationId xmlns:a16="http://schemas.microsoft.com/office/drawing/2014/main" id="{35C13CAF-8006-4821-A25A-5A7D69E81595}"/>
              </a:ext>
            </a:extLst>
          </p:cNvPr>
          <p:cNvSpPr>
            <a:spLocks xmlns:a="http://schemas.openxmlformats.org/drawingml/2006/main" noGrp="1"/>
          </p:cNvSpPr>
          <p:nvPr/>
        </p:nvSpPr>
        <p:spPr>
          <a:xfrm xmlns:a="http://schemas.openxmlformats.org/drawingml/2006/main">
            <a:off x="1809750" y="3752850"/>
            <a:ext cx="400050" cy="823913"/>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3" name="">
            <a:extLst xmlns:a="http://schemas.openxmlformats.org/drawingml/2006/main">
              <a:ext uri="{FF2B5EF4-FFF2-40B4-BE49-F238E27FC236}">
                <a16:creationId xmlns:a16="http://schemas.microsoft.com/office/drawing/2014/main" id="{85558A2A-6CE1-4089-BBD2-AB919AD855D4}"/>
              </a:ext>
            </a:extLst>
          </p:cNvPr>
          <p:cNvSpPr>
            <a:spLocks xmlns:a="http://schemas.openxmlformats.org/drawingml/2006/main" noGrp="1"/>
          </p:cNvSpPr>
          <p:nvPr/>
        </p:nvSpPr>
        <p:spPr>
          <a:xfrm xmlns:a="http://schemas.openxmlformats.org/drawingml/2006/main">
            <a:off x="1809750" y="3752850"/>
            <a:ext cx="400050" cy="8239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4" name="">
            <a:extLst xmlns:a="http://schemas.openxmlformats.org/drawingml/2006/main">
              <a:ext uri="{FF2B5EF4-FFF2-40B4-BE49-F238E27FC236}">
                <a16:creationId xmlns:a16="http://schemas.microsoft.com/office/drawing/2014/main" id="{E3EF7BA6-4BE2-4A3C-9138-ED257F2BB6A1}"/>
              </a:ext>
            </a:extLst>
          </p:cNvPr>
          <p:cNvSpPr>
            <a:spLocks xmlns:a="http://schemas.openxmlformats.org/drawingml/2006/main" noGrp="1"/>
          </p:cNvSpPr>
          <p:nvPr/>
        </p:nvSpPr>
        <p:spPr>
          <a:xfrm xmlns:a="http://schemas.openxmlformats.org/drawingml/2006/main">
            <a:off x="2324100" y="3762375"/>
            <a:ext cx="1476375" cy="8048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95" b="1">
                <a:solidFill>
                  <a:srgbClr val="003F6B"/>
                </a:solidFill>
              </a:defRPr>
            </a:pPr>
            <a:r>
              <a:rPr sz="1095" b="1">
                <a:solidFill>
                  <a:srgbClr val="003F6B"/>
                </a:solidFill>
              </a:rPr>
              <a:t>3. Pflicht und Verletzung</a:t>
            </a:r>
          </a:p>
        </p:txBody>
      </p:sp>
      <p:sp>
        <p:nvSpPr>
          <p:cNvPr id="15" name="">
            <a:extLst xmlns:a="http://schemas.openxmlformats.org/drawingml/2006/main">
              <a:ext uri="{FF2B5EF4-FFF2-40B4-BE49-F238E27FC236}">
                <a16:creationId xmlns:a16="http://schemas.microsoft.com/office/drawing/2014/main" id="{06E924A4-E95F-4537-83CC-54F54D971864}"/>
              </a:ext>
            </a:extLst>
          </p:cNvPr>
          <p:cNvSpPr>
            <a:spLocks xmlns:a="http://schemas.openxmlformats.org/drawingml/2006/main" noGrp="1"/>
          </p:cNvSpPr>
          <p:nvPr/>
        </p:nvSpPr>
        <p:spPr>
          <a:xfrm xmlns:a="http://schemas.openxmlformats.org/drawingml/2006/main">
            <a:off x="3905250" y="3762375"/>
            <a:ext cx="2457450" cy="8048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98">
                <a:solidFill>
                  <a:srgbClr val="15232B"/>
                </a:solidFill>
              </a:defRPr>
            </a:pPr>
            <a:r>
              <a:rPr sz="998">
                <a:solidFill>
                  <a:srgbClr val="15232B"/>
                </a:solidFill>
              </a:rPr>
              <a:t>§§ 630a–630g BGB, fachlicher Standard, Organisation und konkrete Abweichung.</a:t>
            </a:r>
          </a:p>
        </p:txBody>
      </p:sp>
      <p:sp>
        <p:nvSpPr>
          <p:cNvPr id="16" name="">
            <a:extLst xmlns:a="http://schemas.openxmlformats.org/drawingml/2006/main">
              <a:ext uri="{FF2B5EF4-FFF2-40B4-BE49-F238E27FC236}">
                <a16:creationId xmlns:a16="http://schemas.microsoft.com/office/drawing/2014/main" id="{1A38A918-7593-449A-B916-1A9253DD40D0}"/>
              </a:ext>
            </a:extLst>
          </p:cNvPr>
          <p:cNvSpPr>
            <a:spLocks xmlns:a="http://schemas.openxmlformats.org/drawingml/2006/main" noGrp="1"/>
          </p:cNvSpPr>
          <p:nvPr/>
        </p:nvSpPr>
        <p:spPr>
          <a:xfrm xmlns:a="http://schemas.openxmlformats.org/drawingml/2006/main">
            <a:off x="1809750" y="4652963"/>
            <a:ext cx="400050" cy="823913"/>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7" name="">
            <a:extLst xmlns:a="http://schemas.openxmlformats.org/drawingml/2006/main">
              <a:ext uri="{FF2B5EF4-FFF2-40B4-BE49-F238E27FC236}">
                <a16:creationId xmlns:a16="http://schemas.microsoft.com/office/drawing/2014/main" id="{712E8F02-35C4-40F8-9852-E7757774E297}"/>
              </a:ext>
            </a:extLst>
          </p:cNvPr>
          <p:cNvSpPr>
            <a:spLocks xmlns:a="http://schemas.openxmlformats.org/drawingml/2006/main" noGrp="1"/>
          </p:cNvSpPr>
          <p:nvPr/>
        </p:nvSpPr>
        <p:spPr>
          <a:xfrm xmlns:a="http://schemas.openxmlformats.org/drawingml/2006/main">
            <a:off x="1809750" y="4652963"/>
            <a:ext cx="400050" cy="8239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18" name="">
            <a:extLst xmlns:a="http://schemas.openxmlformats.org/drawingml/2006/main">
              <a:ext uri="{FF2B5EF4-FFF2-40B4-BE49-F238E27FC236}">
                <a16:creationId xmlns:a16="http://schemas.microsoft.com/office/drawing/2014/main" id="{2F9917F9-C881-43A2-88CC-AC2798061B23}"/>
              </a:ext>
            </a:extLst>
          </p:cNvPr>
          <p:cNvSpPr>
            <a:spLocks xmlns:a="http://schemas.openxmlformats.org/drawingml/2006/main" noGrp="1"/>
          </p:cNvSpPr>
          <p:nvPr/>
        </p:nvSpPr>
        <p:spPr>
          <a:xfrm xmlns:a="http://schemas.openxmlformats.org/drawingml/2006/main">
            <a:off x="2324100" y="4662488"/>
            <a:ext cx="1476375" cy="8048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95" b="1">
                <a:solidFill>
                  <a:srgbClr val="003F6B"/>
                </a:solidFill>
              </a:defRPr>
            </a:pPr>
            <a:r>
              <a:rPr sz="1095" b="1">
                <a:solidFill>
                  <a:srgbClr val="003F6B"/>
                </a:solidFill>
              </a:rPr>
              <a:t>4. Rechtswidrigkeit/Verschulden</a:t>
            </a:r>
          </a:p>
        </p:txBody>
      </p:sp>
      <p:sp>
        <p:nvSpPr>
          <p:cNvPr id="19" name="">
            <a:extLst xmlns:a="http://schemas.openxmlformats.org/drawingml/2006/main">
              <a:ext uri="{FF2B5EF4-FFF2-40B4-BE49-F238E27FC236}">
                <a16:creationId xmlns:a16="http://schemas.microsoft.com/office/drawing/2014/main" id="{2ABC358D-1C34-49B1-A2A8-918FFCB1D378}"/>
              </a:ext>
            </a:extLst>
          </p:cNvPr>
          <p:cNvSpPr>
            <a:spLocks xmlns:a="http://schemas.openxmlformats.org/drawingml/2006/main" noGrp="1"/>
          </p:cNvSpPr>
          <p:nvPr/>
        </p:nvSpPr>
        <p:spPr>
          <a:xfrm xmlns:a="http://schemas.openxmlformats.org/drawingml/2006/main">
            <a:off x="3905250" y="4662488"/>
            <a:ext cx="2457450" cy="8048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98">
                <a:solidFill>
                  <a:srgbClr val="15232B"/>
                </a:solidFill>
              </a:defRPr>
            </a:pPr>
            <a:r>
              <a:rPr sz="998">
                <a:solidFill>
                  <a:srgbClr val="15232B"/>
                </a:solidFill>
              </a:rPr>
              <a:t>Einwilligung, Fahrlässigkeit und Zurechnung von Hilfspersonen prüfen.</a:t>
            </a:r>
          </a:p>
        </p:txBody>
      </p:sp>
      <p:sp>
        <p:nvSpPr>
          <p:cNvPr id="20" name="">
            <a:extLst xmlns:a="http://schemas.openxmlformats.org/drawingml/2006/main">
              <a:ext uri="{FF2B5EF4-FFF2-40B4-BE49-F238E27FC236}">
                <a16:creationId xmlns:a16="http://schemas.microsoft.com/office/drawing/2014/main" id="{BF38F285-D577-4F39-A8E4-A540144316F1}"/>
              </a:ext>
            </a:extLst>
          </p:cNvPr>
          <p:cNvSpPr>
            <a:spLocks xmlns:a="http://schemas.openxmlformats.org/drawingml/2006/main" noGrp="1"/>
          </p:cNvSpPr>
          <p:nvPr/>
        </p:nvSpPr>
        <p:spPr>
          <a:xfrm xmlns:a="http://schemas.openxmlformats.org/drawingml/2006/main">
            <a:off x="6705600" y="1952625"/>
            <a:ext cx="400050" cy="823913"/>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1" name="">
            <a:extLst xmlns:a="http://schemas.openxmlformats.org/drawingml/2006/main">
              <a:ext uri="{FF2B5EF4-FFF2-40B4-BE49-F238E27FC236}">
                <a16:creationId xmlns:a16="http://schemas.microsoft.com/office/drawing/2014/main" id="{98885D64-8007-43DF-A43E-34C9BA0DB703}"/>
              </a:ext>
            </a:extLst>
          </p:cNvPr>
          <p:cNvSpPr>
            <a:spLocks xmlns:a="http://schemas.openxmlformats.org/drawingml/2006/main" noGrp="1"/>
          </p:cNvSpPr>
          <p:nvPr/>
        </p:nvSpPr>
        <p:spPr>
          <a:xfrm xmlns:a="http://schemas.openxmlformats.org/drawingml/2006/main">
            <a:off x="6705600" y="1952625"/>
            <a:ext cx="400050" cy="8239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5</a:t>
            </a:r>
          </a:p>
        </p:txBody>
      </p:sp>
      <p:sp>
        <p:nvSpPr>
          <p:cNvPr id="22" name="">
            <a:extLst xmlns:a="http://schemas.openxmlformats.org/drawingml/2006/main">
              <a:ext uri="{FF2B5EF4-FFF2-40B4-BE49-F238E27FC236}">
                <a16:creationId xmlns:a16="http://schemas.microsoft.com/office/drawing/2014/main" id="{26B38E91-8C63-40E0-9A72-AE0160837978}"/>
              </a:ext>
            </a:extLst>
          </p:cNvPr>
          <p:cNvSpPr>
            <a:spLocks xmlns:a="http://schemas.openxmlformats.org/drawingml/2006/main" noGrp="1"/>
          </p:cNvSpPr>
          <p:nvPr/>
        </p:nvSpPr>
        <p:spPr>
          <a:xfrm xmlns:a="http://schemas.openxmlformats.org/drawingml/2006/main">
            <a:off x="7219950" y="1962150"/>
            <a:ext cx="1476375" cy="8048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95" b="1">
                <a:solidFill>
                  <a:srgbClr val="003F6B"/>
                </a:solidFill>
              </a:defRPr>
            </a:pPr>
            <a:r>
              <a:rPr sz="1095" b="1">
                <a:solidFill>
                  <a:srgbClr val="003F6B"/>
                </a:solidFill>
              </a:rPr>
              <a:t>5. Schaden und Kausalität</a:t>
            </a:r>
          </a:p>
        </p:txBody>
      </p:sp>
      <p:sp>
        <p:nvSpPr>
          <p:cNvPr id="23" name="">
            <a:extLst xmlns:a="http://schemas.openxmlformats.org/drawingml/2006/main">
              <a:ext uri="{FF2B5EF4-FFF2-40B4-BE49-F238E27FC236}">
                <a16:creationId xmlns:a16="http://schemas.microsoft.com/office/drawing/2014/main" id="{476ED660-3837-4E74-A6CB-1D7346F65E56}"/>
              </a:ext>
            </a:extLst>
          </p:cNvPr>
          <p:cNvSpPr>
            <a:spLocks xmlns:a="http://schemas.openxmlformats.org/drawingml/2006/main" noGrp="1"/>
          </p:cNvSpPr>
          <p:nvPr/>
        </p:nvSpPr>
        <p:spPr>
          <a:xfrm xmlns:a="http://schemas.openxmlformats.org/drawingml/2006/main">
            <a:off x="8801100" y="1962150"/>
            <a:ext cx="2457450" cy="8048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98">
                <a:solidFill>
                  <a:srgbClr val="15232B"/>
                </a:solidFill>
              </a:defRPr>
            </a:pPr>
            <a:r>
              <a:rPr sz="998">
                <a:solidFill>
                  <a:srgbClr val="15232B"/>
                </a:solidFill>
              </a:rPr>
              <a:t>Primärverletzung, Einzelschäden, Alternativverlauf und Schutzzweck.</a:t>
            </a:r>
          </a:p>
        </p:txBody>
      </p:sp>
      <p:sp>
        <p:nvSpPr>
          <p:cNvPr id="24" name="">
            <a:extLst xmlns:a="http://schemas.openxmlformats.org/drawingml/2006/main">
              <a:ext uri="{FF2B5EF4-FFF2-40B4-BE49-F238E27FC236}">
                <a16:creationId xmlns:a16="http://schemas.microsoft.com/office/drawing/2014/main" id="{7850E7C4-F91A-460E-A7D9-E534BBDDF227}"/>
              </a:ext>
            </a:extLst>
          </p:cNvPr>
          <p:cNvSpPr>
            <a:spLocks xmlns:a="http://schemas.openxmlformats.org/drawingml/2006/main" noGrp="1"/>
          </p:cNvSpPr>
          <p:nvPr/>
        </p:nvSpPr>
        <p:spPr>
          <a:xfrm xmlns:a="http://schemas.openxmlformats.org/drawingml/2006/main">
            <a:off x="6705600" y="2852738"/>
            <a:ext cx="400050" cy="823913"/>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25" name="">
            <a:extLst xmlns:a="http://schemas.openxmlformats.org/drawingml/2006/main">
              <a:ext uri="{FF2B5EF4-FFF2-40B4-BE49-F238E27FC236}">
                <a16:creationId xmlns:a16="http://schemas.microsoft.com/office/drawing/2014/main" id="{B09C8829-4488-4934-8DEB-BDCA728D9480}"/>
              </a:ext>
            </a:extLst>
          </p:cNvPr>
          <p:cNvSpPr>
            <a:spLocks xmlns:a="http://schemas.openxmlformats.org/drawingml/2006/main" noGrp="1"/>
          </p:cNvSpPr>
          <p:nvPr/>
        </p:nvSpPr>
        <p:spPr>
          <a:xfrm xmlns:a="http://schemas.openxmlformats.org/drawingml/2006/main">
            <a:off x="6705600" y="2852738"/>
            <a:ext cx="400050" cy="8239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6</a:t>
            </a:r>
          </a:p>
        </p:txBody>
      </p:sp>
      <p:sp>
        <p:nvSpPr>
          <p:cNvPr id="26" name="">
            <a:extLst xmlns:a="http://schemas.openxmlformats.org/drawingml/2006/main">
              <a:ext uri="{FF2B5EF4-FFF2-40B4-BE49-F238E27FC236}">
                <a16:creationId xmlns:a16="http://schemas.microsoft.com/office/drawing/2014/main" id="{E5392077-1E09-4B2E-B0B9-16409FED8B61}"/>
              </a:ext>
            </a:extLst>
          </p:cNvPr>
          <p:cNvSpPr>
            <a:spLocks xmlns:a="http://schemas.openxmlformats.org/drawingml/2006/main" noGrp="1"/>
          </p:cNvSpPr>
          <p:nvPr/>
        </p:nvSpPr>
        <p:spPr>
          <a:xfrm xmlns:a="http://schemas.openxmlformats.org/drawingml/2006/main">
            <a:off x="7219950" y="2862263"/>
            <a:ext cx="1476375" cy="8048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95" b="1">
                <a:solidFill>
                  <a:srgbClr val="003F6B"/>
                </a:solidFill>
              </a:defRPr>
            </a:pPr>
            <a:r>
              <a:rPr sz="1095" b="1">
                <a:solidFill>
                  <a:srgbClr val="003F6B"/>
                </a:solidFill>
              </a:rPr>
              <a:t>6. Beweis</a:t>
            </a:r>
          </a:p>
        </p:txBody>
      </p:sp>
      <p:sp>
        <p:nvSpPr>
          <p:cNvPr id="27" name="">
            <a:extLst xmlns:a="http://schemas.openxmlformats.org/drawingml/2006/main">
              <a:ext uri="{FF2B5EF4-FFF2-40B4-BE49-F238E27FC236}">
                <a16:creationId xmlns:a16="http://schemas.microsoft.com/office/drawing/2014/main" id="{D77ABE7F-3091-4A5D-A3BD-27692027F933}"/>
              </a:ext>
            </a:extLst>
          </p:cNvPr>
          <p:cNvSpPr>
            <a:spLocks xmlns:a="http://schemas.openxmlformats.org/drawingml/2006/main" noGrp="1"/>
          </p:cNvSpPr>
          <p:nvPr/>
        </p:nvSpPr>
        <p:spPr>
          <a:xfrm xmlns:a="http://schemas.openxmlformats.org/drawingml/2006/main">
            <a:off x="8801100" y="2862263"/>
            <a:ext cx="2457450" cy="8048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98">
                <a:solidFill>
                  <a:srgbClr val="15232B"/>
                </a:solidFill>
              </a:defRPr>
            </a:pPr>
            <a:r>
              <a:rPr sz="998">
                <a:solidFill>
                  <a:srgbClr val="15232B"/>
                </a:solidFill>
              </a:rPr>
              <a:t>Darlegung, Beweislast, § 630h BGB, Beweismittel und Beweismaß.</a:t>
            </a:r>
          </a:p>
        </p:txBody>
      </p:sp>
      <p:sp>
        <p:nvSpPr>
          <p:cNvPr id="28" name="">
            <a:extLst xmlns:a="http://schemas.openxmlformats.org/drawingml/2006/main">
              <a:ext uri="{FF2B5EF4-FFF2-40B4-BE49-F238E27FC236}">
                <a16:creationId xmlns:a16="http://schemas.microsoft.com/office/drawing/2014/main" id="{8C696AF0-BE6B-4D0C-8011-B5F7CE362D16}"/>
              </a:ext>
            </a:extLst>
          </p:cNvPr>
          <p:cNvSpPr>
            <a:spLocks xmlns:a="http://schemas.openxmlformats.org/drawingml/2006/main" noGrp="1"/>
          </p:cNvSpPr>
          <p:nvPr/>
        </p:nvSpPr>
        <p:spPr>
          <a:xfrm xmlns:a="http://schemas.openxmlformats.org/drawingml/2006/main">
            <a:off x="6705600" y="3752850"/>
            <a:ext cx="400050" cy="823913"/>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9" name="">
            <a:extLst xmlns:a="http://schemas.openxmlformats.org/drawingml/2006/main">
              <a:ext uri="{FF2B5EF4-FFF2-40B4-BE49-F238E27FC236}">
                <a16:creationId xmlns:a16="http://schemas.microsoft.com/office/drawing/2014/main" id="{935D6D55-3AD1-4BE9-84BB-BD9A100DC883}"/>
              </a:ext>
            </a:extLst>
          </p:cNvPr>
          <p:cNvSpPr>
            <a:spLocks xmlns:a="http://schemas.openxmlformats.org/drawingml/2006/main" noGrp="1"/>
          </p:cNvSpPr>
          <p:nvPr/>
        </p:nvSpPr>
        <p:spPr>
          <a:xfrm xmlns:a="http://schemas.openxmlformats.org/drawingml/2006/main">
            <a:off x="6705600" y="3752850"/>
            <a:ext cx="400050" cy="8239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7</a:t>
            </a:r>
          </a:p>
        </p:txBody>
      </p:sp>
      <p:sp>
        <p:nvSpPr>
          <p:cNvPr id="30" name="">
            <a:extLst xmlns:a="http://schemas.openxmlformats.org/drawingml/2006/main">
              <a:ext uri="{FF2B5EF4-FFF2-40B4-BE49-F238E27FC236}">
                <a16:creationId xmlns:a16="http://schemas.microsoft.com/office/drawing/2014/main" id="{F215A922-A6B1-432B-9C3B-FB902087165D}"/>
              </a:ext>
            </a:extLst>
          </p:cNvPr>
          <p:cNvSpPr>
            <a:spLocks xmlns:a="http://schemas.openxmlformats.org/drawingml/2006/main" noGrp="1"/>
          </p:cNvSpPr>
          <p:nvPr/>
        </p:nvSpPr>
        <p:spPr>
          <a:xfrm xmlns:a="http://schemas.openxmlformats.org/drawingml/2006/main">
            <a:off x="7219950" y="3762375"/>
            <a:ext cx="1476375" cy="8048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95" b="1">
                <a:solidFill>
                  <a:srgbClr val="003F6B"/>
                </a:solidFill>
              </a:defRPr>
            </a:pPr>
            <a:r>
              <a:rPr sz="1095" b="1">
                <a:solidFill>
                  <a:srgbClr val="003F6B"/>
                </a:solidFill>
              </a:rPr>
              <a:t>7. Durchsetzung</a:t>
            </a:r>
          </a:p>
        </p:txBody>
      </p:sp>
      <p:sp>
        <p:nvSpPr>
          <p:cNvPr id="31" name="">
            <a:extLst xmlns:a="http://schemas.openxmlformats.org/drawingml/2006/main">
              <a:ext uri="{FF2B5EF4-FFF2-40B4-BE49-F238E27FC236}">
                <a16:creationId xmlns:a16="http://schemas.microsoft.com/office/drawing/2014/main" id="{4DA3DFD2-2BD0-4A45-9C9E-564CE0A4C2FD}"/>
              </a:ext>
            </a:extLst>
          </p:cNvPr>
          <p:cNvSpPr>
            <a:spLocks xmlns:a="http://schemas.openxmlformats.org/drawingml/2006/main" noGrp="1"/>
          </p:cNvSpPr>
          <p:nvPr/>
        </p:nvSpPr>
        <p:spPr>
          <a:xfrm xmlns:a="http://schemas.openxmlformats.org/drawingml/2006/main">
            <a:off x="8801100" y="3762375"/>
            <a:ext cx="2457450" cy="8048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98">
                <a:solidFill>
                  <a:srgbClr val="15232B"/>
                </a:solidFill>
              </a:defRPr>
            </a:pPr>
            <a:r>
              <a:rPr sz="998">
                <a:solidFill>
                  <a:srgbClr val="15232B"/>
                </a:solidFill>
              </a:rPr>
              <a:t>Verjährung, außergerichtlicher Weg, Klageantrag, Kosten, Urteil und Vollstreckung.</a:t>
            </a:r>
          </a:p>
        </p:txBody>
      </p:sp>
      <p:sp>
        <p:nvSpPr>
          <p:cNvPr id="32" name="">
            <a:extLst xmlns:a="http://schemas.openxmlformats.org/drawingml/2006/main">
              <a:ext uri="{FF2B5EF4-FFF2-40B4-BE49-F238E27FC236}">
                <a16:creationId xmlns:a16="http://schemas.microsoft.com/office/drawing/2014/main" id="{2BB6724C-CA12-4482-9E9B-E3E7DFAA66E7}"/>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33" name="">
            <a:extLst xmlns:a="http://schemas.openxmlformats.org/drawingml/2006/main">
              <a:ext uri="{FF2B5EF4-FFF2-40B4-BE49-F238E27FC236}">
                <a16:creationId xmlns:a16="http://schemas.microsoft.com/office/drawing/2014/main" id="{A01D5066-44FE-4EFE-924E-DDC927CDCEC6}"/>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Das Schema verbindet materielles Recht mit dem Weg zum realisierbaren Ergebnis.</a:t>
            </a:r>
          </a:p>
        </p:txBody>
      </p:sp>
    </p:spTree>
    <p:extLst>
      <p:ext uri="{BB962C8B-B14F-4D97-AF65-F5344CB8AC3E}">
        <p14:creationId xmlns:p14="http://schemas.microsoft.com/office/powerpoint/2010/main" val="43637646"/>
      </p:ext>
    </p:extLst>
  </p:cSld>
</p:sld>
</file>

<file path=ppt/slides/slide393.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Komplettes Strafrechtsschema</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PRÜFUNGSSCHEMA · MASTER</a:t>
            </a:r>
            <a:endParaRPr/>
          </a:p>
        </p:txBody>
      </p:sp>
      <p:sp>
        <p:nvSpPr>
          <p:cNvPr id="4" name="">
            <a:extLst xmlns:a="http://schemas.openxmlformats.org/drawingml/2006/main">
              <a:ext uri="{FF2B5EF4-FFF2-40B4-BE49-F238E27FC236}">
                <a16:creationId xmlns:a16="http://schemas.microsoft.com/office/drawing/2014/main" id="{65B49066-9B89-4F5E-A643-1BE996F803B1}"/>
              </a:ext>
            </a:extLst>
          </p:cNvPr>
          <p:cNvSpPr>
            <a:spLocks xmlns:a="http://schemas.openxmlformats.org/drawingml/2006/main" noGrp="1"/>
          </p:cNvSpPr>
          <p:nvPr/>
        </p:nvSpPr>
        <p:spPr>
          <a:xfrm xmlns:a="http://schemas.openxmlformats.org/drawingml/2006/main">
            <a:off x="1809750" y="195262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FC208A72-8FC9-4033-8FBA-6E26B9D2349F}"/>
              </a:ext>
            </a:extLst>
          </p:cNvPr>
          <p:cNvSpPr>
            <a:spLocks xmlns:a="http://schemas.openxmlformats.org/drawingml/2006/main" noGrp="1"/>
          </p:cNvSpPr>
          <p:nvPr/>
        </p:nvSpPr>
        <p:spPr>
          <a:xfrm xmlns:a="http://schemas.openxmlformats.org/drawingml/2006/main">
            <a:off x="1809750" y="19526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6" name="">
            <a:extLst xmlns:a="http://schemas.openxmlformats.org/drawingml/2006/main">
              <a:ext uri="{FF2B5EF4-FFF2-40B4-BE49-F238E27FC236}">
                <a16:creationId xmlns:a16="http://schemas.microsoft.com/office/drawing/2014/main" id="{8942B5D6-416A-4275-924B-4190E88EFB7A}"/>
              </a:ext>
            </a:extLst>
          </p:cNvPr>
          <p:cNvSpPr>
            <a:spLocks xmlns:a="http://schemas.openxmlformats.org/drawingml/2006/main" noGrp="1"/>
          </p:cNvSpPr>
          <p:nvPr/>
        </p:nvSpPr>
        <p:spPr>
          <a:xfrm xmlns:a="http://schemas.openxmlformats.org/drawingml/2006/main">
            <a:off x="2324100" y="196215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1. Delikt auswählen</a:t>
            </a:r>
          </a:p>
        </p:txBody>
      </p:sp>
      <p:sp>
        <p:nvSpPr>
          <p:cNvPr id="7" name="">
            <a:extLst xmlns:a="http://schemas.openxmlformats.org/drawingml/2006/main">
              <a:ext uri="{FF2B5EF4-FFF2-40B4-BE49-F238E27FC236}">
                <a16:creationId xmlns:a16="http://schemas.microsoft.com/office/drawing/2014/main" id="{5E7B9F0D-2104-46CC-A458-DC53F4FC7DFA}"/>
              </a:ext>
            </a:extLst>
          </p:cNvPr>
          <p:cNvSpPr>
            <a:spLocks xmlns:a="http://schemas.openxmlformats.org/drawingml/2006/main" noGrp="1"/>
          </p:cNvSpPr>
          <p:nvPr/>
        </p:nvSpPr>
        <p:spPr>
          <a:xfrm xmlns:a="http://schemas.openxmlformats.org/drawingml/2006/main">
            <a:off x="4819650" y="196215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 223, 229, 222, 13, 203 oder 323c StGB sachverhaltsbezogen prüfen.</a:t>
            </a:r>
          </a:p>
        </p:txBody>
      </p:sp>
      <p:sp>
        <p:nvSpPr>
          <p:cNvPr id="8" name="">
            <a:extLst xmlns:a="http://schemas.openxmlformats.org/drawingml/2006/main">
              <a:ext uri="{FF2B5EF4-FFF2-40B4-BE49-F238E27FC236}">
                <a16:creationId xmlns:a16="http://schemas.microsoft.com/office/drawing/2014/main" id="{1C5E0DD3-299B-4B2E-8412-57E0CADA5829}"/>
              </a:ext>
            </a:extLst>
          </p:cNvPr>
          <p:cNvSpPr>
            <a:spLocks xmlns:a="http://schemas.openxmlformats.org/drawingml/2006/main" noGrp="1"/>
          </p:cNvSpPr>
          <p:nvPr/>
        </p:nvSpPr>
        <p:spPr>
          <a:xfrm xmlns:a="http://schemas.openxmlformats.org/drawingml/2006/main">
            <a:off x="1809750" y="255270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9" name="">
            <a:extLst xmlns:a="http://schemas.openxmlformats.org/drawingml/2006/main">
              <a:ext uri="{FF2B5EF4-FFF2-40B4-BE49-F238E27FC236}">
                <a16:creationId xmlns:a16="http://schemas.microsoft.com/office/drawing/2014/main" id="{18382EAE-DB07-4D7E-A2B8-60E00378A1E7}"/>
              </a:ext>
            </a:extLst>
          </p:cNvPr>
          <p:cNvSpPr>
            <a:spLocks xmlns:a="http://schemas.openxmlformats.org/drawingml/2006/main" noGrp="1"/>
          </p:cNvSpPr>
          <p:nvPr/>
        </p:nvSpPr>
        <p:spPr>
          <a:xfrm xmlns:a="http://schemas.openxmlformats.org/drawingml/2006/main">
            <a:off x="1809750" y="255270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0" name="">
            <a:extLst xmlns:a="http://schemas.openxmlformats.org/drawingml/2006/main">
              <a:ext uri="{FF2B5EF4-FFF2-40B4-BE49-F238E27FC236}">
                <a16:creationId xmlns:a16="http://schemas.microsoft.com/office/drawing/2014/main" id="{A6DBF75C-1C4F-49E4-91C8-0D344B0C55D4}"/>
              </a:ext>
            </a:extLst>
          </p:cNvPr>
          <p:cNvSpPr>
            <a:spLocks xmlns:a="http://schemas.openxmlformats.org/drawingml/2006/main" noGrp="1"/>
          </p:cNvSpPr>
          <p:nvPr/>
        </p:nvSpPr>
        <p:spPr>
          <a:xfrm xmlns:a="http://schemas.openxmlformats.org/drawingml/2006/main">
            <a:off x="2324100" y="256222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2. Objektiver Tatbestand</a:t>
            </a:r>
          </a:p>
        </p:txBody>
      </p:sp>
      <p:sp>
        <p:nvSpPr>
          <p:cNvPr id="11" name="">
            <a:extLst xmlns:a="http://schemas.openxmlformats.org/drawingml/2006/main">
              <a:ext uri="{FF2B5EF4-FFF2-40B4-BE49-F238E27FC236}">
                <a16:creationId xmlns:a16="http://schemas.microsoft.com/office/drawing/2014/main" id="{36FF1F32-8873-4721-80BE-23B1E66FC884}"/>
              </a:ext>
            </a:extLst>
          </p:cNvPr>
          <p:cNvSpPr>
            <a:spLocks xmlns:a="http://schemas.openxmlformats.org/drawingml/2006/main" noGrp="1"/>
          </p:cNvSpPr>
          <p:nvPr/>
        </p:nvSpPr>
        <p:spPr>
          <a:xfrm xmlns:a="http://schemas.openxmlformats.org/drawingml/2006/main">
            <a:off x="4819650" y="256222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Verhalten, Erfolg, Kausalität, Zurechnung und besondere Pflichten.</a:t>
            </a:r>
          </a:p>
        </p:txBody>
      </p:sp>
      <p:sp>
        <p:nvSpPr>
          <p:cNvPr id="12" name="">
            <a:extLst xmlns:a="http://schemas.openxmlformats.org/drawingml/2006/main">
              <a:ext uri="{FF2B5EF4-FFF2-40B4-BE49-F238E27FC236}">
                <a16:creationId xmlns:a16="http://schemas.microsoft.com/office/drawing/2014/main" id="{97491C09-0D87-47D0-A89A-229FE81B9818}"/>
              </a:ext>
            </a:extLst>
          </p:cNvPr>
          <p:cNvSpPr>
            <a:spLocks xmlns:a="http://schemas.openxmlformats.org/drawingml/2006/main" noGrp="1"/>
          </p:cNvSpPr>
          <p:nvPr/>
        </p:nvSpPr>
        <p:spPr>
          <a:xfrm xmlns:a="http://schemas.openxmlformats.org/drawingml/2006/main">
            <a:off x="1809750" y="315277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3" name="">
            <a:extLst xmlns:a="http://schemas.openxmlformats.org/drawingml/2006/main">
              <a:ext uri="{FF2B5EF4-FFF2-40B4-BE49-F238E27FC236}">
                <a16:creationId xmlns:a16="http://schemas.microsoft.com/office/drawing/2014/main" id="{79EBF52E-1636-4FF2-8A21-53643514689F}"/>
              </a:ext>
            </a:extLst>
          </p:cNvPr>
          <p:cNvSpPr>
            <a:spLocks xmlns:a="http://schemas.openxmlformats.org/drawingml/2006/main" noGrp="1"/>
          </p:cNvSpPr>
          <p:nvPr/>
        </p:nvSpPr>
        <p:spPr>
          <a:xfrm xmlns:a="http://schemas.openxmlformats.org/drawingml/2006/main">
            <a:off x="1809750" y="315277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4" name="">
            <a:extLst xmlns:a="http://schemas.openxmlformats.org/drawingml/2006/main">
              <a:ext uri="{FF2B5EF4-FFF2-40B4-BE49-F238E27FC236}">
                <a16:creationId xmlns:a16="http://schemas.microsoft.com/office/drawing/2014/main" id="{277C29F6-0C81-4751-9273-55A8FA915BC4}"/>
              </a:ext>
            </a:extLst>
          </p:cNvPr>
          <p:cNvSpPr>
            <a:spLocks xmlns:a="http://schemas.openxmlformats.org/drawingml/2006/main" noGrp="1"/>
          </p:cNvSpPr>
          <p:nvPr/>
        </p:nvSpPr>
        <p:spPr>
          <a:xfrm xmlns:a="http://schemas.openxmlformats.org/drawingml/2006/main">
            <a:off x="2324100" y="316230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3. Subjektiver Tatbestand</a:t>
            </a:r>
          </a:p>
        </p:txBody>
      </p:sp>
      <p:sp>
        <p:nvSpPr>
          <p:cNvPr id="15" name="">
            <a:extLst xmlns:a="http://schemas.openxmlformats.org/drawingml/2006/main">
              <a:ext uri="{FF2B5EF4-FFF2-40B4-BE49-F238E27FC236}">
                <a16:creationId xmlns:a16="http://schemas.microsoft.com/office/drawing/2014/main" id="{14907F7B-AE9A-44A5-AF97-3018FDB06806}"/>
              </a:ext>
            </a:extLst>
          </p:cNvPr>
          <p:cNvSpPr>
            <a:spLocks xmlns:a="http://schemas.openxmlformats.org/drawingml/2006/main" noGrp="1"/>
          </p:cNvSpPr>
          <p:nvPr/>
        </p:nvSpPr>
        <p:spPr>
          <a:xfrm xmlns:a="http://schemas.openxmlformats.org/drawingml/2006/main">
            <a:off x="4819650" y="316230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Vorsatz oder bei Fahrlässigkeit individuelle Erkennbarkeit und Vermeidbarkeit.</a:t>
            </a:r>
          </a:p>
        </p:txBody>
      </p:sp>
      <p:sp>
        <p:nvSpPr>
          <p:cNvPr id="16" name="">
            <a:extLst xmlns:a="http://schemas.openxmlformats.org/drawingml/2006/main">
              <a:ext uri="{FF2B5EF4-FFF2-40B4-BE49-F238E27FC236}">
                <a16:creationId xmlns:a16="http://schemas.microsoft.com/office/drawing/2014/main" id="{383A85B8-9E4F-4EB4-9CC2-02F07DB7696D}"/>
              </a:ext>
            </a:extLst>
          </p:cNvPr>
          <p:cNvSpPr>
            <a:spLocks xmlns:a="http://schemas.openxmlformats.org/drawingml/2006/main" noGrp="1"/>
          </p:cNvSpPr>
          <p:nvPr/>
        </p:nvSpPr>
        <p:spPr>
          <a:xfrm xmlns:a="http://schemas.openxmlformats.org/drawingml/2006/main">
            <a:off x="1809750" y="375285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7" name="">
            <a:extLst xmlns:a="http://schemas.openxmlformats.org/drawingml/2006/main">
              <a:ext uri="{FF2B5EF4-FFF2-40B4-BE49-F238E27FC236}">
                <a16:creationId xmlns:a16="http://schemas.microsoft.com/office/drawing/2014/main" id="{0AE7BB2E-0049-4C40-A85B-09EDFB9364BE}"/>
              </a:ext>
            </a:extLst>
          </p:cNvPr>
          <p:cNvSpPr>
            <a:spLocks xmlns:a="http://schemas.openxmlformats.org/drawingml/2006/main" noGrp="1"/>
          </p:cNvSpPr>
          <p:nvPr/>
        </p:nvSpPr>
        <p:spPr>
          <a:xfrm xmlns:a="http://schemas.openxmlformats.org/drawingml/2006/main">
            <a:off x="1809750" y="375285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18" name="">
            <a:extLst xmlns:a="http://schemas.openxmlformats.org/drawingml/2006/main">
              <a:ext uri="{FF2B5EF4-FFF2-40B4-BE49-F238E27FC236}">
                <a16:creationId xmlns:a16="http://schemas.microsoft.com/office/drawing/2014/main" id="{6A58D948-14C5-49E5-98C0-5C7D55F366AE}"/>
              </a:ext>
            </a:extLst>
          </p:cNvPr>
          <p:cNvSpPr>
            <a:spLocks xmlns:a="http://schemas.openxmlformats.org/drawingml/2006/main" noGrp="1"/>
          </p:cNvSpPr>
          <p:nvPr/>
        </p:nvSpPr>
        <p:spPr>
          <a:xfrm xmlns:a="http://schemas.openxmlformats.org/drawingml/2006/main">
            <a:off x="2324100" y="376237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4. Rechtswidrigkeit</a:t>
            </a:r>
          </a:p>
        </p:txBody>
      </p:sp>
      <p:sp>
        <p:nvSpPr>
          <p:cNvPr id="19" name="">
            <a:extLst xmlns:a="http://schemas.openxmlformats.org/drawingml/2006/main">
              <a:ext uri="{FF2B5EF4-FFF2-40B4-BE49-F238E27FC236}">
                <a16:creationId xmlns:a16="http://schemas.microsoft.com/office/drawing/2014/main" id="{4A57C887-C96E-444A-B5D3-8D0E5D05E0D4}"/>
              </a:ext>
            </a:extLst>
          </p:cNvPr>
          <p:cNvSpPr>
            <a:spLocks xmlns:a="http://schemas.openxmlformats.org/drawingml/2006/main" noGrp="1"/>
          </p:cNvSpPr>
          <p:nvPr/>
        </p:nvSpPr>
        <p:spPr>
          <a:xfrm xmlns:a="http://schemas.openxmlformats.org/drawingml/2006/main">
            <a:off x="4819650" y="376237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Einwilligung, mutmaßliche Einwilligung, Notstand und Reichweite.</a:t>
            </a:r>
          </a:p>
        </p:txBody>
      </p:sp>
      <p:sp>
        <p:nvSpPr>
          <p:cNvPr id="20" name="">
            <a:extLst xmlns:a="http://schemas.openxmlformats.org/drawingml/2006/main">
              <a:ext uri="{FF2B5EF4-FFF2-40B4-BE49-F238E27FC236}">
                <a16:creationId xmlns:a16="http://schemas.microsoft.com/office/drawing/2014/main" id="{9CDB6113-37F4-4D4B-A27F-BA2ADE07E81A}"/>
              </a:ext>
            </a:extLst>
          </p:cNvPr>
          <p:cNvSpPr>
            <a:spLocks xmlns:a="http://schemas.openxmlformats.org/drawingml/2006/main" noGrp="1"/>
          </p:cNvSpPr>
          <p:nvPr/>
        </p:nvSpPr>
        <p:spPr>
          <a:xfrm xmlns:a="http://schemas.openxmlformats.org/drawingml/2006/main">
            <a:off x="1809750" y="435292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1" name="">
            <a:extLst xmlns:a="http://schemas.openxmlformats.org/drawingml/2006/main">
              <a:ext uri="{FF2B5EF4-FFF2-40B4-BE49-F238E27FC236}">
                <a16:creationId xmlns:a16="http://schemas.microsoft.com/office/drawing/2014/main" id="{CB7CF4CC-F9C5-4E6C-92D1-329B3BDFD14B}"/>
              </a:ext>
            </a:extLst>
          </p:cNvPr>
          <p:cNvSpPr>
            <a:spLocks xmlns:a="http://schemas.openxmlformats.org/drawingml/2006/main" noGrp="1"/>
          </p:cNvSpPr>
          <p:nvPr/>
        </p:nvSpPr>
        <p:spPr>
          <a:xfrm xmlns:a="http://schemas.openxmlformats.org/drawingml/2006/main">
            <a:off x="1809750" y="43529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5</a:t>
            </a:r>
          </a:p>
        </p:txBody>
      </p:sp>
      <p:sp>
        <p:nvSpPr>
          <p:cNvPr id="22" name="">
            <a:extLst xmlns:a="http://schemas.openxmlformats.org/drawingml/2006/main">
              <a:ext uri="{FF2B5EF4-FFF2-40B4-BE49-F238E27FC236}">
                <a16:creationId xmlns:a16="http://schemas.microsoft.com/office/drawing/2014/main" id="{FC86C61B-FCD6-47AA-8354-5D65509849EA}"/>
              </a:ext>
            </a:extLst>
          </p:cNvPr>
          <p:cNvSpPr>
            <a:spLocks xmlns:a="http://schemas.openxmlformats.org/drawingml/2006/main" noGrp="1"/>
          </p:cNvSpPr>
          <p:nvPr/>
        </p:nvSpPr>
        <p:spPr>
          <a:xfrm xmlns:a="http://schemas.openxmlformats.org/drawingml/2006/main">
            <a:off x="2324100" y="436245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5. Schuld</a:t>
            </a:r>
          </a:p>
        </p:txBody>
      </p:sp>
      <p:sp>
        <p:nvSpPr>
          <p:cNvPr id="23" name="">
            <a:extLst xmlns:a="http://schemas.openxmlformats.org/drawingml/2006/main">
              <a:ext uri="{FF2B5EF4-FFF2-40B4-BE49-F238E27FC236}">
                <a16:creationId xmlns:a16="http://schemas.microsoft.com/office/drawing/2014/main" id="{D8F9B880-A760-4888-A730-0CF155405590}"/>
              </a:ext>
            </a:extLst>
          </p:cNvPr>
          <p:cNvSpPr>
            <a:spLocks xmlns:a="http://schemas.openxmlformats.org/drawingml/2006/main" noGrp="1"/>
          </p:cNvSpPr>
          <p:nvPr/>
        </p:nvSpPr>
        <p:spPr>
          <a:xfrm xmlns:a="http://schemas.openxmlformats.org/drawingml/2006/main">
            <a:off x="4819650" y="436245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Persönliche Fähigkeiten, Zumutbarkeit, Irrtümer und Entschuldigungsgründe.</a:t>
            </a:r>
          </a:p>
        </p:txBody>
      </p:sp>
      <p:sp>
        <p:nvSpPr>
          <p:cNvPr id="24" name="">
            <a:extLst xmlns:a="http://schemas.openxmlformats.org/drawingml/2006/main">
              <a:ext uri="{FF2B5EF4-FFF2-40B4-BE49-F238E27FC236}">
                <a16:creationId xmlns:a16="http://schemas.microsoft.com/office/drawing/2014/main" id="{228AC536-9FB9-40EC-8816-F9C716B4A56A}"/>
              </a:ext>
            </a:extLst>
          </p:cNvPr>
          <p:cNvSpPr>
            <a:spLocks xmlns:a="http://schemas.openxmlformats.org/drawingml/2006/main" noGrp="1"/>
          </p:cNvSpPr>
          <p:nvPr/>
        </p:nvSpPr>
        <p:spPr>
          <a:xfrm xmlns:a="http://schemas.openxmlformats.org/drawingml/2006/main">
            <a:off x="1809750" y="495300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25" name="">
            <a:extLst xmlns:a="http://schemas.openxmlformats.org/drawingml/2006/main">
              <a:ext uri="{FF2B5EF4-FFF2-40B4-BE49-F238E27FC236}">
                <a16:creationId xmlns:a16="http://schemas.microsoft.com/office/drawing/2014/main" id="{D00DC7F0-11D8-4589-B5D5-C6E149ABEFB6}"/>
              </a:ext>
            </a:extLst>
          </p:cNvPr>
          <p:cNvSpPr>
            <a:spLocks xmlns:a="http://schemas.openxmlformats.org/drawingml/2006/main" noGrp="1"/>
          </p:cNvSpPr>
          <p:nvPr/>
        </p:nvSpPr>
        <p:spPr>
          <a:xfrm xmlns:a="http://schemas.openxmlformats.org/drawingml/2006/main">
            <a:off x="1809750" y="495300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6</a:t>
            </a:r>
          </a:p>
        </p:txBody>
      </p:sp>
      <p:sp>
        <p:nvSpPr>
          <p:cNvPr id="26" name="">
            <a:extLst xmlns:a="http://schemas.openxmlformats.org/drawingml/2006/main">
              <a:ext uri="{FF2B5EF4-FFF2-40B4-BE49-F238E27FC236}">
                <a16:creationId xmlns:a16="http://schemas.microsoft.com/office/drawing/2014/main" id="{A70389F6-4FA3-424F-AB16-A834014562FA}"/>
              </a:ext>
            </a:extLst>
          </p:cNvPr>
          <p:cNvSpPr>
            <a:spLocks xmlns:a="http://schemas.openxmlformats.org/drawingml/2006/main" noGrp="1"/>
          </p:cNvSpPr>
          <p:nvPr/>
        </p:nvSpPr>
        <p:spPr>
          <a:xfrm xmlns:a="http://schemas.openxmlformats.org/drawingml/2006/main">
            <a:off x="2324100" y="496252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6. Verfahren</a:t>
            </a:r>
          </a:p>
        </p:txBody>
      </p:sp>
      <p:sp>
        <p:nvSpPr>
          <p:cNvPr id="27" name="">
            <a:extLst xmlns:a="http://schemas.openxmlformats.org/drawingml/2006/main">
              <a:ext uri="{FF2B5EF4-FFF2-40B4-BE49-F238E27FC236}">
                <a16:creationId xmlns:a16="http://schemas.microsoft.com/office/drawing/2014/main" id="{7E7AD2BC-EBAE-45EE-B78D-185EA150D352}"/>
              </a:ext>
            </a:extLst>
          </p:cNvPr>
          <p:cNvSpPr>
            <a:spLocks xmlns:a="http://schemas.openxmlformats.org/drawingml/2006/main" noGrp="1"/>
          </p:cNvSpPr>
          <p:nvPr/>
        </p:nvSpPr>
        <p:spPr>
          <a:xfrm xmlns:a="http://schemas.openxmlformats.org/drawingml/2006/main">
            <a:off x="4819650" y="496252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Rolle, Schweigerecht, Akteneinsicht, Beweise, Verdachtsgrad und Abschlussentscheidung.</a:t>
            </a:r>
          </a:p>
        </p:txBody>
      </p:sp>
      <p:sp>
        <p:nvSpPr>
          <p:cNvPr id="28" name="">
            <a:extLst xmlns:a="http://schemas.openxmlformats.org/drawingml/2006/main">
              <a:ext uri="{FF2B5EF4-FFF2-40B4-BE49-F238E27FC236}">
                <a16:creationId xmlns:a16="http://schemas.microsoft.com/office/drawing/2014/main" id="{1D7D6B44-73DB-428F-BB33-53E3AE7E2A31}"/>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9" name="">
            <a:extLst xmlns:a="http://schemas.openxmlformats.org/drawingml/2006/main">
              <a:ext uri="{FF2B5EF4-FFF2-40B4-BE49-F238E27FC236}">
                <a16:creationId xmlns:a16="http://schemas.microsoft.com/office/drawing/2014/main" id="{470AEE63-CFBD-407C-86A1-870ED1CEDDCB}"/>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Strafrecht bleibt individuelle Schuldprüfung; zivilrechtliche Beweislastregeln ersetzen keinen Tatnachweis.</a:t>
            </a:r>
          </a:p>
        </p:txBody>
      </p:sp>
    </p:spTree>
    <p:extLst>
      <p:ext uri="{BB962C8B-B14F-4D97-AF65-F5344CB8AC3E}">
        <p14:creationId xmlns:p14="http://schemas.microsoft.com/office/powerpoint/2010/main" val="43637646"/>
      </p:ext>
    </p:extLst>
  </p:cSld>
</p:sld>
</file>

<file path=ppt/slides/slide394.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Wie man eine Gerichtsverhandlung beobachtet</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1AD0A629-D850-4E94-96E6-DBCE11321D56}"/>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Beim Besuch der Arzthaftungskammer wird nicht nur auf das Ergebnis, sondern auf die Verfahrensmechanik geachtet.</a:t>
            </a:r>
          </a:p>
        </p:txBody>
      </p:sp>
      <p:sp>
        <p:nvSpPr>
          <p:cNvPr id="5" name="">
            <a:extLst xmlns:a="http://schemas.openxmlformats.org/drawingml/2006/main">
              <a:ext uri="{FF2B5EF4-FFF2-40B4-BE49-F238E27FC236}">
                <a16:creationId xmlns:a16="http://schemas.microsoft.com/office/drawing/2014/main" id="{1F5DB7AF-4030-422F-8B19-B23C98434787}"/>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09F13CA7-0BA9-4EA7-9367-38605EED4779}"/>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B0110C53-8A38-45D4-83C1-1B32FD60775D}"/>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Anträge und Streitstoff</a:t>
            </a:r>
          </a:p>
        </p:txBody>
      </p:sp>
      <p:sp>
        <p:nvSpPr>
          <p:cNvPr id="8" name="">
            <a:extLst xmlns:a="http://schemas.openxmlformats.org/drawingml/2006/main">
              <a:ext uri="{FF2B5EF4-FFF2-40B4-BE49-F238E27FC236}">
                <a16:creationId xmlns:a16="http://schemas.microsoft.com/office/drawing/2014/main" id="{FB94D007-D1EE-46D1-B46E-4AA3E5D51546}"/>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Was verlangt die Patientenseite, was ist unstreitig und welche Tatsachen sind streitig?</a:t>
            </a:r>
          </a:p>
        </p:txBody>
      </p:sp>
      <p:sp>
        <p:nvSpPr>
          <p:cNvPr id="9" name="">
            <a:extLst xmlns:a="http://schemas.openxmlformats.org/drawingml/2006/main">
              <a:ext uri="{FF2B5EF4-FFF2-40B4-BE49-F238E27FC236}">
                <a16:creationId xmlns:a16="http://schemas.microsoft.com/office/drawing/2014/main" id="{C26FB548-44D1-4D9A-8365-D2E07ECBB5E3}"/>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FE2EB441-94FF-44A8-846B-5D10E0AB9DFC}"/>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FF11AA1F-783C-4F28-834F-8005C197AB9D}"/>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Rollen</a:t>
            </a:r>
          </a:p>
        </p:txBody>
      </p:sp>
      <p:sp>
        <p:nvSpPr>
          <p:cNvPr id="12" name="">
            <a:extLst xmlns:a="http://schemas.openxmlformats.org/drawingml/2006/main">
              <a:ext uri="{FF2B5EF4-FFF2-40B4-BE49-F238E27FC236}">
                <a16:creationId xmlns:a16="http://schemas.microsoft.com/office/drawing/2014/main" id="{C9E01A9B-5017-46D6-A519-D6D8BAF311B1}"/>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Wie strukturieren Vorsitz, Parteivertretungen und Sachverständige die Verhandlung?</a:t>
            </a:r>
          </a:p>
        </p:txBody>
      </p:sp>
      <p:sp>
        <p:nvSpPr>
          <p:cNvPr id="13" name="">
            <a:extLst xmlns:a="http://schemas.openxmlformats.org/drawingml/2006/main">
              <a:ext uri="{FF2B5EF4-FFF2-40B4-BE49-F238E27FC236}">
                <a16:creationId xmlns:a16="http://schemas.microsoft.com/office/drawing/2014/main" id="{BC6D943A-4C34-4AF6-A48F-44486C67E44E}"/>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0B549E0D-9B03-45E6-8547-D134EE05AC15}"/>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E58788A7-CF89-4451-A817-3927FF75901B}"/>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Beweisfragen</a:t>
            </a:r>
          </a:p>
        </p:txBody>
      </p:sp>
      <p:sp>
        <p:nvSpPr>
          <p:cNvPr id="16" name="">
            <a:extLst xmlns:a="http://schemas.openxmlformats.org/drawingml/2006/main">
              <a:ext uri="{FF2B5EF4-FFF2-40B4-BE49-F238E27FC236}">
                <a16:creationId xmlns:a16="http://schemas.microsoft.com/office/drawing/2014/main" id="{5F25C109-7596-4010-BB64-3DC7D55BDE79}"/>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Welche medizinischen Fragen werden gestellt, welche Tatsachenvarianten zugrunde gelegt und welche Unsicherheiten bleiben?</a:t>
            </a:r>
          </a:p>
        </p:txBody>
      </p:sp>
      <p:sp>
        <p:nvSpPr>
          <p:cNvPr id="17" name="">
            <a:extLst xmlns:a="http://schemas.openxmlformats.org/drawingml/2006/main">
              <a:ext uri="{FF2B5EF4-FFF2-40B4-BE49-F238E27FC236}">
                <a16:creationId xmlns:a16="http://schemas.microsoft.com/office/drawing/2014/main" id="{9ED2FC73-2A29-4409-929A-C8B6023BBE62}"/>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D9DFF429-0A29-49A9-B31E-412460A4D8B4}"/>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27EE02E2-3508-4D74-80EA-B2E325D95A07}"/>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Vergleichsdynamik</a:t>
            </a:r>
          </a:p>
        </p:txBody>
      </p:sp>
      <p:sp>
        <p:nvSpPr>
          <p:cNvPr id="20" name="">
            <a:extLst xmlns:a="http://schemas.openxmlformats.org/drawingml/2006/main">
              <a:ext uri="{FF2B5EF4-FFF2-40B4-BE49-F238E27FC236}">
                <a16:creationId xmlns:a16="http://schemas.microsoft.com/office/drawing/2014/main" id="{68B86B2B-4C89-4788-B607-4CBF8913E4FA}"/>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Wie werden Prozessrisiken, Kosten, Dauer und Interessen in einen Vergleichsvorschlag übersetzt?</a:t>
            </a:r>
          </a:p>
        </p:txBody>
      </p:sp>
      <p:sp>
        <p:nvSpPr>
          <p:cNvPr id="21" name="">
            <a:extLst xmlns:a="http://schemas.openxmlformats.org/drawingml/2006/main">
              <a:ext uri="{FF2B5EF4-FFF2-40B4-BE49-F238E27FC236}">
                <a16:creationId xmlns:a16="http://schemas.microsoft.com/office/drawing/2014/main" id="{3E75219D-F076-4567-9607-F059CCA50885}"/>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616A04AA-C616-4EC4-8CBC-FCDD9D268D9E}"/>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Gericht beobachten heißt Verfahrensentscheidungen sichtbar machen, nicht Personen bewerten.</a:t>
            </a:r>
          </a:p>
        </p:txBody>
      </p:sp>
    </p:spTree>
    <p:extLst>
      <p:ext uri="{BB962C8B-B14F-4D97-AF65-F5344CB8AC3E}">
        <p14:creationId xmlns:p14="http://schemas.microsoft.com/office/powerpoint/2010/main" val="43637646"/>
      </p:ext>
    </p:extLst>
  </p:cSld>
</p:sld>
</file>

<file path=ppt/slides/slide395.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Leitentscheidung für den Gerichtsbesuch · Sachverständigenfragen beobachten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ORIGINALENTSCHEIDUNG · TERMIN 15</a:t>
            </a:r>
            <a:endParaRPr/>
          </a:p>
        </p:txBody>
      </p:sp>
      <p:sp>
        <p:nvSpPr>
          <p:cNvPr id="4" name="">
            <a:extLst xmlns:a="http://schemas.openxmlformats.org/drawingml/2006/main">
              <a:ext uri="{FF2B5EF4-FFF2-40B4-BE49-F238E27FC236}">
                <a16:creationId xmlns:a16="http://schemas.microsoft.com/office/drawing/2014/main" id="{29020B94-B4BA-4C9C-B802-5B50E15B7C59}"/>
              </a:ext>
            </a:extLst>
          </p:cNvPr>
          <p:cNvSpPr>
            <a:spLocks xmlns:a="http://schemas.openxmlformats.org/drawingml/2006/main" noGrp="1"/>
          </p:cNvSpPr>
          <p:nvPr/>
        </p:nvSpPr>
        <p:spPr>
          <a:xfrm xmlns:a="http://schemas.openxmlformats.org/drawingml/2006/main">
            <a:off x="1809750" y="1943100"/>
            <a:ext cx="11239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CFCC5D70-8AF4-4780-9E5A-7A3996128769}"/>
              </a:ext>
            </a:extLst>
          </p:cNvPr>
          <p:cNvSpPr>
            <a:spLocks xmlns:a="http://schemas.openxmlformats.org/drawingml/2006/main" noGrp="1"/>
          </p:cNvSpPr>
          <p:nvPr/>
        </p:nvSpPr>
        <p:spPr>
          <a:xfrm xmlns:a="http://schemas.openxmlformats.org/drawingml/2006/main">
            <a:off x="1809750" y="1943100"/>
            <a:ext cx="1123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38" b="1">
                <a:solidFill>
                  <a:srgbClr val="FFFFFF"/>
                </a:solidFill>
              </a:defRPr>
            </a:pPr>
            <a:r>
              <a:rPr sz="938" b="1">
                <a:solidFill>
                  <a:srgbClr val="FFFFFF"/>
                </a:solidFill>
              </a:rPr>
              <a:t>BGH</a:t>
            </a:r>
          </a:p>
        </p:txBody>
      </p:sp>
      <p:sp>
        <p:nvSpPr>
          <p:cNvPr id="6" name="">
            <a:extLst xmlns:a="http://schemas.openxmlformats.org/drawingml/2006/main">
              <a:ext uri="{FF2B5EF4-FFF2-40B4-BE49-F238E27FC236}">
                <a16:creationId xmlns:a16="http://schemas.microsoft.com/office/drawing/2014/main" id="{393C1293-0342-4832-8F45-16357B8E3996}"/>
              </a:ext>
            </a:extLst>
          </p:cNvPr>
          <p:cNvSpPr>
            <a:spLocks xmlns:a="http://schemas.openxmlformats.org/drawingml/2006/main" noGrp="1"/>
          </p:cNvSpPr>
          <p:nvPr/>
        </p:nvSpPr>
        <p:spPr>
          <a:xfrm xmlns:a="http://schemas.openxmlformats.org/drawingml/2006/main">
            <a:off x="312420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b="1">
                <a:solidFill>
                  <a:srgbClr val="003F6B"/>
                </a:solidFill>
              </a:defRPr>
            </a:pPr>
            <a:r>
              <a:rPr sz="1275" b="1">
                <a:solidFill>
                  <a:srgbClr val="003F6B"/>
                </a:solidFill>
              </a:rPr>
              <a:t>07.05.2019 · VI ZR 257/17</a:t>
            </a:r>
          </a:p>
        </p:txBody>
      </p:sp>
      <p:sp>
        <p:nvSpPr>
          <p:cNvPr id="7" name="">
            <a:extLst xmlns:a="http://schemas.openxmlformats.org/drawingml/2006/main">
              <a:ext uri="{FF2B5EF4-FFF2-40B4-BE49-F238E27FC236}">
                <a16:creationId xmlns:a16="http://schemas.microsoft.com/office/drawing/2014/main" id="{4C78A4FD-3FFC-45D7-BDEA-A0B4F3DE7ED9}"/>
              </a:ext>
            </a:extLst>
          </p:cNvPr>
          <p:cNvSpPr>
            <a:spLocks xmlns:a="http://schemas.openxmlformats.org/drawingml/2006/main" noGrp="1"/>
          </p:cNvSpPr>
          <p:nvPr/>
        </p:nvSpPr>
        <p:spPr>
          <a:xfrm xmlns:a="http://schemas.openxmlformats.org/drawingml/2006/main">
            <a:off x="7334250" y="194310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050">
                <a:solidFill>
                  <a:srgbClr val="667680"/>
                </a:solidFill>
              </a:defRPr>
            </a:pPr>
            <a:r>
              <a:rPr sz="1050">
                <a:solidFill>
                  <a:srgbClr val="667680"/>
                </a:solidFill>
              </a:rPr>
              <a:t>Beobachtung und Bewertung getrennt protokollieren</a:t>
            </a:r>
          </a:p>
        </p:txBody>
      </p:sp>
      <p:sp>
        <p:nvSpPr>
          <p:cNvPr id="8" name="">
            <a:extLst xmlns:a="http://schemas.openxmlformats.org/drawingml/2006/main">
              <a:ext uri="{FF2B5EF4-FFF2-40B4-BE49-F238E27FC236}">
                <a16:creationId xmlns:a16="http://schemas.microsoft.com/office/drawing/2014/main" id="{151D348F-892F-4BD2-A15C-1D963D7D6D41}"/>
              </a:ext>
            </a:extLst>
          </p:cNvPr>
          <p:cNvSpPr>
            <a:spLocks xmlns:a="http://schemas.openxmlformats.org/drawingml/2006/main" noGrp="1"/>
          </p:cNvSpPr>
          <p:nvPr/>
        </p:nvSpPr>
        <p:spPr>
          <a:xfrm xmlns:a="http://schemas.openxmlformats.org/drawingml/2006/main">
            <a:off x="1809750" y="2533650"/>
            <a:ext cx="1676400" cy="781050"/>
          </a:xfrm>
          <a:prstGeom xmlns:a="http://schemas.openxmlformats.org/drawingml/2006/main" prst="roundRect">
            <a:avLst>
              <a:gd name="adj" fmla="val 9756"/>
            </a:avLst>
          </a:prstGeom>
          <a:solidFill xmlns:a="http://schemas.openxmlformats.org/drawingml/2006/main">
            <a:srgbClr val="00B2BB"/>
          </a:solidFill>
          <a:ln xmlns:a="http://schemas.openxmlformats.org/drawingml/2006/main" w="0">
            <a:solidFill>
              <a:srgbClr val="00B2BB"/>
            </a:solidFill>
            <a:prstDash val="solid"/>
          </a:ln>
        </p:spPr>
      </p:sp>
      <p:sp>
        <p:nvSpPr>
          <p:cNvPr id="9" name="">
            <a:extLst xmlns:a="http://schemas.openxmlformats.org/drawingml/2006/main">
              <a:ext uri="{FF2B5EF4-FFF2-40B4-BE49-F238E27FC236}">
                <a16:creationId xmlns:a16="http://schemas.microsoft.com/office/drawing/2014/main" id="{9400E2BF-4FCB-48E4-975F-668335B6BF60}"/>
              </a:ext>
            </a:extLst>
          </p:cNvPr>
          <p:cNvSpPr>
            <a:spLocks xmlns:a="http://schemas.openxmlformats.org/drawingml/2006/main" noGrp="1"/>
          </p:cNvSpPr>
          <p:nvPr/>
        </p:nvSpPr>
        <p:spPr>
          <a:xfrm xmlns:a="http://schemas.openxmlformats.org/drawingml/2006/main">
            <a:off x="1924050" y="25336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Ausgangsfall</a:t>
            </a:r>
          </a:p>
        </p:txBody>
      </p:sp>
      <p:sp>
        <p:nvSpPr>
          <p:cNvPr id="10" name="">
            <a:extLst xmlns:a="http://schemas.openxmlformats.org/drawingml/2006/main">
              <a:ext uri="{FF2B5EF4-FFF2-40B4-BE49-F238E27FC236}">
                <a16:creationId xmlns:a16="http://schemas.microsoft.com/office/drawing/2014/main" id="{4FB588C7-2211-43BE-8459-47F6C8CA16F8}"/>
              </a:ext>
            </a:extLst>
          </p:cNvPr>
          <p:cNvSpPr>
            <a:spLocks xmlns:a="http://schemas.openxmlformats.org/drawingml/2006/main" noGrp="1"/>
          </p:cNvSpPr>
          <p:nvPr/>
        </p:nvSpPr>
        <p:spPr>
          <a:xfrm xmlns:a="http://schemas.openxmlformats.org/drawingml/2006/main">
            <a:off x="3695700" y="25336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Die Entscheidung dient als Beobachtungsanker: Welche Fragen werden zugelassen, präzisiert und beantwortet? Wie trennt das Gericht medizinische Bewertung und rechtliche Würdigung?</a:t>
            </a:r>
          </a:p>
        </p:txBody>
      </p:sp>
      <p:sp>
        <p:nvSpPr>
          <p:cNvPr id="11" name="">
            <a:extLst xmlns:a="http://schemas.openxmlformats.org/drawingml/2006/main">
              <a:ext uri="{FF2B5EF4-FFF2-40B4-BE49-F238E27FC236}">
                <a16:creationId xmlns:a16="http://schemas.microsoft.com/office/drawing/2014/main" id="{6B0808B8-7B24-40BF-9E54-69A074D4C225}"/>
              </a:ext>
            </a:extLst>
          </p:cNvPr>
          <p:cNvSpPr>
            <a:spLocks xmlns:a="http://schemas.openxmlformats.org/drawingml/2006/main" noGrp="1"/>
          </p:cNvSpPr>
          <p:nvPr/>
        </p:nvSpPr>
        <p:spPr>
          <a:xfrm xmlns:a="http://schemas.openxmlformats.org/drawingml/2006/main">
            <a:off x="1809750" y="3486150"/>
            <a:ext cx="1676400" cy="781050"/>
          </a:xfrm>
          <a:prstGeom xmlns:a="http://schemas.openxmlformats.org/drawingml/2006/main" prst="roundRect">
            <a:avLst>
              <a:gd name="adj" fmla="val 9756"/>
            </a:avLst>
          </a:prstGeom>
          <a:solidFill xmlns:a="http://schemas.openxmlformats.org/drawingml/2006/main">
            <a:srgbClr val="003F6B"/>
          </a:solidFill>
          <a:ln xmlns:a="http://schemas.openxmlformats.org/drawingml/2006/main" w="0">
            <a:solidFill>
              <a:srgbClr val="003F6B"/>
            </a:solidFill>
            <a:prstDash val="solid"/>
          </a:ln>
        </p:spPr>
      </p:sp>
      <p:sp>
        <p:nvSpPr>
          <p:cNvPr id="12" name="">
            <a:extLst xmlns:a="http://schemas.openxmlformats.org/drawingml/2006/main">
              <a:ext uri="{FF2B5EF4-FFF2-40B4-BE49-F238E27FC236}">
                <a16:creationId xmlns:a16="http://schemas.microsoft.com/office/drawing/2014/main" id="{88641D51-0ACA-4A60-9648-C032BAC61455}"/>
              </a:ext>
            </a:extLst>
          </p:cNvPr>
          <p:cNvSpPr>
            <a:spLocks xmlns:a="http://schemas.openxmlformats.org/drawingml/2006/main" noGrp="1"/>
          </p:cNvSpPr>
          <p:nvPr/>
        </p:nvSpPr>
        <p:spPr>
          <a:xfrm xmlns:a="http://schemas.openxmlformats.org/drawingml/2006/main">
            <a:off x="1924050" y="34861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Leitsatzkern</a:t>
            </a:r>
          </a:p>
        </p:txBody>
      </p:sp>
      <p:sp>
        <p:nvSpPr>
          <p:cNvPr id="13" name="">
            <a:extLst xmlns:a="http://schemas.openxmlformats.org/drawingml/2006/main">
              <a:ext uri="{FF2B5EF4-FFF2-40B4-BE49-F238E27FC236}">
                <a16:creationId xmlns:a16="http://schemas.microsoft.com/office/drawing/2014/main" id="{0855E898-77C5-4A36-A61B-94CEE38AF3F8}"/>
              </a:ext>
            </a:extLst>
          </p:cNvPr>
          <p:cNvSpPr>
            <a:spLocks xmlns:a="http://schemas.openxmlformats.org/drawingml/2006/main" noGrp="1"/>
          </p:cNvSpPr>
          <p:nvPr/>
        </p:nvSpPr>
        <p:spPr>
          <a:xfrm xmlns:a="http://schemas.openxmlformats.org/drawingml/2006/main">
            <a:off x="3695700" y="34861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Leitsatzkern (paraphrasiert): Parteien müssen Gelegenheit erhalten, sachdienliche Fragen an Sachverständige zu stellen. Rechtliches Gehör wird praktisch in der mündlichen Verhandlung verwirklicht.</a:t>
            </a:r>
          </a:p>
        </p:txBody>
      </p:sp>
      <p:sp>
        <p:nvSpPr>
          <p:cNvPr id="14" name="">
            <a:extLst xmlns:a="http://schemas.openxmlformats.org/drawingml/2006/main">
              <a:ext uri="{FF2B5EF4-FFF2-40B4-BE49-F238E27FC236}">
                <a16:creationId xmlns:a16="http://schemas.microsoft.com/office/drawing/2014/main" id="{A1DF4573-F9C5-4812-B1F6-62AD6F59C35A}"/>
              </a:ext>
            </a:extLst>
          </p:cNvPr>
          <p:cNvSpPr>
            <a:spLocks xmlns:a="http://schemas.openxmlformats.org/drawingml/2006/main" noGrp="1"/>
          </p:cNvSpPr>
          <p:nvPr/>
        </p:nvSpPr>
        <p:spPr>
          <a:xfrm xmlns:a="http://schemas.openxmlformats.org/drawingml/2006/main">
            <a:off x="1809750" y="4438650"/>
            <a:ext cx="1676400" cy="781050"/>
          </a:xfrm>
          <a:prstGeom xmlns:a="http://schemas.openxmlformats.org/drawingml/2006/main" prst="roundRect">
            <a:avLst>
              <a:gd name="adj" fmla="val 9756"/>
            </a:avLst>
          </a:prstGeom>
          <a:solidFill xmlns:a="http://schemas.openxmlformats.org/drawingml/2006/main">
            <a:srgbClr val="00B2BB"/>
          </a:solidFill>
          <a:ln xmlns:a="http://schemas.openxmlformats.org/drawingml/2006/main" w="0">
            <a:solidFill>
              <a:srgbClr val="00B2BB"/>
            </a:solidFill>
            <a:prstDash val="solid"/>
          </a:ln>
        </p:spPr>
      </p:sp>
      <p:sp>
        <p:nvSpPr>
          <p:cNvPr id="15" name="">
            <a:extLst xmlns:a="http://schemas.openxmlformats.org/drawingml/2006/main">
              <a:ext uri="{FF2B5EF4-FFF2-40B4-BE49-F238E27FC236}">
                <a16:creationId xmlns:a16="http://schemas.microsoft.com/office/drawing/2014/main" id="{EAE0BC3E-2EDC-498E-A8FA-D1264E2324A6}"/>
              </a:ext>
            </a:extLst>
          </p:cNvPr>
          <p:cNvSpPr>
            <a:spLocks xmlns:a="http://schemas.openxmlformats.org/drawingml/2006/main" noGrp="1"/>
          </p:cNvSpPr>
          <p:nvPr/>
        </p:nvSpPr>
        <p:spPr>
          <a:xfrm xmlns:a="http://schemas.openxmlformats.org/drawingml/2006/main">
            <a:off x="1924050" y="4438650"/>
            <a:ext cx="1447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defRPr>
            </a:pPr>
            <a:r>
              <a:rPr sz="1200" b="1">
                <a:solidFill>
                  <a:srgbClr val="FFFFFF"/>
                </a:solidFill>
              </a:rPr>
              <a:t>Für die Praxis</a:t>
            </a:r>
          </a:p>
        </p:txBody>
      </p:sp>
      <p:sp>
        <p:nvSpPr>
          <p:cNvPr id="16" name="">
            <a:extLst xmlns:a="http://schemas.openxmlformats.org/drawingml/2006/main">
              <a:ext uri="{FF2B5EF4-FFF2-40B4-BE49-F238E27FC236}">
                <a16:creationId xmlns:a16="http://schemas.microsoft.com/office/drawing/2014/main" id="{2E7AF859-C6DF-4F65-A28C-2A0E4B68D071}"/>
              </a:ext>
            </a:extLst>
          </p:cNvPr>
          <p:cNvSpPr>
            <a:spLocks xmlns:a="http://schemas.openxmlformats.org/drawingml/2006/main" noGrp="1"/>
          </p:cNvSpPr>
          <p:nvPr/>
        </p:nvSpPr>
        <p:spPr>
          <a:xfrm xmlns:a="http://schemas.openxmlformats.org/drawingml/2006/main">
            <a:off x="3695700" y="4438650"/>
            <a:ext cx="7639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a:solidFill>
                  <a:srgbClr val="15232B"/>
                </a:solidFill>
              </a:defRPr>
            </a:pPr>
            <a:r>
              <a:rPr sz="1065">
                <a:solidFill>
                  <a:srgbClr val="15232B"/>
                </a:solidFill>
              </a:rPr>
              <a:t>Nicht notieren, wer ‚gewinnt‘, sondern welche Frage welche Tatsachen-, Standard- oder Kausalitätslücke schließt.</a:t>
            </a:r>
          </a:p>
        </p:txBody>
      </p:sp>
      <p:sp>
        <p:nvSpPr>
          <p:cNvPr id="17" name="">
            <a:extLst xmlns:a="http://schemas.openxmlformats.org/drawingml/2006/main">
              <a:ext uri="{FF2B5EF4-FFF2-40B4-BE49-F238E27FC236}">
                <a16:creationId xmlns:a16="http://schemas.microsoft.com/office/drawing/2014/main" id="{36A5FCBC-D1B7-475E-B1FF-082C90A07948}"/>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638">
                <a:solidFill>
                  <a:srgbClr val="667680"/>
                </a:solidFill>
              </a:defRPr>
            </a:pPr>
            <a:r>
              <a:rPr sz="638">
                <a:solidFill>
                  <a:srgbClr val="667680"/>
                </a:solidFill>
              </a:rPr>
              <a:t>BGH, Beschl. v. 07.05.2019 – VI ZR 257/17 · https://juris.bundesgerichtshof.de/cgi-bin/bgh_notp/document.py?Art=en&amp;Blank=1&amp;Datum=2019-5&amp;Gericht=bgh&amp;Seite=2&amp;Sort=3074&amp;anz=208&amp;nr=56246&amp;pos=75</a:t>
            </a:r>
          </a:p>
        </p:txBody>
      </p:sp>
    </p:spTree>
    <p:extLst>
      <p:ext uri="{BB962C8B-B14F-4D97-AF65-F5344CB8AC3E}">
        <p14:creationId xmlns:p14="http://schemas.microsoft.com/office/powerpoint/2010/main" val="43637646"/>
      </p:ext>
    </p:extLst>
  </p:cSld>
</p:sld>
</file>

<file path=ppt/slides/slide396.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Verhaltensregeln beim Gerichtsbesuch</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50D26B59-EEBB-4911-99F3-E47A8F92E4ED}"/>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Der Besuch ist Teil der Lehre und respektiert Würde, Datenschutz und Verfahrensordnung.</a:t>
            </a:r>
          </a:p>
        </p:txBody>
      </p:sp>
      <p:sp>
        <p:nvSpPr>
          <p:cNvPr id="5" name="">
            <a:extLst xmlns:a="http://schemas.openxmlformats.org/drawingml/2006/main">
              <a:ext uri="{FF2B5EF4-FFF2-40B4-BE49-F238E27FC236}">
                <a16:creationId xmlns:a16="http://schemas.microsoft.com/office/drawing/2014/main" id="{5EF477EE-0639-40F1-B9A0-061389BBC7C3}"/>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FAFC6290-6FD9-467C-90AC-C5BD3E5FD7CC}"/>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80F38FDC-E6FC-472A-BEC4-618EEF06CBED}"/>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Pünktlichkeit und Einlass</a:t>
            </a:r>
          </a:p>
        </p:txBody>
      </p:sp>
      <p:sp>
        <p:nvSpPr>
          <p:cNvPr id="8" name="">
            <a:extLst xmlns:a="http://schemas.openxmlformats.org/drawingml/2006/main">
              <a:ext uri="{FF2B5EF4-FFF2-40B4-BE49-F238E27FC236}">
                <a16:creationId xmlns:a16="http://schemas.microsoft.com/office/drawing/2014/main" id="{8B932235-ACCB-44E7-BE18-26A4BADD987A}"/>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Sicherheitskontrolle, Sitzungssaal und mögliche Änderungen werden eingeplant.</a:t>
            </a:r>
          </a:p>
        </p:txBody>
      </p:sp>
      <p:sp>
        <p:nvSpPr>
          <p:cNvPr id="9" name="">
            <a:extLst xmlns:a="http://schemas.openxmlformats.org/drawingml/2006/main">
              <a:ext uri="{FF2B5EF4-FFF2-40B4-BE49-F238E27FC236}">
                <a16:creationId xmlns:a16="http://schemas.microsoft.com/office/drawing/2014/main" id="{A03DE647-57B1-437C-85E5-B2A9B1AFFB79}"/>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9D050993-D2C8-45D0-8964-FFB4E16245F4}"/>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0F8B224B-A8CB-43C4-AB24-B90C4F092DD0}"/>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Keine Aufnahmen</a:t>
            </a:r>
          </a:p>
        </p:txBody>
      </p:sp>
      <p:sp>
        <p:nvSpPr>
          <p:cNvPr id="12" name="">
            <a:extLst xmlns:a="http://schemas.openxmlformats.org/drawingml/2006/main">
              <a:ext uri="{FF2B5EF4-FFF2-40B4-BE49-F238E27FC236}">
                <a16:creationId xmlns:a16="http://schemas.microsoft.com/office/drawing/2014/main" id="{39E7D4CF-7BDA-47C8-8CC8-DCB9F67F05F1}"/>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Foto-, Audio- und Videoaufnahmen sind ohne ausdrückliche Zulässigkeit zu unterlassen; Mobilgeräte bleiben lautlos.</a:t>
            </a:r>
          </a:p>
        </p:txBody>
      </p:sp>
      <p:sp>
        <p:nvSpPr>
          <p:cNvPr id="13" name="">
            <a:extLst xmlns:a="http://schemas.openxmlformats.org/drawingml/2006/main">
              <a:ext uri="{FF2B5EF4-FFF2-40B4-BE49-F238E27FC236}">
                <a16:creationId xmlns:a16="http://schemas.microsoft.com/office/drawing/2014/main" id="{EED78413-A187-4252-BBEB-45417BC78882}"/>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B79C9317-A96D-4855-81E3-6A06F20F616E}"/>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3BC2D9A3-E271-4335-8DFA-9FE76FBA09FC}"/>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Vertraulichkeit</a:t>
            </a:r>
          </a:p>
        </p:txBody>
      </p:sp>
      <p:sp>
        <p:nvSpPr>
          <p:cNvPr id="16" name="">
            <a:extLst xmlns:a="http://schemas.openxmlformats.org/drawingml/2006/main">
              <a:ext uri="{FF2B5EF4-FFF2-40B4-BE49-F238E27FC236}">
                <a16:creationId xmlns:a16="http://schemas.microsoft.com/office/drawing/2014/main" id="{098A48B8-8594-412A-9381-2EC498353E88}"/>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Gesundheits- und Personendaten aus der Verhandlung werden nicht außerhalb des Lehrkontexts verbreitet.</a:t>
            </a:r>
          </a:p>
        </p:txBody>
      </p:sp>
      <p:sp>
        <p:nvSpPr>
          <p:cNvPr id="17" name="">
            <a:extLst xmlns:a="http://schemas.openxmlformats.org/drawingml/2006/main">
              <a:ext uri="{FF2B5EF4-FFF2-40B4-BE49-F238E27FC236}">
                <a16:creationId xmlns:a16="http://schemas.microsoft.com/office/drawing/2014/main" id="{CB9C7B15-E5FB-4AC7-8293-3DD612B3C1CB}"/>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22FA7EE5-26AF-48EA-AB50-A7576A9D3A6F}"/>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081A1BB6-FBF5-419A-87F5-FE40BA320EBE}"/>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Nachbesprechung</a:t>
            </a:r>
          </a:p>
        </p:txBody>
      </p:sp>
      <p:sp>
        <p:nvSpPr>
          <p:cNvPr id="20" name="">
            <a:extLst xmlns:a="http://schemas.openxmlformats.org/drawingml/2006/main">
              <a:ext uri="{FF2B5EF4-FFF2-40B4-BE49-F238E27FC236}">
                <a16:creationId xmlns:a16="http://schemas.microsoft.com/office/drawing/2014/main" id="{5F8FAC16-52C3-4E46-921C-9DF9BA7ABF7C}"/>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Beobachtungen werden anonymisiert anhand von Rollen, Normen und Beweisfragen ausgewertet.</a:t>
            </a:r>
          </a:p>
        </p:txBody>
      </p:sp>
      <p:sp>
        <p:nvSpPr>
          <p:cNvPr id="21" name="">
            <a:extLst xmlns:a="http://schemas.openxmlformats.org/drawingml/2006/main">
              <a:ext uri="{FF2B5EF4-FFF2-40B4-BE49-F238E27FC236}">
                <a16:creationId xmlns:a16="http://schemas.microsoft.com/office/drawing/2014/main" id="{E3927CD7-3FFA-40F0-867D-C82EBE9334F2}"/>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36E1EA0B-634D-4A8F-B5F6-DF3C1CA9A423}"/>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Die reale Verhandlung ist kein Fallmaterial zur privaten Weiterverbreitung.</a:t>
            </a:r>
          </a:p>
        </p:txBody>
      </p:sp>
    </p:spTree>
    <p:extLst>
      <p:ext uri="{BB962C8B-B14F-4D97-AF65-F5344CB8AC3E}">
        <p14:creationId xmlns:p14="http://schemas.microsoft.com/office/powerpoint/2010/main" val="43637646"/>
      </p:ext>
    </p:extLst>
  </p:cSld>
</p:sld>
</file>

<file path=ppt/slides/slide397.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Capstone: Welche Entscheidung ist jetzt fällig?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DURCHGEPRÜFTER FALL</a:t>
            </a:r>
            <a:endParaRPr/>
          </a:p>
        </p:txBody>
      </p:sp>
      <p:sp>
        <p:nvSpPr>
          <p:cNvPr id="4" name="">
            <a:extLst xmlns:a="http://schemas.openxmlformats.org/drawingml/2006/main">
              <a:ext uri="{FF2B5EF4-FFF2-40B4-BE49-F238E27FC236}">
                <a16:creationId xmlns:a16="http://schemas.microsoft.com/office/drawing/2014/main" id="{0850EDDF-8092-49B3-8C88-43CBF5A2B7DB}"/>
              </a:ext>
            </a:extLst>
          </p:cNvPr>
          <p:cNvSpPr>
            <a:spLocks xmlns:a="http://schemas.openxmlformats.org/drawingml/2006/main" noGrp="1"/>
          </p:cNvSpPr>
          <p:nvPr/>
        </p:nvSpPr>
        <p:spPr>
          <a:xfrm xmlns:a="http://schemas.openxmlformats.org/drawingml/2006/main">
            <a:off x="1809750" y="1924050"/>
            <a:ext cx="9525000" cy="838200"/>
          </a:xfrm>
          <a:prstGeom xmlns:a="http://schemas.openxmlformats.org/drawingml/2006/main" prst="roundRect">
            <a:avLst>
              <a:gd name="adj" fmla="val 9091"/>
            </a:avLst>
          </a:prstGeom>
          <a:solidFill xmlns:a="http://schemas.openxmlformats.org/drawingml/2006/main">
            <a:srgbClr val="EAF6FB"/>
          </a:solidFill>
          <a:ln xmlns:a="http://schemas.openxmlformats.org/drawingml/2006/main" w="9525">
            <a:solidFill>
              <a:srgbClr val="00B2BB"/>
            </a:solidFill>
            <a:prstDash val="solid"/>
          </a:ln>
        </p:spPr>
      </p:sp>
      <p:sp>
        <p:nvSpPr>
          <p:cNvPr id="5" name="">
            <a:extLst xmlns:a="http://schemas.openxmlformats.org/drawingml/2006/main">
              <a:ext uri="{FF2B5EF4-FFF2-40B4-BE49-F238E27FC236}">
                <a16:creationId xmlns:a16="http://schemas.microsoft.com/office/drawing/2014/main" id="{BAA5768F-7C68-4526-B88A-D8FCB057E695}"/>
              </a:ext>
            </a:extLst>
          </p:cNvPr>
          <p:cNvSpPr>
            <a:spLocks xmlns:a="http://schemas.openxmlformats.org/drawingml/2006/main" noGrp="1"/>
          </p:cNvSpPr>
          <p:nvPr/>
        </p:nvSpPr>
        <p:spPr>
          <a:xfrm xmlns:a="http://schemas.openxmlformats.org/drawingml/2006/main">
            <a:off x="1981200" y="2000250"/>
            <a:ext cx="9182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55">
                <a:solidFill>
                  <a:srgbClr val="15232B"/>
                </a:solidFill>
              </a:defRPr>
            </a:pPr>
            <a:r>
              <a:rPr sz="1155">
                <a:solidFill>
                  <a:srgbClr val="15232B"/>
                </a:solidFill>
              </a:rPr>
              <a:t>Nach Gutachten bleibt offen, ob rechtzeitige Diagnostik den Schaden sicher verhindert hätte. Der Versicherer bietet einen Vergleich; parallel läuft ein Ermittlungsverfahren.</a:t>
            </a:r>
          </a:p>
        </p:txBody>
      </p:sp>
      <p:sp>
        <p:nvSpPr>
          <p:cNvPr id="6" name="">
            <a:extLst xmlns:a="http://schemas.openxmlformats.org/drawingml/2006/main">
              <a:ext uri="{FF2B5EF4-FFF2-40B4-BE49-F238E27FC236}">
                <a16:creationId xmlns:a16="http://schemas.microsoft.com/office/drawing/2014/main" id="{8002823D-8BC5-4F9C-BD48-D07DCD6FE8C6}"/>
              </a:ext>
            </a:extLst>
          </p:cNvPr>
          <p:cNvSpPr>
            <a:spLocks xmlns:a="http://schemas.openxmlformats.org/drawingml/2006/main" noGrp="1"/>
          </p:cNvSpPr>
          <p:nvPr/>
        </p:nvSpPr>
        <p:spPr>
          <a:xfrm xmlns:a="http://schemas.openxmlformats.org/drawingml/2006/main">
            <a:off x="1809750" y="2933700"/>
            <a:ext cx="381000" cy="381000"/>
          </a:xfrm>
          <a:prstGeom xmlns:a="http://schemas.openxmlformats.org/drawingml/2006/main" prst="roundRect">
            <a:avLst>
              <a:gd name="adj" fmla="val 20000"/>
            </a:avLst>
          </a:prstGeom>
          <a:solidFill xmlns:a="http://schemas.openxmlformats.org/drawingml/2006/main">
            <a:srgbClr val="00B2BB"/>
          </a:solidFill>
          <a:ln xmlns:a="http://schemas.openxmlformats.org/drawingml/2006/main" w="0">
            <a:solidFill>
              <a:srgbClr val="00B2BB"/>
            </a:solidFill>
            <a:prstDash val="solid"/>
          </a:ln>
        </p:spPr>
      </p:sp>
      <p:sp>
        <p:nvSpPr>
          <p:cNvPr id="7" name="">
            <a:extLst xmlns:a="http://schemas.openxmlformats.org/drawingml/2006/main">
              <a:ext uri="{FF2B5EF4-FFF2-40B4-BE49-F238E27FC236}">
                <a16:creationId xmlns:a16="http://schemas.microsoft.com/office/drawing/2014/main" id="{B6738DD6-06B5-4BF9-9769-437D2D916CCC}"/>
              </a:ext>
            </a:extLst>
          </p:cNvPr>
          <p:cNvSpPr>
            <a:spLocks xmlns:a="http://schemas.openxmlformats.org/drawingml/2006/main" noGrp="1"/>
          </p:cNvSpPr>
          <p:nvPr/>
        </p:nvSpPr>
        <p:spPr>
          <a:xfrm xmlns:a="http://schemas.openxmlformats.org/drawingml/2006/main">
            <a:off x="1809750" y="293370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8" name="">
            <a:extLst xmlns:a="http://schemas.openxmlformats.org/drawingml/2006/main">
              <a:ext uri="{FF2B5EF4-FFF2-40B4-BE49-F238E27FC236}">
                <a16:creationId xmlns:a16="http://schemas.microsoft.com/office/drawing/2014/main" id="{1ECDD7DE-DC4B-4F72-97E2-E6F84D73AD69}"/>
              </a:ext>
            </a:extLst>
          </p:cNvPr>
          <p:cNvSpPr>
            <a:spLocks xmlns:a="http://schemas.openxmlformats.org/drawingml/2006/main" noGrp="1"/>
          </p:cNvSpPr>
          <p:nvPr/>
        </p:nvSpPr>
        <p:spPr>
          <a:xfrm xmlns:a="http://schemas.openxmlformats.org/drawingml/2006/main">
            <a:off x="2343150" y="2914650"/>
            <a:ext cx="18097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Zivilrecht</a:t>
            </a:r>
          </a:p>
        </p:txBody>
      </p:sp>
      <p:sp>
        <p:nvSpPr>
          <p:cNvPr id="9" name="">
            <a:extLst xmlns:a="http://schemas.openxmlformats.org/drawingml/2006/main">
              <a:ext uri="{FF2B5EF4-FFF2-40B4-BE49-F238E27FC236}">
                <a16:creationId xmlns:a16="http://schemas.microsoft.com/office/drawing/2014/main" id="{E9E21111-5CF5-477A-AABE-EAD78F1B8BB3}"/>
              </a:ext>
            </a:extLst>
          </p:cNvPr>
          <p:cNvSpPr>
            <a:spLocks xmlns:a="http://schemas.openxmlformats.org/drawingml/2006/main" noGrp="1"/>
          </p:cNvSpPr>
          <p:nvPr/>
        </p:nvSpPr>
        <p:spPr>
          <a:xfrm xmlns:a="http://schemas.openxmlformats.org/drawingml/2006/main">
            <a:off x="4286250" y="2914650"/>
            <a:ext cx="69532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35">
                <a:solidFill>
                  <a:srgbClr val="15232B"/>
                </a:solidFill>
              </a:defRPr>
            </a:pPr>
            <a:r>
              <a:rPr sz="1035">
                <a:solidFill>
                  <a:srgbClr val="15232B"/>
                </a:solidFill>
              </a:rPr>
              <a:t>Beweislast, mögliche § 630h-Wirkung, Schadensumfang und Prozessrisiko werden getrennt bewertet.</a:t>
            </a:r>
          </a:p>
        </p:txBody>
      </p:sp>
      <p:sp>
        <p:nvSpPr>
          <p:cNvPr id="10" name="">
            <a:extLst xmlns:a="http://schemas.openxmlformats.org/drawingml/2006/main">
              <a:ext uri="{FF2B5EF4-FFF2-40B4-BE49-F238E27FC236}">
                <a16:creationId xmlns:a16="http://schemas.microsoft.com/office/drawing/2014/main" id="{2B228626-AE41-41FD-B8D9-DF7E6D338AE6}"/>
              </a:ext>
            </a:extLst>
          </p:cNvPr>
          <p:cNvSpPr>
            <a:spLocks xmlns:a="http://schemas.openxmlformats.org/drawingml/2006/main" noGrp="1"/>
          </p:cNvSpPr>
          <p:nvPr/>
        </p:nvSpPr>
        <p:spPr>
          <a:xfrm xmlns:a="http://schemas.openxmlformats.org/drawingml/2006/main">
            <a:off x="1809750" y="3394710"/>
            <a:ext cx="381000" cy="381000"/>
          </a:xfrm>
          <a:prstGeom xmlns:a="http://schemas.openxmlformats.org/drawingml/2006/main" prst="roundRect">
            <a:avLst>
              <a:gd name="adj" fmla="val 20000"/>
            </a:avLst>
          </a:prstGeom>
          <a:solidFill xmlns:a="http://schemas.openxmlformats.org/drawingml/2006/main">
            <a:srgbClr val="003F6B"/>
          </a:solidFill>
          <a:ln xmlns:a="http://schemas.openxmlformats.org/drawingml/2006/main" w="0">
            <a:solidFill>
              <a:srgbClr val="003F6B"/>
            </a:solidFill>
            <a:prstDash val="solid"/>
          </a:ln>
        </p:spPr>
      </p:sp>
      <p:sp>
        <p:nvSpPr>
          <p:cNvPr id="11" name="">
            <a:extLst xmlns:a="http://schemas.openxmlformats.org/drawingml/2006/main">
              <a:ext uri="{FF2B5EF4-FFF2-40B4-BE49-F238E27FC236}">
                <a16:creationId xmlns:a16="http://schemas.microsoft.com/office/drawing/2014/main" id="{0DE59622-8D75-4311-8E8E-37A585A15658}"/>
              </a:ext>
            </a:extLst>
          </p:cNvPr>
          <p:cNvSpPr>
            <a:spLocks xmlns:a="http://schemas.openxmlformats.org/drawingml/2006/main" noGrp="1"/>
          </p:cNvSpPr>
          <p:nvPr/>
        </p:nvSpPr>
        <p:spPr>
          <a:xfrm xmlns:a="http://schemas.openxmlformats.org/drawingml/2006/main">
            <a:off x="1809750" y="339471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2" name="">
            <a:extLst xmlns:a="http://schemas.openxmlformats.org/drawingml/2006/main">
              <a:ext uri="{FF2B5EF4-FFF2-40B4-BE49-F238E27FC236}">
                <a16:creationId xmlns:a16="http://schemas.microsoft.com/office/drawing/2014/main" id="{8D7ED61C-8D93-40F3-8054-D79F65CF4C03}"/>
              </a:ext>
            </a:extLst>
          </p:cNvPr>
          <p:cNvSpPr>
            <a:spLocks xmlns:a="http://schemas.openxmlformats.org/drawingml/2006/main" noGrp="1"/>
          </p:cNvSpPr>
          <p:nvPr/>
        </p:nvSpPr>
        <p:spPr>
          <a:xfrm xmlns:a="http://schemas.openxmlformats.org/drawingml/2006/main">
            <a:off x="2343150" y="3375660"/>
            <a:ext cx="18097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Vergleich</a:t>
            </a:r>
          </a:p>
        </p:txBody>
      </p:sp>
      <p:sp>
        <p:nvSpPr>
          <p:cNvPr id="13" name="">
            <a:extLst xmlns:a="http://schemas.openxmlformats.org/drawingml/2006/main">
              <a:ext uri="{FF2B5EF4-FFF2-40B4-BE49-F238E27FC236}">
                <a16:creationId xmlns:a16="http://schemas.microsoft.com/office/drawing/2014/main" id="{A31EC00E-FEDB-4E97-8138-0F1F00F7DA8E}"/>
              </a:ext>
            </a:extLst>
          </p:cNvPr>
          <p:cNvSpPr>
            <a:spLocks xmlns:a="http://schemas.openxmlformats.org/drawingml/2006/main" noGrp="1"/>
          </p:cNvSpPr>
          <p:nvPr/>
        </p:nvSpPr>
        <p:spPr>
          <a:xfrm xmlns:a="http://schemas.openxmlformats.org/drawingml/2006/main">
            <a:off x="4286250" y="3375660"/>
            <a:ext cx="69532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35">
                <a:solidFill>
                  <a:srgbClr val="15232B"/>
                </a:solidFill>
              </a:defRPr>
            </a:pPr>
            <a:r>
              <a:rPr sz="1035">
                <a:solidFill>
                  <a:srgbClr val="15232B"/>
                </a:solidFill>
              </a:rPr>
              <a:t>Reichweite für Zukunftsschäden, Kosten, Zahlungszeit und fehlende Schuldfeststellung werden geprüft.</a:t>
            </a:r>
          </a:p>
        </p:txBody>
      </p:sp>
      <p:sp>
        <p:nvSpPr>
          <p:cNvPr id="14" name="">
            <a:extLst xmlns:a="http://schemas.openxmlformats.org/drawingml/2006/main">
              <a:ext uri="{FF2B5EF4-FFF2-40B4-BE49-F238E27FC236}">
                <a16:creationId xmlns:a16="http://schemas.microsoft.com/office/drawing/2014/main" id="{C6D40359-63F7-4AD2-BC62-865A5D1461C8}"/>
              </a:ext>
            </a:extLst>
          </p:cNvPr>
          <p:cNvSpPr>
            <a:spLocks xmlns:a="http://schemas.openxmlformats.org/drawingml/2006/main" noGrp="1"/>
          </p:cNvSpPr>
          <p:nvPr/>
        </p:nvSpPr>
        <p:spPr>
          <a:xfrm xmlns:a="http://schemas.openxmlformats.org/drawingml/2006/main">
            <a:off x="1809750" y="3855720"/>
            <a:ext cx="381000" cy="381000"/>
          </a:xfrm>
          <a:prstGeom xmlns:a="http://schemas.openxmlformats.org/drawingml/2006/main" prst="roundRect">
            <a:avLst>
              <a:gd name="adj" fmla="val 20000"/>
            </a:avLst>
          </a:prstGeom>
          <a:solidFill xmlns:a="http://schemas.openxmlformats.org/drawingml/2006/main">
            <a:srgbClr val="00B2BB"/>
          </a:solidFill>
          <a:ln xmlns:a="http://schemas.openxmlformats.org/drawingml/2006/main" w="0">
            <a:solidFill>
              <a:srgbClr val="00B2BB"/>
            </a:solidFill>
            <a:prstDash val="solid"/>
          </a:ln>
        </p:spPr>
      </p:sp>
      <p:sp>
        <p:nvSpPr>
          <p:cNvPr id="15" name="">
            <a:extLst xmlns:a="http://schemas.openxmlformats.org/drawingml/2006/main">
              <a:ext uri="{FF2B5EF4-FFF2-40B4-BE49-F238E27FC236}">
                <a16:creationId xmlns:a16="http://schemas.microsoft.com/office/drawing/2014/main" id="{0D866C49-E01C-4CE3-97AC-E6DCF767CB8F}"/>
              </a:ext>
            </a:extLst>
          </p:cNvPr>
          <p:cNvSpPr>
            <a:spLocks xmlns:a="http://schemas.openxmlformats.org/drawingml/2006/main" noGrp="1"/>
          </p:cNvSpPr>
          <p:nvPr/>
        </p:nvSpPr>
        <p:spPr>
          <a:xfrm xmlns:a="http://schemas.openxmlformats.org/drawingml/2006/main">
            <a:off x="1809750" y="385572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6" name="">
            <a:extLst xmlns:a="http://schemas.openxmlformats.org/drawingml/2006/main">
              <a:ext uri="{FF2B5EF4-FFF2-40B4-BE49-F238E27FC236}">
                <a16:creationId xmlns:a16="http://schemas.microsoft.com/office/drawing/2014/main" id="{97669F65-323D-4929-A8D7-CD00336BEF09}"/>
              </a:ext>
            </a:extLst>
          </p:cNvPr>
          <p:cNvSpPr>
            <a:spLocks xmlns:a="http://schemas.openxmlformats.org/drawingml/2006/main" noGrp="1"/>
          </p:cNvSpPr>
          <p:nvPr/>
        </p:nvSpPr>
        <p:spPr>
          <a:xfrm xmlns:a="http://schemas.openxmlformats.org/drawingml/2006/main">
            <a:off x="2343150" y="3836670"/>
            <a:ext cx="18097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Strafverfahren</a:t>
            </a:r>
          </a:p>
        </p:txBody>
      </p:sp>
      <p:sp>
        <p:nvSpPr>
          <p:cNvPr id="17" name="">
            <a:extLst xmlns:a="http://schemas.openxmlformats.org/drawingml/2006/main">
              <a:ext uri="{FF2B5EF4-FFF2-40B4-BE49-F238E27FC236}">
                <a16:creationId xmlns:a16="http://schemas.microsoft.com/office/drawing/2014/main" id="{18FF6616-84DE-4E5C-8378-B15798635D56}"/>
              </a:ext>
            </a:extLst>
          </p:cNvPr>
          <p:cNvSpPr>
            <a:spLocks xmlns:a="http://schemas.openxmlformats.org/drawingml/2006/main" noGrp="1"/>
          </p:cNvSpPr>
          <p:nvPr/>
        </p:nvSpPr>
        <p:spPr>
          <a:xfrm xmlns:a="http://schemas.openxmlformats.org/drawingml/2006/main">
            <a:off x="4286250" y="3836670"/>
            <a:ext cx="69532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35">
                <a:solidFill>
                  <a:srgbClr val="15232B"/>
                </a:solidFill>
              </a:defRPr>
            </a:pPr>
            <a:r>
              <a:rPr sz="1035">
                <a:solidFill>
                  <a:srgbClr val="15232B"/>
                </a:solidFill>
              </a:rPr>
              <a:t>Vergleichserklärungen werden nicht unkoordiniert als strafrechtliche Einlassung formuliert.</a:t>
            </a:r>
          </a:p>
        </p:txBody>
      </p:sp>
      <p:sp>
        <p:nvSpPr>
          <p:cNvPr id="18" name="">
            <a:extLst xmlns:a="http://schemas.openxmlformats.org/drawingml/2006/main">
              <a:ext uri="{FF2B5EF4-FFF2-40B4-BE49-F238E27FC236}">
                <a16:creationId xmlns:a16="http://schemas.microsoft.com/office/drawing/2014/main" id="{39AB0BF2-1C03-486B-8025-D18FDF81C535}"/>
              </a:ext>
            </a:extLst>
          </p:cNvPr>
          <p:cNvSpPr>
            <a:spLocks xmlns:a="http://schemas.openxmlformats.org/drawingml/2006/main" noGrp="1"/>
          </p:cNvSpPr>
          <p:nvPr/>
        </p:nvSpPr>
        <p:spPr>
          <a:xfrm xmlns:a="http://schemas.openxmlformats.org/drawingml/2006/main">
            <a:off x="1809750" y="4316730"/>
            <a:ext cx="381000" cy="381000"/>
          </a:xfrm>
          <a:prstGeom xmlns:a="http://schemas.openxmlformats.org/drawingml/2006/main" prst="roundRect">
            <a:avLst>
              <a:gd name="adj" fmla="val 20000"/>
            </a:avLst>
          </a:prstGeom>
          <a:solidFill xmlns:a="http://schemas.openxmlformats.org/drawingml/2006/main">
            <a:srgbClr val="003F6B"/>
          </a:solidFill>
          <a:ln xmlns:a="http://schemas.openxmlformats.org/drawingml/2006/main" w="0">
            <a:solidFill>
              <a:srgbClr val="003F6B"/>
            </a:solidFill>
            <a:prstDash val="solid"/>
          </a:ln>
        </p:spPr>
      </p:sp>
      <p:sp>
        <p:nvSpPr>
          <p:cNvPr id="19" name="">
            <a:extLst xmlns:a="http://schemas.openxmlformats.org/drawingml/2006/main">
              <a:ext uri="{FF2B5EF4-FFF2-40B4-BE49-F238E27FC236}">
                <a16:creationId xmlns:a16="http://schemas.microsoft.com/office/drawing/2014/main" id="{6F95DD08-300D-4C86-A498-63DF352E3B8F}"/>
              </a:ext>
            </a:extLst>
          </p:cNvPr>
          <p:cNvSpPr>
            <a:spLocks xmlns:a="http://schemas.openxmlformats.org/drawingml/2006/main" noGrp="1"/>
          </p:cNvSpPr>
          <p:nvPr/>
        </p:nvSpPr>
        <p:spPr>
          <a:xfrm xmlns:a="http://schemas.openxmlformats.org/drawingml/2006/main">
            <a:off x="1809750" y="431673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20" name="">
            <a:extLst xmlns:a="http://schemas.openxmlformats.org/drawingml/2006/main">
              <a:ext uri="{FF2B5EF4-FFF2-40B4-BE49-F238E27FC236}">
                <a16:creationId xmlns:a16="http://schemas.microsoft.com/office/drawing/2014/main" id="{31B1D3A4-B05B-4C98-A4FC-74B2C82EAD03}"/>
              </a:ext>
            </a:extLst>
          </p:cNvPr>
          <p:cNvSpPr>
            <a:spLocks xmlns:a="http://schemas.openxmlformats.org/drawingml/2006/main" noGrp="1"/>
          </p:cNvSpPr>
          <p:nvPr/>
        </p:nvSpPr>
        <p:spPr>
          <a:xfrm xmlns:a="http://schemas.openxmlformats.org/drawingml/2006/main">
            <a:off x="2343150" y="4297680"/>
            <a:ext cx="18097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Berufsrecht</a:t>
            </a:r>
          </a:p>
        </p:txBody>
      </p:sp>
      <p:sp>
        <p:nvSpPr>
          <p:cNvPr id="21" name="">
            <a:extLst xmlns:a="http://schemas.openxmlformats.org/drawingml/2006/main">
              <a:ext uri="{FF2B5EF4-FFF2-40B4-BE49-F238E27FC236}">
                <a16:creationId xmlns:a16="http://schemas.microsoft.com/office/drawing/2014/main" id="{C05DE8C7-B4AF-4FA9-B856-2616659C5063}"/>
              </a:ext>
            </a:extLst>
          </p:cNvPr>
          <p:cNvSpPr>
            <a:spLocks xmlns:a="http://schemas.openxmlformats.org/drawingml/2006/main" noGrp="1"/>
          </p:cNvSpPr>
          <p:nvPr/>
        </p:nvSpPr>
        <p:spPr>
          <a:xfrm xmlns:a="http://schemas.openxmlformats.org/drawingml/2006/main">
            <a:off x="4286250" y="4297680"/>
            <a:ext cx="69532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35">
                <a:solidFill>
                  <a:srgbClr val="15232B"/>
                </a:solidFill>
              </a:defRPr>
            </a:pPr>
            <a:r>
              <a:rPr sz="1035">
                <a:solidFill>
                  <a:srgbClr val="15232B"/>
                </a:solidFill>
              </a:rPr>
              <a:t>Informationspflichten und mögliche Kammerfolgen werden eigenständig bewertet.</a:t>
            </a:r>
          </a:p>
        </p:txBody>
      </p:sp>
      <p:sp>
        <p:nvSpPr>
          <p:cNvPr id="22" name="">
            <a:extLst xmlns:a="http://schemas.openxmlformats.org/drawingml/2006/main">
              <a:ext uri="{FF2B5EF4-FFF2-40B4-BE49-F238E27FC236}">
                <a16:creationId xmlns:a16="http://schemas.microsoft.com/office/drawing/2014/main" id="{D526A3FB-DDFA-4EDF-BC13-CC34CAF88B73}"/>
              </a:ext>
            </a:extLst>
          </p:cNvPr>
          <p:cNvSpPr>
            <a:spLocks xmlns:a="http://schemas.openxmlformats.org/drawingml/2006/main" noGrp="1"/>
          </p:cNvSpPr>
          <p:nvPr/>
        </p:nvSpPr>
        <p:spPr>
          <a:xfrm xmlns:a="http://schemas.openxmlformats.org/drawingml/2006/main">
            <a:off x="1809750" y="4777740"/>
            <a:ext cx="381000" cy="381000"/>
          </a:xfrm>
          <a:prstGeom xmlns:a="http://schemas.openxmlformats.org/drawingml/2006/main" prst="roundRect">
            <a:avLst>
              <a:gd name="adj" fmla="val 20000"/>
            </a:avLst>
          </a:prstGeom>
          <a:solidFill xmlns:a="http://schemas.openxmlformats.org/drawingml/2006/main">
            <a:srgbClr val="00B2BB"/>
          </a:solidFill>
          <a:ln xmlns:a="http://schemas.openxmlformats.org/drawingml/2006/main" w="0">
            <a:solidFill>
              <a:srgbClr val="00B2BB"/>
            </a:solidFill>
            <a:prstDash val="solid"/>
          </a:ln>
        </p:spPr>
      </p:sp>
      <p:sp>
        <p:nvSpPr>
          <p:cNvPr id="23" name="">
            <a:extLst xmlns:a="http://schemas.openxmlformats.org/drawingml/2006/main">
              <a:ext uri="{FF2B5EF4-FFF2-40B4-BE49-F238E27FC236}">
                <a16:creationId xmlns:a16="http://schemas.microsoft.com/office/drawing/2014/main" id="{2BBE1DE0-ADDE-44E0-88C0-8D73D29A4F80}"/>
              </a:ext>
            </a:extLst>
          </p:cNvPr>
          <p:cNvSpPr>
            <a:spLocks xmlns:a="http://schemas.openxmlformats.org/drawingml/2006/main" noGrp="1"/>
          </p:cNvSpPr>
          <p:nvPr/>
        </p:nvSpPr>
        <p:spPr>
          <a:xfrm xmlns:a="http://schemas.openxmlformats.org/drawingml/2006/main">
            <a:off x="1809750" y="477774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5</a:t>
            </a:r>
          </a:p>
        </p:txBody>
      </p:sp>
      <p:sp>
        <p:nvSpPr>
          <p:cNvPr id="24" name="">
            <a:extLst xmlns:a="http://schemas.openxmlformats.org/drawingml/2006/main">
              <a:ext uri="{FF2B5EF4-FFF2-40B4-BE49-F238E27FC236}">
                <a16:creationId xmlns:a16="http://schemas.microsoft.com/office/drawing/2014/main" id="{F13215BE-D027-4B66-A622-0DD8690D59C1}"/>
              </a:ext>
            </a:extLst>
          </p:cNvPr>
          <p:cNvSpPr>
            <a:spLocks xmlns:a="http://schemas.openxmlformats.org/drawingml/2006/main" noGrp="1"/>
          </p:cNvSpPr>
          <p:nvPr/>
        </p:nvSpPr>
        <p:spPr>
          <a:xfrm xmlns:a="http://schemas.openxmlformats.org/drawingml/2006/main">
            <a:off x="2343150" y="4758690"/>
            <a:ext cx="18097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40" b="1">
                <a:solidFill>
                  <a:srgbClr val="003F6B"/>
                </a:solidFill>
              </a:defRPr>
            </a:pPr>
            <a:r>
              <a:rPr sz="1140" b="1">
                <a:solidFill>
                  <a:srgbClr val="003F6B"/>
                </a:solidFill>
              </a:rPr>
              <a:t>Patientensicherheit</a:t>
            </a:r>
          </a:p>
        </p:txBody>
      </p:sp>
      <p:sp>
        <p:nvSpPr>
          <p:cNvPr id="25" name="">
            <a:extLst xmlns:a="http://schemas.openxmlformats.org/drawingml/2006/main">
              <a:ext uri="{FF2B5EF4-FFF2-40B4-BE49-F238E27FC236}">
                <a16:creationId xmlns:a16="http://schemas.microsoft.com/office/drawing/2014/main" id="{70795834-4EE8-4C6B-9640-48D8AEBC9674}"/>
              </a:ext>
            </a:extLst>
          </p:cNvPr>
          <p:cNvSpPr>
            <a:spLocks xmlns:a="http://schemas.openxmlformats.org/drawingml/2006/main" noGrp="1"/>
          </p:cNvSpPr>
          <p:nvPr/>
        </p:nvSpPr>
        <p:spPr>
          <a:xfrm xmlns:a="http://schemas.openxmlformats.org/drawingml/2006/main">
            <a:off x="4286250" y="4758690"/>
            <a:ext cx="6953250" cy="3848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35">
                <a:solidFill>
                  <a:srgbClr val="15232B"/>
                </a:solidFill>
              </a:defRPr>
            </a:pPr>
            <a:r>
              <a:rPr sz="1035">
                <a:solidFill>
                  <a:srgbClr val="15232B"/>
                </a:solidFill>
              </a:rPr>
              <a:t>Unabhängig vom Rechtsausgang werden Übergabe- und Eskalationsprozesse verbessert.</a:t>
            </a:r>
          </a:p>
        </p:txBody>
      </p:sp>
      <p:sp>
        <p:nvSpPr>
          <p:cNvPr id="26" name="">
            <a:extLst xmlns:a="http://schemas.openxmlformats.org/drawingml/2006/main">
              <a:ext uri="{FF2B5EF4-FFF2-40B4-BE49-F238E27FC236}">
                <a16:creationId xmlns:a16="http://schemas.microsoft.com/office/drawing/2014/main" id="{2D0D56DB-EE26-46F1-9545-B0E6C683A25D}"/>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20">
                <a:solidFill>
                  <a:srgbClr val="667680"/>
                </a:solidFill>
              </a:defRPr>
            </a:pPr>
            <a:r>
              <a:rPr sz="720">
                <a:solidFill>
                  <a:srgbClr val="667680"/>
                </a:solidFill>
              </a:rPr>
              <a:t>Synthesefall nach BGH, Urt. v. 07.06.2011 – VI ZR 87/10 und BGH, Beschl. v. 07.05.2019 – VI ZR 257/17 · https://juris.bundesgerichtshof.de</a:t>
            </a:r>
          </a:p>
        </p:txBody>
      </p:sp>
      <p:sp>
        <p:nvSpPr>
          <p:cNvPr id="27" name="">
            <a:extLst xmlns:a="http://schemas.openxmlformats.org/drawingml/2006/main">
              <a:ext uri="{FF2B5EF4-FFF2-40B4-BE49-F238E27FC236}">
                <a16:creationId xmlns:a16="http://schemas.microsoft.com/office/drawing/2014/main" id="{2A15D645-D5BC-46E5-816A-C381246BD98B}"/>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8" name="">
            <a:extLst xmlns:a="http://schemas.openxmlformats.org/drawingml/2006/main">
              <a:ext uri="{FF2B5EF4-FFF2-40B4-BE49-F238E27FC236}">
                <a16:creationId xmlns:a16="http://schemas.microsoft.com/office/drawing/2014/main" id="{4E43B945-FAB1-4B5B-901D-F05F78AFA815}"/>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Gute Praxis hält rechtliche Strategie, faire Kommunikation und Systemlernen gleichzeitig aus.</a:t>
            </a:r>
          </a:p>
        </p:txBody>
      </p:sp>
    </p:spTree>
    <p:extLst>
      <p:ext uri="{BB962C8B-B14F-4D97-AF65-F5344CB8AC3E}">
        <p14:creationId xmlns:p14="http://schemas.microsoft.com/office/powerpoint/2010/main" val="43637646"/>
      </p:ext>
    </p:extLst>
  </p:cSld>
</p:sld>
</file>

<file path=ppt/slides/slide398.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Prüfungs- und Praxisformel</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PRÜFUNGSSCHEMA · RECHT BEKOMMEN</a:t>
            </a:r>
            <a:endParaRPr/>
          </a:p>
        </p:txBody>
      </p:sp>
      <p:sp>
        <p:nvSpPr>
          <p:cNvPr id="4" name="">
            <a:extLst xmlns:a="http://schemas.openxmlformats.org/drawingml/2006/main">
              <a:ext uri="{FF2B5EF4-FFF2-40B4-BE49-F238E27FC236}">
                <a16:creationId xmlns:a16="http://schemas.microsoft.com/office/drawing/2014/main" id="{B1C819A9-D07C-4647-B979-33BB9DAB9A6B}"/>
              </a:ext>
            </a:extLst>
          </p:cNvPr>
          <p:cNvSpPr>
            <a:spLocks xmlns:a="http://schemas.openxmlformats.org/drawingml/2006/main" noGrp="1"/>
          </p:cNvSpPr>
          <p:nvPr/>
        </p:nvSpPr>
        <p:spPr>
          <a:xfrm xmlns:a="http://schemas.openxmlformats.org/drawingml/2006/main">
            <a:off x="1809750" y="1952625"/>
            <a:ext cx="400050" cy="823913"/>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9DCA1618-4E08-4839-871D-7A87985901F0}"/>
              </a:ext>
            </a:extLst>
          </p:cNvPr>
          <p:cNvSpPr>
            <a:spLocks xmlns:a="http://schemas.openxmlformats.org/drawingml/2006/main" noGrp="1"/>
          </p:cNvSpPr>
          <p:nvPr/>
        </p:nvSpPr>
        <p:spPr>
          <a:xfrm xmlns:a="http://schemas.openxmlformats.org/drawingml/2006/main">
            <a:off x="1809750" y="1952625"/>
            <a:ext cx="400050" cy="8239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6" name="">
            <a:extLst xmlns:a="http://schemas.openxmlformats.org/drawingml/2006/main">
              <a:ext uri="{FF2B5EF4-FFF2-40B4-BE49-F238E27FC236}">
                <a16:creationId xmlns:a16="http://schemas.microsoft.com/office/drawing/2014/main" id="{697AF39D-B6EA-4502-B27C-35465858B4E8}"/>
              </a:ext>
            </a:extLst>
          </p:cNvPr>
          <p:cNvSpPr>
            <a:spLocks xmlns:a="http://schemas.openxmlformats.org/drawingml/2006/main" noGrp="1"/>
          </p:cNvSpPr>
          <p:nvPr/>
        </p:nvSpPr>
        <p:spPr>
          <a:xfrm xmlns:a="http://schemas.openxmlformats.org/drawingml/2006/main">
            <a:off x="2324100" y="1962150"/>
            <a:ext cx="1476375" cy="8048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95" b="1">
                <a:solidFill>
                  <a:srgbClr val="003F6B"/>
                </a:solidFill>
              </a:defRPr>
            </a:pPr>
            <a:r>
              <a:rPr sz="1095" b="1">
                <a:solidFill>
                  <a:srgbClr val="003F6B"/>
                </a:solidFill>
              </a:rPr>
              <a:t>1. Frage präzisieren</a:t>
            </a:r>
          </a:p>
        </p:txBody>
      </p:sp>
      <p:sp>
        <p:nvSpPr>
          <p:cNvPr id="7" name="">
            <a:extLst xmlns:a="http://schemas.openxmlformats.org/drawingml/2006/main">
              <a:ext uri="{FF2B5EF4-FFF2-40B4-BE49-F238E27FC236}">
                <a16:creationId xmlns:a16="http://schemas.microsoft.com/office/drawing/2014/main" id="{34C8A0B1-5918-4A97-BDC9-D0050A146EA0}"/>
              </a:ext>
            </a:extLst>
          </p:cNvPr>
          <p:cNvSpPr>
            <a:spLocks xmlns:a="http://schemas.openxmlformats.org/drawingml/2006/main" noGrp="1"/>
          </p:cNvSpPr>
          <p:nvPr/>
        </p:nvSpPr>
        <p:spPr>
          <a:xfrm xmlns:a="http://schemas.openxmlformats.org/drawingml/2006/main">
            <a:off x="3905250" y="1962150"/>
            <a:ext cx="2457450" cy="8048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98">
                <a:solidFill>
                  <a:srgbClr val="15232B"/>
                </a:solidFill>
              </a:defRPr>
            </a:pPr>
            <a:r>
              <a:rPr sz="998">
                <a:solidFill>
                  <a:srgbClr val="15232B"/>
                </a:solidFill>
              </a:rPr>
              <a:t>Wer will was von wem – und in welchem Verfahren?</a:t>
            </a:r>
          </a:p>
        </p:txBody>
      </p:sp>
      <p:sp>
        <p:nvSpPr>
          <p:cNvPr id="8" name="">
            <a:extLst xmlns:a="http://schemas.openxmlformats.org/drawingml/2006/main">
              <a:ext uri="{FF2B5EF4-FFF2-40B4-BE49-F238E27FC236}">
                <a16:creationId xmlns:a16="http://schemas.microsoft.com/office/drawing/2014/main" id="{6E4F4EA1-D73D-4139-894D-618E6C1431C5}"/>
              </a:ext>
            </a:extLst>
          </p:cNvPr>
          <p:cNvSpPr>
            <a:spLocks xmlns:a="http://schemas.openxmlformats.org/drawingml/2006/main" noGrp="1"/>
          </p:cNvSpPr>
          <p:nvPr/>
        </p:nvSpPr>
        <p:spPr>
          <a:xfrm xmlns:a="http://schemas.openxmlformats.org/drawingml/2006/main">
            <a:off x="1809750" y="2852738"/>
            <a:ext cx="400050" cy="823913"/>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9" name="">
            <a:extLst xmlns:a="http://schemas.openxmlformats.org/drawingml/2006/main">
              <a:ext uri="{FF2B5EF4-FFF2-40B4-BE49-F238E27FC236}">
                <a16:creationId xmlns:a16="http://schemas.microsoft.com/office/drawing/2014/main" id="{565BB950-4B4F-48B1-98EF-3D31F743850F}"/>
              </a:ext>
            </a:extLst>
          </p:cNvPr>
          <p:cNvSpPr>
            <a:spLocks xmlns:a="http://schemas.openxmlformats.org/drawingml/2006/main" noGrp="1"/>
          </p:cNvSpPr>
          <p:nvPr/>
        </p:nvSpPr>
        <p:spPr>
          <a:xfrm xmlns:a="http://schemas.openxmlformats.org/drawingml/2006/main">
            <a:off x="1809750" y="2852738"/>
            <a:ext cx="400050" cy="8239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0" name="">
            <a:extLst xmlns:a="http://schemas.openxmlformats.org/drawingml/2006/main">
              <a:ext uri="{FF2B5EF4-FFF2-40B4-BE49-F238E27FC236}">
                <a16:creationId xmlns:a16="http://schemas.microsoft.com/office/drawing/2014/main" id="{07D89556-0594-4983-9BFA-83B0080168F1}"/>
              </a:ext>
            </a:extLst>
          </p:cNvPr>
          <p:cNvSpPr>
            <a:spLocks xmlns:a="http://schemas.openxmlformats.org/drawingml/2006/main" noGrp="1"/>
          </p:cNvSpPr>
          <p:nvPr/>
        </p:nvSpPr>
        <p:spPr>
          <a:xfrm xmlns:a="http://schemas.openxmlformats.org/drawingml/2006/main">
            <a:off x="2324100" y="2862263"/>
            <a:ext cx="1476375" cy="8048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95" b="1">
                <a:solidFill>
                  <a:srgbClr val="003F6B"/>
                </a:solidFill>
              </a:defRPr>
            </a:pPr>
            <a:r>
              <a:rPr sz="1095" b="1">
                <a:solidFill>
                  <a:srgbClr val="003F6B"/>
                </a:solidFill>
              </a:rPr>
              <a:t>2. Norm zerlegen</a:t>
            </a:r>
          </a:p>
        </p:txBody>
      </p:sp>
      <p:sp>
        <p:nvSpPr>
          <p:cNvPr id="11" name="">
            <a:extLst xmlns:a="http://schemas.openxmlformats.org/drawingml/2006/main">
              <a:ext uri="{FF2B5EF4-FFF2-40B4-BE49-F238E27FC236}">
                <a16:creationId xmlns:a16="http://schemas.microsoft.com/office/drawing/2014/main" id="{A95A83B8-B3CC-487D-9210-8026346720E2}"/>
              </a:ext>
            </a:extLst>
          </p:cNvPr>
          <p:cNvSpPr>
            <a:spLocks xmlns:a="http://schemas.openxmlformats.org/drawingml/2006/main" noGrp="1"/>
          </p:cNvSpPr>
          <p:nvPr/>
        </p:nvSpPr>
        <p:spPr>
          <a:xfrm xmlns:a="http://schemas.openxmlformats.org/drawingml/2006/main">
            <a:off x="3905250" y="2862263"/>
            <a:ext cx="2457450" cy="8048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98">
                <a:solidFill>
                  <a:srgbClr val="15232B"/>
                </a:solidFill>
              </a:defRPr>
            </a:pPr>
            <a:r>
              <a:rPr sz="998">
                <a:solidFill>
                  <a:srgbClr val="15232B"/>
                </a:solidFill>
              </a:rPr>
              <a:t>Rechtsgrundlage in definierte Tatbestandsmerkmale aufteilen.</a:t>
            </a:r>
          </a:p>
        </p:txBody>
      </p:sp>
      <p:sp>
        <p:nvSpPr>
          <p:cNvPr id="12" name="">
            <a:extLst xmlns:a="http://schemas.openxmlformats.org/drawingml/2006/main">
              <a:ext uri="{FF2B5EF4-FFF2-40B4-BE49-F238E27FC236}">
                <a16:creationId xmlns:a16="http://schemas.microsoft.com/office/drawing/2014/main" id="{F7E5EC01-B47B-4DE8-853E-0557184C65B0}"/>
              </a:ext>
            </a:extLst>
          </p:cNvPr>
          <p:cNvSpPr>
            <a:spLocks xmlns:a="http://schemas.openxmlformats.org/drawingml/2006/main" noGrp="1"/>
          </p:cNvSpPr>
          <p:nvPr/>
        </p:nvSpPr>
        <p:spPr>
          <a:xfrm xmlns:a="http://schemas.openxmlformats.org/drawingml/2006/main">
            <a:off x="1809750" y="3752850"/>
            <a:ext cx="400050" cy="823913"/>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3" name="">
            <a:extLst xmlns:a="http://schemas.openxmlformats.org/drawingml/2006/main">
              <a:ext uri="{FF2B5EF4-FFF2-40B4-BE49-F238E27FC236}">
                <a16:creationId xmlns:a16="http://schemas.microsoft.com/office/drawing/2014/main" id="{ECBA2202-692E-4449-B7FE-E860CC09FF9D}"/>
              </a:ext>
            </a:extLst>
          </p:cNvPr>
          <p:cNvSpPr>
            <a:spLocks xmlns:a="http://schemas.openxmlformats.org/drawingml/2006/main" noGrp="1"/>
          </p:cNvSpPr>
          <p:nvPr/>
        </p:nvSpPr>
        <p:spPr>
          <a:xfrm xmlns:a="http://schemas.openxmlformats.org/drawingml/2006/main">
            <a:off x="1809750" y="3752850"/>
            <a:ext cx="400050" cy="8239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4" name="">
            <a:extLst xmlns:a="http://schemas.openxmlformats.org/drawingml/2006/main">
              <a:ext uri="{FF2B5EF4-FFF2-40B4-BE49-F238E27FC236}">
                <a16:creationId xmlns:a16="http://schemas.microsoft.com/office/drawing/2014/main" id="{A98C6B94-B3EC-49A5-8AEB-74216A0D3B80}"/>
              </a:ext>
            </a:extLst>
          </p:cNvPr>
          <p:cNvSpPr>
            <a:spLocks xmlns:a="http://schemas.openxmlformats.org/drawingml/2006/main" noGrp="1"/>
          </p:cNvSpPr>
          <p:nvPr/>
        </p:nvSpPr>
        <p:spPr>
          <a:xfrm xmlns:a="http://schemas.openxmlformats.org/drawingml/2006/main">
            <a:off x="2324100" y="3762375"/>
            <a:ext cx="1476375" cy="8048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95" b="1">
                <a:solidFill>
                  <a:srgbClr val="003F6B"/>
                </a:solidFill>
              </a:defRPr>
            </a:pPr>
            <a:r>
              <a:rPr sz="1095" b="1">
                <a:solidFill>
                  <a:srgbClr val="003F6B"/>
                </a:solidFill>
              </a:rPr>
              <a:t>3. Tatsachen ordnen</a:t>
            </a:r>
          </a:p>
        </p:txBody>
      </p:sp>
      <p:sp>
        <p:nvSpPr>
          <p:cNvPr id="15" name="">
            <a:extLst xmlns:a="http://schemas.openxmlformats.org/drawingml/2006/main">
              <a:ext uri="{FF2B5EF4-FFF2-40B4-BE49-F238E27FC236}">
                <a16:creationId xmlns:a16="http://schemas.microsoft.com/office/drawing/2014/main" id="{3EF9048C-D108-4AE7-93BB-A927A71D6B2F}"/>
              </a:ext>
            </a:extLst>
          </p:cNvPr>
          <p:cNvSpPr>
            <a:spLocks xmlns:a="http://schemas.openxmlformats.org/drawingml/2006/main" noGrp="1"/>
          </p:cNvSpPr>
          <p:nvPr/>
        </p:nvSpPr>
        <p:spPr>
          <a:xfrm xmlns:a="http://schemas.openxmlformats.org/drawingml/2006/main">
            <a:off x="3905250" y="3762375"/>
            <a:ext cx="2457450" cy="8048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98">
                <a:solidFill>
                  <a:srgbClr val="15232B"/>
                </a:solidFill>
              </a:defRPr>
            </a:pPr>
            <a:r>
              <a:rPr sz="998">
                <a:solidFill>
                  <a:srgbClr val="15232B"/>
                </a:solidFill>
              </a:rPr>
              <a:t>Chronologie, Rollen und Entscheidungszeitpunkt rekonstruieren.</a:t>
            </a:r>
          </a:p>
        </p:txBody>
      </p:sp>
      <p:sp>
        <p:nvSpPr>
          <p:cNvPr id="16" name="">
            <a:extLst xmlns:a="http://schemas.openxmlformats.org/drawingml/2006/main">
              <a:ext uri="{FF2B5EF4-FFF2-40B4-BE49-F238E27FC236}">
                <a16:creationId xmlns:a16="http://schemas.microsoft.com/office/drawing/2014/main" id="{599FFFE7-B9B2-44E1-B0D0-4BF18B7E3E2C}"/>
              </a:ext>
            </a:extLst>
          </p:cNvPr>
          <p:cNvSpPr>
            <a:spLocks xmlns:a="http://schemas.openxmlformats.org/drawingml/2006/main" noGrp="1"/>
          </p:cNvSpPr>
          <p:nvPr/>
        </p:nvSpPr>
        <p:spPr>
          <a:xfrm xmlns:a="http://schemas.openxmlformats.org/drawingml/2006/main">
            <a:off x="1809750" y="4652963"/>
            <a:ext cx="400050" cy="823913"/>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7" name="">
            <a:extLst xmlns:a="http://schemas.openxmlformats.org/drawingml/2006/main">
              <a:ext uri="{FF2B5EF4-FFF2-40B4-BE49-F238E27FC236}">
                <a16:creationId xmlns:a16="http://schemas.microsoft.com/office/drawing/2014/main" id="{1D6FC46D-C1FE-41CE-8D5F-D3C0C8BD1B73}"/>
              </a:ext>
            </a:extLst>
          </p:cNvPr>
          <p:cNvSpPr>
            <a:spLocks xmlns:a="http://schemas.openxmlformats.org/drawingml/2006/main" noGrp="1"/>
          </p:cNvSpPr>
          <p:nvPr/>
        </p:nvSpPr>
        <p:spPr>
          <a:xfrm xmlns:a="http://schemas.openxmlformats.org/drawingml/2006/main">
            <a:off x="1809750" y="4652963"/>
            <a:ext cx="400050" cy="8239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18" name="">
            <a:extLst xmlns:a="http://schemas.openxmlformats.org/drawingml/2006/main">
              <a:ext uri="{FF2B5EF4-FFF2-40B4-BE49-F238E27FC236}">
                <a16:creationId xmlns:a16="http://schemas.microsoft.com/office/drawing/2014/main" id="{FB594E44-C7FA-47F7-9534-1615E4A4E168}"/>
              </a:ext>
            </a:extLst>
          </p:cNvPr>
          <p:cNvSpPr>
            <a:spLocks xmlns:a="http://schemas.openxmlformats.org/drawingml/2006/main" noGrp="1"/>
          </p:cNvSpPr>
          <p:nvPr/>
        </p:nvSpPr>
        <p:spPr>
          <a:xfrm xmlns:a="http://schemas.openxmlformats.org/drawingml/2006/main">
            <a:off x="2324100" y="4662488"/>
            <a:ext cx="1476375" cy="8048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95" b="1">
                <a:solidFill>
                  <a:srgbClr val="003F6B"/>
                </a:solidFill>
              </a:defRPr>
            </a:pPr>
            <a:r>
              <a:rPr sz="1095" b="1">
                <a:solidFill>
                  <a:srgbClr val="003F6B"/>
                </a:solidFill>
              </a:rPr>
              <a:t>4. Beweis zuordnen</a:t>
            </a:r>
          </a:p>
        </p:txBody>
      </p:sp>
      <p:sp>
        <p:nvSpPr>
          <p:cNvPr id="19" name="">
            <a:extLst xmlns:a="http://schemas.openxmlformats.org/drawingml/2006/main">
              <a:ext uri="{FF2B5EF4-FFF2-40B4-BE49-F238E27FC236}">
                <a16:creationId xmlns:a16="http://schemas.microsoft.com/office/drawing/2014/main" id="{81151F75-7481-4FCF-86E2-3BC99AE0049E}"/>
              </a:ext>
            </a:extLst>
          </p:cNvPr>
          <p:cNvSpPr>
            <a:spLocks xmlns:a="http://schemas.openxmlformats.org/drawingml/2006/main" noGrp="1"/>
          </p:cNvSpPr>
          <p:nvPr/>
        </p:nvSpPr>
        <p:spPr>
          <a:xfrm xmlns:a="http://schemas.openxmlformats.org/drawingml/2006/main">
            <a:off x="3905250" y="4662488"/>
            <a:ext cx="2457450" cy="8048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98">
                <a:solidFill>
                  <a:srgbClr val="15232B"/>
                </a:solidFill>
              </a:defRPr>
            </a:pPr>
            <a:r>
              <a:rPr sz="998">
                <a:solidFill>
                  <a:srgbClr val="15232B"/>
                </a:solidFill>
              </a:rPr>
              <a:t>Für jede streitige Tatsache Last, Mittel und Beweismaß bestimmen.</a:t>
            </a:r>
          </a:p>
        </p:txBody>
      </p:sp>
      <p:sp>
        <p:nvSpPr>
          <p:cNvPr id="20" name="">
            <a:extLst xmlns:a="http://schemas.openxmlformats.org/drawingml/2006/main">
              <a:ext uri="{FF2B5EF4-FFF2-40B4-BE49-F238E27FC236}">
                <a16:creationId xmlns:a16="http://schemas.microsoft.com/office/drawing/2014/main" id="{D1B60064-0036-4B31-B883-532164712205}"/>
              </a:ext>
            </a:extLst>
          </p:cNvPr>
          <p:cNvSpPr>
            <a:spLocks xmlns:a="http://schemas.openxmlformats.org/drawingml/2006/main" noGrp="1"/>
          </p:cNvSpPr>
          <p:nvPr/>
        </p:nvSpPr>
        <p:spPr>
          <a:xfrm xmlns:a="http://schemas.openxmlformats.org/drawingml/2006/main">
            <a:off x="6705600" y="1952625"/>
            <a:ext cx="400050" cy="823913"/>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1" name="">
            <a:extLst xmlns:a="http://schemas.openxmlformats.org/drawingml/2006/main">
              <a:ext uri="{FF2B5EF4-FFF2-40B4-BE49-F238E27FC236}">
                <a16:creationId xmlns:a16="http://schemas.microsoft.com/office/drawing/2014/main" id="{0BAABF17-2D88-44E1-A272-F34C06FC7530}"/>
              </a:ext>
            </a:extLst>
          </p:cNvPr>
          <p:cNvSpPr>
            <a:spLocks xmlns:a="http://schemas.openxmlformats.org/drawingml/2006/main" noGrp="1"/>
          </p:cNvSpPr>
          <p:nvPr/>
        </p:nvSpPr>
        <p:spPr>
          <a:xfrm xmlns:a="http://schemas.openxmlformats.org/drawingml/2006/main">
            <a:off x="6705600" y="1952625"/>
            <a:ext cx="400050" cy="8239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5</a:t>
            </a:r>
          </a:p>
        </p:txBody>
      </p:sp>
      <p:sp>
        <p:nvSpPr>
          <p:cNvPr id="22" name="">
            <a:extLst xmlns:a="http://schemas.openxmlformats.org/drawingml/2006/main">
              <a:ext uri="{FF2B5EF4-FFF2-40B4-BE49-F238E27FC236}">
                <a16:creationId xmlns:a16="http://schemas.microsoft.com/office/drawing/2014/main" id="{CBF2F85C-E2C2-4F00-93B6-2BEC13102B06}"/>
              </a:ext>
            </a:extLst>
          </p:cNvPr>
          <p:cNvSpPr>
            <a:spLocks xmlns:a="http://schemas.openxmlformats.org/drawingml/2006/main" noGrp="1"/>
          </p:cNvSpPr>
          <p:nvPr/>
        </p:nvSpPr>
        <p:spPr>
          <a:xfrm xmlns:a="http://schemas.openxmlformats.org/drawingml/2006/main">
            <a:off x="7219950" y="1962150"/>
            <a:ext cx="1476375" cy="8048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95" b="1">
                <a:solidFill>
                  <a:srgbClr val="003F6B"/>
                </a:solidFill>
              </a:defRPr>
            </a:pPr>
            <a:r>
              <a:rPr sz="1095" b="1">
                <a:solidFill>
                  <a:srgbClr val="003F6B"/>
                </a:solidFill>
              </a:rPr>
              <a:t>5. Rechtsfolge planen</a:t>
            </a:r>
          </a:p>
        </p:txBody>
      </p:sp>
      <p:sp>
        <p:nvSpPr>
          <p:cNvPr id="23" name="">
            <a:extLst xmlns:a="http://schemas.openxmlformats.org/drawingml/2006/main">
              <a:ext uri="{FF2B5EF4-FFF2-40B4-BE49-F238E27FC236}">
                <a16:creationId xmlns:a16="http://schemas.microsoft.com/office/drawing/2014/main" id="{EECA79E9-4187-43A4-B08F-132A56BCB55A}"/>
              </a:ext>
            </a:extLst>
          </p:cNvPr>
          <p:cNvSpPr>
            <a:spLocks xmlns:a="http://schemas.openxmlformats.org/drawingml/2006/main" noGrp="1"/>
          </p:cNvSpPr>
          <p:nvPr/>
        </p:nvSpPr>
        <p:spPr>
          <a:xfrm xmlns:a="http://schemas.openxmlformats.org/drawingml/2006/main">
            <a:off x="8801100" y="1962150"/>
            <a:ext cx="2457450" cy="8048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98">
                <a:solidFill>
                  <a:srgbClr val="15232B"/>
                </a:solidFill>
              </a:defRPr>
            </a:pPr>
            <a:r>
              <a:rPr sz="998">
                <a:solidFill>
                  <a:srgbClr val="15232B"/>
                </a:solidFill>
              </a:rPr>
              <a:t>Zahlung, Feststellung, Freispruch, Aufhebung oder berufsrechtliche Folge konkret benennen.</a:t>
            </a:r>
          </a:p>
        </p:txBody>
      </p:sp>
      <p:sp>
        <p:nvSpPr>
          <p:cNvPr id="24" name="">
            <a:extLst xmlns:a="http://schemas.openxmlformats.org/drawingml/2006/main">
              <a:ext uri="{FF2B5EF4-FFF2-40B4-BE49-F238E27FC236}">
                <a16:creationId xmlns:a16="http://schemas.microsoft.com/office/drawing/2014/main" id="{0E0DA47B-4A58-4B07-B5DD-AB3BE6CC4C67}"/>
              </a:ext>
            </a:extLst>
          </p:cNvPr>
          <p:cNvSpPr>
            <a:spLocks xmlns:a="http://schemas.openxmlformats.org/drawingml/2006/main" noGrp="1"/>
          </p:cNvSpPr>
          <p:nvPr/>
        </p:nvSpPr>
        <p:spPr>
          <a:xfrm xmlns:a="http://schemas.openxmlformats.org/drawingml/2006/main">
            <a:off x="6705600" y="2852738"/>
            <a:ext cx="400050" cy="823913"/>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25" name="">
            <a:extLst xmlns:a="http://schemas.openxmlformats.org/drawingml/2006/main">
              <a:ext uri="{FF2B5EF4-FFF2-40B4-BE49-F238E27FC236}">
                <a16:creationId xmlns:a16="http://schemas.microsoft.com/office/drawing/2014/main" id="{17A88310-2A99-4130-A47F-D30536EE4947}"/>
              </a:ext>
            </a:extLst>
          </p:cNvPr>
          <p:cNvSpPr>
            <a:spLocks xmlns:a="http://schemas.openxmlformats.org/drawingml/2006/main" noGrp="1"/>
          </p:cNvSpPr>
          <p:nvPr/>
        </p:nvSpPr>
        <p:spPr>
          <a:xfrm xmlns:a="http://schemas.openxmlformats.org/drawingml/2006/main">
            <a:off x="6705600" y="2852738"/>
            <a:ext cx="400050" cy="8239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6</a:t>
            </a:r>
          </a:p>
        </p:txBody>
      </p:sp>
      <p:sp>
        <p:nvSpPr>
          <p:cNvPr id="26" name="">
            <a:extLst xmlns:a="http://schemas.openxmlformats.org/drawingml/2006/main">
              <a:ext uri="{FF2B5EF4-FFF2-40B4-BE49-F238E27FC236}">
                <a16:creationId xmlns:a16="http://schemas.microsoft.com/office/drawing/2014/main" id="{5B20779D-C152-4A93-9A8A-79E9A1D6FDA7}"/>
              </a:ext>
            </a:extLst>
          </p:cNvPr>
          <p:cNvSpPr>
            <a:spLocks xmlns:a="http://schemas.openxmlformats.org/drawingml/2006/main" noGrp="1"/>
          </p:cNvSpPr>
          <p:nvPr/>
        </p:nvSpPr>
        <p:spPr>
          <a:xfrm xmlns:a="http://schemas.openxmlformats.org/drawingml/2006/main">
            <a:off x="7219950" y="2862263"/>
            <a:ext cx="1476375" cy="8048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95" b="1">
                <a:solidFill>
                  <a:srgbClr val="003F6B"/>
                </a:solidFill>
              </a:defRPr>
            </a:pPr>
            <a:r>
              <a:rPr sz="1095" b="1">
                <a:solidFill>
                  <a:srgbClr val="003F6B"/>
                </a:solidFill>
              </a:rPr>
              <a:t>6. Verfahren steuern</a:t>
            </a:r>
          </a:p>
        </p:txBody>
      </p:sp>
      <p:sp>
        <p:nvSpPr>
          <p:cNvPr id="27" name="">
            <a:extLst xmlns:a="http://schemas.openxmlformats.org/drawingml/2006/main">
              <a:ext uri="{FF2B5EF4-FFF2-40B4-BE49-F238E27FC236}">
                <a16:creationId xmlns:a16="http://schemas.microsoft.com/office/drawing/2014/main" id="{40905965-0F2F-410C-ABF7-05711BCD0571}"/>
              </a:ext>
            </a:extLst>
          </p:cNvPr>
          <p:cNvSpPr>
            <a:spLocks xmlns:a="http://schemas.openxmlformats.org/drawingml/2006/main" noGrp="1"/>
          </p:cNvSpPr>
          <p:nvPr/>
        </p:nvSpPr>
        <p:spPr>
          <a:xfrm xmlns:a="http://schemas.openxmlformats.org/drawingml/2006/main">
            <a:off x="8801100" y="2862263"/>
            <a:ext cx="2457450" cy="8048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98">
                <a:solidFill>
                  <a:srgbClr val="15232B"/>
                </a:solidFill>
              </a:defRPr>
            </a:pPr>
            <a:r>
              <a:rPr sz="998">
                <a:solidFill>
                  <a:srgbClr val="15232B"/>
                </a:solidFill>
              </a:rPr>
              <a:t>Fristen, Beratung, Kommunikation und Schnittstellen aktiv managen.</a:t>
            </a:r>
          </a:p>
        </p:txBody>
      </p:sp>
      <p:sp>
        <p:nvSpPr>
          <p:cNvPr id="28" name="">
            <a:extLst xmlns:a="http://schemas.openxmlformats.org/drawingml/2006/main">
              <a:ext uri="{FF2B5EF4-FFF2-40B4-BE49-F238E27FC236}">
                <a16:creationId xmlns:a16="http://schemas.microsoft.com/office/drawing/2014/main" id="{257A83C8-8E1C-48D3-A5CD-6BDE64DD4B2C}"/>
              </a:ext>
            </a:extLst>
          </p:cNvPr>
          <p:cNvSpPr>
            <a:spLocks xmlns:a="http://schemas.openxmlformats.org/drawingml/2006/main" noGrp="1"/>
          </p:cNvSpPr>
          <p:nvPr/>
        </p:nvSpPr>
        <p:spPr>
          <a:xfrm xmlns:a="http://schemas.openxmlformats.org/drawingml/2006/main">
            <a:off x="6705600" y="3752850"/>
            <a:ext cx="400050" cy="823913"/>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9" name="">
            <a:extLst xmlns:a="http://schemas.openxmlformats.org/drawingml/2006/main">
              <a:ext uri="{FF2B5EF4-FFF2-40B4-BE49-F238E27FC236}">
                <a16:creationId xmlns:a16="http://schemas.microsoft.com/office/drawing/2014/main" id="{16ECD15B-5AE7-4D1C-9DA4-076DC5ED18D3}"/>
              </a:ext>
            </a:extLst>
          </p:cNvPr>
          <p:cNvSpPr>
            <a:spLocks xmlns:a="http://schemas.openxmlformats.org/drawingml/2006/main" noGrp="1"/>
          </p:cNvSpPr>
          <p:nvPr/>
        </p:nvSpPr>
        <p:spPr>
          <a:xfrm xmlns:a="http://schemas.openxmlformats.org/drawingml/2006/main">
            <a:off x="6705600" y="3752850"/>
            <a:ext cx="400050" cy="8239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7</a:t>
            </a:r>
          </a:p>
        </p:txBody>
      </p:sp>
      <p:sp>
        <p:nvSpPr>
          <p:cNvPr id="30" name="">
            <a:extLst xmlns:a="http://schemas.openxmlformats.org/drawingml/2006/main">
              <a:ext uri="{FF2B5EF4-FFF2-40B4-BE49-F238E27FC236}">
                <a16:creationId xmlns:a16="http://schemas.microsoft.com/office/drawing/2014/main" id="{1ACD082C-6379-4ACB-BA4D-CCB2435B9CAB}"/>
              </a:ext>
            </a:extLst>
          </p:cNvPr>
          <p:cNvSpPr>
            <a:spLocks xmlns:a="http://schemas.openxmlformats.org/drawingml/2006/main" noGrp="1"/>
          </p:cNvSpPr>
          <p:nvPr/>
        </p:nvSpPr>
        <p:spPr>
          <a:xfrm xmlns:a="http://schemas.openxmlformats.org/drawingml/2006/main">
            <a:off x="7219950" y="3762375"/>
            <a:ext cx="1476375" cy="8048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95" b="1">
                <a:solidFill>
                  <a:srgbClr val="003F6B"/>
                </a:solidFill>
              </a:defRPr>
            </a:pPr>
            <a:r>
              <a:rPr sz="1095" b="1">
                <a:solidFill>
                  <a:srgbClr val="003F6B"/>
                </a:solidFill>
              </a:rPr>
              <a:t>7. Lernen</a:t>
            </a:r>
          </a:p>
        </p:txBody>
      </p:sp>
      <p:sp>
        <p:nvSpPr>
          <p:cNvPr id="31" name="">
            <a:extLst xmlns:a="http://schemas.openxmlformats.org/drawingml/2006/main">
              <a:ext uri="{FF2B5EF4-FFF2-40B4-BE49-F238E27FC236}">
                <a16:creationId xmlns:a16="http://schemas.microsoft.com/office/drawing/2014/main" id="{6B68B1B3-BEDE-4FE6-B969-7EA4DCF6A98A}"/>
              </a:ext>
            </a:extLst>
          </p:cNvPr>
          <p:cNvSpPr>
            <a:spLocks xmlns:a="http://schemas.openxmlformats.org/drawingml/2006/main" noGrp="1"/>
          </p:cNvSpPr>
          <p:nvPr/>
        </p:nvSpPr>
        <p:spPr>
          <a:xfrm xmlns:a="http://schemas.openxmlformats.org/drawingml/2006/main">
            <a:off x="8801100" y="3762375"/>
            <a:ext cx="2457450" cy="8048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98">
                <a:solidFill>
                  <a:srgbClr val="15232B"/>
                </a:solidFill>
              </a:defRPr>
            </a:pPr>
            <a:r>
              <a:rPr sz="998">
                <a:solidFill>
                  <a:srgbClr val="15232B"/>
                </a:solidFill>
              </a:rPr>
              <a:t>Unabhängig vom Ergebnis die klinische Sicherheitsbarriere verbessern.</a:t>
            </a:r>
          </a:p>
        </p:txBody>
      </p:sp>
      <p:sp>
        <p:nvSpPr>
          <p:cNvPr id="32" name="">
            <a:extLst xmlns:a="http://schemas.openxmlformats.org/drawingml/2006/main">
              <a:ext uri="{FF2B5EF4-FFF2-40B4-BE49-F238E27FC236}">
                <a16:creationId xmlns:a16="http://schemas.microsoft.com/office/drawing/2014/main" id="{A232C7CE-F7A1-450C-A29D-9A32E12E49A2}"/>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33" name="">
            <a:extLst xmlns:a="http://schemas.openxmlformats.org/drawingml/2006/main">
              <a:ext uri="{FF2B5EF4-FFF2-40B4-BE49-F238E27FC236}">
                <a16:creationId xmlns:a16="http://schemas.microsoft.com/office/drawing/2014/main" id="{798B2584-BD19-496F-A6C6-1BFB8A652A6C}"/>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Recht bekommen ist angewandte Struktur: Norm + Tatsache + Beweis + Verfahren + Rechtsfolge.</a:t>
            </a:r>
          </a:p>
        </p:txBody>
      </p:sp>
    </p:spTree>
    <p:extLst>
      <p:ext uri="{BB962C8B-B14F-4D97-AF65-F5344CB8AC3E}">
        <p14:creationId xmlns:p14="http://schemas.microsoft.com/office/powerpoint/2010/main" val="43637646"/>
      </p:ext>
    </p:extLst>
  </p:cSld>
</p:sld>
</file>

<file path=ppt/slides/slide399.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Capstone: Ein Fall, vier Akten, 45 Minuten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SEMESTERSIMULATION</a:t>
            </a:r>
            <a:endParaRPr/>
          </a:p>
        </p:txBody>
      </p:sp>
      <p:sp>
        <p:nvSpPr>
          <p:cNvPr id="4" name="">
            <a:extLst xmlns:a="http://schemas.openxmlformats.org/drawingml/2006/main">
              <a:ext uri="{FF2B5EF4-FFF2-40B4-BE49-F238E27FC236}">
                <a16:creationId xmlns:a16="http://schemas.microsoft.com/office/drawing/2014/main" id="{084E44F0-CD92-44FF-95CB-06EF2A662554}"/>
              </a:ext>
            </a:extLst>
          </p:cNvPr>
          <p:cNvSpPr>
            <a:spLocks xmlns:a="http://schemas.openxmlformats.org/drawingml/2006/main" noGrp="1"/>
          </p:cNvSpPr>
          <p:nvPr/>
        </p:nvSpPr>
        <p:spPr>
          <a:xfrm xmlns:a="http://schemas.openxmlformats.org/drawingml/2006/main">
            <a:off x="1809750" y="1952625"/>
            <a:ext cx="4429125" cy="3276600"/>
          </a:xfrm>
          <a:prstGeom xmlns:a="http://schemas.openxmlformats.org/drawingml/2006/main" prst="roundRect">
            <a:avLst>
              <a:gd name="adj" fmla="val 2326"/>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23C99953-0788-465B-A1AB-14AF54001448}"/>
              </a:ext>
            </a:extLst>
          </p:cNvPr>
          <p:cNvSpPr>
            <a:spLocks xmlns:a="http://schemas.openxmlformats.org/drawingml/2006/main" noGrp="1"/>
          </p:cNvSpPr>
          <p:nvPr/>
        </p:nvSpPr>
        <p:spPr>
          <a:xfrm xmlns:a="http://schemas.openxmlformats.org/drawingml/2006/main">
            <a:off x="1809750" y="1952625"/>
            <a:ext cx="4429125" cy="76200"/>
          </a:xfrm>
          <a:prstGeom xmlns:a="http://schemas.openxmlformats.org/drawingml/2006/main" prst="rect">
            <a:avLst/>
          </a:prstGeom>
          <a:solidFill xmlns:a="http://schemas.openxmlformats.org/drawingml/2006/main">
            <a:srgbClr val="D53D0E"/>
          </a:solidFill>
          <a:ln xmlns:a="http://schemas.openxmlformats.org/drawingml/2006/main" w="0">
            <a:solidFill>
              <a:srgbClr val="D53D0E"/>
            </a:solidFill>
            <a:prstDash val="solid"/>
          </a:ln>
        </p:spPr>
      </p:sp>
      <p:sp>
        <p:nvSpPr>
          <p:cNvPr id="6" name="">
            <a:extLst xmlns:a="http://schemas.openxmlformats.org/drawingml/2006/main">
              <a:ext uri="{FF2B5EF4-FFF2-40B4-BE49-F238E27FC236}">
                <a16:creationId xmlns:a16="http://schemas.microsoft.com/office/drawing/2014/main" id="{023029E3-A93B-4A71-81AA-7CB8C56FD3AE}"/>
              </a:ext>
            </a:extLst>
          </p:cNvPr>
          <p:cNvSpPr>
            <a:spLocks xmlns:a="http://schemas.openxmlformats.org/drawingml/2006/main" noGrp="1"/>
          </p:cNvSpPr>
          <p:nvPr/>
        </p:nvSpPr>
        <p:spPr>
          <a:xfrm xmlns:a="http://schemas.openxmlformats.org/drawingml/2006/main">
            <a:off x="1962150" y="2085975"/>
            <a:ext cx="41243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350" b="1">
                <a:solidFill>
                  <a:srgbClr val="003F6B"/>
                </a:solidFill>
              </a:defRPr>
            </a:pPr>
            <a:r>
              <a:rPr sz="1350" b="1">
                <a:solidFill>
                  <a:srgbClr val="003F6B"/>
                </a:solidFill>
              </a:rPr>
              <a:t>Szenario</a:t>
            </a:r>
          </a:p>
        </p:txBody>
      </p:sp>
      <p:sp>
        <p:nvSpPr>
          <p:cNvPr id="7" name="">
            <a:extLst xmlns:a="http://schemas.openxmlformats.org/drawingml/2006/main">
              <a:ext uri="{FF2B5EF4-FFF2-40B4-BE49-F238E27FC236}">
                <a16:creationId xmlns:a16="http://schemas.microsoft.com/office/drawing/2014/main" id="{56889540-08D7-4DA3-B1DB-27DF50D5B1EA}"/>
              </a:ext>
            </a:extLst>
          </p:cNvPr>
          <p:cNvSpPr>
            <a:spLocks xmlns:a="http://schemas.openxmlformats.org/drawingml/2006/main" noGrp="1"/>
          </p:cNvSpPr>
          <p:nvPr/>
        </p:nvSpPr>
        <p:spPr>
          <a:xfrm xmlns:a="http://schemas.openxmlformats.org/drawingml/2006/main">
            <a:off x="1962150" y="2524125"/>
            <a:ext cx="4124325"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a:solidFill>
                  <a:srgbClr val="15232B"/>
                </a:solidFill>
              </a:defRPr>
            </a:pPr>
            <a:r>
              <a:rPr sz="1238">
                <a:solidFill>
                  <a:srgbClr val="15232B"/>
                </a:solidFill>
              </a:rPr>
              <a:t>Medikationsverwechslung führt zu Intensivpflicht. Die Familie verlangt Aufklärung; die Klinik bittet um Stellungnahme; eine Strafanzeige wird erwogen; die Kammer erhält später eine Beschwerde.</a:t>
            </a:r>
          </a:p>
        </p:txBody>
      </p:sp>
      <p:sp>
        <p:nvSpPr>
          <p:cNvPr id="8" name="">
            <a:extLst xmlns:a="http://schemas.openxmlformats.org/drawingml/2006/main">
              <a:ext uri="{FF2B5EF4-FFF2-40B4-BE49-F238E27FC236}">
                <a16:creationId xmlns:a16="http://schemas.microsoft.com/office/drawing/2014/main" id="{5AE9628E-22CB-4F36-BD26-24DE3CE3C998}"/>
              </a:ext>
            </a:extLst>
          </p:cNvPr>
          <p:cNvSpPr>
            <a:spLocks xmlns:a="http://schemas.openxmlformats.org/drawingml/2006/main" noGrp="1"/>
          </p:cNvSpPr>
          <p:nvPr/>
        </p:nvSpPr>
        <p:spPr>
          <a:xfrm xmlns:a="http://schemas.openxmlformats.org/drawingml/2006/main">
            <a:off x="6477000" y="1952625"/>
            <a:ext cx="2343150" cy="885825"/>
          </a:xfrm>
          <a:prstGeom xmlns:a="http://schemas.openxmlformats.org/drawingml/2006/main" prst="roundRect">
            <a:avLst>
              <a:gd name="adj" fmla="val 8602"/>
            </a:avLst>
          </a:prstGeom>
          <a:noFill xmlns:a="http://schemas.openxmlformats.org/drawingml/2006/main"/>
          <a:ln xmlns:a="http://schemas.openxmlformats.org/drawingml/2006/main" w="9525">
            <a:solidFill>
              <a:srgbClr val="B9CAD2"/>
            </a:solidFill>
            <a:prstDash val="solid"/>
          </a:ln>
        </p:spPr>
      </p:sp>
      <p:sp>
        <p:nvSpPr>
          <p:cNvPr id="9" name="">
            <a:extLst xmlns:a="http://schemas.openxmlformats.org/drawingml/2006/main">
              <a:ext uri="{FF2B5EF4-FFF2-40B4-BE49-F238E27FC236}">
                <a16:creationId xmlns:a16="http://schemas.microsoft.com/office/drawing/2014/main" id="{CE682476-4F48-4E18-B46C-0BC4006D20C3}"/>
              </a:ext>
            </a:extLst>
          </p:cNvPr>
          <p:cNvSpPr>
            <a:spLocks xmlns:a="http://schemas.openxmlformats.org/drawingml/2006/main" noGrp="1"/>
          </p:cNvSpPr>
          <p:nvPr/>
        </p:nvSpPr>
        <p:spPr>
          <a:xfrm xmlns:a="http://schemas.openxmlformats.org/drawingml/2006/main">
            <a:off x="6477000" y="1952625"/>
            <a:ext cx="234315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10" name="">
            <a:extLst xmlns:a="http://schemas.openxmlformats.org/drawingml/2006/main">
              <a:ext uri="{FF2B5EF4-FFF2-40B4-BE49-F238E27FC236}">
                <a16:creationId xmlns:a16="http://schemas.microsoft.com/office/drawing/2014/main" id="{76F65173-0A0D-4E22-9983-1AF9EE1AB000}"/>
              </a:ext>
            </a:extLst>
          </p:cNvPr>
          <p:cNvSpPr>
            <a:spLocks xmlns:a="http://schemas.openxmlformats.org/drawingml/2006/main" noGrp="1"/>
          </p:cNvSpPr>
          <p:nvPr/>
        </p:nvSpPr>
        <p:spPr>
          <a:xfrm xmlns:a="http://schemas.openxmlformats.org/drawingml/2006/main">
            <a:off x="6629400" y="2085975"/>
            <a:ext cx="203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b="1">
                <a:solidFill>
                  <a:srgbClr val="003F6B"/>
                </a:solidFill>
              </a:defRPr>
            </a:pPr>
            <a:r>
              <a:rPr sz="1050" b="1">
                <a:solidFill>
                  <a:srgbClr val="003F6B"/>
                </a:solidFill>
              </a:rPr>
              <a:t>Team Klinik</a:t>
            </a:r>
          </a:p>
        </p:txBody>
      </p:sp>
      <p:sp>
        <p:nvSpPr>
          <p:cNvPr id="11" name="">
            <a:extLst xmlns:a="http://schemas.openxmlformats.org/drawingml/2006/main">
              <a:ext uri="{FF2B5EF4-FFF2-40B4-BE49-F238E27FC236}">
                <a16:creationId xmlns:a16="http://schemas.microsoft.com/office/drawing/2014/main" id="{44F8F092-D93C-4FBA-AB18-7D4116F7D251}"/>
              </a:ext>
            </a:extLst>
          </p:cNvPr>
          <p:cNvSpPr>
            <a:spLocks xmlns:a="http://schemas.openxmlformats.org/drawingml/2006/main" noGrp="1"/>
          </p:cNvSpPr>
          <p:nvPr/>
        </p:nvSpPr>
        <p:spPr>
          <a:xfrm xmlns:a="http://schemas.openxmlformats.org/drawingml/2006/main">
            <a:off x="6629400" y="2352675"/>
            <a:ext cx="20383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885">
                <a:solidFill>
                  <a:srgbClr val="15232B"/>
                </a:solidFill>
              </a:defRPr>
            </a:pPr>
            <a:r>
              <a:rPr sz="885">
                <a:solidFill>
                  <a:srgbClr val="15232B"/>
                </a:solidFill>
              </a:rPr>
              <a:t>Akutplan + Gespräch + Meldeweg</a:t>
            </a:r>
          </a:p>
        </p:txBody>
      </p:sp>
      <p:sp>
        <p:nvSpPr>
          <p:cNvPr id="12" name="">
            <a:extLst xmlns:a="http://schemas.openxmlformats.org/drawingml/2006/main">
              <a:ext uri="{FF2B5EF4-FFF2-40B4-BE49-F238E27FC236}">
                <a16:creationId xmlns:a16="http://schemas.microsoft.com/office/drawing/2014/main" id="{BF405F56-8CC9-40F9-8137-6F2B5F2EFC6E}"/>
              </a:ext>
            </a:extLst>
          </p:cNvPr>
          <p:cNvSpPr>
            <a:spLocks xmlns:a="http://schemas.openxmlformats.org/drawingml/2006/main" noGrp="1"/>
          </p:cNvSpPr>
          <p:nvPr/>
        </p:nvSpPr>
        <p:spPr>
          <a:xfrm xmlns:a="http://schemas.openxmlformats.org/drawingml/2006/main">
            <a:off x="8896350" y="1952625"/>
            <a:ext cx="2343150" cy="885825"/>
          </a:xfrm>
          <a:prstGeom xmlns:a="http://schemas.openxmlformats.org/drawingml/2006/main" prst="roundRect">
            <a:avLst>
              <a:gd name="adj" fmla="val 8602"/>
            </a:avLst>
          </a:prstGeom>
          <a:noFill xmlns:a="http://schemas.openxmlformats.org/drawingml/2006/main"/>
          <a:ln xmlns:a="http://schemas.openxmlformats.org/drawingml/2006/main" w="9525">
            <a:solidFill>
              <a:srgbClr val="B9CAD2"/>
            </a:solidFill>
            <a:prstDash val="solid"/>
          </a:ln>
        </p:spPr>
      </p:sp>
      <p:sp>
        <p:nvSpPr>
          <p:cNvPr id="13" name="">
            <a:extLst xmlns:a="http://schemas.openxmlformats.org/drawingml/2006/main">
              <a:ext uri="{FF2B5EF4-FFF2-40B4-BE49-F238E27FC236}">
                <a16:creationId xmlns:a16="http://schemas.microsoft.com/office/drawing/2014/main" id="{519300EB-1742-43BA-A425-5C15958B4877}"/>
              </a:ext>
            </a:extLst>
          </p:cNvPr>
          <p:cNvSpPr>
            <a:spLocks xmlns:a="http://schemas.openxmlformats.org/drawingml/2006/main" noGrp="1"/>
          </p:cNvSpPr>
          <p:nvPr/>
        </p:nvSpPr>
        <p:spPr>
          <a:xfrm xmlns:a="http://schemas.openxmlformats.org/drawingml/2006/main">
            <a:off x="8896350" y="1952625"/>
            <a:ext cx="234315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4" name="">
            <a:extLst xmlns:a="http://schemas.openxmlformats.org/drawingml/2006/main">
              <a:ext uri="{FF2B5EF4-FFF2-40B4-BE49-F238E27FC236}">
                <a16:creationId xmlns:a16="http://schemas.microsoft.com/office/drawing/2014/main" id="{E977BAE6-B16D-4CCA-BA30-68DF5FD5851E}"/>
              </a:ext>
            </a:extLst>
          </p:cNvPr>
          <p:cNvSpPr>
            <a:spLocks xmlns:a="http://schemas.openxmlformats.org/drawingml/2006/main" noGrp="1"/>
          </p:cNvSpPr>
          <p:nvPr/>
        </p:nvSpPr>
        <p:spPr>
          <a:xfrm xmlns:a="http://schemas.openxmlformats.org/drawingml/2006/main">
            <a:off x="9048750" y="2085975"/>
            <a:ext cx="203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b="1">
                <a:solidFill>
                  <a:srgbClr val="003F6B"/>
                </a:solidFill>
              </a:defRPr>
            </a:pPr>
            <a:r>
              <a:rPr sz="1050" b="1">
                <a:solidFill>
                  <a:srgbClr val="003F6B"/>
                </a:solidFill>
              </a:rPr>
              <a:t>Team Zivilrecht</a:t>
            </a:r>
          </a:p>
        </p:txBody>
      </p:sp>
      <p:sp>
        <p:nvSpPr>
          <p:cNvPr id="15" name="">
            <a:extLst xmlns:a="http://schemas.openxmlformats.org/drawingml/2006/main">
              <a:ext uri="{FF2B5EF4-FFF2-40B4-BE49-F238E27FC236}">
                <a16:creationId xmlns:a16="http://schemas.microsoft.com/office/drawing/2014/main" id="{2C4D6625-6FE3-4341-99C5-028241D08D6D}"/>
              </a:ext>
            </a:extLst>
          </p:cNvPr>
          <p:cNvSpPr>
            <a:spLocks xmlns:a="http://schemas.openxmlformats.org/drawingml/2006/main" noGrp="1"/>
          </p:cNvSpPr>
          <p:nvPr/>
        </p:nvSpPr>
        <p:spPr>
          <a:xfrm xmlns:a="http://schemas.openxmlformats.org/drawingml/2006/main">
            <a:off x="9048750" y="2352675"/>
            <a:ext cx="20383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885">
                <a:solidFill>
                  <a:srgbClr val="15232B"/>
                </a:solidFill>
              </a:defRPr>
            </a:pPr>
            <a:r>
              <a:rPr sz="885">
                <a:solidFill>
                  <a:srgbClr val="15232B"/>
                </a:solidFill>
              </a:rPr>
              <a:t>Haftungskette + Beweise + außergerichtlicher Weg</a:t>
            </a:r>
          </a:p>
        </p:txBody>
      </p:sp>
      <p:sp>
        <p:nvSpPr>
          <p:cNvPr id="16" name="">
            <a:extLst xmlns:a="http://schemas.openxmlformats.org/drawingml/2006/main">
              <a:ext uri="{FF2B5EF4-FFF2-40B4-BE49-F238E27FC236}">
                <a16:creationId xmlns:a16="http://schemas.microsoft.com/office/drawing/2014/main" id="{9F646A48-3EEE-44DB-A47D-5BB9AB0F4321}"/>
              </a:ext>
            </a:extLst>
          </p:cNvPr>
          <p:cNvSpPr>
            <a:spLocks xmlns:a="http://schemas.openxmlformats.org/drawingml/2006/main" noGrp="1"/>
          </p:cNvSpPr>
          <p:nvPr/>
        </p:nvSpPr>
        <p:spPr>
          <a:xfrm xmlns:a="http://schemas.openxmlformats.org/drawingml/2006/main">
            <a:off x="6477000" y="2971800"/>
            <a:ext cx="2343150" cy="885825"/>
          </a:xfrm>
          <a:prstGeom xmlns:a="http://schemas.openxmlformats.org/drawingml/2006/main" prst="roundRect">
            <a:avLst>
              <a:gd name="adj" fmla="val 8602"/>
            </a:avLst>
          </a:prstGeom>
          <a:noFill xmlns:a="http://schemas.openxmlformats.org/drawingml/2006/main"/>
          <a:ln xmlns:a="http://schemas.openxmlformats.org/drawingml/2006/main" w="9525">
            <a:solidFill>
              <a:srgbClr val="B9CAD2"/>
            </a:solidFill>
            <a:prstDash val="solid"/>
          </a:ln>
        </p:spPr>
      </p:sp>
      <p:sp>
        <p:nvSpPr>
          <p:cNvPr id="17" name="">
            <a:extLst xmlns:a="http://schemas.openxmlformats.org/drawingml/2006/main">
              <a:ext uri="{FF2B5EF4-FFF2-40B4-BE49-F238E27FC236}">
                <a16:creationId xmlns:a16="http://schemas.microsoft.com/office/drawing/2014/main" id="{56EA098E-62BB-4627-A7D5-4EB0897108EE}"/>
              </a:ext>
            </a:extLst>
          </p:cNvPr>
          <p:cNvSpPr>
            <a:spLocks xmlns:a="http://schemas.openxmlformats.org/drawingml/2006/main" noGrp="1"/>
          </p:cNvSpPr>
          <p:nvPr/>
        </p:nvSpPr>
        <p:spPr>
          <a:xfrm xmlns:a="http://schemas.openxmlformats.org/drawingml/2006/main">
            <a:off x="6477000" y="2971800"/>
            <a:ext cx="234315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18" name="">
            <a:extLst xmlns:a="http://schemas.openxmlformats.org/drawingml/2006/main">
              <a:ext uri="{FF2B5EF4-FFF2-40B4-BE49-F238E27FC236}">
                <a16:creationId xmlns:a16="http://schemas.microsoft.com/office/drawing/2014/main" id="{8947E6F0-A357-4E2E-AAD2-96F7C7A675DA}"/>
              </a:ext>
            </a:extLst>
          </p:cNvPr>
          <p:cNvSpPr>
            <a:spLocks xmlns:a="http://schemas.openxmlformats.org/drawingml/2006/main" noGrp="1"/>
          </p:cNvSpPr>
          <p:nvPr/>
        </p:nvSpPr>
        <p:spPr>
          <a:xfrm xmlns:a="http://schemas.openxmlformats.org/drawingml/2006/main">
            <a:off x="6629400" y="3105150"/>
            <a:ext cx="203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b="1">
                <a:solidFill>
                  <a:srgbClr val="003F6B"/>
                </a:solidFill>
              </a:defRPr>
            </a:pPr>
            <a:r>
              <a:rPr sz="1050" b="1">
                <a:solidFill>
                  <a:srgbClr val="003F6B"/>
                </a:solidFill>
              </a:rPr>
              <a:t>Team Strafrecht</a:t>
            </a:r>
          </a:p>
        </p:txBody>
      </p:sp>
      <p:sp>
        <p:nvSpPr>
          <p:cNvPr id="19" name="">
            <a:extLst xmlns:a="http://schemas.openxmlformats.org/drawingml/2006/main">
              <a:ext uri="{FF2B5EF4-FFF2-40B4-BE49-F238E27FC236}">
                <a16:creationId xmlns:a16="http://schemas.microsoft.com/office/drawing/2014/main" id="{24112A72-0BE9-4B87-AD8C-75C1B48C569D}"/>
              </a:ext>
            </a:extLst>
          </p:cNvPr>
          <p:cNvSpPr>
            <a:spLocks xmlns:a="http://schemas.openxmlformats.org/drawingml/2006/main" noGrp="1"/>
          </p:cNvSpPr>
          <p:nvPr/>
        </p:nvSpPr>
        <p:spPr>
          <a:xfrm xmlns:a="http://schemas.openxmlformats.org/drawingml/2006/main">
            <a:off x="6629400" y="3371850"/>
            <a:ext cx="20383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885">
                <a:solidFill>
                  <a:srgbClr val="15232B"/>
                </a:solidFill>
              </a:defRPr>
            </a:pPr>
            <a:r>
              <a:rPr sz="885">
                <a:solidFill>
                  <a:srgbClr val="15232B"/>
                </a:solidFill>
              </a:rPr>
              <a:t>Status, Ermittlungsfragen, Rechte</a:t>
            </a:r>
          </a:p>
        </p:txBody>
      </p:sp>
      <p:sp>
        <p:nvSpPr>
          <p:cNvPr id="20" name="">
            <a:extLst xmlns:a="http://schemas.openxmlformats.org/drawingml/2006/main">
              <a:ext uri="{FF2B5EF4-FFF2-40B4-BE49-F238E27FC236}">
                <a16:creationId xmlns:a16="http://schemas.microsoft.com/office/drawing/2014/main" id="{DA3018C6-2031-4264-B45C-4FE3EA38D762}"/>
              </a:ext>
            </a:extLst>
          </p:cNvPr>
          <p:cNvSpPr>
            <a:spLocks xmlns:a="http://schemas.openxmlformats.org/drawingml/2006/main" noGrp="1"/>
          </p:cNvSpPr>
          <p:nvPr/>
        </p:nvSpPr>
        <p:spPr>
          <a:xfrm xmlns:a="http://schemas.openxmlformats.org/drawingml/2006/main">
            <a:off x="8896350" y="2971800"/>
            <a:ext cx="2343150" cy="885825"/>
          </a:xfrm>
          <a:prstGeom xmlns:a="http://schemas.openxmlformats.org/drawingml/2006/main" prst="roundRect">
            <a:avLst>
              <a:gd name="adj" fmla="val 8602"/>
            </a:avLst>
          </a:prstGeom>
          <a:noFill xmlns:a="http://schemas.openxmlformats.org/drawingml/2006/main"/>
          <a:ln xmlns:a="http://schemas.openxmlformats.org/drawingml/2006/main" w="9525">
            <a:solidFill>
              <a:srgbClr val="B9CAD2"/>
            </a:solidFill>
            <a:prstDash val="solid"/>
          </a:ln>
        </p:spPr>
      </p:sp>
      <p:sp>
        <p:nvSpPr>
          <p:cNvPr id="21" name="">
            <a:extLst xmlns:a="http://schemas.openxmlformats.org/drawingml/2006/main">
              <a:ext uri="{FF2B5EF4-FFF2-40B4-BE49-F238E27FC236}">
                <a16:creationId xmlns:a16="http://schemas.microsoft.com/office/drawing/2014/main" id="{1B60C8CE-48D7-431A-A6E4-DB5F813DA444}"/>
              </a:ext>
            </a:extLst>
          </p:cNvPr>
          <p:cNvSpPr>
            <a:spLocks xmlns:a="http://schemas.openxmlformats.org/drawingml/2006/main" noGrp="1"/>
          </p:cNvSpPr>
          <p:nvPr/>
        </p:nvSpPr>
        <p:spPr>
          <a:xfrm xmlns:a="http://schemas.openxmlformats.org/drawingml/2006/main">
            <a:off x="8896350" y="2971800"/>
            <a:ext cx="234315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22" name="">
            <a:extLst xmlns:a="http://schemas.openxmlformats.org/drawingml/2006/main">
              <a:ext uri="{FF2B5EF4-FFF2-40B4-BE49-F238E27FC236}">
                <a16:creationId xmlns:a16="http://schemas.microsoft.com/office/drawing/2014/main" id="{13543E1B-6752-4884-9500-74D94D306818}"/>
              </a:ext>
            </a:extLst>
          </p:cNvPr>
          <p:cNvSpPr>
            <a:spLocks xmlns:a="http://schemas.openxmlformats.org/drawingml/2006/main" noGrp="1"/>
          </p:cNvSpPr>
          <p:nvPr/>
        </p:nvSpPr>
        <p:spPr>
          <a:xfrm xmlns:a="http://schemas.openxmlformats.org/drawingml/2006/main">
            <a:off x="9048750" y="3105150"/>
            <a:ext cx="203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b="1">
                <a:solidFill>
                  <a:srgbClr val="003F6B"/>
                </a:solidFill>
              </a:defRPr>
            </a:pPr>
            <a:r>
              <a:rPr sz="1050" b="1">
                <a:solidFill>
                  <a:srgbClr val="003F6B"/>
                </a:solidFill>
              </a:rPr>
              <a:t>Team Berufsrecht</a:t>
            </a:r>
          </a:p>
        </p:txBody>
      </p:sp>
      <p:sp>
        <p:nvSpPr>
          <p:cNvPr id="23" name="">
            <a:extLst xmlns:a="http://schemas.openxmlformats.org/drawingml/2006/main">
              <a:ext uri="{FF2B5EF4-FFF2-40B4-BE49-F238E27FC236}">
                <a16:creationId xmlns:a16="http://schemas.microsoft.com/office/drawing/2014/main" id="{429C26FF-4CE5-4527-A9D1-1FE9705580E5}"/>
              </a:ext>
            </a:extLst>
          </p:cNvPr>
          <p:cNvSpPr>
            <a:spLocks xmlns:a="http://schemas.openxmlformats.org/drawingml/2006/main" noGrp="1"/>
          </p:cNvSpPr>
          <p:nvPr/>
        </p:nvSpPr>
        <p:spPr>
          <a:xfrm xmlns:a="http://schemas.openxmlformats.org/drawingml/2006/main">
            <a:off x="9048750" y="3371850"/>
            <a:ext cx="20383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885">
                <a:solidFill>
                  <a:srgbClr val="15232B"/>
                </a:solidFill>
              </a:defRPr>
            </a:pPr>
            <a:r>
              <a:rPr sz="885">
                <a:solidFill>
                  <a:srgbClr val="15232B"/>
                </a:solidFill>
              </a:rPr>
              <a:t>Berufspflichten, Verfahren, Prävention</a:t>
            </a:r>
          </a:p>
        </p:txBody>
      </p:sp>
      <p:sp>
        <p:nvSpPr>
          <p:cNvPr id="24" name="">
            <a:extLst xmlns:a="http://schemas.openxmlformats.org/drawingml/2006/main">
              <a:ext uri="{FF2B5EF4-FFF2-40B4-BE49-F238E27FC236}">
                <a16:creationId xmlns:a16="http://schemas.microsoft.com/office/drawing/2014/main" id="{5D47B6D4-2906-4DE7-8842-47DF4E2F257F}"/>
              </a:ext>
            </a:extLst>
          </p:cNvPr>
          <p:cNvSpPr>
            <a:spLocks xmlns:a="http://schemas.openxmlformats.org/drawingml/2006/main" noGrp="1"/>
          </p:cNvSpPr>
          <p:nvPr/>
        </p:nvSpPr>
        <p:spPr>
          <a:xfrm xmlns:a="http://schemas.openxmlformats.org/drawingml/2006/main">
            <a:off x="6477000" y="4048125"/>
            <a:ext cx="4762500" cy="1181100"/>
          </a:xfrm>
          <a:prstGeom xmlns:a="http://schemas.openxmlformats.org/drawingml/2006/main" prst="roundRect">
            <a:avLst>
              <a:gd name="adj" fmla="val 6452"/>
            </a:avLst>
          </a:prstGeom>
          <a:noFill xmlns:a="http://schemas.openxmlformats.org/drawingml/2006/main"/>
          <a:ln xmlns:a="http://schemas.openxmlformats.org/drawingml/2006/main" w="9525">
            <a:solidFill>
              <a:srgbClr val="B9CAD2"/>
            </a:solidFill>
            <a:prstDash val="solid"/>
          </a:ln>
        </p:spPr>
      </p:sp>
      <p:sp>
        <p:nvSpPr>
          <p:cNvPr id="25" name="">
            <a:extLst xmlns:a="http://schemas.openxmlformats.org/drawingml/2006/main">
              <a:ext uri="{FF2B5EF4-FFF2-40B4-BE49-F238E27FC236}">
                <a16:creationId xmlns:a16="http://schemas.microsoft.com/office/drawing/2014/main" id="{CF16FB7D-DDA0-4D40-A7BE-2FDA566479B5}"/>
              </a:ext>
            </a:extLst>
          </p:cNvPr>
          <p:cNvSpPr>
            <a:spLocks xmlns:a="http://schemas.openxmlformats.org/drawingml/2006/main" noGrp="1"/>
          </p:cNvSpPr>
          <p:nvPr/>
        </p:nvSpPr>
        <p:spPr>
          <a:xfrm xmlns:a="http://schemas.openxmlformats.org/drawingml/2006/main">
            <a:off x="6477000" y="4048125"/>
            <a:ext cx="4762500" cy="76200"/>
          </a:xfrm>
          <a:prstGeom xmlns:a="http://schemas.openxmlformats.org/drawingml/2006/main" prst="rect">
            <a:avLst/>
          </a:prstGeom>
          <a:solidFill xmlns:a="http://schemas.openxmlformats.org/drawingml/2006/main">
            <a:srgbClr val="D53D0E"/>
          </a:solidFill>
          <a:ln xmlns:a="http://schemas.openxmlformats.org/drawingml/2006/main" w="0">
            <a:solidFill>
              <a:srgbClr val="D53D0E"/>
            </a:solidFill>
            <a:prstDash val="solid"/>
          </a:ln>
        </p:spPr>
      </p:sp>
      <p:sp>
        <p:nvSpPr>
          <p:cNvPr id="26" name="">
            <a:extLst xmlns:a="http://schemas.openxmlformats.org/drawingml/2006/main">
              <a:ext uri="{FF2B5EF4-FFF2-40B4-BE49-F238E27FC236}">
                <a16:creationId xmlns:a16="http://schemas.microsoft.com/office/drawing/2014/main" id="{B267DBF8-93D7-452C-857F-F90113B36964}"/>
              </a:ext>
            </a:extLst>
          </p:cNvPr>
          <p:cNvSpPr>
            <a:spLocks xmlns:a="http://schemas.openxmlformats.org/drawingml/2006/main" noGrp="1"/>
          </p:cNvSpPr>
          <p:nvPr/>
        </p:nvSpPr>
        <p:spPr>
          <a:xfrm xmlns:a="http://schemas.openxmlformats.org/drawingml/2006/main">
            <a:off x="6629400" y="4181475"/>
            <a:ext cx="4457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b="1">
                <a:solidFill>
                  <a:srgbClr val="003F6B"/>
                </a:solidFill>
              </a:defRPr>
            </a:pPr>
            <a:r>
              <a:rPr sz="1050" b="1">
                <a:solidFill>
                  <a:srgbClr val="003F6B"/>
                </a:solidFill>
              </a:rPr>
              <a:t>Abgabe</a:t>
            </a:r>
          </a:p>
        </p:txBody>
      </p:sp>
      <p:sp>
        <p:nvSpPr>
          <p:cNvPr id="27" name="">
            <a:extLst xmlns:a="http://schemas.openxmlformats.org/drawingml/2006/main">
              <a:ext uri="{FF2B5EF4-FFF2-40B4-BE49-F238E27FC236}">
                <a16:creationId xmlns:a16="http://schemas.microsoft.com/office/drawing/2014/main" id="{99F64C63-CC95-43D4-80C7-79137699F063}"/>
              </a:ext>
            </a:extLst>
          </p:cNvPr>
          <p:cNvSpPr>
            <a:spLocks xmlns:a="http://schemas.openxmlformats.org/drawingml/2006/main" noGrp="1"/>
          </p:cNvSpPr>
          <p:nvPr/>
        </p:nvSpPr>
        <p:spPr>
          <a:xfrm xmlns:a="http://schemas.openxmlformats.org/drawingml/2006/main">
            <a:off x="6629400" y="4448175"/>
            <a:ext cx="44577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13">
                <a:solidFill>
                  <a:srgbClr val="15232B"/>
                </a:solidFill>
              </a:defRPr>
            </a:pPr>
            <a:r>
              <a:rPr sz="1013">
                <a:solidFill>
                  <a:srgbClr val="15232B"/>
                </a:solidFill>
              </a:rPr>
              <a:t>1 Seite: Timeline · offene Tatsachen · nächster Schritt · No-Go · Lernmaßnahme</a:t>
            </a:r>
          </a:p>
        </p:txBody>
      </p:sp>
    </p:spTree>
    <p:extLst>
      <p:ext uri="{BB962C8B-B14F-4D97-AF65-F5344CB8AC3E}">
        <p14:creationId xmlns:p14="http://schemas.microsoft.com/office/powerpoint/2010/main" val="43637646"/>
      </p:ext>
    </p:extLst>
  </p:cSld>
</p:sld>
</file>

<file path=ppt/slides/slide400.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Zehn Sätze für den ersten Dienst</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KURSKOMPASS</a:t>
            </a:r>
            <a:endParaRPr/>
          </a:p>
        </p:txBody>
      </p:sp>
      <p:sp>
        <p:nvSpPr>
          <p:cNvPr id="4" name="">
            <a:extLst xmlns:a="http://schemas.openxmlformats.org/drawingml/2006/main">
              <a:ext uri="{FF2B5EF4-FFF2-40B4-BE49-F238E27FC236}">
                <a16:creationId xmlns:a16="http://schemas.microsoft.com/office/drawing/2014/main" id="{8E6FCA00-82E3-4833-9F96-79E3616119FF}"/>
              </a:ext>
            </a:extLst>
          </p:cNvPr>
          <p:cNvSpPr>
            <a:spLocks xmlns:a="http://schemas.openxmlformats.org/drawingml/2006/main" noGrp="1"/>
          </p:cNvSpPr>
          <p:nvPr/>
        </p:nvSpPr>
        <p:spPr>
          <a:xfrm xmlns:a="http://schemas.openxmlformats.org/drawingml/2006/main">
            <a:off x="1809750" y="2038350"/>
            <a:ext cx="323850" cy="323850"/>
          </a:xfrm>
          <a:prstGeom xmlns:a="http://schemas.openxmlformats.org/drawingml/2006/main" prst="ellipse">
            <a:avLst/>
          </a:prstGeom>
          <a:solidFill xmlns:a="http://schemas.openxmlformats.org/drawingml/2006/main">
            <a:srgbClr val="00B2BB"/>
          </a:solidFill>
          <a:ln xmlns:a="http://schemas.openxmlformats.org/drawingml/2006/main" w="0">
            <a:solidFill>
              <a:srgbClr val="FFFFFF"/>
            </a:solidFill>
            <a:prstDash val="solid"/>
          </a:ln>
        </p:spPr>
      </p:sp>
      <p:sp>
        <p:nvSpPr>
          <p:cNvPr id="5" name="">
            <a:extLst xmlns:a="http://schemas.openxmlformats.org/drawingml/2006/main">
              <a:ext uri="{FF2B5EF4-FFF2-40B4-BE49-F238E27FC236}">
                <a16:creationId xmlns:a16="http://schemas.microsoft.com/office/drawing/2014/main" id="{7188266C-0739-4F56-BBD5-F474A2265A48}"/>
              </a:ext>
            </a:extLst>
          </p:cNvPr>
          <p:cNvSpPr>
            <a:spLocks xmlns:a="http://schemas.openxmlformats.org/drawingml/2006/main" noGrp="1"/>
          </p:cNvSpPr>
          <p:nvPr/>
        </p:nvSpPr>
        <p:spPr>
          <a:xfrm xmlns:a="http://schemas.openxmlformats.org/drawingml/2006/main">
            <a:off x="1809750" y="20383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713" b="1">
                <a:solidFill>
                  <a:srgbClr val="FFFFFF"/>
                </a:solidFill>
              </a:defRPr>
            </a:pPr>
            <a:r>
              <a:rPr sz="713" b="1">
                <a:solidFill>
                  <a:srgbClr val="FFFFFF"/>
                </a:solidFill>
              </a:rPr>
              <a:t>1</a:t>
            </a:r>
          </a:p>
        </p:txBody>
      </p:sp>
      <p:sp>
        <p:nvSpPr>
          <p:cNvPr id="6" name="">
            <a:extLst xmlns:a="http://schemas.openxmlformats.org/drawingml/2006/main">
              <a:ext uri="{FF2B5EF4-FFF2-40B4-BE49-F238E27FC236}">
                <a16:creationId xmlns:a16="http://schemas.microsoft.com/office/drawing/2014/main" id="{2997C000-AB48-4F52-993C-0A1DC67BA7CF}"/>
              </a:ext>
            </a:extLst>
          </p:cNvPr>
          <p:cNvSpPr>
            <a:spLocks xmlns:a="http://schemas.openxmlformats.org/drawingml/2006/main" noGrp="1"/>
          </p:cNvSpPr>
          <p:nvPr/>
        </p:nvSpPr>
        <p:spPr>
          <a:xfrm xmlns:a="http://schemas.openxmlformats.org/drawingml/2006/main">
            <a:off x="2266950" y="2000250"/>
            <a:ext cx="4171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25">
                <a:solidFill>
                  <a:srgbClr val="15232B"/>
                </a:solidFill>
              </a:defRPr>
            </a:pPr>
            <a:r>
              <a:rPr sz="1125">
                <a:solidFill>
                  <a:srgbClr val="15232B"/>
                </a:solidFill>
              </a:rPr>
              <a:t>Patient zuerst – Schaden begrenzen.</a:t>
            </a:r>
          </a:p>
        </p:txBody>
      </p:sp>
      <p:sp>
        <p:nvSpPr>
          <p:cNvPr id="7" name="">
            <a:extLst xmlns:a="http://schemas.openxmlformats.org/drawingml/2006/main">
              <a:ext uri="{FF2B5EF4-FFF2-40B4-BE49-F238E27FC236}">
                <a16:creationId xmlns:a16="http://schemas.microsoft.com/office/drawing/2014/main" id="{774E65B3-857B-4F6F-B105-C77381B9C4E2}"/>
              </a:ext>
            </a:extLst>
          </p:cNvPr>
          <p:cNvSpPr>
            <a:spLocks xmlns:a="http://schemas.openxmlformats.org/drawingml/2006/main" noGrp="1"/>
          </p:cNvSpPr>
          <p:nvPr/>
        </p:nvSpPr>
        <p:spPr>
          <a:xfrm xmlns:a="http://schemas.openxmlformats.org/drawingml/2006/main">
            <a:off x="1809750" y="2590800"/>
            <a:ext cx="323850" cy="323850"/>
          </a:xfrm>
          <a:prstGeom xmlns:a="http://schemas.openxmlformats.org/drawingml/2006/main" prst="ellipse">
            <a:avLst/>
          </a:prstGeom>
          <a:solidFill xmlns:a="http://schemas.openxmlformats.org/drawingml/2006/main">
            <a:srgbClr val="003F6B"/>
          </a:solidFill>
          <a:ln xmlns:a="http://schemas.openxmlformats.org/drawingml/2006/main" w="0">
            <a:solidFill>
              <a:srgbClr val="FFFFFF"/>
            </a:solidFill>
            <a:prstDash val="solid"/>
          </a:ln>
        </p:spPr>
      </p:sp>
      <p:sp>
        <p:nvSpPr>
          <p:cNvPr id="8" name="">
            <a:extLst xmlns:a="http://schemas.openxmlformats.org/drawingml/2006/main">
              <a:ext uri="{FF2B5EF4-FFF2-40B4-BE49-F238E27FC236}">
                <a16:creationId xmlns:a16="http://schemas.microsoft.com/office/drawing/2014/main" id="{C69EFE64-EB23-4EC8-8A97-4E66099979F4}"/>
              </a:ext>
            </a:extLst>
          </p:cNvPr>
          <p:cNvSpPr>
            <a:spLocks xmlns:a="http://schemas.openxmlformats.org/drawingml/2006/main" noGrp="1"/>
          </p:cNvSpPr>
          <p:nvPr/>
        </p:nvSpPr>
        <p:spPr>
          <a:xfrm xmlns:a="http://schemas.openxmlformats.org/drawingml/2006/main">
            <a:off x="1809750" y="259080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713" b="1">
                <a:solidFill>
                  <a:srgbClr val="FFFFFF"/>
                </a:solidFill>
              </a:defRPr>
            </a:pPr>
            <a:r>
              <a:rPr sz="713" b="1">
                <a:solidFill>
                  <a:srgbClr val="FFFFFF"/>
                </a:solidFill>
              </a:rPr>
              <a:t>2</a:t>
            </a:r>
          </a:p>
        </p:txBody>
      </p:sp>
      <p:sp>
        <p:nvSpPr>
          <p:cNvPr id="9" name="">
            <a:extLst xmlns:a="http://schemas.openxmlformats.org/drawingml/2006/main">
              <a:ext uri="{FF2B5EF4-FFF2-40B4-BE49-F238E27FC236}">
                <a16:creationId xmlns:a16="http://schemas.microsoft.com/office/drawing/2014/main" id="{2CBF9DC5-BCA1-478B-903A-D40F7A56F83F}"/>
              </a:ext>
            </a:extLst>
          </p:cNvPr>
          <p:cNvSpPr>
            <a:spLocks xmlns:a="http://schemas.openxmlformats.org/drawingml/2006/main" noGrp="1"/>
          </p:cNvSpPr>
          <p:nvPr/>
        </p:nvSpPr>
        <p:spPr>
          <a:xfrm xmlns:a="http://schemas.openxmlformats.org/drawingml/2006/main">
            <a:off x="2266950" y="2552700"/>
            <a:ext cx="4171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25">
                <a:solidFill>
                  <a:srgbClr val="15232B"/>
                </a:solidFill>
              </a:defRPr>
            </a:pPr>
            <a:r>
              <a:rPr sz="1125">
                <a:solidFill>
                  <a:srgbClr val="15232B"/>
                </a:solidFill>
              </a:rPr>
              <a:t>Unsicherheit früh eskalieren.</a:t>
            </a:r>
          </a:p>
        </p:txBody>
      </p:sp>
      <p:sp>
        <p:nvSpPr>
          <p:cNvPr id="10" name="">
            <a:extLst xmlns:a="http://schemas.openxmlformats.org/drawingml/2006/main">
              <a:ext uri="{FF2B5EF4-FFF2-40B4-BE49-F238E27FC236}">
                <a16:creationId xmlns:a16="http://schemas.microsoft.com/office/drawing/2014/main" id="{9D6A8C82-8C46-46A5-8DAC-22D7DCF45B96}"/>
              </a:ext>
            </a:extLst>
          </p:cNvPr>
          <p:cNvSpPr>
            <a:spLocks xmlns:a="http://schemas.openxmlformats.org/drawingml/2006/main" noGrp="1"/>
          </p:cNvSpPr>
          <p:nvPr/>
        </p:nvSpPr>
        <p:spPr>
          <a:xfrm xmlns:a="http://schemas.openxmlformats.org/drawingml/2006/main">
            <a:off x="1809750" y="3143250"/>
            <a:ext cx="323850" cy="323850"/>
          </a:xfrm>
          <a:prstGeom xmlns:a="http://schemas.openxmlformats.org/drawingml/2006/main" prst="ellipse">
            <a:avLst/>
          </a:prstGeom>
          <a:solidFill xmlns:a="http://schemas.openxmlformats.org/drawingml/2006/main">
            <a:srgbClr val="00B2BB"/>
          </a:solidFill>
          <a:ln xmlns:a="http://schemas.openxmlformats.org/drawingml/2006/main" w="0">
            <a:solidFill>
              <a:srgbClr val="FFFFFF"/>
            </a:solidFill>
            <a:prstDash val="solid"/>
          </a:ln>
        </p:spPr>
      </p:sp>
      <p:sp>
        <p:nvSpPr>
          <p:cNvPr id="11" name="">
            <a:extLst xmlns:a="http://schemas.openxmlformats.org/drawingml/2006/main">
              <a:ext uri="{FF2B5EF4-FFF2-40B4-BE49-F238E27FC236}">
                <a16:creationId xmlns:a16="http://schemas.microsoft.com/office/drawing/2014/main" id="{ABEE1BB4-83D3-4DD3-9ED5-95485F0540FB}"/>
              </a:ext>
            </a:extLst>
          </p:cNvPr>
          <p:cNvSpPr>
            <a:spLocks xmlns:a="http://schemas.openxmlformats.org/drawingml/2006/main" noGrp="1"/>
          </p:cNvSpPr>
          <p:nvPr/>
        </p:nvSpPr>
        <p:spPr>
          <a:xfrm xmlns:a="http://schemas.openxmlformats.org/drawingml/2006/main">
            <a:off x="1809750" y="31432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713" b="1">
                <a:solidFill>
                  <a:srgbClr val="FFFFFF"/>
                </a:solidFill>
              </a:defRPr>
            </a:pPr>
            <a:r>
              <a:rPr sz="713" b="1">
                <a:solidFill>
                  <a:srgbClr val="FFFFFF"/>
                </a:solidFill>
              </a:rPr>
              <a:t>3</a:t>
            </a:r>
          </a:p>
        </p:txBody>
      </p:sp>
      <p:sp>
        <p:nvSpPr>
          <p:cNvPr id="12" name="">
            <a:extLst xmlns:a="http://schemas.openxmlformats.org/drawingml/2006/main">
              <a:ext uri="{FF2B5EF4-FFF2-40B4-BE49-F238E27FC236}">
                <a16:creationId xmlns:a16="http://schemas.microsoft.com/office/drawing/2014/main" id="{30A6437F-5620-496C-9EA4-DBA37FEF0BCD}"/>
              </a:ext>
            </a:extLst>
          </p:cNvPr>
          <p:cNvSpPr>
            <a:spLocks xmlns:a="http://schemas.openxmlformats.org/drawingml/2006/main" noGrp="1"/>
          </p:cNvSpPr>
          <p:nvPr/>
        </p:nvSpPr>
        <p:spPr>
          <a:xfrm xmlns:a="http://schemas.openxmlformats.org/drawingml/2006/main">
            <a:off x="2266950" y="3105150"/>
            <a:ext cx="4171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25">
                <a:solidFill>
                  <a:srgbClr val="15232B"/>
                </a:solidFill>
              </a:defRPr>
            </a:pPr>
            <a:r>
              <a:rPr sz="1125">
                <a:solidFill>
                  <a:srgbClr val="15232B"/>
                </a:solidFill>
              </a:rPr>
              <a:t>Befunde, Zeiten und Entscheidungen zeitnah dokumentieren.</a:t>
            </a:r>
          </a:p>
        </p:txBody>
      </p:sp>
      <p:sp>
        <p:nvSpPr>
          <p:cNvPr id="13" name="">
            <a:extLst xmlns:a="http://schemas.openxmlformats.org/drawingml/2006/main">
              <a:ext uri="{FF2B5EF4-FFF2-40B4-BE49-F238E27FC236}">
                <a16:creationId xmlns:a16="http://schemas.microsoft.com/office/drawing/2014/main" id="{6297A5D0-FF25-4D81-AEF1-19919E4BB4B9}"/>
              </a:ext>
            </a:extLst>
          </p:cNvPr>
          <p:cNvSpPr>
            <a:spLocks xmlns:a="http://schemas.openxmlformats.org/drawingml/2006/main" noGrp="1"/>
          </p:cNvSpPr>
          <p:nvPr/>
        </p:nvSpPr>
        <p:spPr>
          <a:xfrm xmlns:a="http://schemas.openxmlformats.org/drawingml/2006/main">
            <a:off x="1809750" y="3695700"/>
            <a:ext cx="323850" cy="323850"/>
          </a:xfrm>
          <a:prstGeom xmlns:a="http://schemas.openxmlformats.org/drawingml/2006/main" prst="ellipse">
            <a:avLst/>
          </a:prstGeom>
          <a:solidFill xmlns:a="http://schemas.openxmlformats.org/drawingml/2006/main">
            <a:srgbClr val="003F6B"/>
          </a:solidFill>
          <a:ln xmlns:a="http://schemas.openxmlformats.org/drawingml/2006/main" w="0">
            <a:solidFill>
              <a:srgbClr val="FFFFFF"/>
            </a:solidFill>
            <a:prstDash val="solid"/>
          </a:ln>
        </p:spPr>
      </p:sp>
      <p:sp>
        <p:nvSpPr>
          <p:cNvPr id="14" name="">
            <a:extLst xmlns:a="http://schemas.openxmlformats.org/drawingml/2006/main">
              <a:ext uri="{FF2B5EF4-FFF2-40B4-BE49-F238E27FC236}">
                <a16:creationId xmlns:a16="http://schemas.microsoft.com/office/drawing/2014/main" id="{FCE0B8EC-24E9-41FC-A8A1-CABEF2E0F1F2}"/>
              </a:ext>
            </a:extLst>
          </p:cNvPr>
          <p:cNvSpPr>
            <a:spLocks xmlns:a="http://schemas.openxmlformats.org/drawingml/2006/main" noGrp="1"/>
          </p:cNvSpPr>
          <p:nvPr/>
        </p:nvSpPr>
        <p:spPr>
          <a:xfrm xmlns:a="http://schemas.openxmlformats.org/drawingml/2006/main">
            <a:off x="1809750" y="369570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713" b="1">
                <a:solidFill>
                  <a:srgbClr val="FFFFFF"/>
                </a:solidFill>
              </a:defRPr>
            </a:pPr>
            <a:r>
              <a:rPr sz="713" b="1">
                <a:solidFill>
                  <a:srgbClr val="FFFFFF"/>
                </a:solidFill>
              </a:rPr>
              <a:t>4</a:t>
            </a:r>
          </a:p>
        </p:txBody>
      </p:sp>
      <p:sp>
        <p:nvSpPr>
          <p:cNvPr id="15" name="">
            <a:extLst xmlns:a="http://schemas.openxmlformats.org/drawingml/2006/main">
              <a:ext uri="{FF2B5EF4-FFF2-40B4-BE49-F238E27FC236}">
                <a16:creationId xmlns:a16="http://schemas.microsoft.com/office/drawing/2014/main" id="{1B32450F-038E-4CE6-B7E6-2687C2BA2394}"/>
              </a:ext>
            </a:extLst>
          </p:cNvPr>
          <p:cNvSpPr>
            <a:spLocks xmlns:a="http://schemas.openxmlformats.org/drawingml/2006/main" noGrp="1"/>
          </p:cNvSpPr>
          <p:nvPr/>
        </p:nvSpPr>
        <p:spPr>
          <a:xfrm xmlns:a="http://schemas.openxmlformats.org/drawingml/2006/main">
            <a:off x="2266950" y="3657600"/>
            <a:ext cx="4171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25">
                <a:solidFill>
                  <a:srgbClr val="15232B"/>
                </a:solidFill>
              </a:defRPr>
            </a:pPr>
            <a:r>
              <a:rPr sz="1125">
                <a:solidFill>
                  <a:srgbClr val="15232B"/>
                </a:solidFill>
              </a:rPr>
              <a:t>Nie heimlich ändern oder rückdatieren.</a:t>
            </a:r>
          </a:p>
        </p:txBody>
      </p:sp>
      <p:sp>
        <p:nvSpPr>
          <p:cNvPr id="16" name="">
            <a:extLst xmlns:a="http://schemas.openxmlformats.org/drawingml/2006/main">
              <a:ext uri="{FF2B5EF4-FFF2-40B4-BE49-F238E27FC236}">
                <a16:creationId xmlns:a16="http://schemas.microsoft.com/office/drawing/2014/main" id="{B0D213BD-31EC-4CD5-9B0F-422E8C4700A7}"/>
              </a:ext>
            </a:extLst>
          </p:cNvPr>
          <p:cNvSpPr>
            <a:spLocks xmlns:a="http://schemas.openxmlformats.org/drawingml/2006/main" noGrp="1"/>
          </p:cNvSpPr>
          <p:nvPr/>
        </p:nvSpPr>
        <p:spPr>
          <a:xfrm xmlns:a="http://schemas.openxmlformats.org/drawingml/2006/main">
            <a:off x="1809750" y="4248150"/>
            <a:ext cx="323850" cy="323850"/>
          </a:xfrm>
          <a:prstGeom xmlns:a="http://schemas.openxmlformats.org/drawingml/2006/main" prst="ellipse">
            <a:avLst/>
          </a:prstGeom>
          <a:solidFill xmlns:a="http://schemas.openxmlformats.org/drawingml/2006/main">
            <a:srgbClr val="00B2BB"/>
          </a:solidFill>
          <a:ln xmlns:a="http://schemas.openxmlformats.org/drawingml/2006/main" w="0">
            <a:solidFill>
              <a:srgbClr val="FFFFFF"/>
            </a:solidFill>
            <a:prstDash val="solid"/>
          </a:ln>
        </p:spPr>
      </p:sp>
      <p:sp>
        <p:nvSpPr>
          <p:cNvPr id="17" name="">
            <a:extLst xmlns:a="http://schemas.openxmlformats.org/drawingml/2006/main">
              <a:ext uri="{FF2B5EF4-FFF2-40B4-BE49-F238E27FC236}">
                <a16:creationId xmlns:a16="http://schemas.microsoft.com/office/drawing/2014/main" id="{B2ED8B08-6B80-40DF-8FDD-BDED435604B1}"/>
              </a:ext>
            </a:extLst>
          </p:cNvPr>
          <p:cNvSpPr>
            <a:spLocks xmlns:a="http://schemas.openxmlformats.org/drawingml/2006/main" noGrp="1"/>
          </p:cNvSpPr>
          <p:nvPr/>
        </p:nvSpPr>
        <p:spPr>
          <a:xfrm xmlns:a="http://schemas.openxmlformats.org/drawingml/2006/main">
            <a:off x="1809750" y="42481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713" b="1">
                <a:solidFill>
                  <a:srgbClr val="FFFFFF"/>
                </a:solidFill>
              </a:defRPr>
            </a:pPr>
            <a:r>
              <a:rPr sz="713" b="1">
                <a:solidFill>
                  <a:srgbClr val="FFFFFF"/>
                </a:solidFill>
              </a:rPr>
              <a:t>5</a:t>
            </a:r>
          </a:p>
        </p:txBody>
      </p:sp>
      <p:sp>
        <p:nvSpPr>
          <p:cNvPr id="18" name="">
            <a:extLst xmlns:a="http://schemas.openxmlformats.org/drawingml/2006/main">
              <a:ext uri="{FF2B5EF4-FFF2-40B4-BE49-F238E27FC236}">
                <a16:creationId xmlns:a16="http://schemas.microsoft.com/office/drawing/2014/main" id="{28617047-0176-42D1-B81A-8BBD5CBD2647}"/>
              </a:ext>
            </a:extLst>
          </p:cNvPr>
          <p:cNvSpPr>
            <a:spLocks xmlns:a="http://schemas.openxmlformats.org/drawingml/2006/main" noGrp="1"/>
          </p:cNvSpPr>
          <p:nvPr/>
        </p:nvSpPr>
        <p:spPr>
          <a:xfrm xmlns:a="http://schemas.openxmlformats.org/drawingml/2006/main">
            <a:off x="2266950" y="4210050"/>
            <a:ext cx="4171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25">
                <a:solidFill>
                  <a:srgbClr val="15232B"/>
                </a:solidFill>
              </a:defRPr>
            </a:pPr>
            <a:r>
              <a:rPr sz="1125">
                <a:solidFill>
                  <a:srgbClr val="15232B"/>
                </a:solidFill>
              </a:rPr>
              <a:t>Gesicherte Fakten offen erklären; nicht spekulieren.</a:t>
            </a:r>
          </a:p>
        </p:txBody>
      </p:sp>
      <p:sp>
        <p:nvSpPr>
          <p:cNvPr id="19" name="">
            <a:extLst xmlns:a="http://schemas.openxmlformats.org/drawingml/2006/main">
              <a:ext uri="{FF2B5EF4-FFF2-40B4-BE49-F238E27FC236}">
                <a16:creationId xmlns:a16="http://schemas.microsoft.com/office/drawing/2014/main" id="{E12586D1-250B-4995-A4B5-0ECCA84810BB}"/>
              </a:ext>
            </a:extLst>
          </p:cNvPr>
          <p:cNvSpPr>
            <a:spLocks xmlns:a="http://schemas.openxmlformats.org/drawingml/2006/main" noGrp="1"/>
          </p:cNvSpPr>
          <p:nvPr/>
        </p:nvSpPr>
        <p:spPr>
          <a:xfrm xmlns:a="http://schemas.openxmlformats.org/drawingml/2006/main">
            <a:off x="6705600" y="2038350"/>
            <a:ext cx="323850" cy="323850"/>
          </a:xfrm>
          <a:prstGeom xmlns:a="http://schemas.openxmlformats.org/drawingml/2006/main" prst="ellipse">
            <a:avLst/>
          </a:prstGeom>
          <a:solidFill xmlns:a="http://schemas.openxmlformats.org/drawingml/2006/main">
            <a:srgbClr val="00B2BB"/>
          </a:solidFill>
          <a:ln xmlns:a="http://schemas.openxmlformats.org/drawingml/2006/main" w="0">
            <a:solidFill>
              <a:srgbClr val="FFFFFF"/>
            </a:solidFill>
            <a:prstDash val="solid"/>
          </a:ln>
        </p:spPr>
      </p:sp>
      <p:sp>
        <p:nvSpPr>
          <p:cNvPr id="20" name="">
            <a:extLst xmlns:a="http://schemas.openxmlformats.org/drawingml/2006/main">
              <a:ext uri="{FF2B5EF4-FFF2-40B4-BE49-F238E27FC236}">
                <a16:creationId xmlns:a16="http://schemas.microsoft.com/office/drawing/2014/main" id="{1BFC9EE5-62FA-43B2-83D8-26D50DDF03AA}"/>
              </a:ext>
            </a:extLst>
          </p:cNvPr>
          <p:cNvSpPr>
            <a:spLocks xmlns:a="http://schemas.openxmlformats.org/drawingml/2006/main" noGrp="1"/>
          </p:cNvSpPr>
          <p:nvPr/>
        </p:nvSpPr>
        <p:spPr>
          <a:xfrm xmlns:a="http://schemas.openxmlformats.org/drawingml/2006/main">
            <a:off x="6705600" y="20383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713" b="1">
                <a:solidFill>
                  <a:srgbClr val="FFFFFF"/>
                </a:solidFill>
              </a:defRPr>
            </a:pPr>
            <a:r>
              <a:rPr sz="713" b="1">
                <a:solidFill>
                  <a:srgbClr val="FFFFFF"/>
                </a:solidFill>
              </a:rPr>
              <a:t>6</a:t>
            </a:r>
          </a:p>
        </p:txBody>
      </p:sp>
      <p:sp>
        <p:nvSpPr>
          <p:cNvPr id="21" name="">
            <a:extLst xmlns:a="http://schemas.openxmlformats.org/drawingml/2006/main">
              <a:ext uri="{FF2B5EF4-FFF2-40B4-BE49-F238E27FC236}">
                <a16:creationId xmlns:a16="http://schemas.microsoft.com/office/drawing/2014/main" id="{4CB6D062-3503-49E4-BD52-2AA78ADE3F9A}"/>
              </a:ext>
            </a:extLst>
          </p:cNvPr>
          <p:cNvSpPr>
            <a:spLocks xmlns:a="http://schemas.openxmlformats.org/drawingml/2006/main" noGrp="1"/>
          </p:cNvSpPr>
          <p:nvPr/>
        </p:nvSpPr>
        <p:spPr>
          <a:xfrm xmlns:a="http://schemas.openxmlformats.org/drawingml/2006/main">
            <a:off x="7162800" y="2000250"/>
            <a:ext cx="4171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25">
                <a:solidFill>
                  <a:srgbClr val="15232B"/>
                </a:solidFill>
              </a:defRPr>
            </a:pPr>
            <a:r>
              <a:rPr sz="1125">
                <a:solidFill>
                  <a:srgbClr val="15232B"/>
                </a:solidFill>
              </a:rPr>
              <a:t>Eigene Rolle vor jeder Stellungnahme klären.</a:t>
            </a:r>
          </a:p>
        </p:txBody>
      </p:sp>
      <p:sp>
        <p:nvSpPr>
          <p:cNvPr id="22" name="">
            <a:extLst xmlns:a="http://schemas.openxmlformats.org/drawingml/2006/main">
              <a:ext uri="{FF2B5EF4-FFF2-40B4-BE49-F238E27FC236}">
                <a16:creationId xmlns:a16="http://schemas.microsoft.com/office/drawing/2014/main" id="{0EB57AB8-53EC-4A4F-B8EC-07E56C5CA5E7}"/>
              </a:ext>
            </a:extLst>
          </p:cNvPr>
          <p:cNvSpPr>
            <a:spLocks xmlns:a="http://schemas.openxmlformats.org/drawingml/2006/main" noGrp="1"/>
          </p:cNvSpPr>
          <p:nvPr/>
        </p:nvSpPr>
        <p:spPr>
          <a:xfrm xmlns:a="http://schemas.openxmlformats.org/drawingml/2006/main">
            <a:off x="6705600" y="2590800"/>
            <a:ext cx="323850" cy="323850"/>
          </a:xfrm>
          <a:prstGeom xmlns:a="http://schemas.openxmlformats.org/drawingml/2006/main" prst="ellipse">
            <a:avLst/>
          </a:prstGeom>
          <a:solidFill xmlns:a="http://schemas.openxmlformats.org/drawingml/2006/main">
            <a:srgbClr val="003F6B"/>
          </a:solidFill>
          <a:ln xmlns:a="http://schemas.openxmlformats.org/drawingml/2006/main" w="0">
            <a:solidFill>
              <a:srgbClr val="FFFFFF"/>
            </a:solidFill>
            <a:prstDash val="solid"/>
          </a:ln>
        </p:spPr>
      </p:sp>
      <p:sp>
        <p:nvSpPr>
          <p:cNvPr id="23" name="">
            <a:extLst xmlns:a="http://schemas.openxmlformats.org/drawingml/2006/main">
              <a:ext uri="{FF2B5EF4-FFF2-40B4-BE49-F238E27FC236}">
                <a16:creationId xmlns:a16="http://schemas.microsoft.com/office/drawing/2014/main" id="{A766D6D8-EA50-489B-8B1E-95E6F1D098F5}"/>
              </a:ext>
            </a:extLst>
          </p:cNvPr>
          <p:cNvSpPr>
            <a:spLocks xmlns:a="http://schemas.openxmlformats.org/drawingml/2006/main" noGrp="1"/>
          </p:cNvSpPr>
          <p:nvPr/>
        </p:nvSpPr>
        <p:spPr>
          <a:xfrm xmlns:a="http://schemas.openxmlformats.org/drawingml/2006/main">
            <a:off x="6705600" y="259080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713" b="1">
                <a:solidFill>
                  <a:srgbClr val="FFFFFF"/>
                </a:solidFill>
              </a:defRPr>
            </a:pPr>
            <a:r>
              <a:rPr sz="713" b="1">
                <a:solidFill>
                  <a:srgbClr val="FFFFFF"/>
                </a:solidFill>
              </a:rPr>
              <a:t>7</a:t>
            </a:r>
          </a:p>
        </p:txBody>
      </p:sp>
      <p:sp>
        <p:nvSpPr>
          <p:cNvPr id="24" name="">
            <a:extLst xmlns:a="http://schemas.openxmlformats.org/drawingml/2006/main">
              <a:ext uri="{FF2B5EF4-FFF2-40B4-BE49-F238E27FC236}">
                <a16:creationId xmlns:a16="http://schemas.microsoft.com/office/drawing/2014/main" id="{2FC39859-F8BD-4A3C-A4BE-3C41FF1F4155}"/>
              </a:ext>
            </a:extLst>
          </p:cNvPr>
          <p:cNvSpPr>
            <a:spLocks xmlns:a="http://schemas.openxmlformats.org/drawingml/2006/main" noGrp="1"/>
          </p:cNvSpPr>
          <p:nvPr/>
        </p:nvSpPr>
        <p:spPr>
          <a:xfrm xmlns:a="http://schemas.openxmlformats.org/drawingml/2006/main">
            <a:off x="7162800" y="2552700"/>
            <a:ext cx="4171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25">
                <a:solidFill>
                  <a:srgbClr val="15232B"/>
                </a:solidFill>
              </a:defRPr>
            </a:pPr>
            <a:r>
              <a:rPr sz="1125">
                <a:solidFill>
                  <a:srgbClr val="15232B"/>
                </a:solidFill>
              </a:rPr>
              <a:t>Zivilrecht, Strafrecht, Berufsrecht und Approbationsrecht trennen.</a:t>
            </a:r>
          </a:p>
        </p:txBody>
      </p:sp>
      <p:sp>
        <p:nvSpPr>
          <p:cNvPr id="25" name="">
            <a:extLst xmlns:a="http://schemas.openxmlformats.org/drawingml/2006/main">
              <a:ext uri="{FF2B5EF4-FFF2-40B4-BE49-F238E27FC236}">
                <a16:creationId xmlns:a16="http://schemas.microsoft.com/office/drawing/2014/main" id="{2AEFFBBF-BE26-4083-9831-30204DD8F510}"/>
              </a:ext>
            </a:extLst>
          </p:cNvPr>
          <p:cNvSpPr>
            <a:spLocks xmlns:a="http://schemas.openxmlformats.org/drawingml/2006/main" noGrp="1"/>
          </p:cNvSpPr>
          <p:nvPr/>
        </p:nvSpPr>
        <p:spPr>
          <a:xfrm xmlns:a="http://schemas.openxmlformats.org/drawingml/2006/main">
            <a:off x="6705600" y="3143250"/>
            <a:ext cx="323850" cy="323850"/>
          </a:xfrm>
          <a:prstGeom xmlns:a="http://schemas.openxmlformats.org/drawingml/2006/main" prst="ellipse">
            <a:avLst/>
          </a:prstGeom>
          <a:solidFill xmlns:a="http://schemas.openxmlformats.org/drawingml/2006/main">
            <a:srgbClr val="00B2BB"/>
          </a:solidFill>
          <a:ln xmlns:a="http://schemas.openxmlformats.org/drawingml/2006/main" w="0">
            <a:solidFill>
              <a:srgbClr val="FFFFFF"/>
            </a:solidFill>
            <a:prstDash val="solid"/>
          </a:ln>
        </p:spPr>
      </p:sp>
      <p:sp>
        <p:nvSpPr>
          <p:cNvPr id="26" name="">
            <a:extLst xmlns:a="http://schemas.openxmlformats.org/drawingml/2006/main">
              <a:ext uri="{FF2B5EF4-FFF2-40B4-BE49-F238E27FC236}">
                <a16:creationId xmlns:a16="http://schemas.microsoft.com/office/drawing/2014/main" id="{9A59F24F-418D-4E23-B9E4-A98F709A6834}"/>
              </a:ext>
            </a:extLst>
          </p:cNvPr>
          <p:cNvSpPr>
            <a:spLocks xmlns:a="http://schemas.openxmlformats.org/drawingml/2006/main" noGrp="1"/>
          </p:cNvSpPr>
          <p:nvPr/>
        </p:nvSpPr>
        <p:spPr>
          <a:xfrm xmlns:a="http://schemas.openxmlformats.org/drawingml/2006/main">
            <a:off x="6705600" y="31432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713" b="1">
                <a:solidFill>
                  <a:srgbClr val="FFFFFF"/>
                </a:solidFill>
              </a:defRPr>
            </a:pPr>
            <a:r>
              <a:rPr sz="713" b="1">
                <a:solidFill>
                  <a:srgbClr val="FFFFFF"/>
                </a:solidFill>
              </a:rPr>
              <a:t>8</a:t>
            </a:r>
          </a:p>
        </p:txBody>
      </p:sp>
      <p:sp>
        <p:nvSpPr>
          <p:cNvPr id="27" name="">
            <a:extLst xmlns:a="http://schemas.openxmlformats.org/drawingml/2006/main">
              <a:ext uri="{FF2B5EF4-FFF2-40B4-BE49-F238E27FC236}">
                <a16:creationId xmlns:a16="http://schemas.microsoft.com/office/drawing/2014/main" id="{3CA07115-2ACF-4242-A4BB-E6E146E3F85B}"/>
              </a:ext>
            </a:extLst>
          </p:cNvPr>
          <p:cNvSpPr>
            <a:spLocks xmlns:a="http://schemas.openxmlformats.org/drawingml/2006/main" noGrp="1"/>
          </p:cNvSpPr>
          <p:nvPr/>
        </p:nvSpPr>
        <p:spPr>
          <a:xfrm xmlns:a="http://schemas.openxmlformats.org/drawingml/2006/main">
            <a:off x="7162800" y="3105150"/>
            <a:ext cx="4171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25">
                <a:solidFill>
                  <a:srgbClr val="15232B"/>
                </a:solidFill>
              </a:defRPr>
            </a:pPr>
            <a:r>
              <a:rPr sz="1125">
                <a:solidFill>
                  <a:srgbClr val="15232B"/>
                </a:solidFill>
              </a:rPr>
              <a:t>Gutachtenfragen präzise und ex ante formulieren.</a:t>
            </a:r>
          </a:p>
        </p:txBody>
      </p:sp>
      <p:sp>
        <p:nvSpPr>
          <p:cNvPr id="28" name="">
            <a:extLst xmlns:a="http://schemas.openxmlformats.org/drawingml/2006/main">
              <a:ext uri="{FF2B5EF4-FFF2-40B4-BE49-F238E27FC236}">
                <a16:creationId xmlns:a16="http://schemas.microsoft.com/office/drawing/2014/main" id="{DEFAA42F-5AC3-4B2C-82CD-B5747A48571B}"/>
              </a:ext>
            </a:extLst>
          </p:cNvPr>
          <p:cNvSpPr>
            <a:spLocks xmlns:a="http://schemas.openxmlformats.org/drawingml/2006/main" noGrp="1"/>
          </p:cNvSpPr>
          <p:nvPr/>
        </p:nvSpPr>
        <p:spPr>
          <a:xfrm xmlns:a="http://schemas.openxmlformats.org/drawingml/2006/main">
            <a:off x="6705600" y="3695700"/>
            <a:ext cx="323850" cy="323850"/>
          </a:xfrm>
          <a:prstGeom xmlns:a="http://schemas.openxmlformats.org/drawingml/2006/main" prst="ellipse">
            <a:avLst/>
          </a:prstGeom>
          <a:solidFill xmlns:a="http://schemas.openxmlformats.org/drawingml/2006/main">
            <a:srgbClr val="003F6B"/>
          </a:solidFill>
          <a:ln xmlns:a="http://schemas.openxmlformats.org/drawingml/2006/main" w="0">
            <a:solidFill>
              <a:srgbClr val="FFFFFF"/>
            </a:solidFill>
            <a:prstDash val="solid"/>
          </a:ln>
        </p:spPr>
      </p:sp>
      <p:sp>
        <p:nvSpPr>
          <p:cNvPr id="29" name="">
            <a:extLst xmlns:a="http://schemas.openxmlformats.org/drawingml/2006/main">
              <a:ext uri="{FF2B5EF4-FFF2-40B4-BE49-F238E27FC236}">
                <a16:creationId xmlns:a16="http://schemas.microsoft.com/office/drawing/2014/main" id="{0F035156-438B-4ABB-9072-A45D7C224F47}"/>
              </a:ext>
            </a:extLst>
          </p:cNvPr>
          <p:cNvSpPr>
            <a:spLocks xmlns:a="http://schemas.openxmlformats.org/drawingml/2006/main" noGrp="1"/>
          </p:cNvSpPr>
          <p:nvPr/>
        </p:nvSpPr>
        <p:spPr>
          <a:xfrm xmlns:a="http://schemas.openxmlformats.org/drawingml/2006/main">
            <a:off x="6705600" y="369570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713" b="1">
                <a:solidFill>
                  <a:srgbClr val="FFFFFF"/>
                </a:solidFill>
              </a:defRPr>
            </a:pPr>
            <a:r>
              <a:rPr sz="713" b="1">
                <a:solidFill>
                  <a:srgbClr val="FFFFFF"/>
                </a:solidFill>
              </a:rPr>
              <a:t>9</a:t>
            </a:r>
          </a:p>
        </p:txBody>
      </p:sp>
      <p:sp>
        <p:nvSpPr>
          <p:cNvPr id="30" name="">
            <a:extLst xmlns:a="http://schemas.openxmlformats.org/drawingml/2006/main">
              <a:ext uri="{FF2B5EF4-FFF2-40B4-BE49-F238E27FC236}">
                <a16:creationId xmlns:a16="http://schemas.microsoft.com/office/drawing/2014/main" id="{8E19377D-6EDF-4D8A-9B87-6750920AEF72}"/>
              </a:ext>
            </a:extLst>
          </p:cNvPr>
          <p:cNvSpPr>
            <a:spLocks xmlns:a="http://schemas.openxmlformats.org/drawingml/2006/main" noGrp="1"/>
          </p:cNvSpPr>
          <p:nvPr/>
        </p:nvSpPr>
        <p:spPr>
          <a:xfrm xmlns:a="http://schemas.openxmlformats.org/drawingml/2006/main">
            <a:off x="7162800" y="3657600"/>
            <a:ext cx="4171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25">
                <a:solidFill>
                  <a:srgbClr val="15232B"/>
                </a:solidFill>
              </a:defRPr>
            </a:pPr>
            <a:r>
              <a:rPr sz="1125">
                <a:solidFill>
                  <a:srgbClr val="15232B"/>
                </a:solidFill>
              </a:rPr>
              <a:t>Keine Nullrisikomedizin – risikoadaptiert entscheiden.</a:t>
            </a:r>
          </a:p>
        </p:txBody>
      </p:sp>
      <p:sp>
        <p:nvSpPr>
          <p:cNvPr id="31" name="">
            <a:extLst xmlns:a="http://schemas.openxmlformats.org/drawingml/2006/main">
              <a:ext uri="{FF2B5EF4-FFF2-40B4-BE49-F238E27FC236}">
                <a16:creationId xmlns:a16="http://schemas.microsoft.com/office/drawing/2014/main" id="{D72AC72A-63AB-4769-9C48-CFEB242B30CC}"/>
              </a:ext>
            </a:extLst>
          </p:cNvPr>
          <p:cNvSpPr>
            <a:spLocks xmlns:a="http://schemas.openxmlformats.org/drawingml/2006/main" noGrp="1"/>
          </p:cNvSpPr>
          <p:nvPr/>
        </p:nvSpPr>
        <p:spPr>
          <a:xfrm xmlns:a="http://schemas.openxmlformats.org/drawingml/2006/main">
            <a:off x="6705600" y="4248150"/>
            <a:ext cx="323850" cy="323850"/>
          </a:xfrm>
          <a:prstGeom xmlns:a="http://schemas.openxmlformats.org/drawingml/2006/main" prst="ellipse">
            <a:avLst/>
          </a:prstGeom>
          <a:solidFill xmlns:a="http://schemas.openxmlformats.org/drawingml/2006/main">
            <a:srgbClr val="00B2BB"/>
          </a:solidFill>
          <a:ln xmlns:a="http://schemas.openxmlformats.org/drawingml/2006/main" w="0">
            <a:solidFill>
              <a:srgbClr val="FFFFFF"/>
            </a:solidFill>
            <a:prstDash val="solid"/>
          </a:ln>
        </p:spPr>
      </p:sp>
      <p:sp>
        <p:nvSpPr>
          <p:cNvPr id="32" name="">
            <a:extLst xmlns:a="http://schemas.openxmlformats.org/drawingml/2006/main">
              <a:ext uri="{FF2B5EF4-FFF2-40B4-BE49-F238E27FC236}">
                <a16:creationId xmlns:a16="http://schemas.microsoft.com/office/drawing/2014/main" id="{DF2F3383-1FDA-4139-81B2-0DA1D85E7590}"/>
              </a:ext>
            </a:extLst>
          </p:cNvPr>
          <p:cNvSpPr>
            <a:spLocks xmlns:a="http://schemas.openxmlformats.org/drawingml/2006/main" noGrp="1"/>
          </p:cNvSpPr>
          <p:nvPr/>
        </p:nvSpPr>
        <p:spPr>
          <a:xfrm xmlns:a="http://schemas.openxmlformats.org/drawingml/2006/main">
            <a:off x="6705600" y="42481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713" b="1">
                <a:solidFill>
                  <a:srgbClr val="FFFFFF"/>
                </a:solidFill>
              </a:defRPr>
            </a:pPr>
            <a:r>
              <a:rPr sz="713" b="1">
                <a:solidFill>
                  <a:srgbClr val="FFFFFF"/>
                </a:solidFill>
              </a:rPr>
              <a:t>10</a:t>
            </a:r>
          </a:p>
        </p:txBody>
      </p:sp>
      <p:sp>
        <p:nvSpPr>
          <p:cNvPr id="33" name="">
            <a:extLst xmlns:a="http://schemas.openxmlformats.org/drawingml/2006/main">
              <a:ext uri="{FF2B5EF4-FFF2-40B4-BE49-F238E27FC236}">
                <a16:creationId xmlns:a16="http://schemas.microsoft.com/office/drawing/2014/main" id="{8F33050D-5438-4AB6-B59D-4873E181DC78}"/>
              </a:ext>
            </a:extLst>
          </p:cNvPr>
          <p:cNvSpPr>
            <a:spLocks xmlns:a="http://schemas.openxmlformats.org/drawingml/2006/main" noGrp="1"/>
          </p:cNvSpPr>
          <p:nvPr/>
        </p:nvSpPr>
        <p:spPr>
          <a:xfrm xmlns:a="http://schemas.openxmlformats.org/drawingml/2006/main">
            <a:off x="7162800" y="4210050"/>
            <a:ext cx="4171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25">
                <a:solidFill>
                  <a:srgbClr val="15232B"/>
                </a:solidFill>
              </a:defRPr>
            </a:pPr>
            <a:r>
              <a:rPr sz="1125">
                <a:solidFill>
                  <a:srgbClr val="15232B"/>
                </a:solidFill>
              </a:rPr>
              <a:t>Aus Fehlern Barrieren bauen, nicht Geschichten angleichen.</a:t>
            </a:r>
          </a:p>
        </p:txBody>
      </p:sp>
      <p:sp>
        <p:nvSpPr>
          <p:cNvPr id="34" name="">
            <a:extLst xmlns:a="http://schemas.openxmlformats.org/drawingml/2006/main">
              <a:ext uri="{FF2B5EF4-FFF2-40B4-BE49-F238E27FC236}">
                <a16:creationId xmlns:a16="http://schemas.microsoft.com/office/drawing/2014/main" id="{986A3AFE-B857-4FF0-B569-6DD5AE629FDE}"/>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35" name="">
            <a:extLst xmlns:a="http://schemas.openxmlformats.org/drawingml/2006/main">
              <a:ext uri="{FF2B5EF4-FFF2-40B4-BE49-F238E27FC236}">
                <a16:creationId xmlns:a16="http://schemas.microsoft.com/office/drawing/2014/main" id="{453E9A40-1977-48E2-9921-D971BFC0A544}"/>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Recht bekommen beginnt oft lange vor Gericht: mit guter Medizin, Wahrhaftigkeit und einem belastbaren Prozess.</a:t>
            </a:r>
          </a:p>
        </p:txBody>
      </p:sp>
    </p:spTree>
    <p:extLst>
      <p:ext uri="{BB962C8B-B14F-4D97-AF65-F5344CB8AC3E}">
        <p14:creationId xmlns:p14="http://schemas.microsoft.com/office/powerpoint/2010/main" val="43637646"/>
      </p:ext>
    </p:extLst>
  </p:cSld>
</p:sld>
</file>

<file path=ppt/slides/slide401.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Nach dem Gerichtsbesuch</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DEBRIEF · 30 MIN</a:t>
            </a:r>
            <a:endParaRPr/>
          </a:p>
        </p:txBody>
      </p:sp>
      <p:sp>
        <p:nvSpPr>
          <p:cNvPr id="4" name="">
            <a:extLst xmlns:a="http://schemas.openxmlformats.org/drawingml/2006/main">
              <a:ext uri="{FF2B5EF4-FFF2-40B4-BE49-F238E27FC236}">
                <a16:creationId xmlns:a16="http://schemas.microsoft.com/office/drawing/2014/main" id="{3B3BE20C-8F5A-4196-83FB-6091037792FD}"/>
              </a:ext>
            </a:extLst>
          </p:cNvPr>
          <p:cNvSpPr>
            <a:spLocks xmlns:a="http://schemas.openxmlformats.org/drawingml/2006/main" noGrp="1"/>
          </p:cNvSpPr>
          <p:nvPr/>
        </p:nvSpPr>
        <p:spPr>
          <a:xfrm xmlns:a="http://schemas.openxmlformats.org/drawingml/2006/main">
            <a:off x="1809750" y="2038350"/>
            <a:ext cx="323850" cy="323850"/>
          </a:xfrm>
          <a:prstGeom xmlns:a="http://schemas.openxmlformats.org/drawingml/2006/main" prst="ellipse">
            <a:avLst/>
          </a:prstGeom>
          <a:solidFill xmlns:a="http://schemas.openxmlformats.org/drawingml/2006/main">
            <a:srgbClr val="00B2BB"/>
          </a:solidFill>
          <a:ln xmlns:a="http://schemas.openxmlformats.org/drawingml/2006/main" w="0">
            <a:solidFill>
              <a:srgbClr val="FFFFFF"/>
            </a:solidFill>
            <a:prstDash val="solid"/>
          </a:ln>
        </p:spPr>
      </p:sp>
      <p:sp>
        <p:nvSpPr>
          <p:cNvPr id="5" name="">
            <a:extLst xmlns:a="http://schemas.openxmlformats.org/drawingml/2006/main">
              <a:ext uri="{FF2B5EF4-FFF2-40B4-BE49-F238E27FC236}">
                <a16:creationId xmlns:a16="http://schemas.microsoft.com/office/drawing/2014/main" id="{EF383EE2-348E-4C38-B84C-30906FEEA125}"/>
              </a:ext>
            </a:extLst>
          </p:cNvPr>
          <p:cNvSpPr>
            <a:spLocks xmlns:a="http://schemas.openxmlformats.org/drawingml/2006/main" noGrp="1"/>
          </p:cNvSpPr>
          <p:nvPr/>
        </p:nvSpPr>
        <p:spPr>
          <a:xfrm xmlns:a="http://schemas.openxmlformats.org/drawingml/2006/main">
            <a:off x="1809750" y="20383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713" b="1">
                <a:solidFill>
                  <a:srgbClr val="FFFFFF"/>
                </a:solidFill>
              </a:defRPr>
            </a:pPr>
            <a:r>
              <a:rPr sz="713" b="1">
                <a:solidFill>
                  <a:srgbClr val="FFFFFF"/>
                </a:solidFill>
              </a:rPr>
              <a:t>1</a:t>
            </a:r>
          </a:p>
        </p:txBody>
      </p:sp>
      <p:sp>
        <p:nvSpPr>
          <p:cNvPr id="6" name="">
            <a:extLst xmlns:a="http://schemas.openxmlformats.org/drawingml/2006/main">
              <a:ext uri="{FF2B5EF4-FFF2-40B4-BE49-F238E27FC236}">
                <a16:creationId xmlns:a16="http://schemas.microsoft.com/office/drawing/2014/main" id="{B7D4E299-FB3D-4108-9862-4E647FB2D51C}"/>
              </a:ext>
            </a:extLst>
          </p:cNvPr>
          <p:cNvSpPr>
            <a:spLocks xmlns:a="http://schemas.openxmlformats.org/drawingml/2006/main" noGrp="1"/>
          </p:cNvSpPr>
          <p:nvPr/>
        </p:nvSpPr>
        <p:spPr>
          <a:xfrm xmlns:a="http://schemas.openxmlformats.org/drawingml/2006/main">
            <a:off x="2266950" y="2000250"/>
            <a:ext cx="9067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a:solidFill>
                  <a:srgbClr val="15232B"/>
                </a:solidFill>
              </a:defRPr>
            </a:pPr>
            <a:r>
              <a:rPr sz="1275">
                <a:solidFill>
                  <a:srgbClr val="15232B"/>
                </a:solidFill>
              </a:rPr>
              <a:t>Was war anders als erwartet?</a:t>
            </a:r>
          </a:p>
        </p:txBody>
      </p:sp>
      <p:sp>
        <p:nvSpPr>
          <p:cNvPr id="7" name="">
            <a:extLst xmlns:a="http://schemas.openxmlformats.org/drawingml/2006/main">
              <a:ext uri="{FF2B5EF4-FFF2-40B4-BE49-F238E27FC236}">
                <a16:creationId xmlns:a16="http://schemas.microsoft.com/office/drawing/2014/main" id="{4CD53184-5EF1-4B70-AB42-540FE32E0CFD}"/>
              </a:ext>
            </a:extLst>
          </p:cNvPr>
          <p:cNvSpPr>
            <a:spLocks xmlns:a="http://schemas.openxmlformats.org/drawingml/2006/main" noGrp="1"/>
          </p:cNvSpPr>
          <p:nvPr/>
        </p:nvSpPr>
        <p:spPr>
          <a:xfrm xmlns:a="http://schemas.openxmlformats.org/drawingml/2006/main">
            <a:off x="1809750" y="2590800"/>
            <a:ext cx="323850" cy="323850"/>
          </a:xfrm>
          <a:prstGeom xmlns:a="http://schemas.openxmlformats.org/drawingml/2006/main" prst="ellipse">
            <a:avLst/>
          </a:prstGeom>
          <a:solidFill xmlns:a="http://schemas.openxmlformats.org/drawingml/2006/main">
            <a:srgbClr val="003F6B"/>
          </a:solidFill>
          <a:ln xmlns:a="http://schemas.openxmlformats.org/drawingml/2006/main" w="0">
            <a:solidFill>
              <a:srgbClr val="FFFFFF"/>
            </a:solidFill>
            <a:prstDash val="solid"/>
          </a:ln>
        </p:spPr>
      </p:sp>
      <p:sp>
        <p:nvSpPr>
          <p:cNvPr id="8" name="">
            <a:extLst xmlns:a="http://schemas.openxmlformats.org/drawingml/2006/main">
              <a:ext uri="{FF2B5EF4-FFF2-40B4-BE49-F238E27FC236}">
                <a16:creationId xmlns:a16="http://schemas.microsoft.com/office/drawing/2014/main" id="{8F896AF7-E890-4E40-9A79-FD3C622C111F}"/>
              </a:ext>
            </a:extLst>
          </p:cNvPr>
          <p:cNvSpPr>
            <a:spLocks xmlns:a="http://schemas.openxmlformats.org/drawingml/2006/main" noGrp="1"/>
          </p:cNvSpPr>
          <p:nvPr/>
        </p:nvSpPr>
        <p:spPr>
          <a:xfrm xmlns:a="http://schemas.openxmlformats.org/drawingml/2006/main">
            <a:off x="1809750" y="259080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713" b="1">
                <a:solidFill>
                  <a:srgbClr val="FFFFFF"/>
                </a:solidFill>
              </a:defRPr>
            </a:pPr>
            <a:r>
              <a:rPr sz="713" b="1">
                <a:solidFill>
                  <a:srgbClr val="FFFFFF"/>
                </a:solidFill>
              </a:rPr>
              <a:t>2</a:t>
            </a:r>
          </a:p>
        </p:txBody>
      </p:sp>
      <p:sp>
        <p:nvSpPr>
          <p:cNvPr id="9" name="">
            <a:extLst xmlns:a="http://schemas.openxmlformats.org/drawingml/2006/main">
              <a:ext uri="{FF2B5EF4-FFF2-40B4-BE49-F238E27FC236}">
                <a16:creationId xmlns:a16="http://schemas.microsoft.com/office/drawing/2014/main" id="{F869CB66-CE48-4FA7-ABFB-0DE82D84085C}"/>
              </a:ext>
            </a:extLst>
          </p:cNvPr>
          <p:cNvSpPr>
            <a:spLocks xmlns:a="http://schemas.openxmlformats.org/drawingml/2006/main" noGrp="1"/>
          </p:cNvSpPr>
          <p:nvPr/>
        </p:nvSpPr>
        <p:spPr>
          <a:xfrm xmlns:a="http://schemas.openxmlformats.org/drawingml/2006/main">
            <a:off x="2266950" y="2552700"/>
            <a:ext cx="9067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a:solidFill>
                  <a:srgbClr val="15232B"/>
                </a:solidFill>
              </a:defRPr>
            </a:pPr>
            <a:r>
              <a:rPr sz="1275">
                <a:solidFill>
                  <a:srgbClr val="15232B"/>
                </a:solidFill>
              </a:rPr>
              <a:t>Welche Rolle spielte die Dokumentation?</a:t>
            </a:r>
          </a:p>
        </p:txBody>
      </p:sp>
      <p:sp>
        <p:nvSpPr>
          <p:cNvPr id="10" name="">
            <a:extLst xmlns:a="http://schemas.openxmlformats.org/drawingml/2006/main">
              <a:ext uri="{FF2B5EF4-FFF2-40B4-BE49-F238E27FC236}">
                <a16:creationId xmlns:a16="http://schemas.microsoft.com/office/drawing/2014/main" id="{9F9C8932-8299-4CD2-A793-70A60F28953C}"/>
              </a:ext>
            </a:extLst>
          </p:cNvPr>
          <p:cNvSpPr>
            <a:spLocks xmlns:a="http://schemas.openxmlformats.org/drawingml/2006/main" noGrp="1"/>
          </p:cNvSpPr>
          <p:nvPr/>
        </p:nvSpPr>
        <p:spPr>
          <a:xfrm xmlns:a="http://schemas.openxmlformats.org/drawingml/2006/main">
            <a:off x="1809750" y="3143250"/>
            <a:ext cx="323850" cy="323850"/>
          </a:xfrm>
          <a:prstGeom xmlns:a="http://schemas.openxmlformats.org/drawingml/2006/main" prst="ellipse">
            <a:avLst/>
          </a:prstGeom>
          <a:solidFill xmlns:a="http://schemas.openxmlformats.org/drawingml/2006/main">
            <a:srgbClr val="00B2BB"/>
          </a:solidFill>
          <a:ln xmlns:a="http://schemas.openxmlformats.org/drawingml/2006/main" w="0">
            <a:solidFill>
              <a:srgbClr val="FFFFFF"/>
            </a:solidFill>
            <a:prstDash val="solid"/>
          </a:ln>
        </p:spPr>
      </p:sp>
      <p:sp>
        <p:nvSpPr>
          <p:cNvPr id="11" name="">
            <a:extLst xmlns:a="http://schemas.openxmlformats.org/drawingml/2006/main">
              <a:ext uri="{FF2B5EF4-FFF2-40B4-BE49-F238E27FC236}">
                <a16:creationId xmlns:a16="http://schemas.microsoft.com/office/drawing/2014/main" id="{2E3F1DB4-4F53-4EF1-B081-561C71B9E2C7}"/>
              </a:ext>
            </a:extLst>
          </p:cNvPr>
          <p:cNvSpPr>
            <a:spLocks xmlns:a="http://schemas.openxmlformats.org/drawingml/2006/main" noGrp="1"/>
          </p:cNvSpPr>
          <p:nvPr/>
        </p:nvSpPr>
        <p:spPr>
          <a:xfrm xmlns:a="http://schemas.openxmlformats.org/drawingml/2006/main">
            <a:off x="1809750" y="31432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713" b="1">
                <a:solidFill>
                  <a:srgbClr val="FFFFFF"/>
                </a:solidFill>
              </a:defRPr>
            </a:pPr>
            <a:r>
              <a:rPr sz="713" b="1">
                <a:solidFill>
                  <a:srgbClr val="FFFFFF"/>
                </a:solidFill>
              </a:rPr>
              <a:t>3</a:t>
            </a:r>
          </a:p>
        </p:txBody>
      </p:sp>
      <p:sp>
        <p:nvSpPr>
          <p:cNvPr id="12" name="">
            <a:extLst xmlns:a="http://schemas.openxmlformats.org/drawingml/2006/main">
              <a:ext uri="{FF2B5EF4-FFF2-40B4-BE49-F238E27FC236}">
                <a16:creationId xmlns:a16="http://schemas.microsoft.com/office/drawing/2014/main" id="{D06E24D3-1316-4A5A-B079-0683F339565A}"/>
              </a:ext>
            </a:extLst>
          </p:cNvPr>
          <p:cNvSpPr>
            <a:spLocks xmlns:a="http://schemas.openxmlformats.org/drawingml/2006/main" noGrp="1"/>
          </p:cNvSpPr>
          <p:nvPr/>
        </p:nvSpPr>
        <p:spPr>
          <a:xfrm xmlns:a="http://schemas.openxmlformats.org/drawingml/2006/main">
            <a:off x="2266950" y="3105150"/>
            <a:ext cx="9067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a:solidFill>
                  <a:srgbClr val="15232B"/>
                </a:solidFill>
              </a:defRPr>
            </a:pPr>
            <a:r>
              <a:rPr sz="1275">
                <a:solidFill>
                  <a:srgbClr val="15232B"/>
                </a:solidFill>
              </a:rPr>
              <a:t>Welche Frage an die Sachverständigen war entscheidend?</a:t>
            </a:r>
          </a:p>
        </p:txBody>
      </p:sp>
      <p:sp>
        <p:nvSpPr>
          <p:cNvPr id="13" name="">
            <a:extLst xmlns:a="http://schemas.openxmlformats.org/drawingml/2006/main">
              <a:ext uri="{FF2B5EF4-FFF2-40B4-BE49-F238E27FC236}">
                <a16:creationId xmlns:a16="http://schemas.microsoft.com/office/drawing/2014/main" id="{753C29B7-834C-48FE-805C-2C08CB9F5D09}"/>
              </a:ext>
            </a:extLst>
          </p:cNvPr>
          <p:cNvSpPr>
            <a:spLocks xmlns:a="http://schemas.openxmlformats.org/drawingml/2006/main" noGrp="1"/>
          </p:cNvSpPr>
          <p:nvPr/>
        </p:nvSpPr>
        <p:spPr>
          <a:xfrm xmlns:a="http://schemas.openxmlformats.org/drawingml/2006/main">
            <a:off x="1809750" y="3695700"/>
            <a:ext cx="323850" cy="323850"/>
          </a:xfrm>
          <a:prstGeom xmlns:a="http://schemas.openxmlformats.org/drawingml/2006/main" prst="ellipse">
            <a:avLst/>
          </a:prstGeom>
          <a:solidFill xmlns:a="http://schemas.openxmlformats.org/drawingml/2006/main">
            <a:srgbClr val="003F6B"/>
          </a:solidFill>
          <a:ln xmlns:a="http://schemas.openxmlformats.org/drawingml/2006/main" w="0">
            <a:solidFill>
              <a:srgbClr val="FFFFFF"/>
            </a:solidFill>
            <a:prstDash val="solid"/>
          </a:ln>
        </p:spPr>
      </p:sp>
      <p:sp>
        <p:nvSpPr>
          <p:cNvPr id="14" name="">
            <a:extLst xmlns:a="http://schemas.openxmlformats.org/drawingml/2006/main">
              <a:ext uri="{FF2B5EF4-FFF2-40B4-BE49-F238E27FC236}">
                <a16:creationId xmlns:a16="http://schemas.microsoft.com/office/drawing/2014/main" id="{8032D2FA-B2C7-471E-8E34-019E878F6EA4}"/>
              </a:ext>
            </a:extLst>
          </p:cNvPr>
          <p:cNvSpPr>
            <a:spLocks xmlns:a="http://schemas.openxmlformats.org/drawingml/2006/main" noGrp="1"/>
          </p:cNvSpPr>
          <p:nvPr/>
        </p:nvSpPr>
        <p:spPr>
          <a:xfrm xmlns:a="http://schemas.openxmlformats.org/drawingml/2006/main">
            <a:off x="1809750" y="369570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713" b="1">
                <a:solidFill>
                  <a:srgbClr val="FFFFFF"/>
                </a:solidFill>
              </a:defRPr>
            </a:pPr>
            <a:r>
              <a:rPr sz="713" b="1">
                <a:solidFill>
                  <a:srgbClr val="FFFFFF"/>
                </a:solidFill>
              </a:rPr>
              <a:t>4</a:t>
            </a:r>
          </a:p>
        </p:txBody>
      </p:sp>
      <p:sp>
        <p:nvSpPr>
          <p:cNvPr id="15" name="">
            <a:extLst xmlns:a="http://schemas.openxmlformats.org/drawingml/2006/main">
              <a:ext uri="{FF2B5EF4-FFF2-40B4-BE49-F238E27FC236}">
                <a16:creationId xmlns:a16="http://schemas.microsoft.com/office/drawing/2014/main" id="{2A105C24-713F-432D-8EA2-233DC852F091}"/>
              </a:ext>
            </a:extLst>
          </p:cNvPr>
          <p:cNvSpPr>
            <a:spLocks xmlns:a="http://schemas.openxmlformats.org/drawingml/2006/main" noGrp="1"/>
          </p:cNvSpPr>
          <p:nvPr/>
        </p:nvSpPr>
        <p:spPr>
          <a:xfrm xmlns:a="http://schemas.openxmlformats.org/drawingml/2006/main">
            <a:off x="2266950" y="3657600"/>
            <a:ext cx="9067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a:solidFill>
                  <a:srgbClr val="15232B"/>
                </a:solidFill>
              </a:defRPr>
            </a:pPr>
            <a:r>
              <a:rPr sz="1275">
                <a:solidFill>
                  <a:srgbClr val="15232B"/>
                </a:solidFill>
              </a:rPr>
              <a:t>Wo lagen Vergleichschancen?</a:t>
            </a:r>
          </a:p>
        </p:txBody>
      </p:sp>
      <p:sp>
        <p:nvSpPr>
          <p:cNvPr id="16" name="">
            <a:extLst xmlns:a="http://schemas.openxmlformats.org/drawingml/2006/main">
              <a:ext uri="{FF2B5EF4-FFF2-40B4-BE49-F238E27FC236}">
                <a16:creationId xmlns:a16="http://schemas.microsoft.com/office/drawing/2014/main" id="{A6881D7A-7A83-47E5-AE8A-78FD552B1C89}"/>
              </a:ext>
            </a:extLst>
          </p:cNvPr>
          <p:cNvSpPr>
            <a:spLocks xmlns:a="http://schemas.openxmlformats.org/drawingml/2006/main" noGrp="1"/>
          </p:cNvSpPr>
          <p:nvPr/>
        </p:nvSpPr>
        <p:spPr>
          <a:xfrm xmlns:a="http://schemas.openxmlformats.org/drawingml/2006/main">
            <a:off x="1809750" y="4248150"/>
            <a:ext cx="323850" cy="323850"/>
          </a:xfrm>
          <a:prstGeom xmlns:a="http://schemas.openxmlformats.org/drawingml/2006/main" prst="ellipse">
            <a:avLst/>
          </a:prstGeom>
          <a:solidFill xmlns:a="http://schemas.openxmlformats.org/drawingml/2006/main">
            <a:srgbClr val="00B2BB"/>
          </a:solidFill>
          <a:ln xmlns:a="http://schemas.openxmlformats.org/drawingml/2006/main" w="0">
            <a:solidFill>
              <a:srgbClr val="FFFFFF"/>
            </a:solidFill>
            <a:prstDash val="solid"/>
          </a:ln>
        </p:spPr>
      </p:sp>
      <p:sp>
        <p:nvSpPr>
          <p:cNvPr id="17" name="">
            <a:extLst xmlns:a="http://schemas.openxmlformats.org/drawingml/2006/main">
              <a:ext uri="{FF2B5EF4-FFF2-40B4-BE49-F238E27FC236}">
                <a16:creationId xmlns:a16="http://schemas.microsoft.com/office/drawing/2014/main" id="{673A9F59-2D2F-4949-98A1-3F485E4B6017}"/>
              </a:ext>
            </a:extLst>
          </p:cNvPr>
          <p:cNvSpPr>
            <a:spLocks xmlns:a="http://schemas.openxmlformats.org/drawingml/2006/main" noGrp="1"/>
          </p:cNvSpPr>
          <p:nvPr/>
        </p:nvSpPr>
        <p:spPr>
          <a:xfrm xmlns:a="http://schemas.openxmlformats.org/drawingml/2006/main">
            <a:off x="1809750" y="42481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713" b="1">
                <a:solidFill>
                  <a:srgbClr val="FFFFFF"/>
                </a:solidFill>
              </a:defRPr>
            </a:pPr>
            <a:r>
              <a:rPr sz="713" b="1">
                <a:solidFill>
                  <a:srgbClr val="FFFFFF"/>
                </a:solidFill>
              </a:rPr>
              <a:t>5</a:t>
            </a:r>
          </a:p>
        </p:txBody>
      </p:sp>
      <p:sp>
        <p:nvSpPr>
          <p:cNvPr id="18" name="">
            <a:extLst xmlns:a="http://schemas.openxmlformats.org/drawingml/2006/main">
              <a:ext uri="{FF2B5EF4-FFF2-40B4-BE49-F238E27FC236}">
                <a16:creationId xmlns:a16="http://schemas.microsoft.com/office/drawing/2014/main" id="{29101D97-6F76-44B6-9FA1-2BE89AA3BEC8}"/>
              </a:ext>
            </a:extLst>
          </p:cNvPr>
          <p:cNvSpPr>
            <a:spLocks xmlns:a="http://schemas.openxmlformats.org/drawingml/2006/main" noGrp="1"/>
          </p:cNvSpPr>
          <p:nvPr/>
        </p:nvSpPr>
        <p:spPr>
          <a:xfrm xmlns:a="http://schemas.openxmlformats.org/drawingml/2006/main">
            <a:off x="2266950" y="4210050"/>
            <a:ext cx="9067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275">
                <a:solidFill>
                  <a:srgbClr val="15232B"/>
                </a:solidFill>
              </a:defRPr>
            </a:pPr>
            <a:r>
              <a:rPr sz="1275">
                <a:solidFill>
                  <a:srgbClr val="15232B"/>
                </a:solidFill>
              </a:rPr>
              <a:t>Was bedeutet das für mein Handeln im PJ / Dienst?</a:t>
            </a:r>
          </a:p>
        </p:txBody>
      </p:sp>
      <p:sp>
        <p:nvSpPr>
          <p:cNvPr id="19" name="">
            <a:extLst xmlns:a="http://schemas.openxmlformats.org/drawingml/2006/main">
              <a:ext uri="{FF2B5EF4-FFF2-40B4-BE49-F238E27FC236}">
                <a16:creationId xmlns:a16="http://schemas.microsoft.com/office/drawing/2014/main" id="{4FC44B1D-63F8-4BA9-86A9-26AC9989C882}"/>
              </a:ext>
            </a:extLst>
          </p:cNvPr>
          <p:cNvSpPr>
            <a:spLocks xmlns:a="http://schemas.openxmlformats.org/drawingml/2006/main" noGrp="1"/>
          </p:cNvSpPr>
          <p:nvPr/>
        </p:nvSpPr>
        <p:spPr>
          <a:xfrm xmlns:a="http://schemas.openxmlformats.org/drawingml/2006/main">
            <a:off x="2095500" y="5143500"/>
            <a:ext cx="895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0786B"/>
                </a:solidFill>
              </a:defRPr>
            </a:pPr>
            <a:r>
              <a:rPr sz="1200" b="1">
                <a:solidFill>
                  <a:srgbClr val="00786B"/>
                </a:solidFill>
              </a:rPr>
              <a:t>Anonymisierte Lernnotiz: eine Beobachtung · eine Konsequenz · eine offene Frage</a:t>
            </a:r>
          </a:p>
        </p:txBody>
      </p:sp>
      <p:sp>
        <p:nvSpPr>
          <p:cNvPr id="20" name="">
            <a:extLst xmlns:a="http://schemas.openxmlformats.org/drawingml/2006/main">
              <a:ext uri="{FF2B5EF4-FFF2-40B4-BE49-F238E27FC236}">
                <a16:creationId xmlns:a16="http://schemas.microsoft.com/office/drawing/2014/main" id="{64EC24D6-CEE2-4521-85C7-85EB597FAAA9}"/>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1" name="">
            <a:extLst xmlns:a="http://schemas.openxmlformats.org/drawingml/2006/main">
              <a:ext uri="{FF2B5EF4-FFF2-40B4-BE49-F238E27FC236}">
                <a16:creationId xmlns:a16="http://schemas.microsoft.com/office/drawing/2014/main" id="{DBC7FBD7-047B-4F5E-B019-C7D6051C3002}"/>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Gerichtspraxis ist kein Spektakel, sondern Übersetzungsarbeit zwischen Medizin, Tatsachen und Recht.</a:t>
            </a:r>
          </a:p>
        </p:txBody>
      </p:sp>
    </p:spTree>
    <p:extLst>
      <p:ext uri="{BB962C8B-B14F-4D97-AF65-F5344CB8AC3E}">
        <p14:creationId xmlns:p14="http://schemas.microsoft.com/office/powerpoint/2010/main" val="43637646"/>
      </p:ext>
    </p:extLst>
  </p:cSld>
</p:sld>
</file>

<file path=ppt/slides/slide402.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Zum Nachlesen · Termin 14: Capstone</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LITERATUR &amp; SICHTBARE QUELLEN</a:t>
            </a:r>
            <a:endParaRPr/>
          </a:p>
        </p:txBody>
      </p:sp>
      <p:sp>
        <p:nvSpPr>
          <p:cNvPr id="4" name="">
            <a:extLst xmlns:a="http://schemas.openxmlformats.org/drawingml/2006/main">
              <a:ext uri="{FF2B5EF4-FFF2-40B4-BE49-F238E27FC236}">
                <a16:creationId xmlns:a16="http://schemas.microsoft.com/office/drawing/2014/main" id="{167B3543-D293-458C-B5BA-B602FE9310C6}"/>
              </a:ext>
            </a:extLst>
          </p:cNvPr>
          <p:cNvSpPr>
            <a:spLocks xmlns:a="http://schemas.openxmlformats.org/drawingml/2006/main" noGrp="1"/>
          </p:cNvSpPr>
          <p:nvPr/>
        </p:nvSpPr>
        <p:spPr>
          <a:xfrm xmlns:a="http://schemas.openxmlformats.org/drawingml/2006/main">
            <a:off x="1809750" y="1943100"/>
            <a:ext cx="461010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E71ED340-5558-4F9C-8FF5-0A24421B6BE2}"/>
              </a:ext>
            </a:extLst>
          </p:cNvPr>
          <p:cNvSpPr>
            <a:spLocks xmlns:a="http://schemas.openxmlformats.org/drawingml/2006/main" noGrp="1"/>
          </p:cNvSpPr>
          <p:nvPr/>
        </p:nvSpPr>
        <p:spPr>
          <a:xfrm xmlns:a="http://schemas.openxmlformats.org/drawingml/2006/main">
            <a:off x="1809750" y="1943100"/>
            <a:ext cx="4610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Vertiefung</a:t>
            </a:r>
          </a:p>
        </p:txBody>
      </p:sp>
      <p:sp>
        <p:nvSpPr>
          <p:cNvPr id="6" name="">
            <a:extLst xmlns:a="http://schemas.openxmlformats.org/drawingml/2006/main">
              <a:ext uri="{FF2B5EF4-FFF2-40B4-BE49-F238E27FC236}">
                <a16:creationId xmlns:a16="http://schemas.microsoft.com/office/drawing/2014/main" id="{A9964AFF-B06F-4F11-A144-0A5B8CA93815}"/>
              </a:ext>
            </a:extLst>
          </p:cNvPr>
          <p:cNvSpPr>
            <a:spLocks xmlns:a="http://schemas.openxmlformats.org/drawingml/2006/main" noGrp="1"/>
          </p:cNvSpPr>
          <p:nvPr/>
        </p:nvSpPr>
        <p:spPr>
          <a:xfrm xmlns:a="http://schemas.openxmlformats.org/drawingml/2006/main">
            <a:off x="1809750" y="30289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7" name="">
            <a:extLst xmlns:a="http://schemas.openxmlformats.org/drawingml/2006/main">
              <a:ext uri="{FF2B5EF4-FFF2-40B4-BE49-F238E27FC236}">
                <a16:creationId xmlns:a16="http://schemas.microsoft.com/office/drawing/2014/main" id="{69AA5AE7-57F3-42B7-93FB-DF4D6893CD2A}"/>
              </a:ext>
            </a:extLst>
          </p:cNvPr>
          <p:cNvSpPr>
            <a:spLocks xmlns:a="http://schemas.openxmlformats.org/drawingml/2006/main" noGrp="1"/>
          </p:cNvSpPr>
          <p:nvPr/>
        </p:nvSpPr>
        <p:spPr>
          <a:xfrm xmlns:a="http://schemas.openxmlformats.org/drawingml/2006/main">
            <a:off x="1809750" y="24765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9BAB"/>
                </a:solidFill>
              </a:defRPr>
            </a:pPr>
            <a:r>
              <a:rPr sz="960" b="1">
                <a:solidFill>
                  <a:srgbClr val="009BAB"/>
                </a:solidFill>
              </a:rPr>
              <a:t>Wiederholung</a:t>
            </a:r>
          </a:p>
        </p:txBody>
      </p:sp>
      <p:sp>
        <p:nvSpPr>
          <p:cNvPr id="8" name="">
            <a:extLst xmlns:a="http://schemas.openxmlformats.org/drawingml/2006/main">
              <a:ext uri="{FF2B5EF4-FFF2-40B4-BE49-F238E27FC236}">
                <a16:creationId xmlns:a16="http://schemas.microsoft.com/office/drawing/2014/main" id="{EDE2B2D0-DC75-4276-8CC8-03D54184EC5B}"/>
              </a:ext>
            </a:extLst>
          </p:cNvPr>
          <p:cNvSpPr>
            <a:spLocks xmlns:a="http://schemas.openxmlformats.org/drawingml/2006/main" noGrp="1"/>
          </p:cNvSpPr>
          <p:nvPr/>
        </p:nvSpPr>
        <p:spPr>
          <a:xfrm xmlns:a="http://schemas.openxmlformats.org/drawingml/2006/main">
            <a:off x="2952750" y="24765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Eigene Schemata zu Haftung, Strafbarkeit, ZPO, StPO und VwGO.</a:t>
            </a:r>
          </a:p>
        </p:txBody>
      </p:sp>
      <p:sp>
        <p:nvSpPr>
          <p:cNvPr id="9" name="">
            <a:extLst xmlns:a="http://schemas.openxmlformats.org/drawingml/2006/main">
              <a:ext uri="{FF2B5EF4-FFF2-40B4-BE49-F238E27FC236}">
                <a16:creationId xmlns:a16="http://schemas.microsoft.com/office/drawing/2014/main" id="{6241DF09-C389-4885-A21F-78B461FB2049}"/>
              </a:ext>
            </a:extLst>
          </p:cNvPr>
          <p:cNvSpPr>
            <a:spLocks xmlns:a="http://schemas.openxmlformats.org/drawingml/2006/main" noGrp="1"/>
          </p:cNvSpPr>
          <p:nvPr/>
        </p:nvSpPr>
        <p:spPr>
          <a:xfrm xmlns:a="http://schemas.openxmlformats.org/drawingml/2006/main">
            <a:off x="1809750" y="36385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10" name="">
            <a:extLst xmlns:a="http://schemas.openxmlformats.org/drawingml/2006/main">
              <a:ext uri="{FF2B5EF4-FFF2-40B4-BE49-F238E27FC236}">
                <a16:creationId xmlns:a16="http://schemas.microsoft.com/office/drawing/2014/main" id="{A50B98B2-60C8-4CE8-B4D8-487B3EBA2EFE}"/>
              </a:ext>
            </a:extLst>
          </p:cNvPr>
          <p:cNvSpPr>
            <a:spLocks xmlns:a="http://schemas.openxmlformats.org/drawingml/2006/main" noGrp="1"/>
          </p:cNvSpPr>
          <p:nvPr/>
        </p:nvSpPr>
        <p:spPr>
          <a:xfrm xmlns:a="http://schemas.openxmlformats.org/drawingml/2006/main">
            <a:off x="1809750" y="30861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9BAB"/>
                </a:solidFill>
              </a:defRPr>
            </a:pPr>
            <a:r>
              <a:rPr sz="960" b="1">
                <a:solidFill>
                  <a:srgbClr val="009BAB"/>
                </a:solidFill>
              </a:rPr>
              <a:t>Simulation</a:t>
            </a:r>
          </a:p>
        </p:txBody>
      </p:sp>
      <p:sp>
        <p:nvSpPr>
          <p:cNvPr id="11" name="">
            <a:extLst xmlns:a="http://schemas.openxmlformats.org/drawingml/2006/main">
              <a:ext uri="{FF2B5EF4-FFF2-40B4-BE49-F238E27FC236}">
                <a16:creationId xmlns:a16="http://schemas.microsoft.com/office/drawing/2014/main" id="{A80EFEA5-46D6-414C-80A4-7F07CF74F95E}"/>
              </a:ext>
            </a:extLst>
          </p:cNvPr>
          <p:cNvSpPr>
            <a:spLocks xmlns:a="http://schemas.openxmlformats.org/drawingml/2006/main" noGrp="1"/>
          </p:cNvSpPr>
          <p:nvPr/>
        </p:nvSpPr>
        <p:spPr>
          <a:xfrm xmlns:a="http://schemas.openxmlformats.org/drawingml/2006/main">
            <a:off x="2952750" y="30861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Rollenkarte, Aktenauszug, Beweisfrage, Eröffnungsstatement, Debrief.</a:t>
            </a:r>
          </a:p>
        </p:txBody>
      </p:sp>
      <p:sp>
        <p:nvSpPr>
          <p:cNvPr id="12" name="">
            <a:extLst xmlns:a="http://schemas.openxmlformats.org/drawingml/2006/main">
              <a:ext uri="{FF2B5EF4-FFF2-40B4-BE49-F238E27FC236}">
                <a16:creationId xmlns:a16="http://schemas.microsoft.com/office/drawing/2014/main" id="{EC52405D-B9A3-4ECB-88FD-7CBAC849CA9F}"/>
              </a:ext>
            </a:extLst>
          </p:cNvPr>
          <p:cNvSpPr>
            <a:spLocks xmlns:a="http://schemas.openxmlformats.org/drawingml/2006/main" noGrp="1"/>
          </p:cNvSpPr>
          <p:nvPr/>
        </p:nvSpPr>
        <p:spPr>
          <a:xfrm xmlns:a="http://schemas.openxmlformats.org/drawingml/2006/main">
            <a:off x="1809750" y="42481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13" name="">
            <a:extLst xmlns:a="http://schemas.openxmlformats.org/drawingml/2006/main">
              <a:ext uri="{FF2B5EF4-FFF2-40B4-BE49-F238E27FC236}">
                <a16:creationId xmlns:a16="http://schemas.microsoft.com/office/drawing/2014/main" id="{CEBA72CB-E628-4259-97D2-F23ADAA0660D}"/>
              </a:ext>
            </a:extLst>
          </p:cNvPr>
          <p:cNvSpPr>
            <a:spLocks xmlns:a="http://schemas.openxmlformats.org/drawingml/2006/main" noGrp="1"/>
          </p:cNvSpPr>
          <p:nvPr/>
        </p:nvSpPr>
        <p:spPr>
          <a:xfrm xmlns:a="http://schemas.openxmlformats.org/drawingml/2006/main">
            <a:off x="1809750" y="36957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9BAB"/>
                </a:solidFill>
              </a:defRPr>
            </a:pPr>
            <a:r>
              <a:rPr sz="960" b="1">
                <a:solidFill>
                  <a:srgbClr val="009BAB"/>
                </a:solidFill>
              </a:rPr>
              <a:t>Transfer</a:t>
            </a:r>
          </a:p>
        </p:txBody>
      </p:sp>
      <p:sp>
        <p:nvSpPr>
          <p:cNvPr id="14" name="">
            <a:extLst xmlns:a="http://schemas.openxmlformats.org/drawingml/2006/main">
              <a:ext uri="{FF2B5EF4-FFF2-40B4-BE49-F238E27FC236}">
                <a16:creationId xmlns:a16="http://schemas.microsoft.com/office/drawing/2014/main" id="{C78A3709-0099-4003-AA06-F4D9A9959009}"/>
              </a:ext>
            </a:extLst>
          </p:cNvPr>
          <p:cNvSpPr>
            <a:spLocks xmlns:a="http://schemas.openxmlformats.org/drawingml/2006/main" noGrp="1"/>
          </p:cNvSpPr>
          <p:nvPr/>
        </p:nvSpPr>
        <p:spPr>
          <a:xfrm xmlns:a="http://schemas.openxmlformats.org/drawingml/2006/main">
            <a:off x="2952750" y="36957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Gerichtsbesuch: Beobachtung von Rollen, Beweisaufnahme und Vergleichsdynamik.</a:t>
            </a:r>
          </a:p>
        </p:txBody>
      </p:sp>
      <p:sp>
        <p:nvSpPr>
          <p:cNvPr id="15" name="">
            <a:extLst xmlns:a="http://schemas.openxmlformats.org/drawingml/2006/main">
              <a:ext uri="{FF2B5EF4-FFF2-40B4-BE49-F238E27FC236}">
                <a16:creationId xmlns:a16="http://schemas.microsoft.com/office/drawing/2014/main" id="{873134EA-FC1E-46F1-A0DF-DA5FE43DFE2E}"/>
              </a:ext>
            </a:extLst>
          </p:cNvPr>
          <p:cNvSpPr>
            <a:spLocks xmlns:a="http://schemas.openxmlformats.org/drawingml/2006/main" noGrp="1"/>
          </p:cNvSpPr>
          <p:nvPr/>
        </p:nvSpPr>
        <p:spPr>
          <a:xfrm xmlns:a="http://schemas.openxmlformats.org/drawingml/2006/main">
            <a:off x="1809750" y="48577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16" name="">
            <a:extLst xmlns:a="http://schemas.openxmlformats.org/drawingml/2006/main">
              <a:ext uri="{FF2B5EF4-FFF2-40B4-BE49-F238E27FC236}">
                <a16:creationId xmlns:a16="http://schemas.microsoft.com/office/drawing/2014/main" id="{FF5A5ABB-7965-4079-BB27-8CAAE3E52B98}"/>
              </a:ext>
            </a:extLst>
          </p:cNvPr>
          <p:cNvSpPr>
            <a:spLocks xmlns:a="http://schemas.openxmlformats.org/drawingml/2006/main" noGrp="1"/>
          </p:cNvSpPr>
          <p:nvPr/>
        </p:nvSpPr>
        <p:spPr>
          <a:xfrm xmlns:a="http://schemas.openxmlformats.org/drawingml/2006/main">
            <a:off x="1809750" y="43053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9BAB"/>
                </a:solidFill>
              </a:defRPr>
            </a:pPr>
            <a:r>
              <a:rPr sz="960" b="1">
                <a:solidFill>
                  <a:srgbClr val="009BAB"/>
                </a:solidFill>
              </a:rPr>
              <a:t>Podcast</a:t>
            </a:r>
          </a:p>
        </p:txBody>
      </p:sp>
      <p:sp>
        <p:nvSpPr>
          <p:cNvPr id="17" name="">
            <a:extLst xmlns:a="http://schemas.openxmlformats.org/drawingml/2006/main">
              <a:ext uri="{FF2B5EF4-FFF2-40B4-BE49-F238E27FC236}">
                <a16:creationId xmlns:a16="http://schemas.microsoft.com/office/drawing/2014/main" id="{4DC7CC34-2128-4F88-BD6D-978BD64F7956}"/>
              </a:ext>
            </a:extLst>
          </p:cNvPr>
          <p:cNvSpPr>
            <a:spLocks xmlns:a="http://schemas.openxmlformats.org/drawingml/2006/main" noGrp="1"/>
          </p:cNvSpPr>
          <p:nvPr/>
        </p:nvSpPr>
        <p:spPr>
          <a:xfrm xmlns:a="http://schemas.openxmlformats.org/drawingml/2006/main">
            <a:off x="2952750" y="43053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Folgen 0–4 einschließlich Kurzvisite als Fallimpulse für Abschlussreflexion.</a:t>
            </a:r>
          </a:p>
        </p:txBody>
      </p:sp>
      <p:sp>
        <p:nvSpPr>
          <p:cNvPr id="18" name="">
            <a:extLst xmlns:a="http://schemas.openxmlformats.org/drawingml/2006/main">
              <a:ext uri="{FF2B5EF4-FFF2-40B4-BE49-F238E27FC236}">
                <a16:creationId xmlns:a16="http://schemas.microsoft.com/office/drawing/2014/main" id="{DDA9A5E1-B443-42F1-A601-970F19E009D3}"/>
              </a:ext>
            </a:extLst>
          </p:cNvPr>
          <p:cNvSpPr>
            <a:spLocks xmlns:a="http://schemas.openxmlformats.org/drawingml/2006/main" noGrp="1"/>
          </p:cNvSpPr>
          <p:nvPr/>
        </p:nvSpPr>
        <p:spPr>
          <a:xfrm xmlns:a="http://schemas.openxmlformats.org/drawingml/2006/main">
            <a:off x="6724650" y="1943100"/>
            <a:ext cx="461010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9" name="">
            <a:extLst xmlns:a="http://schemas.openxmlformats.org/drawingml/2006/main">
              <a:ext uri="{FF2B5EF4-FFF2-40B4-BE49-F238E27FC236}">
                <a16:creationId xmlns:a16="http://schemas.microsoft.com/office/drawing/2014/main" id="{F433EFC4-3BC6-4C7E-9EBD-FFBBC0C06C2D}"/>
              </a:ext>
            </a:extLst>
          </p:cNvPr>
          <p:cNvSpPr>
            <a:spLocks xmlns:a="http://schemas.openxmlformats.org/drawingml/2006/main" noGrp="1"/>
          </p:cNvSpPr>
          <p:nvPr/>
        </p:nvSpPr>
        <p:spPr>
          <a:xfrm xmlns:a="http://schemas.openxmlformats.org/drawingml/2006/main">
            <a:off x="6724650" y="1943100"/>
            <a:ext cx="4610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Primärquellen &amp; Rechtsprechung</a:t>
            </a:r>
          </a:p>
        </p:txBody>
      </p:sp>
      <p:sp>
        <p:nvSpPr>
          <p:cNvPr id="20" name="">
            <a:extLst xmlns:a="http://schemas.openxmlformats.org/drawingml/2006/main">
              <a:ext uri="{FF2B5EF4-FFF2-40B4-BE49-F238E27FC236}">
                <a16:creationId xmlns:a16="http://schemas.microsoft.com/office/drawing/2014/main" id="{386080B3-0506-466F-94E0-B92E3267C745}"/>
              </a:ext>
            </a:extLst>
          </p:cNvPr>
          <p:cNvSpPr>
            <a:spLocks xmlns:a="http://schemas.openxmlformats.org/drawingml/2006/main" noGrp="1"/>
          </p:cNvSpPr>
          <p:nvPr/>
        </p:nvSpPr>
        <p:spPr>
          <a:xfrm xmlns:a="http://schemas.openxmlformats.org/drawingml/2006/main">
            <a:off x="6724650" y="30289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21" name="">
            <a:extLst xmlns:a="http://schemas.openxmlformats.org/drawingml/2006/main">
              <a:ext uri="{FF2B5EF4-FFF2-40B4-BE49-F238E27FC236}">
                <a16:creationId xmlns:a16="http://schemas.microsoft.com/office/drawing/2014/main" id="{88D6D5ED-40ED-434A-B458-EA1ED9C40223}"/>
              </a:ext>
            </a:extLst>
          </p:cNvPr>
          <p:cNvSpPr>
            <a:spLocks xmlns:a="http://schemas.openxmlformats.org/drawingml/2006/main" noGrp="1"/>
          </p:cNvSpPr>
          <p:nvPr/>
        </p:nvSpPr>
        <p:spPr>
          <a:xfrm xmlns:a="http://schemas.openxmlformats.org/drawingml/2006/main">
            <a:off x="6724650" y="24765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3F6B"/>
                </a:solidFill>
              </a:defRPr>
            </a:pPr>
            <a:r>
              <a:rPr sz="960" b="1">
                <a:solidFill>
                  <a:srgbClr val="003F6B"/>
                </a:solidFill>
              </a:rPr>
              <a:t>BGB</a:t>
            </a:r>
          </a:p>
        </p:txBody>
      </p:sp>
      <p:sp>
        <p:nvSpPr>
          <p:cNvPr id="22" name="">
            <a:extLst xmlns:a="http://schemas.openxmlformats.org/drawingml/2006/main">
              <a:ext uri="{FF2B5EF4-FFF2-40B4-BE49-F238E27FC236}">
                <a16:creationId xmlns:a16="http://schemas.microsoft.com/office/drawing/2014/main" id="{EEF29475-3B94-4523-AEB7-9885CAD940E2}"/>
              </a:ext>
            </a:extLst>
          </p:cNvPr>
          <p:cNvSpPr>
            <a:spLocks xmlns:a="http://schemas.openxmlformats.org/drawingml/2006/main" noGrp="1"/>
          </p:cNvSpPr>
          <p:nvPr/>
        </p:nvSpPr>
        <p:spPr>
          <a:xfrm xmlns:a="http://schemas.openxmlformats.org/drawingml/2006/main">
            <a:off x="7867650" y="24765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 280, 823, 630a–630h.</a:t>
            </a:r>
          </a:p>
        </p:txBody>
      </p:sp>
      <p:sp>
        <p:nvSpPr>
          <p:cNvPr id="23" name="">
            <a:extLst xmlns:a="http://schemas.openxmlformats.org/drawingml/2006/main">
              <a:ext uri="{FF2B5EF4-FFF2-40B4-BE49-F238E27FC236}">
                <a16:creationId xmlns:a16="http://schemas.microsoft.com/office/drawing/2014/main" id="{B8ED4D46-1798-49C0-95FA-F489D0B1907B}"/>
              </a:ext>
            </a:extLst>
          </p:cNvPr>
          <p:cNvSpPr>
            <a:spLocks xmlns:a="http://schemas.openxmlformats.org/drawingml/2006/main" noGrp="1"/>
          </p:cNvSpPr>
          <p:nvPr/>
        </p:nvSpPr>
        <p:spPr>
          <a:xfrm xmlns:a="http://schemas.openxmlformats.org/drawingml/2006/main">
            <a:off x="6724650" y="36385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24" name="">
            <a:extLst xmlns:a="http://schemas.openxmlformats.org/drawingml/2006/main">
              <a:ext uri="{FF2B5EF4-FFF2-40B4-BE49-F238E27FC236}">
                <a16:creationId xmlns:a16="http://schemas.microsoft.com/office/drawing/2014/main" id="{379BBA33-2169-4FAE-84E4-0E9A0AAC2404}"/>
              </a:ext>
            </a:extLst>
          </p:cNvPr>
          <p:cNvSpPr>
            <a:spLocks xmlns:a="http://schemas.openxmlformats.org/drawingml/2006/main" noGrp="1"/>
          </p:cNvSpPr>
          <p:nvPr/>
        </p:nvSpPr>
        <p:spPr>
          <a:xfrm xmlns:a="http://schemas.openxmlformats.org/drawingml/2006/main">
            <a:off x="6724650" y="30861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3F6B"/>
                </a:solidFill>
              </a:defRPr>
            </a:pPr>
            <a:r>
              <a:rPr sz="960" b="1">
                <a:solidFill>
                  <a:srgbClr val="003F6B"/>
                </a:solidFill>
              </a:rPr>
              <a:t>ZPO</a:t>
            </a:r>
          </a:p>
        </p:txBody>
      </p:sp>
      <p:sp>
        <p:nvSpPr>
          <p:cNvPr id="25" name="">
            <a:extLst xmlns:a="http://schemas.openxmlformats.org/drawingml/2006/main">
              <a:ext uri="{FF2B5EF4-FFF2-40B4-BE49-F238E27FC236}">
                <a16:creationId xmlns:a16="http://schemas.microsoft.com/office/drawing/2014/main" id="{F0C94597-2D05-461E-B9B8-F6AF00A4D76B}"/>
              </a:ext>
            </a:extLst>
          </p:cNvPr>
          <p:cNvSpPr>
            <a:spLocks xmlns:a="http://schemas.openxmlformats.org/drawingml/2006/main" noGrp="1"/>
          </p:cNvSpPr>
          <p:nvPr/>
        </p:nvSpPr>
        <p:spPr>
          <a:xfrm xmlns:a="http://schemas.openxmlformats.org/drawingml/2006/main">
            <a:off x="7867650" y="30861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 253, 278, 286, 287, 402 ff.</a:t>
            </a:r>
          </a:p>
        </p:txBody>
      </p:sp>
      <p:sp>
        <p:nvSpPr>
          <p:cNvPr id="26" name="">
            <a:extLst xmlns:a="http://schemas.openxmlformats.org/drawingml/2006/main">
              <a:ext uri="{FF2B5EF4-FFF2-40B4-BE49-F238E27FC236}">
                <a16:creationId xmlns:a16="http://schemas.microsoft.com/office/drawing/2014/main" id="{69E87BE8-2DAD-406B-B674-72E313B0F482}"/>
              </a:ext>
            </a:extLst>
          </p:cNvPr>
          <p:cNvSpPr>
            <a:spLocks xmlns:a="http://schemas.openxmlformats.org/drawingml/2006/main" noGrp="1"/>
          </p:cNvSpPr>
          <p:nvPr/>
        </p:nvSpPr>
        <p:spPr>
          <a:xfrm xmlns:a="http://schemas.openxmlformats.org/drawingml/2006/main">
            <a:off x="6724650" y="42481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27" name="">
            <a:extLst xmlns:a="http://schemas.openxmlformats.org/drawingml/2006/main">
              <a:ext uri="{FF2B5EF4-FFF2-40B4-BE49-F238E27FC236}">
                <a16:creationId xmlns:a16="http://schemas.microsoft.com/office/drawing/2014/main" id="{902726DD-5665-4D8F-92D6-1546BDE385DB}"/>
              </a:ext>
            </a:extLst>
          </p:cNvPr>
          <p:cNvSpPr>
            <a:spLocks xmlns:a="http://schemas.openxmlformats.org/drawingml/2006/main" noGrp="1"/>
          </p:cNvSpPr>
          <p:nvPr/>
        </p:nvSpPr>
        <p:spPr>
          <a:xfrm xmlns:a="http://schemas.openxmlformats.org/drawingml/2006/main">
            <a:off x="6724650" y="36957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3F6B"/>
                </a:solidFill>
              </a:defRPr>
            </a:pPr>
            <a:r>
              <a:rPr sz="960" b="1">
                <a:solidFill>
                  <a:srgbClr val="003F6B"/>
                </a:solidFill>
              </a:rPr>
              <a:t>StGB/StPO</a:t>
            </a:r>
          </a:p>
        </p:txBody>
      </p:sp>
      <p:sp>
        <p:nvSpPr>
          <p:cNvPr id="28" name="">
            <a:extLst xmlns:a="http://schemas.openxmlformats.org/drawingml/2006/main">
              <a:ext uri="{FF2B5EF4-FFF2-40B4-BE49-F238E27FC236}">
                <a16:creationId xmlns:a16="http://schemas.microsoft.com/office/drawing/2014/main" id="{6FD33D09-674D-4AA8-98FC-5FBC952E62EF}"/>
              </a:ext>
            </a:extLst>
          </p:cNvPr>
          <p:cNvSpPr>
            <a:spLocks xmlns:a="http://schemas.openxmlformats.org/drawingml/2006/main" noGrp="1"/>
          </p:cNvSpPr>
          <p:nvPr/>
        </p:nvSpPr>
        <p:spPr>
          <a:xfrm xmlns:a="http://schemas.openxmlformats.org/drawingml/2006/main">
            <a:off x="7867650" y="36957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Kernnormen der Termine 8 und 11.</a:t>
            </a:r>
          </a:p>
        </p:txBody>
      </p:sp>
      <p:sp>
        <p:nvSpPr>
          <p:cNvPr id="29" name="">
            <a:extLst xmlns:a="http://schemas.openxmlformats.org/drawingml/2006/main">
              <a:ext uri="{FF2B5EF4-FFF2-40B4-BE49-F238E27FC236}">
                <a16:creationId xmlns:a16="http://schemas.microsoft.com/office/drawing/2014/main" id="{E87DD35A-392D-4858-A6CA-A5E3CF035768}"/>
              </a:ext>
            </a:extLst>
          </p:cNvPr>
          <p:cNvSpPr>
            <a:spLocks xmlns:a="http://schemas.openxmlformats.org/drawingml/2006/main" noGrp="1"/>
          </p:cNvSpPr>
          <p:nvPr/>
        </p:nvSpPr>
        <p:spPr>
          <a:xfrm xmlns:a="http://schemas.openxmlformats.org/drawingml/2006/main">
            <a:off x="6724650" y="4857750"/>
            <a:ext cx="4610100" cy="0"/>
          </a:xfrm>
          <a:prstGeom xmlns:a="http://schemas.openxmlformats.org/drawingml/2006/main" prst="line">
            <a:avLst/>
          </a:prstGeom>
          <a:noFill xmlns:a="http://schemas.openxmlformats.org/drawingml/2006/main"/>
          <a:ln xmlns:a="http://schemas.openxmlformats.org/drawingml/2006/main" w="9525">
            <a:solidFill>
              <a:srgbClr val="B9CAD2"/>
            </a:solidFill>
            <a:prstDash val="solid"/>
          </a:ln>
        </p:spPr>
      </p:sp>
      <p:sp>
        <p:nvSpPr>
          <p:cNvPr id="30" name="">
            <a:extLst xmlns:a="http://schemas.openxmlformats.org/drawingml/2006/main">
              <a:ext uri="{FF2B5EF4-FFF2-40B4-BE49-F238E27FC236}">
                <a16:creationId xmlns:a16="http://schemas.microsoft.com/office/drawing/2014/main" id="{AF05B930-AEF7-4891-B433-0BFA4C335485}"/>
              </a:ext>
            </a:extLst>
          </p:cNvPr>
          <p:cNvSpPr>
            <a:spLocks xmlns:a="http://schemas.openxmlformats.org/drawingml/2006/main" noGrp="1"/>
          </p:cNvSpPr>
          <p:nvPr/>
        </p:nvSpPr>
        <p:spPr>
          <a:xfrm xmlns:a="http://schemas.openxmlformats.org/drawingml/2006/main">
            <a:off x="6724650" y="4305300"/>
            <a:ext cx="104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60" b="1">
                <a:solidFill>
                  <a:srgbClr val="003F6B"/>
                </a:solidFill>
              </a:defRPr>
            </a:pPr>
            <a:r>
              <a:rPr sz="960" b="1">
                <a:solidFill>
                  <a:srgbClr val="003F6B"/>
                </a:solidFill>
              </a:rPr>
              <a:t>BÄO/VwGO</a:t>
            </a:r>
          </a:p>
        </p:txBody>
      </p:sp>
      <p:sp>
        <p:nvSpPr>
          <p:cNvPr id="31" name="">
            <a:extLst xmlns:a="http://schemas.openxmlformats.org/drawingml/2006/main">
              <a:ext uri="{FF2B5EF4-FFF2-40B4-BE49-F238E27FC236}">
                <a16:creationId xmlns:a16="http://schemas.microsoft.com/office/drawing/2014/main" id="{92EB7189-40B6-422D-992C-66E14DB2E476}"/>
              </a:ext>
            </a:extLst>
          </p:cNvPr>
          <p:cNvSpPr>
            <a:spLocks xmlns:a="http://schemas.openxmlformats.org/drawingml/2006/main" noGrp="1"/>
          </p:cNvSpPr>
          <p:nvPr/>
        </p:nvSpPr>
        <p:spPr>
          <a:xfrm xmlns:a="http://schemas.openxmlformats.org/drawingml/2006/main">
            <a:off x="7867650" y="4305300"/>
            <a:ext cx="3467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907">
                <a:solidFill>
                  <a:srgbClr val="15232B"/>
                </a:solidFill>
              </a:defRPr>
            </a:pPr>
            <a:r>
              <a:rPr sz="907">
                <a:solidFill>
                  <a:srgbClr val="15232B"/>
                </a:solidFill>
              </a:rPr>
              <a:t>§§ 5, 6 BÄO; §§ 40, 42, 80, 123 VwGO.</a:t>
            </a:r>
          </a:p>
        </p:txBody>
      </p:sp>
      <p:sp>
        <p:nvSpPr>
          <p:cNvPr id="32" name="">
            <a:extLst xmlns:a="http://schemas.openxmlformats.org/drawingml/2006/main">
              <a:ext uri="{FF2B5EF4-FFF2-40B4-BE49-F238E27FC236}">
                <a16:creationId xmlns:a16="http://schemas.microsoft.com/office/drawing/2014/main" id="{8519A415-A924-421B-90BD-86D5D6F87A26}"/>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20">
                <a:solidFill>
                  <a:srgbClr val="667680"/>
                </a:solidFill>
              </a:defRPr>
            </a:pPr>
            <a:r>
              <a:rPr sz="720">
                <a:solidFill>
                  <a:srgbClr val="667680"/>
                </a:solidFill>
              </a:rPr>
              <a:t>Alle Internetquellen Abruf/Stand: 20.08.2026. Gesetze: aktuelle Fassung jeweils vor Anwendung prüfen · https://www.rechtsprechung-im-internet.de</a:t>
            </a:r>
          </a:p>
        </p:txBody>
      </p:sp>
    </p:spTree>
    <p:extLst>
      <p:ext uri="{BB962C8B-B14F-4D97-AF65-F5344CB8AC3E}">
        <p14:creationId xmlns:p14="http://schemas.microsoft.com/office/powerpoint/2010/main" val="43637646"/>
      </p:ext>
    </p:extLst>
  </p:cSld>
</p:sld>
</file>

<file path=ppt/slides/slide403.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endParaRPr/>
          </a:p>
        </p:txBody>
      </p:sp>
      <p:sp>
        <p:nvSpPr>
          <p:cNvPr id="4" name="">
            <a:extLst xmlns:a="http://schemas.openxmlformats.org/drawingml/2006/main">
              <a:ext uri="{FF2B5EF4-FFF2-40B4-BE49-F238E27FC236}">
                <a16:creationId xmlns:a16="http://schemas.microsoft.com/office/drawing/2014/main" id="{530C2B49-3374-405C-8B16-404968425AED}"/>
              </a:ext>
            </a:extLst>
          </p:cNvPr>
          <p:cNvSpPr>
            <a:spLocks xmlns:a="http://schemas.openxmlformats.org/drawingml/2006/main" noGrp="1"/>
          </p:cNvSpPr>
          <p:nvPr/>
        </p:nvSpPr>
        <p:spPr>
          <a:xfrm xmlns:a="http://schemas.openxmlformats.org/drawingml/2006/main">
            <a:off x="2571750" y="2038350"/>
            <a:ext cx="838200" cy="628650"/>
          </a:xfrm>
          <a:prstGeom xmlns:a="http://schemas.openxmlformats.org/drawingml/2006/main" prst="roundRect">
            <a:avLst>
              <a:gd name="adj" fmla="val 12121"/>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63FC86B6-1312-4215-996B-DE8D2EBC6D76}"/>
              </a:ext>
            </a:extLst>
          </p:cNvPr>
          <p:cNvSpPr>
            <a:spLocks xmlns:a="http://schemas.openxmlformats.org/drawingml/2006/main" noGrp="1"/>
          </p:cNvSpPr>
          <p:nvPr/>
        </p:nvSpPr>
        <p:spPr>
          <a:xfrm xmlns:a="http://schemas.openxmlformats.org/drawingml/2006/main">
            <a:off x="2571750" y="2038350"/>
            <a:ext cx="8382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FFFFFF"/>
                </a:solidFill>
              </a:defRPr>
            </a:pPr>
            <a:r>
              <a:rPr sz="2100" b="1">
                <a:solidFill>
                  <a:srgbClr val="FFFFFF"/>
                </a:solidFill>
              </a:rPr>
              <a:t>A</a:t>
            </a:r>
          </a:p>
        </p:txBody>
      </p:sp>
      <p:sp>
        <p:nvSpPr>
          <p:cNvPr id="6" name="">
            <a:extLst xmlns:a="http://schemas.openxmlformats.org/drawingml/2006/main">
              <a:ext uri="{FF2B5EF4-FFF2-40B4-BE49-F238E27FC236}">
                <a16:creationId xmlns:a16="http://schemas.microsoft.com/office/drawing/2014/main" id="{D2CC714C-E784-4CBD-9429-43E129C0E1F8}"/>
              </a:ext>
            </a:extLst>
          </p:cNvPr>
          <p:cNvSpPr>
            <a:spLocks xmlns:a="http://schemas.openxmlformats.org/drawingml/2006/main" noGrp="1"/>
          </p:cNvSpPr>
          <p:nvPr/>
        </p:nvSpPr>
        <p:spPr>
          <a:xfrm xmlns:a="http://schemas.openxmlformats.org/drawingml/2006/main">
            <a:off x="3667125" y="2000250"/>
            <a:ext cx="8096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4400">
                <a:solidFill>
                  <a:srgbClr val="003F6B"/>
                </a:solidFill>
              </a:defRPr>
            </a:pPr>
            <a:r>
              <a:rPr sz="4400">
                <a:solidFill>
                  <a:srgbClr val="003F6B"/>
                </a:solidFill>
              </a:rPr>
              <a:t>Anhang</a:t>
            </a:r>
          </a:p>
        </p:txBody>
      </p:sp>
      <p:sp>
        <p:nvSpPr>
          <p:cNvPr id="7" name="">
            <a:extLst xmlns:a="http://schemas.openxmlformats.org/drawingml/2006/main">
              <a:ext uri="{FF2B5EF4-FFF2-40B4-BE49-F238E27FC236}">
                <a16:creationId xmlns:a16="http://schemas.microsoft.com/office/drawing/2014/main" id="{2242684A-5BBC-4DB5-A05E-7318141E689E}"/>
              </a:ext>
            </a:extLst>
          </p:cNvPr>
          <p:cNvSpPr>
            <a:spLocks xmlns:a="http://schemas.openxmlformats.org/drawingml/2006/main" noGrp="1"/>
          </p:cNvSpPr>
          <p:nvPr/>
        </p:nvSpPr>
        <p:spPr>
          <a:xfrm xmlns:a="http://schemas.openxmlformats.org/drawingml/2006/main">
            <a:off x="3238500" y="3448050"/>
            <a:ext cx="8524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400">
                <a:solidFill>
                  <a:srgbClr val="003F6B"/>
                </a:solidFill>
              </a:defRPr>
            </a:pPr>
            <a:r>
              <a:rPr sz="2400">
                <a:solidFill>
                  <a:srgbClr val="003F6B"/>
                </a:solidFill>
              </a:rPr>
              <a:t>Checklisten, Rollen- und Moderationskarten</a:t>
            </a:r>
          </a:p>
        </p:txBody>
      </p:sp>
      <p:sp>
        <p:nvSpPr>
          <p:cNvPr id="8" name="">
            <a:extLst xmlns:a="http://schemas.openxmlformats.org/drawingml/2006/main">
              <a:ext uri="{FF2B5EF4-FFF2-40B4-BE49-F238E27FC236}">
                <a16:creationId xmlns:a16="http://schemas.microsoft.com/office/drawing/2014/main" id="{619ED31A-E62E-4555-BB8E-EA49B280AEEF}"/>
              </a:ext>
            </a:extLst>
          </p:cNvPr>
          <p:cNvSpPr>
            <a:spLocks xmlns:a="http://schemas.openxmlformats.org/drawingml/2006/main" noGrp="1"/>
          </p:cNvSpPr>
          <p:nvPr/>
        </p:nvSpPr>
        <p:spPr>
          <a:xfrm xmlns:a="http://schemas.openxmlformats.org/drawingml/2006/main">
            <a:off x="3238500" y="4362450"/>
            <a:ext cx="8524875"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2400">
                <a:solidFill>
                  <a:srgbClr val="003F6B"/>
                </a:solidFill>
              </a:defRPr>
            </a:pPr>
            <a:r>
              <a:rPr sz="2400">
                <a:solidFill>
                  <a:srgbClr val="003F6B"/>
                </a:solidFill>
              </a:rPr>
              <a:t>Direkt einsetzbare Materialien für Lehre und Praxis</a:t>
            </a:r>
          </a:p>
        </p:txBody>
      </p:sp>
    </p:spTree>
    <p:extLst>
      <p:ext uri="{BB962C8B-B14F-4D97-AF65-F5344CB8AC3E}">
        <p14:creationId xmlns:p14="http://schemas.microsoft.com/office/powerpoint/2010/main" val="43637646"/>
      </p:ext>
    </p:extLst>
  </p:cSld>
</p:sld>
</file>

<file path=ppt/slides/slide404.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Schnellschema § 280 Abs. 1 BGB</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PRÜFUNGSSCHEMA · VERTRAG</a:t>
            </a:r>
            <a:endParaRPr/>
          </a:p>
        </p:txBody>
      </p:sp>
      <p:sp>
        <p:nvSpPr>
          <p:cNvPr id="4" name="">
            <a:extLst xmlns:a="http://schemas.openxmlformats.org/drawingml/2006/main">
              <a:ext uri="{FF2B5EF4-FFF2-40B4-BE49-F238E27FC236}">
                <a16:creationId xmlns:a16="http://schemas.microsoft.com/office/drawing/2014/main" id="{DD7033F3-C103-40B6-AD0D-79EE968BBB12}"/>
              </a:ext>
            </a:extLst>
          </p:cNvPr>
          <p:cNvSpPr>
            <a:spLocks xmlns:a="http://schemas.openxmlformats.org/drawingml/2006/main" noGrp="1"/>
          </p:cNvSpPr>
          <p:nvPr/>
        </p:nvSpPr>
        <p:spPr>
          <a:xfrm xmlns:a="http://schemas.openxmlformats.org/drawingml/2006/main">
            <a:off x="1809750" y="195262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8427F878-1472-4B15-929B-F3D9F1797403}"/>
              </a:ext>
            </a:extLst>
          </p:cNvPr>
          <p:cNvSpPr>
            <a:spLocks xmlns:a="http://schemas.openxmlformats.org/drawingml/2006/main" noGrp="1"/>
          </p:cNvSpPr>
          <p:nvPr/>
        </p:nvSpPr>
        <p:spPr>
          <a:xfrm xmlns:a="http://schemas.openxmlformats.org/drawingml/2006/main">
            <a:off x="1809750" y="19526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6" name="">
            <a:extLst xmlns:a="http://schemas.openxmlformats.org/drawingml/2006/main">
              <a:ext uri="{FF2B5EF4-FFF2-40B4-BE49-F238E27FC236}">
                <a16:creationId xmlns:a16="http://schemas.microsoft.com/office/drawing/2014/main" id="{E576C787-DB49-427A-BF91-C10546F3F657}"/>
              </a:ext>
            </a:extLst>
          </p:cNvPr>
          <p:cNvSpPr>
            <a:spLocks xmlns:a="http://schemas.openxmlformats.org/drawingml/2006/main" noGrp="1"/>
          </p:cNvSpPr>
          <p:nvPr/>
        </p:nvSpPr>
        <p:spPr>
          <a:xfrm xmlns:a="http://schemas.openxmlformats.org/drawingml/2006/main">
            <a:off x="2324100" y="196215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1. Schuldverhältnis</a:t>
            </a:r>
          </a:p>
        </p:txBody>
      </p:sp>
      <p:sp>
        <p:nvSpPr>
          <p:cNvPr id="7" name="">
            <a:extLst xmlns:a="http://schemas.openxmlformats.org/drawingml/2006/main">
              <a:ext uri="{FF2B5EF4-FFF2-40B4-BE49-F238E27FC236}">
                <a16:creationId xmlns:a16="http://schemas.microsoft.com/office/drawing/2014/main" id="{BDDBC4FA-B04E-4B02-AE51-C1FBCB364BDF}"/>
              </a:ext>
            </a:extLst>
          </p:cNvPr>
          <p:cNvSpPr>
            <a:spLocks xmlns:a="http://schemas.openxmlformats.org/drawingml/2006/main" noGrp="1"/>
          </p:cNvSpPr>
          <p:nvPr/>
        </p:nvSpPr>
        <p:spPr>
          <a:xfrm xmlns:a="http://schemas.openxmlformats.org/drawingml/2006/main">
            <a:off x="4819650" y="196215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Behandlungsvertrag und Parteien.</a:t>
            </a:r>
          </a:p>
        </p:txBody>
      </p:sp>
      <p:sp>
        <p:nvSpPr>
          <p:cNvPr id="8" name="">
            <a:extLst xmlns:a="http://schemas.openxmlformats.org/drawingml/2006/main">
              <a:ext uri="{FF2B5EF4-FFF2-40B4-BE49-F238E27FC236}">
                <a16:creationId xmlns:a16="http://schemas.microsoft.com/office/drawing/2014/main" id="{50080173-1906-49D2-A44F-6BDF59F4EB52}"/>
              </a:ext>
            </a:extLst>
          </p:cNvPr>
          <p:cNvSpPr>
            <a:spLocks xmlns:a="http://schemas.openxmlformats.org/drawingml/2006/main" noGrp="1"/>
          </p:cNvSpPr>
          <p:nvPr/>
        </p:nvSpPr>
        <p:spPr>
          <a:xfrm xmlns:a="http://schemas.openxmlformats.org/drawingml/2006/main">
            <a:off x="1809750" y="255270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9" name="">
            <a:extLst xmlns:a="http://schemas.openxmlformats.org/drawingml/2006/main">
              <a:ext uri="{FF2B5EF4-FFF2-40B4-BE49-F238E27FC236}">
                <a16:creationId xmlns:a16="http://schemas.microsoft.com/office/drawing/2014/main" id="{1842B233-FF67-44F3-93F5-BC9BD69DEF04}"/>
              </a:ext>
            </a:extLst>
          </p:cNvPr>
          <p:cNvSpPr>
            <a:spLocks xmlns:a="http://schemas.openxmlformats.org/drawingml/2006/main" noGrp="1"/>
          </p:cNvSpPr>
          <p:nvPr/>
        </p:nvSpPr>
        <p:spPr>
          <a:xfrm xmlns:a="http://schemas.openxmlformats.org/drawingml/2006/main">
            <a:off x="1809750" y="255270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0" name="">
            <a:extLst xmlns:a="http://schemas.openxmlformats.org/drawingml/2006/main">
              <a:ext uri="{FF2B5EF4-FFF2-40B4-BE49-F238E27FC236}">
                <a16:creationId xmlns:a16="http://schemas.microsoft.com/office/drawing/2014/main" id="{AB10FBAF-0B99-46AB-8125-785C9BAA5F1B}"/>
              </a:ext>
            </a:extLst>
          </p:cNvPr>
          <p:cNvSpPr>
            <a:spLocks xmlns:a="http://schemas.openxmlformats.org/drawingml/2006/main" noGrp="1"/>
          </p:cNvSpPr>
          <p:nvPr/>
        </p:nvSpPr>
        <p:spPr>
          <a:xfrm xmlns:a="http://schemas.openxmlformats.org/drawingml/2006/main">
            <a:off x="2324100" y="256222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2. Pflicht</a:t>
            </a:r>
          </a:p>
        </p:txBody>
      </p:sp>
      <p:sp>
        <p:nvSpPr>
          <p:cNvPr id="11" name="">
            <a:extLst xmlns:a="http://schemas.openxmlformats.org/drawingml/2006/main">
              <a:ext uri="{FF2B5EF4-FFF2-40B4-BE49-F238E27FC236}">
                <a16:creationId xmlns:a16="http://schemas.microsoft.com/office/drawing/2014/main" id="{CA9150BC-1F3D-4D92-AFAD-3A31DC063E45}"/>
              </a:ext>
            </a:extLst>
          </p:cNvPr>
          <p:cNvSpPr>
            <a:spLocks xmlns:a="http://schemas.openxmlformats.org/drawingml/2006/main" noGrp="1"/>
          </p:cNvSpPr>
          <p:nvPr/>
        </p:nvSpPr>
        <p:spPr>
          <a:xfrm xmlns:a="http://schemas.openxmlformats.org/drawingml/2006/main">
            <a:off x="4819650" y="256222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Konkrete Pflicht aus §§ 630a ff. oder § 241 BGB.</a:t>
            </a:r>
          </a:p>
        </p:txBody>
      </p:sp>
      <p:sp>
        <p:nvSpPr>
          <p:cNvPr id="12" name="">
            <a:extLst xmlns:a="http://schemas.openxmlformats.org/drawingml/2006/main">
              <a:ext uri="{FF2B5EF4-FFF2-40B4-BE49-F238E27FC236}">
                <a16:creationId xmlns:a16="http://schemas.microsoft.com/office/drawing/2014/main" id="{830907B1-002C-4B56-AF7D-37AD250164BE}"/>
              </a:ext>
            </a:extLst>
          </p:cNvPr>
          <p:cNvSpPr>
            <a:spLocks xmlns:a="http://schemas.openxmlformats.org/drawingml/2006/main" noGrp="1"/>
          </p:cNvSpPr>
          <p:nvPr/>
        </p:nvSpPr>
        <p:spPr>
          <a:xfrm xmlns:a="http://schemas.openxmlformats.org/drawingml/2006/main">
            <a:off x="1809750" y="315277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3" name="">
            <a:extLst xmlns:a="http://schemas.openxmlformats.org/drawingml/2006/main">
              <a:ext uri="{FF2B5EF4-FFF2-40B4-BE49-F238E27FC236}">
                <a16:creationId xmlns:a16="http://schemas.microsoft.com/office/drawing/2014/main" id="{DE7559C7-6931-4F72-9B7F-BBAAD42FE383}"/>
              </a:ext>
            </a:extLst>
          </p:cNvPr>
          <p:cNvSpPr>
            <a:spLocks xmlns:a="http://schemas.openxmlformats.org/drawingml/2006/main" noGrp="1"/>
          </p:cNvSpPr>
          <p:nvPr/>
        </p:nvSpPr>
        <p:spPr>
          <a:xfrm xmlns:a="http://schemas.openxmlformats.org/drawingml/2006/main">
            <a:off x="1809750" y="315277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4" name="">
            <a:extLst xmlns:a="http://schemas.openxmlformats.org/drawingml/2006/main">
              <a:ext uri="{FF2B5EF4-FFF2-40B4-BE49-F238E27FC236}">
                <a16:creationId xmlns:a16="http://schemas.microsoft.com/office/drawing/2014/main" id="{6B2AC58C-BD5E-4807-8EF3-E7C1D1F6D2F0}"/>
              </a:ext>
            </a:extLst>
          </p:cNvPr>
          <p:cNvSpPr>
            <a:spLocks xmlns:a="http://schemas.openxmlformats.org/drawingml/2006/main" noGrp="1"/>
          </p:cNvSpPr>
          <p:nvPr/>
        </p:nvSpPr>
        <p:spPr>
          <a:xfrm xmlns:a="http://schemas.openxmlformats.org/drawingml/2006/main">
            <a:off x="2324100" y="316230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3. Pflichtverletzung</a:t>
            </a:r>
          </a:p>
        </p:txBody>
      </p:sp>
      <p:sp>
        <p:nvSpPr>
          <p:cNvPr id="15" name="">
            <a:extLst xmlns:a="http://schemas.openxmlformats.org/drawingml/2006/main">
              <a:ext uri="{FF2B5EF4-FFF2-40B4-BE49-F238E27FC236}">
                <a16:creationId xmlns:a16="http://schemas.microsoft.com/office/drawing/2014/main" id="{956A130E-0494-4E54-B950-709AB28905C4}"/>
              </a:ext>
            </a:extLst>
          </p:cNvPr>
          <p:cNvSpPr>
            <a:spLocks xmlns:a="http://schemas.openxmlformats.org/drawingml/2006/main" noGrp="1"/>
          </p:cNvSpPr>
          <p:nvPr/>
        </p:nvSpPr>
        <p:spPr>
          <a:xfrm xmlns:a="http://schemas.openxmlformats.org/drawingml/2006/main">
            <a:off x="4819650" y="316230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Abweichung vom geschuldeten Zustand.</a:t>
            </a:r>
          </a:p>
        </p:txBody>
      </p:sp>
      <p:sp>
        <p:nvSpPr>
          <p:cNvPr id="16" name="">
            <a:extLst xmlns:a="http://schemas.openxmlformats.org/drawingml/2006/main">
              <a:ext uri="{FF2B5EF4-FFF2-40B4-BE49-F238E27FC236}">
                <a16:creationId xmlns:a16="http://schemas.microsoft.com/office/drawing/2014/main" id="{8D7BB7BA-6E7C-49E6-8484-B07CFCD197FB}"/>
              </a:ext>
            </a:extLst>
          </p:cNvPr>
          <p:cNvSpPr>
            <a:spLocks xmlns:a="http://schemas.openxmlformats.org/drawingml/2006/main" noGrp="1"/>
          </p:cNvSpPr>
          <p:nvPr/>
        </p:nvSpPr>
        <p:spPr>
          <a:xfrm xmlns:a="http://schemas.openxmlformats.org/drawingml/2006/main">
            <a:off x="1809750" y="375285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7" name="">
            <a:extLst xmlns:a="http://schemas.openxmlformats.org/drawingml/2006/main">
              <a:ext uri="{FF2B5EF4-FFF2-40B4-BE49-F238E27FC236}">
                <a16:creationId xmlns:a16="http://schemas.microsoft.com/office/drawing/2014/main" id="{9C4F2E20-3930-4518-A66F-70D446FBC538}"/>
              </a:ext>
            </a:extLst>
          </p:cNvPr>
          <p:cNvSpPr>
            <a:spLocks xmlns:a="http://schemas.openxmlformats.org/drawingml/2006/main" noGrp="1"/>
          </p:cNvSpPr>
          <p:nvPr/>
        </p:nvSpPr>
        <p:spPr>
          <a:xfrm xmlns:a="http://schemas.openxmlformats.org/drawingml/2006/main">
            <a:off x="1809750" y="375285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18" name="">
            <a:extLst xmlns:a="http://schemas.openxmlformats.org/drawingml/2006/main">
              <a:ext uri="{FF2B5EF4-FFF2-40B4-BE49-F238E27FC236}">
                <a16:creationId xmlns:a16="http://schemas.microsoft.com/office/drawing/2014/main" id="{D8D466CC-0C85-4B53-BA35-BE4F50E4E469}"/>
              </a:ext>
            </a:extLst>
          </p:cNvPr>
          <p:cNvSpPr>
            <a:spLocks xmlns:a="http://schemas.openxmlformats.org/drawingml/2006/main" noGrp="1"/>
          </p:cNvSpPr>
          <p:nvPr/>
        </p:nvSpPr>
        <p:spPr>
          <a:xfrm xmlns:a="http://schemas.openxmlformats.org/drawingml/2006/main">
            <a:off x="2324100" y="376237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4. Vertretenmüssen</a:t>
            </a:r>
          </a:p>
        </p:txBody>
      </p:sp>
      <p:sp>
        <p:nvSpPr>
          <p:cNvPr id="19" name="">
            <a:extLst xmlns:a="http://schemas.openxmlformats.org/drawingml/2006/main">
              <a:ext uri="{FF2B5EF4-FFF2-40B4-BE49-F238E27FC236}">
                <a16:creationId xmlns:a16="http://schemas.microsoft.com/office/drawing/2014/main" id="{C0D9259E-CC3A-4746-9832-19F19C9E7E93}"/>
              </a:ext>
            </a:extLst>
          </p:cNvPr>
          <p:cNvSpPr>
            <a:spLocks xmlns:a="http://schemas.openxmlformats.org/drawingml/2006/main" noGrp="1"/>
          </p:cNvSpPr>
          <p:nvPr/>
        </p:nvSpPr>
        <p:spPr>
          <a:xfrm xmlns:a="http://schemas.openxmlformats.org/drawingml/2006/main">
            <a:off x="4819650" y="376237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 280 Abs. 1 Satz 2, §§ 276, 278 BGB.</a:t>
            </a:r>
          </a:p>
        </p:txBody>
      </p:sp>
      <p:sp>
        <p:nvSpPr>
          <p:cNvPr id="20" name="">
            <a:extLst xmlns:a="http://schemas.openxmlformats.org/drawingml/2006/main">
              <a:ext uri="{FF2B5EF4-FFF2-40B4-BE49-F238E27FC236}">
                <a16:creationId xmlns:a16="http://schemas.microsoft.com/office/drawing/2014/main" id="{CD75CD7F-CF98-4078-91EA-ECD961398D1F}"/>
              </a:ext>
            </a:extLst>
          </p:cNvPr>
          <p:cNvSpPr>
            <a:spLocks xmlns:a="http://schemas.openxmlformats.org/drawingml/2006/main" noGrp="1"/>
          </p:cNvSpPr>
          <p:nvPr/>
        </p:nvSpPr>
        <p:spPr>
          <a:xfrm xmlns:a="http://schemas.openxmlformats.org/drawingml/2006/main">
            <a:off x="1809750" y="435292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1" name="">
            <a:extLst xmlns:a="http://schemas.openxmlformats.org/drawingml/2006/main">
              <a:ext uri="{FF2B5EF4-FFF2-40B4-BE49-F238E27FC236}">
                <a16:creationId xmlns:a16="http://schemas.microsoft.com/office/drawing/2014/main" id="{6A0CC7C1-E6A5-4E13-97AE-953CD4DA9D32}"/>
              </a:ext>
            </a:extLst>
          </p:cNvPr>
          <p:cNvSpPr>
            <a:spLocks xmlns:a="http://schemas.openxmlformats.org/drawingml/2006/main" noGrp="1"/>
          </p:cNvSpPr>
          <p:nvPr/>
        </p:nvSpPr>
        <p:spPr>
          <a:xfrm xmlns:a="http://schemas.openxmlformats.org/drawingml/2006/main">
            <a:off x="1809750" y="43529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5</a:t>
            </a:r>
          </a:p>
        </p:txBody>
      </p:sp>
      <p:sp>
        <p:nvSpPr>
          <p:cNvPr id="22" name="">
            <a:extLst xmlns:a="http://schemas.openxmlformats.org/drawingml/2006/main">
              <a:ext uri="{FF2B5EF4-FFF2-40B4-BE49-F238E27FC236}">
                <a16:creationId xmlns:a16="http://schemas.microsoft.com/office/drawing/2014/main" id="{03289B3E-B78F-49E7-BB3B-D6F758803B3F}"/>
              </a:ext>
            </a:extLst>
          </p:cNvPr>
          <p:cNvSpPr>
            <a:spLocks xmlns:a="http://schemas.openxmlformats.org/drawingml/2006/main" noGrp="1"/>
          </p:cNvSpPr>
          <p:nvPr/>
        </p:nvSpPr>
        <p:spPr>
          <a:xfrm xmlns:a="http://schemas.openxmlformats.org/drawingml/2006/main">
            <a:off x="2324100" y="436245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5. Schaden</a:t>
            </a:r>
          </a:p>
        </p:txBody>
      </p:sp>
      <p:sp>
        <p:nvSpPr>
          <p:cNvPr id="23" name="">
            <a:extLst xmlns:a="http://schemas.openxmlformats.org/drawingml/2006/main">
              <a:ext uri="{FF2B5EF4-FFF2-40B4-BE49-F238E27FC236}">
                <a16:creationId xmlns:a16="http://schemas.microsoft.com/office/drawing/2014/main" id="{6AD8530A-FDF8-4D03-B27C-054943D0F851}"/>
              </a:ext>
            </a:extLst>
          </p:cNvPr>
          <p:cNvSpPr>
            <a:spLocks xmlns:a="http://schemas.openxmlformats.org/drawingml/2006/main" noGrp="1"/>
          </p:cNvSpPr>
          <p:nvPr/>
        </p:nvSpPr>
        <p:spPr>
          <a:xfrm xmlns:a="http://schemas.openxmlformats.org/drawingml/2006/main">
            <a:off x="4819650" y="436245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Materiell und/oder immateriell.</a:t>
            </a:r>
          </a:p>
        </p:txBody>
      </p:sp>
      <p:sp>
        <p:nvSpPr>
          <p:cNvPr id="24" name="">
            <a:extLst xmlns:a="http://schemas.openxmlformats.org/drawingml/2006/main">
              <a:ext uri="{FF2B5EF4-FFF2-40B4-BE49-F238E27FC236}">
                <a16:creationId xmlns:a16="http://schemas.microsoft.com/office/drawing/2014/main" id="{3ED6EEF8-4BF9-45B5-AF98-BD926DE32995}"/>
              </a:ext>
            </a:extLst>
          </p:cNvPr>
          <p:cNvSpPr>
            <a:spLocks xmlns:a="http://schemas.openxmlformats.org/drawingml/2006/main" noGrp="1"/>
          </p:cNvSpPr>
          <p:nvPr/>
        </p:nvSpPr>
        <p:spPr>
          <a:xfrm xmlns:a="http://schemas.openxmlformats.org/drawingml/2006/main">
            <a:off x="1809750" y="495300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25" name="">
            <a:extLst xmlns:a="http://schemas.openxmlformats.org/drawingml/2006/main">
              <a:ext uri="{FF2B5EF4-FFF2-40B4-BE49-F238E27FC236}">
                <a16:creationId xmlns:a16="http://schemas.microsoft.com/office/drawing/2014/main" id="{095030D1-78FD-4B5E-B7F5-DBCDF7C1942C}"/>
              </a:ext>
            </a:extLst>
          </p:cNvPr>
          <p:cNvSpPr>
            <a:spLocks xmlns:a="http://schemas.openxmlformats.org/drawingml/2006/main" noGrp="1"/>
          </p:cNvSpPr>
          <p:nvPr/>
        </p:nvSpPr>
        <p:spPr>
          <a:xfrm xmlns:a="http://schemas.openxmlformats.org/drawingml/2006/main">
            <a:off x="1809750" y="495300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6</a:t>
            </a:r>
          </a:p>
        </p:txBody>
      </p:sp>
      <p:sp>
        <p:nvSpPr>
          <p:cNvPr id="26" name="">
            <a:extLst xmlns:a="http://schemas.openxmlformats.org/drawingml/2006/main">
              <a:ext uri="{FF2B5EF4-FFF2-40B4-BE49-F238E27FC236}">
                <a16:creationId xmlns:a16="http://schemas.microsoft.com/office/drawing/2014/main" id="{C24CC34C-046F-4CF7-AEFC-6A5256F95CEC}"/>
              </a:ext>
            </a:extLst>
          </p:cNvPr>
          <p:cNvSpPr>
            <a:spLocks xmlns:a="http://schemas.openxmlformats.org/drawingml/2006/main" noGrp="1"/>
          </p:cNvSpPr>
          <p:nvPr/>
        </p:nvSpPr>
        <p:spPr>
          <a:xfrm xmlns:a="http://schemas.openxmlformats.org/drawingml/2006/main">
            <a:off x="2324100" y="496252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6. Kausalität/Zurechnung</a:t>
            </a:r>
          </a:p>
        </p:txBody>
      </p:sp>
      <p:sp>
        <p:nvSpPr>
          <p:cNvPr id="27" name="">
            <a:extLst xmlns:a="http://schemas.openxmlformats.org/drawingml/2006/main">
              <a:ext uri="{FF2B5EF4-FFF2-40B4-BE49-F238E27FC236}">
                <a16:creationId xmlns:a16="http://schemas.microsoft.com/office/drawing/2014/main" id="{C33367DC-60BD-4866-BF05-CF4EEB71B570}"/>
              </a:ext>
            </a:extLst>
          </p:cNvPr>
          <p:cNvSpPr>
            <a:spLocks xmlns:a="http://schemas.openxmlformats.org/drawingml/2006/main" noGrp="1"/>
          </p:cNvSpPr>
          <p:nvPr/>
        </p:nvSpPr>
        <p:spPr>
          <a:xfrm xmlns:a="http://schemas.openxmlformats.org/drawingml/2006/main">
            <a:off x="4819650" y="496252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Bedingung, Adäquanz, Schutzzweck.</a:t>
            </a:r>
          </a:p>
        </p:txBody>
      </p:sp>
      <p:sp>
        <p:nvSpPr>
          <p:cNvPr id="28" name="">
            <a:extLst xmlns:a="http://schemas.openxmlformats.org/drawingml/2006/main">
              <a:ext uri="{FF2B5EF4-FFF2-40B4-BE49-F238E27FC236}">
                <a16:creationId xmlns:a16="http://schemas.microsoft.com/office/drawing/2014/main" id="{5222009E-8D4F-4155-B8D4-DA35DCAA8296}"/>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9" name="">
            <a:extLst xmlns:a="http://schemas.openxmlformats.org/drawingml/2006/main">
              <a:ext uri="{FF2B5EF4-FFF2-40B4-BE49-F238E27FC236}">
                <a16:creationId xmlns:a16="http://schemas.microsoft.com/office/drawing/2014/main" id="{F9993480-7582-41D2-8CF0-FF1D671BFA2B}"/>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Danach Einwendungen, Mitverschulden, Verjährung und Beweisrecht prüfen.</a:t>
            </a:r>
          </a:p>
        </p:txBody>
      </p:sp>
    </p:spTree>
    <p:extLst>
      <p:ext uri="{BB962C8B-B14F-4D97-AF65-F5344CB8AC3E}">
        <p14:creationId xmlns:p14="http://schemas.microsoft.com/office/powerpoint/2010/main" val="43637646"/>
      </p:ext>
    </p:extLst>
  </p:cSld>
</p:sld>
</file>

<file path=ppt/slides/slide405.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Schnellschema § 823 Abs. 1 BGB</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PRÜFUNGSSCHEMA · DELIKT</a:t>
            </a:r>
            <a:endParaRPr/>
          </a:p>
        </p:txBody>
      </p:sp>
      <p:sp>
        <p:nvSpPr>
          <p:cNvPr id="4" name="">
            <a:extLst xmlns:a="http://schemas.openxmlformats.org/drawingml/2006/main">
              <a:ext uri="{FF2B5EF4-FFF2-40B4-BE49-F238E27FC236}">
                <a16:creationId xmlns:a16="http://schemas.microsoft.com/office/drawing/2014/main" id="{E4EBA9BE-3209-4CC2-9626-7FC67BC850B5}"/>
              </a:ext>
            </a:extLst>
          </p:cNvPr>
          <p:cNvSpPr>
            <a:spLocks xmlns:a="http://schemas.openxmlformats.org/drawingml/2006/main" noGrp="1"/>
          </p:cNvSpPr>
          <p:nvPr/>
        </p:nvSpPr>
        <p:spPr>
          <a:xfrm xmlns:a="http://schemas.openxmlformats.org/drawingml/2006/main">
            <a:off x="1809750" y="195262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DB39023A-B8FF-4C14-862A-D12A7540885F}"/>
              </a:ext>
            </a:extLst>
          </p:cNvPr>
          <p:cNvSpPr>
            <a:spLocks xmlns:a="http://schemas.openxmlformats.org/drawingml/2006/main" noGrp="1"/>
          </p:cNvSpPr>
          <p:nvPr/>
        </p:nvSpPr>
        <p:spPr>
          <a:xfrm xmlns:a="http://schemas.openxmlformats.org/drawingml/2006/main">
            <a:off x="1809750" y="19526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6" name="">
            <a:extLst xmlns:a="http://schemas.openxmlformats.org/drawingml/2006/main">
              <a:ext uri="{FF2B5EF4-FFF2-40B4-BE49-F238E27FC236}">
                <a16:creationId xmlns:a16="http://schemas.microsoft.com/office/drawing/2014/main" id="{F2EF8C91-427B-4A74-9105-0F54CB5EF178}"/>
              </a:ext>
            </a:extLst>
          </p:cNvPr>
          <p:cNvSpPr>
            <a:spLocks xmlns:a="http://schemas.openxmlformats.org/drawingml/2006/main" noGrp="1"/>
          </p:cNvSpPr>
          <p:nvPr/>
        </p:nvSpPr>
        <p:spPr>
          <a:xfrm xmlns:a="http://schemas.openxmlformats.org/drawingml/2006/main">
            <a:off x="2324100" y="196215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1. Rechtsgutverletzung</a:t>
            </a:r>
          </a:p>
        </p:txBody>
      </p:sp>
      <p:sp>
        <p:nvSpPr>
          <p:cNvPr id="7" name="">
            <a:extLst xmlns:a="http://schemas.openxmlformats.org/drawingml/2006/main">
              <a:ext uri="{FF2B5EF4-FFF2-40B4-BE49-F238E27FC236}">
                <a16:creationId xmlns:a16="http://schemas.microsoft.com/office/drawing/2014/main" id="{E03EF09A-F36C-4856-85CC-230A19BFA4DC}"/>
              </a:ext>
            </a:extLst>
          </p:cNvPr>
          <p:cNvSpPr>
            <a:spLocks xmlns:a="http://schemas.openxmlformats.org/drawingml/2006/main" noGrp="1"/>
          </p:cNvSpPr>
          <p:nvPr/>
        </p:nvSpPr>
        <p:spPr>
          <a:xfrm xmlns:a="http://schemas.openxmlformats.org/drawingml/2006/main">
            <a:off x="4819650" y="196215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Leben, Körper, Gesundheit oder sonstiges Recht.</a:t>
            </a:r>
          </a:p>
        </p:txBody>
      </p:sp>
      <p:sp>
        <p:nvSpPr>
          <p:cNvPr id="8" name="">
            <a:extLst xmlns:a="http://schemas.openxmlformats.org/drawingml/2006/main">
              <a:ext uri="{FF2B5EF4-FFF2-40B4-BE49-F238E27FC236}">
                <a16:creationId xmlns:a16="http://schemas.microsoft.com/office/drawing/2014/main" id="{6335A9B1-39D7-4119-A87E-2DCE1DED4148}"/>
              </a:ext>
            </a:extLst>
          </p:cNvPr>
          <p:cNvSpPr>
            <a:spLocks xmlns:a="http://schemas.openxmlformats.org/drawingml/2006/main" noGrp="1"/>
          </p:cNvSpPr>
          <p:nvPr/>
        </p:nvSpPr>
        <p:spPr>
          <a:xfrm xmlns:a="http://schemas.openxmlformats.org/drawingml/2006/main">
            <a:off x="1809750" y="255270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9" name="">
            <a:extLst xmlns:a="http://schemas.openxmlformats.org/drawingml/2006/main">
              <a:ext uri="{FF2B5EF4-FFF2-40B4-BE49-F238E27FC236}">
                <a16:creationId xmlns:a16="http://schemas.microsoft.com/office/drawing/2014/main" id="{47FC787F-1C23-4554-8CD4-C754EDB2375B}"/>
              </a:ext>
            </a:extLst>
          </p:cNvPr>
          <p:cNvSpPr>
            <a:spLocks xmlns:a="http://schemas.openxmlformats.org/drawingml/2006/main" noGrp="1"/>
          </p:cNvSpPr>
          <p:nvPr/>
        </p:nvSpPr>
        <p:spPr>
          <a:xfrm xmlns:a="http://schemas.openxmlformats.org/drawingml/2006/main">
            <a:off x="1809750" y="255270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0" name="">
            <a:extLst xmlns:a="http://schemas.openxmlformats.org/drawingml/2006/main">
              <a:ext uri="{FF2B5EF4-FFF2-40B4-BE49-F238E27FC236}">
                <a16:creationId xmlns:a16="http://schemas.microsoft.com/office/drawing/2014/main" id="{3755C309-ADA4-4324-A287-0DEEEB98A701}"/>
              </a:ext>
            </a:extLst>
          </p:cNvPr>
          <p:cNvSpPr>
            <a:spLocks xmlns:a="http://schemas.openxmlformats.org/drawingml/2006/main" noGrp="1"/>
          </p:cNvSpPr>
          <p:nvPr/>
        </p:nvSpPr>
        <p:spPr>
          <a:xfrm xmlns:a="http://schemas.openxmlformats.org/drawingml/2006/main">
            <a:off x="2324100" y="256222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2. Verhalten</a:t>
            </a:r>
          </a:p>
        </p:txBody>
      </p:sp>
      <p:sp>
        <p:nvSpPr>
          <p:cNvPr id="11" name="">
            <a:extLst xmlns:a="http://schemas.openxmlformats.org/drawingml/2006/main">
              <a:ext uri="{FF2B5EF4-FFF2-40B4-BE49-F238E27FC236}">
                <a16:creationId xmlns:a16="http://schemas.microsoft.com/office/drawing/2014/main" id="{404C2980-59A8-4639-9AD2-215B03BAC985}"/>
              </a:ext>
            </a:extLst>
          </p:cNvPr>
          <p:cNvSpPr>
            <a:spLocks xmlns:a="http://schemas.openxmlformats.org/drawingml/2006/main" noGrp="1"/>
          </p:cNvSpPr>
          <p:nvPr/>
        </p:nvSpPr>
        <p:spPr>
          <a:xfrm xmlns:a="http://schemas.openxmlformats.org/drawingml/2006/main">
            <a:off x="4819650" y="256222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Handlung oder pflichtwidriges Unterlassen.</a:t>
            </a:r>
          </a:p>
        </p:txBody>
      </p:sp>
      <p:sp>
        <p:nvSpPr>
          <p:cNvPr id="12" name="">
            <a:extLst xmlns:a="http://schemas.openxmlformats.org/drawingml/2006/main">
              <a:ext uri="{FF2B5EF4-FFF2-40B4-BE49-F238E27FC236}">
                <a16:creationId xmlns:a16="http://schemas.microsoft.com/office/drawing/2014/main" id="{04B2B860-6DE6-4C35-9B4A-8B5BD69F7A47}"/>
              </a:ext>
            </a:extLst>
          </p:cNvPr>
          <p:cNvSpPr>
            <a:spLocks xmlns:a="http://schemas.openxmlformats.org/drawingml/2006/main" noGrp="1"/>
          </p:cNvSpPr>
          <p:nvPr/>
        </p:nvSpPr>
        <p:spPr>
          <a:xfrm xmlns:a="http://schemas.openxmlformats.org/drawingml/2006/main">
            <a:off x="1809750" y="315277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3" name="">
            <a:extLst xmlns:a="http://schemas.openxmlformats.org/drawingml/2006/main">
              <a:ext uri="{FF2B5EF4-FFF2-40B4-BE49-F238E27FC236}">
                <a16:creationId xmlns:a16="http://schemas.microsoft.com/office/drawing/2014/main" id="{BCEFCE6B-9F2D-4A4A-BCFB-E302938AD242}"/>
              </a:ext>
            </a:extLst>
          </p:cNvPr>
          <p:cNvSpPr>
            <a:spLocks xmlns:a="http://schemas.openxmlformats.org/drawingml/2006/main" noGrp="1"/>
          </p:cNvSpPr>
          <p:nvPr/>
        </p:nvSpPr>
        <p:spPr>
          <a:xfrm xmlns:a="http://schemas.openxmlformats.org/drawingml/2006/main">
            <a:off x="1809750" y="315277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4" name="">
            <a:extLst xmlns:a="http://schemas.openxmlformats.org/drawingml/2006/main">
              <a:ext uri="{FF2B5EF4-FFF2-40B4-BE49-F238E27FC236}">
                <a16:creationId xmlns:a16="http://schemas.microsoft.com/office/drawing/2014/main" id="{08EFBD00-B562-4A2A-BCBC-0E907CEC95C3}"/>
              </a:ext>
            </a:extLst>
          </p:cNvPr>
          <p:cNvSpPr>
            <a:spLocks xmlns:a="http://schemas.openxmlformats.org/drawingml/2006/main" noGrp="1"/>
          </p:cNvSpPr>
          <p:nvPr/>
        </p:nvSpPr>
        <p:spPr>
          <a:xfrm xmlns:a="http://schemas.openxmlformats.org/drawingml/2006/main">
            <a:off x="2324100" y="316230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3. Kausalität</a:t>
            </a:r>
          </a:p>
        </p:txBody>
      </p:sp>
      <p:sp>
        <p:nvSpPr>
          <p:cNvPr id="15" name="">
            <a:extLst xmlns:a="http://schemas.openxmlformats.org/drawingml/2006/main">
              <a:ext uri="{FF2B5EF4-FFF2-40B4-BE49-F238E27FC236}">
                <a16:creationId xmlns:a16="http://schemas.microsoft.com/office/drawing/2014/main" id="{9970E551-4CE0-480D-8647-CEC299C8C1CD}"/>
              </a:ext>
            </a:extLst>
          </p:cNvPr>
          <p:cNvSpPr>
            <a:spLocks xmlns:a="http://schemas.openxmlformats.org/drawingml/2006/main" noGrp="1"/>
          </p:cNvSpPr>
          <p:nvPr/>
        </p:nvSpPr>
        <p:spPr>
          <a:xfrm xmlns:a="http://schemas.openxmlformats.org/drawingml/2006/main">
            <a:off x="4819650" y="316230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Verhalten verursacht Rechtsgutsverletzung.</a:t>
            </a:r>
          </a:p>
        </p:txBody>
      </p:sp>
      <p:sp>
        <p:nvSpPr>
          <p:cNvPr id="16" name="">
            <a:extLst xmlns:a="http://schemas.openxmlformats.org/drawingml/2006/main">
              <a:ext uri="{FF2B5EF4-FFF2-40B4-BE49-F238E27FC236}">
                <a16:creationId xmlns:a16="http://schemas.microsoft.com/office/drawing/2014/main" id="{D2E614A4-6B02-4CCD-8205-8460242F36F9}"/>
              </a:ext>
            </a:extLst>
          </p:cNvPr>
          <p:cNvSpPr>
            <a:spLocks xmlns:a="http://schemas.openxmlformats.org/drawingml/2006/main" noGrp="1"/>
          </p:cNvSpPr>
          <p:nvPr/>
        </p:nvSpPr>
        <p:spPr>
          <a:xfrm xmlns:a="http://schemas.openxmlformats.org/drawingml/2006/main">
            <a:off x="1809750" y="375285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7" name="">
            <a:extLst xmlns:a="http://schemas.openxmlformats.org/drawingml/2006/main">
              <a:ext uri="{FF2B5EF4-FFF2-40B4-BE49-F238E27FC236}">
                <a16:creationId xmlns:a16="http://schemas.microsoft.com/office/drawing/2014/main" id="{FBA52DAE-8A82-4085-85B2-0AE576DA4E85}"/>
              </a:ext>
            </a:extLst>
          </p:cNvPr>
          <p:cNvSpPr>
            <a:spLocks xmlns:a="http://schemas.openxmlformats.org/drawingml/2006/main" noGrp="1"/>
          </p:cNvSpPr>
          <p:nvPr/>
        </p:nvSpPr>
        <p:spPr>
          <a:xfrm xmlns:a="http://schemas.openxmlformats.org/drawingml/2006/main">
            <a:off x="1809750" y="375285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18" name="">
            <a:extLst xmlns:a="http://schemas.openxmlformats.org/drawingml/2006/main">
              <a:ext uri="{FF2B5EF4-FFF2-40B4-BE49-F238E27FC236}">
                <a16:creationId xmlns:a16="http://schemas.microsoft.com/office/drawing/2014/main" id="{BFD1AD1A-8537-410B-9BA0-6ADE7F103B0C}"/>
              </a:ext>
            </a:extLst>
          </p:cNvPr>
          <p:cNvSpPr>
            <a:spLocks xmlns:a="http://schemas.openxmlformats.org/drawingml/2006/main" noGrp="1"/>
          </p:cNvSpPr>
          <p:nvPr/>
        </p:nvSpPr>
        <p:spPr>
          <a:xfrm xmlns:a="http://schemas.openxmlformats.org/drawingml/2006/main">
            <a:off x="2324100" y="376237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4. Rechtswidrigkeit</a:t>
            </a:r>
          </a:p>
        </p:txBody>
      </p:sp>
      <p:sp>
        <p:nvSpPr>
          <p:cNvPr id="19" name="">
            <a:extLst xmlns:a="http://schemas.openxmlformats.org/drawingml/2006/main">
              <a:ext uri="{FF2B5EF4-FFF2-40B4-BE49-F238E27FC236}">
                <a16:creationId xmlns:a16="http://schemas.microsoft.com/office/drawing/2014/main" id="{9643A5DD-30EC-49B3-B09A-F992D7B249BE}"/>
              </a:ext>
            </a:extLst>
          </p:cNvPr>
          <p:cNvSpPr>
            <a:spLocks xmlns:a="http://schemas.openxmlformats.org/drawingml/2006/main" noGrp="1"/>
          </p:cNvSpPr>
          <p:nvPr/>
        </p:nvSpPr>
        <p:spPr>
          <a:xfrm xmlns:a="http://schemas.openxmlformats.org/drawingml/2006/main">
            <a:off x="4819650" y="376237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Insbesondere Einwilligung prüfen.</a:t>
            </a:r>
          </a:p>
        </p:txBody>
      </p:sp>
      <p:sp>
        <p:nvSpPr>
          <p:cNvPr id="20" name="">
            <a:extLst xmlns:a="http://schemas.openxmlformats.org/drawingml/2006/main">
              <a:ext uri="{FF2B5EF4-FFF2-40B4-BE49-F238E27FC236}">
                <a16:creationId xmlns:a16="http://schemas.microsoft.com/office/drawing/2014/main" id="{014876EA-004D-483A-8251-17FC3340A2CB}"/>
              </a:ext>
            </a:extLst>
          </p:cNvPr>
          <p:cNvSpPr>
            <a:spLocks xmlns:a="http://schemas.openxmlformats.org/drawingml/2006/main" noGrp="1"/>
          </p:cNvSpPr>
          <p:nvPr/>
        </p:nvSpPr>
        <p:spPr>
          <a:xfrm xmlns:a="http://schemas.openxmlformats.org/drawingml/2006/main">
            <a:off x="1809750" y="435292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1" name="">
            <a:extLst xmlns:a="http://schemas.openxmlformats.org/drawingml/2006/main">
              <a:ext uri="{FF2B5EF4-FFF2-40B4-BE49-F238E27FC236}">
                <a16:creationId xmlns:a16="http://schemas.microsoft.com/office/drawing/2014/main" id="{B2A9A040-5F13-475B-AD15-B46B2165D494}"/>
              </a:ext>
            </a:extLst>
          </p:cNvPr>
          <p:cNvSpPr>
            <a:spLocks xmlns:a="http://schemas.openxmlformats.org/drawingml/2006/main" noGrp="1"/>
          </p:cNvSpPr>
          <p:nvPr/>
        </p:nvSpPr>
        <p:spPr>
          <a:xfrm xmlns:a="http://schemas.openxmlformats.org/drawingml/2006/main">
            <a:off x="1809750" y="43529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5</a:t>
            </a:r>
          </a:p>
        </p:txBody>
      </p:sp>
      <p:sp>
        <p:nvSpPr>
          <p:cNvPr id="22" name="">
            <a:extLst xmlns:a="http://schemas.openxmlformats.org/drawingml/2006/main">
              <a:ext uri="{FF2B5EF4-FFF2-40B4-BE49-F238E27FC236}">
                <a16:creationId xmlns:a16="http://schemas.microsoft.com/office/drawing/2014/main" id="{95D644E1-9953-4E8B-8268-92CD9168CBB0}"/>
              </a:ext>
            </a:extLst>
          </p:cNvPr>
          <p:cNvSpPr>
            <a:spLocks xmlns:a="http://schemas.openxmlformats.org/drawingml/2006/main" noGrp="1"/>
          </p:cNvSpPr>
          <p:nvPr/>
        </p:nvSpPr>
        <p:spPr>
          <a:xfrm xmlns:a="http://schemas.openxmlformats.org/drawingml/2006/main">
            <a:off x="2324100" y="436245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5. Verschulden</a:t>
            </a:r>
          </a:p>
        </p:txBody>
      </p:sp>
      <p:sp>
        <p:nvSpPr>
          <p:cNvPr id="23" name="">
            <a:extLst xmlns:a="http://schemas.openxmlformats.org/drawingml/2006/main">
              <a:ext uri="{FF2B5EF4-FFF2-40B4-BE49-F238E27FC236}">
                <a16:creationId xmlns:a16="http://schemas.microsoft.com/office/drawing/2014/main" id="{52E94B66-5812-46F3-AA98-834A0A9656A0}"/>
              </a:ext>
            </a:extLst>
          </p:cNvPr>
          <p:cNvSpPr>
            <a:spLocks xmlns:a="http://schemas.openxmlformats.org/drawingml/2006/main" noGrp="1"/>
          </p:cNvSpPr>
          <p:nvPr/>
        </p:nvSpPr>
        <p:spPr>
          <a:xfrm xmlns:a="http://schemas.openxmlformats.org/drawingml/2006/main">
            <a:off x="4819650" y="436245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Vorsatz oder Fahrlässigkeit.</a:t>
            </a:r>
          </a:p>
        </p:txBody>
      </p:sp>
      <p:sp>
        <p:nvSpPr>
          <p:cNvPr id="24" name="">
            <a:extLst xmlns:a="http://schemas.openxmlformats.org/drawingml/2006/main">
              <a:ext uri="{FF2B5EF4-FFF2-40B4-BE49-F238E27FC236}">
                <a16:creationId xmlns:a16="http://schemas.microsoft.com/office/drawing/2014/main" id="{BB7CC929-EA93-4CB1-89D5-C81BC30125D4}"/>
              </a:ext>
            </a:extLst>
          </p:cNvPr>
          <p:cNvSpPr>
            <a:spLocks xmlns:a="http://schemas.openxmlformats.org/drawingml/2006/main" noGrp="1"/>
          </p:cNvSpPr>
          <p:nvPr/>
        </p:nvSpPr>
        <p:spPr>
          <a:xfrm xmlns:a="http://schemas.openxmlformats.org/drawingml/2006/main">
            <a:off x="1809750" y="495300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25" name="">
            <a:extLst xmlns:a="http://schemas.openxmlformats.org/drawingml/2006/main">
              <a:ext uri="{FF2B5EF4-FFF2-40B4-BE49-F238E27FC236}">
                <a16:creationId xmlns:a16="http://schemas.microsoft.com/office/drawing/2014/main" id="{930AE43B-4AE5-4BC5-B873-942B5F9BB437}"/>
              </a:ext>
            </a:extLst>
          </p:cNvPr>
          <p:cNvSpPr>
            <a:spLocks xmlns:a="http://schemas.openxmlformats.org/drawingml/2006/main" noGrp="1"/>
          </p:cNvSpPr>
          <p:nvPr/>
        </p:nvSpPr>
        <p:spPr>
          <a:xfrm xmlns:a="http://schemas.openxmlformats.org/drawingml/2006/main">
            <a:off x="1809750" y="495300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6</a:t>
            </a:r>
          </a:p>
        </p:txBody>
      </p:sp>
      <p:sp>
        <p:nvSpPr>
          <p:cNvPr id="26" name="">
            <a:extLst xmlns:a="http://schemas.openxmlformats.org/drawingml/2006/main">
              <a:ext uri="{FF2B5EF4-FFF2-40B4-BE49-F238E27FC236}">
                <a16:creationId xmlns:a16="http://schemas.microsoft.com/office/drawing/2014/main" id="{6845F260-E90A-40D4-8D68-EA6DD6747645}"/>
              </a:ext>
            </a:extLst>
          </p:cNvPr>
          <p:cNvSpPr>
            <a:spLocks xmlns:a="http://schemas.openxmlformats.org/drawingml/2006/main" noGrp="1"/>
          </p:cNvSpPr>
          <p:nvPr/>
        </p:nvSpPr>
        <p:spPr>
          <a:xfrm xmlns:a="http://schemas.openxmlformats.org/drawingml/2006/main">
            <a:off x="2324100" y="496252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6. Schaden</a:t>
            </a:r>
          </a:p>
        </p:txBody>
      </p:sp>
      <p:sp>
        <p:nvSpPr>
          <p:cNvPr id="27" name="">
            <a:extLst xmlns:a="http://schemas.openxmlformats.org/drawingml/2006/main">
              <a:ext uri="{FF2B5EF4-FFF2-40B4-BE49-F238E27FC236}">
                <a16:creationId xmlns:a16="http://schemas.microsoft.com/office/drawing/2014/main" id="{3715D67B-42F4-44CD-BF7F-7EFE7550B42E}"/>
              </a:ext>
            </a:extLst>
          </p:cNvPr>
          <p:cNvSpPr>
            <a:spLocks xmlns:a="http://schemas.openxmlformats.org/drawingml/2006/main" noGrp="1"/>
          </p:cNvSpPr>
          <p:nvPr/>
        </p:nvSpPr>
        <p:spPr>
          <a:xfrm xmlns:a="http://schemas.openxmlformats.org/drawingml/2006/main">
            <a:off x="4819650" y="496252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Konkrete Rechtsfolge und haftungsausfüllende Kausalität.</a:t>
            </a:r>
          </a:p>
        </p:txBody>
      </p:sp>
      <p:sp>
        <p:nvSpPr>
          <p:cNvPr id="28" name="">
            <a:extLst xmlns:a="http://schemas.openxmlformats.org/drawingml/2006/main">
              <a:ext uri="{FF2B5EF4-FFF2-40B4-BE49-F238E27FC236}">
                <a16:creationId xmlns:a16="http://schemas.microsoft.com/office/drawing/2014/main" id="{6D374C7E-776A-4D81-97F0-BC80BEF60F27}"/>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9" name="">
            <a:extLst xmlns:a="http://schemas.openxmlformats.org/drawingml/2006/main">
              <a:ext uri="{FF2B5EF4-FFF2-40B4-BE49-F238E27FC236}">
                <a16:creationId xmlns:a16="http://schemas.microsoft.com/office/drawing/2014/main" id="{413D2778-486A-4EFD-A2D8-CC4ADD70D7F4}"/>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Mehrere Anspruchsgegner und Zurechnungsnormen anschließend ergänzen.</a:t>
            </a:r>
          </a:p>
        </p:txBody>
      </p:sp>
    </p:spTree>
    <p:extLst>
      <p:ext uri="{BB962C8B-B14F-4D97-AF65-F5344CB8AC3E}">
        <p14:creationId xmlns:p14="http://schemas.microsoft.com/office/powerpoint/2010/main" val="43637646"/>
      </p:ext>
    </p:extLst>
  </p:cSld>
</p:sld>
</file>

<file path=ppt/slides/slide406.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Schnellschema §§ 630d, 630e BGB</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PRÜFUNGSSCHEMA · EINWILLIGUNG</a:t>
            </a:r>
            <a:endParaRPr/>
          </a:p>
        </p:txBody>
      </p:sp>
      <p:sp>
        <p:nvSpPr>
          <p:cNvPr id="4" name="">
            <a:extLst xmlns:a="http://schemas.openxmlformats.org/drawingml/2006/main">
              <a:ext uri="{FF2B5EF4-FFF2-40B4-BE49-F238E27FC236}">
                <a16:creationId xmlns:a16="http://schemas.microsoft.com/office/drawing/2014/main" id="{C65EF56C-221B-4AD5-9387-993BE1D71D14}"/>
              </a:ext>
            </a:extLst>
          </p:cNvPr>
          <p:cNvSpPr>
            <a:spLocks xmlns:a="http://schemas.openxmlformats.org/drawingml/2006/main" noGrp="1"/>
          </p:cNvSpPr>
          <p:nvPr/>
        </p:nvSpPr>
        <p:spPr>
          <a:xfrm xmlns:a="http://schemas.openxmlformats.org/drawingml/2006/main">
            <a:off x="1809750" y="195262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69724D9C-F4DD-42BA-B359-725956B04167}"/>
              </a:ext>
            </a:extLst>
          </p:cNvPr>
          <p:cNvSpPr>
            <a:spLocks xmlns:a="http://schemas.openxmlformats.org/drawingml/2006/main" noGrp="1"/>
          </p:cNvSpPr>
          <p:nvPr/>
        </p:nvSpPr>
        <p:spPr>
          <a:xfrm xmlns:a="http://schemas.openxmlformats.org/drawingml/2006/main">
            <a:off x="1809750" y="19526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6" name="">
            <a:extLst xmlns:a="http://schemas.openxmlformats.org/drawingml/2006/main">
              <a:ext uri="{FF2B5EF4-FFF2-40B4-BE49-F238E27FC236}">
                <a16:creationId xmlns:a16="http://schemas.microsoft.com/office/drawing/2014/main" id="{4E41BBF4-5B33-405B-AF3A-17808BE033C0}"/>
              </a:ext>
            </a:extLst>
          </p:cNvPr>
          <p:cNvSpPr>
            <a:spLocks xmlns:a="http://schemas.openxmlformats.org/drawingml/2006/main" noGrp="1"/>
          </p:cNvSpPr>
          <p:nvPr/>
        </p:nvSpPr>
        <p:spPr>
          <a:xfrm xmlns:a="http://schemas.openxmlformats.org/drawingml/2006/main">
            <a:off x="2324100" y="196215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1. Einwilligungsfähigkeit</a:t>
            </a:r>
          </a:p>
        </p:txBody>
      </p:sp>
      <p:sp>
        <p:nvSpPr>
          <p:cNvPr id="7" name="">
            <a:extLst xmlns:a="http://schemas.openxmlformats.org/drawingml/2006/main">
              <a:ext uri="{FF2B5EF4-FFF2-40B4-BE49-F238E27FC236}">
                <a16:creationId xmlns:a16="http://schemas.microsoft.com/office/drawing/2014/main" id="{9E3B9C1B-2AD7-465F-B22F-D88D1624EEC2}"/>
              </a:ext>
            </a:extLst>
          </p:cNvPr>
          <p:cNvSpPr>
            <a:spLocks xmlns:a="http://schemas.openxmlformats.org/drawingml/2006/main" noGrp="1"/>
          </p:cNvSpPr>
          <p:nvPr/>
        </p:nvSpPr>
        <p:spPr>
          <a:xfrm xmlns:a="http://schemas.openxmlformats.org/drawingml/2006/main">
            <a:off x="4819650" y="196215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Konkrete Entscheidungsfähigkeit.</a:t>
            </a:r>
          </a:p>
        </p:txBody>
      </p:sp>
      <p:sp>
        <p:nvSpPr>
          <p:cNvPr id="8" name="">
            <a:extLst xmlns:a="http://schemas.openxmlformats.org/drawingml/2006/main">
              <a:ext uri="{FF2B5EF4-FFF2-40B4-BE49-F238E27FC236}">
                <a16:creationId xmlns:a16="http://schemas.microsoft.com/office/drawing/2014/main" id="{102A6AF5-D705-4347-996D-BF0CB5423715}"/>
              </a:ext>
            </a:extLst>
          </p:cNvPr>
          <p:cNvSpPr>
            <a:spLocks xmlns:a="http://schemas.openxmlformats.org/drawingml/2006/main" noGrp="1"/>
          </p:cNvSpPr>
          <p:nvPr/>
        </p:nvSpPr>
        <p:spPr>
          <a:xfrm xmlns:a="http://schemas.openxmlformats.org/drawingml/2006/main">
            <a:off x="1809750" y="255270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9" name="">
            <a:extLst xmlns:a="http://schemas.openxmlformats.org/drawingml/2006/main">
              <a:ext uri="{FF2B5EF4-FFF2-40B4-BE49-F238E27FC236}">
                <a16:creationId xmlns:a16="http://schemas.microsoft.com/office/drawing/2014/main" id="{76F77053-E1AB-4A50-B9EC-9CEFC0A33D65}"/>
              </a:ext>
            </a:extLst>
          </p:cNvPr>
          <p:cNvSpPr>
            <a:spLocks xmlns:a="http://schemas.openxmlformats.org/drawingml/2006/main" noGrp="1"/>
          </p:cNvSpPr>
          <p:nvPr/>
        </p:nvSpPr>
        <p:spPr>
          <a:xfrm xmlns:a="http://schemas.openxmlformats.org/drawingml/2006/main">
            <a:off x="1809750" y="255270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0" name="">
            <a:extLst xmlns:a="http://schemas.openxmlformats.org/drawingml/2006/main">
              <a:ext uri="{FF2B5EF4-FFF2-40B4-BE49-F238E27FC236}">
                <a16:creationId xmlns:a16="http://schemas.microsoft.com/office/drawing/2014/main" id="{3F75E002-10DB-4E87-9319-7460AA6E4B62}"/>
              </a:ext>
            </a:extLst>
          </p:cNvPr>
          <p:cNvSpPr>
            <a:spLocks xmlns:a="http://schemas.openxmlformats.org/drawingml/2006/main" noGrp="1"/>
          </p:cNvSpPr>
          <p:nvPr/>
        </p:nvSpPr>
        <p:spPr>
          <a:xfrm xmlns:a="http://schemas.openxmlformats.org/drawingml/2006/main">
            <a:off x="2324100" y="256222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2. Aufklärungsinhalt</a:t>
            </a:r>
          </a:p>
        </p:txBody>
      </p:sp>
      <p:sp>
        <p:nvSpPr>
          <p:cNvPr id="11" name="">
            <a:extLst xmlns:a="http://schemas.openxmlformats.org/drawingml/2006/main">
              <a:ext uri="{FF2B5EF4-FFF2-40B4-BE49-F238E27FC236}">
                <a16:creationId xmlns:a16="http://schemas.microsoft.com/office/drawing/2014/main" id="{6B39C61B-5610-45BC-B904-4B48818E57FD}"/>
              </a:ext>
            </a:extLst>
          </p:cNvPr>
          <p:cNvSpPr>
            <a:spLocks xmlns:a="http://schemas.openxmlformats.org/drawingml/2006/main" noGrp="1"/>
          </p:cNvSpPr>
          <p:nvPr/>
        </p:nvSpPr>
        <p:spPr>
          <a:xfrm xmlns:a="http://schemas.openxmlformats.org/drawingml/2006/main">
            <a:off x="4819650" y="256222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Art, Umfang, Durchführung, Risiken, Nutzen, Alternativen.</a:t>
            </a:r>
          </a:p>
        </p:txBody>
      </p:sp>
      <p:sp>
        <p:nvSpPr>
          <p:cNvPr id="12" name="">
            <a:extLst xmlns:a="http://schemas.openxmlformats.org/drawingml/2006/main">
              <a:ext uri="{FF2B5EF4-FFF2-40B4-BE49-F238E27FC236}">
                <a16:creationId xmlns:a16="http://schemas.microsoft.com/office/drawing/2014/main" id="{4F8566E9-2129-44E9-A067-955FDBB92993}"/>
              </a:ext>
            </a:extLst>
          </p:cNvPr>
          <p:cNvSpPr>
            <a:spLocks xmlns:a="http://schemas.openxmlformats.org/drawingml/2006/main" noGrp="1"/>
          </p:cNvSpPr>
          <p:nvPr/>
        </p:nvSpPr>
        <p:spPr>
          <a:xfrm xmlns:a="http://schemas.openxmlformats.org/drawingml/2006/main">
            <a:off x="1809750" y="315277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3" name="">
            <a:extLst xmlns:a="http://schemas.openxmlformats.org/drawingml/2006/main">
              <a:ext uri="{FF2B5EF4-FFF2-40B4-BE49-F238E27FC236}">
                <a16:creationId xmlns:a16="http://schemas.microsoft.com/office/drawing/2014/main" id="{C522F9A5-4488-4CCD-A4D9-48CE341BCF3B}"/>
              </a:ext>
            </a:extLst>
          </p:cNvPr>
          <p:cNvSpPr>
            <a:spLocks xmlns:a="http://schemas.openxmlformats.org/drawingml/2006/main" noGrp="1"/>
          </p:cNvSpPr>
          <p:nvPr/>
        </p:nvSpPr>
        <p:spPr>
          <a:xfrm xmlns:a="http://schemas.openxmlformats.org/drawingml/2006/main">
            <a:off x="1809750" y="315277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4" name="">
            <a:extLst xmlns:a="http://schemas.openxmlformats.org/drawingml/2006/main">
              <a:ext uri="{FF2B5EF4-FFF2-40B4-BE49-F238E27FC236}">
                <a16:creationId xmlns:a16="http://schemas.microsoft.com/office/drawing/2014/main" id="{DFDC4C68-3300-438E-8548-46F0701A138A}"/>
              </a:ext>
            </a:extLst>
          </p:cNvPr>
          <p:cNvSpPr>
            <a:spLocks xmlns:a="http://schemas.openxmlformats.org/drawingml/2006/main" noGrp="1"/>
          </p:cNvSpPr>
          <p:nvPr/>
        </p:nvSpPr>
        <p:spPr>
          <a:xfrm xmlns:a="http://schemas.openxmlformats.org/drawingml/2006/main">
            <a:off x="2324100" y="316230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3. Gespräch</a:t>
            </a:r>
          </a:p>
        </p:txBody>
      </p:sp>
      <p:sp>
        <p:nvSpPr>
          <p:cNvPr id="15" name="">
            <a:extLst xmlns:a="http://schemas.openxmlformats.org/drawingml/2006/main">
              <a:ext uri="{FF2B5EF4-FFF2-40B4-BE49-F238E27FC236}">
                <a16:creationId xmlns:a16="http://schemas.microsoft.com/office/drawing/2014/main" id="{7C652A5D-DC03-4D81-9CEB-21FAC7C6EFEF}"/>
              </a:ext>
            </a:extLst>
          </p:cNvPr>
          <p:cNvSpPr>
            <a:spLocks xmlns:a="http://schemas.openxmlformats.org/drawingml/2006/main" noGrp="1"/>
          </p:cNvSpPr>
          <p:nvPr/>
        </p:nvSpPr>
        <p:spPr>
          <a:xfrm xmlns:a="http://schemas.openxmlformats.org/drawingml/2006/main">
            <a:off x="4819650" y="316230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Mündlich, qualifiziert, verständlich.</a:t>
            </a:r>
          </a:p>
        </p:txBody>
      </p:sp>
      <p:sp>
        <p:nvSpPr>
          <p:cNvPr id="16" name="">
            <a:extLst xmlns:a="http://schemas.openxmlformats.org/drawingml/2006/main">
              <a:ext uri="{FF2B5EF4-FFF2-40B4-BE49-F238E27FC236}">
                <a16:creationId xmlns:a16="http://schemas.microsoft.com/office/drawing/2014/main" id="{2306FBD5-D5AD-4C97-82DC-0301805C9204}"/>
              </a:ext>
            </a:extLst>
          </p:cNvPr>
          <p:cNvSpPr>
            <a:spLocks xmlns:a="http://schemas.openxmlformats.org/drawingml/2006/main" noGrp="1"/>
          </p:cNvSpPr>
          <p:nvPr/>
        </p:nvSpPr>
        <p:spPr>
          <a:xfrm xmlns:a="http://schemas.openxmlformats.org/drawingml/2006/main">
            <a:off x="1809750" y="375285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7" name="">
            <a:extLst xmlns:a="http://schemas.openxmlformats.org/drawingml/2006/main">
              <a:ext uri="{FF2B5EF4-FFF2-40B4-BE49-F238E27FC236}">
                <a16:creationId xmlns:a16="http://schemas.microsoft.com/office/drawing/2014/main" id="{DFBFE79E-0B37-4270-A051-5DA95CFA0477}"/>
              </a:ext>
            </a:extLst>
          </p:cNvPr>
          <p:cNvSpPr>
            <a:spLocks xmlns:a="http://schemas.openxmlformats.org/drawingml/2006/main" noGrp="1"/>
          </p:cNvSpPr>
          <p:nvPr/>
        </p:nvSpPr>
        <p:spPr>
          <a:xfrm xmlns:a="http://schemas.openxmlformats.org/drawingml/2006/main">
            <a:off x="1809750" y="375285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18" name="">
            <a:extLst xmlns:a="http://schemas.openxmlformats.org/drawingml/2006/main">
              <a:ext uri="{FF2B5EF4-FFF2-40B4-BE49-F238E27FC236}">
                <a16:creationId xmlns:a16="http://schemas.microsoft.com/office/drawing/2014/main" id="{D4EA25FF-5FED-41DE-8115-47E9E48D38DE}"/>
              </a:ext>
            </a:extLst>
          </p:cNvPr>
          <p:cNvSpPr>
            <a:spLocks xmlns:a="http://schemas.openxmlformats.org/drawingml/2006/main" noGrp="1"/>
          </p:cNvSpPr>
          <p:nvPr/>
        </p:nvSpPr>
        <p:spPr>
          <a:xfrm xmlns:a="http://schemas.openxmlformats.org/drawingml/2006/main">
            <a:off x="2324100" y="376237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4. Zeitpunkt</a:t>
            </a:r>
          </a:p>
        </p:txBody>
      </p:sp>
      <p:sp>
        <p:nvSpPr>
          <p:cNvPr id="19" name="">
            <a:extLst xmlns:a="http://schemas.openxmlformats.org/drawingml/2006/main">
              <a:ext uri="{FF2B5EF4-FFF2-40B4-BE49-F238E27FC236}">
                <a16:creationId xmlns:a16="http://schemas.microsoft.com/office/drawing/2014/main" id="{28633B15-FD21-4B87-930E-BA5AEFCDC5E8}"/>
              </a:ext>
            </a:extLst>
          </p:cNvPr>
          <p:cNvSpPr>
            <a:spLocks xmlns:a="http://schemas.openxmlformats.org/drawingml/2006/main" noGrp="1"/>
          </p:cNvSpPr>
          <p:nvPr/>
        </p:nvSpPr>
        <p:spPr>
          <a:xfrm xmlns:a="http://schemas.openxmlformats.org/drawingml/2006/main">
            <a:off x="4819650" y="376237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Wohlüberlegte Entscheidung möglich.</a:t>
            </a:r>
          </a:p>
        </p:txBody>
      </p:sp>
      <p:sp>
        <p:nvSpPr>
          <p:cNvPr id="20" name="">
            <a:extLst xmlns:a="http://schemas.openxmlformats.org/drawingml/2006/main">
              <a:ext uri="{FF2B5EF4-FFF2-40B4-BE49-F238E27FC236}">
                <a16:creationId xmlns:a16="http://schemas.microsoft.com/office/drawing/2014/main" id="{A3610F24-FBFA-4BDF-A522-018CB0483E5C}"/>
              </a:ext>
            </a:extLst>
          </p:cNvPr>
          <p:cNvSpPr>
            <a:spLocks xmlns:a="http://schemas.openxmlformats.org/drawingml/2006/main" noGrp="1"/>
          </p:cNvSpPr>
          <p:nvPr/>
        </p:nvSpPr>
        <p:spPr>
          <a:xfrm xmlns:a="http://schemas.openxmlformats.org/drawingml/2006/main">
            <a:off x="1809750" y="435292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1" name="">
            <a:extLst xmlns:a="http://schemas.openxmlformats.org/drawingml/2006/main">
              <a:ext uri="{FF2B5EF4-FFF2-40B4-BE49-F238E27FC236}">
                <a16:creationId xmlns:a16="http://schemas.microsoft.com/office/drawing/2014/main" id="{6E0E7254-DB7E-479B-8738-DF2C401C50FC}"/>
              </a:ext>
            </a:extLst>
          </p:cNvPr>
          <p:cNvSpPr>
            <a:spLocks xmlns:a="http://schemas.openxmlformats.org/drawingml/2006/main" noGrp="1"/>
          </p:cNvSpPr>
          <p:nvPr/>
        </p:nvSpPr>
        <p:spPr>
          <a:xfrm xmlns:a="http://schemas.openxmlformats.org/drawingml/2006/main">
            <a:off x="1809750" y="43529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5</a:t>
            </a:r>
          </a:p>
        </p:txBody>
      </p:sp>
      <p:sp>
        <p:nvSpPr>
          <p:cNvPr id="22" name="">
            <a:extLst xmlns:a="http://schemas.openxmlformats.org/drawingml/2006/main">
              <a:ext uri="{FF2B5EF4-FFF2-40B4-BE49-F238E27FC236}">
                <a16:creationId xmlns:a16="http://schemas.microsoft.com/office/drawing/2014/main" id="{7C8106FC-0B9D-4604-B426-B929D02C243C}"/>
              </a:ext>
            </a:extLst>
          </p:cNvPr>
          <p:cNvSpPr>
            <a:spLocks xmlns:a="http://schemas.openxmlformats.org/drawingml/2006/main" noGrp="1"/>
          </p:cNvSpPr>
          <p:nvPr/>
        </p:nvSpPr>
        <p:spPr>
          <a:xfrm xmlns:a="http://schemas.openxmlformats.org/drawingml/2006/main">
            <a:off x="2324100" y="436245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5. Freiwilligkeit und Reichweite</a:t>
            </a:r>
          </a:p>
        </p:txBody>
      </p:sp>
      <p:sp>
        <p:nvSpPr>
          <p:cNvPr id="23" name="">
            <a:extLst xmlns:a="http://schemas.openxmlformats.org/drawingml/2006/main">
              <a:ext uri="{FF2B5EF4-FFF2-40B4-BE49-F238E27FC236}">
                <a16:creationId xmlns:a16="http://schemas.microsoft.com/office/drawing/2014/main" id="{89722860-1A05-4A01-99CC-D6F002BFE554}"/>
              </a:ext>
            </a:extLst>
          </p:cNvPr>
          <p:cNvSpPr>
            <a:spLocks xmlns:a="http://schemas.openxmlformats.org/drawingml/2006/main" noGrp="1"/>
          </p:cNvSpPr>
          <p:nvPr/>
        </p:nvSpPr>
        <p:spPr>
          <a:xfrm xmlns:a="http://schemas.openxmlformats.org/drawingml/2006/main">
            <a:off x="4819650" y="436245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Keine unzulässige Beeinflussung; Maßnahme gedeckt.</a:t>
            </a:r>
          </a:p>
        </p:txBody>
      </p:sp>
      <p:sp>
        <p:nvSpPr>
          <p:cNvPr id="24" name="">
            <a:extLst xmlns:a="http://schemas.openxmlformats.org/drawingml/2006/main">
              <a:ext uri="{FF2B5EF4-FFF2-40B4-BE49-F238E27FC236}">
                <a16:creationId xmlns:a16="http://schemas.microsoft.com/office/drawing/2014/main" id="{2EA517C9-5C43-4577-BDE5-DD0D894BFD32}"/>
              </a:ext>
            </a:extLst>
          </p:cNvPr>
          <p:cNvSpPr>
            <a:spLocks xmlns:a="http://schemas.openxmlformats.org/drawingml/2006/main" noGrp="1"/>
          </p:cNvSpPr>
          <p:nvPr/>
        </p:nvSpPr>
        <p:spPr>
          <a:xfrm xmlns:a="http://schemas.openxmlformats.org/drawingml/2006/main">
            <a:off x="1809750" y="495300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25" name="">
            <a:extLst xmlns:a="http://schemas.openxmlformats.org/drawingml/2006/main">
              <a:ext uri="{FF2B5EF4-FFF2-40B4-BE49-F238E27FC236}">
                <a16:creationId xmlns:a16="http://schemas.microsoft.com/office/drawing/2014/main" id="{1D517608-732C-4BFE-A0C0-96D4F4821E67}"/>
              </a:ext>
            </a:extLst>
          </p:cNvPr>
          <p:cNvSpPr>
            <a:spLocks xmlns:a="http://schemas.openxmlformats.org/drawingml/2006/main" noGrp="1"/>
          </p:cNvSpPr>
          <p:nvPr/>
        </p:nvSpPr>
        <p:spPr>
          <a:xfrm xmlns:a="http://schemas.openxmlformats.org/drawingml/2006/main">
            <a:off x="1809750" y="495300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6</a:t>
            </a:r>
          </a:p>
        </p:txBody>
      </p:sp>
      <p:sp>
        <p:nvSpPr>
          <p:cNvPr id="26" name="">
            <a:extLst xmlns:a="http://schemas.openxmlformats.org/drawingml/2006/main">
              <a:ext uri="{FF2B5EF4-FFF2-40B4-BE49-F238E27FC236}">
                <a16:creationId xmlns:a16="http://schemas.microsoft.com/office/drawing/2014/main" id="{4487DCB6-6652-4665-A88E-F45487E989ED}"/>
              </a:ext>
            </a:extLst>
          </p:cNvPr>
          <p:cNvSpPr>
            <a:spLocks xmlns:a="http://schemas.openxmlformats.org/drawingml/2006/main" noGrp="1"/>
          </p:cNvSpPr>
          <p:nvPr/>
        </p:nvSpPr>
        <p:spPr>
          <a:xfrm xmlns:a="http://schemas.openxmlformats.org/drawingml/2006/main">
            <a:off x="2324100" y="496252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6. Widerruf/Notfall</a:t>
            </a:r>
          </a:p>
        </p:txBody>
      </p:sp>
      <p:sp>
        <p:nvSpPr>
          <p:cNvPr id="27" name="">
            <a:extLst xmlns:a="http://schemas.openxmlformats.org/drawingml/2006/main">
              <a:ext uri="{FF2B5EF4-FFF2-40B4-BE49-F238E27FC236}">
                <a16:creationId xmlns:a16="http://schemas.microsoft.com/office/drawing/2014/main" id="{37BE7EBB-DAB0-497B-BF2D-CD7BCFB8872D}"/>
              </a:ext>
            </a:extLst>
          </p:cNvPr>
          <p:cNvSpPr>
            <a:spLocks xmlns:a="http://schemas.openxmlformats.org/drawingml/2006/main" noGrp="1"/>
          </p:cNvSpPr>
          <p:nvPr/>
        </p:nvSpPr>
        <p:spPr>
          <a:xfrm xmlns:a="http://schemas.openxmlformats.org/drawingml/2006/main">
            <a:off x="4819650" y="496252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Fortbestand und Ausnahmen prüfen.</a:t>
            </a:r>
          </a:p>
        </p:txBody>
      </p:sp>
      <p:sp>
        <p:nvSpPr>
          <p:cNvPr id="28" name="">
            <a:extLst xmlns:a="http://schemas.openxmlformats.org/drawingml/2006/main">
              <a:ext uri="{FF2B5EF4-FFF2-40B4-BE49-F238E27FC236}">
                <a16:creationId xmlns:a16="http://schemas.microsoft.com/office/drawing/2014/main" id="{83A2BCE9-7C32-41FD-A5B3-DE2DE358B5B1}"/>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9" name="">
            <a:extLst xmlns:a="http://schemas.openxmlformats.org/drawingml/2006/main">
              <a:ext uri="{FF2B5EF4-FFF2-40B4-BE49-F238E27FC236}">
                <a16:creationId xmlns:a16="http://schemas.microsoft.com/office/drawing/2014/main" id="{336E42AF-C6DA-4AF0-8E45-144369D7B340}"/>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Formular ist Beleg, nicht das Schema selbst.</a:t>
            </a:r>
          </a:p>
        </p:txBody>
      </p:sp>
    </p:spTree>
    <p:extLst>
      <p:ext uri="{BB962C8B-B14F-4D97-AF65-F5344CB8AC3E}">
        <p14:creationId xmlns:p14="http://schemas.microsoft.com/office/powerpoint/2010/main" val="43637646"/>
      </p:ext>
    </p:extLst>
  </p:cSld>
</p:sld>
</file>

<file path=ppt/slides/slide407.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Schnellschema § 229 StGB</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PRÜFUNGSSCHEMA · FAHRLÄSSIGKEIT</a:t>
            </a:r>
            <a:endParaRPr/>
          </a:p>
        </p:txBody>
      </p:sp>
      <p:sp>
        <p:nvSpPr>
          <p:cNvPr id="4" name="">
            <a:extLst xmlns:a="http://schemas.openxmlformats.org/drawingml/2006/main">
              <a:ext uri="{FF2B5EF4-FFF2-40B4-BE49-F238E27FC236}">
                <a16:creationId xmlns:a16="http://schemas.microsoft.com/office/drawing/2014/main" id="{6BE1919C-B085-460A-A483-3DCE836CB16B}"/>
              </a:ext>
            </a:extLst>
          </p:cNvPr>
          <p:cNvSpPr>
            <a:spLocks xmlns:a="http://schemas.openxmlformats.org/drawingml/2006/main" noGrp="1"/>
          </p:cNvSpPr>
          <p:nvPr/>
        </p:nvSpPr>
        <p:spPr>
          <a:xfrm xmlns:a="http://schemas.openxmlformats.org/drawingml/2006/main">
            <a:off x="1809750" y="195262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4F5A783B-40AD-42EB-B086-099151B2E04B}"/>
              </a:ext>
            </a:extLst>
          </p:cNvPr>
          <p:cNvSpPr>
            <a:spLocks xmlns:a="http://schemas.openxmlformats.org/drawingml/2006/main" noGrp="1"/>
          </p:cNvSpPr>
          <p:nvPr/>
        </p:nvSpPr>
        <p:spPr>
          <a:xfrm xmlns:a="http://schemas.openxmlformats.org/drawingml/2006/main">
            <a:off x="1809750" y="19526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6" name="">
            <a:extLst xmlns:a="http://schemas.openxmlformats.org/drawingml/2006/main">
              <a:ext uri="{FF2B5EF4-FFF2-40B4-BE49-F238E27FC236}">
                <a16:creationId xmlns:a16="http://schemas.microsoft.com/office/drawing/2014/main" id="{BB70E437-02E2-49D7-B661-6D60E9BBBDF1}"/>
              </a:ext>
            </a:extLst>
          </p:cNvPr>
          <p:cNvSpPr>
            <a:spLocks xmlns:a="http://schemas.openxmlformats.org/drawingml/2006/main" noGrp="1"/>
          </p:cNvSpPr>
          <p:nvPr/>
        </p:nvSpPr>
        <p:spPr>
          <a:xfrm xmlns:a="http://schemas.openxmlformats.org/drawingml/2006/main">
            <a:off x="2324100" y="196215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1. Körperverletzungserfolg</a:t>
            </a:r>
          </a:p>
        </p:txBody>
      </p:sp>
      <p:sp>
        <p:nvSpPr>
          <p:cNvPr id="7" name="">
            <a:extLst xmlns:a="http://schemas.openxmlformats.org/drawingml/2006/main">
              <a:ext uri="{FF2B5EF4-FFF2-40B4-BE49-F238E27FC236}">
                <a16:creationId xmlns:a16="http://schemas.microsoft.com/office/drawing/2014/main" id="{3C91BCC4-8187-43FC-94B7-15C362C0B250}"/>
              </a:ext>
            </a:extLst>
          </p:cNvPr>
          <p:cNvSpPr>
            <a:spLocks xmlns:a="http://schemas.openxmlformats.org/drawingml/2006/main" noGrp="1"/>
          </p:cNvSpPr>
          <p:nvPr/>
        </p:nvSpPr>
        <p:spPr>
          <a:xfrm xmlns:a="http://schemas.openxmlformats.org/drawingml/2006/main">
            <a:off x="4819650" y="196215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Misshandlung oder Gesundheitsschädigung.</a:t>
            </a:r>
          </a:p>
        </p:txBody>
      </p:sp>
      <p:sp>
        <p:nvSpPr>
          <p:cNvPr id="8" name="">
            <a:extLst xmlns:a="http://schemas.openxmlformats.org/drawingml/2006/main">
              <a:ext uri="{FF2B5EF4-FFF2-40B4-BE49-F238E27FC236}">
                <a16:creationId xmlns:a16="http://schemas.microsoft.com/office/drawing/2014/main" id="{7862A4B4-5F9F-4915-8112-E3557D58D1A9}"/>
              </a:ext>
            </a:extLst>
          </p:cNvPr>
          <p:cNvSpPr>
            <a:spLocks xmlns:a="http://schemas.openxmlformats.org/drawingml/2006/main" noGrp="1"/>
          </p:cNvSpPr>
          <p:nvPr/>
        </p:nvSpPr>
        <p:spPr>
          <a:xfrm xmlns:a="http://schemas.openxmlformats.org/drawingml/2006/main">
            <a:off x="1809750" y="255270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9" name="">
            <a:extLst xmlns:a="http://schemas.openxmlformats.org/drawingml/2006/main">
              <a:ext uri="{FF2B5EF4-FFF2-40B4-BE49-F238E27FC236}">
                <a16:creationId xmlns:a16="http://schemas.microsoft.com/office/drawing/2014/main" id="{E470C89A-A4F0-49FC-9B33-BD921AD9B5E4}"/>
              </a:ext>
            </a:extLst>
          </p:cNvPr>
          <p:cNvSpPr>
            <a:spLocks xmlns:a="http://schemas.openxmlformats.org/drawingml/2006/main" noGrp="1"/>
          </p:cNvSpPr>
          <p:nvPr/>
        </p:nvSpPr>
        <p:spPr>
          <a:xfrm xmlns:a="http://schemas.openxmlformats.org/drawingml/2006/main">
            <a:off x="1809750" y="255270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0" name="">
            <a:extLst xmlns:a="http://schemas.openxmlformats.org/drawingml/2006/main">
              <a:ext uri="{FF2B5EF4-FFF2-40B4-BE49-F238E27FC236}">
                <a16:creationId xmlns:a16="http://schemas.microsoft.com/office/drawing/2014/main" id="{0443FB44-DA50-4115-98DA-EFA88503D1DC}"/>
              </a:ext>
            </a:extLst>
          </p:cNvPr>
          <p:cNvSpPr>
            <a:spLocks xmlns:a="http://schemas.openxmlformats.org/drawingml/2006/main" noGrp="1"/>
          </p:cNvSpPr>
          <p:nvPr/>
        </p:nvSpPr>
        <p:spPr>
          <a:xfrm xmlns:a="http://schemas.openxmlformats.org/drawingml/2006/main">
            <a:off x="2324100" y="256222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2. Verhalten und Kausalität</a:t>
            </a:r>
          </a:p>
        </p:txBody>
      </p:sp>
      <p:sp>
        <p:nvSpPr>
          <p:cNvPr id="11" name="">
            <a:extLst xmlns:a="http://schemas.openxmlformats.org/drawingml/2006/main">
              <a:ext uri="{FF2B5EF4-FFF2-40B4-BE49-F238E27FC236}">
                <a16:creationId xmlns:a16="http://schemas.microsoft.com/office/drawing/2014/main" id="{A9C101BF-48B6-4DFB-BE43-749BD9E07B32}"/>
              </a:ext>
            </a:extLst>
          </p:cNvPr>
          <p:cNvSpPr>
            <a:spLocks xmlns:a="http://schemas.openxmlformats.org/drawingml/2006/main" noGrp="1"/>
          </p:cNvSpPr>
          <p:nvPr/>
        </p:nvSpPr>
        <p:spPr>
          <a:xfrm xmlns:a="http://schemas.openxmlformats.org/drawingml/2006/main">
            <a:off x="4819650" y="256222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Konkreter Beitrag der Person.</a:t>
            </a:r>
          </a:p>
        </p:txBody>
      </p:sp>
      <p:sp>
        <p:nvSpPr>
          <p:cNvPr id="12" name="">
            <a:extLst xmlns:a="http://schemas.openxmlformats.org/drawingml/2006/main">
              <a:ext uri="{FF2B5EF4-FFF2-40B4-BE49-F238E27FC236}">
                <a16:creationId xmlns:a16="http://schemas.microsoft.com/office/drawing/2014/main" id="{D12A71E9-4A6F-430C-9324-A7C77DB0FF09}"/>
              </a:ext>
            </a:extLst>
          </p:cNvPr>
          <p:cNvSpPr>
            <a:spLocks xmlns:a="http://schemas.openxmlformats.org/drawingml/2006/main" noGrp="1"/>
          </p:cNvSpPr>
          <p:nvPr/>
        </p:nvSpPr>
        <p:spPr>
          <a:xfrm xmlns:a="http://schemas.openxmlformats.org/drawingml/2006/main">
            <a:off x="1809750" y="315277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3" name="">
            <a:extLst xmlns:a="http://schemas.openxmlformats.org/drawingml/2006/main">
              <a:ext uri="{FF2B5EF4-FFF2-40B4-BE49-F238E27FC236}">
                <a16:creationId xmlns:a16="http://schemas.microsoft.com/office/drawing/2014/main" id="{A2FC552B-3890-4FB0-B745-F21CBF97FF1B}"/>
              </a:ext>
            </a:extLst>
          </p:cNvPr>
          <p:cNvSpPr>
            <a:spLocks xmlns:a="http://schemas.openxmlformats.org/drawingml/2006/main" noGrp="1"/>
          </p:cNvSpPr>
          <p:nvPr/>
        </p:nvSpPr>
        <p:spPr>
          <a:xfrm xmlns:a="http://schemas.openxmlformats.org/drawingml/2006/main">
            <a:off x="1809750" y="315277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4" name="">
            <a:extLst xmlns:a="http://schemas.openxmlformats.org/drawingml/2006/main">
              <a:ext uri="{FF2B5EF4-FFF2-40B4-BE49-F238E27FC236}">
                <a16:creationId xmlns:a16="http://schemas.microsoft.com/office/drawing/2014/main" id="{F401D501-BBEA-49A3-8B22-4A706DF26BCE}"/>
              </a:ext>
            </a:extLst>
          </p:cNvPr>
          <p:cNvSpPr>
            <a:spLocks xmlns:a="http://schemas.openxmlformats.org/drawingml/2006/main" noGrp="1"/>
          </p:cNvSpPr>
          <p:nvPr/>
        </p:nvSpPr>
        <p:spPr>
          <a:xfrm xmlns:a="http://schemas.openxmlformats.org/drawingml/2006/main">
            <a:off x="2324100" y="316230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3. Sorgfaltspflichtverletzung</a:t>
            </a:r>
          </a:p>
        </p:txBody>
      </p:sp>
      <p:sp>
        <p:nvSpPr>
          <p:cNvPr id="15" name="">
            <a:extLst xmlns:a="http://schemas.openxmlformats.org/drawingml/2006/main">
              <a:ext uri="{FF2B5EF4-FFF2-40B4-BE49-F238E27FC236}">
                <a16:creationId xmlns:a16="http://schemas.microsoft.com/office/drawing/2014/main" id="{5EC96133-1C6C-4FE4-B183-34F41655E5A6}"/>
              </a:ext>
            </a:extLst>
          </p:cNvPr>
          <p:cNvSpPr>
            <a:spLocks xmlns:a="http://schemas.openxmlformats.org/drawingml/2006/main" noGrp="1"/>
          </p:cNvSpPr>
          <p:nvPr/>
        </p:nvSpPr>
        <p:spPr>
          <a:xfrm xmlns:a="http://schemas.openxmlformats.org/drawingml/2006/main">
            <a:off x="4819650" y="316230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Ex-ante-Maßstab.</a:t>
            </a:r>
          </a:p>
        </p:txBody>
      </p:sp>
      <p:sp>
        <p:nvSpPr>
          <p:cNvPr id="16" name="">
            <a:extLst xmlns:a="http://schemas.openxmlformats.org/drawingml/2006/main">
              <a:ext uri="{FF2B5EF4-FFF2-40B4-BE49-F238E27FC236}">
                <a16:creationId xmlns:a16="http://schemas.microsoft.com/office/drawing/2014/main" id="{58F8BAFD-6052-43C4-8C4A-E4B93FA9DC46}"/>
              </a:ext>
            </a:extLst>
          </p:cNvPr>
          <p:cNvSpPr>
            <a:spLocks xmlns:a="http://schemas.openxmlformats.org/drawingml/2006/main" noGrp="1"/>
          </p:cNvSpPr>
          <p:nvPr/>
        </p:nvSpPr>
        <p:spPr>
          <a:xfrm xmlns:a="http://schemas.openxmlformats.org/drawingml/2006/main">
            <a:off x="1809750" y="375285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7" name="">
            <a:extLst xmlns:a="http://schemas.openxmlformats.org/drawingml/2006/main">
              <a:ext uri="{FF2B5EF4-FFF2-40B4-BE49-F238E27FC236}">
                <a16:creationId xmlns:a16="http://schemas.microsoft.com/office/drawing/2014/main" id="{76B5B28E-6F02-4459-AA11-D94805616FC6}"/>
              </a:ext>
            </a:extLst>
          </p:cNvPr>
          <p:cNvSpPr>
            <a:spLocks xmlns:a="http://schemas.openxmlformats.org/drawingml/2006/main" noGrp="1"/>
          </p:cNvSpPr>
          <p:nvPr/>
        </p:nvSpPr>
        <p:spPr>
          <a:xfrm xmlns:a="http://schemas.openxmlformats.org/drawingml/2006/main">
            <a:off x="1809750" y="375285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18" name="">
            <a:extLst xmlns:a="http://schemas.openxmlformats.org/drawingml/2006/main">
              <a:ext uri="{FF2B5EF4-FFF2-40B4-BE49-F238E27FC236}">
                <a16:creationId xmlns:a16="http://schemas.microsoft.com/office/drawing/2014/main" id="{9FD7E736-BF99-4AE3-B048-9C05EEBDA74D}"/>
              </a:ext>
            </a:extLst>
          </p:cNvPr>
          <p:cNvSpPr>
            <a:spLocks xmlns:a="http://schemas.openxmlformats.org/drawingml/2006/main" noGrp="1"/>
          </p:cNvSpPr>
          <p:nvPr/>
        </p:nvSpPr>
        <p:spPr>
          <a:xfrm xmlns:a="http://schemas.openxmlformats.org/drawingml/2006/main">
            <a:off x="2324100" y="376237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4. Vorhersehbarkeit/Vermeidbarkeit</a:t>
            </a:r>
          </a:p>
        </p:txBody>
      </p:sp>
      <p:sp>
        <p:nvSpPr>
          <p:cNvPr id="19" name="">
            <a:extLst xmlns:a="http://schemas.openxmlformats.org/drawingml/2006/main">
              <a:ext uri="{FF2B5EF4-FFF2-40B4-BE49-F238E27FC236}">
                <a16:creationId xmlns:a16="http://schemas.microsoft.com/office/drawing/2014/main" id="{383BAACF-580F-43E3-9EA6-68D5EA4FC1A7}"/>
              </a:ext>
            </a:extLst>
          </p:cNvPr>
          <p:cNvSpPr>
            <a:spLocks xmlns:a="http://schemas.openxmlformats.org/drawingml/2006/main" noGrp="1"/>
          </p:cNvSpPr>
          <p:nvPr/>
        </p:nvSpPr>
        <p:spPr>
          <a:xfrm xmlns:a="http://schemas.openxmlformats.org/drawingml/2006/main">
            <a:off x="4819650" y="376237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Objektiv.</a:t>
            </a:r>
          </a:p>
        </p:txBody>
      </p:sp>
      <p:sp>
        <p:nvSpPr>
          <p:cNvPr id="20" name="">
            <a:extLst xmlns:a="http://schemas.openxmlformats.org/drawingml/2006/main">
              <a:ext uri="{FF2B5EF4-FFF2-40B4-BE49-F238E27FC236}">
                <a16:creationId xmlns:a16="http://schemas.microsoft.com/office/drawing/2014/main" id="{D6F507D6-E41A-4C4F-8C58-D9A3DCD024E8}"/>
              </a:ext>
            </a:extLst>
          </p:cNvPr>
          <p:cNvSpPr>
            <a:spLocks xmlns:a="http://schemas.openxmlformats.org/drawingml/2006/main" noGrp="1"/>
          </p:cNvSpPr>
          <p:nvPr/>
        </p:nvSpPr>
        <p:spPr>
          <a:xfrm xmlns:a="http://schemas.openxmlformats.org/drawingml/2006/main">
            <a:off x="1809750" y="435292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1" name="">
            <a:extLst xmlns:a="http://schemas.openxmlformats.org/drawingml/2006/main">
              <a:ext uri="{FF2B5EF4-FFF2-40B4-BE49-F238E27FC236}">
                <a16:creationId xmlns:a16="http://schemas.microsoft.com/office/drawing/2014/main" id="{0D73F12C-7A99-483D-A82E-F0826DDDBF83}"/>
              </a:ext>
            </a:extLst>
          </p:cNvPr>
          <p:cNvSpPr>
            <a:spLocks xmlns:a="http://schemas.openxmlformats.org/drawingml/2006/main" noGrp="1"/>
          </p:cNvSpPr>
          <p:nvPr/>
        </p:nvSpPr>
        <p:spPr>
          <a:xfrm xmlns:a="http://schemas.openxmlformats.org/drawingml/2006/main">
            <a:off x="1809750" y="43529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5</a:t>
            </a:r>
          </a:p>
        </p:txBody>
      </p:sp>
      <p:sp>
        <p:nvSpPr>
          <p:cNvPr id="22" name="">
            <a:extLst xmlns:a="http://schemas.openxmlformats.org/drawingml/2006/main">
              <a:ext uri="{FF2B5EF4-FFF2-40B4-BE49-F238E27FC236}">
                <a16:creationId xmlns:a16="http://schemas.microsoft.com/office/drawing/2014/main" id="{83603FD8-2024-4129-BEC4-8B1017EFEE11}"/>
              </a:ext>
            </a:extLst>
          </p:cNvPr>
          <p:cNvSpPr>
            <a:spLocks xmlns:a="http://schemas.openxmlformats.org/drawingml/2006/main" noGrp="1"/>
          </p:cNvSpPr>
          <p:nvPr/>
        </p:nvSpPr>
        <p:spPr>
          <a:xfrm xmlns:a="http://schemas.openxmlformats.org/drawingml/2006/main">
            <a:off x="2324100" y="436245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5. Zurechnung/Rechtswidrigkeit</a:t>
            </a:r>
          </a:p>
        </p:txBody>
      </p:sp>
      <p:sp>
        <p:nvSpPr>
          <p:cNvPr id="23" name="">
            <a:extLst xmlns:a="http://schemas.openxmlformats.org/drawingml/2006/main">
              <a:ext uri="{FF2B5EF4-FFF2-40B4-BE49-F238E27FC236}">
                <a16:creationId xmlns:a16="http://schemas.microsoft.com/office/drawing/2014/main" id="{8E63C2EC-B6B2-4E2B-A00F-66B3F5431A3F}"/>
              </a:ext>
            </a:extLst>
          </p:cNvPr>
          <p:cNvSpPr>
            <a:spLocks xmlns:a="http://schemas.openxmlformats.org/drawingml/2006/main" noGrp="1"/>
          </p:cNvSpPr>
          <p:nvPr/>
        </p:nvSpPr>
        <p:spPr>
          <a:xfrm xmlns:a="http://schemas.openxmlformats.org/drawingml/2006/main">
            <a:off x="4819650" y="436245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Schutzzweck und Rechtfertigung.</a:t>
            </a:r>
          </a:p>
        </p:txBody>
      </p:sp>
      <p:sp>
        <p:nvSpPr>
          <p:cNvPr id="24" name="">
            <a:extLst xmlns:a="http://schemas.openxmlformats.org/drawingml/2006/main">
              <a:ext uri="{FF2B5EF4-FFF2-40B4-BE49-F238E27FC236}">
                <a16:creationId xmlns:a16="http://schemas.microsoft.com/office/drawing/2014/main" id="{8B9648AA-A674-4A05-A1FB-FF172412EFD5}"/>
              </a:ext>
            </a:extLst>
          </p:cNvPr>
          <p:cNvSpPr>
            <a:spLocks xmlns:a="http://schemas.openxmlformats.org/drawingml/2006/main" noGrp="1"/>
          </p:cNvSpPr>
          <p:nvPr/>
        </p:nvSpPr>
        <p:spPr>
          <a:xfrm xmlns:a="http://schemas.openxmlformats.org/drawingml/2006/main">
            <a:off x="1809750" y="495300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25" name="">
            <a:extLst xmlns:a="http://schemas.openxmlformats.org/drawingml/2006/main">
              <a:ext uri="{FF2B5EF4-FFF2-40B4-BE49-F238E27FC236}">
                <a16:creationId xmlns:a16="http://schemas.microsoft.com/office/drawing/2014/main" id="{8CBF7CF4-37E4-49B8-8ACF-F9046914480F}"/>
              </a:ext>
            </a:extLst>
          </p:cNvPr>
          <p:cNvSpPr>
            <a:spLocks xmlns:a="http://schemas.openxmlformats.org/drawingml/2006/main" noGrp="1"/>
          </p:cNvSpPr>
          <p:nvPr/>
        </p:nvSpPr>
        <p:spPr>
          <a:xfrm xmlns:a="http://schemas.openxmlformats.org/drawingml/2006/main">
            <a:off x="1809750" y="495300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6</a:t>
            </a:r>
          </a:p>
        </p:txBody>
      </p:sp>
      <p:sp>
        <p:nvSpPr>
          <p:cNvPr id="26" name="">
            <a:extLst xmlns:a="http://schemas.openxmlformats.org/drawingml/2006/main">
              <a:ext uri="{FF2B5EF4-FFF2-40B4-BE49-F238E27FC236}">
                <a16:creationId xmlns:a16="http://schemas.microsoft.com/office/drawing/2014/main" id="{2B783D1F-7C93-4C0F-9821-6CC7862FF62C}"/>
              </a:ext>
            </a:extLst>
          </p:cNvPr>
          <p:cNvSpPr>
            <a:spLocks xmlns:a="http://schemas.openxmlformats.org/drawingml/2006/main" noGrp="1"/>
          </p:cNvSpPr>
          <p:nvPr/>
        </p:nvSpPr>
        <p:spPr>
          <a:xfrm xmlns:a="http://schemas.openxmlformats.org/drawingml/2006/main">
            <a:off x="2324100" y="496252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6. Schuld</a:t>
            </a:r>
          </a:p>
        </p:txBody>
      </p:sp>
      <p:sp>
        <p:nvSpPr>
          <p:cNvPr id="27" name="">
            <a:extLst xmlns:a="http://schemas.openxmlformats.org/drawingml/2006/main">
              <a:ext uri="{FF2B5EF4-FFF2-40B4-BE49-F238E27FC236}">
                <a16:creationId xmlns:a16="http://schemas.microsoft.com/office/drawing/2014/main" id="{DCF8C004-84BA-4D77-96DC-47654F769BAD}"/>
              </a:ext>
            </a:extLst>
          </p:cNvPr>
          <p:cNvSpPr>
            <a:spLocks xmlns:a="http://schemas.openxmlformats.org/drawingml/2006/main" noGrp="1"/>
          </p:cNvSpPr>
          <p:nvPr/>
        </p:nvSpPr>
        <p:spPr>
          <a:xfrm xmlns:a="http://schemas.openxmlformats.org/drawingml/2006/main">
            <a:off x="4819650" y="496252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Individuelle Erkennbarkeit, Fähigkeiten und Zumutbarkeit.</a:t>
            </a:r>
          </a:p>
        </p:txBody>
      </p:sp>
      <p:sp>
        <p:nvSpPr>
          <p:cNvPr id="28" name="">
            <a:extLst xmlns:a="http://schemas.openxmlformats.org/drawingml/2006/main">
              <a:ext uri="{FF2B5EF4-FFF2-40B4-BE49-F238E27FC236}">
                <a16:creationId xmlns:a16="http://schemas.microsoft.com/office/drawing/2014/main" id="{59535983-469A-4830-B849-87389A6D1325}"/>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9" name="">
            <a:extLst xmlns:a="http://schemas.openxmlformats.org/drawingml/2006/main">
              <a:ext uri="{FF2B5EF4-FFF2-40B4-BE49-F238E27FC236}">
                <a16:creationId xmlns:a16="http://schemas.microsoft.com/office/drawing/2014/main" id="{BC09B40A-ED6F-41B7-812B-BDA9B4A8C8E5}"/>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Im Zweifel muss die Strafverfolgung alle Merkmale nachweisen.</a:t>
            </a:r>
          </a:p>
        </p:txBody>
      </p:sp>
    </p:spTree>
    <p:extLst>
      <p:ext uri="{BB962C8B-B14F-4D97-AF65-F5344CB8AC3E}">
        <p14:creationId xmlns:p14="http://schemas.microsoft.com/office/powerpoint/2010/main" val="43637646"/>
      </p:ext>
    </p:extLst>
  </p:cSld>
</p:sld>
</file>

<file path=ppt/slides/slide408.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Schnellschema Unterlassen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PRÜFUNGSSCHEMA · § 13 StGB</a:t>
            </a:r>
            <a:endParaRPr/>
          </a:p>
        </p:txBody>
      </p:sp>
      <p:sp>
        <p:nvSpPr>
          <p:cNvPr id="4" name="">
            <a:extLst xmlns:a="http://schemas.openxmlformats.org/drawingml/2006/main">
              <a:ext uri="{FF2B5EF4-FFF2-40B4-BE49-F238E27FC236}">
                <a16:creationId xmlns:a16="http://schemas.microsoft.com/office/drawing/2014/main" id="{E3AD91E7-2D19-4997-9A54-4A67D000A183}"/>
              </a:ext>
            </a:extLst>
          </p:cNvPr>
          <p:cNvSpPr>
            <a:spLocks xmlns:a="http://schemas.openxmlformats.org/drawingml/2006/main" noGrp="1"/>
          </p:cNvSpPr>
          <p:nvPr/>
        </p:nvSpPr>
        <p:spPr>
          <a:xfrm xmlns:a="http://schemas.openxmlformats.org/drawingml/2006/main">
            <a:off x="1809750" y="195262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404E699B-6C05-4752-8C2A-F7B48A869646}"/>
              </a:ext>
            </a:extLst>
          </p:cNvPr>
          <p:cNvSpPr>
            <a:spLocks xmlns:a="http://schemas.openxmlformats.org/drawingml/2006/main" noGrp="1"/>
          </p:cNvSpPr>
          <p:nvPr/>
        </p:nvSpPr>
        <p:spPr>
          <a:xfrm xmlns:a="http://schemas.openxmlformats.org/drawingml/2006/main">
            <a:off x="1809750" y="19526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6" name="">
            <a:extLst xmlns:a="http://schemas.openxmlformats.org/drawingml/2006/main">
              <a:ext uri="{FF2B5EF4-FFF2-40B4-BE49-F238E27FC236}">
                <a16:creationId xmlns:a16="http://schemas.microsoft.com/office/drawing/2014/main" id="{D310FCCE-C22D-4F53-BCC9-6A07E1923F06}"/>
              </a:ext>
            </a:extLst>
          </p:cNvPr>
          <p:cNvSpPr>
            <a:spLocks xmlns:a="http://schemas.openxmlformats.org/drawingml/2006/main" noGrp="1"/>
          </p:cNvSpPr>
          <p:nvPr/>
        </p:nvSpPr>
        <p:spPr>
          <a:xfrm xmlns:a="http://schemas.openxmlformats.org/drawingml/2006/main">
            <a:off x="2324100" y="196215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1. Erfolg</a:t>
            </a:r>
          </a:p>
        </p:txBody>
      </p:sp>
      <p:sp>
        <p:nvSpPr>
          <p:cNvPr id="7" name="">
            <a:extLst xmlns:a="http://schemas.openxmlformats.org/drawingml/2006/main">
              <a:ext uri="{FF2B5EF4-FFF2-40B4-BE49-F238E27FC236}">
                <a16:creationId xmlns:a16="http://schemas.microsoft.com/office/drawing/2014/main" id="{04454062-71D8-4608-9E9F-184BDBDC979B}"/>
              </a:ext>
            </a:extLst>
          </p:cNvPr>
          <p:cNvSpPr>
            <a:spLocks xmlns:a="http://schemas.openxmlformats.org/drawingml/2006/main" noGrp="1"/>
          </p:cNvSpPr>
          <p:nvPr/>
        </p:nvSpPr>
        <p:spPr>
          <a:xfrm xmlns:a="http://schemas.openxmlformats.org/drawingml/2006/main">
            <a:off x="4819650" y="196215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Tatbestandlicher Schaden.</a:t>
            </a:r>
          </a:p>
        </p:txBody>
      </p:sp>
      <p:sp>
        <p:nvSpPr>
          <p:cNvPr id="8" name="">
            <a:extLst xmlns:a="http://schemas.openxmlformats.org/drawingml/2006/main">
              <a:ext uri="{FF2B5EF4-FFF2-40B4-BE49-F238E27FC236}">
                <a16:creationId xmlns:a16="http://schemas.microsoft.com/office/drawing/2014/main" id="{CC0F39C3-21FE-4207-893E-82A7DC5C385E}"/>
              </a:ext>
            </a:extLst>
          </p:cNvPr>
          <p:cNvSpPr>
            <a:spLocks xmlns:a="http://schemas.openxmlformats.org/drawingml/2006/main" noGrp="1"/>
          </p:cNvSpPr>
          <p:nvPr/>
        </p:nvSpPr>
        <p:spPr>
          <a:xfrm xmlns:a="http://schemas.openxmlformats.org/drawingml/2006/main">
            <a:off x="1809750" y="255270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9" name="">
            <a:extLst xmlns:a="http://schemas.openxmlformats.org/drawingml/2006/main">
              <a:ext uri="{FF2B5EF4-FFF2-40B4-BE49-F238E27FC236}">
                <a16:creationId xmlns:a16="http://schemas.microsoft.com/office/drawing/2014/main" id="{8F372262-2CD3-4310-A93C-DEDB5831A932}"/>
              </a:ext>
            </a:extLst>
          </p:cNvPr>
          <p:cNvSpPr>
            <a:spLocks xmlns:a="http://schemas.openxmlformats.org/drawingml/2006/main" noGrp="1"/>
          </p:cNvSpPr>
          <p:nvPr/>
        </p:nvSpPr>
        <p:spPr>
          <a:xfrm xmlns:a="http://schemas.openxmlformats.org/drawingml/2006/main">
            <a:off x="1809750" y="255270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0" name="">
            <a:extLst xmlns:a="http://schemas.openxmlformats.org/drawingml/2006/main">
              <a:ext uri="{FF2B5EF4-FFF2-40B4-BE49-F238E27FC236}">
                <a16:creationId xmlns:a16="http://schemas.microsoft.com/office/drawing/2014/main" id="{07BD6088-4DFF-482D-A05A-706E337EF514}"/>
              </a:ext>
            </a:extLst>
          </p:cNvPr>
          <p:cNvSpPr>
            <a:spLocks xmlns:a="http://schemas.openxmlformats.org/drawingml/2006/main" noGrp="1"/>
          </p:cNvSpPr>
          <p:nvPr/>
        </p:nvSpPr>
        <p:spPr>
          <a:xfrm xmlns:a="http://schemas.openxmlformats.org/drawingml/2006/main">
            <a:off x="2324100" y="256222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2. Nichtvornahme</a:t>
            </a:r>
          </a:p>
        </p:txBody>
      </p:sp>
      <p:sp>
        <p:nvSpPr>
          <p:cNvPr id="11" name="">
            <a:extLst xmlns:a="http://schemas.openxmlformats.org/drawingml/2006/main">
              <a:ext uri="{FF2B5EF4-FFF2-40B4-BE49-F238E27FC236}">
                <a16:creationId xmlns:a16="http://schemas.microsoft.com/office/drawing/2014/main" id="{DF7D9BA2-DD94-4C47-9659-B675AE41327A}"/>
              </a:ext>
            </a:extLst>
          </p:cNvPr>
          <p:cNvSpPr>
            <a:spLocks xmlns:a="http://schemas.openxmlformats.org/drawingml/2006/main" noGrp="1"/>
          </p:cNvSpPr>
          <p:nvPr/>
        </p:nvSpPr>
        <p:spPr>
          <a:xfrm xmlns:a="http://schemas.openxmlformats.org/drawingml/2006/main">
            <a:off x="4819650" y="256222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Konkrete mögliche Handlung.</a:t>
            </a:r>
          </a:p>
        </p:txBody>
      </p:sp>
      <p:sp>
        <p:nvSpPr>
          <p:cNvPr id="12" name="">
            <a:extLst xmlns:a="http://schemas.openxmlformats.org/drawingml/2006/main">
              <a:ext uri="{FF2B5EF4-FFF2-40B4-BE49-F238E27FC236}">
                <a16:creationId xmlns:a16="http://schemas.microsoft.com/office/drawing/2014/main" id="{34CCF871-D634-42CE-B263-6C93916D236D}"/>
              </a:ext>
            </a:extLst>
          </p:cNvPr>
          <p:cNvSpPr>
            <a:spLocks xmlns:a="http://schemas.openxmlformats.org/drawingml/2006/main" noGrp="1"/>
          </p:cNvSpPr>
          <p:nvPr/>
        </p:nvSpPr>
        <p:spPr>
          <a:xfrm xmlns:a="http://schemas.openxmlformats.org/drawingml/2006/main">
            <a:off x="1809750" y="315277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3" name="">
            <a:extLst xmlns:a="http://schemas.openxmlformats.org/drawingml/2006/main">
              <a:ext uri="{FF2B5EF4-FFF2-40B4-BE49-F238E27FC236}">
                <a16:creationId xmlns:a16="http://schemas.microsoft.com/office/drawing/2014/main" id="{ABC778FB-C976-44F7-B461-6329D1820759}"/>
              </a:ext>
            </a:extLst>
          </p:cNvPr>
          <p:cNvSpPr>
            <a:spLocks xmlns:a="http://schemas.openxmlformats.org/drawingml/2006/main" noGrp="1"/>
          </p:cNvSpPr>
          <p:nvPr/>
        </p:nvSpPr>
        <p:spPr>
          <a:xfrm xmlns:a="http://schemas.openxmlformats.org/drawingml/2006/main">
            <a:off x="1809750" y="315277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4" name="">
            <a:extLst xmlns:a="http://schemas.openxmlformats.org/drawingml/2006/main">
              <a:ext uri="{FF2B5EF4-FFF2-40B4-BE49-F238E27FC236}">
                <a16:creationId xmlns:a16="http://schemas.microsoft.com/office/drawing/2014/main" id="{9A64FF8B-C3F2-47F7-AF58-C2AEF5146BFC}"/>
              </a:ext>
            </a:extLst>
          </p:cNvPr>
          <p:cNvSpPr>
            <a:spLocks xmlns:a="http://schemas.openxmlformats.org/drawingml/2006/main" noGrp="1"/>
          </p:cNvSpPr>
          <p:nvPr/>
        </p:nvSpPr>
        <p:spPr>
          <a:xfrm xmlns:a="http://schemas.openxmlformats.org/drawingml/2006/main">
            <a:off x="2324100" y="316230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3. Garantenstellung</a:t>
            </a:r>
          </a:p>
        </p:txBody>
      </p:sp>
      <p:sp>
        <p:nvSpPr>
          <p:cNvPr id="15" name="">
            <a:extLst xmlns:a="http://schemas.openxmlformats.org/drawingml/2006/main">
              <a:ext uri="{FF2B5EF4-FFF2-40B4-BE49-F238E27FC236}">
                <a16:creationId xmlns:a16="http://schemas.microsoft.com/office/drawing/2014/main" id="{41D4AFED-C9E2-49FD-9C66-812B5608AEAB}"/>
              </a:ext>
            </a:extLst>
          </p:cNvPr>
          <p:cNvSpPr>
            <a:spLocks xmlns:a="http://schemas.openxmlformats.org/drawingml/2006/main" noGrp="1"/>
          </p:cNvSpPr>
          <p:nvPr/>
        </p:nvSpPr>
        <p:spPr>
          <a:xfrm xmlns:a="http://schemas.openxmlformats.org/drawingml/2006/main">
            <a:off x="4819650" y="316230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Besondere Erfolgsabwendungspflicht.</a:t>
            </a:r>
          </a:p>
        </p:txBody>
      </p:sp>
      <p:sp>
        <p:nvSpPr>
          <p:cNvPr id="16" name="">
            <a:extLst xmlns:a="http://schemas.openxmlformats.org/drawingml/2006/main">
              <a:ext uri="{FF2B5EF4-FFF2-40B4-BE49-F238E27FC236}">
                <a16:creationId xmlns:a16="http://schemas.microsoft.com/office/drawing/2014/main" id="{38B449CD-448B-4A85-8A0A-451C3AE8EF77}"/>
              </a:ext>
            </a:extLst>
          </p:cNvPr>
          <p:cNvSpPr>
            <a:spLocks xmlns:a="http://schemas.openxmlformats.org/drawingml/2006/main" noGrp="1"/>
          </p:cNvSpPr>
          <p:nvPr/>
        </p:nvSpPr>
        <p:spPr>
          <a:xfrm xmlns:a="http://schemas.openxmlformats.org/drawingml/2006/main">
            <a:off x="1809750" y="375285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7" name="">
            <a:extLst xmlns:a="http://schemas.openxmlformats.org/drawingml/2006/main">
              <a:ext uri="{FF2B5EF4-FFF2-40B4-BE49-F238E27FC236}">
                <a16:creationId xmlns:a16="http://schemas.microsoft.com/office/drawing/2014/main" id="{90EF5B5E-C154-43A2-9C87-8B4210F2656E}"/>
              </a:ext>
            </a:extLst>
          </p:cNvPr>
          <p:cNvSpPr>
            <a:spLocks xmlns:a="http://schemas.openxmlformats.org/drawingml/2006/main" noGrp="1"/>
          </p:cNvSpPr>
          <p:nvPr/>
        </p:nvSpPr>
        <p:spPr>
          <a:xfrm xmlns:a="http://schemas.openxmlformats.org/drawingml/2006/main">
            <a:off x="1809750" y="375285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18" name="">
            <a:extLst xmlns:a="http://schemas.openxmlformats.org/drawingml/2006/main">
              <a:ext uri="{FF2B5EF4-FFF2-40B4-BE49-F238E27FC236}">
                <a16:creationId xmlns:a16="http://schemas.microsoft.com/office/drawing/2014/main" id="{B62239F9-5834-4398-AED9-A0F39C08F443}"/>
              </a:ext>
            </a:extLst>
          </p:cNvPr>
          <p:cNvSpPr>
            <a:spLocks xmlns:a="http://schemas.openxmlformats.org/drawingml/2006/main" noGrp="1"/>
          </p:cNvSpPr>
          <p:nvPr/>
        </p:nvSpPr>
        <p:spPr>
          <a:xfrm xmlns:a="http://schemas.openxmlformats.org/drawingml/2006/main">
            <a:off x="2324100" y="376237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4. Quasi-Kausalität</a:t>
            </a:r>
          </a:p>
        </p:txBody>
      </p:sp>
      <p:sp>
        <p:nvSpPr>
          <p:cNvPr id="19" name="">
            <a:extLst xmlns:a="http://schemas.openxmlformats.org/drawingml/2006/main">
              <a:ext uri="{FF2B5EF4-FFF2-40B4-BE49-F238E27FC236}">
                <a16:creationId xmlns:a16="http://schemas.microsoft.com/office/drawing/2014/main" id="{71A6D502-2020-426F-8A55-DA02EF9FB0E0}"/>
              </a:ext>
            </a:extLst>
          </p:cNvPr>
          <p:cNvSpPr>
            <a:spLocks xmlns:a="http://schemas.openxmlformats.org/drawingml/2006/main" noGrp="1"/>
          </p:cNvSpPr>
          <p:nvPr/>
        </p:nvSpPr>
        <p:spPr>
          <a:xfrm xmlns:a="http://schemas.openxmlformats.org/drawingml/2006/main">
            <a:off x="4819650" y="376237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Erfolg wäre bei Handlung entfallen.</a:t>
            </a:r>
          </a:p>
        </p:txBody>
      </p:sp>
      <p:sp>
        <p:nvSpPr>
          <p:cNvPr id="20" name="">
            <a:extLst xmlns:a="http://schemas.openxmlformats.org/drawingml/2006/main">
              <a:ext uri="{FF2B5EF4-FFF2-40B4-BE49-F238E27FC236}">
                <a16:creationId xmlns:a16="http://schemas.microsoft.com/office/drawing/2014/main" id="{E0AC9C27-2A0B-4653-8172-CBC171AA9DAF}"/>
              </a:ext>
            </a:extLst>
          </p:cNvPr>
          <p:cNvSpPr>
            <a:spLocks xmlns:a="http://schemas.openxmlformats.org/drawingml/2006/main" noGrp="1"/>
          </p:cNvSpPr>
          <p:nvPr/>
        </p:nvSpPr>
        <p:spPr>
          <a:xfrm xmlns:a="http://schemas.openxmlformats.org/drawingml/2006/main">
            <a:off x="1809750" y="435292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1" name="">
            <a:extLst xmlns:a="http://schemas.openxmlformats.org/drawingml/2006/main">
              <a:ext uri="{FF2B5EF4-FFF2-40B4-BE49-F238E27FC236}">
                <a16:creationId xmlns:a16="http://schemas.microsoft.com/office/drawing/2014/main" id="{F18B4E9E-4AB2-4A9E-A188-56F60C74B0A2}"/>
              </a:ext>
            </a:extLst>
          </p:cNvPr>
          <p:cNvSpPr>
            <a:spLocks xmlns:a="http://schemas.openxmlformats.org/drawingml/2006/main" noGrp="1"/>
          </p:cNvSpPr>
          <p:nvPr/>
        </p:nvSpPr>
        <p:spPr>
          <a:xfrm xmlns:a="http://schemas.openxmlformats.org/drawingml/2006/main">
            <a:off x="1809750" y="43529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5</a:t>
            </a:r>
          </a:p>
        </p:txBody>
      </p:sp>
      <p:sp>
        <p:nvSpPr>
          <p:cNvPr id="22" name="">
            <a:extLst xmlns:a="http://schemas.openxmlformats.org/drawingml/2006/main">
              <a:ext uri="{FF2B5EF4-FFF2-40B4-BE49-F238E27FC236}">
                <a16:creationId xmlns:a16="http://schemas.microsoft.com/office/drawing/2014/main" id="{15C4C14F-7A86-4DB8-8B05-214C0125DE9D}"/>
              </a:ext>
            </a:extLst>
          </p:cNvPr>
          <p:cNvSpPr>
            <a:spLocks xmlns:a="http://schemas.openxmlformats.org/drawingml/2006/main" noGrp="1"/>
          </p:cNvSpPr>
          <p:nvPr/>
        </p:nvSpPr>
        <p:spPr>
          <a:xfrm xmlns:a="http://schemas.openxmlformats.org/drawingml/2006/main">
            <a:off x="2324100" y="436245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5. Zurechnung/Entsprechung</a:t>
            </a:r>
          </a:p>
        </p:txBody>
      </p:sp>
      <p:sp>
        <p:nvSpPr>
          <p:cNvPr id="23" name="">
            <a:extLst xmlns:a="http://schemas.openxmlformats.org/drawingml/2006/main">
              <a:ext uri="{FF2B5EF4-FFF2-40B4-BE49-F238E27FC236}">
                <a16:creationId xmlns:a16="http://schemas.microsoft.com/office/drawing/2014/main" id="{FD05374C-AC27-44F4-8C22-74F64C6E0730}"/>
              </a:ext>
            </a:extLst>
          </p:cNvPr>
          <p:cNvSpPr>
            <a:spLocks xmlns:a="http://schemas.openxmlformats.org/drawingml/2006/main" noGrp="1"/>
          </p:cNvSpPr>
          <p:nvPr/>
        </p:nvSpPr>
        <p:spPr>
          <a:xfrm xmlns:a="http://schemas.openxmlformats.org/drawingml/2006/main">
            <a:off x="4819650" y="436245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Pflichtzweck und Gleichstellung.</a:t>
            </a:r>
          </a:p>
        </p:txBody>
      </p:sp>
      <p:sp>
        <p:nvSpPr>
          <p:cNvPr id="24" name="">
            <a:extLst xmlns:a="http://schemas.openxmlformats.org/drawingml/2006/main">
              <a:ext uri="{FF2B5EF4-FFF2-40B4-BE49-F238E27FC236}">
                <a16:creationId xmlns:a16="http://schemas.microsoft.com/office/drawing/2014/main" id="{C95CFC8A-80B3-4618-B00A-81DF38C96015}"/>
              </a:ext>
            </a:extLst>
          </p:cNvPr>
          <p:cNvSpPr>
            <a:spLocks xmlns:a="http://schemas.openxmlformats.org/drawingml/2006/main" noGrp="1"/>
          </p:cNvSpPr>
          <p:nvPr/>
        </p:nvSpPr>
        <p:spPr>
          <a:xfrm xmlns:a="http://schemas.openxmlformats.org/drawingml/2006/main">
            <a:off x="1809750" y="495300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25" name="">
            <a:extLst xmlns:a="http://schemas.openxmlformats.org/drawingml/2006/main">
              <a:ext uri="{FF2B5EF4-FFF2-40B4-BE49-F238E27FC236}">
                <a16:creationId xmlns:a16="http://schemas.microsoft.com/office/drawing/2014/main" id="{A39B7AFA-305F-4E0E-9C9E-FD10272001C8}"/>
              </a:ext>
            </a:extLst>
          </p:cNvPr>
          <p:cNvSpPr>
            <a:spLocks xmlns:a="http://schemas.openxmlformats.org/drawingml/2006/main" noGrp="1"/>
          </p:cNvSpPr>
          <p:nvPr/>
        </p:nvSpPr>
        <p:spPr>
          <a:xfrm xmlns:a="http://schemas.openxmlformats.org/drawingml/2006/main">
            <a:off x="1809750" y="495300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6</a:t>
            </a:r>
          </a:p>
        </p:txBody>
      </p:sp>
      <p:sp>
        <p:nvSpPr>
          <p:cNvPr id="26" name="">
            <a:extLst xmlns:a="http://schemas.openxmlformats.org/drawingml/2006/main">
              <a:ext uri="{FF2B5EF4-FFF2-40B4-BE49-F238E27FC236}">
                <a16:creationId xmlns:a16="http://schemas.microsoft.com/office/drawing/2014/main" id="{67CCCED0-4216-4C76-8920-6E58AB137C4F}"/>
              </a:ext>
            </a:extLst>
          </p:cNvPr>
          <p:cNvSpPr>
            <a:spLocks xmlns:a="http://schemas.openxmlformats.org/drawingml/2006/main" noGrp="1"/>
          </p:cNvSpPr>
          <p:nvPr/>
        </p:nvSpPr>
        <p:spPr>
          <a:xfrm xmlns:a="http://schemas.openxmlformats.org/drawingml/2006/main">
            <a:off x="2324100" y="496252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6. Subjektiv/Schuld</a:t>
            </a:r>
          </a:p>
        </p:txBody>
      </p:sp>
      <p:sp>
        <p:nvSpPr>
          <p:cNvPr id="27" name="">
            <a:extLst xmlns:a="http://schemas.openxmlformats.org/drawingml/2006/main">
              <a:ext uri="{FF2B5EF4-FFF2-40B4-BE49-F238E27FC236}">
                <a16:creationId xmlns:a16="http://schemas.microsoft.com/office/drawing/2014/main" id="{D0966B41-4827-401E-9851-44B39B75B614}"/>
              </a:ext>
            </a:extLst>
          </p:cNvPr>
          <p:cNvSpPr>
            <a:spLocks xmlns:a="http://schemas.openxmlformats.org/drawingml/2006/main" noGrp="1"/>
          </p:cNvSpPr>
          <p:nvPr/>
        </p:nvSpPr>
        <p:spPr>
          <a:xfrm xmlns:a="http://schemas.openxmlformats.org/drawingml/2006/main">
            <a:off x="4819650" y="496252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Vorsatz oder Fahrlässigkeit, Zumutbarkeit.</a:t>
            </a:r>
          </a:p>
        </p:txBody>
      </p:sp>
      <p:sp>
        <p:nvSpPr>
          <p:cNvPr id="28" name="">
            <a:extLst xmlns:a="http://schemas.openxmlformats.org/drawingml/2006/main">
              <a:ext uri="{FF2B5EF4-FFF2-40B4-BE49-F238E27FC236}">
                <a16:creationId xmlns:a16="http://schemas.microsoft.com/office/drawing/2014/main" id="{C59BBA39-0847-4480-982D-3DF71DCAA28E}"/>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9" name="">
            <a:extLst xmlns:a="http://schemas.openxmlformats.org/drawingml/2006/main">
              <a:ext uri="{FF2B5EF4-FFF2-40B4-BE49-F238E27FC236}">
                <a16:creationId xmlns:a16="http://schemas.microsoft.com/office/drawing/2014/main" id="{F781F454-2F06-420D-B8F4-262A2B487DDF}"/>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Allgemeine Berufszugehörigkeit genügt nicht ohne konkrete Pflichtbeziehung.</a:t>
            </a:r>
          </a:p>
        </p:txBody>
      </p:sp>
    </p:spTree>
    <p:extLst>
      <p:ext uri="{BB962C8B-B14F-4D97-AF65-F5344CB8AC3E}">
        <p14:creationId xmlns:p14="http://schemas.microsoft.com/office/powerpoint/2010/main" val="43637646"/>
      </p:ext>
    </p:extLst>
  </p:cSld>
</p:sld>
</file>

<file path=ppt/slides/slide409.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ZPO auf einer Folie</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VERFAHREN VERSTEHEN</a:t>
            </a:r>
            <a:endParaRPr/>
          </a:p>
        </p:txBody>
      </p:sp>
      <p:sp>
        <p:nvSpPr>
          <p:cNvPr id="4" name="">
            <a:extLst xmlns:a="http://schemas.openxmlformats.org/drawingml/2006/main">
              <a:ext uri="{FF2B5EF4-FFF2-40B4-BE49-F238E27FC236}">
                <a16:creationId xmlns:a16="http://schemas.microsoft.com/office/drawing/2014/main" id="{C7BAD0C0-31B9-4E23-BBCB-C6E3973109CF}"/>
              </a:ext>
            </a:extLst>
          </p:cNvPr>
          <p:cNvSpPr>
            <a:spLocks xmlns:a="http://schemas.openxmlformats.org/drawingml/2006/main" noGrp="1"/>
          </p:cNvSpPr>
          <p:nvPr/>
        </p:nvSpPr>
        <p:spPr>
          <a:xfrm xmlns:a="http://schemas.openxmlformats.org/drawingml/2006/main">
            <a:off x="1809750" y="1885950"/>
            <a:ext cx="9525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15">
                <a:solidFill>
                  <a:srgbClr val="667680"/>
                </a:solidFill>
              </a:defRPr>
            </a:pPr>
            <a:r>
              <a:rPr sz="1215">
                <a:solidFill>
                  <a:srgbClr val="667680"/>
                </a:solidFill>
              </a:rPr>
              <a:t>Zivilprozess = Antrag + Parteivortrag + Beweis + Entscheidung.</a:t>
            </a:r>
          </a:p>
        </p:txBody>
      </p:sp>
      <p:sp>
        <p:nvSpPr>
          <p:cNvPr id="5" name="">
            <a:extLst xmlns:a="http://schemas.openxmlformats.org/drawingml/2006/main">
              <a:ext uri="{FF2B5EF4-FFF2-40B4-BE49-F238E27FC236}">
                <a16:creationId xmlns:a16="http://schemas.microsoft.com/office/drawing/2014/main" id="{CFC8A23F-F62B-40A8-BB1F-23C430DB01BD}"/>
              </a:ext>
            </a:extLst>
          </p:cNvPr>
          <p:cNvSpPr>
            <a:spLocks xmlns:a="http://schemas.openxmlformats.org/drawingml/2006/main" noGrp="1"/>
          </p:cNvSpPr>
          <p:nvPr/>
        </p:nvSpPr>
        <p:spPr>
          <a:xfrm xmlns:a="http://schemas.openxmlformats.org/drawingml/2006/main">
            <a:off x="1981200" y="2952750"/>
            <a:ext cx="9182100" cy="0"/>
          </a:xfrm>
          <a:prstGeom xmlns:a="http://schemas.openxmlformats.org/drawingml/2006/main" prst="line">
            <a:avLst/>
          </a:prstGeom>
          <a:noFill xmlns:a="http://schemas.openxmlformats.org/drawingml/2006/main"/>
          <a:ln xmlns:a="http://schemas.openxmlformats.org/drawingml/2006/main" w="28575">
            <a:solidFill>
              <a:srgbClr val="B9CAD2"/>
            </a:solidFill>
            <a:prstDash val="solid"/>
          </a:ln>
        </p:spPr>
      </p:sp>
      <p:sp>
        <p:nvSpPr>
          <p:cNvPr id="6" name="">
            <a:extLst xmlns:a="http://schemas.openxmlformats.org/drawingml/2006/main">
              <a:ext uri="{FF2B5EF4-FFF2-40B4-BE49-F238E27FC236}">
                <a16:creationId xmlns:a16="http://schemas.microsoft.com/office/drawing/2014/main" id="{78246652-0567-438A-BAE0-1CE609D597B5}"/>
              </a:ext>
            </a:extLst>
          </p:cNvPr>
          <p:cNvSpPr>
            <a:spLocks xmlns:a="http://schemas.openxmlformats.org/drawingml/2006/main" noGrp="1"/>
          </p:cNvSpPr>
          <p:nvPr/>
        </p:nvSpPr>
        <p:spPr>
          <a:xfrm xmlns:a="http://schemas.openxmlformats.org/drawingml/2006/main">
            <a:off x="1809750" y="2495550"/>
            <a:ext cx="1508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Klage vorbereiten</a:t>
            </a:r>
          </a:p>
        </p:txBody>
      </p:sp>
      <p:sp>
        <p:nvSpPr>
          <p:cNvPr id="7" name="">
            <a:extLst xmlns:a="http://schemas.openxmlformats.org/drawingml/2006/main">
              <a:ext uri="{FF2B5EF4-FFF2-40B4-BE49-F238E27FC236}">
                <a16:creationId xmlns:a16="http://schemas.microsoft.com/office/drawing/2014/main" id="{F57C8858-ACAA-4327-906D-0B7DC8B136EF}"/>
              </a:ext>
            </a:extLst>
          </p:cNvPr>
          <p:cNvSpPr>
            <a:spLocks xmlns:a="http://schemas.openxmlformats.org/drawingml/2006/main" noGrp="1"/>
          </p:cNvSpPr>
          <p:nvPr/>
        </p:nvSpPr>
        <p:spPr>
          <a:xfrm xmlns:a="http://schemas.openxmlformats.org/drawingml/2006/main">
            <a:off x="2439988" y="2838450"/>
            <a:ext cx="247650" cy="247650"/>
          </a:xfrm>
          <a:prstGeom xmlns:a="http://schemas.openxmlformats.org/drawingml/2006/main" prst="ellipse">
            <a:avLst/>
          </a:prstGeom>
          <a:solidFill xmlns:a="http://schemas.openxmlformats.org/drawingml/2006/main">
            <a:srgbClr val="003F6B"/>
          </a:solidFill>
          <a:ln xmlns:a="http://schemas.openxmlformats.org/drawingml/2006/main" w="19050">
            <a:solidFill>
              <a:srgbClr val="FFFFFF"/>
            </a:solidFill>
            <a:prstDash val="solid"/>
          </a:ln>
        </p:spPr>
      </p:sp>
      <p:sp>
        <p:nvSpPr>
          <p:cNvPr id="8" name="">
            <a:extLst xmlns:a="http://schemas.openxmlformats.org/drawingml/2006/main">
              <a:ext uri="{FF2B5EF4-FFF2-40B4-BE49-F238E27FC236}">
                <a16:creationId xmlns:a16="http://schemas.microsoft.com/office/drawing/2014/main" id="{676CFCED-DFBC-4B63-A147-66CD3782B249}"/>
              </a:ext>
            </a:extLst>
          </p:cNvPr>
          <p:cNvSpPr>
            <a:spLocks xmlns:a="http://schemas.openxmlformats.org/drawingml/2006/main" noGrp="1"/>
          </p:cNvSpPr>
          <p:nvPr/>
        </p:nvSpPr>
        <p:spPr>
          <a:xfrm xmlns:a="http://schemas.openxmlformats.org/drawingml/2006/main">
            <a:off x="1809750" y="3219450"/>
            <a:ext cx="1508125" cy="2000250"/>
          </a:xfrm>
          <a:prstGeom xmlns:a="http://schemas.openxmlformats.org/drawingml/2006/main" prst="roundRect">
            <a:avLst>
              <a:gd name="adj" fmla="val 5053"/>
            </a:avLst>
          </a:prstGeom>
          <a:noFill xmlns:a="http://schemas.openxmlformats.org/drawingml/2006/main"/>
          <a:ln xmlns:a="http://schemas.openxmlformats.org/drawingml/2006/main" w="9525">
            <a:solidFill>
              <a:srgbClr val="00B2BB"/>
            </a:solidFill>
            <a:prstDash val="solid"/>
          </a:ln>
        </p:spPr>
      </p:sp>
      <p:sp>
        <p:nvSpPr>
          <p:cNvPr id="9" name="">
            <a:extLst xmlns:a="http://schemas.openxmlformats.org/drawingml/2006/main">
              <a:ext uri="{FF2B5EF4-FFF2-40B4-BE49-F238E27FC236}">
                <a16:creationId xmlns:a16="http://schemas.microsoft.com/office/drawing/2014/main" id="{0DFA5713-DEE6-4F6E-AB4A-F11B96C7ED7D}"/>
              </a:ext>
            </a:extLst>
          </p:cNvPr>
          <p:cNvSpPr>
            <a:spLocks xmlns:a="http://schemas.openxmlformats.org/drawingml/2006/main" noGrp="1"/>
          </p:cNvSpPr>
          <p:nvPr/>
        </p:nvSpPr>
        <p:spPr>
          <a:xfrm xmlns:a="http://schemas.openxmlformats.org/drawingml/2006/main">
            <a:off x="1905000" y="3314700"/>
            <a:ext cx="13176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Parteien, Gericht, Antrag, Tatsachen, Beweise, Schaden, Verjährung.</a:t>
            </a:r>
          </a:p>
        </p:txBody>
      </p:sp>
      <p:sp>
        <p:nvSpPr>
          <p:cNvPr id="10" name="">
            <a:extLst xmlns:a="http://schemas.openxmlformats.org/drawingml/2006/main">
              <a:ext uri="{FF2B5EF4-FFF2-40B4-BE49-F238E27FC236}">
                <a16:creationId xmlns:a16="http://schemas.microsoft.com/office/drawing/2014/main" id="{EFE807BD-CAC8-4665-A27D-EBE28781512E}"/>
              </a:ext>
            </a:extLst>
          </p:cNvPr>
          <p:cNvSpPr>
            <a:spLocks xmlns:a="http://schemas.openxmlformats.org/drawingml/2006/main" noGrp="1"/>
          </p:cNvSpPr>
          <p:nvPr/>
        </p:nvSpPr>
        <p:spPr>
          <a:xfrm xmlns:a="http://schemas.openxmlformats.org/drawingml/2006/main">
            <a:off x="3413125" y="2495550"/>
            <a:ext cx="1508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Zustellen und erwidern</a:t>
            </a:r>
          </a:p>
        </p:txBody>
      </p:sp>
      <p:sp>
        <p:nvSpPr>
          <p:cNvPr id="11" name="">
            <a:extLst xmlns:a="http://schemas.openxmlformats.org/drawingml/2006/main">
              <a:ext uri="{FF2B5EF4-FFF2-40B4-BE49-F238E27FC236}">
                <a16:creationId xmlns:a16="http://schemas.microsoft.com/office/drawing/2014/main" id="{AF1645AC-976E-4EE8-A12E-1865EBD1A7AC}"/>
              </a:ext>
            </a:extLst>
          </p:cNvPr>
          <p:cNvSpPr>
            <a:spLocks xmlns:a="http://schemas.openxmlformats.org/drawingml/2006/main" noGrp="1"/>
          </p:cNvSpPr>
          <p:nvPr/>
        </p:nvSpPr>
        <p:spPr>
          <a:xfrm xmlns:a="http://schemas.openxmlformats.org/drawingml/2006/main">
            <a:off x="4043363" y="2838450"/>
            <a:ext cx="247650" cy="24765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12" name="">
            <a:extLst xmlns:a="http://schemas.openxmlformats.org/drawingml/2006/main">
              <a:ext uri="{FF2B5EF4-FFF2-40B4-BE49-F238E27FC236}">
                <a16:creationId xmlns:a16="http://schemas.microsoft.com/office/drawing/2014/main" id="{A055BF76-ED60-4812-89D8-97E07AC50570}"/>
              </a:ext>
            </a:extLst>
          </p:cNvPr>
          <p:cNvSpPr>
            <a:spLocks xmlns:a="http://schemas.openxmlformats.org/drawingml/2006/main" noGrp="1"/>
          </p:cNvSpPr>
          <p:nvPr/>
        </p:nvSpPr>
        <p:spPr>
          <a:xfrm xmlns:a="http://schemas.openxmlformats.org/drawingml/2006/main">
            <a:off x="3413125" y="3219450"/>
            <a:ext cx="1508125" cy="2000250"/>
          </a:xfrm>
          <a:prstGeom xmlns:a="http://schemas.openxmlformats.org/drawingml/2006/main" prst="roundRect">
            <a:avLst>
              <a:gd name="adj" fmla="val 5053"/>
            </a:avLst>
          </a:prstGeom>
          <a:noFill xmlns:a="http://schemas.openxmlformats.org/drawingml/2006/main"/>
          <a:ln xmlns:a="http://schemas.openxmlformats.org/drawingml/2006/main" w="9525">
            <a:solidFill>
              <a:srgbClr val="003F6B"/>
            </a:solidFill>
            <a:prstDash val="solid"/>
          </a:ln>
        </p:spPr>
      </p:sp>
      <p:sp>
        <p:nvSpPr>
          <p:cNvPr id="13" name="">
            <a:extLst xmlns:a="http://schemas.openxmlformats.org/drawingml/2006/main">
              <a:ext uri="{FF2B5EF4-FFF2-40B4-BE49-F238E27FC236}">
                <a16:creationId xmlns:a16="http://schemas.microsoft.com/office/drawing/2014/main" id="{39CA03FE-2002-4839-B0D9-D08D1A3BC063}"/>
              </a:ext>
            </a:extLst>
          </p:cNvPr>
          <p:cNvSpPr>
            <a:spLocks xmlns:a="http://schemas.openxmlformats.org/drawingml/2006/main" noGrp="1"/>
          </p:cNvSpPr>
          <p:nvPr/>
        </p:nvSpPr>
        <p:spPr>
          <a:xfrm xmlns:a="http://schemas.openxmlformats.org/drawingml/2006/main">
            <a:off x="3508375" y="3314700"/>
            <a:ext cx="13176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Rechtshängigkeit, Fristen, substantiierter Gegenvortrag.</a:t>
            </a:r>
          </a:p>
        </p:txBody>
      </p:sp>
      <p:sp>
        <p:nvSpPr>
          <p:cNvPr id="14" name="">
            <a:extLst xmlns:a="http://schemas.openxmlformats.org/drawingml/2006/main">
              <a:ext uri="{FF2B5EF4-FFF2-40B4-BE49-F238E27FC236}">
                <a16:creationId xmlns:a16="http://schemas.microsoft.com/office/drawing/2014/main" id="{D80DE6E8-42DD-4ECA-A034-F76AA9DEACA3}"/>
              </a:ext>
            </a:extLst>
          </p:cNvPr>
          <p:cNvSpPr>
            <a:spLocks xmlns:a="http://schemas.openxmlformats.org/drawingml/2006/main" noGrp="1"/>
          </p:cNvSpPr>
          <p:nvPr/>
        </p:nvSpPr>
        <p:spPr>
          <a:xfrm xmlns:a="http://schemas.openxmlformats.org/drawingml/2006/main">
            <a:off x="5016500" y="2495550"/>
            <a:ext cx="1508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Verhandeln</a:t>
            </a:r>
          </a:p>
        </p:txBody>
      </p:sp>
      <p:sp>
        <p:nvSpPr>
          <p:cNvPr id="15" name="">
            <a:extLst xmlns:a="http://schemas.openxmlformats.org/drawingml/2006/main">
              <a:ext uri="{FF2B5EF4-FFF2-40B4-BE49-F238E27FC236}">
                <a16:creationId xmlns:a16="http://schemas.microsoft.com/office/drawing/2014/main" id="{5632977D-F5E6-496B-AA45-9F160DCFDBD7}"/>
              </a:ext>
            </a:extLst>
          </p:cNvPr>
          <p:cNvSpPr>
            <a:spLocks xmlns:a="http://schemas.openxmlformats.org/drawingml/2006/main" noGrp="1"/>
          </p:cNvSpPr>
          <p:nvPr/>
        </p:nvSpPr>
        <p:spPr>
          <a:xfrm xmlns:a="http://schemas.openxmlformats.org/drawingml/2006/main">
            <a:off x="5646738" y="2838450"/>
            <a:ext cx="247650" cy="24765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16" name="">
            <a:extLst xmlns:a="http://schemas.openxmlformats.org/drawingml/2006/main">
              <a:ext uri="{FF2B5EF4-FFF2-40B4-BE49-F238E27FC236}">
                <a16:creationId xmlns:a16="http://schemas.microsoft.com/office/drawing/2014/main" id="{6DD1CDCE-9403-4369-867F-6D4AB6586200}"/>
              </a:ext>
            </a:extLst>
          </p:cNvPr>
          <p:cNvSpPr>
            <a:spLocks xmlns:a="http://schemas.openxmlformats.org/drawingml/2006/main" noGrp="1"/>
          </p:cNvSpPr>
          <p:nvPr/>
        </p:nvSpPr>
        <p:spPr>
          <a:xfrm xmlns:a="http://schemas.openxmlformats.org/drawingml/2006/main">
            <a:off x="5016500" y="3219450"/>
            <a:ext cx="1508125" cy="2000250"/>
          </a:xfrm>
          <a:prstGeom xmlns:a="http://schemas.openxmlformats.org/drawingml/2006/main" prst="roundRect">
            <a:avLst>
              <a:gd name="adj" fmla="val 5053"/>
            </a:avLst>
          </a:prstGeom>
          <a:noFill xmlns:a="http://schemas.openxmlformats.org/drawingml/2006/main"/>
          <a:ln xmlns:a="http://schemas.openxmlformats.org/drawingml/2006/main" w="9525">
            <a:solidFill>
              <a:srgbClr val="00B2BB"/>
            </a:solidFill>
            <a:prstDash val="solid"/>
          </a:ln>
        </p:spPr>
      </p:sp>
      <p:sp>
        <p:nvSpPr>
          <p:cNvPr id="17" name="">
            <a:extLst xmlns:a="http://schemas.openxmlformats.org/drawingml/2006/main">
              <a:ext uri="{FF2B5EF4-FFF2-40B4-BE49-F238E27FC236}">
                <a16:creationId xmlns:a16="http://schemas.microsoft.com/office/drawing/2014/main" id="{C24FCD1D-4474-4D2E-A41D-5E58D02D080F}"/>
              </a:ext>
            </a:extLst>
          </p:cNvPr>
          <p:cNvSpPr>
            <a:spLocks xmlns:a="http://schemas.openxmlformats.org/drawingml/2006/main" noGrp="1"/>
          </p:cNvSpPr>
          <p:nvPr/>
        </p:nvSpPr>
        <p:spPr>
          <a:xfrm xmlns:a="http://schemas.openxmlformats.org/drawingml/2006/main">
            <a:off x="5111750" y="3314700"/>
            <a:ext cx="13176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Güte, Hinweise, Anträge und Streitstoff strukturieren.</a:t>
            </a:r>
          </a:p>
        </p:txBody>
      </p:sp>
      <p:sp>
        <p:nvSpPr>
          <p:cNvPr id="18" name="">
            <a:extLst xmlns:a="http://schemas.openxmlformats.org/drawingml/2006/main">
              <a:ext uri="{FF2B5EF4-FFF2-40B4-BE49-F238E27FC236}">
                <a16:creationId xmlns:a16="http://schemas.microsoft.com/office/drawing/2014/main" id="{186532F8-FBA2-443D-B0A8-6E0790989861}"/>
              </a:ext>
            </a:extLst>
          </p:cNvPr>
          <p:cNvSpPr>
            <a:spLocks xmlns:a="http://schemas.openxmlformats.org/drawingml/2006/main" noGrp="1"/>
          </p:cNvSpPr>
          <p:nvPr/>
        </p:nvSpPr>
        <p:spPr>
          <a:xfrm xmlns:a="http://schemas.openxmlformats.org/drawingml/2006/main">
            <a:off x="6619875" y="2495550"/>
            <a:ext cx="1508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Beweis erheben</a:t>
            </a:r>
          </a:p>
        </p:txBody>
      </p:sp>
      <p:sp>
        <p:nvSpPr>
          <p:cNvPr id="19" name="">
            <a:extLst xmlns:a="http://schemas.openxmlformats.org/drawingml/2006/main">
              <a:ext uri="{FF2B5EF4-FFF2-40B4-BE49-F238E27FC236}">
                <a16:creationId xmlns:a16="http://schemas.microsoft.com/office/drawing/2014/main" id="{E1420023-9AF7-4016-AD9E-48F8A6D9568E}"/>
              </a:ext>
            </a:extLst>
          </p:cNvPr>
          <p:cNvSpPr>
            <a:spLocks xmlns:a="http://schemas.openxmlformats.org/drawingml/2006/main" noGrp="1"/>
          </p:cNvSpPr>
          <p:nvPr/>
        </p:nvSpPr>
        <p:spPr>
          <a:xfrm xmlns:a="http://schemas.openxmlformats.org/drawingml/2006/main">
            <a:off x="7250113" y="2838450"/>
            <a:ext cx="247650" cy="24765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20" name="">
            <a:extLst xmlns:a="http://schemas.openxmlformats.org/drawingml/2006/main">
              <a:ext uri="{FF2B5EF4-FFF2-40B4-BE49-F238E27FC236}">
                <a16:creationId xmlns:a16="http://schemas.microsoft.com/office/drawing/2014/main" id="{E451330A-2111-4235-943D-BE82FD12308D}"/>
              </a:ext>
            </a:extLst>
          </p:cNvPr>
          <p:cNvSpPr>
            <a:spLocks xmlns:a="http://schemas.openxmlformats.org/drawingml/2006/main" noGrp="1"/>
          </p:cNvSpPr>
          <p:nvPr/>
        </p:nvSpPr>
        <p:spPr>
          <a:xfrm xmlns:a="http://schemas.openxmlformats.org/drawingml/2006/main">
            <a:off x="6619875" y="3219450"/>
            <a:ext cx="1508125" cy="2000250"/>
          </a:xfrm>
          <a:prstGeom xmlns:a="http://schemas.openxmlformats.org/drawingml/2006/main" prst="roundRect">
            <a:avLst>
              <a:gd name="adj" fmla="val 5053"/>
            </a:avLst>
          </a:prstGeom>
          <a:noFill xmlns:a="http://schemas.openxmlformats.org/drawingml/2006/main"/>
          <a:ln xmlns:a="http://schemas.openxmlformats.org/drawingml/2006/main" w="9525">
            <a:solidFill>
              <a:srgbClr val="003F6B"/>
            </a:solidFill>
            <a:prstDash val="solid"/>
          </a:ln>
        </p:spPr>
      </p:sp>
      <p:sp>
        <p:nvSpPr>
          <p:cNvPr id="21" name="">
            <a:extLst xmlns:a="http://schemas.openxmlformats.org/drawingml/2006/main">
              <a:ext uri="{FF2B5EF4-FFF2-40B4-BE49-F238E27FC236}">
                <a16:creationId xmlns:a16="http://schemas.microsoft.com/office/drawing/2014/main" id="{1B5DB74B-464D-4D0B-84C1-39A8B44281B7}"/>
              </a:ext>
            </a:extLst>
          </p:cNvPr>
          <p:cNvSpPr>
            <a:spLocks xmlns:a="http://schemas.openxmlformats.org/drawingml/2006/main" noGrp="1"/>
          </p:cNvSpPr>
          <p:nvPr/>
        </p:nvSpPr>
        <p:spPr>
          <a:xfrm xmlns:a="http://schemas.openxmlformats.org/drawingml/2006/main">
            <a:off x="6715125" y="3314700"/>
            <a:ext cx="13176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Zeugen, Urkunden, Sachverständige; § 286/§ 287 und § 630h beachten.</a:t>
            </a:r>
          </a:p>
        </p:txBody>
      </p:sp>
      <p:sp>
        <p:nvSpPr>
          <p:cNvPr id="22" name="">
            <a:extLst xmlns:a="http://schemas.openxmlformats.org/drawingml/2006/main">
              <a:ext uri="{FF2B5EF4-FFF2-40B4-BE49-F238E27FC236}">
                <a16:creationId xmlns:a16="http://schemas.microsoft.com/office/drawing/2014/main" id="{44863863-2DA1-453D-A6AC-9F0285D67465}"/>
              </a:ext>
            </a:extLst>
          </p:cNvPr>
          <p:cNvSpPr>
            <a:spLocks xmlns:a="http://schemas.openxmlformats.org/drawingml/2006/main" noGrp="1"/>
          </p:cNvSpPr>
          <p:nvPr/>
        </p:nvSpPr>
        <p:spPr>
          <a:xfrm xmlns:a="http://schemas.openxmlformats.org/drawingml/2006/main">
            <a:off x="8223250" y="2495550"/>
            <a:ext cx="1508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Beenden</a:t>
            </a:r>
          </a:p>
        </p:txBody>
      </p:sp>
      <p:sp>
        <p:nvSpPr>
          <p:cNvPr id="23" name="">
            <a:extLst xmlns:a="http://schemas.openxmlformats.org/drawingml/2006/main">
              <a:ext uri="{FF2B5EF4-FFF2-40B4-BE49-F238E27FC236}">
                <a16:creationId xmlns:a16="http://schemas.microsoft.com/office/drawing/2014/main" id="{0611C161-B3C7-4298-AE10-F3067254D0D4}"/>
              </a:ext>
            </a:extLst>
          </p:cNvPr>
          <p:cNvSpPr>
            <a:spLocks xmlns:a="http://schemas.openxmlformats.org/drawingml/2006/main" noGrp="1"/>
          </p:cNvSpPr>
          <p:nvPr/>
        </p:nvSpPr>
        <p:spPr>
          <a:xfrm xmlns:a="http://schemas.openxmlformats.org/drawingml/2006/main">
            <a:off x="8853488" y="2838450"/>
            <a:ext cx="247650" cy="24765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24" name="">
            <a:extLst xmlns:a="http://schemas.openxmlformats.org/drawingml/2006/main">
              <a:ext uri="{FF2B5EF4-FFF2-40B4-BE49-F238E27FC236}">
                <a16:creationId xmlns:a16="http://schemas.microsoft.com/office/drawing/2014/main" id="{14097DD3-1B83-4CD4-BFE7-A12559A84874}"/>
              </a:ext>
            </a:extLst>
          </p:cNvPr>
          <p:cNvSpPr>
            <a:spLocks xmlns:a="http://schemas.openxmlformats.org/drawingml/2006/main" noGrp="1"/>
          </p:cNvSpPr>
          <p:nvPr/>
        </p:nvSpPr>
        <p:spPr>
          <a:xfrm xmlns:a="http://schemas.openxmlformats.org/drawingml/2006/main">
            <a:off x="8223250" y="3219450"/>
            <a:ext cx="1508125" cy="2000250"/>
          </a:xfrm>
          <a:prstGeom xmlns:a="http://schemas.openxmlformats.org/drawingml/2006/main" prst="roundRect">
            <a:avLst>
              <a:gd name="adj" fmla="val 5053"/>
            </a:avLst>
          </a:prstGeom>
          <a:noFill xmlns:a="http://schemas.openxmlformats.org/drawingml/2006/main"/>
          <a:ln xmlns:a="http://schemas.openxmlformats.org/drawingml/2006/main" w="9525">
            <a:solidFill>
              <a:srgbClr val="00B2BB"/>
            </a:solidFill>
            <a:prstDash val="solid"/>
          </a:ln>
        </p:spPr>
      </p:sp>
      <p:sp>
        <p:nvSpPr>
          <p:cNvPr id="25" name="">
            <a:extLst xmlns:a="http://schemas.openxmlformats.org/drawingml/2006/main">
              <a:ext uri="{FF2B5EF4-FFF2-40B4-BE49-F238E27FC236}">
                <a16:creationId xmlns:a16="http://schemas.microsoft.com/office/drawing/2014/main" id="{824875ED-0412-45BB-B41D-81D1B98E3666}"/>
              </a:ext>
            </a:extLst>
          </p:cNvPr>
          <p:cNvSpPr>
            <a:spLocks xmlns:a="http://schemas.openxmlformats.org/drawingml/2006/main" noGrp="1"/>
          </p:cNvSpPr>
          <p:nvPr/>
        </p:nvSpPr>
        <p:spPr>
          <a:xfrm xmlns:a="http://schemas.openxmlformats.org/drawingml/2006/main">
            <a:off x="8318500" y="3314700"/>
            <a:ext cx="13176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Vergleich oder Urteil; Kosten, Rechtsmittel, Rechtskraft.</a:t>
            </a:r>
          </a:p>
        </p:txBody>
      </p:sp>
      <p:sp>
        <p:nvSpPr>
          <p:cNvPr id="26" name="">
            <a:extLst xmlns:a="http://schemas.openxmlformats.org/drawingml/2006/main">
              <a:ext uri="{FF2B5EF4-FFF2-40B4-BE49-F238E27FC236}">
                <a16:creationId xmlns:a16="http://schemas.microsoft.com/office/drawing/2014/main" id="{CBF61E0B-DC32-4003-A588-7BB33FF8D2F7}"/>
              </a:ext>
            </a:extLst>
          </p:cNvPr>
          <p:cNvSpPr>
            <a:spLocks xmlns:a="http://schemas.openxmlformats.org/drawingml/2006/main" noGrp="1"/>
          </p:cNvSpPr>
          <p:nvPr/>
        </p:nvSpPr>
        <p:spPr>
          <a:xfrm xmlns:a="http://schemas.openxmlformats.org/drawingml/2006/main">
            <a:off x="9826625" y="2495550"/>
            <a:ext cx="1508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Realisieren</a:t>
            </a:r>
          </a:p>
        </p:txBody>
      </p:sp>
      <p:sp>
        <p:nvSpPr>
          <p:cNvPr id="27" name="">
            <a:extLst xmlns:a="http://schemas.openxmlformats.org/drawingml/2006/main">
              <a:ext uri="{FF2B5EF4-FFF2-40B4-BE49-F238E27FC236}">
                <a16:creationId xmlns:a16="http://schemas.microsoft.com/office/drawing/2014/main" id="{760BDCDE-C5B5-4097-83AA-6A13EA7E6808}"/>
              </a:ext>
            </a:extLst>
          </p:cNvPr>
          <p:cNvSpPr>
            <a:spLocks xmlns:a="http://schemas.openxmlformats.org/drawingml/2006/main" noGrp="1"/>
          </p:cNvSpPr>
          <p:nvPr/>
        </p:nvSpPr>
        <p:spPr>
          <a:xfrm xmlns:a="http://schemas.openxmlformats.org/drawingml/2006/main">
            <a:off x="10456863" y="2838450"/>
            <a:ext cx="247650" cy="24765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28" name="">
            <a:extLst xmlns:a="http://schemas.openxmlformats.org/drawingml/2006/main">
              <a:ext uri="{FF2B5EF4-FFF2-40B4-BE49-F238E27FC236}">
                <a16:creationId xmlns:a16="http://schemas.microsoft.com/office/drawing/2014/main" id="{91641666-A649-42FC-ACD7-CC57F6A797B4}"/>
              </a:ext>
            </a:extLst>
          </p:cNvPr>
          <p:cNvSpPr>
            <a:spLocks xmlns:a="http://schemas.openxmlformats.org/drawingml/2006/main" noGrp="1"/>
          </p:cNvSpPr>
          <p:nvPr/>
        </p:nvSpPr>
        <p:spPr>
          <a:xfrm xmlns:a="http://schemas.openxmlformats.org/drawingml/2006/main">
            <a:off x="9826625" y="3219450"/>
            <a:ext cx="1508125" cy="2000250"/>
          </a:xfrm>
          <a:prstGeom xmlns:a="http://schemas.openxmlformats.org/drawingml/2006/main" prst="roundRect">
            <a:avLst>
              <a:gd name="adj" fmla="val 5053"/>
            </a:avLst>
          </a:prstGeom>
          <a:noFill xmlns:a="http://schemas.openxmlformats.org/drawingml/2006/main"/>
          <a:ln xmlns:a="http://schemas.openxmlformats.org/drawingml/2006/main" w="9525">
            <a:solidFill>
              <a:srgbClr val="003F6B"/>
            </a:solidFill>
            <a:prstDash val="solid"/>
          </a:ln>
        </p:spPr>
      </p:sp>
      <p:sp>
        <p:nvSpPr>
          <p:cNvPr id="29" name="">
            <a:extLst xmlns:a="http://schemas.openxmlformats.org/drawingml/2006/main">
              <a:ext uri="{FF2B5EF4-FFF2-40B4-BE49-F238E27FC236}">
                <a16:creationId xmlns:a16="http://schemas.microsoft.com/office/drawing/2014/main" id="{738AA372-9D9E-446C-A9C5-88575C1C3481}"/>
              </a:ext>
            </a:extLst>
          </p:cNvPr>
          <p:cNvSpPr>
            <a:spLocks xmlns:a="http://schemas.openxmlformats.org/drawingml/2006/main" noGrp="1"/>
          </p:cNvSpPr>
          <p:nvPr/>
        </p:nvSpPr>
        <p:spPr>
          <a:xfrm xmlns:a="http://schemas.openxmlformats.org/drawingml/2006/main">
            <a:off x="9921875" y="3314700"/>
            <a:ext cx="13176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Titel erfüllen oder vollstrecken.</a:t>
            </a:r>
          </a:p>
        </p:txBody>
      </p:sp>
      <p:sp>
        <p:nvSpPr>
          <p:cNvPr id="30" name="">
            <a:extLst xmlns:a="http://schemas.openxmlformats.org/drawingml/2006/main">
              <a:ext uri="{FF2B5EF4-FFF2-40B4-BE49-F238E27FC236}">
                <a16:creationId xmlns:a16="http://schemas.microsoft.com/office/drawing/2014/main" id="{E91CD414-A6F4-4E7B-A4BD-F4387C652EEA}"/>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31" name="">
            <a:extLst xmlns:a="http://schemas.openxmlformats.org/drawingml/2006/main">
              <a:ext uri="{FF2B5EF4-FFF2-40B4-BE49-F238E27FC236}">
                <a16:creationId xmlns:a16="http://schemas.microsoft.com/office/drawing/2014/main" id="{14780CB9-113F-4FAC-98C7-B4D8D1AC11A1}"/>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Zivilprozessrisiko entsteht an jeder Station, nicht erst im Urteil.</a:t>
            </a:r>
          </a:p>
        </p:txBody>
      </p:sp>
    </p:spTree>
    <p:extLst>
      <p:ext uri="{BB962C8B-B14F-4D97-AF65-F5344CB8AC3E}">
        <p14:creationId xmlns:p14="http://schemas.microsoft.com/office/powerpoint/2010/main" val="43637646"/>
      </p:ext>
    </p:extLst>
  </p:cSld>
</p:sld>
</file>

<file path=ppt/slides/slide410.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StPO auf einer Folie</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VERFAHREN VERSTEHEN</a:t>
            </a:r>
            <a:endParaRPr/>
          </a:p>
        </p:txBody>
      </p:sp>
      <p:sp>
        <p:nvSpPr>
          <p:cNvPr id="4" name="">
            <a:extLst xmlns:a="http://schemas.openxmlformats.org/drawingml/2006/main">
              <a:ext uri="{FF2B5EF4-FFF2-40B4-BE49-F238E27FC236}">
                <a16:creationId xmlns:a16="http://schemas.microsoft.com/office/drawing/2014/main" id="{B4D5932D-ACED-4779-828D-9D828357171D}"/>
              </a:ext>
            </a:extLst>
          </p:cNvPr>
          <p:cNvSpPr>
            <a:spLocks xmlns:a="http://schemas.openxmlformats.org/drawingml/2006/main" noGrp="1"/>
          </p:cNvSpPr>
          <p:nvPr/>
        </p:nvSpPr>
        <p:spPr>
          <a:xfrm xmlns:a="http://schemas.openxmlformats.org/drawingml/2006/main">
            <a:off x="1809750" y="1885950"/>
            <a:ext cx="9525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15">
                <a:solidFill>
                  <a:srgbClr val="667680"/>
                </a:solidFill>
              </a:defRPr>
            </a:pPr>
            <a:r>
              <a:rPr sz="1215">
                <a:solidFill>
                  <a:srgbClr val="667680"/>
                </a:solidFill>
              </a:rPr>
              <a:t>Strafverfahren = Verdacht + staatliche Ermittlung + individuelle Schuldprüfung.</a:t>
            </a:r>
          </a:p>
        </p:txBody>
      </p:sp>
      <p:sp>
        <p:nvSpPr>
          <p:cNvPr id="5" name="">
            <a:extLst xmlns:a="http://schemas.openxmlformats.org/drawingml/2006/main">
              <a:ext uri="{FF2B5EF4-FFF2-40B4-BE49-F238E27FC236}">
                <a16:creationId xmlns:a16="http://schemas.microsoft.com/office/drawing/2014/main" id="{7A3FFFA2-9A2E-4F5B-8C94-BC81B05939BC}"/>
              </a:ext>
            </a:extLst>
          </p:cNvPr>
          <p:cNvSpPr>
            <a:spLocks xmlns:a="http://schemas.openxmlformats.org/drawingml/2006/main" noGrp="1"/>
          </p:cNvSpPr>
          <p:nvPr/>
        </p:nvSpPr>
        <p:spPr>
          <a:xfrm xmlns:a="http://schemas.openxmlformats.org/drawingml/2006/main">
            <a:off x="1981200" y="2952750"/>
            <a:ext cx="9182100" cy="0"/>
          </a:xfrm>
          <a:prstGeom xmlns:a="http://schemas.openxmlformats.org/drawingml/2006/main" prst="line">
            <a:avLst/>
          </a:prstGeom>
          <a:noFill xmlns:a="http://schemas.openxmlformats.org/drawingml/2006/main"/>
          <a:ln xmlns:a="http://schemas.openxmlformats.org/drawingml/2006/main" w="28575">
            <a:solidFill>
              <a:srgbClr val="B9CAD2"/>
            </a:solidFill>
            <a:prstDash val="solid"/>
          </a:ln>
        </p:spPr>
      </p:sp>
      <p:sp>
        <p:nvSpPr>
          <p:cNvPr id="6" name="">
            <a:extLst xmlns:a="http://schemas.openxmlformats.org/drawingml/2006/main">
              <a:ext uri="{FF2B5EF4-FFF2-40B4-BE49-F238E27FC236}">
                <a16:creationId xmlns:a16="http://schemas.microsoft.com/office/drawing/2014/main" id="{C3A723AB-7043-472D-8E64-40ECA7BF6F99}"/>
              </a:ext>
            </a:extLst>
          </p:cNvPr>
          <p:cNvSpPr>
            <a:spLocks xmlns:a="http://schemas.openxmlformats.org/drawingml/2006/main" noGrp="1"/>
          </p:cNvSpPr>
          <p:nvPr/>
        </p:nvSpPr>
        <p:spPr>
          <a:xfrm xmlns:a="http://schemas.openxmlformats.org/drawingml/2006/main">
            <a:off x="1809750" y="2495550"/>
            <a:ext cx="1508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Anfangsverdacht</a:t>
            </a:r>
          </a:p>
        </p:txBody>
      </p:sp>
      <p:sp>
        <p:nvSpPr>
          <p:cNvPr id="7" name="">
            <a:extLst xmlns:a="http://schemas.openxmlformats.org/drawingml/2006/main">
              <a:ext uri="{FF2B5EF4-FFF2-40B4-BE49-F238E27FC236}">
                <a16:creationId xmlns:a16="http://schemas.microsoft.com/office/drawing/2014/main" id="{0B4D8656-BE65-4E5D-9EEC-E8030591CC1E}"/>
              </a:ext>
            </a:extLst>
          </p:cNvPr>
          <p:cNvSpPr>
            <a:spLocks xmlns:a="http://schemas.openxmlformats.org/drawingml/2006/main" noGrp="1"/>
          </p:cNvSpPr>
          <p:nvPr/>
        </p:nvSpPr>
        <p:spPr>
          <a:xfrm xmlns:a="http://schemas.openxmlformats.org/drawingml/2006/main">
            <a:off x="2439988" y="2838450"/>
            <a:ext cx="247650" cy="247650"/>
          </a:xfrm>
          <a:prstGeom xmlns:a="http://schemas.openxmlformats.org/drawingml/2006/main" prst="ellipse">
            <a:avLst/>
          </a:prstGeom>
          <a:solidFill xmlns:a="http://schemas.openxmlformats.org/drawingml/2006/main">
            <a:srgbClr val="003F6B"/>
          </a:solidFill>
          <a:ln xmlns:a="http://schemas.openxmlformats.org/drawingml/2006/main" w="19050">
            <a:solidFill>
              <a:srgbClr val="FFFFFF"/>
            </a:solidFill>
            <a:prstDash val="solid"/>
          </a:ln>
        </p:spPr>
      </p:sp>
      <p:sp>
        <p:nvSpPr>
          <p:cNvPr id="8" name="">
            <a:extLst xmlns:a="http://schemas.openxmlformats.org/drawingml/2006/main">
              <a:ext uri="{FF2B5EF4-FFF2-40B4-BE49-F238E27FC236}">
                <a16:creationId xmlns:a16="http://schemas.microsoft.com/office/drawing/2014/main" id="{BF94B079-ED4B-48B6-93BB-205ACA2AD078}"/>
              </a:ext>
            </a:extLst>
          </p:cNvPr>
          <p:cNvSpPr>
            <a:spLocks xmlns:a="http://schemas.openxmlformats.org/drawingml/2006/main" noGrp="1"/>
          </p:cNvSpPr>
          <p:nvPr/>
        </p:nvSpPr>
        <p:spPr>
          <a:xfrm xmlns:a="http://schemas.openxmlformats.org/drawingml/2006/main">
            <a:off x="1809750" y="3219450"/>
            <a:ext cx="1508125" cy="2000250"/>
          </a:xfrm>
          <a:prstGeom xmlns:a="http://schemas.openxmlformats.org/drawingml/2006/main" prst="roundRect">
            <a:avLst>
              <a:gd name="adj" fmla="val 5053"/>
            </a:avLst>
          </a:prstGeom>
          <a:noFill xmlns:a="http://schemas.openxmlformats.org/drawingml/2006/main"/>
          <a:ln xmlns:a="http://schemas.openxmlformats.org/drawingml/2006/main" w="9525">
            <a:solidFill>
              <a:srgbClr val="00B2BB"/>
            </a:solidFill>
            <a:prstDash val="solid"/>
          </a:ln>
        </p:spPr>
      </p:sp>
      <p:sp>
        <p:nvSpPr>
          <p:cNvPr id="9" name="">
            <a:extLst xmlns:a="http://schemas.openxmlformats.org/drawingml/2006/main">
              <a:ext uri="{FF2B5EF4-FFF2-40B4-BE49-F238E27FC236}">
                <a16:creationId xmlns:a16="http://schemas.microsoft.com/office/drawing/2014/main" id="{B0DD8E4A-F3C6-4922-B4E6-575AEA2B2E74}"/>
              </a:ext>
            </a:extLst>
          </p:cNvPr>
          <p:cNvSpPr>
            <a:spLocks xmlns:a="http://schemas.openxmlformats.org/drawingml/2006/main" noGrp="1"/>
          </p:cNvSpPr>
          <p:nvPr/>
        </p:nvSpPr>
        <p:spPr>
          <a:xfrm xmlns:a="http://schemas.openxmlformats.org/drawingml/2006/main">
            <a:off x="1905000" y="3314700"/>
            <a:ext cx="13176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Tatsächliche Anhaltspunkte lösen Ermittlungen aus.</a:t>
            </a:r>
          </a:p>
        </p:txBody>
      </p:sp>
      <p:sp>
        <p:nvSpPr>
          <p:cNvPr id="10" name="">
            <a:extLst xmlns:a="http://schemas.openxmlformats.org/drawingml/2006/main">
              <a:ext uri="{FF2B5EF4-FFF2-40B4-BE49-F238E27FC236}">
                <a16:creationId xmlns:a16="http://schemas.microsoft.com/office/drawing/2014/main" id="{053507C9-7F72-4F80-A747-80A1DA3E93E8}"/>
              </a:ext>
            </a:extLst>
          </p:cNvPr>
          <p:cNvSpPr>
            <a:spLocks xmlns:a="http://schemas.openxmlformats.org/drawingml/2006/main" noGrp="1"/>
          </p:cNvSpPr>
          <p:nvPr/>
        </p:nvSpPr>
        <p:spPr>
          <a:xfrm xmlns:a="http://schemas.openxmlformats.org/drawingml/2006/main">
            <a:off x="3413125" y="2495550"/>
            <a:ext cx="1508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Ermitteln</a:t>
            </a:r>
          </a:p>
        </p:txBody>
      </p:sp>
      <p:sp>
        <p:nvSpPr>
          <p:cNvPr id="11" name="">
            <a:extLst xmlns:a="http://schemas.openxmlformats.org/drawingml/2006/main">
              <a:ext uri="{FF2B5EF4-FFF2-40B4-BE49-F238E27FC236}">
                <a16:creationId xmlns:a16="http://schemas.microsoft.com/office/drawing/2014/main" id="{99F0DB27-6FD4-411F-949A-361E5C082030}"/>
              </a:ext>
            </a:extLst>
          </p:cNvPr>
          <p:cNvSpPr>
            <a:spLocks xmlns:a="http://schemas.openxmlformats.org/drawingml/2006/main" noGrp="1"/>
          </p:cNvSpPr>
          <p:nvPr/>
        </p:nvSpPr>
        <p:spPr>
          <a:xfrm xmlns:a="http://schemas.openxmlformats.org/drawingml/2006/main">
            <a:off x="4043363" y="2838450"/>
            <a:ext cx="247650" cy="24765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12" name="">
            <a:extLst xmlns:a="http://schemas.openxmlformats.org/drawingml/2006/main">
              <a:ext uri="{FF2B5EF4-FFF2-40B4-BE49-F238E27FC236}">
                <a16:creationId xmlns:a16="http://schemas.microsoft.com/office/drawing/2014/main" id="{7D8DD320-396D-4ACA-8E44-F96583B5BA3B}"/>
              </a:ext>
            </a:extLst>
          </p:cNvPr>
          <p:cNvSpPr>
            <a:spLocks xmlns:a="http://schemas.openxmlformats.org/drawingml/2006/main" noGrp="1"/>
          </p:cNvSpPr>
          <p:nvPr/>
        </p:nvSpPr>
        <p:spPr>
          <a:xfrm xmlns:a="http://schemas.openxmlformats.org/drawingml/2006/main">
            <a:off x="3413125" y="3219450"/>
            <a:ext cx="1508125" cy="2000250"/>
          </a:xfrm>
          <a:prstGeom xmlns:a="http://schemas.openxmlformats.org/drawingml/2006/main" prst="roundRect">
            <a:avLst>
              <a:gd name="adj" fmla="val 5053"/>
            </a:avLst>
          </a:prstGeom>
          <a:noFill xmlns:a="http://schemas.openxmlformats.org/drawingml/2006/main"/>
          <a:ln xmlns:a="http://schemas.openxmlformats.org/drawingml/2006/main" w="9525">
            <a:solidFill>
              <a:srgbClr val="003F6B"/>
            </a:solidFill>
            <a:prstDash val="solid"/>
          </a:ln>
        </p:spPr>
      </p:sp>
      <p:sp>
        <p:nvSpPr>
          <p:cNvPr id="13" name="">
            <a:extLst xmlns:a="http://schemas.openxmlformats.org/drawingml/2006/main">
              <a:ext uri="{FF2B5EF4-FFF2-40B4-BE49-F238E27FC236}">
                <a16:creationId xmlns:a16="http://schemas.microsoft.com/office/drawing/2014/main" id="{96F046A3-4DDF-4FDD-A1A9-18B29464CD1C}"/>
              </a:ext>
            </a:extLst>
          </p:cNvPr>
          <p:cNvSpPr>
            <a:spLocks xmlns:a="http://schemas.openxmlformats.org/drawingml/2006/main" noGrp="1"/>
          </p:cNvSpPr>
          <p:nvPr/>
        </p:nvSpPr>
        <p:spPr>
          <a:xfrm xmlns:a="http://schemas.openxmlformats.org/drawingml/2006/main">
            <a:off x="3508375" y="3314700"/>
            <a:ext cx="13176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Belastendes und Entlastendes, Vernehmungen, Akten, Gutachten, Zwangsmaßnahmen.</a:t>
            </a:r>
          </a:p>
        </p:txBody>
      </p:sp>
      <p:sp>
        <p:nvSpPr>
          <p:cNvPr id="14" name="">
            <a:extLst xmlns:a="http://schemas.openxmlformats.org/drawingml/2006/main">
              <a:ext uri="{FF2B5EF4-FFF2-40B4-BE49-F238E27FC236}">
                <a16:creationId xmlns:a16="http://schemas.microsoft.com/office/drawing/2014/main" id="{8562986A-42D4-4223-85C4-4EB20627DFC9}"/>
              </a:ext>
            </a:extLst>
          </p:cNvPr>
          <p:cNvSpPr>
            <a:spLocks xmlns:a="http://schemas.openxmlformats.org/drawingml/2006/main" noGrp="1"/>
          </p:cNvSpPr>
          <p:nvPr/>
        </p:nvSpPr>
        <p:spPr>
          <a:xfrm xmlns:a="http://schemas.openxmlformats.org/drawingml/2006/main">
            <a:off x="5016500" y="2495550"/>
            <a:ext cx="1508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Abschließen</a:t>
            </a:r>
          </a:p>
        </p:txBody>
      </p:sp>
      <p:sp>
        <p:nvSpPr>
          <p:cNvPr id="15" name="">
            <a:extLst xmlns:a="http://schemas.openxmlformats.org/drawingml/2006/main">
              <a:ext uri="{FF2B5EF4-FFF2-40B4-BE49-F238E27FC236}">
                <a16:creationId xmlns:a16="http://schemas.microsoft.com/office/drawing/2014/main" id="{CE6C5623-B2A6-43CB-B7AE-93EDEA17A59D}"/>
              </a:ext>
            </a:extLst>
          </p:cNvPr>
          <p:cNvSpPr>
            <a:spLocks xmlns:a="http://schemas.openxmlformats.org/drawingml/2006/main" noGrp="1"/>
          </p:cNvSpPr>
          <p:nvPr/>
        </p:nvSpPr>
        <p:spPr>
          <a:xfrm xmlns:a="http://schemas.openxmlformats.org/drawingml/2006/main">
            <a:off x="5646738" y="2838450"/>
            <a:ext cx="247650" cy="24765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16" name="">
            <a:extLst xmlns:a="http://schemas.openxmlformats.org/drawingml/2006/main">
              <a:ext uri="{FF2B5EF4-FFF2-40B4-BE49-F238E27FC236}">
                <a16:creationId xmlns:a16="http://schemas.microsoft.com/office/drawing/2014/main" id="{135434D8-F11B-44E0-93B4-50B8978D2B12}"/>
              </a:ext>
            </a:extLst>
          </p:cNvPr>
          <p:cNvSpPr>
            <a:spLocks xmlns:a="http://schemas.openxmlformats.org/drawingml/2006/main" noGrp="1"/>
          </p:cNvSpPr>
          <p:nvPr/>
        </p:nvSpPr>
        <p:spPr>
          <a:xfrm xmlns:a="http://schemas.openxmlformats.org/drawingml/2006/main">
            <a:off x="5016500" y="3219450"/>
            <a:ext cx="1508125" cy="2000250"/>
          </a:xfrm>
          <a:prstGeom xmlns:a="http://schemas.openxmlformats.org/drawingml/2006/main" prst="roundRect">
            <a:avLst>
              <a:gd name="adj" fmla="val 5053"/>
            </a:avLst>
          </a:prstGeom>
          <a:noFill xmlns:a="http://schemas.openxmlformats.org/drawingml/2006/main"/>
          <a:ln xmlns:a="http://schemas.openxmlformats.org/drawingml/2006/main" w="9525">
            <a:solidFill>
              <a:srgbClr val="00B2BB"/>
            </a:solidFill>
            <a:prstDash val="solid"/>
          </a:ln>
        </p:spPr>
      </p:sp>
      <p:sp>
        <p:nvSpPr>
          <p:cNvPr id="17" name="">
            <a:extLst xmlns:a="http://schemas.openxmlformats.org/drawingml/2006/main">
              <a:ext uri="{FF2B5EF4-FFF2-40B4-BE49-F238E27FC236}">
                <a16:creationId xmlns:a16="http://schemas.microsoft.com/office/drawing/2014/main" id="{18C57BBD-A53D-47B4-A09E-E97F62C5CB4C}"/>
              </a:ext>
            </a:extLst>
          </p:cNvPr>
          <p:cNvSpPr>
            <a:spLocks xmlns:a="http://schemas.openxmlformats.org/drawingml/2006/main" noGrp="1"/>
          </p:cNvSpPr>
          <p:nvPr/>
        </p:nvSpPr>
        <p:spPr>
          <a:xfrm xmlns:a="http://schemas.openxmlformats.org/drawingml/2006/main">
            <a:off x="5111750" y="3314700"/>
            <a:ext cx="13176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Einstellung, Auflage oder Anklage nach Verdachtsgrad.</a:t>
            </a:r>
          </a:p>
        </p:txBody>
      </p:sp>
      <p:sp>
        <p:nvSpPr>
          <p:cNvPr id="18" name="">
            <a:extLst xmlns:a="http://schemas.openxmlformats.org/drawingml/2006/main">
              <a:ext uri="{FF2B5EF4-FFF2-40B4-BE49-F238E27FC236}">
                <a16:creationId xmlns:a16="http://schemas.microsoft.com/office/drawing/2014/main" id="{487FEC89-4CE5-4836-B500-C7A19141AB78}"/>
              </a:ext>
            </a:extLst>
          </p:cNvPr>
          <p:cNvSpPr>
            <a:spLocks xmlns:a="http://schemas.openxmlformats.org/drawingml/2006/main" noGrp="1"/>
          </p:cNvSpPr>
          <p:nvPr/>
        </p:nvSpPr>
        <p:spPr>
          <a:xfrm xmlns:a="http://schemas.openxmlformats.org/drawingml/2006/main">
            <a:off x="6619875" y="2495550"/>
            <a:ext cx="1508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Eröffnen</a:t>
            </a:r>
          </a:p>
        </p:txBody>
      </p:sp>
      <p:sp>
        <p:nvSpPr>
          <p:cNvPr id="19" name="">
            <a:extLst xmlns:a="http://schemas.openxmlformats.org/drawingml/2006/main">
              <a:ext uri="{FF2B5EF4-FFF2-40B4-BE49-F238E27FC236}">
                <a16:creationId xmlns:a16="http://schemas.microsoft.com/office/drawing/2014/main" id="{973BF40D-54C7-469E-8110-78EE464A4A0A}"/>
              </a:ext>
            </a:extLst>
          </p:cNvPr>
          <p:cNvSpPr>
            <a:spLocks xmlns:a="http://schemas.openxmlformats.org/drawingml/2006/main" noGrp="1"/>
          </p:cNvSpPr>
          <p:nvPr/>
        </p:nvSpPr>
        <p:spPr>
          <a:xfrm xmlns:a="http://schemas.openxmlformats.org/drawingml/2006/main">
            <a:off x="7250113" y="2838450"/>
            <a:ext cx="247650" cy="24765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20" name="">
            <a:extLst xmlns:a="http://schemas.openxmlformats.org/drawingml/2006/main">
              <a:ext uri="{FF2B5EF4-FFF2-40B4-BE49-F238E27FC236}">
                <a16:creationId xmlns:a16="http://schemas.microsoft.com/office/drawing/2014/main" id="{56A205B0-1750-41A0-A584-0F006E48C656}"/>
              </a:ext>
            </a:extLst>
          </p:cNvPr>
          <p:cNvSpPr>
            <a:spLocks xmlns:a="http://schemas.openxmlformats.org/drawingml/2006/main" noGrp="1"/>
          </p:cNvSpPr>
          <p:nvPr/>
        </p:nvSpPr>
        <p:spPr>
          <a:xfrm xmlns:a="http://schemas.openxmlformats.org/drawingml/2006/main">
            <a:off x="6619875" y="3219450"/>
            <a:ext cx="1508125" cy="2000250"/>
          </a:xfrm>
          <a:prstGeom xmlns:a="http://schemas.openxmlformats.org/drawingml/2006/main" prst="roundRect">
            <a:avLst>
              <a:gd name="adj" fmla="val 5053"/>
            </a:avLst>
          </a:prstGeom>
          <a:noFill xmlns:a="http://schemas.openxmlformats.org/drawingml/2006/main"/>
          <a:ln xmlns:a="http://schemas.openxmlformats.org/drawingml/2006/main" w="9525">
            <a:solidFill>
              <a:srgbClr val="003F6B"/>
            </a:solidFill>
            <a:prstDash val="solid"/>
          </a:ln>
        </p:spPr>
      </p:sp>
      <p:sp>
        <p:nvSpPr>
          <p:cNvPr id="21" name="">
            <a:extLst xmlns:a="http://schemas.openxmlformats.org/drawingml/2006/main">
              <a:ext uri="{FF2B5EF4-FFF2-40B4-BE49-F238E27FC236}">
                <a16:creationId xmlns:a16="http://schemas.microsoft.com/office/drawing/2014/main" id="{D255FF0F-05D2-4F85-9E1B-57C116128654}"/>
              </a:ext>
            </a:extLst>
          </p:cNvPr>
          <p:cNvSpPr>
            <a:spLocks xmlns:a="http://schemas.openxmlformats.org/drawingml/2006/main" noGrp="1"/>
          </p:cNvSpPr>
          <p:nvPr/>
        </p:nvSpPr>
        <p:spPr>
          <a:xfrm xmlns:a="http://schemas.openxmlformats.org/drawingml/2006/main">
            <a:off x="6715125" y="3314700"/>
            <a:ext cx="13176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Gericht prüft hinreichenden Tatverdacht.</a:t>
            </a:r>
          </a:p>
        </p:txBody>
      </p:sp>
      <p:sp>
        <p:nvSpPr>
          <p:cNvPr id="22" name="">
            <a:extLst xmlns:a="http://schemas.openxmlformats.org/drawingml/2006/main">
              <a:ext uri="{FF2B5EF4-FFF2-40B4-BE49-F238E27FC236}">
                <a16:creationId xmlns:a16="http://schemas.microsoft.com/office/drawing/2014/main" id="{9D740B9A-53FB-482A-AE9C-75AAE0FDB9B3}"/>
              </a:ext>
            </a:extLst>
          </p:cNvPr>
          <p:cNvSpPr>
            <a:spLocks xmlns:a="http://schemas.openxmlformats.org/drawingml/2006/main" noGrp="1"/>
          </p:cNvSpPr>
          <p:nvPr/>
        </p:nvSpPr>
        <p:spPr>
          <a:xfrm xmlns:a="http://schemas.openxmlformats.org/drawingml/2006/main">
            <a:off x="8223250" y="2495550"/>
            <a:ext cx="1508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Hauptverhandeln</a:t>
            </a:r>
          </a:p>
        </p:txBody>
      </p:sp>
      <p:sp>
        <p:nvSpPr>
          <p:cNvPr id="23" name="">
            <a:extLst xmlns:a="http://schemas.openxmlformats.org/drawingml/2006/main">
              <a:ext uri="{FF2B5EF4-FFF2-40B4-BE49-F238E27FC236}">
                <a16:creationId xmlns:a16="http://schemas.microsoft.com/office/drawing/2014/main" id="{90DA60FE-CB73-4B7B-801D-2AF004E161BA}"/>
              </a:ext>
            </a:extLst>
          </p:cNvPr>
          <p:cNvSpPr>
            <a:spLocks xmlns:a="http://schemas.openxmlformats.org/drawingml/2006/main" noGrp="1"/>
          </p:cNvSpPr>
          <p:nvPr/>
        </p:nvSpPr>
        <p:spPr>
          <a:xfrm xmlns:a="http://schemas.openxmlformats.org/drawingml/2006/main">
            <a:off x="8853488" y="2838450"/>
            <a:ext cx="247650" cy="24765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24" name="">
            <a:extLst xmlns:a="http://schemas.openxmlformats.org/drawingml/2006/main">
              <a:ext uri="{FF2B5EF4-FFF2-40B4-BE49-F238E27FC236}">
                <a16:creationId xmlns:a16="http://schemas.microsoft.com/office/drawing/2014/main" id="{40E3E225-9CAC-43B0-94E1-3F591786362C}"/>
              </a:ext>
            </a:extLst>
          </p:cNvPr>
          <p:cNvSpPr>
            <a:spLocks xmlns:a="http://schemas.openxmlformats.org/drawingml/2006/main" noGrp="1"/>
          </p:cNvSpPr>
          <p:nvPr/>
        </p:nvSpPr>
        <p:spPr>
          <a:xfrm xmlns:a="http://schemas.openxmlformats.org/drawingml/2006/main">
            <a:off x="8223250" y="3219450"/>
            <a:ext cx="1508125" cy="2000250"/>
          </a:xfrm>
          <a:prstGeom xmlns:a="http://schemas.openxmlformats.org/drawingml/2006/main" prst="roundRect">
            <a:avLst>
              <a:gd name="adj" fmla="val 5053"/>
            </a:avLst>
          </a:prstGeom>
          <a:noFill xmlns:a="http://schemas.openxmlformats.org/drawingml/2006/main"/>
          <a:ln xmlns:a="http://schemas.openxmlformats.org/drawingml/2006/main" w="9525">
            <a:solidFill>
              <a:srgbClr val="00B2BB"/>
            </a:solidFill>
            <a:prstDash val="solid"/>
          </a:ln>
        </p:spPr>
      </p:sp>
      <p:sp>
        <p:nvSpPr>
          <p:cNvPr id="25" name="">
            <a:extLst xmlns:a="http://schemas.openxmlformats.org/drawingml/2006/main">
              <a:ext uri="{FF2B5EF4-FFF2-40B4-BE49-F238E27FC236}">
                <a16:creationId xmlns:a16="http://schemas.microsoft.com/office/drawing/2014/main" id="{431CF395-9F33-47E9-9CB4-C58448199CBB}"/>
              </a:ext>
            </a:extLst>
          </p:cNvPr>
          <p:cNvSpPr>
            <a:spLocks xmlns:a="http://schemas.openxmlformats.org/drawingml/2006/main" noGrp="1"/>
          </p:cNvSpPr>
          <p:nvPr/>
        </p:nvSpPr>
        <p:spPr>
          <a:xfrm xmlns:a="http://schemas.openxmlformats.org/drawingml/2006/main">
            <a:off x="8318500" y="3314700"/>
            <a:ext cx="13176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Unmittelbare Beweisaufnahme, Plädoyers, letztes Wort.</a:t>
            </a:r>
          </a:p>
        </p:txBody>
      </p:sp>
      <p:sp>
        <p:nvSpPr>
          <p:cNvPr id="26" name="">
            <a:extLst xmlns:a="http://schemas.openxmlformats.org/drawingml/2006/main">
              <a:ext uri="{FF2B5EF4-FFF2-40B4-BE49-F238E27FC236}">
                <a16:creationId xmlns:a16="http://schemas.microsoft.com/office/drawing/2014/main" id="{DA5BBEC0-5344-461C-8BF3-93220814B7F4}"/>
              </a:ext>
            </a:extLst>
          </p:cNvPr>
          <p:cNvSpPr>
            <a:spLocks xmlns:a="http://schemas.openxmlformats.org/drawingml/2006/main" noGrp="1"/>
          </p:cNvSpPr>
          <p:nvPr/>
        </p:nvSpPr>
        <p:spPr>
          <a:xfrm xmlns:a="http://schemas.openxmlformats.org/drawingml/2006/main">
            <a:off x="9826625" y="2495550"/>
            <a:ext cx="1508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Entscheiden</a:t>
            </a:r>
          </a:p>
        </p:txBody>
      </p:sp>
      <p:sp>
        <p:nvSpPr>
          <p:cNvPr id="27" name="">
            <a:extLst xmlns:a="http://schemas.openxmlformats.org/drawingml/2006/main">
              <a:ext uri="{FF2B5EF4-FFF2-40B4-BE49-F238E27FC236}">
                <a16:creationId xmlns:a16="http://schemas.microsoft.com/office/drawing/2014/main" id="{73CFBC80-9DB4-47C3-9B1D-B26CD14C6662}"/>
              </a:ext>
            </a:extLst>
          </p:cNvPr>
          <p:cNvSpPr>
            <a:spLocks xmlns:a="http://schemas.openxmlformats.org/drawingml/2006/main" noGrp="1"/>
          </p:cNvSpPr>
          <p:nvPr/>
        </p:nvSpPr>
        <p:spPr>
          <a:xfrm xmlns:a="http://schemas.openxmlformats.org/drawingml/2006/main">
            <a:off x="10456863" y="2838450"/>
            <a:ext cx="247650" cy="24765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28" name="">
            <a:extLst xmlns:a="http://schemas.openxmlformats.org/drawingml/2006/main">
              <a:ext uri="{FF2B5EF4-FFF2-40B4-BE49-F238E27FC236}">
                <a16:creationId xmlns:a16="http://schemas.microsoft.com/office/drawing/2014/main" id="{0BDB37A6-7D7D-427B-AB91-FD9E0FAF27AC}"/>
              </a:ext>
            </a:extLst>
          </p:cNvPr>
          <p:cNvSpPr>
            <a:spLocks xmlns:a="http://schemas.openxmlformats.org/drawingml/2006/main" noGrp="1"/>
          </p:cNvSpPr>
          <p:nvPr/>
        </p:nvSpPr>
        <p:spPr>
          <a:xfrm xmlns:a="http://schemas.openxmlformats.org/drawingml/2006/main">
            <a:off x="9826625" y="3219450"/>
            <a:ext cx="1508125" cy="2000250"/>
          </a:xfrm>
          <a:prstGeom xmlns:a="http://schemas.openxmlformats.org/drawingml/2006/main" prst="roundRect">
            <a:avLst>
              <a:gd name="adj" fmla="val 5053"/>
            </a:avLst>
          </a:prstGeom>
          <a:noFill xmlns:a="http://schemas.openxmlformats.org/drawingml/2006/main"/>
          <a:ln xmlns:a="http://schemas.openxmlformats.org/drawingml/2006/main" w="9525">
            <a:solidFill>
              <a:srgbClr val="003F6B"/>
            </a:solidFill>
            <a:prstDash val="solid"/>
          </a:ln>
        </p:spPr>
      </p:sp>
      <p:sp>
        <p:nvSpPr>
          <p:cNvPr id="29" name="">
            <a:extLst xmlns:a="http://schemas.openxmlformats.org/drawingml/2006/main">
              <a:ext uri="{FF2B5EF4-FFF2-40B4-BE49-F238E27FC236}">
                <a16:creationId xmlns:a16="http://schemas.microsoft.com/office/drawing/2014/main" id="{F085B033-89E4-4D8B-95F4-64B0277F0BEA}"/>
              </a:ext>
            </a:extLst>
          </p:cNvPr>
          <p:cNvSpPr>
            <a:spLocks xmlns:a="http://schemas.openxmlformats.org/drawingml/2006/main" noGrp="1"/>
          </p:cNvSpPr>
          <p:nvPr/>
        </p:nvSpPr>
        <p:spPr>
          <a:xfrm xmlns:a="http://schemas.openxmlformats.org/drawingml/2006/main">
            <a:off x="9921875" y="3314700"/>
            <a:ext cx="13176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Freispruch/Verurteilung und Rechtsmittel.</a:t>
            </a:r>
          </a:p>
        </p:txBody>
      </p:sp>
      <p:sp>
        <p:nvSpPr>
          <p:cNvPr id="30" name="">
            <a:extLst xmlns:a="http://schemas.openxmlformats.org/drawingml/2006/main">
              <a:ext uri="{FF2B5EF4-FFF2-40B4-BE49-F238E27FC236}">
                <a16:creationId xmlns:a16="http://schemas.microsoft.com/office/drawing/2014/main" id="{30B41B04-2359-4C3C-ABFA-046ABED994BC}"/>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31" name="">
            <a:extLst xmlns:a="http://schemas.openxmlformats.org/drawingml/2006/main">
              <a:ext uri="{FF2B5EF4-FFF2-40B4-BE49-F238E27FC236}">
                <a16:creationId xmlns:a16="http://schemas.microsoft.com/office/drawing/2014/main" id="{01642E6D-A991-4B9C-8031-F60440840D48}"/>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Beschuldigte dürfen schweigen; Zeugen haben andere Pflichten und Schutzrechte.</a:t>
            </a:r>
          </a:p>
        </p:txBody>
      </p:sp>
    </p:spTree>
    <p:extLst>
      <p:ext uri="{BB962C8B-B14F-4D97-AF65-F5344CB8AC3E}">
        <p14:creationId xmlns:p14="http://schemas.microsoft.com/office/powerpoint/2010/main" val="43637646"/>
      </p:ext>
    </p:extLst>
  </p:cSld>
</p:sld>
</file>

<file path=ppt/slides/slide411.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VwGO auf einer Folie</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VERFAHREN VERSTEHEN</a:t>
            </a:r>
            <a:endParaRPr/>
          </a:p>
        </p:txBody>
      </p:sp>
      <p:sp>
        <p:nvSpPr>
          <p:cNvPr id="4" name="">
            <a:extLst xmlns:a="http://schemas.openxmlformats.org/drawingml/2006/main">
              <a:ext uri="{FF2B5EF4-FFF2-40B4-BE49-F238E27FC236}">
                <a16:creationId xmlns:a16="http://schemas.microsoft.com/office/drawing/2014/main" id="{CA542EC2-2EE9-4E2E-A00D-F463B5F969CC}"/>
              </a:ext>
            </a:extLst>
          </p:cNvPr>
          <p:cNvSpPr>
            <a:spLocks xmlns:a="http://schemas.openxmlformats.org/drawingml/2006/main" noGrp="1"/>
          </p:cNvSpPr>
          <p:nvPr/>
        </p:nvSpPr>
        <p:spPr>
          <a:xfrm xmlns:a="http://schemas.openxmlformats.org/drawingml/2006/main">
            <a:off x="1809750" y="1885950"/>
            <a:ext cx="9525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15">
                <a:solidFill>
                  <a:srgbClr val="667680"/>
                </a:solidFill>
              </a:defRPr>
            </a:pPr>
            <a:r>
              <a:rPr sz="1215">
                <a:solidFill>
                  <a:srgbClr val="667680"/>
                </a:solidFill>
              </a:rPr>
              <a:t>Verwaltungsrechtsschutz kontrolliert hoheitliche Entscheidungen.</a:t>
            </a:r>
          </a:p>
        </p:txBody>
      </p:sp>
      <p:sp>
        <p:nvSpPr>
          <p:cNvPr id="5" name="">
            <a:extLst xmlns:a="http://schemas.openxmlformats.org/drawingml/2006/main">
              <a:ext uri="{FF2B5EF4-FFF2-40B4-BE49-F238E27FC236}">
                <a16:creationId xmlns:a16="http://schemas.microsoft.com/office/drawing/2014/main" id="{4B45131D-EC4E-4309-AA4D-E0CE35F790AC}"/>
              </a:ext>
            </a:extLst>
          </p:cNvPr>
          <p:cNvSpPr>
            <a:spLocks xmlns:a="http://schemas.openxmlformats.org/drawingml/2006/main" noGrp="1"/>
          </p:cNvSpPr>
          <p:nvPr/>
        </p:nvSpPr>
        <p:spPr>
          <a:xfrm xmlns:a="http://schemas.openxmlformats.org/drawingml/2006/main">
            <a:off x="1981200" y="2952750"/>
            <a:ext cx="9182100" cy="0"/>
          </a:xfrm>
          <a:prstGeom xmlns:a="http://schemas.openxmlformats.org/drawingml/2006/main" prst="line">
            <a:avLst/>
          </a:prstGeom>
          <a:noFill xmlns:a="http://schemas.openxmlformats.org/drawingml/2006/main"/>
          <a:ln xmlns:a="http://schemas.openxmlformats.org/drawingml/2006/main" w="28575">
            <a:solidFill>
              <a:srgbClr val="B9CAD2"/>
            </a:solidFill>
            <a:prstDash val="solid"/>
          </a:ln>
        </p:spPr>
      </p:sp>
      <p:sp>
        <p:nvSpPr>
          <p:cNvPr id="6" name="">
            <a:extLst xmlns:a="http://schemas.openxmlformats.org/drawingml/2006/main">
              <a:ext uri="{FF2B5EF4-FFF2-40B4-BE49-F238E27FC236}">
                <a16:creationId xmlns:a16="http://schemas.microsoft.com/office/drawing/2014/main" id="{02FCC51C-A3A2-4D54-97CA-B7C21FA16A55}"/>
              </a:ext>
            </a:extLst>
          </p:cNvPr>
          <p:cNvSpPr>
            <a:spLocks xmlns:a="http://schemas.openxmlformats.org/drawingml/2006/main" noGrp="1"/>
          </p:cNvSpPr>
          <p:nvPr/>
        </p:nvSpPr>
        <p:spPr>
          <a:xfrm xmlns:a="http://schemas.openxmlformats.org/drawingml/2006/main">
            <a:off x="1809750" y="2495550"/>
            <a:ext cx="1508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Anhörung</a:t>
            </a:r>
          </a:p>
        </p:txBody>
      </p:sp>
      <p:sp>
        <p:nvSpPr>
          <p:cNvPr id="7" name="">
            <a:extLst xmlns:a="http://schemas.openxmlformats.org/drawingml/2006/main">
              <a:ext uri="{FF2B5EF4-FFF2-40B4-BE49-F238E27FC236}">
                <a16:creationId xmlns:a16="http://schemas.microsoft.com/office/drawing/2014/main" id="{08C62391-273B-4AB5-BF9F-0B11FDEAE305}"/>
              </a:ext>
            </a:extLst>
          </p:cNvPr>
          <p:cNvSpPr>
            <a:spLocks xmlns:a="http://schemas.openxmlformats.org/drawingml/2006/main" noGrp="1"/>
          </p:cNvSpPr>
          <p:nvPr/>
        </p:nvSpPr>
        <p:spPr>
          <a:xfrm xmlns:a="http://schemas.openxmlformats.org/drawingml/2006/main">
            <a:off x="2439988" y="2838450"/>
            <a:ext cx="247650" cy="247650"/>
          </a:xfrm>
          <a:prstGeom xmlns:a="http://schemas.openxmlformats.org/drawingml/2006/main" prst="ellipse">
            <a:avLst/>
          </a:prstGeom>
          <a:solidFill xmlns:a="http://schemas.openxmlformats.org/drawingml/2006/main">
            <a:srgbClr val="003F6B"/>
          </a:solidFill>
          <a:ln xmlns:a="http://schemas.openxmlformats.org/drawingml/2006/main" w="19050">
            <a:solidFill>
              <a:srgbClr val="FFFFFF"/>
            </a:solidFill>
            <a:prstDash val="solid"/>
          </a:ln>
        </p:spPr>
      </p:sp>
      <p:sp>
        <p:nvSpPr>
          <p:cNvPr id="8" name="">
            <a:extLst xmlns:a="http://schemas.openxmlformats.org/drawingml/2006/main">
              <a:ext uri="{FF2B5EF4-FFF2-40B4-BE49-F238E27FC236}">
                <a16:creationId xmlns:a16="http://schemas.microsoft.com/office/drawing/2014/main" id="{AB398AD8-6106-4B09-85C9-6DCE931D9436}"/>
              </a:ext>
            </a:extLst>
          </p:cNvPr>
          <p:cNvSpPr>
            <a:spLocks xmlns:a="http://schemas.openxmlformats.org/drawingml/2006/main" noGrp="1"/>
          </p:cNvSpPr>
          <p:nvPr/>
        </p:nvSpPr>
        <p:spPr>
          <a:xfrm xmlns:a="http://schemas.openxmlformats.org/drawingml/2006/main">
            <a:off x="1809750" y="3219450"/>
            <a:ext cx="1508125" cy="2000250"/>
          </a:xfrm>
          <a:prstGeom xmlns:a="http://schemas.openxmlformats.org/drawingml/2006/main" prst="roundRect">
            <a:avLst>
              <a:gd name="adj" fmla="val 5053"/>
            </a:avLst>
          </a:prstGeom>
          <a:noFill xmlns:a="http://schemas.openxmlformats.org/drawingml/2006/main"/>
          <a:ln xmlns:a="http://schemas.openxmlformats.org/drawingml/2006/main" w="9525">
            <a:solidFill>
              <a:srgbClr val="00B2BB"/>
            </a:solidFill>
            <a:prstDash val="solid"/>
          </a:ln>
        </p:spPr>
      </p:sp>
      <p:sp>
        <p:nvSpPr>
          <p:cNvPr id="9" name="">
            <a:extLst xmlns:a="http://schemas.openxmlformats.org/drawingml/2006/main">
              <a:ext uri="{FF2B5EF4-FFF2-40B4-BE49-F238E27FC236}">
                <a16:creationId xmlns:a16="http://schemas.microsoft.com/office/drawing/2014/main" id="{73D071AB-A4AE-430C-A393-5B6E128D99B2}"/>
              </a:ext>
            </a:extLst>
          </p:cNvPr>
          <p:cNvSpPr>
            <a:spLocks xmlns:a="http://schemas.openxmlformats.org/drawingml/2006/main" noGrp="1"/>
          </p:cNvSpPr>
          <p:nvPr/>
        </p:nvSpPr>
        <p:spPr>
          <a:xfrm xmlns:a="http://schemas.openxmlformats.org/drawingml/2006/main">
            <a:off x="1905000" y="3314700"/>
            <a:ext cx="13176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Vor Erlass Tatsachen, Prognose und mildere Mittel vortragen.</a:t>
            </a:r>
          </a:p>
        </p:txBody>
      </p:sp>
      <p:sp>
        <p:nvSpPr>
          <p:cNvPr id="10" name="">
            <a:extLst xmlns:a="http://schemas.openxmlformats.org/drawingml/2006/main">
              <a:ext uri="{FF2B5EF4-FFF2-40B4-BE49-F238E27FC236}">
                <a16:creationId xmlns:a16="http://schemas.microsoft.com/office/drawing/2014/main" id="{502EFBDE-24C3-4229-A7DC-D7B112023918}"/>
              </a:ext>
            </a:extLst>
          </p:cNvPr>
          <p:cNvSpPr>
            <a:spLocks xmlns:a="http://schemas.openxmlformats.org/drawingml/2006/main" noGrp="1"/>
          </p:cNvSpPr>
          <p:nvPr/>
        </p:nvSpPr>
        <p:spPr>
          <a:xfrm xmlns:a="http://schemas.openxmlformats.org/drawingml/2006/main">
            <a:off x="3413125" y="2495550"/>
            <a:ext cx="1508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Verwaltungsakt prüfen</a:t>
            </a:r>
          </a:p>
        </p:txBody>
      </p:sp>
      <p:sp>
        <p:nvSpPr>
          <p:cNvPr id="11" name="">
            <a:extLst xmlns:a="http://schemas.openxmlformats.org/drawingml/2006/main">
              <a:ext uri="{FF2B5EF4-FFF2-40B4-BE49-F238E27FC236}">
                <a16:creationId xmlns:a16="http://schemas.microsoft.com/office/drawing/2014/main" id="{2FFD7084-85A7-48DE-8406-483D777B9545}"/>
              </a:ext>
            </a:extLst>
          </p:cNvPr>
          <p:cNvSpPr>
            <a:spLocks xmlns:a="http://schemas.openxmlformats.org/drawingml/2006/main" noGrp="1"/>
          </p:cNvSpPr>
          <p:nvPr/>
        </p:nvSpPr>
        <p:spPr>
          <a:xfrm xmlns:a="http://schemas.openxmlformats.org/drawingml/2006/main">
            <a:off x="4043363" y="2838450"/>
            <a:ext cx="247650" cy="24765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12" name="">
            <a:extLst xmlns:a="http://schemas.openxmlformats.org/drawingml/2006/main">
              <a:ext uri="{FF2B5EF4-FFF2-40B4-BE49-F238E27FC236}">
                <a16:creationId xmlns:a16="http://schemas.microsoft.com/office/drawing/2014/main" id="{D0218D8A-DD39-4668-9A32-8693AFB2EE66}"/>
              </a:ext>
            </a:extLst>
          </p:cNvPr>
          <p:cNvSpPr>
            <a:spLocks xmlns:a="http://schemas.openxmlformats.org/drawingml/2006/main" noGrp="1"/>
          </p:cNvSpPr>
          <p:nvPr/>
        </p:nvSpPr>
        <p:spPr>
          <a:xfrm xmlns:a="http://schemas.openxmlformats.org/drawingml/2006/main">
            <a:off x="3413125" y="3219450"/>
            <a:ext cx="1508125" cy="2000250"/>
          </a:xfrm>
          <a:prstGeom xmlns:a="http://schemas.openxmlformats.org/drawingml/2006/main" prst="roundRect">
            <a:avLst>
              <a:gd name="adj" fmla="val 5053"/>
            </a:avLst>
          </a:prstGeom>
          <a:noFill xmlns:a="http://schemas.openxmlformats.org/drawingml/2006/main"/>
          <a:ln xmlns:a="http://schemas.openxmlformats.org/drawingml/2006/main" w="9525">
            <a:solidFill>
              <a:srgbClr val="003F6B"/>
            </a:solidFill>
            <a:prstDash val="solid"/>
          </a:ln>
        </p:spPr>
      </p:sp>
      <p:sp>
        <p:nvSpPr>
          <p:cNvPr id="13" name="">
            <a:extLst xmlns:a="http://schemas.openxmlformats.org/drawingml/2006/main">
              <a:ext uri="{FF2B5EF4-FFF2-40B4-BE49-F238E27FC236}">
                <a16:creationId xmlns:a16="http://schemas.microsoft.com/office/drawing/2014/main" id="{4B2B170A-FB43-4A8E-9F2A-8C3CBC04986A}"/>
              </a:ext>
            </a:extLst>
          </p:cNvPr>
          <p:cNvSpPr>
            <a:spLocks xmlns:a="http://schemas.openxmlformats.org/drawingml/2006/main" noGrp="1"/>
          </p:cNvSpPr>
          <p:nvPr/>
        </p:nvSpPr>
        <p:spPr>
          <a:xfrm xmlns:a="http://schemas.openxmlformats.org/drawingml/2006/main">
            <a:off x="3508375" y="3314700"/>
            <a:ext cx="13176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Zuständigkeit, Verfahren, Tatbestand, Ermessen und Verhältnismäßigkeit.</a:t>
            </a:r>
          </a:p>
        </p:txBody>
      </p:sp>
      <p:sp>
        <p:nvSpPr>
          <p:cNvPr id="14" name="">
            <a:extLst xmlns:a="http://schemas.openxmlformats.org/drawingml/2006/main">
              <a:ext uri="{FF2B5EF4-FFF2-40B4-BE49-F238E27FC236}">
                <a16:creationId xmlns:a16="http://schemas.microsoft.com/office/drawing/2014/main" id="{3BD8A192-7379-44A2-BEDC-9D155CA975E4}"/>
              </a:ext>
            </a:extLst>
          </p:cNvPr>
          <p:cNvSpPr>
            <a:spLocks xmlns:a="http://schemas.openxmlformats.org/drawingml/2006/main" noGrp="1"/>
          </p:cNvSpPr>
          <p:nvPr/>
        </p:nvSpPr>
        <p:spPr>
          <a:xfrm xmlns:a="http://schemas.openxmlformats.org/drawingml/2006/main">
            <a:off x="5016500" y="2495550"/>
            <a:ext cx="1508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Widerspruch</a:t>
            </a:r>
          </a:p>
        </p:txBody>
      </p:sp>
      <p:sp>
        <p:nvSpPr>
          <p:cNvPr id="15" name="">
            <a:extLst xmlns:a="http://schemas.openxmlformats.org/drawingml/2006/main">
              <a:ext uri="{FF2B5EF4-FFF2-40B4-BE49-F238E27FC236}">
                <a16:creationId xmlns:a16="http://schemas.microsoft.com/office/drawing/2014/main" id="{1354E6E8-9DA4-4070-88E8-72BA534327B5}"/>
              </a:ext>
            </a:extLst>
          </p:cNvPr>
          <p:cNvSpPr>
            <a:spLocks xmlns:a="http://schemas.openxmlformats.org/drawingml/2006/main" noGrp="1"/>
          </p:cNvSpPr>
          <p:nvPr/>
        </p:nvSpPr>
        <p:spPr>
          <a:xfrm xmlns:a="http://schemas.openxmlformats.org/drawingml/2006/main">
            <a:off x="5646738" y="2838450"/>
            <a:ext cx="247650" cy="24765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16" name="">
            <a:extLst xmlns:a="http://schemas.openxmlformats.org/drawingml/2006/main">
              <a:ext uri="{FF2B5EF4-FFF2-40B4-BE49-F238E27FC236}">
                <a16:creationId xmlns:a16="http://schemas.microsoft.com/office/drawing/2014/main" id="{3354AE44-B876-49F5-BD73-69179D78FC79}"/>
              </a:ext>
            </a:extLst>
          </p:cNvPr>
          <p:cNvSpPr>
            <a:spLocks xmlns:a="http://schemas.openxmlformats.org/drawingml/2006/main" noGrp="1"/>
          </p:cNvSpPr>
          <p:nvPr/>
        </p:nvSpPr>
        <p:spPr>
          <a:xfrm xmlns:a="http://schemas.openxmlformats.org/drawingml/2006/main">
            <a:off x="5016500" y="3219450"/>
            <a:ext cx="1508125" cy="2000250"/>
          </a:xfrm>
          <a:prstGeom xmlns:a="http://schemas.openxmlformats.org/drawingml/2006/main" prst="roundRect">
            <a:avLst>
              <a:gd name="adj" fmla="val 5053"/>
            </a:avLst>
          </a:prstGeom>
          <a:noFill xmlns:a="http://schemas.openxmlformats.org/drawingml/2006/main"/>
          <a:ln xmlns:a="http://schemas.openxmlformats.org/drawingml/2006/main" w="9525">
            <a:solidFill>
              <a:srgbClr val="00B2BB"/>
            </a:solidFill>
            <a:prstDash val="solid"/>
          </a:ln>
        </p:spPr>
      </p:sp>
      <p:sp>
        <p:nvSpPr>
          <p:cNvPr id="17" name="">
            <a:extLst xmlns:a="http://schemas.openxmlformats.org/drawingml/2006/main">
              <a:ext uri="{FF2B5EF4-FFF2-40B4-BE49-F238E27FC236}">
                <a16:creationId xmlns:a16="http://schemas.microsoft.com/office/drawing/2014/main" id="{503922E1-4EC4-4F9A-8FC2-CC92CAC79A1D}"/>
              </a:ext>
            </a:extLst>
          </p:cNvPr>
          <p:cNvSpPr>
            <a:spLocks xmlns:a="http://schemas.openxmlformats.org/drawingml/2006/main" noGrp="1"/>
          </p:cNvSpPr>
          <p:nvPr/>
        </p:nvSpPr>
        <p:spPr>
          <a:xfrm xmlns:a="http://schemas.openxmlformats.org/drawingml/2006/main">
            <a:off x="5111750" y="3314700"/>
            <a:ext cx="13176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Soweit vorgesehen, behördliche Kontrolle fristgerecht anstoßen.</a:t>
            </a:r>
          </a:p>
        </p:txBody>
      </p:sp>
      <p:sp>
        <p:nvSpPr>
          <p:cNvPr id="18" name="">
            <a:extLst xmlns:a="http://schemas.openxmlformats.org/drawingml/2006/main">
              <a:ext uri="{FF2B5EF4-FFF2-40B4-BE49-F238E27FC236}">
                <a16:creationId xmlns:a16="http://schemas.microsoft.com/office/drawing/2014/main" id="{EEB2A224-CFB7-4935-B94F-4390772ED6B7}"/>
              </a:ext>
            </a:extLst>
          </p:cNvPr>
          <p:cNvSpPr>
            <a:spLocks xmlns:a="http://schemas.openxmlformats.org/drawingml/2006/main" noGrp="1"/>
          </p:cNvSpPr>
          <p:nvPr/>
        </p:nvSpPr>
        <p:spPr>
          <a:xfrm xmlns:a="http://schemas.openxmlformats.org/drawingml/2006/main">
            <a:off x="6619875" y="2495550"/>
            <a:ext cx="1508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Klage</a:t>
            </a:r>
          </a:p>
        </p:txBody>
      </p:sp>
      <p:sp>
        <p:nvSpPr>
          <p:cNvPr id="19" name="">
            <a:extLst xmlns:a="http://schemas.openxmlformats.org/drawingml/2006/main">
              <a:ext uri="{FF2B5EF4-FFF2-40B4-BE49-F238E27FC236}">
                <a16:creationId xmlns:a16="http://schemas.microsoft.com/office/drawing/2014/main" id="{A6017907-01EE-47AA-A8A3-803D53A58D40}"/>
              </a:ext>
            </a:extLst>
          </p:cNvPr>
          <p:cNvSpPr>
            <a:spLocks xmlns:a="http://schemas.openxmlformats.org/drawingml/2006/main" noGrp="1"/>
          </p:cNvSpPr>
          <p:nvPr/>
        </p:nvSpPr>
        <p:spPr>
          <a:xfrm xmlns:a="http://schemas.openxmlformats.org/drawingml/2006/main">
            <a:off x="7250113" y="2838450"/>
            <a:ext cx="247650" cy="24765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20" name="">
            <a:extLst xmlns:a="http://schemas.openxmlformats.org/drawingml/2006/main">
              <a:ext uri="{FF2B5EF4-FFF2-40B4-BE49-F238E27FC236}">
                <a16:creationId xmlns:a16="http://schemas.microsoft.com/office/drawing/2014/main" id="{267B7370-A592-4184-BA07-E75C699EBB5A}"/>
              </a:ext>
            </a:extLst>
          </p:cNvPr>
          <p:cNvSpPr>
            <a:spLocks xmlns:a="http://schemas.openxmlformats.org/drawingml/2006/main" noGrp="1"/>
          </p:cNvSpPr>
          <p:nvPr/>
        </p:nvSpPr>
        <p:spPr>
          <a:xfrm xmlns:a="http://schemas.openxmlformats.org/drawingml/2006/main">
            <a:off x="6619875" y="3219450"/>
            <a:ext cx="1508125" cy="2000250"/>
          </a:xfrm>
          <a:prstGeom xmlns:a="http://schemas.openxmlformats.org/drawingml/2006/main" prst="roundRect">
            <a:avLst>
              <a:gd name="adj" fmla="val 5053"/>
            </a:avLst>
          </a:prstGeom>
          <a:noFill xmlns:a="http://schemas.openxmlformats.org/drawingml/2006/main"/>
          <a:ln xmlns:a="http://schemas.openxmlformats.org/drawingml/2006/main" w="9525">
            <a:solidFill>
              <a:srgbClr val="003F6B"/>
            </a:solidFill>
            <a:prstDash val="solid"/>
          </a:ln>
        </p:spPr>
      </p:sp>
      <p:sp>
        <p:nvSpPr>
          <p:cNvPr id="21" name="">
            <a:extLst xmlns:a="http://schemas.openxmlformats.org/drawingml/2006/main">
              <a:ext uri="{FF2B5EF4-FFF2-40B4-BE49-F238E27FC236}">
                <a16:creationId xmlns:a16="http://schemas.microsoft.com/office/drawing/2014/main" id="{BFAAEFF7-5319-4A43-AAAF-D31EE1D2E1F0}"/>
              </a:ext>
            </a:extLst>
          </p:cNvPr>
          <p:cNvSpPr>
            <a:spLocks xmlns:a="http://schemas.openxmlformats.org/drawingml/2006/main" noGrp="1"/>
          </p:cNvSpPr>
          <p:nvPr/>
        </p:nvSpPr>
        <p:spPr>
          <a:xfrm xmlns:a="http://schemas.openxmlformats.org/drawingml/2006/main">
            <a:off x="6715125" y="3314700"/>
            <a:ext cx="13176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Anfechtung oder Verpflichtung passend zum Begehren wählen.</a:t>
            </a:r>
          </a:p>
        </p:txBody>
      </p:sp>
      <p:sp>
        <p:nvSpPr>
          <p:cNvPr id="22" name="">
            <a:extLst xmlns:a="http://schemas.openxmlformats.org/drawingml/2006/main">
              <a:ext uri="{FF2B5EF4-FFF2-40B4-BE49-F238E27FC236}">
                <a16:creationId xmlns:a16="http://schemas.microsoft.com/office/drawing/2014/main" id="{28E9367E-89C5-4214-8394-4262F33FF5FF}"/>
              </a:ext>
            </a:extLst>
          </p:cNvPr>
          <p:cNvSpPr>
            <a:spLocks xmlns:a="http://schemas.openxmlformats.org/drawingml/2006/main" noGrp="1"/>
          </p:cNvSpPr>
          <p:nvPr/>
        </p:nvSpPr>
        <p:spPr>
          <a:xfrm xmlns:a="http://schemas.openxmlformats.org/drawingml/2006/main">
            <a:off x="8223250" y="2495550"/>
            <a:ext cx="1508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Eilrechtsschutz</a:t>
            </a:r>
          </a:p>
        </p:txBody>
      </p:sp>
      <p:sp>
        <p:nvSpPr>
          <p:cNvPr id="23" name="">
            <a:extLst xmlns:a="http://schemas.openxmlformats.org/drawingml/2006/main">
              <a:ext uri="{FF2B5EF4-FFF2-40B4-BE49-F238E27FC236}">
                <a16:creationId xmlns:a16="http://schemas.microsoft.com/office/drawing/2014/main" id="{48B5C343-6446-40CF-AB54-9778F6B59C32}"/>
              </a:ext>
            </a:extLst>
          </p:cNvPr>
          <p:cNvSpPr>
            <a:spLocks xmlns:a="http://schemas.openxmlformats.org/drawingml/2006/main" noGrp="1"/>
          </p:cNvSpPr>
          <p:nvPr/>
        </p:nvSpPr>
        <p:spPr>
          <a:xfrm xmlns:a="http://schemas.openxmlformats.org/drawingml/2006/main">
            <a:off x="8853488" y="2838450"/>
            <a:ext cx="247650" cy="24765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24" name="">
            <a:extLst xmlns:a="http://schemas.openxmlformats.org/drawingml/2006/main">
              <a:ext uri="{FF2B5EF4-FFF2-40B4-BE49-F238E27FC236}">
                <a16:creationId xmlns:a16="http://schemas.microsoft.com/office/drawing/2014/main" id="{09AD9572-5B33-40F9-945D-6CED66877FEE}"/>
              </a:ext>
            </a:extLst>
          </p:cNvPr>
          <p:cNvSpPr>
            <a:spLocks xmlns:a="http://schemas.openxmlformats.org/drawingml/2006/main" noGrp="1"/>
          </p:cNvSpPr>
          <p:nvPr/>
        </p:nvSpPr>
        <p:spPr>
          <a:xfrm xmlns:a="http://schemas.openxmlformats.org/drawingml/2006/main">
            <a:off x="8223250" y="3219450"/>
            <a:ext cx="1508125" cy="2000250"/>
          </a:xfrm>
          <a:prstGeom xmlns:a="http://schemas.openxmlformats.org/drawingml/2006/main" prst="roundRect">
            <a:avLst>
              <a:gd name="adj" fmla="val 5053"/>
            </a:avLst>
          </a:prstGeom>
          <a:noFill xmlns:a="http://schemas.openxmlformats.org/drawingml/2006/main"/>
          <a:ln xmlns:a="http://schemas.openxmlformats.org/drawingml/2006/main" w="9525">
            <a:solidFill>
              <a:srgbClr val="00B2BB"/>
            </a:solidFill>
            <a:prstDash val="solid"/>
          </a:ln>
        </p:spPr>
      </p:sp>
      <p:sp>
        <p:nvSpPr>
          <p:cNvPr id="25" name="">
            <a:extLst xmlns:a="http://schemas.openxmlformats.org/drawingml/2006/main">
              <a:ext uri="{FF2B5EF4-FFF2-40B4-BE49-F238E27FC236}">
                <a16:creationId xmlns:a16="http://schemas.microsoft.com/office/drawing/2014/main" id="{9487B967-AA5E-418B-B905-A7886E2F5A6C}"/>
              </a:ext>
            </a:extLst>
          </p:cNvPr>
          <p:cNvSpPr>
            <a:spLocks xmlns:a="http://schemas.openxmlformats.org/drawingml/2006/main" noGrp="1"/>
          </p:cNvSpPr>
          <p:nvPr/>
        </p:nvSpPr>
        <p:spPr>
          <a:xfrm xmlns:a="http://schemas.openxmlformats.org/drawingml/2006/main">
            <a:off x="8318500" y="3314700"/>
            <a:ext cx="13176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 80, 80a oder 123 VwGO für vorläufige Sicherung prüfen.</a:t>
            </a:r>
          </a:p>
        </p:txBody>
      </p:sp>
      <p:sp>
        <p:nvSpPr>
          <p:cNvPr id="26" name="">
            <a:extLst xmlns:a="http://schemas.openxmlformats.org/drawingml/2006/main">
              <a:ext uri="{FF2B5EF4-FFF2-40B4-BE49-F238E27FC236}">
                <a16:creationId xmlns:a16="http://schemas.microsoft.com/office/drawing/2014/main" id="{B44C36B9-5811-48BE-A0FB-11E1C59FCEEF}"/>
              </a:ext>
            </a:extLst>
          </p:cNvPr>
          <p:cNvSpPr>
            <a:spLocks xmlns:a="http://schemas.openxmlformats.org/drawingml/2006/main" noGrp="1"/>
          </p:cNvSpPr>
          <p:nvPr/>
        </p:nvSpPr>
        <p:spPr>
          <a:xfrm xmlns:a="http://schemas.openxmlformats.org/drawingml/2006/main">
            <a:off x="9826625" y="2495550"/>
            <a:ext cx="1508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65" b="1">
                <a:solidFill>
                  <a:srgbClr val="003F6B"/>
                </a:solidFill>
              </a:defRPr>
            </a:pPr>
            <a:r>
              <a:rPr sz="1065" b="1">
                <a:solidFill>
                  <a:srgbClr val="003F6B"/>
                </a:solidFill>
              </a:rPr>
              <a:t>Hauptsache</a:t>
            </a:r>
          </a:p>
        </p:txBody>
      </p:sp>
      <p:sp>
        <p:nvSpPr>
          <p:cNvPr id="27" name="">
            <a:extLst xmlns:a="http://schemas.openxmlformats.org/drawingml/2006/main">
              <a:ext uri="{FF2B5EF4-FFF2-40B4-BE49-F238E27FC236}">
                <a16:creationId xmlns:a16="http://schemas.microsoft.com/office/drawing/2014/main" id="{6F8E4EC3-9C1F-4D47-BC12-A0D2CF955A5F}"/>
              </a:ext>
            </a:extLst>
          </p:cNvPr>
          <p:cNvSpPr>
            <a:spLocks xmlns:a="http://schemas.openxmlformats.org/drawingml/2006/main" noGrp="1"/>
          </p:cNvSpPr>
          <p:nvPr/>
        </p:nvSpPr>
        <p:spPr>
          <a:xfrm xmlns:a="http://schemas.openxmlformats.org/drawingml/2006/main">
            <a:off x="10456863" y="2838450"/>
            <a:ext cx="247650" cy="24765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28" name="">
            <a:extLst xmlns:a="http://schemas.openxmlformats.org/drawingml/2006/main">
              <a:ext uri="{FF2B5EF4-FFF2-40B4-BE49-F238E27FC236}">
                <a16:creationId xmlns:a16="http://schemas.microsoft.com/office/drawing/2014/main" id="{EB01C89A-472B-490E-8D45-D02EF7805F51}"/>
              </a:ext>
            </a:extLst>
          </p:cNvPr>
          <p:cNvSpPr>
            <a:spLocks xmlns:a="http://schemas.openxmlformats.org/drawingml/2006/main" noGrp="1"/>
          </p:cNvSpPr>
          <p:nvPr/>
        </p:nvSpPr>
        <p:spPr>
          <a:xfrm xmlns:a="http://schemas.openxmlformats.org/drawingml/2006/main">
            <a:off x="9826625" y="3219450"/>
            <a:ext cx="1508125" cy="2000250"/>
          </a:xfrm>
          <a:prstGeom xmlns:a="http://schemas.openxmlformats.org/drawingml/2006/main" prst="roundRect">
            <a:avLst>
              <a:gd name="adj" fmla="val 5053"/>
            </a:avLst>
          </a:prstGeom>
          <a:noFill xmlns:a="http://schemas.openxmlformats.org/drawingml/2006/main"/>
          <a:ln xmlns:a="http://schemas.openxmlformats.org/drawingml/2006/main" w="9525">
            <a:solidFill>
              <a:srgbClr val="003F6B"/>
            </a:solidFill>
            <a:prstDash val="solid"/>
          </a:ln>
        </p:spPr>
      </p:sp>
      <p:sp>
        <p:nvSpPr>
          <p:cNvPr id="29" name="">
            <a:extLst xmlns:a="http://schemas.openxmlformats.org/drawingml/2006/main">
              <a:ext uri="{FF2B5EF4-FFF2-40B4-BE49-F238E27FC236}">
                <a16:creationId xmlns:a16="http://schemas.microsoft.com/office/drawing/2014/main" id="{9B7A0D38-0A95-4EA1-B4AE-5CA6157AF13A}"/>
              </a:ext>
            </a:extLst>
          </p:cNvPr>
          <p:cNvSpPr>
            <a:spLocks xmlns:a="http://schemas.openxmlformats.org/drawingml/2006/main" noGrp="1"/>
          </p:cNvSpPr>
          <p:nvPr/>
        </p:nvSpPr>
        <p:spPr>
          <a:xfrm xmlns:a="http://schemas.openxmlformats.org/drawingml/2006/main">
            <a:off x="9921875" y="3314700"/>
            <a:ext cx="13176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90">
                <a:solidFill>
                  <a:srgbClr val="15232B"/>
                </a:solidFill>
              </a:defRPr>
            </a:pPr>
            <a:r>
              <a:rPr sz="990">
                <a:solidFill>
                  <a:srgbClr val="15232B"/>
                </a:solidFill>
              </a:rPr>
              <a:t>Gerichtliche Entscheidung und mögliche Rechtsmittel.</a:t>
            </a:r>
          </a:p>
        </p:txBody>
      </p:sp>
      <p:sp>
        <p:nvSpPr>
          <p:cNvPr id="30" name="">
            <a:extLst xmlns:a="http://schemas.openxmlformats.org/drawingml/2006/main">
              <a:ext uri="{FF2B5EF4-FFF2-40B4-BE49-F238E27FC236}">
                <a16:creationId xmlns:a16="http://schemas.microsoft.com/office/drawing/2014/main" id="{1E1750B4-6643-44FC-AFC8-E6E898C9610A}"/>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31" name="">
            <a:extLst xmlns:a="http://schemas.openxmlformats.org/drawingml/2006/main">
              <a:ext uri="{FF2B5EF4-FFF2-40B4-BE49-F238E27FC236}">
                <a16:creationId xmlns:a16="http://schemas.microsoft.com/office/drawing/2014/main" id="{E32D4504-7F83-4F49-9366-5235E85D6086}"/>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Rechtsbehelfsbelehrung und Zustellungsdatum sofort sichern.</a:t>
            </a:r>
          </a:p>
        </p:txBody>
      </p:sp>
    </p:spTree>
    <p:extLst>
      <p:ext uri="{BB962C8B-B14F-4D97-AF65-F5344CB8AC3E}">
        <p14:creationId xmlns:p14="http://schemas.microsoft.com/office/powerpoint/2010/main" val="43637646"/>
      </p:ext>
    </p:extLst>
  </p:cSld>
</p:sld>
</file>

<file path=ppt/slides/slide412.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Glossar: die wichtigsten Prozessbegriffe</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771BB7AE-D00F-492D-B899-051830AFAF95}"/>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Diese Begriffe ordnen den Verfahrensablauf.</a:t>
            </a:r>
          </a:p>
        </p:txBody>
      </p:sp>
      <p:sp>
        <p:nvSpPr>
          <p:cNvPr id="5" name="">
            <a:extLst xmlns:a="http://schemas.openxmlformats.org/drawingml/2006/main">
              <a:ext uri="{FF2B5EF4-FFF2-40B4-BE49-F238E27FC236}">
                <a16:creationId xmlns:a16="http://schemas.microsoft.com/office/drawing/2014/main" id="{14F4B66B-A2E7-4CD2-8318-5E499FA4BD05}"/>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08EFB6B6-C58B-4753-A167-5F46F4B49357}"/>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3DB4D29D-D9B3-42DD-B797-90E0200E872B}"/>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Zulässigkeit</a:t>
            </a:r>
          </a:p>
        </p:txBody>
      </p:sp>
      <p:sp>
        <p:nvSpPr>
          <p:cNvPr id="8" name="">
            <a:extLst xmlns:a="http://schemas.openxmlformats.org/drawingml/2006/main">
              <a:ext uri="{FF2B5EF4-FFF2-40B4-BE49-F238E27FC236}">
                <a16:creationId xmlns:a16="http://schemas.microsoft.com/office/drawing/2014/main" id="{C9B3CE58-5D88-40E6-BE86-3E872B085CDE}"/>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Darf das Gericht in dieser Verfahrensart über den Antrag entscheiden?</a:t>
            </a:r>
          </a:p>
        </p:txBody>
      </p:sp>
      <p:sp>
        <p:nvSpPr>
          <p:cNvPr id="9" name="">
            <a:extLst xmlns:a="http://schemas.openxmlformats.org/drawingml/2006/main">
              <a:ext uri="{FF2B5EF4-FFF2-40B4-BE49-F238E27FC236}">
                <a16:creationId xmlns:a16="http://schemas.microsoft.com/office/drawing/2014/main" id="{7AEDD4A1-D717-4831-A712-7D9C74368E4D}"/>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CE316B76-3A64-4D29-A0DA-D3EB844067A3}"/>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100B7FF8-DBE0-4795-AEA4-FE6847232B5C}"/>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Begründetheit</a:t>
            </a:r>
          </a:p>
        </p:txBody>
      </p:sp>
      <p:sp>
        <p:nvSpPr>
          <p:cNvPr id="12" name="">
            <a:extLst xmlns:a="http://schemas.openxmlformats.org/drawingml/2006/main">
              <a:ext uri="{FF2B5EF4-FFF2-40B4-BE49-F238E27FC236}">
                <a16:creationId xmlns:a16="http://schemas.microsoft.com/office/drawing/2014/main" id="{65C2C09C-9AAB-4B17-86FE-38D3A7C3B458}"/>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Besteht das geltend gemachte Recht beziehungsweise ist die angegriffene Maßnahme rechtswidrig?</a:t>
            </a:r>
          </a:p>
        </p:txBody>
      </p:sp>
      <p:sp>
        <p:nvSpPr>
          <p:cNvPr id="13" name="">
            <a:extLst xmlns:a="http://schemas.openxmlformats.org/drawingml/2006/main">
              <a:ext uri="{FF2B5EF4-FFF2-40B4-BE49-F238E27FC236}">
                <a16:creationId xmlns:a16="http://schemas.microsoft.com/office/drawing/2014/main" id="{AB86B6D2-951B-475D-ADCA-A997520B40DD}"/>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2CC6D161-E034-4CF8-B069-9CA1277DA33A}"/>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1FAFF10E-1C12-4588-BB01-63482A1B10BE}"/>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Darlegung</a:t>
            </a:r>
          </a:p>
        </p:txBody>
      </p:sp>
      <p:sp>
        <p:nvSpPr>
          <p:cNvPr id="16" name="">
            <a:extLst xmlns:a="http://schemas.openxmlformats.org/drawingml/2006/main">
              <a:ext uri="{FF2B5EF4-FFF2-40B4-BE49-F238E27FC236}">
                <a16:creationId xmlns:a16="http://schemas.microsoft.com/office/drawing/2014/main" id="{634120F7-21F6-4422-A0BB-C3816EF6368C}"/>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Konkrete tatsächliche Behauptung einer Partei.</a:t>
            </a:r>
          </a:p>
        </p:txBody>
      </p:sp>
      <p:sp>
        <p:nvSpPr>
          <p:cNvPr id="17" name="">
            <a:extLst xmlns:a="http://schemas.openxmlformats.org/drawingml/2006/main">
              <a:ext uri="{FF2B5EF4-FFF2-40B4-BE49-F238E27FC236}">
                <a16:creationId xmlns:a16="http://schemas.microsoft.com/office/drawing/2014/main" id="{9B9F5A8A-10CB-4227-B788-1149BFBF919D}"/>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62F372A5-AC74-4CF3-9902-FFDC54D924A2}"/>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0E6F7C3C-65D7-4335-905D-95EE0714FD8D}"/>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Beweis</a:t>
            </a:r>
          </a:p>
        </p:txBody>
      </p:sp>
      <p:sp>
        <p:nvSpPr>
          <p:cNvPr id="20" name="">
            <a:extLst xmlns:a="http://schemas.openxmlformats.org/drawingml/2006/main">
              <a:ext uri="{FF2B5EF4-FFF2-40B4-BE49-F238E27FC236}">
                <a16:creationId xmlns:a16="http://schemas.microsoft.com/office/drawing/2014/main" id="{6CE3EF4E-98AA-42AF-B7DD-7DF0C2632857}"/>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Gerichtliche Überzeugungsbildung über eine streitige erhebliche Tatsache.</a:t>
            </a:r>
          </a:p>
        </p:txBody>
      </p:sp>
      <p:sp>
        <p:nvSpPr>
          <p:cNvPr id="21" name="">
            <a:extLst xmlns:a="http://schemas.openxmlformats.org/drawingml/2006/main">
              <a:ext uri="{FF2B5EF4-FFF2-40B4-BE49-F238E27FC236}">
                <a16:creationId xmlns:a16="http://schemas.microsoft.com/office/drawing/2014/main" id="{0B024EEF-AB3E-4D98-ABFD-DEBB91A79579}"/>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B1AA9BCC-A310-4C9D-A80D-B400F7A57D67}"/>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Erst Zulässigkeit, dann Begründetheit; erst Tatsachenvortrag, dann Beweis.</a:t>
            </a:r>
          </a:p>
        </p:txBody>
      </p:sp>
    </p:spTree>
    <p:extLst>
      <p:ext uri="{BB962C8B-B14F-4D97-AF65-F5344CB8AC3E}">
        <p14:creationId xmlns:p14="http://schemas.microsoft.com/office/powerpoint/2010/main" val="43637646"/>
      </p:ext>
    </p:extLst>
  </p:cSld>
</p:sld>
</file>

<file path=ppt/slides/slide413.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Glossar: medizinrechtliche Kernbegriffe</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E41B1722-9DA0-45AF-A3D1-C22EDC7E20B9}"/>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Begriffe werden funktional und nicht nur als Etikett verwendet.</a:t>
            </a:r>
          </a:p>
        </p:txBody>
      </p:sp>
      <p:sp>
        <p:nvSpPr>
          <p:cNvPr id="5" name="">
            <a:extLst xmlns:a="http://schemas.openxmlformats.org/drawingml/2006/main">
              <a:ext uri="{FF2B5EF4-FFF2-40B4-BE49-F238E27FC236}">
                <a16:creationId xmlns:a16="http://schemas.microsoft.com/office/drawing/2014/main" id="{9A37ADA8-FD5C-4821-86CC-5B68C8E339AC}"/>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DABD6B49-688F-48B5-9DEE-E1F122CE87FC}"/>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089EB9CF-F2B9-4DF5-A9FC-B9A11C89AE7E}"/>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Standard</a:t>
            </a:r>
          </a:p>
        </p:txBody>
      </p:sp>
      <p:sp>
        <p:nvSpPr>
          <p:cNvPr id="8" name="">
            <a:extLst xmlns:a="http://schemas.openxmlformats.org/drawingml/2006/main">
              <a:ext uri="{FF2B5EF4-FFF2-40B4-BE49-F238E27FC236}">
                <a16:creationId xmlns:a16="http://schemas.microsoft.com/office/drawing/2014/main" id="{0A4DFB83-FEAD-4D17-8964-B5C3630AC4C1}"/>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Zum Behandlungszeitpunkt anerkannter fachlicher Maßstab in der konkreten Situation.</a:t>
            </a:r>
          </a:p>
        </p:txBody>
      </p:sp>
      <p:sp>
        <p:nvSpPr>
          <p:cNvPr id="9" name="">
            <a:extLst xmlns:a="http://schemas.openxmlformats.org/drawingml/2006/main">
              <a:ext uri="{FF2B5EF4-FFF2-40B4-BE49-F238E27FC236}">
                <a16:creationId xmlns:a16="http://schemas.microsoft.com/office/drawing/2014/main" id="{3BA295E3-46D3-4B89-BFB8-7533E17A3D4C}"/>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2F460376-29F2-41B8-BDD2-FF2657CA807F}"/>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43BC9D7C-2971-48FB-8B2D-2D3B738F4000}"/>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Behandlungsfehler</a:t>
            </a:r>
          </a:p>
        </p:txBody>
      </p:sp>
      <p:sp>
        <p:nvSpPr>
          <p:cNvPr id="12" name="">
            <a:extLst xmlns:a="http://schemas.openxmlformats.org/drawingml/2006/main">
              <a:ext uri="{FF2B5EF4-FFF2-40B4-BE49-F238E27FC236}">
                <a16:creationId xmlns:a16="http://schemas.microsoft.com/office/drawing/2014/main" id="{1EB858FE-7BFC-41A7-A424-F78FE85E579D}"/>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Abweichung von einer geschuldeten medizinischen Pflicht.</a:t>
            </a:r>
          </a:p>
        </p:txBody>
      </p:sp>
      <p:sp>
        <p:nvSpPr>
          <p:cNvPr id="13" name="">
            <a:extLst xmlns:a="http://schemas.openxmlformats.org/drawingml/2006/main">
              <a:ext uri="{FF2B5EF4-FFF2-40B4-BE49-F238E27FC236}">
                <a16:creationId xmlns:a16="http://schemas.microsoft.com/office/drawing/2014/main" id="{3AFA0C4E-3CE9-4CDE-9308-D5F681F06738}"/>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0792774E-CDEA-44A1-AAC5-DDB82F7D0F0B}"/>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F81A9B7B-8A45-491F-B889-B82085C064F7}"/>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Kausalität</a:t>
            </a:r>
          </a:p>
        </p:txBody>
      </p:sp>
      <p:sp>
        <p:nvSpPr>
          <p:cNvPr id="16" name="">
            <a:extLst xmlns:a="http://schemas.openxmlformats.org/drawingml/2006/main">
              <a:ext uri="{FF2B5EF4-FFF2-40B4-BE49-F238E27FC236}">
                <a16:creationId xmlns:a16="http://schemas.microsoft.com/office/drawing/2014/main" id="{D9CFC58F-3713-4158-8AF7-796B9701F435}"/>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Verbindung zwischen Pflichtverletzung, Rechtsgutsverletzung und Schaden.</a:t>
            </a:r>
          </a:p>
        </p:txBody>
      </p:sp>
      <p:sp>
        <p:nvSpPr>
          <p:cNvPr id="17" name="">
            <a:extLst xmlns:a="http://schemas.openxmlformats.org/drawingml/2006/main">
              <a:ext uri="{FF2B5EF4-FFF2-40B4-BE49-F238E27FC236}">
                <a16:creationId xmlns:a16="http://schemas.microsoft.com/office/drawing/2014/main" id="{EA6EFFDF-6222-4911-96E5-5F7E91B51A3B}"/>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F5A7146D-9533-4894-8269-BB7781D18C74}"/>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45448A28-8EB3-40BA-B7B1-3CFA616AC26E}"/>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Beweislast</a:t>
            </a:r>
          </a:p>
        </p:txBody>
      </p:sp>
      <p:sp>
        <p:nvSpPr>
          <p:cNvPr id="20" name="">
            <a:extLst xmlns:a="http://schemas.openxmlformats.org/drawingml/2006/main">
              <a:ext uri="{FF2B5EF4-FFF2-40B4-BE49-F238E27FC236}">
                <a16:creationId xmlns:a16="http://schemas.microsoft.com/office/drawing/2014/main" id="{56ADE433-B795-4702-A382-D0C387EA8CFF}"/>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Risiko, dass eine entscheidende Tatsache ungeklärt bleibt.</a:t>
            </a:r>
          </a:p>
        </p:txBody>
      </p:sp>
      <p:sp>
        <p:nvSpPr>
          <p:cNvPr id="21" name="">
            <a:extLst xmlns:a="http://schemas.openxmlformats.org/drawingml/2006/main">
              <a:ext uri="{FF2B5EF4-FFF2-40B4-BE49-F238E27FC236}">
                <a16:creationId xmlns:a16="http://schemas.microsoft.com/office/drawing/2014/main" id="{45F96D69-952E-4EF3-8501-69E202EDE9A8}"/>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FBD9CF54-A785-440E-A037-EEBAD64620FB}"/>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Fehler, Schaden und Kausalität sind drei eigenständige Prüfschritte.</a:t>
            </a:r>
          </a:p>
        </p:txBody>
      </p:sp>
    </p:spTree>
    <p:extLst>
      <p:ext uri="{BB962C8B-B14F-4D97-AF65-F5344CB8AC3E}">
        <p14:creationId xmlns:p14="http://schemas.microsoft.com/office/powerpoint/2010/main" val="43637646"/>
      </p:ext>
    </p:extLst>
  </p:cSld>
</p:sld>
</file>

<file path=ppt/slides/slide414.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Gerichtspost: 10-Minuten-Triage</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PRÜFUNGSSCHEMA · SOFORT</a:t>
            </a:r>
            <a:endParaRPr/>
          </a:p>
        </p:txBody>
      </p:sp>
      <p:sp>
        <p:nvSpPr>
          <p:cNvPr id="4" name="">
            <a:extLst xmlns:a="http://schemas.openxmlformats.org/drawingml/2006/main">
              <a:ext uri="{FF2B5EF4-FFF2-40B4-BE49-F238E27FC236}">
                <a16:creationId xmlns:a16="http://schemas.microsoft.com/office/drawing/2014/main" id="{22749804-0ACD-4F78-9F30-74E5162EB941}"/>
              </a:ext>
            </a:extLst>
          </p:cNvPr>
          <p:cNvSpPr>
            <a:spLocks xmlns:a="http://schemas.openxmlformats.org/drawingml/2006/main" noGrp="1"/>
          </p:cNvSpPr>
          <p:nvPr/>
        </p:nvSpPr>
        <p:spPr>
          <a:xfrm xmlns:a="http://schemas.openxmlformats.org/drawingml/2006/main">
            <a:off x="1809750" y="195262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B0D380BB-3C4D-421C-97E7-661C3EBDFA3A}"/>
              </a:ext>
            </a:extLst>
          </p:cNvPr>
          <p:cNvSpPr>
            <a:spLocks xmlns:a="http://schemas.openxmlformats.org/drawingml/2006/main" noGrp="1"/>
          </p:cNvSpPr>
          <p:nvPr/>
        </p:nvSpPr>
        <p:spPr>
          <a:xfrm xmlns:a="http://schemas.openxmlformats.org/drawingml/2006/main">
            <a:off x="1809750" y="19526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6" name="">
            <a:extLst xmlns:a="http://schemas.openxmlformats.org/drawingml/2006/main">
              <a:ext uri="{FF2B5EF4-FFF2-40B4-BE49-F238E27FC236}">
                <a16:creationId xmlns:a16="http://schemas.microsoft.com/office/drawing/2014/main" id="{7E8EB4DA-C79A-4C5E-B19F-5B22CF3F0AD5}"/>
              </a:ext>
            </a:extLst>
          </p:cNvPr>
          <p:cNvSpPr>
            <a:spLocks xmlns:a="http://schemas.openxmlformats.org/drawingml/2006/main" noGrp="1"/>
          </p:cNvSpPr>
          <p:nvPr/>
        </p:nvSpPr>
        <p:spPr>
          <a:xfrm xmlns:a="http://schemas.openxmlformats.org/drawingml/2006/main">
            <a:off x="2324100" y="196215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1. Was ist es?</a:t>
            </a:r>
          </a:p>
        </p:txBody>
      </p:sp>
      <p:sp>
        <p:nvSpPr>
          <p:cNvPr id="7" name="">
            <a:extLst xmlns:a="http://schemas.openxmlformats.org/drawingml/2006/main">
              <a:ext uri="{FF2B5EF4-FFF2-40B4-BE49-F238E27FC236}">
                <a16:creationId xmlns:a16="http://schemas.microsoft.com/office/drawing/2014/main" id="{7A951B64-A6FE-442A-8EBF-1FD3045FC514}"/>
              </a:ext>
            </a:extLst>
          </p:cNvPr>
          <p:cNvSpPr>
            <a:spLocks xmlns:a="http://schemas.openxmlformats.org/drawingml/2006/main" noGrp="1"/>
          </p:cNvSpPr>
          <p:nvPr/>
        </p:nvSpPr>
        <p:spPr>
          <a:xfrm xmlns:a="http://schemas.openxmlformats.org/drawingml/2006/main">
            <a:off x="4819650" y="196215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Klage, Ladung, Anhörung, Beschluss, Durchsuchung oder Gutachten?</a:t>
            </a:r>
          </a:p>
        </p:txBody>
      </p:sp>
      <p:sp>
        <p:nvSpPr>
          <p:cNvPr id="8" name="">
            <a:extLst xmlns:a="http://schemas.openxmlformats.org/drawingml/2006/main">
              <a:ext uri="{FF2B5EF4-FFF2-40B4-BE49-F238E27FC236}">
                <a16:creationId xmlns:a16="http://schemas.microsoft.com/office/drawing/2014/main" id="{7C119DE6-279C-4519-913D-84AD16C90339}"/>
              </a:ext>
            </a:extLst>
          </p:cNvPr>
          <p:cNvSpPr>
            <a:spLocks xmlns:a="http://schemas.openxmlformats.org/drawingml/2006/main" noGrp="1"/>
          </p:cNvSpPr>
          <p:nvPr/>
        </p:nvSpPr>
        <p:spPr>
          <a:xfrm xmlns:a="http://schemas.openxmlformats.org/drawingml/2006/main">
            <a:off x="1809750" y="255270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9" name="">
            <a:extLst xmlns:a="http://schemas.openxmlformats.org/drawingml/2006/main">
              <a:ext uri="{FF2B5EF4-FFF2-40B4-BE49-F238E27FC236}">
                <a16:creationId xmlns:a16="http://schemas.microsoft.com/office/drawing/2014/main" id="{DEE61EB1-4978-447D-AF0D-6E3CD8F4C8CB}"/>
              </a:ext>
            </a:extLst>
          </p:cNvPr>
          <p:cNvSpPr>
            <a:spLocks xmlns:a="http://schemas.openxmlformats.org/drawingml/2006/main" noGrp="1"/>
          </p:cNvSpPr>
          <p:nvPr/>
        </p:nvSpPr>
        <p:spPr>
          <a:xfrm xmlns:a="http://schemas.openxmlformats.org/drawingml/2006/main">
            <a:off x="1809750" y="255270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0" name="">
            <a:extLst xmlns:a="http://schemas.openxmlformats.org/drawingml/2006/main">
              <a:ext uri="{FF2B5EF4-FFF2-40B4-BE49-F238E27FC236}">
                <a16:creationId xmlns:a16="http://schemas.microsoft.com/office/drawing/2014/main" id="{13037FA2-BC3B-48D1-9353-71FCFA0AA86F}"/>
              </a:ext>
            </a:extLst>
          </p:cNvPr>
          <p:cNvSpPr>
            <a:spLocks xmlns:a="http://schemas.openxmlformats.org/drawingml/2006/main" noGrp="1"/>
          </p:cNvSpPr>
          <p:nvPr/>
        </p:nvSpPr>
        <p:spPr>
          <a:xfrm xmlns:a="http://schemas.openxmlformats.org/drawingml/2006/main">
            <a:off x="2324100" y="256222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2. Für wen?</a:t>
            </a:r>
          </a:p>
        </p:txBody>
      </p:sp>
      <p:sp>
        <p:nvSpPr>
          <p:cNvPr id="11" name="">
            <a:extLst xmlns:a="http://schemas.openxmlformats.org/drawingml/2006/main">
              <a:ext uri="{FF2B5EF4-FFF2-40B4-BE49-F238E27FC236}">
                <a16:creationId xmlns:a16="http://schemas.microsoft.com/office/drawing/2014/main" id="{10273AF2-4D79-49FB-826E-BA743201CBA7}"/>
              </a:ext>
            </a:extLst>
          </p:cNvPr>
          <p:cNvSpPr>
            <a:spLocks xmlns:a="http://schemas.openxmlformats.org/drawingml/2006/main" noGrp="1"/>
          </p:cNvSpPr>
          <p:nvPr/>
        </p:nvSpPr>
        <p:spPr>
          <a:xfrm xmlns:a="http://schemas.openxmlformats.org/drawingml/2006/main">
            <a:off x="4819650" y="256222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Institution, konkrete Person oder beide?</a:t>
            </a:r>
          </a:p>
        </p:txBody>
      </p:sp>
      <p:sp>
        <p:nvSpPr>
          <p:cNvPr id="12" name="">
            <a:extLst xmlns:a="http://schemas.openxmlformats.org/drawingml/2006/main">
              <a:ext uri="{FF2B5EF4-FFF2-40B4-BE49-F238E27FC236}">
                <a16:creationId xmlns:a16="http://schemas.microsoft.com/office/drawing/2014/main" id="{338CAC0A-CCB8-4D5B-9363-2EEA0B06FCDD}"/>
              </a:ext>
            </a:extLst>
          </p:cNvPr>
          <p:cNvSpPr>
            <a:spLocks xmlns:a="http://schemas.openxmlformats.org/drawingml/2006/main" noGrp="1"/>
          </p:cNvSpPr>
          <p:nvPr/>
        </p:nvSpPr>
        <p:spPr>
          <a:xfrm xmlns:a="http://schemas.openxmlformats.org/drawingml/2006/main">
            <a:off x="1809750" y="315277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3" name="">
            <a:extLst xmlns:a="http://schemas.openxmlformats.org/drawingml/2006/main">
              <a:ext uri="{FF2B5EF4-FFF2-40B4-BE49-F238E27FC236}">
                <a16:creationId xmlns:a16="http://schemas.microsoft.com/office/drawing/2014/main" id="{E15E7503-8C5A-4B0F-BBEC-609290AD1DA1}"/>
              </a:ext>
            </a:extLst>
          </p:cNvPr>
          <p:cNvSpPr>
            <a:spLocks xmlns:a="http://schemas.openxmlformats.org/drawingml/2006/main" noGrp="1"/>
          </p:cNvSpPr>
          <p:nvPr/>
        </p:nvSpPr>
        <p:spPr>
          <a:xfrm xmlns:a="http://schemas.openxmlformats.org/drawingml/2006/main">
            <a:off x="1809750" y="315277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4" name="">
            <a:extLst xmlns:a="http://schemas.openxmlformats.org/drawingml/2006/main">
              <a:ext uri="{FF2B5EF4-FFF2-40B4-BE49-F238E27FC236}">
                <a16:creationId xmlns:a16="http://schemas.microsoft.com/office/drawing/2014/main" id="{D15505E0-F875-45C1-99C3-A20C0307DA7F}"/>
              </a:ext>
            </a:extLst>
          </p:cNvPr>
          <p:cNvSpPr>
            <a:spLocks xmlns:a="http://schemas.openxmlformats.org/drawingml/2006/main" noGrp="1"/>
          </p:cNvSpPr>
          <p:nvPr/>
        </p:nvSpPr>
        <p:spPr>
          <a:xfrm xmlns:a="http://schemas.openxmlformats.org/drawingml/2006/main">
            <a:off x="2324100" y="316230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3. Welche Rolle?</a:t>
            </a:r>
          </a:p>
        </p:txBody>
      </p:sp>
      <p:sp>
        <p:nvSpPr>
          <p:cNvPr id="15" name="">
            <a:extLst xmlns:a="http://schemas.openxmlformats.org/drawingml/2006/main">
              <a:ext uri="{FF2B5EF4-FFF2-40B4-BE49-F238E27FC236}">
                <a16:creationId xmlns:a16="http://schemas.microsoft.com/office/drawing/2014/main" id="{E1369ACD-2B25-4A8E-877C-1C2DD33BAD6F}"/>
              </a:ext>
            </a:extLst>
          </p:cNvPr>
          <p:cNvSpPr>
            <a:spLocks xmlns:a="http://schemas.openxmlformats.org/drawingml/2006/main" noGrp="1"/>
          </p:cNvSpPr>
          <p:nvPr/>
        </p:nvSpPr>
        <p:spPr>
          <a:xfrm xmlns:a="http://schemas.openxmlformats.org/drawingml/2006/main">
            <a:off x="4819650" y="316230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Partei, Zeuge, Beschuldigter, Sachverständiger?</a:t>
            </a:r>
          </a:p>
        </p:txBody>
      </p:sp>
      <p:sp>
        <p:nvSpPr>
          <p:cNvPr id="16" name="">
            <a:extLst xmlns:a="http://schemas.openxmlformats.org/drawingml/2006/main">
              <a:ext uri="{FF2B5EF4-FFF2-40B4-BE49-F238E27FC236}">
                <a16:creationId xmlns:a16="http://schemas.microsoft.com/office/drawing/2014/main" id="{20A5956D-4C60-4C4F-8B97-733DC25A0D90}"/>
              </a:ext>
            </a:extLst>
          </p:cNvPr>
          <p:cNvSpPr>
            <a:spLocks xmlns:a="http://schemas.openxmlformats.org/drawingml/2006/main" noGrp="1"/>
          </p:cNvSpPr>
          <p:nvPr/>
        </p:nvSpPr>
        <p:spPr>
          <a:xfrm xmlns:a="http://schemas.openxmlformats.org/drawingml/2006/main">
            <a:off x="1809750" y="375285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7" name="">
            <a:extLst xmlns:a="http://schemas.openxmlformats.org/drawingml/2006/main">
              <a:ext uri="{FF2B5EF4-FFF2-40B4-BE49-F238E27FC236}">
                <a16:creationId xmlns:a16="http://schemas.microsoft.com/office/drawing/2014/main" id="{97A7D0B2-76C2-45BD-8FF1-EFC3FAB07D3B}"/>
              </a:ext>
            </a:extLst>
          </p:cNvPr>
          <p:cNvSpPr>
            <a:spLocks xmlns:a="http://schemas.openxmlformats.org/drawingml/2006/main" noGrp="1"/>
          </p:cNvSpPr>
          <p:nvPr/>
        </p:nvSpPr>
        <p:spPr>
          <a:xfrm xmlns:a="http://schemas.openxmlformats.org/drawingml/2006/main">
            <a:off x="1809750" y="375285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18" name="">
            <a:extLst xmlns:a="http://schemas.openxmlformats.org/drawingml/2006/main">
              <a:ext uri="{FF2B5EF4-FFF2-40B4-BE49-F238E27FC236}">
                <a16:creationId xmlns:a16="http://schemas.microsoft.com/office/drawing/2014/main" id="{A45DEA2B-F04F-4E9E-85FE-42822D93F77D}"/>
              </a:ext>
            </a:extLst>
          </p:cNvPr>
          <p:cNvSpPr>
            <a:spLocks xmlns:a="http://schemas.openxmlformats.org/drawingml/2006/main" noGrp="1"/>
          </p:cNvSpPr>
          <p:nvPr/>
        </p:nvSpPr>
        <p:spPr>
          <a:xfrm xmlns:a="http://schemas.openxmlformats.org/drawingml/2006/main">
            <a:off x="2324100" y="376237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4. Welche Frist?</a:t>
            </a:r>
          </a:p>
        </p:txBody>
      </p:sp>
      <p:sp>
        <p:nvSpPr>
          <p:cNvPr id="19" name="">
            <a:extLst xmlns:a="http://schemas.openxmlformats.org/drawingml/2006/main">
              <a:ext uri="{FF2B5EF4-FFF2-40B4-BE49-F238E27FC236}">
                <a16:creationId xmlns:a16="http://schemas.microsoft.com/office/drawing/2014/main" id="{5166605F-B041-4276-BF88-3C788E2021A1}"/>
              </a:ext>
            </a:extLst>
          </p:cNvPr>
          <p:cNvSpPr>
            <a:spLocks xmlns:a="http://schemas.openxmlformats.org/drawingml/2006/main" noGrp="1"/>
          </p:cNvSpPr>
          <p:nvPr/>
        </p:nvSpPr>
        <p:spPr>
          <a:xfrm xmlns:a="http://schemas.openxmlformats.org/drawingml/2006/main">
            <a:off x="4819650" y="376237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Zustellung, Termin und Rechtsbehelf dokumentieren.</a:t>
            </a:r>
          </a:p>
        </p:txBody>
      </p:sp>
      <p:sp>
        <p:nvSpPr>
          <p:cNvPr id="20" name="">
            <a:extLst xmlns:a="http://schemas.openxmlformats.org/drawingml/2006/main">
              <a:ext uri="{FF2B5EF4-FFF2-40B4-BE49-F238E27FC236}">
                <a16:creationId xmlns:a16="http://schemas.microsoft.com/office/drawing/2014/main" id="{D970942D-740B-485E-AECA-814F38D10105}"/>
              </a:ext>
            </a:extLst>
          </p:cNvPr>
          <p:cNvSpPr>
            <a:spLocks xmlns:a="http://schemas.openxmlformats.org/drawingml/2006/main" noGrp="1"/>
          </p:cNvSpPr>
          <p:nvPr/>
        </p:nvSpPr>
        <p:spPr>
          <a:xfrm xmlns:a="http://schemas.openxmlformats.org/drawingml/2006/main">
            <a:off x="1809750" y="435292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1" name="">
            <a:extLst xmlns:a="http://schemas.openxmlformats.org/drawingml/2006/main">
              <a:ext uri="{FF2B5EF4-FFF2-40B4-BE49-F238E27FC236}">
                <a16:creationId xmlns:a16="http://schemas.microsoft.com/office/drawing/2014/main" id="{C0F5CEC8-AF53-45C2-B767-A3356076D4AB}"/>
              </a:ext>
            </a:extLst>
          </p:cNvPr>
          <p:cNvSpPr>
            <a:spLocks xmlns:a="http://schemas.openxmlformats.org/drawingml/2006/main" noGrp="1"/>
          </p:cNvSpPr>
          <p:nvPr/>
        </p:nvSpPr>
        <p:spPr>
          <a:xfrm xmlns:a="http://schemas.openxmlformats.org/drawingml/2006/main">
            <a:off x="1809750" y="43529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5</a:t>
            </a:r>
          </a:p>
        </p:txBody>
      </p:sp>
      <p:sp>
        <p:nvSpPr>
          <p:cNvPr id="22" name="">
            <a:extLst xmlns:a="http://schemas.openxmlformats.org/drawingml/2006/main">
              <a:ext uri="{FF2B5EF4-FFF2-40B4-BE49-F238E27FC236}">
                <a16:creationId xmlns:a16="http://schemas.microsoft.com/office/drawing/2014/main" id="{78D46519-9EE5-4F73-8FAB-3F85389B3500}"/>
              </a:ext>
            </a:extLst>
          </p:cNvPr>
          <p:cNvSpPr>
            <a:spLocks xmlns:a="http://schemas.openxmlformats.org/drawingml/2006/main" noGrp="1"/>
          </p:cNvSpPr>
          <p:nvPr/>
        </p:nvSpPr>
        <p:spPr>
          <a:xfrm xmlns:a="http://schemas.openxmlformats.org/drawingml/2006/main">
            <a:off x="2324100" y="436245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5. Wer berät?</a:t>
            </a:r>
          </a:p>
        </p:txBody>
      </p:sp>
      <p:sp>
        <p:nvSpPr>
          <p:cNvPr id="23" name="">
            <a:extLst xmlns:a="http://schemas.openxmlformats.org/drawingml/2006/main">
              <a:ext uri="{FF2B5EF4-FFF2-40B4-BE49-F238E27FC236}">
                <a16:creationId xmlns:a16="http://schemas.microsoft.com/office/drawing/2014/main" id="{94AB8795-66EB-4FB9-8207-C7A44D0C952F}"/>
              </a:ext>
            </a:extLst>
          </p:cNvPr>
          <p:cNvSpPr>
            <a:spLocks xmlns:a="http://schemas.openxmlformats.org/drawingml/2006/main" noGrp="1"/>
          </p:cNvSpPr>
          <p:nvPr/>
        </p:nvSpPr>
        <p:spPr>
          <a:xfrm xmlns:a="http://schemas.openxmlformats.org/drawingml/2006/main">
            <a:off x="4819650" y="436245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Zuständige interne Stelle und gegebenenfalls eigener Beistand.</a:t>
            </a:r>
          </a:p>
        </p:txBody>
      </p:sp>
      <p:sp>
        <p:nvSpPr>
          <p:cNvPr id="24" name="">
            <a:extLst xmlns:a="http://schemas.openxmlformats.org/drawingml/2006/main">
              <a:ext uri="{FF2B5EF4-FFF2-40B4-BE49-F238E27FC236}">
                <a16:creationId xmlns:a16="http://schemas.microsoft.com/office/drawing/2014/main" id="{B28A553D-5816-4B5E-AD6A-CA3C352DE758}"/>
              </a:ext>
            </a:extLst>
          </p:cNvPr>
          <p:cNvSpPr>
            <a:spLocks xmlns:a="http://schemas.openxmlformats.org/drawingml/2006/main" noGrp="1"/>
          </p:cNvSpPr>
          <p:nvPr/>
        </p:nvSpPr>
        <p:spPr>
          <a:xfrm xmlns:a="http://schemas.openxmlformats.org/drawingml/2006/main">
            <a:off x="1809750" y="495300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25" name="">
            <a:extLst xmlns:a="http://schemas.openxmlformats.org/drawingml/2006/main">
              <a:ext uri="{FF2B5EF4-FFF2-40B4-BE49-F238E27FC236}">
                <a16:creationId xmlns:a16="http://schemas.microsoft.com/office/drawing/2014/main" id="{99CFB02C-8200-4F99-BEFE-93A3DD83414B}"/>
              </a:ext>
            </a:extLst>
          </p:cNvPr>
          <p:cNvSpPr>
            <a:spLocks xmlns:a="http://schemas.openxmlformats.org/drawingml/2006/main" noGrp="1"/>
          </p:cNvSpPr>
          <p:nvPr/>
        </p:nvSpPr>
        <p:spPr>
          <a:xfrm xmlns:a="http://schemas.openxmlformats.org/drawingml/2006/main">
            <a:off x="1809750" y="495300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6</a:t>
            </a:r>
          </a:p>
        </p:txBody>
      </p:sp>
      <p:sp>
        <p:nvSpPr>
          <p:cNvPr id="26" name="">
            <a:extLst xmlns:a="http://schemas.openxmlformats.org/drawingml/2006/main">
              <a:ext uri="{FF2B5EF4-FFF2-40B4-BE49-F238E27FC236}">
                <a16:creationId xmlns:a16="http://schemas.microsoft.com/office/drawing/2014/main" id="{9B9DC410-C617-4014-988B-38E6E6B7134F}"/>
              </a:ext>
            </a:extLst>
          </p:cNvPr>
          <p:cNvSpPr>
            <a:spLocks xmlns:a="http://schemas.openxmlformats.org/drawingml/2006/main" noGrp="1"/>
          </p:cNvSpPr>
          <p:nvPr/>
        </p:nvSpPr>
        <p:spPr>
          <a:xfrm xmlns:a="http://schemas.openxmlformats.org/drawingml/2006/main">
            <a:off x="2324100" y="496252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6. Was sichern?</a:t>
            </a:r>
          </a:p>
        </p:txBody>
      </p:sp>
      <p:sp>
        <p:nvSpPr>
          <p:cNvPr id="27" name="">
            <a:extLst xmlns:a="http://schemas.openxmlformats.org/drawingml/2006/main">
              <a:ext uri="{FF2B5EF4-FFF2-40B4-BE49-F238E27FC236}">
                <a16:creationId xmlns:a16="http://schemas.microsoft.com/office/drawing/2014/main" id="{A545CD09-0942-4418-B97C-74036B5A1F52}"/>
              </a:ext>
            </a:extLst>
          </p:cNvPr>
          <p:cNvSpPr>
            <a:spLocks xmlns:a="http://schemas.openxmlformats.org/drawingml/2006/main" noGrp="1"/>
          </p:cNvSpPr>
          <p:nvPr/>
        </p:nvSpPr>
        <p:spPr>
          <a:xfrm xmlns:a="http://schemas.openxmlformats.org/drawingml/2006/main">
            <a:off x="4819650" y="496252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Originalakte, Daten, Kommunikation und persönliche Erinnerung unverändert erhalten.</a:t>
            </a:r>
          </a:p>
        </p:txBody>
      </p:sp>
      <p:sp>
        <p:nvSpPr>
          <p:cNvPr id="28" name="">
            <a:extLst xmlns:a="http://schemas.openxmlformats.org/drawingml/2006/main">
              <a:ext uri="{FF2B5EF4-FFF2-40B4-BE49-F238E27FC236}">
                <a16:creationId xmlns:a16="http://schemas.microsoft.com/office/drawing/2014/main" id="{7782AD5F-F19B-4837-A507-995D043D34D0}"/>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9" name="">
            <a:extLst xmlns:a="http://schemas.openxmlformats.org/drawingml/2006/main">
              <a:ext uri="{FF2B5EF4-FFF2-40B4-BE49-F238E27FC236}">
                <a16:creationId xmlns:a16="http://schemas.microsoft.com/office/drawing/2014/main" id="{3A325E42-EDB5-4AD0-878D-80BEAE44CD1C}"/>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Nicht spontan inhaltlich antworten, bevor Rolle, Frist und Beratung geklärt sind.</a:t>
            </a:r>
          </a:p>
        </p:txBody>
      </p:sp>
    </p:spTree>
    <p:extLst>
      <p:ext uri="{BB962C8B-B14F-4D97-AF65-F5344CB8AC3E}">
        <p14:creationId xmlns:p14="http://schemas.microsoft.com/office/powerpoint/2010/main" val="43637646"/>
      </p:ext>
    </p:extLst>
  </p:cSld>
</p:sld>
</file>

<file path=ppt/slides/slide415.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Prüfungsleistung: KI-robuster Baukasten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PRÜFUNGSSCHEMA · WAHLMÖGLICHKEIT</a:t>
            </a:r>
            <a:endParaRPr/>
          </a:p>
        </p:txBody>
      </p:sp>
      <p:sp>
        <p:nvSpPr>
          <p:cNvPr id="4" name="">
            <a:extLst xmlns:a="http://schemas.openxmlformats.org/drawingml/2006/main">
              <a:ext uri="{FF2B5EF4-FFF2-40B4-BE49-F238E27FC236}">
                <a16:creationId xmlns:a16="http://schemas.microsoft.com/office/drawing/2014/main" id="{08D2447E-3844-4907-A73C-D32B19D3C062}"/>
              </a:ext>
            </a:extLst>
          </p:cNvPr>
          <p:cNvSpPr>
            <a:spLocks xmlns:a="http://schemas.openxmlformats.org/drawingml/2006/main" noGrp="1"/>
          </p:cNvSpPr>
          <p:nvPr/>
        </p:nvSpPr>
        <p:spPr>
          <a:xfrm xmlns:a="http://schemas.openxmlformats.org/drawingml/2006/main">
            <a:off x="1809750" y="195262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1AFFA19A-AF9D-40AC-BC1F-A44A904BB9D2}"/>
              </a:ext>
            </a:extLst>
          </p:cNvPr>
          <p:cNvSpPr>
            <a:spLocks xmlns:a="http://schemas.openxmlformats.org/drawingml/2006/main" noGrp="1"/>
          </p:cNvSpPr>
          <p:nvPr/>
        </p:nvSpPr>
        <p:spPr>
          <a:xfrm xmlns:a="http://schemas.openxmlformats.org/drawingml/2006/main">
            <a:off x="1809750" y="19526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1</a:t>
            </a:r>
          </a:p>
        </p:txBody>
      </p:sp>
      <p:sp>
        <p:nvSpPr>
          <p:cNvPr id="6" name="">
            <a:extLst xmlns:a="http://schemas.openxmlformats.org/drawingml/2006/main">
              <a:ext uri="{FF2B5EF4-FFF2-40B4-BE49-F238E27FC236}">
                <a16:creationId xmlns:a16="http://schemas.microsoft.com/office/drawing/2014/main" id="{02B07565-BB79-4F84-94CF-41BF38BB4090}"/>
              </a:ext>
            </a:extLst>
          </p:cNvPr>
          <p:cNvSpPr>
            <a:spLocks xmlns:a="http://schemas.openxmlformats.org/drawingml/2006/main" noGrp="1"/>
          </p:cNvSpPr>
          <p:nvPr/>
        </p:nvSpPr>
        <p:spPr>
          <a:xfrm xmlns:a="http://schemas.openxmlformats.org/drawingml/2006/main">
            <a:off x="2324100" y="196215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Gemeinsamer Kern</a:t>
            </a:r>
          </a:p>
        </p:txBody>
      </p:sp>
      <p:sp>
        <p:nvSpPr>
          <p:cNvPr id="7" name="">
            <a:extLst xmlns:a="http://schemas.openxmlformats.org/drawingml/2006/main">
              <a:ext uri="{FF2B5EF4-FFF2-40B4-BE49-F238E27FC236}">
                <a16:creationId xmlns:a16="http://schemas.microsoft.com/office/drawing/2014/main" id="{DC961875-47BD-45D0-9D8B-2A3AF3E10C42}"/>
              </a:ext>
            </a:extLst>
          </p:cNvPr>
          <p:cNvSpPr>
            <a:spLocks xmlns:a="http://schemas.openxmlformats.org/drawingml/2006/main" noGrp="1"/>
          </p:cNvSpPr>
          <p:nvPr/>
        </p:nvSpPr>
        <p:spPr>
          <a:xfrm xmlns:a="http://schemas.openxmlformats.org/drawingml/2006/main">
            <a:off x="4819650" y="196215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Alle bearbeiten denselben neuen Fall und müssen Norm, Verfahren, Beweisfrage und ärztliches Verhalten verbinden.</a:t>
            </a:r>
          </a:p>
        </p:txBody>
      </p:sp>
      <p:sp>
        <p:nvSpPr>
          <p:cNvPr id="8" name="">
            <a:extLst xmlns:a="http://schemas.openxmlformats.org/drawingml/2006/main">
              <a:ext uri="{FF2B5EF4-FFF2-40B4-BE49-F238E27FC236}">
                <a16:creationId xmlns:a16="http://schemas.microsoft.com/office/drawing/2014/main" id="{2B98CBB0-7782-4C32-AA13-C13E4E4C0E7C}"/>
              </a:ext>
            </a:extLst>
          </p:cNvPr>
          <p:cNvSpPr>
            <a:spLocks xmlns:a="http://schemas.openxmlformats.org/drawingml/2006/main" noGrp="1"/>
          </p:cNvSpPr>
          <p:nvPr/>
        </p:nvSpPr>
        <p:spPr>
          <a:xfrm xmlns:a="http://schemas.openxmlformats.org/drawingml/2006/main">
            <a:off x="1809750" y="255270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9" name="">
            <a:extLst xmlns:a="http://schemas.openxmlformats.org/drawingml/2006/main">
              <a:ext uri="{FF2B5EF4-FFF2-40B4-BE49-F238E27FC236}">
                <a16:creationId xmlns:a16="http://schemas.microsoft.com/office/drawing/2014/main" id="{999F0833-A8C0-4933-B4F7-38658518AA6E}"/>
              </a:ext>
            </a:extLst>
          </p:cNvPr>
          <p:cNvSpPr>
            <a:spLocks xmlns:a="http://schemas.openxmlformats.org/drawingml/2006/main" noGrp="1"/>
          </p:cNvSpPr>
          <p:nvPr/>
        </p:nvSpPr>
        <p:spPr>
          <a:xfrm xmlns:a="http://schemas.openxmlformats.org/drawingml/2006/main">
            <a:off x="1809750" y="255270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2</a:t>
            </a:r>
          </a:p>
        </p:txBody>
      </p:sp>
      <p:sp>
        <p:nvSpPr>
          <p:cNvPr id="10" name="">
            <a:extLst xmlns:a="http://schemas.openxmlformats.org/drawingml/2006/main">
              <a:ext uri="{FF2B5EF4-FFF2-40B4-BE49-F238E27FC236}">
                <a16:creationId xmlns:a16="http://schemas.microsoft.com/office/drawing/2014/main" id="{46FFBFAA-E201-4755-BCB0-2567A57C80ED}"/>
              </a:ext>
            </a:extLst>
          </p:cNvPr>
          <p:cNvSpPr>
            <a:spLocks xmlns:a="http://schemas.openxmlformats.org/drawingml/2006/main" noGrp="1"/>
          </p:cNvSpPr>
          <p:nvPr/>
        </p:nvSpPr>
        <p:spPr>
          <a:xfrm xmlns:a="http://schemas.openxmlformats.org/drawingml/2006/main">
            <a:off x="2324100" y="256222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Live-Verteidigung</a:t>
            </a:r>
          </a:p>
        </p:txBody>
      </p:sp>
      <p:sp>
        <p:nvSpPr>
          <p:cNvPr id="11" name="">
            <a:extLst xmlns:a="http://schemas.openxmlformats.org/drawingml/2006/main">
              <a:ext uri="{FF2B5EF4-FFF2-40B4-BE49-F238E27FC236}">
                <a16:creationId xmlns:a16="http://schemas.microsoft.com/office/drawing/2014/main" id="{43E5A816-550D-4119-A809-3124F13C456C}"/>
              </a:ext>
            </a:extLst>
          </p:cNvPr>
          <p:cNvSpPr>
            <a:spLocks xmlns:a="http://schemas.openxmlformats.org/drawingml/2006/main" noGrp="1"/>
          </p:cNvSpPr>
          <p:nvPr/>
        </p:nvSpPr>
        <p:spPr>
          <a:xfrm xmlns:a="http://schemas.openxmlformats.org/drawingml/2006/main">
            <a:off x="4819650" y="256222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Nach Abgabe folgt eine kurze individuelle mündliche Nachfrage mit spontaner Sachverhaltsvariation.</a:t>
            </a:r>
          </a:p>
        </p:txBody>
      </p:sp>
      <p:sp>
        <p:nvSpPr>
          <p:cNvPr id="12" name="">
            <a:extLst xmlns:a="http://schemas.openxmlformats.org/drawingml/2006/main">
              <a:ext uri="{FF2B5EF4-FFF2-40B4-BE49-F238E27FC236}">
                <a16:creationId xmlns:a16="http://schemas.microsoft.com/office/drawing/2014/main" id="{844E8E48-B6EF-489F-8400-13D96A6AA625}"/>
              </a:ext>
            </a:extLst>
          </p:cNvPr>
          <p:cNvSpPr>
            <a:spLocks xmlns:a="http://schemas.openxmlformats.org/drawingml/2006/main" noGrp="1"/>
          </p:cNvSpPr>
          <p:nvPr/>
        </p:nvSpPr>
        <p:spPr>
          <a:xfrm xmlns:a="http://schemas.openxmlformats.org/drawingml/2006/main">
            <a:off x="1809750" y="315277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3" name="">
            <a:extLst xmlns:a="http://schemas.openxmlformats.org/drawingml/2006/main">
              <a:ext uri="{FF2B5EF4-FFF2-40B4-BE49-F238E27FC236}">
                <a16:creationId xmlns:a16="http://schemas.microsoft.com/office/drawing/2014/main" id="{DBF46EAF-A0B7-486A-9464-A2CF1F22B455}"/>
              </a:ext>
            </a:extLst>
          </p:cNvPr>
          <p:cNvSpPr>
            <a:spLocks xmlns:a="http://schemas.openxmlformats.org/drawingml/2006/main" noGrp="1"/>
          </p:cNvSpPr>
          <p:nvPr/>
        </p:nvSpPr>
        <p:spPr>
          <a:xfrm xmlns:a="http://schemas.openxmlformats.org/drawingml/2006/main">
            <a:off x="1809750" y="315277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3</a:t>
            </a:r>
          </a:p>
        </p:txBody>
      </p:sp>
      <p:sp>
        <p:nvSpPr>
          <p:cNvPr id="14" name="">
            <a:extLst xmlns:a="http://schemas.openxmlformats.org/drawingml/2006/main">
              <a:ext uri="{FF2B5EF4-FFF2-40B4-BE49-F238E27FC236}">
                <a16:creationId xmlns:a16="http://schemas.microsoft.com/office/drawing/2014/main" id="{4B20C2A9-41E4-4E1B-99E9-3849E222B737}"/>
              </a:ext>
            </a:extLst>
          </p:cNvPr>
          <p:cNvSpPr>
            <a:spLocks xmlns:a="http://schemas.openxmlformats.org/drawingml/2006/main" noGrp="1"/>
          </p:cNvSpPr>
          <p:nvPr/>
        </p:nvSpPr>
        <p:spPr>
          <a:xfrm xmlns:a="http://schemas.openxmlformats.org/drawingml/2006/main">
            <a:off x="2324100" y="316230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Option A – Podcast</a:t>
            </a:r>
          </a:p>
        </p:txBody>
      </p:sp>
      <p:sp>
        <p:nvSpPr>
          <p:cNvPr id="15" name="">
            <a:extLst xmlns:a="http://schemas.openxmlformats.org/drawingml/2006/main">
              <a:ext uri="{FF2B5EF4-FFF2-40B4-BE49-F238E27FC236}">
                <a16:creationId xmlns:a16="http://schemas.microsoft.com/office/drawing/2014/main" id="{DF0A8030-E1C4-4E34-9F9F-66F57311E7C3}"/>
              </a:ext>
            </a:extLst>
          </p:cNvPr>
          <p:cNvSpPr>
            <a:spLocks xmlns:a="http://schemas.openxmlformats.org/drawingml/2006/main" noGrp="1"/>
          </p:cNvSpPr>
          <p:nvPr/>
        </p:nvSpPr>
        <p:spPr>
          <a:xfrm xmlns:a="http://schemas.openxmlformats.org/drawingml/2006/main">
            <a:off x="4819650" y="316230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6–8 Minuten adressatengerechte Fallanalyse plus Quellen-/Entscheidungslog und 5 Minuten Kolloquium.</a:t>
            </a:r>
          </a:p>
        </p:txBody>
      </p:sp>
      <p:sp>
        <p:nvSpPr>
          <p:cNvPr id="16" name="">
            <a:extLst xmlns:a="http://schemas.openxmlformats.org/drawingml/2006/main">
              <a:ext uri="{FF2B5EF4-FFF2-40B4-BE49-F238E27FC236}">
                <a16:creationId xmlns:a16="http://schemas.microsoft.com/office/drawing/2014/main" id="{AB69E04A-F94D-4F82-BE87-C0EA1B0A8805}"/>
              </a:ext>
            </a:extLst>
          </p:cNvPr>
          <p:cNvSpPr>
            <a:spLocks xmlns:a="http://schemas.openxmlformats.org/drawingml/2006/main" noGrp="1"/>
          </p:cNvSpPr>
          <p:nvPr/>
        </p:nvSpPr>
        <p:spPr>
          <a:xfrm xmlns:a="http://schemas.openxmlformats.org/drawingml/2006/main">
            <a:off x="1809750" y="375285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7" name="">
            <a:extLst xmlns:a="http://schemas.openxmlformats.org/drawingml/2006/main">
              <a:ext uri="{FF2B5EF4-FFF2-40B4-BE49-F238E27FC236}">
                <a16:creationId xmlns:a16="http://schemas.microsoft.com/office/drawing/2014/main" id="{C61FC021-9B5D-406F-A374-803BE9200B3F}"/>
              </a:ext>
            </a:extLst>
          </p:cNvPr>
          <p:cNvSpPr>
            <a:spLocks xmlns:a="http://schemas.openxmlformats.org/drawingml/2006/main" noGrp="1"/>
          </p:cNvSpPr>
          <p:nvPr/>
        </p:nvSpPr>
        <p:spPr>
          <a:xfrm xmlns:a="http://schemas.openxmlformats.org/drawingml/2006/main">
            <a:off x="1809750" y="375285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4</a:t>
            </a:r>
          </a:p>
        </p:txBody>
      </p:sp>
      <p:sp>
        <p:nvSpPr>
          <p:cNvPr id="18" name="">
            <a:extLst xmlns:a="http://schemas.openxmlformats.org/drawingml/2006/main">
              <a:ext uri="{FF2B5EF4-FFF2-40B4-BE49-F238E27FC236}">
                <a16:creationId xmlns:a16="http://schemas.microsoft.com/office/drawing/2014/main" id="{0217C1C9-6E1D-4CE2-9864-6CBCE5D56828}"/>
              </a:ext>
            </a:extLst>
          </p:cNvPr>
          <p:cNvSpPr>
            <a:spLocks xmlns:a="http://schemas.openxmlformats.org/drawingml/2006/main" noGrp="1"/>
          </p:cNvSpPr>
          <p:nvPr/>
        </p:nvSpPr>
        <p:spPr>
          <a:xfrm xmlns:a="http://schemas.openxmlformats.org/drawingml/2006/main">
            <a:off x="2324100" y="376237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Option B – Verhandlungssimulation</a:t>
            </a:r>
          </a:p>
        </p:txBody>
      </p:sp>
      <p:sp>
        <p:nvSpPr>
          <p:cNvPr id="19" name="">
            <a:extLst xmlns:a="http://schemas.openxmlformats.org/drawingml/2006/main">
              <a:ext uri="{FF2B5EF4-FFF2-40B4-BE49-F238E27FC236}">
                <a16:creationId xmlns:a16="http://schemas.microsoft.com/office/drawing/2014/main" id="{BA6C9167-2A44-42F5-9CE9-06342AA35C84}"/>
              </a:ext>
            </a:extLst>
          </p:cNvPr>
          <p:cNvSpPr>
            <a:spLocks xmlns:a="http://schemas.openxmlformats.org/drawingml/2006/main" noGrp="1"/>
          </p:cNvSpPr>
          <p:nvPr/>
        </p:nvSpPr>
        <p:spPr>
          <a:xfrm xmlns:a="http://schemas.openxmlformats.org/drawingml/2006/main">
            <a:off x="4819650" y="376237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Rollenbezogenes Drehbuch, Live-Durchführung und individuelle Reflexion einer unerwarteten Wendung.</a:t>
            </a:r>
          </a:p>
        </p:txBody>
      </p:sp>
      <p:sp>
        <p:nvSpPr>
          <p:cNvPr id="20" name="">
            <a:extLst xmlns:a="http://schemas.openxmlformats.org/drawingml/2006/main">
              <a:ext uri="{FF2B5EF4-FFF2-40B4-BE49-F238E27FC236}">
                <a16:creationId xmlns:a16="http://schemas.microsoft.com/office/drawing/2014/main" id="{F45F331A-1A2B-4FC5-BD37-2A3A8E612D63}"/>
              </a:ext>
            </a:extLst>
          </p:cNvPr>
          <p:cNvSpPr>
            <a:spLocks xmlns:a="http://schemas.openxmlformats.org/drawingml/2006/main" noGrp="1"/>
          </p:cNvSpPr>
          <p:nvPr/>
        </p:nvSpPr>
        <p:spPr>
          <a:xfrm xmlns:a="http://schemas.openxmlformats.org/drawingml/2006/main">
            <a:off x="1809750" y="4352925"/>
            <a:ext cx="400050" cy="523875"/>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1" name="">
            <a:extLst xmlns:a="http://schemas.openxmlformats.org/drawingml/2006/main">
              <a:ext uri="{FF2B5EF4-FFF2-40B4-BE49-F238E27FC236}">
                <a16:creationId xmlns:a16="http://schemas.microsoft.com/office/drawing/2014/main" id="{F967A67C-AA5F-42C4-A826-6E275D86D9E3}"/>
              </a:ext>
            </a:extLst>
          </p:cNvPr>
          <p:cNvSpPr>
            <a:spLocks xmlns:a="http://schemas.openxmlformats.org/drawingml/2006/main" noGrp="1"/>
          </p:cNvSpPr>
          <p:nvPr/>
        </p:nvSpPr>
        <p:spPr>
          <a:xfrm xmlns:a="http://schemas.openxmlformats.org/drawingml/2006/main">
            <a:off x="1809750" y="4352925"/>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5</a:t>
            </a:r>
          </a:p>
        </p:txBody>
      </p:sp>
      <p:sp>
        <p:nvSpPr>
          <p:cNvPr id="22" name="">
            <a:extLst xmlns:a="http://schemas.openxmlformats.org/drawingml/2006/main">
              <a:ext uri="{FF2B5EF4-FFF2-40B4-BE49-F238E27FC236}">
                <a16:creationId xmlns:a16="http://schemas.microsoft.com/office/drawing/2014/main" id="{3377A70F-73A8-47F8-A0B8-4EB339B820F1}"/>
              </a:ext>
            </a:extLst>
          </p:cNvPr>
          <p:cNvSpPr>
            <a:spLocks xmlns:a="http://schemas.openxmlformats.org/drawingml/2006/main" noGrp="1"/>
          </p:cNvSpPr>
          <p:nvPr/>
        </p:nvSpPr>
        <p:spPr>
          <a:xfrm xmlns:a="http://schemas.openxmlformats.org/drawingml/2006/main">
            <a:off x="2324100" y="4362450"/>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Option C – Verfahrensakte</a:t>
            </a:r>
          </a:p>
        </p:txBody>
      </p:sp>
      <p:sp>
        <p:nvSpPr>
          <p:cNvPr id="23" name="">
            <a:extLst xmlns:a="http://schemas.openxmlformats.org/drawingml/2006/main">
              <a:ext uri="{FF2B5EF4-FFF2-40B4-BE49-F238E27FC236}">
                <a16:creationId xmlns:a16="http://schemas.microsoft.com/office/drawing/2014/main" id="{67C182D5-9B58-4E6C-8D9E-BD32227719C7}"/>
              </a:ext>
            </a:extLst>
          </p:cNvPr>
          <p:cNvSpPr>
            <a:spLocks xmlns:a="http://schemas.openxmlformats.org/drawingml/2006/main" noGrp="1"/>
          </p:cNvSpPr>
          <p:nvPr/>
        </p:nvSpPr>
        <p:spPr>
          <a:xfrm xmlns:a="http://schemas.openxmlformats.org/drawingml/2006/main">
            <a:off x="4819650" y="4362450"/>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Klage/Erwiderung oder Ermittlungs-/Anhörungsmappe plus Beweismatrix und mündliche Aktenbesprechung.</a:t>
            </a:r>
          </a:p>
        </p:txBody>
      </p:sp>
      <p:sp>
        <p:nvSpPr>
          <p:cNvPr id="24" name="">
            <a:extLst xmlns:a="http://schemas.openxmlformats.org/drawingml/2006/main">
              <a:ext uri="{FF2B5EF4-FFF2-40B4-BE49-F238E27FC236}">
                <a16:creationId xmlns:a16="http://schemas.microsoft.com/office/drawing/2014/main" id="{40B45B9D-4B27-4AD2-8315-87DEE9CF6D34}"/>
              </a:ext>
            </a:extLst>
          </p:cNvPr>
          <p:cNvSpPr>
            <a:spLocks xmlns:a="http://schemas.openxmlformats.org/drawingml/2006/main" noGrp="1"/>
          </p:cNvSpPr>
          <p:nvPr/>
        </p:nvSpPr>
        <p:spPr>
          <a:xfrm xmlns:a="http://schemas.openxmlformats.org/drawingml/2006/main">
            <a:off x="1809750" y="4953000"/>
            <a:ext cx="400050" cy="523875"/>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25" name="">
            <a:extLst xmlns:a="http://schemas.openxmlformats.org/drawingml/2006/main">
              <a:ext uri="{FF2B5EF4-FFF2-40B4-BE49-F238E27FC236}">
                <a16:creationId xmlns:a16="http://schemas.microsoft.com/office/drawing/2014/main" id="{6C3C57DA-BA5F-429B-B630-F54971898932}"/>
              </a:ext>
            </a:extLst>
          </p:cNvPr>
          <p:cNvSpPr>
            <a:spLocks xmlns:a="http://schemas.openxmlformats.org/drawingml/2006/main" noGrp="1"/>
          </p:cNvSpPr>
          <p:nvPr/>
        </p:nvSpPr>
        <p:spPr>
          <a:xfrm xmlns:a="http://schemas.openxmlformats.org/drawingml/2006/main">
            <a:off x="1809750" y="4953000"/>
            <a:ext cx="400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6</a:t>
            </a:r>
          </a:p>
        </p:txBody>
      </p:sp>
      <p:sp>
        <p:nvSpPr>
          <p:cNvPr id="26" name="">
            <a:extLst xmlns:a="http://schemas.openxmlformats.org/drawingml/2006/main">
              <a:ext uri="{FF2B5EF4-FFF2-40B4-BE49-F238E27FC236}">
                <a16:creationId xmlns:a16="http://schemas.microsoft.com/office/drawing/2014/main" id="{C5957182-40D3-43FC-AEC3-65CE72C24315}"/>
              </a:ext>
            </a:extLst>
          </p:cNvPr>
          <p:cNvSpPr>
            <a:spLocks xmlns:a="http://schemas.openxmlformats.org/drawingml/2006/main" noGrp="1"/>
          </p:cNvSpPr>
          <p:nvPr/>
        </p:nvSpPr>
        <p:spPr>
          <a:xfrm xmlns:a="http://schemas.openxmlformats.org/drawingml/2006/main">
            <a:off x="2324100" y="4962525"/>
            <a:ext cx="2381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65" b="1">
                <a:solidFill>
                  <a:srgbClr val="003F6B"/>
                </a:solidFill>
              </a:defRPr>
            </a:pPr>
            <a:r>
              <a:rPr sz="1065" b="1">
                <a:solidFill>
                  <a:srgbClr val="003F6B"/>
                </a:solidFill>
              </a:rPr>
              <a:t>Bewertung</a:t>
            </a:r>
          </a:p>
        </p:txBody>
      </p:sp>
      <p:sp>
        <p:nvSpPr>
          <p:cNvPr id="27" name="">
            <a:extLst xmlns:a="http://schemas.openxmlformats.org/drawingml/2006/main">
              <a:ext uri="{FF2B5EF4-FFF2-40B4-BE49-F238E27FC236}">
                <a16:creationId xmlns:a16="http://schemas.microsoft.com/office/drawing/2014/main" id="{267F6981-25E9-4148-BF81-7424CB0EF423}"/>
              </a:ext>
            </a:extLst>
          </p:cNvPr>
          <p:cNvSpPr>
            <a:spLocks xmlns:a="http://schemas.openxmlformats.org/drawingml/2006/main" noGrp="1"/>
          </p:cNvSpPr>
          <p:nvPr/>
        </p:nvSpPr>
        <p:spPr>
          <a:xfrm xmlns:a="http://schemas.openxmlformats.org/drawingml/2006/main">
            <a:off x="4819650" y="4962525"/>
            <a:ext cx="64198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02">
                <a:solidFill>
                  <a:srgbClr val="15232B"/>
                </a:solidFill>
              </a:defRPr>
            </a:pPr>
            <a:r>
              <a:rPr sz="1102">
                <a:solidFill>
                  <a:srgbClr val="15232B"/>
                </a:solidFill>
              </a:rPr>
              <a:t>Rechtliche Richtigkeit, Verfahrensverständnis, Anwendung, Kommunikation, Quellen und persönliche Reaktion.</a:t>
            </a:r>
          </a:p>
        </p:txBody>
      </p:sp>
      <p:sp>
        <p:nvSpPr>
          <p:cNvPr id="28" name="">
            <a:extLst xmlns:a="http://schemas.openxmlformats.org/drawingml/2006/main">
              <a:ext uri="{FF2B5EF4-FFF2-40B4-BE49-F238E27FC236}">
                <a16:creationId xmlns:a16="http://schemas.microsoft.com/office/drawing/2014/main" id="{A05369FB-C32A-461B-9F2B-042AAF783149}"/>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9" name="">
            <a:extLst xmlns:a="http://schemas.openxmlformats.org/drawingml/2006/main">
              <a:ext uri="{FF2B5EF4-FFF2-40B4-BE49-F238E27FC236}">
                <a16:creationId xmlns:a16="http://schemas.microsoft.com/office/drawing/2014/main" id="{B2F31D0C-6297-4F67-8181-F5D89FC88294}"/>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KI darf als Werkzeug transparent genutzt werden; geprüft wird die individuelle Anwendung unter Live-Variation.</a:t>
            </a:r>
          </a:p>
        </p:txBody>
      </p:sp>
    </p:spTree>
    <p:extLst>
      <p:ext uri="{BB962C8B-B14F-4D97-AF65-F5344CB8AC3E}">
        <p14:creationId xmlns:p14="http://schemas.microsoft.com/office/powerpoint/2010/main" val="43637646"/>
      </p:ext>
    </p:extLst>
  </p:cSld>
</p:sld>
</file>

<file path=ppt/slides/slide416.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Bewertungsrubrik für die Prüfungsleistung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164C9F06-692E-44BC-9F27-30D6D444F5DD}"/>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Ein einheitliches Raster macht unterschiedliche Formate vergleichbar.</a:t>
            </a:r>
          </a:p>
        </p:txBody>
      </p:sp>
      <p:sp>
        <p:nvSpPr>
          <p:cNvPr id="5" name="">
            <a:extLst xmlns:a="http://schemas.openxmlformats.org/drawingml/2006/main">
              <a:ext uri="{FF2B5EF4-FFF2-40B4-BE49-F238E27FC236}">
                <a16:creationId xmlns:a16="http://schemas.microsoft.com/office/drawing/2014/main" id="{3691E9D1-1187-45F1-8855-FB3BB1CE60AF}"/>
              </a:ext>
            </a:extLst>
          </p:cNvPr>
          <p:cNvSpPr>
            <a:spLocks xmlns:a="http://schemas.openxmlformats.org/drawingml/2006/main" noGrp="1"/>
          </p:cNvSpPr>
          <p:nvPr/>
        </p:nvSpPr>
        <p:spPr>
          <a:xfrm xmlns:a="http://schemas.openxmlformats.org/drawingml/2006/main">
            <a:off x="1809750" y="2533650"/>
            <a:ext cx="533400" cy="510540"/>
          </a:xfrm>
          <a:prstGeom xmlns:a="http://schemas.openxmlformats.org/drawingml/2006/main" prst="roundRect">
            <a:avLst>
              <a:gd name="adj" fmla="val 14925"/>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415480DC-BB91-4656-B154-3E2ABF2E47AB}"/>
              </a:ext>
            </a:extLst>
          </p:cNvPr>
          <p:cNvSpPr>
            <a:spLocks xmlns:a="http://schemas.openxmlformats.org/drawingml/2006/main" noGrp="1"/>
          </p:cNvSpPr>
          <p:nvPr/>
        </p:nvSpPr>
        <p:spPr>
          <a:xfrm xmlns:a="http://schemas.openxmlformats.org/drawingml/2006/main">
            <a:off x="1809750" y="2533650"/>
            <a:ext cx="533400" cy="5105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A0CC647C-340A-4623-926A-C7CC9DD5213C}"/>
              </a:ext>
            </a:extLst>
          </p:cNvPr>
          <p:cNvSpPr>
            <a:spLocks xmlns:a="http://schemas.openxmlformats.org/drawingml/2006/main" noGrp="1"/>
          </p:cNvSpPr>
          <p:nvPr/>
        </p:nvSpPr>
        <p:spPr>
          <a:xfrm xmlns:a="http://schemas.openxmlformats.org/drawingml/2006/main">
            <a:off x="2514600" y="2552700"/>
            <a:ext cx="2095500" cy="4724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Rechtliche Struktur – 30 %</a:t>
            </a:r>
          </a:p>
        </p:txBody>
      </p:sp>
      <p:sp>
        <p:nvSpPr>
          <p:cNvPr id="8" name="">
            <a:extLst xmlns:a="http://schemas.openxmlformats.org/drawingml/2006/main">
              <a:ext uri="{FF2B5EF4-FFF2-40B4-BE49-F238E27FC236}">
                <a16:creationId xmlns:a16="http://schemas.microsoft.com/office/drawing/2014/main" id="{D5C10AF8-31A1-4718-BE92-B09D2977A011}"/>
              </a:ext>
            </a:extLst>
          </p:cNvPr>
          <p:cNvSpPr>
            <a:spLocks xmlns:a="http://schemas.openxmlformats.org/drawingml/2006/main" noGrp="1"/>
          </p:cNvSpPr>
          <p:nvPr/>
        </p:nvSpPr>
        <p:spPr>
          <a:xfrm xmlns:a="http://schemas.openxmlformats.org/drawingml/2006/main">
            <a:off x="4762500" y="2552700"/>
            <a:ext cx="6477000" cy="4724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Passende Normen, vollständige Schemata, saubere Subsumtion und begründetes Ergebnis.</a:t>
            </a:r>
          </a:p>
        </p:txBody>
      </p:sp>
      <p:sp>
        <p:nvSpPr>
          <p:cNvPr id="9" name="">
            <a:extLst xmlns:a="http://schemas.openxmlformats.org/drawingml/2006/main">
              <a:ext uri="{FF2B5EF4-FFF2-40B4-BE49-F238E27FC236}">
                <a16:creationId xmlns:a16="http://schemas.microsoft.com/office/drawing/2014/main" id="{B9F4AA73-6808-49EB-AC83-A1773EB88473}"/>
              </a:ext>
            </a:extLst>
          </p:cNvPr>
          <p:cNvSpPr>
            <a:spLocks xmlns:a="http://schemas.openxmlformats.org/drawingml/2006/main" noGrp="1"/>
          </p:cNvSpPr>
          <p:nvPr/>
        </p:nvSpPr>
        <p:spPr>
          <a:xfrm xmlns:a="http://schemas.openxmlformats.org/drawingml/2006/main">
            <a:off x="1809750" y="3139440"/>
            <a:ext cx="533400" cy="510540"/>
          </a:xfrm>
          <a:prstGeom xmlns:a="http://schemas.openxmlformats.org/drawingml/2006/main" prst="roundRect">
            <a:avLst>
              <a:gd name="adj" fmla="val 14925"/>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E67ABF13-AC63-43FA-A08F-532DA9AA0C75}"/>
              </a:ext>
            </a:extLst>
          </p:cNvPr>
          <p:cNvSpPr>
            <a:spLocks xmlns:a="http://schemas.openxmlformats.org/drawingml/2006/main" noGrp="1"/>
          </p:cNvSpPr>
          <p:nvPr/>
        </p:nvSpPr>
        <p:spPr>
          <a:xfrm xmlns:a="http://schemas.openxmlformats.org/drawingml/2006/main">
            <a:off x="1809750" y="3139440"/>
            <a:ext cx="533400" cy="5105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DB51E62E-D548-44B3-BA8E-ED06FD878E87}"/>
              </a:ext>
            </a:extLst>
          </p:cNvPr>
          <p:cNvSpPr>
            <a:spLocks xmlns:a="http://schemas.openxmlformats.org/drawingml/2006/main" noGrp="1"/>
          </p:cNvSpPr>
          <p:nvPr/>
        </p:nvSpPr>
        <p:spPr>
          <a:xfrm xmlns:a="http://schemas.openxmlformats.org/drawingml/2006/main">
            <a:off x="2514600" y="3158490"/>
            <a:ext cx="2095500" cy="4724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Verfahren und Beweis – 30 %</a:t>
            </a:r>
          </a:p>
        </p:txBody>
      </p:sp>
      <p:sp>
        <p:nvSpPr>
          <p:cNvPr id="12" name="">
            <a:extLst xmlns:a="http://schemas.openxmlformats.org/drawingml/2006/main">
              <a:ext uri="{FF2B5EF4-FFF2-40B4-BE49-F238E27FC236}">
                <a16:creationId xmlns:a16="http://schemas.microsoft.com/office/drawing/2014/main" id="{3B7C8C9E-1429-4AA5-A835-958B715F964F}"/>
              </a:ext>
            </a:extLst>
          </p:cNvPr>
          <p:cNvSpPr>
            <a:spLocks xmlns:a="http://schemas.openxmlformats.org/drawingml/2006/main" noGrp="1"/>
          </p:cNvSpPr>
          <p:nvPr/>
        </p:nvSpPr>
        <p:spPr>
          <a:xfrm xmlns:a="http://schemas.openxmlformats.org/drawingml/2006/main">
            <a:off x="4762500" y="3158490"/>
            <a:ext cx="6477000" cy="4724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Richtiger Rechtsweg, Rollen, Fristen, Beweislast, Beweismittel und nächste Schritte.</a:t>
            </a:r>
          </a:p>
        </p:txBody>
      </p:sp>
      <p:sp>
        <p:nvSpPr>
          <p:cNvPr id="13" name="">
            <a:extLst xmlns:a="http://schemas.openxmlformats.org/drawingml/2006/main">
              <a:ext uri="{FF2B5EF4-FFF2-40B4-BE49-F238E27FC236}">
                <a16:creationId xmlns:a16="http://schemas.microsoft.com/office/drawing/2014/main" id="{A65B7248-9703-4653-A4D2-24F431849783}"/>
              </a:ext>
            </a:extLst>
          </p:cNvPr>
          <p:cNvSpPr>
            <a:spLocks xmlns:a="http://schemas.openxmlformats.org/drawingml/2006/main" noGrp="1"/>
          </p:cNvSpPr>
          <p:nvPr/>
        </p:nvSpPr>
        <p:spPr>
          <a:xfrm xmlns:a="http://schemas.openxmlformats.org/drawingml/2006/main">
            <a:off x="1809750" y="3745230"/>
            <a:ext cx="533400" cy="510540"/>
          </a:xfrm>
          <a:prstGeom xmlns:a="http://schemas.openxmlformats.org/drawingml/2006/main" prst="roundRect">
            <a:avLst>
              <a:gd name="adj" fmla="val 14925"/>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191AE8DD-E2D0-4373-85AF-1B1AFA689758}"/>
              </a:ext>
            </a:extLst>
          </p:cNvPr>
          <p:cNvSpPr>
            <a:spLocks xmlns:a="http://schemas.openxmlformats.org/drawingml/2006/main" noGrp="1"/>
          </p:cNvSpPr>
          <p:nvPr/>
        </p:nvSpPr>
        <p:spPr>
          <a:xfrm xmlns:a="http://schemas.openxmlformats.org/drawingml/2006/main">
            <a:off x="1809750" y="3745230"/>
            <a:ext cx="533400" cy="5105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7C4D6504-2800-40A5-8DC5-267705AB1165}"/>
              </a:ext>
            </a:extLst>
          </p:cNvPr>
          <p:cNvSpPr>
            <a:spLocks xmlns:a="http://schemas.openxmlformats.org/drawingml/2006/main" noGrp="1"/>
          </p:cNvSpPr>
          <p:nvPr/>
        </p:nvSpPr>
        <p:spPr>
          <a:xfrm xmlns:a="http://schemas.openxmlformats.org/drawingml/2006/main">
            <a:off x="2514600" y="3764280"/>
            <a:ext cx="2095500" cy="4724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Praxis und Kommunikation – 20 %</a:t>
            </a:r>
          </a:p>
        </p:txBody>
      </p:sp>
      <p:sp>
        <p:nvSpPr>
          <p:cNvPr id="16" name="">
            <a:extLst xmlns:a="http://schemas.openxmlformats.org/drawingml/2006/main">
              <a:ext uri="{FF2B5EF4-FFF2-40B4-BE49-F238E27FC236}">
                <a16:creationId xmlns:a16="http://schemas.microsoft.com/office/drawing/2014/main" id="{EFE19E70-B9D5-4F2B-8ECC-C9D1118A9E6A}"/>
              </a:ext>
            </a:extLst>
          </p:cNvPr>
          <p:cNvSpPr>
            <a:spLocks xmlns:a="http://schemas.openxmlformats.org/drawingml/2006/main" noGrp="1"/>
          </p:cNvSpPr>
          <p:nvPr/>
        </p:nvSpPr>
        <p:spPr>
          <a:xfrm xmlns:a="http://schemas.openxmlformats.org/drawingml/2006/main">
            <a:off x="4762500" y="3764280"/>
            <a:ext cx="6477000" cy="4724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Ärztlich umsetzbares Verhalten, Patientensicherheit und verständliche Sprache.</a:t>
            </a:r>
          </a:p>
        </p:txBody>
      </p:sp>
      <p:sp>
        <p:nvSpPr>
          <p:cNvPr id="17" name="">
            <a:extLst xmlns:a="http://schemas.openxmlformats.org/drawingml/2006/main">
              <a:ext uri="{FF2B5EF4-FFF2-40B4-BE49-F238E27FC236}">
                <a16:creationId xmlns:a16="http://schemas.microsoft.com/office/drawing/2014/main" id="{BB5336D1-88A2-4C03-99DF-B7C767A13D3E}"/>
              </a:ext>
            </a:extLst>
          </p:cNvPr>
          <p:cNvSpPr>
            <a:spLocks xmlns:a="http://schemas.openxmlformats.org/drawingml/2006/main" noGrp="1"/>
          </p:cNvSpPr>
          <p:nvPr/>
        </p:nvSpPr>
        <p:spPr>
          <a:xfrm xmlns:a="http://schemas.openxmlformats.org/drawingml/2006/main">
            <a:off x="1809750" y="4351020"/>
            <a:ext cx="533400" cy="510540"/>
          </a:xfrm>
          <a:prstGeom xmlns:a="http://schemas.openxmlformats.org/drawingml/2006/main" prst="roundRect">
            <a:avLst>
              <a:gd name="adj" fmla="val 14925"/>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322C36B6-BFAB-4A0D-992B-BD53AD33BDCC}"/>
              </a:ext>
            </a:extLst>
          </p:cNvPr>
          <p:cNvSpPr>
            <a:spLocks xmlns:a="http://schemas.openxmlformats.org/drawingml/2006/main" noGrp="1"/>
          </p:cNvSpPr>
          <p:nvPr/>
        </p:nvSpPr>
        <p:spPr>
          <a:xfrm xmlns:a="http://schemas.openxmlformats.org/drawingml/2006/main">
            <a:off x="1809750" y="4351020"/>
            <a:ext cx="533400" cy="5105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7056F581-A61C-42B5-B7D2-375405B91FD4}"/>
              </a:ext>
            </a:extLst>
          </p:cNvPr>
          <p:cNvSpPr>
            <a:spLocks xmlns:a="http://schemas.openxmlformats.org/drawingml/2006/main" noGrp="1"/>
          </p:cNvSpPr>
          <p:nvPr/>
        </p:nvSpPr>
        <p:spPr>
          <a:xfrm xmlns:a="http://schemas.openxmlformats.org/drawingml/2006/main">
            <a:off x="2514600" y="4370070"/>
            <a:ext cx="2095500" cy="4724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Quellen/Transparenz – 10 %</a:t>
            </a:r>
          </a:p>
        </p:txBody>
      </p:sp>
      <p:sp>
        <p:nvSpPr>
          <p:cNvPr id="20" name="">
            <a:extLst xmlns:a="http://schemas.openxmlformats.org/drawingml/2006/main">
              <a:ext uri="{FF2B5EF4-FFF2-40B4-BE49-F238E27FC236}">
                <a16:creationId xmlns:a16="http://schemas.microsoft.com/office/drawing/2014/main" id="{253182CF-0A8F-47B9-81A6-01BC402E6F4B}"/>
              </a:ext>
            </a:extLst>
          </p:cNvPr>
          <p:cNvSpPr>
            <a:spLocks xmlns:a="http://schemas.openxmlformats.org/drawingml/2006/main" noGrp="1"/>
          </p:cNvSpPr>
          <p:nvPr/>
        </p:nvSpPr>
        <p:spPr>
          <a:xfrm xmlns:a="http://schemas.openxmlformats.org/drawingml/2006/main">
            <a:off x="4762500" y="4370070"/>
            <a:ext cx="6477000" cy="4724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Primärquellen, Kennzeichnung von KI- oder Fremdhilfe und überprüfbarer Arbeitsprozess.</a:t>
            </a:r>
          </a:p>
        </p:txBody>
      </p:sp>
      <p:sp>
        <p:nvSpPr>
          <p:cNvPr id="21" name="">
            <a:extLst xmlns:a="http://schemas.openxmlformats.org/drawingml/2006/main">
              <a:ext uri="{FF2B5EF4-FFF2-40B4-BE49-F238E27FC236}">
                <a16:creationId xmlns:a16="http://schemas.microsoft.com/office/drawing/2014/main" id="{833AC7FB-EA11-4882-8EBB-0FE7F3D71657}"/>
              </a:ext>
            </a:extLst>
          </p:cNvPr>
          <p:cNvSpPr>
            <a:spLocks xmlns:a="http://schemas.openxmlformats.org/drawingml/2006/main" noGrp="1"/>
          </p:cNvSpPr>
          <p:nvPr/>
        </p:nvSpPr>
        <p:spPr>
          <a:xfrm xmlns:a="http://schemas.openxmlformats.org/drawingml/2006/main">
            <a:off x="1809750" y="4956810"/>
            <a:ext cx="533400" cy="510540"/>
          </a:xfrm>
          <a:prstGeom xmlns:a="http://schemas.openxmlformats.org/drawingml/2006/main" prst="roundRect">
            <a:avLst>
              <a:gd name="adj" fmla="val 14925"/>
            </a:avLst>
          </a:prstGeom>
          <a:solidFill xmlns:a="http://schemas.openxmlformats.org/drawingml/2006/main">
            <a:srgbClr val="00B2BB"/>
          </a:solidFill>
          <a:ln xmlns:a="http://schemas.openxmlformats.org/drawingml/2006/main" w="0">
            <a:solidFill>
              <a:srgbClr val="00B2BB"/>
            </a:solidFill>
            <a:prstDash val="solid"/>
          </a:ln>
        </p:spPr>
      </p:sp>
      <p:sp>
        <p:nvSpPr>
          <p:cNvPr id="22" name="">
            <a:extLst xmlns:a="http://schemas.openxmlformats.org/drawingml/2006/main">
              <a:ext uri="{FF2B5EF4-FFF2-40B4-BE49-F238E27FC236}">
                <a16:creationId xmlns:a16="http://schemas.microsoft.com/office/drawing/2014/main" id="{C86D5FF3-FAB2-4D52-A7E2-AC43B1BEE7E6}"/>
              </a:ext>
            </a:extLst>
          </p:cNvPr>
          <p:cNvSpPr>
            <a:spLocks xmlns:a="http://schemas.openxmlformats.org/drawingml/2006/main" noGrp="1"/>
          </p:cNvSpPr>
          <p:nvPr/>
        </p:nvSpPr>
        <p:spPr>
          <a:xfrm xmlns:a="http://schemas.openxmlformats.org/drawingml/2006/main">
            <a:off x="1809750" y="4956810"/>
            <a:ext cx="533400" cy="5105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05</a:t>
            </a:r>
          </a:p>
        </p:txBody>
      </p:sp>
      <p:sp>
        <p:nvSpPr>
          <p:cNvPr id="23" name="">
            <a:extLst xmlns:a="http://schemas.openxmlformats.org/drawingml/2006/main">
              <a:ext uri="{FF2B5EF4-FFF2-40B4-BE49-F238E27FC236}">
                <a16:creationId xmlns:a16="http://schemas.microsoft.com/office/drawing/2014/main" id="{EA39175B-B408-4CB0-87B4-81B9FAA6E6CF}"/>
              </a:ext>
            </a:extLst>
          </p:cNvPr>
          <p:cNvSpPr>
            <a:spLocks xmlns:a="http://schemas.openxmlformats.org/drawingml/2006/main" noGrp="1"/>
          </p:cNvSpPr>
          <p:nvPr/>
        </p:nvSpPr>
        <p:spPr>
          <a:xfrm xmlns:a="http://schemas.openxmlformats.org/drawingml/2006/main">
            <a:off x="2514600" y="4975860"/>
            <a:ext cx="2095500" cy="4724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Live-Kolloquium – 10 %</a:t>
            </a:r>
          </a:p>
        </p:txBody>
      </p:sp>
      <p:sp>
        <p:nvSpPr>
          <p:cNvPr id="24" name="">
            <a:extLst xmlns:a="http://schemas.openxmlformats.org/drawingml/2006/main">
              <a:ext uri="{FF2B5EF4-FFF2-40B4-BE49-F238E27FC236}">
                <a16:creationId xmlns:a16="http://schemas.microsoft.com/office/drawing/2014/main" id="{62E50C9B-69DE-45B1-B25A-0FD7FCB0C4FD}"/>
              </a:ext>
            </a:extLst>
          </p:cNvPr>
          <p:cNvSpPr>
            <a:spLocks xmlns:a="http://schemas.openxmlformats.org/drawingml/2006/main" noGrp="1"/>
          </p:cNvSpPr>
          <p:nvPr/>
        </p:nvSpPr>
        <p:spPr>
          <a:xfrm xmlns:a="http://schemas.openxmlformats.org/drawingml/2006/main">
            <a:off x="4762500" y="4975860"/>
            <a:ext cx="6477000" cy="4724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Eigenständige Reaktion auf Nachfrage und veränderten Sachverhalt.</a:t>
            </a:r>
          </a:p>
        </p:txBody>
      </p:sp>
      <p:sp>
        <p:nvSpPr>
          <p:cNvPr id="25" name="">
            <a:extLst xmlns:a="http://schemas.openxmlformats.org/drawingml/2006/main">
              <a:ext uri="{FF2B5EF4-FFF2-40B4-BE49-F238E27FC236}">
                <a16:creationId xmlns:a16="http://schemas.microsoft.com/office/drawing/2014/main" id="{AB7BB1BE-7FDB-48CF-8482-229211D77996}"/>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6" name="">
            <a:extLst xmlns:a="http://schemas.openxmlformats.org/drawingml/2006/main">
              <a:ext uri="{FF2B5EF4-FFF2-40B4-BE49-F238E27FC236}">
                <a16:creationId xmlns:a16="http://schemas.microsoft.com/office/drawing/2014/main" id="{6DBE0DA0-5D46-4FA3-8CDB-3ED5ABE648F2}"/>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Das Format kann gewählt werden; Lernziele und individuelle Verantwortbarkeit bleiben gleich.</a:t>
            </a:r>
          </a:p>
        </p:txBody>
      </p:sp>
    </p:spTree>
    <p:extLst>
      <p:ext uri="{BB962C8B-B14F-4D97-AF65-F5344CB8AC3E}">
        <p14:creationId xmlns:p14="http://schemas.microsoft.com/office/powerpoint/2010/main" val="43637646"/>
      </p:ext>
    </p:extLst>
  </p:cSld>
</p:sld>
</file>

<file path=ppt/slides/slide417.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Hinweis zur Rechtsaktualität</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SCHRITT FÜR SCHRITT</a:t>
            </a:r>
            <a:endParaRPr/>
          </a:p>
        </p:txBody>
      </p:sp>
      <p:sp>
        <p:nvSpPr>
          <p:cNvPr id="4" name="">
            <a:extLst xmlns:a="http://schemas.openxmlformats.org/drawingml/2006/main">
              <a:ext uri="{FF2B5EF4-FFF2-40B4-BE49-F238E27FC236}">
                <a16:creationId xmlns:a16="http://schemas.microsoft.com/office/drawing/2014/main" id="{BEFC7D1D-16E3-4C2B-8A8B-1A6F0BF92708}"/>
              </a:ext>
            </a:extLst>
          </p:cNvPr>
          <p:cNvSpPr>
            <a:spLocks xmlns:a="http://schemas.openxmlformats.org/drawingml/2006/main" noGrp="1"/>
          </p:cNvSpPr>
          <p:nvPr/>
        </p:nvSpPr>
        <p:spPr>
          <a:xfrm xmlns:a="http://schemas.openxmlformats.org/drawingml/2006/main">
            <a:off x="1809750" y="18859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75">
                <a:solidFill>
                  <a:srgbClr val="667680"/>
                </a:solidFill>
              </a:defRPr>
            </a:pPr>
            <a:r>
              <a:rPr sz="1275">
                <a:solidFill>
                  <a:srgbClr val="667680"/>
                </a:solidFill>
              </a:rPr>
              <a:t>Die Folien bilden eine Lehrgrundlage nach dem am 20. August 2026 geprüften Rechtsstand.</a:t>
            </a:r>
          </a:p>
        </p:txBody>
      </p:sp>
      <p:sp>
        <p:nvSpPr>
          <p:cNvPr id="5" name="">
            <a:extLst xmlns:a="http://schemas.openxmlformats.org/drawingml/2006/main">
              <a:ext uri="{FF2B5EF4-FFF2-40B4-BE49-F238E27FC236}">
                <a16:creationId xmlns:a16="http://schemas.microsoft.com/office/drawing/2014/main" id="{B556E57F-AB93-46A7-AD92-E3E3A542A659}"/>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91085FF2-7FAE-4014-8A71-AA135D2AC523}"/>
              </a:ext>
            </a:extLst>
          </p:cNvPr>
          <p:cNvSpPr>
            <a:spLocks xmlns:a="http://schemas.openxmlformats.org/drawingml/2006/main" noGrp="1"/>
          </p:cNvSpPr>
          <p:nvPr/>
        </p:nvSpPr>
        <p:spPr>
          <a:xfrm xmlns:a="http://schemas.openxmlformats.org/drawingml/2006/main">
            <a:off x="1809750" y="2533650"/>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01</a:t>
            </a:r>
          </a:p>
        </p:txBody>
      </p:sp>
      <p:sp>
        <p:nvSpPr>
          <p:cNvPr id="7" name="">
            <a:extLst xmlns:a="http://schemas.openxmlformats.org/drawingml/2006/main">
              <a:ext uri="{FF2B5EF4-FFF2-40B4-BE49-F238E27FC236}">
                <a16:creationId xmlns:a16="http://schemas.microsoft.com/office/drawing/2014/main" id="{8CCC9E25-821B-43E1-8497-DBEC00F41580}"/>
              </a:ext>
            </a:extLst>
          </p:cNvPr>
          <p:cNvSpPr>
            <a:spLocks xmlns:a="http://schemas.openxmlformats.org/drawingml/2006/main" noGrp="1"/>
          </p:cNvSpPr>
          <p:nvPr/>
        </p:nvSpPr>
        <p:spPr>
          <a:xfrm xmlns:a="http://schemas.openxmlformats.org/drawingml/2006/main">
            <a:off x="2514600" y="2552700"/>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Gesetzesstand</a:t>
            </a:r>
          </a:p>
        </p:txBody>
      </p:sp>
      <p:sp>
        <p:nvSpPr>
          <p:cNvPr id="8" name="">
            <a:extLst xmlns:a="http://schemas.openxmlformats.org/drawingml/2006/main">
              <a:ext uri="{FF2B5EF4-FFF2-40B4-BE49-F238E27FC236}">
                <a16:creationId xmlns:a16="http://schemas.microsoft.com/office/drawing/2014/main" id="{92D273F7-5C4E-4C09-B011-C3F3EE82F13D}"/>
              </a:ext>
            </a:extLst>
          </p:cNvPr>
          <p:cNvSpPr>
            <a:spLocks xmlns:a="http://schemas.openxmlformats.org/drawingml/2006/main" noGrp="1"/>
          </p:cNvSpPr>
          <p:nvPr/>
        </p:nvSpPr>
        <p:spPr>
          <a:xfrm xmlns:a="http://schemas.openxmlformats.org/drawingml/2006/main">
            <a:off x="4762500" y="2552700"/>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Vor dem jeweiligen Termin werden die verlinkten amtlichen Fassungen auf Änderungen geprüft.</a:t>
            </a:r>
          </a:p>
        </p:txBody>
      </p:sp>
      <p:sp>
        <p:nvSpPr>
          <p:cNvPr id="9" name="">
            <a:extLst xmlns:a="http://schemas.openxmlformats.org/drawingml/2006/main">
              <a:ext uri="{FF2B5EF4-FFF2-40B4-BE49-F238E27FC236}">
                <a16:creationId xmlns:a16="http://schemas.microsoft.com/office/drawing/2014/main" id="{981492D3-C085-4C40-8C2D-6113D2B25760}"/>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72203D0F-BECC-4E39-9747-39A41669C051}"/>
              </a:ext>
            </a:extLst>
          </p:cNvPr>
          <p:cNvSpPr>
            <a:spLocks xmlns:a="http://schemas.openxmlformats.org/drawingml/2006/main" noGrp="1"/>
          </p:cNvSpPr>
          <p:nvPr/>
        </p:nvSpPr>
        <p:spPr>
          <a:xfrm xmlns:a="http://schemas.openxmlformats.org/drawingml/2006/main">
            <a:off x="1809750" y="3290888"/>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02</a:t>
            </a:r>
          </a:p>
        </p:txBody>
      </p:sp>
      <p:sp>
        <p:nvSpPr>
          <p:cNvPr id="11" name="">
            <a:extLst xmlns:a="http://schemas.openxmlformats.org/drawingml/2006/main">
              <a:ext uri="{FF2B5EF4-FFF2-40B4-BE49-F238E27FC236}">
                <a16:creationId xmlns:a16="http://schemas.microsoft.com/office/drawing/2014/main" id="{8CE9ADFB-43FE-498D-AA1E-FF31F69A1966}"/>
              </a:ext>
            </a:extLst>
          </p:cNvPr>
          <p:cNvSpPr>
            <a:spLocks xmlns:a="http://schemas.openxmlformats.org/drawingml/2006/main" noGrp="1"/>
          </p:cNvSpPr>
          <p:nvPr/>
        </p:nvSpPr>
        <p:spPr>
          <a:xfrm xmlns:a="http://schemas.openxmlformats.org/drawingml/2006/main">
            <a:off x="2514600" y="3309938"/>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Landesrecht</a:t>
            </a:r>
          </a:p>
        </p:txBody>
      </p:sp>
      <p:sp>
        <p:nvSpPr>
          <p:cNvPr id="12" name="">
            <a:extLst xmlns:a="http://schemas.openxmlformats.org/drawingml/2006/main">
              <a:ext uri="{FF2B5EF4-FFF2-40B4-BE49-F238E27FC236}">
                <a16:creationId xmlns:a16="http://schemas.microsoft.com/office/drawing/2014/main" id="{E562D485-C824-48A0-A587-23423B3461F0}"/>
              </a:ext>
            </a:extLst>
          </p:cNvPr>
          <p:cNvSpPr>
            <a:spLocks xmlns:a="http://schemas.openxmlformats.org/drawingml/2006/main" noGrp="1"/>
          </p:cNvSpPr>
          <p:nvPr/>
        </p:nvSpPr>
        <p:spPr>
          <a:xfrm xmlns:a="http://schemas.openxmlformats.org/drawingml/2006/main">
            <a:off x="4762500" y="3309938"/>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Berufs- und Kammerrecht wird anhand der aktuellen ÄKN- und NI-VORIS-Fassungen aktualisiert.</a:t>
            </a:r>
          </a:p>
        </p:txBody>
      </p:sp>
      <p:sp>
        <p:nvSpPr>
          <p:cNvPr id="13" name="">
            <a:extLst xmlns:a="http://schemas.openxmlformats.org/drawingml/2006/main">
              <a:ext uri="{FF2B5EF4-FFF2-40B4-BE49-F238E27FC236}">
                <a16:creationId xmlns:a16="http://schemas.microsoft.com/office/drawing/2014/main" id="{E04638D4-C89B-4E20-A2F9-475E5CB29CF8}"/>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oundRect">
            <a:avLst>
              <a:gd name="adj" fmla="val 14286"/>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7F7A2C88-F914-4DEB-9228-45109EA7235F}"/>
              </a:ext>
            </a:extLst>
          </p:cNvPr>
          <p:cNvSpPr>
            <a:spLocks xmlns:a="http://schemas.openxmlformats.org/drawingml/2006/main" noGrp="1"/>
          </p:cNvSpPr>
          <p:nvPr/>
        </p:nvSpPr>
        <p:spPr>
          <a:xfrm xmlns:a="http://schemas.openxmlformats.org/drawingml/2006/main">
            <a:off x="1809750" y="4048125"/>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03</a:t>
            </a:r>
          </a:p>
        </p:txBody>
      </p:sp>
      <p:sp>
        <p:nvSpPr>
          <p:cNvPr id="15" name="">
            <a:extLst xmlns:a="http://schemas.openxmlformats.org/drawingml/2006/main">
              <a:ext uri="{FF2B5EF4-FFF2-40B4-BE49-F238E27FC236}">
                <a16:creationId xmlns:a16="http://schemas.microsoft.com/office/drawing/2014/main" id="{4C6B1D80-9DFF-4DD5-B0E2-C58DA07A45AA}"/>
              </a:ext>
            </a:extLst>
          </p:cNvPr>
          <p:cNvSpPr>
            <a:spLocks xmlns:a="http://schemas.openxmlformats.org/drawingml/2006/main" noGrp="1"/>
          </p:cNvSpPr>
          <p:nvPr/>
        </p:nvSpPr>
        <p:spPr>
          <a:xfrm xmlns:a="http://schemas.openxmlformats.org/drawingml/2006/main">
            <a:off x="2514600" y="4067175"/>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Einzelfall</a:t>
            </a:r>
          </a:p>
        </p:txBody>
      </p:sp>
      <p:sp>
        <p:nvSpPr>
          <p:cNvPr id="16" name="">
            <a:extLst xmlns:a="http://schemas.openxmlformats.org/drawingml/2006/main">
              <a:ext uri="{FF2B5EF4-FFF2-40B4-BE49-F238E27FC236}">
                <a16:creationId xmlns:a16="http://schemas.microsoft.com/office/drawing/2014/main" id="{EA392457-AADE-4646-A4E9-1A39C6A2C738}"/>
              </a:ext>
            </a:extLst>
          </p:cNvPr>
          <p:cNvSpPr>
            <a:spLocks xmlns:a="http://schemas.openxmlformats.org/drawingml/2006/main" noGrp="1"/>
          </p:cNvSpPr>
          <p:nvPr/>
        </p:nvSpPr>
        <p:spPr>
          <a:xfrm xmlns:a="http://schemas.openxmlformats.org/drawingml/2006/main">
            <a:off x="4762500" y="4067175"/>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Die Präsentation ersetzt keine Beratung in einem konkreten Haftungsverfahren, Strafverfahren oder Approbationsverfahren.</a:t>
            </a:r>
          </a:p>
        </p:txBody>
      </p:sp>
      <p:sp>
        <p:nvSpPr>
          <p:cNvPr id="17" name="">
            <a:extLst xmlns:a="http://schemas.openxmlformats.org/drawingml/2006/main">
              <a:ext uri="{FF2B5EF4-FFF2-40B4-BE49-F238E27FC236}">
                <a16:creationId xmlns:a16="http://schemas.microsoft.com/office/drawing/2014/main" id="{33BE3431-3D79-4239-A7B2-E54326BFED22}"/>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oundRect">
            <a:avLst>
              <a:gd name="adj" fmla="val 14286"/>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A27BD822-D6B8-4FE3-9CA4-EE080D202F10}"/>
              </a:ext>
            </a:extLst>
          </p:cNvPr>
          <p:cNvSpPr>
            <a:spLocks xmlns:a="http://schemas.openxmlformats.org/drawingml/2006/main" noGrp="1"/>
          </p:cNvSpPr>
          <p:nvPr/>
        </p:nvSpPr>
        <p:spPr>
          <a:xfrm xmlns:a="http://schemas.openxmlformats.org/drawingml/2006/main">
            <a:off x="1809750" y="4805363"/>
            <a:ext cx="533400" cy="661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defRPr>
            </a:pPr>
            <a:r>
              <a:rPr sz="1050" b="1">
                <a:solidFill>
                  <a:srgbClr val="FFFFFF"/>
                </a:solidFill>
              </a:rPr>
              <a:t>04</a:t>
            </a:r>
          </a:p>
        </p:txBody>
      </p:sp>
      <p:sp>
        <p:nvSpPr>
          <p:cNvPr id="19" name="">
            <a:extLst xmlns:a="http://schemas.openxmlformats.org/drawingml/2006/main">
              <a:ext uri="{FF2B5EF4-FFF2-40B4-BE49-F238E27FC236}">
                <a16:creationId xmlns:a16="http://schemas.microsoft.com/office/drawing/2014/main" id="{7267B796-8CBE-4CD5-9389-D798BA0BE153}"/>
              </a:ext>
            </a:extLst>
          </p:cNvPr>
          <p:cNvSpPr>
            <a:spLocks xmlns:a="http://schemas.openxmlformats.org/drawingml/2006/main" noGrp="1"/>
          </p:cNvSpPr>
          <p:nvPr/>
        </p:nvSpPr>
        <p:spPr>
          <a:xfrm xmlns:a="http://schemas.openxmlformats.org/drawingml/2006/main">
            <a:off x="2514600" y="4824413"/>
            <a:ext cx="20955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38" b="1">
                <a:solidFill>
                  <a:srgbClr val="003F6B"/>
                </a:solidFill>
              </a:defRPr>
            </a:pPr>
            <a:r>
              <a:rPr sz="1238" b="1">
                <a:solidFill>
                  <a:srgbClr val="003F6B"/>
                </a:solidFill>
              </a:rPr>
              <a:t>Didaktik</a:t>
            </a:r>
          </a:p>
        </p:txBody>
      </p:sp>
      <p:sp>
        <p:nvSpPr>
          <p:cNvPr id="20" name="">
            <a:extLst xmlns:a="http://schemas.openxmlformats.org/drawingml/2006/main">
              <a:ext uri="{FF2B5EF4-FFF2-40B4-BE49-F238E27FC236}">
                <a16:creationId xmlns:a16="http://schemas.microsoft.com/office/drawing/2014/main" id="{A68CDCFB-34B6-4F8C-AC3E-486497FD82AB}"/>
              </a:ext>
            </a:extLst>
          </p:cNvPr>
          <p:cNvSpPr>
            <a:spLocks xmlns:a="http://schemas.openxmlformats.org/drawingml/2006/main" noGrp="1"/>
          </p:cNvSpPr>
          <p:nvPr/>
        </p:nvSpPr>
        <p:spPr>
          <a:xfrm xmlns:a="http://schemas.openxmlformats.org/drawingml/2006/main">
            <a:off x="4762500" y="4824413"/>
            <a:ext cx="6477000" cy="6238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110">
                <a:solidFill>
                  <a:srgbClr val="15232B"/>
                </a:solidFill>
              </a:defRPr>
            </a:pPr>
            <a:r>
              <a:rPr sz="1110">
                <a:solidFill>
                  <a:srgbClr val="15232B"/>
                </a:solidFill>
              </a:rPr>
              <a:t>Die Vollfassung ist bewusst umfangreich; für die Lehre werden Folien abhängig von Lernstand und Zeit ausgewählt.</a:t>
            </a:r>
          </a:p>
        </p:txBody>
      </p:sp>
      <p:sp>
        <p:nvSpPr>
          <p:cNvPr id="21" name="">
            <a:extLst xmlns:a="http://schemas.openxmlformats.org/drawingml/2006/main">
              <a:ext uri="{FF2B5EF4-FFF2-40B4-BE49-F238E27FC236}">
                <a16:creationId xmlns:a16="http://schemas.microsoft.com/office/drawing/2014/main" id="{E6B03736-04F7-47CA-B8C0-C5EFB71101EF}"/>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2" name="">
            <a:extLst xmlns:a="http://schemas.openxmlformats.org/drawingml/2006/main">
              <a:ext uri="{FF2B5EF4-FFF2-40B4-BE49-F238E27FC236}">
                <a16:creationId xmlns:a16="http://schemas.microsoft.com/office/drawing/2014/main" id="{FEC91669-CD08-4AEB-A6FB-6D38D1DAC9F0}"/>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Masterdeck = Materialpool; die konkrete Sitzung bleibt interaktiv und fallbezogen.</a:t>
            </a:r>
          </a:p>
        </p:txBody>
      </p:sp>
    </p:spTree>
    <p:extLst>
      <p:ext uri="{BB962C8B-B14F-4D97-AF65-F5344CB8AC3E}">
        <p14:creationId xmlns:p14="http://schemas.microsoft.com/office/powerpoint/2010/main" val="43637646"/>
      </p:ext>
    </p:extLst>
  </p:cSld>
</p:sld>
</file>

<file path=ppt/slides/slide418.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Praxischeck: möglicher Behandlungsfehler</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DRUCKKARTE</a:t>
            </a:r>
            <a:endParaRPr/>
          </a:p>
        </p:txBody>
      </p:sp>
      <p:sp>
        <p:nvSpPr>
          <p:cNvPr id="4" name="">
            <a:extLst xmlns:a="http://schemas.openxmlformats.org/drawingml/2006/main">
              <a:ext uri="{FF2B5EF4-FFF2-40B4-BE49-F238E27FC236}">
                <a16:creationId xmlns:a16="http://schemas.microsoft.com/office/drawing/2014/main" id="{9F51813A-98D0-4B53-A5FE-07CCD1A2575A}"/>
              </a:ext>
            </a:extLst>
          </p:cNvPr>
          <p:cNvSpPr>
            <a:spLocks xmlns:a="http://schemas.openxmlformats.org/drawingml/2006/main" noGrp="1"/>
          </p:cNvSpPr>
          <p:nvPr/>
        </p:nvSpPr>
        <p:spPr>
          <a:xfrm xmlns:a="http://schemas.openxmlformats.org/drawingml/2006/main">
            <a:off x="1809750" y="1952625"/>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418DCA10-44E1-4361-8076-8D6AB4C19F6A}"/>
              </a:ext>
            </a:extLst>
          </p:cNvPr>
          <p:cNvSpPr>
            <a:spLocks xmlns:a="http://schemas.openxmlformats.org/drawingml/2006/main" noGrp="1"/>
          </p:cNvSpPr>
          <p:nvPr/>
        </p:nvSpPr>
        <p:spPr>
          <a:xfrm xmlns:a="http://schemas.openxmlformats.org/drawingml/2006/main">
            <a:off x="1809750" y="1952625"/>
            <a:ext cx="30734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2DD46046-5BCA-4290-AC3F-F0741010D1E5}"/>
              </a:ext>
            </a:extLst>
          </p:cNvPr>
          <p:cNvSpPr>
            <a:spLocks xmlns:a="http://schemas.openxmlformats.org/drawingml/2006/main" noGrp="1"/>
          </p:cNvSpPr>
          <p:nvPr/>
        </p:nvSpPr>
        <p:spPr>
          <a:xfrm xmlns:a="http://schemas.openxmlformats.org/drawingml/2006/main">
            <a:off x="1962150" y="2085975"/>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Jetzt</a:t>
            </a:r>
          </a:p>
        </p:txBody>
      </p:sp>
      <p:sp>
        <p:nvSpPr>
          <p:cNvPr id="7" name="">
            <a:extLst xmlns:a="http://schemas.openxmlformats.org/drawingml/2006/main">
              <a:ext uri="{FF2B5EF4-FFF2-40B4-BE49-F238E27FC236}">
                <a16:creationId xmlns:a16="http://schemas.microsoft.com/office/drawing/2014/main" id="{E6242FF0-1DD3-49AD-A2E5-B8FA1DA05428}"/>
              </a:ext>
            </a:extLst>
          </p:cNvPr>
          <p:cNvSpPr>
            <a:spLocks xmlns:a="http://schemas.openxmlformats.org/drawingml/2006/main" noGrp="1"/>
          </p:cNvSpPr>
          <p:nvPr/>
        </p:nvSpPr>
        <p:spPr>
          <a:xfrm xmlns:a="http://schemas.openxmlformats.org/drawingml/2006/main">
            <a:off x="1962150" y="2524125"/>
            <a:ext cx="27686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13">
                <a:solidFill>
                  <a:srgbClr val="15232B"/>
                </a:solidFill>
              </a:defRPr>
            </a:pPr>
            <a:r>
              <a:rPr sz="1013">
                <a:solidFill>
                  <a:srgbClr val="15232B"/>
                </a:solidFill>
              </a:rPr>
              <a:t>Patient stabilisieren · Hilfe / Eskalation · sichere Weiterbehandlung</a:t>
            </a:r>
          </a:p>
        </p:txBody>
      </p:sp>
      <p:sp>
        <p:nvSpPr>
          <p:cNvPr id="8" name="">
            <a:extLst xmlns:a="http://schemas.openxmlformats.org/drawingml/2006/main">
              <a:ext uri="{FF2B5EF4-FFF2-40B4-BE49-F238E27FC236}">
                <a16:creationId xmlns:a16="http://schemas.microsoft.com/office/drawing/2014/main" id="{809B3D2B-B3E0-49DE-BC82-4DCA277D62B6}"/>
              </a:ext>
            </a:extLst>
          </p:cNvPr>
          <p:cNvSpPr>
            <a:spLocks xmlns:a="http://schemas.openxmlformats.org/drawingml/2006/main" noGrp="1"/>
          </p:cNvSpPr>
          <p:nvPr/>
        </p:nvSpPr>
        <p:spPr>
          <a:xfrm xmlns:a="http://schemas.openxmlformats.org/drawingml/2006/main">
            <a:off x="5035550" y="1952625"/>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9" name="">
            <a:extLst xmlns:a="http://schemas.openxmlformats.org/drawingml/2006/main">
              <a:ext uri="{FF2B5EF4-FFF2-40B4-BE49-F238E27FC236}">
                <a16:creationId xmlns:a16="http://schemas.microsoft.com/office/drawing/2014/main" id="{4D6D279B-83BE-4ADE-AADE-7FB292B0BAD7}"/>
              </a:ext>
            </a:extLst>
          </p:cNvPr>
          <p:cNvSpPr>
            <a:spLocks xmlns:a="http://schemas.openxmlformats.org/drawingml/2006/main" noGrp="1"/>
          </p:cNvSpPr>
          <p:nvPr/>
        </p:nvSpPr>
        <p:spPr>
          <a:xfrm xmlns:a="http://schemas.openxmlformats.org/drawingml/2006/main">
            <a:off x="5035550" y="1952625"/>
            <a:ext cx="307340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82D3F8B8-1A9D-4371-B3A1-F35E540EEBCC}"/>
              </a:ext>
            </a:extLst>
          </p:cNvPr>
          <p:cNvSpPr>
            <a:spLocks xmlns:a="http://schemas.openxmlformats.org/drawingml/2006/main" noGrp="1"/>
          </p:cNvSpPr>
          <p:nvPr/>
        </p:nvSpPr>
        <p:spPr>
          <a:xfrm xmlns:a="http://schemas.openxmlformats.org/drawingml/2006/main">
            <a:off x="5187950" y="2085975"/>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Fakten</a:t>
            </a:r>
          </a:p>
        </p:txBody>
      </p:sp>
      <p:sp>
        <p:nvSpPr>
          <p:cNvPr id="11" name="">
            <a:extLst xmlns:a="http://schemas.openxmlformats.org/drawingml/2006/main">
              <a:ext uri="{FF2B5EF4-FFF2-40B4-BE49-F238E27FC236}">
                <a16:creationId xmlns:a16="http://schemas.microsoft.com/office/drawing/2014/main" id="{FEFFF2F5-EE06-4FEF-9A4E-BC83C1FDC4FA}"/>
              </a:ext>
            </a:extLst>
          </p:cNvPr>
          <p:cNvSpPr>
            <a:spLocks xmlns:a="http://schemas.openxmlformats.org/drawingml/2006/main" noGrp="1"/>
          </p:cNvSpPr>
          <p:nvPr/>
        </p:nvSpPr>
        <p:spPr>
          <a:xfrm xmlns:a="http://schemas.openxmlformats.org/drawingml/2006/main">
            <a:off x="5187950" y="2524125"/>
            <a:ext cx="27686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13">
                <a:solidFill>
                  <a:srgbClr val="15232B"/>
                </a:solidFill>
              </a:defRPr>
            </a:pPr>
            <a:r>
              <a:rPr sz="1013">
                <a:solidFill>
                  <a:srgbClr val="15232B"/>
                </a:solidFill>
              </a:rPr>
              <a:t>Zeiten · Befunde · Maßnahmen · Entscheidung · Übergabe – zeitnah dokumentieren</a:t>
            </a:r>
          </a:p>
        </p:txBody>
      </p:sp>
      <p:sp>
        <p:nvSpPr>
          <p:cNvPr id="12" name="">
            <a:extLst xmlns:a="http://schemas.openxmlformats.org/drawingml/2006/main">
              <a:ext uri="{FF2B5EF4-FFF2-40B4-BE49-F238E27FC236}">
                <a16:creationId xmlns:a16="http://schemas.microsoft.com/office/drawing/2014/main" id="{0FBDD161-6266-4CB3-AE11-21125D77684C}"/>
              </a:ext>
            </a:extLst>
          </p:cNvPr>
          <p:cNvSpPr>
            <a:spLocks xmlns:a="http://schemas.openxmlformats.org/drawingml/2006/main" noGrp="1"/>
          </p:cNvSpPr>
          <p:nvPr/>
        </p:nvSpPr>
        <p:spPr>
          <a:xfrm xmlns:a="http://schemas.openxmlformats.org/drawingml/2006/main">
            <a:off x="8261350" y="1952625"/>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13" name="">
            <a:extLst xmlns:a="http://schemas.openxmlformats.org/drawingml/2006/main">
              <a:ext uri="{FF2B5EF4-FFF2-40B4-BE49-F238E27FC236}">
                <a16:creationId xmlns:a16="http://schemas.microsoft.com/office/drawing/2014/main" id="{4C976A0B-4E53-4E40-A3FF-C81C2B49DC12}"/>
              </a:ext>
            </a:extLst>
          </p:cNvPr>
          <p:cNvSpPr>
            <a:spLocks xmlns:a="http://schemas.openxmlformats.org/drawingml/2006/main" noGrp="1"/>
          </p:cNvSpPr>
          <p:nvPr/>
        </p:nvSpPr>
        <p:spPr>
          <a:xfrm xmlns:a="http://schemas.openxmlformats.org/drawingml/2006/main">
            <a:off x="8261350" y="1952625"/>
            <a:ext cx="30734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7F1D84D3-FEEF-49F9-A69D-05D29E07C732}"/>
              </a:ext>
            </a:extLst>
          </p:cNvPr>
          <p:cNvSpPr>
            <a:spLocks xmlns:a="http://schemas.openxmlformats.org/drawingml/2006/main" noGrp="1"/>
          </p:cNvSpPr>
          <p:nvPr/>
        </p:nvSpPr>
        <p:spPr>
          <a:xfrm xmlns:a="http://schemas.openxmlformats.org/drawingml/2006/main">
            <a:off x="8413750" y="2085975"/>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Menschen</a:t>
            </a:r>
          </a:p>
        </p:txBody>
      </p:sp>
      <p:sp>
        <p:nvSpPr>
          <p:cNvPr id="15" name="">
            <a:extLst xmlns:a="http://schemas.openxmlformats.org/drawingml/2006/main">
              <a:ext uri="{FF2B5EF4-FFF2-40B4-BE49-F238E27FC236}">
                <a16:creationId xmlns:a16="http://schemas.microsoft.com/office/drawing/2014/main" id="{BB114B03-B8D0-4205-BEE7-BFF691B1C501}"/>
              </a:ext>
            </a:extLst>
          </p:cNvPr>
          <p:cNvSpPr>
            <a:spLocks xmlns:a="http://schemas.openxmlformats.org/drawingml/2006/main" noGrp="1"/>
          </p:cNvSpPr>
          <p:nvPr/>
        </p:nvSpPr>
        <p:spPr>
          <a:xfrm xmlns:a="http://schemas.openxmlformats.org/drawingml/2006/main">
            <a:off x="8413750" y="2524125"/>
            <a:ext cx="27686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13">
                <a:solidFill>
                  <a:srgbClr val="15232B"/>
                </a:solidFill>
              </a:defRPr>
            </a:pPr>
            <a:r>
              <a:rPr sz="1013">
                <a:solidFill>
                  <a:srgbClr val="15232B"/>
                </a:solidFill>
              </a:rPr>
              <a:t>Patient:in / Angehörige informieren · Ansprechpartner · Team- und Peer-Support</a:t>
            </a:r>
          </a:p>
        </p:txBody>
      </p:sp>
      <p:sp>
        <p:nvSpPr>
          <p:cNvPr id="16" name="">
            <a:extLst xmlns:a="http://schemas.openxmlformats.org/drawingml/2006/main">
              <a:ext uri="{FF2B5EF4-FFF2-40B4-BE49-F238E27FC236}">
                <a16:creationId xmlns:a16="http://schemas.microsoft.com/office/drawing/2014/main" id="{612C0AF2-FE0A-46E7-965F-490D7E2D74FE}"/>
              </a:ext>
            </a:extLst>
          </p:cNvPr>
          <p:cNvSpPr>
            <a:spLocks xmlns:a="http://schemas.openxmlformats.org/drawingml/2006/main" noGrp="1"/>
          </p:cNvSpPr>
          <p:nvPr/>
        </p:nvSpPr>
        <p:spPr>
          <a:xfrm xmlns:a="http://schemas.openxmlformats.org/drawingml/2006/main">
            <a:off x="1809750" y="3767138"/>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17" name="">
            <a:extLst xmlns:a="http://schemas.openxmlformats.org/drawingml/2006/main">
              <a:ext uri="{FF2B5EF4-FFF2-40B4-BE49-F238E27FC236}">
                <a16:creationId xmlns:a16="http://schemas.microsoft.com/office/drawing/2014/main" id="{9574AE2A-6948-4372-8D6B-9CD7204DC816}"/>
              </a:ext>
            </a:extLst>
          </p:cNvPr>
          <p:cNvSpPr>
            <a:spLocks xmlns:a="http://schemas.openxmlformats.org/drawingml/2006/main" noGrp="1"/>
          </p:cNvSpPr>
          <p:nvPr/>
        </p:nvSpPr>
        <p:spPr>
          <a:xfrm xmlns:a="http://schemas.openxmlformats.org/drawingml/2006/main">
            <a:off x="1809750" y="3767138"/>
            <a:ext cx="307340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E4B85E4D-0318-4357-8D75-60CA9D70B1F5}"/>
              </a:ext>
            </a:extLst>
          </p:cNvPr>
          <p:cNvSpPr>
            <a:spLocks xmlns:a="http://schemas.openxmlformats.org/drawingml/2006/main" noGrp="1"/>
          </p:cNvSpPr>
          <p:nvPr/>
        </p:nvSpPr>
        <p:spPr>
          <a:xfrm xmlns:a="http://schemas.openxmlformats.org/drawingml/2006/main">
            <a:off x="1962150" y="3900488"/>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Organisation</a:t>
            </a:r>
          </a:p>
        </p:txBody>
      </p:sp>
      <p:sp>
        <p:nvSpPr>
          <p:cNvPr id="19" name="">
            <a:extLst xmlns:a="http://schemas.openxmlformats.org/drawingml/2006/main">
              <a:ext uri="{FF2B5EF4-FFF2-40B4-BE49-F238E27FC236}">
                <a16:creationId xmlns:a16="http://schemas.microsoft.com/office/drawing/2014/main" id="{16F19BBD-A35A-4B14-A087-1B4F02CA3B91}"/>
              </a:ext>
            </a:extLst>
          </p:cNvPr>
          <p:cNvSpPr>
            <a:spLocks xmlns:a="http://schemas.openxmlformats.org/drawingml/2006/main" noGrp="1"/>
          </p:cNvSpPr>
          <p:nvPr/>
        </p:nvSpPr>
        <p:spPr>
          <a:xfrm xmlns:a="http://schemas.openxmlformats.org/drawingml/2006/main">
            <a:off x="1962150" y="4338638"/>
            <a:ext cx="27686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13">
                <a:solidFill>
                  <a:srgbClr val="15232B"/>
                </a:solidFill>
              </a:defRPr>
            </a:pPr>
            <a:r>
              <a:rPr sz="1013">
                <a:solidFill>
                  <a:srgbClr val="15232B"/>
                </a:solidFill>
              </a:rPr>
              <a:t>Vorgesetzte · Risikomanagement · Haftpflichtweg · Material nach SOP sichern</a:t>
            </a:r>
          </a:p>
        </p:txBody>
      </p:sp>
      <p:sp>
        <p:nvSpPr>
          <p:cNvPr id="20" name="">
            <a:extLst xmlns:a="http://schemas.openxmlformats.org/drawingml/2006/main">
              <a:ext uri="{FF2B5EF4-FFF2-40B4-BE49-F238E27FC236}">
                <a16:creationId xmlns:a16="http://schemas.microsoft.com/office/drawing/2014/main" id="{7EF6C9E2-1C3B-4256-A17D-2507D0ED2A35}"/>
              </a:ext>
            </a:extLst>
          </p:cNvPr>
          <p:cNvSpPr>
            <a:spLocks xmlns:a="http://schemas.openxmlformats.org/drawingml/2006/main" noGrp="1"/>
          </p:cNvSpPr>
          <p:nvPr/>
        </p:nvSpPr>
        <p:spPr>
          <a:xfrm xmlns:a="http://schemas.openxmlformats.org/drawingml/2006/main">
            <a:off x="5035550" y="3767138"/>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21" name="">
            <a:extLst xmlns:a="http://schemas.openxmlformats.org/drawingml/2006/main">
              <a:ext uri="{FF2B5EF4-FFF2-40B4-BE49-F238E27FC236}">
                <a16:creationId xmlns:a16="http://schemas.microsoft.com/office/drawing/2014/main" id="{8B24A805-9220-47CD-9C49-92CFE900893D}"/>
              </a:ext>
            </a:extLst>
          </p:cNvPr>
          <p:cNvSpPr>
            <a:spLocks xmlns:a="http://schemas.openxmlformats.org/drawingml/2006/main" noGrp="1"/>
          </p:cNvSpPr>
          <p:nvPr/>
        </p:nvSpPr>
        <p:spPr>
          <a:xfrm xmlns:a="http://schemas.openxmlformats.org/drawingml/2006/main">
            <a:off x="5035550" y="3767138"/>
            <a:ext cx="30734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22" name="">
            <a:extLst xmlns:a="http://schemas.openxmlformats.org/drawingml/2006/main">
              <a:ext uri="{FF2B5EF4-FFF2-40B4-BE49-F238E27FC236}">
                <a16:creationId xmlns:a16="http://schemas.microsoft.com/office/drawing/2014/main" id="{2E3C7379-3E50-4FCD-9A86-2E48D183423D}"/>
              </a:ext>
            </a:extLst>
          </p:cNvPr>
          <p:cNvSpPr>
            <a:spLocks xmlns:a="http://schemas.openxmlformats.org/drawingml/2006/main" noGrp="1"/>
          </p:cNvSpPr>
          <p:nvPr/>
        </p:nvSpPr>
        <p:spPr>
          <a:xfrm xmlns:a="http://schemas.openxmlformats.org/drawingml/2006/main">
            <a:off x="5187950" y="3900488"/>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Grenzen</a:t>
            </a:r>
          </a:p>
        </p:txBody>
      </p:sp>
      <p:sp>
        <p:nvSpPr>
          <p:cNvPr id="23" name="">
            <a:extLst xmlns:a="http://schemas.openxmlformats.org/drawingml/2006/main">
              <a:ext uri="{FF2B5EF4-FFF2-40B4-BE49-F238E27FC236}">
                <a16:creationId xmlns:a16="http://schemas.microsoft.com/office/drawing/2014/main" id="{DD40D693-B3EF-462D-A660-9D761F24C25A}"/>
              </a:ext>
            </a:extLst>
          </p:cNvPr>
          <p:cNvSpPr>
            <a:spLocks xmlns:a="http://schemas.openxmlformats.org/drawingml/2006/main" noGrp="1"/>
          </p:cNvSpPr>
          <p:nvPr/>
        </p:nvSpPr>
        <p:spPr>
          <a:xfrm xmlns:a="http://schemas.openxmlformats.org/drawingml/2006/main">
            <a:off x="5187950" y="4338638"/>
            <a:ext cx="27686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13">
                <a:solidFill>
                  <a:srgbClr val="15232B"/>
                </a:solidFill>
              </a:defRPr>
            </a:pPr>
            <a:r>
              <a:rPr sz="1013">
                <a:solidFill>
                  <a:srgbClr val="15232B"/>
                </a:solidFill>
              </a:rPr>
              <a:t>nicht löschen · nicht rückdatieren · nicht spekulieren · keine privaten Kopien</a:t>
            </a:r>
          </a:p>
        </p:txBody>
      </p:sp>
      <p:sp>
        <p:nvSpPr>
          <p:cNvPr id="24" name="">
            <a:extLst xmlns:a="http://schemas.openxmlformats.org/drawingml/2006/main">
              <a:ext uri="{FF2B5EF4-FFF2-40B4-BE49-F238E27FC236}">
                <a16:creationId xmlns:a16="http://schemas.microsoft.com/office/drawing/2014/main" id="{396AF1AF-3C38-46DE-9728-0854AB3304FB}"/>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5" name="">
            <a:extLst xmlns:a="http://schemas.openxmlformats.org/drawingml/2006/main">
              <a:ext uri="{FF2B5EF4-FFF2-40B4-BE49-F238E27FC236}">
                <a16:creationId xmlns:a16="http://schemas.microsoft.com/office/drawing/2014/main" id="{E133E66C-CB0E-469B-9D69-8D3F93243E61}"/>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Lokale SOP und fachliche Dringlichkeit gehen vor; bei förmlichem Vorwurf professionelle Beratung.</a:t>
            </a:r>
          </a:p>
        </p:txBody>
      </p:sp>
    </p:spTree>
    <p:extLst>
      <p:ext uri="{BB962C8B-B14F-4D97-AF65-F5344CB8AC3E}">
        <p14:creationId xmlns:p14="http://schemas.microsoft.com/office/powerpoint/2010/main" val="43637646"/>
      </p:ext>
    </p:extLst>
  </p:cSld>
</p:sld>
</file>

<file path=ppt/slides/slide419.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Rollenkarten: Wer bin ich im Verfahren?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VOR JEDER AUSKUNFT</a:t>
            </a:r>
            <a:endParaRPr/>
          </a:p>
        </p:txBody>
      </p:sp>
      <p:sp>
        <p:nvSpPr>
          <p:cNvPr id="4" name="">
            <a:extLst xmlns:a="http://schemas.openxmlformats.org/drawingml/2006/main">
              <a:ext uri="{FF2B5EF4-FFF2-40B4-BE49-F238E27FC236}">
                <a16:creationId xmlns:a16="http://schemas.microsoft.com/office/drawing/2014/main" id="{C1099F73-1AA0-4547-9E19-C238534E3E8D}"/>
              </a:ext>
            </a:extLst>
          </p:cNvPr>
          <p:cNvSpPr>
            <a:spLocks xmlns:a="http://schemas.openxmlformats.org/drawingml/2006/main" noGrp="1"/>
          </p:cNvSpPr>
          <p:nvPr/>
        </p:nvSpPr>
        <p:spPr>
          <a:xfrm xmlns:a="http://schemas.openxmlformats.org/drawingml/2006/main">
            <a:off x="1809750" y="1952625"/>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7AFBC083-6C88-4F2D-8F41-87EC32BCD4A2}"/>
              </a:ext>
            </a:extLst>
          </p:cNvPr>
          <p:cNvSpPr>
            <a:spLocks xmlns:a="http://schemas.openxmlformats.org/drawingml/2006/main" noGrp="1"/>
          </p:cNvSpPr>
          <p:nvPr/>
        </p:nvSpPr>
        <p:spPr>
          <a:xfrm xmlns:a="http://schemas.openxmlformats.org/drawingml/2006/main">
            <a:off x="1809750" y="1952625"/>
            <a:ext cx="30734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EFD587C8-BF46-44C1-AD29-3AEAF7F752F3}"/>
              </a:ext>
            </a:extLst>
          </p:cNvPr>
          <p:cNvSpPr>
            <a:spLocks xmlns:a="http://schemas.openxmlformats.org/drawingml/2006/main" noGrp="1"/>
          </p:cNvSpPr>
          <p:nvPr/>
        </p:nvSpPr>
        <p:spPr>
          <a:xfrm xmlns:a="http://schemas.openxmlformats.org/drawingml/2006/main">
            <a:off x="1962150" y="2085975"/>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Behandelnde:r</a:t>
            </a:r>
          </a:p>
        </p:txBody>
      </p:sp>
      <p:sp>
        <p:nvSpPr>
          <p:cNvPr id="7" name="">
            <a:extLst xmlns:a="http://schemas.openxmlformats.org/drawingml/2006/main">
              <a:ext uri="{FF2B5EF4-FFF2-40B4-BE49-F238E27FC236}">
                <a16:creationId xmlns:a16="http://schemas.microsoft.com/office/drawing/2014/main" id="{6E7C479D-A1F4-43DA-9AB3-88A5CF2AD67A}"/>
              </a:ext>
            </a:extLst>
          </p:cNvPr>
          <p:cNvSpPr>
            <a:spLocks xmlns:a="http://schemas.openxmlformats.org/drawingml/2006/main" noGrp="1"/>
          </p:cNvSpPr>
          <p:nvPr/>
        </p:nvSpPr>
        <p:spPr>
          <a:xfrm xmlns:a="http://schemas.openxmlformats.org/drawingml/2006/main">
            <a:off x="1962150" y="2524125"/>
            <a:ext cx="27686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Was braucht die Patientin jetzt?</a:t>
            </a:r>
          </a:p>
        </p:txBody>
      </p:sp>
      <p:sp>
        <p:nvSpPr>
          <p:cNvPr id="8" name="">
            <a:extLst xmlns:a="http://schemas.openxmlformats.org/drawingml/2006/main">
              <a:ext uri="{FF2B5EF4-FFF2-40B4-BE49-F238E27FC236}">
                <a16:creationId xmlns:a16="http://schemas.microsoft.com/office/drawing/2014/main" id="{6C24B078-5477-4E3F-95BA-83EA6C6484A3}"/>
              </a:ext>
            </a:extLst>
          </p:cNvPr>
          <p:cNvSpPr>
            <a:spLocks xmlns:a="http://schemas.openxmlformats.org/drawingml/2006/main" noGrp="1"/>
          </p:cNvSpPr>
          <p:nvPr/>
        </p:nvSpPr>
        <p:spPr>
          <a:xfrm xmlns:a="http://schemas.openxmlformats.org/drawingml/2006/main">
            <a:off x="5035550" y="1952625"/>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9" name="">
            <a:extLst xmlns:a="http://schemas.openxmlformats.org/drawingml/2006/main">
              <a:ext uri="{FF2B5EF4-FFF2-40B4-BE49-F238E27FC236}">
                <a16:creationId xmlns:a16="http://schemas.microsoft.com/office/drawing/2014/main" id="{8B338E8D-717D-4AA7-AFF9-EA70D7AB87F8}"/>
              </a:ext>
            </a:extLst>
          </p:cNvPr>
          <p:cNvSpPr>
            <a:spLocks xmlns:a="http://schemas.openxmlformats.org/drawingml/2006/main" noGrp="1"/>
          </p:cNvSpPr>
          <p:nvPr/>
        </p:nvSpPr>
        <p:spPr>
          <a:xfrm xmlns:a="http://schemas.openxmlformats.org/drawingml/2006/main">
            <a:off x="5035550" y="1952625"/>
            <a:ext cx="307340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C72F0C8C-1509-4438-B870-4A12B4863404}"/>
              </a:ext>
            </a:extLst>
          </p:cNvPr>
          <p:cNvSpPr>
            <a:spLocks xmlns:a="http://schemas.openxmlformats.org/drawingml/2006/main" noGrp="1"/>
          </p:cNvSpPr>
          <p:nvPr/>
        </p:nvSpPr>
        <p:spPr>
          <a:xfrm xmlns:a="http://schemas.openxmlformats.org/drawingml/2006/main">
            <a:off x="5187950" y="2085975"/>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Zeuge / Zeugin</a:t>
            </a:r>
          </a:p>
        </p:txBody>
      </p:sp>
      <p:sp>
        <p:nvSpPr>
          <p:cNvPr id="11" name="">
            <a:extLst xmlns:a="http://schemas.openxmlformats.org/drawingml/2006/main">
              <a:ext uri="{FF2B5EF4-FFF2-40B4-BE49-F238E27FC236}">
                <a16:creationId xmlns:a16="http://schemas.microsoft.com/office/drawing/2014/main" id="{BEE4A336-2F19-4B2C-BBBA-F666506058DB}"/>
              </a:ext>
            </a:extLst>
          </p:cNvPr>
          <p:cNvSpPr>
            <a:spLocks xmlns:a="http://schemas.openxmlformats.org/drawingml/2006/main" noGrp="1"/>
          </p:cNvSpPr>
          <p:nvPr/>
        </p:nvSpPr>
        <p:spPr>
          <a:xfrm xmlns:a="http://schemas.openxmlformats.org/drawingml/2006/main">
            <a:off x="5187950" y="2524125"/>
            <a:ext cx="27686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Was habe ich selbst wahrgenommen?</a:t>
            </a:r>
          </a:p>
        </p:txBody>
      </p:sp>
      <p:sp>
        <p:nvSpPr>
          <p:cNvPr id="12" name="">
            <a:extLst xmlns:a="http://schemas.openxmlformats.org/drawingml/2006/main">
              <a:ext uri="{FF2B5EF4-FFF2-40B4-BE49-F238E27FC236}">
                <a16:creationId xmlns:a16="http://schemas.microsoft.com/office/drawing/2014/main" id="{866701B4-D907-4278-95DF-76DA896D9C36}"/>
              </a:ext>
            </a:extLst>
          </p:cNvPr>
          <p:cNvSpPr>
            <a:spLocks xmlns:a="http://schemas.openxmlformats.org/drawingml/2006/main" noGrp="1"/>
          </p:cNvSpPr>
          <p:nvPr/>
        </p:nvSpPr>
        <p:spPr>
          <a:xfrm xmlns:a="http://schemas.openxmlformats.org/drawingml/2006/main">
            <a:off x="8261350" y="1952625"/>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13" name="">
            <a:extLst xmlns:a="http://schemas.openxmlformats.org/drawingml/2006/main">
              <a:ext uri="{FF2B5EF4-FFF2-40B4-BE49-F238E27FC236}">
                <a16:creationId xmlns:a16="http://schemas.microsoft.com/office/drawing/2014/main" id="{80E34512-2557-4828-B87F-C86F6D8A4677}"/>
              </a:ext>
            </a:extLst>
          </p:cNvPr>
          <p:cNvSpPr>
            <a:spLocks xmlns:a="http://schemas.openxmlformats.org/drawingml/2006/main" noGrp="1"/>
          </p:cNvSpPr>
          <p:nvPr/>
        </p:nvSpPr>
        <p:spPr>
          <a:xfrm xmlns:a="http://schemas.openxmlformats.org/drawingml/2006/main">
            <a:off x="8261350" y="1952625"/>
            <a:ext cx="30734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CD85DD1C-8BB0-4858-B803-D73C811F8CC9}"/>
              </a:ext>
            </a:extLst>
          </p:cNvPr>
          <p:cNvSpPr>
            <a:spLocks xmlns:a="http://schemas.openxmlformats.org/drawingml/2006/main" noGrp="1"/>
          </p:cNvSpPr>
          <p:nvPr/>
        </p:nvSpPr>
        <p:spPr>
          <a:xfrm xmlns:a="http://schemas.openxmlformats.org/drawingml/2006/main">
            <a:off x="8413750" y="2085975"/>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Beschuldigte:r</a:t>
            </a:r>
          </a:p>
        </p:txBody>
      </p:sp>
      <p:sp>
        <p:nvSpPr>
          <p:cNvPr id="15" name="">
            <a:extLst xmlns:a="http://schemas.openxmlformats.org/drawingml/2006/main">
              <a:ext uri="{FF2B5EF4-FFF2-40B4-BE49-F238E27FC236}">
                <a16:creationId xmlns:a16="http://schemas.microsoft.com/office/drawing/2014/main" id="{C0FE223D-798C-4C35-9450-928DFA43411B}"/>
              </a:ext>
            </a:extLst>
          </p:cNvPr>
          <p:cNvSpPr>
            <a:spLocks xmlns:a="http://schemas.openxmlformats.org/drawingml/2006/main" noGrp="1"/>
          </p:cNvSpPr>
          <p:nvPr/>
        </p:nvSpPr>
        <p:spPr>
          <a:xfrm xmlns:a="http://schemas.openxmlformats.org/drawingml/2006/main">
            <a:off x="8413750" y="2524125"/>
            <a:ext cx="27686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Was wird mir konkret vorgeworfen?</a:t>
            </a:r>
          </a:p>
        </p:txBody>
      </p:sp>
      <p:sp>
        <p:nvSpPr>
          <p:cNvPr id="16" name="">
            <a:extLst xmlns:a="http://schemas.openxmlformats.org/drawingml/2006/main">
              <a:ext uri="{FF2B5EF4-FFF2-40B4-BE49-F238E27FC236}">
                <a16:creationId xmlns:a16="http://schemas.microsoft.com/office/drawing/2014/main" id="{A63ED2CD-380A-4312-8D58-D60F07419927}"/>
              </a:ext>
            </a:extLst>
          </p:cNvPr>
          <p:cNvSpPr>
            <a:spLocks xmlns:a="http://schemas.openxmlformats.org/drawingml/2006/main" noGrp="1"/>
          </p:cNvSpPr>
          <p:nvPr/>
        </p:nvSpPr>
        <p:spPr>
          <a:xfrm xmlns:a="http://schemas.openxmlformats.org/drawingml/2006/main">
            <a:off x="1809750" y="3767138"/>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17" name="">
            <a:extLst xmlns:a="http://schemas.openxmlformats.org/drawingml/2006/main">
              <a:ext uri="{FF2B5EF4-FFF2-40B4-BE49-F238E27FC236}">
                <a16:creationId xmlns:a16="http://schemas.microsoft.com/office/drawing/2014/main" id="{4156832D-2F46-4E60-A0BB-81539BA32683}"/>
              </a:ext>
            </a:extLst>
          </p:cNvPr>
          <p:cNvSpPr>
            <a:spLocks xmlns:a="http://schemas.openxmlformats.org/drawingml/2006/main" noGrp="1"/>
          </p:cNvSpPr>
          <p:nvPr/>
        </p:nvSpPr>
        <p:spPr>
          <a:xfrm xmlns:a="http://schemas.openxmlformats.org/drawingml/2006/main">
            <a:off x="1809750" y="3767138"/>
            <a:ext cx="307340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9B9ECD40-EAC8-4EAD-B18C-37259EC02785}"/>
              </a:ext>
            </a:extLst>
          </p:cNvPr>
          <p:cNvSpPr>
            <a:spLocks xmlns:a="http://schemas.openxmlformats.org/drawingml/2006/main" noGrp="1"/>
          </p:cNvSpPr>
          <p:nvPr/>
        </p:nvSpPr>
        <p:spPr>
          <a:xfrm xmlns:a="http://schemas.openxmlformats.org/drawingml/2006/main">
            <a:off x="1962150" y="3900488"/>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Sachverständige:r</a:t>
            </a:r>
          </a:p>
        </p:txBody>
      </p:sp>
      <p:sp>
        <p:nvSpPr>
          <p:cNvPr id="19" name="">
            <a:extLst xmlns:a="http://schemas.openxmlformats.org/drawingml/2006/main">
              <a:ext uri="{FF2B5EF4-FFF2-40B4-BE49-F238E27FC236}">
                <a16:creationId xmlns:a16="http://schemas.microsoft.com/office/drawing/2014/main" id="{C0523E4D-B005-4C4C-B334-4D5EB301B9AB}"/>
              </a:ext>
            </a:extLst>
          </p:cNvPr>
          <p:cNvSpPr>
            <a:spLocks xmlns:a="http://schemas.openxmlformats.org/drawingml/2006/main" noGrp="1"/>
          </p:cNvSpPr>
          <p:nvPr/>
        </p:nvSpPr>
        <p:spPr>
          <a:xfrm xmlns:a="http://schemas.openxmlformats.org/drawingml/2006/main">
            <a:off x="1962150" y="4338638"/>
            <a:ext cx="27686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Welche Fachfrage ist gestellt?</a:t>
            </a:r>
          </a:p>
        </p:txBody>
      </p:sp>
      <p:sp>
        <p:nvSpPr>
          <p:cNvPr id="20" name="">
            <a:extLst xmlns:a="http://schemas.openxmlformats.org/drawingml/2006/main">
              <a:ext uri="{FF2B5EF4-FFF2-40B4-BE49-F238E27FC236}">
                <a16:creationId xmlns:a16="http://schemas.microsoft.com/office/drawing/2014/main" id="{F14EFDC9-2B8F-4021-BF0F-B2BEA6280BF7}"/>
              </a:ext>
            </a:extLst>
          </p:cNvPr>
          <p:cNvSpPr>
            <a:spLocks xmlns:a="http://schemas.openxmlformats.org/drawingml/2006/main" noGrp="1"/>
          </p:cNvSpPr>
          <p:nvPr/>
        </p:nvSpPr>
        <p:spPr>
          <a:xfrm xmlns:a="http://schemas.openxmlformats.org/drawingml/2006/main">
            <a:off x="5035550" y="3767138"/>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21" name="">
            <a:extLst xmlns:a="http://schemas.openxmlformats.org/drawingml/2006/main">
              <a:ext uri="{FF2B5EF4-FFF2-40B4-BE49-F238E27FC236}">
                <a16:creationId xmlns:a16="http://schemas.microsoft.com/office/drawing/2014/main" id="{4F98E9D9-E3C1-45F3-B66A-005589DA076C}"/>
              </a:ext>
            </a:extLst>
          </p:cNvPr>
          <p:cNvSpPr>
            <a:spLocks xmlns:a="http://schemas.openxmlformats.org/drawingml/2006/main" noGrp="1"/>
          </p:cNvSpPr>
          <p:nvPr/>
        </p:nvSpPr>
        <p:spPr>
          <a:xfrm xmlns:a="http://schemas.openxmlformats.org/drawingml/2006/main">
            <a:off x="5035550" y="3767138"/>
            <a:ext cx="30734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22" name="">
            <a:extLst xmlns:a="http://schemas.openxmlformats.org/drawingml/2006/main">
              <a:ext uri="{FF2B5EF4-FFF2-40B4-BE49-F238E27FC236}">
                <a16:creationId xmlns:a16="http://schemas.microsoft.com/office/drawing/2014/main" id="{27D5A07B-4DDB-47C9-8B99-83FB864EE172}"/>
              </a:ext>
            </a:extLst>
          </p:cNvPr>
          <p:cNvSpPr>
            <a:spLocks xmlns:a="http://schemas.openxmlformats.org/drawingml/2006/main" noGrp="1"/>
          </p:cNvSpPr>
          <p:nvPr/>
        </p:nvSpPr>
        <p:spPr>
          <a:xfrm xmlns:a="http://schemas.openxmlformats.org/drawingml/2006/main">
            <a:off x="5187950" y="3900488"/>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Vorgesetzte:r</a:t>
            </a:r>
          </a:p>
        </p:txBody>
      </p:sp>
      <p:sp>
        <p:nvSpPr>
          <p:cNvPr id="23" name="">
            <a:extLst xmlns:a="http://schemas.openxmlformats.org/drawingml/2006/main">
              <a:ext uri="{FF2B5EF4-FFF2-40B4-BE49-F238E27FC236}">
                <a16:creationId xmlns:a16="http://schemas.microsoft.com/office/drawing/2014/main" id="{53717A76-57AC-40C4-A2BA-BCE15A3E3E7B}"/>
              </a:ext>
            </a:extLst>
          </p:cNvPr>
          <p:cNvSpPr>
            <a:spLocks xmlns:a="http://schemas.openxmlformats.org/drawingml/2006/main" noGrp="1"/>
          </p:cNvSpPr>
          <p:nvPr/>
        </p:nvSpPr>
        <p:spPr>
          <a:xfrm xmlns:a="http://schemas.openxmlformats.org/drawingml/2006/main">
            <a:off x="5187950" y="4338638"/>
            <a:ext cx="27686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Wie sichere ich Versorgung und fairen Prozess?</a:t>
            </a:r>
          </a:p>
        </p:txBody>
      </p:sp>
    </p:spTree>
    <p:extLst>
      <p:ext uri="{BB962C8B-B14F-4D97-AF65-F5344CB8AC3E}">
        <p14:creationId xmlns:p14="http://schemas.microsoft.com/office/powerpoint/2010/main" val="43637646"/>
      </p:ext>
    </p:extLst>
  </p:cSld>
</p:sld>
</file>

<file path=ppt/slides/slide420.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Beobachtungsbogen für Simulationen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FEEDBACK OHNE BENOTUNG</a:t>
            </a:r>
            <a:endParaRPr/>
          </a:p>
        </p:txBody>
      </p:sp>
      <p:sp>
        <p:nvSpPr>
          <p:cNvPr id="4" name="">
            <a:extLst xmlns:a="http://schemas.openxmlformats.org/drawingml/2006/main">
              <a:ext uri="{FF2B5EF4-FFF2-40B4-BE49-F238E27FC236}">
                <a16:creationId xmlns:a16="http://schemas.microsoft.com/office/drawing/2014/main" id="{289E2419-8C9E-4574-9C5F-858DDBFBB449}"/>
              </a:ext>
            </a:extLst>
          </p:cNvPr>
          <p:cNvSpPr>
            <a:spLocks xmlns:a="http://schemas.openxmlformats.org/drawingml/2006/main" noGrp="1"/>
          </p:cNvSpPr>
          <p:nvPr/>
        </p:nvSpPr>
        <p:spPr>
          <a:xfrm xmlns:a="http://schemas.openxmlformats.org/drawingml/2006/main">
            <a:off x="1809750" y="1952625"/>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07A2C0E1-62C3-4D45-A079-91B85BD26D48}"/>
              </a:ext>
            </a:extLst>
          </p:cNvPr>
          <p:cNvSpPr>
            <a:spLocks xmlns:a="http://schemas.openxmlformats.org/drawingml/2006/main" noGrp="1"/>
          </p:cNvSpPr>
          <p:nvPr/>
        </p:nvSpPr>
        <p:spPr>
          <a:xfrm xmlns:a="http://schemas.openxmlformats.org/drawingml/2006/main">
            <a:off x="1809750" y="1952625"/>
            <a:ext cx="30734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565E2EDA-BF16-468B-A64B-0433E2B79AFE}"/>
              </a:ext>
            </a:extLst>
          </p:cNvPr>
          <p:cNvSpPr>
            <a:spLocks xmlns:a="http://schemas.openxmlformats.org/drawingml/2006/main" noGrp="1"/>
          </p:cNvSpPr>
          <p:nvPr/>
        </p:nvSpPr>
        <p:spPr>
          <a:xfrm xmlns:a="http://schemas.openxmlformats.org/drawingml/2006/main">
            <a:off x="1962150" y="2085975"/>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Patientensicherheit</a:t>
            </a:r>
          </a:p>
        </p:txBody>
      </p:sp>
      <p:sp>
        <p:nvSpPr>
          <p:cNvPr id="7" name="">
            <a:extLst xmlns:a="http://schemas.openxmlformats.org/drawingml/2006/main">
              <a:ext uri="{FF2B5EF4-FFF2-40B4-BE49-F238E27FC236}">
                <a16:creationId xmlns:a16="http://schemas.microsoft.com/office/drawing/2014/main" id="{D611096C-B3B4-4050-8D5C-B3B849D767BA}"/>
              </a:ext>
            </a:extLst>
          </p:cNvPr>
          <p:cNvSpPr>
            <a:spLocks xmlns:a="http://schemas.openxmlformats.org/drawingml/2006/main" noGrp="1"/>
          </p:cNvSpPr>
          <p:nvPr/>
        </p:nvSpPr>
        <p:spPr>
          <a:xfrm xmlns:a="http://schemas.openxmlformats.org/drawingml/2006/main">
            <a:off x="1962150" y="2524125"/>
            <a:ext cx="27686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Wurde die akute Versorgung priorisiert?</a:t>
            </a:r>
          </a:p>
        </p:txBody>
      </p:sp>
      <p:sp>
        <p:nvSpPr>
          <p:cNvPr id="8" name="">
            <a:extLst xmlns:a="http://schemas.openxmlformats.org/drawingml/2006/main">
              <a:ext uri="{FF2B5EF4-FFF2-40B4-BE49-F238E27FC236}">
                <a16:creationId xmlns:a16="http://schemas.microsoft.com/office/drawing/2014/main" id="{388684D4-F76C-432B-9881-D6FF80CCA83E}"/>
              </a:ext>
            </a:extLst>
          </p:cNvPr>
          <p:cNvSpPr>
            <a:spLocks xmlns:a="http://schemas.openxmlformats.org/drawingml/2006/main" noGrp="1"/>
          </p:cNvSpPr>
          <p:nvPr/>
        </p:nvSpPr>
        <p:spPr>
          <a:xfrm xmlns:a="http://schemas.openxmlformats.org/drawingml/2006/main">
            <a:off x="5035550" y="1952625"/>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9" name="">
            <a:extLst xmlns:a="http://schemas.openxmlformats.org/drawingml/2006/main">
              <a:ext uri="{FF2B5EF4-FFF2-40B4-BE49-F238E27FC236}">
                <a16:creationId xmlns:a16="http://schemas.microsoft.com/office/drawing/2014/main" id="{B1EE5820-974D-45FA-AFFF-A894E71FAE7D}"/>
              </a:ext>
            </a:extLst>
          </p:cNvPr>
          <p:cNvSpPr>
            <a:spLocks xmlns:a="http://schemas.openxmlformats.org/drawingml/2006/main" noGrp="1"/>
          </p:cNvSpPr>
          <p:nvPr/>
        </p:nvSpPr>
        <p:spPr>
          <a:xfrm xmlns:a="http://schemas.openxmlformats.org/drawingml/2006/main">
            <a:off x="5035550" y="1952625"/>
            <a:ext cx="307340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81EABBBC-2EFA-456F-BE61-11B643378AA6}"/>
              </a:ext>
            </a:extLst>
          </p:cNvPr>
          <p:cNvSpPr>
            <a:spLocks xmlns:a="http://schemas.openxmlformats.org/drawingml/2006/main" noGrp="1"/>
          </p:cNvSpPr>
          <p:nvPr/>
        </p:nvSpPr>
        <p:spPr>
          <a:xfrm xmlns:a="http://schemas.openxmlformats.org/drawingml/2006/main">
            <a:off x="5187950" y="2085975"/>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Faktenklarheit</a:t>
            </a:r>
          </a:p>
        </p:txBody>
      </p:sp>
      <p:sp>
        <p:nvSpPr>
          <p:cNvPr id="11" name="">
            <a:extLst xmlns:a="http://schemas.openxmlformats.org/drawingml/2006/main">
              <a:ext uri="{FF2B5EF4-FFF2-40B4-BE49-F238E27FC236}">
                <a16:creationId xmlns:a16="http://schemas.microsoft.com/office/drawing/2014/main" id="{192EE6A5-30BC-41CC-9248-86543455B8E8}"/>
              </a:ext>
            </a:extLst>
          </p:cNvPr>
          <p:cNvSpPr>
            <a:spLocks xmlns:a="http://schemas.openxmlformats.org/drawingml/2006/main" noGrp="1"/>
          </p:cNvSpPr>
          <p:nvPr/>
        </p:nvSpPr>
        <p:spPr>
          <a:xfrm xmlns:a="http://schemas.openxmlformats.org/drawingml/2006/main">
            <a:off x="5187950" y="2524125"/>
            <a:ext cx="27686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Wurden Tatsache, Erinnerung, Akte und Vermutung getrennt?</a:t>
            </a:r>
          </a:p>
        </p:txBody>
      </p:sp>
      <p:sp>
        <p:nvSpPr>
          <p:cNvPr id="12" name="">
            <a:extLst xmlns:a="http://schemas.openxmlformats.org/drawingml/2006/main">
              <a:ext uri="{FF2B5EF4-FFF2-40B4-BE49-F238E27FC236}">
                <a16:creationId xmlns:a16="http://schemas.microsoft.com/office/drawing/2014/main" id="{D3EFC828-A60E-44E9-8E7D-473164BDBC9D}"/>
              </a:ext>
            </a:extLst>
          </p:cNvPr>
          <p:cNvSpPr>
            <a:spLocks xmlns:a="http://schemas.openxmlformats.org/drawingml/2006/main" noGrp="1"/>
          </p:cNvSpPr>
          <p:nvPr/>
        </p:nvSpPr>
        <p:spPr>
          <a:xfrm xmlns:a="http://schemas.openxmlformats.org/drawingml/2006/main">
            <a:off x="8261350" y="1952625"/>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13" name="">
            <a:extLst xmlns:a="http://schemas.openxmlformats.org/drawingml/2006/main">
              <a:ext uri="{FF2B5EF4-FFF2-40B4-BE49-F238E27FC236}">
                <a16:creationId xmlns:a16="http://schemas.microsoft.com/office/drawing/2014/main" id="{7A7318FF-7460-494E-A1BA-C926ADAB13E1}"/>
              </a:ext>
            </a:extLst>
          </p:cNvPr>
          <p:cNvSpPr>
            <a:spLocks xmlns:a="http://schemas.openxmlformats.org/drawingml/2006/main" noGrp="1"/>
          </p:cNvSpPr>
          <p:nvPr/>
        </p:nvSpPr>
        <p:spPr>
          <a:xfrm xmlns:a="http://schemas.openxmlformats.org/drawingml/2006/main">
            <a:off x="8261350" y="1952625"/>
            <a:ext cx="30734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9BAE0806-8652-4C76-AC48-A5A9C87BCF47}"/>
              </a:ext>
            </a:extLst>
          </p:cNvPr>
          <p:cNvSpPr>
            <a:spLocks xmlns:a="http://schemas.openxmlformats.org/drawingml/2006/main" noGrp="1"/>
          </p:cNvSpPr>
          <p:nvPr/>
        </p:nvSpPr>
        <p:spPr>
          <a:xfrm xmlns:a="http://schemas.openxmlformats.org/drawingml/2006/main">
            <a:off x="8413750" y="2085975"/>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Rollenkompetenz</a:t>
            </a:r>
          </a:p>
        </p:txBody>
      </p:sp>
      <p:sp>
        <p:nvSpPr>
          <p:cNvPr id="15" name="">
            <a:extLst xmlns:a="http://schemas.openxmlformats.org/drawingml/2006/main">
              <a:ext uri="{FF2B5EF4-FFF2-40B4-BE49-F238E27FC236}">
                <a16:creationId xmlns:a16="http://schemas.microsoft.com/office/drawing/2014/main" id="{5E3AA921-6928-4CE5-A930-B9CEB328A665}"/>
              </a:ext>
            </a:extLst>
          </p:cNvPr>
          <p:cNvSpPr>
            <a:spLocks xmlns:a="http://schemas.openxmlformats.org/drawingml/2006/main" noGrp="1"/>
          </p:cNvSpPr>
          <p:nvPr/>
        </p:nvSpPr>
        <p:spPr>
          <a:xfrm xmlns:a="http://schemas.openxmlformats.org/drawingml/2006/main">
            <a:off x="8413750" y="2524125"/>
            <a:ext cx="27686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Wurde Status / Auftrag geklärt?</a:t>
            </a:r>
          </a:p>
        </p:txBody>
      </p:sp>
      <p:sp>
        <p:nvSpPr>
          <p:cNvPr id="16" name="">
            <a:extLst xmlns:a="http://schemas.openxmlformats.org/drawingml/2006/main">
              <a:ext uri="{FF2B5EF4-FFF2-40B4-BE49-F238E27FC236}">
                <a16:creationId xmlns:a16="http://schemas.microsoft.com/office/drawing/2014/main" id="{38C0BC09-EDEC-4DE7-AED5-DD2C4E1A8522}"/>
              </a:ext>
            </a:extLst>
          </p:cNvPr>
          <p:cNvSpPr>
            <a:spLocks xmlns:a="http://schemas.openxmlformats.org/drawingml/2006/main" noGrp="1"/>
          </p:cNvSpPr>
          <p:nvPr/>
        </p:nvSpPr>
        <p:spPr>
          <a:xfrm xmlns:a="http://schemas.openxmlformats.org/drawingml/2006/main">
            <a:off x="1809750" y="3767138"/>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17" name="">
            <a:extLst xmlns:a="http://schemas.openxmlformats.org/drawingml/2006/main">
              <a:ext uri="{FF2B5EF4-FFF2-40B4-BE49-F238E27FC236}">
                <a16:creationId xmlns:a16="http://schemas.microsoft.com/office/drawing/2014/main" id="{C8949CF1-2CB0-4236-B5DF-5D1C327E4873}"/>
              </a:ext>
            </a:extLst>
          </p:cNvPr>
          <p:cNvSpPr>
            <a:spLocks xmlns:a="http://schemas.openxmlformats.org/drawingml/2006/main" noGrp="1"/>
          </p:cNvSpPr>
          <p:nvPr/>
        </p:nvSpPr>
        <p:spPr>
          <a:xfrm xmlns:a="http://schemas.openxmlformats.org/drawingml/2006/main">
            <a:off x="1809750" y="3767138"/>
            <a:ext cx="307340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42C802C1-8F01-45B8-B4F3-4AB74F7108D6}"/>
              </a:ext>
            </a:extLst>
          </p:cNvPr>
          <p:cNvSpPr>
            <a:spLocks xmlns:a="http://schemas.openxmlformats.org/drawingml/2006/main" noGrp="1"/>
          </p:cNvSpPr>
          <p:nvPr/>
        </p:nvSpPr>
        <p:spPr>
          <a:xfrm xmlns:a="http://schemas.openxmlformats.org/drawingml/2006/main">
            <a:off x="1962150" y="3900488"/>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Kommunikation</a:t>
            </a:r>
          </a:p>
        </p:txBody>
      </p:sp>
      <p:sp>
        <p:nvSpPr>
          <p:cNvPr id="19" name="">
            <a:extLst xmlns:a="http://schemas.openxmlformats.org/drawingml/2006/main">
              <a:ext uri="{FF2B5EF4-FFF2-40B4-BE49-F238E27FC236}">
                <a16:creationId xmlns:a16="http://schemas.microsoft.com/office/drawing/2014/main" id="{3A08883F-EA96-4004-9D85-88079ECF162D}"/>
              </a:ext>
            </a:extLst>
          </p:cNvPr>
          <p:cNvSpPr>
            <a:spLocks xmlns:a="http://schemas.openxmlformats.org/drawingml/2006/main" noGrp="1"/>
          </p:cNvSpPr>
          <p:nvPr/>
        </p:nvSpPr>
        <p:spPr>
          <a:xfrm xmlns:a="http://schemas.openxmlformats.org/drawingml/2006/main">
            <a:off x="1962150" y="4338638"/>
            <a:ext cx="27686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Präzise, empathisch, ohne Schuldzuweisung?</a:t>
            </a:r>
          </a:p>
        </p:txBody>
      </p:sp>
      <p:sp>
        <p:nvSpPr>
          <p:cNvPr id="20" name="">
            <a:extLst xmlns:a="http://schemas.openxmlformats.org/drawingml/2006/main">
              <a:ext uri="{FF2B5EF4-FFF2-40B4-BE49-F238E27FC236}">
                <a16:creationId xmlns:a16="http://schemas.microsoft.com/office/drawing/2014/main" id="{57DB99FE-5640-40EB-8CF2-81D6A7108BF1}"/>
              </a:ext>
            </a:extLst>
          </p:cNvPr>
          <p:cNvSpPr>
            <a:spLocks xmlns:a="http://schemas.openxmlformats.org/drawingml/2006/main" noGrp="1"/>
          </p:cNvSpPr>
          <p:nvPr/>
        </p:nvSpPr>
        <p:spPr>
          <a:xfrm xmlns:a="http://schemas.openxmlformats.org/drawingml/2006/main">
            <a:off x="5035550" y="3767138"/>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21" name="">
            <a:extLst xmlns:a="http://schemas.openxmlformats.org/drawingml/2006/main">
              <a:ext uri="{FF2B5EF4-FFF2-40B4-BE49-F238E27FC236}">
                <a16:creationId xmlns:a16="http://schemas.microsoft.com/office/drawing/2014/main" id="{192F12DD-E8C3-4C28-867B-6831C56ADE49}"/>
              </a:ext>
            </a:extLst>
          </p:cNvPr>
          <p:cNvSpPr>
            <a:spLocks xmlns:a="http://schemas.openxmlformats.org/drawingml/2006/main" noGrp="1"/>
          </p:cNvSpPr>
          <p:nvPr/>
        </p:nvSpPr>
        <p:spPr>
          <a:xfrm xmlns:a="http://schemas.openxmlformats.org/drawingml/2006/main">
            <a:off x="5035550" y="3767138"/>
            <a:ext cx="30734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22" name="">
            <a:extLst xmlns:a="http://schemas.openxmlformats.org/drawingml/2006/main">
              <a:ext uri="{FF2B5EF4-FFF2-40B4-BE49-F238E27FC236}">
                <a16:creationId xmlns:a16="http://schemas.microsoft.com/office/drawing/2014/main" id="{4951BA77-6909-4C5D-82DD-9FFFC8DF2AC0}"/>
              </a:ext>
            </a:extLst>
          </p:cNvPr>
          <p:cNvSpPr>
            <a:spLocks xmlns:a="http://schemas.openxmlformats.org/drawingml/2006/main" noGrp="1"/>
          </p:cNvSpPr>
          <p:nvPr/>
        </p:nvSpPr>
        <p:spPr>
          <a:xfrm xmlns:a="http://schemas.openxmlformats.org/drawingml/2006/main">
            <a:off x="5187950" y="3900488"/>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Nächster Schritt</a:t>
            </a:r>
          </a:p>
        </p:txBody>
      </p:sp>
      <p:sp>
        <p:nvSpPr>
          <p:cNvPr id="23" name="">
            <a:extLst xmlns:a="http://schemas.openxmlformats.org/drawingml/2006/main">
              <a:ext uri="{FF2B5EF4-FFF2-40B4-BE49-F238E27FC236}">
                <a16:creationId xmlns:a16="http://schemas.microsoft.com/office/drawing/2014/main" id="{E1B938C3-CE1B-40B1-9CC6-7EA545C9AE9A}"/>
              </a:ext>
            </a:extLst>
          </p:cNvPr>
          <p:cNvSpPr>
            <a:spLocks xmlns:a="http://schemas.openxmlformats.org/drawingml/2006/main" noGrp="1"/>
          </p:cNvSpPr>
          <p:nvPr/>
        </p:nvSpPr>
        <p:spPr>
          <a:xfrm xmlns:a="http://schemas.openxmlformats.org/drawingml/2006/main">
            <a:off x="5187950" y="4338638"/>
            <a:ext cx="27686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Verantwortung, Zeitpunkt und Ansprechpartner festgelegt?</a:t>
            </a:r>
          </a:p>
        </p:txBody>
      </p:sp>
      <p:sp>
        <p:nvSpPr>
          <p:cNvPr id="24" name="">
            <a:extLst xmlns:a="http://schemas.openxmlformats.org/drawingml/2006/main">
              <a:ext uri="{FF2B5EF4-FFF2-40B4-BE49-F238E27FC236}">
                <a16:creationId xmlns:a16="http://schemas.microsoft.com/office/drawing/2014/main" id="{57A1DD47-3A6D-4A89-8094-C3B25F4A7E02}"/>
              </a:ext>
            </a:extLst>
          </p:cNvPr>
          <p:cNvSpPr>
            <a:spLocks xmlns:a="http://schemas.openxmlformats.org/drawingml/2006/main" noGrp="1"/>
          </p:cNvSpPr>
          <p:nvPr/>
        </p:nvSpPr>
        <p:spPr>
          <a:xfrm xmlns:a="http://schemas.openxmlformats.org/drawingml/2006/main">
            <a:off x="8261350" y="3767138"/>
            <a:ext cx="30734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25" name="">
            <a:extLst xmlns:a="http://schemas.openxmlformats.org/drawingml/2006/main">
              <a:ext uri="{FF2B5EF4-FFF2-40B4-BE49-F238E27FC236}">
                <a16:creationId xmlns:a16="http://schemas.microsoft.com/office/drawing/2014/main" id="{0AD447A1-06BE-4049-9D0E-550071CD4F04}"/>
              </a:ext>
            </a:extLst>
          </p:cNvPr>
          <p:cNvSpPr>
            <a:spLocks xmlns:a="http://schemas.openxmlformats.org/drawingml/2006/main" noGrp="1"/>
          </p:cNvSpPr>
          <p:nvPr/>
        </p:nvSpPr>
        <p:spPr>
          <a:xfrm xmlns:a="http://schemas.openxmlformats.org/drawingml/2006/main">
            <a:off x="8261350" y="3767138"/>
            <a:ext cx="307340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26" name="">
            <a:extLst xmlns:a="http://schemas.openxmlformats.org/drawingml/2006/main">
              <a:ext uri="{FF2B5EF4-FFF2-40B4-BE49-F238E27FC236}">
                <a16:creationId xmlns:a16="http://schemas.microsoft.com/office/drawing/2014/main" id="{1A155B2D-501E-4FF4-9E8A-B41171CC4139}"/>
              </a:ext>
            </a:extLst>
          </p:cNvPr>
          <p:cNvSpPr>
            <a:spLocks xmlns:a="http://schemas.openxmlformats.org/drawingml/2006/main" noGrp="1"/>
          </p:cNvSpPr>
          <p:nvPr/>
        </p:nvSpPr>
        <p:spPr>
          <a:xfrm xmlns:a="http://schemas.openxmlformats.org/drawingml/2006/main">
            <a:off x="8413750" y="3900488"/>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Feedbackskala</a:t>
            </a:r>
          </a:p>
        </p:txBody>
      </p:sp>
      <p:sp>
        <p:nvSpPr>
          <p:cNvPr id="27" name="">
            <a:extLst xmlns:a="http://schemas.openxmlformats.org/drawingml/2006/main">
              <a:ext uri="{FF2B5EF4-FFF2-40B4-BE49-F238E27FC236}">
                <a16:creationId xmlns:a16="http://schemas.microsoft.com/office/drawing/2014/main" id="{B1667565-B4CA-40E1-BBF5-28FB95407CC6}"/>
              </a:ext>
            </a:extLst>
          </p:cNvPr>
          <p:cNvSpPr>
            <a:spLocks xmlns:a="http://schemas.openxmlformats.org/drawingml/2006/main" noGrp="1"/>
          </p:cNvSpPr>
          <p:nvPr/>
        </p:nvSpPr>
        <p:spPr>
          <a:xfrm xmlns:a="http://schemas.openxmlformats.org/drawingml/2006/main">
            <a:off x="8413750" y="4338638"/>
            <a:ext cx="27686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0 nicht sichtbar · 1 teilweise · 2 klar sichtbar · plus ein konkreter Verbesserungssatz</a:t>
            </a:r>
          </a:p>
        </p:txBody>
      </p:sp>
    </p:spTree>
    <p:extLst>
      <p:ext uri="{BB962C8B-B14F-4D97-AF65-F5344CB8AC3E}">
        <p14:creationId xmlns:p14="http://schemas.microsoft.com/office/powerpoint/2010/main" val="43637646"/>
      </p:ext>
    </p:extLst>
  </p:cSld>
</p:sld>
</file>

<file path=ppt/slides/slide421.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Urteilsbasierter Lehrfallkatalog I: Haftung, Aufklärung und Beweis</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PRIMÄRQUELLEN · KONKRETE ENTSCHEIDUNGEN</a:t>
            </a:r>
            <a:endParaRPr/>
          </a:p>
        </p:txBody>
      </p:sp>
      <p:sp>
        <p:nvSpPr>
          <p:cNvPr id="4" name="">
            <a:extLst xmlns:a="http://schemas.openxmlformats.org/drawingml/2006/main">
              <a:ext uri="{FF2B5EF4-FFF2-40B4-BE49-F238E27FC236}">
                <a16:creationId xmlns:a16="http://schemas.microsoft.com/office/drawing/2014/main" id="{A935CF66-4291-4039-9613-293BC0E01096}"/>
              </a:ext>
            </a:extLst>
          </p:cNvPr>
          <p:cNvSpPr>
            <a:spLocks xmlns:a="http://schemas.openxmlformats.org/drawingml/2006/main" noGrp="1"/>
          </p:cNvSpPr>
          <p:nvPr/>
        </p:nvSpPr>
        <p:spPr>
          <a:xfrm xmlns:a="http://schemas.openxmlformats.org/drawingml/2006/main">
            <a:off x="1809750" y="1952625"/>
            <a:ext cx="3073400" cy="1528763"/>
          </a:xfrm>
          <a:prstGeom xmlns:a="http://schemas.openxmlformats.org/drawingml/2006/main" prst="roundRect">
            <a:avLst>
              <a:gd name="adj" fmla="val 4984"/>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E91657B0-2239-40D7-8C72-2398F8691082}"/>
              </a:ext>
            </a:extLst>
          </p:cNvPr>
          <p:cNvSpPr>
            <a:spLocks xmlns:a="http://schemas.openxmlformats.org/drawingml/2006/main" noGrp="1"/>
          </p:cNvSpPr>
          <p:nvPr/>
        </p:nvSpPr>
        <p:spPr>
          <a:xfrm xmlns:a="http://schemas.openxmlformats.org/drawingml/2006/main">
            <a:off x="1809750" y="1952625"/>
            <a:ext cx="30734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7F18A19C-AA0F-4A81-BF25-9DA03E9ABADA}"/>
              </a:ext>
            </a:extLst>
          </p:cNvPr>
          <p:cNvSpPr>
            <a:spLocks xmlns:a="http://schemas.openxmlformats.org/drawingml/2006/main" noGrp="1"/>
          </p:cNvSpPr>
          <p:nvPr/>
        </p:nvSpPr>
        <p:spPr>
          <a:xfrm xmlns:a="http://schemas.openxmlformats.org/drawingml/2006/main">
            <a:off x="1962150" y="2085975"/>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BGH VI ZR 34/03</a:t>
            </a:r>
          </a:p>
        </p:txBody>
      </p:sp>
      <p:sp>
        <p:nvSpPr>
          <p:cNvPr id="7" name="">
            <a:extLst xmlns:a="http://schemas.openxmlformats.org/drawingml/2006/main">
              <a:ext uri="{FF2B5EF4-FFF2-40B4-BE49-F238E27FC236}">
                <a16:creationId xmlns:a16="http://schemas.microsoft.com/office/drawing/2014/main" id="{8C85B712-732A-4188-ACD6-CE35FF438305}"/>
              </a:ext>
            </a:extLst>
          </p:cNvPr>
          <p:cNvSpPr>
            <a:spLocks xmlns:a="http://schemas.openxmlformats.org/drawingml/2006/main" noGrp="1"/>
          </p:cNvSpPr>
          <p:nvPr/>
        </p:nvSpPr>
        <p:spPr>
          <a:xfrm xmlns:a="http://schemas.openxmlformats.org/drawingml/2006/main">
            <a:off x="1962150" y="2524125"/>
            <a:ext cx="2768600" cy="8239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Urt. 27.04.2004 · grober Behandlungsfehler und Beweislast</a:t>
            </a:r>
          </a:p>
        </p:txBody>
      </p:sp>
      <p:sp>
        <p:nvSpPr>
          <p:cNvPr id="8" name="">
            <a:extLst xmlns:a="http://schemas.openxmlformats.org/drawingml/2006/main">
              <a:ext uri="{FF2B5EF4-FFF2-40B4-BE49-F238E27FC236}">
                <a16:creationId xmlns:a16="http://schemas.microsoft.com/office/drawing/2014/main" id="{249F14EA-6E1D-443F-B6D3-BD14A7C35E5A}"/>
              </a:ext>
            </a:extLst>
          </p:cNvPr>
          <p:cNvSpPr>
            <a:spLocks xmlns:a="http://schemas.openxmlformats.org/drawingml/2006/main" noGrp="1"/>
          </p:cNvSpPr>
          <p:nvPr/>
        </p:nvSpPr>
        <p:spPr>
          <a:xfrm xmlns:a="http://schemas.openxmlformats.org/drawingml/2006/main">
            <a:off x="5035550" y="1952625"/>
            <a:ext cx="3073400" cy="1528763"/>
          </a:xfrm>
          <a:prstGeom xmlns:a="http://schemas.openxmlformats.org/drawingml/2006/main" prst="roundRect">
            <a:avLst>
              <a:gd name="adj" fmla="val 4984"/>
            </a:avLst>
          </a:prstGeom>
          <a:noFill xmlns:a="http://schemas.openxmlformats.org/drawingml/2006/main"/>
          <a:ln xmlns:a="http://schemas.openxmlformats.org/drawingml/2006/main" w="9525">
            <a:solidFill>
              <a:srgbClr val="B9CAD2"/>
            </a:solidFill>
            <a:prstDash val="solid"/>
          </a:ln>
        </p:spPr>
      </p:sp>
      <p:sp>
        <p:nvSpPr>
          <p:cNvPr id="9" name="">
            <a:extLst xmlns:a="http://schemas.openxmlformats.org/drawingml/2006/main">
              <a:ext uri="{FF2B5EF4-FFF2-40B4-BE49-F238E27FC236}">
                <a16:creationId xmlns:a16="http://schemas.microsoft.com/office/drawing/2014/main" id="{62E8E433-1BC5-4A36-ACA3-F595559CDF5A}"/>
              </a:ext>
            </a:extLst>
          </p:cNvPr>
          <p:cNvSpPr>
            <a:spLocks xmlns:a="http://schemas.openxmlformats.org/drawingml/2006/main" noGrp="1"/>
          </p:cNvSpPr>
          <p:nvPr/>
        </p:nvSpPr>
        <p:spPr>
          <a:xfrm xmlns:a="http://schemas.openxmlformats.org/drawingml/2006/main">
            <a:off x="5035550" y="1952625"/>
            <a:ext cx="307340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41F3DD6F-478C-4ECD-BD4E-417B395DE151}"/>
              </a:ext>
            </a:extLst>
          </p:cNvPr>
          <p:cNvSpPr>
            <a:spLocks xmlns:a="http://schemas.openxmlformats.org/drawingml/2006/main" noGrp="1"/>
          </p:cNvSpPr>
          <p:nvPr/>
        </p:nvSpPr>
        <p:spPr>
          <a:xfrm xmlns:a="http://schemas.openxmlformats.org/drawingml/2006/main">
            <a:off x="5187950" y="2085975"/>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BGH VI ZR 87/10</a:t>
            </a:r>
          </a:p>
        </p:txBody>
      </p:sp>
      <p:sp>
        <p:nvSpPr>
          <p:cNvPr id="11" name="">
            <a:extLst xmlns:a="http://schemas.openxmlformats.org/drawingml/2006/main">
              <a:ext uri="{FF2B5EF4-FFF2-40B4-BE49-F238E27FC236}">
                <a16:creationId xmlns:a16="http://schemas.microsoft.com/office/drawing/2014/main" id="{2CB0C33A-7AED-4065-B818-92985912335C}"/>
              </a:ext>
            </a:extLst>
          </p:cNvPr>
          <p:cNvSpPr>
            <a:spLocks xmlns:a="http://schemas.openxmlformats.org/drawingml/2006/main" noGrp="1"/>
          </p:cNvSpPr>
          <p:nvPr/>
        </p:nvSpPr>
        <p:spPr>
          <a:xfrm xmlns:a="http://schemas.openxmlformats.org/drawingml/2006/main">
            <a:off x="5187950" y="2524125"/>
            <a:ext cx="2768600" cy="8239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Urt. 07.06.2011 · Befunderhebungsfehler und hypothetischer Befund</a:t>
            </a:r>
          </a:p>
        </p:txBody>
      </p:sp>
      <p:sp>
        <p:nvSpPr>
          <p:cNvPr id="12" name="">
            <a:extLst xmlns:a="http://schemas.openxmlformats.org/drawingml/2006/main">
              <a:ext uri="{FF2B5EF4-FFF2-40B4-BE49-F238E27FC236}">
                <a16:creationId xmlns:a16="http://schemas.microsoft.com/office/drawing/2014/main" id="{684CF2B3-AF97-4219-B0B4-CD9E2356DE24}"/>
              </a:ext>
            </a:extLst>
          </p:cNvPr>
          <p:cNvSpPr>
            <a:spLocks xmlns:a="http://schemas.openxmlformats.org/drawingml/2006/main" noGrp="1"/>
          </p:cNvSpPr>
          <p:nvPr/>
        </p:nvSpPr>
        <p:spPr>
          <a:xfrm xmlns:a="http://schemas.openxmlformats.org/drawingml/2006/main">
            <a:off x="8261350" y="1952625"/>
            <a:ext cx="3073400" cy="1528763"/>
          </a:xfrm>
          <a:prstGeom xmlns:a="http://schemas.openxmlformats.org/drawingml/2006/main" prst="roundRect">
            <a:avLst>
              <a:gd name="adj" fmla="val 4984"/>
            </a:avLst>
          </a:prstGeom>
          <a:noFill xmlns:a="http://schemas.openxmlformats.org/drawingml/2006/main"/>
          <a:ln xmlns:a="http://schemas.openxmlformats.org/drawingml/2006/main" w="9525">
            <a:solidFill>
              <a:srgbClr val="B9CAD2"/>
            </a:solidFill>
            <a:prstDash val="solid"/>
          </a:ln>
        </p:spPr>
      </p:sp>
      <p:sp>
        <p:nvSpPr>
          <p:cNvPr id="13" name="">
            <a:extLst xmlns:a="http://schemas.openxmlformats.org/drawingml/2006/main">
              <a:ext uri="{FF2B5EF4-FFF2-40B4-BE49-F238E27FC236}">
                <a16:creationId xmlns:a16="http://schemas.microsoft.com/office/drawing/2014/main" id="{77C88752-74D1-40A2-882A-A69B636C87C1}"/>
              </a:ext>
            </a:extLst>
          </p:cNvPr>
          <p:cNvSpPr>
            <a:spLocks xmlns:a="http://schemas.openxmlformats.org/drawingml/2006/main" noGrp="1"/>
          </p:cNvSpPr>
          <p:nvPr/>
        </p:nvSpPr>
        <p:spPr>
          <a:xfrm xmlns:a="http://schemas.openxmlformats.org/drawingml/2006/main">
            <a:off x="8261350" y="1952625"/>
            <a:ext cx="30734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6F5FA4DC-4C86-430E-A7F9-6C370392DD0D}"/>
              </a:ext>
            </a:extLst>
          </p:cNvPr>
          <p:cNvSpPr>
            <a:spLocks xmlns:a="http://schemas.openxmlformats.org/drawingml/2006/main" noGrp="1"/>
          </p:cNvSpPr>
          <p:nvPr/>
        </p:nvSpPr>
        <p:spPr>
          <a:xfrm xmlns:a="http://schemas.openxmlformats.org/drawingml/2006/main">
            <a:off x="8413750" y="2085975"/>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BGH VI ZR 323/04</a:t>
            </a:r>
          </a:p>
        </p:txBody>
      </p:sp>
      <p:sp>
        <p:nvSpPr>
          <p:cNvPr id="15" name="">
            <a:extLst xmlns:a="http://schemas.openxmlformats.org/drawingml/2006/main">
              <a:ext uri="{FF2B5EF4-FFF2-40B4-BE49-F238E27FC236}">
                <a16:creationId xmlns:a16="http://schemas.microsoft.com/office/drawing/2014/main" id="{7D0E0FB3-7C82-4466-8703-EB6859254F3B}"/>
              </a:ext>
            </a:extLst>
          </p:cNvPr>
          <p:cNvSpPr>
            <a:spLocks xmlns:a="http://schemas.openxmlformats.org/drawingml/2006/main" noGrp="1"/>
          </p:cNvSpPr>
          <p:nvPr/>
        </p:nvSpPr>
        <p:spPr>
          <a:xfrm xmlns:a="http://schemas.openxmlformats.org/drawingml/2006/main">
            <a:off x="8413750" y="2524125"/>
            <a:ext cx="2768600" cy="8239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Urt. 13.06.2006 · neue Behandlungsmethode und Aufklärung</a:t>
            </a:r>
          </a:p>
        </p:txBody>
      </p:sp>
      <p:sp>
        <p:nvSpPr>
          <p:cNvPr id="16" name="">
            <a:extLst xmlns:a="http://schemas.openxmlformats.org/drawingml/2006/main">
              <a:ext uri="{FF2B5EF4-FFF2-40B4-BE49-F238E27FC236}">
                <a16:creationId xmlns:a16="http://schemas.microsoft.com/office/drawing/2014/main" id="{AD94E8DB-4815-4F6D-B63D-631DA623D4AA}"/>
              </a:ext>
            </a:extLst>
          </p:cNvPr>
          <p:cNvSpPr>
            <a:spLocks xmlns:a="http://schemas.openxmlformats.org/drawingml/2006/main" noGrp="1"/>
          </p:cNvSpPr>
          <p:nvPr/>
        </p:nvSpPr>
        <p:spPr>
          <a:xfrm xmlns:a="http://schemas.openxmlformats.org/drawingml/2006/main">
            <a:off x="1809750" y="3614738"/>
            <a:ext cx="3073400" cy="1528763"/>
          </a:xfrm>
          <a:prstGeom xmlns:a="http://schemas.openxmlformats.org/drawingml/2006/main" prst="roundRect">
            <a:avLst>
              <a:gd name="adj" fmla="val 4984"/>
            </a:avLst>
          </a:prstGeom>
          <a:noFill xmlns:a="http://schemas.openxmlformats.org/drawingml/2006/main"/>
          <a:ln xmlns:a="http://schemas.openxmlformats.org/drawingml/2006/main" w="9525">
            <a:solidFill>
              <a:srgbClr val="B9CAD2"/>
            </a:solidFill>
            <a:prstDash val="solid"/>
          </a:ln>
        </p:spPr>
      </p:sp>
      <p:sp>
        <p:nvSpPr>
          <p:cNvPr id="17" name="">
            <a:extLst xmlns:a="http://schemas.openxmlformats.org/drawingml/2006/main">
              <a:ext uri="{FF2B5EF4-FFF2-40B4-BE49-F238E27FC236}">
                <a16:creationId xmlns:a16="http://schemas.microsoft.com/office/drawing/2014/main" id="{C9DAB28E-9BD7-41DF-895F-103B4114BAF6}"/>
              </a:ext>
            </a:extLst>
          </p:cNvPr>
          <p:cNvSpPr>
            <a:spLocks xmlns:a="http://schemas.openxmlformats.org/drawingml/2006/main" noGrp="1"/>
          </p:cNvSpPr>
          <p:nvPr/>
        </p:nvSpPr>
        <p:spPr>
          <a:xfrm xmlns:a="http://schemas.openxmlformats.org/drawingml/2006/main">
            <a:off x="1809750" y="3614738"/>
            <a:ext cx="307340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D206ADA9-A90A-4949-A359-29399E979C97}"/>
              </a:ext>
            </a:extLst>
          </p:cNvPr>
          <p:cNvSpPr>
            <a:spLocks xmlns:a="http://schemas.openxmlformats.org/drawingml/2006/main" noGrp="1"/>
          </p:cNvSpPr>
          <p:nvPr/>
        </p:nvSpPr>
        <p:spPr>
          <a:xfrm xmlns:a="http://schemas.openxmlformats.org/drawingml/2006/main">
            <a:off x="1962150" y="3748088"/>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BGH VI ZR 84/19</a:t>
            </a:r>
          </a:p>
        </p:txBody>
      </p:sp>
      <p:sp>
        <p:nvSpPr>
          <p:cNvPr id="19" name="">
            <a:extLst xmlns:a="http://schemas.openxmlformats.org/drawingml/2006/main">
              <a:ext uri="{FF2B5EF4-FFF2-40B4-BE49-F238E27FC236}">
                <a16:creationId xmlns:a16="http://schemas.microsoft.com/office/drawing/2014/main" id="{D52A3BE6-47E5-4C12-A6CF-32F448A96165}"/>
              </a:ext>
            </a:extLst>
          </p:cNvPr>
          <p:cNvSpPr>
            <a:spLocks xmlns:a="http://schemas.openxmlformats.org/drawingml/2006/main" noGrp="1"/>
          </p:cNvSpPr>
          <p:nvPr/>
        </p:nvSpPr>
        <p:spPr>
          <a:xfrm xmlns:a="http://schemas.openxmlformats.org/drawingml/2006/main">
            <a:off x="1962150" y="4186238"/>
            <a:ext cx="2768600" cy="8239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Urt. 27.04.2021 · elektronische Dokumentation und Beweiswert</a:t>
            </a:r>
          </a:p>
        </p:txBody>
      </p:sp>
      <p:sp>
        <p:nvSpPr>
          <p:cNvPr id="20" name="">
            <a:extLst xmlns:a="http://schemas.openxmlformats.org/drawingml/2006/main">
              <a:ext uri="{FF2B5EF4-FFF2-40B4-BE49-F238E27FC236}">
                <a16:creationId xmlns:a16="http://schemas.microsoft.com/office/drawing/2014/main" id="{5FDD017F-3149-40C0-8627-F9A9ECDE01D3}"/>
              </a:ext>
            </a:extLst>
          </p:cNvPr>
          <p:cNvSpPr>
            <a:spLocks xmlns:a="http://schemas.openxmlformats.org/drawingml/2006/main" noGrp="1"/>
          </p:cNvSpPr>
          <p:nvPr/>
        </p:nvSpPr>
        <p:spPr>
          <a:xfrm xmlns:a="http://schemas.openxmlformats.org/drawingml/2006/main">
            <a:off x="5035550" y="3614738"/>
            <a:ext cx="3073400" cy="1528763"/>
          </a:xfrm>
          <a:prstGeom xmlns:a="http://schemas.openxmlformats.org/drawingml/2006/main" prst="roundRect">
            <a:avLst>
              <a:gd name="adj" fmla="val 4984"/>
            </a:avLst>
          </a:prstGeom>
          <a:noFill xmlns:a="http://schemas.openxmlformats.org/drawingml/2006/main"/>
          <a:ln xmlns:a="http://schemas.openxmlformats.org/drawingml/2006/main" w="9525">
            <a:solidFill>
              <a:srgbClr val="B9CAD2"/>
            </a:solidFill>
            <a:prstDash val="solid"/>
          </a:ln>
        </p:spPr>
      </p:sp>
      <p:sp>
        <p:nvSpPr>
          <p:cNvPr id="21" name="">
            <a:extLst xmlns:a="http://schemas.openxmlformats.org/drawingml/2006/main">
              <a:ext uri="{FF2B5EF4-FFF2-40B4-BE49-F238E27FC236}">
                <a16:creationId xmlns:a16="http://schemas.microsoft.com/office/drawing/2014/main" id="{38CB0977-0CE7-4156-8A2C-060D4B28A079}"/>
              </a:ext>
            </a:extLst>
          </p:cNvPr>
          <p:cNvSpPr>
            <a:spLocks xmlns:a="http://schemas.openxmlformats.org/drawingml/2006/main" noGrp="1"/>
          </p:cNvSpPr>
          <p:nvPr/>
        </p:nvSpPr>
        <p:spPr>
          <a:xfrm xmlns:a="http://schemas.openxmlformats.org/drawingml/2006/main">
            <a:off x="5035550" y="3614738"/>
            <a:ext cx="30734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22" name="">
            <a:extLst xmlns:a="http://schemas.openxmlformats.org/drawingml/2006/main">
              <a:ext uri="{FF2B5EF4-FFF2-40B4-BE49-F238E27FC236}">
                <a16:creationId xmlns:a16="http://schemas.microsoft.com/office/drawing/2014/main" id="{A48BD54B-7151-4326-A2DC-C610A8A41B5B}"/>
              </a:ext>
            </a:extLst>
          </p:cNvPr>
          <p:cNvSpPr>
            <a:spLocks xmlns:a="http://schemas.openxmlformats.org/drawingml/2006/main" noGrp="1"/>
          </p:cNvSpPr>
          <p:nvPr/>
        </p:nvSpPr>
        <p:spPr>
          <a:xfrm xmlns:a="http://schemas.openxmlformats.org/drawingml/2006/main">
            <a:off x="5187950" y="3748088"/>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BGH VI ZR 257/17</a:t>
            </a:r>
          </a:p>
        </p:txBody>
      </p:sp>
      <p:sp>
        <p:nvSpPr>
          <p:cNvPr id="23" name="">
            <a:extLst xmlns:a="http://schemas.openxmlformats.org/drawingml/2006/main">
              <a:ext uri="{FF2B5EF4-FFF2-40B4-BE49-F238E27FC236}">
                <a16:creationId xmlns:a16="http://schemas.microsoft.com/office/drawing/2014/main" id="{33D44FBB-C55C-445B-AD38-114081A19A05}"/>
              </a:ext>
            </a:extLst>
          </p:cNvPr>
          <p:cNvSpPr>
            <a:spLocks xmlns:a="http://schemas.openxmlformats.org/drawingml/2006/main" noGrp="1"/>
          </p:cNvSpPr>
          <p:nvPr/>
        </p:nvSpPr>
        <p:spPr>
          <a:xfrm xmlns:a="http://schemas.openxmlformats.org/drawingml/2006/main">
            <a:off x="5187950" y="4186238"/>
            <a:ext cx="2768600" cy="8239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Beschl. 07.05.2019 · mündliche Anhörung des Sachverständigen</a:t>
            </a:r>
          </a:p>
        </p:txBody>
      </p:sp>
      <p:sp>
        <p:nvSpPr>
          <p:cNvPr id="24" name="">
            <a:extLst xmlns:a="http://schemas.openxmlformats.org/drawingml/2006/main">
              <a:ext uri="{FF2B5EF4-FFF2-40B4-BE49-F238E27FC236}">
                <a16:creationId xmlns:a16="http://schemas.microsoft.com/office/drawing/2014/main" id="{146C4308-83E0-4F92-9640-A23D70071B6C}"/>
              </a:ext>
            </a:extLst>
          </p:cNvPr>
          <p:cNvSpPr>
            <a:spLocks xmlns:a="http://schemas.openxmlformats.org/drawingml/2006/main" noGrp="1"/>
          </p:cNvSpPr>
          <p:nvPr/>
        </p:nvSpPr>
        <p:spPr>
          <a:xfrm xmlns:a="http://schemas.openxmlformats.org/drawingml/2006/main">
            <a:off x="8261350" y="3614738"/>
            <a:ext cx="3073400" cy="1528763"/>
          </a:xfrm>
          <a:prstGeom xmlns:a="http://schemas.openxmlformats.org/drawingml/2006/main" prst="roundRect">
            <a:avLst>
              <a:gd name="adj" fmla="val 4984"/>
            </a:avLst>
          </a:prstGeom>
          <a:noFill xmlns:a="http://schemas.openxmlformats.org/drawingml/2006/main"/>
          <a:ln xmlns:a="http://schemas.openxmlformats.org/drawingml/2006/main" w="9525">
            <a:solidFill>
              <a:srgbClr val="B9CAD2"/>
            </a:solidFill>
            <a:prstDash val="solid"/>
          </a:ln>
        </p:spPr>
      </p:sp>
      <p:sp>
        <p:nvSpPr>
          <p:cNvPr id="25" name="">
            <a:extLst xmlns:a="http://schemas.openxmlformats.org/drawingml/2006/main">
              <a:ext uri="{FF2B5EF4-FFF2-40B4-BE49-F238E27FC236}">
                <a16:creationId xmlns:a16="http://schemas.microsoft.com/office/drawing/2014/main" id="{C9071764-C737-407C-B164-D1B3B32DFC95}"/>
              </a:ext>
            </a:extLst>
          </p:cNvPr>
          <p:cNvSpPr>
            <a:spLocks xmlns:a="http://schemas.openxmlformats.org/drawingml/2006/main" noGrp="1"/>
          </p:cNvSpPr>
          <p:nvPr/>
        </p:nvSpPr>
        <p:spPr>
          <a:xfrm xmlns:a="http://schemas.openxmlformats.org/drawingml/2006/main">
            <a:off x="8261350" y="3614738"/>
            <a:ext cx="307340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26" name="">
            <a:extLst xmlns:a="http://schemas.openxmlformats.org/drawingml/2006/main">
              <a:ext uri="{FF2B5EF4-FFF2-40B4-BE49-F238E27FC236}">
                <a16:creationId xmlns:a16="http://schemas.microsoft.com/office/drawing/2014/main" id="{414B34FF-C05D-47B9-878F-7A287F3974B3}"/>
              </a:ext>
            </a:extLst>
          </p:cNvPr>
          <p:cNvSpPr>
            <a:spLocks xmlns:a="http://schemas.openxmlformats.org/drawingml/2006/main" noGrp="1"/>
          </p:cNvSpPr>
          <p:nvPr/>
        </p:nvSpPr>
        <p:spPr>
          <a:xfrm xmlns:a="http://schemas.openxmlformats.org/drawingml/2006/main">
            <a:off x="8413750" y="3748088"/>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BGH VI ZR 165/23</a:t>
            </a:r>
          </a:p>
        </p:txBody>
      </p:sp>
      <p:sp>
        <p:nvSpPr>
          <p:cNvPr id="27" name="">
            <a:extLst xmlns:a="http://schemas.openxmlformats.org/drawingml/2006/main">
              <a:ext uri="{FF2B5EF4-FFF2-40B4-BE49-F238E27FC236}">
                <a16:creationId xmlns:a16="http://schemas.microsoft.com/office/drawing/2014/main" id="{92D31260-D5D8-4B5A-9244-B5FFD63D8E9B}"/>
              </a:ext>
            </a:extLst>
          </p:cNvPr>
          <p:cNvSpPr>
            <a:spLocks xmlns:a="http://schemas.openxmlformats.org/drawingml/2006/main" noGrp="1"/>
          </p:cNvSpPr>
          <p:nvPr/>
        </p:nvSpPr>
        <p:spPr>
          <a:xfrm xmlns:a="http://schemas.openxmlformats.org/drawingml/2006/main">
            <a:off x="8413750" y="4186238"/>
            <a:ext cx="2768600" cy="8239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Urt. 25.11.2025 · hypothetische Einwilligung</a:t>
            </a:r>
          </a:p>
        </p:txBody>
      </p:sp>
      <p:sp>
        <p:nvSpPr>
          <p:cNvPr id="28" name="">
            <a:extLst xmlns:a="http://schemas.openxmlformats.org/drawingml/2006/main">
              <a:ext uri="{FF2B5EF4-FFF2-40B4-BE49-F238E27FC236}">
                <a16:creationId xmlns:a16="http://schemas.microsoft.com/office/drawing/2014/main" id="{BC6FF9EC-FBFF-4D04-9265-953579E8E822}"/>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20">
                <a:solidFill>
                  <a:srgbClr val="667680"/>
                </a:solidFill>
              </a:defRPr>
            </a:pPr>
            <a:r>
              <a:rPr sz="720">
                <a:solidFill>
                  <a:srgbClr val="667680"/>
                </a:solidFill>
              </a:rPr>
              <a:t>Amtliche Entscheidungsdatenbank des Bundesgerichtshofs · https://juris.bundesgerichtshof.de</a:t>
            </a:r>
          </a:p>
        </p:txBody>
      </p:sp>
      <p:sp>
        <p:nvSpPr>
          <p:cNvPr id="29" name="">
            <a:extLst xmlns:a="http://schemas.openxmlformats.org/drawingml/2006/main">
              <a:ext uri="{FF2B5EF4-FFF2-40B4-BE49-F238E27FC236}">
                <a16:creationId xmlns:a16="http://schemas.microsoft.com/office/drawing/2014/main" id="{31A294C8-03DF-4102-9D64-2B8E672D1DF8}"/>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30" name="">
            <a:extLst xmlns:a="http://schemas.openxmlformats.org/drawingml/2006/main">
              <a:ext uri="{FF2B5EF4-FFF2-40B4-BE49-F238E27FC236}">
                <a16:creationId xmlns:a16="http://schemas.microsoft.com/office/drawing/2014/main" id="{3D7A544C-1F73-4935-936F-D1C280F0C05F}"/>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Jeder Lehrfall nennt Gericht, Entscheidungsart, Datum und Aktenzeichen; die Folien trennen Originalfall und didaktischen Transferfall.</a:t>
            </a:r>
          </a:p>
        </p:txBody>
      </p:sp>
    </p:spTree>
    <p:extLst>
      <p:ext uri="{BB962C8B-B14F-4D97-AF65-F5344CB8AC3E}">
        <p14:creationId xmlns:p14="http://schemas.microsoft.com/office/powerpoint/2010/main" val="43637646"/>
      </p:ext>
    </p:extLst>
  </p:cSld>
</p:sld>
</file>

<file path=ppt/slides/slide422.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Urteilsbasierter Lehrfallkatalog II: Strafrecht, Lebensende und Zwang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PRIMÄRQUELLEN · KONKRETE ENTSCHEIDUNGEN</a:t>
            </a:r>
            <a:endParaRPr/>
          </a:p>
        </p:txBody>
      </p:sp>
      <p:sp>
        <p:nvSpPr>
          <p:cNvPr id="4" name="">
            <a:extLst xmlns:a="http://schemas.openxmlformats.org/drawingml/2006/main">
              <a:ext uri="{FF2B5EF4-FFF2-40B4-BE49-F238E27FC236}">
                <a16:creationId xmlns:a16="http://schemas.microsoft.com/office/drawing/2014/main" id="{FAEFED7A-8CCB-4056-B115-F3E84193F862}"/>
              </a:ext>
            </a:extLst>
          </p:cNvPr>
          <p:cNvSpPr>
            <a:spLocks xmlns:a="http://schemas.openxmlformats.org/drawingml/2006/main" noGrp="1"/>
          </p:cNvSpPr>
          <p:nvPr/>
        </p:nvSpPr>
        <p:spPr>
          <a:xfrm xmlns:a="http://schemas.openxmlformats.org/drawingml/2006/main">
            <a:off x="1809750" y="1952625"/>
            <a:ext cx="3073400" cy="1528763"/>
          </a:xfrm>
          <a:prstGeom xmlns:a="http://schemas.openxmlformats.org/drawingml/2006/main" prst="roundRect">
            <a:avLst>
              <a:gd name="adj" fmla="val 4984"/>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DB515933-8A37-4101-B3E9-09E281DA94F4}"/>
              </a:ext>
            </a:extLst>
          </p:cNvPr>
          <p:cNvSpPr>
            <a:spLocks xmlns:a="http://schemas.openxmlformats.org/drawingml/2006/main" noGrp="1"/>
          </p:cNvSpPr>
          <p:nvPr/>
        </p:nvSpPr>
        <p:spPr>
          <a:xfrm xmlns:a="http://schemas.openxmlformats.org/drawingml/2006/main">
            <a:off x="1809750" y="1952625"/>
            <a:ext cx="30734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04E0AC9E-9F0A-4706-8117-7C44C1762125}"/>
              </a:ext>
            </a:extLst>
          </p:cNvPr>
          <p:cNvSpPr>
            <a:spLocks xmlns:a="http://schemas.openxmlformats.org/drawingml/2006/main" noGrp="1"/>
          </p:cNvSpPr>
          <p:nvPr/>
        </p:nvSpPr>
        <p:spPr>
          <a:xfrm xmlns:a="http://schemas.openxmlformats.org/drawingml/2006/main">
            <a:off x="1962150" y="2085975"/>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BGH 2 StR 454/09</a:t>
            </a:r>
          </a:p>
        </p:txBody>
      </p:sp>
      <p:sp>
        <p:nvSpPr>
          <p:cNvPr id="7" name="">
            <a:extLst xmlns:a="http://schemas.openxmlformats.org/drawingml/2006/main">
              <a:ext uri="{FF2B5EF4-FFF2-40B4-BE49-F238E27FC236}">
                <a16:creationId xmlns:a16="http://schemas.microsoft.com/office/drawing/2014/main" id="{AA0876C5-CC0C-47B9-916F-56FA89DBFD0C}"/>
              </a:ext>
            </a:extLst>
          </p:cNvPr>
          <p:cNvSpPr>
            <a:spLocks xmlns:a="http://schemas.openxmlformats.org/drawingml/2006/main" noGrp="1"/>
          </p:cNvSpPr>
          <p:nvPr/>
        </p:nvSpPr>
        <p:spPr>
          <a:xfrm xmlns:a="http://schemas.openxmlformats.org/drawingml/2006/main">
            <a:off x="1962150" y="2524125"/>
            <a:ext cx="2768600" cy="8239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Urt. 25.06.2010 · Behandlungsabbruch und Patientenwille</a:t>
            </a:r>
          </a:p>
        </p:txBody>
      </p:sp>
      <p:sp>
        <p:nvSpPr>
          <p:cNvPr id="8" name="">
            <a:extLst xmlns:a="http://schemas.openxmlformats.org/drawingml/2006/main">
              <a:ext uri="{FF2B5EF4-FFF2-40B4-BE49-F238E27FC236}">
                <a16:creationId xmlns:a16="http://schemas.microsoft.com/office/drawing/2014/main" id="{B7F784F3-62A9-49CE-B31B-08E1B311D4AF}"/>
              </a:ext>
            </a:extLst>
          </p:cNvPr>
          <p:cNvSpPr>
            <a:spLocks xmlns:a="http://schemas.openxmlformats.org/drawingml/2006/main" noGrp="1"/>
          </p:cNvSpPr>
          <p:nvPr/>
        </p:nvSpPr>
        <p:spPr>
          <a:xfrm xmlns:a="http://schemas.openxmlformats.org/drawingml/2006/main">
            <a:off x="5035550" y="1952625"/>
            <a:ext cx="3073400" cy="1528763"/>
          </a:xfrm>
          <a:prstGeom xmlns:a="http://schemas.openxmlformats.org/drawingml/2006/main" prst="roundRect">
            <a:avLst>
              <a:gd name="adj" fmla="val 4984"/>
            </a:avLst>
          </a:prstGeom>
          <a:noFill xmlns:a="http://schemas.openxmlformats.org/drawingml/2006/main"/>
          <a:ln xmlns:a="http://schemas.openxmlformats.org/drawingml/2006/main" w="9525">
            <a:solidFill>
              <a:srgbClr val="B9CAD2"/>
            </a:solidFill>
            <a:prstDash val="solid"/>
          </a:ln>
        </p:spPr>
      </p:sp>
      <p:sp>
        <p:nvSpPr>
          <p:cNvPr id="9" name="">
            <a:extLst xmlns:a="http://schemas.openxmlformats.org/drawingml/2006/main">
              <a:ext uri="{FF2B5EF4-FFF2-40B4-BE49-F238E27FC236}">
                <a16:creationId xmlns:a16="http://schemas.microsoft.com/office/drawing/2014/main" id="{925E5987-28D5-40E9-BD63-46936F90CD1D}"/>
              </a:ext>
            </a:extLst>
          </p:cNvPr>
          <p:cNvSpPr>
            <a:spLocks xmlns:a="http://schemas.openxmlformats.org/drawingml/2006/main" noGrp="1"/>
          </p:cNvSpPr>
          <p:nvPr/>
        </p:nvSpPr>
        <p:spPr>
          <a:xfrm xmlns:a="http://schemas.openxmlformats.org/drawingml/2006/main">
            <a:off x="5035550" y="1952625"/>
            <a:ext cx="307340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3658F23C-ADE6-4BA9-A0CF-F99E3B3F24C6}"/>
              </a:ext>
            </a:extLst>
          </p:cNvPr>
          <p:cNvSpPr>
            <a:spLocks xmlns:a="http://schemas.openxmlformats.org/drawingml/2006/main" noGrp="1"/>
          </p:cNvSpPr>
          <p:nvPr/>
        </p:nvSpPr>
        <p:spPr>
          <a:xfrm xmlns:a="http://schemas.openxmlformats.org/drawingml/2006/main">
            <a:off x="5187950" y="2085975"/>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BGH 5 StR 394/21</a:t>
            </a:r>
          </a:p>
        </p:txBody>
      </p:sp>
      <p:sp>
        <p:nvSpPr>
          <p:cNvPr id="11" name="">
            <a:extLst xmlns:a="http://schemas.openxmlformats.org/drawingml/2006/main">
              <a:ext uri="{FF2B5EF4-FFF2-40B4-BE49-F238E27FC236}">
                <a16:creationId xmlns:a16="http://schemas.microsoft.com/office/drawing/2014/main" id="{50263184-D287-49F4-8351-416D0B2B6701}"/>
              </a:ext>
            </a:extLst>
          </p:cNvPr>
          <p:cNvSpPr>
            <a:spLocks xmlns:a="http://schemas.openxmlformats.org/drawingml/2006/main" noGrp="1"/>
          </p:cNvSpPr>
          <p:nvPr/>
        </p:nvSpPr>
        <p:spPr>
          <a:xfrm xmlns:a="http://schemas.openxmlformats.org/drawingml/2006/main">
            <a:off x="5187950" y="2524125"/>
            <a:ext cx="2768600" cy="8239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Urt. 16.03.2022 · Unterlassen, Kausalität und individuelle Pflicht</a:t>
            </a:r>
          </a:p>
        </p:txBody>
      </p:sp>
      <p:sp>
        <p:nvSpPr>
          <p:cNvPr id="12" name="">
            <a:extLst xmlns:a="http://schemas.openxmlformats.org/drawingml/2006/main">
              <a:ext uri="{FF2B5EF4-FFF2-40B4-BE49-F238E27FC236}">
                <a16:creationId xmlns:a16="http://schemas.microsoft.com/office/drawing/2014/main" id="{E40DFE5F-117C-4E4C-A802-686BDA625845}"/>
              </a:ext>
            </a:extLst>
          </p:cNvPr>
          <p:cNvSpPr>
            <a:spLocks xmlns:a="http://schemas.openxmlformats.org/drawingml/2006/main" noGrp="1"/>
          </p:cNvSpPr>
          <p:nvPr/>
        </p:nvSpPr>
        <p:spPr>
          <a:xfrm xmlns:a="http://schemas.openxmlformats.org/drawingml/2006/main">
            <a:off x="8261350" y="1952625"/>
            <a:ext cx="3073400" cy="1528763"/>
          </a:xfrm>
          <a:prstGeom xmlns:a="http://schemas.openxmlformats.org/drawingml/2006/main" prst="roundRect">
            <a:avLst>
              <a:gd name="adj" fmla="val 4984"/>
            </a:avLst>
          </a:prstGeom>
          <a:noFill xmlns:a="http://schemas.openxmlformats.org/drawingml/2006/main"/>
          <a:ln xmlns:a="http://schemas.openxmlformats.org/drawingml/2006/main" w="9525">
            <a:solidFill>
              <a:srgbClr val="B9CAD2"/>
            </a:solidFill>
            <a:prstDash val="solid"/>
          </a:ln>
        </p:spPr>
      </p:sp>
      <p:sp>
        <p:nvSpPr>
          <p:cNvPr id="13" name="">
            <a:extLst xmlns:a="http://schemas.openxmlformats.org/drawingml/2006/main">
              <a:ext uri="{FF2B5EF4-FFF2-40B4-BE49-F238E27FC236}">
                <a16:creationId xmlns:a16="http://schemas.microsoft.com/office/drawing/2014/main" id="{33E7F5EE-4FF4-48D1-8B2C-CCC8BE362EEA}"/>
              </a:ext>
            </a:extLst>
          </p:cNvPr>
          <p:cNvSpPr>
            <a:spLocks xmlns:a="http://schemas.openxmlformats.org/drawingml/2006/main" noGrp="1"/>
          </p:cNvSpPr>
          <p:nvPr/>
        </p:nvSpPr>
        <p:spPr>
          <a:xfrm xmlns:a="http://schemas.openxmlformats.org/drawingml/2006/main">
            <a:off x="8261350" y="1952625"/>
            <a:ext cx="30734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19BE9CFB-77A6-4CD8-B711-2F0AA671BCD0}"/>
              </a:ext>
            </a:extLst>
          </p:cNvPr>
          <p:cNvSpPr>
            <a:spLocks xmlns:a="http://schemas.openxmlformats.org/drawingml/2006/main" noGrp="1"/>
          </p:cNvSpPr>
          <p:nvPr/>
        </p:nvSpPr>
        <p:spPr>
          <a:xfrm xmlns:a="http://schemas.openxmlformats.org/drawingml/2006/main">
            <a:off x="8413750" y="2085975"/>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BGH 5 StR 491/10</a:t>
            </a:r>
          </a:p>
        </p:txBody>
      </p:sp>
      <p:sp>
        <p:nvSpPr>
          <p:cNvPr id="15" name="">
            <a:extLst xmlns:a="http://schemas.openxmlformats.org/drawingml/2006/main">
              <a:ext uri="{FF2B5EF4-FFF2-40B4-BE49-F238E27FC236}">
                <a16:creationId xmlns:a16="http://schemas.microsoft.com/office/drawing/2014/main" id="{F5E9391B-A61C-43E0-A689-46F9919BE60A}"/>
              </a:ext>
            </a:extLst>
          </p:cNvPr>
          <p:cNvSpPr>
            <a:spLocks xmlns:a="http://schemas.openxmlformats.org/drawingml/2006/main" noGrp="1"/>
          </p:cNvSpPr>
          <p:nvPr/>
        </p:nvSpPr>
        <p:spPr>
          <a:xfrm xmlns:a="http://schemas.openxmlformats.org/drawingml/2006/main">
            <a:off x="8413750" y="2524125"/>
            <a:ext cx="2768600" cy="8239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Beschl. 11.01.2011 · ärztliche Sorgfalt bei Medikation</a:t>
            </a:r>
          </a:p>
        </p:txBody>
      </p:sp>
      <p:sp>
        <p:nvSpPr>
          <p:cNvPr id="16" name="">
            <a:extLst xmlns:a="http://schemas.openxmlformats.org/drawingml/2006/main">
              <a:ext uri="{FF2B5EF4-FFF2-40B4-BE49-F238E27FC236}">
                <a16:creationId xmlns:a16="http://schemas.microsoft.com/office/drawing/2014/main" id="{45F63B6A-0AE3-473C-91D1-BD6942E3B476}"/>
              </a:ext>
            </a:extLst>
          </p:cNvPr>
          <p:cNvSpPr>
            <a:spLocks xmlns:a="http://schemas.openxmlformats.org/drawingml/2006/main" noGrp="1"/>
          </p:cNvSpPr>
          <p:nvPr/>
        </p:nvSpPr>
        <p:spPr>
          <a:xfrm xmlns:a="http://schemas.openxmlformats.org/drawingml/2006/main">
            <a:off x="1809750" y="3614738"/>
            <a:ext cx="3073400" cy="1528763"/>
          </a:xfrm>
          <a:prstGeom xmlns:a="http://schemas.openxmlformats.org/drawingml/2006/main" prst="roundRect">
            <a:avLst>
              <a:gd name="adj" fmla="val 4984"/>
            </a:avLst>
          </a:prstGeom>
          <a:noFill xmlns:a="http://schemas.openxmlformats.org/drawingml/2006/main"/>
          <a:ln xmlns:a="http://schemas.openxmlformats.org/drawingml/2006/main" w="9525">
            <a:solidFill>
              <a:srgbClr val="B9CAD2"/>
            </a:solidFill>
            <a:prstDash val="solid"/>
          </a:ln>
        </p:spPr>
      </p:sp>
      <p:sp>
        <p:nvSpPr>
          <p:cNvPr id="17" name="">
            <a:extLst xmlns:a="http://schemas.openxmlformats.org/drawingml/2006/main">
              <a:ext uri="{FF2B5EF4-FFF2-40B4-BE49-F238E27FC236}">
                <a16:creationId xmlns:a16="http://schemas.microsoft.com/office/drawing/2014/main" id="{18BA7F94-508E-4A77-8F23-5E9F9F7EF4F9}"/>
              </a:ext>
            </a:extLst>
          </p:cNvPr>
          <p:cNvSpPr>
            <a:spLocks xmlns:a="http://schemas.openxmlformats.org/drawingml/2006/main" noGrp="1"/>
          </p:cNvSpPr>
          <p:nvPr/>
        </p:nvSpPr>
        <p:spPr>
          <a:xfrm xmlns:a="http://schemas.openxmlformats.org/drawingml/2006/main">
            <a:off x="1809750" y="3614738"/>
            <a:ext cx="307340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03CCEDAD-35A2-451C-B2AB-0D5B2104018F}"/>
              </a:ext>
            </a:extLst>
          </p:cNvPr>
          <p:cNvSpPr>
            <a:spLocks xmlns:a="http://schemas.openxmlformats.org/drawingml/2006/main" noGrp="1"/>
          </p:cNvSpPr>
          <p:nvPr/>
        </p:nvSpPr>
        <p:spPr>
          <a:xfrm xmlns:a="http://schemas.openxmlformats.org/drawingml/2006/main">
            <a:off x="1962150" y="3748088"/>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BGH XII ZB 61/16</a:t>
            </a:r>
          </a:p>
        </p:txBody>
      </p:sp>
      <p:sp>
        <p:nvSpPr>
          <p:cNvPr id="19" name="">
            <a:extLst xmlns:a="http://schemas.openxmlformats.org/drawingml/2006/main">
              <a:ext uri="{FF2B5EF4-FFF2-40B4-BE49-F238E27FC236}">
                <a16:creationId xmlns:a16="http://schemas.microsoft.com/office/drawing/2014/main" id="{BD71C394-2805-459E-9E4D-0FF4D998A4F2}"/>
              </a:ext>
            </a:extLst>
          </p:cNvPr>
          <p:cNvSpPr>
            <a:spLocks xmlns:a="http://schemas.openxmlformats.org/drawingml/2006/main" noGrp="1"/>
          </p:cNvSpPr>
          <p:nvPr/>
        </p:nvSpPr>
        <p:spPr>
          <a:xfrm xmlns:a="http://schemas.openxmlformats.org/drawingml/2006/main">
            <a:off x="1962150" y="4186238"/>
            <a:ext cx="2768600" cy="8239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Beschl. 06.07.2016 · Bestimmtheit einer Patientenverfügung</a:t>
            </a:r>
          </a:p>
        </p:txBody>
      </p:sp>
      <p:sp>
        <p:nvSpPr>
          <p:cNvPr id="20" name="">
            <a:extLst xmlns:a="http://schemas.openxmlformats.org/drawingml/2006/main">
              <a:ext uri="{FF2B5EF4-FFF2-40B4-BE49-F238E27FC236}">
                <a16:creationId xmlns:a16="http://schemas.microsoft.com/office/drawing/2014/main" id="{74C9CD04-07C3-497D-B859-B99F3A5E5C50}"/>
              </a:ext>
            </a:extLst>
          </p:cNvPr>
          <p:cNvSpPr>
            <a:spLocks xmlns:a="http://schemas.openxmlformats.org/drawingml/2006/main" noGrp="1"/>
          </p:cNvSpPr>
          <p:nvPr/>
        </p:nvSpPr>
        <p:spPr>
          <a:xfrm xmlns:a="http://schemas.openxmlformats.org/drawingml/2006/main">
            <a:off x="5035550" y="3614738"/>
            <a:ext cx="3073400" cy="1528763"/>
          </a:xfrm>
          <a:prstGeom xmlns:a="http://schemas.openxmlformats.org/drawingml/2006/main" prst="roundRect">
            <a:avLst>
              <a:gd name="adj" fmla="val 4984"/>
            </a:avLst>
          </a:prstGeom>
          <a:noFill xmlns:a="http://schemas.openxmlformats.org/drawingml/2006/main"/>
          <a:ln xmlns:a="http://schemas.openxmlformats.org/drawingml/2006/main" w="9525">
            <a:solidFill>
              <a:srgbClr val="B9CAD2"/>
            </a:solidFill>
            <a:prstDash val="solid"/>
          </a:ln>
        </p:spPr>
      </p:sp>
      <p:sp>
        <p:nvSpPr>
          <p:cNvPr id="21" name="">
            <a:extLst xmlns:a="http://schemas.openxmlformats.org/drawingml/2006/main">
              <a:ext uri="{FF2B5EF4-FFF2-40B4-BE49-F238E27FC236}">
                <a16:creationId xmlns:a16="http://schemas.microsoft.com/office/drawing/2014/main" id="{9646E848-7FEC-4B54-BE06-1E38F5113728}"/>
              </a:ext>
            </a:extLst>
          </p:cNvPr>
          <p:cNvSpPr>
            <a:spLocks xmlns:a="http://schemas.openxmlformats.org/drawingml/2006/main" noGrp="1"/>
          </p:cNvSpPr>
          <p:nvPr/>
        </p:nvSpPr>
        <p:spPr>
          <a:xfrm xmlns:a="http://schemas.openxmlformats.org/drawingml/2006/main">
            <a:off x="5035550" y="3614738"/>
            <a:ext cx="30734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22" name="">
            <a:extLst xmlns:a="http://schemas.openxmlformats.org/drawingml/2006/main">
              <a:ext uri="{FF2B5EF4-FFF2-40B4-BE49-F238E27FC236}">
                <a16:creationId xmlns:a16="http://schemas.microsoft.com/office/drawing/2014/main" id="{7F225E71-332C-492B-ADD9-E9A41093D44B}"/>
              </a:ext>
            </a:extLst>
          </p:cNvPr>
          <p:cNvSpPr>
            <a:spLocks xmlns:a="http://schemas.openxmlformats.org/drawingml/2006/main" noGrp="1"/>
          </p:cNvSpPr>
          <p:nvPr/>
        </p:nvSpPr>
        <p:spPr>
          <a:xfrm xmlns:a="http://schemas.openxmlformats.org/drawingml/2006/main">
            <a:off x="5187950" y="3748088"/>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BVerfG 2 BvR 882/09</a:t>
            </a:r>
          </a:p>
        </p:txBody>
      </p:sp>
      <p:sp>
        <p:nvSpPr>
          <p:cNvPr id="23" name="">
            <a:extLst xmlns:a="http://schemas.openxmlformats.org/drawingml/2006/main">
              <a:ext uri="{FF2B5EF4-FFF2-40B4-BE49-F238E27FC236}">
                <a16:creationId xmlns:a16="http://schemas.microsoft.com/office/drawing/2014/main" id="{1C327331-3C9D-459E-AAF4-23331749EEE3}"/>
              </a:ext>
            </a:extLst>
          </p:cNvPr>
          <p:cNvSpPr>
            <a:spLocks xmlns:a="http://schemas.openxmlformats.org/drawingml/2006/main" noGrp="1"/>
          </p:cNvSpPr>
          <p:nvPr/>
        </p:nvSpPr>
        <p:spPr>
          <a:xfrm xmlns:a="http://schemas.openxmlformats.org/drawingml/2006/main">
            <a:off x="5187950" y="4186238"/>
            <a:ext cx="2768600" cy="8239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Beschl. 23.03.2011 · Zwangsbehandlung und Grundrechtsschutz</a:t>
            </a:r>
          </a:p>
        </p:txBody>
      </p:sp>
      <p:sp>
        <p:nvSpPr>
          <p:cNvPr id="24" name="">
            <a:extLst xmlns:a="http://schemas.openxmlformats.org/drawingml/2006/main">
              <a:ext uri="{FF2B5EF4-FFF2-40B4-BE49-F238E27FC236}">
                <a16:creationId xmlns:a16="http://schemas.microsoft.com/office/drawing/2014/main" id="{E3EC69DC-FD1E-4C55-B587-DBA197C294E8}"/>
              </a:ext>
            </a:extLst>
          </p:cNvPr>
          <p:cNvSpPr>
            <a:spLocks xmlns:a="http://schemas.openxmlformats.org/drawingml/2006/main" noGrp="1"/>
          </p:cNvSpPr>
          <p:nvPr/>
        </p:nvSpPr>
        <p:spPr>
          <a:xfrm xmlns:a="http://schemas.openxmlformats.org/drawingml/2006/main">
            <a:off x="8261350" y="3614738"/>
            <a:ext cx="3073400" cy="1528763"/>
          </a:xfrm>
          <a:prstGeom xmlns:a="http://schemas.openxmlformats.org/drawingml/2006/main" prst="roundRect">
            <a:avLst>
              <a:gd name="adj" fmla="val 4984"/>
            </a:avLst>
          </a:prstGeom>
          <a:noFill xmlns:a="http://schemas.openxmlformats.org/drawingml/2006/main"/>
          <a:ln xmlns:a="http://schemas.openxmlformats.org/drawingml/2006/main" w="9525">
            <a:solidFill>
              <a:srgbClr val="B9CAD2"/>
            </a:solidFill>
            <a:prstDash val="solid"/>
          </a:ln>
        </p:spPr>
      </p:sp>
      <p:sp>
        <p:nvSpPr>
          <p:cNvPr id="25" name="">
            <a:extLst xmlns:a="http://schemas.openxmlformats.org/drawingml/2006/main">
              <a:ext uri="{FF2B5EF4-FFF2-40B4-BE49-F238E27FC236}">
                <a16:creationId xmlns:a16="http://schemas.microsoft.com/office/drawing/2014/main" id="{1E14566A-9F8F-43FB-BCAA-08513B959377}"/>
              </a:ext>
            </a:extLst>
          </p:cNvPr>
          <p:cNvSpPr>
            <a:spLocks xmlns:a="http://schemas.openxmlformats.org/drawingml/2006/main" noGrp="1"/>
          </p:cNvSpPr>
          <p:nvPr/>
        </p:nvSpPr>
        <p:spPr>
          <a:xfrm xmlns:a="http://schemas.openxmlformats.org/drawingml/2006/main">
            <a:off x="8261350" y="3614738"/>
            <a:ext cx="307340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26" name="">
            <a:extLst xmlns:a="http://schemas.openxmlformats.org/drawingml/2006/main">
              <a:ext uri="{FF2B5EF4-FFF2-40B4-BE49-F238E27FC236}">
                <a16:creationId xmlns:a16="http://schemas.microsoft.com/office/drawing/2014/main" id="{1A4E688B-9AE8-4F8B-93D9-BB7A97416E16}"/>
              </a:ext>
            </a:extLst>
          </p:cNvPr>
          <p:cNvSpPr>
            <a:spLocks xmlns:a="http://schemas.openxmlformats.org/drawingml/2006/main" noGrp="1"/>
          </p:cNvSpPr>
          <p:nvPr/>
        </p:nvSpPr>
        <p:spPr>
          <a:xfrm xmlns:a="http://schemas.openxmlformats.org/drawingml/2006/main">
            <a:off x="8413750" y="3748088"/>
            <a:ext cx="276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AG Hersbruck XVII 1556/92 A</a:t>
            </a:r>
          </a:p>
        </p:txBody>
      </p:sp>
      <p:sp>
        <p:nvSpPr>
          <p:cNvPr id="27" name="">
            <a:extLst xmlns:a="http://schemas.openxmlformats.org/drawingml/2006/main">
              <a:ext uri="{FF2B5EF4-FFF2-40B4-BE49-F238E27FC236}">
                <a16:creationId xmlns:a16="http://schemas.microsoft.com/office/drawing/2014/main" id="{D8E0F6A9-3FC1-44CF-9C66-42F531D5F4E7}"/>
              </a:ext>
            </a:extLst>
          </p:cNvPr>
          <p:cNvSpPr>
            <a:spLocks xmlns:a="http://schemas.openxmlformats.org/drawingml/2006/main" noGrp="1"/>
          </p:cNvSpPr>
          <p:nvPr/>
        </p:nvSpPr>
        <p:spPr>
          <a:xfrm xmlns:a="http://schemas.openxmlformats.org/drawingml/2006/main">
            <a:off x="8413750" y="4186238"/>
            <a:ext cx="2768600" cy="8239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Beschl. 16.10.1992 · Erlanger-Baby-Fall und Genehmigungsvorbehalt</a:t>
            </a:r>
          </a:p>
        </p:txBody>
      </p:sp>
      <p:sp>
        <p:nvSpPr>
          <p:cNvPr id="28" name="">
            <a:extLst xmlns:a="http://schemas.openxmlformats.org/drawingml/2006/main">
              <a:ext uri="{FF2B5EF4-FFF2-40B4-BE49-F238E27FC236}">
                <a16:creationId xmlns:a16="http://schemas.microsoft.com/office/drawing/2014/main" id="{FC9ABE99-6505-4C80-A780-9EBCFAD5275B}"/>
              </a:ext>
            </a:extLst>
          </p:cNvPr>
          <p:cNvSpPr>
            <a:spLocks xmlns:a="http://schemas.openxmlformats.org/drawingml/2006/main" noGrp="1"/>
          </p:cNvSpPr>
          <p:nvPr/>
        </p:nvSpPr>
        <p:spPr>
          <a:xfrm xmlns:a="http://schemas.openxmlformats.org/drawingml/2006/main">
            <a:off x="1809750" y="5334000"/>
            <a:ext cx="952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720">
                <a:solidFill>
                  <a:srgbClr val="667680"/>
                </a:solidFill>
              </a:defRPr>
            </a:pPr>
            <a:r>
              <a:rPr sz="720">
                <a:solidFill>
                  <a:srgbClr val="667680"/>
                </a:solidFill>
              </a:rPr>
              <a:t>BGH: https://juris.bundesgerichtshof.de · BVerfG: https://www.bundesverfassungsgericht.de · AG Hersbruck: https://dejure.org/1992,4493</a:t>
            </a:r>
          </a:p>
        </p:txBody>
      </p:sp>
      <p:sp>
        <p:nvSpPr>
          <p:cNvPr id="29" name="">
            <a:extLst xmlns:a="http://schemas.openxmlformats.org/drawingml/2006/main">
              <a:ext uri="{FF2B5EF4-FFF2-40B4-BE49-F238E27FC236}">
                <a16:creationId xmlns:a16="http://schemas.microsoft.com/office/drawing/2014/main" id="{9FDE4FDB-D4A3-4044-AAE4-EB5EFC734DB3}"/>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30" name="">
            <a:extLst xmlns:a="http://schemas.openxmlformats.org/drawingml/2006/main">
              <a:ext uri="{FF2B5EF4-FFF2-40B4-BE49-F238E27FC236}">
                <a16:creationId xmlns:a16="http://schemas.microsoft.com/office/drawing/2014/main" id="{912FAE88-4E44-4A95-8529-6640DC859CD1}"/>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Nicht jeder praktisch relevante Fall ist höchstrichterlich entschieden; wo kein BGH-Fall passt, wird die andere Entscheidungsinstanz transparent benannt.</a:t>
            </a:r>
          </a:p>
        </p:txBody>
      </p:sp>
    </p:spTree>
    <p:extLst>
      <p:ext uri="{BB962C8B-B14F-4D97-AF65-F5344CB8AC3E}">
        <p14:creationId xmlns:p14="http://schemas.microsoft.com/office/powerpoint/2010/main" val="43637646"/>
      </p:ext>
    </p:extLst>
  </p:cSld>
</p:sld>
</file>

<file path=ppt/slides/slide423.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Recherchebasis und Aktualisierung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TRANSPARENZ</a:t>
            </a:r>
            <a:endParaRPr/>
          </a:p>
        </p:txBody>
      </p:sp>
      <p:sp>
        <p:nvSpPr>
          <p:cNvPr id="4" name="">
            <a:extLst xmlns:a="http://schemas.openxmlformats.org/drawingml/2006/main">
              <a:ext uri="{FF2B5EF4-FFF2-40B4-BE49-F238E27FC236}">
                <a16:creationId xmlns:a16="http://schemas.microsoft.com/office/drawing/2014/main" id="{7DAFFF91-6E30-44DB-A3BD-B82DA8EEA254}"/>
              </a:ext>
            </a:extLst>
          </p:cNvPr>
          <p:cNvSpPr>
            <a:spLocks xmlns:a="http://schemas.openxmlformats.org/drawingml/2006/main" noGrp="1"/>
          </p:cNvSpPr>
          <p:nvPr/>
        </p:nvSpPr>
        <p:spPr>
          <a:xfrm xmlns:a="http://schemas.openxmlformats.org/drawingml/2006/main">
            <a:off x="1809750" y="1952625"/>
            <a:ext cx="46863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5" name="">
            <a:extLst xmlns:a="http://schemas.openxmlformats.org/drawingml/2006/main">
              <a:ext uri="{FF2B5EF4-FFF2-40B4-BE49-F238E27FC236}">
                <a16:creationId xmlns:a16="http://schemas.microsoft.com/office/drawing/2014/main" id="{7280DB62-F484-42CB-8A40-4082E3EC57CF}"/>
              </a:ext>
            </a:extLst>
          </p:cNvPr>
          <p:cNvSpPr>
            <a:spLocks xmlns:a="http://schemas.openxmlformats.org/drawingml/2006/main" noGrp="1"/>
          </p:cNvSpPr>
          <p:nvPr/>
        </p:nvSpPr>
        <p:spPr>
          <a:xfrm xmlns:a="http://schemas.openxmlformats.org/drawingml/2006/main">
            <a:off x="1809750" y="1952625"/>
            <a:ext cx="46863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218E8472-7E8E-402C-99E7-4F50A197D6DB}"/>
              </a:ext>
            </a:extLst>
          </p:cNvPr>
          <p:cNvSpPr>
            <a:spLocks xmlns:a="http://schemas.openxmlformats.org/drawingml/2006/main" noGrp="1"/>
          </p:cNvSpPr>
          <p:nvPr/>
        </p:nvSpPr>
        <p:spPr>
          <a:xfrm xmlns:a="http://schemas.openxmlformats.org/drawingml/2006/main">
            <a:off x="1962150" y="2085975"/>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Podcast &amp; Gmail</a:t>
            </a:r>
          </a:p>
        </p:txBody>
      </p:sp>
      <p:sp>
        <p:nvSpPr>
          <p:cNvPr id="7" name="">
            <a:extLst xmlns:a="http://schemas.openxmlformats.org/drawingml/2006/main">
              <a:ext uri="{FF2B5EF4-FFF2-40B4-BE49-F238E27FC236}">
                <a16:creationId xmlns:a16="http://schemas.microsoft.com/office/drawing/2014/main" id="{8D65F50E-D32C-4D26-9CE9-0541BA4F9E82}"/>
              </a:ext>
            </a:extLst>
          </p:cNvPr>
          <p:cNvSpPr>
            <a:spLocks xmlns:a="http://schemas.openxmlformats.org/drawingml/2006/main" noGrp="1"/>
          </p:cNvSpPr>
          <p:nvPr/>
        </p:nvSpPr>
        <p:spPr>
          <a:xfrm xmlns:a="http://schemas.openxmlformats.org/drawingml/2006/main">
            <a:off x="1962150" y="2524125"/>
            <a:ext cx="43815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Recht Medizinisch Folgen 0–4 einschließlich Kurzvisite; Episodenhinweise zu BtM und Erlanger Baby-Fall</a:t>
            </a:r>
          </a:p>
        </p:txBody>
      </p:sp>
      <p:sp>
        <p:nvSpPr>
          <p:cNvPr id="8" name="">
            <a:extLst xmlns:a="http://schemas.openxmlformats.org/drawingml/2006/main">
              <a:ext uri="{FF2B5EF4-FFF2-40B4-BE49-F238E27FC236}">
                <a16:creationId xmlns:a16="http://schemas.microsoft.com/office/drawing/2014/main" id="{A7AB6D8A-4133-4C19-9253-A385BF3C6679}"/>
              </a:ext>
            </a:extLst>
          </p:cNvPr>
          <p:cNvSpPr>
            <a:spLocks xmlns:a="http://schemas.openxmlformats.org/drawingml/2006/main" noGrp="1"/>
          </p:cNvSpPr>
          <p:nvPr/>
        </p:nvSpPr>
        <p:spPr>
          <a:xfrm xmlns:a="http://schemas.openxmlformats.org/drawingml/2006/main">
            <a:off x="6648450" y="1952625"/>
            <a:ext cx="46863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9" name="">
            <a:extLst xmlns:a="http://schemas.openxmlformats.org/drawingml/2006/main">
              <a:ext uri="{FF2B5EF4-FFF2-40B4-BE49-F238E27FC236}">
                <a16:creationId xmlns:a16="http://schemas.microsoft.com/office/drawing/2014/main" id="{5FF3C132-6D85-48F2-9F98-44DD4AA6AFCD}"/>
              </a:ext>
            </a:extLst>
          </p:cNvPr>
          <p:cNvSpPr>
            <a:spLocks xmlns:a="http://schemas.openxmlformats.org/drawingml/2006/main" noGrp="1"/>
          </p:cNvSpPr>
          <p:nvPr/>
        </p:nvSpPr>
        <p:spPr>
          <a:xfrm xmlns:a="http://schemas.openxmlformats.org/drawingml/2006/main">
            <a:off x="6648450" y="1952625"/>
            <a:ext cx="468630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FA353B5B-772A-447F-8CDE-D16B00077716}"/>
              </a:ext>
            </a:extLst>
          </p:cNvPr>
          <p:cNvSpPr>
            <a:spLocks xmlns:a="http://schemas.openxmlformats.org/drawingml/2006/main" noGrp="1"/>
          </p:cNvSpPr>
          <p:nvPr/>
        </p:nvSpPr>
        <p:spPr>
          <a:xfrm xmlns:a="http://schemas.openxmlformats.org/drawingml/2006/main">
            <a:off x="6800850" y="2085975"/>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Lokale Materialien</a:t>
            </a:r>
          </a:p>
        </p:txBody>
      </p:sp>
      <p:sp>
        <p:nvSpPr>
          <p:cNvPr id="11" name="">
            <a:extLst xmlns:a="http://schemas.openxmlformats.org/drawingml/2006/main">
              <a:ext uri="{FF2B5EF4-FFF2-40B4-BE49-F238E27FC236}">
                <a16:creationId xmlns:a16="http://schemas.microsoft.com/office/drawing/2014/main" id="{2550C052-1F70-4524-988D-D316E7938068}"/>
              </a:ext>
            </a:extLst>
          </p:cNvPr>
          <p:cNvSpPr>
            <a:spLocks xmlns:a="http://schemas.openxmlformats.org/drawingml/2006/main" noGrp="1"/>
          </p:cNvSpPr>
          <p:nvPr/>
        </p:nvSpPr>
        <p:spPr>
          <a:xfrm xmlns:a="http://schemas.openxmlformats.org/drawingml/2006/main">
            <a:off x="6800850" y="2524125"/>
            <a:ext cx="43815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Podcast-Themenliste, anonymisiertes Assistenzarzt-Tagebuch, BtM- und Rettungsdienstfälle, Beweisbeschluss, Sachverständigenfragen, Rettungsdienstskript</a:t>
            </a:r>
          </a:p>
        </p:txBody>
      </p:sp>
      <p:sp>
        <p:nvSpPr>
          <p:cNvPr id="12" name="">
            <a:extLst xmlns:a="http://schemas.openxmlformats.org/drawingml/2006/main">
              <a:ext uri="{FF2B5EF4-FFF2-40B4-BE49-F238E27FC236}">
                <a16:creationId xmlns:a16="http://schemas.microsoft.com/office/drawing/2014/main" id="{96DBD467-8047-47AE-8C0C-308D0B7E5A14}"/>
              </a:ext>
            </a:extLst>
          </p:cNvPr>
          <p:cNvSpPr>
            <a:spLocks xmlns:a="http://schemas.openxmlformats.org/drawingml/2006/main" noGrp="1"/>
          </p:cNvSpPr>
          <p:nvPr/>
        </p:nvSpPr>
        <p:spPr>
          <a:xfrm xmlns:a="http://schemas.openxmlformats.org/drawingml/2006/main">
            <a:off x="1809750" y="3767138"/>
            <a:ext cx="46863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13" name="">
            <a:extLst xmlns:a="http://schemas.openxmlformats.org/drawingml/2006/main">
              <a:ext uri="{FF2B5EF4-FFF2-40B4-BE49-F238E27FC236}">
                <a16:creationId xmlns:a16="http://schemas.microsoft.com/office/drawing/2014/main" id="{984969A5-1E65-404F-8C7A-300146FC4FEE}"/>
              </a:ext>
            </a:extLst>
          </p:cNvPr>
          <p:cNvSpPr>
            <a:spLocks xmlns:a="http://schemas.openxmlformats.org/drawingml/2006/main" noGrp="1"/>
          </p:cNvSpPr>
          <p:nvPr/>
        </p:nvSpPr>
        <p:spPr>
          <a:xfrm xmlns:a="http://schemas.openxmlformats.org/drawingml/2006/main">
            <a:off x="1809750" y="3767138"/>
            <a:ext cx="46863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2DE38525-7156-47DE-8A0F-20E6A5016CAD}"/>
              </a:ext>
            </a:extLst>
          </p:cNvPr>
          <p:cNvSpPr>
            <a:spLocks xmlns:a="http://schemas.openxmlformats.org/drawingml/2006/main" noGrp="1"/>
          </p:cNvSpPr>
          <p:nvPr/>
        </p:nvSpPr>
        <p:spPr>
          <a:xfrm xmlns:a="http://schemas.openxmlformats.org/drawingml/2006/main">
            <a:off x="1962150" y="3900488"/>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Primärquellen</a:t>
            </a:r>
          </a:p>
        </p:txBody>
      </p:sp>
      <p:sp>
        <p:nvSpPr>
          <p:cNvPr id="15" name="">
            <a:extLst xmlns:a="http://schemas.openxmlformats.org/drawingml/2006/main">
              <a:ext uri="{FF2B5EF4-FFF2-40B4-BE49-F238E27FC236}">
                <a16:creationId xmlns:a16="http://schemas.microsoft.com/office/drawing/2014/main" id="{0C69BB9A-E13B-4DE3-83C9-27CFEDBBE853}"/>
              </a:ext>
            </a:extLst>
          </p:cNvPr>
          <p:cNvSpPr>
            <a:spLocks xmlns:a="http://schemas.openxmlformats.org/drawingml/2006/main" noGrp="1"/>
          </p:cNvSpPr>
          <p:nvPr/>
        </p:nvSpPr>
        <p:spPr>
          <a:xfrm xmlns:a="http://schemas.openxmlformats.org/drawingml/2006/main">
            <a:off x="1962150" y="4338638"/>
            <a:ext cx="43815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BGB, ZPO, StGB, StPO, GVG, BÄO, HKG Niedersachsen, Berufsordnung ÄKN, LG Oldenburg GVP</a:t>
            </a:r>
          </a:p>
        </p:txBody>
      </p:sp>
      <p:sp>
        <p:nvSpPr>
          <p:cNvPr id="16" name="">
            <a:extLst xmlns:a="http://schemas.openxmlformats.org/drawingml/2006/main">
              <a:ext uri="{FF2B5EF4-FFF2-40B4-BE49-F238E27FC236}">
                <a16:creationId xmlns:a16="http://schemas.microsoft.com/office/drawing/2014/main" id="{6DA4C8BA-7C22-4370-BB6B-A1C94C91D18D}"/>
              </a:ext>
            </a:extLst>
          </p:cNvPr>
          <p:cNvSpPr>
            <a:spLocks xmlns:a="http://schemas.openxmlformats.org/drawingml/2006/main" noGrp="1"/>
          </p:cNvSpPr>
          <p:nvPr/>
        </p:nvSpPr>
        <p:spPr>
          <a:xfrm xmlns:a="http://schemas.openxmlformats.org/drawingml/2006/main">
            <a:off x="6648450" y="3767138"/>
            <a:ext cx="4686300" cy="1681163"/>
          </a:xfrm>
          <a:prstGeom xmlns:a="http://schemas.openxmlformats.org/drawingml/2006/main" prst="roundRect">
            <a:avLst>
              <a:gd name="adj" fmla="val 4533"/>
            </a:avLst>
          </a:prstGeom>
          <a:noFill xmlns:a="http://schemas.openxmlformats.org/drawingml/2006/main"/>
          <a:ln xmlns:a="http://schemas.openxmlformats.org/drawingml/2006/main" w="9525">
            <a:solidFill>
              <a:srgbClr val="B9CAD2"/>
            </a:solidFill>
            <a:prstDash val="solid"/>
          </a:ln>
        </p:spPr>
      </p:sp>
      <p:sp>
        <p:nvSpPr>
          <p:cNvPr id="17" name="">
            <a:extLst xmlns:a="http://schemas.openxmlformats.org/drawingml/2006/main">
              <a:ext uri="{FF2B5EF4-FFF2-40B4-BE49-F238E27FC236}">
                <a16:creationId xmlns:a16="http://schemas.microsoft.com/office/drawing/2014/main" id="{9D0DA457-0184-4D95-A861-E976FE7CCE00}"/>
              </a:ext>
            </a:extLst>
          </p:cNvPr>
          <p:cNvSpPr>
            <a:spLocks xmlns:a="http://schemas.openxmlformats.org/drawingml/2006/main" noGrp="1"/>
          </p:cNvSpPr>
          <p:nvPr/>
        </p:nvSpPr>
        <p:spPr>
          <a:xfrm xmlns:a="http://schemas.openxmlformats.org/drawingml/2006/main">
            <a:off x="6648450" y="3767138"/>
            <a:ext cx="4686300" cy="76200"/>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22541CCD-5F28-4DB9-8E12-E75085D4FA34}"/>
              </a:ext>
            </a:extLst>
          </p:cNvPr>
          <p:cNvSpPr>
            <a:spLocks xmlns:a="http://schemas.openxmlformats.org/drawingml/2006/main" noGrp="1"/>
          </p:cNvSpPr>
          <p:nvPr/>
        </p:nvSpPr>
        <p:spPr>
          <a:xfrm xmlns:a="http://schemas.openxmlformats.org/drawingml/2006/main">
            <a:off x="6800850" y="3900488"/>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200" b="1">
                <a:solidFill>
                  <a:srgbClr val="003F6B"/>
                </a:solidFill>
              </a:defRPr>
            </a:pPr>
            <a:r>
              <a:rPr sz="1200" b="1">
                <a:solidFill>
                  <a:srgbClr val="003F6B"/>
                </a:solidFill>
              </a:rPr>
              <a:t>Praxis &amp; Forschung</a:t>
            </a:r>
          </a:p>
        </p:txBody>
      </p:sp>
      <p:sp>
        <p:nvSpPr>
          <p:cNvPr id="19" name="">
            <a:extLst xmlns:a="http://schemas.openxmlformats.org/drawingml/2006/main">
              <a:ext uri="{FF2B5EF4-FFF2-40B4-BE49-F238E27FC236}">
                <a16:creationId xmlns:a16="http://schemas.microsoft.com/office/drawing/2014/main" id="{F4FF42B3-DB11-4E01-92B8-8AA8C20EC4E8}"/>
              </a:ext>
            </a:extLst>
          </p:cNvPr>
          <p:cNvSpPr>
            <a:spLocks xmlns:a="http://schemas.openxmlformats.org/drawingml/2006/main" noGrp="1"/>
          </p:cNvSpPr>
          <p:nvPr/>
        </p:nvSpPr>
        <p:spPr>
          <a:xfrm xmlns:a="http://schemas.openxmlformats.org/drawingml/2006/main">
            <a:off x="6800850" y="4338638"/>
            <a:ext cx="4381500" cy="9763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buNone/>
              <a:defRPr sz="1050">
                <a:solidFill>
                  <a:srgbClr val="15232B"/>
                </a:solidFill>
              </a:defRPr>
            </a:pPr>
            <a:r>
              <a:rPr sz="1050">
                <a:solidFill>
                  <a:srgbClr val="15232B"/>
                </a:solidFill>
              </a:rPr>
              <a:t>ÄKN-Schlichtungsstelle, BMG, MD Bund, APS, Studien zu defensiver Medizin</a:t>
            </a:r>
          </a:p>
        </p:txBody>
      </p:sp>
      <p:sp>
        <p:nvSpPr>
          <p:cNvPr id="20" name="">
            <a:extLst xmlns:a="http://schemas.openxmlformats.org/drawingml/2006/main">
              <a:ext uri="{FF2B5EF4-FFF2-40B4-BE49-F238E27FC236}">
                <a16:creationId xmlns:a16="http://schemas.microsoft.com/office/drawing/2014/main" id="{69C0C055-8C39-43C4-A5A5-C7780ECB090E}"/>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21" name="">
            <a:extLst xmlns:a="http://schemas.openxmlformats.org/drawingml/2006/main">
              <a:ext uri="{FF2B5EF4-FFF2-40B4-BE49-F238E27FC236}">
                <a16:creationId xmlns:a16="http://schemas.microsoft.com/office/drawing/2014/main" id="{0F41228B-C1A9-42D8-8A77-F1FB917A3671}"/>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Vor Semesterstart und Gerichtsbesuch prüfen: Gesetzesstand, ÄKN-Satzungen, LG-Geschäftsverteilung und organisatorische Termine.</a:t>
            </a:r>
          </a:p>
        </p:txBody>
      </p:sp>
    </p:spTree>
    <p:extLst>
      <p:ext uri="{BB962C8B-B14F-4D97-AF65-F5344CB8AC3E}">
        <p14:creationId xmlns:p14="http://schemas.microsoft.com/office/powerpoint/2010/main" val="43637646"/>
      </p:ext>
    </p:extLst>
  </p:cSld>
</p:sld>
</file>

<file path=ppt/slides/slide424.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Die Entscheidungen, die das Medizinrecht geprägt haben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LEITENTSCHEIDUNGSATLAS · STAND 26.08.2026</a:t>
            </a:r>
            <a:endParaRPr/>
          </a:p>
        </p:txBody>
      </p:sp>
      <p:sp>
        <p:nvSpPr>
          <p:cNvPr id="4" name="">
            <a:extLst xmlns:a="http://schemas.openxmlformats.org/drawingml/2006/main">
              <a:ext uri="{FF2B5EF4-FFF2-40B4-BE49-F238E27FC236}">
                <a16:creationId xmlns:a16="http://schemas.microsoft.com/office/drawing/2014/main" id="{0903D7DA-D94F-4917-A395-FD97E648DB4B}"/>
              </a:ext>
            </a:extLst>
          </p:cNvPr>
          <p:cNvSpPr>
            <a:spLocks xmlns:a="http://schemas.openxmlformats.org/drawingml/2006/main" noGrp="1"/>
          </p:cNvSpPr>
          <p:nvPr/>
        </p:nvSpPr>
        <p:spPr>
          <a:xfrm xmlns:a="http://schemas.openxmlformats.org/drawingml/2006/main">
            <a:off x="1809750" y="1962150"/>
            <a:ext cx="24288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200" b="1">
                <a:solidFill>
                  <a:srgbClr val="00B2BB"/>
                </a:solidFill>
              </a:defRPr>
            </a:pPr>
            <a:r>
              <a:rPr sz="7200" b="1">
                <a:solidFill>
                  <a:srgbClr val="00B2BB"/>
                </a:solidFill>
              </a:rPr>
              <a:t>39</a:t>
            </a:r>
          </a:p>
        </p:txBody>
      </p:sp>
      <p:sp>
        <p:nvSpPr>
          <p:cNvPr id="5" name="">
            <a:extLst xmlns:a="http://schemas.openxmlformats.org/drawingml/2006/main">
              <a:ext uri="{FF2B5EF4-FFF2-40B4-BE49-F238E27FC236}">
                <a16:creationId xmlns:a16="http://schemas.microsoft.com/office/drawing/2014/main" id="{346EBD57-8F33-40FA-B58C-0AEEC03623C0}"/>
              </a:ext>
            </a:extLst>
          </p:cNvPr>
          <p:cNvSpPr>
            <a:spLocks xmlns:a="http://schemas.openxmlformats.org/drawingml/2006/main" noGrp="1"/>
          </p:cNvSpPr>
          <p:nvPr/>
        </p:nvSpPr>
        <p:spPr>
          <a:xfrm xmlns:a="http://schemas.openxmlformats.org/drawingml/2006/main">
            <a:off x="1809750" y="3257550"/>
            <a:ext cx="2428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003F6B"/>
                </a:solidFill>
              </a:defRPr>
            </a:pPr>
            <a:r>
              <a:rPr sz="1350" b="1">
                <a:solidFill>
                  <a:srgbClr val="003F6B"/>
                </a:solidFill>
              </a:rPr>
              <a:t>kuratierte Leitentscheidungen</a:t>
            </a:r>
          </a:p>
        </p:txBody>
      </p:sp>
      <p:sp>
        <p:nvSpPr>
          <p:cNvPr id="6" name="">
            <a:extLst xmlns:a="http://schemas.openxmlformats.org/drawingml/2006/main">
              <a:ext uri="{FF2B5EF4-FFF2-40B4-BE49-F238E27FC236}">
                <a16:creationId xmlns:a16="http://schemas.microsoft.com/office/drawing/2014/main" id="{6AAF173D-1AAE-4C49-A5A9-9F18FC82349C}"/>
              </a:ext>
            </a:extLst>
          </p:cNvPr>
          <p:cNvSpPr>
            <a:spLocks xmlns:a="http://schemas.openxmlformats.org/drawingml/2006/main" noGrp="1"/>
          </p:cNvSpPr>
          <p:nvPr/>
        </p:nvSpPr>
        <p:spPr>
          <a:xfrm xmlns:a="http://schemas.openxmlformats.org/drawingml/2006/main">
            <a:off x="4714875" y="2038350"/>
            <a:ext cx="1952625" cy="1466850"/>
          </a:xfrm>
          <a:prstGeom xmlns:a="http://schemas.openxmlformats.org/drawingml/2006/main" prst="roundRect">
            <a:avLst>
              <a:gd name="adj" fmla="val 5195"/>
            </a:avLst>
          </a:prstGeom>
          <a:solidFill xmlns:a="http://schemas.openxmlformats.org/drawingml/2006/main">
            <a:srgbClr val="F3F7F9"/>
          </a:solidFill>
          <a:ln xmlns:a="http://schemas.openxmlformats.org/drawingml/2006/main" w="10478">
            <a:solidFill>
              <a:srgbClr val="B9CAD2"/>
            </a:solidFill>
            <a:prstDash val="solid"/>
          </a:ln>
        </p:spPr>
      </p:sp>
      <p:sp>
        <p:nvSpPr>
          <p:cNvPr id="7" name="">
            <a:extLst xmlns:a="http://schemas.openxmlformats.org/drawingml/2006/main">
              <a:ext uri="{FF2B5EF4-FFF2-40B4-BE49-F238E27FC236}">
                <a16:creationId xmlns:a16="http://schemas.microsoft.com/office/drawing/2014/main" id="{182F7F8E-A135-4CD4-8F98-677DC473DD0E}"/>
              </a:ext>
            </a:extLst>
          </p:cNvPr>
          <p:cNvSpPr>
            <a:spLocks xmlns:a="http://schemas.openxmlformats.org/drawingml/2006/main" noGrp="1"/>
          </p:cNvSpPr>
          <p:nvPr/>
        </p:nvSpPr>
        <p:spPr>
          <a:xfrm xmlns:a="http://schemas.openxmlformats.org/drawingml/2006/main">
            <a:off x="4829175" y="2238375"/>
            <a:ext cx="17240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400" b="1">
                <a:solidFill>
                  <a:srgbClr val="003F6B"/>
                </a:solidFill>
              </a:defRPr>
            </a:pPr>
            <a:r>
              <a:rPr sz="2400" b="1">
                <a:solidFill>
                  <a:srgbClr val="003F6B"/>
                </a:solidFill>
              </a:rPr>
              <a:t>31</a:t>
            </a:r>
          </a:p>
        </p:txBody>
      </p:sp>
      <p:sp>
        <p:nvSpPr>
          <p:cNvPr id="8" name="">
            <a:extLst xmlns:a="http://schemas.openxmlformats.org/drawingml/2006/main">
              <a:ext uri="{FF2B5EF4-FFF2-40B4-BE49-F238E27FC236}">
                <a16:creationId xmlns:a16="http://schemas.microsoft.com/office/drawing/2014/main" id="{3B1C50F7-EA4D-40A7-BAAD-A1118A6BF3A9}"/>
              </a:ext>
            </a:extLst>
          </p:cNvPr>
          <p:cNvSpPr>
            <a:spLocks xmlns:a="http://schemas.openxmlformats.org/drawingml/2006/main" noGrp="1"/>
          </p:cNvSpPr>
          <p:nvPr/>
        </p:nvSpPr>
        <p:spPr>
          <a:xfrm xmlns:a="http://schemas.openxmlformats.org/drawingml/2006/main">
            <a:off x="4829175" y="2876550"/>
            <a:ext cx="17240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667680"/>
                </a:solidFill>
              </a:defRPr>
            </a:pPr>
            <a:r>
              <a:rPr sz="1050" b="1">
                <a:solidFill>
                  <a:srgbClr val="667680"/>
                </a:solidFill>
              </a:rPr>
              <a:t>Kernbestand</a:t>
            </a:r>
          </a:p>
        </p:txBody>
      </p:sp>
      <p:sp>
        <p:nvSpPr>
          <p:cNvPr id="9" name="">
            <a:extLst xmlns:a="http://schemas.openxmlformats.org/drawingml/2006/main">
              <a:ext uri="{FF2B5EF4-FFF2-40B4-BE49-F238E27FC236}">
                <a16:creationId xmlns:a16="http://schemas.microsoft.com/office/drawing/2014/main" id="{A2057F6F-E7C2-4A46-B703-608F713DF83C}"/>
              </a:ext>
            </a:extLst>
          </p:cNvPr>
          <p:cNvSpPr>
            <a:spLocks xmlns:a="http://schemas.openxmlformats.org/drawingml/2006/main" noGrp="1"/>
          </p:cNvSpPr>
          <p:nvPr/>
        </p:nvSpPr>
        <p:spPr>
          <a:xfrm xmlns:a="http://schemas.openxmlformats.org/drawingml/2006/main">
            <a:off x="6905625" y="2038350"/>
            <a:ext cx="1952625" cy="1466850"/>
          </a:xfrm>
          <a:prstGeom xmlns:a="http://schemas.openxmlformats.org/drawingml/2006/main" prst="roundRect">
            <a:avLst>
              <a:gd name="adj" fmla="val 5195"/>
            </a:avLst>
          </a:prstGeom>
          <a:solidFill xmlns:a="http://schemas.openxmlformats.org/drawingml/2006/main">
            <a:srgbClr val="DDF5F6"/>
          </a:solidFill>
          <a:ln xmlns:a="http://schemas.openxmlformats.org/drawingml/2006/main" w="10478">
            <a:solidFill>
              <a:srgbClr val="00B2BB"/>
            </a:solidFill>
            <a:prstDash val="solid"/>
          </a:ln>
        </p:spPr>
      </p:sp>
      <p:sp>
        <p:nvSpPr>
          <p:cNvPr id="10" name="">
            <a:extLst xmlns:a="http://schemas.openxmlformats.org/drawingml/2006/main">
              <a:ext uri="{FF2B5EF4-FFF2-40B4-BE49-F238E27FC236}">
                <a16:creationId xmlns:a16="http://schemas.microsoft.com/office/drawing/2014/main" id="{703F5ABC-BB44-43B5-B2F6-1AFF257F026D}"/>
              </a:ext>
            </a:extLst>
          </p:cNvPr>
          <p:cNvSpPr>
            <a:spLocks xmlns:a="http://schemas.openxmlformats.org/drawingml/2006/main" noGrp="1"/>
          </p:cNvSpPr>
          <p:nvPr/>
        </p:nvSpPr>
        <p:spPr>
          <a:xfrm xmlns:a="http://schemas.openxmlformats.org/drawingml/2006/main">
            <a:off x="7019925" y="2238375"/>
            <a:ext cx="17240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400" b="1">
                <a:solidFill>
                  <a:srgbClr val="003F6B"/>
                </a:solidFill>
              </a:defRPr>
            </a:pPr>
            <a:r>
              <a:rPr sz="2400" b="1">
                <a:solidFill>
                  <a:srgbClr val="003F6B"/>
                </a:solidFill>
              </a:rPr>
              <a:t>26</a:t>
            </a:r>
          </a:p>
        </p:txBody>
      </p:sp>
      <p:sp>
        <p:nvSpPr>
          <p:cNvPr id="11" name="">
            <a:extLst xmlns:a="http://schemas.openxmlformats.org/drawingml/2006/main">
              <a:ext uri="{FF2B5EF4-FFF2-40B4-BE49-F238E27FC236}">
                <a16:creationId xmlns:a16="http://schemas.microsoft.com/office/drawing/2014/main" id="{3A32EBB9-FAB9-4750-826B-6C6977C0910B}"/>
              </a:ext>
            </a:extLst>
          </p:cNvPr>
          <p:cNvSpPr>
            <a:spLocks xmlns:a="http://schemas.openxmlformats.org/drawingml/2006/main" noGrp="1"/>
          </p:cNvSpPr>
          <p:nvPr/>
        </p:nvSpPr>
        <p:spPr>
          <a:xfrm xmlns:a="http://schemas.openxmlformats.org/drawingml/2006/main">
            <a:off x="7019925" y="2876550"/>
            <a:ext cx="17240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667680"/>
                </a:solidFill>
              </a:defRPr>
            </a:pPr>
            <a:r>
              <a:rPr sz="1050" b="1">
                <a:solidFill>
                  <a:srgbClr val="667680"/>
                </a:solidFill>
              </a:rPr>
              <a:t>Themenfelder</a:t>
            </a:r>
          </a:p>
        </p:txBody>
      </p:sp>
      <p:sp>
        <p:nvSpPr>
          <p:cNvPr id="12" name="">
            <a:extLst xmlns:a="http://schemas.openxmlformats.org/drawingml/2006/main">
              <a:ext uri="{FF2B5EF4-FFF2-40B4-BE49-F238E27FC236}">
                <a16:creationId xmlns:a16="http://schemas.microsoft.com/office/drawing/2014/main" id="{1CA9E5D8-3B7A-468C-BC74-664F79E6708F}"/>
              </a:ext>
            </a:extLst>
          </p:cNvPr>
          <p:cNvSpPr>
            <a:spLocks xmlns:a="http://schemas.openxmlformats.org/drawingml/2006/main" noGrp="1"/>
          </p:cNvSpPr>
          <p:nvPr/>
        </p:nvSpPr>
        <p:spPr>
          <a:xfrm xmlns:a="http://schemas.openxmlformats.org/drawingml/2006/main">
            <a:off x="9096375" y="2038350"/>
            <a:ext cx="1952625" cy="1466850"/>
          </a:xfrm>
          <a:prstGeom xmlns:a="http://schemas.openxmlformats.org/drawingml/2006/main" prst="roundRect">
            <a:avLst>
              <a:gd name="adj" fmla="val 5195"/>
            </a:avLst>
          </a:prstGeom>
          <a:solidFill xmlns:a="http://schemas.openxmlformats.org/drawingml/2006/main">
            <a:srgbClr val="F3F7F9"/>
          </a:solidFill>
          <a:ln xmlns:a="http://schemas.openxmlformats.org/drawingml/2006/main" w="10478">
            <a:solidFill>
              <a:srgbClr val="B9CAD2"/>
            </a:solidFill>
            <a:prstDash val="solid"/>
          </a:ln>
        </p:spPr>
      </p:sp>
      <p:sp>
        <p:nvSpPr>
          <p:cNvPr id="13" name="">
            <a:extLst xmlns:a="http://schemas.openxmlformats.org/drawingml/2006/main">
              <a:ext uri="{FF2B5EF4-FFF2-40B4-BE49-F238E27FC236}">
                <a16:creationId xmlns:a16="http://schemas.microsoft.com/office/drawing/2014/main" id="{25F6ED31-76E8-4470-A75E-6EC901C9463D}"/>
              </a:ext>
            </a:extLst>
          </p:cNvPr>
          <p:cNvSpPr>
            <a:spLocks xmlns:a="http://schemas.openxmlformats.org/drawingml/2006/main" noGrp="1"/>
          </p:cNvSpPr>
          <p:nvPr/>
        </p:nvSpPr>
        <p:spPr>
          <a:xfrm xmlns:a="http://schemas.openxmlformats.org/drawingml/2006/main">
            <a:off x="9210675" y="2238375"/>
            <a:ext cx="17240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400" b="1">
                <a:solidFill>
                  <a:srgbClr val="003F6B"/>
                </a:solidFill>
              </a:defRPr>
            </a:pPr>
            <a:r>
              <a:rPr sz="2400" b="1">
                <a:solidFill>
                  <a:srgbClr val="003F6B"/>
                </a:solidFill>
              </a:rPr>
              <a:t>1894–2025</a:t>
            </a:r>
          </a:p>
        </p:txBody>
      </p:sp>
      <p:sp>
        <p:nvSpPr>
          <p:cNvPr id="14" name="">
            <a:extLst xmlns:a="http://schemas.openxmlformats.org/drawingml/2006/main">
              <a:ext uri="{FF2B5EF4-FFF2-40B4-BE49-F238E27FC236}">
                <a16:creationId xmlns:a16="http://schemas.microsoft.com/office/drawing/2014/main" id="{5104F0F8-F2BE-4F40-A295-479A56B86186}"/>
              </a:ext>
            </a:extLst>
          </p:cNvPr>
          <p:cNvSpPr>
            <a:spLocks xmlns:a="http://schemas.openxmlformats.org/drawingml/2006/main" noGrp="1"/>
          </p:cNvSpPr>
          <p:nvPr/>
        </p:nvSpPr>
        <p:spPr>
          <a:xfrm xmlns:a="http://schemas.openxmlformats.org/drawingml/2006/main">
            <a:off x="9210675" y="2876550"/>
            <a:ext cx="17240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667680"/>
                </a:solidFill>
              </a:defRPr>
            </a:pPr>
            <a:r>
              <a:rPr sz="1050" b="1">
                <a:solidFill>
                  <a:srgbClr val="667680"/>
                </a:solidFill>
              </a:rPr>
              <a:t>Entwicklungslinie</a:t>
            </a:r>
          </a:p>
        </p:txBody>
      </p:sp>
      <p:sp>
        <p:nvSpPr>
          <p:cNvPr id="15" name="">
            <a:extLst xmlns:a="http://schemas.openxmlformats.org/drawingml/2006/main">
              <a:ext uri="{FF2B5EF4-FFF2-40B4-BE49-F238E27FC236}">
                <a16:creationId xmlns:a16="http://schemas.microsoft.com/office/drawing/2014/main" id="{5A36975D-9D9F-4EC4-9DF8-D3A08D407FBA}"/>
              </a:ext>
            </a:extLst>
          </p:cNvPr>
          <p:cNvSpPr>
            <a:spLocks xmlns:a="http://schemas.openxmlformats.org/drawingml/2006/main" noGrp="1"/>
          </p:cNvSpPr>
          <p:nvPr/>
        </p:nvSpPr>
        <p:spPr>
          <a:xfrm xmlns:a="http://schemas.openxmlformats.org/drawingml/2006/main">
            <a:off x="1809750" y="3905250"/>
            <a:ext cx="9525000" cy="1123950"/>
          </a:xfrm>
          <a:prstGeom xmlns:a="http://schemas.openxmlformats.org/drawingml/2006/main" prst="roundRect">
            <a:avLst>
              <a:gd name="adj" fmla="val 6780"/>
            </a:avLst>
          </a:prstGeom>
          <a:solidFill xmlns:a="http://schemas.openxmlformats.org/drawingml/2006/main">
            <a:srgbClr val="003F6B"/>
          </a:solidFill>
          <a:ln xmlns:a="http://schemas.openxmlformats.org/drawingml/2006/main" w="0">
            <a:solidFill>
              <a:srgbClr val="003F6B"/>
            </a:solidFill>
            <a:prstDash val="solid"/>
          </a:ln>
        </p:spPr>
      </p:sp>
      <p:sp>
        <p:nvSpPr>
          <p:cNvPr id="16" name="">
            <a:extLst xmlns:a="http://schemas.openxmlformats.org/drawingml/2006/main">
              <a:ext uri="{FF2B5EF4-FFF2-40B4-BE49-F238E27FC236}">
                <a16:creationId xmlns:a16="http://schemas.microsoft.com/office/drawing/2014/main" id="{4F3D6303-DA96-4AD6-AC34-A3C46A45664A}"/>
              </a:ext>
            </a:extLst>
          </p:cNvPr>
          <p:cNvSpPr>
            <a:spLocks xmlns:a="http://schemas.openxmlformats.org/drawingml/2006/main" noGrp="1"/>
          </p:cNvSpPr>
          <p:nvPr/>
        </p:nvSpPr>
        <p:spPr>
          <a:xfrm xmlns:a="http://schemas.openxmlformats.org/drawingml/2006/main">
            <a:off x="2038350" y="4114800"/>
            <a:ext cx="1381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1425" b="1">
                <a:solidFill>
                  <a:srgbClr val="FFFFFF"/>
                </a:solidFill>
              </a:defRPr>
            </a:pPr>
            <a:r>
              <a:rPr sz="1425" b="1">
                <a:solidFill>
                  <a:srgbClr val="FFFFFF"/>
                </a:solidFill>
              </a:rPr>
              <a:t>Leselogik</a:t>
            </a:r>
          </a:p>
        </p:txBody>
      </p:sp>
      <p:sp>
        <p:nvSpPr>
          <p:cNvPr id="17" name="">
            <a:extLst xmlns:a="http://schemas.openxmlformats.org/drawingml/2006/main">
              <a:ext uri="{FF2B5EF4-FFF2-40B4-BE49-F238E27FC236}">
                <a16:creationId xmlns:a16="http://schemas.microsoft.com/office/drawing/2014/main" id="{F16FEBFD-FCA2-4DE2-9753-B3C2EE7A54AD}"/>
              </a:ext>
            </a:extLst>
          </p:cNvPr>
          <p:cNvSpPr>
            <a:spLocks xmlns:a="http://schemas.openxmlformats.org/drawingml/2006/main" noGrp="1"/>
          </p:cNvSpPr>
          <p:nvPr/>
        </p:nvSpPr>
        <p:spPr>
          <a:xfrm xmlns:a="http://schemas.openxmlformats.org/drawingml/2006/main">
            <a:off x="3562350" y="4057650"/>
            <a:ext cx="7524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350">
                <a:solidFill>
                  <a:srgbClr val="FFFFFF"/>
                </a:solidFill>
              </a:defRPr>
            </a:pPr>
            <a:r>
              <a:rPr sz="1350">
                <a:solidFill>
                  <a:srgbClr val="FFFFFF"/>
                </a:solidFill>
              </a:rPr>
              <a:t>Tenor oder Leitsatzkern → tragende Aussage → heutiger Rechtsstand → konkrete Konsequenz für ärztliches Handeln und Verfahren</a:t>
            </a:r>
          </a:p>
        </p:txBody>
      </p:sp>
      <p:sp>
        <p:nvSpPr>
          <p:cNvPr id="18" name="">
            <a:extLst xmlns:a="http://schemas.openxmlformats.org/drawingml/2006/main">
              <a:ext uri="{FF2B5EF4-FFF2-40B4-BE49-F238E27FC236}">
                <a16:creationId xmlns:a16="http://schemas.microsoft.com/office/drawing/2014/main" id="{4E7A3322-5696-4EF8-987A-DD7E6C4169AE}"/>
              </a:ext>
            </a:extLst>
          </p:cNvPr>
          <p:cNvSpPr>
            <a:spLocks xmlns:a="http://schemas.openxmlformats.org/drawingml/2006/main" noGrp="1"/>
          </p:cNvSpPr>
          <p:nvPr/>
        </p:nvSpPr>
        <p:spPr>
          <a:xfrm xmlns:a="http://schemas.openxmlformats.org/drawingml/2006/main">
            <a:off x="3562350" y="4648200"/>
            <a:ext cx="7524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863">
                <a:solidFill>
                  <a:srgbClr val="BFE8EA"/>
                </a:solidFill>
              </a:defRPr>
            </a:pPr>
            <a:r>
              <a:rPr sz="863">
                <a:solidFill>
                  <a:srgbClr val="BFE8EA"/>
                </a:solidFill>
              </a:rPr>
              <a:t>Die Folien paraphrasieren tragende Aussagen knapp. Maßgeblich bleibt stets die verlinkte Originalentscheidung.</a:t>
            </a:r>
          </a:p>
        </p:txBody>
      </p:sp>
      <p:sp>
        <p:nvSpPr>
          <p:cNvPr id="19" name="">
            <a:extLst xmlns:a="http://schemas.openxmlformats.org/drawingml/2006/main">
              <a:ext uri="{FF2B5EF4-FFF2-40B4-BE49-F238E27FC236}">
                <a16:creationId xmlns:a16="http://schemas.microsoft.com/office/drawing/2014/main" id="{F9F20471-9EE5-4F99-81C9-02CE58191EEC}"/>
              </a:ext>
            </a:extLst>
          </p:cNvPr>
          <p:cNvSpPr>
            <a:spLocks xmlns:a="http://schemas.openxmlformats.org/drawingml/2006/main" noGrp="1"/>
          </p:cNvSpPr>
          <p:nvPr/>
        </p:nvSpPr>
        <p:spPr>
          <a:xfrm xmlns:a="http://schemas.openxmlformats.org/drawingml/2006/main">
            <a:off x="1809750" y="5314950"/>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675">
                <a:solidFill>
                  <a:srgbClr val="667680"/>
                </a:solidFill>
              </a:defRPr>
            </a:pPr>
            <a:r>
              <a:rPr sz="675">
                <a:solidFill>
                  <a:srgbClr val="667680"/>
                </a:solidFill>
              </a:rPr>
              <a:t>Originalentscheidungen: BVerfG, BGH, BVerwG, EuGH, Reichsgericht und AG; Volltext-URLs auf den folgenden Folien.</a:t>
            </a:r>
          </a:p>
        </p:txBody>
      </p:sp>
    </p:spTree>
    <p:extLst>
      <p:ext uri="{BB962C8B-B14F-4D97-AF65-F5344CB8AC3E}">
        <p14:creationId xmlns:p14="http://schemas.microsoft.com/office/powerpoint/2010/main" val="43637646"/>
      </p:ext>
    </p:extLst>
  </p:cSld>
</p:sld>
</file>

<file path=ppt/slides/slide425.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Nicht jedes Wort eines Urteils trägt die Rechtsfolge</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METHODENKOMPETENZ · ENTSCHEIDUNGEN RICHTIG LESEN</a:t>
            </a:r>
            <a:endParaRPr/>
          </a:p>
        </p:txBody>
      </p:sp>
      <p:sp>
        <p:nvSpPr>
          <p:cNvPr id="4" name="">
            <a:extLst xmlns:a="http://schemas.openxmlformats.org/drawingml/2006/main">
              <a:ext uri="{FF2B5EF4-FFF2-40B4-BE49-F238E27FC236}">
                <a16:creationId xmlns:a16="http://schemas.microsoft.com/office/drawing/2014/main" id="{607CADB5-C735-42E3-BD73-9D22633F82F1}"/>
              </a:ext>
            </a:extLst>
          </p:cNvPr>
          <p:cNvSpPr>
            <a:spLocks xmlns:a="http://schemas.openxmlformats.org/drawingml/2006/main" noGrp="1"/>
          </p:cNvSpPr>
          <p:nvPr/>
        </p:nvSpPr>
        <p:spPr>
          <a:xfrm xmlns:a="http://schemas.openxmlformats.org/drawingml/2006/main">
            <a:off x="1809750" y="2057400"/>
            <a:ext cx="2247900" cy="2762250"/>
          </a:xfrm>
          <a:prstGeom xmlns:a="http://schemas.openxmlformats.org/drawingml/2006/main" prst="roundRect">
            <a:avLst>
              <a:gd name="adj" fmla="val 3390"/>
            </a:avLst>
          </a:prstGeom>
          <a:solidFill xmlns:a="http://schemas.openxmlformats.org/drawingml/2006/main">
            <a:srgbClr val="F3F7F9"/>
          </a:solidFill>
          <a:ln xmlns:a="http://schemas.openxmlformats.org/drawingml/2006/main" w="10478">
            <a:solidFill>
              <a:srgbClr val="003F6B"/>
            </a:solidFill>
            <a:prstDash val="solid"/>
          </a:ln>
        </p:spPr>
      </p:sp>
      <p:sp>
        <p:nvSpPr>
          <p:cNvPr id="5" name="">
            <a:extLst xmlns:a="http://schemas.openxmlformats.org/drawingml/2006/main">
              <a:ext uri="{FF2B5EF4-FFF2-40B4-BE49-F238E27FC236}">
                <a16:creationId xmlns:a16="http://schemas.microsoft.com/office/drawing/2014/main" id="{FC55830E-138B-4E1C-A714-74C1977A6D82}"/>
              </a:ext>
            </a:extLst>
          </p:cNvPr>
          <p:cNvSpPr>
            <a:spLocks xmlns:a="http://schemas.openxmlformats.org/drawingml/2006/main" noGrp="1"/>
          </p:cNvSpPr>
          <p:nvPr/>
        </p:nvSpPr>
        <p:spPr>
          <a:xfrm xmlns:a="http://schemas.openxmlformats.org/drawingml/2006/main">
            <a:off x="1981200" y="22288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2025" b="1">
                <a:solidFill>
                  <a:srgbClr val="003F6B"/>
                </a:solidFill>
              </a:defRPr>
            </a:pPr>
            <a:r>
              <a:rPr sz="2025" b="1">
                <a:solidFill>
                  <a:srgbClr val="003F6B"/>
                </a:solidFill>
              </a:rPr>
              <a:t>01</a:t>
            </a:r>
          </a:p>
        </p:txBody>
      </p:sp>
      <p:sp>
        <p:nvSpPr>
          <p:cNvPr id="6" name="">
            <a:extLst xmlns:a="http://schemas.openxmlformats.org/drawingml/2006/main">
              <a:ext uri="{FF2B5EF4-FFF2-40B4-BE49-F238E27FC236}">
                <a16:creationId xmlns:a16="http://schemas.microsoft.com/office/drawing/2014/main" id="{2E843961-193B-4E8B-A608-A309E5B26FDA}"/>
              </a:ext>
            </a:extLst>
          </p:cNvPr>
          <p:cNvSpPr>
            <a:spLocks xmlns:a="http://schemas.openxmlformats.org/drawingml/2006/main" noGrp="1"/>
          </p:cNvSpPr>
          <p:nvPr/>
        </p:nvSpPr>
        <p:spPr>
          <a:xfrm xmlns:a="http://schemas.openxmlformats.org/drawingml/2006/main">
            <a:off x="1981200" y="2800350"/>
            <a:ext cx="190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1575" b="1">
                <a:solidFill>
                  <a:srgbClr val="003F6B"/>
                </a:solidFill>
              </a:defRPr>
            </a:pPr>
            <a:r>
              <a:rPr sz="1575" b="1">
                <a:solidFill>
                  <a:srgbClr val="003F6B"/>
                </a:solidFill>
              </a:rPr>
              <a:t>Tenor</a:t>
            </a:r>
          </a:p>
        </p:txBody>
      </p:sp>
      <p:sp>
        <p:nvSpPr>
          <p:cNvPr id="7" name="">
            <a:extLst xmlns:a="http://schemas.openxmlformats.org/drawingml/2006/main">
              <a:ext uri="{FF2B5EF4-FFF2-40B4-BE49-F238E27FC236}">
                <a16:creationId xmlns:a16="http://schemas.microsoft.com/office/drawing/2014/main" id="{F011C320-865F-4809-98B6-263222C8E5A0}"/>
              </a:ext>
            </a:extLst>
          </p:cNvPr>
          <p:cNvSpPr>
            <a:spLocks xmlns:a="http://schemas.openxmlformats.org/drawingml/2006/main" noGrp="1"/>
          </p:cNvSpPr>
          <p:nvPr/>
        </p:nvSpPr>
        <p:spPr>
          <a:xfrm xmlns:a="http://schemas.openxmlformats.org/drawingml/2006/main">
            <a:off x="1981200" y="3343275"/>
            <a:ext cx="1905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065">
                <a:solidFill>
                  <a:srgbClr val="15232B"/>
                </a:solidFill>
              </a:defRPr>
            </a:pPr>
            <a:r>
              <a:rPr sz="1065">
                <a:solidFill>
                  <a:srgbClr val="15232B"/>
                </a:solidFill>
              </a:rPr>
              <a:t>Die verbindliche Entscheidungsformel: Was hat das Gericht angeordnet, aufgehoben oder festgestellt?</a:t>
            </a:r>
          </a:p>
        </p:txBody>
      </p:sp>
      <p:sp>
        <p:nvSpPr>
          <p:cNvPr id="8" name="">
            <a:extLst xmlns:a="http://schemas.openxmlformats.org/drawingml/2006/main">
              <a:ext uri="{FF2B5EF4-FFF2-40B4-BE49-F238E27FC236}">
                <a16:creationId xmlns:a16="http://schemas.microsoft.com/office/drawing/2014/main" id="{713432AC-3807-4A97-8C77-45F5A105FA8B}"/>
              </a:ext>
            </a:extLst>
          </p:cNvPr>
          <p:cNvSpPr>
            <a:spLocks xmlns:a="http://schemas.openxmlformats.org/drawingml/2006/main" noGrp="1"/>
          </p:cNvSpPr>
          <p:nvPr/>
        </p:nvSpPr>
        <p:spPr>
          <a:xfrm xmlns:a="http://schemas.openxmlformats.org/drawingml/2006/main">
            <a:off x="4229100" y="2057400"/>
            <a:ext cx="2247900" cy="2762250"/>
          </a:xfrm>
          <a:prstGeom xmlns:a="http://schemas.openxmlformats.org/drawingml/2006/main" prst="roundRect">
            <a:avLst>
              <a:gd name="adj" fmla="val 3390"/>
            </a:avLst>
          </a:prstGeom>
          <a:solidFill xmlns:a="http://schemas.openxmlformats.org/drawingml/2006/main">
            <a:srgbClr val="DDF5F6"/>
          </a:solidFill>
          <a:ln xmlns:a="http://schemas.openxmlformats.org/drawingml/2006/main" w="10478">
            <a:solidFill>
              <a:srgbClr val="00B2BB"/>
            </a:solidFill>
            <a:prstDash val="solid"/>
          </a:ln>
        </p:spPr>
      </p:sp>
      <p:sp>
        <p:nvSpPr>
          <p:cNvPr id="9" name="">
            <a:extLst xmlns:a="http://schemas.openxmlformats.org/drawingml/2006/main">
              <a:ext uri="{FF2B5EF4-FFF2-40B4-BE49-F238E27FC236}">
                <a16:creationId xmlns:a16="http://schemas.microsoft.com/office/drawing/2014/main" id="{828CBBE6-8A35-45C2-89E4-808BDAE43190}"/>
              </a:ext>
            </a:extLst>
          </p:cNvPr>
          <p:cNvSpPr>
            <a:spLocks xmlns:a="http://schemas.openxmlformats.org/drawingml/2006/main" noGrp="1"/>
          </p:cNvSpPr>
          <p:nvPr/>
        </p:nvSpPr>
        <p:spPr>
          <a:xfrm xmlns:a="http://schemas.openxmlformats.org/drawingml/2006/main">
            <a:off x="4400550" y="22288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2025" b="1">
                <a:solidFill>
                  <a:srgbClr val="00B2BB"/>
                </a:solidFill>
              </a:defRPr>
            </a:pPr>
            <a:r>
              <a:rPr sz="2025" b="1">
                <a:solidFill>
                  <a:srgbClr val="00B2BB"/>
                </a:solidFill>
              </a:rPr>
              <a:t>02</a:t>
            </a:r>
          </a:p>
        </p:txBody>
      </p:sp>
      <p:sp>
        <p:nvSpPr>
          <p:cNvPr id="10" name="">
            <a:extLst xmlns:a="http://schemas.openxmlformats.org/drawingml/2006/main">
              <a:ext uri="{FF2B5EF4-FFF2-40B4-BE49-F238E27FC236}">
                <a16:creationId xmlns:a16="http://schemas.microsoft.com/office/drawing/2014/main" id="{9AA7D389-89B8-439D-B850-EE02C0836E74}"/>
              </a:ext>
            </a:extLst>
          </p:cNvPr>
          <p:cNvSpPr>
            <a:spLocks xmlns:a="http://schemas.openxmlformats.org/drawingml/2006/main" noGrp="1"/>
          </p:cNvSpPr>
          <p:nvPr/>
        </p:nvSpPr>
        <p:spPr>
          <a:xfrm xmlns:a="http://schemas.openxmlformats.org/drawingml/2006/main">
            <a:off x="4400550" y="2800350"/>
            <a:ext cx="190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1575" b="1">
                <a:solidFill>
                  <a:srgbClr val="003F6B"/>
                </a:solidFill>
              </a:defRPr>
            </a:pPr>
            <a:r>
              <a:rPr sz="1575" b="1">
                <a:solidFill>
                  <a:srgbClr val="003F6B"/>
                </a:solidFill>
              </a:rPr>
              <a:t>Leitsatz</a:t>
            </a:r>
          </a:p>
        </p:txBody>
      </p:sp>
      <p:sp>
        <p:nvSpPr>
          <p:cNvPr id="11" name="">
            <a:extLst xmlns:a="http://schemas.openxmlformats.org/drawingml/2006/main">
              <a:ext uri="{FF2B5EF4-FFF2-40B4-BE49-F238E27FC236}">
                <a16:creationId xmlns:a16="http://schemas.microsoft.com/office/drawing/2014/main" id="{635EE8E1-1B37-4574-8BC9-8C45DFDED05D}"/>
              </a:ext>
            </a:extLst>
          </p:cNvPr>
          <p:cNvSpPr>
            <a:spLocks xmlns:a="http://schemas.openxmlformats.org/drawingml/2006/main" noGrp="1"/>
          </p:cNvSpPr>
          <p:nvPr/>
        </p:nvSpPr>
        <p:spPr>
          <a:xfrm xmlns:a="http://schemas.openxmlformats.org/drawingml/2006/main">
            <a:off x="4400550" y="3343275"/>
            <a:ext cx="1905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065">
                <a:solidFill>
                  <a:srgbClr val="15232B"/>
                </a:solidFill>
              </a:defRPr>
            </a:pPr>
            <a:r>
              <a:rPr sz="1065">
                <a:solidFill>
                  <a:srgbClr val="15232B"/>
                </a:solidFill>
              </a:rPr>
              <a:t>Vom Gericht oder Verlag verdichteter Rechtssatz. Nützlich zur Orientierung, aber nicht der vollständige Prüfungsmaßstab.</a:t>
            </a:r>
          </a:p>
        </p:txBody>
      </p:sp>
      <p:sp>
        <p:nvSpPr>
          <p:cNvPr id="12" name="">
            <a:extLst xmlns:a="http://schemas.openxmlformats.org/drawingml/2006/main">
              <a:ext uri="{FF2B5EF4-FFF2-40B4-BE49-F238E27FC236}">
                <a16:creationId xmlns:a16="http://schemas.microsoft.com/office/drawing/2014/main" id="{6937E2B0-21F1-4102-9E81-8A9D34F1CE4B}"/>
              </a:ext>
            </a:extLst>
          </p:cNvPr>
          <p:cNvSpPr>
            <a:spLocks xmlns:a="http://schemas.openxmlformats.org/drawingml/2006/main" noGrp="1"/>
          </p:cNvSpPr>
          <p:nvPr/>
        </p:nvSpPr>
        <p:spPr>
          <a:xfrm xmlns:a="http://schemas.openxmlformats.org/drawingml/2006/main">
            <a:off x="6648450" y="2057400"/>
            <a:ext cx="2247900" cy="2762250"/>
          </a:xfrm>
          <a:prstGeom xmlns:a="http://schemas.openxmlformats.org/drawingml/2006/main" prst="roundRect">
            <a:avLst>
              <a:gd name="adj" fmla="val 3390"/>
            </a:avLst>
          </a:prstGeom>
          <a:solidFill xmlns:a="http://schemas.openxmlformats.org/drawingml/2006/main">
            <a:srgbClr val="F3F7F9"/>
          </a:solidFill>
          <a:ln xmlns:a="http://schemas.openxmlformats.org/drawingml/2006/main" w="10478">
            <a:solidFill>
              <a:srgbClr val="003F6B"/>
            </a:solidFill>
            <a:prstDash val="solid"/>
          </a:ln>
        </p:spPr>
      </p:sp>
      <p:sp>
        <p:nvSpPr>
          <p:cNvPr id="13" name="">
            <a:extLst xmlns:a="http://schemas.openxmlformats.org/drawingml/2006/main">
              <a:ext uri="{FF2B5EF4-FFF2-40B4-BE49-F238E27FC236}">
                <a16:creationId xmlns:a16="http://schemas.microsoft.com/office/drawing/2014/main" id="{37CE0352-E9C6-4B17-8974-6DB6A47635BF}"/>
              </a:ext>
            </a:extLst>
          </p:cNvPr>
          <p:cNvSpPr>
            <a:spLocks xmlns:a="http://schemas.openxmlformats.org/drawingml/2006/main" noGrp="1"/>
          </p:cNvSpPr>
          <p:nvPr/>
        </p:nvSpPr>
        <p:spPr>
          <a:xfrm xmlns:a="http://schemas.openxmlformats.org/drawingml/2006/main">
            <a:off x="6819900" y="22288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2025" b="1">
                <a:solidFill>
                  <a:srgbClr val="003F6B"/>
                </a:solidFill>
              </a:defRPr>
            </a:pPr>
            <a:r>
              <a:rPr sz="2025" b="1">
                <a:solidFill>
                  <a:srgbClr val="003F6B"/>
                </a:solidFill>
              </a:rPr>
              <a:t>03</a:t>
            </a:r>
          </a:p>
        </p:txBody>
      </p:sp>
      <p:sp>
        <p:nvSpPr>
          <p:cNvPr id="14" name="">
            <a:extLst xmlns:a="http://schemas.openxmlformats.org/drawingml/2006/main">
              <a:ext uri="{FF2B5EF4-FFF2-40B4-BE49-F238E27FC236}">
                <a16:creationId xmlns:a16="http://schemas.microsoft.com/office/drawing/2014/main" id="{C6544B06-9ED9-44B1-9079-CE2259E16E1E}"/>
              </a:ext>
            </a:extLst>
          </p:cNvPr>
          <p:cNvSpPr>
            <a:spLocks xmlns:a="http://schemas.openxmlformats.org/drawingml/2006/main" noGrp="1"/>
          </p:cNvSpPr>
          <p:nvPr/>
        </p:nvSpPr>
        <p:spPr>
          <a:xfrm xmlns:a="http://schemas.openxmlformats.org/drawingml/2006/main">
            <a:off x="6819900" y="2800350"/>
            <a:ext cx="190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1575" b="1">
                <a:solidFill>
                  <a:srgbClr val="003F6B"/>
                </a:solidFill>
              </a:defRPr>
            </a:pPr>
            <a:r>
              <a:rPr sz="1575" b="1">
                <a:solidFill>
                  <a:srgbClr val="003F6B"/>
                </a:solidFill>
              </a:rPr>
              <a:t>Tragende Gründe</a:t>
            </a:r>
          </a:p>
        </p:txBody>
      </p:sp>
      <p:sp>
        <p:nvSpPr>
          <p:cNvPr id="15" name="">
            <a:extLst xmlns:a="http://schemas.openxmlformats.org/drawingml/2006/main">
              <a:ext uri="{FF2B5EF4-FFF2-40B4-BE49-F238E27FC236}">
                <a16:creationId xmlns:a16="http://schemas.microsoft.com/office/drawing/2014/main" id="{1E653AAB-42B0-4278-B7BF-C1AF58D62001}"/>
              </a:ext>
            </a:extLst>
          </p:cNvPr>
          <p:cNvSpPr>
            <a:spLocks xmlns:a="http://schemas.openxmlformats.org/drawingml/2006/main" noGrp="1"/>
          </p:cNvSpPr>
          <p:nvPr/>
        </p:nvSpPr>
        <p:spPr>
          <a:xfrm xmlns:a="http://schemas.openxmlformats.org/drawingml/2006/main">
            <a:off x="6819900" y="3343275"/>
            <a:ext cx="1905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065">
                <a:solidFill>
                  <a:srgbClr val="15232B"/>
                </a:solidFill>
              </a:defRPr>
            </a:pPr>
            <a:r>
              <a:rPr sz="1065">
                <a:solidFill>
                  <a:srgbClr val="15232B"/>
                </a:solidFill>
              </a:rPr>
              <a:t>Die rechtlichen Erwägungen, ohne die der Tenor nicht bestehen könnte. Hier liegt die übertragbare Regel.</a:t>
            </a:r>
          </a:p>
        </p:txBody>
      </p:sp>
      <p:sp>
        <p:nvSpPr>
          <p:cNvPr id="16" name="">
            <a:extLst xmlns:a="http://schemas.openxmlformats.org/drawingml/2006/main">
              <a:ext uri="{FF2B5EF4-FFF2-40B4-BE49-F238E27FC236}">
                <a16:creationId xmlns:a16="http://schemas.microsoft.com/office/drawing/2014/main" id="{A5CA5875-F5AC-4976-B171-74799E3BD093}"/>
              </a:ext>
            </a:extLst>
          </p:cNvPr>
          <p:cNvSpPr>
            <a:spLocks xmlns:a="http://schemas.openxmlformats.org/drawingml/2006/main" noGrp="1"/>
          </p:cNvSpPr>
          <p:nvPr/>
        </p:nvSpPr>
        <p:spPr>
          <a:xfrm xmlns:a="http://schemas.openxmlformats.org/drawingml/2006/main">
            <a:off x="9067800" y="2057400"/>
            <a:ext cx="2247900" cy="2762250"/>
          </a:xfrm>
          <a:prstGeom xmlns:a="http://schemas.openxmlformats.org/drawingml/2006/main" prst="roundRect">
            <a:avLst>
              <a:gd name="adj" fmla="val 3390"/>
            </a:avLst>
          </a:prstGeom>
          <a:solidFill xmlns:a="http://schemas.openxmlformats.org/drawingml/2006/main">
            <a:srgbClr val="DDF5F6"/>
          </a:solidFill>
          <a:ln xmlns:a="http://schemas.openxmlformats.org/drawingml/2006/main" w="10478">
            <a:solidFill>
              <a:srgbClr val="00B2BB"/>
            </a:solidFill>
            <a:prstDash val="solid"/>
          </a:ln>
        </p:spPr>
      </p:sp>
      <p:sp>
        <p:nvSpPr>
          <p:cNvPr id="17" name="">
            <a:extLst xmlns:a="http://schemas.openxmlformats.org/drawingml/2006/main">
              <a:ext uri="{FF2B5EF4-FFF2-40B4-BE49-F238E27FC236}">
                <a16:creationId xmlns:a16="http://schemas.microsoft.com/office/drawing/2014/main" id="{8BA76690-4030-4F72-8694-88E0ABEF3B12}"/>
              </a:ext>
            </a:extLst>
          </p:cNvPr>
          <p:cNvSpPr>
            <a:spLocks xmlns:a="http://schemas.openxmlformats.org/drawingml/2006/main" noGrp="1"/>
          </p:cNvSpPr>
          <p:nvPr/>
        </p:nvSpPr>
        <p:spPr>
          <a:xfrm xmlns:a="http://schemas.openxmlformats.org/drawingml/2006/main">
            <a:off x="9239250" y="22288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2025" b="1">
                <a:solidFill>
                  <a:srgbClr val="00B2BB"/>
                </a:solidFill>
              </a:defRPr>
            </a:pPr>
            <a:r>
              <a:rPr sz="2025" b="1">
                <a:solidFill>
                  <a:srgbClr val="00B2BB"/>
                </a:solidFill>
              </a:rPr>
              <a:t>04</a:t>
            </a:r>
          </a:p>
        </p:txBody>
      </p:sp>
      <p:sp>
        <p:nvSpPr>
          <p:cNvPr id="18" name="">
            <a:extLst xmlns:a="http://schemas.openxmlformats.org/drawingml/2006/main">
              <a:ext uri="{FF2B5EF4-FFF2-40B4-BE49-F238E27FC236}">
                <a16:creationId xmlns:a16="http://schemas.microsoft.com/office/drawing/2014/main" id="{2AA76239-865C-4C6B-A0E8-B2795366B11E}"/>
              </a:ext>
            </a:extLst>
          </p:cNvPr>
          <p:cNvSpPr>
            <a:spLocks xmlns:a="http://schemas.openxmlformats.org/drawingml/2006/main" noGrp="1"/>
          </p:cNvSpPr>
          <p:nvPr/>
        </p:nvSpPr>
        <p:spPr>
          <a:xfrm xmlns:a="http://schemas.openxmlformats.org/drawingml/2006/main">
            <a:off x="9239250" y="2800350"/>
            <a:ext cx="190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1575" b="1">
                <a:solidFill>
                  <a:srgbClr val="003F6B"/>
                </a:solidFill>
              </a:defRPr>
            </a:pPr>
            <a:r>
              <a:rPr sz="1575" b="1">
                <a:solidFill>
                  <a:srgbClr val="003F6B"/>
                </a:solidFill>
              </a:rPr>
              <a:t>Praxisprüfung</a:t>
            </a:r>
          </a:p>
        </p:txBody>
      </p:sp>
      <p:sp>
        <p:nvSpPr>
          <p:cNvPr id="19" name="">
            <a:extLst xmlns:a="http://schemas.openxmlformats.org/drawingml/2006/main">
              <a:ext uri="{FF2B5EF4-FFF2-40B4-BE49-F238E27FC236}">
                <a16:creationId xmlns:a16="http://schemas.microsoft.com/office/drawing/2014/main" id="{D4CE9285-CEC6-496A-ACA4-6D9AAE954A6F}"/>
              </a:ext>
            </a:extLst>
          </p:cNvPr>
          <p:cNvSpPr>
            <a:spLocks xmlns:a="http://schemas.openxmlformats.org/drawingml/2006/main" noGrp="1"/>
          </p:cNvSpPr>
          <p:nvPr/>
        </p:nvSpPr>
        <p:spPr>
          <a:xfrm xmlns:a="http://schemas.openxmlformats.org/drawingml/2006/main">
            <a:off x="9239250" y="3343275"/>
            <a:ext cx="1905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065">
                <a:solidFill>
                  <a:srgbClr val="15232B"/>
                </a:solidFill>
              </a:defRPr>
            </a:pPr>
            <a:r>
              <a:rPr sz="1065">
                <a:solidFill>
                  <a:srgbClr val="15232B"/>
                </a:solidFill>
              </a:rPr>
              <a:t>Sachverhalt vergleichen, Rechtsstand prüfen, Normen aktualisieren und erst dann Konsequenzen für Dokumentation und Verfahren ziehen.</a:t>
            </a:r>
          </a:p>
        </p:txBody>
      </p:sp>
      <p:sp>
        <p:nvSpPr>
          <p:cNvPr id="20" name="">
            <a:extLst xmlns:a="http://schemas.openxmlformats.org/drawingml/2006/main">
              <a:ext uri="{FF2B5EF4-FFF2-40B4-BE49-F238E27FC236}">
                <a16:creationId xmlns:a16="http://schemas.microsoft.com/office/drawing/2014/main" id="{D836CE25-6A68-46A5-9AAE-5BE4C005519F}"/>
              </a:ext>
            </a:extLst>
          </p:cNvPr>
          <p:cNvSpPr>
            <a:spLocks xmlns:a="http://schemas.openxmlformats.org/drawingml/2006/main" noGrp="1"/>
          </p:cNvSpPr>
          <p:nvPr/>
        </p:nvSpPr>
        <p:spPr>
          <a:xfrm xmlns:a="http://schemas.openxmlformats.org/drawingml/2006/main">
            <a:off x="1809750" y="5314950"/>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675">
                <a:solidFill>
                  <a:srgbClr val="667680"/>
                </a:solidFill>
              </a:defRPr>
            </a:pPr>
            <a:r>
              <a:rPr sz="675">
                <a:solidFill>
                  <a:srgbClr val="667680"/>
                </a:solidFill>
              </a:rPr>
              <a:t>Methodischer Hinweis: Fundstelle, Entscheidungsdatum und Rechtsstand stets mit der Originalquelle abgleichen.</a:t>
            </a:r>
          </a:p>
        </p:txBody>
      </p:sp>
    </p:spTree>
    <p:extLst>
      <p:ext uri="{BB962C8B-B14F-4D97-AF65-F5344CB8AC3E}">
        <p14:creationId xmlns:p14="http://schemas.microsoft.com/office/powerpoint/2010/main" val="43637646"/>
      </p:ext>
    </p:extLst>
  </p:cSld>
</p:sld>
</file>

<file path=ppt/slides/slide426.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Vom Heileingriff zur verfahrensfesten Selbstbestimmung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ENTWICKLUNGSLINIE · 1894 BIS 2025</a:t>
            </a:r>
            <a:endParaRPr/>
          </a:p>
        </p:txBody>
      </p:sp>
      <p:sp>
        <p:nvSpPr>
          <p:cNvPr id="4" name="">
            <a:extLst xmlns:a="http://schemas.openxmlformats.org/drawingml/2006/main">
              <a:ext uri="{FF2B5EF4-FFF2-40B4-BE49-F238E27FC236}">
                <a16:creationId xmlns:a16="http://schemas.microsoft.com/office/drawing/2014/main" id="{7D5CD26E-9523-451E-A2D0-6E323B99E115}"/>
              </a:ext>
            </a:extLst>
          </p:cNvPr>
          <p:cNvSpPr>
            <a:spLocks xmlns:a="http://schemas.openxmlformats.org/drawingml/2006/main" noGrp="1"/>
          </p:cNvSpPr>
          <p:nvPr/>
        </p:nvSpPr>
        <p:spPr>
          <a:xfrm xmlns:a="http://schemas.openxmlformats.org/drawingml/2006/main">
            <a:off x="2209800" y="3143250"/>
            <a:ext cx="8724900" cy="76200"/>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5" name="">
            <a:extLst xmlns:a="http://schemas.openxmlformats.org/drawingml/2006/main">
              <a:ext uri="{FF2B5EF4-FFF2-40B4-BE49-F238E27FC236}">
                <a16:creationId xmlns:a16="http://schemas.microsoft.com/office/drawing/2014/main" id="{69A6C77A-7D18-4366-A02F-196C0A6B6E04}"/>
              </a:ext>
            </a:extLst>
          </p:cNvPr>
          <p:cNvSpPr>
            <a:spLocks xmlns:a="http://schemas.openxmlformats.org/drawingml/2006/main" noGrp="1"/>
          </p:cNvSpPr>
          <p:nvPr/>
        </p:nvSpPr>
        <p:spPr>
          <a:xfrm xmlns:a="http://schemas.openxmlformats.org/drawingml/2006/main">
            <a:off x="2152650" y="2981325"/>
            <a:ext cx="400050" cy="40005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6" name="">
            <a:extLst xmlns:a="http://schemas.openxmlformats.org/drawingml/2006/main">
              <a:ext uri="{FF2B5EF4-FFF2-40B4-BE49-F238E27FC236}">
                <a16:creationId xmlns:a16="http://schemas.microsoft.com/office/drawing/2014/main" id="{DE606D15-AF53-48F9-9F58-119557FF18C7}"/>
              </a:ext>
            </a:extLst>
          </p:cNvPr>
          <p:cNvSpPr>
            <a:spLocks xmlns:a="http://schemas.openxmlformats.org/drawingml/2006/main" noGrp="1"/>
          </p:cNvSpPr>
          <p:nvPr/>
        </p:nvSpPr>
        <p:spPr>
          <a:xfrm xmlns:a="http://schemas.openxmlformats.org/drawingml/2006/main">
            <a:off x="1809750" y="2057400"/>
            <a:ext cx="1095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003F6B"/>
                </a:solidFill>
              </a:defRPr>
            </a:pPr>
            <a:r>
              <a:rPr sz="1125" b="1">
                <a:solidFill>
                  <a:srgbClr val="003F6B"/>
                </a:solidFill>
              </a:rPr>
              <a:t>1894</a:t>
            </a:r>
          </a:p>
        </p:txBody>
      </p:sp>
      <p:sp>
        <p:nvSpPr>
          <p:cNvPr id="7" name="">
            <a:extLst xmlns:a="http://schemas.openxmlformats.org/drawingml/2006/main">
              <a:ext uri="{FF2B5EF4-FFF2-40B4-BE49-F238E27FC236}">
                <a16:creationId xmlns:a16="http://schemas.microsoft.com/office/drawing/2014/main" id="{6BAE9C49-8B16-4293-B7B1-584C1B4F3391}"/>
              </a:ext>
            </a:extLst>
          </p:cNvPr>
          <p:cNvSpPr>
            <a:spLocks xmlns:a="http://schemas.openxmlformats.org/drawingml/2006/main" noGrp="1"/>
          </p:cNvSpPr>
          <p:nvPr/>
        </p:nvSpPr>
        <p:spPr>
          <a:xfrm xmlns:a="http://schemas.openxmlformats.org/drawingml/2006/main">
            <a:off x="1809750" y="2362200"/>
            <a:ext cx="1095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38" b="1">
                <a:solidFill>
                  <a:srgbClr val="15232B"/>
                </a:solidFill>
              </a:defRPr>
            </a:pPr>
            <a:r>
              <a:rPr sz="938" b="1">
                <a:solidFill>
                  <a:srgbClr val="15232B"/>
                </a:solidFill>
              </a:rPr>
              <a:t>Heileingriff</a:t>
            </a:r>
          </a:p>
        </p:txBody>
      </p:sp>
      <p:sp>
        <p:nvSpPr>
          <p:cNvPr id="8" name="">
            <a:extLst xmlns:a="http://schemas.openxmlformats.org/drawingml/2006/main">
              <a:ext uri="{FF2B5EF4-FFF2-40B4-BE49-F238E27FC236}">
                <a16:creationId xmlns:a16="http://schemas.microsoft.com/office/drawing/2014/main" id="{A14D8B88-B661-472F-8F07-5C88932D160D}"/>
              </a:ext>
            </a:extLst>
          </p:cNvPr>
          <p:cNvSpPr>
            <a:spLocks xmlns:a="http://schemas.openxmlformats.org/drawingml/2006/main" noGrp="1"/>
          </p:cNvSpPr>
          <p:nvPr/>
        </p:nvSpPr>
        <p:spPr>
          <a:xfrm xmlns:a="http://schemas.openxmlformats.org/drawingml/2006/main">
            <a:off x="1809750" y="2781300"/>
            <a:ext cx="10953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88">
                <a:solidFill>
                  <a:srgbClr val="667680"/>
                </a:solidFill>
              </a:defRPr>
            </a:pPr>
            <a:r>
              <a:rPr sz="788">
                <a:solidFill>
                  <a:srgbClr val="667680"/>
                </a:solidFill>
              </a:rPr>
              <a:t>Fußamputationsfall</a:t>
            </a:r>
          </a:p>
        </p:txBody>
      </p:sp>
      <p:sp>
        <p:nvSpPr>
          <p:cNvPr id="9" name="">
            <a:extLst xmlns:a="http://schemas.openxmlformats.org/drawingml/2006/main">
              <a:ext uri="{FF2B5EF4-FFF2-40B4-BE49-F238E27FC236}">
                <a16:creationId xmlns:a16="http://schemas.microsoft.com/office/drawing/2014/main" id="{083D0F35-46EA-42E0-9DE0-79D917D84608}"/>
              </a:ext>
            </a:extLst>
          </p:cNvPr>
          <p:cNvSpPr>
            <a:spLocks xmlns:a="http://schemas.openxmlformats.org/drawingml/2006/main" noGrp="1"/>
          </p:cNvSpPr>
          <p:nvPr/>
        </p:nvSpPr>
        <p:spPr>
          <a:xfrm xmlns:a="http://schemas.openxmlformats.org/drawingml/2006/main">
            <a:off x="3338513" y="2981325"/>
            <a:ext cx="400050" cy="400050"/>
          </a:xfrm>
          <a:prstGeom xmlns:a="http://schemas.openxmlformats.org/drawingml/2006/main" prst="ellipse">
            <a:avLst/>
          </a:prstGeom>
          <a:solidFill xmlns:a="http://schemas.openxmlformats.org/drawingml/2006/main">
            <a:srgbClr val="003F6B"/>
          </a:solidFill>
          <a:ln xmlns:a="http://schemas.openxmlformats.org/drawingml/2006/main" w="19050">
            <a:solidFill>
              <a:srgbClr val="FFFFFF"/>
            </a:solidFill>
            <a:prstDash val="solid"/>
          </a:ln>
        </p:spPr>
      </p:sp>
      <p:sp>
        <p:nvSpPr>
          <p:cNvPr id="10" name="">
            <a:extLst xmlns:a="http://schemas.openxmlformats.org/drawingml/2006/main">
              <a:ext uri="{FF2B5EF4-FFF2-40B4-BE49-F238E27FC236}">
                <a16:creationId xmlns:a16="http://schemas.microsoft.com/office/drawing/2014/main" id="{7897CCC6-8650-455B-8189-0366A74FC2A8}"/>
              </a:ext>
            </a:extLst>
          </p:cNvPr>
          <p:cNvSpPr>
            <a:spLocks xmlns:a="http://schemas.openxmlformats.org/drawingml/2006/main" noGrp="1"/>
          </p:cNvSpPr>
          <p:nvPr/>
        </p:nvSpPr>
        <p:spPr>
          <a:xfrm xmlns:a="http://schemas.openxmlformats.org/drawingml/2006/main">
            <a:off x="2995613" y="3409950"/>
            <a:ext cx="1095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003F6B"/>
                </a:solidFill>
              </a:defRPr>
            </a:pPr>
            <a:r>
              <a:rPr sz="1125" b="1">
                <a:solidFill>
                  <a:srgbClr val="003F6B"/>
                </a:solidFill>
              </a:rPr>
              <a:t>1958</a:t>
            </a:r>
          </a:p>
        </p:txBody>
      </p:sp>
      <p:sp>
        <p:nvSpPr>
          <p:cNvPr id="11" name="">
            <a:extLst xmlns:a="http://schemas.openxmlformats.org/drawingml/2006/main">
              <a:ext uri="{FF2B5EF4-FFF2-40B4-BE49-F238E27FC236}">
                <a16:creationId xmlns:a16="http://schemas.microsoft.com/office/drawing/2014/main" id="{8D4FE3D9-3F03-4468-8CC1-87C4317F0AC9}"/>
              </a:ext>
            </a:extLst>
          </p:cNvPr>
          <p:cNvSpPr>
            <a:spLocks xmlns:a="http://schemas.openxmlformats.org/drawingml/2006/main" noGrp="1"/>
          </p:cNvSpPr>
          <p:nvPr/>
        </p:nvSpPr>
        <p:spPr>
          <a:xfrm xmlns:a="http://schemas.openxmlformats.org/drawingml/2006/main">
            <a:off x="2995613" y="3714750"/>
            <a:ext cx="1095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38" b="1">
                <a:solidFill>
                  <a:srgbClr val="15232B"/>
                </a:solidFill>
              </a:defRPr>
            </a:pPr>
            <a:r>
              <a:rPr sz="938" b="1">
                <a:solidFill>
                  <a:srgbClr val="15232B"/>
                </a:solidFill>
              </a:rPr>
              <a:t>Selbstbestimmung</a:t>
            </a:r>
          </a:p>
        </p:txBody>
      </p:sp>
      <p:sp>
        <p:nvSpPr>
          <p:cNvPr id="12" name="">
            <a:extLst xmlns:a="http://schemas.openxmlformats.org/drawingml/2006/main">
              <a:ext uri="{FF2B5EF4-FFF2-40B4-BE49-F238E27FC236}">
                <a16:creationId xmlns:a16="http://schemas.microsoft.com/office/drawing/2014/main" id="{6B79422C-B7FE-440B-8CEF-FE4598759DE5}"/>
              </a:ext>
            </a:extLst>
          </p:cNvPr>
          <p:cNvSpPr>
            <a:spLocks xmlns:a="http://schemas.openxmlformats.org/drawingml/2006/main" noGrp="1"/>
          </p:cNvSpPr>
          <p:nvPr/>
        </p:nvSpPr>
        <p:spPr>
          <a:xfrm xmlns:a="http://schemas.openxmlformats.org/drawingml/2006/main">
            <a:off x="2995613" y="4133850"/>
            <a:ext cx="10953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88">
                <a:solidFill>
                  <a:srgbClr val="667680"/>
                </a:solidFill>
              </a:defRPr>
            </a:pPr>
            <a:r>
              <a:rPr sz="788">
                <a:solidFill>
                  <a:srgbClr val="667680"/>
                </a:solidFill>
              </a:rPr>
              <a:t>BGH VI ZR 203/57</a:t>
            </a:r>
          </a:p>
        </p:txBody>
      </p:sp>
      <p:sp>
        <p:nvSpPr>
          <p:cNvPr id="13" name="">
            <a:extLst xmlns:a="http://schemas.openxmlformats.org/drawingml/2006/main">
              <a:ext uri="{FF2B5EF4-FFF2-40B4-BE49-F238E27FC236}">
                <a16:creationId xmlns:a16="http://schemas.microsoft.com/office/drawing/2014/main" id="{7E6FF5ED-0A63-4186-84FC-81216B7B6D68}"/>
              </a:ext>
            </a:extLst>
          </p:cNvPr>
          <p:cNvSpPr>
            <a:spLocks xmlns:a="http://schemas.openxmlformats.org/drawingml/2006/main" noGrp="1"/>
          </p:cNvSpPr>
          <p:nvPr/>
        </p:nvSpPr>
        <p:spPr>
          <a:xfrm xmlns:a="http://schemas.openxmlformats.org/drawingml/2006/main">
            <a:off x="4524375" y="2981325"/>
            <a:ext cx="400050" cy="40005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14" name="">
            <a:extLst xmlns:a="http://schemas.openxmlformats.org/drawingml/2006/main">
              <a:ext uri="{FF2B5EF4-FFF2-40B4-BE49-F238E27FC236}">
                <a16:creationId xmlns:a16="http://schemas.microsoft.com/office/drawing/2014/main" id="{4788B89E-90CD-4F8A-9388-E69147171CB0}"/>
              </a:ext>
            </a:extLst>
          </p:cNvPr>
          <p:cNvSpPr>
            <a:spLocks xmlns:a="http://schemas.openxmlformats.org/drawingml/2006/main" noGrp="1"/>
          </p:cNvSpPr>
          <p:nvPr/>
        </p:nvSpPr>
        <p:spPr>
          <a:xfrm xmlns:a="http://schemas.openxmlformats.org/drawingml/2006/main">
            <a:off x="4181475" y="2057400"/>
            <a:ext cx="1095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003F6B"/>
                </a:solidFill>
              </a:defRPr>
            </a:pPr>
            <a:r>
              <a:rPr sz="1125" b="1">
                <a:solidFill>
                  <a:srgbClr val="003F6B"/>
                </a:solidFill>
              </a:rPr>
              <a:t>1972–98</a:t>
            </a:r>
          </a:p>
        </p:txBody>
      </p:sp>
      <p:sp>
        <p:nvSpPr>
          <p:cNvPr id="15" name="">
            <a:extLst xmlns:a="http://schemas.openxmlformats.org/drawingml/2006/main">
              <a:ext uri="{FF2B5EF4-FFF2-40B4-BE49-F238E27FC236}">
                <a16:creationId xmlns:a16="http://schemas.microsoft.com/office/drawing/2014/main" id="{37D051C0-8BA8-4005-8EB2-4886ACD12908}"/>
              </a:ext>
            </a:extLst>
          </p:cNvPr>
          <p:cNvSpPr>
            <a:spLocks xmlns:a="http://schemas.openxmlformats.org/drawingml/2006/main" noGrp="1"/>
          </p:cNvSpPr>
          <p:nvPr/>
        </p:nvSpPr>
        <p:spPr>
          <a:xfrm xmlns:a="http://schemas.openxmlformats.org/drawingml/2006/main">
            <a:off x="4181475" y="2362200"/>
            <a:ext cx="1095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38" b="1">
                <a:solidFill>
                  <a:srgbClr val="15232B"/>
                </a:solidFill>
              </a:defRPr>
            </a:pPr>
            <a:r>
              <a:rPr sz="938" b="1">
                <a:solidFill>
                  <a:srgbClr val="15232B"/>
                </a:solidFill>
              </a:rPr>
              <a:t>Vertraulichkeit &amp; Akte</a:t>
            </a:r>
          </a:p>
        </p:txBody>
      </p:sp>
      <p:sp>
        <p:nvSpPr>
          <p:cNvPr id="16" name="">
            <a:extLst xmlns:a="http://schemas.openxmlformats.org/drawingml/2006/main">
              <a:ext uri="{FF2B5EF4-FFF2-40B4-BE49-F238E27FC236}">
                <a16:creationId xmlns:a16="http://schemas.microsoft.com/office/drawing/2014/main" id="{DF1394EF-D6E8-42DE-8F0B-7BF681577404}"/>
              </a:ext>
            </a:extLst>
          </p:cNvPr>
          <p:cNvSpPr>
            <a:spLocks xmlns:a="http://schemas.openxmlformats.org/drawingml/2006/main" noGrp="1"/>
          </p:cNvSpPr>
          <p:nvPr/>
        </p:nvSpPr>
        <p:spPr>
          <a:xfrm xmlns:a="http://schemas.openxmlformats.org/drawingml/2006/main">
            <a:off x="4181475" y="2781300"/>
            <a:ext cx="10953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88">
                <a:solidFill>
                  <a:srgbClr val="667680"/>
                </a:solidFill>
              </a:defRPr>
            </a:pPr>
            <a:r>
              <a:rPr sz="788">
                <a:solidFill>
                  <a:srgbClr val="667680"/>
                </a:solidFill>
              </a:rPr>
              <a:t>BVerfG</a:t>
            </a:r>
          </a:p>
        </p:txBody>
      </p:sp>
      <p:sp>
        <p:nvSpPr>
          <p:cNvPr id="17" name="">
            <a:extLst xmlns:a="http://schemas.openxmlformats.org/drawingml/2006/main">
              <a:ext uri="{FF2B5EF4-FFF2-40B4-BE49-F238E27FC236}">
                <a16:creationId xmlns:a16="http://schemas.microsoft.com/office/drawing/2014/main" id="{8D39A4CC-DF7F-447A-91FC-CCEBDD9678E9}"/>
              </a:ext>
            </a:extLst>
          </p:cNvPr>
          <p:cNvSpPr>
            <a:spLocks xmlns:a="http://schemas.openxmlformats.org/drawingml/2006/main" noGrp="1"/>
          </p:cNvSpPr>
          <p:nvPr/>
        </p:nvSpPr>
        <p:spPr>
          <a:xfrm xmlns:a="http://schemas.openxmlformats.org/drawingml/2006/main">
            <a:off x="5710238" y="2981325"/>
            <a:ext cx="400050" cy="400050"/>
          </a:xfrm>
          <a:prstGeom xmlns:a="http://schemas.openxmlformats.org/drawingml/2006/main" prst="ellipse">
            <a:avLst/>
          </a:prstGeom>
          <a:solidFill xmlns:a="http://schemas.openxmlformats.org/drawingml/2006/main">
            <a:srgbClr val="003F6B"/>
          </a:solidFill>
          <a:ln xmlns:a="http://schemas.openxmlformats.org/drawingml/2006/main" w="19050">
            <a:solidFill>
              <a:srgbClr val="FFFFFF"/>
            </a:solidFill>
            <a:prstDash val="solid"/>
          </a:ln>
        </p:spPr>
      </p:sp>
      <p:sp>
        <p:nvSpPr>
          <p:cNvPr id="18" name="">
            <a:extLst xmlns:a="http://schemas.openxmlformats.org/drawingml/2006/main">
              <a:ext uri="{FF2B5EF4-FFF2-40B4-BE49-F238E27FC236}">
                <a16:creationId xmlns:a16="http://schemas.microsoft.com/office/drawing/2014/main" id="{68E23489-2326-465A-B008-7100EDF7A701}"/>
              </a:ext>
            </a:extLst>
          </p:cNvPr>
          <p:cNvSpPr>
            <a:spLocks xmlns:a="http://schemas.openxmlformats.org/drawingml/2006/main" noGrp="1"/>
          </p:cNvSpPr>
          <p:nvPr/>
        </p:nvSpPr>
        <p:spPr>
          <a:xfrm xmlns:a="http://schemas.openxmlformats.org/drawingml/2006/main">
            <a:off x="5367338" y="3409950"/>
            <a:ext cx="1095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003F6B"/>
                </a:solidFill>
              </a:defRPr>
            </a:pPr>
            <a:r>
              <a:rPr sz="1125" b="1">
                <a:solidFill>
                  <a:srgbClr val="003F6B"/>
                </a:solidFill>
              </a:rPr>
              <a:t>1993–97</a:t>
            </a:r>
          </a:p>
        </p:txBody>
      </p:sp>
      <p:sp>
        <p:nvSpPr>
          <p:cNvPr id="19" name="">
            <a:extLst xmlns:a="http://schemas.openxmlformats.org/drawingml/2006/main">
              <a:ext uri="{FF2B5EF4-FFF2-40B4-BE49-F238E27FC236}">
                <a16:creationId xmlns:a16="http://schemas.microsoft.com/office/drawing/2014/main" id="{AC5E4237-D5B6-418E-B17A-7B5B03597E8F}"/>
              </a:ext>
            </a:extLst>
          </p:cNvPr>
          <p:cNvSpPr>
            <a:spLocks xmlns:a="http://schemas.openxmlformats.org/drawingml/2006/main" noGrp="1"/>
          </p:cNvSpPr>
          <p:nvPr/>
        </p:nvSpPr>
        <p:spPr>
          <a:xfrm xmlns:a="http://schemas.openxmlformats.org/drawingml/2006/main">
            <a:off x="5367338" y="3714750"/>
            <a:ext cx="1095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38" b="1">
                <a:solidFill>
                  <a:srgbClr val="15232B"/>
                </a:solidFill>
              </a:defRPr>
            </a:pPr>
            <a:r>
              <a:rPr sz="938" b="1">
                <a:solidFill>
                  <a:srgbClr val="15232B"/>
                </a:solidFill>
              </a:rPr>
              <a:t>Lebensschutz</a:t>
            </a:r>
          </a:p>
        </p:txBody>
      </p:sp>
      <p:sp>
        <p:nvSpPr>
          <p:cNvPr id="20" name="">
            <a:extLst xmlns:a="http://schemas.openxmlformats.org/drawingml/2006/main">
              <a:ext uri="{FF2B5EF4-FFF2-40B4-BE49-F238E27FC236}">
                <a16:creationId xmlns:a16="http://schemas.microsoft.com/office/drawing/2014/main" id="{E0E3D4F8-E9B2-4520-803C-21F44463D82A}"/>
              </a:ext>
            </a:extLst>
          </p:cNvPr>
          <p:cNvSpPr>
            <a:spLocks xmlns:a="http://schemas.openxmlformats.org/drawingml/2006/main" noGrp="1"/>
          </p:cNvSpPr>
          <p:nvPr/>
        </p:nvSpPr>
        <p:spPr>
          <a:xfrm xmlns:a="http://schemas.openxmlformats.org/drawingml/2006/main">
            <a:off x="5367338" y="4133850"/>
            <a:ext cx="10953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88">
                <a:solidFill>
                  <a:srgbClr val="667680"/>
                </a:solidFill>
              </a:defRPr>
            </a:pPr>
            <a:r>
              <a:rPr sz="788">
                <a:solidFill>
                  <a:srgbClr val="667680"/>
                </a:solidFill>
              </a:rPr>
              <a:t>Schwangerschaft</a:t>
            </a:r>
          </a:p>
        </p:txBody>
      </p:sp>
      <p:sp>
        <p:nvSpPr>
          <p:cNvPr id="21" name="">
            <a:extLst xmlns:a="http://schemas.openxmlformats.org/drawingml/2006/main">
              <a:ext uri="{FF2B5EF4-FFF2-40B4-BE49-F238E27FC236}">
                <a16:creationId xmlns:a16="http://schemas.microsoft.com/office/drawing/2014/main" id="{F9FF7D39-A34D-43C2-B778-0B41C13EE622}"/>
              </a:ext>
            </a:extLst>
          </p:cNvPr>
          <p:cNvSpPr>
            <a:spLocks xmlns:a="http://schemas.openxmlformats.org/drawingml/2006/main" noGrp="1"/>
          </p:cNvSpPr>
          <p:nvPr/>
        </p:nvSpPr>
        <p:spPr>
          <a:xfrm xmlns:a="http://schemas.openxmlformats.org/drawingml/2006/main">
            <a:off x="6896100" y="2981325"/>
            <a:ext cx="400050" cy="40005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22" name="">
            <a:extLst xmlns:a="http://schemas.openxmlformats.org/drawingml/2006/main">
              <a:ext uri="{FF2B5EF4-FFF2-40B4-BE49-F238E27FC236}">
                <a16:creationId xmlns:a16="http://schemas.microsoft.com/office/drawing/2014/main" id="{6A878601-363C-443B-96B6-DEBC2F65119E}"/>
              </a:ext>
            </a:extLst>
          </p:cNvPr>
          <p:cNvSpPr>
            <a:spLocks xmlns:a="http://schemas.openxmlformats.org/drawingml/2006/main" noGrp="1"/>
          </p:cNvSpPr>
          <p:nvPr/>
        </p:nvSpPr>
        <p:spPr>
          <a:xfrm xmlns:a="http://schemas.openxmlformats.org/drawingml/2006/main">
            <a:off x="6553200" y="2057400"/>
            <a:ext cx="1095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003F6B"/>
                </a:solidFill>
              </a:defRPr>
            </a:pPr>
            <a:r>
              <a:rPr sz="1125" b="1">
                <a:solidFill>
                  <a:srgbClr val="003F6B"/>
                </a:solidFill>
              </a:rPr>
              <a:t>2010–20</a:t>
            </a:r>
          </a:p>
        </p:txBody>
      </p:sp>
      <p:sp>
        <p:nvSpPr>
          <p:cNvPr id="23" name="">
            <a:extLst xmlns:a="http://schemas.openxmlformats.org/drawingml/2006/main">
              <a:ext uri="{FF2B5EF4-FFF2-40B4-BE49-F238E27FC236}">
                <a16:creationId xmlns:a16="http://schemas.microsoft.com/office/drawing/2014/main" id="{3CD52B96-45BA-41A3-AEBA-17A7EC208782}"/>
              </a:ext>
            </a:extLst>
          </p:cNvPr>
          <p:cNvSpPr>
            <a:spLocks xmlns:a="http://schemas.openxmlformats.org/drawingml/2006/main" noGrp="1"/>
          </p:cNvSpPr>
          <p:nvPr/>
        </p:nvSpPr>
        <p:spPr>
          <a:xfrm xmlns:a="http://schemas.openxmlformats.org/drawingml/2006/main">
            <a:off x="6553200" y="2362200"/>
            <a:ext cx="1095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38" b="1">
                <a:solidFill>
                  <a:srgbClr val="15232B"/>
                </a:solidFill>
              </a:defRPr>
            </a:pPr>
            <a:r>
              <a:rPr sz="938" b="1">
                <a:solidFill>
                  <a:srgbClr val="15232B"/>
                </a:solidFill>
              </a:rPr>
              <a:t>Lebensende</a:t>
            </a:r>
          </a:p>
        </p:txBody>
      </p:sp>
      <p:sp>
        <p:nvSpPr>
          <p:cNvPr id="24" name="">
            <a:extLst xmlns:a="http://schemas.openxmlformats.org/drawingml/2006/main">
              <a:ext uri="{FF2B5EF4-FFF2-40B4-BE49-F238E27FC236}">
                <a16:creationId xmlns:a16="http://schemas.microsoft.com/office/drawing/2014/main" id="{1720EA9D-AA24-4F52-A8BE-6D15642C92F8}"/>
              </a:ext>
            </a:extLst>
          </p:cNvPr>
          <p:cNvSpPr>
            <a:spLocks xmlns:a="http://schemas.openxmlformats.org/drawingml/2006/main" noGrp="1"/>
          </p:cNvSpPr>
          <p:nvPr/>
        </p:nvSpPr>
        <p:spPr>
          <a:xfrm xmlns:a="http://schemas.openxmlformats.org/drawingml/2006/main">
            <a:off x="6553200" y="2781300"/>
            <a:ext cx="10953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88">
                <a:solidFill>
                  <a:srgbClr val="667680"/>
                </a:solidFill>
              </a:defRPr>
            </a:pPr>
            <a:r>
              <a:rPr sz="788">
                <a:solidFill>
                  <a:srgbClr val="667680"/>
                </a:solidFill>
              </a:rPr>
              <a:t>Putz · § 217 StGB</a:t>
            </a:r>
          </a:p>
        </p:txBody>
      </p:sp>
      <p:sp>
        <p:nvSpPr>
          <p:cNvPr id="25" name="">
            <a:extLst xmlns:a="http://schemas.openxmlformats.org/drawingml/2006/main">
              <a:ext uri="{FF2B5EF4-FFF2-40B4-BE49-F238E27FC236}">
                <a16:creationId xmlns:a16="http://schemas.microsoft.com/office/drawing/2014/main" id="{58C21A70-DB99-4E03-AE2B-B42B2FEA9C74}"/>
              </a:ext>
            </a:extLst>
          </p:cNvPr>
          <p:cNvSpPr>
            <a:spLocks xmlns:a="http://schemas.openxmlformats.org/drawingml/2006/main" noGrp="1"/>
          </p:cNvSpPr>
          <p:nvPr/>
        </p:nvSpPr>
        <p:spPr>
          <a:xfrm xmlns:a="http://schemas.openxmlformats.org/drawingml/2006/main">
            <a:off x="8081963" y="2981325"/>
            <a:ext cx="400050" cy="400050"/>
          </a:xfrm>
          <a:prstGeom xmlns:a="http://schemas.openxmlformats.org/drawingml/2006/main" prst="ellipse">
            <a:avLst/>
          </a:prstGeom>
          <a:solidFill xmlns:a="http://schemas.openxmlformats.org/drawingml/2006/main">
            <a:srgbClr val="003F6B"/>
          </a:solidFill>
          <a:ln xmlns:a="http://schemas.openxmlformats.org/drawingml/2006/main" w="19050">
            <a:solidFill>
              <a:srgbClr val="FFFFFF"/>
            </a:solidFill>
            <a:prstDash val="solid"/>
          </a:ln>
        </p:spPr>
      </p:sp>
      <p:sp>
        <p:nvSpPr>
          <p:cNvPr id="26" name="">
            <a:extLst xmlns:a="http://schemas.openxmlformats.org/drawingml/2006/main">
              <a:ext uri="{FF2B5EF4-FFF2-40B4-BE49-F238E27FC236}">
                <a16:creationId xmlns:a16="http://schemas.microsoft.com/office/drawing/2014/main" id="{2EFA9F59-BFC3-4B9B-AB5A-C58304CC6203}"/>
              </a:ext>
            </a:extLst>
          </p:cNvPr>
          <p:cNvSpPr>
            <a:spLocks xmlns:a="http://schemas.openxmlformats.org/drawingml/2006/main" noGrp="1"/>
          </p:cNvSpPr>
          <p:nvPr/>
        </p:nvSpPr>
        <p:spPr>
          <a:xfrm xmlns:a="http://schemas.openxmlformats.org/drawingml/2006/main">
            <a:off x="7739063" y="3409950"/>
            <a:ext cx="1095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003F6B"/>
                </a:solidFill>
              </a:defRPr>
            </a:pPr>
            <a:r>
              <a:rPr sz="1125" b="1">
                <a:solidFill>
                  <a:srgbClr val="003F6B"/>
                </a:solidFill>
              </a:rPr>
              <a:t>2011–24</a:t>
            </a:r>
          </a:p>
        </p:txBody>
      </p:sp>
      <p:sp>
        <p:nvSpPr>
          <p:cNvPr id="27" name="">
            <a:extLst xmlns:a="http://schemas.openxmlformats.org/drawingml/2006/main">
              <a:ext uri="{FF2B5EF4-FFF2-40B4-BE49-F238E27FC236}">
                <a16:creationId xmlns:a16="http://schemas.microsoft.com/office/drawing/2014/main" id="{4623DEF8-E926-4F01-B77A-D293BA0272B6}"/>
              </a:ext>
            </a:extLst>
          </p:cNvPr>
          <p:cNvSpPr>
            <a:spLocks xmlns:a="http://schemas.openxmlformats.org/drawingml/2006/main" noGrp="1"/>
          </p:cNvSpPr>
          <p:nvPr/>
        </p:nvSpPr>
        <p:spPr>
          <a:xfrm xmlns:a="http://schemas.openxmlformats.org/drawingml/2006/main">
            <a:off x="7739063" y="3714750"/>
            <a:ext cx="1095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38" b="1">
                <a:solidFill>
                  <a:srgbClr val="15232B"/>
                </a:solidFill>
              </a:defRPr>
            </a:pPr>
            <a:r>
              <a:rPr sz="938" b="1">
                <a:solidFill>
                  <a:srgbClr val="15232B"/>
                </a:solidFill>
              </a:rPr>
              <a:t>Zwang &amp; Fixierung</a:t>
            </a:r>
          </a:p>
        </p:txBody>
      </p:sp>
      <p:sp>
        <p:nvSpPr>
          <p:cNvPr id="28" name="">
            <a:extLst xmlns:a="http://schemas.openxmlformats.org/drawingml/2006/main">
              <a:ext uri="{FF2B5EF4-FFF2-40B4-BE49-F238E27FC236}">
                <a16:creationId xmlns:a16="http://schemas.microsoft.com/office/drawing/2014/main" id="{1EED8CCD-158D-49B6-99F5-836D773D9F03}"/>
              </a:ext>
            </a:extLst>
          </p:cNvPr>
          <p:cNvSpPr>
            <a:spLocks xmlns:a="http://schemas.openxmlformats.org/drawingml/2006/main" noGrp="1"/>
          </p:cNvSpPr>
          <p:nvPr/>
        </p:nvSpPr>
        <p:spPr>
          <a:xfrm xmlns:a="http://schemas.openxmlformats.org/drawingml/2006/main">
            <a:off x="7739063" y="4133850"/>
            <a:ext cx="10953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88">
                <a:solidFill>
                  <a:srgbClr val="667680"/>
                </a:solidFill>
              </a:defRPr>
            </a:pPr>
            <a:r>
              <a:rPr sz="788">
                <a:solidFill>
                  <a:srgbClr val="667680"/>
                </a:solidFill>
              </a:rPr>
              <a:t>BVerfG</a:t>
            </a:r>
          </a:p>
        </p:txBody>
      </p:sp>
      <p:sp>
        <p:nvSpPr>
          <p:cNvPr id="29" name="">
            <a:extLst xmlns:a="http://schemas.openxmlformats.org/drawingml/2006/main">
              <a:ext uri="{FF2B5EF4-FFF2-40B4-BE49-F238E27FC236}">
                <a16:creationId xmlns:a16="http://schemas.microsoft.com/office/drawing/2014/main" id="{ABDE1445-7D61-485B-AB48-5B4ADAA33196}"/>
              </a:ext>
            </a:extLst>
          </p:cNvPr>
          <p:cNvSpPr>
            <a:spLocks xmlns:a="http://schemas.openxmlformats.org/drawingml/2006/main" noGrp="1"/>
          </p:cNvSpPr>
          <p:nvPr/>
        </p:nvSpPr>
        <p:spPr>
          <a:xfrm xmlns:a="http://schemas.openxmlformats.org/drawingml/2006/main">
            <a:off x="9267825" y="2981325"/>
            <a:ext cx="400050" cy="400050"/>
          </a:xfrm>
          <a:prstGeom xmlns:a="http://schemas.openxmlformats.org/drawingml/2006/main" prst="ellipse">
            <a:avLst/>
          </a:prstGeom>
          <a:solidFill xmlns:a="http://schemas.openxmlformats.org/drawingml/2006/main">
            <a:srgbClr val="00B2BB"/>
          </a:solidFill>
          <a:ln xmlns:a="http://schemas.openxmlformats.org/drawingml/2006/main" w="19050">
            <a:solidFill>
              <a:srgbClr val="FFFFFF"/>
            </a:solidFill>
            <a:prstDash val="solid"/>
          </a:ln>
        </p:spPr>
      </p:sp>
      <p:sp>
        <p:nvSpPr>
          <p:cNvPr id="30" name="">
            <a:extLst xmlns:a="http://schemas.openxmlformats.org/drawingml/2006/main">
              <a:ext uri="{FF2B5EF4-FFF2-40B4-BE49-F238E27FC236}">
                <a16:creationId xmlns:a16="http://schemas.microsoft.com/office/drawing/2014/main" id="{DF4CF262-DC11-4279-ABBB-36B0E252F94F}"/>
              </a:ext>
            </a:extLst>
          </p:cNvPr>
          <p:cNvSpPr>
            <a:spLocks xmlns:a="http://schemas.openxmlformats.org/drawingml/2006/main" noGrp="1"/>
          </p:cNvSpPr>
          <p:nvPr/>
        </p:nvSpPr>
        <p:spPr>
          <a:xfrm xmlns:a="http://schemas.openxmlformats.org/drawingml/2006/main">
            <a:off x="8924925" y="2057400"/>
            <a:ext cx="1095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003F6B"/>
                </a:solidFill>
              </a:defRPr>
            </a:pPr>
            <a:r>
              <a:rPr sz="1125" b="1">
                <a:solidFill>
                  <a:srgbClr val="003F6B"/>
                </a:solidFill>
              </a:rPr>
              <a:t>2021–25</a:t>
            </a:r>
          </a:p>
        </p:txBody>
      </p:sp>
      <p:sp>
        <p:nvSpPr>
          <p:cNvPr id="31" name="">
            <a:extLst xmlns:a="http://schemas.openxmlformats.org/drawingml/2006/main">
              <a:ext uri="{FF2B5EF4-FFF2-40B4-BE49-F238E27FC236}">
                <a16:creationId xmlns:a16="http://schemas.microsoft.com/office/drawing/2014/main" id="{87C157C9-9F40-4F26-ABC2-1501B9618FF9}"/>
              </a:ext>
            </a:extLst>
          </p:cNvPr>
          <p:cNvSpPr>
            <a:spLocks xmlns:a="http://schemas.openxmlformats.org/drawingml/2006/main" noGrp="1"/>
          </p:cNvSpPr>
          <p:nvPr/>
        </p:nvSpPr>
        <p:spPr>
          <a:xfrm xmlns:a="http://schemas.openxmlformats.org/drawingml/2006/main">
            <a:off x="8924925" y="2362200"/>
            <a:ext cx="1095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38" b="1">
                <a:solidFill>
                  <a:srgbClr val="15232B"/>
                </a:solidFill>
              </a:defRPr>
            </a:pPr>
            <a:r>
              <a:rPr sz="938" b="1">
                <a:solidFill>
                  <a:srgbClr val="15232B"/>
                </a:solidFill>
              </a:rPr>
              <a:t>Triage</a:t>
            </a:r>
          </a:p>
        </p:txBody>
      </p:sp>
      <p:sp>
        <p:nvSpPr>
          <p:cNvPr id="32" name="">
            <a:extLst xmlns:a="http://schemas.openxmlformats.org/drawingml/2006/main">
              <a:ext uri="{FF2B5EF4-FFF2-40B4-BE49-F238E27FC236}">
                <a16:creationId xmlns:a16="http://schemas.microsoft.com/office/drawing/2014/main" id="{E003BC1B-9CCF-4484-8A4C-CF1FA9D75256}"/>
              </a:ext>
            </a:extLst>
          </p:cNvPr>
          <p:cNvSpPr>
            <a:spLocks xmlns:a="http://schemas.openxmlformats.org/drawingml/2006/main" noGrp="1"/>
          </p:cNvSpPr>
          <p:nvPr/>
        </p:nvSpPr>
        <p:spPr>
          <a:xfrm xmlns:a="http://schemas.openxmlformats.org/drawingml/2006/main">
            <a:off x="8924925" y="2781300"/>
            <a:ext cx="10953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88">
                <a:solidFill>
                  <a:srgbClr val="667680"/>
                </a:solidFill>
              </a:defRPr>
            </a:pPr>
            <a:r>
              <a:rPr sz="788">
                <a:solidFill>
                  <a:srgbClr val="667680"/>
                </a:solidFill>
              </a:rPr>
              <a:t>Schutzpflicht &amp; Kompetenz</a:t>
            </a:r>
          </a:p>
        </p:txBody>
      </p:sp>
      <p:sp>
        <p:nvSpPr>
          <p:cNvPr id="33" name="">
            <a:extLst xmlns:a="http://schemas.openxmlformats.org/drawingml/2006/main">
              <a:ext uri="{FF2B5EF4-FFF2-40B4-BE49-F238E27FC236}">
                <a16:creationId xmlns:a16="http://schemas.microsoft.com/office/drawing/2014/main" id="{FC4207D8-17CC-4E1B-9971-360BB1FE4930}"/>
              </a:ext>
            </a:extLst>
          </p:cNvPr>
          <p:cNvSpPr>
            <a:spLocks xmlns:a="http://schemas.openxmlformats.org/drawingml/2006/main" noGrp="1"/>
          </p:cNvSpPr>
          <p:nvPr/>
        </p:nvSpPr>
        <p:spPr>
          <a:xfrm xmlns:a="http://schemas.openxmlformats.org/drawingml/2006/main">
            <a:off x="10453688" y="2981325"/>
            <a:ext cx="400050" cy="400050"/>
          </a:xfrm>
          <a:prstGeom xmlns:a="http://schemas.openxmlformats.org/drawingml/2006/main" prst="ellipse">
            <a:avLst/>
          </a:prstGeom>
          <a:solidFill xmlns:a="http://schemas.openxmlformats.org/drawingml/2006/main">
            <a:srgbClr val="003F6B"/>
          </a:solidFill>
          <a:ln xmlns:a="http://schemas.openxmlformats.org/drawingml/2006/main" w="19050">
            <a:solidFill>
              <a:srgbClr val="FFFFFF"/>
            </a:solidFill>
            <a:prstDash val="solid"/>
          </a:ln>
        </p:spPr>
      </p:sp>
      <p:sp>
        <p:nvSpPr>
          <p:cNvPr id="34" name="">
            <a:extLst xmlns:a="http://schemas.openxmlformats.org/drawingml/2006/main">
              <a:ext uri="{FF2B5EF4-FFF2-40B4-BE49-F238E27FC236}">
                <a16:creationId xmlns:a16="http://schemas.microsoft.com/office/drawing/2014/main" id="{24656C49-C9BA-473D-ADB0-EAB3EE51CAFF}"/>
              </a:ext>
            </a:extLst>
          </p:cNvPr>
          <p:cNvSpPr>
            <a:spLocks xmlns:a="http://schemas.openxmlformats.org/drawingml/2006/main" noGrp="1"/>
          </p:cNvSpPr>
          <p:nvPr/>
        </p:nvSpPr>
        <p:spPr>
          <a:xfrm xmlns:a="http://schemas.openxmlformats.org/drawingml/2006/main">
            <a:off x="10110788" y="3409950"/>
            <a:ext cx="1095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003F6B"/>
                </a:solidFill>
              </a:defRPr>
            </a:pPr>
            <a:r>
              <a:rPr sz="1125" b="1">
                <a:solidFill>
                  <a:srgbClr val="003F6B"/>
                </a:solidFill>
              </a:rPr>
              <a:t>2023–25</a:t>
            </a:r>
          </a:p>
        </p:txBody>
      </p:sp>
      <p:sp>
        <p:nvSpPr>
          <p:cNvPr id="35" name="">
            <a:extLst xmlns:a="http://schemas.openxmlformats.org/drawingml/2006/main">
              <a:ext uri="{FF2B5EF4-FFF2-40B4-BE49-F238E27FC236}">
                <a16:creationId xmlns:a16="http://schemas.microsoft.com/office/drawing/2014/main" id="{F23F2E71-CF4D-458A-9492-C770E682FD0F}"/>
              </a:ext>
            </a:extLst>
          </p:cNvPr>
          <p:cNvSpPr>
            <a:spLocks xmlns:a="http://schemas.openxmlformats.org/drawingml/2006/main" noGrp="1"/>
          </p:cNvSpPr>
          <p:nvPr/>
        </p:nvSpPr>
        <p:spPr>
          <a:xfrm xmlns:a="http://schemas.openxmlformats.org/drawingml/2006/main">
            <a:off x="10110788" y="3714750"/>
            <a:ext cx="1095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38" b="1">
                <a:solidFill>
                  <a:srgbClr val="15232B"/>
                </a:solidFill>
              </a:defRPr>
            </a:pPr>
            <a:r>
              <a:rPr sz="938" b="1">
                <a:solidFill>
                  <a:srgbClr val="15232B"/>
                </a:solidFill>
              </a:rPr>
              <a:t>Daten &amp; Dokumentation</a:t>
            </a:r>
          </a:p>
        </p:txBody>
      </p:sp>
      <p:sp>
        <p:nvSpPr>
          <p:cNvPr id="36" name="">
            <a:extLst xmlns:a="http://schemas.openxmlformats.org/drawingml/2006/main">
              <a:ext uri="{FF2B5EF4-FFF2-40B4-BE49-F238E27FC236}">
                <a16:creationId xmlns:a16="http://schemas.microsoft.com/office/drawing/2014/main" id="{595435B3-E3AB-4A3F-8FED-A53A3B2E3046}"/>
              </a:ext>
            </a:extLst>
          </p:cNvPr>
          <p:cNvSpPr>
            <a:spLocks xmlns:a="http://schemas.openxmlformats.org/drawingml/2006/main" noGrp="1"/>
          </p:cNvSpPr>
          <p:nvPr/>
        </p:nvSpPr>
        <p:spPr>
          <a:xfrm xmlns:a="http://schemas.openxmlformats.org/drawingml/2006/main">
            <a:off x="10110788" y="4133850"/>
            <a:ext cx="10953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788">
                <a:solidFill>
                  <a:srgbClr val="667680"/>
                </a:solidFill>
              </a:defRPr>
            </a:pPr>
            <a:r>
              <a:rPr sz="788">
                <a:solidFill>
                  <a:srgbClr val="667680"/>
                </a:solidFill>
              </a:rPr>
              <a:t>EuGH · BGH</a:t>
            </a:r>
          </a:p>
        </p:txBody>
      </p:sp>
      <p:sp>
        <p:nvSpPr>
          <p:cNvPr id="37" name="">
            <a:extLst xmlns:a="http://schemas.openxmlformats.org/drawingml/2006/main">
              <a:ext uri="{FF2B5EF4-FFF2-40B4-BE49-F238E27FC236}">
                <a16:creationId xmlns:a16="http://schemas.microsoft.com/office/drawing/2014/main" id="{B15AC306-571C-4CA6-B708-77AC9A3D4961}"/>
              </a:ext>
            </a:extLst>
          </p:cNvPr>
          <p:cNvSpPr>
            <a:spLocks xmlns:a="http://schemas.openxmlformats.org/drawingml/2006/main" noGrp="1"/>
          </p:cNvSpPr>
          <p:nvPr/>
        </p:nvSpPr>
        <p:spPr>
          <a:xfrm xmlns:a="http://schemas.openxmlformats.org/drawingml/2006/main">
            <a:off x="2381250" y="4762500"/>
            <a:ext cx="838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38" b="1">
                <a:solidFill>
                  <a:srgbClr val="003F6B"/>
                </a:solidFill>
              </a:defRPr>
            </a:pPr>
            <a:r>
              <a:rPr sz="1238" b="1">
                <a:solidFill>
                  <a:srgbClr val="003F6B"/>
                </a:solidFill>
              </a:rPr>
              <a:t>Merksatz: Die Dogmatik entwickelt sich – der ärztliche Alltag braucht deshalb nicht nur Normkenntnis, sondern auch Rechtsprechungskompetenz.</a:t>
            </a:r>
          </a:p>
        </p:txBody>
      </p:sp>
      <p:sp>
        <p:nvSpPr>
          <p:cNvPr id="38" name="">
            <a:extLst xmlns:a="http://schemas.openxmlformats.org/drawingml/2006/main">
              <a:ext uri="{FF2B5EF4-FFF2-40B4-BE49-F238E27FC236}">
                <a16:creationId xmlns:a16="http://schemas.microsoft.com/office/drawing/2014/main" id="{6DC7E264-0489-4BE7-98FC-43F231F927D3}"/>
              </a:ext>
            </a:extLst>
          </p:cNvPr>
          <p:cNvSpPr>
            <a:spLocks xmlns:a="http://schemas.openxmlformats.org/drawingml/2006/main" noGrp="1"/>
          </p:cNvSpPr>
          <p:nvPr/>
        </p:nvSpPr>
        <p:spPr>
          <a:xfrm xmlns:a="http://schemas.openxmlformats.org/drawingml/2006/main">
            <a:off x="1809750" y="5314950"/>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675">
                <a:solidFill>
                  <a:srgbClr val="667680"/>
                </a:solidFill>
              </a:defRPr>
            </a:pPr>
            <a:r>
              <a:rPr sz="675">
                <a:solidFill>
                  <a:srgbClr val="667680"/>
                </a:solidFill>
              </a:rPr>
              <a:t>Zeitstrahl aus den auf den Folgeseiten verlinkten Originalentscheidungen; Stand 26.08.2026.</a:t>
            </a:r>
          </a:p>
        </p:txBody>
      </p:sp>
    </p:spTree>
    <p:extLst>
      <p:ext uri="{BB962C8B-B14F-4D97-AF65-F5344CB8AC3E}">
        <p14:creationId xmlns:p14="http://schemas.microsoft.com/office/powerpoint/2010/main" val="43637646"/>
      </p:ext>
    </p:extLst>
  </p:cSld>
</p:sld>
</file>

<file path=ppt/slides/slide427.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Einwilligung &amp; Strafrecht · Aufklärung &amp; Einwilligung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LEITENTSCHEIDUNGEN · 01/20</a:t>
            </a:r>
            <a:endParaRPr/>
          </a:p>
        </p:txBody>
      </p:sp>
      <p:sp>
        <p:nvSpPr>
          <p:cNvPr id="4" name="">
            <a:extLst xmlns:a="http://schemas.openxmlformats.org/drawingml/2006/main">
              <a:ext uri="{FF2B5EF4-FFF2-40B4-BE49-F238E27FC236}">
                <a16:creationId xmlns:a16="http://schemas.microsoft.com/office/drawing/2014/main" id="{D55BC845-28AF-4139-866D-F2EE768E74F7}"/>
              </a:ext>
            </a:extLst>
          </p:cNvPr>
          <p:cNvSpPr>
            <a:spLocks xmlns:a="http://schemas.openxmlformats.org/drawingml/2006/main" noGrp="1"/>
          </p:cNvSpPr>
          <p:nvPr/>
        </p:nvSpPr>
        <p:spPr>
          <a:xfrm xmlns:a="http://schemas.openxmlformats.org/drawingml/2006/main">
            <a:off x="1809750" y="1943100"/>
            <a:ext cx="4648200" cy="3238500"/>
          </a:xfrm>
          <a:prstGeom xmlns:a="http://schemas.openxmlformats.org/drawingml/2006/main" prst="roundRect">
            <a:avLst>
              <a:gd name="adj" fmla="val 2353"/>
            </a:avLst>
          </a:prstGeom>
          <a:solidFill xmlns:a="http://schemas.openxmlformats.org/drawingml/2006/main">
            <a:srgbClr val="FFFFFF"/>
          </a:solidFill>
          <a:ln xmlns:a="http://schemas.openxmlformats.org/drawingml/2006/main" w="10478">
            <a:solidFill>
              <a:srgbClr val="B9CAD2"/>
            </a:solidFill>
            <a:prstDash val="solid"/>
          </a:ln>
        </p:spPr>
      </p:sp>
      <p:sp>
        <p:nvSpPr>
          <p:cNvPr id="5" name="">
            <a:extLst xmlns:a="http://schemas.openxmlformats.org/drawingml/2006/main">
              <a:ext uri="{FF2B5EF4-FFF2-40B4-BE49-F238E27FC236}">
                <a16:creationId xmlns:a16="http://schemas.microsoft.com/office/drawing/2014/main" id="{248C9337-7C93-451B-B62D-BDB19FFD03AF}"/>
              </a:ext>
            </a:extLst>
          </p:cNvPr>
          <p:cNvSpPr>
            <a:spLocks xmlns:a="http://schemas.openxmlformats.org/drawingml/2006/main" noGrp="1"/>
          </p:cNvSpPr>
          <p:nvPr/>
        </p:nvSpPr>
        <p:spPr>
          <a:xfrm xmlns:a="http://schemas.openxmlformats.org/drawingml/2006/main">
            <a:off x="1809750" y="1943100"/>
            <a:ext cx="4648200" cy="85725"/>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FACF972E-DDE0-453C-A01D-1EE70A760CC1}"/>
              </a:ext>
            </a:extLst>
          </p:cNvPr>
          <p:cNvSpPr>
            <a:spLocks xmlns:a="http://schemas.openxmlformats.org/drawingml/2006/main" noGrp="1"/>
          </p:cNvSpPr>
          <p:nvPr/>
        </p:nvSpPr>
        <p:spPr>
          <a:xfrm xmlns:a="http://schemas.openxmlformats.org/drawingml/2006/main">
            <a:off x="1962150" y="2133600"/>
            <a:ext cx="1066800" cy="266700"/>
          </a:xfrm>
          <a:prstGeom xmlns:a="http://schemas.openxmlformats.org/drawingml/2006/main" prst="roundRect">
            <a:avLst>
              <a:gd name="adj" fmla="val 28571"/>
            </a:avLst>
          </a:prstGeom>
          <a:solidFill xmlns:a="http://schemas.openxmlformats.org/drawingml/2006/main">
            <a:srgbClr val="00B2BB"/>
          </a:solidFill>
          <a:ln xmlns:a="http://schemas.openxmlformats.org/drawingml/2006/main" w="0">
            <a:solidFill>
              <a:srgbClr val="00B2BB"/>
            </a:solidFill>
            <a:prstDash val="solid"/>
          </a:ln>
        </p:spPr>
      </p:sp>
      <p:sp>
        <p:nvSpPr>
          <p:cNvPr id="7" name="">
            <a:extLst xmlns:a="http://schemas.openxmlformats.org/drawingml/2006/main">
              <a:ext uri="{FF2B5EF4-FFF2-40B4-BE49-F238E27FC236}">
                <a16:creationId xmlns:a16="http://schemas.microsoft.com/office/drawing/2014/main" id="{1D7898F9-4D49-45F8-8665-2D9A5DD3D02B}"/>
              </a:ext>
            </a:extLst>
          </p:cNvPr>
          <p:cNvSpPr>
            <a:spLocks xmlns:a="http://schemas.openxmlformats.org/drawingml/2006/main" noGrp="1"/>
          </p:cNvSpPr>
          <p:nvPr/>
        </p:nvSpPr>
        <p:spPr>
          <a:xfrm xmlns:a="http://schemas.openxmlformats.org/drawingml/2006/main">
            <a:off x="1962150" y="21336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40" b="1">
                <a:solidFill>
                  <a:srgbClr val="FFFFFF"/>
                </a:solidFill>
              </a:defRPr>
            </a:pPr>
            <a:r>
              <a:rPr sz="840" b="1">
                <a:solidFill>
                  <a:srgbClr val="FFFFFF"/>
                </a:solidFill>
              </a:rPr>
              <a:t>KERNBESTAND</a:t>
            </a:r>
          </a:p>
        </p:txBody>
      </p:sp>
      <p:sp>
        <p:nvSpPr>
          <p:cNvPr id="8" name="">
            <a:extLst xmlns:a="http://schemas.openxmlformats.org/drawingml/2006/main">
              <a:ext uri="{FF2B5EF4-FFF2-40B4-BE49-F238E27FC236}">
                <a16:creationId xmlns:a16="http://schemas.microsoft.com/office/drawing/2014/main" id="{ECFDCAA5-664D-429E-B70C-CBB97DD5E1EB}"/>
              </a:ext>
            </a:extLst>
          </p:cNvPr>
          <p:cNvSpPr>
            <a:spLocks xmlns:a="http://schemas.openxmlformats.org/drawingml/2006/main" noGrp="1"/>
          </p:cNvSpPr>
          <p:nvPr/>
        </p:nvSpPr>
        <p:spPr>
          <a:xfrm xmlns:a="http://schemas.openxmlformats.org/drawingml/2006/main">
            <a:off x="3143250" y="2133600"/>
            <a:ext cx="3162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35" b="1">
                <a:solidFill>
                  <a:srgbClr val="003F6B"/>
                </a:solidFill>
              </a:defRPr>
            </a:pPr>
            <a:r>
              <a:rPr sz="735" b="1">
                <a:solidFill>
                  <a:srgbClr val="003F6B"/>
                </a:solidFill>
              </a:rPr>
              <a:t>Reichsgericht · 31.05.1894 · RGSt 25, 375</a:t>
            </a:r>
          </a:p>
        </p:txBody>
      </p:sp>
      <p:sp>
        <p:nvSpPr>
          <p:cNvPr id="9" name="">
            <a:extLst xmlns:a="http://schemas.openxmlformats.org/drawingml/2006/main">
              <a:ext uri="{FF2B5EF4-FFF2-40B4-BE49-F238E27FC236}">
                <a16:creationId xmlns:a16="http://schemas.microsoft.com/office/drawing/2014/main" id="{3F45B53B-6BE4-4D3A-96A8-1B7B611A7C14}"/>
              </a:ext>
            </a:extLst>
          </p:cNvPr>
          <p:cNvSpPr>
            <a:spLocks xmlns:a="http://schemas.openxmlformats.org/drawingml/2006/main" noGrp="1"/>
          </p:cNvSpPr>
          <p:nvPr/>
        </p:nvSpPr>
        <p:spPr>
          <a:xfrm xmlns:a="http://schemas.openxmlformats.org/drawingml/2006/main">
            <a:off x="1981200" y="2476500"/>
            <a:ext cx="430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15" b="1">
                <a:solidFill>
                  <a:srgbClr val="003F6B"/>
                </a:solidFill>
              </a:defRPr>
            </a:pPr>
            <a:r>
              <a:rPr sz="1215" b="1">
                <a:solidFill>
                  <a:srgbClr val="003F6B"/>
                </a:solidFill>
              </a:rPr>
              <a:t>Fußamputationsfall: Der Heileingriff als Körperverletzung</a:t>
            </a:r>
          </a:p>
        </p:txBody>
      </p:sp>
      <p:sp>
        <p:nvSpPr>
          <p:cNvPr id="10" name="">
            <a:extLst xmlns:a="http://schemas.openxmlformats.org/drawingml/2006/main">
              <a:ext uri="{FF2B5EF4-FFF2-40B4-BE49-F238E27FC236}">
                <a16:creationId xmlns:a16="http://schemas.microsoft.com/office/drawing/2014/main" id="{7B775326-A6F0-4B62-A984-935331C35BF4}"/>
              </a:ext>
            </a:extLst>
          </p:cNvPr>
          <p:cNvSpPr>
            <a:spLocks xmlns:a="http://schemas.openxmlformats.org/drawingml/2006/main" noGrp="1"/>
          </p:cNvSpPr>
          <p:nvPr/>
        </p:nvSpPr>
        <p:spPr>
          <a:xfrm xmlns:a="http://schemas.openxmlformats.org/drawingml/2006/main">
            <a:off x="1981200" y="29908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B2BB"/>
                </a:solidFill>
              </a:defRPr>
            </a:pPr>
            <a:r>
              <a:rPr sz="713" b="1">
                <a:solidFill>
                  <a:srgbClr val="00B2BB"/>
                </a:solidFill>
              </a:rPr>
              <a:t>TENOR / LEITSATZKERN</a:t>
            </a:r>
          </a:p>
        </p:txBody>
      </p:sp>
      <p:sp>
        <p:nvSpPr>
          <p:cNvPr id="11" name="">
            <a:extLst xmlns:a="http://schemas.openxmlformats.org/drawingml/2006/main">
              <a:ext uri="{FF2B5EF4-FFF2-40B4-BE49-F238E27FC236}">
                <a16:creationId xmlns:a16="http://schemas.microsoft.com/office/drawing/2014/main" id="{48CBF2E3-A49C-41DC-AA26-6A31EBA7CBE9}"/>
              </a:ext>
            </a:extLst>
          </p:cNvPr>
          <p:cNvSpPr>
            <a:spLocks xmlns:a="http://schemas.openxmlformats.org/drawingml/2006/main" noGrp="1"/>
          </p:cNvSpPr>
          <p:nvPr/>
        </p:nvSpPr>
        <p:spPr>
          <a:xfrm xmlns:a="http://schemas.openxmlformats.org/drawingml/2006/main">
            <a:off x="1981200" y="3181350"/>
            <a:ext cx="43053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55">
                <a:solidFill>
                  <a:srgbClr val="15232B"/>
                </a:solidFill>
              </a:defRPr>
            </a:pPr>
            <a:r>
              <a:rPr sz="855">
                <a:solidFill>
                  <a:srgbClr val="15232B"/>
                </a:solidFill>
              </a:rPr>
              <a:t>Historischer Ausgangspunkt: Auch ein fachgerecht und heilend vorgenommener körperlicher Eingriff erfüllt den Körperverletzungstatbestand; legitimiert wird er grundsätzlich durch wirksame Einwilligung.</a:t>
            </a:r>
          </a:p>
        </p:txBody>
      </p:sp>
      <p:sp>
        <p:nvSpPr>
          <p:cNvPr id="12" name="">
            <a:extLst xmlns:a="http://schemas.openxmlformats.org/drawingml/2006/main">
              <a:ext uri="{FF2B5EF4-FFF2-40B4-BE49-F238E27FC236}">
                <a16:creationId xmlns:a16="http://schemas.microsoft.com/office/drawing/2014/main" id="{7F434708-1B4C-46AA-995C-72A5D580E2CF}"/>
              </a:ext>
            </a:extLst>
          </p:cNvPr>
          <p:cNvSpPr>
            <a:spLocks xmlns:a="http://schemas.openxmlformats.org/drawingml/2006/main" noGrp="1"/>
          </p:cNvSpPr>
          <p:nvPr/>
        </p:nvSpPr>
        <p:spPr>
          <a:xfrm xmlns:a="http://schemas.openxmlformats.org/drawingml/2006/main">
            <a:off x="1981200" y="381000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3F6B"/>
                </a:solidFill>
              </a:defRPr>
            </a:pPr>
            <a:r>
              <a:rPr sz="713" b="1">
                <a:solidFill>
                  <a:srgbClr val="003F6B"/>
                </a:solidFill>
              </a:rPr>
              <a:t>TRAGENDE AUSSAGE</a:t>
            </a:r>
          </a:p>
        </p:txBody>
      </p:sp>
      <p:sp>
        <p:nvSpPr>
          <p:cNvPr id="13" name="">
            <a:extLst xmlns:a="http://schemas.openxmlformats.org/drawingml/2006/main">
              <a:ext uri="{FF2B5EF4-FFF2-40B4-BE49-F238E27FC236}">
                <a16:creationId xmlns:a16="http://schemas.microsoft.com/office/drawing/2014/main" id="{180D83A4-65B8-48C3-B2AD-D92F3CB9F314}"/>
              </a:ext>
            </a:extLst>
          </p:cNvPr>
          <p:cNvSpPr>
            <a:spLocks xmlns:a="http://schemas.openxmlformats.org/drawingml/2006/main" noGrp="1"/>
          </p:cNvSpPr>
          <p:nvPr/>
        </p:nvSpPr>
        <p:spPr>
          <a:xfrm xmlns:a="http://schemas.openxmlformats.org/drawingml/2006/main">
            <a:off x="1981200" y="4000500"/>
            <a:ext cx="43053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10">
                <a:solidFill>
                  <a:srgbClr val="15232B"/>
                </a:solidFill>
              </a:defRPr>
            </a:pPr>
            <a:r>
              <a:rPr sz="810">
                <a:solidFill>
                  <a:srgbClr val="15232B"/>
                </a:solidFill>
              </a:rPr>
              <a:t>Der ärztliche Zweck beseitigt den Eingriffscharakter nicht. Damit wurden Einwilligung und Patientenwille zu eigenständigen Voraussetzungen rechtmäßiger Behandlung.</a:t>
            </a:r>
          </a:p>
        </p:txBody>
      </p:sp>
      <p:sp>
        <p:nvSpPr>
          <p:cNvPr id="14" name="">
            <a:extLst xmlns:a="http://schemas.openxmlformats.org/drawingml/2006/main">
              <a:ext uri="{FF2B5EF4-FFF2-40B4-BE49-F238E27FC236}">
                <a16:creationId xmlns:a16="http://schemas.microsoft.com/office/drawing/2014/main" id="{32E5D9FB-695C-4F99-946C-6EAC843EFA54}"/>
              </a:ext>
            </a:extLst>
          </p:cNvPr>
          <p:cNvSpPr>
            <a:spLocks xmlns:a="http://schemas.openxmlformats.org/drawingml/2006/main" noGrp="1"/>
          </p:cNvSpPr>
          <p:nvPr/>
        </p:nvSpPr>
        <p:spPr>
          <a:xfrm xmlns:a="http://schemas.openxmlformats.org/drawingml/2006/main">
            <a:off x="1981200" y="4572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B2BB"/>
                </a:solidFill>
              </a:defRPr>
            </a:pPr>
            <a:r>
              <a:rPr sz="713" b="1">
                <a:solidFill>
                  <a:srgbClr val="00B2BB"/>
                </a:solidFill>
              </a:rPr>
              <a:t>PRAXIS</a:t>
            </a:r>
          </a:p>
        </p:txBody>
      </p:sp>
      <p:sp>
        <p:nvSpPr>
          <p:cNvPr id="15" name="">
            <a:extLst xmlns:a="http://schemas.openxmlformats.org/drawingml/2006/main">
              <a:ext uri="{FF2B5EF4-FFF2-40B4-BE49-F238E27FC236}">
                <a16:creationId xmlns:a16="http://schemas.microsoft.com/office/drawing/2014/main" id="{4E2C3B14-C112-486A-B2E3-5E53CC13FEF0}"/>
              </a:ext>
            </a:extLst>
          </p:cNvPr>
          <p:cNvSpPr>
            <a:spLocks xmlns:a="http://schemas.openxmlformats.org/drawingml/2006/main" noGrp="1"/>
          </p:cNvSpPr>
          <p:nvPr/>
        </p:nvSpPr>
        <p:spPr>
          <a:xfrm xmlns:a="http://schemas.openxmlformats.org/drawingml/2006/main">
            <a:off x="2590800" y="4552950"/>
            <a:ext cx="3695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765">
                <a:solidFill>
                  <a:srgbClr val="15232B"/>
                </a:solidFill>
              </a:defRPr>
            </a:pPr>
            <a:r>
              <a:rPr sz="765">
                <a:solidFill>
                  <a:srgbClr val="15232B"/>
                </a:solidFill>
              </a:rPr>
              <a:t>Vor jeder nicht notfallbedingten invasiven Maßnahme müssen Indikation, Einwilligungsfähigkeit, Aufklärung und Einwilligung getrennt geprüft und dokumentiert werden.</a:t>
            </a:r>
          </a:p>
        </p:txBody>
      </p:sp>
      <p:sp>
        <p:nvSpPr>
          <p:cNvPr id="16" name="">
            <a:extLst xmlns:a="http://schemas.openxmlformats.org/drawingml/2006/main">
              <a:ext uri="{FF2B5EF4-FFF2-40B4-BE49-F238E27FC236}">
                <a16:creationId xmlns:a16="http://schemas.microsoft.com/office/drawing/2014/main" id="{77E9D533-26EC-463B-BC48-8F387132EA92}"/>
              </a:ext>
            </a:extLst>
          </p:cNvPr>
          <p:cNvSpPr>
            <a:spLocks xmlns:a="http://schemas.openxmlformats.org/drawingml/2006/main" noGrp="1"/>
          </p:cNvSpPr>
          <p:nvPr/>
        </p:nvSpPr>
        <p:spPr>
          <a:xfrm xmlns:a="http://schemas.openxmlformats.org/drawingml/2006/main">
            <a:off x="1981200" y="4962525"/>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615">
                <a:solidFill>
                  <a:srgbClr val="667680"/>
                </a:solidFill>
              </a:defRPr>
            </a:pPr>
            <a:r>
              <a:rPr sz="615">
                <a:solidFill>
                  <a:srgbClr val="667680"/>
                </a:solidFill>
              </a:rPr>
              <a:t>1. Historische Leitentscheidung; heutige Dogmatik über §§ 223, 228 StGB und §§ 630d, 630e BGB.</a:t>
            </a:r>
          </a:p>
        </p:txBody>
      </p:sp>
      <p:sp>
        <p:nvSpPr>
          <p:cNvPr id="17" name="">
            <a:extLst xmlns:a="http://schemas.openxmlformats.org/drawingml/2006/main">
              <a:ext uri="{FF2B5EF4-FFF2-40B4-BE49-F238E27FC236}">
                <a16:creationId xmlns:a16="http://schemas.microsoft.com/office/drawing/2014/main" id="{737746BF-6B8F-444B-A797-275F15D1915E}"/>
              </a:ext>
            </a:extLst>
          </p:cNvPr>
          <p:cNvSpPr>
            <a:spLocks xmlns:a="http://schemas.openxmlformats.org/drawingml/2006/main" noGrp="1"/>
          </p:cNvSpPr>
          <p:nvPr/>
        </p:nvSpPr>
        <p:spPr>
          <a:xfrm xmlns:a="http://schemas.openxmlformats.org/drawingml/2006/main">
            <a:off x="6686550" y="1943100"/>
            <a:ext cx="4648200" cy="3238500"/>
          </a:xfrm>
          <a:prstGeom xmlns:a="http://schemas.openxmlformats.org/drawingml/2006/main" prst="roundRect">
            <a:avLst>
              <a:gd name="adj" fmla="val 2353"/>
            </a:avLst>
          </a:prstGeom>
          <a:solidFill xmlns:a="http://schemas.openxmlformats.org/drawingml/2006/main">
            <a:srgbClr val="FFFFFF"/>
          </a:solidFill>
          <a:ln xmlns:a="http://schemas.openxmlformats.org/drawingml/2006/main" w="10478">
            <a:solidFill>
              <a:srgbClr val="B9CAD2"/>
            </a:solidFill>
            <a:prstDash val="solid"/>
          </a:ln>
        </p:spPr>
      </p:sp>
      <p:sp>
        <p:nvSpPr>
          <p:cNvPr id="18" name="">
            <a:extLst xmlns:a="http://schemas.openxmlformats.org/drawingml/2006/main">
              <a:ext uri="{FF2B5EF4-FFF2-40B4-BE49-F238E27FC236}">
                <a16:creationId xmlns:a16="http://schemas.microsoft.com/office/drawing/2014/main" id="{CBE5C47C-66DD-4F2D-9EFC-69486B5A1F52}"/>
              </a:ext>
            </a:extLst>
          </p:cNvPr>
          <p:cNvSpPr>
            <a:spLocks xmlns:a="http://schemas.openxmlformats.org/drawingml/2006/main" noGrp="1"/>
          </p:cNvSpPr>
          <p:nvPr/>
        </p:nvSpPr>
        <p:spPr>
          <a:xfrm xmlns:a="http://schemas.openxmlformats.org/drawingml/2006/main">
            <a:off x="6686550" y="1943100"/>
            <a:ext cx="4648200" cy="85725"/>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19" name="">
            <a:extLst xmlns:a="http://schemas.openxmlformats.org/drawingml/2006/main">
              <a:ext uri="{FF2B5EF4-FFF2-40B4-BE49-F238E27FC236}">
                <a16:creationId xmlns:a16="http://schemas.microsoft.com/office/drawing/2014/main" id="{6FCA8A6A-9244-406A-84D5-96206B18E7F5}"/>
              </a:ext>
            </a:extLst>
          </p:cNvPr>
          <p:cNvSpPr>
            <a:spLocks xmlns:a="http://schemas.openxmlformats.org/drawingml/2006/main" noGrp="1"/>
          </p:cNvSpPr>
          <p:nvPr/>
        </p:nvSpPr>
        <p:spPr>
          <a:xfrm xmlns:a="http://schemas.openxmlformats.org/drawingml/2006/main">
            <a:off x="6838950" y="2133600"/>
            <a:ext cx="1066800" cy="266700"/>
          </a:xfrm>
          <a:prstGeom xmlns:a="http://schemas.openxmlformats.org/drawingml/2006/main" prst="roundRect">
            <a:avLst>
              <a:gd name="adj" fmla="val 28571"/>
            </a:avLst>
          </a:prstGeom>
          <a:solidFill xmlns:a="http://schemas.openxmlformats.org/drawingml/2006/main">
            <a:srgbClr val="00B2BB"/>
          </a:solidFill>
          <a:ln xmlns:a="http://schemas.openxmlformats.org/drawingml/2006/main" w="0">
            <a:solidFill>
              <a:srgbClr val="00B2BB"/>
            </a:solidFill>
            <a:prstDash val="solid"/>
          </a:ln>
        </p:spPr>
      </p:sp>
      <p:sp>
        <p:nvSpPr>
          <p:cNvPr id="20" name="">
            <a:extLst xmlns:a="http://schemas.openxmlformats.org/drawingml/2006/main">
              <a:ext uri="{FF2B5EF4-FFF2-40B4-BE49-F238E27FC236}">
                <a16:creationId xmlns:a16="http://schemas.microsoft.com/office/drawing/2014/main" id="{F2560175-F970-4278-85E3-94C288DA3C78}"/>
              </a:ext>
            </a:extLst>
          </p:cNvPr>
          <p:cNvSpPr>
            <a:spLocks xmlns:a="http://schemas.openxmlformats.org/drawingml/2006/main" noGrp="1"/>
          </p:cNvSpPr>
          <p:nvPr/>
        </p:nvSpPr>
        <p:spPr>
          <a:xfrm xmlns:a="http://schemas.openxmlformats.org/drawingml/2006/main">
            <a:off x="6838950" y="21336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40" b="1">
                <a:solidFill>
                  <a:srgbClr val="FFFFFF"/>
                </a:solidFill>
              </a:defRPr>
            </a:pPr>
            <a:r>
              <a:rPr sz="840" b="1">
                <a:solidFill>
                  <a:srgbClr val="FFFFFF"/>
                </a:solidFill>
              </a:rPr>
              <a:t>KERNBESTAND</a:t>
            </a:r>
          </a:p>
        </p:txBody>
      </p:sp>
      <p:sp>
        <p:nvSpPr>
          <p:cNvPr id="21" name="">
            <a:extLst xmlns:a="http://schemas.openxmlformats.org/drawingml/2006/main">
              <a:ext uri="{FF2B5EF4-FFF2-40B4-BE49-F238E27FC236}">
                <a16:creationId xmlns:a16="http://schemas.microsoft.com/office/drawing/2014/main" id="{DB7BE364-91BB-4339-B438-9BE6CC18AC66}"/>
              </a:ext>
            </a:extLst>
          </p:cNvPr>
          <p:cNvSpPr>
            <a:spLocks xmlns:a="http://schemas.openxmlformats.org/drawingml/2006/main" noGrp="1"/>
          </p:cNvSpPr>
          <p:nvPr/>
        </p:nvSpPr>
        <p:spPr>
          <a:xfrm xmlns:a="http://schemas.openxmlformats.org/drawingml/2006/main">
            <a:off x="8020050" y="2133600"/>
            <a:ext cx="3162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35" b="1">
                <a:solidFill>
                  <a:srgbClr val="003F6B"/>
                </a:solidFill>
              </a:defRPr>
            </a:pPr>
            <a:r>
              <a:rPr sz="735" b="1">
                <a:solidFill>
                  <a:srgbClr val="003F6B"/>
                </a:solidFill>
              </a:rPr>
              <a:t>BGH · 09.12.1958 · VI ZR 203/57</a:t>
            </a:r>
          </a:p>
        </p:txBody>
      </p:sp>
      <p:sp>
        <p:nvSpPr>
          <p:cNvPr id="22" name="">
            <a:extLst xmlns:a="http://schemas.openxmlformats.org/drawingml/2006/main">
              <a:ext uri="{FF2B5EF4-FFF2-40B4-BE49-F238E27FC236}">
                <a16:creationId xmlns:a16="http://schemas.microsoft.com/office/drawing/2014/main" id="{907FF9FB-4C74-44E7-990E-66308864D960}"/>
              </a:ext>
            </a:extLst>
          </p:cNvPr>
          <p:cNvSpPr>
            <a:spLocks xmlns:a="http://schemas.openxmlformats.org/drawingml/2006/main" noGrp="1"/>
          </p:cNvSpPr>
          <p:nvPr/>
        </p:nvSpPr>
        <p:spPr>
          <a:xfrm xmlns:a="http://schemas.openxmlformats.org/drawingml/2006/main">
            <a:off x="6858000" y="2476500"/>
            <a:ext cx="430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15" b="1">
                <a:solidFill>
                  <a:srgbClr val="003F6B"/>
                </a:solidFill>
              </a:defRPr>
            </a:pPr>
            <a:r>
              <a:rPr sz="1215" b="1">
                <a:solidFill>
                  <a:srgbClr val="003F6B"/>
                </a:solidFill>
              </a:rPr>
              <a:t>Selbstbestimmungsaufklärung als Grenze ärztlicher Therapiefreiheit</a:t>
            </a:r>
          </a:p>
        </p:txBody>
      </p:sp>
      <p:sp>
        <p:nvSpPr>
          <p:cNvPr id="23" name="">
            <a:extLst xmlns:a="http://schemas.openxmlformats.org/drawingml/2006/main">
              <a:ext uri="{FF2B5EF4-FFF2-40B4-BE49-F238E27FC236}">
                <a16:creationId xmlns:a16="http://schemas.microsoft.com/office/drawing/2014/main" id="{EE20723E-2B5E-44C0-9F1C-A6227C1BA06C}"/>
              </a:ext>
            </a:extLst>
          </p:cNvPr>
          <p:cNvSpPr>
            <a:spLocks xmlns:a="http://schemas.openxmlformats.org/drawingml/2006/main" noGrp="1"/>
          </p:cNvSpPr>
          <p:nvPr/>
        </p:nvSpPr>
        <p:spPr>
          <a:xfrm xmlns:a="http://schemas.openxmlformats.org/drawingml/2006/main">
            <a:off x="6858000" y="29908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B2BB"/>
                </a:solidFill>
              </a:defRPr>
            </a:pPr>
            <a:r>
              <a:rPr sz="713" b="1">
                <a:solidFill>
                  <a:srgbClr val="00B2BB"/>
                </a:solidFill>
              </a:rPr>
              <a:t>TENOR / LEITSATZKERN</a:t>
            </a:r>
          </a:p>
        </p:txBody>
      </p:sp>
      <p:sp>
        <p:nvSpPr>
          <p:cNvPr id="24" name="">
            <a:extLst xmlns:a="http://schemas.openxmlformats.org/drawingml/2006/main">
              <a:ext uri="{FF2B5EF4-FFF2-40B4-BE49-F238E27FC236}">
                <a16:creationId xmlns:a16="http://schemas.microsoft.com/office/drawing/2014/main" id="{B5C15B46-980E-4DE5-BC8D-FAEC2F188234}"/>
              </a:ext>
            </a:extLst>
          </p:cNvPr>
          <p:cNvSpPr>
            <a:spLocks xmlns:a="http://schemas.openxmlformats.org/drawingml/2006/main" noGrp="1"/>
          </p:cNvSpPr>
          <p:nvPr/>
        </p:nvSpPr>
        <p:spPr>
          <a:xfrm xmlns:a="http://schemas.openxmlformats.org/drawingml/2006/main">
            <a:off x="6858000" y="3181350"/>
            <a:ext cx="43053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55">
                <a:solidFill>
                  <a:srgbClr val="15232B"/>
                </a:solidFill>
              </a:defRPr>
            </a:pPr>
            <a:r>
              <a:rPr sz="855">
                <a:solidFill>
                  <a:srgbClr val="15232B"/>
                </a:solidFill>
              </a:rPr>
              <a:t>Das therapeutische Bemühen endet dort, wo es mit dem Recht des Patienten kollidiert, selbst über den eigenen Körper zu bestimmen.</a:t>
            </a:r>
          </a:p>
        </p:txBody>
      </p:sp>
      <p:sp>
        <p:nvSpPr>
          <p:cNvPr id="25" name="">
            <a:extLst xmlns:a="http://schemas.openxmlformats.org/drawingml/2006/main">
              <a:ext uri="{FF2B5EF4-FFF2-40B4-BE49-F238E27FC236}">
                <a16:creationId xmlns:a16="http://schemas.microsoft.com/office/drawing/2014/main" id="{B1C5A7D2-0720-4F61-8C30-63524691391E}"/>
              </a:ext>
            </a:extLst>
          </p:cNvPr>
          <p:cNvSpPr>
            <a:spLocks xmlns:a="http://schemas.openxmlformats.org/drawingml/2006/main" noGrp="1"/>
          </p:cNvSpPr>
          <p:nvPr/>
        </p:nvSpPr>
        <p:spPr>
          <a:xfrm xmlns:a="http://schemas.openxmlformats.org/drawingml/2006/main">
            <a:off x="6858000" y="381000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3F6B"/>
                </a:solidFill>
              </a:defRPr>
            </a:pPr>
            <a:r>
              <a:rPr sz="713" b="1">
                <a:solidFill>
                  <a:srgbClr val="003F6B"/>
                </a:solidFill>
              </a:rPr>
              <a:t>TRAGENDE AUSSAGE</a:t>
            </a:r>
          </a:p>
        </p:txBody>
      </p:sp>
      <p:sp>
        <p:nvSpPr>
          <p:cNvPr id="26" name="">
            <a:extLst xmlns:a="http://schemas.openxmlformats.org/drawingml/2006/main">
              <a:ext uri="{FF2B5EF4-FFF2-40B4-BE49-F238E27FC236}">
                <a16:creationId xmlns:a16="http://schemas.microsoft.com/office/drawing/2014/main" id="{956534D9-8CE6-4D72-A5F1-66E7E701B5E2}"/>
              </a:ext>
            </a:extLst>
          </p:cNvPr>
          <p:cNvSpPr>
            <a:spLocks xmlns:a="http://schemas.openxmlformats.org/drawingml/2006/main" noGrp="1"/>
          </p:cNvSpPr>
          <p:nvPr/>
        </p:nvSpPr>
        <p:spPr>
          <a:xfrm xmlns:a="http://schemas.openxmlformats.org/drawingml/2006/main">
            <a:off x="6858000" y="4000500"/>
            <a:ext cx="43053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10">
                <a:solidFill>
                  <a:srgbClr val="15232B"/>
                </a:solidFill>
              </a:defRPr>
            </a:pPr>
            <a:r>
              <a:rPr sz="810">
                <a:solidFill>
                  <a:srgbClr val="15232B"/>
                </a:solidFill>
              </a:rPr>
              <a:t>Der Patient muss Art und Folgen des Eingriffs im Großen und Ganzen verstehen können. Das Urteil wurde zum Ausgangspunkt der zivilrechtlichen Aufklärungsrechtsprechung.</a:t>
            </a:r>
          </a:p>
        </p:txBody>
      </p:sp>
      <p:sp>
        <p:nvSpPr>
          <p:cNvPr id="27" name="">
            <a:extLst xmlns:a="http://schemas.openxmlformats.org/drawingml/2006/main">
              <a:ext uri="{FF2B5EF4-FFF2-40B4-BE49-F238E27FC236}">
                <a16:creationId xmlns:a16="http://schemas.microsoft.com/office/drawing/2014/main" id="{D93905BF-F999-44AD-9673-3AA9D9D59A5C}"/>
              </a:ext>
            </a:extLst>
          </p:cNvPr>
          <p:cNvSpPr>
            <a:spLocks xmlns:a="http://schemas.openxmlformats.org/drawingml/2006/main" noGrp="1"/>
          </p:cNvSpPr>
          <p:nvPr/>
        </p:nvSpPr>
        <p:spPr>
          <a:xfrm xmlns:a="http://schemas.openxmlformats.org/drawingml/2006/main">
            <a:off x="6858000" y="4572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B2BB"/>
                </a:solidFill>
              </a:defRPr>
            </a:pPr>
            <a:r>
              <a:rPr sz="713" b="1">
                <a:solidFill>
                  <a:srgbClr val="00B2BB"/>
                </a:solidFill>
              </a:rPr>
              <a:t>PRAXIS</a:t>
            </a:r>
          </a:p>
        </p:txBody>
      </p:sp>
      <p:sp>
        <p:nvSpPr>
          <p:cNvPr id="28" name="">
            <a:extLst xmlns:a="http://schemas.openxmlformats.org/drawingml/2006/main">
              <a:ext uri="{FF2B5EF4-FFF2-40B4-BE49-F238E27FC236}">
                <a16:creationId xmlns:a16="http://schemas.microsoft.com/office/drawing/2014/main" id="{C8BF8E57-B421-4101-A03C-F0553818883E}"/>
              </a:ext>
            </a:extLst>
          </p:cNvPr>
          <p:cNvSpPr>
            <a:spLocks xmlns:a="http://schemas.openxmlformats.org/drawingml/2006/main" noGrp="1"/>
          </p:cNvSpPr>
          <p:nvPr/>
        </p:nvSpPr>
        <p:spPr>
          <a:xfrm xmlns:a="http://schemas.openxmlformats.org/drawingml/2006/main">
            <a:off x="7467600" y="4552950"/>
            <a:ext cx="3695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765">
                <a:solidFill>
                  <a:srgbClr val="15232B"/>
                </a:solidFill>
              </a:defRPr>
            </a:pPr>
            <a:r>
              <a:rPr sz="765">
                <a:solidFill>
                  <a:srgbClr val="15232B"/>
                </a:solidFill>
              </a:rPr>
              <a:t>Aufklärung ist keine Unterschriftensammlung, sondern ermöglicht eine autonome Entscheidung; Inhalt, Gespräch und besondere Rückfragen müssen nachvollziehbar sein.</a:t>
            </a:r>
          </a:p>
        </p:txBody>
      </p:sp>
      <p:sp>
        <p:nvSpPr>
          <p:cNvPr id="29" name="">
            <a:extLst xmlns:a="http://schemas.openxmlformats.org/drawingml/2006/main">
              <a:ext uri="{FF2B5EF4-FFF2-40B4-BE49-F238E27FC236}">
                <a16:creationId xmlns:a16="http://schemas.microsoft.com/office/drawing/2014/main" id="{EDB228F3-C80B-4699-9678-D15655720727}"/>
              </a:ext>
            </a:extLst>
          </p:cNvPr>
          <p:cNvSpPr>
            <a:spLocks xmlns:a="http://schemas.openxmlformats.org/drawingml/2006/main" noGrp="1"/>
          </p:cNvSpPr>
          <p:nvPr/>
        </p:nvSpPr>
        <p:spPr>
          <a:xfrm xmlns:a="http://schemas.openxmlformats.org/drawingml/2006/main">
            <a:off x="6858000" y="4962525"/>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615">
                <a:solidFill>
                  <a:srgbClr val="667680"/>
                </a:solidFill>
              </a:defRPr>
            </a:pPr>
            <a:r>
              <a:rPr sz="615">
                <a:solidFill>
                  <a:srgbClr val="667680"/>
                </a:solidFill>
              </a:rPr>
              <a:t>2. Historische Grundsatzentscheidung; heute in §§ 630d, 630e BGB fortentwickelt und kodifiziert.</a:t>
            </a:r>
          </a:p>
        </p:txBody>
      </p:sp>
      <p:sp>
        <p:nvSpPr>
          <p:cNvPr id="30" name="">
            <a:extLst xmlns:a="http://schemas.openxmlformats.org/drawingml/2006/main">
              <a:ext uri="{FF2B5EF4-FFF2-40B4-BE49-F238E27FC236}">
                <a16:creationId xmlns:a16="http://schemas.microsoft.com/office/drawing/2014/main" id="{BF10338B-1A86-4306-882B-1CFA7E0C1AD4}"/>
              </a:ext>
            </a:extLst>
          </p:cNvPr>
          <p:cNvSpPr>
            <a:spLocks xmlns:a="http://schemas.openxmlformats.org/drawingml/2006/main" noGrp="1"/>
          </p:cNvSpPr>
          <p:nvPr/>
        </p:nvSpPr>
        <p:spPr>
          <a:xfrm xmlns:a="http://schemas.openxmlformats.org/drawingml/2006/main">
            <a:off x="1809750" y="5314950"/>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675">
                <a:solidFill>
                  <a:srgbClr val="667680"/>
                </a:solidFill>
              </a:defRPr>
            </a:pPr>
            <a:r>
              <a:rPr sz="675">
                <a:solidFill>
                  <a:srgbClr val="667680"/>
                </a:solidFill>
              </a:rPr>
              <a:t>Originalquellen: https://www.jura.uni-wuerzburg.de/fileadmin/02150400/2021/Schuster_OstAStrR_4_2018_213-227.pdf · https://dejure.org/1958,126</a:t>
            </a:r>
          </a:p>
        </p:txBody>
      </p:sp>
    </p:spTree>
    <p:extLst>
      <p:ext uri="{BB962C8B-B14F-4D97-AF65-F5344CB8AC3E}">
        <p14:creationId xmlns:p14="http://schemas.microsoft.com/office/powerpoint/2010/main" val="43637646"/>
      </p:ext>
    </p:extLst>
  </p:cSld>
</p:sld>
</file>

<file path=ppt/slides/slide428.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Schweigepflicht &amp; Datenschutz · Dokumentation &amp; Akteneinsicht</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LEITENTSCHEIDUNGEN · 02/20</a:t>
            </a:r>
            <a:endParaRPr/>
          </a:p>
        </p:txBody>
      </p:sp>
      <p:sp>
        <p:nvSpPr>
          <p:cNvPr id="4" name="">
            <a:extLst xmlns:a="http://schemas.openxmlformats.org/drawingml/2006/main">
              <a:ext uri="{FF2B5EF4-FFF2-40B4-BE49-F238E27FC236}">
                <a16:creationId xmlns:a16="http://schemas.microsoft.com/office/drawing/2014/main" id="{D8D6B971-9084-4B41-80BC-87747656337D}"/>
              </a:ext>
            </a:extLst>
          </p:cNvPr>
          <p:cNvSpPr>
            <a:spLocks xmlns:a="http://schemas.openxmlformats.org/drawingml/2006/main" noGrp="1"/>
          </p:cNvSpPr>
          <p:nvPr/>
        </p:nvSpPr>
        <p:spPr>
          <a:xfrm xmlns:a="http://schemas.openxmlformats.org/drawingml/2006/main">
            <a:off x="1809750" y="1943100"/>
            <a:ext cx="4648200" cy="3238500"/>
          </a:xfrm>
          <a:prstGeom xmlns:a="http://schemas.openxmlformats.org/drawingml/2006/main" prst="roundRect">
            <a:avLst>
              <a:gd name="adj" fmla="val 2353"/>
            </a:avLst>
          </a:prstGeom>
          <a:solidFill xmlns:a="http://schemas.openxmlformats.org/drawingml/2006/main">
            <a:srgbClr val="FFFFFF"/>
          </a:solidFill>
          <a:ln xmlns:a="http://schemas.openxmlformats.org/drawingml/2006/main" w="10478">
            <a:solidFill>
              <a:srgbClr val="B9CAD2"/>
            </a:solidFill>
            <a:prstDash val="solid"/>
          </a:ln>
        </p:spPr>
      </p:sp>
      <p:sp>
        <p:nvSpPr>
          <p:cNvPr id="5" name="">
            <a:extLst xmlns:a="http://schemas.openxmlformats.org/drawingml/2006/main">
              <a:ext uri="{FF2B5EF4-FFF2-40B4-BE49-F238E27FC236}">
                <a16:creationId xmlns:a16="http://schemas.microsoft.com/office/drawing/2014/main" id="{D1F80A81-6B41-40AC-ABD2-A2C0D8D0A709}"/>
              </a:ext>
            </a:extLst>
          </p:cNvPr>
          <p:cNvSpPr>
            <a:spLocks xmlns:a="http://schemas.openxmlformats.org/drawingml/2006/main" noGrp="1"/>
          </p:cNvSpPr>
          <p:nvPr/>
        </p:nvSpPr>
        <p:spPr>
          <a:xfrm xmlns:a="http://schemas.openxmlformats.org/drawingml/2006/main">
            <a:off x="1809750" y="1943100"/>
            <a:ext cx="4648200" cy="85725"/>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36A47EA2-7BC5-4916-87DA-953389F481D9}"/>
              </a:ext>
            </a:extLst>
          </p:cNvPr>
          <p:cNvSpPr>
            <a:spLocks xmlns:a="http://schemas.openxmlformats.org/drawingml/2006/main" noGrp="1"/>
          </p:cNvSpPr>
          <p:nvPr/>
        </p:nvSpPr>
        <p:spPr>
          <a:xfrm xmlns:a="http://schemas.openxmlformats.org/drawingml/2006/main">
            <a:off x="1962150" y="2133600"/>
            <a:ext cx="1066800" cy="266700"/>
          </a:xfrm>
          <a:prstGeom xmlns:a="http://schemas.openxmlformats.org/drawingml/2006/main" prst="roundRect">
            <a:avLst>
              <a:gd name="adj" fmla="val 28571"/>
            </a:avLst>
          </a:prstGeom>
          <a:solidFill xmlns:a="http://schemas.openxmlformats.org/drawingml/2006/main">
            <a:srgbClr val="00B2BB"/>
          </a:solidFill>
          <a:ln xmlns:a="http://schemas.openxmlformats.org/drawingml/2006/main" w="0">
            <a:solidFill>
              <a:srgbClr val="00B2BB"/>
            </a:solidFill>
            <a:prstDash val="solid"/>
          </a:ln>
        </p:spPr>
      </p:sp>
      <p:sp>
        <p:nvSpPr>
          <p:cNvPr id="7" name="">
            <a:extLst xmlns:a="http://schemas.openxmlformats.org/drawingml/2006/main">
              <a:ext uri="{FF2B5EF4-FFF2-40B4-BE49-F238E27FC236}">
                <a16:creationId xmlns:a16="http://schemas.microsoft.com/office/drawing/2014/main" id="{408B3324-DF85-4C8D-A010-54CD44C1662B}"/>
              </a:ext>
            </a:extLst>
          </p:cNvPr>
          <p:cNvSpPr>
            <a:spLocks xmlns:a="http://schemas.openxmlformats.org/drawingml/2006/main" noGrp="1"/>
          </p:cNvSpPr>
          <p:nvPr/>
        </p:nvSpPr>
        <p:spPr>
          <a:xfrm xmlns:a="http://schemas.openxmlformats.org/drawingml/2006/main">
            <a:off x="1962150" y="21336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40" b="1">
                <a:solidFill>
                  <a:srgbClr val="FFFFFF"/>
                </a:solidFill>
              </a:defRPr>
            </a:pPr>
            <a:r>
              <a:rPr sz="840" b="1">
                <a:solidFill>
                  <a:srgbClr val="FFFFFF"/>
                </a:solidFill>
              </a:rPr>
              <a:t>KERNBESTAND</a:t>
            </a:r>
          </a:p>
        </p:txBody>
      </p:sp>
      <p:sp>
        <p:nvSpPr>
          <p:cNvPr id="8" name="">
            <a:extLst xmlns:a="http://schemas.openxmlformats.org/drawingml/2006/main">
              <a:ext uri="{FF2B5EF4-FFF2-40B4-BE49-F238E27FC236}">
                <a16:creationId xmlns:a16="http://schemas.microsoft.com/office/drawing/2014/main" id="{30DFFE4D-8896-470B-872C-A789BADC37AE}"/>
              </a:ext>
            </a:extLst>
          </p:cNvPr>
          <p:cNvSpPr>
            <a:spLocks xmlns:a="http://schemas.openxmlformats.org/drawingml/2006/main" noGrp="1"/>
          </p:cNvSpPr>
          <p:nvPr/>
        </p:nvSpPr>
        <p:spPr>
          <a:xfrm xmlns:a="http://schemas.openxmlformats.org/drawingml/2006/main">
            <a:off x="3143250" y="2133600"/>
            <a:ext cx="3162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35" b="1">
                <a:solidFill>
                  <a:srgbClr val="003F6B"/>
                </a:solidFill>
              </a:defRPr>
            </a:pPr>
            <a:r>
              <a:rPr sz="735" b="1">
                <a:solidFill>
                  <a:srgbClr val="003F6B"/>
                </a:solidFill>
              </a:rPr>
              <a:t>BVerfG · 08.03.1972 · 2 BvR 28/71</a:t>
            </a:r>
          </a:p>
        </p:txBody>
      </p:sp>
      <p:sp>
        <p:nvSpPr>
          <p:cNvPr id="9" name="">
            <a:extLst xmlns:a="http://schemas.openxmlformats.org/drawingml/2006/main">
              <a:ext uri="{FF2B5EF4-FFF2-40B4-BE49-F238E27FC236}">
                <a16:creationId xmlns:a16="http://schemas.microsoft.com/office/drawing/2014/main" id="{79A90053-72A9-4824-8D5B-EF9BE0D5B707}"/>
              </a:ext>
            </a:extLst>
          </p:cNvPr>
          <p:cNvSpPr>
            <a:spLocks xmlns:a="http://schemas.openxmlformats.org/drawingml/2006/main" noGrp="1"/>
          </p:cNvSpPr>
          <p:nvPr/>
        </p:nvSpPr>
        <p:spPr>
          <a:xfrm xmlns:a="http://schemas.openxmlformats.org/drawingml/2006/main">
            <a:off x="1981200" y="2476500"/>
            <a:ext cx="430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15" b="1">
                <a:solidFill>
                  <a:srgbClr val="003F6B"/>
                </a:solidFill>
              </a:defRPr>
            </a:pPr>
            <a:r>
              <a:rPr sz="1215" b="1">
                <a:solidFill>
                  <a:srgbClr val="003F6B"/>
                </a:solidFill>
              </a:rPr>
              <a:t>Ärztliche Schweigepflicht und Vertrauensschutz</a:t>
            </a:r>
          </a:p>
        </p:txBody>
      </p:sp>
      <p:sp>
        <p:nvSpPr>
          <p:cNvPr id="10" name="">
            <a:extLst xmlns:a="http://schemas.openxmlformats.org/drawingml/2006/main">
              <a:ext uri="{FF2B5EF4-FFF2-40B4-BE49-F238E27FC236}">
                <a16:creationId xmlns:a16="http://schemas.microsoft.com/office/drawing/2014/main" id="{364804D3-4396-4608-8ED1-EE762F52F0B7}"/>
              </a:ext>
            </a:extLst>
          </p:cNvPr>
          <p:cNvSpPr>
            <a:spLocks xmlns:a="http://schemas.openxmlformats.org/drawingml/2006/main" noGrp="1"/>
          </p:cNvSpPr>
          <p:nvPr/>
        </p:nvSpPr>
        <p:spPr>
          <a:xfrm xmlns:a="http://schemas.openxmlformats.org/drawingml/2006/main">
            <a:off x="1981200" y="29908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B2BB"/>
                </a:solidFill>
              </a:defRPr>
            </a:pPr>
            <a:r>
              <a:rPr sz="713" b="1">
                <a:solidFill>
                  <a:srgbClr val="00B2BB"/>
                </a:solidFill>
              </a:rPr>
              <a:t>TENOR / LEITSATZKERN</a:t>
            </a:r>
          </a:p>
        </p:txBody>
      </p:sp>
      <p:sp>
        <p:nvSpPr>
          <p:cNvPr id="11" name="">
            <a:extLst xmlns:a="http://schemas.openxmlformats.org/drawingml/2006/main">
              <a:ext uri="{FF2B5EF4-FFF2-40B4-BE49-F238E27FC236}">
                <a16:creationId xmlns:a16="http://schemas.microsoft.com/office/drawing/2014/main" id="{7C433EBF-B93E-4201-B71D-FC7D1C874130}"/>
              </a:ext>
            </a:extLst>
          </p:cNvPr>
          <p:cNvSpPr>
            <a:spLocks xmlns:a="http://schemas.openxmlformats.org/drawingml/2006/main" noGrp="1"/>
          </p:cNvSpPr>
          <p:nvPr/>
        </p:nvSpPr>
        <p:spPr>
          <a:xfrm xmlns:a="http://schemas.openxmlformats.org/drawingml/2006/main">
            <a:off x="1981200" y="3181350"/>
            <a:ext cx="43053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55">
                <a:solidFill>
                  <a:srgbClr val="15232B"/>
                </a:solidFill>
              </a:defRPr>
            </a:pPr>
            <a:r>
              <a:rPr sz="855">
                <a:solidFill>
                  <a:srgbClr val="15232B"/>
                </a:solidFill>
              </a:rPr>
              <a:t>Gesundheitsdaten gehören zur geschützten Privatsphäre; Zeugnisverweigerungs- und Beschlagnahmeschutz sichern das für Behandlung notwendige Vertrauen.</a:t>
            </a:r>
          </a:p>
        </p:txBody>
      </p:sp>
      <p:sp>
        <p:nvSpPr>
          <p:cNvPr id="12" name="">
            <a:extLst xmlns:a="http://schemas.openxmlformats.org/drawingml/2006/main">
              <a:ext uri="{FF2B5EF4-FFF2-40B4-BE49-F238E27FC236}">
                <a16:creationId xmlns:a16="http://schemas.microsoft.com/office/drawing/2014/main" id="{0032DD61-6960-4AC9-A9F6-0FC4376F48C1}"/>
              </a:ext>
            </a:extLst>
          </p:cNvPr>
          <p:cNvSpPr>
            <a:spLocks xmlns:a="http://schemas.openxmlformats.org/drawingml/2006/main" noGrp="1"/>
          </p:cNvSpPr>
          <p:nvPr/>
        </p:nvSpPr>
        <p:spPr>
          <a:xfrm xmlns:a="http://schemas.openxmlformats.org/drawingml/2006/main">
            <a:off x="1981200" y="381000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3F6B"/>
                </a:solidFill>
              </a:defRPr>
            </a:pPr>
            <a:r>
              <a:rPr sz="713" b="1">
                <a:solidFill>
                  <a:srgbClr val="003F6B"/>
                </a:solidFill>
              </a:rPr>
              <a:t>TRAGENDE AUSSAGE</a:t>
            </a:r>
          </a:p>
        </p:txBody>
      </p:sp>
      <p:sp>
        <p:nvSpPr>
          <p:cNvPr id="13" name="">
            <a:extLst xmlns:a="http://schemas.openxmlformats.org/drawingml/2006/main">
              <a:ext uri="{FF2B5EF4-FFF2-40B4-BE49-F238E27FC236}">
                <a16:creationId xmlns:a16="http://schemas.microsoft.com/office/drawing/2014/main" id="{9CC774D2-451C-4A11-A14F-537ABAA1D414}"/>
              </a:ext>
            </a:extLst>
          </p:cNvPr>
          <p:cNvSpPr>
            <a:spLocks xmlns:a="http://schemas.openxmlformats.org/drawingml/2006/main" noGrp="1"/>
          </p:cNvSpPr>
          <p:nvPr/>
        </p:nvSpPr>
        <p:spPr>
          <a:xfrm xmlns:a="http://schemas.openxmlformats.org/drawingml/2006/main">
            <a:off x="1981200" y="4000500"/>
            <a:ext cx="43053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10">
                <a:solidFill>
                  <a:srgbClr val="15232B"/>
                </a:solidFill>
              </a:defRPr>
            </a:pPr>
            <a:r>
              <a:rPr sz="810">
                <a:solidFill>
                  <a:srgbClr val="15232B"/>
                </a:solidFill>
              </a:rPr>
              <a:t>Das Vertrauensverhältnis zwischen Arzt und Patient besitzt verfassungsrechtliches Gewicht. Staatliche Informationszugriffe benötigen eine tragfähige gesetzliche Grundlage und Verhältnismäßigkeit.</a:t>
            </a:r>
          </a:p>
        </p:txBody>
      </p:sp>
      <p:sp>
        <p:nvSpPr>
          <p:cNvPr id="14" name="">
            <a:extLst xmlns:a="http://schemas.openxmlformats.org/drawingml/2006/main">
              <a:ext uri="{FF2B5EF4-FFF2-40B4-BE49-F238E27FC236}">
                <a16:creationId xmlns:a16="http://schemas.microsoft.com/office/drawing/2014/main" id="{351F45AD-BAAD-4B26-A926-FAF8D63CFCE7}"/>
              </a:ext>
            </a:extLst>
          </p:cNvPr>
          <p:cNvSpPr>
            <a:spLocks xmlns:a="http://schemas.openxmlformats.org/drawingml/2006/main" noGrp="1"/>
          </p:cNvSpPr>
          <p:nvPr/>
        </p:nvSpPr>
        <p:spPr>
          <a:xfrm xmlns:a="http://schemas.openxmlformats.org/drawingml/2006/main">
            <a:off x="1981200" y="4572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B2BB"/>
                </a:solidFill>
              </a:defRPr>
            </a:pPr>
            <a:r>
              <a:rPr sz="713" b="1">
                <a:solidFill>
                  <a:srgbClr val="00B2BB"/>
                </a:solidFill>
              </a:rPr>
              <a:t>PRAXIS</a:t>
            </a:r>
          </a:p>
        </p:txBody>
      </p:sp>
      <p:sp>
        <p:nvSpPr>
          <p:cNvPr id="15" name="">
            <a:extLst xmlns:a="http://schemas.openxmlformats.org/drawingml/2006/main">
              <a:ext uri="{FF2B5EF4-FFF2-40B4-BE49-F238E27FC236}">
                <a16:creationId xmlns:a16="http://schemas.microsoft.com/office/drawing/2014/main" id="{BBA25165-E7F1-4610-B255-9414D54DB847}"/>
              </a:ext>
            </a:extLst>
          </p:cNvPr>
          <p:cNvSpPr>
            <a:spLocks xmlns:a="http://schemas.openxmlformats.org/drawingml/2006/main" noGrp="1"/>
          </p:cNvSpPr>
          <p:nvPr/>
        </p:nvSpPr>
        <p:spPr>
          <a:xfrm xmlns:a="http://schemas.openxmlformats.org/drawingml/2006/main">
            <a:off x="2590800" y="4552950"/>
            <a:ext cx="3695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765">
                <a:solidFill>
                  <a:srgbClr val="15232B"/>
                </a:solidFill>
              </a:defRPr>
            </a:pPr>
            <a:r>
              <a:rPr sz="765">
                <a:solidFill>
                  <a:srgbClr val="15232B"/>
                </a:solidFill>
              </a:rPr>
              <a:t>Bei Polizei-, Staatsanwaltschafts- oder Gerichtsankontakt keine Akten spontan herausgeben: Rolle, Rechtsgrundlage, Beschlagnahmeschutz und Freigabe durch zuständige Stellen prüfen.</a:t>
            </a:r>
          </a:p>
        </p:txBody>
      </p:sp>
      <p:sp>
        <p:nvSpPr>
          <p:cNvPr id="16" name="">
            <a:extLst xmlns:a="http://schemas.openxmlformats.org/drawingml/2006/main">
              <a:ext uri="{FF2B5EF4-FFF2-40B4-BE49-F238E27FC236}">
                <a16:creationId xmlns:a16="http://schemas.microsoft.com/office/drawing/2014/main" id="{CB0E66DE-C368-479C-BD9B-280DD21C8EEF}"/>
              </a:ext>
            </a:extLst>
          </p:cNvPr>
          <p:cNvSpPr>
            <a:spLocks xmlns:a="http://schemas.openxmlformats.org/drawingml/2006/main" noGrp="1"/>
          </p:cNvSpPr>
          <p:nvPr/>
        </p:nvSpPr>
        <p:spPr>
          <a:xfrm xmlns:a="http://schemas.openxmlformats.org/drawingml/2006/main">
            <a:off x="1981200" y="4962525"/>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615">
                <a:solidFill>
                  <a:srgbClr val="667680"/>
                </a:solidFill>
              </a:defRPr>
            </a:pPr>
            <a:r>
              <a:rPr sz="615">
                <a:solidFill>
                  <a:srgbClr val="667680"/>
                </a:solidFill>
              </a:rPr>
              <a:t>3. BVerfGE 32, 373; fortwirkende Grundlage der verfassungsrechtlichen Schweigepflichtdogmatik.</a:t>
            </a:r>
          </a:p>
        </p:txBody>
      </p:sp>
      <p:sp>
        <p:nvSpPr>
          <p:cNvPr id="17" name="">
            <a:extLst xmlns:a="http://schemas.openxmlformats.org/drawingml/2006/main">
              <a:ext uri="{FF2B5EF4-FFF2-40B4-BE49-F238E27FC236}">
                <a16:creationId xmlns:a16="http://schemas.microsoft.com/office/drawing/2014/main" id="{3837E968-24E0-4804-915F-26F46FF9AA89}"/>
              </a:ext>
            </a:extLst>
          </p:cNvPr>
          <p:cNvSpPr>
            <a:spLocks xmlns:a="http://schemas.openxmlformats.org/drawingml/2006/main" noGrp="1"/>
          </p:cNvSpPr>
          <p:nvPr/>
        </p:nvSpPr>
        <p:spPr>
          <a:xfrm xmlns:a="http://schemas.openxmlformats.org/drawingml/2006/main">
            <a:off x="6686550" y="1943100"/>
            <a:ext cx="4648200" cy="3238500"/>
          </a:xfrm>
          <a:prstGeom xmlns:a="http://schemas.openxmlformats.org/drawingml/2006/main" prst="roundRect">
            <a:avLst>
              <a:gd name="adj" fmla="val 2353"/>
            </a:avLst>
          </a:prstGeom>
          <a:solidFill xmlns:a="http://schemas.openxmlformats.org/drawingml/2006/main">
            <a:srgbClr val="FFFFFF"/>
          </a:solidFill>
          <a:ln xmlns:a="http://schemas.openxmlformats.org/drawingml/2006/main" w="10478">
            <a:solidFill>
              <a:srgbClr val="B9CAD2"/>
            </a:solidFill>
            <a:prstDash val="solid"/>
          </a:ln>
        </p:spPr>
      </p:sp>
      <p:sp>
        <p:nvSpPr>
          <p:cNvPr id="18" name="">
            <a:extLst xmlns:a="http://schemas.openxmlformats.org/drawingml/2006/main">
              <a:ext uri="{FF2B5EF4-FFF2-40B4-BE49-F238E27FC236}">
                <a16:creationId xmlns:a16="http://schemas.microsoft.com/office/drawing/2014/main" id="{29C69D98-F500-4CF1-BC46-F17717F63697}"/>
              </a:ext>
            </a:extLst>
          </p:cNvPr>
          <p:cNvSpPr>
            <a:spLocks xmlns:a="http://schemas.openxmlformats.org/drawingml/2006/main" noGrp="1"/>
          </p:cNvSpPr>
          <p:nvPr/>
        </p:nvSpPr>
        <p:spPr>
          <a:xfrm xmlns:a="http://schemas.openxmlformats.org/drawingml/2006/main">
            <a:off x="6686550" y="1943100"/>
            <a:ext cx="4648200" cy="85725"/>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19" name="">
            <a:extLst xmlns:a="http://schemas.openxmlformats.org/drawingml/2006/main">
              <a:ext uri="{FF2B5EF4-FFF2-40B4-BE49-F238E27FC236}">
                <a16:creationId xmlns:a16="http://schemas.microsoft.com/office/drawing/2014/main" id="{B8E09FDF-8A0F-447B-A40B-6C6272F17D8D}"/>
              </a:ext>
            </a:extLst>
          </p:cNvPr>
          <p:cNvSpPr>
            <a:spLocks xmlns:a="http://schemas.openxmlformats.org/drawingml/2006/main" noGrp="1"/>
          </p:cNvSpPr>
          <p:nvPr/>
        </p:nvSpPr>
        <p:spPr>
          <a:xfrm xmlns:a="http://schemas.openxmlformats.org/drawingml/2006/main">
            <a:off x="6838950" y="2133600"/>
            <a:ext cx="1066800" cy="266700"/>
          </a:xfrm>
          <a:prstGeom xmlns:a="http://schemas.openxmlformats.org/drawingml/2006/main" prst="roundRect">
            <a:avLst>
              <a:gd name="adj" fmla="val 28571"/>
            </a:avLst>
          </a:prstGeom>
          <a:solidFill xmlns:a="http://schemas.openxmlformats.org/drawingml/2006/main">
            <a:srgbClr val="00B2BB"/>
          </a:solidFill>
          <a:ln xmlns:a="http://schemas.openxmlformats.org/drawingml/2006/main" w="0">
            <a:solidFill>
              <a:srgbClr val="00B2BB"/>
            </a:solidFill>
            <a:prstDash val="solid"/>
          </a:ln>
        </p:spPr>
      </p:sp>
      <p:sp>
        <p:nvSpPr>
          <p:cNvPr id="20" name="">
            <a:extLst xmlns:a="http://schemas.openxmlformats.org/drawingml/2006/main">
              <a:ext uri="{FF2B5EF4-FFF2-40B4-BE49-F238E27FC236}">
                <a16:creationId xmlns:a16="http://schemas.microsoft.com/office/drawing/2014/main" id="{EC1BC4EE-7E3F-49B3-BA7E-97ECDB5C8ADA}"/>
              </a:ext>
            </a:extLst>
          </p:cNvPr>
          <p:cNvSpPr>
            <a:spLocks xmlns:a="http://schemas.openxmlformats.org/drawingml/2006/main" noGrp="1"/>
          </p:cNvSpPr>
          <p:nvPr/>
        </p:nvSpPr>
        <p:spPr>
          <a:xfrm xmlns:a="http://schemas.openxmlformats.org/drawingml/2006/main">
            <a:off x="6838950" y="21336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40" b="1">
                <a:solidFill>
                  <a:srgbClr val="FFFFFF"/>
                </a:solidFill>
              </a:defRPr>
            </a:pPr>
            <a:r>
              <a:rPr sz="840" b="1">
                <a:solidFill>
                  <a:srgbClr val="FFFFFF"/>
                </a:solidFill>
              </a:rPr>
              <a:t>KERNBESTAND</a:t>
            </a:r>
          </a:p>
        </p:txBody>
      </p:sp>
      <p:sp>
        <p:nvSpPr>
          <p:cNvPr id="21" name="">
            <a:extLst xmlns:a="http://schemas.openxmlformats.org/drawingml/2006/main">
              <a:ext uri="{FF2B5EF4-FFF2-40B4-BE49-F238E27FC236}">
                <a16:creationId xmlns:a16="http://schemas.microsoft.com/office/drawing/2014/main" id="{EFD14A85-5F66-4E84-A149-3B45CE99181B}"/>
              </a:ext>
            </a:extLst>
          </p:cNvPr>
          <p:cNvSpPr>
            <a:spLocks xmlns:a="http://schemas.openxmlformats.org/drawingml/2006/main" noGrp="1"/>
          </p:cNvSpPr>
          <p:nvPr/>
        </p:nvSpPr>
        <p:spPr>
          <a:xfrm xmlns:a="http://schemas.openxmlformats.org/drawingml/2006/main">
            <a:off x="8020050" y="2133600"/>
            <a:ext cx="3162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35" b="1">
                <a:solidFill>
                  <a:srgbClr val="003F6B"/>
                </a:solidFill>
              </a:defRPr>
            </a:pPr>
            <a:r>
              <a:rPr sz="735" b="1">
                <a:solidFill>
                  <a:srgbClr val="003F6B"/>
                </a:solidFill>
              </a:rPr>
              <a:t>BVerfG · 16.09.1998 · 1 BvR 1130/98</a:t>
            </a:r>
          </a:p>
        </p:txBody>
      </p:sp>
      <p:sp>
        <p:nvSpPr>
          <p:cNvPr id="22" name="">
            <a:extLst xmlns:a="http://schemas.openxmlformats.org/drawingml/2006/main">
              <a:ext uri="{FF2B5EF4-FFF2-40B4-BE49-F238E27FC236}">
                <a16:creationId xmlns:a16="http://schemas.microsoft.com/office/drawing/2014/main" id="{37178A3D-1777-4245-9433-BBC7B8719982}"/>
              </a:ext>
            </a:extLst>
          </p:cNvPr>
          <p:cNvSpPr>
            <a:spLocks xmlns:a="http://schemas.openxmlformats.org/drawingml/2006/main" noGrp="1"/>
          </p:cNvSpPr>
          <p:nvPr/>
        </p:nvSpPr>
        <p:spPr>
          <a:xfrm xmlns:a="http://schemas.openxmlformats.org/drawingml/2006/main">
            <a:off x="6858000" y="2476500"/>
            <a:ext cx="430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15" b="1">
                <a:solidFill>
                  <a:srgbClr val="003F6B"/>
                </a:solidFill>
              </a:defRPr>
            </a:pPr>
            <a:r>
              <a:rPr sz="1215" b="1">
                <a:solidFill>
                  <a:srgbClr val="003F6B"/>
                </a:solidFill>
              </a:rPr>
              <a:t>Persönlichkeitsrechtlicher Zugang zu Behandlungsunterlagen</a:t>
            </a:r>
          </a:p>
        </p:txBody>
      </p:sp>
      <p:sp>
        <p:nvSpPr>
          <p:cNvPr id="23" name="">
            <a:extLst xmlns:a="http://schemas.openxmlformats.org/drawingml/2006/main">
              <a:ext uri="{FF2B5EF4-FFF2-40B4-BE49-F238E27FC236}">
                <a16:creationId xmlns:a16="http://schemas.microsoft.com/office/drawing/2014/main" id="{36EDB6C7-512B-42AC-B3BA-477B92EB67E1}"/>
              </a:ext>
            </a:extLst>
          </p:cNvPr>
          <p:cNvSpPr>
            <a:spLocks xmlns:a="http://schemas.openxmlformats.org/drawingml/2006/main" noGrp="1"/>
          </p:cNvSpPr>
          <p:nvPr/>
        </p:nvSpPr>
        <p:spPr>
          <a:xfrm xmlns:a="http://schemas.openxmlformats.org/drawingml/2006/main">
            <a:off x="6858000" y="29908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B2BB"/>
                </a:solidFill>
              </a:defRPr>
            </a:pPr>
            <a:r>
              <a:rPr sz="713" b="1">
                <a:solidFill>
                  <a:srgbClr val="00B2BB"/>
                </a:solidFill>
              </a:rPr>
              <a:t>TENOR / LEITSATZKERN</a:t>
            </a:r>
          </a:p>
        </p:txBody>
      </p:sp>
      <p:sp>
        <p:nvSpPr>
          <p:cNvPr id="24" name="">
            <a:extLst xmlns:a="http://schemas.openxmlformats.org/drawingml/2006/main">
              <a:ext uri="{FF2B5EF4-FFF2-40B4-BE49-F238E27FC236}">
                <a16:creationId xmlns:a16="http://schemas.microsoft.com/office/drawing/2014/main" id="{D3DC6E9D-6B8B-4444-A506-D4A0153AB3CB}"/>
              </a:ext>
            </a:extLst>
          </p:cNvPr>
          <p:cNvSpPr>
            <a:spLocks xmlns:a="http://schemas.openxmlformats.org/drawingml/2006/main" noGrp="1"/>
          </p:cNvSpPr>
          <p:nvPr/>
        </p:nvSpPr>
        <p:spPr>
          <a:xfrm xmlns:a="http://schemas.openxmlformats.org/drawingml/2006/main">
            <a:off x="6858000" y="3181350"/>
            <a:ext cx="43053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55">
                <a:solidFill>
                  <a:srgbClr val="15232B"/>
                </a:solidFill>
              </a:defRPr>
            </a:pPr>
            <a:r>
              <a:rPr sz="855">
                <a:solidFill>
                  <a:srgbClr val="15232B"/>
                </a:solidFill>
              </a:rPr>
              <a:t>Selbstbestimmung und Menschenwürde sprechen grundsätzlich für den Zugang des Patienten zu den ihn betreffenden Krankenunterlagen.</a:t>
            </a:r>
          </a:p>
        </p:txBody>
      </p:sp>
      <p:sp>
        <p:nvSpPr>
          <p:cNvPr id="25" name="">
            <a:extLst xmlns:a="http://schemas.openxmlformats.org/drawingml/2006/main">
              <a:ext uri="{FF2B5EF4-FFF2-40B4-BE49-F238E27FC236}">
                <a16:creationId xmlns:a16="http://schemas.microsoft.com/office/drawing/2014/main" id="{442BEE8E-C0F0-4B73-A0B7-00F85F0D62FC}"/>
              </a:ext>
            </a:extLst>
          </p:cNvPr>
          <p:cNvSpPr>
            <a:spLocks xmlns:a="http://schemas.openxmlformats.org/drawingml/2006/main" noGrp="1"/>
          </p:cNvSpPr>
          <p:nvPr/>
        </p:nvSpPr>
        <p:spPr>
          <a:xfrm xmlns:a="http://schemas.openxmlformats.org/drawingml/2006/main">
            <a:off x="6858000" y="381000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3F6B"/>
                </a:solidFill>
              </a:defRPr>
            </a:pPr>
            <a:r>
              <a:rPr sz="713" b="1">
                <a:solidFill>
                  <a:srgbClr val="003F6B"/>
                </a:solidFill>
              </a:rPr>
              <a:t>TRAGENDE AUSSAGE</a:t>
            </a:r>
          </a:p>
        </p:txBody>
      </p:sp>
      <p:sp>
        <p:nvSpPr>
          <p:cNvPr id="26" name="">
            <a:extLst xmlns:a="http://schemas.openxmlformats.org/drawingml/2006/main">
              <a:ext uri="{FF2B5EF4-FFF2-40B4-BE49-F238E27FC236}">
                <a16:creationId xmlns:a16="http://schemas.microsoft.com/office/drawing/2014/main" id="{117E3D2A-D658-4F26-BAE5-4627CBF084B8}"/>
              </a:ext>
            </a:extLst>
          </p:cNvPr>
          <p:cNvSpPr>
            <a:spLocks xmlns:a="http://schemas.openxmlformats.org/drawingml/2006/main" noGrp="1"/>
          </p:cNvSpPr>
          <p:nvPr/>
        </p:nvSpPr>
        <p:spPr>
          <a:xfrm xmlns:a="http://schemas.openxmlformats.org/drawingml/2006/main">
            <a:off x="6858000" y="4000500"/>
            <a:ext cx="43053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10">
                <a:solidFill>
                  <a:srgbClr val="15232B"/>
                </a:solidFill>
              </a:defRPr>
            </a:pPr>
            <a:r>
              <a:rPr sz="810">
                <a:solidFill>
                  <a:srgbClr val="15232B"/>
                </a:solidFill>
              </a:rPr>
              <a:t>Gerade psychiatrische Unterlagen können widerstreitende Belange enthalten; Beschränkungen verlangen aber eine konkrete, nachvollziehbare Abwägung statt pauschaler Verweigerung.</a:t>
            </a:r>
          </a:p>
        </p:txBody>
      </p:sp>
      <p:sp>
        <p:nvSpPr>
          <p:cNvPr id="27" name="">
            <a:extLst xmlns:a="http://schemas.openxmlformats.org/drawingml/2006/main">
              <a:ext uri="{FF2B5EF4-FFF2-40B4-BE49-F238E27FC236}">
                <a16:creationId xmlns:a16="http://schemas.microsoft.com/office/drawing/2014/main" id="{0A8C2E93-F954-4593-967A-39D5BED3428E}"/>
              </a:ext>
            </a:extLst>
          </p:cNvPr>
          <p:cNvSpPr>
            <a:spLocks xmlns:a="http://schemas.openxmlformats.org/drawingml/2006/main" noGrp="1"/>
          </p:cNvSpPr>
          <p:nvPr/>
        </p:nvSpPr>
        <p:spPr>
          <a:xfrm xmlns:a="http://schemas.openxmlformats.org/drawingml/2006/main">
            <a:off x="6858000" y="4572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B2BB"/>
                </a:solidFill>
              </a:defRPr>
            </a:pPr>
            <a:r>
              <a:rPr sz="713" b="1">
                <a:solidFill>
                  <a:srgbClr val="00B2BB"/>
                </a:solidFill>
              </a:rPr>
              <a:t>PRAXIS</a:t>
            </a:r>
          </a:p>
        </p:txBody>
      </p:sp>
      <p:sp>
        <p:nvSpPr>
          <p:cNvPr id="28" name="">
            <a:extLst xmlns:a="http://schemas.openxmlformats.org/drawingml/2006/main">
              <a:ext uri="{FF2B5EF4-FFF2-40B4-BE49-F238E27FC236}">
                <a16:creationId xmlns:a16="http://schemas.microsoft.com/office/drawing/2014/main" id="{9AF7EFDC-3DE4-418C-9DF2-3D4E414226A6}"/>
              </a:ext>
            </a:extLst>
          </p:cNvPr>
          <p:cNvSpPr>
            <a:spLocks xmlns:a="http://schemas.openxmlformats.org/drawingml/2006/main" noGrp="1"/>
          </p:cNvSpPr>
          <p:nvPr/>
        </p:nvSpPr>
        <p:spPr>
          <a:xfrm xmlns:a="http://schemas.openxmlformats.org/drawingml/2006/main">
            <a:off x="7467600" y="4552950"/>
            <a:ext cx="3695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765">
                <a:solidFill>
                  <a:srgbClr val="15232B"/>
                </a:solidFill>
              </a:defRPr>
            </a:pPr>
            <a:r>
              <a:rPr sz="765">
                <a:solidFill>
                  <a:srgbClr val="15232B"/>
                </a:solidFill>
              </a:rPr>
              <a:t>Akteneinsicht ist der Regelfall. Ausnahmen müssen fallbezogen begründet, auf das Erforderliche begrenzt und möglichst durch mildere Formen der Einsicht umgesetzt werden.</a:t>
            </a:r>
          </a:p>
        </p:txBody>
      </p:sp>
      <p:sp>
        <p:nvSpPr>
          <p:cNvPr id="29" name="">
            <a:extLst xmlns:a="http://schemas.openxmlformats.org/drawingml/2006/main">
              <a:ext uri="{FF2B5EF4-FFF2-40B4-BE49-F238E27FC236}">
                <a16:creationId xmlns:a16="http://schemas.microsoft.com/office/drawing/2014/main" id="{09DD47A3-CF2B-4290-93BB-B2C8F7751F5E}"/>
              </a:ext>
            </a:extLst>
          </p:cNvPr>
          <p:cNvSpPr>
            <a:spLocks xmlns:a="http://schemas.openxmlformats.org/drawingml/2006/main" noGrp="1"/>
          </p:cNvSpPr>
          <p:nvPr/>
        </p:nvSpPr>
        <p:spPr>
          <a:xfrm xmlns:a="http://schemas.openxmlformats.org/drawingml/2006/main">
            <a:off x="6858000" y="4962525"/>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615">
                <a:solidFill>
                  <a:srgbClr val="667680"/>
                </a:solidFill>
              </a:defRPr>
            </a:pPr>
            <a:r>
              <a:rPr sz="615">
                <a:solidFill>
                  <a:srgbClr val="667680"/>
                </a:solidFill>
              </a:rPr>
              <a:t>4. Verfassungsrechtlicher Vorläufer von § 630g BGB und Art. 15 DSGVO.</a:t>
            </a:r>
          </a:p>
        </p:txBody>
      </p:sp>
      <p:sp>
        <p:nvSpPr>
          <p:cNvPr id="30" name="">
            <a:extLst xmlns:a="http://schemas.openxmlformats.org/drawingml/2006/main">
              <a:ext uri="{FF2B5EF4-FFF2-40B4-BE49-F238E27FC236}">
                <a16:creationId xmlns:a16="http://schemas.microsoft.com/office/drawing/2014/main" id="{31C26934-06AF-4822-91C9-129B88A09642}"/>
              </a:ext>
            </a:extLst>
          </p:cNvPr>
          <p:cNvSpPr>
            <a:spLocks xmlns:a="http://schemas.openxmlformats.org/drawingml/2006/main" noGrp="1"/>
          </p:cNvSpPr>
          <p:nvPr/>
        </p:nvSpPr>
        <p:spPr>
          <a:xfrm xmlns:a="http://schemas.openxmlformats.org/drawingml/2006/main">
            <a:off x="1809750" y="5314950"/>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675">
                <a:solidFill>
                  <a:srgbClr val="667680"/>
                </a:solidFill>
              </a:defRPr>
            </a:pPr>
            <a:r>
              <a:rPr sz="675">
                <a:solidFill>
                  <a:srgbClr val="667680"/>
                </a:solidFill>
              </a:rPr>
              <a:t>Originalquellen: https://www.servat.unibe.ch/dfr/bv032373.html · https://www.bundesverfassungsgericht.de/SharedDocs/Entscheidungen/DE/1998/09/rk19980916_1bvr113098.html</a:t>
            </a:r>
          </a:p>
        </p:txBody>
      </p:sp>
    </p:spTree>
    <p:extLst>
      <p:ext uri="{BB962C8B-B14F-4D97-AF65-F5344CB8AC3E}">
        <p14:creationId xmlns:p14="http://schemas.microsoft.com/office/powerpoint/2010/main" val="43637646"/>
      </p:ext>
    </p:extLst>
  </p:cSld>
</p:sld>
</file>

<file path=ppt/slides/slide429.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Dokumentation &amp; Akteneinsicht · Aufklärung &amp; Einwilligung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LEITENTSCHEIDUNGEN · 03/20</a:t>
            </a:r>
            <a:endParaRPr/>
          </a:p>
        </p:txBody>
      </p:sp>
      <p:sp>
        <p:nvSpPr>
          <p:cNvPr id="4" name="">
            <a:extLst xmlns:a="http://schemas.openxmlformats.org/drawingml/2006/main">
              <a:ext uri="{FF2B5EF4-FFF2-40B4-BE49-F238E27FC236}">
                <a16:creationId xmlns:a16="http://schemas.microsoft.com/office/drawing/2014/main" id="{86FDDE28-7528-4412-A5B7-9AEA3411E266}"/>
              </a:ext>
            </a:extLst>
          </p:cNvPr>
          <p:cNvSpPr>
            <a:spLocks xmlns:a="http://schemas.openxmlformats.org/drawingml/2006/main" noGrp="1"/>
          </p:cNvSpPr>
          <p:nvPr/>
        </p:nvSpPr>
        <p:spPr>
          <a:xfrm xmlns:a="http://schemas.openxmlformats.org/drawingml/2006/main">
            <a:off x="1809750" y="1943100"/>
            <a:ext cx="4648200" cy="3238500"/>
          </a:xfrm>
          <a:prstGeom xmlns:a="http://schemas.openxmlformats.org/drawingml/2006/main" prst="roundRect">
            <a:avLst>
              <a:gd name="adj" fmla="val 2353"/>
            </a:avLst>
          </a:prstGeom>
          <a:solidFill xmlns:a="http://schemas.openxmlformats.org/drawingml/2006/main">
            <a:srgbClr val="FFFFFF"/>
          </a:solidFill>
          <a:ln xmlns:a="http://schemas.openxmlformats.org/drawingml/2006/main" w="10478">
            <a:solidFill>
              <a:srgbClr val="B9CAD2"/>
            </a:solidFill>
            <a:prstDash val="solid"/>
          </a:ln>
        </p:spPr>
      </p:sp>
      <p:sp>
        <p:nvSpPr>
          <p:cNvPr id="5" name="">
            <a:extLst xmlns:a="http://schemas.openxmlformats.org/drawingml/2006/main">
              <a:ext uri="{FF2B5EF4-FFF2-40B4-BE49-F238E27FC236}">
                <a16:creationId xmlns:a16="http://schemas.microsoft.com/office/drawing/2014/main" id="{8D8A9D72-6A25-46A5-A0FC-88F457F26BC2}"/>
              </a:ext>
            </a:extLst>
          </p:cNvPr>
          <p:cNvSpPr>
            <a:spLocks xmlns:a="http://schemas.openxmlformats.org/drawingml/2006/main" noGrp="1"/>
          </p:cNvSpPr>
          <p:nvPr/>
        </p:nvSpPr>
        <p:spPr>
          <a:xfrm xmlns:a="http://schemas.openxmlformats.org/drawingml/2006/main">
            <a:off x="1809750" y="1943100"/>
            <a:ext cx="4648200" cy="85725"/>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F285BAC1-A680-4DE5-9742-95CBE6777C95}"/>
              </a:ext>
            </a:extLst>
          </p:cNvPr>
          <p:cNvSpPr>
            <a:spLocks xmlns:a="http://schemas.openxmlformats.org/drawingml/2006/main" noGrp="1"/>
          </p:cNvSpPr>
          <p:nvPr/>
        </p:nvSpPr>
        <p:spPr>
          <a:xfrm xmlns:a="http://schemas.openxmlformats.org/drawingml/2006/main">
            <a:off x="1962150" y="2133600"/>
            <a:ext cx="1066800" cy="266700"/>
          </a:xfrm>
          <a:prstGeom xmlns:a="http://schemas.openxmlformats.org/drawingml/2006/main" prst="roundRect">
            <a:avLst>
              <a:gd name="adj" fmla="val 28571"/>
            </a:avLst>
          </a:prstGeom>
          <a:solidFill xmlns:a="http://schemas.openxmlformats.org/drawingml/2006/main">
            <a:srgbClr val="00B2BB"/>
          </a:solidFill>
          <a:ln xmlns:a="http://schemas.openxmlformats.org/drawingml/2006/main" w="0">
            <a:solidFill>
              <a:srgbClr val="00B2BB"/>
            </a:solidFill>
            <a:prstDash val="solid"/>
          </a:ln>
        </p:spPr>
      </p:sp>
      <p:sp>
        <p:nvSpPr>
          <p:cNvPr id="7" name="">
            <a:extLst xmlns:a="http://schemas.openxmlformats.org/drawingml/2006/main">
              <a:ext uri="{FF2B5EF4-FFF2-40B4-BE49-F238E27FC236}">
                <a16:creationId xmlns:a16="http://schemas.microsoft.com/office/drawing/2014/main" id="{6350A957-12A2-4B93-8E72-E20BDCB81C0E}"/>
              </a:ext>
            </a:extLst>
          </p:cNvPr>
          <p:cNvSpPr>
            <a:spLocks xmlns:a="http://schemas.openxmlformats.org/drawingml/2006/main" noGrp="1"/>
          </p:cNvSpPr>
          <p:nvPr/>
        </p:nvSpPr>
        <p:spPr>
          <a:xfrm xmlns:a="http://schemas.openxmlformats.org/drawingml/2006/main">
            <a:off x="1962150" y="21336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40" b="1">
                <a:solidFill>
                  <a:srgbClr val="FFFFFF"/>
                </a:solidFill>
              </a:defRPr>
            </a:pPr>
            <a:r>
              <a:rPr sz="840" b="1">
                <a:solidFill>
                  <a:srgbClr val="FFFFFF"/>
                </a:solidFill>
              </a:rPr>
              <a:t>KERNBESTAND</a:t>
            </a:r>
          </a:p>
        </p:txBody>
      </p:sp>
      <p:sp>
        <p:nvSpPr>
          <p:cNvPr id="8" name="">
            <a:extLst xmlns:a="http://schemas.openxmlformats.org/drawingml/2006/main">
              <a:ext uri="{FF2B5EF4-FFF2-40B4-BE49-F238E27FC236}">
                <a16:creationId xmlns:a16="http://schemas.microsoft.com/office/drawing/2014/main" id="{3C931215-0A33-4284-ACD0-6236E1FABC1B}"/>
              </a:ext>
            </a:extLst>
          </p:cNvPr>
          <p:cNvSpPr>
            <a:spLocks xmlns:a="http://schemas.openxmlformats.org/drawingml/2006/main" noGrp="1"/>
          </p:cNvSpPr>
          <p:nvPr/>
        </p:nvSpPr>
        <p:spPr>
          <a:xfrm xmlns:a="http://schemas.openxmlformats.org/drawingml/2006/main">
            <a:off x="3143250" y="2133600"/>
            <a:ext cx="3162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35" b="1">
                <a:solidFill>
                  <a:srgbClr val="003F6B"/>
                </a:solidFill>
              </a:defRPr>
            </a:pPr>
            <a:r>
              <a:rPr sz="735" b="1">
                <a:solidFill>
                  <a:srgbClr val="003F6B"/>
                </a:solidFill>
              </a:rPr>
              <a:t>EuGH · 26.10.2023 · C-307/22</a:t>
            </a:r>
          </a:p>
        </p:txBody>
      </p:sp>
      <p:sp>
        <p:nvSpPr>
          <p:cNvPr id="9" name="">
            <a:extLst xmlns:a="http://schemas.openxmlformats.org/drawingml/2006/main">
              <a:ext uri="{FF2B5EF4-FFF2-40B4-BE49-F238E27FC236}">
                <a16:creationId xmlns:a16="http://schemas.microsoft.com/office/drawing/2014/main" id="{9047EB0F-4E4A-4DDD-8B97-90EA7F840FDA}"/>
              </a:ext>
            </a:extLst>
          </p:cNvPr>
          <p:cNvSpPr>
            <a:spLocks xmlns:a="http://schemas.openxmlformats.org/drawingml/2006/main" noGrp="1"/>
          </p:cNvSpPr>
          <p:nvPr/>
        </p:nvSpPr>
        <p:spPr>
          <a:xfrm xmlns:a="http://schemas.openxmlformats.org/drawingml/2006/main">
            <a:off x="1981200" y="2476500"/>
            <a:ext cx="430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15" b="1">
                <a:solidFill>
                  <a:srgbClr val="003F6B"/>
                </a:solidFill>
              </a:defRPr>
            </a:pPr>
            <a:r>
              <a:rPr sz="1215" b="1">
                <a:solidFill>
                  <a:srgbClr val="003F6B"/>
                </a:solidFill>
              </a:rPr>
              <a:t>Erste Kopie der Patientenakte grundsätzlich kostenlos</a:t>
            </a:r>
          </a:p>
        </p:txBody>
      </p:sp>
      <p:sp>
        <p:nvSpPr>
          <p:cNvPr id="10" name="">
            <a:extLst xmlns:a="http://schemas.openxmlformats.org/drawingml/2006/main">
              <a:ext uri="{FF2B5EF4-FFF2-40B4-BE49-F238E27FC236}">
                <a16:creationId xmlns:a16="http://schemas.microsoft.com/office/drawing/2014/main" id="{BF3CF370-9013-4CD6-8297-E28FF97E0EE4}"/>
              </a:ext>
            </a:extLst>
          </p:cNvPr>
          <p:cNvSpPr>
            <a:spLocks xmlns:a="http://schemas.openxmlformats.org/drawingml/2006/main" noGrp="1"/>
          </p:cNvSpPr>
          <p:nvPr/>
        </p:nvSpPr>
        <p:spPr>
          <a:xfrm xmlns:a="http://schemas.openxmlformats.org/drawingml/2006/main">
            <a:off x="1981200" y="29908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B2BB"/>
                </a:solidFill>
              </a:defRPr>
            </a:pPr>
            <a:r>
              <a:rPr sz="713" b="1">
                <a:solidFill>
                  <a:srgbClr val="00B2BB"/>
                </a:solidFill>
              </a:rPr>
              <a:t>TENOR / LEITSATZKERN</a:t>
            </a:r>
          </a:p>
        </p:txBody>
      </p:sp>
      <p:sp>
        <p:nvSpPr>
          <p:cNvPr id="11" name="">
            <a:extLst xmlns:a="http://schemas.openxmlformats.org/drawingml/2006/main">
              <a:ext uri="{FF2B5EF4-FFF2-40B4-BE49-F238E27FC236}">
                <a16:creationId xmlns:a16="http://schemas.microsoft.com/office/drawing/2014/main" id="{F8715807-B5F9-4F1A-8AE0-385B70D68275}"/>
              </a:ext>
            </a:extLst>
          </p:cNvPr>
          <p:cNvSpPr>
            <a:spLocks xmlns:a="http://schemas.openxmlformats.org/drawingml/2006/main" noGrp="1"/>
          </p:cNvSpPr>
          <p:nvPr/>
        </p:nvSpPr>
        <p:spPr>
          <a:xfrm xmlns:a="http://schemas.openxmlformats.org/drawingml/2006/main">
            <a:off x="1981200" y="3181350"/>
            <a:ext cx="43053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55">
                <a:solidFill>
                  <a:srgbClr val="15232B"/>
                </a:solidFill>
              </a:defRPr>
            </a:pPr>
            <a:r>
              <a:rPr sz="855">
                <a:solidFill>
                  <a:srgbClr val="15232B"/>
                </a:solidFill>
              </a:rPr>
              <a:t>Die erste Kopie personenbezogener Daten in der Patientenakte ist grundsätzlich kostenlos; ein Patient muss seinen Antrag nicht begründen.</a:t>
            </a:r>
          </a:p>
        </p:txBody>
      </p:sp>
      <p:sp>
        <p:nvSpPr>
          <p:cNvPr id="12" name="">
            <a:extLst xmlns:a="http://schemas.openxmlformats.org/drawingml/2006/main">
              <a:ext uri="{FF2B5EF4-FFF2-40B4-BE49-F238E27FC236}">
                <a16:creationId xmlns:a16="http://schemas.microsoft.com/office/drawing/2014/main" id="{2370FA09-B4F3-4D55-94C0-F7730B08BE45}"/>
              </a:ext>
            </a:extLst>
          </p:cNvPr>
          <p:cNvSpPr>
            <a:spLocks xmlns:a="http://schemas.openxmlformats.org/drawingml/2006/main" noGrp="1"/>
          </p:cNvSpPr>
          <p:nvPr/>
        </p:nvSpPr>
        <p:spPr>
          <a:xfrm xmlns:a="http://schemas.openxmlformats.org/drawingml/2006/main">
            <a:off x="1981200" y="381000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3F6B"/>
                </a:solidFill>
              </a:defRPr>
            </a:pPr>
            <a:r>
              <a:rPr sz="713" b="1">
                <a:solidFill>
                  <a:srgbClr val="003F6B"/>
                </a:solidFill>
              </a:rPr>
              <a:t>TRAGENDE AUSSAGE</a:t>
            </a:r>
          </a:p>
        </p:txBody>
      </p:sp>
      <p:sp>
        <p:nvSpPr>
          <p:cNvPr id="13" name="">
            <a:extLst xmlns:a="http://schemas.openxmlformats.org/drawingml/2006/main">
              <a:ext uri="{FF2B5EF4-FFF2-40B4-BE49-F238E27FC236}">
                <a16:creationId xmlns:a16="http://schemas.microsoft.com/office/drawing/2014/main" id="{D1027F56-8588-4D45-9FF1-67CF7BE69C52}"/>
              </a:ext>
            </a:extLst>
          </p:cNvPr>
          <p:cNvSpPr>
            <a:spLocks xmlns:a="http://schemas.openxmlformats.org/drawingml/2006/main" noGrp="1"/>
          </p:cNvSpPr>
          <p:nvPr/>
        </p:nvSpPr>
        <p:spPr>
          <a:xfrm xmlns:a="http://schemas.openxmlformats.org/drawingml/2006/main">
            <a:off x="1981200" y="4000500"/>
            <a:ext cx="43053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10">
                <a:solidFill>
                  <a:srgbClr val="15232B"/>
                </a:solidFill>
              </a:defRPr>
            </a:pPr>
            <a:r>
              <a:rPr sz="810">
                <a:solidFill>
                  <a:srgbClr val="15232B"/>
                </a:solidFill>
              </a:rPr>
              <a:t>Die Kopie muss vollständig und verständlich genug sein, damit die betroffene Person ihre Datenschutzrechte wirksam ausüben kann; nationale Kostenvorschriften dürfen dieses Recht nicht aushöhlen.</a:t>
            </a:r>
          </a:p>
        </p:txBody>
      </p:sp>
      <p:sp>
        <p:nvSpPr>
          <p:cNvPr id="14" name="">
            <a:extLst xmlns:a="http://schemas.openxmlformats.org/drawingml/2006/main">
              <a:ext uri="{FF2B5EF4-FFF2-40B4-BE49-F238E27FC236}">
                <a16:creationId xmlns:a16="http://schemas.microsoft.com/office/drawing/2014/main" id="{FE6F1D09-E849-4160-A1CC-2EBF9B58BD9A}"/>
              </a:ext>
            </a:extLst>
          </p:cNvPr>
          <p:cNvSpPr>
            <a:spLocks xmlns:a="http://schemas.openxmlformats.org/drawingml/2006/main" noGrp="1"/>
          </p:cNvSpPr>
          <p:nvPr/>
        </p:nvSpPr>
        <p:spPr>
          <a:xfrm xmlns:a="http://schemas.openxmlformats.org/drawingml/2006/main">
            <a:off x="1981200" y="4572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B2BB"/>
                </a:solidFill>
              </a:defRPr>
            </a:pPr>
            <a:r>
              <a:rPr sz="713" b="1">
                <a:solidFill>
                  <a:srgbClr val="00B2BB"/>
                </a:solidFill>
              </a:rPr>
              <a:t>PRAXIS</a:t>
            </a:r>
          </a:p>
        </p:txBody>
      </p:sp>
      <p:sp>
        <p:nvSpPr>
          <p:cNvPr id="15" name="">
            <a:extLst xmlns:a="http://schemas.openxmlformats.org/drawingml/2006/main">
              <a:ext uri="{FF2B5EF4-FFF2-40B4-BE49-F238E27FC236}">
                <a16:creationId xmlns:a16="http://schemas.microsoft.com/office/drawing/2014/main" id="{D55D6EE9-4955-4EC1-97F4-10241982F09E}"/>
              </a:ext>
            </a:extLst>
          </p:cNvPr>
          <p:cNvSpPr>
            <a:spLocks xmlns:a="http://schemas.openxmlformats.org/drawingml/2006/main" noGrp="1"/>
          </p:cNvSpPr>
          <p:nvPr/>
        </p:nvSpPr>
        <p:spPr>
          <a:xfrm xmlns:a="http://schemas.openxmlformats.org/drawingml/2006/main">
            <a:off x="2590800" y="4552950"/>
            <a:ext cx="3695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765">
                <a:solidFill>
                  <a:srgbClr val="15232B"/>
                </a:solidFill>
              </a:defRPr>
            </a:pPr>
            <a:r>
              <a:rPr sz="765">
                <a:solidFill>
                  <a:srgbClr val="15232B"/>
                </a:solidFill>
              </a:rPr>
              <a:t>Auskunfts- und Kopieprozesse organisatorisch trennen, Identität prüfen, Fristen steuern und eine verständliche, vollständige Erstkopie ohne pauschale Kostenforderung bereitstellen.</a:t>
            </a:r>
          </a:p>
        </p:txBody>
      </p:sp>
      <p:sp>
        <p:nvSpPr>
          <p:cNvPr id="16" name="">
            <a:extLst xmlns:a="http://schemas.openxmlformats.org/drawingml/2006/main">
              <a:ext uri="{FF2B5EF4-FFF2-40B4-BE49-F238E27FC236}">
                <a16:creationId xmlns:a16="http://schemas.microsoft.com/office/drawing/2014/main" id="{CB1F4CB2-1AC5-4AE0-8EBB-7A2CBD861AD1}"/>
              </a:ext>
            </a:extLst>
          </p:cNvPr>
          <p:cNvSpPr>
            <a:spLocks xmlns:a="http://schemas.openxmlformats.org/drawingml/2006/main" noGrp="1"/>
          </p:cNvSpPr>
          <p:nvPr/>
        </p:nvSpPr>
        <p:spPr>
          <a:xfrm xmlns:a="http://schemas.openxmlformats.org/drawingml/2006/main">
            <a:off x="1981200" y="4962525"/>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615">
                <a:solidFill>
                  <a:srgbClr val="667680"/>
                </a:solidFill>
              </a:defRPr>
            </a:pPr>
            <a:r>
              <a:rPr sz="615">
                <a:solidFill>
                  <a:srgbClr val="667680"/>
                </a:solidFill>
              </a:rPr>
              <a:t>5. ECLI:EU:C:2023:811; verbindliche Auslegung von Art. 12 und 15 DSGVO.</a:t>
            </a:r>
          </a:p>
        </p:txBody>
      </p:sp>
      <p:sp>
        <p:nvSpPr>
          <p:cNvPr id="17" name="">
            <a:extLst xmlns:a="http://schemas.openxmlformats.org/drawingml/2006/main">
              <a:ext uri="{FF2B5EF4-FFF2-40B4-BE49-F238E27FC236}">
                <a16:creationId xmlns:a16="http://schemas.microsoft.com/office/drawing/2014/main" id="{2F72C2E3-8A66-41BA-A193-B2520F21C69C}"/>
              </a:ext>
            </a:extLst>
          </p:cNvPr>
          <p:cNvSpPr>
            <a:spLocks xmlns:a="http://schemas.openxmlformats.org/drawingml/2006/main" noGrp="1"/>
          </p:cNvSpPr>
          <p:nvPr/>
        </p:nvSpPr>
        <p:spPr>
          <a:xfrm xmlns:a="http://schemas.openxmlformats.org/drawingml/2006/main">
            <a:off x="6686550" y="1943100"/>
            <a:ext cx="4648200" cy="3238500"/>
          </a:xfrm>
          <a:prstGeom xmlns:a="http://schemas.openxmlformats.org/drawingml/2006/main" prst="roundRect">
            <a:avLst>
              <a:gd name="adj" fmla="val 2353"/>
            </a:avLst>
          </a:prstGeom>
          <a:solidFill xmlns:a="http://schemas.openxmlformats.org/drawingml/2006/main">
            <a:srgbClr val="FFFFFF"/>
          </a:solidFill>
          <a:ln xmlns:a="http://schemas.openxmlformats.org/drawingml/2006/main" w="10478">
            <a:solidFill>
              <a:srgbClr val="B9CAD2"/>
            </a:solidFill>
            <a:prstDash val="solid"/>
          </a:ln>
        </p:spPr>
      </p:sp>
      <p:sp>
        <p:nvSpPr>
          <p:cNvPr id="18" name="">
            <a:extLst xmlns:a="http://schemas.openxmlformats.org/drawingml/2006/main">
              <a:ext uri="{FF2B5EF4-FFF2-40B4-BE49-F238E27FC236}">
                <a16:creationId xmlns:a16="http://schemas.microsoft.com/office/drawing/2014/main" id="{7A789B65-3953-4B20-9D5E-613D7A02D3E8}"/>
              </a:ext>
            </a:extLst>
          </p:cNvPr>
          <p:cNvSpPr>
            <a:spLocks xmlns:a="http://schemas.openxmlformats.org/drawingml/2006/main" noGrp="1"/>
          </p:cNvSpPr>
          <p:nvPr/>
        </p:nvSpPr>
        <p:spPr>
          <a:xfrm xmlns:a="http://schemas.openxmlformats.org/drawingml/2006/main">
            <a:off x="6686550" y="1943100"/>
            <a:ext cx="4648200" cy="85725"/>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19" name="">
            <a:extLst xmlns:a="http://schemas.openxmlformats.org/drawingml/2006/main">
              <a:ext uri="{FF2B5EF4-FFF2-40B4-BE49-F238E27FC236}">
                <a16:creationId xmlns:a16="http://schemas.microsoft.com/office/drawing/2014/main" id="{2B6281C7-124E-4AE2-B7C0-E44D82B4BE07}"/>
              </a:ext>
            </a:extLst>
          </p:cNvPr>
          <p:cNvSpPr>
            <a:spLocks xmlns:a="http://schemas.openxmlformats.org/drawingml/2006/main" noGrp="1"/>
          </p:cNvSpPr>
          <p:nvPr/>
        </p:nvSpPr>
        <p:spPr>
          <a:xfrm xmlns:a="http://schemas.openxmlformats.org/drawingml/2006/main">
            <a:off x="6838950" y="2133600"/>
            <a:ext cx="1066800" cy="266700"/>
          </a:xfrm>
          <a:prstGeom xmlns:a="http://schemas.openxmlformats.org/drawingml/2006/main" prst="roundRect">
            <a:avLst>
              <a:gd name="adj" fmla="val 28571"/>
            </a:avLst>
          </a:prstGeom>
          <a:solidFill xmlns:a="http://schemas.openxmlformats.org/drawingml/2006/main">
            <a:srgbClr val="00B2BB"/>
          </a:solidFill>
          <a:ln xmlns:a="http://schemas.openxmlformats.org/drawingml/2006/main" w="0">
            <a:solidFill>
              <a:srgbClr val="00B2BB"/>
            </a:solidFill>
            <a:prstDash val="solid"/>
          </a:ln>
        </p:spPr>
      </p:sp>
      <p:sp>
        <p:nvSpPr>
          <p:cNvPr id="20" name="">
            <a:extLst xmlns:a="http://schemas.openxmlformats.org/drawingml/2006/main">
              <a:ext uri="{FF2B5EF4-FFF2-40B4-BE49-F238E27FC236}">
                <a16:creationId xmlns:a16="http://schemas.microsoft.com/office/drawing/2014/main" id="{DA6750B9-2344-4E44-9955-353F80A95FD0}"/>
              </a:ext>
            </a:extLst>
          </p:cNvPr>
          <p:cNvSpPr>
            <a:spLocks xmlns:a="http://schemas.openxmlformats.org/drawingml/2006/main" noGrp="1"/>
          </p:cNvSpPr>
          <p:nvPr/>
        </p:nvSpPr>
        <p:spPr>
          <a:xfrm xmlns:a="http://schemas.openxmlformats.org/drawingml/2006/main">
            <a:off x="6838950" y="21336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40" b="1">
                <a:solidFill>
                  <a:srgbClr val="FFFFFF"/>
                </a:solidFill>
              </a:defRPr>
            </a:pPr>
            <a:r>
              <a:rPr sz="840" b="1">
                <a:solidFill>
                  <a:srgbClr val="FFFFFF"/>
                </a:solidFill>
              </a:rPr>
              <a:t>KERNBESTAND</a:t>
            </a:r>
          </a:p>
        </p:txBody>
      </p:sp>
      <p:sp>
        <p:nvSpPr>
          <p:cNvPr id="21" name="">
            <a:extLst xmlns:a="http://schemas.openxmlformats.org/drawingml/2006/main">
              <a:ext uri="{FF2B5EF4-FFF2-40B4-BE49-F238E27FC236}">
                <a16:creationId xmlns:a16="http://schemas.microsoft.com/office/drawing/2014/main" id="{82F1BE1F-3B79-4BAC-B1E3-D3EA6FF2DB8F}"/>
              </a:ext>
            </a:extLst>
          </p:cNvPr>
          <p:cNvSpPr>
            <a:spLocks xmlns:a="http://schemas.openxmlformats.org/drawingml/2006/main" noGrp="1"/>
          </p:cNvSpPr>
          <p:nvPr/>
        </p:nvSpPr>
        <p:spPr>
          <a:xfrm xmlns:a="http://schemas.openxmlformats.org/drawingml/2006/main">
            <a:off x="8020050" y="2133600"/>
            <a:ext cx="3162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35" b="1">
                <a:solidFill>
                  <a:srgbClr val="003F6B"/>
                </a:solidFill>
              </a:defRPr>
            </a:pPr>
            <a:r>
              <a:rPr sz="735" b="1">
                <a:solidFill>
                  <a:srgbClr val="003F6B"/>
                </a:solidFill>
              </a:rPr>
              <a:t>BGH · 15.02.2000 · VI ZR 48/99</a:t>
            </a:r>
          </a:p>
        </p:txBody>
      </p:sp>
      <p:sp>
        <p:nvSpPr>
          <p:cNvPr id="22" name="">
            <a:extLst xmlns:a="http://schemas.openxmlformats.org/drawingml/2006/main">
              <a:ext uri="{FF2B5EF4-FFF2-40B4-BE49-F238E27FC236}">
                <a16:creationId xmlns:a16="http://schemas.microsoft.com/office/drawing/2014/main" id="{0302DD92-3757-4337-81DC-9451332BE09D}"/>
              </a:ext>
            </a:extLst>
          </p:cNvPr>
          <p:cNvSpPr>
            <a:spLocks xmlns:a="http://schemas.openxmlformats.org/drawingml/2006/main" noGrp="1"/>
          </p:cNvSpPr>
          <p:nvPr/>
        </p:nvSpPr>
        <p:spPr>
          <a:xfrm xmlns:a="http://schemas.openxmlformats.org/drawingml/2006/main">
            <a:off x="6858000" y="2476500"/>
            <a:ext cx="430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15" b="1">
                <a:solidFill>
                  <a:srgbClr val="003F6B"/>
                </a:solidFill>
              </a:defRPr>
            </a:pPr>
            <a:r>
              <a:rPr sz="1215" b="1">
                <a:solidFill>
                  <a:srgbClr val="003F6B"/>
                </a:solidFill>
              </a:rPr>
              <a:t>Aufklärung bei Routineimpfungen</a:t>
            </a:r>
          </a:p>
        </p:txBody>
      </p:sp>
      <p:sp>
        <p:nvSpPr>
          <p:cNvPr id="23" name="">
            <a:extLst xmlns:a="http://schemas.openxmlformats.org/drawingml/2006/main">
              <a:ext uri="{FF2B5EF4-FFF2-40B4-BE49-F238E27FC236}">
                <a16:creationId xmlns:a16="http://schemas.microsoft.com/office/drawing/2014/main" id="{81270632-818D-4AC5-A19D-9281C0956A35}"/>
              </a:ext>
            </a:extLst>
          </p:cNvPr>
          <p:cNvSpPr>
            <a:spLocks xmlns:a="http://schemas.openxmlformats.org/drawingml/2006/main" noGrp="1"/>
          </p:cNvSpPr>
          <p:nvPr/>
        </p:nvSpPr>
        <p:spPr>
          <a:xfrm xmlns:a="http://schemas.openxmlformats.org/drawingml/2006/main">
            <a:off x="6858000" y="29908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B2BB"/>
                </a:solidFill>
              </a:defRPr>
            </a:pPr>
            <a:r>
              <a:rPr sz="713" b="1">
                <a:solidFill>
                  <a:srgbClr val="00B2BB"/>
                </a:solidFill>
              </a:rPr>
              <a:t>TENOR / LEITSATZKERN</a:t>
            </a:r>
          </a:p>
        </p:txBody>
      </p:sp>
      <p:sp>
        <p:nvSpPr>
          <p:cNvPr id="24" name="">
            <a:extLst xmlns:a="http://schemas.openxmlformats.org/drawingml/2006/main">
              <a:ext uri="{FF2B5EF4-FFF2-40B4-BE49-F238E27FC236}">
                <a16:creationId xmlns:a16="http://schemas.microsoft.com/office/drawing/2014/main" id="{C8B9C4A4-D04A-49C8-A927-B9121054DA1B}"/>
              </a:ext>
            </a:extLst>
          </p:cNvPr>
          <p:cNvSpPr>
            <a:spLocks xmlns:a="http://schemas.openxmlformats.org/drawingml/2006/main" noGrp="1"/>
          </p:cNvSpPr>
          <p:nvPr/>
        </p:nvSpPr>
        <p:spPr>
          <a:xfrm xmlns:a="http://schemas.openxmlformats.org/drawingml/2006/main">
            <a:off x="6858000" y="3181350"/>
            <a:ext cx="43053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55">
                <a:solidFill>
                  <a:srgbClr val="15232B"/>
                </a:solidFill>
              </a:defRPr>
            </a:pPr>
            <a:r>
              <a:rPr sz="855">
                <a:solidFill>
                  <a:srgbClr val="15232B"/>
                </a:solidFill>
              </a:rPr>
              <a:t>Bei öffentlich empfohlenen Routineimpfungen kann schriftliche Information genügen, wenn eine reale Gelegenheit zum ärztlichen Gespräch besteht.</a:t>
            </a:r>
          </a:p>
        </p:txBody>
      </p:sp>
      <p:sp>
        <p:nvSpPr>
          <p:cNvPr id="25" name="">
            <a:extLst xmlns:a="http://schemas.openxmlformats.org/drawingml/2006/main">
              <a:ext uri="{FF2B5EF4-FFF2-40B4-BE49-F238E27FC236}">
                <a16:creationId xmlns:a16="http://schemas.microsoft.com/office/drawing/2014/main" id="{D22E2C72-70C2-4256-9924-C87FE3FFE84B}"/>
              </a:ext>
            </a:extLst>
          </p:cNvPr>
          <p:cNvSpPr>
            <a:spLocks xmlns:a="http://schemas.openxmlformats.org/drawingml/2006/main" noGrp="1"/>
          </p:cNvSpPr>
          <p:nvPr/>
        </p:nvSpPr>
        <p:spPr>
          <a:xfrm xmlns:a="http://schemas.openxmlformats.org/drawingml/2006/main">
            <a:off x="6858000" y="381000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3F6B"/>
                </a:solidFill>
              </a:defRPr>
            </a:pPr>
            <a:r>
              <a:rPr sz="713" b="1">
                <a:solidFill>
                  <a:srgbClr val="003F6B"/>
                </a:solidFill>
              </a:rPr>
              <a:t>TRAGENDE AUSSAGE</a:t>
            </a:r>
          </a:p>
        </p:txBody>
      </p:sp>
      <p:sp>
        <p:nvSpPr>
          <p:cNvPr id="26" name="">
            <a:extLst xmlns:a="http://schemas.openxmlformats.org/drawingml/2006/main">
              <a:ext uri="{FF2B5EF4-FFF2-40B4-BE49-F238E27FC236}">
                <a16:creationId xmlns:a16="http://schemas.microsoft.com/office/drawing/2014/main" id="{8397616D-112C-40D5-ADA1-29B3DC4A2943}"/>
              </a:ext>
            </a:extLst>
          </p:cNvPr>
          <p:cNvSpPr>
            <a:spLocks xmlns:a="http://schemas.openxmlformats.org/drawingml/2006/main" noGrp="1"/>
          </p:cNvSpPr>
          <p:nvPr/>
        </p:nvSpPr>
        <p:spPr>
          <a:xfrm xmlns:a="http://schemas.openxmlformats.org/drawingml/2006/main">
            <a:off x="6858000" y="4000500"/>
            <a:ext cx="43053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10">
                <a:solidFill>
                  <a:srgbClr val="15232B"/>
                </a:solidFill>
              </a:defRPr>
            </a:pPr>
            <a:r>
              <a:rPr sz="810">
                <a:solidFill>
                  <a:srgbClr val="15232B"/>
                </a:solidFill>
              </a:rPr>
              <a:t>Nicht die statistische Häufigkeit allein entscheidet über die Aufklärung, sondern Eingriffsspezifik und Gewicht des Risikos für die Lebensführung.</a:t>
            </a:r>
          </a:p>
        </p:txBody>
      </p:sp>
      <p:sp>
        <p:nvSpPr>
          <p:cNvPr id="27" name="">
            <a:extLst xmlns:a="http://schemas.openxmlformats.org/drawingml/2006/main">
              <a:ext uri="{FF2B5EF4-FFF2-40B4-BE49-F238E27FC236}">
                <a16:creationId xmlns:a16="http://schemas.microsoft.com/office/drawing/2014/main" id="{09153D11-0509-4336-B80C-19E2D7055C87}"/>
              </a:ext>
            </a:extLst>
          </p:cNvPr>
          <p:cNvSpPr>
            <a:spLocks xmlns:a="http://schemas.openxmlformats.org/drawingml/2006/main" noGrp="1"/>
          </p:cNvSpPr>
          <p:nvPr/>
        </p:nvSpPr>
        <p:spPr>
          <a:xfrm xmlns:a="http://schemas.openxmlformats.org/drawingml/2006/main">
            <a:off x="6858000" y="4572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B2BB"/>
                </a:solidFill>
              </a:defRPr>
            </a:pPr>
            <a:r>
              <a:rPr sz="713" b="1">
                <a:solidFill>
                  <a:srgbClr val="00B2BB"/>
                </a:solidFill>
              </a:rPr>
              <a:t>PRAXIS</a:t>
            </a:r>
          </a:p>
        </p:txBody>
      </p:sp>
      <p:sp>
        <p:nvSpPr>
          <p:cNvPr id="28" name="">
            <a:extLst xmlns:a="http://schemas.openxmlformats.org/drawingml/2006/main">
              <a:ext uri="{FF2B5EF4-FFF2-40B4-BE49-F238E27FC236}">
                <a16:creationId xmlns:a16="http://schemas.microsoft.com/office/drawing/2014/main" id="{1D43F272-5464-40BD-B9CB-D4CF4CEBBB8C}"/>
              </a:ext>
            </a:extLst>
          </p:cNvPr>
          <p:cNvSpPr>
            <a:spLocks xmlns:a="http://schemas.openxmlformats.org/drawingml/2006/main" noGrp="1"/>
          </p:cNvSpPr>
          <p:nvPr/>
        </p:nvSpPr>
        <p:spPr>
          <a:xfrm xmlns:a="http://schemas.openxmlformats.org/drawingml/2006/main">
            <a:off x="7467600" y="4552950"/>
            <a:ext cx="3695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765">
                <a:solidFill>
                  <a:srgbClr val="15232B"/>
                </a:solidFill>
              </a:defRPr>
            </a:pPr>
            <a:r>
              <a:rPr sz="765">
                <a:solidFill>
                  <a:srgbClr val="15232B"/>
                </a:solidFill>
              </a:rPr>
              <a:t>Informationsblatt rechtzeitig aushändigen, Gesprächsmöglichkeit aktiv eröffnen, Kontraindikationen erheben und individuelle Fragen dokumentieren.</a:t>
            </a:r>
          </a:p>
        </p:txBody>
      </p:sp>
      <p:sp>
        <p:nvSpPr>
          <p:cNvPr id="29" name="">
            <a:extLst xmlns:a="http://schemas.openxmlformats.org/drawingml/2006/main">
              <a:ext uri="{FF2B5EF4-FFF2-40B4-BE49-F238E27FC236}">
                <a16:creationId xmlns:a16="http://schemas.microsoft.com/office/drawing/2014/main" id="{09307A97-BD80-4B67-8273-0DB0B94BCD12}"/>
              </a:ext>
            </a:extLst>
          </p:cNvPr>
          <p:cNvSpPr>
            <a:spLocks xmlns:a="http://schemas.openxmlformats.org/drawingml/2006/main" noGrp="1"/>
          </p:cNvSpPr>
          <p:nvPr/>
        </p:nvSpPr>
        <p:spPr>
          <a:xfrm xmlns:a="http://schemas.openxmlformats.org/drawingml/2006/main">
            <a:off x="6858000" y="4962525"/>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615">
                <a:solidFill>
                  <a:srgbClr val="667680"/>
                </a:solidFill>
              </a:defRPr>
            </a:pPr>
            <a:r>
              <a:rPr sz="615">
                <a:solidFill>
                  <a:srgbClr val="667680"/>
                </a:solidFill>
              </a:rPr>
              <a:t>6. BGHZ 144, 1; prägende Aufklärungsentscheidung.</a:t>
            </a:r>
          </a:p>
        </p:txBody>
      </p:sp>
      <p:sp>
        <p:nvSpPr>
          <p:cNvPr id="30" name="">
            <a:extLst xmlns:a="http://schemas.openxmlformats.org/drawingml/2006/main">
              <a:ext uri="{FF2B5EF4-FFF2-40B4-BE49-F238E27FC236}">
                <a16:creationId xmlns:a16="http://schemas.microsoft.com/office/drawing/2014/main" id="{2FA5289A-E2E9-467F-87E6-1C1C5129A9C6}"/>
              </a:ext>
            </a:extLst>
          </p:cNvPr>
          <p:cNvSpPr>
            <a:spLocks xmlns:a="http://schemas.openxmlformats.org/drawingml/2006/main" noGrp="1"/>
          </p:cNvSpPr>
          <p:nvPr/>
        </p:nvSpPr>
        <p:spPr>
          <a:xfrm xmlns:a="http://schemas.openxmlformats.org/drawingml/2006/main">
            <a:off x="1809750" y="5314950"/>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540">
                <a:solidFill>
                  <a:srgbClr val="667680"/>
                </a:solidFill>
              </a:defRPr>
            </a:pPr>
            <a:r>
              <a:rPr sz="540">
                <a:solidFill>
                  <a:srgbClr val="667680"/>
                </a:solidFill>
              </a:rPr>
              <a:t>Originalquellen: https://curia.europa.eu/jcms/upload/docs/application/pdf/2023-10/cp230161en.pdf · https://juris.bundesgerichtshof.de/cgi-bin/rechtsprechung/document.py?Art=en&amp;Blank=1.pdf&amp;Gericht=bgh&amp;anz=1&amp;nr=23581&amp;pos=0&amp;sid=66713b12585987861bc84df6d5254037</a:t>
            </a:r>
          </a:p>
        </p:txBody>
      </p:sp>
    </p:spTree>
    <p:extLst>
      <p:ext uri="{BB962C8B-B14F-4D97-AF65-F5344CB8AC3E}">
        <p14:creationId xmlns:p14="http://schemas.microsoft.com/office/powerpoint/2010/main" val="43637646"/>
      </p:ext>
    </p:extLst>
  </p:cSld>
</p:sld>
</file>

<file path=ppt/slides/slide430.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Aufklärung &amp; Innovation · Aufklärung &amp; Einwilligung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LEITENTSCHEIDUNGEN · 04/20</a:t>
            </a:r>
            <a:endParaRPr/>
          </a:p>
        </p:txBody>
      </p:sp>
      <p:sp>
        <p:nvSpPr>
          <p:cNvPr id="4" name="">
            <a:extLst xmlns:a="http://schemas.openxmlformats.org/drawingml/2006/main">
              <a:ext uri="{FF2B5EF4-FFF2-40B4-BE49-F238E27FC236}">
                <a16:creationId xmlns:a16="http://schemas.microsoft.com/office/drawing/2014/main" id="{32075561-7E1A-4419-8046-49673A5C6564}"/>
              </a:ext>
            </a:extLst>
          </p:cNvPr>
          <p:cNvSpPr>
            <a:spLocks xmlns:a="http://schemas.openxmlformats.org/drawingml/2006/main" noGrp="1"/>
          </p:cNvSpPr>
          <p:nvPr/>
        </p:nvSpPr>
        <p:spPr>
          <a:xfrm xmlns:a="http://schemas.openxmlformats.org/drawingml/2006/main">
            <a:off x="1809750" y="1943100"/>
            <a:ext cx="4648200" cy="3238500"/>
          </a:xfrm>
          <a:prstGeom xmlns:a="http://schemas.openxmlformats.org/drawingml/2006/main" prst="roundRect">
            <a:avLst>
              <a:gd name="adj" fmla="val 2353"/>
            </a:avLst>
          </a:prstGeom>
          <a:solidFill xmlns:a="http://schemas.openxmlformats.org/drawingml/2006/main">
            <a:srgbClr val="FFFFFF"/>
          </a:solidFill>
          <a:ln xmlns:a="http://schemas.openxmlformats.org/drawingml/2006/main" w="10478">
            <a:solidFill>
              <a:srgbClr val="B9CAD2"/>
            </a:solidFill>
            <a:prstDash val="solid"/>
          </a:ln>
        </p:spPr>
      </p:sp>
      <p:sp>
        <p:nvSpPr>
          <p:cNvPr id="5" name="">
            <a:extLst xmlns:a="http://schemas.openxmlformats.org/drawingml/2006/main">
              <a:ext uri="{FF2B5EF4-FFF2-40B4-BE49-F238E27FC236}">
                <a16:creationId xmlns:a16="http://schemas.microsoft.com/office/drawing/2014/main" id="{46DC9EFE-AEB5-40ED-A764-7A343EF7AA98}"/>
              </a:ext>
            </a:extLst>
          </p:cNvPr>
          <p:cNvSpPr>
            <a:spLocks xmlns:a="http://schemas.openxmlformats.org/drawingml/2006/main" noGrp="1"/>
          </p:cNvSpPr>
          <p:nvPr/>
        </p:nvSpPr>
        <p:spPr>
          <a:xfrm xmlns:a="http://schemas.openxmlformats.org/drawingml/2006/main">
            <a:off x="1809750" y="1943100"/>
            <a:ext cx="4648200" cy="85725"/>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36837D6E-5458-43EB-9ACB-60E3F576596C}"/>
              </a:ext>
            </a:extLst>
          </p:cNvPr>
          <p:cNvSpPr>
            <a:spLocks xmlns:a="http://schemas.openxmlformats.org/drawingml/2006/main" noGrp="1"/>
          </p:cNvSpPr>
          <p:nvPr/>
        </p:nvSpPr>
        <p:spPr>
          <a:xfrm xmlns:a="http://schemas.openxmlformats.org/drawingml/2006/main">
            <a:off x="1962150" y="2133600"/>
            <a:ext cx="1066800" cy="266700"/>
          </a:xfrm>
          <a:prstGeom xmlns:a="http://schemas.openxmlformats.org/drawingml/2006/main" prst="roundRect">
            <a:avLst>
              <a:gd name="adj" fmla="val 28571"/>
            </a:avLst>
          </a:prstGeom>
          <a:solidFill xmlns:a="http://schemas.openxmlformats.org/drawingml/2006/main">
            <a:srgbClr val="00B2BB"/>
          </a:solidFill>
          <a:ln xmlns:a="http://schemas.openxmlformats.org/drawingml/2006/main" w="0">
            <a:solidFill>
              <a:srgbClr val="00B2BB"/>
            </a:solidFill>
            <a:prstDash val="solid"/>
          </a:ln>
        </p:spPr>
      </p:sp>
      <p:sp>
        <p:nvSpPr>
          <p:cNvPr id="7" name="">
            <a:extLst xmlns:a="http://schemas.openxmlformats.org/drawingml/2006/main">
              <a:ext uri="{FF2B5EF4-FFF2-40B4-BE49-F238E27FC236}">
                <a16:creationId xmlns:a16="http://schemas.microsoft.com/office/drawing/2014/main" id="{40969F7A-4218-4AD5-BA6E-3F79668E4D1D}"/>
              </a:ext>
            </a:extLst>
          </p:cNvPr>
          <p:cNvSpPr>
            <a:spLocks xmlns:a="http://schemas.openxmlformats.org/drawingml/2006/main" noGrp="1"/>
          </p:cNvSpPr>
          <p:nvPr/>
        </p:nvSpPr>
        <p:spPr>
          <a:xfrm xmlns:a="http://schemas.openxmlformats.org/drawingml/2006/main">
            <a:off x="1962150" y="21336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40" b="1">
                <a:solidFill>
                  <a:srgbClr val="FFFFFF"/>
                </a:solidFill>
              </a:defRPr>
            </a:pPr>
            <a:r>
              <a:rPr sz="840" b="1">
                <a:solidFill>
                  <a:srgbClr val="FFFFFF"/>
                </a:solidFill>
              </a:rPr>
              <a:t>KERNBESTAND</a:t>
            </a:r>
          </a:p>
        </p:txBody>
      </p:sp>
      <p:sp>
        <p:nvSpPr>
          <p:cNvPr id="8" name="">
            <a:extLst xmlns:a="http://schemas.openxmlformats.org/drawingml/2006/main">
              <a:ext uri="{FF2B5EF4-FFF2-40B4-BE49-F238E27FC236}">
                <a16:creationId xmlns:a16="http://schemas.microsoft.com/office/drawing/2014/main" id="{76936E6C-385F-42E6-B702-B3F44C8EAEF9}"/>
              </a:ext>
            </a:extLst>
          </p:cNvPr>
          <p:cNvSpPr>
            <a:spLocks xmlns:a="http://schemas.openxmlformats.org/drawingml/2006/main" noGrp="1"/>
          </p:cNvSpPr>
          <p:nvPr/>
        </p:nvSpPr>
        <p:spPr>
          <a:xfrm xmlns:a="http://schemas.openxmlformats.org/drawingml/2006/main">
            <a:off x="3143250" y="2133600"/>
            <a:ext cx="3162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35" b="1">
                <a:solidFill>
                  <a:srgbClr val="003F6B"/>
                </a:solidFill>
              </a:defRPr>
            </a:pPr>
            <a:r>
              <a:rPr sz="735" b="1">
                <a:solidFill>
                  <a:srgbClr val="003F6B"/>
                </a:solidFill>
              </a:rPr>
              <a:t>BGH · 13.06.2006 · VI ZR 323/04</a:t>
            </a:r>
          </a:p>
        </p:txBody>
      </p:sp>
      <p:sp>
        <p:nvSpPr>
          <p:cNvPr id="9" name="">
            <a:extLst xmlns:a="http://schemas.openxmlformats.org/drawingml/2006/main">
              <a:ext uri="{FF2B5EF4-FFF2-40B4-BE49-F238E27FC236}">
                <a16:creationId xmlns:a16="http://schemas.microsoft.com/office/drawing/2014/main" id="{0489C27F-C77D-49FF-9F18-E2DD1BF1BA8B}"/>
              </a:ext>
            </a:extLst>
          </p:cNvPr>
          <p:cNvSpPr>
            <a:spLocks xmlns:a="http://schemas.openxmlformats.org/drawingml/2006/main" noGrp="1"/>
          </p:cNvSpPr>
          <p:nvPr/>
        </p:nvSpPr>
        <p:spPr>
          <a:xfrm xmlns:a="http://schemas.openxmlformats.org/drawingml/2006/main">
            <a:off x="1981200" y="2476500"/>
            <a:ext cx="430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15" b="1">
                <a:solidFill>
                  <a:srgbClr val="003F6B"/>
                </a:solidFill>
              </a:defRPr>
            </a:pPr>
            <a:r>
              <a:rPr sz="1215" b="1">
                <a:solidFill>
                  <a:srgbClr val="003F6B"/>
                </a:solidFill>
              </a:rPr>
              <a:t>Robodoc: Aufklärung über eine neue Behandlungsmethode</a:t>
            </a:r>
          </a:p>
        </p:txBody>
      </p:sp>
      <p:sp>
        <p:nvSpPr>
          <p:cNvPr id="10" name="">
            <a:extLst xmlns:a="http://schemas.openxmlformats.org/drawingml/2006/main">
              <a:ext uri="{FF2B5EF4-FFF2-40B4-BE49-F238E27FC236}">
                <a16:creationId xmlns:a16="http://schemas.microsoft.com/office/drawing/2014/main" id="{F1E2FF5D-3A25-495C-AD5A-0CF883636FC8}"/>
              </a:ext>
            </a:extLst>
          </p:cNvPr>
          <p:cNvSpPr>
            <a:spLocks xmlns:a="http://schemas.openxmlformats.org/drawingml/2006/main" noGrp="1"/>
          </p:cNvSpPr>
          <p:nvPr/>
        </p:nvSpPr>
        <p:spPr>
          <a:xfrm xmlns:a="http://schemas.openxmlformats.org/drawingml/2006/main">
            <a:off x="1981200" y="29908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B2BB"/>
                </a:solidFill>
              </a:defRPr>
            </a:pPr>
            <a:r>
              <a:rPr sz="713" b="1">
                <a:solidFill>
                  <a:srgbClr val="00B2BB"/>
                </a:solidFill>
              </a:rPr>
              <a:t>TENOR / LEITSATZKERN</a:t>
            </a:r>
          </a:p>
        </p:txBody>
      </p:sp>
      <p:sp>
        <p:nvSpPr>
          <p:cNvPr id="11" name="">
            <a:extLst xmlns:a="http://schemas.openxmlformats.org/drawingml/2006/main">
              <a:ext uri="{FF2B5EF4-FFF2-40B4-BE49-F238E27FC236}">
                <a16:creationId xmlns:a16="http://schemas.microsoft.com/office/drawing/2014/main" id="{F82D14F9-ADB5-4461-9934-B5A033F095CA}"/>
              </a:ext>
            </a:extLst>
          </p:cNvPr>
          <p:cNvSpPr>
            <a:spLocks xmlns:a="http://schemas.openxmlformats.org/drawingml/2006/main" noGrp="1"/>
          </p:cNvSpPr>
          <p:nvPr/>
        </p:nvSpPr>
        <p:spPr>
          <a:xfrm xmlns:a="http://schemas.openxmlformats.org/drawingml/2006/main">
            <a:off x="1981200" y="3181350"/>
            <a:ext cx="43053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55">
                <a:solidFill>
                  <a:srgbClr val="15232B"/>
                </a:solidFill>
              </a:defRPr>
            </a:pPr>
            <a:r>
              <a:rPr sz="855">
                <a:solidFill>
                  <a:srgbClr val="15232B"/>
                </a:solidFill>
              </a:rPr>
              <a:t>Bei einer neuen Methode muss der Patient eindeutig auf unbekannte Risiken und auf die etablierte Behandlungsalternative hingewiesen werden.</a:t>
            </a:r>
          </a:p>
        </p:txBody>
      </p:sp>
      <p:sp>
        <p:nvSpPr>
          <p:cNvPr id="12" name="">
            <a:extLst xmlns:a="http://schemas.openxmlformats.org/drawingml/2006/main">
              <a:ext uri="{FF2B5EF4-FFF2-40B4-BE49-F238E27FC236}">
                <a16:creationId xmlns:a16="http://schemas.microsoft.com/office/drawing/2014/main" id="{805C2162-DBB3-42DA-A69E-766BEE4FD9DA}"/>
              </a:ext>
            </a:extLst>
          </p:cNvPr>
          <p:cNvSpPr>
            <a:spLocks xmlns:a="http://schemas.openxmlformats.org/drawingml/2006/main" noGrp="1"/>
          </p:cNvSpPr>
          <p:nvPr/>
        </p:nvSpPr>
        <p:spPr>
          <a:xfrm xmlns:a="http://schemas.openxmlformats.org/drawingml/2006/main">
            <a:off x="1981200" y="381000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3F6B"/>
                </a:solidFill>
              </a:defRPr>
            </a:pPr>
            <a:r>
              <a:rPr sz="713" b="1">
                <a:solidFill>
                  <a:srgbClr val="003F6B"/>
                </a:solidFill>
              </a:rPr>
              <a:t>TRAGENDE AUSSAGE</a:t>
            </a:r>
          </a:p>
        </p:txBody>
      </p:sp>
      <p:sp>
        <p:nvSpPr>
          <p:cNvPr id="13" name="">
            <a:extLst xmlns:a="http://schemas.openxmlformats.org/drawingml/2006/main">
              <a:ext uri="{FF2B5EF4-FFF2-40B4-BE49-F238E27FC236}">
                <a16:creationId xmlns:a16="http://schemas.microsoft.com/office/drawing/2014/main" id="{7610DC40-02D7-4B53-AFCF-EE68F842BFF9}"/>
              </a:ext>
            </a:extLst>
          </p:cNvPr>
          <p:cNvSpPr>
            <a:spLocks xmlns:a="http://schemas.openxmlformats.org/drawingml/2006/main" noGrp="1"/>
          </p:cNvSpPr>
          <p:nvPr/>
        </p:nvSpPr>
        <p:spPr>
          <a:xfrm xmlns:a="http://schemas.openxmlformats.org/drawingml/2006/main">
            <a:off x="1981200" y="4000500"/>
            <a:ext cx="43053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10">
                <a:solidFill>
                  <a:srgbClr val="15232B"/>
                </a:solidFill>
              </a:defRPr>
            </a:pPr>
            <a:r>
              <a:rPr sz="810">
                <a:solidFill>
                  <a:srgbClr val="15232B"/>
                </a:solidFill>
              </a:rPr>
              <a:t>Innovative Behandlung ist nicht schon wegen fehlender Langzeiterfahrung fehlerhaft. Ihre besonderen Unsicherheiten verändern aber die Vergleichs- und Risikoaufklärung.</a:t>
            </a:r>
          </a:p>
        </p:txBody>
      </p:sp>
      <p:sp>
        <p:nvSpPr>
          <p:cNvPr id="14" name="">
            <a:extLst xmlns:a="http://schemas.openxmlformats.org/drawingml/2006/main">
              <a:ext uri="{FF2B5EF4-FFF2-40B4-BE49-F238E27FC236}">
                <a16:creationId xmlns:a16="http://schemas.microsoft.com/office/drawing/2014/main" id="{6F841D72-20D4-4C95-982E-E0151690243F}"/>
              </a:ext>
            </a:extLst>
          </p:cNvPr>
          <p:cNvSpPr>
            <a:spLocks xmlns:a="http://schemas.openxmlformats.org/drawingml/2006/main" noGrp="1"/>
          </p:cNvSpPr>
          <p:nvPr/>
        </p:nvSpPr>
        <p:spPr>
          <a:xfrm xmlns:a="http://schemas.openxmlformats.org/drawingml/2006/main">
            <a:off x="1981200" y="4572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B2BB"/>
                </a:solidFill>
              </a:defRPr>
            </a:pPr>
            <a:r>
              <a:rPr sz="713" b="1">
                <a:solidFill>
                  <a:srgbClr val="00B2BB"/>
                </a:solidFill>
              </a:rPr>
              <a:t>PRAXIS</a:t>
            </a:r>
          </a:p>
        </p:txBody>
      </p:sp>
      <p:sp>
        <p:nvSpPr>
          <p:cNvPr id="15" name="">
            <a:extLst xmlns:a="http://schemas.openxmlformats.org/drawingml/2006/main">
              <a:ext uri="{FF2B5EF4-FFF2-40B4-BE49-F238E27FC236}">
                <a16:creationId xmlns:a16="http://schemas.microsoft.com/office/drawing/2014/main" id="{01A14E01-7821-4914-B3EE-FE1AD544EF4D}"/>
              </a:ext>
            </a:extLst>
          </p:cNvPr>
          <p:cNvSpPr>
            <a:spLocks xmlns:a="http://schemas.openxmlformats.org/drawingml/2006/main" noGrp="1"/>
          </p:cNvSpPr>
          <p:nvPr/>
        </p:nvSpPr>
        <p:spPr>
          <a:xfrm xmlns:a="http://schemas.openxmlformats.org/drawingml/2006/main">
            <a:off x="2590800" y="4552950"/>
            <a:ext cx="3695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765">
                <a:solidFill>
                  <a:srgbClr val="15232B"/>
                </a:solidFill>
              </a:defRPr>
            </a:pPr>
            <a:r>
              <a:rPr sz="765">
                <a:solidFill>
                  <a:srgbClr val="15232B"/>
                </a:solidFill>
              </a:rPr>
              <a:t>Innovationsgrad, Evidenzlücken, Alternativen, Lernkurve und institutionelle Erfahrung ausdrücklich ansprechen; Marketingbegriffe vermeiden.</a:t>
            </a:r>
          </a:p>
        </p:txBody>
      </p:sp>
      <p:sp>
        <p:nvSpPr>
          <p:cNvPr id="16" name="">
            <a:extLst xmlns:a="http://schemas.openxmlformats.org/drawingml/2006/main">
              <a:ext uri="{FF2B5EF4-FFF2-40B4-BE49-F238E27FC236}">
                <a16:creationId xmlns:a16="http://schemas.microsoft.com/office/drawing/2014/main" id="{B0976BA2-5D58-465F-939D-09B910A0A9D5}"/>
              </a:ext>
            </a:extLst>
          </p:cNvPr>
          <p:cNvSpPr>
            <a:spLocks xmlns:a="http://schemas.openxmlformats.org/drawingml/2006/main" noGrp="1"/>
          </p:cNvSpPr>
          <p:nvPr/>
        </p:nvSpPr>
        <p:spPr>
          <a:xfrm xmlns:a="http://schemas.openxmlformats.org/drawingml/2006/main">
            <a:off x="1981200" y="4962525"/>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615">
                <a:solidFill>
                  <a:srgbClr val="667680"/>
                </a:solidFill>
              </a:defRPr>
            </a:pPr>
            <a:r>
              <a:rPr sz="615">
                <a:solidFill>
                  <a:srgbClr val="667680"/>
                </a:solidFill>
              </a:rPr>
              <a:t>7. Leitentscheidung zur Neuland- und Methodenaufklärung.</a:t>
            </a:r>
          </a:p>
        </p:txBody>
      </p:sp>
      <p:sp>
        <p:nvSpPr>
          <p:cNvPr id="17" name="">
            <a:extLst xmlns:a="http://schemas.openxmlformats.org/drawingml/2006/main">
              <a:ext uri="{FF2B5EF4-FFF2-40B4-BE49-F238E27FC236}">
                <a16:creationId xmlns:a16="http://schemas.microsoft.com/office/drawing/2014/main" id="{6ECCACC6-F927-4D18-BE40-AE573BB55D5E}"/>
              </a:ext>
            </a:extLst>
          </p:cNvPr>
          <p:cNvSpPr>
            <a:spLocks xmlns:a="http://schemas.openxmlformats.org/drawingml/2006/main" noGrp="1"/>
          </p:cNvSpPr>
          <p:nvPr/>
        </p:nvSpPr>
        <p:spPr>
          <a:xfrm xmlns:a="http://schemas.openxmlformats.org/drawingml/2006/main">
            <a:off x="6686550" y="1943100"/>
            <a:ext cx="4648200" cy="3238500"/>
          </a:xfrm>
          <a:prstGeom xmlns:a="http://schemas.openxmlformats.org/drawingml/2006/main" prst="roundRect">
            <a:avLst>
              <a:gd name="adj" fmla="val 2353"/>
            </a:avLst>
          </a:prstGeom>
          <a:solidFill xmlns:a="http://schemas.openxmlformats.org/drawingml/2006/main">
            <a:srgbClr val="FFFFFF"/>
          </a:solidFill>
          <a:ln xmlns:a="http://schemas.openxmlformats.org/drawingml/2006/main" w="10478">
            <a:solidFill>
              <a:srgbClr val="B9CAD2"/>
            </a:solidFill>
            <a:prstDash val="solid"/>
          </a:ln>
        </p:spPr>
      </p:sp>
      <p:sp>
        <p:nvSpPr>
          <p:cNvPr id="18" name="">
            <a:extLst xmlns:a="http://schemas.openxmlformats.org/drawingml/2006/main">
              <a:ext uri="{FF2B5EF4-FFF2-40B4-BE49-F238E27FC236}">
                <a16:creationId xmlns:a16="http://schemas.microsoft.com/office/drawing/2014/main" id="{652233AE-C37B-4CC5-B4C0-BC394F8B4E18}"/>
              </a:ext>
            </a:extLst>
          </p:cNvPr>
          <p:cNvSpPr>
            <a:spLocks xmlns:a="http://schemas.openxmlformats.org/drawingml/2006/main" noGrp="1"/>
          </p:cNvSpPr>
          <p:nvPr/>
        </p:nvSpPr>
        <p:spPr>
          <a:xfrm xmlns:a="http://schemas.openxmlformats.org/drawingml/2006/main">
            <a:off x="6686550" y="1943100"/>
            <a:ext cx="4648200" cy="85725"/>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9" name="">
            <a:extLst xmlns:a="http://schemas.openxmlformats.org/drawingml/2006/main">
              <a:ext uri="{FF2B5EF4-FFF2-40B4-BE49-F238E27FC236}">
                <a16:creationId xmlns:a16="http://schemas.microsoft.com/office/drawing/2014/main" id="{61BE2774-6ABD-49F9-A661-FF2FE41660BF}"/>
              </a:ext>
            </a:extLst>
          </p:cNvPr>
          <p:cNvSpPr>
            <a:spLocks xmlns:a="http://schemas.openxmlformats.org/drawingml/2006/main" noGrp="1"/>
          </p:cNvSpPr>
          <p:nvPr/>
        </p:nvSpPr>
        <p:spPr>
          <a:xfrm xmlns:a="http://schemas.openxmlformats.org/drawingml/2006/main">
            <a:off x="6838950" y="2133600"/>
            <a:ext cx="1066800" cy="266700"/>
          </a:xfrm>
          <a:prstGeom xmlns:a="http://schemas.openxmlformats.org/drawingml/2006/main" prst="roundRect">
            <a:avLst>
              <a:gd name="adj" fmla="val 28571"/>
            </a:avLst>
          </a:prstGeom>
          <a:solidFill xmlns:a="http://schemas.openxmlformats.org/drawingml/2006/main">
            <a:srgbClr val="003F6B"/>
          </a:solidFill>
          <a:ln xmlns:a="http://schemas.openxmlformats.org/drawingml/2006/main" w="0">
            <a:solidFill>
              <a:srgbClr val="003F6B"/>
            </a:solidFill>
            <a:prstDash val="solid"/>
          </a:ln>
        </p:spPr>
      </p:sp>
      <p:sp>
        <p:nvSpPr>
          <p:cNvPr id="20" name="">
            <a:extLst xmlns:a="http://schemas.openxmlformats.org/drawingml/2006/main">
              <a:ext uri="{FF2B5EF4-FFF2-40B4-BE49-F238E27FC236}">
                <a16:creationId xmlns:a16="http://schemas.microsoft.com/office/drawing/2014/main" id="{BA4E2CAF-9D2C-4AF3-9E7E-D9135BE94B1C}"/>
              </a:ext>
            </a:extLst>
          </p:cNvPr>
          <p:cNvSpPr>
            <a:spLocks xmlns:a="http://schemas.openxmlformats.org/drawingml/2006/main" noGrp="1"/>
          </p:cNvSpPr>
          <p:nvPr/>
        </p:nvSpPr>
        <p:spPr>
          <a:xfrm xmlns:a="http://schemas.openxmlformats.org/drawingml/2006/main">
            <a:off x="6838950" y="21336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40" b="1">
                <a:solidFill>
                  <a:srgbClr val="FFFFFF"/>
                </a:solidFill>
              </a:defRPr>
            </a:pPr>
            <a:r>
              <a:rPr sz="840" b="1">
                <a:solidFill>
                  <a:srgbClr val="FFFFFF"/>
                </a:solidFill>
              </a:rPr>
              <a:t>VERTIEFUNG</a:t>
            </a:r>
          </a:p>
        </p:txBody>
      </p:sp>
      <p:sp>
        <p:nvSpPr>
          <p:cNvPr id="21" name="">
            <a:extLst xmlns:a="http://schemas.openxmlformats.org/drawingml/2006/main">
              <a:ext uri="{FF2B5EF4-FFF2-40B4-BE49-F238E27FC236}">
                <a16:creationId xmlns:a16="http://schemas.microsoft.com/office/drawing/2014/main" id="{6F54A277-9F58-496E-B3AA-0D752FAA1168}"/>
              </a:ext>
            </a:extLst>
          </p:cNvPr>
          <p:cNvSpPr>
            <a:spLocks xmlns:a="http://schemas.openxmlformats.org/drawingml/2006/main" noGrp="1"/>
          </p:cNvSpPr>
          <p:nvPr/>
        </p:nvSpPr>
        <p:spPr>
          <a:xfrm xmlns:a="http://schemas.openxmlformats.org/drawingml/2006/main">
            <a:off x="8020050" y="2133600"/>
            <a:ext cx="3162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35" b="1">
                <a:solidFill>
                  <a:srgbClr val="003F6B"/>
                </a:solidFill>
              </a:defRPr>
            </a:pPr>
            <a:r>
              <a:rPr sz="735" b="1">
                <a:solidFill>
                  <a:srgbClr val="003F6B"/>
                </a:solidFill>
              </a:rPr>
              <a:t>BGH · 19.07.2016 · VI ZR 75/15</a:t>
            </a:r>
          </a:p>
        </p:txBody>
      </p:sp>
      <p:sp>
        <p:nvSpPr>
          <p:cNvPr id="22" name="">
            <a:extLst xmlns:a="http://schemas.openxmlformats.org/drawingml/2006/main">
              <a:ext uri="{FF2B5EF4-FFF2-40B4-BE49-F238E27FC236}">
                <a16:creationId xmlns:a16="http://schemas.microsoft.com/office/drawing/2014/main" id="{CDA5EB3F-0BDA-45D9-ADA6-4F19A078CA5E}"/>
              </a:ext>
            </a:extLst>
          </p:cNvPr>
          <p:cNvSpPr>
            <a:spLocks xmlns:a="http://schemas.openxmlformats.org/drawingml/2006/main" noGrp="1"/>
          </p:cNvSpPr>
          <p:nvPr/>
        </p:nvSpPr>
        <p:spPr>
          <a:xfrm xmlns:a="http://schemas.openxmlformats.org/drawingml/2006/main">
            <a:off x="6858000" y="2476500"/>
            <a:ext cx="430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15" b="1">
                <a:solidFill>
                  <a:srgbClr val="003F6B"/>
                </a:solidFill>
              </a:defRPr>
            </a:pPr>
            <a:r>
              <a:rPr sz="1215" b="1">
                <a:solidFill>
                  <a:srgbClr val="003F6B"/>
                </a:solidFill>
              </a:rPr>
              <a:t>Einwilligung kann an einen bestimmten Operateur gebunden sein</a:t>
            </a:r>
          </a:p>
        </p:txBody>
      </p:sp>
      <p:sp>
        <p:nvSpPr>
          <p:cNvPr id="23" name="">
            <a:extLst xmlns:a="http://schemas.openxmlformats.org/drawingml/2006/main">
              <a:ext uri="{FF2B5EF4-FFF2-40B4-BE49-F238E27FC236}">
                <a16:creationId xmlns:a16="http://schemas.microsoft.com/office/drawing/2014/main" id="{AC43C05A-59A5-4A8D-B004-D951BD17D638}"/>
              </a:ext>
            </a:extLst>
          </p:cNvPr>
          <p:cNvSpPr>
            <a:spLocks xmlns:a="http://schemas.openxmlformats.org/drawingml/2006/main" noGrp="1"/>
          </p:cNvSpPr>
          <p:nvPr/>
        </p:nvSpPr>
        <p:spPr>
          <a:xfrm xmlns:a="http://schemas.openxmlformats.org/drawingml/2006/main">
            <a:off x="6858000" y="29908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3F6B"/>
                </a:solidFill>
              </a:defRPr>
            </a:pPr>
            <a:r>
              <a:rPr sz="713" b="1">
                <a:solidFill>
                  <a:srgbClr val="003F6B"/>
                </a:solidFill>
              </a:rPr>
              <a:t>TENOR / LEITSATZKERN</a:t>
            </a:r>
          </a:p>
        </p:txBody>
      </p:sp>
      <p:sp>
        <p:nvSpPr>
          <p:cNvPr id="24" name="">
            <a:extLst xmlns:a="http://schemas.openxmlformats.org/drawingml/2006/main">
              <a:ext uri="{FF2B5EF4-FFF2-40B4-BE49-F238E27FC236}">
                <a16:creationId xmlns:a16="http://schemas.microsoft.com/office/drawing/2014/main" id="{900FAF18-6489-4930-9CDD-8B3B736D796F}"/>
              </a:ext>
            </a:extLst>
          </p:cNvPr>
          <p:cNvSpPr>
            <a:spLocks xmlns:a="http://schemas.openxmlformats.org/drawingml/2006/main" noGrp="1"/>
          </p:cNvSpPr>
          <p:nvPr/>
        </p:nvSpPr>
        <p:spPr>
          <a:xfrm xmlns:a="http://schemas.openxmlformats.org/drawingml/2006/main">
            <a:off x="6858000" y="3181350"/>
            <a:ext cx="43053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55">
                <a:solidFill>
                  <a:srgbClr val="15232B"/>
                </a:solidFill>
              </a:defRPr>
            </a:pPr>
            <a:r>
              <a:rPr sz="855">
                <a:solidFill>
                  <a:srgbClr val="15232B"/>
                </a:solidFill>
              </a:rPr>
              <a:t>Ist die Einwilligung erkennbar auf einen bestimmten Operateur beschränkt, rechtfertigt sie den Eingriff durch einen anderen Arzt nicht.</a:t>
            </a:r>
          </a:p>
        </p:txBody>
      </p:sp>
      <p:sp>
        <p:nvSpPr>
          <p:cNvPr id="25" name="">
            <a:extLst xmlns:a="http://schemas.openxmlformats.org/drawingml/2006/main">
              <a:ext uri="{FF2B5EF4-FFF2-40B4-BE49-F238E27FC236}">
                <a16:creationId xmlns:a16="http://schemas.microsoft.com/office/drawing/2014/main" id="{212AAA03-F91F-4FC1-9D78-D18E9C6CC91D}"/>
              </a:ext>
            </a:extLst>
          </p:cNvPr>
          <p:cNvSpPr>
            <a:spLocks xmlns:a="http://schemas.openxmlformats.org/drawingml/2006/main" noGrp="1"/>
          </p:cNvSpPr>
          <p:nvPr/>
        </p:nvSpPr>
        <p:spPr>
          <a:xfrm xmlns:a="http://schemas.openxmlformats.org/drawingml/2006/main">
            <a:off x="6858000" y="381000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3F6B"/>
                </a:solidFill>
              </a:defRPr>
            </a:pPr>
            <a:r>
              <a:rPr sz="713" b="1">
                <a:solidFill>
                  <a:srgbClr val="003F6B"/>
                </a:solidFill>
              </a:rPr>
              <a:t>TRAGENDE AUSSAGE</a:t>
            </a:r>
          </a:p>
        </p:txBody>
      </p:sp>
      <p:sp>
        <p:nvSpPr>
          <p:cNvPr id="26" name="">
            <a:extLst xmlns:a="http://schemas.openxmlformats.org/drawingml/2006/main">
              <a:ext uri="{FF2B5EF4-FFF2-40B4-BE49-F238E27FC236}">
                <a16:creationId xmlns:a16="http://schemas.microsoft.com/office/drawing/2014/main" id="{5AD2DC5E-4A4D-4DD0-A60A-E0DD5051A87E}"/>
              </a:ext>
            </a:extLst>
          </p:cNvPr>
          <p:cNvSpPr>
            <a:spLocks xmlns:a="http://schemas.openxmlformats.org/drawingml/2006/main" noGrp="1"/>
          </p:cNvSpPr>
          <p:nvPr/>
        </p:nvSpPr>
        <p:spPr>
          <a:xfrm xmlns:a="http://schemas.openxmlformats.org/drawingml/2006/main">
            <a:off x="6858000" y="4000500"/>
            <a:ext cx="43053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10">
                <a:solidFill>
                  <a:srgbClr val="15232B"/>
                </a:solidFill>
              </a:defRPr>
            </a:pPr>
            <a:r>
              <a:rPr sz="810">
                <a:solidFill>
                  <a:srgbClr val="15232B"/>
                </a:solidFill>
              </a:rPr>
              <a:t>Der Einwand, der Eingriff wäre durch den gewünschten Arzt ebenfalls erfolgt, ersetzt die fehlende konkrete Einwilligung nicht.</a:t>
            </a:r>
          </a:p>
        </p:txBody>
      </p:sp>
      <p:sp>
        <p:nvSpPr>
          <p:cNvPr id="27" name="">
            <a:extLst xmlns:a="http://schemas.openxmlformats.org/drawingml/2006/main">
              <a:ext uri="{FF2B5EF4-FFF2-40B4-BE49-F238E27FC236}">
                <a16:creationId xmlns:a16="http://schemas.microsoft.com/office/drawing/2014/main" id="{8B4C6821-4949-416C-A23E-4C5E91EA61FF}"/>
              </a:ext>
            </a:extLst>
          </p:cNvPr>
          <p:cNvSpPr>
            <a:spLocks xmlns:a="http://schemas.openxmlformats.org/drawingml/2006/main" noGrp="1"/>
          </p:cNvSpPr>
          <p:nvPr/>
        </p:nvSpPr>
        <p:spPr>
          <a:xfrm xmlns:a="http://schemas.openxmlformats.org/drawingml/2006/main">
            <a:off x="6858000" y="4572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3F6B"/>
                </a:solidFill>
              </a:defRPr>
            </a:pPr>
            <a:r>
              <a:rPr sz="713" b="1">
                <a:solidFill>
                  <a:srgbClr val="003F6B"/>
                </a:solidFill>
              </a:rPr>
              <a:t>PRAXIS</a:t>
            </a:r>
          </a:p>
        </p:txBody>
      </p:sp>
      <p:sp>
        <p:nvSpPr>
          <p:cNvPr id="28" name="">
            <a:extLst xmlns:a="http://schemas.openxmlformats.org/drawingml/2006/main">
              <a:ext uri="{FF2B5EF4-FFF2-40B4-BE49-F238E27FC236}">
                <a16:creationId xmlns:a16="http://schemas.microsoft.com/office/drawing/2014/main" id="{A252FB0D-1132-49A6-AC15-C392EFB3B7BD}"/>
              </a:ext>
            </a:extLst>
          </p:cNvPr>
          <p:cNvSpPr>
            <a:spLocks xmlns:a="http://schemas.openxmlformats.org/drawingml/2006/main" noGrp="1"/>
          </p:cNvSpPr>
          <p:nvPr/>
        </p:nvSpPr>
        <p:spPr>
          <a:xfrm xmlns:a="http://schemas.openxmlformats.org/drawingml/2006/main">
            <a:off x="7467600" y="4552950"/>
            <a:ext cx="3695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765">
                <a:solidFill>
                  <a:srgbClr val="15232B"/>
                </a:solidFill>
              </a:defRPr>
            </a:pPr>
            <a:r>
              <a:rPr sz="765">
                <a:solidFill>
                  <a:srgbClr val="15232B"/>
                </a:solidFill>
              </a:rPr>
              <a:t>Arztwahl, Vertreterregelung und kurzfristige Änderungen vor dem Eingriff offen ansprechen und eine neue Entscheidung ermöglichen.</a:t>
            </a:r>
          </a:p>
        </p:txBody>
      </p:sp>
      <p:sp>
        <p:nvSpPr>
          <p:cNvPr id="29" name="">
            <a:extLst xmlns:a="http://schemas.openxmlformats.org/drawingml/2006/main">
              <a:ext uri="{FF2B5EF4-FFF2-40B4-BE49-F238E27FC236}">
                <a16:creationId xmlns:a16="http://schemas.microsoft.com/office/drawing/2014/main" id="{C81AE2E4-BD7C-4DA8-920D-30C7B312D6B8}"/>
              </a:ext>
            </a:extLst>
          </p:cNvPr>
          <p:cNvSpPr>
            <a:spLocks xmlns:a="http://schemas.openxmlformats.org/drawingml/2006/main" noGrp="1"/>
          </p:cNvSpPr>
          <p:nvPr/>
        </p:nvSpPr>
        <p:spPr>
          <a:xfrm xmlns:a="http://schemas.openxmlformats.org/drawingml/2006/main">
            <a:off x="6858000" y="4962525"/>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615">
                <a:solidFill>
                  <a:srgbClr val="667680"/>
                </a:solidFill>
              </a:defRPr>
            </a:pPr>
            <a:r>
              <a:rPr sz="615">
                <a:solidFill>
                  <a:srgbClr val="667680"/>
                </a:solidFill>
              </a:rPr>
              <a:t>8. Konkretisierung der Reichweite einer Einwilligung.</a:t>
            </a:r>
          </a:p>
        </p:txBody>
      </p:sp>
      <p:sp>
        <p:nvSpPr>
          <p:cNvPr id="30" name="">
            <a:extLst xmlns:a="http://schemas.openxmlformats.org/drawingml/2006/main">
              <a:ext uri="{FF2B5EF4-FFF2-40B4-BE49-F238E27FC236}">
                <a16:creationId xmlns:a16="http://schemas.microsoft.com/office/drawing/2014/main" id="{00CA3572-CC86-4272-8E91-855AC7E204A5}"/>
              </a:ext>
            </a:extLst>
          </p:cNvPr>
          <p:cNvSpPr>
            <a:spLocks xmlns:a="http://schemas.openxmlformats.org/drawingml/2006/main" noGrp="1"/>
          </p:cNvSpPr>
          <p:nvPr/>
        </p:nvSpPr>
        <p:spPr>
          <a:xfrm xmlns:a="http://schemas.openxmlformats.org/drawingml/2006/main">
            <a:off x="1809750" y="5314950"/>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600">
                <a:solidFill>
                  <a:srgbClr val="667680"/>
                </a:solidFill>
              </a:defRPr>
            </a:pPr>
            <a:r>
              <a:rPr sz="600">
                <a:solidFill>
                  <a:srgbClr val="667680"/>
                </a:solidFill>
              </a:rPr>
              <a:t>Originalquellen: https://www.bundesgerichtshof.de/SharedDocs/Pressemitteilungen/DE/2006/2006089.html · https://juris.bundesgerichtshof.de/cgi-bin/rechtsprechung/document.py?Art=en&amp;Blank=1.pdf&amp;Datum=2016-7-19&amp;Gericht=bgh&amp;anz=17&amp;nr=75613&amp;pos=13</a:t>
            </a:r>
          </a:p>
        </p:txBody>
      </p:sp>
    </p:spTree>
    <p:extLst>
      <p:ext uri="{BB962C8B-B14F-4D97-AF65-F5344CB8AC3E}">
        <p14:creationId xmlns:p14="http://schemas.microsoft.com/office/powerpoint/2010/main" val="43637646"/>
      </p:ext>
    </p:extLst>
  </p:cSld>
</p:sld>
</file>

<file path=ppt/slides/slide431.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Aufklärung &amp; Einwilligung · Arzthaftung &amp; Beweis</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LEITENTSCHEIDUNGEN · 05/20</a:t>
            </a:r>
            <a:endParaRPr/>
          </a:p>
        </p:txBody>
      </p:sp>
      <p:sp>
        <p:nvSpPr>
          <p:cNvPr id="4" name="">
            <a:extLst xmlns:a="http://schemas.openxmlformats.org/drawingml/2006/main">
              <a:ext uri="{FF2B5EF4-FFF2-40B4-BE49-F238E27FC236}">
                <a16:creationId xmlns:a16="http://schemas.microsoft.com/office/drawing/2014/main" id="{A1B4D6C0-5DC5-4E87-A4EA-A15BC0647D3A}"/>
              </a:ext>
            </a:extLst>
          </p:cNvPr>
          <p:cNvSpPr>
            <a:spLocks xmlns:a="http://schemas.openxmlformats.org/drawingml/2006/main" noGrp="1"/>
          </p:cNvSpPr>
          <p:nvPr/>
        </p:nvSpPr>
        <p:spPr>
          <a:xfrm xmlns:a="http://schemas.openxmlformats.org/drawingml/2006/main">
            <a:off x="1809750" y="1943100"/>
            <a:ext cx="4648200" cy="3238500"/>
          </a:xfrm>
          <a:prstGeom xmlns:a="http://schemas.openxmlformats.org/drawingml/2006/main" prst="roundRect">
            <a:avLst>
              <a:gd name="adj" fmla="val 2353"/>
            </a:avLst>
          </a:prstGeom>
          <a:solidFill xmlns:a="http://schemas.openxmlformats.org/drawingml/2006/main">
            <a:srgbClr val="FFFFFF"/>
          </a:solidFill>
          <a:ln xmlns:a="http://schemas.openxmlformats.org/drawingml/2006/main" w="10478">
            <a:solidFill>
              <a:srgbClr val="B9CAD2"/>
            </a:solidFill>
            <a:prstDash val="solid"/>
          </a:ln>
        </p:spPr>
      </p:sp>
      <p:sp>
        <p:nvSpPr>
          <p:cNvPr id="5" name="">
            <a:extLst xmlns:a="http://schemas.openxmlformats.org/drawingml/2006/main">
              <a:ext uri="{FF2B5EF4-FFF2-40B4-BE49-F238E27FC236}">
                <a16:creationId xmlns:a16="http://schemas.microsoft.com/office/drawing/2014/main" id="{F574519F-0692-4A34-9173-E9816A004988}"/>
              </a:ext>
            </a:extLst>
          </p:cNvPr>
          <p:cNvSpPr>
            <a:spLocks xmlns:a="http://schemas.openxmlformats.org/drawingml/2006/main" noGrp="1"/>
          </p:cNvSpPr>
          <p:nvPr/>
        </p:nvSpPr>
        <p:spPr>
          <a:xfrm xmlns:a="http://schemas.openxmlformats.org/drawingml/2006/main">
            <a:off x="1809750" y="1943100"/>
            <a:ext cx="4648200" cy="85725"/>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F01BCE62-2CD4-44E8-A3E4-49AC5C89DA45}"/>
              </a:ext>
            </a:extLst>
          </p:cNvPr>
          <p:cNvSpPr>
            <a:spLocks xmlns:a="http://schemas.openxmlformats.org/drawingml/2006/main" noGrp="1"/>
          </p:cNvSpPr>
          <p:nvPr/>
        </p:nvSpPr>
        <p:spPr>
          <a:xfrm xmlns:a="http://schemas.openxmlformats.org/drawingml/2006/main">
            <a:off x="1962150" y="2133600"/>
            <a:ext cx="1066800" cy="266700"/>
          </a:xfrm>
          <a:prstGeom xmlns:a="http://schemas.openxmlformats.org/drawingml/2006/main" prst="roundRect">
            <a:avLst>
              <a:gd name="adj" fmla="val 28571"/>
            </a:avLst>
          </a:prstGeom>
          <a:solidFill xmlns:a="http://schemas.openxmlformats.org/drawingml/2006/main">
            <a:srgbClr val="00B2BB"/>
          </a:solidFill>
          <a:ln xmlns:a="http://schemas.openxmlformats.org/drawingml/2006/main" w="0">
            <a:solidFill>
              <a:srgbClr val="00B2BB"/>
            </a:solidFill>
            <a:prstDash val="solid"/>
          </a:ln>
        </p:spPr>
      </p:sp>
      <p:sp>
        <p:nvSpPr>
          <p:cNvPr id="7" name="">
            <a:extLst xmlns:a="http://schemas.openxmlformats.org/drawingml/2006/main">
              <a:ext uri="{FF2B5EF4-FFF2-40B4-BE49-F238E27FC236}">
                <a16:creationId xmlns:a16="http://schemas.microsoft.com/office/drawing/2014/main" id="{1A7D0D05-031A-4E65-A6F9-93A72290431C}"/>
              </a:ext>
            </a:extLst>
          </p:cNvPr>
          <p:cNvSpPr>
            <a:spLocks xmlns:a="http://schemas.openxmlformats.org/drawingml/2006/main" noGrp="1"/>
          </p:cNvSpPr>
          <p:nvPr/>
        </p:nvSpPr>
        <p:spPr>
          <a:xfrm xmlns:a="http://schemas.openxmlformats.org/drawingml/2006/main">
            <a:off x="1962150" y="21336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40" b="1">
                <a:solidFill>
                  <a:srgbClr val="FFFFFF"/>
                </a:solidFill>
              </a:defRPr>
            </a:pPr>
            <a:r>
              <a:rPr sz="840" b="1">
                <a:solidFill>
                  <a:srgbClr val="FFFFFF"/>
                </a:solidFill>
              </a:rPr>
              <a:t>KERNBESTAND</a:t>
            </a:r>
          </a:p>
        </p:txBody>
      </p:sp>
      <p:sp>
        <p:nvSpPr>
          <p:cNvPr id="8" name="">
            <a:extLst xmlns:a="http://schemas.openxmlformats.org/drawingml/2006/main">
              <a:ext uri="{FF2B5EF4-FFF2-40B4-BE49-F238E27FC236}">
                <a16:creationId xmlns:a16="http://schemas.microsoft.com/office/drawing/2014/main" id="{4D1ECA0B-79F3-460A-BC89-A9FF963664E1}"/>
              </a:ext>
            </a:extLst>
          </p:cNvPr>
          <p:cNvSpPr>
            <a:spLocks xmlns:a="http://schemas.openxmlformats.org/drawingml/2006/main" noGrp="1"/>
          </p:cNvSpPr>
          <p:nvPr/>
        </p:nvSpPr>
        <p:spPr>
          <a:xfrm xmlns:a="http://schemas.openxmlformats.org/drawingml/2006/main">
            <a:off x="3143250" y="2133600"/>
            <a:ext cx="3162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35" b="1">
                <a:solidFill>
                  <a:srgbClr val="003F6B"/>
                </a:solidFill>
              </a:defRPr>
            </a:pPr>
            <a:r>
              <a:rPr sz="735" b="1">
                <a:solidFill>
                  <a:srgbClr val="003F6B"/>
                </a:solidFill>
              </a:rPr>
              <a:t>BGH · 20.12.2022 · VI ZR 375/21</a:t>
            </a:r>
          </a:p>
        </p:txBody>
      </p:sp>
      <p:sp>
        <p:nvSpPr>
          <p:cNvPr id="9" name="">
            <a:extLst xmlns:a="http://schemas.openxmlformats.org/drawingml/2006/main">
              <a:ext uri="{FF2B5EF4-FFF2-40B4-BE49-F238E27FC236}">
                <a16:creationId xmlns:a16="http://schemas.microsoft.com/office/drawing/2014/main" id="{7BC0D49E-BE0D-4D7A-B8EA-43CEB5448989}"/>
              </a:ext>
            </a:extLst>
          </p:cNvPr>
          <p:cNvSpPr>
            <a:spLocks xmlns:a="http://schemas.openxmlformats.org/drawingml/2006/main" noGrp="1"/>
          </p:cNvSpPr>
          <p:nvPr/>
        </p:nvSpPr>
        <p:spPr>
          <a:xfrm xmlns:a="http://schemas.openxmlformats.org/drawingml/2006/main">
            <a:off x="1981200" y="2476500"/>
            <a:ext cx="430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15" b="1">
                <a:solidFill>
                  <a:srgbClr val="003F6B"/>
                </a:solidFill>
              </a:defRPr>
            </a:pPr>
            <a:r>
              <a:rPr sz="1215" b="1">
                <a:solidFill>
                  <a:srgbClr val="003F6B"/>
                </a:solidFill>
              </a:rPr>
              <a:t>Rechtzeitige Aufklärung ohne starre Sperrfrist</a:t>
            </a:r>
          </a:p>
        </p:txBody>
      </p:sp>
      <p:sp>
        <p:nvSpPr>
          <p:cNvPr id="10" name="">
            <a:extLst xmlns:a="http://schemas.openxmlformats.org/drawingml/2006/main">
              <a:ext uri="{FF2B5EF4-FFF2-40B4-BE49-F238E27FC236}">
                <a16:creationId xmlns:a16="http://schemas.microsoft.com/office/drawing/2014/main" id="{E3800B84-9AF0-461F-A06E-7F116F94B14C}"/>
              </a:ext>
            </a:extLst>
          </p:cNvPr>
          <p:cNvSpPr>
            <a:spLocks xmlns:a="http://schemas.openxmlformats.org/drawingml/2006/main" noGrp="1"/>
          </p:cNvSpPr>
          <p:nvPr/>
        </p:nvSpPr>
        <p:spPr>
          <a:xfrm xmlns:a="http://schemas.openxmlformats.org/drawingml/2006/main">
            <a:off x="1981200" y="29908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B2BB"/>
                </a:solidFill>
              </a:defRPr>
            </a:pPr>
            <a:r>
              <a:rPr sz="713" b="1">
                <a:solidFill>
                  <a:srgbClr val="00B2BB"/>
                </a:solidFill>
              </a:rPr>
              <a:t>TENOR / LEITSATZKERN</a:t>
            </a:r>
          </a:p>
        </p:txBody>
      </p:sp>
      <p:sp>
        <p:nvSpPr>
          <p:cNvPr id="11" name="">
            <a:extLst xmlns:a="http://schemas.openxmlformats.org/drawingml/2006/main">
              <a:ext uri="{FF2B5EF4-FFF2-40B4-BE49-F238E27FC236}">
                <a16:creationId xmlns:a16="http://schemas.microsoft.com/office/drawing/2014/main" id="{AA751073-8B03-4065-910A-37AE4D2C0A68}"/>
              </a:ext>
            </a:extLst>
          </p:cNvPr>
          <p:cNvSpPr>
            <a:spLocks xmlns:a="http://schemas.openxmlformats.org/drawingml/2006/main" noGrp="1"/>
          </p:cNvSpPr>
          <p:nvPr/>
        </p:nvSpPr>
        <p:spPr>
          <a:xfrm xmlns:a="http://schemas.openxmlformats.org/drawingml/2006/main">
            <a:off x="1981200" y="3181350"/>
            <a:ext cx="43053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55">
                <a:solidFill>
                  <a:srgbClr val="15232B"/>
                </a:solidFill>
              </a:defRPr>
            </a:pPr>
            <a:r>
              <a:rPr sz="855">
                <a:solidFill>
                  <a:srgbClr val="15232B"/>
                </a:solidFill>
              </a:rPr>
              <a:t>§ 630e BGB verlangt genügend Zeit für eine wohlüberlegte Entscheidung, aber keinen starren Mindestabstand zwischen Gespräch und Einwilligung.</a:t>
            </a:r>
          </a:p>
        </p:txBody>
      </p:sp>
      <p:sp>
        <p:nvSpPr>
          <p:cNvPr id="12" name="">
            <a:extLst xmlns:a="http://schemas.openxmlformats.org/drawingml/2006/main">
              <a:ext uri="{FF2B5EF4-FFF2-40B4-BE49-F238E27FC236}">
                <a16:creationId xmlns:a16="http://schemas.microsoft.com/office/drawing/2014/main" id="{84D8B601-6B4D-4A05-8A43-4DF4E561D99F}"/>
              </a:ext>
            </a:extLst>
          </p:cNvPr>
          <p:cNvSpPr>
            <a:spLocks xmlns:a="http://schemas.openxmlformats.org/drawingml/2006/main" noGrp="1"/>
          </p:cNvSpPr>
          <p:nvPr/>
        </p:nvSpPr>
        <p:spPr>
          <a:xfrm xmlns:a="http://schemas.openxmlformats.org/drawingml/2006/main">
            <a:off x="1981200" y="381000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3F6B"/>
                </a:solidFill>
              </a:defRPr>
            </a:pPr>
            <a:r>
              <a:rPr sz="713" b="1">
                <a:solidFill>
                  <a:srgbClr val="003F6B"/>
                </a:solidFill>
              </a:rPr>
              <a:t>TRAGENDE AUSSAGE</a:t>
            </a:r>
          </a:p>
        </p:txBody>
      </p:sp>
      <p:sp>
        <p:nvSpPr>
          <p:cNvPr id="13" name="">
            <a:extLst xmlns:a="http://schemas.openxmlformats.org/drawingml/2006/main">
              <a:ext uri="{FF2B5EF4-FFF2-40B4-BE49-F238E27FC236}">
                <a16:creationId xmlns:a16="http://schemas.microsoft.com/office/drawing/2014/main" id="{221A9DF3-3918-413A-B5D3-38137C4B91B5}"/>
              </a:ext>
            </a:extLst>
          </p:cNvPr>
          <p:cNvSpPr>
            <a:spLocks xmlns:a="http://schemas.openxmlformats.org/drawingml/2006/main" noGrp="1"/>
          </p:cNvSpPr>
          <p:nvPr/>
        </p:nvSpPr>
        <p:spPr>
          <a:xfrm xmlns:a="http://schemas.openxmlformats.org/drawingml/2006/main">
            <a:off x="1981200" y="4000500"/>
            <a:ext cx="43053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10">
                <a:solidFill>
                  <a:srgbClr val="15232B"/>
                </a:solidFill>
              </a:defRPr>
            </a:pPr>
            <a:r>
              <a:rPr sz="810">
                <a:solidFill>
                  <a:srgbClr val="15232B"/>
                </a:solidFill>
              </a:rPr>
              <a:t>Ob der Patient sofort entscheiden kann oder Bedenkzeit benötigt, hängt von der konkreten Situation ab; erkennbare Überforderung oder Bedenkzeitwünsche dürfen nicht übergangen werden.</a:t>
            </a:r>
          </a:p>
        </p:txBody>
      </p:sp>
      <p:sp>
        <p:nvSpPr>
          <p:cNvPr id="14" name="">
            <a:extLst xmlns:a="http://schemas.openxmlformats.org/drawingml/2006/main">
              <a:ext uri="{FF2B5EF4-FFF2-40B4-BE49-F238E27FC236}">
                <a16:creationId xmlns:a16="http://schemas.microsoft.com/office/drawing/2014/main" id="{CA02DFB1-073D-4A12-9365-DB92F06B7137}"/>
              </a:ext>
            </a:extLst>
          </p:cNvPr>
          <p:cNvSpPr>
            <a:spLocks xmlns:a="http://schemas.openxmlformats.org/drawingml/2006/main" noGrp="1"/>
          </p:cNvSpPr>
          <p:nvPr/>
        </p:nvSpPr>
        <p:spPr>
          <a:xfrm xmlns:a="http://schemas.openxmlformats.org/drawingml/2006/main">
            <a:off x="1981200" y="4572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B2BB"/>
                </a:solidFill>
              </a:defRPr>
            </a:pPr>
            <a:r>
              <a:rPr sz="713" b="1">
                <a:solidFill>
                  <a:srgbClr val="00B2BB"/>
                </a:solidFill>
              </a:rPr>
              <a:t>PRAXIS</a:t>
            </a:r>
          </a:p>
        </p:txBody>
      </p:sp>
      <p:sp>
        <p:nvSpPr>
          <p:cNvPr id="15" name="">
            <a:extLst xmlns:a="http://schemas.openxmlformats.org/drawingml/2006/main">
              <a:ext uri="{FF2B5EF4-FFF2-40B4-BE49-F238E27FC236}">
                <a16:creationId xmlns:a16="http://schemas.microsoft.com/office/drawing/2014/main" id="{266F431C-8F29-47C2-BA75-1651820F8C88}"/>
              </a:ext>
            </a:extLst>
          </p:cNvPr>
          <p:cNvSpPr>
            <a:spLocks xmlns:a="http://schemas.openxmlformats.org/drawingml/2006/main" noGrp="1"/>
          </p:cNvSpPr>
          <p:nvPr/>
        </p:nvSpPr>
        <p:spPr>
          <a:xfrm xmlns:a="http://schemas.openxmlformats.org/drawingml/2006/main">
            <a:off x="2590800" y="4552950"/>
            <a:ext cx="3695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765">
                <a:solidFill>
                  <a:srgbClr val="15232B"/>
                </a:solidFill>
              </a:defRPr>
            </a:pPr>
            <a:r>
              <a:rPr sz="765">
                <a:solidFill>
                  <a:srgbClr val="15232B"/>
                </a:solidFill>
              </a:rPr>
              <a:t>Nicht allein Datum und Uhrzeit dokumentieren, sondern Entscheidungsraum, Dringlichkeit, Fragen und geäußerten Wunsch nach Bedenkzeit.</a:t>
            </a:r>
          </a:p>
        </p:txBody>
      </p:sp>
      <p:sp>
        <p:nvSpPr>
          <p:cNvPr id="16" name="">
            <a:extLst xmlns:a="http://schemas.openxmlformats.org/drawingml/2006/main">
              <a:ext uri="{FF2B5EF4-FFF2-40B4-BE49-F238E27FC236}">
                <a16:creationId xmlns:a16="http://schemas.microsoft.com/office/drawing/2014/main" id="{7D53C396-70C0-41F7-B720-F4A0851BB393}"/>
              </a:ext>
            </a:extLst>
          </p:cNvPr>
          <p:cNvSpPr>
            <a:spLocks xmlns:a="http://schemas.openxmlformats.org/drawingml/2006/main" noGrp="1"/>
          </p:cNvSpPr>
          <p:nvPr/>
        </p:nvSpPr>
        <p:spPr>
          <a:xfrm xmlns:a="http://schemas.openxmlformats.org/drawingml/2006/main">
            <a:off x="1981200" y="4962525"/>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615">
                <a:solidFill>
                  <a:srgbClr val="667680"/>
                </a:solidFill>
              </a:defRPr>
            </a:pPr>
            <a:r>
              <a:rPr sz="615">
                <a:solidFill>
                  <a:srgbClr val="667680"/>
                </a:solidFill>
              </a:rPr>
              <a:t>9. BGHZ 236, 42; maßgebliche Auslegung von § 630e Abs. 2 Satz 1 Nr. 2 BGB.</a:t>
            </a:r>
          </a:p>
        </p:txBody>
      </p:sp>
      <p:sp>
        <p:nvSpPr>
          <p:cNvPr id="17" name="">
            <a:extLst xmlns:a="http://schemas.openxmlformats.org/drawingml/2006/main">
              <a:ext uri="{FF2B5EF4-FFF2-40B4-BE49-F238E27FC236}">
                <a16:creationId xmlns:a16="http://schemas.microsoft.com/office/drawing/2014/main" id="{903D7DF5-CD04-4034-9339-D261482193DF}"/>
              </a:ext>
            </a:extLst>
          </p:cNvPr>
          <p:cNvSpPr>
            <a:spLocks xmlns:a="http://schemas.openxmlformats.org/drawingml/2006/main" noGrp="1"/>
          </p:cNvSpPr>
          <p:nvPr/>
        </p:nvSpPr>
        <p:spPr>
          <a:xfrm xmlns:a="http://schemas.openxmlformats.org/drawingml/2006/main">
            <a:off x="6686550" y="1943100"/>
            <a:ext cx="4648200" cy="3238500"/>
          </a:xfrm>
          <a:prstGeom xmlns:a="http://schemas.openxmlformats.org/drawingml/2006/main" prst="roundRect">
            <a:avLst>
              <a:gd name="adj" fmla="val 2353"/>
            </a:avLst>
          </a:prstGeom>
          <a:solidFill xmlns:a="http://schemas.openxmlformats.org/drawingml/2006/main">
            <a:srgbClr val="FFFFFF"/>
          </a:solidFill>
          <a:ln xmlns:a="http://schemas.openxmlformats.org/drawingml/2006/main" w="10478">
            <a:solidFill>
              <a:srgbClr val="B9CAD2"/>
            </a:solidFill>
            <a:prstDash val="solid"/>
          </a:ln>
        </p:spPr>
      </p:sp>
      <p:sp>
        <p:nvSpPr>
          <p:cNvPr id="18" name="">
            <a:extLst xmlns:a="http://schemas.openxmlformats.org/drawingml/2006/main">
              <a:ext uri="{FF2B5EF4-FFF2-40B4-BE49-F238E27FC236}">
                <a16:creationId xmlns:a16="http://schemas.microsoft.com/office/drawing/2014/main" id="{0D95D1D1-E740-4D00-8894-FBD360C19928}"/>
              </a:ext>
            </a:extLst>
          </p:cNvPr>
          <p:cNvSpPr>
            <a:spLocks xmlns:a="http://schemas.openxmlformats.org/drawingml/2006/main" noGrp="1"/>
          </p:cNvSpPr>
          <p:nvPr/>
        </p:nvSpPr>
        <p:spPr>
          <a:xfrm xmlns:a="http://schemas.openxmlformats.org/drawingml/2006/main">
            <a:off x="6686550" y="1943100"/>
            <a:ext cx="4648200" cy="85725"/>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19" name="">
            <a:extLst xmlns:a="http://schemas.openxmlformats.org/drawingml/2006/main">
              <a:ext uri="{FF2B5EF4-FFF2-40B4-BE49-F238E27FC236}">
                <a16:creationId xmlns:a16="http://schemas.microsoft.com/office/drawing/2014/main" id="{39215D76-7C27-41FC-875A-9613FA5E982D}"/>
              </a:ext>
            </a:extLst>
          </p:cNvPr>
          <p:cNvSpPr>
            <a:spLocks xmlns:a="http://schemas.openxmlformats.org/drawingml/2006/main" noGrp="1"/>
          </p:cNvSpPr>
          <p:nvPr/>
        </p:nvSpPr>
        <p:spPr>
          <a:xfrm xmlns:a="http://schemas.openxmlformats.org/drawingml/2006/main">
            <a:off x="6838950" y="2133600"/>
            <a:ext cx="1066800" cy="266700"/>
          </a:xfrm>
          <a:prstGeom xmlns:a="http://schemas.openxmlformats.org/drawingml/2006/main" prst="roundRect">
            <a:avLst>
              <a:gd name="adj" fmla="val 28571"/>
            </a:avLst>
          </a:prstGeom>
          <a:solidFill xmlns:a="http://schemas.openxmlformats.org/drawingml/2006/main">
            <a:srgbClr val="00B2BB"/>
          </a:solidFill>
          <a:ln xmlns:a="http://schemas.openxmlformats.org/drawingml/2006/main" w="0">
            <a:solidFill>
              <a:srgbClr val="00B2BB"/>
            </a:solidFill>
            <a:prstDash val="solid"/>
          </a:ln>
        </p:spPr>
      </p:sp>
      <p:sp>
        <p:nvSpPr>
          <p:cNvPr id="20" name="">
            <a:extLst xmlns:a="http://schemas.openxmlformats.org/drawingml/2006/main">
              <a:ext uri="{FF2B5EF4-FFF2-40B4-BE49-F238E27FC236}">
                <a16:creationId xmlns:a16="http://schemas.microsoft.com/office/drawing/2014/main" id="{84AD26B7-9100-43EE-BACA-5FBFA5F46728}"/>
              </a:ext>
            </a:extLst>
          </p:cNvPr>
          <p:cNvSpPr>
            <a:spLocks xmlns:a="http://schemas.openxmlformats.org/drawingml/2006/main" noGrp="1"/>
          </p:cNvSpPr>
          <p:nvPr/>
        </p:nvSpPr>
        <p:spPr>
          <a:xfrm xmlns:a="http://schemas.openxmlformats.org/drawingml/2006/main">
            <a:off x="6838950" y="21336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40" b="1">
                <a:solidFill>
                  <a:srgbClr val="FFFFFF"/>
                </a:solidFill>
              </a:defRPr>
            </a:pPr>
            <a:r>
              <a:rPr sz="840" b="1">
                <a:solidFill>
                  <a:srgbClr val="FFFFFF"/>
                </a:solidFill>
              </a:rPr>
              <a:t>KERNBESTAND</a:t>
            </a:r>
          </a:p>
        </p:txBody>
      </p:sp>
      <p:sp>
        <p:nvSpPr>
          <p:cNvPr id="21" name="">
            <a:extLst xmlns:a="http://schemas.openxmlformats.org/drawingml/2006/main">
              <a:ext uri="{FF2B5EF4-FFF2-40B4-BE49-F238E27FC236}">
                <a16:creationId xmlns:a16="http://schemas.microsoft.com/office/drawing/2014/main" id="{ED733A16-2088-4001-B362-D7CFA9EFD466}"/>
              </a:ext>
            </a:extLst>
          </p:cNvPr>
          <p:cNvSpPr>
            <a:spLocks xmlns:a="http://schemas.openxmlformats.org/drawingml/2006/main" noGrp="1"/>
          </p:cNvSpPr>
          <p:nvPr/>
        </p:nvSpPr>
        <p:spPr>
          <a:xfrm xmlns:a="http://schemas.openxmlformats.org/drawingml/2006/main">
            <a:off x="8020050" y="2133600"/>
            <a:ext cx="3162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35" b="1">
                <a:solidFill>
                  <a:srgbClr val="003F6B"/>
                </a:solidFill>
              </a:defRPr>
            </a:pPr>
            <a:r>
              <a:rPr sz="735" b="1">
                <a:solidFill>
                  <a:srgbClr val="003F6B"/>
                </a:solidFill>
              </a:rPr>
              <a:t>BGH · 27.04.2004 · VI ZR 34/03</a:t>
            </a:r>
          </a:p>
        </p:txBody>
      </p:sp>
      <p:sp>
        <p:nvSpPr>
          <p:cNvPr id="22" name="">
            <a:extLst xmlns:a="http://schemas.openxmlformats.org/drawingml/2006/main">
              <a:ext uri="{FF2B5EF4-FFF2-40B4-BE49-F238E27FC236}">
                <a16:creationId xmlns:a16="http://schemas.microsoft.com/office/drawing/2014/main" id="{DB70CAF8-EBC6-43AF-A0A3-FC2CC3219B70}"/>
              </a:ext>
            </a:extLst>
          </p:cNvPr>
          <p:cNvSpPr>
            <a:spLocks xmlns:a="http://schemas.openxmlformats.org/drawingml/2006/main" noGrp="1"/>
          </p:cNvSpPr>
          <p:nvPr/>
        </p:nvSpPr>
        <p:spPr>
          <a:xfrm xmlns:a="http://schemas.openxmlformats.org/drawingml/2006/main">
            <a:off x="6858000" y="2476500"/>
            <a:ext cx="430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15" b="1">
                <a:solidFill>
                  <a:srgbClr val="003F6B"/>
                </a:solidFill>
              </a:defRPr>
            </a:pPr>
            <a:r>
              <a:rPr sz="1215" b="1">
                <a:solidFill>
                  <a:srgbClr val="003F6B"/>
                </a:solidFill>
              </a:rPr>
              <a:t>Grober Behandlungsfehler und Kausalitätsbeweis</a:t>
            </a:r>
          </a:p>
        </p:txBody>
      </p:sp>
      <p:sp>
        <p:nvSpPr>
          <p:cNvPr id="23" name="">
            <a:extLst xmlns:a="http://schemas.openxmlformats.org/drawingml/2006/main">
              <a:ext uri="{FF2B5EF4-FFF2-40B4-BE49-F238E27FC236}">
                <a16:creationId xmlns:a16="http://schemas.microsoft.com/office/drawing/2014/main" id="{6FA5AA04-E1F3-4600-9E51-8A475E9C32E3}"/>
              </a:ext>
            </a:extLst>
          </p:cNvPr>
          <p:cNvSpPr>
            <a:spLocks xmlns:a="http://schemas.openxmlformats.org/drawingml/2006/main" noGrp="1"/>
          </p:cNvSpPr>
          <p:nvPr/>
        </p:nvSpPr>
        <p:spPr>
          <a:xfrm xmlns:a="http://schemas.openxmlformats.org/drawingml/2006/main">
            <a:off x="6858000" y="29908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B2BB"/>
                </a:solidFill>
              </a:defRPr>
            </a:pPr>
            <a:r>
              <a:rPr sz="713" b="1">
                <a:solidFill>
                  <a:srgbClr val="00B2BB"/>
                </a:solidFill>
              </a:rPr>
              <a:t>TENOR / LEITSATZKERN</a:t>
            </a:r>
          </a:p>
        </p:txBody>
      </p:sp>
      <p:sp>
        <p:nvSpPr>
          <p:cNvPr id="24" name="">
            <a:extLst xmlns:a="http://schemas.openxmlformats.org/drawingml/2006/main">
              <a:ext uri="{FF2B5EF4-FFF2-40B4-BE49-F238E27FC236}">
                <a16:creationId xmlns:a16="http://schemas.microsoft.com/office/drawing/2014/main" id="{98B77A40-B88A-4532-8D75-89F89962E231}"/>
              </a:ext>
            </a:extLst>
          </p:cNvPr>
          <p:cNvSpPr>
            <a:spLocks xmlns:a="http://schemas.openxmlformats.org/drawingml/2006/main" noGrp="1"/>
          </p:cNvSpPr>
          <p:nvPr/>
        </p:nvSpPr>
        <p:spPr>
          <a:xfrm xmlns:a="http://schemas.openxmlformats.org/drawingml/2006/main">
            <a:off x="6858000" y="3181350"/>
            <a:ext cx="43053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55">
                <a:solidFill>
                  <a:srgbClr val="15232B"/>
                </a:solidFill>
              </a:defRPr>
            </a:pPr>
            <a:r>
              <a:rPr sz="855">
                <a:solidFill>
                  <a:srgbClr val="15232B"/>
                </a:solidFill>
              </a:rPr>
              <a:t>Ein grober Fehler kehrt den Kausalitätsbeweis um, wenn er generell geeignet ist, den eingetretenen Gesundheitsschaden herbeizuführen.</a:t>
            </a:r>
          </a:p>
        </p:txBody>
      </p:sp>
      <p:sp>
        <p:nvSpPr>
          <p:cNvPr id="25" name="">
            <a:extLst xmlns:a="http://schemas.openxmlformats.org/drawingml/2006/main">
              <a:ext uri="{FF2B5EF4-FFF2-40B4-BE49-F238E27FC236}">
                <a16:creationId xmlns:a16="http://schemas.microsoft.com/office/drawing/2014/main" id="{262F2C87-D938-4C32-A59A-040B79AD875E}"/>
              </a:ext>
            </a:extLst>
          </p:cNvPr>
          <p:cNvSpPr>
            <a:spLocks xmlns:a="http://schemas.openxmlformats.org/drawingml/2006/main" noGrp="1"/>
          </p:cNvSpPr>
          <p:nvPr/>
        </p:nvSpPr>
        <p:spPr>
          <a:xfrm xmlns:a="http://schemas.openxmlformats.org/drawingml/2006/main">
            <a:off x="6858000" y="381000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3F6B"/>
                </a:solidFill>
              </a:defRPr>
            </a:pPr>
            <a:r>
              <a:rPr sz="713" b="1">
                <a:solidFill>
                  <a:srgbClr val="003F6B"/>
                </a:solidFill>
              </a:rPr>
              <a:t>TRAGENDE AUSSAGE</a:t>
            </a:r>
          </a:p>
        </p:txBody>
      </p:sp>
      <p:sp>
        <p:nvSpPr>
          <p:cNvPr id="26" name="">
            <a:extLst xmlns:a="http://schemas.openxmlformats.org/drawingml/2006/main">
              <a:ext uri="{FF2B5EF4-FFF2-40B4-BE49-F238E27FC236}">
                <a16:creationId xmlns:a16="http://schemas.microsoft.com/office/drawing/2014/main" id="{E9128E78-1480-499E-B9E9-0DCB392F7F7F}"/>
              </a:ext>
            </a:extLst>
          </p:cNvPr>
          <p:cNvSpPr>
            <a:spLocks xmlns:a="http://schemas.openxmlformats.org/drawingml/2006/main" noGrp="1"/>
          </p:cNvSpPr>
          <p:nvPr/>
        </p:nvSpPr>
        <p:spPr>
          <a:xfrm xmlns:a="http://schemas.openxmlformats.org/drawingml/2006/main">
            <a:off x="6858000" y="4000500"/>
            <a:ext cx="43053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10">
                <a:solidFill>
                  <a:srgbClr val="15232B"/>
                </a:solidFill>
              </a:defRPr>
            </a:pPr>
            <a:r>
              <a:rPr sz="810">
                <a:solidFill>
                  <a:srgbClr val="15232B"/>
                </a:solidFill>
              </a:rPr>
              <a:t>Es ist nicht zusätzlich erforderlich, dass genau dieser Verlauf besonders wahrscheinlich war. Die Grobheit ist eine juristische Wertung auf sachverständiger Tatsachengrundlage.</a:t>
            </a:r>
          </a:p>
        </p:txBody>
      </p:sp>
      <p:sp>
        <p:nvSpPr>
          <p:cNvPr id="27" name="">
            <a:extLst xmlns:a="http://schemas.openxmlformats.org/drawingml/2006/main">
              <a:ext uri="{FF2B5EF4-FFF2-40B4-BE49-F238E27FC236}">
                <a16:creationId xmlns:a16="http://schemas.microsoft.com/office/drawing/2014/main" id="{511AAB65-69D6-43DE-AFAB-A8FA7626F638}"/>
              </a:ext>
            </a:extLst>
          </p:cNvPr>
          <p:cNvSpPr>
            <a:spLocks xmlns:a="http://schemas.openxmlformats.org/drawingml/2006/main" noGrp="1"/>
          </p:cNvSpPr>
          <p:nvPr/>
        </p:nvSpPr>
        <p:spPr>
          <a:xfrm xmlns:a="http://schemas.openxmlformats.org/drawingml/2006/main">
            <a:off x="6858000" y="4572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B2BB"/>
                </a:solidFill>
              </a:defRPr>
            </a:pPr>
            <a:r>
              <a:rPr sz="713" b="1">
                <a:solidFill>
                  <a:srgbClr val="00B2BB"/>
                </a:solidFill>
              </a:rPr>
              <a:t>PRAXIS</a:t>
            </a:r>
          </a:p>
        </p:txBody>
      </p:sp>
      <p:sp>
        <p:nvSpPr>
          <p:cNvPr id="28" name="">
            <a:extLst xmlns:a="http://schemas.openxmlformats.org/drawingml/2006/main">
              <a:ext uri="{FF2B5EF4-FFF2-40B4-BE49-F238E27FC236}">
                <a16:creationId xmlns:a16="http://schemas.microsoft.com/office/drawing/2014/main" id="{93DA2CC8-50D7-4521-AD00-00D4EE0AD40A}"/>
              </a:ext>
            </a:extLst>
          </p:cNvPr>
          <p:cNvSpPr>
            <a:spLocks xmlns:a="http://schemas.openxmlformats.org/drawingml/2006/main" noGrp="1"/>
          </p:cNvSpPr>
          <p:nvPr/>
        </p:nvSpPr>
        <p:spPr>
          <a:xfrm xmlns:a="http://schemas.openxmlformats.org/drawingml/2006/main">
            <a:off x="7467600" y="4552950"/>
            <a:ext cx="3695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765">
                <a:solidFill>
                  <a:srgbClr val="15232B"/>
                </a:solidFill>
              </a:defRPr>
            </a:pPr>
            <a:r>
              <a:rPr sz="765">
                <a:solidFill>
                  <a:srgbClr val="15232B"/>
                </a:solidFill>
              </a:rPr>
              <a:t>Standardabweichung, medizinische Unverständlichkeit und generelle Schadenseignung getrennt vortragen und in die Beweisfrage übersetzen.</a:t>
            </a:r>
          </a:p>
        </p:txBody>
      </p:sp>
      <p:sp>
        <p:nvSpPr>
          <p:cNvPr id="29" name="">
            <a:extLst xmlns:a="http://schemas.openxmlformats.org/drawingml/2006/main">
              <a:ext uri="{FF2B5EF4-FFF2-40B4-BE49-F238E27FC236}">
                <a16:creationId xmlns:a16="http://schemas.microsoft.com/office/drawing/2014/main" id="{35A1D029-D928-4550-A169-23545A888F97}"/>
              </a:ext>
            </a:extLst>
          </p:cNvPr>
          <p:cNvSpPr>
            <a:spLocks xmlns:a="http://schemas.openxmlformats.org/drawingml/2006/main" noGrp="1"/>
          </p:cNvSpPr>
          <p:nvPr/>
        </p:nvSpPr>
        <p:spPr>
          <a:xfrm xmlns:a="http://schemas.openxmlformats.org/drawingml/2006/main">
            <a:off x="6858000" y="4962525"/>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615">
                <a:solidFill>
                  <a:srgbClr val="667680"/>
                </a:solidFill>
              </a:defRPr>
            </a:pPr>
            <a:r>
              <a:rPr sz="615">
                <a:solidFill>
                  <a:srgbClr val="667680"/>
                </a:solidFill>
              </a:rPr>
              <a:t>10. Später in § 630h Abs. 5 BGB aufgegriffen.</a:t>
            </a:r>
          </a:p>
        </p:txBody>
      </p:sp>
      <p:sp>
        <p:nvSpPr>
          <p:cNvPr id="30" name="">
            <a:extLst xmlns:a="http://schemas.openxmlformats.org/drawingml/2006/main">
              <a:ext uri="{FF2B5EF4-FFF2-40B4-BE49-F238E27FC236}">
                <a16:creationId xmlns:a16="http://schemas.microsoft.com/office/drawing/2014/main" id="{284DA918-145B-4AF1-A1B6-35EA421FB336}"/>
              </a:ext>
            </a:extLst>
          </p:cNvPr>
          <p:cNvSpPr>
            <a:spLocks xmlns:a="http://schemas.openxmlformats.org/drawingml/2006/main" noGrp="1"/>
          </p:cNvSpPr>
          <p:nvPr/>
        </p:nvSpPr>
        <p:spPr>
          <a:xfrm xmlns:a="http://schemas.openxmlformats.org/drawingml/2006/main">
            <a:off x="1809750" y="5314950"/>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600">
                <a:solidFill>
                  <a:srgbClr val="667680"/>
                </a:solidFill>
              </a:defRPr>
            </a:pPr>
            <a:r>
              <a:rPr sz="600">
                <a:solidFill>
                  <a:srgbClr val="667680"/>
                </a:solidFill>
              </a:rPr>
              <a:t>Originalquellen: https://juris.bundesgerichtshof.de/cgi-bin/rechtsprechung/document.py?Art=en&amp;Blank=1.pdf&amp;Datum=2022&amp;Gericht=bgh&amp;anz=3168&amp;nr=132534&amp;pos=29 · https://dejure.org/2004,174</a:t>
            </a:r>
          </a:p>
        </p:txBody>
      </p:sp>
    </p:spTree>
    <p:extLst>
      <p:ext uri="{BB962C8B-B14F-4D97-AF65-F5344CB8AC3E}">
        <p14:creationId xmlns:p14="http://schemas.microsoft.com/office/powerpoint/2010/main" val="43637646"/>
      </p:ext>
    </p:extLst>
  </p:cSld>
</p:sld>
</file>

<file path=ppt/slides/slide432.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Arzthaftung &amp; Beweis</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LEITENTSCHEIDUNGEN · 06/20</a:t>
            </a:r>
            <a:endParaRPr/>
          </a:p>
        </p:txBody>
      </p:sp>
      <p:sp>
        <p:nvSpPr>
          <p:cNvPr id="4" name="">
            <a:extLst xmlns:a="http://schemas.openxmlformats.org/drawingml/2006/main">
              <a:ext uri="{FF2B5EF4-FFF2-40B4-BE49-F238E27FC236}">
                <a16:creationId xmlns:a16="http://schemas.microsoft.com/office/drawing/2014/main" id="{256F7AE0-039C-4475-B3AC-3F4C2A8BB150}"/>
              </a:ext>
            </a:extLst>
          </p:cNvPr>
          <p:cNvSpPr>
            <a:spLocks xmlns:a="http://schemas.openxmlformats.org/drawingml/2006/main" noGrp="1"/>
          </p:cNvSpPr>
          <p:nvPr/>
        </p:nvSpPr>
        <p:spPr>
          <a:xfrm xmlns:a="http://schemas.openxmlformats.org/drawingml/2006/main">
            <a:off x="1809750" y="1943100"/>
            <a:ext cx="4648200" cy="3238500"/>
          </a:xfrm>
          <a:prstGeom xmlns:a="http://schemas.openxmlformats.org/drawingml/2006/main" prst="roundRect">
            <a:avLst>
              <a:gd name="adj" fmla="val 2353"/>
            </a:avLst>
          </a:prstGeom>
          <a:solidFill xmlns:a="http://schemas.openxmlformats.org/drawingml/2006/main">
            <a:srgbClr val="FFFFFF"/>
          </a:solidFill>
          <a:ln xmlns:a="http://schemas.openxmlformats.org/drawingml/2006/main" w="10478">
            <a:solidFill>
              <a:srgbClr val="B9CAD2"/>
            </a:solidFill>
            <a:prstDash val="solid"/>
          </a:ln>
        </p:spPr>
      </p:sp>
      <p:sp>
        <p:nvSpPr>
          <p:cNvPr id="5" name="">
            <a:extLst xmlns:a="http://schemas.openxmlformats.org/drawingml/2006/main">
              <a:ext uri="{FF2B5EF4-FFF2-40B4-BE49-F238E27FC236}">
                <a16:creationId xmlns:a16="http://schemas.microsoft.com/office/drawing/2014/main" id="{26E5D2B1-A691-4D58-9DF1-ED1D95D9C3D0}"/>
              </a:ext>
            </a:extLst>
          </p:cNvPr>
          <p:cNvSpPr>
            <a:spLocks xmlns:a="http://schemas.openxmlformats.org/drawingml/2006/main" noGrp="1"/>
          </p:cNvSpPr>
          <p:nvPr/>
        </p:nvSpPr>
        <p:spPr>
          <a:xfrm xmlns:a="http://schemas.openxmlformats.org/drawingml/2006/main">
            <a:off x="1809750" y="1943100"/>
            <a:ext cx="4648200" cy="85725"/>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0E85BC98-BCA7-41E4-B1F0-4E38861FFF0B}"/>
              </a:ext>
            </a:extLst>
          </p:cNvPr>
          <p:cNvSpPr>
            <a:spLocks xmlns:a="http://schemas.openxmlformats.org/drawingml/2006/main" noGrp="1"/>
          </p:cNvSpPr>
          <p:nvPr/>
        </p:nvSpPr>
        <p:spPr>
          <a:xfrm xmlns:a="http://schemas.openxmlformats.org/drawingml/2006/main">
            <a:off x="1962150" y="2133600"/>
            <a:ext cx="1066800" cy="266700"/>
          </a:xfrm>
          <a:prstGeom xmlns:a="http://schemas.openxmlformats.org/drawingml/2006/main" prst="roundRect">
            <a:avLst>
              <a:gd name="adj" fmla="val 28571"/>
            </a:avLst>
          </a:prstGeom>
          <a:solidFill xmlns:a="http://schemas.openxmlformats.org/drawingml/2006/main">
            <a:srgbClr val="00B2BB"/>
          </a:solidFill>
          <a:ln xmlns:a="http://schemas.openxmlformats.org/drawingml/2006/main" w="0">
            <a:solidFill>
              <a:srgbClr val="00B2BB"/>
            </a:solidFill>
            <a:prstDash val="solid"/>
          </a:ln>
        </p:spPr>
      </p:sp>
      <p:sp>
        <p:nvSpPr>
          <p:cNvPr id="7" name="">
            <a:extLst xmlns:a="http://schemas.openxmlformats.org/drawingml/2006/main">
              <a:ext uri="{FF2B5EF4-FFF2-40B4-BE49-F238E27FC236}">
                <a16:creationId xmlns:a16="http://schemas.microsoft.com/office/drawing/2014/main" id="{E9CF31E1-7B34-42AC-AC89-9449FDA0D67F}"/>
              </a:ext>
            </a:extLst>
          </p:cNvPr>
          <p:cNvSpPr>
            <a:spLocks xmlns:a="http://schemas.openxmlformats.org/drawingml/2006/main" noGrp="1"/>
          </p:cNvSpPr>
          <p:nvPr/>
        </p:nvSpPr>
        <p:spPr>
          <a:xfrm xmlns:a="http://schemas.openxmlformats.org/drawingml/2006/main">
            <a:off x="1962150" y="21336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40" b="1">
                <a:solidFill>
                  <a:srgbClr val="FFFFFF"/>
                </a:solidFill>
              </a:defRPr>
            </a:pPr>
            <a:r>
              <a:rPr sz="840" b="1">
                <a:solidFill>
                  <a:srgbClr val="FFFFFF"/>
                </a:solidFill>
              </a:rPr>
              <a:t>KERNBESTAND</a:t>
            </a:r>
          </a:p>
        </p:txBody>
      </p:sp>
      <p:sp>
        <p:nvSpPr>
          <p:cNvPr id="8" name="">
            <a:extLst xmlns:a="http://schemas.openxmlformats.org/drawingml/2006/main">
              <a:ext uri="{FF2B5EF4-FFF2-40B4-BE49-F238E27FC236}">
                <a16:creationId xmlns:a16="http://schemas.microsoft.com/office/drawing/2014/main" id="{26E9118E-1B56-4F46-8960-367998C60602}"/>
              </a:ext>
            </a:extLst>
          </p:cNvPr>
          <p:cNvSpPr>
            <a:spLocks xmlns:a="http://schemas.openxmlformats.org/drawingml/2006/main" noGrp="1"/>
          </p:cNvSpPr>
          <p:nvPr/>
        </p:nvSpPr>
        <p:spPr>
          <a:xfrm xmlns:a="http://schemas.openxmlformats.org/drawingml/2006/main">
            <a:off x="3143250" y="2133600"/>
            <a:ext cx="3162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35" b="1">
                <a:solidFill>
                  <a:srgbClr val="003F6B"/>
                </a:solidFill>
              </a:defRPr>
            </a:pPr>
            <a:r>
              <a:rPr sz="735" b="1">
                <a:solidFill>
                  <a:srgbClr val="003F6B"/>
                </a:solidFill>
              </a:rPr>
              <a:t>BGH · 20.03.2007 · VI ZR 158/06</a:t>
            </a:r>
          </a:p>
        </p:txBody>
      </p:sp>
      <p:sp>
        <p:nvSpPr>
          <p:cNvPr id="9" name="">
            <a:extLst xmlns:a="http://schemas.openxmlformats.org/drawingml/2006/main">
              <a:ext uri="{FF2B5EF4-FFF2-40B4-BE49-F238E27FC236}">
                <a16:creationId xmlns:a16="http://schemas.microsoft.com/office/drawing/2014/main" id="{A609BACC-A4FF-47E7-9131-348A07D03B9E}"/>
              </a:ext>
            </a:extLst>
          </p:cNvPr>
          <p:cNvSpPr>
            <a:spLocks xmlns:a="http://schemas.openxmlformats.org/drawingml/2006/main" noGrp="1"/>
          </p:cNvSpPr>
          <p:nvPr/>
        </p:nvSpPr>
        <p:spPr>
          <a:xfrm xmlns:a="http://schemas.openxmlformats.org/drawingml/2006/main">
            <a:off x="1981200" y="2476500"/>
            <a:ext cx="430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15" b="1">
                <a:solidFill>
                  <a:srgbClr val="003F6B"/>
                </a:solidFill>
              </a:defRPr>
            </a:pPr>
            <a:r>
              <a:rPr sz="1215" b="1">
                <a:solidFill>
                  <a:srgbClr val="003F6B"/>
                </a:solidFill>
              </a:rPr>
              <a:t>Voll beherrschbares Risiko bei Infektionsübertragung</a:t>
            </a:r>
          </a:p>
        </p:txBody>
      </p:sp>
      <p:sp>
        <p:nvSpPr>
          <p:cNvPr id="10" name="">
            <a:extLst xmlns:a="http://schemas.openxmlformats.org/drawingml/2006/main">
              <a:ext uri="{FF2B5EF4-FFF2-40B4-BE49-F238E27FC236}">
                <a16:creationId xmlns:a16="http://schemas.microsoft.com/office/drawing/2014/main" id="{C08EC365-76F3-46F6-AFC7-5C8AEADE0A65}"/>
              </a:ext>
            </a:extLst>
          </p:cNvPr>
          <p:cNvSpPr>
            <a:spLocks xmlns:a="http://schemas.openxmlformats.org/drawingml/2006/main" noGrp="1"/>
          </p:cNvSpPr>
          <p:nvPr/>
        </p:nvSpPr>
        <p:spPr>
          <a:xfrm xmlns:a="http://schemas.openxmlformats.org/drawingml/2006/main">
            <a:off x="1981200" y="29908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B2BB"/>
                </a:solidFill>
              </a:defRPr>
            </a:pPr>
            <a:r>
              <a:rPr sz="713" b="1">
                <a:solidFill>
                  <a:srgbClr val="00B2BB"/>
                </a:solidFill>
              </a:rPr>
              <a:t>TENOR / LEITSATZKERN</a:t>
            </a:r>
          </a:p>
        </p:txBody>
      </p:sp>
      <p:sp>
        <p:nvSpPr>
          <p:cNvPr id="11" name="">
            <a:extLst xmlns:a="http://schemas.openxmlformats.org/drawingml/2006/main">
              <a:ext uri="{FF2B5EF4-FFF2-40B4-BE49-F238E27FC236}">
                <a16:creationId xmlns:a16="http://schemas.microsoft.com/office/drawing/2014/main" id="{B31648EB-DC31-4DD0-8DDF-31FD746E8D9D}"/>
              </a:ext>
            </a:extLst>
          </p:cNvPr>
          <p:cNvSpPr>
            <a:spLocks xmlns:a="http://schemas.openxmlformats.org/drawingml/2006/main" noGrp="1"/>
          </p:cNvSpPr>
          <p:nvPr/>
        </p:nvSpPr>
        <p:spPr>
          <a:xfrm xmlns:a="http://schemas.openxmlformats.org/drawingml/2006/main">
            <a:off x="1981200" y="3181350"/>
            <a:ext cx="43053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55">
                <a:solidFill>
                  <a:srgbClr val="15232B"/>
                </a:solidFill>
              </a:defRPr>
            </a:pPr>
            <a:r>
              <a:rPr sz="855">
                <a:solidFill>
                  <a:srgbClr val="15232B"/>
                </a:solidFill>
              </a:rPr>
              <a:t>Verwirklicht sich ein Risiko aus einem organisatorisch vollständig beherrschbaren Bereich, muss die Behandlungsseite darlegen und beweisen, dass sie die gebotenen Maßnahmen eingehalten hat.</a:t>
            </a:r>
          </a:p>
        </p:txBody>
      </p:sp>
      <p:sp>
        <p:nvSpPr>
          <p:cNvPr id="12" name="">
            <a:extLst xmlns:a="http://schemas.openxmlformats.org/drawingml/2006/main">
              <a:ext uri="{FF2B5EF4-FFF2-40B4-BE49-F238E27FC236}">
                <a16:creationId xmlns:a16="http://schemas.microsoft.com/office/drawing/2014/main" id="{15BE0A1A-822E-4189-A92E-FAB96C6C21FB}"/>
              </a:ext>
            </a:extLst>
          </p:cNvPr>
          <p:cNvSpPr>
            <a:spLocks xmlns:a="http://schemas.openxmlformats.org/drawingml/2006/main" noGrp="1"/>
          </p:cNvSpPr>
          <p:nvPr/>
        </p:nvSpPr>
        <p:spPr>
          <a:xfrm xmlns:a="http://schemas.openxmlformats.org/drawingml/2006/main">
            <a:off x="1981200" y="381000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3F6B"/>
                </a:solidFill>
              </a:defRPr>
            </a:pPr>
            <a:r>
              <a:rPr sz="713" b="1">
                <a:solidFill>
                  <a:srgbClr val="003F6B"/>
                </a:solidFill>
              </a:rPr>
              <a:t>TRAGENDE AUSSAGE</a:t>
            </a:r>
          </a:p>
        </p:txBody>
      </p:sp>
      <p:sp>
        <p:nvSpPr>
          <p:cNvPr id="13" name="">
            <a:extLst xmlns:a="http://schemas.openxmlformats.org/drawingml/2006/main">
              <a:ext uri="{FF2B5EF4-FFF2-40B4-BE49-F238E27FC236}">
                <a16:creationId xmlns:a16="http://schemas.microsoft.com/office/drawing/2014/main" id="{1C99E964-6169-4201-B127-AC9A5781FE3B}"/>
              </a:ext>
            </a:extLst>
          </p:cNvPr>
          <p:cNvSpPr>
            <a:spLocks xmlns:a="http://schemas.openxmlformats.org/drawingml/2006/main" noGrp="1"/>
          </p:cNvSpPr>
          <p:nvPr/>
        </p:nvSpPr>
        <p:spPr>
          <a:xfrm xmlns:a="http://schemas.openxmlformats.org/drawingml/2006/main">
            <a:off x="1981200" y="4000500"/>
            <a:ext cx="43053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10">
                <a:solidFill>
                  <a:srgbClr val="15232B"/>
                </a:solidFill>
              </a:defRPr>
            </a:pPr>
            <a:r>
              <a:rPr sz="810">
                <a:solidFill>
                  <a:srgbClr val="15232B"/>
                </a:solidFill>
              </a:rPr>
              <a:t>Die Beweiserleichterung knüpft nicht an jedes schlechte Ergebnis, sondern an eine Gefahr an, die dem Einfluss- und Organisationsbereich der Behandlungsseite zugeordnet werden kann.</a:t>
            </a:r>
          </a:p>
        </p:txBody>
      </p:sp>
      <p:sp>
        <p:nvSpPr>
          <p:cNvPr id="14" name="">
            <a:extLst xmlns:a="http://schemas.openxmlformats.org/drawingml/2006/main">
              <a:ext uri="{FF2B5EF4-FFF2-40B4-BE49-F238E27FC236}">
                <a16:creationId xmlns:a16="http://schemas.microsoft.com/office/drawing/2014/main" id="{24033C1C-23B1-48E5-979F-2BE844F9659A}"/>
              </a:ext>
            </a:extLst>
          </p:cNvPr>
          <p:cNvSpPr>
            <a:spLocks xmlns:a="http://schemas.openxmlformats.org/drawingml/2006/main" noGrp="1"/>
          </p:cNvSpPr>
          <p:nvPr/>
        </p:nvSpPr>
        <p:spPr>
          <a:xfrm xmlns:a="http://schemas.openxmlformats.org/drawingml/2006/main">
            <a:off x="1981200" y="4572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B2BB"/>
                </a:solidFill>
              </a:defRPr>
            </a:pPr>
            <a:r>
              <a:rPr sz="713" b="1">
                <a:solidFill>
                  <a:srgbClr val="00B2BB"/>
                </a:solidFill>
              </a:rPr>
              <a:t>PRAXIS</a:t>
            </a:r>
          </a:p>
        </p:txBody>
      </p:sp>
      <p:sp>
        <p:nvSpPr>
          <p:cNvPr id="15" name="">
            <a:extLst xmlns:a="http://schemas.openxmlformats.org/drawingml/2006/main">
              <a:ext uri="{FF2B5EF4-FFF2-40B4-BE49-F238E27FC236}">
                <a16:creationId xmlns:a16="http://schemas.microsoft.com/office/drawing/2014/main" id="{986A78F5-E72D-498B-A5DC-6C30AC563182}"/>
              </a:ext>
            </a:extLst>
          </p:cNvPr>
          <p:cNvSpPr>
            <a:spLocks xmlns:a="http://schemas.openxmlformats.org/drawingml/2006/main" noGrp="1"/>
          </p:cNvSpPr>
          <p:nvPr/>
        </p:nvSpPr>
        <p:spPr>
          <a:xfrm xmlns:a="http://schemas.openxmlformats.org/drawingml/2006/main">
            <a:off x="2590800" y="4552950"/>
            <a:ext cx="3695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765">
                <a:solidFill>
                  <a:srgbClr val="15232B"/>
                </a:solidFill>
              </a:defRPr>
            </a:pPr>
            <a:r>
              <a:rPr sz="765">
                <a:solidFill>
                  <a:srgbClr val="15232B"/>
                </a:solidFill>
              </a:rPr>
              <a:t>Hygiene-, Geräte-, Lagerungs- und Organisationsmaßnahmen so gestalten und dokumentieren, dass der beherrschte Risikobereich tatsächlich rekonstruierbar bleibt.</a:t>
            </a:r>
          </a:p>
        </p:txBody>
      </p:sp>
      <p:sp>
        <p:nvSpPr>
          <p:cNvPr id="16" name="">
            <a:extLst xmlns:a="http://schemas.openxmlformats.org/drawingml/2006/main">
              <a:ext uri="{FF2B5EF4-FFF2-40B4-BE49-F238E27FC236}">
                <a16:creationId xmlns:a16="http://schemas.microsoft.com/office/drawing/2014/main" id="{DB480DD0-C854-4A7A-B492-5DC4320B2E54}"/>
              </a:ext>
            </a:extLst>
          </p:cNvPr>
          <p:cNvSpPr>
            <a:spLocks xmlns:a="http://schemas.openxmlformats.org/drawingml/2006/main" noGrp="1"/>
          </p:cNvSpPr>
          <p:nvPr/>
        </p:nvSpPr>
        <p:spPr>
          <a:xfrm xmlns:a="http://schemas.openxmlformats.org/drawingml/2006/main">
            <a:off x="1981200" y="4962525"/>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615">
                <a:solidFill>
                  <a:srgbClr val="667680"/>
                </a:solidFill>
              </a:defRPr>
            </a:pPr>
            <a:r>
              <a:rPr sz="615">
                <a:solidFill>
                  <a:srgbClr val="667680"/>
                </a:solidFill>
              </a:rPr>
              <a:t>11. Prägende Vorläuferentscheidung zu § 630h Abs. 1 BGB.</a:t>
            </a:r>
          </a:p>
        </p:txBody>
      </p:sp>
      <p:sp>
        <p:nvSpPr>
          <p:cNvPr id="17" name="">
            <a:extLst xmlns:a="http://schemas.openxmlformats.org/drawingml/2006/main">
              <a:ext uri="{FF2B5EF4-FFF2-40B4-BE49-F238E27FC236}">
                <a16:creationId xmlns:a16="http://schemas.microsoft.com/office/drawing/2014/main" id="{2A7D4092-26D5-437B-8E70-38F81947E21B}"/>
              </a:ext>
            </a:extLst>
          </p:cNvPr>
          <p:cNvSpPr>
            <a:spLocks xmlns:a="http://schemas.openxmlformats.org/drawingml/2006/main" noGrp="1"/>
          </p:cNvSpPr>
          <p:nvPr/>
        </p:nvSpPr>
        <p:spPr>
          <a:xfrm xmlns:a="http://schemas.openxmlformats.org/drawingml/2006/main">
            <a:off x="6686550" y="1943100"/>
            <a:ext cx="4648200" cy="3238500"/>
          </a:xfrm>
          <a:prstGeom xmlns:a="http://schemas.openxmlformats.org/drawingml/2006/main" prst="roundRect">
            <a:avLst>
              <a:gd name="adj" fmla="val 2353"/>
            </a:avLst>
          </a:prstGeom>
          <a:solidFill xmlns:a="http://schemas.openxmlformats.org/drawingml/2006/main">
            <a:srgbClr val="FFFFFF"/>
          </a:solidFill>
          <a:ln xmlns:a="http://schemas.openxmlformats.org/drawingml/2006/main" w="10478">
            <a:solidFill>
              <a:srgbClr val="B9CAD2"/>
            </a:solidFill>
            <a:prstDash val="solid"/>
          </a:ln>
        </p:spPr>
      </p:sp>
      <p:sp>
        <p:nvSpPr>
          <p:cNvPr id="18" name="">
            <a:extLst xmlns:a="http://schemas.openxmlformats.org/drawingml/2006/main">
              <a:ext uri="{FF2B5EF4-FFF2-40B4-BE49-F238E27FC236}">
                <a16:creationId xmlns:a16="http://schemas.microsoft.com/office/drawing/2014/main" id="{630B9FCE-AAE4-4DE0-8B56-C2E780FF1815}"/>
              </a:ext>
            </a:extLst>
          </p:cNvPr>
          <p:cNvSpPr>
            <a:spLocks xmlns:a="http://schemas.openxmlformats.org/drawingml/2006/main" noGrp="1"/>
          </p:cNvSpPr>
          <p:nvPr/>
        </p:nvSpPr>
        <p:spPr>
          <a:xfrm xmlns:a="http://schemas.openxmlformats.org/drawingml/2006/main">
            <a:off x="6686550" y="1943100"/>
            <a:ext cx="4648200" cy="85725"/>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9" name="">
            <a:extLst xmlns:a="http://schemas.openxmlformats.org/drawingml/2006/main">
              <a:ext uri="{FF2B5EF4-FFF2-40B4-BE49-F238E27FC236}">
                <a16:creationId xmlns:a16="http://schemas.microsoft.com/office/drawing/2014/main" id="{6E711587-6075-4F0F-95AC-A14E118C02DE}"/>
              </a:ext>
            </a:extLst>
          </p:cNvPr>
          <p:cNvSpPr>
            <a:spLocks xmlns:a="http://schemas.openxmlformats.org/drawingml/2006/main" noGrp="1"/>
          </p:cNvSpPr>
          <p:nvPr/>
        </p:nvSpPr>
        <p:spPr>
          <a:xfrm xmlns:a="http://schemas.openxmlformats.org/drawingml/2006/main">
            <a:off x="6838950" y="2133600"/>
            <a:ext cx="1066800" cy="266700"/>
          </a:xfrm>
          <a:prstGeom xmlns:a="http://schemas.openxmlformats.org/drawingml/2006/main" prst="roundRect">
            <a:avLst>
              <a:gd name="adj" fmla="val 28571"/>
            </a:avLst>
          </a:prstGeom>
          <a:solidFill xmlns:a="http://schemas.openxmlformats.org/drawingml/2006/main">
            <a:srgbClr val="003F6B"/>
          </a:solidFill>
          <a:ln xmlns:a="http://schemas.openxmlformats.org/drawingml/2006/main" w="0">
            <a:solidFill>
              <a:srgbClr val="003F6B"/>
            </a:solidFill>
            <a:prstDash val="solid"/>
          </a:ln>
        </p:spPr>
      </p:sp>
      <p:sp>
        <p:nvSpPr>
          <p:cNvPr id="20" name="">
            <a:extLst xmlns:a="http://schemas.openxmlformats.org/drawingml/2006/main">
              <a:ext uri="{FF2B5EF4-FFF2-40B4-BE49-F238E27FC236}">
                <a16:creationId xmlns:a16="http://schemas.microsoft.com/office/drawing/2014/main" id="{F5A40456-847B-4AC8-B8DF-193A50991F47}"/>
              </a:ext>
            </a:extLst>
          </p:cNvPr>
          <p:cNvSpPr>
            <a:spLocks xmlns:a="http://schemas.openxmlformats.org/drawingml/2006/main" noGrp="1"/>
          </p:cNvSpPr>
          <p:nvPr/>
        </p:nvSpPr>
        <p:spPr>
          <a:xfrm xmlns:a="http://schemas.openxmlformats.org/drawingml/2006/main">
            <a:off x="6838950" y="21336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40" b="1">
                <a:solidFill>
                  <a:srgbClr val="FFFFFF"/>
                </a:solidFill>
              </a:defRPr>
            </a:pPr>
            <a:r>
              <a:rPr sz="840" b="1">
                <a:solidFill>
                  <a:srgbClr val="FFFFFF"/>
                </a:solidFill>
              </a:rPr>
              <a:t>VERTIEFUNG</a:t>
            </a:r>
          </a:p>
        </p:txBody>
      </p:sp>
      <p:sp>
        <p:nvSpPr>
          <p:cNvPr id="21" name="">
            <a:extLst xmlns:a="http://schemas.openxmlformats.org/drawingml/2006/main">
              <a:ext uri="{FF2B5EF4-FFF2-40B4-BE49-F238E27FC236}">
                <a16:creationId xmlns:a16="http://schemas.microsoft.com/office/drawing/2014/main" id="{BCEE123E-EE8B-4F65-8D40-FCF48EC786F0}"/>
              </a:ext>
            </a:extLst>
          </p:cNvPr>
          <p:cNvSpPr>
            <a:spLocks xmlns:a="http://schemas.openxmlformats.org/drawingml/2006/main" noGrp="1"/>
          </p:cNvSpPr>
          <p:nvPr/>
        </p:nvSpPr>
        <p:spPr>
          <a:xfrm xmlns:a="http://schemas.openxmlformats.org/drawingml/2006/main">
            <a:off x="8020050" y="2133600"/>
            <a:ext cx="3162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35" b="1">
                <a:solidFill>
                  <a:srgbClr val="003F6B"/>
                </a:solidFill>
              </a:defRPr>
            </a:pPr>
            <a:r>
              <a:rPr sz="735" b="1">
                <a:solidFill>
                  <a:srgbClr val="003F6B"/>
                </a:solidFill>
              </a:rPr>
              <a:t>BGH · 16.08.2016 · VI ZR 634/15</a:t>
            </a:r>
          </a:p>
        </p:txBody>
      </p:sp>
      <p:sp>
        <p:nvSpPr>
          <p:cNvPr id="22" name="">
            <a:extLst xmlns:a="http://schemas.openxmlformats.org/drawingml/2006/main">
              <a:ext uri="{FF2B5EF4-FFF2-40B4-BE49-F238E27FC236}">
                <a16:creationId xmlns:a16="http://schemas.microsoft.com/office/drawing/2014/main" id="{2DB8E064-DA42-4A6E-B96E-64A21420CDC3}"/>
              </a:ext>
            </a:extLst>
          </p:cNvPr>
          <p:cNvSpPr>
            <a:spLocks xmlns:a="http://schemas.openxmlformats.org/drawingml/2006/main" noGrp="1"/>
          </p:cNvSpPr>
          <p:nvPr/>
        </p:nvSpPr>
        <p:spPr>
          <a:xfrm xmlns:a="http://schemas.openxmlformats.org/drawingml/2006/main">
            <a:off x="6858000" y="2476500"/>
            <a:ext cx="430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15" b="1">
                <a:solidFill>
                  <a:srgbClr val="003F6B"/>
                </a:solidFill>
              </a:defRPr>
            </a:pPr>
            <a:r>
              <a:rPr sz="1215" b="1">
                <a:solidFill>
                  <a:srgbClr val="003F6B"/>
                </a:solidFill>
              </a:rPr>
              <a:t>Sekundäre Darlegungslast bei behaupteten Hygienemängeln</a:t>
            </a:r>
          </a:p>
        </p:txBody>
      </p:sp>
      <p:sp>
        <p:nvSpPr>
          <p:cNvPr id="23" name="">
            <a:extLst xmlns:a="http://schemas.openxmlformats.org/drawingml/2006/main">
              <a:ext uri="{FF2B5EF4-FFF2-40B4-BE49-F238E27FC236}">
                <a16:creationId xmlns:a16="http://schemas.microsoft.com/office/drawing/2014/main" id="{6CB81497-288B-4A74-8DD6-F68E015581BA}"/>
              </a:ext>
            </a:extLst>
          </p:cNvPr>
          <p:cNvSpPr>
            <a:spLocks xmlns:a="http://schemas.openxmlformats.org/drawingml/2006/main" noGrp="1"/>
          </p:cNvSpPr>
          <p:nvPr/>
        </p:nvSpPr>
        <p:spPr>
          <a:xfrm xmlns:a="http://schemas.openxmlformats.org/drawingml/2006/main">
            <a:off x="6858000" y="29908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3F6B"/>
                </a:solidFill>
              </a:defRPr>
            </a:pPr>
            <a:r>
              <a:rPr sz="713" b="1">
                <a:solidFill>
                  <a:srgbClr val="003F6B"/>
                </a:solidFill>
              </a:rPr>
              <a:t>TENOR / LEITSATZKERN</a:t>
            </a:r>
          </a:p>
        </p:txBody>
      </p:sp>
      <p:sp>
        <p:nvSpPr>
          <p:cNvPr id="24" name="">
            <a:extLst xmlns:a="http://schemas.openxmlformats.org/drawingml/2006/main">
              <a:ext uri="{FF2B5EF4-FFF2-40B4-BE49-F238E27FC236}">
                <a16:creationId xmlns:a16="http://schemas.microsoft.com/office/drawing/2014/main" id="{647D3A66-1FAE-4CD2-9D4C-BA4922FC8B4B}"/>
              </a:ext>
            </a:extLst>
          </p:cNvPr>
          <p:cNvSpPr>
            <a:spLocks xmlns:a="http://schemas.openxmlformats.org/drawingml/2006/main" noGrp="1"/>
          </p:cNvSpPr>
          <p:nvPr/>
        </p:nvSpPr>
        <p:spPr>
          <a:xfrm xmlns:a="http://schemas.openxmlformats.org/drawingml/2006/main">
            <a:off x="6858000" y="3181350"/>
            <a:ext cx="43053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55">
                <a:solidFill>
                  <a:srgbClr val="15232B"/>
                </a:solidFill>
              </a:defRPr>
            </a:pPr>
            <a:r>
              <a:rPr sz="855">
                <a:solidFill>
                  <a:srgbClr val="15232B"/>
                </a:solidFill>
              </a:rPr>
              <a:t>Patienten dürfen konkrete Anhaltspunkte für Hygieneverstöße vortragen; die Behandlungsseite muss dann die nur intern bekannten Organisations- und Hygienemaßnahmen substantiiert erläutern.</a:t>
            </a:r>
          </a:p>
        </p:txBody>
      </p:sp>
      <p:sp>
        <p:nvSpPr>
          <p:cNvPr id="25" name="">
            <a:extLst xmlns:a="http://schemas.openxmlformats.org/drawingml/2006/main">
              <a:ext uri="{FF2B5EF4-FFF2-40B4-BE49-F238E27FC236}">
                <a16:creationId xmlns:a16="http://schemas.microsoft.com/office/drawing/2014/main" id="{E52C47AD-35FA-4263-A857-772365714895}"/>
              </a:ext>
            </a:extLst>
          </p:cNvPr>
          <p:cNvSpPr>
            <a:spLocks xmlns:a="http://schemas.openxmlformats.org/drawingml/2006/main" noGrp="1"/>
          </p:cNvSpPr>
          <p:nvPr/>
        </p:nvSpPr>
        <p:spPr>
          <a:xfrm xmlns:a="http://schemas.openxmlformats.org/drawingml/2006/main">
            <a:off x="6858000" y="381000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3F6B"/>
                </a:solidFill>
              </a:defRPr>
            </a:pPr>
            <a:r>
              <a:rPr sz="713" b="1">
                <a:solidFill>
                  <a:srgbClr val="003F6B"/>
                </a:solidFill>
              </a:rPr>
              <a:t>TRAGENDE AUSSAGE</a:t>
            </a:r>
          </a:p>
        </p:txBody>
      </p:sp>
      <p:sp>
        <p:nvSpPr>
          <p:cNvPr id="26" name="">
            <a:extLst xmlns:a="http://schemas.openxmlformats.org/drawingml/2006/main">
              <a:ext uri="{FF2B5EF4-FFF2-40B4-BE49-F238E27FC236}">
                <a16:creationId xmlns:a16="http://schemas.microsoft.com/office/drawing/2014/main" id="{7C22DA92-DB91-4FD4-9F9F-32FFF43F38F4}"/>
              </a:ext>
            </a:extLst>
          </p:cNvPr>
          <p:cNvSpPr>
            <a:spLocks xmlns:a="http://schemas.openxmlformats.org/drawingml/2006/main" noGrp="1"/>
          </p:cNvSpPr>
          <p:nvPr/>
        </p:nvSpPr>
        <p:spPr>
          <a:xfrm xmlns:a="http://schemas.openxmlformats.org/drawingml/2006/main">
            <a:off x="6858000" y="4000500"/>
            <a:ext cx="43053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10">
                <a:solidFill>
                  <a:srgbClr val="15232B"/>
                </a:solidFill>
              </a:defRPr>
            </a:pPr>
            <a:r>
              <a:rPr sz="810">
                <a:solidFill>
                  <a:srgbClr val="15232B"/>
                </a:solidFill>
              </a:rPr>
              <a:t>Die Patientenseite muss nicht interne Abläufe beweisen, zu denen sie keinen Zugang hat. Die Klinik trägt aber nicht automatisch die volle Beweislast für jede Infektion.</a:t>
            </a:r>
          </a:p>
        </p:txBody>
      </p:sp>
      <p:sp>
        <p:nvSpPr>
          <p:cNvPr id="27" name="">
            <a:extLst xmlns:a="http://schemas.openxmlformats.org/drawingml/2006/main">
              <a:ext uri="{FF2B5EF4-FFF2-40B4-BE49-F238E27FC236}">
                <a16:creationId xmlns:a16="http://schemas.microsoft.com/office/drawing/2014/main" id="{64A2ED2C-1266-422F-8E5C-0077A27655B9}"/>
              </a:ext>
            </a:extLst>
          </p:cNvPr>
          <p:cNvSpPr>
            <a:spLocks xmlns:a="http://schemas.openxmlformats.org/drawingml/2006/main" noGrp="1"/>
          </p:cNvSpPr>
          <p:nvPr/>
        </p:nvSpPr>
        <p:spPr>
          <a:xfrm xmlns:a="http://schemas.openxmlformats.org/drawingml/2006/main">
            <a:off x="6858000" y="4572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3F6B"/>
                </a:solidFill>
              </a:defRPr>
            </a:pPr>
            <a:r>
              <a:rPr sz="713" b="1">
                <a:solidFill>
                  <a:srgbClr val="003F6B"/>
                </a:solidFill>
              </a:rPr>
              <a:t>PRAXIS</a:t>
            </a:r>
          </a:p>
        </p:txBody>
      </p:sp>
      <p:sp>
        <p:nvSpPr>
          <p:cNvPr id="28" name="">
            <a:extLst xmlns:a="http://schemas.openxmlformats.org/drawingml/2006/main">
              <a:ext uri="{FF2B5EF4-FFF2-40B4-BE49-F238E27FC236}">
                <a16:creationId xmlns:a16="http://schemas.microsoft.com/office/drawing/2014/main" id="{88B6C104-EE7C-4B8B-ADD2-F67200213064}"/>
              </a:ext>
            </a:extLst>
          </p:cNvPr>
          <p:cNvSpPr>
            <a:spLocks xmlns:a="http://schemas.openxmlformats.org/drawingml/2006/main" noGrp="1"/>
          </p:cNvSpPr>
          <p:nvPr/>
        </p:nvSpPr>
        <p:spPr>
          <a:xfrm xmlns:a="http://schemas.openxmlformats.org/drawingml/2006/main">
            <a:off x="7467600" y="4552950"/>
            <a:ext cx="3695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765">
                <a:solidFill>
                  <a:srgbClr val="15232B"/>
                </a:solidFill>
              </a:defRPr>
            </a:pPr>
            <a:r>
              <a:rPr sz="765">
                <a:solidFill>
                  <a:srgbClr val="15232B"/>
                </a:solidFill>
              </a:rPr>
              <a:t>Hygienepläne allein genügen nicht: Umsetzung, Verantwortlichkeit, Kontrollen, Schulung und Abweichungsmanagement müssen belegbar sein.</a:t>
            </a:r>
          </a:p>
        </p:txBody>
      </p:sp>
      <p:sp>
        <p:nvSpPr>
          <p:cNvPr id="29" name="">
            <a:extLst xmlns:a="http://schemas.openxmlformats.org/drawingml/2006/main">
              <a:ext uri="{FF2B5EF4-FFF2-40B4-BE49-F238E27FC236}">
                <a16:creationId xmlns:a16="http://schemas.microsoft.com/office/drawing/2014/main" id="{03C946EF-997F-4DF9-A91F-9C90FB398E63}"/>
              </a:ext>
            </a:extLst>
          </p:cNvPr>
          <p:cNvSpPr>
            <a:spLocks xmlns:a="http://schemas.openxmlformats.org/drawingml/2006/main" noGrp="1"/>
          </p:cNvSpPr>
          <p:nvPr/>
        </p:nvSpPr>
        <p:spPr>
          <a:xfrm xmlns:a="http://schemas.openxmlformats.org/drawingml/2006/main">
            <a:off x="6858000" y="4962525"/>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615">
                <a:solidFill>
                  <a:srgbClr val="667680"/>
                </a:solidFill>
              </a:defRPr>
            </a:pPr>
            <a:r>
              <a:rPr sz="615">
                <a:solidFill>
                  <a:srgbClr val="667680"/>
                </a:solidFill>
              </a:rPr>
              <a:t>12. Leitentscheidung zur abgestuften Darlegungslast.</a:t>
            </a:r>
          </a:p>
        </p:txBody>
      </p:sp>
      <p:sp>
        <p:nvSpPr>
          <p:cNvPr id="30" name="">
            <a:extLst xmlns:a="http://schemas.openxmlformats.org/drawingml/2006/main">
              <a:ext uri="{FF2B5EF4-FFF2-40B4-BE49-F238E27FC236}">
                <a16:creationId xmlns:a16="http://schemas.microsoft.com/office/drawing/2014/main" id="{7BCE3A24-F949-4C2E-88B5-7C51EBE815EA}"/>
              </a:ext>
            </a:extLst>
          </p:cNvPr>
          <p:cNvSpPr>
            <a:spLocks xmlns:a="http://schemas.openxmlformats.org/drawingml/2006/main" noGrp="1"/>
          </p:cNvSpPr>
          <p:nvPr/>
        </p:nvSpPr>
        <p:spPr>
          <a:xfrm xmlns:a="http://schemas.openxmlformats.org/drawingml/2006/main">
            <a:off x="1809750" y="5314950"/>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540">
                <a:solidFill>
                  <a:srgbClr val="667680"/>
                </a:solidFill>
              </a:defRPr>
            </a:pPr>
            <a:r>
              <a:rPr sz="540">
                <a:solidFill>
                  <a:srgbClr val="667680"/>
                </a:solidFill>
              </a:rPr>
              <a:t>Originalquellen: https://juris.bundesgerichtshof.de/cgi-bin/rechtsprechung/document.py?Art=en&amp;Blank=1.pdf&amp;Datum=2007-3-20&amp;Gericht=bgh&amp;Sort=1&amp;anz=14&amp;nr=39610&amp;pos=8 · https://dejure.org/dienste/vernetzung/rechtsprechung?Aktenzeichen=VI+ZR+634%2F15&amp;Datum=2016-08-16&amp;Gericht=BGH</a:t>
            </a:r>
          </a:p>
        </p:txBody>
      </p:sp>
    </p:spTree>
    <p:extLst>
      <p:ext uri="{BB962C8B-B14F-4D97-AF65-F5344CB8AC3E}">
        <p14:creationId xmlns:p14="http://schemas.microsoft.com/office/powerpoint/2010/main" val="43637646"/>
      </p:ext>
    </p:extLst>
  </p:cSld>
</p:sld>
</file>

<file path=ppt/slides/slide433.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Dokumentation &amp; Beweis · Zivilprozess &amp; Sachverständige</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LEITENTSCHEIDUNGEN · 07/20</a:t>
            </a:r>
            <a:endParaRPr/>
          </a:p>
        </p:txBody>
      </p:sp>
      <p:sp>
        <p:nvSpPr>
          <p:cNvPr id="4" name="">
            <a:extLst xmlns:a="http://schemas.openxmlformats.org/drawingml/2006/main">
              <a:ext uri="{FF2B5EF4-FFF2-40B4-BE49-F238E27FC236}">
                <a16:creationId xmlns:a16="http://schemas.microsoft.com/office/drawing/2014/main" id="{49300FC8-6CBE-4D69-9D3D-6873F25CC332}"/>
              </a:ext>
            </a:extLst>
          </p:cNvPr>
          <p:cNvSpPr>
            <a:spLocks xmlns:a="http://schemas.openxmlformats.org/drawingml/2006/main" noGrp="1"/>
          </p:cNvSpPr>
          <p:nvPr/>
        </p:nvSpPr>
        <p:spPr>
          <a:xfrm xmlns:a="http://schemas.openxmlformats.org/drawingml/2006/main">
            <a:off x="1809750" y="1943100"/>
            <a:ext cx="4648200" cy="3238500"/>
          </a:xfrm>
          <a:prstGeom xmlns:a="http://schemas.openxmlformats.org/drawingml/2006/main" prst="roundRect">
            <a:avLst>
              <a:gd name="adj" fmla="val 2353"/>
            </a:avLst>
          </a:prstGeom>
          <a:solidFill xmlns:a="http://schemas.openxmlformats.org/drawingml/2006/main">
            <a:srgbClr val="FFFFFF"/>
          </a:solidFill>
          <a:ln xmlns:a="http://schemas.openxmlformats.org/drawingml/2006/main" w="10478">
            <a:solidFill>
              <a:srgbClr val="B9CAD2"/>
            </a:solidFill>
            <a:prstDash val="solid"/>
          </a:ln>
        </p:spPr>
      </p:sp>
      <p:sp>
        <p:nvSpPr>
          <p:cNvPr id="5" name="">
            <a:extLst xmlns:a="http://schemas.openxmlformats.org/drawingml/2006/main">
              <a:ext uri="{FF2B5EF4-FFF2-40B4-BE49-F238E27FC236}">
                <a16:creationId xmlns:a16="http://schemas.microsoft.com/office/drawing/2014/main" id="{2341FF3C-B4A3-43D2-BE2A-51D10BCBA784}"/>
              </a:ext>
            </a:extLst>
          </p:cNvPr>
          <p:cNvSpPr>
            <a:spLocks xmlns:a="http://schemas.openxmlformats.org/drawingml/2006/main" noGrp="1"/>
          </p:cNvSpPr>
          <p:nvPr/>
        </p:nvSpPr>
        <p:spPr>
          <a:xfrm xmlns:a="http://schemas.openxmlformats.org/drawingml/2006/main">
            <a:off x="1809750" y="1943100"/>
            <a:ext cx="4648200" cy="85725"/>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A96FF757-425F-4FFA-86BC-365EDD1DC2E2}"/>
              </a:ext>
            </a:extLst>
          </p:cNvPr>
          <p:cNvSpPr>
            <a:spLocks xmlns:a="http://schemas.openxmlformats.org/drawingml/2006/main" noGrp="1"/>
          </p:cNvSpPr>
          <p:nvPr/>
        </p:nvSpPr>
        <p:spPr>
          <a:xfrm xmlns:a="http://schemas.openxmlformats.org/drawingml/2006/main">
            <a:off x="1962150" y="2133600"/>
            <a:ext cx="1066800" cy="266700"/>
          </a:xfrm>
          <a:prstGeom xmlns:a="http://schemas.openxmlformats.org/drawingml/2006/main" prst="roundRect">
            <a:avLst>
              <a:gd name="adj" fmla="val 28571"/>
            </a:avLst>
          </a:prstGeom>
          <a:solidFill xmlns:a="http://schemas.openxmlformats.org/drawingml/2006/main">
            <a:srgbClr val="00B2BB"/>
          </a:solidFill>
          <a:ln xmlns:a="http://schemas.openxmlformats.org/drawingml/2006/main" w="0">
            <a:solidFill>
              <a:srgbClr val="00B2BB"/>
            </a:solidFill>
            <a:prstDash val="solid"/>
          </a:ln>
        </p:spPr>
      </p:sp>
      <p:sp>
        <p:nvSpPr>
          <p:cNvPr id="7" name="">
            <a:extLst xmlns:a="http://schemas.openxmlformats.org/drawingml/2006/main">
              <a:ext uri="{FF2B5EF4-FFF2-40B4-BE49-F238E27FC236}">
                <a16:creationId xmlns:a16="http://schemas.microsoft.com/office/drawing/2014/main" id="{DF04C386-1882-4A57-8444-C792302AC5F5}"/>
              </a:ext>
            </a:extLst>
          </p:cNvPr>
          <p:cNvSpPr>
            <a:spLocks xmlns:a="http://schemas.openxmlformats.org/drawingml/2006/main" noGrp="1"/>
          </p:cNvSpPr>
          <p:nvPr/>
        </p:nvSpPr>
        <p:spPr>
          <a:xfrm xmlns:a="http://schemas.openxmlformats.org/drawingml/2006/main">
            <a:off x="1962150" y="21336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40" b="1">
                <a:solidFill>
                  <a:srgbClr val="FFFFFF"/>
                </a:solidFill>
              </a:defRPr>
            </a:pPr>
            <a:r>
              <a:rPr sz="840" b="1">
                <a:solidFill>
                  <a:srgbClr val="FFFFFF"/>
                </a:solidFill>
              </a:rPr>
              <a:t>KERNBESTAND</a:t>
            </a:r>
          </a:p>
        </p:txBody>
      </p:sp>
      <p:sp>
        <p:nvSpPr>
          <p:cNvPr id="8" name="">
            <a:extLst xmlns:a="http://schemas.openxmlformats.org/drawingml/2006/main">
              <a:ext uri="{FF2B5EF4-FFF2-40B4-BE49-F238E27FC236}">
                <a16:creationId xmlns:a16="http://schemas.microsoft.com/office/drawing/2014/main" id="{B78A81E4-9123-4683-A819-911B5F9D6250}"/>
              </a:ext>
            </a:extLst>
          </p:cNvPr>
          <p:cNvSpPr>
            <a:spLocks xmlns:a="http://schemas.openxmlformats.org/drawingml/2006/main" noGrp="1"/>
          </p:cNvSpPr>
          <p:nvPr/>
        </p:nvSpPr>
        <p:spPr>
          <a:xfrm xmlns:a="http://schemas.openxmlformats.org/drawingml/2006/main">
            <a:off x="3143250" y="2133600"/>
            <a:ext cx="3162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35" b="1">
                <a:solidFill>
                  <a:srgbClr val="003F6B"/>
                </a:solidFill>
              </a:defRPr>
            </a:pPr>
            <a:r>
              <a:rPr sz="735" b="1">
                <a:solidFill>
                  <a:srgbClr val="003F6B"/>
                </a:solidFill>
              </a:rPr>
              <a:t>BGH · 27.04.2021 · VI ZR 84/19</a:t>
            </a:r>
          </a:p>
        </p:txBody>
      </p:sp>
      <p:sp>
        <p:nvSpPr>
          <p:cNvPr id="9" name="">
            <a:extLst xmlns:a="http://schemas.openxmlformats.org/drawingml/2006/main">
              <a:ext uri="{FF2B5EF4-FFF2-40B4-BE49-F238E27FC236}">
                <a16:creationId xmlns:a16="http://schemas.microsoft.com/office/drawing/2014/main" id="{7B78450F-27BB-4A72-B263-76D1AB3A26AD}"/>
              </a:ext>
            </a:extLst>
          </p:cNvPr>
          <p:cNvSpPr>
            <a:spLocks xmlns:a="http://schemas.openxmlformats.org/drawingml/2006/main" noGrp="1"/>
          </p:cNvSpPr>
          <p:nvPr/>
        </p:nvSpPr>
        <p:spPr>
          <a:xfrm xmlns:a="http://schemas.openxmlformats.org/drawingml/2006/main">
            <a:off x="1981200" y="2476500"/>
            <a:ext cx="430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15" b="1">
                <a:solidFill>
                  <a:srgbClr val="003F6B"/>
                </a:solidFill>
              </a:defRPr>
            </a:pPr>
            <a:r>
              <a:rPr sz="1215" b="1">
                <a:solidFill>
                  <a:srgbClr val="003F6B"/>
                </a:solidFill>
              </a:rPr>
              <a:t>Änderungssicherheit elektronischer Dokumentation</a:t>
            </a:r>
          </a:p>
        </p:txBody>
      </p:sp>
      <p:sp>
        <p:nvSpPr>
          <p:cNvPr id="10" name="">
            <a:extLst xmlns:a="http://schemas.openxmlformats.org/drawingml/2006/main">
              <a:ext uri="{FF2B5EF4-FFF2-40B4-BE49-F238E27FC236}">
                <a16:creationId xmlns:a16="http://schemas.microsoft.com/office/drawing/2014/main" id="{BD1EA036-B748-426E-8754-3AA512B749D2}"/>
              </a:ext>
            </a:extLst>
          </p:cNvPr>
          <p:cNvSpPr>
            <a:spLocks xmlns:a="http://schemas.openxmlformats.org/drawingml/2006/main" noGrp="1"/>
          </p:cNvSpPr>
          <p:nvPr/>
        </p:nvSpPr>
        <p:spPr>
          <a:xfrm xmlns:a="http://schemas.openxmlformats.org/drawingml/2006/main">
            <a:off x="1981200" y="29908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B2BB"/>
                </a:solidFill>
              </a:defRPr>
            </a:pPr>
            <a:r>
              <a:rPr sz="713" b="1">
                <a:solidFill>
                  <a:srgbClr val="00B2BB"/>
                </a:solidFill>
              </a:rPr>
              <a:t>TENOR / LEITSATZKERN</a:t>
            </a:r>
          </a:p>
        </p:txBody>
      </p:sp>
      <p:sp>
        <p:nvSpPr>
          <p:cNvPr id="11" name="">
            <a:extLst xmlns:a="http://schemas.openxmlformats.org/drawingml/2006/main">
              <a:ext uri="{FF2B5EF4-FFF2-40B4-BE49-F238E27FC236}">
                <a16:creationId xmlns:a16="http://schemas.microsoft.com/office/drawing/2014/main" id="{9D1F42E6-5E05-468C-B1A8-EE8B69FCF627}"/>
              </a:ext>
            </a:extLst>
          </p:cNvPr>
          <p:cNvSpPr>
            <a:spLocks xmlns:a="http://schemas.openxmlformats.org/drawingml/2006/main" noGrp="1"/>
          </p:cNvSpPr>
          <p:nvPr/>
        </p:nvSpPr>
        <p:spPr>
          <a:xfrm xmlns:a="http://schemas.openxmlformats.org/drawingml/2006/main">
            <a:off x="1981200" y="3181350"/>
            <a:ext cx="43053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55">
                <a:solidFill>
                  <a:srgbClr val="15232B"/>
                </a:solidFill>
              </a:defRPr>
            </a:pPr>
            <a:r>
              <a:rPr sz="855">
                <a:solidFill>
                  <a:srgbClr val="15232B"/>
                </a:solidFill>
              </a:rPr>
              <a:t>Eine nachträglich unbemerkt veränderbare elektronische Dokumentation besitzt nicht ohne Weiteres die übliche positive Indizwirkung.</a:t>
            </a:r>
          </a:p>
        </p:txBody>
      </p:sp>
      <p:sp>
        <p:nvSpPr>
          <p:cNvPr id="12" name="">
            <a:extLst xmlns:a="http://schemas.openxmlformats.org/drawingml/2006/main">
              <a:ext uri="{FF2B5EF4-FFF2-40B4-BE49-F238E27FC236}">
                <a16:creationId xmlns:a16="http://schemas.microsoft.com/office/drawing/2014/main" id="{861AEC0B-C5C0-4EE6-93EF-3FEE7F3CDD85}"/>
              </a:ext>
            </a:extLst>
          </p:cNvPr>
          <p:cNvSpPr>
            <a:spLocks xmlns:a="http://schemas.openxmlformats.org/drawingml/2006/main" noGrp="1"/>
          </p:cNvSpPr>
          <p:nvPr/>
        </p:nvSpPr>
        <p:spPr>
          <a:xfrm xmlns:a="http://schemas.openxmlformats.org/drawingml/2006/main">
            <a:off x="1981200" y="381000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3F6B"/>
                </a:solidFill>
              </a:defRPr>
            </a:pPr>
            <a:r>
              <a:rPr sz="713" b="1">
                <a:solidFill>
                  <a:srgbClr val="003F6B"/>
                </a:solidFill>
              </a:rPr>
              <a:t>TRAGENDE AUSSAGE</a:t>
            </a:r>
          </a:p>
        </p:txBody>
      </p:sp>
      <p:sp>
        <p:nvSpPr>
          <p:cNvPr id="13" name="">
            <a:extLst xmlns:a="http://schemas.openxmlformats.org/drawingml/2006/main">
              <a:ext uri="{FF2B5EF4-FFF2-40B4-BE49-F238E27FC236}">
                <a16:creationId xmlns:a16="http://schemas.microsoft.com/office/drawing/2014/main" id="{86EA447D-029F-4EE5-8D90-0C24FA5C412F}"/>
              </a:ext>
            </a:extLst>
          </p:cNvPr>
          <p:cNvSpPr>
            <a:spLocks xmlns:a="http://schemas.openxmlformats.org/drawingml/2006/main" noGrp="1"/>
          </p:cNvSpPr>
          <p:nvPr/>
        </p:nvSpPr>
        <p:spPr>
          <a:xfrm xmlns:a="http://schemas.openxmlformats.org/drawingml/2006/main">
            <a:off x="1981200" y="4000500"/>
            <a:ext cx="43053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10">
                <a:solidFill>
                  <a:srgbClr val="15232B"/>
                </a:solidFill>
              </a:defRPr>
            </a:pPr>
            <a:r>
              <a:rPr sz="810">
                <a:solidFill>
                  <a:srgbClr val="15232B"/>
                </a:solidFill>
              </a:rPr>
              <a:t>Fehlende Änderungssicherheit führt nicht automatisch zur Vermutung des § 630h Abs. 3 BGB; das Gericht muss den Beweiswert im Einzelfall würdigen.</a:t>
            </a:r>
          </a:p>
        </p:txBody>
      </p:sp>
      <p:sp>
        <p:nvSpPr>
          <p:cNvPr id="14" name="">
            <a:extLst xmlns:a="http://schemas.openxmlformats.org/drawingml/2006/main">
              <a:ext uri="{FF2B5EF4-FFF2-40B4-BE49-F238E27FC236}">
                <a16:creationId xmlns:a16="http://schemas.microsoft.com/office/drawing/2014/main" id="{EBF7BCE4-109D-4544-ADE2-5EA512D7635C}"/>
              </a:ext>
            </a:extLst>
          </p:cNvPr>
          <p:cNvSpPr>
            <a:spLocks xmlns:a="http://schemas.openxmlformats.org/drawingml/2006/main" noGrp="1"/>
          </p:cNvSpPr>
          <p:nvPr/>
        </p:nvSpPr>
        <p:spPr>
          <a:xfrm xmlns:a="http://schemas.openxmlformats.org/drawingml/2006/main">
            <a:off x="1981200" y="4572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B2BB"/>
                </a:solidFill>
              </a:defRPr>
            </a:pPr>
            <a:r>
              <a:rPr sz="713" b="1">
                <a:solidFill>
                  <a:srgbClr val="00B2BB"/>
                </a:solidFill>
              </a:rPr>
              <a:t>PRAXIS</a:t>
            </a:r>
          </a:p>
        </p:txBody>
      </p:sp>
      <p:sp>
        <p:nvSpPr>
          <p:cNvPr id="15" name="">
            <a:extLst xmlns:a="http://schemas.openxmlformats.org/drawingml/2006/main">
              <a:ext uri="{FF2B5EF4-FFF2-40B4-BE49-F238E27FC236}">
                <a16:creationId xmlns:a16="http://schemas.microsoft.com/office/drawing/2014/main" id="{9E23768B-7D21-4B90-8AEC-951370496EE8}"/>
              </a:ext>
            </a:extLst>
          </p:cNvPr>
          <p:cNvSpPr>
            <a:spLocks xmlns:a="http://schemas.openxmlformats.org/drawingml/2006/main" noGrp="1"/>
          </p:cNvSpPr>
          <p:nvPr/>
        </p:nvSpPr>
        <p:spPr>
          <a:xfrm xmlns:a="http://schemas.openxmlformats.org/drawingml/2006/main">
            <a:off x="2590800" y="4552950"/>
            <a:ext cx="3695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765">
                <a:solidFill>
                  <a:srgbClr val="15232B"/>
                </a:solidFill>
              </a:defRPr>
            </a:pPr>
            <a:r>
              <a:rPr sz="765">
                <a:solidFill>
                  <a:srgbClr val="15232B"/>
                </a:solidFill>
              </a:rPr>
              <a:t>Audit-Trail, Zeitstempel, Autorenzuordnung und transparente Korrekturen entscheiden über die spätere Beweisqualität des KIS.</a:t>
            </a:r>
          </a:p>
        </p:txBody>
      </p:sp>
      <p:sp>
        <p:nvSpPr>
          <p:cNvPr id="16" name="">
            <a:extLst xmlns:a="http://schemas.openxmlformats.org/drawingml/2006/main">
              <a:ext uri="{FF2B5EF4-FFF2-40B4-BE49-F238E27FC236}">
                <a16:creationId xmlns:a16="http://schemas.microsoft.com/office/drawing/2014/main" id="{9A02F49D-9104-407F-BF23-745285E3CC11}"/>
              </a:ext>
            </a:extLst>
          </p:cNvPr>
          <p:cNvSpPr>
            <a:spLocks xmlns:a="http://schemas.openxmlformats.org/drawingml/2006/main" noGrp="1"/>
          </p:cNvSpPr>
          <p:nvPr/>
        </p:nvSpPr>
        <p:spPr>
          <a:xfrm xmlns:a="http://schemas.openxmlformats.org/drawingml/2006/main">
            <a:off x="1981200" y="4962525"/>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615">
                <a:solidFill>
                  <a:srgbClr val="667680"/>
                </a:solidFill>
              </a:defRPr>
            </a:pPr>
            <a:r>
              <a:rPr sz="615">
                <a:solidFill>
                  <a:srgbClr val="667680"/>
                </a:solidFill>
              </a:rPr>
              <a:t>13. Zentrale Entscheidung zu § 630f BGB und digitaler Beweiswürdigung.</a:t>
            </a:r>
          </a:p>
        </p:txBody>
      </p:sp>
      <p:sp>
        <p:nvSpPr>
          <p:cNvPr id="17" name="">
            <a:extLst xmlns:a="http://schemas.openxmlformats.org/drawingml/2006/main">
              <a:ext uri="{FF2B5EF4-FFF2-40B4-BE49-F238E27FC236}">
                <a16:creationId xmlns:a16="http://schemas.microsoft.com/office/drawing/2014/main" id="{EE74B961-8342-46F0-B737-00702CDB833A}"/>
              </a:ext>
            </a:extLst>
          </p:cNvPr>
          <p:cNvSpPr>
            <a:spLocks xmlns:a="http://schemas.openxmlformats.org/drawingml/2006/main" noGrp="1"/>
          </p:cNvSpPr>
          <p:nvPr/>
        </p:nvSpPr>
        <p:spPr>
          <a:xfrm xmlns:a="http://schemas.openxmlformats.org/drawingml/2006/main">
            <a:off x="6686550" y="1943100"/>
            <a:ext cx="4648200" cy="3238500"/>
          </a:xfrm>
          <a:prstGeom xmlns:a="http://schemas.openxmlformats.org/drawingml/2006/main" prst="roundRect">
            <a:avLst>
              <a:gd name="adj" fmla="val 2353"/>
            </a:avLst>
          </a:prstGeom>
          <a:solidFill xmlns:a="http://schemas.openxmlformats.org/drawingml/2006/main">
            <a:srgbClr val="FFFFFF"/>
          </a:solidFill>
          <a:ln xmlns:a="http://schemas.openxmlformats.org/drawingml/2006/main" w="10478">
            <a:solidFill>
              <a:srgbClr val="B9CAD2"/>
            </a:solidFill>
            <a:prstDash val="solid"/>
          </a:ln>
        </p:spPr>
      </p:sp>
      <p:sp>
        <p:nvSpPr>
          <p:cNvPr id="18" name="">
            <a:extLst xmlns:a="http://schemas.openxmlformats.org/drawingml/2006/main">
              <a:ext uri="{FF2B5EF4-FFF2-40B4-BE49-F238E27FC236}">
                <a16:creationId xmlns:a16="http://schemas.microsoft.com/office/drawing/2014/main" id="{0DF7BE8B-E675-4711-B239-95A304A853E9}"/>
              </a:ext>
            </a:extLst>
          </p:cNvPr>
          <p:cNvSpPr>
            <a:spLocks xmlns:a="http://schemas.openxmlformats.org/drawingml/2006/main" noGrp="1"/>
          </p:cNvSpPr>
          <p:nvPr/>
        </p:nvSpPr>
        <p:spPr>
          <a:xfrm xmlns:a="http://schemas.openxmlformats.org/drawingml/2006/main">
            <a:off x="6686550" y="1943100"/>
            <a:ext cx="4648200" cy="85725"/>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19" name="">
            <a:extLst xmlns:a="http://schemas.openxmlformats.org/drawingml/2006/main">
              <a:ext uri="{FF2B5EF4-FFF2-40B4-BE49-F238E27FC236}">
                <a16:creationId xmlns:a16="http://schemas.microsoft.com/office/drawing/2014/main" id="{736F17A4-089A-4616-9D13-6857405B6688}"/>
              </a:ext>
            </a:extLst>
          </p:cNvPr>
          <p:cNvSpPr>
            <a:spLocks xmlns:a="http://schemas.openxmlformats.org/drawingml/2006/main" noGrp="1"/>
          </p:cNvSpPr>
          <p:nvPr/>
        </p:nvSpPr>
        <p:spPr>
          <a:xfrm xmlns:a="http://schemas.openxmlformats.org/drawingml/2006/main">
            <a:off x="6838950" y="2133600"/>
            <a:ext cx="1066800" cy="266700"/>
          </a:xfrm>
          <a:prstGeom xmlns:a="http://schemas.openxmlformats.org/drawingml/2006/main" prst="roundRect">
            <a:avLst>
              <a:gd name="adj" fmla="val 28571"/>
            </a:avLst>
          </a:prstGeom>
          <a:solidFill xmlns:a="http://schemas.openxmlformats.org/drawingml/2006/main">
            <a:srgbClr val="00B2BB"/>
          </a:solidFill>
          <a:ln xmlns:a="http://schemas.openxmlformats.org/drawingml/2006/main" w="0">
            <a:solidFill>
              <a:srgbClr val="00B2BB"/>
            </a:solidFill>
            <a:prstDash val="solid"/>
          </a:ln>
        </p:spPr>
      </p:sp>
      <p:sp>
        <p:nvSpPr>
          <p:cNvPr id="20" name="">
            <a:extLst xmlns:a="http://schemas.openxmlformats.org/drawingml/2006/main">
              <a:ext uri="{FF2B5EF4-FFF2-40B4-BE49-F238E27FC236}">
                <a16:creationId xmlns:a16="http://schemas.microsoft.com/office/drawing/2014/main" id="{EFCFB1D9-32BD-47FB-9B27-EFC35C51F0BB}"/>
              </a:ext>
            </a:extLst>
          </p:cNvPr>
          <p:cNvSpPr>
            <a:spLocks xmlns:a="http://schemas.openxmlformats.org/drawingml/2006/main" noGrp="1"/>
          </p:cNvSpPr>
          <p:nvPr/>
        </p:nvSpPr>
        <p:spPr>
          <a:xfrm xmlns:a="http://schemas.openxmlformats.org/drawingml/2006/main">
            <a:off x="6838950" y="21336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40" b="1">
                <a:solidFill>
                  <a:srgbClr val="FFFFFF"/>
                </a:solidFill>
              </a:defRPr>
            </a:pPr>
            <a:r>
              <a:rPr sz="840" b="1">
                <a:solidFill>
                  <a:srgbClr val="FFFFFF"/>
                </a:solidFill>
              </a:rPr>
              <a:t>KERNBESTAND</a:t>
            </a:r>
          </a:p>
        </p:txBody>
      </p:sp>
      <p:sp>
        <p:nvSpPr>
          <p:cNvPr id="21" name="">
            <a:extLst xmlns:a="http://schemas.openxmlformats.org/drawingml/2006/main">
              <a:ext uri="{FF2B5EF4-FFF2-40B4-BE49-F238E27FC236}">
                <a16:creationId xmlns:a16="http://schemas.microsoft.com/office/drawing/2014/main" id="{CEE4C37E-69CD-4E7C-83A9-7FE8B6C0C7FF}"/>
              </a:ext>
            </a:extLst>
          </p:cNvPr>
          <p:cNvSpPr>
            <a:spLocks xmlns:a="http://schemas.openxmlformats.org/drawingml/2006/main" noGrp="1"/>
          </p:cNvSpPr>
          <p:nvPr/>
        </p:nvSpPr>
        <p:spPr>
          <a:xfrm xmlns:a="http://schemas.openxmlformats.org/drawingml/2006/main">
            <a:off x="8020050" y="2133600"/>
            <a:ext cx="3162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35" b="1">
                <a:solidFill>
                  <a:srgbClr val="003F6B"/>
                </a:solidFill>
              </a:defRPr>
            </a:pPr>
            <a:r>
              <a:rPr sz="735" b="1">
                <a:solidFill>
                  <a:srgbClr val="003F6B"/>
                </a:solidFill>
              </a:rPr>
              <a:t>BGH · 07.05.2019 · VI ZR 257/17</a:t>
            </a:r>
          </a:p>
        </p:txBody>
      </p:sp>
      <p:sp>
        <p:nvSpPr>
          <p:cNvPr id="22" name="">
            <a:extLst xmlns:a="http://schemas.openxmlformats.org/drawingml/2006/main">
              <a:ext uri="{FF2B5EF4-FFF2-40B4-BE49-F238E27FC236}">
                <a16:creationId xmlns:a16="http://schemas.microsoft.com/office/drawing/2014/main" id="{BB46BDCB-9FE6-482F-BD11-0991FDD16652}"/>
              </a:ext>
            </a:extLst>
          </p:cNvPr>
          <p:cNvSpPr>
            <a:spLocks xmlns:a="http://schemas.openxmlformats.org/drawingml/2006/main" noGrp="1"/>
          </p:cNvSpPr>
          <p:nvPr/>
        </p:nvSpPr>
        <p:spPr>
          <a:xfrm xmlns:a="http://schemas.openxmlformats.org/drawingml/2006/main">
            <a:off x="6858000" y="2476500"/>
            <a:ext cx="430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15" b="1">
                <a:solidFill>
                  <a:srgbClr val="003F6B"/>
                </a:solidFill>
              </a:defRPr>
            </a:pPr>
            <a:r>
              <a:rPr sz="1215" b="1">
                <a:solidFill>
                  <a:srgbClr val="003F6B"/>
                </a:solidFill>
              </a:rPr>
              <a:t>Recht auf mündliche Anhörung des Sachverständigen</a:t>
            </a:r>
          </a:p>
        </p:txBody>
      </p:sp>
      <p:sp>
        <p:nvSpPr>
          <p:cNvPr id="23" name="">
            <a:extLst xmlns:a="http://schemas.openxmlformats.org/drawingml/2006/main">
              <a:ext uri="{FF2B5EF4-FFF2-40B4-BE49-F238E27FC236}">
                <a16:creationId xmlns:a16="http://schemas.microsoft.com/office/drawing/2014/main" id="{75D960A4-EBFC-4508-A9CD-6B3D8C58ADFB}"/>
              </a:ext>
            </a:extLst>
          </p:cNvPr>
          <p:cNvSpPr>
            <a:spLocks xmlns:a="http://schemas.openxmlformats.org/drawingml/2006/main" noGrp="1"/>
          </p:cNvSpPr>
          <p:nvPr/>
        </p:nvSpPr>
        <p:spPr>
          <a:xfrm xmlns:a="http://schemas.openxmlformats.org/drawingml/2006/main">
            <a:off x="6858000" y="29908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B2BB"/>
                </a:solidFill>
              </a:defRPr>
            </a:pPr>
            <a:r>
              <a:rPr sz="713" b="1">
                <a:solidFill>
                  <a:srgbClr val="00B2BB"/>
                </a:solidFill>
              </a:rPr>
              <a:t>TENOR / LEITSATZKERN</a:t>
            </a:r>
          </a:p>
        </p:txBody>
      </p:sp>
      <p:sp>
        <p:nvSpPr>
          <p:cNvPr id="24" name="">
            <a:extLst xmlns:a="http://schemas.openxmlformats.org/drawingml/2006/main">
              <a:ext uri="{FF2B5EF4-FFF2-40B4-BE49-F238E27FC236}">
                <a16:creationId xmlns:a16="http://schemas.microsoft.com/office/drawing/2014/main" id="{34422789-81CF-4923-A2F7-417A9424EC1E}"/>
              </a:ext>
            </a:extLst>
          </p:cNvPr>
          <p:cNvSpPr>
            <a:spLocks xmlns:a="http://schemas.openxmlformats.org/drawingml/2006/main" noGrp="1"/>
          </p:cNvSpPr>
          <p:nvPr/>
        </p:nvSpPr>
        <p:spPr>
          <a:xfrm xmlns:a="http://schemas.openxmlformats.org/drawingml/2006/main">
            <a:off x="6858000" y="3181350"/>
            <a:ext cx="43053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55">
                <a:solidFill>
                  <a:srgbClr val="15232B"/>
                </a:solidFill>
              </a:defRPr>
            </a:pPr>
            <a:r>
              <a:rPr sz="855">
                <a:solidFill>
                  <a:srgbClr val="15232B"/>
                </a:solidFill>
              </a:rPr>
              <a:t>Ein rechtzeitig gestellter Antrag auf Anhörung darf nicht deshalb abgelehnt werden, weil das Gericht selbst keinen weiteren Erläuterungsbedarf sieht.</a:t>
            </a:r>
          </a:p>
        </p:txBody>
      </p:sp>
      <p:sp>
        <p:nvSpPr>
          <p:cNvPr id="25" name="">
            <a:extLst xmlns:a="http://schemas.openxmlformats.org/drawingml/2006/main">
              <a:ext uri="{FF2B5EF4-FFF2-40B4-BE49-F238E27FC236}">
                <a16:creationId xmlns:a16="http://schemas.microsoft.com/office/drawing/2014/main" id="{67F896E8-6B35-46CA-8F55-11883D804491}"/>
              </a:ext>
            </a:extLst>
          </p:cNvPr>
          <p:cNvSpPr>
            <a:spLocks xmlns:a="http://schemas.openxmlformats.org/drawingml/2006/main" noGrp="1"/>
          </p:cNvSpPr>
          <p:nvPr/>
        </p:nvSpPr>
        <p:spPr>
          <a:xfrm xmlns:a="http://schemas.openxmlformats.org/drawingml/2006/main">
            <a:off x="6858000" y="381000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3F6B"/>
                </a:solidFill>
              </a:defRPr>
            </a:pPr>
            <a:r>
              <a:rPr sz="713" b="1">
                <a:solidFill>
                  <a:srgbClr val="003F6B"/>
                </a:solidFill>
              </a:rPr>
              <a:t>TRAGENDE AUSSAGE</a:t>
            </a:r>
          </a:p>
        </p:txBody>
      </p:sp>
      <p:sp>
        <p:nvSpPr>
          <p:cNvPr id="26" name="">
            <a:extLst xmlns:a="http://schemas.openxmlformats.org/drawingml/2006/main">
              <a:ext uri="{FF2B5EF4-FFF2-40B4-BE49-F238E27FC236}">
                <a16:creationId xmlns:a16="http://schemas.microsoft.com/office/drawing/2014/main" id="{B67F2400-0FCC-4CD2-944B-88B9B6D09718}"/>
              </a:ext>
            </a:extLst>
          </p:cNvPr>
          <p:cNvSpPr>
            <a:spLocks xmlns:a="http://schemas.openxmlformats.org/drawingml/2006/main" noGrp="1"/>
          </p:cNvSpPr>
          <p:nvPr/>
        </p:nvSpPr>
        <p:spPr>
          <a:xfrm xmlns:a="http://schemas.openxmlformats.org/drawingml/2006/main">
            <a:off x="6858000" y="4000500"/>
            <a:ext cx="43053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10">
                <a:solidFill>
                  <a:srgbClr val="15232B"/>
                </a:solidFill>
              </a:defRPr>
            </a:pPr>
            <a:r>
              <a:rPr sz="810">
                <a:solidFill>
                  <a:srgbClr val="15232B"/>
                </a:solidFill>
              </a:rPr>
              <a:t>Das Fragerecht konkretisiert den Anspruch auf rechtliches Gehör und gilt unabhängig davon, ob das schriftliche Gutachten dem Gericht bereits überzeugend erscheint.</a:t>
            </a:r>
          </a:p>
        </p:txBody>
      </p:sp>
      <p:sp>
        <p:nvSpPr>
          <p:cNvPr id="27" name="">
            <a:extLst xmlns:a="http://schemas.openxmlformats.org/drawingml/2006/main">
              <a:ext uri="{FF2B5EF4-FFF2-40B4-BE49-F238E27FC236}">
                <a16:creationId xmlns:a16="http://schemas.microsoft.com/office/drawing/2014/main" id="{5BE19A83-733C-4880-8155-A256094BB92C}"/>
              </a:ext>
            </a:extLst>
          </p:cNvPr>
          <p:cNvSpPr>
            <a:spLocks xmlns:a="http://schemas.openxmlformats.org/drawingml/2006/main" noGrp="1"/>
          </p:cNvSpPr>
          <p:nvPr/>
        </p:nvSpPr>
        <p:spPr>
          <a:xfrm xmlns:a="http://schemas.openxmlformats.org/drawingml/2006/main">
            <a:off x="6858000" y="4572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B2BB"/>
                </a:solidFill>
              </a:defRPr>
            </a:pPr>
            <a:r>
              <a:rPr sz="713" b="1">
                <a:solidFill>
                  <a:srgbClr val="00B2BB"/>
                </a:solidFill>
              </a:rPr>
              <a:t>PRAXIS</a:t>
            </a:r>
          </a:p>
        </p:txBody>
      </p:sp>
      <p:sp>
        <p:nvSpPr>
          <p:cNvPr id="28" name="">
            <a:extLst xmlns:a="http://schemas.openxmlformats.org/drawingml/2006/main">
              <a:ext uri="{FF2B5EF4-FFF2-40B4-BE49-F238E27FC236}">
                <a16:creationId xmlns:a16="http://schemas.microsoft.com/office/drawing/2014/main" id="{2F899372-3AE0-4C31-B402-A62874B7D606}"/>
              </a:ext>
            </a:extLst>
          </p:cNvPr>
          <p:cNvSpPr>
            <a:spLocks xmlns:a="http://schemas.openxmlformats.org/drawingml/2006/main" noGrp="1"/>
          </p:cNvSpPr>
          <p:nvPr/>
        </p:nvSpPr>
        <p:spPr>
          <a:xfrm xmlns:a="http://schemas.openxmlformats.org/drawingml/2006/main">
            <a:off x="7467600" y="4552950"/>
            <a:ext cx="3695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765">
                <a:solidFill>
                  <a:srgbClr val="15232B"/>
                </a:solidFill>
              </a:defRPr>
            </a:pPr>
            <a:r>
              <a:rPr sz="765">
                <a:solidFill>
                  <a:srgbClr val="15232B"/>
                </a:solidFill>
              </a:rPr>
              <a:t>Fragen frühzeitig, fallbezogen und medizinisch präzise formulieren; Widersprüche, Anknüpfungstatsachen und Alternativhypothesen sichtbar machen.</a:t>
            </a:r>
          </a:p>
        </p:txBody>
      </p:sp>
      <p:sp>
        <p:nvSpPr>
          <p:cNvPr id="29" name="">
            <a:extLst xmlns:a="http://schemas.openxmlformats.org/drawingml/2006/main">
              <a:ext uri="{FF2B5EF4-FFF2-40B4-BE49-F238E27FC236}">
                <a16:creationId xmlns:a16="http://schemas.microsoft.com/office/drawing/2014/main" id="{04C65036-3A01-4735-9093-38D3FD2ACEBA}"/>
              </a:ext>
            </a:extLst>
          </p:cNvPr>
          <p:cNvSpPr>
            <a:spLocks xmlns:a="http://schemas.openxmlformats.org/drawingml/2006/main" noGrp="1"/>
          </p:cNvSpPr>
          <p:nvPr/>
        </p:nvSpPr>
        <p:spPr>
          <a:xfrm xmlns:a="http://schemas.openxmlformats.org/drawingml/2006/main">
            <a:off x="6858000" y="4962525"/>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615">
                <a:solidFill>
                  <a:srgbClr val="667680"/>
                </a:solidFill>
              </a:defRPr>
            </a:pPr>
            <a:r>
              <a:rPr sz="615">
                <a:solidFill>
                  <a:srgbClr val="667680"/>
                </a:solidFill>
              </a:rPr>
              <a:t>14. Verfahrensrechtliche Schlüsselfall für Arzthaftungsprozesse.</a:t>
            </a:r>
          </a:p>
        </p:txBody>
      </p:sp>
      <p:sp>
        <p:nvSpPr>
          <p:cNvPr id="30" name="">
            <a:extLst xmlns:a="http://schemas.openxmlformats.org/drawingml/2006/main">
              <a:ext uri="{FF2B5EF4-FFF2-40B4-BE49-F238E27FC236}">
                <a16:creationId xmlns:a16="http://schemas.microsoft.com/office/drawing/2014/main" id="{FC79944C-7D29-44B2-86F9-27C64B1004E4}"/>
              </a:ext>
            </a:extLst>
          </p:cNvPr>
          <p:cNvSpPr>
            <a:spLocks xmlns:a="http://schemas.openxmlformats.org/drawingml/2006/main" noGrp="1"/>
          </p:cNvSpPr>
          <p:nvPr/>
        </p:nvSpPr>
        <p:spPr>
          <a:xfrm xmlns:a="http://schemas.openxmlformats.org/drawingml/2006/main">
            <a:off x="1809750" y="5314950"/>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540">
                <a:solidFill>
                  <a:srgbClr val="667680"/>
                </a:solidFill>
              </a:defRPr>
            </a:pPr>
            <a:r>
              <a:rPr sz="540">
                <a:solidFill>
                  <a:srgbClr val="667680"/>
                </a:solidFill>
              </a:rPr>
              <a:t>Originalquellen: https://juris.bundesgerichtshof.de/cgi-bin/rechtsprechung/document.py?Art=en&amp;Blank=1.pdf&amp;Datum=2021-4&amp;Gericht=bgh&amp;Seite=7&amp;Sort=1&amp;anz=308&amp;nr=119134&amp;pos=218 · https://juris.bundesgerichtshof.de/cgi-bin/bgh_notp/document.py?Art=en&amp;Blank=1&amp;Datum=2019-5&amp;Gericht=bgh&amp;Seite=2&amp;Sort=3074&amp;anz=208&amp;nr=56246&amp;pos=75</a:t>
            </a:r>
          </a:p>
        </p:txBody>
      </p:sp>
    </p:spTree>
    <p:extLst>
      <p:ext uri="{BB962C8B-B14F-4D97-AF65-F5344CB8AC3E}">
        <p14:creationId xmlns:p14="http://schemas.microsoft.com/office/powerpoint/2010/main" val="43637646"/>
      </p:ext>
    </p:extLst>
  </p:cSld>
</p:sld>
</file>

<file path=ppt/slides/slide434.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Standard &amp; Defensive Medizin · Behandlungsfehler &amp; Information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LEITENTSCHEIDUNGEN · 08/20</a:t>
            </a:r>
            <a:endParaRPr/>
          </a:p>
        </p:txBody>
      </p:sp>
      <p:sp>
        <p:nvSpPr>
          <p:cNvPr id="4" name="">
            <a:extLst xmlns:a="http://schemas.openxmlformats.org/drawingml/2006/main">
              <a:ext uri="{FF2B5EF4-FFF2-40B4-BE49-F238E27FC236}">
                <a16:creationId xmlns:a16="http://schemas.microsoft.com/office/drawing/2014/main" id="{AA41165B-5ED0-45C2-A8C1-3F4B2B2AA528}"/>
              </a:ext>
            </a:extLst>
          </p:cNvPr>
          <p:cNvSpPr>
            <a:spLocks xmlns:a="http://schemas.openxmlformats.org/drawingml/2006/main" noGrp="1"/>
          </p:cNvSpPr>
          <p:nvPr/>
        </p:nvSpPr>
        <p:spPr>
          <a:xfrm xmlns:a="http://schemas.openxmlformats.org/drawingml/2006/main">
            <a:off x="1809750" y="1943100"/>
            <a:ext cx="4648200" cy="3238500"/>
          </a:xfrm>
          <a:prstGeom xmlns:a="http://schemas.openxmlformats.org/drawingml/2006/main" prst="roundRect">
            <a:avLst>
              <a:gd name="adj" fmla="val 2353"/>
            </a:avLst>
          </a:prstGeom>
          <a:solidFill xmlns:a="http://schemas.openxmlformats.org/drawingml/2006/main">
            <a:srgbClr val="FFFFFF"/>
          </a:solidFill>
          <a:ln xmlns:a="http://schemas.openxmlformats.org/drawingml/2006/main" w="10478">
            <a:solidFill>
              <a:srgbClr val="B9CAD2"/>
            </a:solidFill>
            <a:prstDash val="solid"/>
          </a:ln>
        </p:spPr>
      </p:sp>
      <p:sp>
        <p:nvSpPr>
          <p:cNvPr id="5" name="">
            <a:extLst xmlns:a="http://schemas.openxmlformats.org/drawingml/2006/main">
              <a:ext uri="{FF2B5EF4-FFF2-40B4-BE49-F238E27FC236}">
                <a16:creationId xmlns:a16="http://schemas.microsoft.com/office/drawing/2014/main" id="{9CD02CC4-07A7-4A65-9224-3369D94214DC}"/>
              </a:ext>
            </a:extLst>
          </p:cNvPr>
          <p:cNvSpPr>
            <a:spLocks xmlns:a="http://schemas.openxmlformats.org/drawingml/2006/main" noGrp="1"/>
          </p:cNvSpPr>
          <p:nvPr/>
        </p:nvSpPr>
        <p:spPr>
          <a:xfrm xmlns:a="http://schemas.openxmlformats.org/drawingml/2006/main">
            <a:off x="1809750" y="1943100"/>
            <a:ext cx="4648200" cy="85725"/>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69E309CD-BF6A-4319-8475-6024B280F92B}"/>
              </a:ext>
            </a:extLst>
          </p:cNvPr>
          <p:cNvSpPr>
            <a:spLocks xmlns:a="http://schemas.openxmlformats.org/drawingml/2006/main" noGrp="1"/>
          </p:cNvSpPr>
          <p:nvPr/>
        </p:nvSpPr>
        <p:spPr>
          <a:xfrm xmlns:a="http://schemas.openxmlformats.org/drawingml/2006/main">
            <a:off x="1962150" y="2133600"/>
            <a:ext cx="1066800" cy="266700"/>
          </a:xfrm>
          <a:prstGeom xmlns:a="http://schemas.openxmlformats.org/drawingml/2006/main" prst="roundRect">
            <a:avLst>
              <a:gd name="adj" fmla="val 28571"/>
            </a:avLst>
          </a:prstGeom>
          <a:solidFill xmlns:a="http://schemas.openxmlformats.org/drawingml/2006/main">
            <a:srgbClr val="00B2BB"/>
          </a:solidFill>
          <a:ln xmlns:a="http://schemas.openxmlformats.org/drawingml/2006/main" w="0">
            <a:solidFill>
              <a:srgbClr val="00B2BB"/>
            </a:solidFill>
            <a:prstDash val="solid"/>
          </a:ln>
        </p:spPr>
      </p:sp>
      <p:sp>
        <p:nvSpPr>
          <p:cNvPr id="7" name="">
            <a:extLst xmlns:a="http://schemas.openxmlformats.org/drawingml/2006/main">
              <a:ext uri="{FF2B5EF4-FFF2-40B4-BE49-F238E27FC236}">
                <a16:creationId xmlns:a16="http://schemas.microsoft.com/office/drawing/2014/main" id="{EF5D36F7-B019-48C3-9737-FD17CFA6F84E}"/>
              </a:ext>
            </a:extLst>
          </p:cNvPr>
          <p:cNvSpPr>
            <a:spLocks xmlns:a="http://schemas.openxmlformats.org/drawingml/2006/main" noGrp="1"/>
          </p:cNvSpPr>
          <p:nvPr/>
        </p:nvSpPr>
        <p:spPr>
          <a:xfrm xmlns:a="http://schemas.openxmlformats.org/drawingml/2006/main">
            <a:off x="1962150" y="21336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40" b="1">
                <a:solidFill>
                  <a:srgbClr val="FFFFFF"/>
                </a:solidFill>
              </a:defRPr>
            </a:pPr>
            <a:r>
              <a:rPr sz="840" b="1">
                <a:solidFill>
                  <a:srgbClr val="FFFFFF"/>
                </a:solidFill>
              </a:rPr>
              <a:t>KERNBESTAND</a:t>
            </a:r>
          </a:p>
        </p:txBody>
      </p:sp>
      <p:sp>
        <p:nvSpPr>
          <p:cNvPr id="8" name="">
            <a:extLst xmlns:a="http://schemas.openxmlformats.org/drawingml/2006/main">
              <a:ext uri="{FF2B5EF4-FFF2-40B4-BE49-F238E27FC236}">
                <a16:creationId xmlns:a16="http://schemas.microsoft.com/office/drawing/2014/main" id="{76041811-8B4B-47AE-B0BD-D8AC2A67D539}"/>
              </a:ext>
            </a:extLst>
          </p:cNvPr>
          <p:cNvSpPr>
            <a:spLocks xmlns:a="http://schemas.openxmlformats.org/drawingml/2006/main" noGrp="1"/>
          </p:cNvSpPr>
          <p:nvPr/>
        </p:nvSpPr>
        <p:spPr>
          <a:xfrm xmlns:a="http://schemas.openxmlformats.org/drawingml/2006/main">
            <a:off x="3143250" y="2133600"/>
            <a:ext cx="3162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35" b="1">
                <a:solidFill>
                  <a:srgbClr val="003F6B"/>
                </a:solidFill>
              </a:defRPr>
            </a:pPr>
            <a:r>
              <a:rPr sz="735" b="1">
                <a:solidFill>
                  <a:srgbClr val="003F6B"/>
                </a:solidFill>
              </a:rPr>
              <a:t>BGH · 15.04.2014 · VI ZR 382/12</a:t>
            </a:r>
          </a:p>
        </p:txBody>
      </p:sp>
      <p:sp>
        <p:nvSpPr>
          <p:cNvPr id="9" name="">
            <a:extLst xmlns:a="http://schemas.openxmlformats.org/drawingml/2006/main">
              <a:ext uri="{FF2B5EF4-FFF2-40B4-BE49-F238E27FC236}">
                <a16:creationId xmlns:a16="http://schemas.microsoft.com/office/drawing/2014/main" id="{2DD71B4F-FACC-4613-B977-B76619F7EB63}"/>
              </a:ext>
            </a:extLst>
          </p:cNvPr>
          <p:cNvSpPr>
            <a:spLocks xmlns:a="http://schemas.openxmlformats.org/drawingml/2006/main" noGrp="1"/>
          </p:cNvSpPr>
          <p:nvPr/>
        </p:nvSpPr>
        <p:spPr>
          <a:xfrm xmlns:a="http://schemas.openxmlformats.org/drawingml/2006/main">
            <a:off x="1981200" y="2476500"/>
            <a:ext cx="430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15" b="1">
                <a:solidFill>
                  <a:srgbClr val="003F6B"/>
                </a:solidFill>
              </a:defRPr>
            </a:pPr>
            <a:r>
              <a:rPr sz="1215" b="1">
                <a:solidFill>
                  <a:srgbClr val="003F6B"/>
                </a:solidFill>
              </a:rPr>
              <a:t>Leitlinie ist nicht automatisch medizinischer Standard</a:t>
            </a:r>
          </a:p>
        </p:txBody>
      </p:sp>
      <p:sp>
        <p:nvSpPr>
          <p:cNvPr id="10" name="">
            <a:extLst xmlns:a="http://schemas.openxmlformats.org/drawingml/2006/main">
              <a:ext uri="{FF2B5EF4-FFF2-40B4-BE49-F238E27FC236}">
                <a16:creationId xmlns:a16="http://schemas.microsoft.com/office/drawing/2014/main" id="{2CD5B42E-E3A0-4FA1-B49E-4D2152557B4A}"/>
              </a:ext>
            </a:extLst>
          </p:cNvPr>
          <p:cNvSpPr>
            <a:spLocks xmlns:a="http://schemas.openxmlformats.org/drawingml/2006/main" noGrp="1"/>
          </p:cNvSpPr>
          <p:nvPr/>
        </p:nvSpPr>
        <p:spPr>
          <a:xfrm xmlns:a="http://schemas.openxmlformats.org/drawingml/2006/main">
            <a:off x="1981200" y="29908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B2BB"/>
                </a:solidFill>
              </a:defRPr>
            </a:pPr>
            <a:r>
              <a:rPr sz="713" b="1">
                <a:solidFill>
                  <a:srgbClr val="00B2BB"/>
                </a:solidFill>
              </a:rPr>
              <a:t>TENOR / LEITSATZKERN</a:t>
            </a:r>
          </a:p>
        </p:txBody>
      </p:sp>
      <p:sp>
        <p:nvSpPr>
          <p:cNvPr id="11" name="">
            <a:extLst xmlns:a="http://schemas.openxmlformats.org/drawingml/2006/main">
              <a:ext uri="{FF2B5EF4-FFF2-40B4-BE49-F238E27FC236}">
                <a16:creationId xmlns:a16="http://schemas.microsoft.com/office/drawing/2014/main" id="{E9A861E2-B3B7-4486-B25F-6980B41B8C25}"/>
              </a:ext>
            </a:extLst>
          </p:cNvPr>
          <p:cNvSpPr>
            <a:spLocks xmlns:a="http://schemas.openxmlformats.org/drawingml/2006/main" noGrp="1"/>
          </p:cNvSpPr>
          <p:nvPr/>
        </p:nvSpPr>
        <p:spPr>
          <a:xfrm xmlns:a="http://schemas.openxmlformats.org/drawingml/2006/main">
            <a:off x="1981200" y="3181350"/>
            <a:ext cx="43053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55">
                <a:solidFill>
                  <a:srgbClr val="15232B"/>
                </a:solidFill>
              </a:defRPr>
            </a:pPr>
            <a:r>
              <a:rPr sz="855">
                <a:solidFill>
                  <a:srgbClr val="15232B"/>
                </a:solidFill>
              </a:rPr>
              <a:t>Leitlinien können Erkenntnisse bündeln, ersetzen aber nicht die sachverständige Feststellung des zum Behandlungszeitpunkt geschuldeten Standards.</a:t>
            </a:r>
          </a:p>
        </p:txBody>
      </p:sp>
      <p:sp>
        <p:nvSpPr>
          <p:cNvPr id="12" name="">
            <a:extLst xmlns:a="http://schemas.openxmlformats.org/drawingml/2006/main">
              <a:ext uri="{FF2B5EF4-FFF2-40B4-BE49-F238E27FC236}">
                <a16:creationId xmlns:a16="http://schemas.microsoft.com/office/drawing/2014/main" id="{D360249A-AC37-46F6-AE92-CFC8FBCA024B}"/>
              </a:ext>
            </a:extLst>
          </p:cNvPr>
          <p:cNvSpPr>
            <a:spLocks xmlns:a="http://schemas.openxmlformats.org/drawingml/2006/main" noGrp="1"/>
          </p:cNvSpPr>
          <p:nvPr/>
        </p:nvSpPr>
        <p:spPr>
          <a:xfrm xmlns:a="http://schemas.openxmlformats.org/drawingml/2006/main">
            <a:off x="1981200" y="381000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3F6B"/>
                </a:solidFill>
              </a:defRPr>
            </a:pPr>
            <a:r>
              <a:rPr sz="713" b="1">
                <a:solidFill>
                  <a:srgbClr val="003F6B"/>
                </a:solidFill>
              </a:rPr>
              <a:t>TRAGENDE AUSSAGE</a:t>
            </a:r>
          </a:p>
        </p:txBody>
      </p:sp>
      <p:sp>
        <p:nvSpPr>
          <p:cNvPr id="13" name="">
            <a:extLst xmlns:a="http://schemas.openxmlformats.org/drawingml/2006/main">
              <a:ext uri="{FF2B5EF4-FFF2-40B4-BE49-F238E27FC236}">
                <a16:creationId xmlns:a16="http://schemas.microsoft.com/office/drawing/2014/main" id="{2C08203D-8DB6-421D-BBD1-64A057F84C8D}"/>
              </a:ext>
            </a:extLst>
          </p:cNvPr>
          <p:cNvSpPr>
            <a:spLocks xmlns:a="http://schemas.openxmlformats.org/drawingml/2006/main" noGrp="1"/>
          </p:cNvSpPr>
          <p:nvPr/>
        </p:nvSpPr>
        <p:spPr>
          <a:xfrm xmlns:a="http://schemas.openxmlformats.org/drawingml/2006/main">
            <a:off x="1981200" y="4000500"/>
            <a:ext cx="43053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10">
                <a:solidFill>
                  <a:srgbClr val="15232B"/>
                </a:solidFill>
              </a:defRPr>
            </a:pPr>
            <a:r>
              <a:rPr sz="810">
                <a:solidFill>
                  <a:srgbClr val="15232B"/>
                </a:solidFill>
              </a:rPr>
              <a:t>Eine Leitlinie kann dem Standard voraus- oder hinterherlaufen. Entscheidend bleiben wissenschaftliche Erkenntnis, praktische Bewährung und konkrete Behandlungssituation.</a:t>
            </a:r>
          </a:p>
        </p:txBody>
      </p:sp>
      <p:sp>
        <p:nvSpPr>
          <p:cNvPr id="14" name="">
            <a:extLst xmlns:a="http://schemas.openxmlformats.org/drawingml/2006/main">
              <a:ext uri="{FF2B5EF4-FFF2-40B4-BE49-F238E27FC236}">
                <a16:creationId xmlns:a16="http://schemas.microsoft.com/office/drawing/2014/main" id="{51981350-611F-4C0D-AA16-A524B8B3BBAA}"/>
              </a:ext>
            </a:extLst>
          </p:cNvPr>
          <p:cNvSpPr>
            <a:spLocks xmlns:a="http://schemas.openxmlformats.org/drawingml/2006/main" noGrp="1"/>
          </p:cNvSpPr>
          <p:nvPr/>
        </p:nvSpPr>
        <p:spPr>
          <a:xfrm xmlns:a="http://schemas.openxmlformats.org/drawingml/2006/main">
            <a:off x="1981200" y="4572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B2BB"/>
                </a:solidFill>
              </a:defRPr>
            </a:pPr>
            <a:r>
              <a:rPr sz="713" b="1">
                <a:solidFill>
                  <a:srgbClr val="00B2BB"/>
                </a:solidFill>
              </a:rPr>
              <a:t>PRAXIS</a:t>
            </a:r>
          </a:p>
        </p:txBody>
      </p:sp>
      <p:sp>
        <p:nvSpPr>
          <p:cNvPr id="15" name="">
            <a:extLst xmlns:a="http://schemas.openxmlformats.org/drawingml/2006/main">
              <a:ext uri="{FF2B5EF4-FFF2-40B4-BE49-F238E27FC236}">
                <a16:creationId xmlns:a16="http://schemas.microsoft.com/office/drawing/2014/main" id="{BCBE8B8C-5365-4BBF-9738-866D2CB5B66B}"/>
              </a:ext>
            </a:extLst>
          </p:cNvPr>
          <p:cNvSpPr>
            <a:spLocks xmlns:a="http://schemas.openxmlformats.org/drawingml/2006/main" noGrp="1"/>
          </p:cNvSpPr>
          <p:nvPr/>
        </p:nvSpPr>
        <p:spPr>
          <a:xfrm xmlns:a="http://schemas.openxmlformats.org/drawingml/2006/main">
            <a:off x="2590800" y="4552950"/>
            <a:ext cx="3695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765">
                <a:solidFill>
                  <a:srgbClr val="15232B"/>
                </a:solidFill>
              </a:defRPr>
            </a:pPr>
            <a:r>
              <a:rPr sz="765">
                <a:solidFill>
                  <a:srgbClr val="15232B"/>
                </a:solidFill>
              </a:rPr>
              <a:t>Nicht nur „leitliniengerecht“ dokumentieren, sondern die patientenbezogenen Gründe für Anwendung oder begründete Abweichung.</a:t>
            </a:r>
          </a:p>
        </p:txBody>
      </p:sp>
      <p:sp>
        <p:nvSpPr>
          <p:cNvPr id="16" name="">
            <a:extLst xmlns:a="http://schemas.openxmlformats.org/drawingml/2006/main">
              <a:ext uri="{FF2B5EF4-FFF2-40B4-BE49-F238E27FC236}">
                <a16:creationId xmlns:a16="http://schemas.microsoft.com/office/drawing/2014/main" id="{B13735CD-4A83-45C8-957F-D0EA9F33D82B}"/>
              </a:ext>
            </a:extLst>
          </p:cNvPr>
          <p:cNvSpPr>
            <a:spLocks xmlns:a="http://schemas.openxmlformats.org/drawingml/2006/main" noGrp="1"/>
          </p:cNvSpPr>
          <p:nvPr/>
        </p:nvSpPr>
        <p:spPr>
          <a:xfrm xmlns:a="http://schemas.openxmlformats.org/drawingml/2006/main">
            <a:off x="1981200" y="4962525"/>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615">
                <a:solidFill>
                  <a:srgbClr val="667680"/>
                </a:solidFill>
              </a:defRPr>
            </a:pPr>
            <a:r>
              <a:rPr sz="615">
                <a:solidFill>
                  <a:srgbClr val="667680"/>
                </a:solidFill>
              </a:rPr>
              <a:t>15. Leitentscheidung gegen schematische Absicherungsmedizin.</a:t>
            </a:r>
          </a:p>
        </p:txBody>
      </p:sp>
      <p:sp>
        <p:nvSpPr>
          <p:cNvPr id="17" name="">
            <a:extLst xmlns:a="http://schemas.openxmlformats.org/drawingml/2006/main">
              <a:ext uri="{FF2B5EF4-FFF2-40B4-BE49-F238E27FC236}">
                <a16:creationId xmlns:a16="http://schemas.microsoft.com/office/drawing/2014/main" id="{80B98449-C2C1-4799-8832-E22BCCF0DC9F}"/>
              </a:ext>
            </a:extLst>
          </p:cNvPr>
          <p:cNvSpPr>
            <a:spLocks xmlns:a="http://schemas.openxmlformats.org/drawingml/2006/main" noGrp="1"/>
          </p:cNvSpPr>
          <p:nvPr/>
        </p:nvSpPr>
        <p:spPr>
          <a:xfrm xmlns:a="http://schemas.openxmlformats.org/drawingml/2006/main">
            <a:off x="6686550" y="1943100"/>
            <a:ext cx="4648200" cy="3238500"/>
          </a:xfrm>
          <a:prstGeom xmlns:a="http://schemas.openxmlformats.org/drawingml/2006/main" prst="roundRect">
            <a:avLst>
              <a:gd name="adj" fmla="val 2353"/>
            </a:avLst>
          </a:prstGeom>
          <a:solidFill xmlns:a="http://schemas.openxmlformats.org/drawingml/2006/main">
            <a:srgbClr val="FFFFFF"/>
          </a:solidFill>
          <a:ln xmlns:a="http://schemas.openxmlformats.org/drawingml/2006/main" w="10478">
            <a:solidFill>
              <a:srgbClr val="B9CAD2"/>
            </a:solidFill>
            <a:prstDash val="solid"/>
          </a:ln>
        </p:spPr>
      </p:sp>
      <p:sp>
        <p:nvSpPr>
          <p:cNvPr id="18" name="">
            <a:extLst xmlns:a="http://schemas.openxmlformats.org/drawingml/2006/main">
              <a:ext uri="{FF2B5EF4-FFF2-40B4-BE49-F238E27FC236}">
                <a16:creationId xmlns:a16="http://schemas.microsoft.com/office/drawing/2014/main" id="{5AD22E2F-1D0E-4C81-B856-9E6AB756A711}"/>
              </a:ext>
            </a:extLst>
          </p:cNvPr>
          <p:cNvSpPr>
            <a:spLocks xmlns:a="http://schemas.openxmlformats.org/drawingml/2006/main" noGrp="1"/>
          </p:cNvSpPr>
          <p:nvPr/>
        </p:nvSpPr>
        <p:spPr>
          <a:xfrm xmlns:a="http://schemas.openxmlformats.org/drawingml/2006/main">
            <a:off x="6686550" y="1943100"/>
            <a:ext cx="4648200" cy="85725"/>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19" name="">
            <a:extLst xmlns:a="http://schemas.openxmlformats.org/drawingml/2006/main">
              <a:ext uri="{FF2B5EF4-FFF2-40B4-BE49-F238E27FC236}">
                <a16:creationId xmlns:a16="http://schemas.microsoft.com/office/drawing/2014/main" id="{80636CFF-55C4-437C-BC95-595C4B30CEF3}"/>
              </a:ext>
            </a:extLst>
          </p:cNvPr>
          <p:cNvSpPr>
            <a:spLocks xmlns:a="http://schemas.openxmlformats.org/drawingml/2006/main" noGrp="1"/>
          </p:cNvSpPr>
          <p:nvPr/>
        </p:nvSpPr>
        <p:spPr>
          <a:xfrm xmlns:a="http://schemas.openxmlformats.org/drawingml/2006/main">
            <a:off x="6838950" y="2133600"/>
            <a:ext cx="1066800" cy="266700"/>
          </a:xfrm>
          <a:prstGeom xmlns:a="http://schemas.openxmlformats.org/drawingml/2006/main" prst="roundRect">
            <a:avLst>
              <a:gd name="adj" fmla="val 28571"/>
            </a:avLst>
          </a:prstGeom>
          <a:solidFill xmlns:a="http://schemas.openxmlformats.org/drawingml/2006/main">
            <a:srgbClr val="00B2BB"/>
          </a:solidFill>
          <a:ln xmlns:a="http://schemas.openxmlformats.org/drawingml/2006/main" w="0">
            <a:solidFill>
              <a:srgbClr val="00B2BB"/>
            </a:solidFill>
            <a:prstDash val="solid"/>
          </a:ln>
        </p:spPr>
      </p:sp>
      <p:sp>
        <p:nvSpPr>
          <p:cNvPr id="20" name="">
            <a:extLst xmlns:a="http://schemas.openxmlformats.org/drawingml/2006/main">
              <a:ext uri="{FF2B5EF4-FFF2-40B4-BE49-F238E27FC236}">
                <a16:creationId xmlns:a16="http://schemas.microsoft.com/office/drawing/2014/main" id="{812D8DC7-F4A8-410E-A73F-601AC59FC807}"/>
              </a:ext>
            </a:extLst>
          </p:cNvPr>
          <p:cNvSpPr>
            <a:spLocks xmlns:a="http://schemas.openxmlformats.org/drawingml/2006/main" noGrp="1"/>
          </p:cNvSpPr>
          <p:nvPr/>
        </p:nvSpPr>
        <p:spPr>
          <a:xfrm xmlns:a="http://schemas.openxmlformats.org/drawingml/2006/main">
            <a:off x="6838950" y="21336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40" b="1">
                <a:solidFill>
                  <a:srgbClr val="FFFFFF"/>
                </a:solidFill>
              </a:defRPr>
            </a:pPr>
            <a:r>
              <a:rPr sz="840" b="1">
                <a:solidFill>
                  <a:srgbClr val="FFFFFF"/>
                </a:solidFill>
              </a:rPr>
              <a:t>KERNBESTAND</a:t>
            </a:r>
          </a:p>
        </p:txBody>
      </p:sp>
      <p:sp>
        <p:nvSpPr>
          <p:cNvPr id="21" name="">
            <a:extLst xmlns:a="http://schemas.openxmlformats.org/drawingml/2006/main">
              <a:ext uri="{FF2B5EF4-FFF2-40B4-BE49-F238E27FC236}">
                <a16:creationId xmlns:a16="http://schemas.microsoft.com/office/drawing/2014/main" id="{E0183C52-685C-4836-B4B1-33F8B6551D1E}"/>
              </a:ext>
            </a:extLst>
          </p:cNvPr>
          <p:cNvSpPr>
            <a:spLocks xmlns:a="http://schemas.openxmlformats.org/drawingml/2006/main" noGrp="1"/>
          </p:cNvSpPr>
          <p:nvPr/>
        </p:nvSpPr>
        <p:spPr>
          <a:xfrm xmlns:a="http://schemas.openxmlformats.org/drawingml/2006/main">
            <a:off x="8020050" y="2133600"/>
            <a:ext cx="3162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35" b="1">
                <a:solidFill>
                  <a:srgbClr val="003F6B"/>
                </a:solidFill>
              </a:defRPr>
            </a:pPr>
            <a:r>
              <a:rPr sz="735" b="1">
                <a:solidFill>
                  <a:srgbClr val="003F6B"/>
                </a:solidFill>
              </a:rPr>
              <a:t>BGH · 17.11.2015 · VI ZR 476/14</a:t>
            </a:r>
          </a:p>
        </p:txBody>
      </p:sp>
      <p:sp>
        <p:nvSpPr>
          <p:cNvPr id="22" name="">
            <a:extLst xmlns:a="http://schemas.openxmlformats.org/drawingml/2006/main">
              <a:ext uri="{FF2B5EF4-FFF2-40B4-BE49-F238E27FC236}">
                <a16:creationId xmlns:a16="http://schemas.microsoft.com/office/drawing/2014/main" id="{70427D97-1486-46E2-9056-8D9427D0D299}"/>
              </a:ext>
            </a:extLst>
          </p:cNvPr>
          <p:cNvSpPr>
            <a:spLocks xmlns:a="http://schemas.openxmlformats.org/drawingml/2006/main" noGrp="1"/>
          </p:cNvSpPr>
          <p:nvPr/>
        </p:nvSpPr>
        <p:spPr>
          <a:xfrm xmlns:a="http://schemas.openxmlformats.org/drawingml/2006/main">
            <a:off x="6858000" y="2476500"/>
            <a:ext cx="430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15" b="1">
                <a:solidFill>
                  <a:srgbClr val="003F6B"/>
                </a:solidFill>
              </a:defRPr>
            </a:pPr>
            <a:r>
              <a:rPr sz="1215" b="1">
                <a:solidFill>
                  <a:srgbClr val="003F6B"/>
                </a:solidFill>
              </a:rPr>
              <a:t>Unterlassener Dringlichkeitshinweis</a:t>
            </a:r>
          </a:p>
        </p:txBody>
      </p:sp>
      <p:sp>
        <p:nvSpPr>
          <p:cNvPr id="23" name="">
            <a:extLst xmlns:a="http://schemas.openxmlformats.org/drawingml/2006/main">
              <a:ext uri="{FF2B5EF4-FFF2-40B4-BE49-F238E27FC236}">
                <a16:creationId xmlns:a16="http://schemas.microsoft.com/office/drawing/2014/main" id="{1598BE84-E6E3-4DFA-B368-EC002D9DC98B}"/>
              </a:ext>
            </a:extLst>
          </p:cNvPr>
          <p:cNvSpPr>
            <a:spLocks xmlns:a="http://schemas.openxmlformats.org/drawingml/2006/main" noGrp="1"/>
          </p:cNvSpPr>
          <p:nvPr/>
        </p:nvSpPr>
        <p:spPr>
          <a:xfrm xmlns:a="http://schemas.openxmlformats.org/drawingml/2006/main">
            <a:off x="6858000" y="29908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B2BB"/>
                </a:solidFill>
              </a:defRPr>
            </a:pPr>
            <a:r>
              <a:rPr sz="713" b="1">
                <a:solidFill>
                  <a:srgbClr val="00B2BB"/>
                </a:solidFill>
              </a:rPr>
              <a:t>TENOR / LEITSATZKERN</a:t>
            </a:r>
          </a:p>
        </p:txBody>
      </p:sp>
      <p:sp>
        <p:nvSpPr>
          <p:cNvPr id="24" name="">
            <a:extLst xmlns:a="http://schemas.openxmlformats.org/drawingml/2006/main">
              <a:ext uri="{FF2B5EF4-FFF2-40B4-BE49-F238E27FC236}">
                <a16:creationId xmlns:a16="http://schemas.microsoft.com/office/drawing/2014/main" id="{50D6B648-E42A-47F0-83AF-8EAB5BDEC1C7}"/>
              </a:ext>
            </a:extLst>
          </p:cNvPr>
          <p:cNvSpPr>
            <a:spLocks xmlns:a="http://schemas.openxmlformats.org/drawingml/2006/main" noGrp="1"/>
          </p:cNvSpPr>
          <p:nvPr/>
        </p:nvSpPr>
        <p:spPr>
          <a:xfrm xmlns:a="http://schemas.openxmlformats.org/drawingml/2006/main">
            <a:off x="6858000" y="3181350"/>
            <a:ext cx="43053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55">
                <a:solidFill>
                  <a:srgbClr val="15232B"/>
                </a:solidFill>
              </a:defRPr>
            </a:pPr>
            <a:r>
              <a:rPr sz="855">
                <a:solidFill>
                  <a:srgbClr val="15232B"/>
                </a:solidFill>
              </a:rPr>
              <a:t>Eine unterlassene Information über die Dringlichkeit weiterer Maßnahmen ist grundsätzlich ein Fehler therapeutischer Information, nicht automatisch ein Befunderhebungsfehler.</a:t>
            </a:r>
          </a:p>
        </p:txBody>
      </p:sp>
      <p:sp>
        <p:nvSpPr>
          <p:cNvPr id="25" name="">
            <a:extLst xmlns:a="http://schemas.openxmlformats.org/drawingml/2006/main">
              <a:ext uri="{FF2B5EF4-FFF2-40B4-BE49-F238E27FC236}">
                <a16:creationId xmlns:a16="http://schemas.microsoft.com/office/drawing/2014/main" id="{F9E06104-A389-4CF1-B850-F1B590EDCFB3}"/>
              </a:ext>
            </a:extLst>
          </p:cNvPr>
          <p:cNvSpPr>
            <a:spLocks xmlns:a="http://schemas.openxmlformats.org/drawingml/2006/main" noGrp="1"/>
          </p:cNvSpPr>
          <p:nvPr/>
        </p:nvSpPr>
        <p:spPr>
          <a:xfrm xmlns:a="http://schemas.openxmlformats.org/drawingml/2006/main">
            <a:off x="6858000" y="381000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3F6B"/>
                </a:solidFill>
              </a:defRPr>
            </a:pPr>
            <a:r>
              <a:rPr sz="713" b="1">
                <a:solidFill>
                  <a:srgbClr val="003F6B"/>
                </a:solidFill>
              </a:rPr>
              <a:t>TRAGENDE AUSSAGE</a:t>
            </a:r>
          </a:p>
        </p:txBody>
      </p:sp>
      <p:sp>
        <p:nvSpPr>
          <p:cNvPr id="26" name="">
            <a:extLst xmlns:a="http://schemas.openxmlformats.org/drawingml/2006/main">
              <a:ext uri="{FF2B5EF4-FFF2-40B4-BE49-F238E27FC236}">
                <a16:creationId xmlns:a16="http://schemas.microsoft.com/office/drawing/2014/main" id="{DC7EDC7F-3E1F-4980-BA89-9F8FDBF131AD}"/>
              </a:ext>
            </a:extLst>
          </p:cNvPr>
          <p:cNvSpPr>
            <a:spLocks xmlns:a="http://schemas.openxmlformats.org/drawingml/2006/main" noGrp="1"/>
          </p:cNvSpPr>
          <p:nvPr/>
        </p:nvSpPr>
        <p:spPr>
          <a:xfrm xmlns:a="http://schemas.openxmlformats.org/drawingml/2006/main">
            <a:off x="6858000" y="4000500"/>
            <a:ext cx="43053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10">
                <a:solidFill>
                  <a:srgbClr val="15232B"/>
                </a:solidFill>
              </a:defRPr>
            </a:pPr>
            <a:r>
              <a:rPr sz="810">
                <a:solidFill>
                  <a:srgbClr val="15232B"/>
                </a:solidFill>
              </a:rPr>
              <a:t>Die rechtliche Fehlerkategorie entscheidet über mögliche Beweiserleichterungen; derselbe Kommunikationsmangel darf nicht ohne Prüfung umetikettiert werden.</a:t>
            </a:r>
          </a:p>
        </p:txBody>
      </p:sp>
      <p:sp>
        <p:nvSpPr>
          <p:cNvPr id="27" name="">
            <a:extLst xmlns:a="http://schemas.openxmlformats.org/drawingml/2006/main">
              <a:ext uri="{FF2B5EF4-FFF2-40B4-BE49-F238E27FC236}">
                <a16:creationId xmlns:a16="http://schemas.microsoft.com/office/drawing/2014/main" id="{28D4DA9C-3CFD-4911-8028-B18B2A38C393}"/>
              </a:ext>
            </a:extLst>
          </p:cNvPr>
          <p:cNvSpPr>
            <a:spLocks xmlns:a="http://schemas.openxmlformats.org/drawingml/2006/main" noGrp="1"/>
          </p:cNvSpPr>
          <p:nvPr/>
        </p:nvSpPr>
        <p:spPr>
          <a:xfrm xmlns:a="http://schemas.openxmlformats.org/drawingml/2006/main">
            <a:off x="6858000" y="4572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B2BB"/>
                </a:solidFill>
              </a:defRPr>
            </a:pPr>
            <a:r>
              <a:rPr sz="713" b="1">
                <a:solidFill>
                  <a:srgbClr val="00B2BB"/>
                </a:solidFill>
              </a:rPr>
              <a:t>PRAXIS</a:t>
            </a:r>
          </a:p>
        </p:txBody>
      </p:sp>
      <p:sp>
        <p:nvSpPr>
          <p:cNvPr id="28" name="">
            <a:extLst xmlns:a="http://schemas.openxmlformats.org/drawingml/2006/main">
              <a:ext uri="{FF2B5EF4-FFF2-40B4-BE49-F238E27FC236}">
                <a16:creationId xmlns:a16="http://schemas.microsoft.com/office/drawing/2014/main" id="{0A0C6A71-317B-42A9-A3A8-420D8312899F}"/>
              </a:ext>
            </a:extLst>
          </p:cNvPr>
          <p:cNvSpPr>
            <a:spLocks xmlns:a="http://schemas.openxmlformats.org/drawingml/2006/main" noGrp="1"/>
          </p:cNvSpPr>
          <p:nvPr/>
        </p:nvSpPr>
        <p:spPr>
          <a:xfrm xmlns:a="http://schemas.openxmlformats.org/drawingml/2006/main">
            <a:off x="7467600" y="4552950"/>
            <a:ext cx="3695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765">
                <a:solidFill>
                  <a:srgbClr val="15232B"/>
                </a:solidFill>
              </a:defRPr>
            </a:pPr>
            <a:r>
              <a:rPr sz="765">
                <a:solidFill>
                  <a:srgbClr val="15232B"/>
                </a:solidFill>
              </a:rPr>
              <a:t>Dringlichkeit, konkrete nächste Schritte, Warnzeichen und Rückkehrschwelle verständlich mitteilen und dokumentieren.</a:t>
            </a:r>
          </a:p>
        </p:txBody>
      </p:sp>
      <p:sp>
        <p:nvSpPr>
          <p:cNvPr id="29" name="">
            <a:extLst xmlns:a="http://schemas.openxmlformats.org/drawingml/2006/main">
              <a:ext uri="{FF2B5EF4-FFF2-40B4-BE49-F238E27FC236}">
                <a16:creationId xmlns:a16="http://schemas.microsoft.com/office/drawing/2014/main" id="{C3EFCB0C-56CF-451F-8B0A-4031C58E96A8}"/>
              </a:ext>
            </a:extLst>
          </p:cNvPr>
          <p:cNvSpPr>
            <a:spLocks xmlns:a="http://schemas.openxmlformats.org/drawingml/2006/main" noGrp="1"/>
          </p:cNvSpPr>
          <p:nvPr/>
        </p:nvSpPr>
        <p:spPr>
          <a:xfrm xmlns:a="http://schemas.openxmlformats.org/drawingml/2006/main">
            <a:off x="6858000" y="4962525"/>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615">
                <a:solidFill>
                  <a:srgbClr val="667680"/>
                </a:solidFill>
              </a:defRPr>
            </a:pPr>
            <a:r>
              <a:rPr sz="615">
                <a:solidFill>
                  <a:srgbClr val="667680"/>
                </a:solidFill>
              </a:rPr>
              <a:t>16. Wichtige Abgrenzungsentscheidung zu § 630c BGB und § 630h BGB.</a:t>
            </a:r>
          </a:p>
        </p:txBody>
      </p:sp>
      <p:sp>
        <p:nvSpPr>
          <p:cNvPr id="30" name="">
            <a:extLst xmlns:a="http://schemas.openxmlformats.org/drawingml/2006/main">
              <a:ext uri="{FF2B5EF4-FFF2-40B4-BE49-F238E27FC236}">
                <a16:creationId xmlns:a16="http://schemas.microsoft.com/office/drawing/2014/main" id="{E00437F2-A4D9-49D7-B9AB-616DF88D3D07}"/>
              </a:ext>
            </a:extLst>
          </p:cNvPr>
          <p:cNvSpPr>
            <a:spLocks xmlns:a="http://schemas.openxmlformats.org/drawingml/2006/main" noGrp="1"/>
          </p:cNvSpPr>
          <p:nvPr/>
        </p:nvSpPr>
        <p:spPr>
          <a:xfrm xmlns:a="http://schemas.openxmlformats.org/drawingml/2006/main">
            <a:off x="1809750" y="5314950"/>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600">
                <a:solidFill>
                  <a:srgbClr val="667680"/>
                </a:solidFill>
              </a:defRPr>
            </a:pPr>
            <a:r>
              <a:rPr sz="600">
                <a:solidFill>
                  <a:srgbClr val="667680"/>
                </a:solidFill>
              </a:rPr>
              <a:t>Originalquellen: https://juris.bundesgerichtshof.de/cgi-bin/rechtsprechung/document.py?Art=en&amp;Blank=1.pdf&amp;Datum=2014-4&amp;Gericht=bgh&amp;Seite=5&amp;Sort=1026&amp;anz=263&amp;nr=67688&amp;pos=177 · https://dejure.org/2015,41290</a:t>
            </a:r>
          </a:p>
        </p:txBody>
      </p:sp>
    </p:spTree>
    <p:extLst>
      <p:ext uri="{BB962C8B-B14F-4D97-AF65-F5344CB8AC3E}">
        <p14:creationId xmlns:p14="http://schemas.microsoft.com/office/powerpoint/2010/main" val="43637646"/>
      </p:ext>
    </p:extLst>
  </p:cSld>
</p:sld>
</file>

<file path=ppt/slides/slide435.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Verjährung &amp; Verfahren · Lebensende &amp; Patientenwille</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LEITENTSCHEIDUNGEN · 09/20</a:t>
            </a:r>
            <a:endParaRPr/>
          </a:p>
        </p:txBody>
      </p:sp>
      <p:sp>
        <p:nvSpPr>
          <p:cNvPr id="4" name="">
            <a:extLst xmlns:a="http://schemas.openxmlformats.org/drawingml/2006/main">
              <a:ext uri="{FF2B5EF4-FFF2-40B4-BE49-F238E27FC236}">
                <a16:creationId xmlns:a16="http://schemas.microsoft.com/office/drawing/2014/main" id="{E4A89281-7910-46C0-8B36-F4C1E50863D4}"/>
              </a:ext>
            </a:extLst>
          </p:cNvPr>
          <p:cNvSpPr>
            <a:spLocks xmlns:a="http://schemas.openxmlformats.org/drawingml/2006/main" noGrp="1"/>
          </p:cNvSpPr>
          <p:nvPr/>
        </p:nvSpPr>
        <p:spPr>
          <a:xfrm xmlns:a="http://schemas.openxmlformats.org/drawingml/2006/main">
            <a:off x="1809750" y="1943100"/>
            <a:ext cx="4648200" cy="3238500"/>
          </a:xfrm>
          <a:prstGeom xmlns:a="http://schemas.openxmlformats.org/drawingml/2006/main" prst="roundRect">
            <a:avLst>
              <a:gd name="adj" fmla="val 2353"/>
            </a:avLst>
          </a:prstGeom>
          <a:solidFill xmlns:a="http://schemas.openxmlformats.org/drawingml/2006/main">
            <a:srgbClr val="FFFFFF"/>
          </a:solidFill>
          <a:ln xmlns:a="http://schemas.openxmlformats.org/drawingml/2006/main" w="10478">
            <a:solidFill>
              <a:srgbClr val="B9CAD2"/>
            </a:solidFill>
            <a:prstDash val="solid"/>
          </a:ln>
        </p:spPr>
      </p:sp>
      <p:sp>
        <p:nvSpPr>
          <p:cNvPr id="5" name="">
            <a:extLst xmlns:a="http://schemas.openxmlformats.org/drawingml/2006/main">
              <a:ext uri="{FF2B5EF4-FFF2-40B4-BE49-F238E27FC236}">
                <a16:creationId xmlns:a16="http://schemas.microsoft.com/office/drawing/2014/main" id="{FDFC8B9D-93E1-4D1E-8E13-209A8BED253D}"/>
              </a:ext>
            </a:extLst>
          </p:cNvPr>
          <p:cNvSpPr>
            <a:spLocks xmlns:a="http://schemas.openxmlformats.org/drawingml/2006/main" noGrp="1"/>
          </p:cNvSpPr>
          <p:nvPr/>
        </p:nvSpPr>
        <p:spPr>
          <a:xfrm xmlns:a="http://schemas.openxmlformats.org/drawingml/2006/main">
            <a:off x="1809750" y="1943100"/>
            <a:ext cx="4648200" cy="85725"/>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6" name="">
            <a:extLst xmlns:a="http://schemas.openxmlformats.org/drawingml/2006/main">
              <a:ext uri="{FF2B5EF4-FFF2-40B4-BE49-F238E27FC236}">
                <a16:creationId xmlns:a16="http://schemas.microsoft.com/office/drawing/2014/main" id="{A01B2C0E-E0EA-4307-8E08-15B6D6BE150A}"/>
              </a:ext>
            </a:extLst>
          </p:cNvPr>
          <p:cNvSpPr>
            <a:spLocks xmlns:a="http://schemas.openxmlformats.org/drawingml/2006/main" noGrp="1"/>
          </p:cNvSpPr>
          <p:nvPr/>
        </p:nvSpPr>
        <p:spPr>
          <a:xfrm xmlns:a="http://schemas.openxmlformats.org/drawingml/2006/main">
            <a:off x="1962150" y="2133600"/>
            <a:ext cx="1066800" cy="266700"/>
          </a:xfrm>
          <a:prstGeom xmlns:a="http://schemas.openxmlformats.org/drawingml/2006/main" prst="roundRect">
            <a:avLst>
              <a:gd name="adj" fmla="val 28571"/>
            </a:avLst>
          </a:prstGeom>
          <a:solidFill xmlns:a="http://schemas.openxmlformats.org/drawingml/2006/main">
            <a:srgbClr val="003F6B"/>
          </a:solidFill>
          <a:ln xmlns:a="http://schemas.openxmlformats.org/drawingml/2006/main" w="0">
            <a:solidFill>
              <a:srgbClr val="003F6B"/>
            </a:solidFill>
            <a:prstDash val="solid"/>
          </a:ln>
        </p:spPr>
      </p:sp>
      <p:sp>
        <p:nvSpPr>
          <p:cNvPr id="7" name="">
            <a:extLst xmlns:a="http://schemas.openxmlformats.org/drawingml/2006/main">
              <a:ext uri="{FF2B5EF4-FFF2-40B4-BE49-F238E27FC236}">
                <a16:creationId xmlns:a16="http://schemas.microsoft.com/office/drawing/2014/main" id="{C184766E-99AD-4B48-9B82-6618BE98025A}"/>
              </a:ext>
            </a:extLst>
          </p:cNvPr>
          <p:cNvSpPr>
            <a:spLocks xmlns:a="http://schemas.openxmlformats.org/drawingml/2006/main" noGrp="1"/>
          </p:cNvSpPr>
          <p:nvPr/>
        </p:nvSpPr>
        <p:spPr>
          <a:xfrm xmlns:a="http://schemas.openxmlformats.org/drawingml/2006/main">
            <a:off x="1962150" y="21336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40" b="1">
                <a:solidFill>
                  <a:srgbClr val="FFFFFF"/>
                </a:solidFill>
              </a:defRPr>
            </a:pPr>
            <a:r>
              <a:rPr sz="840" b="1">
                <a:solidFill>
                  <a:srgbClr val="FFFFFF"/>
                </a:solidFill>
              </a:rPr>
              <a:t>VERTIEFUNG</a:t>
            </a:r>
          </a:p>
        </p:txBody>
      </p:sp>
      <p:sp>
        <p:nvSpPr>
          <p:cNvPr id="8" name="">
            <a:extLst xmlns:a="http://schemas.openxmlformats.org/drawingml/2006/main">
              <a:ext uri="{FF2B5EF4-FFF2-40B4-BE49-F238E27FC236}">
                <a16:creationId xmlns:a16="http://schemas.microsoft.com/office/drawing/2014/main" id="{075D9738-011D-4C0F-9B52-422CBE4E59E3}"/>
              </a:ext>
            </a:extLst>
          </p:cNvPr>
          <p:cNvSpPr>
            <a:spLocks xmlns:a="http://schemas.openxmlformats.org/drawingml/2006/main" noGrp="1"/>
          </p:cNvSpPr>
          <p:nvPr/>
        </p:nvSpPr>
        <p:spPr>
          <a:xfrm xmlns:a="http://schemas.openxmlformats.org/drawingml/2006/main">
            <a:off x="3143250" y="2133600"/>
            <a:ext cx="3162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35" b="1">
                <a:solidFill>
                  <a:srgbClr val="003F6B"/>
                </a:solidFill>
              </a:defRPr>
            </a:pPr>
            <a:r>
              <a:rPr sz="735" b="1">
                <a:solidFill>
                  <a:srgbClr val="003F6B"/>
                </a:solidFill>
              </a:rPr>
              <a:t>BGH · 10.11.2009 · VI ZR 247/08</a:t>
            </a:r>
          </a:p>
        </p:txBody>
      </p:sp>
      <p:sp>
        <p:nvSpPr>
          <p:cNvPr id="9" name="">
            <a:extLst xmlns:a="http://schemas.openxmlformats.org/drawingml/2006/main">
              <a:ext uri="{FF2B5EF4-FFF2-40B4-BE49-F238E27FC236}">
                <a16:creationId xmlns:a16="http://schemas.microsoft.com/office/drawing/2014/main" id="{12421A96-2A90-49EB-AC0D-738C4D90EEC5}"/>
              </a:ext>
            </a:extLst>
          </p:cNvPr>
          <p:cNvSpPr>
            <a:spLocks xmlns:a="http://schemas.openxmlformats.org/drawingml/2006/main" noGrp="1"/>
          </p:cNvSpPr>
          <p:nvPr/>
        </p:nvSpPr>
        <p:spPr>
          <a:xfrm xmlns:a="http://schemas.openxmlformats.org/drawingml/2006/main">
            <a:off x="1981200" y="2476500"/>
            <a:ext cx="430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15" b="1">
                <a:solidFill>
                  <a:srgbClr val="003F6B"/>
                </a:solidFill>
              </a:defRPr>
            </a:pPr>
            <a:r>
              <a:rPr sz="1215" b="1">
                <a:solidFill>
                  <a:srgbClr val="003F6B"/>
                </a:solidFill>
              </a:rPr>
              <a:t>Kenntnisabhängiger Verjährungsbeginn im Arzthaftungsrecht</a:t>
            </a:r>
          </a:p>
        </p:txBody>
      </p:sp>
      <p:sp>
        <p:nvSpPr>
          <p:cNvPr id="10" name="">
            <a:extLst xmlns:a="http://schemas.openxmlformats.org/drawingml/2006/main">
              <a:ext uri="{FF2B5EF4-FFF2-40B4-BE49-F238E27FC236}">
                <a16:creationId xmlns:a16="http://schemas.microsoft.com/office/drawing/2014/main" id="{C2D9C495-CE0F-4B7E-A3EC-2B2A613F9F4F}"/>
              </a:ext>
            </a:extLst>
          </p:cNvPr>
          <p:cNvSpPr>
            <a:spLocks xmlns:a="http://schemas.openxmlformats.org/drawingml/2006/main" noGrp="1"/>
          </p:cNvSpPr>
          <p:nvPr/>
        </p:nvSpPr>
        <p:spPr>
          <a:xfrm xmlns:a="http://schemas.openxmlformats.org/drawingml/2006/main">
            <a:off x="1981200" y="29908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3F6B"/>
                </a:solidFill>
              </a:defRPr>
            </a:pPr>
            <a:r>
              <a:rPr sz="713" b="1">
                <a:solidFill>
                  <a:srgbClr val="003F6B"/>
                </a:solidFill>
              </a:rPr>
              <a:t>TENOR / LEITSATZKERN</a:t>
            </a:r>
          </a:p>
        </p:txBody>
      </p:sp>
      <p:sp>
        <p:nvSpPr>
          <p:cNvPr id="11" name="">
            <a:extLst xmlns:a="http://schemas.openxmlformats.org/drawingml/2006/main">
              <a:ext uri="{FF2B5EF4-FFF2-40B4-BE49-F238E27FC236}">
                <a16:creationId xmlns:a16="http://schemas.microsoft.com/office/drawing/2014/main" id="{6125A0FE-4CB5-4943-B62B-49D706372FCC}"/>
              </a:ext>
            </a:extLst>
          </p:cNvPr>
          <p:cNvSpPr>
            <a:spLocks xmlns:a="http://schemas.openxmlformats.org/drawingml/2006/main" noGrp="1"/>
          </p:cNvSpPr>
          <p:nvPr/>
        </p:nvSpPr>
        <p:spPr>
          <a:xfrm xmlns:a="http://schemas.openxmlformats.org/drawingml/2006/main">
            <a:off x="1981200" y="3181350"/>
            <a:ext cx="43053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55">
                <a:solidFill>
                  <a:srgbClr val="15232B"/>
                </a:solidFill>
              </a:defRPr>
            </a:pPr>
            <a:r>
              <a:rPr sz="855">
                <a:solidFill>
                  <a:srgbClr val="15232B"/>
                </a:solidFill>
              </a:rPr>
              <a:t>Ein negatives Behandlungsergebnis allein vermittelt noch keine Kenntnis von einer möglichen Pflichtverletzung.</a:t>
            </a:r>
          </a:p>
        </p:txBody>
      </p:sp>
      <p:sp>
        <p:nvSpPr>
          <p:cNvPr id="12" name="">
            <a:extLst xmlns:a="http://schemas.openxmlformats.org/drawingml/2006/main">
              <a:ext uri="{FF2B5EF4-FFF2-40B4-BE49-F238E27FC236}">
                <a16:creationId xmlns:a16="http://schemas.microsoft.com/office/drawing/2014/main" id="{8A79D32A-C655-4ED0-A5CC-F9B1DD14A52C}"/>
              </a:ext>
            </a:extLst>
          </p:cNvPr>
          <p:cNvSpPr>
            <a:spLocks xmlns:a="http://schemas.openxmlformats.org/drawingml/2006/main" noGrp="1"/>
          </p:cNvSpPr>
          <p:nvPr/>
        </p:nvSpPr>
        <p:spPr>
          <a:xfrm xmlns:a="http://schemas.openxmlformats.org/drawingml/2006/main">
            <a:off x="1981200" y="381000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3F6B"/>
                </a:solidFill>
              </a:defRPr>
            </a:pPr>
            <a:r>
              <a:rPr sz="713" b="1">
                <a:solidFill>
                  <a:srgbClr val="003F6B"/>
                </a:solidFill>
              </a:rPr>
              <a:t>TRAGENDE AUSSAGE</a:t>
            </a:r>
          </a:p>
        </p:txBody>
      </p:sp>
      <p:sp>
        <p:nvSpPr>
          <p:cNvPr id="13" name="">
            <a:extLst xmlns:a="http://schemas.openxmlformats.org/drawingml/2006/main">
              <a:ext uri="{FF2B5EF4-FFF2-40B4-BE49-F238E27FC236}">
                <a16:creationId xmlns:a16="http://schemas.microsoft.com/office/drawing/2014/main" id="{AB56DC5F-E765-4051-BE4B-7C5FED0B6A19}"/>
              </a:ext>
            </a:extLst>
          </p:cNvPr>
          <p:cNvSpPr>
            <a:spLocks xmlns:a="http://schemas.openxmlformats.org/drawingml/2006/main" noGrp="1"/>
          </p:cNvSpPr>
          <p:nvPr/>
        </p:nvSpPr>
        <p:spPr>
          <a:xfrm xmlns:a="http://schemas.openxmlformats.org/drawingml/2006/main">
            <a:off x="1981200" y="4000500"/>
            <a:ext cx="43053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10">
                <a:solidFill>
                  <a:srgbClr val="15232B"/>
                </a:solidFill>
              </a:defRPr>
            </a:pPr>
            <a:r>
              <a:rPr sz="810">
                <a:solidFill>
                  <a:srgbClr val="15232B"/>
                </a:solidFill>
              </a:rPr>
              <a:t>Erforderlich sind Tatsachen, aus denen sich auch für einen medizinischen Laien eine Abweichung vom geschuldeten Vorgehen ergeben kann; ein fertiges Gutachten ist nicht stets nötig.</a:t>
            </a:r>
          </a:p>
        </p:txBody>
      </p:sp>
      <p:sp>
        <p:nvSpPr>
          <p:cNvPr id="14" name="">
            <a:extLst xmlns:a="http://schemas.openxmlformats.org/drawingml/2006/main">
              <a:ext uri="{FF2B5EF4-FFF2-40B4-BE49-F238E27FC236}">
                <a16:creationId xmlns:a16="http://schemas.microsoft.com/office/drawing/2014/main" id="{E4768134-BF6C-47E9-97F9-A910156BB051}"/>
              </a:ext>
            </a:extLst>
          </p:cNvPr>
          <p:cNvSpPr>
            <a:spLocks xmlns:a="http://schemas.openxmlformats.org/drawingml/2006/main" noGrp="1"/>
          </p:cNvSpPr>
          <p:nvPr/>
        </p:nvSpPr>
        <p:spPr>
          <a:xfrm xmlns:a="http://schemas.openxmlformats.org/drawingml/2006/main">
            <a:off x="1981200" y="4572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3F6B"/>
                </a:solidFill>
              </a:defRPr>
            </a:pPr>
            <a:r>
              <a:rPr sz="713" b="1">
                <a:solidFill>
                  <a:srgbClr val="003F6B"/>
                </a:solidFill>
              </a:rPr>
              <a:t>PRAXIS</a:t>
            </a:r>
          </a:p>
        </p:txBody>
      </p:sp>
      <p:sp>
        <p:nvSpPr>
          <p:cNvPr id="15" name="">
            <a:extLst xmlns:a="http://schemas.openxmlformats.org/drawingml/2006/main">
              <a:ext uri="{FF2B5EF4-FFF2-40B4-BE49-F238E27FC236}">
                <a16:creationId xmlns:a16="http://schemas.microsoft.com/office/drawing/2014/main" id="{7BB6F75B-A732-4CB1-9803-C6786BE5C826}"/>
              </a:ext>
            </a:extLst>
          </p:cNvPr>
          <p:cNvSpPr>
            <a:spLocks xmlns:a="http://schemas.openxmlformats.org/drawingml/2006/main" noGrp="1"/>
          </p:cNvSpPr>
          <p:nvPr/>
        </p:nvSpPr>
        <p:spPr>
          <a:xfrm xmlns:a="http://schemas.openxmlformats.org/drawingml/2006/main">
            <a:off x="2590800" y="4552950"/>
            <a:ext cx="3695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765">
                <a:solidFill>
                  <a:srgbClr val="15232B"/>
                </a:solidFill>
              </a:defRPr>
            </a:pPr>
            <a:r>
              <a:rPr sz="765">
                <a:solidFill>
                  <a:srgbClr val="15232B"/>
                </a:solidFill>
              </a:rPr>
              <a:t>Kenntnisereignisse mit Datum dokumentieren und Verjährung nie nur am Schadenseintritt oder erst am Gutachten festmachen.</a:t>
            </a:r>
          </a:p>
        </p:txBody>
      </p:sp>
      <p:sp>
        <p:nvSpPr>
          <p:cNvPr id="16" name="">
            <a:extLst xmlns:a="http://schemas.openxmlformats.org/drawingml/2006/main">
              <a:ext uri="{FF2B5EF4-FFF2-40B4-BE49-F238E27FC236}">
                <a16:creationId xmlns:a16="http://schemas.microsoft.com/office/drawing/2014/main" id="{82B4A8C0-BC0F-4F7D-B18C-B7F9AD6CA371}"/>
              </a:ext>
            </a:extLst>
          </p:cNvPr>
          <p:cNvSpPr>
            <a:spLocks xmlns:a="http://schemas.openxmlformats.org/drawingml/2006/main" noGrp="1"/>
          </p:cNvSpPr>
          <p:nvPr/>
        </p:nvSpPr>
        <p:spPr>
          <a:xfrm xmlns:a="http://schemas.openxmlformats.org/drawingml/2006/main">
            <a:off x="1981200" y="4962525"/>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615">
                <a:solidFill>
                  <a:srgbClr val="667680"/>
                </a:solidFill>
              </a:defRPr>
            </a:pPr>
            <a:r>
              <a:rPr sz="615">
                <a:solidFill>
                  <a:srgbClr val="667680"/>
                </a:solidFill>
              </a:rPr>
              <a:t>17. Leitentscheidung zu § 199 Abs. 1 BGB in Arzthaftungssachen.</a:t>
            </a:r>
          </a:p>
        </p:txBody>
      </p:sp>
      <p:sp>
        <p:nvSpPr>
          <p:cNvPr id="17" name="">
            <a:extLst xmlns:a="http://schemas.openxmlformats.org/drawingml/2006/main">
              <a:ext uri="{FF2B5EF4-FFF2-40B4-BE49-F238E27FC236}">
                <a16:creationId xmlns:a16="http://schemas.microsoft.com/office/drawing/2014/main" id="{A911611D-36E7-497E-9AB6-8F398372D668}"/>
              </a:ext>
            </a:extLst>
          </p:cNvPr>
          <p:cNvSpPr>
            <a:spLocks xmlns:a="http://schemas.openxmlformats.org/drawingml/2006/main" noGrp="1"/>
          </p:cNvSpPr>
          <p:nvPr/>
        </p:nvSpPr>
        <p:spPr>
          <a:xfrm xmlns:a="http://schemas.openxmlformats.org/drawingml/2006/main">
            <a:off x="6686550" y="1943100"/>
            <a:ext cx="4648200" cy="3238500"/>
          </a:xfrm>
          <a:prstGeom xmlns:a="http://schemas.openxmlformats.org/drawingml/2006/main" prst="roundRect">
            <a:avLst>
              <a:gd name="adj" fmla="val 2353"/>
            </a:avLst>
          </a:prstGeom>
          <a:solidFill xmlns:a="http://schemas.openxmlformats.org/drawingml/2006/main">
            <a:srgbClr val="FFFFFF"/>
          </a:solidFill>
          <a:ln xmlns:a="http://schemas.openxmlformats.org/drawingml/2006/main" w="10478">
            <a:solidFill>
              <a:srgbClr val="B9CAD2"/>
            </a:solidFill>
            <a:prstDash val="solid"/>
          </a:ln>
        </p:spPr>
      </p:sp>
      <p:sp>
        <p:nvSpPr>
          <p:cNvPr id="18" name="">
            <a:extLst xmlns:a="http://schemas.openxmlformats.org/drawingml/2006/main">
              <a:ext uri="{FF2B5EF4-FFF2-40B4-BE49-F238E27FC236}">
                <a16:creationId xmlns:a16="http://schemas.microsoft.com/office/drawing/2014/main" id="{6F24925E-C317-4747-AA9A-C33C92FD7128}"/>
              </a:ext>
            </a:extLst>
          </p:cNvPr>
          <p:cNvSpPr>
            <a:spLocks xmlns:a="http://schemas.openxmlformats.org/drawingml/2006/main" noGrp="1"/>
          </p:cNvSpPr>
          <p:nvPr/>
        </p:nvSpPr>
        <p:spPr>
          <a:xfrm xmlns:a="http://schemas.openxmlformats.org/drawingml/2006/main">
            <a:off x="6686550" y="1943100"/>
            <a:ext cx="4648200" cy="85725"/>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19" name="">
            <a:extLst xmlns:a="http://schemas.openxmlformats.org/drawingml/2006/main">
              <a:ext uri="{FF2B5EF4-FFF2-40B4-BE49-F238E27FC236}">
                <a16:creationId xmlns:a16="http://schemas.microsoft.com/office/drawing/2014/main" id="{72ADD976-C9CD-4DA8-81AE-CECEE3445CF4}"/>
              </a:ext>
            </a:extLst>
          </p:cNvPr>
          <p:cNvSpPr>
            <a:spLocks xmlns:a="http://schemas.openxmlformats.org/drawingml/2006/main" noGrp="1"/>
          </p:cNvSpPr>
          <p:nvPr/>
        </p:nvSpPr>
        <p:spPr>
          <a:xfrm xmlns:a="http://schemas.openxmlformats.org/drawingml/2006/main">
            <a:off x="6838950" y="2133600"/>
            <a:ext cx="1066800" cy="266700"/>
          </a:xfrm>
          <a:prstGeom xmlns:a="http://schemas.openxmlformats.org/drawingml/2006/main" prst="roundRect">
            <a:avLst>
              <a:gd name="adj" fmla="val 28571"/>
            </a:avLst>
          </a:prstGeom>
          <a:solidFill xmlns:a="http://schemas.openxmlformats.org/drawingml/2006/main">
            <a:srgbClr val="00B2BB"/>
          </a:solidFill>
          <a:ln xmlns:a="http://schemas.openxmlformats.org/drawingml/2006/main" w="0">
            <a:solidFill>
              <a:srgbClr val="00B2BB"/>
            </a:solidFill>
            <a:prstDash val="solid"/>
          </a:ln>
        </p:spPr>
      </p:sp>
      <p:sp>
        <p:nvSpPr>
          <p:cNvPr id="20" name="">
            <a:extLst xmlns:a="http://schemas.openxmlformats.org/drawingml/2006/main">
              <a:ext uri="{FF2B5EF4-FFF2-40B4-BE49-F238E27FC236}">
                <a16:creationId xmlns:a16="http://schemas.microsoft.com/office/drawing/2014/main" id="{CEEFAAD2-50EB-435F-B38F-C82B2ED5DA13}"/>
              </a:ext>
            </a:extLst>
          </p:cNvPr>
          <p:cNvSpPr>
            <a:spLocks xmlns:a="http://schemas.openxmlformats.org/drawingml/2006/main" noGrp="1"/>
          </p:cNvSpPr>
          <p:nvPr/>
        </p:nvSpPr>
        <p:spPr>
          <a:xfrm xmlns:a="http://schemas.openxmlformats.org/drawingml/2006/main">
            <a:off x="6838950" y="21336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40" b="1">
                <a:solidFill>
                  <a:srgbClr val="FFFFFF"/>
                </a:solidFill>
              </a:defRPr>
            </a:pPr>
            <a:r>
              <a:rPr sz="840" b="1">
                <a:solidFill>
                  <a:srgbClr val="FFFFFF"/>
                </a:solidFill>
              </a:rPr>
              <a:t>KERNBESTAND</a:t>
            </a:r>
          </a:p>
        </p:txBody>
      </p:sp>
      <p:sp>
        <p:nvSpPr>
          <p:cNvPr id="21" name="">
            <a:extLst xmlns:a="http://schemas.openxmlformats.org/drawingml/2006/main">
              <a:ext uri="{FF2B5EF4-FFF2-40B4-BE49-F238E27FC236}">
                <a16:creationId xmlns:a16="http://schemas.microsoft.com/office/drawing/2014/main" id="{A7BF5A65-C795-4BF6-A69C-D013C6308F67}"/>
              </a:ext>
            </a:extLst>
          </p:cNvPr>
          <p:cNvSpPr>
            <a:spLocks xmlns:a="http://schemas.openxmlformats.org/drawingml/2006/main" noGrp="1"/>
          </p:cNvSpPr>
          <p:nvPr/>
        </p:nvSpPr>
        <p:spPr>
          <a:xfrm xmlns:a="http://schemas.openxmlformats.org/drawingml/2006/main">
            <a:off x="8020050" y="2133600"/>
            <a:ext cx="3162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35" b="1">
                <a:solidFill>
                  <a:srgbClr val="003F6B"/>
                </a:solidFill>
              </a:defRPr>
            </a:pPr>
            <a:r>
              <a:rPr sz="735" b="1">
                <a:solidFill>
                  <a:srgbClr val="003F6B"/>
                </a:solidFill>
              </a:rPr>
              <a:t>BGH · 13.09.1994 · 1 StR 357/94</a:t>
            </a:r>
          </a:p>
        </p:txBody>
      </p:sp>
      <p:sp>
        <p:nvSpPr>
          <p:cNvPr id="22" name="">
            <a:extLst xmlns:a="http://schemas.openxmlformats.org/drawingml/2006/main">
              <a:ext uri="{FF2B5EF4-FFF2-40B4-BE49-F238E27FC236}">
                <a16:creationId xmlns:a16="http://schemas.microsoft.com/office/drawing/2014/main" id="{2FDFBADC-AED5-4D48-8682-C0F034DF988A}"/>
              </a:ext>
            </a:extLst>
          </p:cNvPr>
          <p:cNvSpPr>
            <a:spLocks xmlns:a="http://schemas.openxmlformats.org/drawingml/2006/main" noGrp="1"/>
          </p:cNvSpPr>
          <p:nvPr/>
        </p:nvSpPr>
        <p:spPr>
          <a:xfrm xmlns:a="http://schemas.openxmlformats.org/drawingml/2006/main">
            <a:off x="6858000" y="2476500"/>
            <a:ext cx="430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15" b="1">
                <a:solidFill>
                  <a:srgbClr val="003F6B"/>
                </a:solidFill>
              </a:defRPr>
            </a:pPr>
            <a:r>
              <a:rPr sz="1215" b="1">
                <a:solidFill>
                  <a:srgbClr val="003F6B"/>
                </a:solidFill>
              </a:rPr>
              <a:t>Kemptener Fall: mutmaßlicher Wille beim Behandlungsabbruch</a:t>
            </a:r>
          </a:p>
        </p:txBody>
      </p:sp>
      <p:sp>
        <p:nvSpPr>
          <p:cNvPr id="23" name="">
            <a:extLst xmlns:a="http://schemas.openxmlformats.org/drawingml/2006/main">
              <a:ext uri="{FF2B5EF4-FFF2-40B4-BE49-F238E27FC236}">
                <a16:creationId xmlns:a16="http://schemas.microsoft.com/office/drawing/2014/main" id="{CDCF84EC-816B-4E36-92F7-9F0D8A6A4079}"/>
              </a:ext>
            </a:extLst>
          </p:cNvPr>
          <p:cNvSpPr>
            <a:spLocks xmlns:a="http://schemas.openxmlformats.org/drawingml/2006/main" noGrp="1"/>
          </p:cNvSpPr>
          <p:nvPr/>
        </p:nvSpPr>
        <p:spPr>
          <a:xfrm xmlns:a="http://schemas.openxmlformats.org/drawingml/2006/main">
            <a:off x="6858000" y="29908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B2BB"/>
                </a:solidFill>
              </a:defRPr>
            </a:pPr>
            <a:r>
              <a:rPr sz="713" b="1">
                <a:solidFill>
                  <a:srgbClr val="00B2BB"/>
                </a:solidFill>
              </a:rPr>
              <a:t>TENOR / LEITSATZKERN</a:t>
            </a:r>
          </a:p>
        </p:txBody>
      </p:sp>
      <p:sp>
        <p:nvSpPr>
          <p:cNvPr id="24" name="">
            <a:extLst xmlns:a="http://schemas.openxmlformats.org/drawingml/2006/main">
              <a:ext uri="{FF2B5EF4-FFF2-40B4-BE49-F238E27FC236}">
                <a16:creationId xmlns:a16="http://schemas.microsoft.com/office/drawing/2014/main" id="{F9F23454-2EA0-41E0-A812-68255F7DBE08}"/>
              </a:ext>
            </a:extLst>
          </p:cNvPr>
          <p:cNvSpPr>
            <a:spLocks xmlns:a="http://schemas.openxmlformats.org/drawingml/2006/main" noGrp="1"/>
          </p:cNvSpPr>
          <p:nvPr/>
        </p:nvSpPr>
        <p:spPr>
          <a:xfrm xmlns:a="http://schemas.openxmlformats.org/drawingml/2006/main">
            <a:off x="6858000" y="3181350"/>
            <a:ext cx="43053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55">
                <a:solidFill>
                  <a:srgbClr val="15232B"/>
                </a:solidFill>
              </a:defRPr>
            </a:pPr>
            <a:r>
              <a:rPr sz="855">
                <a:solidFill>
                  <a:srgbClr val="15232B"/>
                </a:solidFill>
              </a:rPr>
              <a:t>Ein Behandlungsabbruch kann auch vor unmittelbarer Todesnähe zulässig sein, wenn er dem sorgfältig ermittelten mutmaßlichen Willen des nicht entscheidungsfähigen Patienten entspricht.</a:t>
            </a:r>
          </a:p>
        </p:txBody>
      </p:sp>
      <p:sp>
        <p:nvSpPr>
          <p:cNvPr id="25" name="">
            <a:extLst xmlns:a="http://schemas.openxmlformats.org/drawingml/2006/main">
              <a:ext uri="{FF2B5EF4-FFF2-40B4-BE49-F238E27FC236}">
                <a16:creationId xmlns:a16="http://schemas.microsoft.com/office/drawing/2014/main" id="{EEBA2418-DE35-4F2A-99C7-C5066B2C3DA5}"/>
              </a:ext>
            </a:extLst>
          </p:cNvPr>
          <p:cNvSpPr>
            <a:spLocks xmlns:a="http://schemas.openxmlformats.org/drawingml/2006/main" noGrp="1"/>
          </p:cNvSpPr>
          <p:nvPr/>
        </p:nvSpPr>
        <p:spPr>
          <a:xfrm xmlns:a="http://schemas.openxmlformats.org/drawingml/2006/main">
            <a:off x="6858000" y="381000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3F6B"/>
                </a:solidFill>
              </a:defRPr>
            </a:pPr>
            <a:r>
              <a:rPr sz="713" b="1">
                <a:solidFill>
                  <a:srgbClr val="003F6B"/>
                </a:solidFill>
              </a:rPr>
              <a:t>TRAGENDE AUSSAGE</a:t>
            </a:r>
          </a:p>
        </p:txBody>
      </p:sp>
      <p:sp>
        <p:nvSpPr>
          <p:cNvPr id="26" name="">
            <a:extLst xmlns:a="http://schemas.openxmlformats.org/drawingml/2006/main">
              <a:ext uri="{FF2B5EF4-FFF2-40B4-BE49-F238E27FC236}">
                <a16:creationId xmlns:a16="http://schemas.microsoft.com/office/drawing/2014/main" id="{E027D25F-D72F-4633-A051-825F5E7EDA65}"/>
              </a:ext>
            </a:extLst>
          </p:cNvPr>
          <p:cNvSpPr>
            <a:spLocks xmlns:a="http://schemas.openxmlformats.org/drawingml/2006/main" noGrp="1"/>
          </p:cNvSpPr>
          <p:nvPr/>
        </p:nvSpPr>
        <p:spPr>
          <a:xfrm xmlns:a="http://schemas.openxmlformats.org/drawingml/2006/main">
            <a:off x="6858000" y="4000500"/>
            <a:ext cx="43053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10">
                <a:solidFill>
                  <a:srgbClr val="15232B"/>
                </a:solidFill>
              </a:defRPr>
            </a:pPr>
            <a:r>
              <a:rPr sz="810">
                <a:solidFill>
                  <a:srgbClr val="15232B"/>
                </a:solidFill>
              </a:rPr>
              <a:t>Frühere Äußerungen, Wertvorstellungen und konkrete Lebensentscheidungen haben Vorrang; fehlen individuelle Anhaltspunkte, gilt eine strenge Zweifelsregel zugunsten des Lebensschutzes.</a:t>
            </a:r>
          </a:p>
        </p:txBody>
      </p:sp>
      <p:sp>
        <p:nvSpPr>
          <p:cNvPr id="27" name="">
            <a:extLst xmlns:a="http://schemas.openxmlformats.org/drawingml/2006/main">
              <a:ext uri="{FF2B5EF4-FFF2-40B4-BE49-F238E27FC236}">
                <a16:creationId xmlns:a16="http://schemas.microsoft.com/office/drawing/2014/main" id="{2AF3CD45-FD39-4662-93AC-AED4FD84857D}"/>
              </a:ext>
            </a:extLst>
          </p:cNvPr>
          <p:cNvSpPr>
            <a:spLocks xmlns:a="http://schemas.openxmlformats.org/drawingml/2006/main" noGrp="1"/>
          </p:cNvSpPr>
          <p:nvPr/>
        </p:nvSpPr>
        <p:spPr>
          <a:xfrm xmlns:a="http://schemas.openxmlformats.org/drawingml/2006/main">
            <a:off x="6858000" y="4572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B2BB"/>
                </a:solidFill>
              </a:defRPr>
            </a:pPr>
            <a:r>
              <a:rPr sz="713" b="1">
                <a:solidFill>
                  <a:srgbClr val="00B2BB"/>
                </a:solidFill>
              </a:rPr>
              <a:t>PRAXIS</a:t>
            </a:r>
          </a:p>
        </p:txBody>
      </p:sp>
      <p:sp>
        <p:nvSpPr>
          <p:cNvPr id="28" name="">
            <a:extLst xmlns:a="http://schemas.openxmlformats.org/drawingml/2006/main">
              <a:ext uri="{FF2B5EF4-FFF2-40B4-BE49-F238E27FC236}">
                <a16:creationId xmlns:a16="http://schemas.microsoft.com/office/drawing/2014/main" id="{AB3D5289-AA9D-460C-9A5D-2B9F92E865FE}"/>
              </a:ext>
            </a:extLst>
          </p:cNvPr>
          <p:cNvSpPr>
            <a:spLocks xmlns:a="http://schemas.openxmlformats.org/drawingml/2006/main" noGrp="1"/>
          </p:cNvSpPr>
          <p:nvPr/>
        </p:nvSpPr>
        <p:spPr>
          <a:xfrm xmlns:a="http://schemas.openxmlformats.org/drawingml/2006/main">
            <a:off x="7467600" y="4552950"/>
            <a:ext cx="3695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765">
                <a:solidFill>
                  <a:srgbClr val="15232B"/>
                </a:solidFill>
              </a:defRPr>
            </a:pPr>
            <a:r>
              <a:rPr sz="765">
                <a:solidFill>
                  <a:srgbClr val="15232B"/>
                </a:solidFill>
              </a:rPr>
              <a:t>Nicht eigene Vorstellungen von Lebensqualität einsetzen: Patientenwille strukturiert ermitteln, Quellen benennen und Unsicherheiten offen dokumentieren.</a:t>
            </a:r>
          </a:p>
        </p:txBody>
      </p:sp>
      <p:sp>
        <p:nvSpPr>
          <p:cNvPr id="29" name="">
            <a:extLst xmlns:a="http://schemas.openxmlformats.org/drawingml/2006/main">
              <a:ext uri="{FF2B5EF4-FFF2-40B4-BE49-F238E27FC236}">
                <a16:creationId xmlns:a16="http://schemas.microsoft.com/office/drawing/2014/main" id="{9F3857BD-CA6F-46F5-9930-D7F87B2CCBD0}"/>
              </a:ext>
            </a:extLst>
          </p:cNvPr>
          <p:cNvSpPr>
            <a:spLocks xmlns:a="http://schemas.openxmlformats.org/drawingml/2006/main" noGrp="1"/>
          </p:cNvSpPr>
          <p:nvPr/>
        </p:nvSpPr>
        <p:spPr>
          <a:xfrm xmlns:a="http://schemas.openxmlformats.org/drawingml/2006/main">
            <a:off x="6858000" y="4962525"/>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615">
                <a:solidFill>
                  <a:srgbClr val="667680"/>
                </a:solidFill>
              </a:defRPr>
            </a:pPr>
            <a:r>
              <a:rPr sz="615">
                <a:solidFill>
                  <a:srgbClr val="667680"/>
                </a:solidFill>
              </a:rPr>
              <a:t>18. Historische Leitentscheidung; verfahrensrechtlich und dogmatisch später durch Patientenverfügungsgesetz und Putz-Fall fortentwickelt.</a:t>
            </a:r>
          </a:p>
        </p:txBody>
      </p:sp>
      <p:sp>
        <p:nvSpPr>
          <p:cNvPr id="30" name="">
            <a:extLst xmlns:a="http://schemas.openxmlformats.org/drawingml/2006/main">
              <a:ext uri="{FF2B5EF4-FFF2-40B4-BE49-F238E27FC236}">
                <a16:creationId xmlns:a16="http://schemas.microsoft.com/office/drawing/2014/main" id="{799FF997-EBF3-420F-AF98-4D6EA77B68C1}"/>
              </a:ext>
            </a:extLst>
          </p:cNvPr>
          <p:cNvSpPr>
            <a:spLocks xmlns:a="http://schemas.openxmlformats.org/drawingml/2006/main" noGrp="1"/>
          </p:cNvSpPr>
          <p:nvPr/>
        </p:nvSpPr>
        <p:spPr>
          <a:xfrm xmlns:a="http://schemas.openxmlformats.org/drawingml/2006/main">
            <a:off x="1809750" y="5314950"/>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675">
                <a:solidFill>
                  <a:srgbClr val="667680"/>
                </a:solidFill>
              </a:defRPr>
            </a:pPr>
            <a:r>
              <a:rPr sz="675">
                <a:solidFill>
                  <a:srgbClr val="667680"/>
                </a:solidFill>
              </a:rPr>
              <a:t>Originalquellen: https://dejure.org/2009,592 · https://www.hrr-strafrecht.de/hrr/1/94/1-357-94.php</a:t>
            </a:r>
          </a:p>
        </p:txBody>
      </p:sp>
    </p:spTree>
    <p:extLst>
      <p:ext uri="{BB962C8B-B14F-4D97-AF65-F5344CB8AC3E}">
        <p14:creationId xmlns:p14="http://schemas.microsoft.com/office/powerpoint/2010/main" val="43637646"/>
      </p:ext>
    </p:extLst>
  </p:cSld>
</p:sld>
</file>

<file path=ppt/slides/slide436.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Lebensende &amp; Patientenwille</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LEITENTSCHEIDUNGEN · 10/20</a:t>
            </a:r>
            <a:endParaRPr/>
          </a:p>
        </p:txBody>
      </p:sp>
      <p:sp>
        <p:nvSpPr>
          <p:cNvPr id="4" name="">
            <a:extLst xmlns:a="http://schemas.openxmlformats.org/drawingml/2006/main">
              <a:ext uri="{FF2B5EF4-FFF2-40B4-BE49-F238E27FC236}">
                <a16:creationId xmlns:a16="http://schemas.microsoft.com/office/drawing/2014/main" id="{A660E670-826C-4D4A-B863-EAAC891C3717}"/>
              </a:ext>
            </a:extLst>
          </p:cNvPr>
          <p:cNvSpPr>
            <a:spLocks xmlns:a="http://schemas.openxmlformats.org/drawingml/2006/main" noGrp="1"/>
          </p:cNvSpPr>
          <p:nvPr/>
        </p:nvSpPr>
        <p:spPr>
          <a:xfrm xmlns:a="http://schemas.openxmlformats.org/drawingml/2006/main">
            <a:off x="1809750" y="1943100"/>
            <a:ext cx="4648200" cy="3238500"/>
          </a:xfrm>
          <a:prstGeom xmlns:a="http://schemas.openxmlformats.org/drawingml/2006/main" prst="roundRect">
            <a:avLst>
              <a:gd name="adj" fmla="val 2353"/>
            </a:avLst>
          </a:prstGeom>
          <a:solidFill xmlns:a="http://schemas.openxmlformats.org/drawingml/2006/main">
            <a:srgbClr val="FFFFFF"/>
          </a:solidFill>
          <a:ln xmlns:a="http://schemas.openxmlformats.org/drawingml/2006/main" w="10478">
            <a:solidFill>
              <a:srgbClr val="B9CAD2"/>
            </a:solidFill>
            <a:prstDash val="solid"/>
          </a:ln>
        </p:spPr>
      </p:sp>
      <p:sp>
        <p:nvSpPr>
          <p:cNvPr id="5" name="">
            <a:extLst xmlns:a="http://schemas.openxmlformats.org/drawingml/2006/main">
              <a:ext uri="{FF2B5EF4-FFF2-40B4-BE49-F238E27FC236}">
                <a16:creationId xmlns:a16="http://schemas.microsoft.com/office/drawing/2014/main" id="{941B9BFE-F0EC-4AB7-84C5-D5679790279E}"/>
              </a:ext>
            </a:extLst>
          </p:cNvPr>
          <p:cNvSpPr>
            <a:spLocks xmlns:a="http://schemas.openxmlformats.org/drawingml/2006/main" noGrp="1"/>
          </p:cNvSpPr>
          <p:nvPr/>
        </p:nvSpPr>
        <p:spPr>
          <a:xfrm xmlns:a="http://schemas.openxmlformats.org/drawingml/2006/main">
            <a:off x="1809750" y="1943100"/>
            <a:ext cx="4648200" cy="85725"/>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D67D1FC7-BD8D-4524-B605-25E6F757B503}"/>
              </a:ext>
            </a:extLst>
          </p:cNvPr>
          <p:cNvSpPr>
            <a:spLocks xmlns:a="http://schemas.openxmlformats.org/drawingml/2006/main" noGrp="1"/>
          </p:cNvSpPr>
          <p:nvPr/>
        </p:nvSpPr>
        <p:spPr>
          <a:xfrm xmlns:a="http://schemas.openxmlformats.org/drawingml/2006/main">
            <a:off x="1962150" y="2133600"/>
            <a:ext cx="1066800" cy="266700"/>
          </a:xfrm>
          <a:prstGeom xmlns:a="http://schemas.openxmlformats.org/drawingml/2006/main" prst="roundRect">
            <a:avLst>
              <a:gd name="adj" fmla="val 28571"/>
            </a:avLst>
          </a:prstGeom>
          <a:solidFill xmlns:a="http://schemas.openxmlformats.org/drawingml/2006/main">
            <a:srgbClr val="00B2BB"/>
          </a:solidFill>
          <a:ln xmlns:a="http://schemas.openxmlformats.org/drawingml/2006/main" w="0">
            <a:solidFill>
              <a:srgbClr val="00B2BB"/>
            </a:solidFill>
            <a:prstDash val="solid"/>
          </a:ln>
        </p:spPr>
      </p:sp>
      <p:sp>
        <p:nvSpPr>
          <p:cNvPr id="7" name="">
            <a:extLst xmlns:a="http://schemas.openxmlformats.org/drawingml/2006/main">
              <a:ext uri="{FF2B5EF4-FFF2-40B4-BE49-F238E27FC236}">
                <a16:creationId xmlns:a16="http://schemas.microsoft.com/office/drawing/2014/main" id="{31761F38-4579-443C-BE59-B65FB8B84AB4}"/>
              </a:ext>
            </a:extLst>
          </p:cNvPr>
          <p:cNvSpPr>
            <a:spLocks xmlns:a="http://schemas.openxmlformats.org/drawingml/2006/main" noGrp="1"/>
          </p:cNvSpPr>
          <p:nvPr/>
        </p:nvSpPr>
        <p:spPr>
          <a:xfrm xmlns:a="http://schemas.openxmlformats.org/drawingml/2006/main">
            <a:off x="1962150" y="21336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40" b="1">
                <a:solidFill>
                  <a:srgbClr val="FFFFFF"/>
                </a:solidFill>
              </a:defRPr>
            </a:pPr>
            <a:r>
              <a:rPr sz="840" b="1">
                <a:solidFill>
                  <a:srgbClr val="FFFFFF"/>
                </a:solidFill>
              </a:rPr>
              <a:t>KERNBESTAND</a:t>
            </a:r>
          </a:p>
        </p:txBody>
      </p:sp>
      <p:sp>
        <p:nvSpPr>
          <p:cNvPr id="8" name="">
            <a:extLst xmlns:a="http://schemas.openxmlformats.org/drawingml/2006/main">
              <a:ext uri="{FF2B5EF4-FFF2-40B4-BE49-F238E27FC236}">
                <a16:creationId xmlns:a16="http://schemas.microsoft.com/office/drawing/2014/main" id="{BE9B0364-1922-492F-A0A2-C602E382AC4D}"/>
              </a:ext>
            </a:extLst>
          </p:cNvPr>
          <p:cNvSpPr>
            <a:spLocks xmlns:a="http://schemas.openxmlformats.org/drawingml/2006/main" noGrp="1"/>
          </p:cNvSpPr>
          <p:nvPr/>
        </p:nvSpPr>
        <p:spPr>
          <a:xfrm xmlns:a="http://schemas.openxmlformats.org/drawingml/2006/main">
            <a:off x="3143250" y="2133600"/>
            <a:ext cx="3162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35" b="1">
                <a:solidFill>
                  <a:srgbClr val="003F6B"/>
                </a:solidFill>
              </a:defRPr>
            </a:pPr>
            <a:r>
              <a:rPr sz="735" b="1">
                <a:solidFill>
                  <a:srgbClr val="003F6B"/>
                </a:solidFill>
              </a:rPr>
              <a:t>BGH · 25.06.2010 · 2 StR 454/09</a:t>
            </a:r>
          </a:p>
        </p:txBody>
      </p:sp>
      <p:sp>
        <p:nvSpPr>
          <p:cNvPr id="9" name="">
            <a:extLst xmlns:a="http://schemas.openxmlformats.org/drawingml/2006/main">
              <a:ext uri="{FF2B5EF4-FFF2-40B4-BE49-F238E27FC236}">
                <a16:creationId xmlns:a16="http://schemas.microsoft.com/office/drawing/2014/main" id="{B58B79CA-FB8D-49EE-9DF7-C83E43AAB390}"/>
              </a:ext>
            </a:extLst>
          </p:cNvPr>
          <p:cNvSpPr>
            <a:spLocks xmlns:a="http://schemas.openxmlformats.org/drawingml/2006/main" noGrp="1"/>
          </p:cNvSpPr>
          <p:nvPr/>
        </p:nvSpPr>
        <p:spPr>
          <a:xfrm xmlns:a="http://schemas.openxmlformats.org/drawingml/2006/main">
            <a:off x="1981200" y="2476500"/>
            <a:ext cx="430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15" b="1">
                <a:solidFill>
                  <a:srgbClr val="003F6B"/>
                </a:solidFill>
              </a:defRPr>
            </a:pPr>
            <a:r>
              <a:rPr sz="1215" b="1">
                <a:solidFill>
                  <a:srgbClr val="003F6B"/>
                </a:solidFill>
              </a:rPr>
              <a:t>Putz-Fall: rechtmäßiger Behandlungsabbruch</a:t>
            </a:r>
          </a:p>
        </p:txBody>
      </p:sp>
      <p:sp>
        <p:nvSpPr>
          <p:cNvPr id="10" name="">
            <a:extLst xmlns:a="http://schemas.openxmlformats.org/drawingml/2006/main">
              <a:ext uri="{FF2B5EF4-FFF2-40B4-BE49-F238E27FC236}">
                <a16:creationId xmlns:a16="http://schemas.microsoft.com/office/drawing/2014/main" id="{DC63106A-1D24-46AA-ADEC-3C979BCE8CF0}"/>
              </a:ext>
            </a:extLst>
          </p:cNvPr>
          <p:cNvSpPr>
            <a:spLocks xmlns:a="http://schemas.openxmlformats.org/drawingml/2006/main" noGrp="1"/>
          </p:cNvSpPr>
          <p:nvPr/>
        </p:nvSpPr>
        <p:spPr>
          <a:xfrm xmlns:a="http://schemas.openxmlformats.org/drawingml/2006/main">
            <a:off x="1981200" y="29908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B2BB"/>
                </a:solidFill>
              </a:defRPr>
            </a:pPr>
            <a:r>
              <a:rPr sz="713" b="1">
                <a:solidFill>
                  <a:srgbClr val="00B2BB"/>
                </a:solidFill>
              </a:rPr>
              <a:t>TENOR / LEITSATZKERN</a:t>
            </a:r>
          </a:p>
        </p:txBody>
      </p:sp>
      <p:sp>
        <p:nvSpPr>
          <p:cNvPr id="11" name="">
            <a:extLst xmlns:a="http://schemas.openxmlformats.org/drawingml/2006/main">
              <a:ext uri="{FF2B5EF4-FFF2-40B4-BE49-F238E27FC236}">
                <a16:creationId xmlns:a16="http://schemas.microsoft.com/office/drawing/2014/main" id="{568186B6-8D45-4498-B2E8-872C1EC6EF57}"/>
              </a:ext>
            </a:extLst>
          </p:cNvPr>
          <p:cNvSpPr>
            <a:spLocks xmlns:a="http://schemas.openxmlformats.org/drawingml/2006/main" noGrp="1"/>
          </p:cNvSpPr>
          <p:nvPr/>
        </p:nvSpPr>
        <p:spPr>
          <a:xfrm xmlns:a="http://schemas.openxmlformats.org/drawingml/2006/main">
            <a:off x="1981200" y="3181350"/>
            <a:ext cx="43053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55">
                <a:solidFill>
                  <a:srgbClr val="15232B"/>
                </a:solidFill>
              </a:defRPr>
            </a:pPr>
            <a:r>
              <a:rPr sz="855">
                <a:solidFill>
                  <a:srgbClr val="15232B"/>
                </a:solidFill>
              </a:rPr>
              <a:t>Der Abbruch einer lebenserhaltenden Behandlung kann durch Unterlassen oder aktives Tun gerechtfertigt sein, wenn er dem tatsächlichen oder mutmaßlichen Patientenwillen entspricht.</a:t>
            </a:r>
          </a:p>
        </p:txBody>
      </p:sp>
      <p:sp>
        <p:nvSpPr>
          <p:cNvPr id="12" name="">
            <a:extLst xmlns:a="http://schemas.openxmlformats.org/drawingml/2006/main">
              <a:ext uri="{FF2B5EF4-FFF2-40B4-BE49-F238E27FC236}">
                <a16:creationId xmlns:a16="http://schemas.microsoft.com/office/drawing/2014/main" id="{8CA1D2A8-DD6C-4AA0-8083-4988987F3BD9}"/>
              </a:ext>
            </a:extLst>
          </p:cNvPr>
          <p:cNvSpPr>
            <a:spLocks xmlns:a="http://schemas.openxmlformats.org/drawingml/2006/main" noGrp="1"/>
          </p:cNvSpPr>
          <p:nvPr/>
        </p:nvSpPr>
        <p:spPr>
          <a:xfrm xmlns:a="http://schemas.openxmlformats.org/drawingml/2006/main">
            <a:off x="1981200" y="381000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3F6B"/>
                </a:solidFill>
              </a:defRPr>
            </a:pPr>
            <a:r>
              <a:rPr sz="713" b="1">
                <a:solidFill>
                  <a:srgbClr val="003F6B"/>
                </a:solidFill>
              </a:rPr>
              <a:t>TRAGENDE AUSSAGE</a:t>
            </a:r>
          </a:p>
        </p:txBody>
      </p:sp>
      <p:sp>
        <p:nvSpPr>
          <p:cNvPr id="13" name="">
            <a:extLst xmlns:a="http://schemas.openxmlformats.org/drawingml/2006/main">
              <a:ext uri="{FF2B5EF4-FFF2-40B4-BE49-F238E27FC236}">
                <a16:creationId xmlns:a16="http://schemas.microsoft.com/office/drawing/2014/main" id="{17B439B1-6791-4FC9-A4EA-4E3C2A3A4D07}"/>
              </a:ext>
            </a:extLst>
          </p:cNvPr>
          <p:cNvSpPr>
            <a:spLocks xmlns:a="http://schemas.openxmlformats.org/drawingml/2006/main" noGrp="1"/>
          </p:cNvSpPr>
          <p:nvPr/>
        </p:nvSpPr>
        <p:spPr>
          <a:xfrm xmlns:a="http://schemas.openxmlformats.org/drawingml/2006/main">
            <a:off x="1981200" y="4000500"/>
            <a:ext cx="43053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10">
                <a:solidFill>
                  <a:srgbClr val="15232B"/>
                </a:solidFill>
              </a:defRPr>
            </a:pPr>
            <a:r>
              <a:rPr sz="810">
                <a:solidFill>
                  <a:srgbClr val="15232B"/>
                </a:solidFill>
              </a:rPr>
              <a:t>Entscheidend ist der Bezug zur Beendigung einer medizinischen Behandlung und zum tödlichen Krankheitsprozess; eine davon gelöste gezielte Tötung bleibt unzulässig.</a:t>
            </a:r>
          </a:p>
        </p:txBody>
      </p:sp>
      <p:sp>
        <p:nvSpPr>
          <p:cNvPr id="14" name="">
            <a:extLst xmlns:a="http://schemas.openxmlformats.org/drawingml/2006/main">
              <a:ext uri="{FF2B5EF4-FFF2-40B4-BE49-F238E27FC236}">
                <a16:creationId xmlns:a16="http://schemas.microsoft.com/office/drawing/2014/main" id="{9F57E4B2-88A3-4EE7-8E79-EDB4A2A83233}"/>
              </a:ext>
            </a:extLst>
          </p:cNvPr>
          <p:cNvSpPr>
            <a:spLocks xmlns:a="http://schemas.openxmlformats.org/drawingml/2006/main" noGrp="1"/>
          </p:cNvSpPr>
          <p:nvPr/>
        </p:nvSpPr>
        <p:spPr>
          <a:xfrm xmlns:a="http://schemas.openxmlformats.org/drawingml/2006/main">
            <a:off x="1981200" y="4572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B2BB"/>
                </a:solidFill>
              </a:defRPr>
            </a:pPr>
            <a:r>
              <a:rPr sz="713" b="1">
                <a:solidFill>
                  <a:srgbClr val="00B2BB"/>
                </a:solidFill>
              </a:rPr>
              <a:t>PRAXIS</a:t>
            </a:r>
          </a:p>
        </p:txBody>
      </p:sp>
      <p:sp>
        <p:nvSpPr>
          <p:cNvPr id="15" name="">
            <a:extLst xmlns:a="http://schemas.openxmlformats.org/drawingml/2006/main">
              <a:ext uri="{FF2B5EF4-FFF2-40B4-BE49-F238E27FC236}">
                <a16:creationId xmlns:a16="http://schemas.microsoft.com/office/drawing/2014/main" id="{351B6CAA-17E5-4E1C-A0E7-846DBE6F66EE}"/>
              </a:ext>
            </a:extLst>
          </p:cNvPr>
          <p:cNvSpPr>
            <a:spLocks xmlns:a="http://schemas.openxmlformats.org/drawingml/2006/main" noGrp="1"/>
          </p:cNvSpPr>
          <p:nvPr/>
        </p:nvSpPr>
        <p:spPr>
          <a:xfrm xmlns:a="http://schemas.openxmlformats.org/drawingml/2006/main">
            <a:off x="2590800" y="4552950"/>
            <a:ext cx="3695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765">
                <a:solidFill>
                  <a:srgbClr val="15232B"/>
                </a:solidFill>
              </a:defRPr>
            </a:pPr>
            <a:r>
              <a:rPr sz="765">
                <a:solidFill>
                  <a:srgbClr val="15232B"/>
                </a:solidFill>
              </a:rPr>
              <a:t>Indikation, Wille, Behandlungszieländerung, Zuständigkeit und konkreten Ablauf interprofessionell klären und dokumentieren.</a:t>
            </a:r>
          </a:p>
        </p:txBody>
      </p:sp>
      <p:sp>
        <p:nvSpPr>
          <p:cNvPr id="16" name="">
            <a:extLst xmlns:a="http://schemas.openxmlformats.org/drawingml/2006/main">
              <a:ext uri="{FF2B5EF4-FFF2-40B4-BE49-F238E27FC236}">
                <a16:creationId xmlns:a16="http://schemas.microsoft.com/office/drawing/2014/main" id="{3CDFAAC6-04CE-4CE3-A9D5-D519EC27602C}"/>
              </a:ext>
            </a:extLst>
          </p:cNvPr>
          <p:cNvSpPr>
            <a:spLocks xmlns:a="http://schemas.openxmlformats.org/drawingml/2006/main" noGrp="1"/>
          </p:cNvSpPr>
          <p:nvPr/>
        </p:nvSpPr>
        <p:spPr>
          <a:xfrm xmlns:a="http://schemas.openxmlformats.org/drawingml/2006/main">
            <a:off x="1981200" y="4962525"/>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615">
                <a:solidFill>
                  <a:srgbClr val="667680"/>
                </a:solidFill>
              </a:defRPr>
            </a:pPr>
            <a:r>
              <a:rPr sz="615">
                <a:solidFill>
                  <a:srgbClr val="667680"/>
                </a:solidFill>
              </a:rPr>
              <a:t>19. BGHSt 55, 191; zentrale strafrechtliche Leitentscheidung zum Behandlungsabbruch.</a:t>
            </a:r>
          </a:p>
        </p:txBody>
      </p:sp>
      <p:sp>
        <p:nvSpPr>
          <p:cNvPr id="17" name="">
            <a:extLst xmlns:a="http://schemas.openxmlformats.org/drawingml/2006/main">
              <a:ext uri="{FF2B5EF4-FFF2-40B4-BE49-F238E27FC236}">
                <a16:creationId xmlns:a16="http://schemas.microsoft.com/office/drawing/2014/main" id="{A07C63D2-551F-454D-8948-0CB31168D50E}"/>
              </a:ext>
            </a:extLst>
          </p:cNvPr>
          <p:cNvSpPr>
            <a:spLocks xmlns:a="http://schemas.openxmlformats.org/drawingml/2006/main" noGrp="1"/>
          </p:cNvSpPr>
          <p:nvPr/>
        </p:nvSpPr>
        <p:spPr>
          <a:xfrm xmlns:a="http://schemas.openxmlformats.org/drawingml/2006/main">
            <a:off x="6686550" y="1943100"/>
            <a:ext cx="4648200" cy="3238500"/>
          </a:xfrm>
          <a:prstGeom xmlns:a="http://schemas.openxmlformats.org/drawingml/2006/main" prst="roundRect">
            <a:avLst>
              <a:gd name="adj" fmla="val 2353"/>
            </a:avLst>
          </a:prstGeom>
          <a:solidFill xmlns:a="http://schemas.openxmlformats.org/drawingml/2006/main">
            <a:srgbClr val="FFFFFF"/>
          </a:solidFill>
          <a:ln xmlns:a="http://schemas.openxmlformats.org/drawingml/2006/main" w="10478">
            <a:solidFill>
              <a:srgbClr val="B9CAD2"/>
            </a:solidFill>
            <a:prstDash val="solid"/>
          </a:ln>
        </p:spPr>
      </p:sp>
      <p:sp>
        <p:nvSpPr>
          <p:cNvPr id="18" name="">
            <a:extLst xmlns:a="http://schemas.openxmlformats.org/drawingml/2006/main">
              <a:ext uri="{FF2B5EF4-FFF2-40B4-BE49-F238E27FC236}">
                <a16:creationId xmlns:a16="http://schemas.microsoft.com/office/drawing/2014/main" id="{F7922187-B601-4434-B1CE-07BC4CAC2CD6}"/>
              </a:ext>
            </a:extLst>
          </p:cNvPr>
          <p:cNvSpPr>
            <a:spLocks xmlns:a="http://schemas.openxmlformats.org/drawingml/2006/main" noGrp="1"/>
          </p:cNvSpPr>
          <p:nvPr/>
        </p:nvSpPr>
        <p:spPr>
          <a:xfrm xmlns:a="http://schemas.openxmlformats.org/drawingml/2006/main">
            <a:off x="6686550" y="1943100"/>
            <a:ext cx="4648200" cy="85725"/>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19" name="">
            <a:extLst xmlns:a="http://schemas.openxmlformats.org/drawingml/2006/main">
              <a:ext uri="{FF2B5EF4-FFF2-40B4-BE49-F238E27FC236}">
                <a16:creationId xmlns:a16="http://schemas.microsoft.com/office/drawing/2014/main" id="{0DD5407A-A004-4B6C-97AC-05B7E77375C2}"/>
              </a:ext>
            </a:extLst>
          </p:cNvPr>
          <p:cNvSpPr>
            <a:spLocks xmlns:a="http://schemas.openxmlformats.org/drawingml/2006/main" noGrp="1"/>
          </p:cNvSpPr>
          <p:nvPr/>
        </p:nvSpPr>
        <p:spPr>
          <a:xfrm xmlns:a="http://schemas.openxmlformats.org/drawingml/2006/main">
            <a:off x="6838950" y="2133600"/>
            <a:ext cx="1066800" cy="266700"/>
          </a:xfrm>
          <a:prstGeom xmlns:a="http://schemas.openxmlformats.org/drawingml/2006/main" prst="roundRect">
            <a:avLst>
              <a:gd name="adj" fmla="val 28571"/>
            </a:avLst>
          </a:prstGeom>
          <a:solidFill xmlns:a="http://schemas.openxmlformats.org/drawingml/2006/main">
            <a:srgbClr val="00B2BB"/>
          </a:solidFill>
          <a:ln xmlns:a="http://schemas.openxmlformats.org/drawingml/2006/main" w="0">
            <a:solidFill>
              <a:srgbClr val="00B2BB"/>
            </a:solidFill>
            <a:prstDash val="solid"/>
          </a:ln>
        </p:spPr>
      </p:sp>
      <p:sp>
        <p:nvSpPr>
          <p:cNvPr id="20" name="">
            <a:extLst xmlns:a="http://schemas.openxmlformats.org/drawingml/2006/main">
              <a:ext uri="{FF2B5EF4-FFF2-40B4-BE49-F238E27FC236}">
                <a16:creationId xmlns:a16="http://schemas.microsoft.com/office/drawing/2014/main" id="{461924C7-4E84-4AD7-BCC8-EEE4EB426C4F}"/>
              </a:ext>
            </a:extLst>
          </p:cNvPr>
          <p:cNvSpPr>
            <a:spLocks xmlns:a="http://schemas.openxmlformats.org/drawingml/2006/main" noGrp="1"/>
          </p:cNvSpPr>
          <p:nvPr/>
        </p:nvSpPr>
        <p:spPr>
          <a:xfrm xmlns:a="http://schemas.openxmlformats.org/drawingml/2006/main">
            <a:off x="6838950" y="21336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40" b="1">
                <a:solidFill>
                  <a:srgbClr val="FFFFFF"/>
                </a:solidFill>
              </a:defRPr>
            </a:pPr>
            <a:r>
              <a:rPr sz="840" b="1">
                <a:solidFill>
                  <a:srgbClr val="FFFFFF"/>
                </a:solidFill>
              </a:rPr>
              <a:t>KERNBESTAND</a:t>
            </a:r>
          </a:p>
        </p:txBody>
      </p:sp>
      <p:sp>
        <p:nvSpPr>
          <p:cNvPr id="21" name="">
            <a:extLst xmlns:a="http://schemas.openxmlformats.org/drawingml/2006/main">
              <a:ext uri="{FF2B5EF4-FFF2-40B4-BE49-F238E27FC236}">
                <a16:creationId xmlns:a16="http://schemas.microsoft.com/office/drawing/2014/main" id="{882234B6-A79C-4249-8B1C-4E21A5FC98D8}"/>
              </a:ext>
            </a:extLst>
          </p:cNvPr>
          <p:cNvSpPr>
            <a:spLocks xmlns:a="http://schemas.openxmlformats.org/drawingml/2006/main" noGrp="1"/>
          </p:cNvSpPr>
          <p:nvPr/>
        </p:nvSpPr>
        <p:spPr>
          <a:xfrm xmlns:a="http://schemas.openxmlformats.org/drawingml/2006/main">
            <a:off x="8020050" y="2133600"/>
            <a:ext cx="3162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35" b="1">
                <a:solidFill>
                  <a:srgbClr val="003F6B"/>
                </a:solidFill>
              </a:defRPr>
            </a:pPr>
            <a:r>
              <a:rPr sz="735" b="1">
                <a:solidFill>
                  <a:srgbClr val="003F6B"/>
                </a:solidFill>
              </a:rPr>
              <a:t>BGH · 06.07.2016 · XII ZB 61/16</a:t>
            </a:r>
          </a:p>
        </p:txBody>
      </p:sp>
      <p:sp>
        <p:nvSpPr>
          <p:cNvPr id="22" name="">
            <a:extLst xmlns:a="http://schemas.openxmlformats.org/drawingml/2006/main">
              <a:ext uri="{FF2B5EF4-FFF2-40B4-BE49-F238E27FC236}">
                <a16:creationId xmlns:a16="http://schemas.microsoft.com/office/drawing/2014/main" id="{FF99E471-9662-48BE-A55E-259CE785B297}"/>
              </a:ext>
            </a:extLst>
          </p:cNvPr>
          <p:cNvSpPr>
            <a:spLocks xmlns:a="http://schemas.openxmlformats.org/drawingml/2006/main" noGrp="1"/>
          </p:cNvSpPr>
          <p:nvPr/>
        </p:nvSpPr>
        <p:spPr>
          <a:xfrm xmlns:a="http://schemas.openxmlformats.org/drawingml/2006/main">
            <a:off x="6858000" y="2476500"/>
            <a:ext cx="430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15" b="1">
                <a:solidFill>
                  <a:srgbClr val="003F6B"/>
                </a:solidFill>
              </a:defRPr>
            </a:pPr>
            <a:r>
              <a:rPr sz="1215" b="1">
                <a:solidFill>
                  <a:srgbClr val="003F6B"/>
                </a:solidFill>
              </a:rPr>
              <a:t>Patientenverfügung muss Behandlungssituation konkret erfassen</a:t>
            </a:r>
          </a:p>
        </p:txBody>
      </p:sp>
      <p:sp>
        <p:nvSpPr>
          <p:cNvPr id="23" name="">
            <a:extLst xmlns:a="http://schemas.openxmlformats.org/drawingml/2006/main">
              <a:ext uri="{FF2B5EF4-FFF2-40B4-BE49-F238E27FC236}">
                <a16:creationId xmlns:a16="http://schemas.microsoft.com/office/drawing/2014/main" id="{F4D31C4C-4629-4292-BFCC-949A7BBD8BAD}"/>
              </a:ext>
            </a:extLst>
          </p:cNvPr>
          <p:cNvSpPr>
            <a:spLocks xmlns:a="http://schemas.openxmlformats.org/drawingml/2006/main" noGrp="1"/>
          </p:cNvSpPr>
          <p:nvPr/>
        </p:nvSpPr>
        <p:spPr>
          <a:xfrm xmlns:a="http://schemas.openxmlformats.org/drawingml/2006/main">
            <a:off x="6858000" y="29908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B2BB"/>
                </a:solidFill>
              </a:defRPr>
            </a:pPr>
            <a:r>
              <a:rPr sz="713" b="1">
                <a:solidFill>
                  <a:srgbClr val="00B2BB"/>
                </a:solidFill>
              </a:rPr>
              <a:t>TENOR / LEITSATZKERN</a:t>
            </a:r>
          </a:p>
        </p:txBody>
      </p:sp>
      <p:sp>
        <p:nvSpPr>
          <p:cNvPr id="24" name="">
            <a:extLst xmlns:a="http://schemas.openxmlformats.org/drawingml/2006/main">
              <a:ext uri="{FF2B5EF4-FFF2-40B4-BE49-F238E27FC236}">
                <a16:creationId xmlns:a16="http://schemas.microsoft.com/office/drawing/2014/main" id="{CB101533-CD47-4205-96CC-BBED279893F2}"/>
              </a:ext>
            </a:extLst>
          </p:cNvPr>
          <p:cNvSpPr>
            <a:spLocks xmlns:a="http://schemas.openxmlformats.org/drawingml/2006/main" noGrp="1"/>
          </p:cNvSpPr>
          <p:nvPr/>
        </p:nvSpPr>
        <p:spPr>
          <a:xfrm xmlns:a="http://schemas.openxmlformats.org/drawingml/2006/main">
            <a:off x="6858000" y="3181350"/>
            <a:ext cx="43053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55">
                <a:solidFill>
                  <a:srgbClr val="15232B"/>
                </a:solidFill>
              </a:defRPr>
            </a:pPr>
            <a:r>
              <a:rPr sz="855">
                <a:solidFill>
                  <a:srgbClr val="15232B"/>
                </a:solidFill>
              </a:rPr>
              <a:t>Die bloße Formel, keine lebenserhaltenden Maßnahmen zu wünschen, bindet nicht ohne hinreichende Konkretisierung von Behandlung und Lebenssituation.</a:t>
            </a:r>
          </a:p>
        </p:txBody>
      </p:sp>
      <p:sp>
        <p:nvSpPr>
          <p:cNvPr id="25" name="">
            <a:extLst xmlns:a="http://schemas.openxmlformats.org/drawingml/2006/main">
              <a:ext uri="{FF2B5EF4-FFF2-40B4-BE49-F238E27FC236}">
                <a16:creationId xmlns:a16="http://schemas.microsoft.com/office/drawing/2014/main" id="{0B48B0B6-D289-417E-983B-496DD682D82E}"/>
              </a:ext>
            </a:extLst>
          </p:cNvPr>
          <p:cNvSpPr>
            <a:spLocks xmlns:a="http://schemas.openxmlformats.org/drawingml/2006/main" noGrp="1"/>
          </p:cNvSpPr>
          <p:nvPr/>
        </p:nvSpPr>
        <p:spPr>
          <a:xfrm xmlns:a="http://schemas.openxmlformats.org/drawingml/2006/main">
            <a:off x="6858000" y="381000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3F6B"/>
                </a:solidFill>
              </a:defRPr>
            </a:pPr>
            <a:r>
              <a:rPr sz="713" b="1">
                <a:solidFill>
                  <a:srgbClr val="003F6B"/>
                </a:solidFill>
              </a:rPr>
              <a:t>TRAGENDE AUSSAGE</a:t>
            </a:r>
          </a:p>
        </p:txBody>
      </p:sp>
      <p:sp>
        <p:nvSpPr>
          <p:cNvPr id="26" name="">
            <a:extLst xmlns:a="http://schemas.openxmlformats.org/drawingml/2006/main">
              <a:ext uri="{FF2B5EF4-FFF2-40B4-BE49-F238E27FC236}">
                <a16:creationId xmlns:a16="http://schemas.microsoft.com/office/drawing/2014/main" id="{96BADE32-E7DF-4B25-8204-9880C9DAEA4E}"/>
              </a:ext>
            </a:extLst>
          </p:cNvPr>
          <p:cNvSpPr>
            <a:spLocks xmlns:a="http://schemas.openxmlformats.org/drawingml/2006/main" noGrp="1"/>
          </p:cNvSpPr>
          <p:nvPr/>
        </p:nvSpPr>
        <p:spPr>
          <a:xfrm xmlns:a="http://schemas.openxmlformats.org/drawingml/2006/main">
            <a:off x="6858000" y="4000500"/>
            <a:ext cx="43053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10">
                <a:solidFill>
                  <a:srgbClr val="15232B"/>
                </a:solidFill>
              </a:defRPr>
            </a:pPr>
            <a:r>
              <a:rPr sz="810">
                <a:solidFill>
                  <a:srgbClr val="15232B"/>
                </a:solidFill>
              </a:rPr>
              <a:t>Konkretisierung kann sich aus dem Gesamtzusammenhang der Erklärung und weiteren Äußerungen ergeben; starre medizinische Detailkenntnis wird nicht verlangt.</a:t>
            </a:r>
          </a:p>
        </p:txBody>
      </p:sp>
      <p:sp>
        <p:nvSpPr>
          <p:cNvPr id="27" name="">
            <a:extLst xmlns:a="http://schemas.openxmlformats.org/drawingml/2006/main">
              <a:ext uri="{FF2B5EF4-FFF2-40B4-BE49-F238E27FC236}">
                <a16:creationId xmlns:a16="http://schemas.microsoft.com/office/drawing/2014/main" id="{DBAEDDF1-06DD-461E-8B32-E38CC6236EA5}"/>
              </a:ext>
            </a:extLst>
          </p:cNvPr>
          <p:cNvSpPr>
            <a:spLocks xmlns:a="http://schemas.openxmlformats.org/drawingml/2006/main" noGrp="1"/>
          </p:cNvSpPr>
          <p:nvPr/>
        </p:nvSpPr>
        <p:spPr>
          <a:xfrm xmlns:a="http://schemas.openxmlformats.org/drawingml/2006/main">
            <a:off x="6858000" y="4572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B2BB"/>
                </a:solidFill>
              </a:defRPr>
            </a:pPr>
            <a:r>
              <a:rPr sz="713" b="1">
                <a:solidFill>
                  <a:srgbClr val="00B2BB"/>
                </a:solidFill>
              </a:rPr>
              <a:t>PRAXIS</a:t>
            </a:r>
          </a:p>
        </p:txBody>
      </p:sp>
      <p:sp>
        <p:nvSpPr>
          <p:cNvPr id="28" name="">
            <a:extLst xmlns:a="http://schemas.openxmlformats.org/drawingml/2006/main">
              <a:ext uri="{FF2B5EF4-FFF2-40B4-BE49-F238E27FC236}">
                <a16:creationId xmlns:a16="http://schemas.microsoft.com/office/drawing/2014/main" id="{E689972F-73FB-4C17-B0B2-39797D538A23}"/>
              </a:ext>
            </a:extLst>
          </p:cNvPr>
          <p:cNvSpPr>
            <a:spLocks xmlns:a="http://schemas.openxmlformats.org/drawingml/2006/main" noGrp="1"/>
          </p:cNvSpPr>
          <p:nvPr/>
        </p:nvSpPr>
        <p:spPr>
          <a:xfrm xmlns:a="http://schemas.openxmlformats.org/drawingml/2006/main">
            <a:off x="7467600" y="4552950"/>
            <a:ext cx="3695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765">
                <a:solidFill>
                  <a:srgbClr val="15232B"/>
                </a:solidFill>
              </a:defRPr>
            </a:pPr>
            <a:r>
              <a:rPr sz="765">
                <a:solidFill>
                  <a:srgbClr val="15232B"/>
                </a:solidFill>
              </a:rPr>
              <a:t>Patientenverfügungen nicht mit einem Satz abhaken: Maßnahmen, Situationen und ergänzende Wertäußerungen gemeinsam auslegen.</a:t>
            </a:r>
          </a:p>
        </p:txBody>
      </p:sp>
      <p:sp>
        <p:nvSpPr>
          <p:cNvPr id="29" name="">
            <a:extLst xmlns:a="http://schemas.openxmlformats.org/drawingml/2006/main">
              <a:ext uri="{FF2B5EF4-FFF2-40B4-BE49-F238E27FC236}">
                <a16:creationId xmlns:a16="http://schemas.microsoft.com/office/drawing/2014/main" id="{027E9A81-081E-4870-B963-A22F77A1CFCE}"/>
              </a:ext>
            </a:extLst>
          </p:cNvPr>
          <p:cNvSpPr>
            <a:spLocks xmlns:a="http://schemas.openxmlformats.org/drawingml/2006/main" noGrp="1"/>
          </p:cNvSpPr>
          <p:nvPr/>
        </p:nvSpPr>
        <p:spPr>
          <a:xfrm xmlns:a="http://schemas.openxmlformats.org/drawingml/2006/main">
            <a:off x="6858000" y="4962525"/>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615">
                <a:solidFill>
                  <a:srgbClr val="667680"/>
                </a:solidFill>
              </a:defRPr>
            </a:pPr>
            <a:r>
              <a:rPr sz="615">
                <a:solidFill>
                  <a:srgbClr val="667680"/>
                </a:solidFill>
              </a:rPr>
              <a:t>20. Grundsatzentscheidung zur Bestimmtheit nach § 1901a BGB a.F.; heute § 1827 BGB.</a:t>
            </a:r>
          </a:p>
        </p:txBody>
      </p:sp>
      <p:sp>
        <p:nvSpPr>
          <p:cNvPr id="30" name="">
            <a:extLst xmlns:a="http://schemas.openxmlformats.org/drawingml/2006/main">
              <a:ext uri="{FF2B5EF4-FFF2-40B4-BE49-F238E27FC236}">
                <a16:creationId xmlns:a16="http://schemas.microsoft.com/office/drawing/2014/main" id="{D570C76A-A6FF-4C28-BCC0-DD648C2BB3AD}"/>
              </a:ext>
            </a:extLst>
          </p:cNvPr>
          <p:cNvSpPr>
            <a:spLocks xmlns:a="http://schemas.openxmlformats.org/drawingml/2006/main" noGrp="1"/>
          </p:cNvSpPr>
          <p:nvPr/>
        </p:nvSpPr>
        <p:spPr>
          <a:xfrm xmlns:a="http://schemas.openxmlformats.org/drawingml/2006/main">
            <a:off x="1809750" y="5314950"/>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495">
                <a:solidFill>
                  <a:srgbClr val="667680"/>
                </a:solidFill>
              </a:defRPr>
            </a:pPr>
            <a:r>
              <a:rPr sz="495">
                <a:solidFill>
                  <a:srgbClr val="667680"/>
                </a:solidFill>
              </a:rPr>
              <a:t>Originalquellen: https://juris.bundesgerichtshof.de/cgi-bin/rechtsprechung/document.py?Art=en&amp;Blank=1.pdf&amp;Gericht=bgh&amp;anz=2&amp;nr=52999&amp;pos=1&amp;sid=59e71abacc0d791b04c31d71800b71af · https://juris.bundesgerichtshof.de/cgi-bin/rechtsprechung/document.py?Art=pm&amp;Blank=1&amp;Datum=2016&amp;Gericht=bgh&amp;Sort=3&amp;anz=136&amp;file=dokument.pdf&amp;linked=bes&amp;nr=75565&amp;pos=0</a:t>
            </a:r>
          </a:p>
        </p:txBody>
      </p:sp>
    </p:spTree>
    <p:extLst>
      <p:ext uri="{BB962C8B-B14F-4D97-AF65-F5344CB8AC3E}">
        <p14:creationId xmlns:p14="http://schemas.microsoft.com/office/powerpoint/2010/main" val="43637646"/>
      </p:ext>
    </p:extLst>
  </p:cSld>
</p:sld>
</file>

<file path=ppt/slides/slide437.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 217 StGB nichtig: Recht auf selbstbestimmtes Sterben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LEITENTSCHEIDUNG · 11/20 · BVERFG</a:t>
            </a:r>
            <a:endParaRPr/>
          </a:p>
        </p:txBody>
      </p:sp>
      <p:sp>
        <p:nvSpPr>
          <p:cNvPr id="4" name="">
            <a:extLst xmlns:a="http://schemas.openxmlformats.org/drawingml/2006/main">
              <a:ext uri="{FF2B5EF4-FFF2-40B4-BE49-F238E27FC236}">
                <a16:creationId xmlns:a16="http://schemas.microsoft.com/office/drawing/2014/main" id="{0B76ECD0-5A79-4197-A92B-0B9C5388F332}"/>
              </a:ext>
            </a:extLst>
          </p:cNvPr>
          <p:cNvSpPr>
            <a:spLocks xmlns:a="http://schemas.openxmlformats.org/drawingml/2006/main" noGrp="1"/>
          </p:cNvSpPr>
          <p:nvPr/>
        </p:nvSpPr>
        <p:spPr>
          <a:xfrm xmlns:a="http://schemas.openxmlformats.org/drawingml/2006/main">
            <a:off x="1809750" y="1943100"/>
            <a:ext cx="1066800" cy="342900"/>
          </a:xfrm>
          <a:prstGeom xmlns:a="http://schemas.openxmlformats.org/drawingml/2006/main" prst="roundRect">
            <a:avLst>
              <a:gd name="adj" fmla="val 22222"/>
            </a:avLst>
          </a:prstGeom>
          <a:solidFill xmlns:a="http://schemas.openxmlformats.org/drawingml/2006/main">
            <a:srgbClr val="003F6B"/>
          </a:solidFill>
          <a:ln xmlns:a="http://schemas.openxmlformats.org/drawingml/2006/main" w="0">
            <a:solidFill>
              <a:srgbClr val="003F6B"/>
            </a:solidFill>
            <a:prstDash val="solid"/>
          </a:ln>
        </p:spPr>
      </p:sp>
      <p:sp>
        <p:nvSpPr>
          <p:cNvPr id="5" name="">
            <a:extLst xmlns:a="http://schemas.openxmlformats.org/drawingml/2006/main">
              <a:ext uri="{FF2B5EF4-FFF2-40B4-BE49-F238E27FC236}">
                <a16:creationId xmlns:a16="http://schemas.microsoft.com/office/drawing/2014/main" id="{1E7044B6-C0B7-4ED6-BCEA-6778AB9F0129}"/>
              </a:ext>
            </a:extLst>
          </p:cNvPr>
          <p:cNvSpPr>
            <a:spLocks xmlns:a="http://schemas.openxmlformats.org/drawingml/2006/main" noGrp="1"/>
          </p:cNvSpPr>
          <p:nvPr/>
        </p:nvSpPr>
        <p:spPr>
          <a:xfrm xmlns:a="http://schemas.openxmlformats.org/drawingml/2006/main">
            <a:off x="1809750" y="1943100"/>
            <a:ext cx="1066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40" b="1">
                <a:solidFill>
                  <a:srgbClr val="FFFFFF"/>
                </a:solidFill>
              </a:defRPr>
            </a:pPr>
            <a:r>
              <a:rPr sz="840" b="1">
                <a:solidFill>
                  <a:srgbClr val="FFFFFF"/>
                </a:solidFill>
              </a:rPr>
              <a:t>BVERFG</a:t>
            </a:r>
          </a:p>
        </p:txBody>
      </p:sp>
      <p:sp>
        <p:nvSpPr>
          <p:cNvPr id="6" name="">
            <a:extLst xmlns:a="http://schemas.openxmlformats.org/drawingml/2006/main">
              <a:ext uri="{FF2B5EF4-FFF2-40B4-BE49-F238E27FC236}">
                <a16:creationId xmlns:a16="http://schemas.microsoft.com/office/drawing/2014/main" id="{FDB80DEE-F390-4BB1-8D2C-17245EF9C156}"/>
              </a:ext>
            </a:extLst>
          </p:cNvPr>
          <p:cNvSpPr>
            <a:spLocks xmlns:a="http://schemas.openxmlformats.org/drawingml/2006/main" noGrp="1"/>
          </p:cNvSpPr>
          <p:nvPr/>
        </p:nvSpPr>
        <p:spPr>
          <a:xfrm xmlns:a="http://schemas.openxmlformats.org/drawingml/2006/main">
            <a:off x="3067050" y="1943100"/>
            <a:ext cx="3714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1200" b="1">
                <a:solidFill>
                  <a:srgbClr val="003F6B"/>
                </a:solidFill>
              </a:defRPr>
            </a:pPr>
            <a:r>
              <a:rPr sz="1200" b="1">
                <a:solidFill>
                  <a:srgbClr val="003F6B"/>
                </a:solidFill>
              </a:rPr>
              <a:t>26.02.2020 · 2 BvR 2347/15 u. a.</a:t>
            </a:r>
          </a:p>
        </p:txBody>
      </p:sp>
      <p:sp>
        <p:nvSpPr>
          <p:cNvPr id="7" name="">
            <a:extLst xmlns:a="http://schemas.openxmlformats.org/drawingml/2006/main">
              <a:ext uri="{FF2B5EF4-FFF2-40B4-BE49-F238E27FC236}">
                <a16:creationId xmlns:a16="http://schemas.microsoft.com/office/drawing/2014/main" id="{33CA61A2-F09A-4449-8274-BCED734868EE}"/>
              </a:ext>
            </a:extLst>
          </p:cNvPr>
          <p:cNvSpPr>
            <a:spLocks xmlns:a="http://schemas.openxmlformats.org/drawingml/2006/main" noGrp="1"/>
          </p:cNvSpPr>
          <p:nvPr/>
        </p:nvSpPr>
        <p:spPr>
          <a:xfrm xmlns:a="http://schemas.openxmlformats.org/drawingml/2006/main">
            <a:off x="9048750" y="1943100"/>
            <a:ext cx="228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00B2BB"/>
                </a:solidFill>
              </a:defRPr>
            </a:pPr>
            <a:r>
              <a:rPr sz="1050" b="1">
                <a:solidFill>
                  <a:srgbClr val="00B2BB"/>
                </a:solidFill>
              </a:rPr>
              <a:t>Pflichtentscheidung</a:t>
            </a:r>
          </a:p>
        </p:txBody>
      </p:sp>
      <p:sp>
        <p:nvSpPr>
          <p:cNvPr id="8" name="">
            <a:extLst xmlns:a="http://schemas.openxmlformats.org/drawingml/2006/main">
              <a:ext uri="{FF2B5EF4-FFF2-40B4-BE49-F238E27FC236}">
                <a16:creationId xmlns:a16="http://schemas.microsoft.com/office/drawing/2014/main" id="{BAA612EF-72FB-44BB-91AF-AFB45A893EA7}"/>
              </a:ext>
            </a:extLst>
          </p:cNvPr>
          <p:cNvSpPr>
            <a:spLocks xmlns:a="http://schemas.openxmlformats.org/drawingml/2006/main" noGrp="1"/>
          </p:cNvSpPr>
          <p:nvPr/>
        </p:nvSpPr>
        <p:spPr>
          <a:xfrm xmlns:a="http://schemas.openxmlformats.org/drawingml/2006/main">
            <a:off x="1809750" y="2457450"/>
            <a:ext cx="4648200" cy="1085850"/>
          </a:xfrm>
          <a:prstGeom xmlns:a="http://schemas.openxmlformats.org/drawingml/2006/main" prst="roundRect">
            <a:avLst>
              <a:gd name="adj" fmla="val 7018"/>
            </a:avLst>
          </a:prstGeom>
          <a:solidFill xmlns:a="http://schemas.openxmlformats.org/drawingml/2006/main">
            <a:srgbClr val="DDF5F6"/>
          </a:solidFill>
          <a:ln xmlns:a="http://schemas.openxmlformats.org/drawingml/2006/main" w="10478">
            <a:solidFill>
              <a:srgbClr val="003F6B"/>
            </a:solidFill>
            <a:prstDash val="solid"/>
          </a:ln>
        </p:spPr>
      </p:sp>
      <p:sp>
        <p:nvSpPr>
          <p:cNvPr id="9" name="">
            <a:extLst xmlns:a="http://schemas.openxmlformats.org/drawingml/2006/main">
              <a:ext uri="{FF2B5EF4-FFF2-40B4-BE49-F238E27FC236}">
                <a16:creationId xmlns:a16="http://schemas.microsoft.com/office/drawing/2014/main" id="{5CA7016C-4AF5-46AD-80DB-6CDE537E0B47}"/>
              </a:ext>
            </a:extLst>
          </p:cNvPr>
          <p:cNvSpPr>
            <a:spLocks xmlns:a="http://schemas.openxmlformats.org/drawingml/2006/main" noGrp="1"/>
          </p:cNvSpPr>
          <p:nvPr/>
        </p:nvSpPr>
        <p:spPr>
          <a:xfrm xmlns:a="http://schemas.openxmlformats.org/drawingml/2006/main">
            <a:off x="1981200" y="2590800"/>
            <a:ext cx="430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65" b="1">
                <a:solidFill>
                  <a:srgbClr val="003F6B"/>
                </a:solidFill>
              </a:defRPr>
            </a:pPr>
            <a:r>
              <a:rPr sz="765" b="1">
                <a:solidFill>
                  <a:srgbClr val="003F6B"/>
                </a:solidFill>
              </a:rPr>
              <a:t>TENOR (KERNSATZ)</a:t>
            </a:r>
          </a:p>
        </p:txBody>
      </p:sp>
      <p:sp>
        <p:nvSpPr>
          <p:cNvPr id="10" name="">
            <a:extLst xmlns:a="http://schemas.openxmlformats.org/drawingml/2006/main">
              <a:ext uri="{FF2B5EF4-FFF2-40B4-BE49-F238E27FC236}">
                <a16:creationId xmlns:a16="http://schemas.microsoft.com/office/drawing/2014/main" id="{17C54127-0D4D-4F27-9754-89D76050E772}"/>
              </a:ext>
            </a:extLst>
          </p:cNvPr>
          <p:cNvSpPr>
            <a:spLocks xmlns:a="http://schemas.openxmlformats.org/drawingml/2006/main" noGrp="1"/>
          </p:cNvSpPr>
          <p:nvPr/>
        </p:nvSpPr>
        <p:spPr>
          <a:xfrm xmlns:a="http://schemas.openxmlformats.org/drawingml/2006/main">
            <a:off x="1981200" y="2828925"/>
            <a:ext cx="43053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15">
                <a:solidFill>
                  <a:srgbClr val="15232B"/>
                </a:solidFill>
              </a:defRPr>
            </a:pPr>
            <a:r>
              <a:rPr sz="915">
                <a:solidFill>
                  <a:srgbClr val="15232B"/>
                </a:solidFill>
              </a:rPr>
              <a:t>§ 217 StGB in der damaligen Fassung ist mit dem Grundgesetz unvereinbar und nichtig.</a:t>
            </a:r>
          </a:p>
        </p:txBody>
      </p:sp>
      <p:sp>
        <p:nvSpPr>
          <p:cNvPr id="11" name="">
            <a:extLst xmlns:a="http://schemas.openxmlformats.org/drawingml/2006/main">
              <a:ext uri="{FF2B5EF4-FFF2-40B4-BE49-F238E27FC236}">
                <a16:creationId xmlns:a16="http://schemas.microsoft.com/office/drawing/2014/main" id="{8470CAA8-C50B-4A2D-8554-4327344A03E9}"/>
              </a:ext>
            </a:extLst>
          </p:cNvPr>
          <p:cNvSpPr>
            <a:spLocks xmlns:a="http://schemas.openxmlformats.org/drawingml/2006/main" noGrp="1"/>
          </p:cNvSpPr>
          <p:nvPr/>
        </p:nvSpPr>
        <p:spPr>
          <a:xfrm xmlns:a="http://schemas.openxmlformats.org/drawingml/2006/main">
            <a:off x="6686550" y="2457450"/>
            <a:ext cx="4648200" cy="1085850"/>
          </a:xfrm>
          <a:prstGeom xmlns:a="http://schemas.openxmlformats.org/drawingml/2006/main" prst="roundRect">
            <a:avLst>
              <a:gd name="adj" fmla="val 7018"/>
            </a:avLst>
          </a:prstGeom>
          <a:solidFill xmlns:a="http://schemas.openxmlformats.org/drawingml/2006/main">
            <a:srgbClr val="F3F7F9"/>
          </a:solidFill>
          <a:ln xmlns:a="http://schemas.openxmlformats.org/drawingml/2006/main" w="10478">
            <a:solidFill>
              <a:srgbClr val="00B2BB"/>
            </a:solidFill>
            <a:prstDash val="solid"/>
          </a:ln>
        </p:spPr>
      </p:sp>
      <p:sp>
        <p:nvSpPr>
          <p:cNvPr id="12" name="">
            <a:extLst xmlns:a="http://schemas.openxmlformats.org/drawingml/2006/main">
              <a:ext uri="{FF2B5EF4-FFF2-40B4-BE49-F238E27FC236}">
                <a16:creationId xmlns:a16="http://schemas.microsoft.com/office/drawing/2014/main" id="{017CD727-6AA5-421F-8F1B-2BFD2406BB14}"/>
              </a:ext>
            </a:extLst>
          </p:cNvPr>
          <p:cNvSpPr>
            <a:spLocks xmlns:a="http://schemas.openxmlformats.org/drawingml/2006/main" noGrp="1"/>
          </p:cNvSpPr>
          <p:nvPr/>
        </p:nvSpPr>
        <p:spPr>
          <a:xfrm xmlns:a="http://schemas.openxmlformats.org/drawingml/2006/main">
            <a:off x="6858000" y="2590800"/>
            <a:ext cx="430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65" b="1">
                <a:solidFill>
                  <a:srgbClr val="00B2BB"/>
                </a:solidFill>
              </a:defRPr>
            </a:pPr>
            <a:r>
              <a:rPr sz="765" b="1">
                <a:solidFill>
                  <a:srgbClr val="00B2BB"/>
                </a:solidFill>
              </a:rPr>
              <a:t>VERFASSUNGSRECHTLICHE AUSSAGE</a:t>
            </a:r>
          </a:p>
        </p:txBody>
      </p:sp>
      <p:sp>
        <p:nvSpPr>
          <p:cNvPr id="13" name="">
            <a:extLst xmlns:a="http://schemas.openxmlformats.org/drawingml/2006/main">
              <a:ext uri="{FF2B5EF4-FFF2-40B4-BE49-F238E27FC236}">
                <a16:creationId xmlns:a16="http://schemas.microsoft.com/office/drawing/2014/main" id="{8180BB1E-EF8A-404A-B5A6-97D47FA8CB7A}"/>
              </a:ext>
            </a:extLst>
          </p:cNvPr>
          <p:cNvSpPr>
            <a:spLocks xmlns:a="http://schemas.openxmlformats.org/drawingml/2006/main" noGrp="1"/>
          </p:cNvSpPr>
          <p:nvPr/>
        </p:nvSpPr>
        <p:spPr>
          <a:xfrm xmlns:a="http://schemas.openxmlformats.org/drawingml/2006/main">
            <a:off x="6858000" y="2828925"/>
            <a:ext cx="43053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15">
                <a:solidFill>
                  <a:srgbClr val="15232B"/>
                </a:solidFill>
              </a:defRPr>
            </a:pPr>
            <a:r>
              <a:rPr sz="915">
                <a:solidFill>
                  <a:srgbClr val="15232B"/>
                </a:solidFill>
              </a:rPr>
              <a:t>Das allgemeine Persönlichkeitsrecht umfasst die Freiheit, über das eigene Lebensende zu entscheiden, das Leben eigenhändig zu beenden und hierfür freiwillige Hilfe Dritter zu suchen und anzunehmen.</a:t>
            </a:r>
          </a:p>
        </p:txBody>
      </p:sp>
      <p:sp>
        <p:nvSpPr>
          <p:cNvPr id="14" name="">
            <a:extLst xmlns:a="http://schemas.openxmlformats.org/drawingml/2006/main">
              <a:ext uri="{FF2B5EF4-FFF2-40B4-BE49-F238E27FC236}">
                <a16:creationId xmlns:a16="http://schemas.microsoft.com/office/drawing/2014/main" id="{A935ABE8-3E80-47F6-9907-D319EC37E97C}"/>
              </a:ext>
            </a:extLst>
          </p:cNvPr>
          <p:cNvSpPr>
            <a:spLocks xmlns:a="http://schemas.openxmlformats.org/drawingml/2006/main" noGrp="1"/>
          </p:cNvSpPr>
          <p:nvPr/>
        </p:nvSpPr>
        <p:spPr>
          <a:xfrm xmlns:a="http://schemas.openxmlformats.org/drawingml/2006/main">
            <a:off x="1809750" y="3714750"/>
            <a:ext cx="4648200" cy="1085850"/>
          </a:xfrm>
          <a:prstGeom xmlns:a="http://schemas.openxmlformats.org/drawingml/2006/main" prst="roundRect">
            <a:avLst>
              <a:gd name="adj" fmla="val 7018"/>
            </a:avLst>
          </a:prstGeom>
          <a:solidFill xmlns:a="http://schemas.openxmlformats.org/drawingml/2006/main">
            <a:srgbClr val="F3F7F9"/>
          </a:solidFill>
          <a:ln xmlns:a="http://schemas.openxmlformats.org/drawingml/2006/main" w="10478">
            <a:solidFill>
              <a:srgbClr val="00B2BB"/>
            </a:solidFill>
            <a:prstDash val="solid"/>
          </a:ln>
        </p:spPr>
      </p:sp>
      <p:sp>
        <p:nvSpPr>
          <p:cNvPr id="15" name="">
            <a:extLst xmlns:a="http://schemas.openxmlformats.org/drawingml/2006/main">
              <a:ext uri="{FF2B5EF4-FFF2-40B4-BE49-F238E27FC236}">
                <a16:creationId xmlns:a16="http://schemas.microsoft.com/office/drawing/2014/main" id="{6707A88E-8A3E-46C2-AAFA-3F0A26EAFC9D}"/>
              </a:ext>
            </a:extLst>
          </p:cNvPr>
          <p:cNvSpPr>
            <a:spLocks xmlns:a="http://schemas.openxmlformats.org/drawingml/2006/main" noGrp="1"/>
          </p:cNvSpPr>
          <p:nvPr/>
        </p:nvSpPr>
        <p:spPr>
          <a:xfrm xmlns:a="http://schemas.openxmlformats.org/drawingml/2006/main">
            <a:off x="1981200" y="3848100"/>
            <a:ext cx="430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65" b="1">
                <a:solidFill>
                  <a:srgbClr val="00B2BB"/>
                </a:solidFill>
              </a:defRPr>
            </a:pPr>
            <a:r>
              <a:rPr sz="765" b="1">
                <a:solidFill>
                  <a:srgbClr val="00B2BB"/>
                </a:solidFill>
              </a:rPr>
              <a:t>PRAXISFOLGE</a:t>
            </a:r>
          </a:p>
        </p:txBody>
      </p:sp>
      <p:sp>
        <p:nvSpPr>
          <p:cNvPr id="16" name="">
            <a:extLst xmlns:a="http://schemas.openxmlformats.org/drawingml/2006/main">
              <a:ext uri="{FF2B5EF4-FFF2-40B4-BE49-F238E27FC236}">
                <a16:creationId xmlns:a16="http://schemas.microsoft.com/office/drawing/2014/main" id="{FB99DD44-9FD9-4CAE-A1CF-3C6BE7E313D3}"/>
              </a:ext>
            </a:extLst>
          </p:cNvPr>
          <p:cNvSpPr>
            <a:spLocks xmlns:a="http://schemas.openxmlformats.org/drawingml/2006/main" noGrp="1"/>
          </p:cNvSpPr>
          <p:nvPr/>
        </p:nvSpPr>
        <p:spPr>
          <a:xfrm xmlns:a="http://schemas.openxmlformats.org/drawingml/2006/main">
            <a:off x="1981200" y="4086225"/>
            <a:ext cx="43053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15">
                <a:solidFill>
                  <a:srgbClr val="15232B"/>
                </a:solidFill>
              </a:defRPr>
            </a:pPr>
            <a:r>
              <a:rPr sz="915">
                <a:solidFill>
                  <a:srgbClr val="15232B"/>
                </a:solidFill>
              </a:rPr>
              <a:t>Suizidwunsch, Einwilligungsfähigkeit, Freiverantwortlichkeit, Information, Alternativen und mögliche Drucklagen sorgfältig prüfen; aus der Nichtigkeit folgt weder ein Behandlungsanspruch noch eine individuelle Hilfspflicht.</a:t>
            </a:r>
          </a:p>
        </p:txBody>
      </p:sp>
      <p:sp>
        <p:nvSpPr>
          <p:cNvPr id="17" name="">
            <a:extLst xmlns:a="http://schemas.openxmlformats.org/drawingml/2006/main">
              <a:ext uri="{FF2B5EF4-FFF2-40B4-BE49-F238E27FC236}">
                <a16:creationId xmlns:a16="http://schemas.microsoft.com/office/drawing/2014/main" id="{C379381B-6F97-43A1-AA2C-7137473DDFB1}"/>
              </a:ext>
            </a:extLst>
          </p:cNvPr>
          <p:cNvSpPr>
            <a:spLocks xmlns:a="http://schemas.openxmlformats.org/drawingml/2006/main" noGrp="1"/>
          </p:cNvSpPr>
          <p:nvPr/>
        </p:nvSpPr>
        <p:spPr>
          <a:xfrm xmlns:a="http://schemas.openxmlformats.org/drawingml/2006/main">
            <a:off x="6686550" y="3714750"/>
            <a:ext cx="4648200" cy="1085850"/>
          </a:xfrm>
          <a:prstGeom xmlns:a="http://schemas.openxmlformats.org/drawingml/2006/main" prst="roundRect">
            <a:avLst>
              <a:gd name="adj" fmla="val 7018"/>
            </a:avLst>
          </a:prstGeom>
          <a:solidFill xmlns:a="http://schemas.openxmlformats.org/drawingml/2006/main">
            <a:srgbClr val="DDF5F6"/>
          </a:solidFill>
          <a:ln xmlns:a="http://schemas.openxmlformats.org/drawingml/2006/main" w="10478">
            <a:solidFill>
              <a:srgbClr val="003F6B"/>
            </a:solidFill>
            <a:prstDash val="solid"/>
          </a:ln>
        </p:spPr>
      </p:sp>
      <p:sp>
        <p:nvSpPr>
          <p:cNvPr id="18" name="">
            <a:extLst xmlns:a="http://schemas.openxmlformats.org/drawingml/2006/main">
              <a:ext uri="{FF2B5EF4-FFF2-40B4-BE49-F238E27FC236}">
                <a16:creationId xmlns:a16="http://schemas.microsoft.com/office/drawing/2014/main" id="{5967512C-87C6-48D2-99A7-61F217C255DD}"/>
              </a:ext>
            </a:extLst>
          </p:cNvPr>
          <p:cNvSpPr>
            <a:spLocks xmlns:a="http://schemas.openxmlformats.org/drawingml/2006/main" noGrp="1"/>
          </p:cNvSpPr>
          <p:nvPr/>
        </p:nvSpPr>
        <p:spPr>
          <a:xfrm xmlns:a="http://schemas.openxmlformats.org/drawingml/2006/main">
            <a:off x="6858000" y="3848100"/>
            <a:ext cx="430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65" b="1">
                <a:solidFill>
                  <a:srgbClr val="003F6B"/>
                </a:solidFill>
              </a:defRPr>
            </a:pPr>
            <a:r>
              <a:rPr sz="765" b="1">
                <a:solidFill>
                  <a:srgbClr val="003F6B"/>
                </a:solidFill>
              </a:rPr>
              <a:t>RECHTSSTAND</a:t>
            </a:r>
          </a:p>
        </p:txBody>
      </p:sp>
      <p:sp>
        <p:nvSpPr>
          <p:cNvPr id="19" name="">
            <a:extLst xmlns:a="http://schemas.openxmlformats.org/drawingml/2006/main">
              <a:ext uri="{FF2B5EF4-FFF2-40B4-BE49-F238E27FC236}">
                <a16:creationId xmlns:a16="http://schemas.microsoft.com/office/drawing/2014/main" id="{2D273857-61E4-4395-83B5-FF9C170C48ED}"/>
              </a:ext>
            </a:extLst>
          </p:cNvPr>
          <p:cNvSpPr>
            <a:spLocks xmlns:a="http://schemas.openxmlformats.org/drawingml/2006/main" noGrp="1"/>
          </p:cNvSpPr>
          <p:nvPr/>
        </p:nvSpPr>
        <p:spPr>
          <a:xfrm xmlns:a="http://schemas.openxmlformats.org/drawingml/2006/main">
            <a:off x="6858000" y="4086225"/>
            <a:ext cx="43053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15">
                <a:solidFill>
                  <a:srgbClr val="15232B"/>
                </a:solidFill>
              </a:defRPr>
            </a:pPr>
            <a:r>
              <a:rPr sz="915">
                <a:solidFill>
                  <a:srgbClr val="15232B"/>
                </a:solidFill>
              </a:rPr>
              <a:t>§ 217 StGB wird im Gesetzesportal noch mit Nichtigkeitsvermerk angezeigt, ist aber nicht anwendbar; 2023 scheiterten neue Entwürfe im Bundestag.</a:t>
            </a:r>
          </a:p>
        </p:txBody>
      </p:sp>
      <p:sp>
        <p:nvSpPr>
          <p:cNvPr id="20" name="">
            <a:extLst xmlns:a="http://schemas.openxmlformats.org/drawingml/2006/main">
              <a:ext uri="{FF2B5EF4-FFF2-40B4-BE49-F238E27FC236}">
                <a16:creationId xmlns:a16="http://schemas.microsoft.com/office/drawing/2014/main" id="{ED67F542-7F38-4081-B7CA-373635A4543E}"/>
              </a:ext>
            </a:extLst>
          </p:cNvPr>
          <p:cNvSpPr>
            <a:spLocks xmlns:a="http://schemas.openxmlformats.org/drawingml/2006/main" noGrp="1"/>
          </p:cNvSpPr>
          <p:nvPr/>
        </p:nvSpPr>
        <p:spPr>
          <a:xfrm xmlns:a="http://schemas.openxmlformats.org/drawingml/2006/main">
            <a:off x="2209800" y="4933950"/>
            <a:ext cx="8724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38" b="1">
                <a:solidFill>
                  <a:srgbClr val="003F6B"/>
                </a:solidFill>
              </a:defRPr>
            </a:pPr>
            <a:r>
              <a:rPr sz="938" b="1">
                <a:solidFill>
                  <a:srgbClr val="003F6B"/>
                </a:solidFill>
              </a:rPr>
              <a:t>Prüfung: Schutzbereich → Eingriff durch Verbot → Verhältnismäßigkeit; keine Aussage, dass jede konkrete Suizidhilfe zulässig oder ärztlich geboten wäre.</a:t>
            </a:r>
          </a:p>
        </p:txBody>
      </p:sp>
      <p:sp>
        <p:nvSpPr>
          <p:cNvPr id="21" name="">
            <a:extLst xmlns:a="http://schemas.openxmlformats.org/drawingml/2006/main">
              <a:ext uri="{FF2B5EF4-FFF2-40B4-BE49-F238E27FC236}">
                <a16:creationId xmlns:a16="http://schemas.microsoft.com/office/drawing/2014/main" id="{EC00F127-F36B-4D38-BBF4-0A29F81D7311}"/>
              </a:ext>
            </a:extLst>
          </p:cNvPr>
          <p:cNvSpPr>
            <a:spLocks xmlns:a="http://schemas.openxmlformats.org/drawingml/2006/main" noGrp="1"/>
          </p:cNvSpPr>
          <p:nvPr/>
        </p:nvSpPr>
        <p:spPr>
          <a:xfrm xmlns:a="http://schemas.openxmlformats.org/drawingml/2006/main">
            <a:off x="1809750" y="5314950"/>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675">
                <a:solidFill>
                  <a:srgbClr val="667680"/>
                </a:solidFill>
              </a:defRPr>
            </a:pPr>
            <a:r>
              <a:rPr sz="675">
                <a:solidFill>
                  <a:srgbClr val="667680"/>
                </a:solidFill>
              </a:rPr>
              <a:t>BVerfG, Urteil vom 26.02.2020, 2 BvR 2347/15 u. a. · https://www.bundesverfassungsgericht.de/SharedDocs/Entscheidungen/DE/2020/02/rs20200226_2bvr234715.html</a:t>
            </a:r>
          </a:p>
        </p:txBody>
      </p:sp>
    </p:spTree>
    <p:extLst>
      <p:ext uri="{BB962C8B-B14F-4D97-AF65-F5344CB8AC3E}">
        <p14:creationId xmlns:p14="http://schemas.microsoft.com/office/powerpoint/2010/main" val="43637646"/>
      </p:ext>
    </p:extLst>
  </p:cSld>
</p:sld>
</file>

<file path=ppt/slides/slide438.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Lebensende &amp; Patientenwille · Suizidhilfe &amp; Selbstbestimmung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LEITENTSCHEIDUNGEN · 12/20</a:t>
            </a:r>
            <a:endParaRPr/>
          </a:p>
        </p:txBody>
      </p:sp>
      <p:sp>
        <p:nvSpPr>
          <p:cNvPr id="4" name="">
            <a:extLst xmlns:a="http://schemas.openxmlformats.org/drawingml/2006/main">
              <a:ext uri="{FF2B5EF4-FFF2-40B4-BE49-F238E27FC236}">
                <a16:creationId xmlns:a16="http://schemas.microsoft.com/office/drawing/2014/main" id="{C1CEA047-4BDB-4914-AF77-1044FF3E45CF}"/>
              </a:ext>
            </a:extLst>
          </p:cNvPr>
          <p:cNvSpPr>
            <a:spLocks xmlns:a="http://schemas.openxmlformats.org/drawingml/2006/main" noGrp="1"/>
          </p:cNvSpPr>
          <p:nvPr/>
        </p:nvSpPr>
        <p:spPr>
          <a:xfrm xmlns:a="http://schemas.openxmlformats.org/drawingml/2006/main">
            <a:off x="1809750" y="1943100"/>
            <a:ext cx="4648200" cy="3238500"/>
          </a:xfrm>
          <a:prstGeom xmlns:a="http://schemas.openxmlformats.org/drawingml/2006/main" prst="roundRect">
            <a:avLst>
              <a:gd name="adj" fmla="val 2353"/>
            </a:avLst>
          </a:prstGeom>
          <a:solidFill xmlns:a="http://schemas.openxmlformats.org/drawingml/2006/main">
            <a:srgbClr val="FFFFFF"/>
          </a:solidFill>
          <a:ln xmlns:a="http://schemas.openxmlformats.org/drawingml/2006/main" w="10478">
            <a:solidFill>
              <a:srgbClr val="B9CAD2"/>
            </a:solidFill>
            <a:prstDash val="solid"/>
          </a:ln>
        </p:spPr>
      </p:sp>
      <p:sp>
        <p:nvSpPr>
          <p:cNvPr id="5" name="">
            <a:extLst xmlns:a="http://schemas.openxmlformats.org/drawingml/2006/main">
              <a:ext uri="{FF2B5EF4-FFF2-40B4-BE49-F238E27FC236}">
                <a16:creationId xmlns:a16="http://schemas.microsoft.com/office/drawing/2014/main" id="{55C0F9AB-4AC6-4A79-8138-33537EEBD5E8}"/>
              </a:ext>
            </a:extLst>
          </p:cNvPr>
          <p:cNvSpPr>
            <a:spLocks xmlns:a="http://schemas.openxmlformats.org/drawingml/2006/main" noGrp="1"/>
          </p:cNvSpPr>
          <p:nvPr/>
        </p:nvSpPr>
        <p:spPr>
          <a:xfrm xmlns:a="http://schemas.openxmlformats.org/drawingml/2006/main">
            <a:off x="1809750" y="1943100"/>
            <a:ext cx="4648200" cy="85725"/>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D81DD6FF-3937-48FB-90BD-DE58B9228008}"/>
              </a:ext>
            </a:extLst>
          </p:cNvPr>
          <p:cNvSpPr>
            <a:spLocks xmlns:a="http://schemas.openxmlformats.org/drawingml/2006/main" noGrp="1"/>
          </p:cNvSpPr>
          <p:nvPr/>
        </p:nvSpPr>
        <p:spPr>
          <a:xfrm xmlns:a="http://schemas.openxmlformats.org/drawingml/2006/main">
            <a:off x="1962150" y="2133600"/>
            <a:ext cx="1066800" cy="266700"/>
          </a:xfrm>
          <a:prstGeom xmlns:a="http://schemas.openxmlformats.org/drawingml/2006/main" prst="roundRect">
            <a:avLst>
              <a:gd name="adj" fmla="val 28571"/>
            </a:avLst>
          </a:prstGeom>
          <a:solidFill xmlns:a="http://schemas.openxmlformats.org/drawingml/2006/main">
            <a:srgbClr val="00B2BB"/>
          </a:solidFill>
          <a:ln xmlns:a="http://schemas.openxmlformats.org/drawingml/2006/main" w="0">
            <a:solidFill>
              <a:srgbClr val="00B2BB"/>
            </a:solidFill>
            <a:prstDash val="solid"/>
          </a:ln>
        </p:spPr>
      </p:sp>
      <p:sp>
        <p:nvSpPr>
          <p:cNvPr id="7" name="">
            <a:extLst xmlns:a="http://schemas.openxmlformats.org/drawingml/2006/main">
              <a:ext uri="{FF2B5EF4-FFF2-40B4-BE49-F238E27FC236}">
                <a16:creationId xmlns:a16="http://schemas.microsoft.com/office/drawing/2014/main" id="{0B925EF4-0C2D-4AF2-A513-2C682BFE6CA4}"/>
              </a:ext>
            </a:extLst>
          </p:cNvPr>
          <p:cNvSpPr>
            <a:spLocks xmlns:a="http://schemas.openxmlformats.org/drawingml/2006/main" noGrp="1"/>
          </p:cNvSpPr>
          <p:nvPr/>
        </p:nvSpPr>
        <p:spPr>
          <a:xfrm xmlns:a="http://schemas.openxmlformats.org/drawingml/2006/main">
            <a:off x="1962150" y="21336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40" b="1">
                <a:solidFill>
                  <a:srgbClr val="FFFFFF"/>
                </a:solidFill>
              </a:defRPr>
            </a:pPr>
            <a:r>
              <a:rPr sz="840" b="1">
                <a:solidFill>
                  <a:srgbClr val="FFFFFF"/>
                </a:solidFill>
              </a:rPr>
              <a:t>KERNBESTAND</a:t>
            </a:r>
          </a:p>
        </p:txBody>
      </p:sp>
      <p:sp>
        <p:nvSpPr>
          <p:cNvPr id="8" name="">
            <a:extLst xmlns:a="http://schemas.openxmlformats.org/drawingml/2006/main">
              <a:ext uri="{FF2B5EF4-FFF2-40B4-BE49-F238E27FC236}">
                <a16:creationId xmlns:a16="http://schemas.microsoft.com/office/drawing/2014/main" id="{3FA3A607-B914-4E68-86E3-0885E3F6EF73}"/>
              </a:ext>
            </a:extLst>
          </p:cNvPr>
          <p:cNvSpPr>
            <a:spLocks xmlns:a="http://schemas.openxmlformats.org/drawingml/2006/main" noGrp="1"/>
          </p:cNvSpPr>
          <p:nvPr/>
        </p:nvSpPr>
        <p:spPr>
          <a:xfrm xmlns:a="http://schemas.openxmlformats.org/drawingml/2006/main">
            <a:off x="3143250" y="2133600"/>
            <a:ext cx="3162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35" b="1">
                <a:solidFill>
                  <a:srgbClr val="003F6B"/>
                </a:solidFill>
              </a:defRPr>
            </a:pPr>
            <a:r>
              <a:rPr sz="735" b="1">
                <a:solidFill>
                  <a:srgbClr val="003F6B"/>
                </a:solidFill>
              </a:rPr>
              <a:t>BGH · 08.02.2017 · XII ZB 604/15</a:t>
            </a:r>
          </a:p>
        </p:txBody>
      </p:sp>
      <p:sp>
        <p:nvSpPr>
          <p:cNvPr id="9" name="">
            <a:extLst xmlns:a="http://schemas.openxmlformats.org/drawingml/2006/main">
              <a:ext uri="{FF2B5EF4-FFF2-40B4-BE49-F238E27FC236}">
                <a16:creationId xmlns:a16="http://schemas.microsoft.com/office/drawing/2014/main" id="{95524F4F-D468-49C1-AC5E-DAC5A85509AC}"/>
              </a:ext>
            </a:extLst>
          </p:cNvPr>
          <p:cNvSpPr>
            <a:spLocks xmlns:a="http://schemas.openxmlformats.org/drawingml/2006/main" noGrp="1"/>
          </p:cNvSpPr>
          <p:nvPr/>
        </p:nvSpPr>
        <p:spPr>
          <a:xfrm xmlns:a="http://schemas.openxmlformats.org/drawingml/2006/main">
            <a:off x="1981200" y="2476500"/>
            <a:ext cx="430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15" b="1">
                <a:solidFill>
                  <a:srgbClr val="003F6B"/>
                </a:solidFill>
              </a:defRPr>
            </a:pPr>
            <a:r>
              <a:rPr sz="1215" b="1">
                <a:solidFill>
                  <a:srgbClr val="003F6B"/>
                </a:solidFill>
              </a:rPr>
              <a:t>Gesamtauslegung einer Patientenverfügung</a:t>
            </a:r>
          </a:p>
        </p:txBody>
      </p:sp>
      <p:sp>
        <p:nvSpPr>
          <p:cNvPr id="10" name="">
            <a:extLst xmlns:a="http://schemas.openxmlformats.org/drawingml/2006/main">
              <a:ext uri="{FF2B5EF4-FFF2-40B4-BE49-F238E27FC236}">
                <a16:creationId xmlns:a16="http://schemas.microsoft.com/office/drawing/2014/main" id="{C38D7D94-D17E-4412-B423-33E829F83E85}"/>
              </a:ext>
            </a:extLst>
          </p:cNvPr>
          <p:cNvSpPr>
            <a:spLocks xmlns:a="http://schemas.openxmlformats.org/drawingml/2006/main" noGrp="1"/>
          </p:cNvSpPr>
          <p:nvPr/>
        </p:nvSpPr>
        <p:spPr>
          <a:xfrm xmlns:a="http://schemas.openxmlformats.org/drawingml/2006/main">
            <a:off x="1981200" y="29908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B2BB"/>
                </a:solidFill>
              </a:defRPr>
            </a:pPr>
            <a:r>
              <a:rPr sz="713" b="1">
                <a:solidFill>
                  <a:srgbClr val="00B2BB"/>
                </a:solidFill>
              </a:rPr>
              <a:t>TENOR / LEITSATZKERN</a:t>
            </a:r>
          </a:p>
        </p:txBody>
      </p:sp>
      <p:sp>
        <p:nvSpPr>
          <p:cNvPr id="11" name="">
            <a:extLst xmlns:a="http://schemas.openxmlformats.org/drawingml/2006/main">
              <a:ext uri="{FF2B5EF4-FFF2-40B4-BE49-F238E27FC236}">
                <a16:creationId xmlns:a16="http://schemas.microsoft.com/office/drawing/2014/main" id="{D8D280BC-03CA-4823-9694-E454E730C928}"/>
              </a:ext>
            </a:extLst>
          </p:cNvPr>
          <p:cNvSpPr>
            <a:spLocks xmlns:a="http://schemas.openxmlformats.org/drawingml/2006/main" noGrp="1"/>
          </p:cNvSpPr>
          <p:nvPr/>
        </p:nvSpPr>
        <p:spPr>
          <a:xfrm xmlns:a="http://schemas.openxmlformats.org/drawingml/2006/main">
            <a:off x="1981200" y="3181350"/>
            <a:ext cx="43053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55">
                <a:solidFill>
                  <a:srgbClr val="15232B"/>
                </a:solidFill>
              </a:defRPr>
            </a:pPr>
            <a:r>
              <a:rPr sz="855">
                <a:solidFill>
                  <a:srgbClr val="15232B"/>
                </a:solidFill>
              </a:rPr>
              <a:t>Eine Patientenverfügung ist bindend, wenn sie konkrete Maßnahmen in einer hinreichend bestimmten Behandlungssituation erfasst; ihr gesamter Inhalt ist auszulegen.</a:t>
            </a:r>
          </a:p>
        </p:txBody>
      </p:sp>
      <p:sp>
        <p:nvSpPr>
          <p:cNvPr id="12" name="">
            <a:extLst xmlns:a="http://schemas.openxmlformats.org/drawingml/2006/main">
              <a:ext uri="{FF2B5EF4-FFF2-40B4-BE49-F238E27FC236}">
                <a16:creationId xmlns:a16="http://schemas.microsoft.com/office/drawing/2014/main" id="{ACF4AE8D-90AF-4035-BCD7-051DD493DE70}"/>
              </a:ext>
            </a:extLst>
          </p:cNvPr>
          <p:cNvSpPr>
            <a:spLocks xmlns:a="http://schemas.openxmlformats.org/drawingml/2006/main" noGrp="1"/>
          </p:cNvSpPr>
          <p:nvPr/>
        </p:nvSpPr>
        <p:spPr>
          <a:xfrm xmlns:a="http://schemas.openxmlformats.org/drawingml/2006/main">
            <a:off x="1981200" y="381000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3F6B"/>
                </a:solidFill>
              </a:defRPr>
            </a:pPr>
            <a:r>
              <a:rPr sz="713" b="1">
                <a:solidFill>
                  <a:srgbClr val="003F6B"/>
                </a:solidFill>
              </a:rPr>
              <a:t>TRAGENDE AUSSAGE</a:t>
            </a:r>
          </a:p>
        </p:txBody>
      </p:sp>
      <p:sp>
        <p:nvSpPr>
          <p:cNvPr id="13" name="">
            <a:extLst xmlns:a="http://schemas.openxmlformats.org/drawingml/2006/main">
              <a:ext uri="{FF2B5EF4-FFF2-40B4-BE49-F238E27FC236}">
                <a16:creationId xmlns:a16="http://schemas.microsoft.com/office/drawing/2014/main" id="{F2531ECA-F302-4417-B44B-E8D5C081F022}"/>
              </a:ext>
            </a:extLst>
          </p:cNvPr>
          <p:cNvSpPr>
            <a:spLocks xmlns:a="http://schemas.openxmlformats.org/drawingml/2006/main" noGrp="1"/>
          </p:cNvSpPr>
          <p:nvPr/>
        </p:nvSpPr>
        <p:spPr>
          <a:xfrm xmlns:a="http://schemas.openxmlformats.org/drawingml/2006/main">
            <a:off x="1981200" y="4000500"/>
            <a:ext cx="43053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10">
                <a:solidFill>
                  <a:srgbClr val="15232B"/>
                </a:solidFill>
              </a:defRPr>
            </a:pPr>
            <a:r>
              <a:rPr sz="810">
                <a:solidFill>
                  <a:srgbClr val="15232B"/>
                </a:solidFill>
              </a:rPr>
              <a:t>Auch ergänzende schriftliche und mündliche Äußerungen können die Reichweite konkretisieren. Maßstab bleibt der individuelle Wille, nicht eine abstrakte Nutzenbewertung.</a:t>
            </a:r>
          </a:p>
        </p:txBody>
      </p:sp>
      <p:sp>
        <p:nvSpPr>
          <p:cNvPr id="14" name="">
            <a:extLst xmlns:a="http://schemas.openxmlformats.org/drawingml/2006/main">
              <a:ext uri="{FF2B5EF4-FFF2-40B4-BE49-F238E27FC236}">
                <a16:creationId xmlns:a16="http://schemas.microsoft.com/office/drawing/2014/main" id="{6094D700-9370-4F61-A863-1182D840163F}"/>
              </a:ext>
            </a:extLst>
          </p:cNvPr>
          <p:cNvSpPr>
            <a:spLocks xmlns:a="http://schemas.openxmlformats.org/drawingml/2006/main" noGrp="1"/>
          </p:cNvSpPr>
          <p:nvPr/>
        </p:nvSpPr>
        <p:spPr>
          <a:xfrm xmlns:a="http://schemas.openxmlformats.org/drawingml/2006/main">
            <a:off x="1981200" y="4572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B2BB"/>
                </a:solidFill>
              </a:defRPr>
            </a:pPr>
            <a:r>
              <a:rPr sz="713" b="1">
                <a:solidFill>
                  <a:srgbClr val="00B2BB"/>
                </a:solidFill>
              </a:rPr>
              <a:t>PRAXIS</a:t>
            </a:r>
          </a:p>
        </p:txBody>
      </p:sp>
      <p:sp>
        <p:nvSpPr>
          <p:cNvPr id="15" name="">
            <a:extLst xmlns:a="http://schemas.openxmlformats.org/drawingml/2006/main">
              <a:ext uri="{FF2B5EF4-FFF2-40B4-BE49-F238E27FC236}">
                <a16:creationId xmlns:a16="http://schemas.microsoft.com/office/drawing/2014/main" id="{79DA5CB4-9578-491E-BC28-A98A108061D8}"/>
              </a:ext>
            </a:extLst>
          </p:cNvPr>
          <p:cNvSpPr>
            <a:spLocks xmlns:a="http://schemas.openxmlformats.org/drawingml/2006/main" noGrp="1"/>
          </p:cNvSpPr>
          <p:nvPr/>
        </p:nvSpPr>
        <p:spPr>
          <a:xfrm xmlns:a="http://schemas.openxmlformats.org/drawingml/2006/main">
            <a:off x="2590800" y="4552950"/>
            <a:ext cx="3695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765">
                <a:solidFill>
                  <a:srgbClr val="15232B"/>
                </a:solidFill>
              </a:defRPr>
            </a:pPr>
            <a:r>
              <a:rPr sz="765">
                <a:solidFill>
                  <a:srgbClr val="15232B"/>
                </a:solidFill>
              </a:rPr>
              <a:t>Originaldokument, Vollmachten, frühere Gespräche und aktuelle medizinische Situation in einer nachvollziehbaren Willensrekonstruktion zusammenführen.</a:t>
            </a:r>
          </a:p>
        </p:txBody>
      </p:sp>
      <p:sp>
        <p:nvSpPr>
          <p:cNvPr id="16" name="">
            <a:extLst xmlns:a="http://schemas.openxmlformats.org/drawingml/2006/main">
              <a:ext uri="{FF2B5EF4-FFF2-40B4-BE49-F238E27FC236}">
                <a16:creationId xmlns:a16="http://schemas.microsoft.com/office/drawing/2014/main" id="{DFFC137C-4CFE-48D7-A33F-2BEDBC26F860}"/>
              </a:ext>
            </a:extLst>
          </p:cNvPr>
          <p:cNvSpPr>
            <a:spLocks xmlns:a="http://schemas.openxmlformats.org/drawingml/2006/main" noGrp="1"/>
          </p:cNvSpPr>
          <p:nvPr/>
        </p:nvSpPr>
        <p:spPr>
          <a:xfrm xmlns:a="http://schemas.openxmlformats.org/drawingml/2006/main">
            <a:off x="1981200" y="4962525"/>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615">
                <a:solidFill>
                  <a:srgbClr val="667680"/>
                </a:solidFill>
              </a:defRPr>
            </a:pPr>
            <a:r>
              <a:rPr sz="615">
                <a:solidFill>
                  <a:srgbClr val="667680"/>
                </a:solidFill>
              </a:rPr>
              <a:t>21. Fortführung von XII ZB 61/16.</a:t>
            </a:r>
          </a:p>
        </p:txBody>
      </p:sp>
      <p:sp>
        <p:nvSpPr>
          <p:cNvPr id="17" name="">
            <a:extLst xmlns:a="http://schemas.openxmlformats.org/drawingml/2006/main">
              <a:ext uri="{FF2B5EF4-FFF2-40B4-BE49-F238E27FC236}">
                <a16:creationId xmlns:a16="http://schemas.microsoft.com/office/drawing/2014/main" id="{0DBF0E40-843F-43C8-ABE1-FE2B8D5033B5}"/>
              </a:ext>
            </a:extLst>
          </p:cNvPr>
          <p:cNvSpPr>
            <a:spLocks xmlns:a="http://schemas.openxmlformats.org/drawingml/2006/main" noGrp="1"/>
          </p:cNvSpPr>
          <p:nvPr/>
        </p:nvSpPr>
        <p:spPr>
          <a:xfrm xmlns:a="http://schemas.openxmlformats.org/drawingml/2006/main">
            <a:off x="6686550" y="1943100"/>
            <a:ext cx="4648200" cy="3238500"/>
          </a:xfrm>
          <a:prstGeom xmlns:a="http://schemas.openxmlformats.org/drawingml/2006/main" prst="roundRect">
            <a:avLst>
              <a:gd name="adj" fmla="val 2353"/>
            </a:avLst>
          </a:prstGeom>
          <a:solidFill xmlns:a="http://schemas.openxmlformats.org/drawingml/2006/main">
            <a:srgbClr val="FFFFFF"/>
          </a:solidFill>
          <a:ln xmlns:a="http://schemas.openxmlformats.org/drawingml/2006/main" w="10478">
            <a:solidFill>
              <a:srgbClr val="B9CAD2"/>
            </a:solidFill>
            <a:prstDash val="solid"/>
          </a:ln>
        </p:spPr>
      </p:sp>
      <p:sp>
        <p:nvSpPr>
          <p:cNvPr id="18" name="">
            <a:extLst xmlns:a="http://schemas.openxmlformats.org/drawingml/2006/main">
              <a:ext uri="{FF2B5EF4-FFF2-40B4-BE49-F238E27FC236}">
                <a16:creationId xmlns:a16="http://schemas.microsoft.com/office/drawing/2014/main" id="{ED30C385-9B2D-487F-A43E-D3C8C7DBEC39}"/>
              </a:ext>
            </a:extLst>
          </p:cNvPr>
          <p:cNvSpPr>
            <a:spLocks xmlns:a="http://schemas.openxmlformats.org/drawingml/2006/main" noGrp="1"/>
          </p:cNvSpPr>
          <p:nvPr/>
        </p:nvSpPr>
        <p:spPr>
          <a:xfrm xmlns:a="http://schemas.openxmlformats.org/drawingml/2006/main">
            <a:off x="6686550" y="1943100"/>
            <a:ext cx="4648200" cy="85725"/>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19" name="">
            <a:extLst xmlns:a="http://schemas.openxmlformats.org/drawingml/2006/main">
              <a:ext uri="{FF2B5EF4-FFF2-40B4-BE49-F238E27FC236}">
                <a16:creationId xmlns:a16="http://schemas.microsoft.com/office/drawing/2014/main" id="{922471C8-D133-4345-BAF8-23AC4D2B5E94}"/>
              </a:ext>
            </a:extLst>
          </p:cNvPr>
          <p:cNvSpPr>
            <a:spLocks xmlns:a="http://schemas.openxmlformats.org/drawingml/2006/main" noGrp="1"/>
          </p:cNvSpPr>
          <p:nvPr/>
        </p:nvSpPr>
        <p:spPr>
          <a:xfrm xmlns:a="http://schemas.openxmlformats.org/drawingml/2006/main">
            <a:off x="6838950" y="2133600"/>
            <a:ext cx="1066800" cy="266700"/>
          </a:xfrm>
          <a:prstGeom xmlns:a="http://schemas.openxmlformats.org/drawingml/2006/main" prst="roundRect">
            <a:avLst>
              <a:gd name="adj" fmla="val 28571"/>
            </a:avLst>
          </a:prstGeom>
          <a:solidFill xmlns:a="http://schemas.openxmlformats.org/drawingml/2006/main">
            <a:srgbClr val="00B2BB"/>
          </a:solidFill>
          <a:ln xmlns:a="http://schemas.openxmlformats.org/drawingml/2006/main" w="0">
            <a:solidFill>
              <a:srgbClr val="00B2BB"/>
            </a:solidFill>
            <a:prstDash val="solid"/>
          </a:ln>
        </p:spPr>
      </p:sp>
      <p:sp>
        <p:nvSpPr>
          <p:cNvPr id="20" name="">
            <a:extLst xmlns:a="http://schemas.openxmlformats.org/drawingml/2006/main">
              <a:ext uri="{FF2B5EF4-FFF2-40B4-BE49-F238E27FC236}">
                <a16:creationId xmlns:a16="http://schemas.microsoft.com/office/drawing/2014/main" id="{744BF4D6-EE0C-4481-B11C-3771AE4D9DBE}"/>
              </a:ext>
            </a:extLst>
          </p:cNvPr>
          <p:cNvSpPr>
            <a:spLocks xmlns:a="http://schemas.openxmlformats.org/drawingml/2006/main" noGrp="1"/>
          </p:cNvSpPr>
          <p:nvPr/>
        </p:nvSpPr>
        <p:spPr>
          <a:xfrm xmlns:a="http://schemas.openxmlformats.org/drawingml/2006/main">
            <a:off x="6838950" y="21336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40" b="1">
                <a:solidFill>
                  <a:srgbClr val="FFFFFF"/>
                </a:solidFill>
              </a:defRPr>
            </a:pPr>
            <a:r>
              <a:rPr sz="840" b="1">
                <a:solidFill>
                  <a:srgbClr val="FFFFFF"/>
                </a:solidFill>
              </a:rPr>
              <a:t>KERNBESTAND</a:t>
            </a:r>
          </a:p>
        </p:txBody>
      </p:sp>
      <p:sp>
        <p:nvSpPr>
          <p:cNvPr id="21" name="">
            <a:extLst xmlns:a="http://schemas.openxmlformats.org/drawingml/2006/main">
              <a:ext uri="{FF2B5EF4-FFF2-40B4-BE49-F238E27FC236}">
                <a16:creationId xmlns:a16="http://schemas.microsoft.com/office/drawing/2014/main" id="{3F4EF115-5FC8-40AD-90CE-5D2754BD6068}"/>
              </a:ext>
            </a:extLst>
          </p:cNvPr>
          <p:cNvSpPr>
            <a:spLocks xmlns:a="http://schemas.openxmlformats.org/drawingml/2006/main" noGrp="1"/>
          </p:cNvSpPr>
          <p:nvPr/>
        </p:nvSpPr>
        <p:spPr>
          <a:xfrm xmlns:a="http://schemas.openxmlformats.org/drawingml/2006/main">
            <a:off x="8020050" y="2133600"/>
            <a:ext cx="3162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35" b="1">
                <a:solidFill>
                  <a:srgbClr val="003F6B"/>
                </a:solidFill>
              </a:defRPr>
            </a:pPr>
            <a:r>
              <a:rPr sz="735" b="1">
                <a:solidFill>
                  <a:srgbClr val="003F6B"/>
                </a:solidFill>
              </a:rPr>
              <a:t>BGH · 28.06.2022 · 6 StR 68/21</a:t>
            </a:r>
          </a:p>
        </p:txBody>
      </p:sp>
      <p:sp>
        <p:nvSpPr>
          <p:cNvPr id="22" name="">
            <a:extLst xmlns:a="http://schemas.openxmlformats.org/drawingml/2006/main">
              <a:ext uri="{FF2B5EF4-FFF2-40B4-BE49-F238E27FC236}">
                <a16:creationId xmlns:a16="http://schemas.microsoft.com/office/drawing/2014/main" id="{B7480759-9856-4E4D-9D57-A275EEF10246}"/>
              </a:ext>
            </a:extLst>
          </p:cNvPr>
          <p:cNvSpPr>
            <a:spLocks xmlns:a="http://schemas.openxmlformats.org/drawingml/2006/main" noGrp="1"/>
          </p:cNvSpPr>
          <p:nvPr/>
        </p:nvSpPr>
        <p:spPr>
          <a:xfrm xmlns:a="http://schemas.openxmlformats.org/drawingml/2006/main">
            <a:off x="6858000" y="2476500"/>
            <a:ext cx="430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15" b="1">
                <a:solidFill>
                  <a:srgbClr val="003F6B"/>
                </a:solidFill>
              </a:defRPr>
            </a:pPr>
            <a:r>
              <a:rPr sz="1215" b="1">
                <a:solidFill>
                  <a:srgbClr val="003F6B"/>
                </a:solidFill>
              </a:rPr>
              <a:t>Freiverantwortlicher Suizid und Garantenpflicht</a:t>
            </a:r>
          </a:p>
        </p:txBody>
      </p:sp>
      <p:sp>
        <p:nvSpPr>
          <p:cNvPr id="23" name="">
            <a:extLst xmlns:a="http://schemas.openxmlformats.org/drawingml/2006/main">
              <a:ext uri="{FF2B5EF4-FFF2-40B4-BE49-F238E27FC236}">
                <a16:creationId xmlns:a16="http://schemas.microsoft.com/office/drawing/2014/main" id="{45B8CDCC-46B0-4FE3-8372-F3399301A420}"/>
              </a:ext>
            </a:extLst>
          </p:cNvPr>
          <p:cNvSpPr>
            <a:spLocks xmlns:a="http://schemas.openxmlformats.org/drawingml/2006/main" noGrp="1"/>
          </p:cNvSpPr>
          <p:nvPr/>
        </p:nvSpPr>
        <p:spPr>
          <a:xfrm xmlns:a="http://schemas.openxmlformats.org/drawingml/2006/main">
            <a:off x="6858000" y="29908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B2BB"/>
                </a:solidFill>
              </a:defRPr>
            </a:pPr>
            <a:r>
              <a:rPr sz="713" b="1">
                <a:solidFill>
                  <a:srgbClr val="00B2BB"/>
                </a:solidFill>
              </a:rPr>
              <a:t>TENOR / LEITSATZKERN</a:t>
            </a:r>
          </a:p>
        </p:txBody>
      </p:sp>
      <p:sp>
        <p:nvSpPr>
          <p:cNvPr id="24" name="">
            <a:extLst xmlns:a="http://schemas.openxmlformats.org/drawingml/2006/main">
              <a:ext uri="{FF2B5EF4-FFF2-40B4-BE49-F238E27FC236}">
                <a16:creationId xmlns:a16="http://schemas.microsoft.com/office/drawing/2014/main" id="{C3870D0C-2BAF-4AB3-A46F-449F911B6738}"/>
              </a:ext>
            </a:extLst>
          </p:cNvPr>
          <p:cNvSpPr>
            <a:spLocks xmlns:a="http://schemas.openxmlformats.org/drawingml/2006/main" noGrp="1"/>
          </p:cNvSpPr>
          <p:nvPr/>
        </p:nvSpPr>
        <p:spPr>
          <a:xfrm xmlns:a="http://schemas.openxmlformats.org/drawingml/2006/main">
            <a:off x="6858000" y="3181350"/>
            <a:ext cx="43053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55">
                <a:solidFill>
                  <a:srgbClr val="15232B"/>
                </a:solidFill>
              </a:defRPr>
            </a:pPr>
            <a:r>
              <a:rPr sz="855">
                <a:solidFill>
                  <a:srgbClr val="15232B"/>
                </a:solidFill>
              </a:rPr>
              <a:t>Ein freiverantwortlicher, ernsthafter Suizidentschluss kann eine Pflicht naher Angehöriger zur Rettung gegen den erklärten Willen entfallen lassen.</a:t>
            </a:r>
          </a:p>
        </p:txBody>
      </p:sp>
      <p:sp>
        <p:nvSpPr>
          <p:cNvPr id="25" name="">
            <a:extLst xmlns:a="http://schemas.openxmlformats.org/drawingml/2006/main">
              <a:ext uri="{FF2B5EF4-FFF2-40B4-BE49-F238E27FC236}">
                <a16:creationId xmlns:a16="http://schemas.microsoft.com/office/drawing/2014/main" id="{D407D14B-D6F2-4867-8A75-2FCEDA4CA87B}"/>
              </a:ext>
            </a:extLst>
          </p:cNvPr>
          <p:cNvSpPr>
            <a:spLocks xmlns:a="http://schemas.openxmlformats.org/drawingml/2006/main" noGrp="1"/>
          </p:cNvSpPr>
          <p:nvPr/>
        </p:nvSpPr>
        <p:spPr>
          <a:xfrm xmlns:a="http://schemas.openxmlformats.org/drawingml/2006/main">
            <a:off x="6858000" y="381000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3F6B"/>
                </a:solidFill>
              </a:defRPr>
            </a:pPr>
            <a:r>
              <a:rPr sz="713" b="1">
                <a:solidFill>
                  <a:srgbClr val="003F6B"/>
                </a:solidFill>
              </a:rPr>
              <a:t>TRAGENDE AUSSAGE</a:t>
            </a:r>
          </a:p>
        </p:txBody>
      </p:sp>
      <p:sp>
        <p:nvSpPr>
          <p:cNvPr id="26" name="">
            <a:extLst xmlns:a="http://schemas.openxmlformats.org/drawingml/2006/main">
              <a:ext uri="{FF2B5EF4-FFF2-40B4-BE49-F238E27FC236}">
                <a16:creationId xmlns:a16="http://schemas.microsoft.com/office/drawing/2014/main" id="{000BA144-230E-41BE-B5C2-B8ACFAD186E8}"/>
              </a:ext>
            </a:extLst>
          </p:cNvPr>
          <p:cNvSpPr>
            <a:spLocks xmlns:a="http://schemas.openxmlformats.org/drawingml/2006/main" noGrp="1"/>
          </p:cNvSpPr>
          <p:nvPr/>
        </p:nvSpPr>
        <p:spPr>
          <a:xfrm xmlns:a="http://schemas.openxmlformats.org/drawingml/2006/main">
            <a:off x="6858000" y="4000500"/>
            <a:ext cx="43053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10">
                <a:solidFill>
                  <a:srgbClr val="15232B"/>
                </a:solidFill>
              </a:defRPr>
            </a:pPr>
            <a:r>
              <a:rPr sz="810">
                <a:solidFill>
                  <a:srgbClr val="15232B"/>
                </a:solidFill>
              </a:rPr>
              <a:t>Entscheidend ist eine normative Prüfung der Freiverantwortlichkeit; § 216 StGB und straflose Suizidhilfe müssen voneinander abgegrenzt werden.</a:t>
            </a:r>
          </a:p>
        </p:txBody>
      </p:sp>
      <p:sp>
        <p:nvSpPr>
          <p:cNvPr id="27" name="">
            <a:extLst xmlns:a="http://schemas.openxmlformats.org/drawingml/2006/main">
              <a:ext uri="{FF2B5EF4-FFF2-40B4-BE49-F238E27FC236}">
                <a16:creationId xmlns:a16="http://schemas.microsoft.com/office/drawing/2014/main" id="{3F7E39ED-8C67-4FD4-9423-A2B52BFEF7F0}"/>
              </a:ext>
            </a:extLst>
          </p:cNvPr>
          <p:cNvSpPr>
            <a:spLocks xmlns:a="http://schemas.openxmlformats.org/drawingml/2006/main" noGrp="1"/>
          </p:cNvSpPr>
          <p:nvPr/>
        </p:nvSpPr>
        <p:spPr>
          <a:xfrm xmlns:a="http://schemas.openxmlformats.org/drawingml/2006/main">
            <a:off x="6858000" y="4572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B2BB"/>
                </a:solidFill>
              </a:defRPr>
            </a:pPr>
            <a:r>
              <a:rPr sz="713" b="1">
                <a:solidFill>
                  <a:srgbClr val="00B2BB"/>
                </a:solidFill>
              </a:rPr>
              <a:t>PRAXIS</a:t>
            </a:r>
          </a:p>
        </p:txBody>
      </p:sp>
      <p:sp>
        <p:nvSpPr>
          <p:cNvPr id="28" name="">
            <a:extLst xmlns:a="http://schemas.openxmlformats.org/drawingml/2006/main">
              <a:ext uri="{FF2B5EF4-FFF2-40B4-BE49-F238E27FC236}">
                <a16:creationId xmlns:a16="http://schemas.microsoft.com/office/drawing/2014/main" id="{2C84541C-A900-4537-97C2-F725D7EE5C1D}"/>
              </a:ext>
            </a:extLst>
          </p:cNvPr>
          <p:cNvSpPr>
            <a:spLocks xmlns:a="http://schemas.openxmlformats.org/drawingml/2006/main" noGrp="1"/>
          </p:cNvSpPr>
          <p:nvPr/>
        </p:nvSpPr>
        <p:spPr>
          <a:xfrm xmlns:a="http://schemas.openxmlformats.org/drawingml/2006/main">
            <a:off x="7467600" y="4552950"/>
            <a:ext cx="3695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765">
                <a:solidFill>
                  <a:srgbClr val="15232B"/>
                </a:solidFill>
              </a:defRPr>
            </a:pPr>
            <a:r>
              <a:rPr sz="765">
                <a:solidFill>
                  <a:srgbClr val="15232B"/>
                </a:solidFill>
              </a:rPr>
              <a:t>Nicht aus einem einzelnen Satz auf Freiverantwortlichkeit schließen: Entscheidungsfähigkeit, Wissensbasis, Dauerhaftigkeit, Ambivalenz und Einfluss Dritter erfassen.</a:t>
            </a:r>
          </a:p>
        </p:txBody>
      </p:sp>
      <p:sp>
        <p:nvSpPr>
          <p:cNvPr id="29" name="">
            <a:extLst xmlns:a="http://schemas.openxmlformats.org/drawingml/2006/main">
              <a:ext uri="{FF2B5EF4-FFF2-40B4-BE49-F238E27FC236}">
                <a16:creationId xmlns:a16="http://schemas.microsoft.com/office/drawing/2014/main" id="{C97C5558-C99E-4916-83F4-1D8866CFCBF6}"/>
              </a:ext>
            </a:extLst>
          </p:cNvPr>
          <p:cNvSpPr>
            <a:spLocks xmlns:a="http://schemas.openxmlformats.org/drawingml/2006/main" noGrp="1"/>
          </p:cNvSpPr>
          <p:nvPr/>
        </p:nvSpPr>
        <p:spPr>
          <a:xfrm xmlns:a="http://schemas.openxmlformats.org/drawingml/2006/main">
            <a:off x="6858000" y="4962525"/>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615">
                <a:solidFill>
                  <a:srgbClr val="667680"/>
                </a:solidFill>
              </a:defRPr>
            </a:pPr>
            <a:r>
              <a:rPr sz="615">
                <a:solidFill>
                  <a:srgbClr val="667680"/>
                </a:solidFill>
              </a:rPr>
              <a:t>23. Fortentwicklung nach BVerfG 2 BvR 2347/15.</a:t>
            </a:r>
          </a:p>
        </p:txBody>
      </p:sp>
      <p:sp>
        <p:nvSpPr>
          <p:cNvPr id="30" name="">
            <a:extLst xmlns:a="http://schemas.openxmlformats.org/drawingml/2006/main">
              <a:ext uri="{FF2B5EF4-FFF2-40B4-BE49-F238E27FC236}">
                <a16:creationId xmlns:a16="http://schemas.microsoft.com/office/drawing/2014/main" id="{15F4D522-40EF-4DD8-B76D-1BB2C656BFA8}"/>
              </a:ext>
            </a:extLst>
          </p:cNvPr>
          <p:cNvSpPr>
            <a:spLocks xmlns:a="http://schemas.openxmlformats.org/drawingml/2006/main" noGrp="1"/>
          </p:cNvSpPr>
          <p:nvPr/>
        </p:nvSpPr>
        <p:spPr>
          <a:xfrm xmlns:a="http://schemas.openxmlformats.org/drawingml/2006/main">
            <a:off x="1809750" y="5314950"/>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495">
                <a:solidFill>
                  <a:srgbClr val="667680"/>
                </a:solidFill>
              </a:defRPr>
            </a:pPr>
            <a:r>
              <a:rPr sz="495">
                <a:solidFill>
                  <a:srgbClr val="667680"/>
                </a:solidFill>
              </a:rPr>
              <a:t>Originalquellen: https://juris.bundesgerichtshof.de/cgi-bin/rechtsprechung/document.py?Art=en&amp;Blank=1.pdf&amp;Gericht=bgh&amp;anz=1&amp;nr=77818&amp;pos=0&amp;sid=125fa832b3cae8f7f98ce4bccb602490 · https://juris.bundesgerichtshof.de/cgi-bin/rechtsprechung/document.py?Art=en&amp;Blank=1.pdf&amp;Gericht=bgh&amp;anz=1&amp;nr=130875&amp;pos=0&amp;sid=75da7c93f228313cd3def896e2859eca</a:t>
            </a:r>
          </a:p>
        </p:txBody>
      </p:sp>
    </p:spTree>
    <p:extLst>
      <p:ext uri="{BB962C8B-B14F-4D97-AF65-F5344CB8AC3E}">
        <p14:creationId xmlns:p14="http://schemas.microsoft.com/office/powerpoint/2010/main" val="43637646"/>
      </p:ext>
    </p:extLst>
  </p:cSld>
</p:sld>
</file>

<file path=ppt/slides/slide439.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Patientenwille &amp; Zwang · Zwang &amp; Freiheitsrechte</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LEITENTSCHEIDUNGEN · 13/20</a:t>
            </a:r>
            <a:endParaRPr/>
          </a:p>
        </p:txBody>
      </p:sp>
      <p:sp>
        <p:nvSpPr>
          <p:cNvPr id="4" name="">
            <a:extLst xmlns:a="http://schemas.openxmlformats.org/drawingml/2006/main">
              <a:ext uri="{FF2B5EF4-FFF2-40B4-BE49-F238E27FC236}">
                <a16:creationId xmlns:a16="http://schemas.microsoft.com/office/drawing/2014/main" id="{7E5E533A-34BB-463A-B36E-A7016AABF2D3}"/>
              </a:ext>
            </a:extLst>
          </p:cNvPr>
          <p:cNvSpPr>
            <a:spLocks xmlns:a="http://schemas.openxmlformats.org/drawingml/2006/main" noGrp="1"/>
          </p:cNvSpPr>
          <p:nvPr/>
        </p:nvSpPr>
        <p:spPr>
          <a:xfrm xmlns:a="http://schemas.openxmlformats.org/drawingml/2006/main">
            <a:off x="1809750" y="1943100"/>
            <a:ext cx="4648200" cy="3238500"/>
          </a:xfrm>
          <a:prstGeom xmlns:a="http://schemas.openxmlformats.org/drawingml/2006/main" prst="roundRect">
            <a:avLst>
              <a:gd name="adj" fmla="val 2353"/>
            </a:avLst>
          </a:prstGeom>
          <a:solidFill xmlns:a="http://schemas.openxmlformats.org/drawingml/2006/main">
            <a:srgbClr val="FFFFFF"/>
          </a:solidFill>
          <a:ln xmlns:a="http://schemas.openxmlformats.org/drawingml/2006/main" w="10478">
            <a:solidFill>
              <a:srgbClr val="B9CAD2"/>
            </a:solidFill>
            <a:prstDash val="solid"/>
          </a:ln>
        </p:spPr>
      </p:sp>
      <p:sp>
        <p:nvSpPr>
          <p:cNvPr id="5" name="">
            <a:extLst xmlns:a="http://schemas.openxmlformats.org/drawingml/2006/main">
              <a:ext uri="{FF2B5EF4-FFF2-40B4-BE49-F238E27FC236}">
                <a16:creationId xmlns:a16="http://schemas.microsoft.com/office/drawing/2014/main" id="{A9EC99F6-7E14-479F-841E-25C2ECEC4BCA}"/>
              </a:ext>
            </a:extLst>
          </p:cNvPr>
          <p:cNvSpPr>
            <a:spLocks xmlns:a="http://schemas.openxmlformats.org/drawingml/2006/main" noGrp="1"/>
          </p:cNvSpPr>
          <p:nvPr/>
        </p:nvSpPr>
        <p:spPr>
          <a:xfrm xmlns:a="http://schemas.openxmlformats.org/drawingml/2006/main">
            <a:off x="1809750" y="1943100"/>
            <a:ext cx="4648200" cy="85725"/>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6" name="">
            <a:extLst xmlns:a="http://schemas.openxmlformats.org/drawingml/2006/main">
              <a:ext uri="{FF2B5EF4-FFF2-40B4-BE49-F238E27FC236}">
                <a16:creationId xmlns:a16="http://schemas.microsoft.com/office/drawing/2014/main" id="{1948239C-1E76-4B41-90AF-284BBCD4902F}"/>
              </a:ext>
            </a:extLst>
          </p:cNvPr>
          <p:cNvSpPr>
            <a:spLocks xmlns:a="http://schemas.openxmlformats.org/drawingml/2006/main" noGrp="1"/>
          </p:cNvSpPr>
          <p:nvPr/>
        </p:nvSpPr>
        <p:spPr>
          <a:xfrm xmlns:a="http://schemas.openxmlformats.org/drawingml/2006/main">
            <a:off x="1962150" y="2133600"/>
            <a:ext cx="1066800" cy="266700"/>
          </a:xfrm>
          <a:prstGeom xmlns:a="http://schemas.openxmlformats.org/drawingml/2006/main" prst="roundRect">
            <a:avLst>
              <a:gd name="adj" fmla="val 28571"/>
            </a:avLst>
          </a:prstGeom>
          <a:solidFill xmlns:a="http://schemas.openxmlformats.org/drawingml/2006/main">
            <a:srgbClr val="003F6B"/>
          </a:solidFill>
          <a:ln xmlns:a="http://schemas.openxmlformats.org/drawingml/2006/main" w="0">
            <a:solidFill>
              <a:srgbClr val="003F6B"/>
            </a:solidFill>
            <a:prstDash val="solid"/>
          </a:ln>
        </p:spPr>
      </p:sp>
      <p:sp>
        <p:nvSpPr>
          <p:cNvPr id="7" name="">
            <a:extLst xmlns:a="http://schemas.openxmlformats.org/drawingml/2006/main">
              <a:ext uri="{FF2B5EF4-FFF2-40B4-BE49-F238E27FC236}">
                <a16:creationId xmlns:a16="http://schemas.microsoft.com/office/drawing/2014/main" id="{53E6C68B-433A-4614-B021-8ECD41E977C2}"/>
              </a:ext>
            </a:extLst>
          </p:cNvPr>
          <p:cNvSpPr>
            <a:spLocks xmlns:a="http://schemas.openxmlformats.org/drawingml/2006/main" noGrp="1"/>
          </p:cNvSpPr>
          <p:nvPr/>
        </p:nvSpPr>
        <p:spPr>
          <a:xfrm xmlns:a="http://schemas.openxmlformats.org/drawingml/2006/main">
            <a:off x="1962150" y="21336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40" b="1">
                <a:solidFill>
                  <a:srgbClr val="FFFFFF"/>
                </a:solidFill>
              </a:defRPr>
            </a:pPr>
            <a:r>
              <a:rPr sz="840" b="1">
                <a:solidFill>
                  <a:srgbClr val="FFFFFF"/>
                </a:solidFill>
              </a:rPr>
              <a:t>VERTIEFUNG</a:t>
            </a:r>
          </a:p>
        </p:txBody>
      </p:sp>
      <p:sp>
        <p:nvSpPr>
          <p:cNvPr id="8" name="">
            <a:extLst xmlns:a="http://schemas.openxmlformats.org/drawingml/2006/main">
              <a:ext uri="{FF2B5EF4-FFF2-40B4-BE49-F238E27FC236}">
                <a16:creationId xmlns:a16="http://schemas.microsoft.com/office/drawing/2014/main" id="{62047B66-DAB3-4D13-B63D-B31C421F9C90}"/>
              </a:ext>
            </a:extLst>
          </p:cNvPr>
          <p:cNvSpPr>
            <a:spLocks xmlns:a="http://schemas.openxmlformats.org/drawingml/2006/main" noGrp="1"/>
          </p:cNvSpPr>
          <p:nvPr/>
        </p:nvSpPr>
        <p:spPr>
          <a:xfrm xmlns:a="http://schemas.openxmlformats.org/drawingml/2006/main">
            <a:off x="3143250" y="2133600"/>
            <a:ext cx="3162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35" b="1">
                <a:solidFill>
                  <a:srgbClr val="003F6B"/>
                </a:solidFill>
              </a:defRPr>
            </a:pPr>
            <a:r>
              <a:rPr sz="735" b="1">
                <a:solidFill>
                  <a:srgbClr val="003F6B"/>
                </a:solidFill>
              </a:rPr>
              <a:t>BGH · 05.02.2025 · XII ZB 547/24</a:t>
            </a:r>
          </a:p>
        </p:txBody>
      </p:sp>
      <p:sp>
        <p:nvSpPr>
          <p:cNvPr id="9" name="">
            <a:extLst xmlns:a="http://schemas.openxmlformats.org/drawingml/2006/main">
              <a:ext uri="{FF2B5EF4-FFF2-40B4-BE49-F238E27FC236}">
                <a16:creationId xmlns:a16="http://schemas.microsoft.com/office/drawing/2014/main" id="{A0328713-333C-4707-A978-39619F1B6565}"/>
              </a:ext>
            </a:extLst>
          </p:cNvPr>
          <p:cNvSpPr>
            <a:spLocks xmlns:a="http://schemas.openxmlformats.org/drawingml/2006/main" noGrp="1"/>
          </p:cNvSpPr>
          <p:nvPr/>
        </p:nvSpPr>
        <p:spPr>
          <a:xfrm xmlns:a="http://schemas.openxmlformats.org/drawingml/2006/main">
            <a:off x="1981200" y="2476500"/>
            <a:ext cx="430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15" b="1">
                <a:solidFill>
                  <a:srgbClr val="003F6B"/>
                </a:solidFill>
              </a:defRPr>
            </a:pPr>
            <a:r>
              <a:rPr sz="1215" b="1">
                <a:solidFill>
                  <a:srgbClr val="003F6B"/>
                </a:solidFill>
              </a:rPr>
              <a:t>Patientenverfügung kann Zwangsbehandlung ausschließen</a:t>
            </a:r>
          </a:p>
        </p:txBody>
      </p:sp>
      <p:sp>
        <p:nvSpPr>
          <p:cNvPr id="10" name="">
            <a:extLst xmlns:a="http://schemas.openxmlformats.org/drawingml/2006/main">
              <a:ext uri="{FF2B5EF4-FFF2-40B4-BE49-F238E27FC236}">
                <a16:creationId xmlns:a16="http://schemas.microsoft.com/office/drawing/2014/main" id="{57B94A74-BDE2-469D-9345-28E832236873}"/>
              </a:ext>
            </a:extLst>
          </p:cNvPr>
          <p:cNvSpPr>
            <a:spLocks xmlns:a="http://schemas.openxmlformats.org/drawingml/2006/main" noGrp="1"/>
          </p:cNvSpPr>
          <p:nvPr/>
        </p:nvSpPr>
        <p:spPr>
          <a:xfrm xmlns:a="http://schemas.openxmlformats.org/drawingml/2006/main">
            <a:off x="1981200" y="29908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3F6B"/>
                </a:solidFill>
              </a:defRPr>
            </a:pPr>
            <a:r>
              <a:rPr sz="713" b="1">
                <a:solidFill>
                  <a:srgbClr val="003F6B"/>
                </a:solidFill>
              </a:rPr>
              <a:t>TENOR / LEITSATZKERN</a:t>
            </a:r>
          </a:p>
        </p:txBody>
      </p:sp>
      <p:sp>
        <p:nvSpPr>
          <p:cNvPr id="11" name="">
            <a:extLst xmlns:a="http://schemas.openxmlformats.org/drawingml/2006/main">
              <a:ext uri="{FF2B5EF4-FFF2-40B4-BE49-F238E27FC236}">
                <a16:creationId xmlns:a16="http://schemas.microsoft.com/office/drawing/2014/main" id="{5EFA1ABE-DE62-48AB-A207-8795BD255DFD}"/>
              </a:ext>
            </a:extLst>
          </p:cNvPr>
          <p:cNvSpPr>
            <a:spLocks xmlns:a="http://schemas.openxmlformats.org/drawingml/2006/main" noGrp="1"/>
          </p:cNvSpPr>
          <p:nvPr/>
        </p:nvSpPr>
        <p:spPr>
          <a:xfrm xmlns:a="http://schemas.openxmlformats.org/drawingml/2006/main">
            <a:off x="1981200" y="3181350"/>
            <a:ext cx="43053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55">
                <a:solidFill>
                  <a:srgbClr val="15232B"/>
                </a:solidFill>
              </a:defRPr>
            </a:pPr>
            <a:r>
              <a:rPr sz="855">
                <a:solidFill>
                  <a:srgbClr val="15232B"/>
                </a:solidFill>
              </a:rPr>
              <a:t>Erfasst eine wirksame Patientenverfügung die konkrete Situation und lehnt die Maßnahme ab, darf der Betreuer nicht in eine Zwangsbehandlung einwilligen.</a:t>
            </a:r>
          </a:p>
        </p:txBody>
      </p:sp>
      <p:sp>
        <p:nvSpPr>
          <p:cNvPr id="12" name="">
            <a:extLst xmlns:a="http://schemas.openxmlformats.org/drawingml/2006/main">
              <a:ext uri="{FF2B5EF4-FFF2-40B4-BE49-F238E27FC236}">
                <a16:creationId xmlns:a16="http://schemas.microsoft.com/office/drawing/2014/main" id="{A2358DF7-E81A-49D3-AA5E-F3A27F5D13AF}"/>
              </a:ext>
            </a:extLst>
          </p:cNvPr>
          <p:cNvSpPr>
            <a:spLocks xmlns:a="http://schemas.openxmlformats.org/drawingml/2006/main" noGrp="1"/>
          </p:cNvSpPr>
          <p:nvPr/>
        </p:nvSpPr>
        <p:spPr>
          <a:xfrm xmlns:a="http://schemas.openxmlformats.org/drawingml/2006/main">
            <a:off x="1981200" y="381000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3F6B"/>
                </a:solidFill>
              </a:defRPr>
            </a:pPr>
            <a:r>
              <a:rPr sz="713" b="1">
                <a:solidFill>
                  <a:srgbClr val="003F6B"/>
                </a:solidFill>
              </a:rPr>
              <a:t>TRAGENDE AUSSAGE</a:t>
            </a:r>
          </a:p>
        </p:txBody>
      </p:sp>
      <p:sp>
        <p:nvSpPr>
          <p:cNvPr id="13" name="">
            <a:extLst xmlns:a="http://schemas.openxmlformats.org/drawingml/2006/main">
              <a:ext uri="{FF2B5EF4-FFF2-40B4-BE49-F238E27FC236}">
                <a16:creationId xmlns:a16="http://schemas.microsoft.com/office/drawing/2014/main" id="{3B157A74-4802-4469-ACF7-2AD5166F2DB1}"/>
              </a:ext>
            </a:extLst>
          </p:cNvPr>
          <p:cNvSpPr>
            <a:spLocks xmlns:a="http://schemas.openxmlformats.org/drawingml/2006/main" noGrp="1"/>
          </p:cNvSpPr>
          <p:nvPr/>
        </p:nvSpPr>
        <p:spPr>
          <a:xfrm xmlns:a="http://schemas.openxmlformats.org/drawingml/2006/main">
            <a:off x="1981200" y="4000500"/>
            <a:ext cx="43053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10">
                <a:solidFill>
                  <a:srgbClr val="15232B"/>
                </a:solidFill>
              </a:defRPr>
            </a:pPr>
            <a:r>
              <a:rPr sz="810">
                <a:solidFill>
                  <a:srgbClr val="15232B"/>
                </a:solidFill>
              </a:rPr>
              <a:t>Die aktuelle Einwilligungsunfähigkeit beseitigt die Bindung an den vorausverfügten Willen nicht; die gerichtliche Genehmigung ersetzt keine fehlende materielle Befugnis.</a:t>
            </a:r>
          </a:p>
        </p:txBody>
      </p:sp>
      <p:sp>
        <p:nvSpPr>
          <p:cNvPr id="14" name="">
            <a:extLst xmlns:a="http://schemas.openxmlformats.org/drawingml/2006/main">
              <a:ext uri="{FF2B5EF4-FFF2-40B4-BE49-F238E27FC236}">
                <a16:creationId xmlns:a16="http://schemas.microsoft.com/office/drawing/2014/main" id="{A8F324DA-97C4-4B3F-B269-FBCB4DB3B95F}"/>
              </a:ext>
            </a:extLst>
          </p:cNvPr>
          <p:cNvSpPr>
            <a:spLocks xmlns:a="http://schemas.openxmlformats.org/drawingml/2006/main" noGrp="1"/>
          </p:cNvSpPr>
          <p:nvPr/>
        </p:nvSpPr>
        <p:spPr>
          <a:xfrm xmlns:a="http://schemas.openxmlformats.org/drawingml/2006/main">
            <a:off x="1981200" y="4572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3F6B"/>
                </a:solidFill>
              </a:defRPr>
            </a:pPr>
            <a:r>
              <a:rPr sz="713" b="1">
                <a:solidFill>
                  <a:srgbClr val="003F6B"/>
                </a:solidFill>
              </a:rPr>
              <a:t>PRAXIS</a:t>
            </a:r>
          </a:p>
        </p:txBody>
      </p:sp>
      <p:sp>
        <p:nvSpPr>
          <p:cNvPr id="15" name="">
            <a:extLst xmlns:a="http://schemas.openxmlformats.org/drawingml/2006/main">
              <a:ext uri="{FF2B5EF4-FFF2-40B4-BE49-F238E27FC236}">
                <a16:creationId xmlns:a16="http://schemas.microsoft.com/office/drawing/2014/main" id="{8ADF220F-3E41-4DCA-A88D-FB042F6414FC}"/>
              </a:ext>
            </a:extLst>
          </p:cNvPr>
          <p:cNvSpPr>
            <a:spLocks xmlns:a="http://schemas.openxmlformats.org/drawingml/2006/main" noGrp="1"/>
          </p:cNvSpPr>
          <p:nvPr/>
        </p:nvSpPr>
        <p:spPr>
          <a:xfrm xmlns:a="http://schemas.openxmlformats.org/drawingml/2006/main">
            <a:off x="2590800" y="4552950"/>
            <a:ext cx="3695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765">
                <a:solidFill>
                  <a:srgbClr val="15232B"/>
                </a:solidFill>
              </a:defRPr>
            </a:pPr>
            <a:r>
              <a:rPr sz="765">
                <a:solidFill>
                  <a:srgbClr val="15232B"/>
                </a:solidFill>
              </a:rPr>
              <a:t>Vor jedem Zwangsantrag Patientenverfügung und frühere Behandlungswünsche vollständig beiziehen und auf konkrete Passung prüfen.</a:t>
            </a:r>
          </a:p>
        </p:txBody>
      </p:sp>
      <p:sp>
        <p:nvSpPr>
          <p:cNvPr id="16" name="">
            <a:extLst xmlns:a="http://schemas.openxmlformats.org/drawingml/2006/main">
              <a:ext uri="{FF2B5EF4-FFF2-40B4-BE49-F238E27FC236}">
                <a16:creationId xmlns:a16="http://schemas.microsoft.com/office/drawing/2014/main" id="{D0776E5C-42C6-41F3-8D91-71187F449544}"/>
              </a:ext>
            </a:extLst>
          </p:cNvPr>
          <p:cNvSpPr>
            <a:spLocks xmlns:a="http://schemas.openxmlformats.org/drawingml/2006/main" noGrp="1"/>
          </p:cNvSpPr>
          <p:nvPr/>
        </p:nvSpPr>
        <p:spPr>
          <a:xfrm xmlns:a="http://schemas.openxmlformats.org/drawingml/2006/main">
            <a:off x="1981200" y="4962525"/>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615">
                <a:solidFill>
                  <a:srgbClr val="667680"/>
                </a:solidFill>
              </a:defRPr>
            </a:pPr>
            <a:r>
              <a:rPr sz="615">
                <a:solidFill>
                  <a:srgbClr val="667680"/>
                </a:solidFill>
              </a:rPr>
              <a:t>24. Aktuelle betreuungsrechtliche Konkretisierung von § 1827 und § 1832 BGB.</a:t>
            </a:r>
          </a:p>
        </p:txBody>
      </p:sp>
      <p:sp>
        <p:nvSpPr>
          <p:cNvPr id="17" name="">
            <a:extLst xmlns:a="http://schemas.openxmlformats.org/drawingml/2006/main">
              <a:ext uri="{FF2B5EF4-FFF2-40B4-BE49-F238E27FC236}">
                <a16:creationId xmlns:a16="http://schemas.microsoft.com/office/drawing/2014/main" id="{4F5C6629-F901-45E2-9736-763E40EBD4AC}"/>
              </a:ext>
            </a:extLst>
          </p:cNvPr>
          <p:cNvSpPr>
            <a:spLocks xmlns:a="http://schemas.openxmlformats.org/drawingml/2006/main" noGrp="1"/>
          </p:cNvSpPr>
          <p:nvPr/>
        </p:nvSpPr>
        <p:spPr>
          <a:xfrm xmlns:a="http://schemas.openxmlformats.org/drawingml/2006/main">
            <a:off x="6686550" y="1943100"/>
            <a:ext cx="4648200" cy="3238500"/>
          </a:xfrm>
          <a:prstGeom xmlns:a="http://schemas.openxmlformats.org/drawingml/2006/main" prst="roundRect">
            <a:avLst>
              <a:gd name="adj" fmla="val 2353"/>
            </a:avLst>
          </a:prstGeom>
          <a:solidFill xmlns:a="http://schemas.openxmlformats.org/drawingml/2006/main">
            <a:srgbClr val="FFFFFF"/>
          </a:solidFill>
          <a:ln xmlns:a="http://schemas.openxmlformats.org/drawingml/2006/main" w="10478">
            <a:solidFill>
              <a:srgbClr val="B9CAD2"/>
            </a:solidFill>
            <a:prstDash val="solid"/>
          </a:ln>
        </p:spPr>
      </p:sp>
      <p:sp>
        <p:nvSpPr>
          <p:cNvPr id="18" name="">
            <a:extLst xmlns:a="http://schemas.openxmlformats.org/drawingml/2006/main">
              <a:ext uri="{FF2B5EF4-FFF2-40B4-BE49-F238E27FC236}">
                <a16:creationId xmlns:a16="http://schemas.microsoft.com/office/drawing/2014/main" id="{9189E3C5-508B-48B7-B879-9999C94C3708}"/>
              </a:ext>
            </a:extLst>
          </p:cNvPr>
          <p:cNvSpPr>
            <a:spLocks xmlns:a="http://schemas.openxmlformats.org/drawingml/2006/main" noGrp="1"/>
          </p:cNvSpPr>
          <p:nvPr/>
        </p:nvSpPr>
        <p:spPr>
          <a:xfrm xmlns:a="http://schemas.openxmlformats.org/drawingml/2006/main">
            <a:off x="6686550" y="1943100"/>
            <a:ext cx="4648200" cy="85725"/>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19" name="">
            <a:extLst xmlns:a="http://schemas.openxmlformats.org/drawingml/2006/main">
              <a:ext uri="{FF2B5EF4-FFF2-40B4-BE49-F238E27FC236}">
                <a16:creationId xmlns:a16="http://schemas.microsoft.com/office/drawing/2014/main" id="{7117DE71-F595-4563-A7B0-6127D075F3D6}"/>
              </a:ext>
            </a:extLst>
          </p:cNvPr>
          <p:cNvSpPr>
            <a:spLocks xmlns:a="http://schemas.openxmlformats.org/drawingml/2006/main" noGrp="1"/>
          </p:cNvSpPr>
          <p:nvPr/>
        </p:nvSpPr>
        <p:spPr>
          <a:xfrm xmlns:a="http://schemas.openxmlformats.org/drawingml/2006/main">
            <a:off x="6838950" y="2133600"/>
            <a:ext cx="1066800" cy="266700"/>
          </a:xfrm>
          <a:prstGeom xmlns:a="http://schemas.openxmlformats.org/drawingml/2006/main" prst="roundRect">
            <a:avLst>
              <a:gd name="adj" fmla="val 28571"/>
            </a:avLst>
          </a:prstGeom>
          <a:solidFill xmlns:a="http://schemas.openxmlformats.org/drawingml/2006/main">
            <a:srgbClr val="00B2BB"/>
          </a:solidFill>
          <a:ln xmlns:a="http://schemas.openxmlformats.org/drawingml/2006/main" w="0">
            <a:solidFill>
              <a:srgbClr val="00B2BB"/>
            </a:solidFill>
            <a:prstDash val="solid"/>
          </a:ln>
        </p:spPr>
      </p:sp>
      <p:sp>
        <p:nvSpPr>
          <p:cNvPr id="20" name="">
            <a:extLst xmlns:a="http://schemas.openxmlformats.org/drawingml/2006/main">
              <a:ext uri="{FF2B5EF4-FFF2-40B4-BE49-F238E27FC236}">
                <a16:creationId xmlns:a16="http://schemas.microsoft.com/office/drawing/2014/main" id="{57951B71-5D77-4F4E-A1CC-760C530F6A88}"/>
              </a:ext>
            </a:extLst>
          </p:cNvPr>
          <p:cNvSpPr>
            <a:spLocks xmlns:a="http://schemas.openxmlformats.org/drawingml/2006/main" noGrp="1"/>
          </p:cNvSpPr>
          <p:nvPr/>
        </p:nvSpPr>
        <p:spPr>
          <a:xfrm xmlns:a="http://schemas.openxmlformats.org/drawingml/2006/main">
            <a:off x="6838950" y="21336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40" b="1">
                <a:solidFill>
                  <a:srgbClr val="FFFFFF"/>
                </a:solidFill>
              </a:defRPr>
            </a:pPr>
            <a:r>
              <a:rPr sz="840" b="1">
                <a:solidFill>
                  <a:srgbClr val="FFFFFF"/>
                </a:solidFill>
              </a:rPr>
              <a:t>KERNBESTAND</a:t>
            </a:r>
          </a:p>
        </p:txBody>
      </p:sp>
      <p:sp>
        <p:nvSpPr>
          <p:cNvPr id="21" name="">
            <a:extLst xmlns:a="http://schemas.openxmlformats.org/drawingml/2006/main">
              <a:ext uri="{FF2B5EF4-FFF2-40B4-BE49-F238E27FC236}">
                <a16:creationId xmlns:a16="http://schemas.microsoft.com/office/drawing/2014/main" id="{849199A6-EE1F-4E8F-9E8F-1C40A6CA1B8A}"/>
              </a:ext>
            </a:extLst>
          </p:cNvPr>
          <p:cNvSpPr>
            <a:spLocks xmlns:a="http://schemas.openxmlformats.org/drawingml/2006/main" noGrp="1"/>
          </p:cNvSpPr>
          <p:nvPr/>
        </p:nvSpPr>
        <p:spPr>
          <a:xfrm xmlns:a="http://schemas.openxmlformats.org/drawingml/2006/main">
            <a:off x="8020050" y="2133600"/>
            <a:ext cx="3162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35" b="1">
                <a:solidFill>
                  <a:srgbClr val="003F6B"/>
                </a:solidFill>
              </a:defRPr>
            </a:pPr>
            <a:r>
              <a:rPr sz="735" b="1">
                <a:solidFill>
                  <a:srgbClr val="003F6B"/>
                </a:solidFill>
              </a:rPr>
              <a:t>BVerfG · 23.03.2011 · 2 BvR 882/09</a:t>
            </a:r>
          </a:p>
        </p:txBody>
      </p:sp>
      <p:sp>
        <p:nvSpPr>
          <p:cNvPr id="22" name="">
            <a:extLst xmlns:a="http://schemas.openxmlformats.org/drawingml/2006/main">
              <a:ext uri="{FF2B5EF4-FFF2-40B4-BE49-F238E27FC236}">
                <a16:creationId xmlns:a16="http://schemas.microsoft.com/office/drawing/2014/main" id="{283024DF-764D-46A0-ACB2-C2B8978DEF11}"/>
              </a:ext>
            </a:extLst>
          </p:cNvPr>
          <p:cNvSpPr>
            <a:spLocks xmlns:a="http://schemas.openxmlformats.org/drawingml/2006/main" noGrp="1"/>
          </p:cNvSpPr>
          <p:nvPr/>
        </p:nvSpPr>
        <p:spPr>
          <a:xfrm xmlns:a="http://schemas.openxmlformats.org/drawingml/2006/main">
            <a:off x="6858000" y="2476500"/>
            <a:ext cx="430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15" b="1">
                <a:solidFill>
                  <a:srgbClr val="003F6B"/>
                </a:solidFill>
              </a:defRPr>
            </a:pPr>
            <a:r>
              <a:rPr sz="1215" b="1">
                <a:solidFill>
                  <a:srgbClr val="003F6B"/>
                </a:solidFill>
              </a:rPr>
              <a:t>Zwangsbehandlung als besonders schwerer Grundrechtseingriff</a:t>
            </a:r>
          </a:p>
        </p:txBody>
      </p:sp>
      <p:sp>
        <p:nvSpPr>
          <p:cNvPr id="23" name="">
            <a:extLst xmlns:a="http://schemas.openxmlformats.org/drawingml/2006/main">
              <a:ext uri="{FF2B5EF4-FFF2-40B4-BE49-F238E27FC236}">
                <a16:creationId xmlns:a16="http://schemas.microsoft.com/office/drawing/2014/main" id="{D308D5A4-B3C8-49B4-BBBD-A25FAFF4B527}"/>
              </a:ext>
            </a:extLst>
          </p:cNvPr>
          <p:cNvSpPr>
            <a:spLocks xmlns:a="http://schemas.openxmlformats.org/drawingml/2006/main" noGrp="1"/>
          </p:cNvSpPr>
          <p:nvPr/>
        </p:nvSpPr>
        <p:spPr>
          <a:xfrm xmlns:a="http://schemas.openxmlformats.org/drawingml/2006/main">
            <a:off x="6858000" y="29908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B2BB"/>
                </a:solidFill>
              </a:defRPr>
            </a:pPr>
            <a:r>
              <a:rPr sz="713" b="1">
                <a:solidFill>
                  <a:srgbClr val="00B2BB"/>
                </a:solidFill>
              </a:rPr>
              <a:t>TENOR / LEITSATZKERN</a:t>
            </a:r>
          </a:p>
        </p:txBody>
      </p:sp>
      <p:sp>
        <p:nvSpPr>
          <p:cNvPr id="24" name="">
            <a:extLst xmlns:a="http://schemas.openxmlformats.org/drawingml/2006/main">
              <a:ext uri="{FF2B5EF4-FFF2-40B4-BE49-F238E27FC236}">
                <a16:creationId xmlns:a16="http://schemas.microsoft.com/office/drawing/2014/main" id="{CA696773-F935-4018-9EBB-E7A9450C1C3E}"/>
              </a:ext>
            </a:extLst>
          </p:cNvPr>
          <p:cNvSpPr>
            <a:spLocks xmlns:a="http://schemas.openxmlformats.org/drawingml/2006/main" noGrp="1"/>
          </p:cNvSpPr>
          <p:nvPr/>
        </p:nvSpPr>
        <p:spPr>
          <a:xfrm xmlns:a="http://schemas.openxmlformats.org/drawingml/2006/main">
            <a:off x="6858000" y="3181350"/>
            <a:ext cx="43053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55">
                <a:solidFill>
                  <a:srgbClr val="15232B"/>
                </a:solidFill>
              </a:defRPr>
            </a:pPr>
            <a:r>
              <a:rPr sz="855">
                <a:solidFill>
                  <a:srgbClr val="15232B"/>
                </a:solidFill>
              </a:rPr>
              <a:t>Die damalige gesetzliche Grundlage für die Zwangsbehandlung im Maßregelvollzug genügte den verfassungsrechtlichen Anforderungen nicht.</a:t>
            </a:r>
          </a:p>
        </p:txBody>
      </p:sp>
      <p:sp>
        <p:nvSpPr>
          <p:cNvPr id="25" name="">
            <a:extLst xmlns:a="http://schemas.openxmlformats.org/drawingml/2006/main">
              <a:ext uri="{FF2B5EF4-FFF2-40B4-BE49-F238E27FC236}">
                <a16:creationId xmlns:a16="http://schemas.microsoft.com/office/drawing/2014/main" id="{9E868A66-6EAC-4353-B47A-BB8AC82041EB}"/>
              </a:ext>
            </a:extLst>
          </p:cNvPr>
          <p:cNvSpPr>
            <a:spLocks xmlns:a="http://schemas.openxmlformats.org/drawingml/2006/main" noGrp="1"/>
          </p:cNvSpPr>
          <p:nvPr/>
        </p:nvSpPr>
        <p:spPr>
          <a:xfrm xmlns:a="http://schemas.openxmlformats.org/drawingml/2006/main">
            <a:off x="6858000" y="381000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3F6B"/>
                </a:solidFill>
              </a:defRPr>
            </a:pPr>
            <a:r>
              <a:rPr sz="713" b="1">
                <a:solidFill>
                  <a:srgbClr val="003F6B"/>
                </a:solidFill>
              </a:rPr>
              <a:t>TRAGENDE AUSSAGE</a:t>
            </a:r>
          </a:p>
        </p:txBody>
      </p:sp>
      <p:sp>
        <p:nvSpPr>
          <p:cNvPr id="26" name="">
            <a:extLst xmlns:a="http://schemas.openxmlformats.org/drawingml/2006/main">
              <a:ext uri="{FF2B5EF4-FFF2-40B4-BE49-F238E27FC236}">
                <a16:creationId xmlns:a16="http://schemas.microsoft.com/office/drawing/2014/main" id="{98EE48FA-251A-4CB6-B0CA-0ABB2A20489F}"/>
              </a:ext>
            </a:extLst>
          </p:cNvPr>
          <p:cNvSpPr>
            <a:spLocks xmlns:a="http://schemas.openxmlformats.org/drawingml/2006/main" noGrp="1"/>
          </p:cNvSpPr>
          <p:nvPr/>
        </p:nvSpPr>
        <p:spPr>
          <a:xfrm xmlns:a="http://schemas.openxmlformats.org/drawingml/2006/main">
            <a:off x="6858000" y="4000500"/>
            <a:ext cx="43053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10">
                <a:solidFill>
                  <a:srgbClr val="15232B"/>
                </a:solidFill>
              </a:defRPr>
            </a:pPr>
            <a:r>
              <a:rPr sz="810">
                <a:solidFill>
                  <a:srgbClr val="15232B"/>
                </a:solidFill>
              </a:rPr>
              <a:t>Zwangsbehandlung verlangt krankheitsbedingte Einsichtsunfähigkeit, letzte Mittel, ernsthaften Überzeugungsversuch, Erfolgsaussicht, strikte Verhältnismäßigkeit und wirksame Verfahrenssicherungen.</a:t>
            </a:r>
          </a:p>
        </p:txBody>
      </p:sp>
      <p:sp>
        <p:nvSpPr>
          <p:cNvPr id="27" name="">
            <a:extLst xmlns:a="http://schemas.openxmlformats.org/drawingml/2006/main">
              <a:ext uri="{FF2B5EF4-FFF2-40B4-BE49-F238E27FC236}">
                <a16:creationId xmlns:a16="http://schemas.microsoft.com/office/drawing/2014/main" id="{CA18BC09-EBCC-4A1F-B920-F7667C5460C1}"/>
              </a:ext>
            </a:extLst>
          </p:cNvPr>
          <p:cNvSpPr>
            <a:spLocks xmlns:a="http://schemas.openxmlformats.org/drawingml/2006/main" noGrp="1"/>
          </p:cNvSpPr>
          <p:nvPr/>
        </p:nvSpPr>
        <p:spPr>
          <a:xfrm xmlns:a="http://schemas.openxmlformats.org/drawingml/2006/main">
            <a:off x="6858000" y="4572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B2BB"/>
                </a:solidFill>
              </a:defRPr>
            </a:pPr>
            <a:r>
              <a:rPr sz="713" b="1">
                <a:solidFill>
                  <a:srgbClr val="00B2BB"/>
                </a:solidFill>
              </a:rPr>
              <a:t>PRAXIS</a:t>
            </a:r>
          </a:p>
        </p:txBody>
      </p:sp>
      <p:sp>
        <p:nvSpPr>
          <p:cNvPr id="28" name="">
            <a:extLst xmlns:a="http://schemas.openxmlformats.org/drawingml/2006/main">
              <a:ext uri="{FF2B5EF4-FFF2-40B4-BE49-F238E27FC236}">
                <a16:creationId xmlns:a16="http://schemas.microsoft.com/office/drawing/2014/main" id="{E92B68AF-EB34-4162-BACA-BE8CF5BD8F09}"/>
              </a:ext>
            </a:extLst>
          </p:cNvPr>
          <p:cNvSpPr>
            <a:spLocks xmlns:a="http://schemas.openxmlformats.org/drawingml/2006/main" noGrp="1"/>
          </p:cNvSpPr>
          <p:nvPr/>
        </p:nvSpPr>
        <p:spPr>
          <a:xfrm xmlns:a="http://schemas.openxmlformats.org/drawingml/2006/main">
            <a:off x="7467600" y="4552950"/>
            <a:ext cx="3695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765">
                <a:solidFill>
                  <a:srgbClr val="15232B"/>
                </a:solidFill>
              </a:defRPr>
            </a:pPr>
            <a:r>
              <a:rPr sz="765">
                <a:solidFill>
                  <a:srgbClr val="15232B"/>
                </a:solidFill>
              </a:rPr>
              <a:t>Ziel, Einwilligungsfähigkeit, Überzeugungsversuche, mildere Mittel, Nutzen-Risiko-Abwägung, Genehmigung und Überwachung einzeln dokumentieren.</a:t>
            </a:r>
          </a:p>
        </p:txBody>
      </p:sp>
      <p:sp>
        <p:nvSpPr>
          <p:cNvPr id="29" name="">
            <a:extLst xmlns:a="http://schemas.openxmlformats.org/drawingml/2006/main">
              <a:ext uri="{FF2B5EF4-FFF2-40B4-BE49-F238E27FC236}">
                <a16:creationId xmlns:a16="http://schemas.microsoft.com/office/drawing/2014/main" id="{2CD124BF-9655-49CF-AC27-564C1FB5D875}"/>
              </a:ext>
            </a:extLst>
          </p:cNvPr>
          <p:cNvSpPr>
            <a:spLocks xmlns:a="http://schemas.openxmlformats.org/drawingml/2006/main" noGrp="1"/>
          </p:cNvSpPr>
          <p:nvPr/>
        </p:nvSpPr>
        <p:spPr>
          <a:xfrm xmlns:a="http://schemas.openxmlformats.org/drawingml/2006/main">
            <a:off x="6858000" y="4962525"/>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615">
                <a:solidFill>
                  <a:srgbClr val="667680"/>
                </a:solidFill>
              </a:defRPr>
            </a:pPr>
            <a:r>
              <a:rPr sz="615">
                <a:solidFill>
                  <a:srgbClr val="667680"/>
                </a:solidFill>
              </a:rPr>
              <a:t>25. Grundsatzentscheidung; Maßstab für spätere Zwangsbehandlungsrechtsprechung.</a:t>
            </a:r>
          </a:p>
        </p:txBody>
      </p:sp>
      <p:sp>
        <p:nvSpPr>
          <p:cNvPr id="30" name="">
            <a:extLst xmlns:a="http://schemas.openxmlformats.org/drawingml/2006/main">
              <a:ext uri="{FF2B5EF4-FFF2-40B4-BE49-F238E27FC236}">
                <a16:creationId xmlns:a16="http://schemas.microsoft.com/office/drawing/2014/main" id="{25AEA626-A285-49C6-AF37-8B0B703B53AB}"/>
              </a:ext>
            </a:extLst>
          </p:cNvPr>
          <p:cNvSpPr>
            <a:spLocks xmlns:a="http://schemas.openxmlformats.org/drawingml/2006/main" noGrp="1"/>
          </p:cNvSpPr>
          <p:nvPr/>
        </p:nvSpPr>
        <p:spPr>
          <a:xfrm xmlns:a="http://schemas.openxmlformats.org/drawingml/2006/main">
            <a:off x="1809750" y="5314950"/>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540">
                <a:solidFill>
                  <a:srgbClr val="667680"/>
                </a:solidFill>
              </a:defRPr>
            </a:pPr>
            <a:r>
              <a:rPr sz="540">
                <a:solidFill>
                  <a:srgbClr val="667680"/>
                </a:solidFill>
              </a:rPr>
              <a:t>Originalquellen: https://juris.bundesgerichtshof.de/cgi-bin/rechtsprechung/document.py?Art=en&amp;Blank=1.pdf&amp;Datum=Aktuell&amp;Gericht=bgh&amp;Seite=2&amp;Sort=14&amp;anz=1045&amp;nr=141487&amp;pos=68 · https://www.bundesverfassungsgericht.de/SharedDocs/Entscheidungen/DE/2011/03/rs20110323_2bvr088209.html</a:t>
            </a:r>
          </a:p>
        </p:txBody>
      </p:sp>
    </p:spTree>
    <p:extLst>
      <p:ext uri="{BB962C8B-B14F-4D97-AF65-F5344CB8AC3E}">
        <p14:creationId xmlns:p14="http://schemas.microsoft.com/office/powerpoint/2010/main" val="43637646"/>
      </p:ext>
    </p:extLst>
  </p:cSld>
</p:sld>
</file>

<file path=ppt/slides/slide440.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Zwang &amp; Freiheitsrechte</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LEITENTSCHEIDUNGEN · 14/20</a:t>
            </a:r>
            <a:endParaRPr/>
          </a:p>
        </p:txBody>
      </p:sp>
      <p:sp>
        <p:nvSpPr>
          <p:cNvPr id="4" name="">
            <a:extLst xmlns:a="http://schemas.openxmlformats.org/drawingml/2006/main">
              <a:ext uri="{FF2B5EF4-FFF2-40B4-BE49-F238E27FC236}">
                <a16:creationId xmlns:a16="http://schemas.microsoft.com/office/drawing/2014/main" id="{2463B863-C389-4BEA-AF60-F5D31B09E762}"/>
              </a:ext>
            </a:extLst>
          </p:cNvPr>
          <p:cNvSpPr>
            <a:spLocks xmlns:a="http://schemas.openxmlformats.org/drawingml/2006/main" noGrp="1"/>
          </p:cNvSpPr>
          <p:nvPr/>
        </p:nvSpPr>
        <p:spPr>
          <a:xfrm xmlns:a="http://schemas.openxmlformats.org/drawingml/2006/main">
            <a:off x="1809750" y="1943100"/>
            <a:ext cx="4648200" cy="3238500"/>
          </a:xfrm>
          <a:prstGeom xmlns:a="http://schemas.openxmlformats.org/drawingml/2006/main" prst="roundRect">
            <a:avLst>
              <a:gd name="adj" fmla="val 2353"/>
            </a:avLst>
          </a:prstGeom>
          <a:solidFill xmlns:a="http://schemas.openxmlformats.org/drawingml/2006/main">
            <a:srgbClr val="FFFFFF"/>
          </a:solidFill>
          <a:ln xmlns:a="http://schemas.openxmlformats.org/drawingml/2006/main" w="10478">
            <a:solidFill>
              <a:srgbClr val="B9CAD2"/>
            </a:solidFill>
            <a:prstDash val="solid"/>
          </a:ln>
        </p:spPr>
      </p:sp>
      <p:sp>
        <p:nvSpPr>
          <p:cNvPr id="5" name="">
            <a:extLst xmlns:a="http://schemas.openxmlformats.org/drawingml/2006/main">
              <a:ext uri="{FF2B5EF4-FFF2-40B4-BE49-F238E27FC236}">
                <a16:creationId xmlns:a16="http://schemas.microsoft.com/office/drawing/2014/main" id="{E22F9E82-5CA5-46BC-B8A3-45A7F4C39F9B}"/>
              </a:ext>
            </a:extLst>
          </p:cNvPr>
          <p:cNvSpPr>
            <a:spLocks xmlns:a="http://schemas.openxmlformats.org/drawingml/2006/main" noGrp="1"/>
          </p:cNvSpPr>
          <p:nvPr/>
        </p:nvSpPr>
        <p:spPr>
          <a:xfrm xmlns:a="http://schemas.openxmlformats.org/drawingml/2006/main">
            <a:off x="1809750" y="1943100"/>
            <a:ext cx="4648200" cy="85725"/>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41D70968-53C7-4BFA-859F-DA99B8FACF1B}"/>
              </a:ext>
            </a:extLst>
          </p:cNvPr>
          <p:cNvSpPr>
            <a:spLocks xmlns:a="http://schemas.openxmlformats.org/drawingml/2006/main" noGrp="1"/>
          </p:cNvSpPr>
          <p:nvPr/>
        </p:nvSpPr>
        <p:spPr>
          <a:xfrm xmlns:a="http://schemas.openxmlformats.org/drawingml/2006/main">
            <a:off x="1962150" y="2133600"/>
            <a:ext cx="1066800" cy="266700"/>
          </a:xfrm>
          <a:prstGeom xmlns:a="http://schemas.openxmlformats.org/drawingml/2006/main" prst="roundRect">
            <a:avLst>
              <a:gd name="adj" fmla="val 28571"/>
            </a:avLst>
          </a:prstGeom>
          <a:solidFill xmlns:a="http://schemas.openxmlformats.org/drawingml/2006/main">
            <a:srgbClr val="00B2BB"/>
          </a:solidFill>
          <a:ln xmlns:a="http://schemas.openxmlformats.org/drawingml/2006/main" w="0">
            <a:solidFill>
              <a:srgbClr val="00B2BB"/>
            </a:solidFill>
            <a:prstDash val="solid"/>
          </a:ln>
        </p:spPr>
      </p:sp>
      <p:sp>
        <p:nvSpPr>
          <p:cNvPr id="7" name="">
            <a:extLst xmlns:a="http://schemas.openxmlformats.org/drawingml/2006/main">
              <a:ext uri="{FF2B5EF4-FFF2-40B4-BE49-F238E27FC236}">
                <a16:creationId xmlns:a16="http://schemas.microsoft.com/office/drawing/2014/main" id="{F09DF435-64D6-4329-9569-8AEA277BADC2}"/>
              </a:ext>
            </a:extLst>
          </p:cNvPr>
          <p:cNvSpPr>
            <a:spLocks xmlns:a="http://schemas.openxmlformats.org/drawingml/2006/main" noGrp="1"/>
          </p:cNvSpPr>
          <p:nvPr/>
        </p:nvSpPr>
        <p:spPr>
          <a:xfrm xmlns:a="http://schemas.openxmlformats.org/drawingml/2006/main">
            <a:off x="1962150" y="21336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40" b="1">
                <a:solidFill>
                  <a:srgbClr val="FFFFFF"/>
                </a:solidFill>
              </a:defRPr>
            </a:pPr>
            <a:r>
              <a:rPr sz="840" b="1">
                <a:solidFill>
                  <a:srgbClr val="FFFFFF"/>
                </a:solidFill>
              </a:rPr>
              <a:t>KERNBESTAND</a:t>
            </a:r>
          </a:p>
        </p:txBody>
      </p:sp>
      <p:sp>
        <p:nvSpPr>
          <p:cNvPr id="8" name="">
            <a:extLst xmlns:a="http://schemas.openxmlformats.org/drawingml/2006/main">
              <a:ext uri="{FF2B5EF4-FFF2-40B4-BE49-F238E27FC236}">
                <a16:creationId xmlns:a16="http://schemas.microsoft.com/office/drawing/2014/main" id="{0A841068-61F8-4480-839E-743C83C5F4BE}"/>
              </a:ext>
            </a:extLst>
          </p:cNvPr>
          <p:cNvSpPr>
            <a:spLocks xmlns:a="http://schemas.openxmlformats.org/drawingml/2006/main" noGrp="1"/>
          </p:cNvSpPr>
          <p:nvPr/>
        </p:nvSpPr>
        <p:spPr>
          <a:xfrm xmlns:a="http://schemas.openxmlformats.org/drawingml/2006/main">
            <a:off x="3143250" y="2133600"/>
            <a:ext cx="3162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35" b="1">
                <a:solidFill>
                  <a:srgbClr val="003F6B"/>
                </a:solidFill>
              </a:defRPr>
            </a:pPr>
            <a:r>
              <a:rPr sz="735" b="1">
                <a:solidFill>
                  <a:srgbClr val="003F6B"/>
                </a:solidFill>
              </a:rPr>
              <a:t>BVerfG · 26.07.2016 · 1 BvL 8/15</a:t>
            </a:r>
          </a:p>
        </p:txBody>
      </p:sp>
      <p:sp>
        <p:nvSpPr>
          <p:cNvPr id="9" name="">
            <a:extLst xmlns:a="http://schemas.openxmlformats.org/drawingml/2006/main">
              <a:ext uri="{FF2B5EF4-FFF2-40B4-BE49-F238E27FC236}">
                <a16:creationId xmlns:a16="http://schemas.microsoft.com/office/drawing/2014/main" id="{51486704-15DD-4C51-8D26-787CF07ABDD9}"/>
              </a:ext>
            </a:extLst>
          </p:cNvPr>
          <p:cNvSpPr>
            <a:spLocks xmlns:a="http://schemas.openxmlformats.org/drawingml/2006/main" noGrp="1"/>
          </p:cNvSpPr>
          <p:nvPr/>
        </p:nvSpPr>
        <p:spPr>
          <a:xfrm xmlns:a="http://schemas.openxmlformats.org/drawingml/2006/main">
            <a:off x="1981200" y="2476500"/>
            <a:ext cx="430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15" b="1">
                <a:solidFill>
                  <a:srgbClr val="003F6B"/>
                </a:solidFill>
              </a:defRPr>
            </a:pPr>
            <a:r>
              <a:rPr sz="1215" b="1">
                <a:solidFill>
                  <a:srgbClr val="003F6B"/>
                </a:solidFill>
              </a:rPr>
              <a:t>Staatliche Schutzpflicht bei nicht einwilligungsfähigen Patienten</a:t>
            </a:r>
          </a:p>
        </p:txBody>
      </p:sp>
      <p:sp>
        <p:nvSpPr>
          <p:cNvPr id="10" name="">
            <a:extLst xmlns:a="http://schemas.openxmlformats.org/drawingml/2006/main">
              <a:ext uri="{FF2B5EF4-FFF2-40B4-BE49-F238E27FC236}">
                <a16:creationId xmlns:a16="http://schemas.microsoft.com/office/drawing/2014/main" id="{3B9507C9-39C9-49F8-8890-30E075F201B3}"/>
              </a:ext>
            </a:extLst>
          </p:cNvPr>
          <p:cNvSpPr>
            <a:spLocks xmlns:a="http://schemas.openxmlformats.org/drawingml/2006/main" noGrp="1"/>
          </p:cNvSpPr>
          <p:nvPr/>
        </p:nvSpPr>
        <p:spPr>
          <a:xfrm xmlns:a="http://schemas.openxmlformats.org/drawingml/2006/main">
            <a:off x="1981200" y="29908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B2BB"/>
                </a:solidFill>
              </a:defRPr>
            </a:pPr>
            <a:r>
              <a:rPr sz="713" b="1">
                <a:solidFill>
                  <a:srgbClr val="00B2BB"/>
                </a:solidFill>
              </a:rPr>
              <a:t>TENOR / LEITSATZKERN</a:t>
            </a:r>
          </a:p>
        </p:txBody>
      </p:sp>
      <p:sp>
        <p:nvSpPr>
          <p:cNvPr id="11" name="">
            <a:extLst xmlns:a="http://schemas.openxmlformats.org/drawingml/2006/main">
              <a:ext uri="{FF2B5EF4-FFF2-40B4-BE49-F238E27FC236}">
                <a16:creationId xmlns:a16="http://schemas.microsoft.com/office/drawing/2014/main" id="{67A14CF3-8499-4884-8F2A-FF15C30BBF69}"/>
              </a:ext>
            </a:extLst>
          </p:cNvPr>
          <p:cNvSpPr>
            <a:spLocks xmlns:a="http://schemas.openxmlformats.org/drawingml/2006/main" noGrp="1"/>
          </p:cNvSpPr>
          <p:nvPr/>
        </p:nvSpPr>
        <p:spPr>
          <a:xfrm xmlns:a="http://schemas.openxmlformats.org/drawingml/2006/main">
            <a:off x="1981200" y="3181350"/>
            <a:ext cx="43053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55">
                <a:solidFill>
                  <a:srgbClr val="15232B"/>
                </a:solidFill>
              </a:defRPr>
            </a:pPr>
            <a:r>
              <a:rPr sz="855">
                <a:solidFill>
                  <a:srgbClr val="15232B"/>
                </a:solidFill>
              </a:rPr>
              <a:t>Der Staat muss unter strengen Voraussetzungen eine Behandlung ermöglichen, wenn ein nicht einwilligungsfähiger Betroffener sonst erhebliche Gesundheitsschäden erleidet.</a:t>
            </a:r>
          </a:p>
        </p:txBody>
      </p:sp>
      <p:sp>
        <p:nvSpPr>
          <p:cNvPr id="12" name="">
            <a:extLst xmlns:a="http://schemas.openxmlformats.org/drawingml/2006/main">
              <a:ext uri="{FF2B5EF4-FFF2-40B4-BE49-F238E27FC236}">
                <a16:creationId xmlns:a16="http://schemas.microsoft.com/office/drawing/2014/main" id="{7CCA90F4-B707-4C5E-BEA8-80AE8E821BB5}"/>
              </a:ext>
            </a:extLst>
          </p:cNvPr>
          <p:cNvSpPr>
            <a:spLocks xmlns:a="http://schemas.openxmlformats.org/drawingml/2006/main" noGrp="1"/>
          </p:cNvSpPr>
          <p:nvPr/>
        </p:nvSpPr>
        <p:spPr>
          <a:xfrm xmlns:a="http://schemas.openxmlformats.org/drawingml/2006/main">
            <a:off x="1981200" y="381000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3F6B"/>
                </a:solidFill>
              </a:defRPr>
            </a:pPr>
            <a:r>
              <a:rPr sz="713" b="1">
                <a:solidFill>
                  <a:srgbClr val="003F6B"/>
                </a:solidFill>
              </a:rPr>
              <a:t>TRAGENDE AUSSAGE</a:t>
            </a:r>
          </a:p>
        </p:txBody>
      </p:sp>
      <p:sp>
        <p:nvSpPr>
          <p:cNvPr id="13" name="">
            <a:extLst xmlns:a="http://schemas.openxmlformats.org/drawingml/2006/main">
              <a:ext uri="{FF2B5EF4-FFF2-40B4-BE49-F238E27FC236}">
                <a16:creationId xmlns:a16="http://schemas.microsoft.com/office/drawing/2014/main" id="{ADCA23AD-6594-4787-AC9C-ACEF3B3D8666}"/>
              </a:ext>
            </a:extLst>
          </p:cNvPr>
          <p:cNvSpPr>
            <a:spLocks xmlns:a="http://schemas.openxmlformats.org/drawingml/2006/main" noGrp="1"/>
          </p:cNvSpPr>
          <p:nvPr/>
        </p:nvSpPr>
        <p:spPr>
          <a:xfrm xmlns:a="http://schemas.openxmlformats.org/drawingml/2006/main">
            <a:off x="1981200" y="4000500"/>
            <a:ext cx="43053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10">
                <a:solidFill>
                  <a:srgbClr val="15232B"/>
                </a:solidFill>
              </a:defRPr>
            </a:pPr>
            <a:r>
              <a:rPr sz="810">
                <a:solidFill>
                  <a:srgbClr val="15232B"/>
                </a:solidFill>
              </a:rPr>
              <a:t>Autonomie und Schutzpflicht stehen nicht schematisch gegeneinander. Maßgeblich sind natürlicher Wille, frühere autonome Entscheidung, Dringlichkeit, Erfolgsaussicht und Verhältnismäßigkeit.</a:t>
            </a:r>
          </a:p>
        </p:txBody>
      </p:sp>
      <p:sp>
        <p:nvSpPr>
          <p:cNvPr id="14" name="">
            <a:extLst xmlns:a="http://schemas.openxmlformats.org/drawingml/2006/main">
              <a:ext uri="{FF2B5EF4-FFF2-40B4-BE49-F238E27FC236}">
                <a16:creationId xmlns:a16="http://schemas.microsoft.com/office/drawing/2014/main" id="{97892586-1532-4B14-95CA-022EA873D1CB}"/>
              </a:ext>
            </a:extLst>
          </p:cNvPr>
          <p:cNvSpPr>
            <a:spLocks xmlns:a="http://schemas.openxmlformats.org/drawingml/2006/main" noGrp="1"/>
          </p:cNvSpPr>
          <p:nvPr/>
        </p:nvSpPr>
        <p:spPr>
          <a:xfrm xmlns:a="http://schemas.openxmlformats.org/drawingml/2006/main">
            <a:off x="1981200" y="4572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B2BB"/>
                </a:solidFill>
              </a:defRPr>
            </a:pPr>
            <a:r>
              <a:rPr sz="713" b="1">
                <a:solidFill>
                  <a:srgbClr val="00B2BB"/>
                </a:solidFill>
              </a:rPr>
              <a:t>PRAXIS</a:t>
            </a:r>
          </a:p>
        </p:txBody>
      </p:sp>
      <p:sp>
        <p:nvSpPr>
          <p:cNvPr id="15" name="">
            <a:extLst xmlns:a="http://schemas.openxmlformats.org/drawingml/2006/main">
              <a:ext uri="{FF2B5EF4-FFF2-40B4-BE49-F238E27FC236}">
                <a16:creationId xmlns:a16="http://schemas.microsoft.com/office/drawing/2014/main" id="{F9533AC0-2B77-4288-AEE3-9086982F0A01}"/>
              </a:ext>
            </a:extLst>
          </p:cNvPr>
          <p:cNvSpPr>
            <a:spLocks xmlns:a="http://schemas.openxmlformats.org/drawingml/2006/main" noGrp="1"/>
          </p:cNvSpPr>
          <p:nvPr/>
        </p:nvSpPr>
        <p:spPr>
          <a:xfrm xmlns:a="http://schemas.openxmlformats.org/drawingml/2006/main">
            <a:off x="2590800" y="4552950"/>
            <a:ext cx="3695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765">
                <a:solidFill>
                  <a:srgbClr val="15232B"/>
                </a:solidFill>
              </a:defRPr>
            </a:pPr>
            <a:r>
              <a:rPr sz="765">
                <a:solidFill>
                  <a:srgbClr val="15232B"/>
                </a:solidFill>
              </a:rPr>
              <a:t>Zwang nie allein mit ‚Patientenwohl‘ begründen; vorausverfügten Willen, Einwilligungsfähigkeit und konkrete Schadensprognose priorisiert klären.</a:t>
            </a:r>
          </a:p>
        </p:txBody>
      </p:sp>
      <p:sp>
        <p:nvSpPr>
          <p:cNvPr id="16" name="">
            <a:extLst xmlns:a="http://schemas.openxmlformats.org/drawingml/2006/main">
              <a:ext uri="{FF2B5EF4-FFF2-40B4-BE49-F238E27FC236}">
                <a16:creationId xmlns:a16="http://schemas.microsoft.com/office/drawing/2014/main" id="{35BFA4E5-648F-431B-AD35-CA0B464E3521}"/>
              </a:ext>
            </a:extLst>
          </p:cNvPr>
          <p:cNvSpPr>
            <a:spLocks xmlns:a="http://schemas.openxmlformats.org/drawingml/2006/main" noGrp="1"/>
          </p:cNvSpPr>
          <p:nvPr/>
        </p:nvSpPr>
        <p:spPr>
          <a:xfrm xmlns:a="http://schemas.openxmlformats.org/drawingml/2006/main">
            <a:off x="1981200" y="4962525"/>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615">
                <a:solidFill>
                  <a:srgbClr val="667680"/>
                </a:solidFill>
              </a:defRPr>
            </a:pPr>
            <a:r>
              <a:rPr sz="615">
                <a:solidFill>
                  <a:srgbClr val="667680"/>
                </a:solidFill>
              </a:rPr>
              <a:t>26. Leitentscheidung zur grundrechtlichen Schutzpflicht im Betreuungsrecht.</a:t>
            </a:r>
          </a:p>
        </p:txBody>
      </p:sp>
      <p:sp>
        <p:nvSpPr>
          <p:cNvPr id="17" name="">
            <a:extLst xmlns:a="http://schemas.openxmlformats.org/drawingml/2006/main">
              <a:ext uri="{FF2B5EF4-FFF2-40B4-BE49-F238E27FC236}">
                <a16:creationId xmlns:a16="http://schemas.microsoft.com/office/drawing/2014/main" id="{D9BBE7F8-6DCF-42B2-9881-15B57AD6C69F}"/>
              </a:ext>
            </a:extLst>
          </p:cNvPr>
          <p:cNvSpPr>
            <a:spLocks xmlns:a="http://schemas.openxmlformats.org/drawingml/2006/main" noGrp="1"/>
          </p:cNvSpPr>
          <p:nvPr/>
        </p:nvSpPr>
        <p:spPr>
          <a:xfrm xmlns:a="http://schemas.openxmlformats.org/drawingml/2006/main">
            <a:off x="6686550" y="1943100"/>
            <a:ext cx="4648200" cy="3238500"/>
          </a:xfrm>
          <a:prstGeom xmlns:a="http://schemas.openxmlformats.org/drawingml/2006/main" prst="roundRect">
            <a:avLst>
              <a:gd name="adj" fmla="val 2353"/>
            </a:avLst>
          </a:prstGeom>
          <a:solidFill xmlns:a="http://schemas.openxmlformats.org/drawingml/2006/main">
            <a:srgbClr val="FFFFFF"/>
          </a:solidFill>
          <a:ln xmlns:a="http://schemas.openxmlformats.org/drawingml/2006/main" w="10478">
            <a:solidFill>
              <a:srgbClr val="B9CAD2"/>
            </a:solidFill>
            <a:prstDash val="solid"/>
          </a:ln>
        </p:spPr>
      </p:sp>
      <p:sp>
        <p:nvSpPr>
          <p:cNvPr id="18" name="">
            <a:extLst xmlns:a="http://schemas.openxmlformats.org/drawingml/2006/main">
              <a:ext uri="{FF2B5EF4-FFF2-40B4-BE49-F238E27FC236}">
                <a16:creationId xmlns:a16="http://schemas.microsoft.com/office/drawing/2014/main" id="{F5BA3A38-0119-4820-9010-B7BB237CAD60}"/>
              </a:ext>
            </a:extLst>
          </p:cNvPr>
          <p:cNvSpPr>
            <a:spLocks xmlns:a="http://schemas.openxmlformats.org/drawingml/2006/main" noGrp="1"/>
          </p:cNvSpPr>
          <p:nvPr/>
        </p:nvSpPr>
        <p:spPr>
          <a:xfrm xmlns:a="http://schemas.openxmlformats.org/drawingml/2006/main">
            <a:off x="6686550" y="1943100"/>
            <a:ext cx="4648200" cy="85725"/>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19" name="">
            <a:extLst xmlns:a="http://schemas.openxmlformats.org/drawingml/2006/main">
              <a:ext uri="{FF2B5EF4-FFF2-40B4-BE49-F238E27FC236}">
                <a16:creationId xmlns:a16="http://schemas.microsoft.com/office/drawing/2014/main" id="{5217A941-3348-480F-9766-3F53833CEA18}"/>
              </a:ext>
            </a:extLst>
          </p:cNvPr>
          <p:cNvSpPr>
            <a:spLocks xmlns:a="http://schemas.openxmlformats.org/drawingml/2006/main" noGrp="1"/>
          </p:cNvSpPr>
          <p:nvPr/>
        </p:nvSpPr>
        <p:spPr>
          <a:xfrm xmlns:a="http://schemas.openxmlformats.org/drawingml/2006/main">
            <a:off x="6838950" y="2133600"/>
            <a:ext cx="1066800" cy="266700"/>
          </a:xfrm>
          <a:prstGeom xmlns:a="http://schemas.openxmlformats.org/drawingml/2006/main" prst="roundRect">
            <a:avLst>
              <a:gd name="adj" fmla="val 28571"/>
            </a:avLst>
          </a:prstGeom>
          <a:solidFill xmlns:a="http://schemas.openxmlformats.org/drawingml/2006/main">
            <a:srgbClr val="00B2BB"/>
          </a:solidFill>
          <a:ln xmlns:a="http://schemas.openxmlformats.org/drawingml/2006/main" w="0">
            <a:solidFill>
              <a:srgbClr val="00B2BB"/>
            </a:solidFill>
            <a:prstDash val="solid"/>
          </a:ln>
        </p:spPr>
      </p:sp>
      <p:sp>
        <p:nvSpPr>
          <p:cNvPr id="20" name="">
            <a:extLst xmlns:a="http://schemas.openxmlformats.org/drawingml/2006/main">
              <a:ext uri="{FF2B5EF4-FFF2-40B4-BE49-F238E27FC236}">
                <a16:creationId xmlns:a16="http://schemas.microsoft.com/office/drawing/2014/main" id="{C054AB23-33F1-43E8-A22A-CA9DE324CB08}"/>
              </a:ext>
            </a:extLst>
          </p:cNvPr>
          <p:cNvSpPr>
            <a:spLocks xmlns:a="http://schemas.openxmlformats.org/drawingml/2006/main" noGrp="1"/>
          </p:cNvSpPr>
          <p:nvPr/>
        </p:nvSpPr>
        <p:spPr>
          <a:xfrm xmlns:a="http://schemas.openxmlformats.org/drawingml/2006/main">
            <a:off x="6838950" y="21336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40" b="1">
                <a:solidFill>
                  <a:srgbClr val="FFFFFF"/>
                </a:solidFill>
              </a:defRPr>
            </a:pPr>
            <a:r>
              <a:rPr sz="840" b="1">
                <a:solidFill>
                  <a:srgbClr val="FFFFFF"/>
                </a:solidFill>
              </a:rPr>
              <a:t>KERNBESTAND</a:t>
            </a:r>
          </a:p>
        </p:txBody>
      </p:sp>
      <p:sp>
        <p:nvSpPr>
          <p:cNvPr id="21" name="">
            <a:extLst xmlns:a="http://schemas.openxmlformats.org/drawingml/2006/main">
              <a:ext uri="{FF2B5EF4-FFF2-40B4-BE49-F238E27FC236}">
                <a16:creationId xmlns:a16="http://schemas.microsoft.com/office/drawing/2014/main" id="{1187CE37-B512-4A4B-849D-27AADD21EF5A}"/>
              </a:ext>
            </a:extLst>
          </p:cNvPr>
          <p:cNvSpPr>
            <a:spLocks xmlns:a="http://schemas.openxmlformats.org/drawingml/2006/main" noGrp="1"/>
          </p:cNvSpPr>
          <p:nvPr/>
        </p:nvSpPr>
        <p:spPr>
          <a:xfrm xmlns:a="http://schemas.openxmlformats.org/drawingml/2006/main">
            <a:off x="8020050" y="2133600"/>
            <a:ext cx="3162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35" b="1">
                <a:solidFill>
                  <a:srgbClr val="003F6B"/>
                </a:solidFill>
              </a:defRPr>
            </a:pPr>
            <a:r>
              <a:rPr sz="735" b="1">
                <a:solidFill>
                  <a:srgbClr val="003F6B"/>
                </a:solidFill>
              </a:rPr>
              <a:t>BVerfG · 24.07.2018 · 2 BvR 309/15; 2 BvR 502/16</a:t>
            </a:r>
          </a:p>
        </p:txBody>
      </p:sp>
      <p:sp>
        <p:nvSpPr>
          <p:cNvPr id="22" name="">
            <a:extLst xmlns:a="http://schemas.openxmlformats.org/drawingml/2006/main">
              <a:ext uri="{FF2B5EF4-FFF2-40B4-BE49-F238E27FC236}">
                <a16:creationId xmlns:a16="http://schemas.microsoft.com/office/drawing/2014/main" id="{E9B3ADD5-3F63-4870-8F7F-1DF4A64ACF8E}"/>
              </a:ext>
            </a:extLst>
          </p:cNvPr>
          <p:cNvSpPr>
            <a:spLocks xmlns:a="http://schemas.openxmlformats.org/drawingml/2006/main" noGrp="1"/>
          </p:cNvSpPr>
          <p:nvPr/>
        </p:nvSpPr>
        <p:spPr>
          <a:xfrm xmlns:a="http://schemas.openxmlformats.org/drawingml/2006/main">
            <a:off x="6858000" y="2476500"/>
            <a:ext cx="430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15" b="1">
                <a:solidFill>
                  <a:srgbClr val="003F6B"/>
                </a:solidFill>
              </a:defRPr>
            </a:pPr>
            <a:r>
              <a:rPr sz="1215" b="1">
                <a:solidFill>
                  <a:srgbClr val="003F6B"/>
                </a:solidFill>
              </a:rPr>
              <a:t>Fünf- und Sieben-Punkt-Fixierung als Freiheitsentziehung</a:t>
            </a:r>
          </a:p>
        </p:txBody>
      </p:sp>
      <p:sp>
        <p:nvSpPr>
          <p:cNvPr id="23" name="">
            <a:extLst xmlns:a="http://schemas.openxmlformats.org/drawingml/2006/main">
              <a:ext uri="{FF2B5EF4-FFF2-40B4-BE49-F238E27FC236}">
                <a16:creationId xmlns:a16="http://schemas.microsoft.com/office/drawing/2014/main" id="{2842B722-2AD3-4816-A705-8B4C76EC5134}"/>
              </a:ext>
            </a:extLst>
          </p:cNvPr>
          <p:cNvSpPr>
            <a:spLocks xmlns:a="http://schemas.openxmlformats.org/drawingml/2006/main" noGrp="1"/>
          </p:cNvSpPr>
          <p:nvPr/>
        </p:nvSpPr>
        <p:spPr>
          <a:xfrm xmlns:a="http://schemas.openxmlformats.org/drawingml/2006/main">
            <a:off x="6858000" y="29908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B2BB"/>
                </a:solidFill>
              </a:defRPr>
            </a:pPr>
            <a:r>
              <a:rPr sz="713" b="1">
                <a:solidFill>
                  <a:srgbClr val="00B2BB"/>
                </a:solidFill>
              </a:rPr>
              <a:t>TENOR / LEITSATZKERN</a:t>
            </a:r>
          </a:p>
        </p:txBody>
      </p:sp>
      <p:sp>
        <p:nvSpPr>
          <p:cNvPr id="24" name="">
            <a:extLst xmlns:a="http://schemas.openxmlformats.org/drawingml/2006/main">
              <a:ext uri="{FF2B5EF4-FFF2-40B4-BE49-F238E27FC236}">
                <a16:creationId xmlns:a16="http://schemas.microsoft.com/office/drawing/2014/main" id="{622ABBA9-B352-46FF-A891-B1A5D1210708}"/>
              </a:ext>
            </a:extLst>
          </p:cNvPr>
          <p:cNvSpPr>
            <a:spLocks xmlns:a="http://schemas.openxmlformats.org/drawingml/2006/main" noGrp="1"/>
          </p:cNvSpPr>
          <p:nvPr/>
        </p:nvSpPr>
        <p:spPr>
          <a:xfrm xmlns:a="http://schemas.openxmlformats.org/drawingml/2006/main">
            <a:off x="6858000" y="3181350"/>
            <a:ext cx="43053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55">
                <a:solidFill>
                  <a:srgbClr val="15232B"/>
                </a:solidFill>
              </a:defRPr>
            </a:pPr>
            <a:r>
              <a:rPr sz="855">
                <a:solidFill>
                  <a:srgbClr val="15232B"/>
                </a:solidFill>
              </a:rPr>
              <a:t>Eine nicht nur kurzfristige Fünf- oder Sieben-Punkt-Fixierung ist eine eigenständige Freiheitsentziehung und bedarf grundsätzlich richterlicher Entscheidung.</a:t>
            </a:r>
          </a:p>
        </p:txBody>
      </p:sp>
      <p:sp>
        <p:nvSpPr>
          <p:cNvPr id="25" name="">
            <a:extLst xmlns:a="http://schemas.openxmlformats.org/drawingml/2006/main">
              <a:ext uri="{FF2B5EF4-FFF2-40B4-BE49-F238E27FC236}">
                <a16:creationId xmlns:a16="http://schemas.microsoft.com/office/drawing/2014/main" id="{C1846AD5-880B-4606-8D75-31EBC8D98197}"/>
              </a:ext>
            </a:extLst>
          </p:cNvPr>
          <p:cNvSpPr>
            <a:spLocks xmlns:a="http://schemas.openxmlformats.org/drawingml/2006/main" noGrp="1"/>
          </p:cNvSpPr>
          <p:nvPr/>
        </p:nvSpPr>
        <p:spPr>
          <a:xfrm xmlns:a="http://schemas.openxmlformats.org/drawingml/2006/main">
            <a:off x="6858000" y="381000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3F6B"/>
                </a:solidFill>
              </a:defRPr>
            </a:pPr>
            <a:r>
              <a:rPr sz="713" b="1">
                <a:solidFill>
                  <a:srgbClr val="003F6B"/>
                </a:solidFill>
              </a:rPr>
              <a:t>TRAGENDE AUSSAGE</a:t>
            </a:r>
          </a:p>
        </p:txBody>
      </p:sp>
      <p:sp>
        <p:nvSpPr>
          <p:cNvPr id="26" name="">
            <a:extLst xmlns:a="http://schemas.openxmlformats.org/drawingml/2006/main">
              <a:ext uri="{FF2B5EF4-FFF2-40B4-BE49-F238E27FC236}">
                <a16:creationId xmlns:a16="http://schemas.microsoft.com/office/drawing/2014/main" id="{CB197B9A-6509-4514-94E1-4C85372FA044}"/>
              </a:ext>
            </a:extLst>
          </p:cNvPr>
          <p:cNvSpPr>
            <a:spLocks xmlns:a="http://schemas.openxmlformats.org/drawingml/2006/main" noGrp="1"/>
          </p:cNvSpPr>
          <p:nvPr/>
        </p:nvSpPr>
        <p:spPr>
          <a:xfrm xmlns:a="http://schemas.openxmlformats.org/drawingml/2006/main">
            <a:off x="6858000" y="4000500"/>
            <a:ext cx="43053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10">
                <a:solidFill>
                  <a:srgbClr val="15232B"/>
                </a:solidFill>
              </a:defRPr>
            </a:pPr>
            <a:r>
              <a:rPr sz="810">
                <a:solidFill>
                  <a:srgbClr val="15232B"/>
                </a:solidFill>
              </a:rPr>
              <a:t>Auch eine bereits untergebrachte Person kann durch zusätzliche Fixierung erneut in ihrer Freiheit entzogen werden; strikte Verhältnismäßigkeit, Überwachung und Dokumentation sind erforderlich.</a:t>
            </a:r>
          </a:p>
        </p:txBody>
      </p:sp>
      <p:sp>
        <p:nvSpPr>
          <p:cNvPr id="27" name="">
            <a:extLst xmlns:a="http://schemas.openxmlformats.org/drawingml/2006/main">
              <a:ext uri="{FF2B5EF4-FFF2-40B4-BE49-F238E27FC236}">
                <a16:creationId xmlns:a16="http://schemas.microsoft.com/office/drawing/2014/main" id="{00018705-CD82-4095-85CC-FACE570B0C92}"/>
              </a:ext>
            </a:extLst>
          </p:cNvPr>
          <p:cNvSpPr>
            <a:spLocks xmlns:a="http://schemas.openxmlformats.org/drawingml/2006/main" noGrp="1"/>
          </p:cNvSpPr>
          <p:nvPr/>
        </p:nvSpPr>
        <p:spPr>
          <a:xfrm xmlns:a="http://schemas.openxmlformats.org/drawingml/2006/main">
            <a:off x="6858000" y="4572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B2BB"/>
                </a:solidFill>
              </a:defRPr>
            </a:pPr>
            <a:r>
              <a:rPr sz="713" b="1">
                <a:solidFill>
                  <a:srgbClr val="00B2BB"/>
                </a:solidFill>
              </a:rPr>
              <a:t>PRAXIS</a:t>
            </a:r>
          </a:p>
        </p:txBody>
      </p:sp>
      <p:sp>
        <p:nvSpPr>
          <p:cNvPr id="28" name="">
            <a:extLst xmlns:a="http://schemas.openxmlformats.org/drawingml/2006/main">
              <a:ext uri="{FF2B5EF4-FFF2-40B4-BE49-F238E27FC236}">
                <a16:creationId xmlns:a16="http://schemas.microsoft.com/office/drawing/2014/main" id="{1AE96C1D-FA56-49ED-8101-ECD7FE6C18E3}"/>
              </a:ext>
            </a:extLst>
          </p:cNvPr>
          <p:cNvSpPr>
            <a:spLocks xmlns:a="http://schemas.openxmlformats.org/drawingml/2006/main" noGrp="1"/>
          </p:cNvSpPr>
          <p:nvPr/>
        </p:nvSpPr>
        <p:spPr>
          <a:xfrm xmlns:a="http://schemas.openxmlformats.org/drawingml/2006/main">
            <a:off x="7467600" y="4552950"/>
            <a:ext cx="3695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765">
                <a:solidFill>
                  <a:srgbClr val="15232B"/>
                </a:solidFill>
              </a:defRPr>
            </a:pPr>
            <a:r>
              <a:rPr sz="765">
                <a:solidFill>
                  <a:srgbClr val="15232B"/>
                </a:solidFill>
              </a:rPr>
              <a:t>Akutmaßnahme, richterliche Genehmigung, Dauer, Eins-zu-eins-Betreuung, Kontrollen und Beendigungskriterien prozesssicher organisieren.</a:t>
            </a:r>
          </a:p>
        </p:txBody>
      </p:sp>
      <p:sp>
        <p:nvSpPr>
          <p:cNvPr id="29" name="">
            <a:extLst xmlns:a="http://schemas.openxmlformats.org/drawingml/2006/main">
              <a:ext uri="{FF2B5EF4-FFF2-40B4-BE49-F238E27FC236}">
                <a16:creationId xmlns:a16="http://schemas.microsoft.com/office/drawing/2014/main" id="{CEE1551C-1495-4133-B84A-8D944CFD272E}"/>
              </a:ext>
            </a:extLst>
          </p:cNvPr>
          <p:cNvSpPr>
            <a:spLocks xmlns:a="http://schemas.openxmlformats.org/drawingml/2006/main" noGrp="1"/>
          </p:cNvSpPr>
          <p:nvPr/>
        </p:nvSpPr>
        <p:spPr>
          <a:xfrm xmlns:a="http://schemas.openxmlformats.org/drawingml/2006/main">
            <a:off x="6858000" y="4962525"/>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615">
                <a:solidFill>
                  <a:srgbClr val="667680"/>
                </a:solidFill>
              </a:defRPr>
            </a:pPr>
            <a:r>
              <a:rPr sz="615">
                <a:solidFill>
                  <a:srgbClr val="667680"/>
                </a:solidFill>
              </a:rPr>
              <a:t>27. BVerfGE 149, 293; maßgebliche Fixierungsentscheidung.</a:t>
            </a:r>
          </a:p>
        </p:txBody>
      </p:sp>
      <p:sp>
        <p:nvSpPr>
          <p:cNvPr id="30" name="">
            <a:extLst xmlns:a="http://schemas.openxmlformats.org/drawingml/2006/main">
              <a:ext uri="{FF2B5EF4-FFF2-40B4-BE49-F238E27FC236}">
                <a16:creationId xmlns:a16="http://schemas.microsoft.com/office/drawing/2014/main" id="{26691D1C-9BFB-43D2-AE15-89FBA3679D29}"/>
              </a:ext>
            </a:extLst>
          </p:cNvPr>
          <p:cNvSpPr>
            <a:spLocks xmlns:a="http://schemas.openxmlformats.org/drawingml/2006/main" noGrp="1"/>
          </p:cNvSpPr>
          <p:nvPr/>
        </p:nvSpPr>
        <p:spPr>
          <a:xfrm xmlns:a="http://schemas.openxmlformats.org/drawingml/2006/main">
            <a:off x="1809750" y="5314950"/>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600">
                <a:solidFill>
                  <a:srgbClr val="667680"/>
                </a:solidFill>
              </a:defRPr>
            </a:pPr>
            <a:r>
              <a:rPr sz="600">
                <a:solidFill>
                  <a:srgbClr val="667680"/>
                </a:solidFill>
              </a:rPr>
              <a:t>Originalquellen: https://www.bundesverfassungsgericht.de/SharedDocs/Entscheidungen/DE/2016/07/ls20160726_1bvl000815.html · https://www.bundesverfassungsgericht.de/SharedDocs/Entscheidungen/DE/2018/07/rs20180724_2bvr030915.html</a:t>
            </a:r>
          </a:p>
        </p:txBody>
      </p:sp>
    </p:spTree>
    <p:extLst>
      <p:ext uri="{BB962C8B-B14F-4D97-AF65-F5344CB8AC3E}">
        <p14:creationId xmlns:p14="http://schemas.microsoft.com/office/powerpoint/2010/main" val="43637646"/>
      </p:ext>
    </p:extLst>
  </p:cSld>
</p:sld>
</file>

<file path=ppt/slides/slide441.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Zwang &amp; Freiheitsrechte · Triage &amp; Diskriminierung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LEITENTSCHEIDUNGEN · 15/20</a:t>
            </a:r>
            <a:endParaRPr/>
          </a:p>
        </p:txBody>
      </p:sp>
      <p:sp>
        <p:nvSpPr>
          <p:cNvPr id="4" name="">
            <a:extLst xmlns:a="http://schemas.openxmlformats.org/drawingml/2006/main">
              <a:ext uri="{FF2B5EF4-FFF2-40B4-BE49-F238E27FC236}">
                <a16:creationId xmlns:a16="http://schemas.microsoft.com/office/drawing/2014/main" id="{C16FC320-D864-4174-92E8-575D7809A05E}"/>
              </a:ext>
            </a:extLst>
          </p:cNvPr>
          <p:cNvSpPr>
            <a:spLocks xmlns:a="http://schemas.openxmlformats.org/drawingml/2006/main" noGrp="1"/>
          </p:cNvSpPr>
          <p:nvPr/>
        </p:nvSpPr>
        <p:spPr>
          <a:xfrm xmlns:a="http://schemas.openxmlformats.org/drawingml/2006/main">
            <a:off x="1809750" y="1943100"/>
            <a:ext cx="4648200" cy="3238500"/>
          </a:xfrm>
          <a:prstGeom xmlns:a="http://schemas.openxmlformats.org/drawingml/2006/main" prst="roundRect">
            <a:avLst>
              <a:gd name="adj" fmla="val 2353"/>
            </a:avLst>
          </a:prstGeom>
          <a:solidFill xmlns:a="http://schemas.openxmlformats.org/drawingml/2006/main">
            <a:srgbClr val="FFFFFF"/>
          </a:solidFill>
          <a:ln xmlns:a="http://schemas.openxmlformats.org/drawingml/2006/main" w="10478">
            <a:solidFill>
              <a:srgbClr val="B9CAD2"/>
            </a:solidFill>
            <a:prstDash val="solid"/>
          </a:ln>
        </p:spPr>
      </p:sp>
      <p:sp>
        <p:nvSpPr>
          <p:cNvPr id="5" name="">
            <a:extLst xmlns:a="http://schemas.openxmlformats.org/drawingml/2006/main">
              <a:ext uri="{FF2B5EF4-FFF2-40B4-BE49-F238E27FC236}">
                <a16:creationId xmlns:a16="http://schemas.microsoft.com/office/drawing/2014/main" id="{0551964F-A728-44B5-8B8B-35B4B07085AC}"/>
              </a:ext>
            </a:extLst>
          </p:cNvPr>
          <p:cNvSpPr>
            <a:spLocks xmlns:a="http://schemas.openxmlformats.org/drawingml/2006/main" noGrp="1"/>
          </p:cNvSpPr>
          <p:nvPr/>
        </p:nvSpPr>
        <p:spPr>
          <a:xfrm xmlns:a="http://schemas.openxmlformats.org/drawingml/2006/main">
            <a:off x="1809750" y="1943100"/>
            <a:ext cx="4648200" cy="85725"/>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2C403DFE-C90E-4EF2-BA84-ADB788CCA6CC}"/>
              </a:ext>
            </a:extLst>
          </p:cNvPr>
          <p:cNvSpPr>
            <a:spLocks xmlns:a="http://schemas.openxmlformats.org/drawingml/2006/main" noGrp="1"/>
          </p:cNvSpPr>
          <p:nvPr/>
        </p:nvSpPr>
        <p:spPr>
          <a:xfrm xmlns:a="http://schemas.openxmlformats.org/drawingml/2006/main">
            <a:off x="1962150" y="2133600"/>
            <a:ext cx="1066800" cy="266700"/>
          </a:xfrm>
          <a:prstGeom xmlns:a="http://schemas.openxmlformats.org/drawingml/2006/main" prst="roundRect">
            <a:avLst>
              <a:gd name="adj" fmla="val 28571"/>
            </a:avLst>
          </a:prstGeom>
          <a:solidFill xmlns:a="http://schemas.openxmlformats.org/drawingml/2006/main">
            <a:srgbClr val="00B2BB"/>
          </a:solidFill>
          <a:ln xmlns:a="http://schemas.openxmlformats.org/drawingml/2006/main" w="0">
            <a:solidFill>
              <a:srgbClr val="00B2BB"/>
            </a:solidFill>
            <a:prstDash val="solid"/>
          </a:ln>
        </p:spPr>
      </p:sp>
      <p:sp>
        <p:nvSpPr>
          <p:cNvPr id="7" name="">
            <a:extLst xmlns:a="http://schemas.openxmlformats.org/drawingml/2006/main">
              <a:ext uri="{FF2B5EF4-FFF2-40B4-BE49-F238E27FC236}">
                <a16:creationId xmlns:a16="http://schemas.microsoft.com/office/drawing/2014/main" id="{D4060630-3260-4D47-9760-FE9098A55008}"/>
              </a:ext>
            </a:extLst>
          </p:cNvPr>
          <p:cNvSpPr>
            <a:spLocks xmlns:a="http://schemas.openxmlformats.org/drawingml/2006/main" noGrp="1"/>
          </p:cNvSpPr>
          <p:nvPr/>
        </p:nvSpPr>
        <p:spPr>
          <a:xfrm xmlns:a="http://schemas.openxmlformats.org/drawingml/2006/main">
            <a:off x="1962150" y="21336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40" b="1">
                <a:solidFill>
                  <a:srgbClr val="FFFFFF"/>
                </a:solidFill>
              </a:defRPr>
            </a:pPr>
            <a:r>
              <a:rPr sz="840" b="1">
                <a:solidFill>
                  <a:srgbClr val="FFFFFF"/>
                </a:solidFill>
              </a:rPr>
              <a:t>KERNBESTAND</a:t>
            </a:r>
          </a:p>
        </p:txBody>
      </p:sp>
      <p:sp>
        <p:nvSpPr>
          <p:cNvPr id="8" name="">
            <a:extLst xmlns:a="http://schemas.openxmlformats.org/drawingml/2006/main">
              <a:ext uri="{FF2B5EF4-FFF2-40B4-BE49-F238E27FC236}">
                <a16:creationId xmlns:a16="http://schemas.microsoft.com/office/drawing/2014/main" id="{93EFFA4D-2D6E-4FA2-A971-C08F70BD03BA}"/>
              </a:ext>
            </a:extLst>
          </p:cNvPr>
          <p:cNvSpPr>
            <a:spLocks xmlns:a="http://schemas.openxmlformats.org/drawingml/2006/main" noGrp="1"/>
          </p:cNvSpPr>
          <p:nvPr/>
        </p:nvSpPr>
        <p:spPr>
          <a:xfrm xmlns:a="http://schemas.openxmlformats.org/drawingml/2006/main">
            <a:off x="3143250" y="2133600"/>
            <a:ext cx="3162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35" b="1">
                <a:solidFill>
                  <a:srgbClr val="003F6B"/>
                </a:solidFill>
              </a:defRPr>
            </a:pPr>
            <a:r>
              <a:rPr sz="735" b="1">
                <a:solidFill>
                  <a:srgbClr val="003F6B"/>
                </a:solidFill>
              </a:rPr>
              <a:t>BVerfG · 26.11.2024 · 1 BvL 1/24</a:t>
            </a:r>
          </a:p>
        </p:txBody>
      </p:sp>
      <p:sp>
        <p:nvSpPr>
          <p:cNvPr id="9" name="">
            <a:extLst xmlns:a="http://schemas.openxmlformats.org/drawingml/2006/main">
              <a:ext uri="{FF2B5EF4-FFF2-40B4-BE49-F238E27FC236}">
                <a16:creationId xmlns:a16="http://schemas.microsoft.com/office/drawing/2014/main" id="{36868359-4548-421C-B2FE-12CE92F4D073}"/>
              </a:ext>
            </a:extLst>
          </p:cNvPr>
          <p:cNvSpPr>
            <a:spLocks xmlns:a="http://schemas.openxmlformats.org/drawingml/2006/main" noGrp="1"/>
          </p:cNvSpPr>
          <p:nvPr/>
        </p:nvSpPr>
        <p:spPr>
          <a:xfrm xmlns:a="http://schemas.openxmlformats.org/drawingml/2006/main">
            <a:off x="1981200" y="2476500"/>
            <a:ext cx="430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15" b="1">
                <a:solidFill>
                  <a:srgbClr val="003F6B"/>
                </a:solidFill>
              </a:defRPr>
            </a:pPr>
            <a:r>
              <a:rPr sz="1215" b="1">
                <a:solidFill>
                  <a:srgbClr val="003F6B"/>
                </a:solidFill>
              </a:rPr>
              <a:t>Absolute Krankenhausbindung der Zwangsbehandlung verfassungswidrig</a:t>
            </a:r>
          </a:p>
        </p:txBody>
      </p:sp>
      <p:sp>
        <p:nvSpPr>
          <p:cNvPr id="10" name="">
            <a:extLst xmlns:a="http://schemas.openxmlformats.org/drawingml/2006/main">
              <a:ext uri="{FF2B5EF4-FFF2-40B4-BE49-F238E27FC236}">
                <a16:creationId xmlns:a16="http://schemas.microsoft.com/office/drawing/2014/main" id="{6FDA37CA-F389-4220-8B1D-1D6546B9E1C8}"/>
              </a:ext>
            </a:extLst>
          </p:cNvPr>
          <p:cNvSpPr>
            <a:spLocks xmlns:a="http://schemas.openxmlformats.org/drawingml/2006/main" noGrp="1"/>
          </p:cNvSpPr>
          <p:nvPr/>
        </p:nvSpPr>
        <p:spPr>
          <a:xfrm xmlns:a="http://schemas.openxmlformats.org/drawingml/2006/main">
            <a:off x="1981200" y="29908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B2BB"/>
                </a:solidFill>
              </a:defRPr>
            </a:pPr>
            <a:r>
              <a:rPr sz="713" b="1">
                <a:solidFill>
                  <a:srgbClr val="00B2BB"/>
                </a:solidFill>
              </a:rPr>
              <a:t>TENOR / LEITSATZKERN</a:t>
            </a:r>
          </a:p>
        </p:txBody>
      </p:sp>
      <p:sp>
        <p:nvSpPr>
          <p:cNvPr id="11" name="">
            <a:extLst xmlns:a="http://schemas.openxmlformats.org/drawingml/2006/main">
              <a:ext uri="{FF2B5EF4-FFF2-40B4-BE49-F238E27FC236}">
                <a16:creationId xmlns:a16="http://schemas.microsoft.com/office/drawing/2014/main" id="{089F7BA7-E130-4F19-A09E-9C442716036F}"/>
              </a:ext>
            </a:extLst>
          </p:cNvPr>
          <p:cNvSpPr>
            <a:spLocks xmlns:a="http://schemas.openxmlformats.org/drawingml/2006/main" noGrp="1"/>
          </p:cNvSpPr>
          <p:nvPr/>
        </p:nvSpPr>
        <p:spPr>
          <a:xfrm xmlns:a="http://schemas.openxmlformats.org/drawingml/2006/main">
            <a:off x="1981200" y="3181350"/>
            <a:ext cx="43053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55">
                <a:solidFill>
                  <a:srgbClr val="15232B"/>
                </a:solidFill>
              </a:defRPr>
            </a:pPr>
            <a:r>
              <a:rPr sz="855">
                <a:solidFill>
                  <a:srgbClr val="15232B"/>
                </a:solidFill>
              </a:rPr>
              <a:t>§ 1832 Abs. 1 Satz 1 Nr. 7 BGB ist teilweise unvereinbar mit dem Grundgesetz, soweit er eine Behandlung außerhalb des Krankenhauses ausnahmslos ausschließt.</a:t>
            </a:r>
          </a:p>
        </p:txBody>
      </p:sp>
      <p:sp>
        <p:nvSpPr>
          <p:cNvPr id="12" name="">
            <a:extLst xmlns:a="http://schemas.openxmlformats.org/drawingml/2006/main">
              <a:ext uri="{FF2B5EF4-FFF2-40B4-BE49-F238E27FC236}">
                <a16:creationId xmlns:a16="http://schemas.microsoft.com/office/drawing/2014/main" id="{E9EA06FD-2EAC-44BC-98C8-401CE91B4AA2}"/>
              </a:ext>
            </a:extLst>
          </p:cNvPr>
          <p:cNvSpPr>
            <a:spLocks xmlns:a="http://schemas.openxmlformats.org/drawingml/2006/main" noGrp="1"/>
          </p:cNvSpPr>
          <p:nvPr/>
        </p:nvSpPr>
        <p:spPr>
          <a:xfrm xmlns:a="http://schemas.openxmlformats.org/drawingml/2006/main">
            <a:off x="1981200" y="381000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3F6B"/>
                </a:solidFill>
              </a:defRPr>
            </a:pPr>
            <a:r>
              <a:rPr sz="713" b="1">
                <a:solidFill>
                  <a:srgbClr val="003F6B"/>
                </a:solidFill>
              </a:rPr>
              <a:t>TRAGENDE AUSSAGE</a:t>
            </a:r>
          </a:p>
        </p:txBody>
      </p:sp>
      <p:sp>
        <p:nvSpPr>
          <p:cNvPr id="13" name="">
            <a:extLst xmlns:a="http://schemas.openxmlformats.org/drawingml/2006/main">
              <a:ext uri="{FF2B5EF4-FFF2-40B4-BE49-F238E27FC236}">
                <a16:creationId xmlns:a16="http://schemas.microsoft.com/office/drawing/2014/main" id="{867302E5-E947-494E-BA33-E1890470920D}"/>
              </a:ext>
            </a:extLst>
          </p:cNvPr>
          <p:cNvSpPr>
            <a:spLocks xmlns:a="http://schemas.openxmlformats.org/drawingml/2006/main" noGrp="1"/>
          </p:cNvSpPr>
          <p:nvPr/>
        </p:nvSpPr>
        <p:spPr>
          <a:xfrm xmlns:a="http://schemas.openxmlformats.org/drawingml/2006/main">
            <a:off x="1981200" y="4000500"/>
            <a:ext cx="43053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10">
                <a:solidFill>
                  <a:srgbClr val="15232B"/>
                </a:solidFill>
              </a:defRPr>
            </a:pPr>
            <a:r>
              <a:rPr sz="810">
                <a:solidFill>
                  <a:srgbClr val="15232B"/>
                </a:solidFill>
              </a:rPr>
              <a:t>Die Krankenhausbindung kann in atypischen Fällen unverhältnismäßig sein, wenn ein anderer geeigneter Ort weniger belastend und gleich sicher ist.</a:t>
            </a:r>
          </a:p>
        </p:txBody>
      </p:sp>
      <p:sp>
        <p:nvSpPr>
          <p:cNvPr id="14" name="">
            <a:extLst xmlns:a="http://schemas.openxmlformats.org/drawingml/2006/main">
              <a:ext uri="{FF2B5EF4-FFF2-40B4-BE49-F238E27FC236}">
                <a16:creationId xmlns:a16="http://schemas.microsoft.com/office/drawing/2014/main" id="{4B8CB102-17A8-4A61-81D7-B5CA9F779CA6}"/>
              </a:ext>
            </a:extLst>
          </p:cNvPr>
          <p:cNvSpPr>
            <a:spLocks xmlns:a="http://schemas.openxmlformats.org/drawingml/2006/main" noGrp="1"/>
          </p:cNvSpPr>
          <p:nvPr/>
        </p:nvSpPr>
        <p:spPr>
          <a:xfrm xmlns:a="http://schemas.openxmlformats.org/drawingml/2006/main">
            <a:off x="1981200" y="4572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B2BB"/>
                </a:solidFill>
              </a:defRPr>
            </a:pPr>
            <a:r>
              <a:rPr sz="713" b="1">
                <a:solidFill>
                  <a:srgbClr val="00B2BB"/>
                </a:solidFill>
              </a:rPr>
              <a:t>PRAXIS</a:t>
            </a:r>
          </a:p>
        </p:txBody>
      </p:sp>
      <p:sp>
        <p:nvSpPr>
          <p:cNvPr id="15" name="">
            <a:extLst xmlns:a="http://schemas.openxmlformats.org/drawingml/2006/main">
              <a:ext uri="{FF2B5EF4-FFF2-40B4-BE49-F238E27FC236}">
                <a16:creationId xmlns:a16="http://schemas.microsoft.com/office/drawing/2014/main" id="{76407CC4-612F-4769-BC35-92FB0140DB96}"/>
              </a:ext>
            </a:extLst>
          </p:cNvPr>
          <p:cNvSpPr>
            <a:spLocks xmlns:a="http://schemas.openxmlformats.org/drawingml/2006/main" noGrp="1"/>
          </p:cNvSpPr>
          <p:nvPr/>
        </p:nvSpPr>
        <p:spPr>
          <a:xfrm xmlns:a="http://schemas.openxmlformats.org/drawingml/2006/main">
            <a:off x="2590800" y="4552950"/>
            <a:ext cx="3695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765">
                <a:solidFill>
                  <a:srgbClr val="15232B"/>
                </a:solidFill>
              </a:defRPr>
            </a:pPr>
            <a:r>
              <a:rPr sz="765">
                <a:solidFill>
                  <a:srgbClr val="15232B"/>
                </a:solidFill>
              </a:rPr>
              <a:t>Bis zur Neuregelung gilt die Übergangsregelung; Ort, Sicherheit, Belastung, Alternativen und Versorgungsfähigkeit konkret prüfen.</a:t>
            </a:r>
          </a:p>
        </p:txBody>
      </p:sp>
      <p:sp>
        <p:nvSpPr>
          <p:cNvPr id="16" name="">
            <a:extLst xmlns:a="http://schemas.openxmlformats.org/drawingml/2006/main">
              <a:ext uri="{FF2B5EF4-FFF2-40B4-BE49-F238E27FC236}">
                <a16:creationId xmlns:a16="http://schemas.microsoft.com/office/drawing/2014/main" id="{BAB11551-86FC-4171-9891-6A799DD258BA}"/>
              </a:ext>
            </a:extLst>
          </p:cNvPr>
          <p:cNvSpPr>
            <a:spLocks xmlns:a="http://schemas.openxmlformats.org/drawingml/2006/main" noGrp="1"/>
          </p:cNvSpPr>
          <p:nvPr/>
        </p:nvSpPr>
        <p:spPr>
          <a:xfrm xmlns:a="http://schemas.openxmlformats.org/drawingml/2006/main">
            <a:off x="1981200" y="4962525"/>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615">
                <a:solidFill>
                  <a:srgbClr val="667680"/>
                </a:solidFill>
              </a:defRPr>
            </a:pPr>
            <a:r>
              <a:rPr sz="615">
                <a:solidFill>
                  <a:srgbClr val="667680"/>
                </a:solidFill>
              </a:rPr>
              <a:t>28. Fortgeltung der bisherigen Regelung längstens bis 31.12.2026; Gesetzgebung beobachten.</a:t>
            </a:r>
          </a:p>
        </p:txBody>
      </p:sp>
      <p:sp>
        <p:nvSpPr>
          <p:cNvPr id="17" name="">
            <a:extLst xmlns:a="http://schemas.openxmlformats.org/drawingml/2006/main">
              <a:ext uri="{FF2B5EF4-FFF2-40B4-BE49-F238E27FC236}">
                <a16:creationId xmlns:a16="http://schemas.microsoft.com/office/drawing/2014/main" id="{66724B4A-B409-41BA-BB09-16FBDC126F06}"/>
              </a:ext>
            </a:extLst>
          </p:cNvPr>
          <p:cNvSpPr>
            <a:spLocks xmlns:a="http://schemas.openxmlformats.org/drawingml/2006/main" noGrp="1"/>
          </p:cNvSpPr>
          <p:nvPr/>
        </p:nvSpPr>
        <p:spPr>
          <a:xfrm xmlns:a="http://schemas.openxmlformats.org/drawingml/2006/main">
            <a:off x="6686550" y="1943100"/>
            <a:ext cx="4648200" cy="3238500"/>
          </a:xfrm>
          <a:prstGeom xmlns:a="http://schemas.openxmlformats.org/drawingml/2006/main" prst="roundRect">
            <a:avLst>
              <a:gd name="adj" fmla="val 2353"/>
            </a:avLst>
          </a:prstGeom>
          <a:solidFill xmlns:a="http://schemas.openxmlformats.org/drawingml/2006/main">
            <a:srgbClr val="FFFFFF"/>
          </a:solidFill>
          <a:ln xmlns:a="http://schemas.openxmlformats.org/drawingml/2006/main" w="10478">
            <a:solidFill>
              <a:srgbClr val="B9CAD2"/>
            </a:solidFill>
            <a:prstDash val="solid"/>
          </a:ln>
        </p:spPr>
      </p:sp>
      <p:sp>
        <p:nvSpPr>
          <p:cNvPr id="18" name="">
            <a:extLst xmlns:a="http://schemas.openxmlformats.org/drawingml/2006/main">
              <a:ext uri="{FF2B5EF4-FFF2-40B4-BE49-F238E27FC236}">
                <a16:creationId xmlns:a16="http://schemas.microsoft.com/office/drawing/2014/main" id="{5E3C819F-76F5-4ACC-ABF7-B387EA230A98}"/>
              </a:ext>
            </a:extLst>
          </p:cNvPr>
          <p:cNvSpPr>
            <a:spLocks xmlns:a="http://schemas.openxmlformats.org/drawingml/2006/main" noGrp="1"/>
          </p:cNvSpPr>
          <p:nvPr/>
        </p:nvSpPr>
        <p:spPr>
          <a:xfrm xmlns:a="http://schemas.openxmlformats.org/drawingml/2006/main">
            <a:off x="6686550" y="1943100"/>
            <a:ext cx="4648200" cy="85725"/>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19" name="">
            <a:extLst xmlns:a="http://schemas.openxmlformats.org/drawingml/2006/main">
              <a:ext uri="{FF2B5EF4-FFF2-40B4-BE49-F238E27FC236}">
                <a16:creationId xmlns:a16="http://schemas.microsoft.com/office/drawing/2014/main" id="{099C42EC-E992-437E-9291-2D66129469A6}"/>
              </a:ext>
            </a:extLst>
          </p:cNvPr>
          <p:cNvSpPr>
            <a:spLocks xmlns:a="http://schemas.openxmlformats.org/drawingml/2006/main" noGrp="1"/>
          </p:cNvSpPr>
          <p:nvPr/>
        </p:nvSpPr>
        <p:spPr>
          <a:xfrm xmlns:a="http://schemas.openxmlformats.org/drawingml/2006/main">
            <a:off x="6838950" y="2133600"/>
            <a:ext cx="1066800" cy="266700"/>
          </a:xfrm>
          <a:prstGeom xmlns:a="http://schemas.openxmlformats.org/drawingml/2006/main" prst="roundRect">
            <a:avLst>
              <a:gd name="adj" fmla="val 28571"/>
            </a:avLst>
          </a:prstGeom>
          <a:solidFill xmlns:a="http://schemas.openxmlformats.org/drawingml/2006/main">
            <a:srgbClr val="00B2BB"/>
          </a:solidFill>
          <a:ln xmlns:a="http://schemas.openxmlformats.org/drawingml/2006/main" w="0">
            <a:solidFill>
              <a:srgbClr val="00B2BB"/>
            </a:solidFill>
            <a:prstDash val="solid"/>
          </a:ln>
        </p:spPr>
      </p:sp>
      <p:sp>
        <p:nvSpPr>
          <p:cNvPr id="20" name="">
            <a:extLst xmlns:a="http://schemas.openxmlformats.org/drawingml/2006/main">
              <a:ext uri="{FF2B5EF4-FFF2-40B4-BE49-F238E27FC236}">
                <a16:creationId xmlns:a16="http://schemas.microsoft.com/office/drawing/2014/main" id="{F37F5933-B3DF-4210-9955-09EE8D662832}"/>
              </a:ext>
            </a:extLst>
          </p:cNvPr>
          <p:cNvSpPr>
            <a:spLocks xmlns:a="http://schemas.openxmlformats.org/drawingml/2006/main" noGrp="1"/>
          </p:cNvSpPr>
          <p:nvPr/>
        </p:nvSpPr>
        <p:spPr>
          <a:xfrm xmlns:a="http://schemas.openxmlformats.org/drawingml/2006/main">
            <a:off x="6838950" y="21336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40" b="1">
                <a:solidFill>
                  <a:srgbClr val="FFFFFF"/>
                </a:solidFill>
              </a:defRPr>
            </a:pPr>
            <a:r>
              <a:rPr sz="840" b="1">
                <a:solidFill>
                  <a:srgbClr val="FFFFFF"/>
                </a:solidFill>
              </a:rPr>
              <a:t>KERNBESTAND</a:t>
            </a:r>
          </a:p>
        </p:txBody>
      </p:sp>
      <p:sp>
        <p:nvSpPr>
          <p:cNvPr id="21" name="">
            <a:extLst xmlns:a="http://schemas.openxmlformats.org/drawingml/2006/main">
              <a:ext uri="{FF2B5EF4-FFF2-40B4-BE49-F238E27FC236}">
                <a16:creationId xmlns:a16="http://schemas.microsoft.com/office/drawing/2014/main" id="{5E0E5385-337F-425E-89BF-55802229856B}"/>
              </a:ext>
            </a:extLst>
          </p:cNvPr>
          <p:cNvSpPr>
            <a:spLocks xmlns:a="http://schemas.openxmlformats.org/drawingml/2006/main" noGrp="1"/>
          </p:cNvSpPr>
          <p:nvPr/>
        </p:nvSpPr>
        <p:spPr>
          <a:xfrm xmlns:a="http://schemas.openxmlformats.org/drawingml/2006/main">
            <a:off x="8020050" y="2133600"/>
            <a:ext cx="3162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35" b="1">
                <a:solidFill>
                  <a:srgbClr val="003F6B"/>
                </a:solidFill>
              </a:defRPr>
            </a:pPr>
            <a:r>
              <a:rPr sz="735" b="1">
                <a:solidFill>
                  <a:srgbClr val="003F6B"/>
                </a:solidFill>
              </a:rPr>
              <a:t>BVerfG · 16.12.2021 · 1 BvR 1541/20</a:t>
            </a:r>
          </a:p>
        </p:txBody>
      </p:sp>
      <p:sp>
        <p:nvSpPr>
          <p:cNvPr id="22" name="">
            <a:extLst xmlns:a="http://schemas.openxmlformats.org/drawingml/2006/main">
              <a:ext uri="{FF2B5EF4-FFF2-40B4-BE49-F238E27FC236}">
                <a16:creationId xmlns:a16="http://schemas.microsoft.com/office/drawing/2014/main" id="{96533746-A5B7-4157-ADEA-58CCE2D5D856}"/>
              </a:ext>
            </a:extLst>
          </p:cNvPr>
          <p:cNvSpPr>
            <a:spLocks xmlns:a="http://schemas.openxmlformats.org/drawingml/2006/main" noGrp="1"/>
          </p:cNvSpPr>
          <p:nvPr/>
        </p:nvSpPr>
        <p:spPr>
          <a:xfrm xmlns:a="http://schemas.openxmlformats.org/drawingml/2006/main">
            <a:off x="6858000" y="2476500"/>
            <a:ext cx="430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15" b="1">
                <a:solidFill>
                  <a:srgbClr val="003F6B"/>
                </a:solidFill>
              </a:defRPr>
            </a:pPr>
            <a:r>
              <a:rPr sz="1215" b="1">
                <a:solidFill>
                  <a:srgbClr val="003F6B"/>
                </a:solidFill>
              </a:rPr>
              <a:t>Triage I: Schutz vor Benachteiligung wegen Behinderung</a:t>
            </a:r>
          </a:p>
        </p:txBody>
      </p:sp>
      <p:sp>
        <p:nvSpPr>
          <p:cNvPr id="23" name="">
            <a:extLst xmlns:a="http://schemas.openxmlformats.org/drawingml/2006/main">
              <a:ext uri="{FF2B5EF4-FFF2-40B4-BE49-F238E27FC236}">
                <a16:creationId xmlns:a16="http://schemas.microsoft.com/office/drawing/2014/main" id="{FCD4A73A-87CD-4F4F-B5F8-B15C5E3672B4}"/>
              </a:ext>
            </a:extLst>
          </p:cNvPr>
          <p:cNvSpPr>
            <a:spLocks xmlns:a="http://schemas.openxmlformats.org/drawingml/2006/main" noGrp="1"/>
          </p:cNvSpPr>
          <p:nvPr/>
        </p:nvSpPr>
        <p:spPr>
          <a:xfrm xmlns:a="http://schemas.openxmlformats.org/drawingml/2006/main">
            <a:off x="6858000" y="29908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B2BB"/>
                </a:solidFill>
              </a:defRPr>
            </a:pPr>
            <a:r>
              <a:rPr sz="713" b="1">
                <a:solidFill>
                  <a:srgbClr val="00B2BB"/>
                </a:solidFill>
              </a:rPr>
              <a:t>TENOR / LEITSATZKERN</a:t>
            </a:r>
          </a:p>
        </p:txBody>
      </p:sp>
      <p:sp>
        <p:nvSpPr>
          <p:cNvPr id="24" name="">
            <a:extLst xmlns:a="http://schemas.openxmlformats.org/drawingml/2006/main">
              <a:ext uri="{FF2B5EF4-FFF2-40B4-BE49-F238E27FC236}">
                <a16:creationId xmlns:a16="http://schemas.microsoft.com/office/drawing/2014/main" id="{4F27028A-0678-4E17-92F0-E1F55D64D56F}"/>
              </a:ext>
            </a:extLst>
          </p:cNvPr>
          <p:cNvSpPr>
            <a:spLocks xmlns:a="http://schemas.openxmlformats.org/drawingml/2006/main" noGrp="1"/>
          </p:cNvSpPr>
          <p:nvPr/>
        </p:nvSpPr>
        <p:spPr>
          <a:xfrm xmlns:a="http://schemas.openxmlformats.org/drawingml/2006/main">
            <a:off x="6858000" y="3181350"/>
            <a:ext cx="43053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55">
                <a:solidFill>
                  <a:srgbClr val="15232B"/>
                </a:solidFill>
              </a:defRPr>
            </a:pPr>
            <a:r>
              <a:rPr sz="855">
                <a:solidFill>
                  <a:srgbClr val="15232B"/>
                </a:solidFill>
              </a:rPr>
              <a:t>Der Gesetzgeber verletzte seine Schutzpflicht, weil hinreichende Vorkehrungen gegen behinderungsbedingte Benachteiligung bei pandemischer Zuteilung knapper Intensivressourcen fehlten.</a:t>
            </a:r>
          </a:p>
        </p:txBody>
      </p:sp>
      <p:sp>
        <p:nvSpPr>
          <p:cNvPr id="25" name="">
            <a:extLst xmlns:a="http://schemas.openxmlformats.org/drawingml/2006/main">
              <a:ext uri="{FF2B5EF4-FFF2-40B4-BE49-F238E27FC236}">
                <a16:creationId xmlns:a16="http://schemas.microsoft.com/office/drawing/2014/main" id="{AA0D6451-7061-4411-BC58-B78AEDE9D22E}"/>
              </a:ext>
            </a:extLst>
          </p:cNvPr>
          <p:cNvSpPr>
            <a:spLocks xmlns:a="http://schemas.openxmlformats.org/drawingml/2006/main" noGrp="1"/>
          </p:cNvSpPr>
          <p:nvPr/>
        </p:nvSpPr>
        <p:spPr>
          <a:xfrm xmlns:a="http://schemas.openxmlformats.org/drawingml/2006/main">
            <a:off x="6858000" y="381000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3F6B"/>
                </a:solidFill>
              </a:defRPr>
            </a:pPr>
            <a:r>
              <a:rPr sz="713" b="1">
                <a:solidFill>
                  <a:srgbClr val="003F6B"/>
                </a:solidFill>
              </a:rPr>
              <a:t>TRAGENDE AUSSAGE</a:t>
            </a:r>
          </a:p>
        </p:txBody>
      </p:sp>
      <p:sp>
        <p:nvSpPr>
          <p:cNvPr id="26" name="">
            <a:extLst xmlns:a="http://schemas.openxmlformats.org/drawingml/2006/main">
              <a:ext uri="{FF2B5EF4-FFF2-40B4-BE49-F238E27FC236}">
                <a16:creationId xmlns:a16="http://schemas.microsoft.com/office/drawing/2014/main" id="{5CADC6F4-D3F9-4F5A-9140-3FEC3E584821}"/>
              </a:ext>
            </a:extLst>
          </p:cNvPr>
          <p:cNvSpPr>
            <a:spLocks xmlns:a="http://schemas.openxmlformats.org/drawingml/2006/main" noGrp="1"/>
          </p:cNvSpPr>
          <p:nvPr/>
        </p:nvSpPr>
        <p:spPr>
          <a:xfrm xmlns:a="http://schemas.openxmlformats.org/drawingml/2006/main">
            <a:off x="6858000" y="4000500"/>
            <a:ext cx="43053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10">
                <a:solidFill>
                  <a:srgbClr val="15232B"/>
                </a:solidFill>
              </a:defRPr>
            </a:pPr>
            <a:r>
              <a:rPr sz="810">
                <a:solidFill>
                  <a:srgbClr val="15232B"/>
                </a:solidFill>
              </a:rPr>
              <a:t>Art. 3 Abs. 3 Satz 2 GG begründet in der extremen Zuteilungslage eine konkrete Schutzpflicht; behinderungsbezogene Vorannahmen dürfen die Erfolgsaussicht nicht verzerren.</a:t>
            </a:r>
          </a:p>
        </p:txBody>
      </p:sp>
      <p:sp>
        <p:nvSpPr>
          <p:cNvPr id="27" name="">
            <a:extLst xmlns:a="http://schemas.openxmlformats.org/drawingml/2006/main">
              <a:ext uri="{FF2B5EF4-FFF2-40B4-BE49-F238E27FC236}">
                <a16:creationId xmlns:a16="http://schemas.microsoft.com/office/drawing/2014/main" id="{06FC1015-C7F9-4471-B35A-BB8777E16457}"/>
              </a:ext>
            </a:extLst>
          </p:cNvPr>
          <p:cNvSpPr>
            <a:spLocks xmlns:a="http://schemas.openxmlformats.org/drawingml/2006/main" noGrp="1"/>
          </p:cNvSpPr>
          <p:nvPr/>
        </p:nvSpPr>
        <p:spPr>
          <a:xfrm xmlns:a="http://schemas.openxmlformats.org/drawingml/2006/main">
            <a:off x="6858000" y="4572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B2BB"/>
                </a:solidFill>
              </a:defRPr>
            </a:pPr>
            <a:r>
              <a:rPr sz="713" b="1">
                <a:solidFill>
                  <a:srgbClr val="00B2BB"/>
                </a:solidFill>
              </a:rPr>
              <a:t>PRAXIS</a:t>
            </a:r>
          </a:p>
        </p:txBody>
      </p:sp>
      <p:sp>
        <p:nvSpPr>
          <p:cNvPr id="28" name="">
            <a:extLst xmlns:a="http://schemas.openxmlformats.org/drawingml/2006/main">
              <a:ext uri="{FF2B5EF4-FFF2-40B4-BE49-F238E27FC236}">
                <a16:creationId xmlns:a16="http://schemas.microsoft.com/office/drawing/2014/main" id="{4E9620A5-67AD-4BD4-BAB2-2C86542A9F5F}"/>
              </a:ext>
            </a:extLst>
          </p:cNvPr>
          <p:cNvSpPr>
            <a:spLocks xmlns:a="http://schemas.openxmlformats.org/drawingml/2006/main" noGrp="1"/>
          </p:cNvSpPr>
          <p:nvPr/>
        </p:nvSpPr>
        <p:spPr>
          <a:xfrm xmlns:a="http://schemas.openxmlformats.org/drawingml/2006/main">
            <a:off x="7467600" y="4552950"/>
            <a:ext cx="3695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765">
                <a:solidFill>
                  <a:srgbClr val="15232B"/>
                </a:solidFill>
              </a:defRPr>
            </a:pPr>
            <a:r>
              <a:rPr sz="765">
                <a:solidFill>
                  <a:srgbClr val="15232B"/>
                </a:solidFill>
              </a:rPr>
              <a:t>Klinische Kriterien, Mehr-Augen-Prinzip, Dokumentation und diskriminierungssensible Prognostik verbinden; keine pauschalen Lebensqualitäts- oder Langzeitprognosen.</a:t>
            </a:r>
          </a:p>
        </p:txBody>
      </p:sp>
      <p:sp>
        <p:nvSpPr>
          <p:cNvPr id="29" name="">
            <a:extLst xmlns:a="http://schemas.openxmlformats.org/drawingml/2006/main">
              <a:ext uri="{FF2B5EF4-FFF2-40B4-BE49-F238E27FC236}">
                <a16:creationId xmlns:a16="http://schemas.microsoft.com/office/drawing/2014/main" id="{4B1D80FA-F432-48B9-B876-EAE62D999DE3}"/>
              </a:ext>
            </a:extLst>
          </p:cNvPr>
          <p:cNvSpPr>
            <a:spLocks xmlns:a="http://schemas.openxmlformats.org/drawingml/2006/main" noGrp="1"/>
          </p:cNvSpPr>
          <p:nvPr/>
        </p:nvSpPr>
        <p:spPr>
          <a:xfrm xmlns:a="http://schemas.openxmlformats.org/drawingml/2006/main">
            <a:off x="6858000" y="4962525"/>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615">
                <a:solidFill>
                  <a:srgbClr val="667680"/>
                </a:solidFill>
              </a:defRPr>
            </a:pPr>
            <a:r>
              <a:rPr sz="615">
                <a:solidFill>
                  <a:srgbClr val="667680"/>
                </a:solidFill>
              </a:rPr>
              <a:t>29. Auslöser für § 5c IfSG; dessen Kompetenzgrundlage wurde 2025 in Triage II verworfen.</a:t>
            </a:r>
          </a:p>
        </p:txBody>
      </p:sp>
      <p:sp>
        <p:nvSpPr>
          <p:cNvPr id="30" name="">
            <a:extLst xmlns:a="http://schemas.openxmlformats.org/drawingml/2006/main">
              <a:ext uri="{FF2B5EF4-FFF2-40B4-BE49-F238E27FC236}">
                <a16:creationId xmlns:a16="http://schemas.microsoft.com/office/drawing/2014/main" id="{BD57E883-5D97-4CCD-B2AF-CAE3DEBDE058}"/>
              </a:ext>
            </a:extLst>
          </p:cNvPr>
          <p:cNvSpPr>
            <a:spLocks xmlns:a="http://schemas.openxmlformats.org/drawingml/2006/main" noGrp="1"/>
          </p:cNvSpPr>
          <p:nvPr/>
        </p:nvSpPr>
        <p:spPr>
          <a:xfrm xmlns:a="http://schemas.openxmlformats.org/drawingml/2006/main">
            <a:off x="1809750" y="5314950"/>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600">
                <a:solidFill>
                  <a:srgbClr val="667680"/>
                </a:solidFill>
              </a:defRPr>
            </a:pPr>
            <a:r>
              <a:rPr sz="600">
                <a:solidFill>
                  <a:srgbClr val="667680"/>
                </a:solidFill>
              </a:rPr>
              <a:t>Originalquellen: https://bundesverfassungsgericht.de/SharedDocs/Entscheidungen/DE/2024/11/ls20241126_1bvl000124.html · https://www.bundesverfassungsgericht.de/SharedDocs/Entscheidungen/DE/2021/12/rs20211216_1bvr154120.html</a:t>
            </a:r>
          </a:p>
        </p:txBody>
      </p:sp>
    </p:spTree>
    <p:extLst>
      <p:ext uri="{BB962C8B-B14F-4D97-AF65-F5344CB8AC3E}">
        <p14:creationId xmlns:p14="http://schemas.microsoft.com/office/powerpoint/2010/main" val="43637646"/>
      </p:ext>
    </p:extLst>
  </p:cSld>
</p:sld>
</file>

<file path=ppt/slides/slide442.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Triage &amp; Therapiefreiheit · Infektionsschutz &amp; Elternrecht</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LEITENTSCHEIDUNGEN · 16/20</a:t>
            </a:r>
            <a:endParaRPr/>
          </a:p>
        </p:txBody>
      </p:sp>
      <p:sp>
        <p:nvSpPr>
          <p:cNvPr id="4" name="">
            <a:extLst xmlns:a="http://schemas.openxmlformats.org/drawingml/2006/main">
              <a:ext uri="{FF2B5EF4-FFF2-40B4-BE49-F238E27FC236}">
                <a16:creationId xmlns:a16="http://schemas.microsoft.com/office/drawing/2014/main" id="{C031AECC-DEC6-4A22-901F-FA8BA5EBF919}"/>
              </a:ext>
            </a:extLst>
          </p:cNvPr>
          <p:cNvSpPr>
            <a:spLocks xmlns:a="http://schemas.openxmlformats.org/drawingml/2006/main" noGrp="1"/>
          </p:cNvSpPr>
          <p:nvPr/>
        </p:nvSpPr>
        <p:spPr>
          <a:xfrm xmlns:a="http://schemas.openxmlformats.org/drawingml/2006/main">
            <a:off x="1809750" y="1943100"/>
            <a:ext cx="4648200" cy="3238500"/>
          </a:xfrm>
          <a:prstGeom xmlns:a="http://schemas.openxmlformats.org/drawingml/2006/main" prst="roundRect">
            <a:avLst>
              <a:gd name="adj" fmla="val 2353"/>
            </a:avLst>
          </a:prstGeom>
          <a:solidFill xmlns:a="http://schemas.openxmlformats.org/drawingml/2006/main">
            <a:srgbClr val="FFFFFF"/>
          </a:solidFill>
          <a:ln xmlns:a="http://schemas.openxmlformats.org/drawingml/2006/main" w="10478">
            <a:solidFill>
              <a:srgbClr val="B9CAD2"/>
            </a:solidFill>
            <a:prstDash val="solid"/>
          </a:ln>
        </p:spPr>
      </p:sp>
      <p:sp>
        <p:nvSpPr>
          <p:cNvPr id="5" name="">
            <a:extLst xmlns:a="http://schemas.openxmlformats.org/drawingml/2006/main">
              <a:ext uri="{FF2B5EF4-FFF2-40B4-BE49-F238E27FC236}">
                <a16:creationId xmlns:a16="http://schemas.microsoft.com/office/drawing/2014/main" id="{D8D9D6C9-BC76-440F-920D-C8FB70E0FEFE}"/>
              </a:ext>
            </a:extLst>
          </p:cNvPr>
          <p:cNvSpPr>
            <a:spLocks xmlns:a="http://schemas.openxmlformats.org/drawingml/2006/main" noGrp="1"/>
          </p:cNvSpPr>
          <p:nvPr/>
        </p:nvSpPr>
        <p:spPr>
          <a:xfrm xmlns:a="http://schemas.openxmlformats.org/drawingml/2006/main">
            <a:off x="1809750" y="1943100"/>
            <a:ext cx="4648200" cy="85725"/>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39E16295-08B4-4981-8E85-0772A024404B}"/>
              </a:ext>
            </a:extLst>
          </p:cNvPr>
          <p:cNvSpPr>
            <a:spLocks xmlns:a="http://schemas.openxmlformats.org/drawingml/2006/main" noGrp="1"/>
          </p:cNvSpPr>
          <p:nvPr/>
        </p:nvSpPr>
        <p:spPr>
          <a:xfrm xmlns:a="http://schemas.openxmlformats.org/drawingml/2006/main">
            <a:off x="1962150" y="2133600"/>
            <a:ext cx="1066800" cy="266700"/>
          </a:xfrm>
          <a:prstGeom xmlns:a="http://schemas.openxmlformats.org/drawingml/2006/main" prst="roundRect">
            <a:avLst>
              <a:gd name="adj" fmla="val 28571"/>
            </a:avLst>
          </a:prstGeom>
          <a:solidFill xmlns:a="http://schemas.openxmlformats.org/drawingml/2006/main">
            <a:srgbClr val="00B2BB"/>
          </a:solidFill>
          <a:ln xmlns:a="http://schemas.openxmlformats.org/drawingml/2006/main" w="0">
            <a:solidFill>
              <a:srgbClr val="00B2BB"/>
            </a:solidFill>
            <a:prstDash val="solid"/>
          </a:ln>
        </p:spPr>
      </p:sp>
      <p:sp>
        <p:nvSpPr>
          <p:cNvPr id="7" name="">
            <a:extLst xmlns:a="http://schemas.openxmlformats.org/drawingml/2006/main">
              <a:ext uri="{FF2B5EF4-FFF2-40B4-BE49-F238E27FC236}">
                <a16:creationId xmlns:a16="http://schemas.microsoft.com/office/drawing/2014/main" id="{9F189D63-F3CF-4C56-AA58-C4CA12124B55}"/>
              </a:ext>
            </a:extLst>
          </p:cNvPr>
          <p:cNvSpPr>
            <a:spLocks xmlns:a="http://schemas.openxmlformats.org/drawingml/2006/main" noGrp="1"/>
          </p:cNvSpPr>
          <p:nvPr/>
        </p:nvSpPr>
        <p:spPr>
          <a:xfrm xmlns:a="http://schemas.openxmlformats.org/drawingml/2006/main">
            <a:off x="1962150" y="21336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40" b="1">
                <a:solidFill>
                  <a:srgbClr val="FFFFFF"/>
                </a:solidFill>
              </a:defRPr>
            </a:pPr>
            <a:r>
              <a:rPr sz="840" b="1">
                <a:solidFill>
                  <a:srgbClr val="FFFFFF"/>
                </a:solidFill>
              </a:rPr>
              <a:t>KERNBESTAND</a:t>
            </a:r>
          </a:p>
        </p:txBody>
      </p:sp>
      <p:sp>
        <p:nvSpPr>
          <p:cNvPr id="8" name="">
            <a:extLst xmlns:a="http://schemas.openxmlformats.org/drawingml/2006/main">
              <a:ext uri="{FF2B5EF4-FFF2-40B4-BE49-F238E27FC236}">
                <a16:creationId xmlns:a16="http://schemas.microsoft.com/office/drawing/2014/main" id="{F5499D43-0F01-4443-A0B5-C91C0DE3EFB8}"/>
              </a:ext>
            </a:extLst>
          </p:cNvPr>
          <p:cNvSpPr>
            <a:spLocks xmlns:a="http://schemas.openxmlformats.org/drawingml/2006/main" noGrp="1"/>
          </p:cNvSpPr>
          <p:nvPr/>
        </p:nvSpPr>
        <p:spPr>
          <a:xfrm xmlns:a="http://schemas.openxmlformats.org/drawingml/2006/main">
            <a:off x="3143250" y="2133600"/>
            <a:ext cx="3162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35" b="1">
                <a:solidFill>
                  <a:srgbClr val="003F6B"/>
                </a:solidFill>
              </a:defRPr>
            </a:pPr>
            <a:r>
              <a:rPr sz="735" b="1">
                <a:solidFill>
                  <a:srgbClr val="003F6B"/>
                </a:solidFill>
              </a:rPr>
              <a:t>BVerfG · 23.09.2025 · 1 BvR 2284/23; 1 BvR 2285/23</a:t>
            </a:r>
          </a:p>
        </p:txBody>
      </p:sp>
      <p:sp>
        <p:nvSpPr>
          <p:cNvPr id="9" name="">
            <a:extLst xmlns:a="http://schemas.openxmlformats.org/drawingml/2006/main">
              <a:ext uri="{FF2B5EF4-FFF2-40B4-BE49-F238E27FC236}">
                <a16:creationId xmlns:a16="http://schemas.microsoft.com/office/drawing/2014/main" id="{77EFA95C-2127-4E2C-9EB9-0BD74E81188C}"/>
              </a:ext>
            </a:extLst>
          </p:cNvPr>
          <p:cNvSpPr>
            <a:spLocks xmlns:a="http://schemas.openxmlformats.org/drawingml/2006/main" noGrp="1"/>
          </p:cNvSpPr>
          <p:nvPr/>
        </p:nvSpPr>
        <p:spPr>
          <a:xfrm xmlns:a="http://schemas.openxmlformats.org/drawingml/2006/main">
            <a:off x="1981200" y="2476500"/>
            <a:ext cx="430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15" b="1">
                <a:solidFill>
                  <a:srgbClr val="003F6B"/>
                </a:solidFill>
              </a:defRPr>
            </a:pPr>
            <a:r>
              <a:rPr sz="1215" b="1">
                <a:solidFill>
                  <a:srgbClr val="003F6B"/>
                </a:solidFill>
              </a:rPr>
              <a:t>Triage II: § 5c IfSG nichtig</a:t>
            </a:r>
          </a:p>
        </p:txBody>
      </p:sp>
      <p:sp>
        <p:nvSpPr>
          <p:cNvPr id="10" name="">
            <a:extLst xmlns:a="http://schemas.openxmlformats.org/drawingml/2006/main">
              <a:ext uri="{FF2B5EF4-FFF2-40B4-BE49-F238E27FC236}">
                <a16:creationId xmlns:a16="http://schemas.microsoft.com/office/drawing/2014/main" id="{BFDB1D39-2388-46EF-BCD7-542BFFBD3BF8}"/>
              </a:ext>
            </a:extLst>
          </p:cNvPr>
          <p:cNvSpPr>
            <a:spLocks xmlns:a="http://schemas.openxmlformats.org/drawingml/2006/main" noGrp="1"/>
          </p:cNvSpPr>
          <p:nvPr/>
        </p:nvSpPr>
        <p:spPr>
          <a:xfrm xmlns:a="http://schemas.openxmlformats.org/drawingml/2006/main">
            <a:off x="1981200" y="29908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B2BB"/>
                </a:solidFill>
              </a:defRPr>
            </a:pPr>
            <a:r>
              <a:rPr sz="713" b="1">
                <a:solidFill>
                  <a:srgbClr val="00B2BB"/>
                </a:solidFill>
              </a:rPr>
              <a:t>TENOR / LEITSATZKERN</a:t>
            </a:r>
          </a:p>
        </p:txBody>
      </p:sp>
      <p:sp>
        <p:nvSpPr>
          <p:cNvPr id="11" name="">
            <a:extLst xmlns:a="http://schemas.openxmlformats.org/drawingml/2006/main">
              <a:ext uri="{FF2B5EF4-FFF2-40B4-BE49-F238E27FC236}">
                <a16:creationId xmlns:a16="http://schemas.microsoft.com/office/drawing/2014/main" id="{9FB618C2-2AB3-49CF-8528-EA012E6D5E14}"/>
              </a:ext>
            </a:extLst>
          </p:cNvPr>
          <p:cNvSpPr>
            <a:spLocks xmlns:a="http://schemas.openxmlformats.org/drawingml/2006/main" noGrp="1"/>
          </p:cNvSpPr>
          <p:nvPr/>
        </p:nvSpPr>
        <p:spPr>
          <a:xfrm xmlns:a="http://schemas.openxmlformats.org/drawingml/2006/main">
            <a:off x="1981200" y="3181350"/>
            <a:ext cx="43053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55">
                <a:solidFill>
                  <a:srgbClr val="15232B"/>
                </a:solidFill>
              </a:defRPr>
            </a:pPr>
            <a:r>
              <a:rPr sz="855">
                <a:solidFill>
                  <a:srgbClr val="15232B"/>
                </a:solidFill>
              </a:rPr>
              <a:t>§ 5c IfSG ist mangels Gesetzgebungskompetenz des Bundes nichtig.</a:t>
            </a:r>
          </a:p>
        </p:txBody>
      </p:sp>
      <p:sp>
        <p:nvSpPr>
          <p:cNvPr id="12" name="">
            <a:extLst xmlns:a="http://schemas.openxmlformats.org/drawingml/2006/main">
              <a:ext uri="{FF2B5EF4-FFF2-40B4-BE49-F238E27FC236}">
                <a16:creationId xmlns:a16="http://schemas.microsoft.com/office/drawing/2014/main" id="{C333B203-0CCE-44D3-89DB-31E255983BB6}"/>
              </a:ext>
            </a:extLst>
          </p:cNvPr>
          <p:cNvSpPr>
            <a:spLocks xmlns:a="http://schemas.openxmlformats.org/drawingml/2006/main" noGrp="1"/>
          </p:cNvSpPr>
          <p:nvPr/>
        </p:nvSpPr>
        <p:spPr>
          <a:xfrm xmlns:a="http://schemas.openxmlformats.org/drawingml/2006/main">
            <a:off x="1981200" y="381000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3F6B"/>
                </a:solidFill>
              </a:defRPr>
            </a:pPr>
            <a:r>
              <a:rPr sz="713" b="1">
                <a:solidFill>
                  <a:srgbClr val="003F6B"/>
                </a:solidFill>
              </a:rPr>
              <a:t>TRAGENDE AUSSAGE</a:t>
            </a:r>
          </a:p>
        </p:txBody>
      </p:sp>
      <p:sp>
        <p:nvSpPr>
          <p:cNvPr id="13" name="">
            <a:extLst xmlns:a="http://schemas.openxmlformats.org/drawingml/2006/main">
              <a:ext uri="{FF2B5EF4-FFF2-40B4-BE49-F238E27FC236}">
                <a16:creationId xmlns:a16="http://schemas.microsoft.com/office/drawing/2014/main" id="{BB77BEA3-40CA-42C1-84D0-609682C4E478}"/>
              </a:ext>
            </a:extLst>
          </p:cNvPr>
          <p:cNvSpPr>
            <a:spLocks xmlns:a="http://schemas.openxmlformats.org/drawingml/2006/main" noGrp="1"/>
          </p:cNvSpPr>
          <p:nvPr/>
        </p:nvSpPr>
        <p:spPr>
          <a:xfrm xmlns:a="http://schemas.openxmlformats.org/drawingml/2006/main">
            <a:off x="1981200" y="4000500"/>
            <a:ext cx="43053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10">
                <a:solidFill>
                  <a:srgbClr val="15232B"/>
                </a:solidFill>
              </a:defRPr>
            </a:pPr>
            <a:r>
              <a:rPr sz="810">
                <a:solidFill>
                  <a:srgbClr val="15232B"/>
                </a:solidFill>
              </a:rPr>
              <a:t>Art. 12 Abs. 1 GG schützt die ärztliche Therapiefreiheit einschließlich der Entscheidung, ob und nach welchen fachlichen Kriterien behandelt wird; Beschränkungen benötigen die zuständige Gesetzgebungsebene.</a:t>
            </a:r>
          </a:p>
        </p:txBody>
      </p:sp>
      <p:sp>
        <p:nvSpPr>
          <p:cNvPr id="14" name="">
            <a:extLst xmlns:a="http://schemas.openxmlformats.org/drawingml/2006/main">
              <a:ext uri="{FF2B5EF4-FFF2-40B4-BE49-F238E27FC236}">
                <a16:creationId xmlns:a16="http://schemas.microsoft.com/office/drawing/2014/main" id="{44831B3F-ED0D-45F1-A930-39D04C0379E3}"/>
              </a:ext>
            </a:extLst>
          </p:cNvPr>
          <p:cNvSpPr>
            <a:spLocks xmlns:a="http://schemas.openxmlformats.org/drawingml/2006/main" noGrp="1"/>
          </p:cNvSpPr>
          <p:nvPr/>
        </p:nvSpPr>
        <p:spPr>
          <a:xfrm xmlns:a="http://schemas.openxmlformats.org/drawingml/2006/main">
            <a:off x="1981200" y="4572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B2BB"/>
                </a:solidFill>
              </a:defRPr>
            </a:pPr>
            <a:r>
              <a:rPr sz="713" b="1">
                <a:solidFill>
                  <a:srgbClr val="00B2BB"/>
                </a:solidFill>
              </a:rPr>
              <a:t>PRAXIS</a:t>
            </a:r>
          </a:p>
        </p:txBody>
      </p:sp>
      <p:sp>
        <p:nvSpPr>
          <p:cNvPr id="15" name="">
            <a:extLst xmlns:a="http://schemas.openxmlformats.org/drawingml/2006/main">
              <a:ext uri="{FF2B5EF4-FFF2-40B4-BE49-F238E27FC236}">
                <a16:creationId xmlns:a16="http://schemas.microsoft.com/office/drawing/2014/main" id="{4AC3476A-1FE1-4A3C-AD3C-5A159CF5A4B4}"/>
              </a:ext>
            </a:extLst>
          </p:cNvPr>
          <p:cNvSpPr>
            <a:spLocks xmlns:a="http://schemas.openxmlformats.org/drawingml/2006/main" noGrp="1"/>
          </p:cNvSpPr>
          <p:nvPr/>
        </p:nvSpPr>
        <p:spPr>
          <a:xfrm xmlns:a="http://schemas.openxmlformats.org/drawingml/2006/main">
            <a:off x="2590800" y="4552950"/>
            <a:ext cx="3695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765">
                <a:solidFill>
                  <a:srgbClr val="15232B"/>
                </a:solidFill>
              </a:defRPr>
            </a:pPr>
            <a:r>
              <a:rPr sz="765">
                <a:solidFill>
                  <a:srgbClr val="15232B"/>
                </a:solidFill>
              </a:rPr>
              <a:t>Die Nichtigkeit beseitigt weder Diskriminierungsschutz noch Berufsrecht: aktuelle Landes-, Klinik- und Fachstandards prüfen und Zuteilungsentscheidungen transparent absichern.</a:t>
            </a:r>
          </a:p>
        </p:txBody>
      </p:sp>
      <p:sp>
        <p:nvSpPr>
          <p:cNvPr id="16" name="">
            <a:extLst xmlns:a="http://schemas.openxmlformats.org/drawingml/2006/main">
              <a:ext uri="{FF2B5EF4-FFF2-40B4-BE49-F238E27FC236}">
                <a16:creationId xmlns:a16="http://schemas.microsoft.com/office/drawing/2014/main" id="{0EF2BDC6-01A0-463B-968C-E9E2425E2EDD}"/>
              </a:ext>
            </a:extLst>
          </p:cNvPr>
          <p:cNvSpPr>
            <a:spLocks xmlns:a="http://schemas.openxmlformats.org/drawingml/2006/main" noGrp="1"/>
          </p:cNvSpPr>
          <p:nvPr/>
        </p:nvSpPr>
        <p:spPr>
          <a:xfrm xmlns:a="http://schemas.openxmlformats.org/drawingml/2006/main">
            <a:off x="1981200" y="4962525"/>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615">
                <a:solidFill>
                  <a:srgbClr val="667680"/>
                </a:solidFill>
              </a:defRPr>
            </a:pPr>
            <a:r>
              <a:rPr sz="615">
                <a:solidFill>
                  <a:srgbClr val="667680"/>
                </a:solidFill>
              </a:rPr>
              <a:t>30. Aktuelle Kompetenz- und Therapiefreiheitsentscheidung; Triage I bleibt für die Schutzpflicht maßgeblich.</a:t>
            </a:r>
          </a:p>
        </p:txBody>
      </p:sp>
      <p:sp>
        <p:nvSpPr>
          <p:cNvPr id="17" name="">
            <a:extLst xmlns:a="http://schemas.openxmlformats.org/drawingml/2006/main">
              <a:ext uri="{FF2B5EF4-FFF2-40B4-BE49-F238E27FC236}">
                <a16:creationId xmlns:a16="http://schemas.microsoft.com/office/drawing/2014/main" id="{ACDF3D27-6EB7-48F7-A13D-3A7CF0E1360B}"/>
              </a:ext>
            </a:extLst>
          </p:cNvPr>
          <p:cNvSpPr>
            <a:spLocks xmlns:a="http://schemas.openxmlformats.org/drawingml/2006/main" noGrp="1"/>
          </p:cNvSpPr>
          <p:nvPr/>
        </p:nvSpPr>
        <p:spPr>
          <a:xfrm xmlns:a="http://schemas.openxmlformats.org/drawingml/2006/main">
            <a:off x="6686550" y="1943100"/>
            <a:ext cx="4648200" cy="3238500"/>
          </a:xfrm>
          <a:prstGeom xmlns:a="http://schemas.openxmlformats.org/drawingml/2006/main" prst="roundRect">
            <a:avLst>
              <a:gd name="adj" fmla="val 2353"/>
            </a:avLst>
          </a:prstGeom>
          <a:solidFill xmlns:a="http://schemas.openxmlformats.org/drawingml/2006/main">
            <a:srgbClr val="FFFFFF"/>
          </a:solidFill>
          <a:ln xmlns:a="http://schemas.openxmlformats.org/drawingml/2006/main" w="10478">
            <a:solidFill>
              <a:srgbClr val="B9CAD2"/>
            </a:solidFill>
            <a:prstDash val="solid"/>
          </a:ln>
        </p:spPr>
      </p:sp>
      <p:sp>
        <p:nvSpPr>
          <p:cNvPr id="18" name="">
            <a:extLst xmlns:a="http://schemas.openxmlformats.org/drawingml/2006/main">
              <a:ext uri="{FF2B5EF4-FFF2-40B4-BE49-F238E27FC236}">
                <a16:creationId xmlns:a16="http://schemas.microsoft.com/office/drawing/2014/main" id="{873116E5-5EC1-488D-BC2B-65DDE4AA9EC9}"/>
              </a:ext>
            </a:extLst>
          </p:cNvPr>
          <p:cNvSpPr>
            <a:spLocks xmlns:a="http://schemas.openxmlformats.org/drawingml/2006/main" noGrp="1"/>
          </p:cNvSpPr>
          <p:nvPr/>
        </p:nvSpPr>
        <p:spPr>
          <a:xfrm xmlns:a="http://schemas.openxmlformats.org/drawingml/2006/main">
            <a:off x="6686550" y="1943100"/>
            <a:ext cx="4648200" cy="85725"/>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9" name="">
            <a:extLst xmlns:a="http://schemas.openxmlformats.org/drawingml/2006/main">
              <a:ext uri="{FF2B5EF4-FFF2-40B4-BE49-F238E27FC236}">
                <a16:creationId xmlns:a16="http://schemas.microsoft.com/office/drawing/2014/main" id="{D6FA5ED5-93D9-4C0F-85C9-0B24E6277718}"/>
              </a:ext>
            </a:extLst>
          </p:cNvPr>
          <p:cNvSpPr>
            <a:spLocks xmlns:a="http://schemas.openxmlformats.org/drawingml/2006/main" noGrp="1"/>
          </p:cNvSpPr>
          <p:nvPr/>
        </p:nvSpPr>
        <p:spPr>
          <a:xfrm xmlns:a="http://schemas.openxmlformats.org/drawingml/2006/main">
            <a:off x="6838950" y="2133600"/>
            <a:ext cx="1066800" cy="266700"/>
          </a:xfrm>
          <a:prstGeom xmlns:a="http://schemas.openxmlformats.org/drawingml/2006/main" prst="roundRect">
            <a:avLst>
              <a:gd name="adj" fmla="val 28571"/>
            </a:avLst>
          </a:prstGeom>
          <a:solidFill xmlns:a="http://schemas.openxmlformats.org/drawingml/2006/main">
            <a:srgbClr val="003F6B"/>
          </a:solidFill>
          <a:ln xmlns:a="http://schemas.openxmlformats.org/drawingml/2006/main" w="0">
            <a:solidFill>
              <a:srgbClr val="003F6B"/>
            </a:solidFill>
            <a:prstDash val="solid"/>
          </a:ln>
        </p:spPr>
      </p:sp>
      <p:sp>
        <p:nvSpPr>
          <p:cNvPr id="20" name="">
            <a:extLst xmlns:a="http://schemas.openxmlformats.org/drawingml/2006/main">
              <a:ext uri="{FF2B5EF4-FFF2-40B4-BE49-F238E27FC236}">
                <a16:creationId xmlns:a16="http://schemas.microsoft.com/office/drawing/2014/main" id="{70967797-CF07-4600-BEA4-454915759AC6}"/>
              </a:ext>
            </a:extLst>
          </p:cNvPr>
          <p:cNvSpPr>
            <a:spLocks xmlns:a="http://schemas.openxmlformats.org/drawingml/2006/main" noGrp="1"/>
          </p:cNvSpPr>
          <p:nvPr/>
        </p:nvSpPr>
        <p:spPr>
          <a:xfrm xmlns:a="http://schemas.openxmlformats.org/drawingml/2006/main">
            <a:off x="6838950" y="21336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40" b="1">
                <a:solidFill>
                  <a:srgbClr val="FFFFFF"/>
                </a:solidFill>
              </a:defRPr>
            </a:pPr>
            <a:r>
              <a:rPr sz="840" b="1">
                <a:solidFill>
                  <a:srgbClr val="FFFFFF"/>
                </a:solidFill>
              </a:rPr>
              <a:t>VERTIEFUNG</a:t>
            </a:r>
          </a:p>
        </p:txBody>
      </p:sp>
      <p:sp>
        <p:nvSpPr>
          <p:cNvPr id="21" name="">
            <a:extLst xmlns:a="http://schemas.openxmlformats.org/drawingml/2006/main">
              <a:ext uri="{FF2B5EF4-FFF2-40B4-BE49-F238E27FC236}">
                <a16:creationId xmlns:a16="http://schemas.microsoft.com/office/drawing/2014/main" id="{B534A098-BB27-478F-8636-EBC6FFCA5D0F}"/>
              </a:ext>
            </a:extLst>
          </p:cNvPr>
          <p:cNvSpPr>
            <a:spLocks xmlns:a="http://schemas.openxmlformats.org/drawingml/2006/main" noGrp="1"/>
          </p:cNvSpPr>
          <p:nvPr/>
        </p:nvSpPr>
        <p:spPr>
          <a:xfrm xmlns:a="http://schemas.openxmlformats.org/drawingml/2006/main">
            <a:off x="8020050" y="2133600"/>
            <a:ext cx="3162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35" b="1">
                <a:solidFill>
                  <a:srgbClr val="003F6B"/>
                </a:solidFill>
              </a:defRPr>
            </a:pPr>
            <a:r>
              <a:rPr sz="735" b="1">
                <a:solidFill>
                  <a:srgbClr val="003F6B"/>
                </a:solidFill>
              </a:rPr>
              <a:t>BVerfG · 21.07.2022 · 1 BvR 469/20 u. a.</a:t>
            </a:r>
          </a:p>
        </p:txBody>
      </p:sp>
      <p:sp>
        <p:nvSpPr>
          <p:cNvPr id="22" name="">
            <a:extLst xmlns:a="http://schemas.openxmlformats.org/drawingml/2006/main">
              <a:ext uri="{FF2B5EF4-FFF2-40B4-BE49-F238E27FC236}">
                <a16:creationId xmlns:a16="http://schemas.microsoft.com/office/drawing/2014/main" id="{C42B2B4B-A3CE-4235-8191-DEA9BD09C517}"/>
              </a:ext>
            </a:extLst>
          </p:cNvPr>
          <p:cNvSpPr>
            <a:spLocks xmlns:a="http://schemas.openxmlformats.org/drawingml/2006/main" noGrp="1"/>
          </p:cNvSpPr>
          <p:nvPr/>
        </p:nvSpPr>
        <p:spPr>
          <a:xfrm xmlns:a="http://schemas.openxmlformats.org/drawingml/2006/main">
            <a:off x="6858000" y="2476500"/>
            <a:ext cx="430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15" b="1">
                <a:solidFill>
                  <a:srgbClr val="003F6B"/>
                </a:solidFill>
              </a:defRPr>
            </a:pPr>
            <a:r>
              <a:rPr sz="1215" b="1">
                <a:solidFill>
                  <a:srgbClr val="003F6B"/>
                </a:solidFill>
              </a:rPr>
              <a:t>Masernschutzgesetz verfassungsgemäß</a:t>
            </a:r>
          </a:p>
        </p:txBody>
      </p:sp>
      <p:sp>
        <p:nvSpPr>
          <p:cNvPr id="23" name="">
            <a:extLst xmlns:a="http://schemas.openxmlformats.org/drawingml/2006/main">
              <a:ext uri="{FF2B5EF4-FFF2-40B4-BE49-F238E27FC236}">
                <a16:creationId xmlns:a16="http://schemas.microsoft.com/office/drawing/2014/main" id="{B71AA94B-B9F8-4414-8292-65AC81C66E90}"/>
              </a:ext>
            </a:extLst>
          </p:cNvPr>
          <p:cNvSpPr>
            <a:spLocks xmlns:a="http://schemas.openxmlformats.org/drawingml/2006/main" noGrp="1"/>
          </p:cNvSpPr>
          <p:nvPr/>
        </p:nvSpPr>
        <p:spPr>
          <a:xfrm xmlns:a="http://schemas.openxmlformats.org/drawingml/2006/main">
            <a:off x="6858000" y="29908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3F6B"/>
                </a:solidFill>
              </a:defRPr>
            </a:pPr>
            <a:r>
              <a:rPr sz="713" b="1">
                <a:solidFill>
                  <a:srgbClr val="003F6B"/>
                </a:solidFill>
              </a:rPr>
              <a:t>TENOR / LEITSATZKERN</a:t>
            </a:r>
          </a:p>
        </p:txBody>
      </p:sp>
      <p:sp>
        <p:nvSpPr>
          <p:cNvPr id="24" name="">
            <a:extLst xmlns:a="http://schemas.openxmlformats.org/drawingml/2006/main">
              <a:ext uri="{FF2B5EF4-FFF2-40B4-BE49-F238E27FC236}">
                <a16:creationId xmlns:a16="http://schemas.microsoft.com/office/drawing/2014/main" id="{4902E718-7999-4F68-9DCD-11F24B463C84}"/>
              </a:ext>
            </a:extLst>
          </p:cNvPr>
          <p:cNvSpPr>
            <a:spLocks xmlns:a="http://schemas.openxmlformats.org/drawingml/2006/main" noGrp="1"/>
          </p:cNvSpPr>
          <p:nvPr/>
        </p:nvSpPr>
        <p:spPr>
          <a:xfrm xmlns:a="http://schemas.openxmlformats.org/drawingml/2006/main">
            <a:off x="6858000" y="3181350"/>
            <a:ext cx="43053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55">
                <a:solidFill>
                  <a:srgbClr val="15232B"/>
                </a:solidFill>
              </a:defRPr>
            </a:pPr>
            <a:r>
              <a:rPr sz="855">
                <a:solidFill>
                  <a:srgbClr val="15232B"/>
                </a:solidFill>
              </a:rPr>
              <a:t>Die Nachweispflicht für eine Masernschutzimpfung bei betreuten Kindern ist verfassungsrechtlich gerechtfertigt.</a:t>
            </a:r>
          </a:p>
        </p:txBody>
      </p:sp>
      <p:sp>
        <p:nvSpPr>
          <p:cNvPr id="25" name="">
            <a:extLst xmlns:a="http://schemas.openxmlformats.org/drawingml/2006/main">
              <a:ext uri="{FF2B5EF4-FFF2-40B4-BE49-F238E27FC236}">
                <a16:creationId xmlns:a16="http://schemas.microsoft.com/office/drawing/2014/main" id="{D76BFE17-8D4B-45DB-9894-0E0E7F327285}"/>
              </a:ext>
            </a:extLst>
          </p:cNvPr>
          <p:cNvSpPr>
            <a:spLocks xmlns:a="http://schemas.openxmlformats.org/drawingml/2006/main" noGrp="1"/>
          </p:cNvSpPr>
          <p:nvPr/>
        </p:nvSpPr>
        <p:spPr>
          <a:xfrm xmlns:a="http://schemas.openxmlformats.org/drawingml/2006/main">
            <a:off x="6858000" y="381000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3F6B"/>
                </a:solidFill>
              </a:defRPr>
            </a:pPr>
            <a:r>
              <a:rPr sz="713" b="1">
                <a:solidFill>
                  <a:srgbClr val="003F6B"/>
                </a:solidFill>
              </a:rPr>
              <a:t>TRAGENDE AUSSAGE</a:t>
            </a:r>
          </a:p>
        </p:txBody>
      </p:sp>
      <p:sp>
        <p:nvSpPr>
          <p:cNvPr id="26" name="">
            <a:extLst xmlns:a="http://schemas.openxmlformats.org/drawingml/2006/main">
              <a:ext uri="{FF2B5EF4-FFF2-40B4-BE49-F238E27FC236}">
                <a16:creationId xmlns:a16="http://schemas.microsoft.com/office/drawing/2014/main" id="{83DD9E8B-A790-4C93-923A-9461F453A16B}"/>
              </a:ext>
            </a:extLst>
          </p:cNvPr>
          <p:cNvSpPr>
            <a:spLocks xmlns:a="http://schemas.openxmlformats.org/drawingml/2006/main" noGrp="1"/>
          </p:cNvSpPr>
          <p:nvPr/>
        </p:nvSpPr>
        <p:spPr>
          <a:xfrm xmlns:a="http://schemas.openxmlformats.org/drawingml/2006/main">
            <a:off x="6858000" y="4000500"/>
            <a:ext cx="43053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10">
                <a:solidFill>
                  <a:srgbClr val="15232B"/>
                </a:solidFill>
              </a:defRPr>
            </a:pPr>
            <a:r>
              <a:rPr sz="810">
                <a:solidFill>
                  <a:srgbClr val="15232B"/>
                </a:solidFill>
              </a:rPr>
              <a:t>Die Eingriffe in Elternrecht und körperliche Unversehrtheit werden durch den Schutz vulnerabler Personen und des Kindeswohls getragen; Eltern können medizinische Vernunftgrenzen nicht beliebig verschieben.</a:t>
            </a:r>
          </a:p>
        </p:txBody>
      </p:sp>
      <p:sp>
        <p:nvSpPr>
          <p:cNvPr id="27" name="">
            <a:extLst xmlns:a="http://schemas.openxmlformats.org/drawingml/2006/main">
              <a:ext uri="{FF2B5EF4-FFF2-40B4-BE49-F238E27FC236}">
                <a16:creationId xmlns:a16="http://schemas.microsoft.com/office/drawing/2014/main" id="{2A8593BE-E52C-4AD1-8ECD-FE296D1B7F58}"/>
              </a:ext>
            </a:extLst>
          </p:cNvPr>
          <p:cNvSpPr>
            <a:spLocks xmlns:a="http://schemas.openxmlformats.org/drawingml/2006/main" noGrp="1"/>
          </p:cNvSpPr>
          <p:nvPr/>
        </p:nvSpPr>
        <p:spPr>
          <a:xfrm xmlns:a="http://schemas.openxmlformats.org/drawingml/2006/main">
            <a:off x="6858000" y="4572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3F6B"/>
                </a:solidFill>
              </a:defRPr>
            </a:pPr>
            <a:r>
              <a:rPr sz="713" b="1">
                <a:solidFill>
                  <a:srgbClr val="003F6B"/>
                </a:solidFill>
              </a:rPr>
              <a:t>PRAXIS</a:t>
            </a:r>
          </a:p>
        </p:txBody>
      </p:sp>
      <p:sp>
        <p:nvSpPr>
          <p:cNvPr id="28" name="">
            <a:extLst xmlns:a="http://schemas.openxmlformats.org/drawingml/2006/main">
              <a:ext uri="{FF2B5EF4-FFF2-40B4-BE49-F238E27FC236}">
                <a16:creationId xmlns:a16="http://schemas.microsoft.com/office/drawing/2014/main" id="{0C9079FA-FAD1-428A-9C48-F5D40C84D83B}"/>
              </a:ext>
            </a:extLst>
          </p:cNvPr>
          <p:cNvSpPr>
            <a:spLocks xmlns:a="http://schemas.openxmlformats.org/drawingml/2006/main" noGrp="1"/>
          </p:cNvSpPr>
          <p:nvPr/>
        </p:nvSpPr>
        <p:spPr>
          <a:xfrm xmlns:a="http://schemas.openxmlformats.org/drawingml/2006/main">
            <a:off x="7467600" y="4552950"/>
            <a:ext cx="3695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765">
                <a:solidFill>
                  <a:srgbClr val="15232B"/>
                </a:solidFill>
              </a:defRPr>
            </a:pPr>
            <a:r>
              <a:rPr sz="765">
                <a:solidFill>
                  <a:srgbClr val="15232B"/>
                </a:solidFill>
              </a:rPr>
              <a:t>Impfindikation, Kontraindikation und Nachweis sauber trennen; Konflikte respektvoll erklären und gesetzliche Folgen nicht als medizinischen Zwang missverstehen.</a:t>
            </a:r>
          </a:p>
        </p:txBody>
      </p:sp>
      <p:sp>
        <p:nvSpPr>
          <p:cNvPr id="29" name="">
            <a:extLst xmlns:a="http://schemas.openxmlformats.org/drawingml/2006/main">
              <a:ext uri="{FF2B5EF4-FFF2-40B4-BE49-F238E27FC236}">
                <a16:creationId xmlns:a16="http://schemas.microsoft.com/office/drawing/2014/main" id="{5536927E-89A0-4829-9048-C796F424CDCD}"/>
              </a:ext>
            </a:extLst>
          </p:cNvPr>
          <p:cNvSpPr>
            <a:spLocks xmlns:a="http://schemas.openxmlformats.org/drawingml/2006/main" noGrp="1"/>
          </p:cNvSpPr>
          <p:nvPr/>
        </p:nvSpPr>
        <p:spPr>
          <a:xfrm xmlns:a="http://schemas.openxmlformats.org/drawingml/2006/main">
            <a:off x="6858000" y="4962525"/>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615">
                <a:solidFill>
                  <a:srgbClr val="667680"/>
                </a:solidFill>
              </a:defRPr>
            </a:pPr>
            <a:r>
              <a:rPr sz="615">
                <a:solidFill>
                  <a:srgbClr val="667680"/>
                </a:solidFill>
              </a:rPr>
              <a:t>31. BVerfGE 162, 378.</a:t>
            </a:r>
          </a:p>
        </p:txBody>
      </p:sp>
      <p:sp>
        <p:nvSpPr>
          <p:cNvPr id="30" name="">
            <a:extLst xmlns:a="http://schemas.openxmlformats.org/drawingml/2006/main">
              <a:ext uri="{FF2B5EF4-FFF2-40B4-BE49-F238E27FC236}">
                <a16:creationId xmlns:a16="http://schemas.microsoft.com/office/drawing/2014/main" id="{9DF62812-1C55-47FB-A5B6-35E6F28B0513}"/>
              </a:ext>
            </a:extLst>
          </p:cNvPr>
          <p:cNvSpPr>
            <a:spLocks xmlns:a="http://schemas.openxmlformats.org/drawingml/2006/main" noGrp="1"/>
          </p:cNvSpPr>
          <p:nvPr/>
        </p:nvSpPr>
        <p:spPr>
          <a:xfrm xmlns:a="http://schemas.openxmlformats.org/drawingml/2006/main">
            <a:off x="1809750" y="5314950"/>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600">
                <a:solidFill>
                  <a:srgbClr val="667680"/>
                </a:solidFill>
              </a:defRPr>
            </a:pPr>
            <a:r>
              <a:rPr sz="600">
                <a:solidFill>
                  <a:srgbClr val="667680"/>
                </a:solidFill>
              </a:rPr>
              <a:t>Originalquellen: https://www.bundesverfassungsgericht.de/SharedDocs/Entscheidungen/DE/2025/09/rs20250923_1bvr228423.html · https://www.bundesverfassungsgericht.de/SharedDocs/Entscheidungen/DE/2022/07/rs20220721_1bvr046920.html</a:t>
            </a:r>
          </a:p>
        </p:txBody>
      </p:sp>
    </p:spTree>
    <p:extLst>
      <p:ext uri="{BB962C8B-B14F-4D97-AF65-F5344CB8AC3E}">
        <p14:creationId xmlns:p14="http://schemas.microsoft.com/office/powerpoint/2010/main" val="43637646"/>
      </p:ext>
    </p:extLst>
  </p:cSld>
</p:sld>
</file>

<file path=ppt/slides/slide443.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Reproduktionsmedizin &amp; Lebensschutz · Reproduktionsmedizin &amp; Haftung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LEITENTSCHEIDUNGEN · 17/20</a:t>
            </a:r>
            <a:endParaRPr/>
          </a:p>
        </p:txBody>
      </p:sp>
      <p:sp>
        <p:nvSpPr>
          <p:cNvPr id="4" name="">
            <a:extLst xmlns:a="http://schemas.openxmlformats.org/drawingml/2006/main">
              <a:ext uri="{FF2B5EF4-FFF2-40B4-BE49-F238E27FC236}">
                <a16:creationId xmlns:a16="http://schemas.microsoft.com/office/drawing/2014/main" id="{15F00977-B585-43FD-8C8A-D062897E23A1}"/>
              </a:ext>
            </a:extLst>
          </p:cNvPr>
          <p:cNvSpPr>
            <a:spLocks xmlns:a="http://schemas.openxmlformats.org/drawingml/2006/main" noGrp="1"/>
          </p:cNvSpPr>
          <p:nvPr/>
        </p:nvSpPr>
        <p:spPr>
          <a:xfrm xmlns:a="http://schemas.openxmlformats.org/drawingml/2006/main">
            <a:off x="1809750" y="1943100"/>
            <a:ext cx="4648200" cy="3238500"/>
          </a:xfrm>
          <a:prstGeom xmlns:a="http://schemas.openxmlformats.org/drawingml/2006/main" prst="roundRect">
            <a:avLst>
              <a:gd name="adj" fmla="val 2353"/>
            </a:avLst>
          </a:prstGeom>
          <a:solidFill xmlns:a="http://schemas.openxmlformats.org/drawingml/2006/main">
            <a:srgbClr val="FFFFFF"/>
          </a:solidFill>
          <a:ln xmlns:a="http://schemas.openxmlformats.org/drawingml/2006/main" w="10478">
            <a:solidFill>
              <a:srgbClr val="B9CAD2"/>
            </a:solidFill>
            <a:prstDash val="solid"/>
          </a:ln>
        </p:spPr>
      </p:sp>
      <p:sp>
        <p:nvSpPr>
          <p:cNvPr id="5" name="">
            <a:extLst xmlns:a="http://schemas.openxmlformats.org/drawingml/2006/main">
              <a:ext uri="{FF2B5EF4-FFF2-40B4-BE49-F238E27FC236}">
                <a16:creationId xmlns:a16="http://schemas.microsoft.com/office/drawing/2014/main" id="{C28F7B4C-CA4E-47BB-9EBB-5AA8E8D76BDD}"/>
              </a:ext>
            </a:extLst>
          </p:cNvPr>
          <p:cNvSpPr>
            <a:spLocks xmlns:a="http://schemas.openxmlformats.org/drawingml/2006/main" noGrp="1"/>
          </p:cNvSpPr>
          <p:nvPr/>
        </p:nvSpPr>
        <p:spPr>
          <a:xfrm xmlns:a="http://schemas.openxmlformats.org/drawingml/2006/main">
            <a:off x="1809750" y="1943100"/>
            <a:ext cx="4648200" cy="85725"/>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E5AE620A-B49D-4446-8E1E-33DFDA5D1191}"/>
              </a:ext>
            </a:extLst>
          </p:cNvPr>
          <p:cNvSpPr>
            <a:spLocks xmlns:a="http://schemas.openxmlformats.org/drawingml/2006/main" noGrp="1"/>
          </p:cNvSpPr>
          <p:nvPr/>
        </p:nvSpPr>
        <p:spPr>
          <a:xfrm xmlns:a="http://schemas.openxmlformats.org/drawingml/2006/main">
            <a:off x="1962150" y="2133600"/>
            <a:ext cx="1066800" cy="266700"/>
          </a:xfrm>
          <a:prstGeom xmlns:a="http://schemas.openxmlformats.org/drawingml/2006/main" prst="roundRect">
            <a:avLst>
              <a:gd name="adj" fmla="val 28571"/>
            </a:avLst>
          </a:prstGeom>
          <a:solidFill xmlns:a="http://schemas.openxmlformats.org/drawingml/2006/main">
            <a:srgbClr val="00B2BB"/>
          </a:solidFill>
          <a:ln xmlns:a="http://schemas.openxmlformats.org/drawingml/2006/main" w="0">
            <a:solidFill>
              <a:srgbClr val="00B2BB"/>
            </a:solidFill>
            <a:prstDash val="solid"/>
          </a:ln>
        </p:spPr>
      </p:sp>
      <p:sp>
        <p:nvSpPr>
          <p:cNvPr id="7" name="">
            <a:extLst xmlns:a="http://schemas.openxmlformats.org/drawingml/2006/main">
              <a:ext uri="{FF2B5EF4-FFF2-40B4-BE49-F238E27FC236}">
                <a16:creationId xmlns:a16="http://schemas.microsoft.com/office/drawing/2014/main" id="{2D8A6492-3AE9-490B-AA0F-7F6A9C3CE071}"/>
              </a:ext>
            </a:extLst>
          </p:cNvPr>
          <p:cNvSpPr>
            <a:spLocks xmlns:a="http://schemas.openxmlformats.org/drawingml/2006/main" noGrp="1"/>
          </p:cNvSpPr>
          <p:nvPr/>
        </p:nvSpPr>
        <p:spPr>
          <a:xfrm xmlns:a="http://schemas.openxmlformats.org/drawingml/2006/main">
            <a:off x="1962150" y="21336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40" b="1">
                <a:solidFill>
                  <a:srgbClr val="FFFFFF"/>
                </a:solidFill>
              </a:defRPr>
            </a:pPr>
            <a:r>
              <a:rPr sz="840" b="1">
                <a:solidFill>
                  <a:srgbClr val="FFFFFF"/>
                </a:solidFill>
              </a:rPr>
              <a:t>KERNBESTAND</a:t>
            </a:r>
          </a:p>
        </p:txBody>
      </p:sp>
      <p:sp>
        <p:nvSpPr>
          <p:cNvPr id="8" name="">
            <a:extLst xmlns:a="http://schemas.openxmlformats.org/drawingml/2006/main">
              <a:ext uri="{FF2B5EF4-FFF2-40B4-BE49-F238E27FC236}">
                <a16:creationId xmlns:a16="http://schemas.microsoft.com/office/drawing/2014/main" id="{4F91B37F-1012-47AA-A328-7C80C1715AC5}"/>
              </a:ext>
            </a:extLst>
          </p:cNvPr>
          <p:cNvSpPr>
            <a:spLocks xmlns:a="http://schemas.openxmlformats.org/drawingml/2006/main" noGrp="1"/>
          </p:cNvSpPr>
          <p:nvPr/>
        </p:nvSpPr>
        <p:spPr>
          <a:xfrm xmlns:a="http://schemas.openxmlformats.org/drawingml/2006/main">
            <a:off x="3143250" y="2133600"/>
            <a:ext cx="3162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35" b="1">
                <a:solidFill>
                  <a:srgbClr val="003F6B"/>
                </a:solidFill>
              </a:defRPr>
            </a:pPr>
            <a:r>
              <a:rPr sz="735" b="1">
                <a:solidFill>
                  <a:srgbClr val="003F6B"/>
                </a:solidFill>
              </a:rPr>
              <a:t>BVerfG · 28.05.1993 · 2 BvF 2/90 u. a.</a:t>
            </a:r>
          </a:p>
        </p:txBody>
      </p:sp>
      <p:sp>
        <p:nvSpPr>
          <p:cNvPr id="9" name="">
            <a:extLst xmlns:a="http://schemas.openxmlformats.org/drawingml/2006/main">
              <a:ext uri="{FF2B5EF4-FFF2-40B4-BE49-F238E27FC236}">
                <a16:creationId xmlns:a16="http://schemas.microsoft.com/office/drawing/2014/main" id="{9B3F3E03-22E8-41CF-85F0-E62D9664B1FA}"/>
              </a:ext>
            </a:extLst>
          </p:cNvPr>
          <p:cNvSpPr>
            <a:spLocks xmlns:a="http://schemas.openxmlformats.org/drawingml/2006/main" noGrp="1"/>
          </p:cNvSpPr>
          <p:nvPr/>
        </p:nvSpPr>
        <p:spPr>
          <a:xfrm xmlns:a="http://schemas.openxmlformats.org/drawingml/2006/main">
            <a:off x="1981200" y="2476500"/>
            <a:ext cx="430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15" b="1">
                <a:solidFill>
                  <a:srgbClr val="003F6B"/>
                </a:solidFill>
              </a:defRPr>
            </a:pPr>
            <a:r>
              <a:rPr sz="1215" b="1">
                <a:solidFill>
                  <a:srgbClr val="003F6B"/>
                </a:solidFill>
              </a:rPr>
              <a:t>Schwangerschaftsabbruch II und Beratungskonzept</a:t>
            </a:r>
          </a:p>
        </p:txBody>
      </p:sp>
      <p:sp>
        <p:nvSpPr>
          <p:cNvPr id="10" name="">
            <a:extLst xmlns:a="http://schemas.openxmlformats.org/drawingml/2006/main">
              <a:ext uri="{FF2B5EF4-FFF2-40B4-BE49-F238E27FC236}">
                <a16:creationId xmlns:a16="http://schemas.microsoft.com/office/drawing/2014/main" id="{DCB8859E-9A88-42BA-915C-1658983B9540}"/>
              </a:ext>
            </a:extLst>
          </p:cNvPr>
          <p:cNvSpPr>
            <a:spLocks xmlns:a="http://schemas.openxmlformats.org/drawingml/2006/main" noGrp="1"/>
          </p:cNvSpPr>
          <p:nvPr/>
        </p:nvSpPr>
        <p:spPr>
          <a:xfrm xmlns:a="http://schemas.openxmlformats.org/drawingml/2006/main">
            <a:off x="1981200" y="29908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B2BB"/>
                </a:solidFill>
              </a:defRPr>
            </a:pPr>
            <a:r>
              <a:rPr sz="713" b="1">
                <a:solidFill>
                  <a:srgbClr val="00B2BB"/>
                </a:solidFill>
              </a:rPr>
              <a:t>TENOR / LEITSATZKERN</a:t>
            </a:r>
          </a:p>
        </p:txBody>
      </p:sp>
      <p:sp>
        <p:nvSpPr>
          <p:cNvPr id="11" name="">
            <a:extLst xmlns:a="http://schemas.openxmlformats.org/drawingml/2006/main">
              <a:ext uri="{FF2B5EF4-FFF2-40B4-BE49-F238E27FC236}">
                <a16:creationId xmlns:a16="http://schemas.microsoft.com/office/drawing/2014/main" id="{E5101E1E-A799-4D97-BAFB-230B114C54EA}"/>
              </a:ext>
            </a:extLst>
          </p:cNvPr>
          <p:cNvSpPr>
            <a:spLocks xmlns:a="http://schemas.openxmlformats.org/drawingml/2006/main" noGrp="1"/>
          </p:cNvSpPr>
          <p:nvPr/>
        </p:nvSpPr>
        <p:spPr>
          <a:xfrm xmlns:a="http://schemas.openxmlformats.org/drawingml/2006/main">
            <a:off x="1981200" y="3181350"/>
            <a:ext cx="43053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55">
                <a:solidFill>
                  <a:srgbClr val="15232B"/>
                </a:solidFill>
              </a:defRPr>
            </a:pPr>
            <a:r>
              <a:rPr sz="855">
                <a:solidFill>
                  <a:srgbClr val="15232B"/>
                </a:solidFill>
              </a:rPr>
              <a:t>Das Grundgesetz verpflichtet den Staat zum Schutz ungeborenen Lebens; ein Beratungskonzept ist nur bei effektiver Schutzorientierung verfassungsrechtlich tragfähig.</a:t>
            </a:r>
          </a:p>
        </p:txBody>
      </p:sp>
      <p:sp>
        <p:nvSpPr>
          <p:cNvPr id="12" name="">
            <a:extLst xmlns:a="http://schemas.openxmlformats.org/drawingml/2006/main">
              <a:ext uri="{FF2B5EF4-FFF2-40B4-BE49-F238E27FC236}">
                <a16:creationId xmlns:a16="http://schemas.microsoft.com/office/drawing/2014/main" id="{46FCC3D4-7119-4837-88A2-B6B61F136BF8}"/>
              </a:ext>
            </a:extLst>
          </p:cNvPr>
          <p:cNvSpPr>
            <a:spLocks xmlns:a="http://schemas.openxmlformats.org/drawingml/2006/main" noGrp="1"/>
          </p:cNvSpPr>
          <p:nvPr/>
        </p:nvSpPr>
        <p:spPr>
          <a:xfrm xmlns:a="http://schemas.openxmlformats.org/drawingml/2006/main">
            <a:off x="1981200" y="381000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3F6B"/>
                </a:solidFill>
              </a:defRPr>
            </a:pPr>
            <a:r>
              <a:rPr sz="713" b="1">
                <a:solidFill>
                  <a:srgbClr val="003F6B"/>
                </a:solidFill>
              </a:rPr>
              <a:t>TRAGENDE AUSSAGE</a:t>
            </a:r>
          </a:p>
        </p:txBody>
      </p:sp>
      <p:sp>
        <p:nvSpPr>
          <p:cNvPr id="13" name="">
            <a:extLst xmlns:a="http://schemas.openxmlformats.org/drawingml/2006/main">
              <a:ext uri="{FF2B5EF4-FFF2-40B4-BE49-F238E27FC236}">
                <a16:creationId xmlns:a16="http://schemas.microsoft.com/office/drawing/2014/main" id="{18391A31-5E58-4DE4-8282-7765282AD57E}"/>
              </a:ext>
            </a:extLst>
          </p:cNvPr>
          <p:cNvSpPr>
            <a:spLocks xmlns:a="http://schemas.openxmlformats.org/drawingml/2006/main" noGrp="1"/>
          </p:cNvSpPr>
          <p:nvPr/>
        </p:nvSpPr>
        <p:spPr>
          <a:xfrm xmlns:a="http://schemas.openxmlformats.org/drawingml/2006/main">
            <a:off x="1981200" y="4000500"/>
            <a:ext cx="43053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10">
                <a:solidFill>
                  <a:srgbClr val="15232B"/>
                </a:solidFill>
              </a:defRPr>
            </a:pPr>
            <a:r>
              <a:rPr sz="810">
                <a:solidFill>
                  <a:srgbClr val="15232B"/>
                </a:solidFill>
              </a:rPr>
              <a:t>Die Entscheidung ordnet Lebensschutz, Selbstbestimmung, Beratung, Indikationslagen und ärztliche Mitwirkung in ein abgestuftes Schutzkonzept ein.</a:t>
            </a:r>
          </a:p>
        </p:txBody>
      </p:sp>
      <p:sp>
        <p:nvSpPr>
          <p:cNvPr id="14" name="">
            <a:extLst xmlns:a="http://schemas.openxmlformats.org/drawingml/2006/main">
              <a:ext uri="{FF2B5EF4-FFF2-40B4-BE49-F238E27FC236}">
                <a16:creationId xmlns:a16="http://schemas.microsoft.com/office/drawing/2014/main" id="{A85213BE-F6C2-488C-912E-B42EBB706356}"/>
              </a:ext>
            </a:extLst>
          </p:cNvPr>
          <p:cNvSpPr>
            <a:spLocks xmlns:a="http://schemas.openxmlformats.org/drawingml/2006/main" noGrp="1"/>
          </p:cNvSpPr>
          <p:nvPr/>
        </p:nvSpPr>
        <p:spPr>
          <a:xfrm xmlns:a="http://schemas.openxmlformats.org/drawingml/2006/main">
            <a:off x="1981200" y="4572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B2BB"/>
                </a:solidFill>
              </a:defRPr>
            </a:pPr>
            <a:r>
              <a:rPr sz="713" b="1">
                <a:solidFill>
                  <a:srgbClr val="00B2BB"/>
                </a:solidFill>
              </a:rPr>
              <a:t>PRAXIS</a:t>
            </a:r>
          </a:p>
        </p:txBody>
      </p:sp>
      <p:sp>
        <p:nvSpPr>
          <p:cNvPr id="15" name="">
            <a:extLst xmlns:a="http://schemas.openxmlformats.org/drawingml/2006/main">
              <a:ext uri="{FF2B5EF4-FFF2-40B4-BE49-F238E27FC236}">
                <a16:creationId xmlns:a16="http://schemas.microsoft.com/office/drawing/2014/main" id="{5E9D8BD3-7C23-436F-A843-0F050E4AE4D8}"/>
              </a:ext>
            </a:extLst>
          </p:cNvPr>
          <p:cNvSpPr>
            <a:spLocks xmlns:a="http://schemas.openxmlformats.org/drawingml/2006/main" noGrp="1"/>
          </p:cNvSpPr>
          <p:nvPr/>
        </p:nvSpPr>
        <p:spPr>
          <a:xfrm xmlns:a="http://schemas.openxmlformats.org/drawingml/2006/main">
            <a:off x="2590800" y="4552950"/>
            <a:ext cx="3695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765">
                <a:solidFill>
                  <a:srgbClr val="15232B"/>
                </a:solidFill>
              </a:defRPr>
            </a:pPr>
            <a:r>
              <a:rPr sz="765">
                <a:solidFill>
                  <a:srgbClr val="15232B"/>
                </a:solidFill>
              </a:rPr>
              <a:t>Medizinische Beratung, psychosoziale Beratung, gesetzliche Fristen und strafrechtliche Voraussetzungen strikt unterscheiden; keine moralische Kurzformel ersetzt die Normprüfung.</a:t>
            </a:r>
          </a:p>
        </p:txBody>
      </p:sp>
      <p:sp>
        <p:nvSpPr>
          <p:cNvPr id="16" name="">
            <a:extLst xmlns:a="http://schemas.openxmlformats.org/drawingml/2006/main">
              <a:ext uri="{FF2B5EF4-FFF2-40B4-BE49-F238E27FC236}">
                <a16:creationId xmlns:a16="http://schemas.microsoft.com/office/drawing/2014/main" id="{F13D2C4E-3E76-483D-9758-4439BD15DFFD}"/>
              </a:ext>
            </a:extLst>
          </p:cNvPr>
          <p:cNvSpPr>
            <a:spLocks xmlns:a="http://schemas.openxmlformats.org/drawingml/2006/main" noGrp="1"/>
          </p:cNvSpPr>
          <p:nvPr/>
        </p:nvSpPr>
        <p:spPr>
          <a:xfrm xmlns:a="http://schemas.openxmlformats.org/drawingml/2006/main">
            <a:off x="1981200" y="4962525"/>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615">
                <a:solidFill>
                  <a:srgbClr val="667680"/>
                </a:solidFill>
              </a:defRPr>
            </a:pPr>
            <a:r>
              <a:rPr sz="615">
                <a:solidFill>
                  <a:srgbClr val="667680"/>
                </a:solidFill>
              </a:rPr>
              <a:t>32. BVerfGE 88, 203; prägende verfassungsrechtliche Grundsatzentscheidung.</a:t>
            </a:r>
          </a:p>
        </p:txBody>
      </p:sp>
      <p:sp>
        <p:nvSpPr>
          <p:cNvPr id="17" name="">
            <a:extLst xmlns:a="http://schemas.openxmlformats.org/drawingml/2006/main">
              <a:ext uri="{FF2B5EF4-FFF2-40B4-BE49-F238E27FC236}">
                <a16:creationId xmlns:a16="http://schemas.microsoft.com/office/drawing/2014/main" id="{DA6D4E0C-B9B2-4839-AFF5-779072854E0F}"/>
              </a:ext>
            </a:extLst>
          </p:cNvPr>
          <p:cNvSpPr>
            <a:spLocks xmlns:a="http://schemas.openxmlformats.org/drawingml/2006/main" noGrp="1"/>
          </p:cNvSpPr>
          <p:nvPr/>
        </p:nvSpPr>
        <p:spPr>
          <a:xfrm xmlns:a="http://schemas.openxmlformats.org/drawingml/2006/main">
            <a:off x="6686550" y="1943100"/>
            <a:ext cx="4648200" cy="3238500"/>
          </a:xfrm>
          <a:prstGeom xmlns:a="http://schemas.openxmlformats.org/drawingml/2006/main" prst="roundRect">
            <a:avLst>
              <a:gd name="adj" fmla="val 2353"/>
            </a:avLst>
          </a:prstGeom>
          <a:solidFill xmlns:a="http://schemas.openxmlformats.org/drawingml/2006/main">
            <a:srgbClr val="FFFFFF"/>
          </a:solidFill>
          <a:ln xmlns:a="http://schemas.openxmlformats.org/drawingml/2006/main" w="10478">
            <a:solidFill>
              <a:srgbClr val="B9CAD2"/>
            </a:solidFill>
            <a:prstDash val="solid"/>
          </a:ln>
        </p:spPr>
      </p:sp>
      <p:sp>
        <p:nvSpPr>
          <p:cNvPr id="18" name="">
            <a:extLst xmlns:a="http://schemas.openxmlformats.org/drawingml/2006/main">
              <a:ext uri="{FF2B5EF4-FFF2-40B4-BE49-F238E27FC236}">
                <a16:creationId xmlns:a16="http://schemas.microsoft.com/office/drawing/2014/main" id="{19B8EAA8-62A0-4049-8B6B-2DACB5141DBB}"/>
              </a:ext>
            </a:extLst>
          </p:cNvPr>
          <p:cNvSpPr>
            <a:spLocks xmlns:a="http://schemas.openxmlformats.org/drawingml/2006/main" noGrp="1"/>
          </p:cNvSpPr>
          <p:nvPr/>
        </p:nvSpPr>
        <p:spPr>
          <a:xfrm xmlns:a="http://schemas.openxmlformats.org/drawingml/2006/main">
            <a:off x="6686550" y="1943100"/>
            <a:ext cx="4648200" cy="85725"/>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9" name="">
            <a:extLst xmlns:a="http://schemas.openxmlformats.org/drawingml/2006/main">
              <a:ext uri="{FF2B5EF4-FFF2-40B4-BE49-F238E27FC236}">
                <a16:creationId xmlns:a16="http://schemas.microsoft.com/office/drawing/2014/main" id="{A5900A1D-3CCB-48B3-96A5-5ECAD637917A}"/>
              </a:ext>
            </a:extLst>
          </p:cNvPr>
          <p:cNvSpPr>
            <a:spLocks xmlns:a="http://schemas.openxmlformats.org/drawingml/2006/main" noGrp="1"/>
          </p:cNvSpPr>
          <p:nvPr/>
        </p:nvSpPr>
        <p:spPr>
          <a:xfrm xmlns:a="http://schemas.openxmlformats.org/drawingml/2006/main">
            <a:off x="6838950" y="2133600"/>
            <a:ext cx="1066800" cy="266700"/>
          </a:xfrm>
          <a:prstGeom xmlns:a="http://schemas.openxmlformats.org/drawingml/2006/main" prst="roundRect">
            <a:avLst>
              <a:gd name="adj" fmla="val 28571"/>
            </a:avLst>
          </a:prstGeom>
          <a:solidFill xmlns:a="http://schemas.openxmlformats.org/drawingml/2006/main">
            <a:srgbClr val="003F6B"/>
          </a:solidFill>
          <a:ln xmlns:a="http://schemas.openxmlformats.org/drawingml/2006/main" w="0">
            <a:solidFill>
              <a:srgbClr val="003F6B"/>
            </a:solidFill>
            <a:prstDash val="solid"/>
          </a:ln>
        </p:spPr>
      </p:sp>
      <p:sp>
        <p:nvSpPr>
          <p:cNvPr id="20" name="">
            <a:extLst xmlns:a="http://schemas.openxmlformats.org/drawingml/2006/main">
              <a:ext uri="{FF2B5EF4-FFF2-40B4-BE49-F238E27FC236}">
                <a16:creationId xmlns:a16="http://schemas.microsoft.com/office/drawing/2014/main" id="{EDC1EA88-8633-4D96-9B3B-EA2E81F7DA7C}"/>
              </a:ext>
            </a:extLst>
          </p:cNvPr>
          <p:cNvSpPr>
            <a:spLocks xmlns:a="http://schemas.openxmlformats.org/drawingml/2006/main" noGrp="1"/>
          </p:cNvSpPr>
          <p:nvPr/>
        </p:nvSpPr>
        <p:spPr>
          <a:xfrm xmlns:a="http://schemas.openxmlformats.org/drawingml/2006/main">
            <a:off x="6838950" y="21336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40" b="1">
                <a:solidFill>
                  <a:srgbClr val="FFFFFF"/>
                </a:solidFill>
              </a:defRPr>
            </a:pPr>
            <a:r>
              <a:rPr sz="840" b="1">
                <a:solidFill>
                  <a:srgbClr val="FFFFFF"/>
                </a:solidFill>
              </a:rPr>
              <a:t>VERTIEFUNG</a:t>
            </a:r>
          </a:p>
        </p:txBody>
      </p:sp>
      <p:sp>
        <p:nvSpPr>
          <p:cNvPr id="21" name="">
            <a:extLst xmlns:a="http://schemas.openxmlformats.org/drawingml/2006/main">
              <a:ext uri="{FF2B5EF4-FFF2-40B4-BE49-F238E27FC236}">
                <a16:creationId xmlns:a16="http://schemas.microsoft.com/office/drawing/2014/main" id="{761495C9-364F-42FE-ACB0-3A7CDF787712}"/>
              </a:ext>
            </a:extLst>
          </p:cNvPr>
          <p:cNvSpPr>
            <a:spLocks xmlns:a="http://schemas.openxmlformats.org/drawingml/2006/main" noGrp="1"/>
          </p:cNvSpPr>
          <p:nvPr/>
        </p:nvSpPr>
        <p:spPr>
          <a:xfrm xmlns:a="http://schemas.openxmlformats.org/drawingml/2006/main">
            <a:off x="8020050" y="2133600"/>
            <a:ext cx="3162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35" b="1">
                <a:solidFill>
                  <a:srgbClr val="003F6B"/>
                </a:solidFill>
              </a:defRPr>
            </a:pPr>
            <a:r>
              <a:rPr sz="735" b="1">
                <a:solidFill>
                  <a:srgbClr val="003F6B"/>
                </a:solidFill>
              </a:rPr>
              <a:t>BVerfG · 12.11.1997 · 1 BvR 479/92; 1 BvR 307/94</a:t>
            </a:r>
          </a:p>
        </p:txBody>
      </p:sp>
      <p:sp>
        <p:nvSpPr>
          <p:cNvPr id="22" name="">
            <a:extLst xmlns:a="http://schemas.openxmlformats.org/drawingml/2006/main">
              <a:ext uri="{FF2B5EF4-FFF2-40B4-BE49-F238E27FC236}">
                <a16:creationId xmlns:a16="http://schemas.microsoft.com/office/drawing/2014/main" id="{79C6C937-8474-4B9F-AFC1-AE50E2B27925}"/>
              </a:ext>
            </a:extLst>
          </p:cNvPr>
          <p:cNvSpPr>
            <a:spLocks xmlns:a="http://schemas.openxmlformats.org/drawingml/2006/main" noGrp="1"/>
          </p:cNvSpPr>
          <p:nvPr/>
        </p:nvSpPr>
        <p:spPr>
          <a:xfrm xmlns:a="http://schemas.openxmlformats.org/drawingml/2006/main">
            <a:off x="6858000" y="2476500"/>
            <a:ext cx="430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15" b="1">
                <a:solidFill>
                  <a:srgbClr val="003F6B"/>
                </a:solidFill>
              </a:defRPr>
            </a:pPr>
            <a:r>
              <a:rPr sz="1215" b="1">
                <a:solidFill>
                  <a:srgbClr val="003F6B"/>
                </a:solidFill>
              </a:rPr>
              <a:t>Unterhaltsschaden nach fehlgeschlagener Sterilisation</a:t>
            </a:r>
          </a:p>
        </p:txBody>
      </p:sp>
      <p:sp>
        <p:nvSpPr>
          <p:cNvPr id="23" name="">
            <a:extLst xmlns:a="http://schemas.openxmlformats.org/drawingml/2006/main">
              <a:ext uri="{FF2B5EF4-FFF2-40B4-BE49-F238E27FC236}">
                <a16:creationId xmlns:a16="http://schemas.microsoft.com/office/drawing/2014/main" id="{3B93D8F0-AEB3-4B1E-8525-AF823680FEB2}"/>
              </a:ext>
            </a:extLst>
          </p:cNvPr>
          <p:cNvSpPr>
            <a:spLocks xmlns:a="http://schemas.openxmlformats.org/drawingml/2006/main" noGrp="1"/>
          </p:cNvSpPr>
          <p:nvPr/>
        </p:nvSpPr>
        <p:spPr>
          <a:xfrm xmlns:a="http://schemas.openxmlformats.org/drawingml/2006/main">
            <a:off x="6858000" y="29908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3F6B"/>
                </a:solidFill>
              </a:defRPr>
            </a:pPr>
            <a:r>
              <a:rPr sz="713" b="1">
                <a:solidFill>
                  <a:srgbClr val="003F6B"/>
                </a:solidFill>
              </a:rPr>
              <a:t>TENOR / LEITSATZKERN</a:t>
            </a:r>
          </a:p>
        </p:txBody>
      </p:sp>
      <p:sp>
        <p:nvSpPr>
          <p:cNvPr id="24" name="">
            <a:extLst xmlns:a="http://schemas.openxmlformats.org/drawingml/2006/main">
              <a:ext uri="{FF2B5EF4-FFF2-40B4-BE49-F238E27FC236}">
                <a16:creationId xmlns:a16="http://schemas.microsoft.com/office/drawing/2014/main" id="{51ED9E98-C0A7-426F-9521-4227C1BA6A4F}"/>
              </a:ext>
            </a:extLst>
          </p:cNvPr>
          <p:cNvSpPr>
            <a:spLocks xmlns:a="http://schemas.openxmlformats.org/drawingml/2006/main" noGrp="1"/>
          </p:cNvSpPr>
          <p:nvPr/>
        </p:nvSpPr>
        <p:spPr>
          <a:xfrm xmlns:a="http://schemas.openxmlformats.org/drawingml/2006/main">
            <a:off x="6858000" y="3181350"/>
            <a:ext cx="43053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55">
                <a:solidFill>
                  <a:srgbClr val="15232B"/>
                </a:solidFill>
              </a:defRPr>
            </a:pPr>
            <a:r>
              <a:rPr sz="855">
                <a:solidFill>
                  <a:srgbClr val="15232B"/>
                </a:solidFill>
              </a:rPr>
              <a:t>Zivilrechtlicher Schadensersatz wegen fehlerhafter Sterilisation oder genetischer Beratung verletzt nicht die Menschenwürde des geborenen Kindes.</a:t>
            </a:r>
          </a:p>
        </p:txBody>
      </p:sp>
      <p:sp>
        <p:nvSpPr>
          <p:cNvPr id="25" name="">
            <a:extLst xmlns:a="http://schemas.openxmlformats.org/drawingml/2006/main">
              <a:ext uri="{FF2B5EF4-FFF2-40B4-BE49-F238E27FC236}">
                <a16:creationId xmlns:a16="http://schemas.microsoft.com/office/drawing/2014/main" id="{B647BBAE-74E1-49F1-BB2C-7E81E5E3C271}"/>
              </a:ext>
            </a:extLst>
          </p:cNvPr>
          <p:cNvSpPr>
            <a:spLocks xmlns:a="http://schemas.openxmlformats.org/drawingml/2006/main" noGrp="1"/>
          </p:cNvSpPr>
          <p:nvPr/>
        </p:nvSpPr>
        <p:spPr>
          <a:xfrm xmlns:a="http://schemas.openxmlformats.org/drawingml/2006/main">
            <a:off x="6858000" y="381000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3F6B"/>
                </a:solidFill>
              </a:defRPr>
            </a:pPr>
            <a:r>
              <a:rPr sz="713" b="1">
                <a:solidFill>
                  <a:srgbClr val="003F6B"/>
                </a:solidFill>
              </a:rPr>
              <a:t>TRAGENDE AUSSAGE</a:t>
            </a:r>
          </a:p>
        </p:txBody>
      </p:sp>
      <p:sp>
        <p:nvSpPr>
          <p:cNvPr id="26" name="">
            <a:extLst xmlns:a="http://schemas.openxmlformats.org/drawingml/2006/main">
              <a:ext uri="{FF2B5EF4-FFF2-40B4-BE49-F238E27FC236}">
                <a16:creationId xmlns:a16="http://schemas.microsoft.com/office/drawing/2014/main" id="{D66E9AA8-3AE9-48D7-9A24-C4B205A5C1F8}"/>
              </a:ext>
            </a:extLst>
          </p:cNvPr>
          <p:cNvSpPr>
            <a:spLocks xmlns:a="http://schemas.openxmlformats.org/drawingml/2006/main" noGrp="1"/>
          </p:cNvSpPr>
          <p:nvPr/>
        </p:nvSpPr>
        <p:spPr>
          <a:xfrm xmlns:a="http://schemas.openxmlformats.org/drawingml/2006/main">
            <a:off x="6858000" y="4000500"/>
            <a:ext cx="43053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10">
                <a:solidFill>
                  <a:srgbClr val="15232B"/>
                </a:solidFill>
              </a:defRPr>
            </a:pPr>
            <a:r>
              <a:rPr sz="810">
                <a:solidFill>
                  <a:srgbClr val="15232B"/>
                </a:solidFill>
              </a:rPr>
              <a:t>Das Kind selbst wird nicht als Schaden bewertet; ersetzt werden kann die wirtschaftliche Belastung, die infolge einer ärztlichen Pflichtverletzung entgegen der Familienplanung entsteht.</a:t>
            </a:r>
          </a:p>
        </p:txBody>
      </p:sp>
      <p:sp>
        <p:nvSpPr>
          <p:cNvPr id="27" name="">
            <a:extLst xmlns:a="http://schemas.openxmlformats.org/drawingml/2006/main">
              <a:ext uri="{FF2B5EF4-FFF2-40B4-BE49-F238E27FC236}">
                <a16:creationId xmlns:a16="http://schemas.microsoft.com/office/drawing/2014/main" id="{DFB81DBA-B660-4909-8F85-47F9B3E38C99}"/>
              </a:ext>
            </a:extLst>
          </p:cNvPr>
          <p:cNvSpPr>
            <a:spLocks xmlns:a="http://schemas.openxmlformats.org/drawingml/2006/main" noGrp="1"/>
          </p:cNvSpPr>
          <p:nvPr/>
        </p:nvSpPr>
        <p:spPr>
          <a:xfrm xmlns:a="http://schemas.openxmlformats.org/drawingml/2006/main">
            <a:off x="6858000" y="4572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3F6B"/>
                </a:solidFill>
              </a:defRPr>
            </a:pPr>
            <a:r>
              <a:rPr sz="713" b="1">
                <a:solidFill>
                  <a:srgbClr val="003F6B"/>
                </a:solidFill>
              </a:rPr>
              <a:t>PRAXIS</a:t>
            </a:r>
          </a:p>
        </p:txBody>
      </p:sp>
      <p:sp>
        <p:nvSpPr>
          <p:cNvPr id="28" name="">
            <a:extLst xmlns:a="http://schemas.openxmlformats.org/drawingml/2006/main">
              <a:ext uri="{FF2B5EF4-FFF2-40B4-BE49-F238E27FC236}">
                <a16:creationId xmlns:a16="http://schemas.microsoft.com/office/drawing/2014/main" id="{7145C14E-796D-453E-9177-031E31C9B75A}"/>
              </a:ext>
            </a:extLst>
          </p:cNvPr>
          <p:cNvSpPr>
            <a:spLocks xmlns:a="http://schemas.openxmlformats.org/drawingml/2006/main" noGrp="1"/>
          </p:cNvSpPr>
          <p:nvPr/>
        </p:nvSpPr>
        <p:spPr>
          <a:xfrm xmlns:a="http://schemas.openxmlformats.org/drawingml/2006/main">
            <a:off x="7467600" y="4552950"/>
            <a:ext cx="3695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765">
                <a:solidFill>
                  <a:srgbClr val="15232B"/>
                </a:solidFill>
              </a:defRPr>
            </a:pPr>
            <a:r>
              <a:rPr sz="765">
                <a:solidFill>
                  <a:srgbClr val="15232B"/>
                </a:solidFill>
              </a:rPr>
              <a:t>Bei reproduktionsmedizinischen Haftungsfällen Personwürde, Primärverletzung, vermögensrechtliche Folgen und Schutzzweck sauber auseinanderhalten.</a:t>
            </a:r>
          </a:p>
        </p:txBody>
      </p:sp>
      <p:sp>
        <p:nvSpPr>
          <p:cNvPr id="29" name="">
            <a:extLst xmlns:a="http://schemas.openxmlformats.org/drawingml/2006/main">
              <a:ext uri="{FF2B5EF4-FFF2-40B4-BE49-F238E27FC236}">
                <a16:creationId xmlns:a16="http://schemas.microsoft.com/office/drawing/2014/main" id="{CC0F13A5-9B2B-40DF-B98C-99A64196CDB1}"/>
              </a:ext>
            </a:extLst>
          </p:cNvPr>
          <p:cNvSpPr>
            <a:spLocks xmlns:a="http://schemas.openxmlformats.org/drawingml/2006/main" noGrp="1"/>
          </p:cNvSpPr>
          <p:nvPr/>
        </p:nvSpPr>
        <p:spPr>
          <a:xfrm xmlns:a="http://schemas.openxmlformats.org/drawingml/2006/main">
            <a:off x="6858000" y="4962525"/>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615">
                <a:solidFill>
                  <a:srgbClr val="667680"/>
                </a:solidFill>
              </a:defRPr>
            </a:pPr>
            <a:r>
              <a:rPr sz="615">
                <a:solidFill>
                  <a:srgbClr val="667680"/>
                </a:solidFill>
              </a:rPr>
              <a:t>33. BVerfGE 96, 375.</a:t>
            </a:r>
          </a:p>
        </p:txBody>
      </p:sp>
      <p:sp>
        <p:nvSpPr>
          <p:cNvPr id="30" name="">
            <a:extLst xmlns:a="http://schemas.openxmlformats.org/drawingml/2006/main">
              <a:ext uri="{FF2B5EF4-FFF2-40B4-BE49-F238E27FC236}">
                <a16:creationId xmlns:a16="http://schemas.microsoft.com/office/drawing/2014/main" id="{210A20DF-6827-44D8-A9A3-98400DD5241D}"/>
              </a:ext>
            </a:extLst>
          </p:cNvPr>
          <p:cNvSpPr>
            <a:spLocks xmlns:a="http://schemas.openxmlformats.org/drawingml/2006/main" noGrp="1"/>
          </p:cNvSpPr>
          <p:nvPr/>
        </p:nvSpPr>
        <p:spPr>
          <a:xfrm xmlns:a="http://schemas.openxmlformats.org/drawingml/2006/main">
            <a:off x="1809750" y="5314950"/>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600">
                <a:solidFill>
                  <a:srgbClr val="667680"/>
                </a:solidFill>
              </a:defRPr>
            </a:pPr>
            <a:r>
              <a:rPr sz="600">
                <a:solidFill>
                  <a:srgbClr val="667680"/>
                </a:solidFill>
              </a:rPr>
              <a:t>Originalquellen: https://www.bundesverfassungsgericht.de/SharedDocs/Entscheidungen/DE/1993/05/fs19930528_2bvf000290.html · https://www.bundesverfassungsgericht.de/SharedDocs/Entscheidungen/DE/1997/11/rs19971112_1bvr047992.html</a:t>
            </a:r>
          </a:p>
        </p:txBody>
      </p:sp>
    </p:spTree>
    <p:extLst>
      <p:ext uri="{BB962C8B-B14F-4D97-AF65-F5344CB8AC3E}">
        <p14:creationId xmlns:p14="http://schemas.microsoft.com/office/powerpoint/2010/main" val="43637646"/>
      </p:ext>
    </p:extLst>
  </p:cSld>
</p:sld>
</file>

<file path=ppt/slides/slide444.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Reproduktionsmedizin &amp; Embryonenschutz · Transplantationsmedizin &amp; Strafrecht</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LEITENTSCHEIDUNGEN · 18/20</a:t>
            </a:r>
            <a:endParaRPr/>
          </a:p>
        </p:txBody>
      </p:sp>
      <p:sp>
        <p:nvSpPr>
          <p:cNvPr id="4" name="">
            <a:extLst xmlns:a="http://schemas.openxmlformats.org/drawingml/2006/main">
              <a:ext uri="{FF2B5EF4-FFF2-40B4-BE49-F238E27FC236}">
                <a16:creationId xmlns:a16="http://schemas.microsoft.com/office/drawing/2014/main" id="{178BEA0B-5A0E-4427-ABC2-DA67798C21AC}"/>
              </a:ext>
            </a:extLst>
          </p:cNvPr>
          <p:cNvSpPr>
            <a:spLocks xmlns:a="http://schemas.openxmlformats.org/drawingml/2006/main" noGrp="1"/>
          </p:cNvSpPr>
          <p:nvPr/>
        </p:nvSpPr>
        <p:spPr>
          <a:xfrm xmlns:a="http://schemas.openxmlformats.org/drawingml/2006/main">
            <a:off x="1809750" y="1943100"/>
            <a:ext cx="4648200" cy="3238500"/>
          </a:xfrm>
          <a:prstGeom xmlns:a="http://schemas.openxmlformats.org/drawingml/2006/main" prst="roundRect">
            <a:avLst>
              <a:gd name="adj" fmla="val 2353"/>
            </a:avLst>
          </a:prstGeom>
          <a:solidFill xmlns:a="http://schemas.openxmlformats.org/drawingml/2006/main">
            <a:srgbClr val="FFFFFF"/>
          </a:solidFill>
          <a:ln xmlns:a="http://schemas.openxmlformats.org/drawingml/2006/main" w="10478">
            <a:solidFill>
              <a:srgbClr val="B9CAD2"/>
            </a:solidFill>
            <a:prstDash val="solid"/>
          </a:ln>
        </p:spPr>
      </p:sp>
      <p:sp>
        <p:nvSpPr>
          <p:cNvPr id="5" name="">
            <a:extLst xmlns:a="http://schemas.openxmlformats.org/drawingml/2006/main">
              <a:ext uri="{FF2B5EF4-FFF2-40B4-BE49-F238E27FC236}">
                <a16:creationId xmlns:a16="http://schemas.microsoft.com/office/drawing/2014/main" id="{3A766392-8465-4326-9B69-1BF5805FDA0D}"/>
              </a:ext>
            </a:extLst>
          </p:cNvPr>
          <p:cNvSpPr>
            <a:spLocks xmlns:a="http://schemas.openxmlformats.org/drawingml/2006/main" noGrp="1"/>
          </p:cNvSpPr>
          <p:nvPr/>
        </p:nvSpPr>
        <p:spPr>
          <a:xfrm xmlns:a="http://schemas.openxmlformats.org/drawingml/2006/main">
            <a:off x="1809750" y="1943100"/>
            <a:ext cx="4648200" cy="85725"/>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6" name="">
            <a:extLst xmlns:a="http://schemas.openxmlformats.org/drawingml/2006/main">
              <a:ext uri="{FF2B5EF4-FFF2-40B4-BE49-F238E27FC236}">
                <a16:creationId xmlns:a16="http://schemas.microsoft.com/office/drawing/2014/main" id="{38A773DC-62E6-47A9-813B-3573E0220356}"/>
              </a:ext>
            </a:extLst>
          </p:cNvPr>
          <p:cNvSpPr>
            <a:spLocks xmlns:a="http://schemas.openxmlformats.org/drawingml/2006/main" noGrp="1"/>
          </p:cNvSpPr>
          <p:nvPr/>
        </p:nvSpPr>
        <p:spPr>
          <a:xfrm xmlns:a="http://schemas.openxmlformats.org/drawingml/2006/main">
            <a:off x="1962150" y="2133600"/>
            <a:ext cx="1066800" cy="266700"/>
          </a:xfrm>
          <a:prstGeom xmlns:a="http://schemas.openxmlformats.org/drawingml/2006/main" prst="roundRect">
            <a:avLst>
              <a:gd name="adj" fmla="val 28571"/>
            </a:avLst>
          </a:prstGeom>
          <a:solidFill xmlns:a="http://schemas.openxmlformats.org/drawingml/2006/main">
            <a:srgbClr val="003F6B"/>
          </a:solidFill>
          <a:ln xmlns:a="http://schemas.openxmlformats.org/drawingml/2006/main" w="0">
            <a:solidFill>
              <a:srgbClr val="003F6B"/>
            </a:solidFill>
            <a:prstDash val="solid"/>
          </a:ln>
        </p:spPr>
      </p:sp>
      <p:sp>
        <p:nvSpPr>
          <p:cNvPr id="7" name="">
            <a:extLst xmlns:a="http://schemas.openxmlformats.org/drawingml/2006/main">
              <a:ext uri="{FF2B5EF4-FFF2-40B4-BE49-F238E27FC236}">
                <a16:creationId xmlns:a16="http://schemas.microsoft.com/office/drawing/2014/main" id="{1B0BC68D-8C06-4E03-B80B-CB1BB7F2782A}"/>
              </a:ext>
            </a:extLst>
          </p:cNvPr>
          <p:cNvSpPr>
            <a:spLocks xmlns:a="http://schemas.openxmlformats.org/drawingml/2006/main" noGrp="1"/>
          </p:cNvSpPr>
          <p:nvPr/>
        </p:nvSpPr>
        <p:spPr>
          <a:xfrm xmlns:a="http://schemas.openxmlformats.org/drawingml/2006/main">
            <a:off x="1962150" y="21336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40" b="1">
                <a:solidFill>
                  <a:srgbClr val="FFFFFF"/>
                </a:solidFill>
              </a:defRPr>
            </a:pPr>
            <a:r>
              <a:rPr sz="840" b="1">
                <a:solidFill>
                  <a:srgbClr val="FFFFFF"/>
                </a:solidFill>
              </a:rPr>
              <a:t>VERTIEFUNG</a:t>
            </a:r>
          </a:p>
        </p:txBody>
      </p:sp>
      <p:sp>
        <p:nvSpPr>
          <p:cNvPr id="8" name="">
            <a:extLst xmlns:a="http://schemas.openxmlformats.org/drawingml/2006/main">
              <a:ext uri="{FF2B5EF4-FFF2-40B4-BE49-F238E27FC236}">
                <a16:creationId xmlns:a16="http://schemas.microsoft.com/office/drawing/2014/main" id="{E43A328E-2A3F-44D9-B9B4-F6B6D987A4A8}"/>
              </a:ext>
            </a:extLst>
          </p:cNvPr>
          <p:cNvSpPr>
            <a:spLocks xmlns:a="http://schemas.openxmlformats.org/drawingml/2006/main" noGrp="1"/>
          </p:cNvSpPr>
          <p:nvPr/>
        </p:nvSpPr>
        <p:spPr>
          <a:xfrm xmlns:a="http://schemas.openxmlformats.org/drawingml/2006/main">
            <a:off x="3143250" y="2133600"/>
            <a:ext cx="3162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35" b="1">
                <a:solidFill>
                  <a:srgbClr val="003F6B"/>
                </a:solidFill>
              </a:defRPr>
            </a:pPr>
            <a:r>
              <a:rPr sz="735" b="1">
                <a:solidFill>
                  <a:srgbClr val="003F6B"/>
                </a:solidFill>
              </a:rPr>
              <a:t>BGH · 06.07.2010 · 5 StR 386/09</a:t>
            </a:r>
          </a:p>
        </p:txBody>
      </p:sp>
      <p:sp>
        <p:nvSpPr>
          <p:cNvPr id="9" name="">
            <a:extLst xmlns:a="http://schemas.openxmlformats.org/drawingml/2006/main">
              <a:ext uri="{FF2B5EF4-FFF2-40B4-BE49-F238E27FC236}">
                <a16:creationId xmlns:a16="http://schemas.microsoft.com/office/drawing/2014/main" id="{52A8B286-D1C0-4C34-B9D6-53596B658699}"/>
              </a:ext>
            </a:extLst>
          </p:cNvPr>
          <p:cNvSpPr>
            <a:spLocks xmlns:a="http://schemas.openxmlformats.org/drawingml/2006/main" noGrp="1"/>
          </p:cNvSpPr>
          <p:nvPr/>
        </p:nvSpPr>
        <p:spPr>
          <a:xfrm xmlns:a="http://schemas.openxmlformats.org/drawingml/2006/main">
            <a:off x="1981200" y="2476500"/>
            <a:ext cx="430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15" b="1">
                <a:solidFill>
                  <a:srgbClr val="003F6B"/>
                </a:solidFill>
              </a:defRPr>
            </a:pPr>
            <a:r>
              <a:rPr sz="1215" b="1">
                <a:solidFill>
                  <a:srgbClr val="003F6B"/>
                </a:solidFill>
              </a:rPr>
              <a:t>Präimplantationsdiagnostik unter dem damaligen Embryonenschutzgesetz</a:t>
            </a:r>
          </a:p>
        </p:txBody>
      </p:sp>
      <p:sp>
        <p:nvSpPr>
          <p:cNvPr id="10" name="">
            <a:extLst xmlns:a="http://schemas.openxmlformats.org/drawingml/2006/main">
              <a:ext uri="{FF2B5EF4-FFF2-40B4-BE49-F238E27FC236}">
                <a16:creationId xmlns:a16="http://schemas.microsoft.com/office/drawing/2014/main" id="{B6504B8C-F4C7-4DB1-BF8C-D458B54AECA2}"/>
              </a:ext>
            </a:extLst>
          </p:cNvPr>
          <p:cNvSpPr>
            <a:spLocks xmlns:a="http://schemas.openxmlformats.org/drawingml/2006/main" noGrp="1"/>
          </p:cNvSpPr>
          <p:nvPr/>
        </p:nvSpPr>
        <p:spPr>
          <a:xfrm xmlns:a="http://schemas.openxmlformats.org/drawingml/2006/main">
            <a:off x="1981200" y="29908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3F6B"/>
                </a:solidFill>
              </a:defRPr>
            </a:pPr>
            <a:r>
              <a:rPr sz="713" b="1">
                <a:solidFill>
                  <a:srgbClr val="003F6B"/>
                </a:solidFill>
              </a:rPr>
              <a:t>TENOR / LEITSATZKERN</a:t>
            </a:r>
          </a:p>
        </p:txBody>
      </p:sp>
      <p:sp>
        <p:nvSpPr>
          <p:cNvPr id="11" name="">
            <a:extLst xmlns:a="http://schemas.openxmlformats.org/drawingml/2006/main">
              <a:ext uri="{FF2B5EF4-FFF2-40B4-BE49-F238E27FC236}">
                <a16:creationId xmlns:a16="http://schemas.microsoft.com/office/drawing/2014/main" id="{2349CA14-43FE-4DDB-9DB6-224154F9D032}"/>
              </a:ext>
            </a:extLst>
          </p:cNvPr>
          <p:cNvSpPr>
            <a:spLocks xmlns:a="http://schemas.openxmlformats.org/drawingml/2006/main" noGrp="1"/>
          </p:cNvSpPr>
          <p:nvPr/>
        </p:nvSpPr>
        <p:spPr>
          <a:xfrm xmlns:a="http://schemas.openxmlformats.org/drawingml/2006/main">
            <a:off x="1981200" y="3181350"/>
            <a:ext cx="43053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55">
                <a:solidFill>
                  <a:srgbClr val="15232B"/>
                </a:solidFill>
              </a:defRPr>
            </a:pPr>
            <a:r>
              <a:rPr sz="855">
                <a:solidFill>
                  <a:srgbClr val="15232B"/>
                </a:solidFill>
              </a:rPr>
              <a:t>Die untersuchte PID-Konstellation zur Erkennung schwerer genetischer Schäden war nach der damaligen Gesetzeslage nicht strafbar.</a:t>
            </a:r>
          </a:p>
        </p:txBody>
      </p:sp>
      <p:sp>
        <p:nvSpPr>
          <p:cNvPr id="12" name="">
            <a:extLst xmlns:a="http://schemas.openxmlformats.org/drawingml/2006/main">
              <a:ext uri="{FF2B5EF4-FFF2-40B4-BE49-F238E27FC236}">
                <a16:creationId xmlns:a16="http://schemas.microsoft.com/office/drawing/2014/main" id="{0423DCDA-D951-49DC-9D25-2F4F06538701}"/>
              </a:ext>
            </a:extLst>
          </p:cNvPr>
          <p:cNvSpPr>
            <a:spLocks xmlns:a="http://schemas.openxmlformats.org/drawingml/2006/main" noGrp="1"/>
          </p:cNvSpPr>
          <p:nvPr/>
        </p:nvSpPr>
        <p:spPr>
          <a:xfrm xmlns:a="http://schemas.openxmlformats.org/drawingml/2006/main">
            <a:off x="1981200" y="381000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3F6B"/>
                </a:solidFill>
              </a:defRPr>
            </a:pPr>
            <a:r>
              <a:rPr sz="713" b="1">
                <a:solidFill>
                  <a:srgbClr val="003F6B"/>
                </a:solidFill>
              </a:rPr>
              <a:t>TRAGENDE AUSSAGE</a:t>
            </a:r>
          </a:p>
        </p:txBody>
      </p:sp>
      <p:sp>
        <p:nvSpPr>
          <p:cNvPr id="13" name="">
            <a:extLst xmlns:a="http://schemas.openxmlformats.org/drawingml/2006/main">
              <a:ext uri="{FF2B5EF4-FFF2-40B4-BE49-F238E27FC236}">
                <a16:creationId xmlns:a16="http://schemas.microsoft.com/office/drawing/2014/main" id="{4528C6C1-5FEE-4CF8-93F7-10E3E330EDBA}"/>
              </a:ext>
            </a:extLst>
          </p:cNvPr>
          <p:cNvSpPr>
            <a:spLocks xmlns:a="http://schemas.openxmlformats.org/drawingml/2006/main" noGrp="1"/>
          </p:cNvSpPr>
          <p:nvPr/>
        </p:nvSpPr>
        <p:spPr>
          <a:xfrm xmlns:a="http://schemas.openxmlformats.org/drawingml/2006/main">
            <a:off x="1981200" y="4000500"/>
            <a:ext cx="43053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10">
                <a:solidFill>
                  <a:srgbClr val="15232B"/>
                </a:solidFill>
              </a:defRPr>
            </a:pPr>
            <a:r>
              <a:rPr sz="810">
                <a:solidFill>
                  <a:srgbClr val="15232B"/>
                </a:solidFill>
              </a:rPr>
              <a:t>Der BGH legte den Embryonenbegriff und die untersuchten Zellstadien eng am Strafgesetz aus; die Entscheidung führte zu einer ausdrücklichen gesetzlichen Neuregelung.</a:t>
            </a:r>
          </a:p>
        </p:txBody>
      </p:sp>
      <p:sp>
        <p:nvSpPr>
          <p:cNvPr id="14" name="">
            <a:extLst xmlns:a="http://schemas.openxmlformats.org/drawingml/2006/main">
              <a:ext uri="{FF2B5EF4-FFF2-40B4-BE49-F238E27FC236}">
                <a16:creationId xmlns:a16="http://schemas.microsoft.com/office/drawing/2014/main" id="{D0392C2D-68CD-4BC5-BA72-D9606DEA4DF2}"/>
              </a:ext>
            </a:extLst>
          </p:cNvPr>
          <p:cNvSpPr>
            <a:spLocks xmlns:a="http://schemas.openxmlformats.org/drawingml/2006/main" noGrp="1"/>
          </p:cNvSpPr>
          <p:nvPr/>
        </p:nvSpPr>
        <p:spPr>
          <a:xfrm xmlns:a="http://schemas.openxmlformats.org/drawingml/2006/main">
            <a:off x="1981200" y="4572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3F6B"/>
                </a:solidFill>
              </a:defRPr>
            </a:pPr>
            <a:r>
              <a:rPr sz="713" b="1">
                <a:solidFill>
                  <a:srgbClr val="003F6B"/>
                </a:solidFill>
              </a:rPr>
              <a:t>PRAXIS</a:t>
            </a:r>
          </a:p>
        </p:txBody>
      </p:sp>
      <p:sp>
        <p:nvSpPr>
          <p:cNvPr id="15" name="">
            <a:extLst xmlns:a="http://schemas.openxmlformats.org/drawingml/2006/main">
              <a:ext uri="{FF2B5EF4-FFF2-40B4-BE49-F238E27FC236}">
                <a16:creationId xmlns:a16="http://schemas.microsoft.com/office/drawing/2014/main" id="{08194A0E-CC38-4FB8-B4E9-208260CA0A29}"/>
              </a:ext>
            </a:extLst>
          </p:cNvPr>
          <p:cNvSpPr>
            <a:spLocks xmlns:a="http://schemas.openxmlformats.org/drawingml/2006/main" noGrp="1"/>
          </p:cNvSpPr>
          <p:nvPr/>
        </p:nvSpPr>
        <p:spPr>
          <a:xfrm xmlns:a="http://schemas.openxmlformats.org/drawingml/2006/main">
            <a:off x="2590800" y="4552950"/>
            <a:ext cx="3695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765">
                <a:solidFill>
                  <a:srgbClr val="15232B"/>
                </a:solidFill>
              </a:defRPr>
            </a:pPr>
            <a:r>
              <a:rPr sz="765">
                <a:solidFill>
                  <a:srgbClr val="15232B"/>
                </a:solidFill>
              </a:rPr>
              <a:t>In Spezialmaterien nie aus Ethik unmittelbar auf Strafbarkeit schließen: Tatbestand, Zellstadium, Zweck, Verfahrensvorgaben und aktuelle Gesetzesfassung getrennt prüfen.</a:t>
            </a:r>
          </a:p>
        </p:txBody>
      </p:sp>
      <p:sp>
        <p:nvSpPr>
          <p:cNvPr id="16" name="">
            <a:extLst xmlns:a="http://schemas.openxmlformats.org/drawingml/2006/main">
              <a:ext uri="{FF2B5EF4-FFF2-40B4-BE49-F238E27FC236}">
                <a16:creationId xmlns:a16="http://schemas.microsoft.com/office/drawing/2014/main" id="{365C9702-A97B-46DF-9766-CA2E9BB170B7}"/>
              </a:ext>
            </a:extLst>
          </p:cNvPr>
          <p:cNvSpPr>
            <a:spLocks xmlns:a="http://schemas.openxmlformats.org/drawingml/2006/main" noGrp="1"/>
          </p:cNvSpPr>
          <p:nvPr/>
        </p:nvSpPr>
        <p:spPr>
          <a:xfrm xmlns:a="http://schemas.openxmlformats.org/drawingml/2006/main">
            <a:off x="1981200" y="4962525"/>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615">
                <a:solidFill>
                  <a:srgbClr val="667680"/>
                </a:solidFill>
              </a:defRPr>
            </a:pPr>
            <a:r>
              <a:rPr sz="615">
                <a:solidFill>
                  <a:srgbClr val="667680"/>
                </a:solidFill>
              </a:rPr>
              <a:t>34. Historische Auslegung; heute § 3a ESchG und PIDV beachten.</a:t>
            </a:r>
          </a:p>
        </p:txBody>
      </p:sp>
      <p:sp>
        <p:nvSpPr>
          <p:cNvPr id="17" name="">
            <a:extLst xmlns:a="http://schemas.openxmlformats.org/drawingml/2006/main">
              <a:ext uri="{FF2B5EF4-FFF2-40B4-BE49-F238E27FC236}">
                <a16:creationId xmlns:a16="http://schemas.microsoft.com/office/drawing/2014/main" id="{9DF12A32-0E25-4F82-BB88-71260CC740F7}"/>
              </a:ext>
            </a:extLst>
          </p:cNvPr>
          <p:cNvSpPr>
            <a:spLocks xmlns:a="http://schemas.openxmlformats.org/drawingml/2006/main" noGrp="1"/>
          </p:cNvSpPr>
          <p:nvPr/>
        </p:nvSpPr>
        <p:spPr>
          <a:xfrm xmlns:a="http://schemas.openxmlformats.org/drawingml/2006/main">
            <a:off x="6686550" y="1943100"/>
            <a:ext cx="4648200" cy="3238500"/>
          </a:xfrm>
          <a:prstGeom xmlns:a="http://schemas.openxmlformats.org/drawingml/2006/main" prst="roundRect">
            <a:avLst>
              <a:gd name="adj" fmla="val 2353"/>
            </a:avLst>
          </a:prstGeom>
          <a:solidFill xmlns:a="http://schemas.openxmlformats.org/drawingml/2006/main">
            <a:srgbClr val="FFFFFF"/>
          </a:solidFill>
          <a:ln xmlns:a="http://schemas.openxmlformats.org/drawingml/2006/main" w="10478">
            <a:solidFill>
              <a:srgbClr val="B9CAD2"/>
            </a:solidFill>
            <a:prstDash val="solid"/>
          </a:ln>
        </p:spPr>
      </p:sp>
      <p:sp>
        <p:nvSpPr>
          <p:cNvPr id="18" name="">
            <a:extLst xmlns:a="http://schemas.openxmlformats.org/drawingml/2006/main">
              <a:ext uri="{FF2B5EF4-FFF2-40B4-BE49-F238E27FC236}">
                <a16:creationId xmlns:a16="http://schemas.microsoft.com/office/drawing/2014/main" id="{E5467964-CCE0-492B-99D0-71EDCDF1DD7C}"/>
              </a:ext>
            </a:extLst>
          </p:cNvPr>
          <p:cNvSpPr>
            <a:spLocks xmlns:a="http://schemas.openxmlformats.org/drawingml/2006/main" noGrp="1"/>
          </p:cNvSpPr>
          <p:nvPr/>
        </p:nvSpPr>
        <p:spPr>
          <a:xfrm xmlns:a="http://schemas.openxmlformats.org/drawingml/2006/main">
            <a:off x="6686550" y="1943100"/>
            <a:ext cx="4648200" cy="85725"/>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19" name="">
            <a:extLst xmlns:a="http://schemas.openxmlformats.org/drawingml/2006/main">
              <a:ext uri="{FF2B5EF4-FFF2-40B4-BE49-F238E27FC236}">
                <a16:creationId xmlns:a16="http://schemas.microsoft.com/office/drawing/2014/main" id="{C282975C-71F5-4CAF-8302-7A22B5E62B51}"/>
              </a:ext>
            </a:extLst>
          </p:cNvPr>
          <p:cNvSpPr>
            <a:spLocks xmlns:a="http://schemas.openxmlformats.org/drawingml/2006/main" noGrp="1"/>
          </p:cNvSpPr>
          <p:nvPr/>
        </p:nvSpPr>
        <p:spPr>
          <a:xfrm xmlns:a="http://schemas.openxmlformats.org/drawingml/2006/main">
            <a:off x="6838950" y="2133600"/>
            <a:ext cx="1066800" cy="266700"/>
          </a:xfrm>
          <a:prstGeom xmlns:a="http://schemas.openxmlformats.org/drawingml/2006/main" prst="roundRect">
            <a:avLst>
              <a:gd name="adj" fmla="val 28571"/>
            </a:avLst>
          </a:prstGeom>
          <a:solidFill xmlns:a="http://schemas.openxmlformats.org/drawingml/2006/main">
            <a:srgbClr val="00B2BB"/>
          </a:solidFill>
          <a:ln xmlns:a="http://schemas.openxmlformats.org/drawingml/2006/main" w="0">
            <a:solidFill>
              <a:srgbClr val="00B2BB"/>
            </a:solidFill>
            <a:prstDash val="solid"/>
          </a:ln>
        </p:spPr>
      </p:sp>
      <p:sp>
        <p:nvSpPr>
          <p:cNvPr id="20" name="">
            <a:extLst xmlns:a="http://schemas.openxmlformats.org/drawingml/2006/main">
              <a:ext uri="{FF2B5EF4-FFF2-40B4-BE49-F238E27FC236}">
                <a16:creationId xmlns:a16="http://schemas.microsoft.com/office/drawing/2014/main" id="{8DF1AF35-6EBB-4611-AE5A-C5270F6AD17D}"/>
              </a:ext>
            </a:extLst>
          </p:cNvPr>
          <p:cNvSpPr>
            <a:spLocks xmlns:a="http://schemas.openxmlformats.org/drawingml/2006/main" noGrp="1"/>
          </p:cNvSpPr>
          <p:nvPr/>
        </p:nvSpPr>
        <p:spPr>
          <a:xfrm xmlns:a="http://schemas.openxmlformats.org/drawingml/2006/main">
            <a:off x="6838950" y="21336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40" b="1">
                <a:solidFill>
                  <a:srgbClr val="FFFFFF"/>
                </a:solidFill>
              </a:defRPr>
            </a:pPr>
            <a:r>
              <a:rPr sz="840" b="1">
                <a:solidFill>
                  <a:srgbClr val="FFFFFF"/>
                </a:solidFill>
              </a:rPr>
              <a:t>KERNBESTAND</a:t>
            </a:r>
          </a:p>
        </p:txBody>
      </p:sp>
      <p:sp>
        <p:nvSpPr>
          <p:cNvPr id="21" name="">
            <a:extLst xmlns:a="http://schemas.openxmlformats.org/drawingml/2006/main">
              <a:ext uri="{FF2B5EF4-FFF2-40B4-BE49-F238E27FC236}">
                <a16:creationId xmlns:a16="http://schemas.microsoft.com/office/drawing/2014/main" id="{7EE0FCA9-2E40-4FC3-95B0-B62369C455F3}"/>
              </a:ext>
            </a:extLst>
          </p:cNvPr>
          <p:cNvSpPr>
            <a:spLocks xmlns:a="http://schemas.openxmlformats.org/drawingml/2006/main" noGrp="1"/>
          </p:cNvSpPr>
          <p:nvPr/>
        </p:nvSpPr>
        <p:spPr>
          <a:xfrm xmlns:a="http://schemas.openxmlformats.org/drawingml/2006/main">
            <a:off x="8020050" y="2133600"/>
            <a:ext cx="3162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35" b="1">
                <a:solidFill>
                  <a:srgbClr val="003F6B"/>
                </a:solidFill>
              </a:defRPr>
            </a:pPr>
            <a:r>
              <a:rPr sz="735" b="1">
                <a:solidFill>
                  <a:srgbClr val="003F6B"/>
                </a:solidFill>
              </a:rPr>
              <a:t>BGH · 28.06.2017 · 5 StR 20/16</a:t>
            </a:r>
          </a:p>
        </p:txBody>
      </p:sp>
      <p:sp>
        <p:nvSpPr>
          <p:cNvPr id="22" name="">
            <a:extLst xmlns:a="http://schemas.openxmlformats.org/drawingml/2006/main">
              <a:ext uri="{FF2B5EF4-FFF2-40B4-BE49-F238E27FC236}">
                <a16:creationId xmlns:a16="http://schemas.microsoft.com/office/drawing/2014/main" id="{6F58E05B-C18E-4CB5-8DA6-AAA941FC2434}"/>
              </a:ext>
            </a:extLst>
          </p:cNvPr>
          <p:cNvSpPr>
            <a:spLocks xmlns:a="http://schemas.openxmlformats.org/drawingml/2006/main" noGrp="1"/>
          </p:cNvSpPr>
          <p:nvPr/>
        </p:nvSpPr>
        <p:spPr>
          <a:xfrm xmlns:a="http://schemas.openxmlformats.org/drawingml/2006/main">
            <a:off x="6858000" y="2476500"/>
            <a:ext cx="430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15" b="1">
                <a:solidFill>
                  <a:srgbClr val="003F6B"/>
                </a:solidFill>
              </a:defRPr>
            </a:pPr>
            <a:r>
              <a:rPr sz="1215" b="1">
                <a:solidFill>
                  <a:srgbClr val="003F6B"/>
                </a:solidFill>
              </a:rPr>
              <a:t>Manipulation von Wartelisten und strafrechtliches Gesetzlichkeitsprinzip</a:t>
            </a:r>
          </a:p>
        </p:txBody>
      </p:sp>
      <p:sp>
        <p:nvSpPr>
          <p:cNvPr id="23" name="">
            <a:extLst xmlns:a="http://schemas.openxmlformats.org/drawingml/2006/main">
              <a:ext uri="{FF2B5EF4-FFF2-40B4-BE49-F238E27FC236}">
                <a16:creationId xmlns:a16="http://schemas.microsoft.com/office/drawing/2014/main" id="{E2031512-3E42-4E58-A1B8-5C11777C568F}"/>
              </a:ext>
            </a:extLst>
          </p:cNvPr>
          <p:cNvSpPr>
            <a:spLocks xmlns:a="http://schemas.openxmlformats.org/drawingml/2006/main" noGrp="1"/>
          </p:cNvSpPr>
          <p:nvPr/>
        </p:nvSpPr>
        <p:spPr>
          <a:xfrm xmlns:a="http://schemas.openxmlformats.org/drawingml/2006/main">
            <a:off x="6858000" y="29908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B2BB"/>
                </a:solidFill>
              </a:defRPr>
            </a:pPr>
            <a:r>
              <a:rPr sz="713" b="1">
                <a:solidFill>
                  <a:srgbClr val="00B2BB"/>
                </a:solidFill>
              </a:rPr>
              <a:t>TENOR / LEITSATZKERN</a:t>
            </a:r>
          </a:p>
        </p:txBody>
      </p:sp>
      <p:sp>
        <p:nvSpPr>
          <p:cNvPr id="24" name="">
            <a:extLst xmlns:a="http://schemas.openxmlformats.org/drawingml/2006/main">
              <a:ext uri="{FF2B5EF4-FFF2-40B4-BE49-F238E27FC236}">
                <a16:creationId xmlns:a16="http://schemas.microsoft.com/office/drawing/2014/main" id="{9729F2B8-2856-43AB-B0FF-BB120054CC6D}"/>
              </a:ext>
            </a:extLst>
          </p:cNvPr>
          <p:cNvSpPr>
            <a:spLocks xmlns:a="http://schemas.openxmlformats.org/drawingml/2006/main" noGrp="1"/>
          </p:cNvSpPr>
          <p:nvPr/>
        </p:nvSpPr>
        <p:spPr>
          <a:xfrm xmlns:a="http://schemas.openxmlformats.org/drawingml/2006/main">
            <a:off x="6858000" y="3181350"/>
            <a:ext cx="43053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55">
                <a:solidFill>
                  <a:srgbClr val="15232B"/>
                </a:solidFill>
              </a:defRPr>
            </a:pPr>
            <a:r>
              <a:rPr sz="855">
                <a:solidFill>
                  <a:srgbClr val="15232B"/>
                </a:solidFill>
              </a:rPr>
              <a:t>Richtlinienverstöße der Bundesärztekammer begründen nicht ohne Weiteres eine Strafbarkeit wegen Tötungsdelikten.</a:t>
            </a:r>
          </a:p>
        </p:txBody>
      </p:sp>
      <p:sp>
        <p:nvSpPr>
          <p:cNvPr id="25" name="">
            <a:extLst xmlns:a="http://schemas.openxmlformats.org/drawingml/2006/main">
              <a:ext uri="{FF2B5EF4-FFF2-40B4-BE49-F238E27FC236}">
                <a16:creationId xmlns:a16="http://schemas.microsoft.com/office/drawing/2014/main" id="{DD3E0D84-C036-45BC-A16F-B8A1080ED769}"/>
              </a:ext>
            </a:extLst>
          </p:cNvPr>
          <p:cNvSpPr>
            <a:spLocks xmlns:a="http://schemas.openxmlformats.org/drawingml/2006/main" noGrp="1"/>
          </p:cNvSpPr>
          <p:nvPr/>
        </p:nvSpPr>
        <p:spPr>
          <a:xfrm xmlns:a="http://schemas.openxmlformats.org/drawingml/2006/main">
            <a:off x="6858000" y="381000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3F6B"/>
                </a:solidFill>
              </a:defRPr>
            </a:pPr>
            <a:r>
              <a:rPr sz="713" b="1">
                <a:solidFill>
                  <a:srgbClr val="003F6B"/>
                </a:solidFill>
              </a:rPr>
              <a:t>TRAGENDE AUSSAGE</a:t>
            </a:r>
          </a:p>
        </p:txBody>
      </p:sp>
      <p:sp>
        <p:nvSpPr>
          <p:cNvPr id="26" name="">
            <a:extLst xmlns:a="http://schemas.openxmlformats.org/drawingml/2006/main">
              <a:ext uri="{FF2B5EF4-FFF2-40B4-BE49-F238E27FC236}">
                <a16:creationId xmlns:a16="http://schemas.microsoft.com/office/drawing/2014/main" id="{DC05DF06-84AB-4926-8588-C678C62694B5}"/>
              </a:ext>
            </a:extLst>
          </p:cNvPr>
          <p:cNvSpPr>
            <a:spLocks xmlns:a="http://schemas.openxmlformats.org/drawingml/2006/main" noGrp="1"/>
          </p:cNvSpPr>
          <p:nvPr/>
        </p:nvSpPr>
        <p:spPr>
          <a:xfrm xmlns:a="http://schemas.openxmlformats.org/drawingml/2006/main">
            <a:off x="6858000" y="4000500"/>
            <a:ext cx="43053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10">
                <a:solidFill>
                  <a:srgbClr val="15232B"/>
                </a:solidFill>
              </a:defRPr>
            </a:pPr>
            <a:r>
              <a:rPr sz="810">
                <a:solidFill>
                  <a:srgbClr val="15232B"/>
                </a:solidFill>
              </a:rPr>
              <a:t>Strafrechtliche Zurechnung verlangt gesetzliche Tatbestände, konkrete Kausalität und Vorsatz; medizinische Allokationsregeln dürfen nicht unbesehen zu Strafnormen werden.</a:t>
            </a:r>
          </a:p>
        </p:txBody>
      </p:sp>
      <p:sp>
        <p:nvSpPr>
          <p:cNvPr id="27" name="">
            <a:extLst xmlns:a="http://schemas.openxmlformats.org/drawingml/2006/main">
              <a:ext uri="{FF2B5EF4-FFF2-40B4-BE49-F238E27FC236}">
                <a16:creationId xmlns:a16="http://schemas.microsoft.com/office/drawing/2014/main" id="{B6AD4F7F-5B4F-4B71-9240-345D1FF0CCDE}"/>
              </a:ext>
            </a:extLst>
          </p:cNvPr>
          <p:cNvSpPr>
            <a:spLocks xmlns:a="http://schemas.openxmlformats.org/drawingml/2006/main" noGrp="1"/>
          </p:cNvSpPr>
          <p:nvPr/>
        </p:nvSpPr>
        <p:spPr>
          <a:xfrm xmlns:a="http://schemas.openxmlformats.org/drawingml/2006/main">
            <a:off x="6858000" y="4572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B2BB"/>
                </a:solidFill>
              </a:defRPr>
            </a:pPr>
            <a:r>
              <a:rPr sz="713" b="1">
                <a:solidFill>
                  <a:srgbClr val="00B2BB"/>
                </a:solidFill>
              </a:rPr>
              <a:t>PRAXIS</a:t>
            </a:r>
          </a:p>
        </p:txBody>
      </p:sp>
      <p:sp>
        <p:nvSpPr>
          <p:cNvPr id="28" name="">
            <a:extLst xmlns:a="http://schemas.openxmlformats.org/drawingml/2006/main">
              <a:ext uri="{FF2B5EF4-FFF2-40B4-BE49-F238E27FC236}">
                <a16:creationId xmlns:a16="http://schemas.microsoft.com/office/drawing/2014/main" id="{BFBDC566-D315-4D43-8CD1-8F734A1425C9}"/>
              </a:ext>
            </a:extLst>
          </p:cNvPr>
          <p:cNvSpPr>
            <a:spLocks xmlns:a="http://schemas.openxmlformats.org/drawingml/2006/main" noGrp="1"/>
          </p:cNvSpPr>
          <p:nvPr/>
        </p:nvSpPr>
        <p:spPr>
          <a:xfrm xmlns:a="http://schemas.openxmlformats.org/drawingml/2006/main">
            <a:off x="7467600" y="4552950"/>
            <a:ext cx="3695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765">
                <a:solidFill>
                  <a:srgbClr val="15232B"/>
                </a:solidFill>
              </a:defRPr>
            </a:pPr>
            <a:r>
              <a:rPr sz="765">
                <a:solidFill>
                  <a:srgbClr val="15232B"/>
                </a:solidFill>
              </a:rPr>
              <a:t>Allokationsregeln strikt befolgen und dokumentieren, strafrechtliche Bewertung aber getrennt nach Tatbestand, Kausalität und subjektiver Seite vornehmen.</a:t>
            </a:r>
          </a:p>
        </p:txBody>
      </p:sp>
      <p:sp>
        <p:nvSpPr>
          <p:cNvPr id="29" name="">
            <a:extLst xmlns:a="http://schemas.openxmlformats.org/drawingml/2006/main">
              <a:ext uri="{FF2B5EF4-FFF2-40B4-BE49-F238E27FC236}">
                <a16:creationId xmlns:a16="http://schemas.microsoft.com/office/drawing/2014/main" id="{EDED6EDA-A741-483E-981B-59DF046E9685}"/>
              </a:ext>
            </a:extLst>
          </p:cNvPr>
          <p:cNvSpPr>
            <a:spLocks xmlns:a="http://schemas.openxmlformats.org/drawingml/2006/main" noGrp="1"/>
          </p:cNvSpPr>
          <p:nvPr/>
        </p:nvSpPr>
        <p:spPr>
          <a:xfrm xmlns:a="http://schemas.openxmlformats.org/drawingml/2006/main">
            <a:off x="6858000" y="4962525"/>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615">
                <a:solidFill>
                  <a:srgbClr val="667680"/>
                </a:solidFill>
              </a:defRPr>
            </a:pPr>
            <a:r>
              <a:rPr sz="615">
                <a:solidFill>
                  <a:srgbClr val="667680"/>
                </a:solidFill>
              </a:rPr>
              <a:t>35. Prägende Entscheidung zu Transplantationsrichtlinien und Art. 103 Abs. 2 GG.</a:t>
            </a:r>
          </a:p>
        </p:txBody>
      </p:sp>
      <p:sp>
        <p:nvSpPr>
          <p:cNvPr id="30" name="">
            <a:extLst xmlns:a="http://schemas.openxmlformats.org/drawingml/2006/main">
              <a:ext uri="{FF2B5EF4-FFF2-40B4-BE49-F238E27FC236}">
                <a16:creationId xmlns:a16="http://schemas.microsoft.com/office/drawing/2014/main" id="{E3288044-5C50-461F-AE72-5DA51D96B7F0}"/>
              </a:ext>
            </a:extLst>
          </p:cNvPr>
          <p:cNvSpPr>
            <a:spLocks xmlns:a="http://schemas.openxmlformats.org/drawingml/2006/main" noGrp="1"/>
          </p:cNvSpPr>
          <p:nvPr/>
        </p:nvSpPr>
        <p:spPr>
          <a:xfrm xmlns:a="http://schemas.openxmlformats.org/drawingml/2006/main">
            <a:off x="1809750" y="5314950"/>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540">
                <a:solidFill>
                  <a:srgbClr val="667680"/>
                </a:solidFill>
              </a:defRPr>
            </a:pPr>
            <a:r>
              <a:rPr sz="540">
                <a:solidFill>
                  <a:srgbClr val="667680"/>
                </a:solidFill>
              </a:rPr>
              <a:t>Originalquellen: https://www.bundesgerichtshof.de/SharedDocs/Downloads/DE/Bibliothek/Gesetzesmaterialien/17_wp/PID/5StR38609.pdf?__blob=publicationFile · https://dejure.org/dienste/vernetzung/rechtsprechung?Aktenzeichen=5+StR+20%2F16&amp;Datum=28.06.2017&amp;Gericht=BGH</a:t>
            </a:r>
          </a:p>
        </p:txBody>
      </p:sp>
    </p:spTree>
    <p:extLst>
      <p:ext uri="{BB962C8B-B14F-4D97-AF65-F5344CB8AC3E}">
        <p14:creationId xmlns:p14="http://schemas.microsoft.com/office/powerpoint/2010/main" val="43637646"/>
      </p:ext>
    </p:extLst>
  </p:cSld>
</p:sld>
</file>

<file path=ppt/slides/slide445.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Transplantationsmedizin &amp; Aufklärung · Approbation &amp; Berufsrecht</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LEITENTSCHEIDUNGEN · 19/20</a:t>
            </a:r>
            <a:endParaRPr/>
          </a:p>
        </p:txBody>
      </p:sp>
      <p:sp>
        <p:nvSpPr>
          <p:cNvPr id="4" name="">
            <a:extLst xmlns:a="http://schemas.openxmlformats.org/drawingml/2006/main">
              <a:ext uri="{FF2B5EF4-FFF2-40B4-BE49-F238E27FC236}">
                <a16:creationId xmlns:a16="http://schemas.microsoft.com/office/drawing/2014/main" id="{DEED4503-B745-4503-83C8-FA1BE31B3458}"/>
              </a:ext>
            </a:extLst>
          </p:cNvPr>
          <p:cNvSpPr>
            <a:spLocks xmlns:a="http://schemas.openxmlformats.org/drawingml/2006/main" noGrp="1"/>
          </p:cNvSpPr>
          <p:nvPr/>
        </p:nvSpPr>
        <p:spPr>
          <a:xfrm xmlns:a="http://schemas.openxmlformats.org/drawingml/2006/main">
            <a:off x="1809750" y="1943100"/>
            <a:ext cx="4648200" cy="3238500"/>
          </a:xfrm>
          <a:prstGeom xmlns:a="http://schemas.openxmlformats.org/drawingml/2006/main" prst="roundRect">
            <a:avLst>
              <a:gd name="adj" fmla="val 2353"/>
            </a:avLst>
          </a:prstGeom>
          <a:solidFill xmlns:a="http://schemas.openxmlformats.org/drawingml/2006/main">
            <a:srgbClr val="FFFFFF"/>
          </a:solidFill>
          <a:ln xmlns:a="http://schemas.openxmlformats.org/drawingml/2006/main" w="10478">
            <a:solidFill>
              <a:srgbClr val="B9CAD2"/>
            </a:solidFill>
            <a:prstDash val="solid"/>
          </a:ln>
        </p:spPr>
      </p:sp>
      <p:sp>
        <p:nvSpPr>
          <p:cNvPr id="5" name="">
            <a:extLst xmlns:a="http://schemas.openxmlformats.org/drawingml/2006/main">
              <a:ext uri="{FF2B5EF4-FFF2-40B4-BE49-F238E27FC236}">
                <a16:creationId xmlns:a16="http://schemas.microsoft.com/office/drawing/2014/main" id="{CE733FBD-A9CE-4D62-B54F-0BB45703D47B}"/>
              </a:ext>
            </a:extLst>
          </p:cNvPr>
          <p:cNvSpPr>
            <a:spLocks xmlns:a="http://schemas.openxmlformats.org/drawingml/2006/main" noGrp="1"/>
          </p:cNvSpPr>
          <p:nvPr/>
        </p:nvSpPr>
        <p:spPr>
          <a:xfrm xmlns:a="http://schemas.openxmlformats.org/drawingml/2006/main">
            <a:off x="1809750" y="1943100"/>
            <a:ext cx="4648200" cy="85725"/>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CC56A0A9-7993-48DB-813C-4E68CF7820CC}"/>
              </a:ext>
            </a:extLst>
          </p:cNvPr>
          <p:cNvSpPr>
            <a:spLocks xmlns:a="http://schemas.openxmlformats.org/drawingml/2006/main" noGrp="1"/>
          </p:cNvSpPr>
          <p:nvPr/>
        </p:nvSpPr>
        <p:spPr>
          <a:xfrm xmlns:a="http://schemas.openxmlformats.org/drawingml/2006/main">
            <a:off x="1962150" y="2133600"/>
            <a:ext cx="1066800" cy="266700"/>
          </a:xfrm>
          <a:prstGeom xmlns:a="http://schemas.openxmlformats.org/drawingml/2006/main" prst="roundRect">
            <a:avLst>
              <a:gd name="adj" fmla="val 28571"/>
            </a:avLst>
          </a:prstGeom>
          <a:solidFill xmlns:a="http://schemas.openxmlformats.org/drawingml/2006/main">
            <a:srgbClr val="00B2BB"/>
          </a:solidFill>
          <a:ln xmlns:a="http://schemas.openxmlformats.org/drawingml/2006/main" w="0">
            <a:solidFill>
              <a:srgbClr val="00B2BB"/>
            </a:solidFill>
            <a:prstDash val="solid"/>
          </a:ln>
        </p:spPr>
      </p:sp>
      <p:sp>
        <p:nvSpPr>
          <p:cNvPr id="7" name="">
            <a:extLst xmlns:a="http://schemas.openxmlformats.org/drawingml/2006/main">
              <a:ext uri="{FF2B5EF4-FFF2-40B4-BE49-F238E27FC236}">
                <a16:creationId xmlns:a16="http://schemas.microsoft.com/office/drawing/2014/main" id="{38C453D3-D768-4BCC-B369-75508A2B0833}"/>
              </a:ext>
            </a:extLst>
          </p:cNvPr>
          <p:cNvSpPr>
            <a:spLocks xmlns:a="http://schemas.openxmlformats.org/drawingml/2006/main" noGrp="1"/>
          </p:cNvSpPr>
          <p:nvPr/>
        </p:nvSpPr>
        <p:spPr>
          <a:xfrm xmlns:a="http://schemas.openxmlformats.org/drawingml/2006/main">
            <a:off x="1962150" y="21336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40" b="1">
                <a:solidFill>
                  <a:srgbClr val="FFFFFF"/>
                </a:solidFill>
              </a:defRPr>
            </a:pPr>
            <a:r>
              <a:rPr sz="840" b="1">
                <a:solidFill>
                  <a:srgbClr val="FFFFFF"/>
                </a:solidFill>
              </a:rPr>
              <a:t>KERNBESTAND</a:t>
            </a:r>
          </a:p>
        </p:txBody>
      </p:sp>
      <p:sp>
        <p:nvSpPr>
          <p:cNvPr id="8" name="">
            <a:extLst xmlns:a="http://schemas.openxmlformats.org/drawingml/2006/main">
              <a:ext uri="{FF2B5EF4-FFF2-40B4-BE49-F238E27FC236}">
                <a16:creationId xmlns:a16="http://schemas.microsoft.com/office/drawing/2014/main" id="{4C5535DA-5FE9-4DD6-916E-C7FC9168C101}"/>
              </a:ext>
            </a:extLst>
          </p:cNvPr>
          <p:cNvSpPr>
            <a:spLocks xmlns:a="http://schemas.openxmlformats.org/drawingml/2006/main" noGrp="1"/>
          </p:cNvSpPr>
          <p:nvPr/>
        </p:nvSpPr>
        <p:spPr>
          <a:xfrm xmlns:a="http://schemas.openxmlformats.org/drawingml/2006/main">
            <a:off x="3143250" y="2133600"/>
            <a:ext cx="3162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35" b="1">
                <a:solidFill>
                  <a:srgbClr val="003F6B"/>
                </a:solidFill>
              </a:defRPr>
            </a:pPr>
            <a:r>
              <a:rPr sz="735" b="1">
                <a:solidFill>
                  <a:srgbClr val="003F6B"/>
                </a:solidFill>
              </a:rPr>
              <a:t>BGH · 29.01.2019 · VI ZR 495/16</a:t>
            </a:r>
          </a:p>
        </p:txBody>
      </p:sp>
      <p:sp>
        <p:nvSpPr>
          <p:cNvPr id="9" name="">
            <a:extLst xmlns:a="http://schemas.openxmlformats.org/drawingml/2006/main">
              <a:ext uri="{FF2B5EF4-FFF2-40B4-BE49-F238E27FC236}">
                <a16:creationId xmlns:a16="http://schemas.microsoft.com/office/drawing/2014/main" id="{53AD8DE2-3164-42F4-861E-1E0C1C35987E}"/>
              </a:ext>
            </a:extLst>
          </p:cNvPr>
          <p:cNvSpPr>
            <a:spLocks xmlns:a="http://schemas.openxmlformats.org/drawingml/2006/main" noGrp="1"/>
          </p:cNvSpPr>
          <p:nvPr/>
        </p:nvSpPr>
        <p:spPr>
          <a:xfrm xmlns:a="http://schemas.openxmlformats.org/drawingml/2006/main">
            <a:off x="1981200" y="2476500"/>
            <a:ext cx="430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15" b="1">
                <a:solidFill>
                  <a:srgbClr val="003F6B"/>
                </a:solidFill>
              </a:defRPr>
            </a:pPr>
            <a:r>
              <a:rPr sz="1215" b="1">
                <a:solidFill>
                  <a:srgbClr val="003F6B"/>
                </a:solidFill>
              </a:rPr>
              <a:t>Strenge Aufklärung bei der Lebendorganspende</a:t>
            </a:r>
          </a:p>
        </p:txBody>
      </p:sp>
      <p:sp>
        <p:nvSpPr>
          <p:cNvPr id="10" name="">
            <a:extLst xmlns:a="http://schemas.openxmlformats.org/drawingml/2006/main">
              <a:ext uri="{FF2B5EF4-FFF2-40B4-BE49-F238E27FC236}">
                <a16:creationId xmlns:a16="http://schemas.microsoft.com/office/drawing/2014/main" id="{B8B6ADE3-1339-4787-9ABD-FD2E31E2A75F}"/>
              </a:ext>
            </a:extLst>
          </p:cNvPr>
          <p:cNvSpPr>
            <a:spLocks xmlns:a="http://schemas.openxmlformats.org/drawingml/2006/main" noGrp="1"/>
          </p:cNvSpPr>
          <p:nvPr/>
        </p:nvSpPr>
        <p:spPr>
          <a:xfrm xmlns:a="http://schemas.openxmlformats.org/drawingml/2006/main">
            <a:off x="1981200" y="29908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B2BB"/>
                </a:solidFill>
              </a:defRPr>
            </a:pPr>
            <a:r>
              <a:rPr sz="713" b="1">
                <a:solidFill>
                  <a:srgbClr val="00B2BB"/>
                </a:solidFill>
              </a:rPr>
              <a:t>TENOR / LEITSATZKERN</a:t>
            </a:r>
          </a:p>
        </p:txBody>
      </p:sp>
      <p:sp>
        <p:nvSpPr>
          <p:cNvPr id="11" name="">
            <a:extLst xmlns:a="http://schemas.openxmlformats.org/drawingml/2006/main">
              <a:ext uri="{FF2B5EF4-FFF2-40B4-BE49-F238E27FC236}">
                <a16:creationId xmlns:a16="http://schemas.microsoft.com/office/drawing/2014/main" id="{F62E1DB6-DB80-4C2B-90C9-A31CE5E69374}"/>
              </a:ext>
            </a:extLst>
          </p:cNvPr>
          <p:cNvSpPr>
            <a:spLocks xmlns:a="http://schemas.openxmlformats.org/drawingml/2006/main" noGrp="1"/>
          </p:cNvSpPr>
          <p:nvPr/>
        </p:nvSpPr>
        <p:spPr>
          <a:xfrm xmlns:a="http://schemas.openxmlformats.org/drawingml/2006/main">
            <a:off x="1981200" y="3181350"/>
            <a:ext cx="43053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55">
                <a:solidFill>
                  <a:srgbClr val="15232B"/>
                </a:solidFill>
              </a:defRPr>
            </a:pPr>
            <a:r>
              <a:rPr sz="855">
                <a:solidFill>
                  <a:srgbClr val="15232B"/>
                </a:solidFill>
              </a:rPr>
              <a:t>Die besonderen Aufklärungs- und Verfahrensvorgaben des TPG schützen die freie Spenderentscheidung; bei inhaltlichen Defiziten greift der Einwand hypothetischer Einwilligung nicht ohne Weiteres.</a:t>
            </a:r>
          </a:p>
        </p:txBody>
      </p:sp>
      <p:sp>
        <p:nvSpPr>
          <p:cNvPr id="12" name="">
            <a:extLst xmlns:a="http://schemas.openxmlformats.org/drawingml/2006/main">
              <a:ext uri="{FF2B5EF4-FFF2-40B4-BE49-F238E27FC236}">
                <a16:creationId xmlns:a16="http://schemas.microsoft.com/office/drawing/2014/main" id="{DDA11419-DDB8-4DFB-8375-DBAFB3C72D9D}"/>
              </a:ext>
            </a:extLst>
          </p:cNvPr>
          <p:cNvSpPr>
            <a:spLocks xmlns:a="http://schemas.openxmlformats.org/drawingml/2006/main" noGrp="1"/>
          </p:cNvSpPr>
          <p:nvPr/>
        </p:nvSpPr>
        <p:spPr>
          <a:xfrm xmlns:a="http://schemas.openxmlformats.org/drawingml/2006/main">
            <a:off x="1981200" y="381000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3F6B"/>
                </a:solidFill>
              </a:defRPr>
            </a:pPr>
            <a:r>
              <a:rPr sz="713" b="1">
                <a:solidFill>
                  <a:srgbClr val="003F6B"/>
                </a:solidFill>
              </a:rPr>
              <a:t>TRAGENDE AUSSAGE</a:t>
            </a:r>
          </a:p>
        </p:txBody>
      </p:sp>
      <p:sp>
        <p:nvSpPr>
          <p:cNvPr id="13" name="">
            <a:extLst xmlns:a="http://schemas.openxmlformats.org/drawingml/2006/main">
              <a:ext uri="{FF2B5EF4-FFF2-40B4-BE49-F238E27FC236}">
                <a16:creationId xmlns:a16="http://schemas.microsoft.com/office/drawing/2014/main" id="{B2EC54D4-AB02-48E8-9189-3B0E558EB4C2}"/>
              </a:ext>
            </a:extLst>
          </p:cNvPr>
          <p:cNvSpPr>
            <a:spLocks xmlns:a="http://schemas.openxmlformats.org/drawingml/2006/main" noGrp="1"/>
          </p:cNvSpPr>
          <p:nvPr/>
        </p:nvSpPr>
        <p:spPr>
          <a:xfrm xmlns:a="http://schemas.openxmlformats.org/drawingml/2006/main">
            <a:off x="1981200" y="4000500"/>
            <a:ext cx="43053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10">
                <a:solidFill>
                  <a:srgbClr val="15232B"/>
                </a:solidFill>
              </a:defRPr>
            </a:pPr>
            <a:r>
              <a:rPr sz="810">
                <a:solidFill>
                  <a:srgbClr val="15232B"/>
                </a:solidFill>
              </a:rPr>
              <a:t>Form- und Verfahrensmängel beeinflussen die Beweiswürdigung. Bei der altruistischen Spende ist die Entscheidung besonders vor Druck, Verharmlosung und unvollständiger Risikoaufklärung zu schützen.</a:t>
            </a:r>
          </a:p>
        </p:txBody>
      </p:sp>
      <p:sp>
        <p:nvSpPr>
          <p:cNvPr id="14" name="">
            <a:extLst xmlns:a="http://schemas.openxmlformats.org/drawingml/2006/main">
              <a:ext uri="{FF2B5EF4-FFF2-40B4-BE49-F238E27FC236}">
                <a16:creationId xmlns:a16="http://schemas.microsoft.com/office/drawing/2014/main" id="{758837E5-F46B-4E3C-A457-5BED0571A7B4}"/>
              </a:ext>
            </a:extLst>
          </p:cNvPr>
          <p:cNvSpPr>
            <a:spLocks xmlns:a="http://schemas.openxmlformats.org/drawingml/2006/main" noGrp="1"/>
          </p:cNvSpPr>
          <p:nvPr/>
        </p:nvSpPr>
        <p:spPr>
          <a:xfrm xmlns:a="http://schemas.openxmlformats.org/drawingml/2006/main">
            <a:off x="1981200" y="4572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B2BB"/>
                </a:solidFill>
              </a:defRPr>
            </a:pPr>
            <a:r>
              <a:rPr sz="713" b="1">
                <a:solidFill>
                  <a:srgbClr val="00B2BB"/>
                </a:solidFill>
              </a:rPr>
              <a:t>PRAXIS</a:t>
            </a:r>
          </a:p>
        </p:txBody>
      </p:sp>
      <p:sp>
        <p:nvSpPr>
          <p:cNvPr id="15" name="">
            <a:extLst xmlns:a="http://schemas.openxmlformats.org/drawingml/2006/main">
              <a:ext uri="{FF2B5EF4-FFF2-40B4-BE49-F238E27FC236}">
                <a16:creationId xmlns:a16="http://schemas.microsoft.com/office/drawing/2014/main" id="{D5498479-2DD3-4C07-8142-D6F2892391FD}"/>
              </a:ext>
            </a:extLst>
          </p:cNvPr>
          <p:cNvSpPr>
            <a:spLocks xmlns:a="http://schemas.openxmlformats.org/drawingml/2006/main" noGrp="1"/>
          </p:cNvSpPr>
          <p:nvPr/>
        </p:nvSpPr>
        <p:spPr>
          <a:xfrm xmlns:a="http://schemas.openxmlformats.org/drawingml/2006/main">
            <a:off x="2590800" y="4552950"/>
            <a:ext cx="3695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765">
                <a:solidFill>
                  <a:srgbClr val="15232B"/>
                </a:solidFill>
              </a:defRPr>
            </a:pPr>
            <a:r>
              <a:rPr sz="765">
                <a:solidFill>
                  <a:srgbClr val="15232B"/>
                </a:solidFill>
              </a:rPr>
              <a:t>Spender- und Empfängerinteressen institutionell trennen, Risiken und Langzeitfolgen vollständig erklären und unabhängige Prüfung nachvollziehbar dokumentieren.</a:t>
            </a:r>
          </a:p>
        </p:txBody>
      </p:sp>
      <p:sp>
        <p:nvSpPr>
          <p:cNvPr id="16" name="">
            <a:extLst xmlns:a="http://schemas.openxmlformats.org/drawingml/2006/main">
              <a:ext uri="{FF2B5EF4-FFF2-40B4-BE49-F238E27FC236}">
                <a16:creationId xmlns:a16="http://schemas.microsoft.com/office/drawing/2014/main" id="{CDC28B4D-4626-49C6-A10F-86A22565A0A6}"/>
              </a:ext>
            </a:extLst>
          </p:cNvPr>
          <p:cNvSpPr>
            <a:spLocks xmlns:a="http://schemas.openxmlformats.org/drawingml/2006/main" noGrp="1"/>
          </p:cNvSpPr>
          <p:nvPr/>
        </p:nvSpPr>
        <p:spPr>
          <a:xfrm xmlns:a="http://schemas.openxmlformats.org/drawingml/2006/main">
            <a:off x="1981200" y="4962525"/>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615">
                <a:solidFill>
                  <a:srgbClr val="667680"/>
                </a:solidFill>
              </a:defRPr>
            </a:pPr>
            <a:r>
              <a:rPr sz="615">
                <a:solidFill>
                  <a:srgbClr val="667680"/>
                </a:solidFill>
              </a:rPr>
              <a:t>36. Zentrale zivilrechtliche Leitentscheidung zur Lebendspende.</a:t>
            </a:r>
          </a:p>
        </p:txBody>
      </p:sp>
      <p:sp>
        <p:nvSpPr>
          <p:cNvPr id="17" name="">
            <a:extLst xmlns:a="http://schemas.openxmlformats.org/drawingml/2006/main">
              <a:ext uri="{FF2B5EF4-FFF2-40B4-BE49-F238E27FC236}">
                <a16:creationId xmlns:a16="http://schemas.microsoft.com/office/drawing/2014/main" id="{5F89E782-E658-4815-89D0-26DE2C1B6494}"/>
              </a:ext>
            </a:extLst>
          </p:cNvPr>
          <p:cNvSpPr>
            <a:spLocks xmlns:a="http://schemas.openxmlformats.org/drawingml/2006/main" noGrp="1"/>
          </p:cNvSpPr>
          <p:nvPr/>
        </p:nvSpPr>
        <p:spPr>
          <a:xfrm xmlns:a="http://schemas.openxmlformats.org/drawingml/2006/main">
            <a:off x="6686550" y="1943100"/>
            <a:ext cx="4648200" cy="3238500"/>
          </a:xfrm>
          <a:prstGeom xmlns:a="http://schemas.openxmlformats.org/drawingml/2006/main" prst="roundRect">
            <a:avLst>
              <a:gd name="adj" fmla="val 2353"/>
            </a:avLst>
          </a:prstGeom>
          <a:solidFill xmlns:a="http://schemas.openxmlformats.org/drawingml/2006/main">
            <a:srgbClr val="FFFFFF"/>
          </a:solidFill>
          <a:ln xmlns:a="http://schemas.openxmlformats.org/drawingml/2006/main" w="10478">
            <a:solidFill>
              <a:srgbClr val="B9CAD2"/>
            </a:solidFill>
            <a:prstDash val="solid"/>
          </a:ln>
        </p:spPr>
      </p:sp>
      <p:sp>
        <p:nvSpPr>
          <p:cNvPr id="18" name="">
            <a:extLst xmlns:a="http://schemas.openxmlformats.org/drawingml/2006/main">
              <a:ext uri="{FF2B5EF4-FFF2-40B4-BE49-F238E27FC236}">
                <a16:creationId xmlns:a16="http://schemas.microsoft.com/office/drawing/2014/main" id="{FCCC2E11-F58A-40E7-86D9-90A771021395}"/>
              </a:ext>
            </a:extLst>
          </p:cNvPr>
          <p:cNvSpPr>
            <a:spLocks xmlns:a="http://schemas.openxmlformats.org/drawingml/2006/main" noGrp="1"/>
          </p:cNvSpPr>
          <p:nvPr/>
        </p:nvSpPr>
        <p:spPr>
          <a:xfrm xmlns:a="http://schemas.openxmlformats.org/drawingml/2006/main">
            <a:off x="6686550" y="1943100"/>
            <a:ext cx="4648200" cy="85725"/>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19" name="">
            <a:extLst xmlns:a="http://schemas.openxmlformats.org/drawingml/2006/main">
              <a:ext uri="{FF2B5EF4-FFF2-40B4-BE49-F238E27FC236}">
                <a16:creationId xmlns:a16="http://schemas.microsoft.com/office/drawing/2014/main" id="{F32373D4-816B-4151-B38F-1BDE741C23CC}"/>
              </a:ext>
            </a:extLst>
          </p:cNvPr>
          <p:cNvSpPr>
            <a:spLocks xmlns:a="http://schemas.openxmlformats.org/drawingml/2006/main" noGrp="1"/>
          </p:cNvSpPr>
          <p:nvPr/>
        </p:nvSpPr>
        <p:spPr>
          <a:xfrm xmlns:a="http://schemas.openxmlformats.org/drawingml/2006/main">
            <a:off x="6838950" y="2133600"/>
            <a:ext cx="1066800" cy="266700"/>
          </a:xfrm>
          <a:prstGeom xmlns:a="http://schemas.openxmlformats.org/drawingml/2006/main" prst="roundRect">
            <a:avLst>
              <a:gd name="adj" fmla="val 28571"/>
            </a:avLst>
          </a:prstGeom>
          <a:solidFill xmlns:a="http://schemas.openxmlformats.org/drawingml/2006/main">
            <a:srgbClr val="00B2BB"/>
          </a:solidFill>
          <a:ln xmlns:a="http://schemas.openxmlformats.org/drawingml/2006/main" w="0">
            <a:solidFill>
              <a:srgbClr val="00B2BB"/>
            </a:solidFill>
            <a:prstDash val="solid"/>
          </a:ln>
        </p:spPr>
      </p:sp>
      <p:sp>
        <p:nvSpPr>
          <p:cNvPr id="20" name="">
            <a:extLst xmlns:a="http://schemas.openxmlformats.org/drawingml/2006/main">
              <a:ext uri="{FF2B5EF4-FFF2-40B4-BE49-F238E27FC236}">
                <a16:creationId xmlns:a16="http://schemas.microsoft.com/office/drawing/2014/main" id="{7E998B74-9EE4-4202-9BCF-898A96C89626}"/>
              </a:ext>
            </a:extLst>
          </p:cNvPr>
          <p:cNvSpPr>
            <a:spLocks xmlns:a="http://schemas.openxmlformats.org/drawingml/2006/main" noGrp="1"/>
          </p:cNvSpPr>
          <p:nvPr/>
        </p:nvSpPr>
        <p:spPr>
          <a:xfrm xmlns:a="http://schemas.openxmlformats.org/drawingml/2006/main">
            <a:off x="6838950" y="21336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40" b="1">
                <a:solidFill>
                  <a:srgbClr val="FFFFFF"/>
                </a:solidFill>
              </a:defRPr>
            </a:pPr>
            <a:r>
              <a:rPr sz="840" b="1">
                <a:solidFill>
                  <a:srgbClr val="FFFFFF"/>
                </a:solidFill>
              </a:rPr>
              <a:t>KERNBESTAND</a:t>
            </a:r>
          </a:p>
        </p:txBody>
      </p:sp>
      <p:sp>
        <p:nvSpPr>
          <p:cNvPr id="21" name="">
            <a:extLst xmlns:a="http://schemas.openxmlformats.org/drawingml/2006/main">
              <a:ext uri="{FF2B5EF4-FFF2-40B4-BE49-F238E27FC236}">
                <a16:creationId xmlns:a16="http://schemas.microsoft.com/office/drawing/2014/main" id="{7E70DA50-02C3-4AE7-881F-53504654F700}"/>
              </a:ext>
            </a:extLst>
          </p:cNvPr>
          <p:cNvSpPr>
            <a:spLocks xmlns:a="http://schemas.openxmlformats.org/drawingml/2006/main" noGrp="1"/>
          </p:cNvSpPr>
          <p:nvPr/>
        </p:nvSpPr>
        <p:spPr>
          <a:xfrm xmlns:a="http://schemas.openxmlformats.org/drawingml/2006/main">
            <a:off x="8020050" y="2133600"/>
            <a:ext cx="3162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35" b="1">
                <a:solidFill>
                  <a:srgbClr val="003F6B"/>
                </a:solidFill>
              </a:defRPr>
            </a:pPr>
            <a:r>
              <a:rPr sz="735" b="1">
                <a:solidFill>
                  <a:srgbClr val="003F6B"/>
                </a:solidFill>
              </a:rPr>
              <a:t>BVerwG · 10.09.2020 · 3 C 13.19</a:t>
            </a:r>
          </a:p>
        </p:txBody>
      </p:sp>
      <p:sp>
        <p:nvSpPr>
          <p:cNvPr id="22" name="">
            <a:extLst xmlns:a="http://schemas.openxmlformats.org/drawingml/2006/main">
              <a:ext uri="{FF2B5EF4-FFF2-40B4-BE49-F238E27FC236}">
                <a16:creationId xmlns:a16="http://schemas.microsoft.com/office/drawing/2014/main" id="{D67FCE27-1881-4A4B-B1F2-24D6EDACF476}"/>
              </a:ext>
            </a:extLst>
          </p:cNvPr>
          <p:cNvSpPr>
            <a:spLocks xmlns:a="http://schemas.openxmlformats.org/drawingml/2006/main" noGrp="1"/>
          </p:cNvSpPr>
          <p:nvPr/>
        </p:nvSpPr>
        <p:spPr>
          <a:xfrm xmlns:a="http://schemas.openxmlformats.org/drawingml/2006/main">
            <a:off x="6858000" y="2476500"/>
            <a:ext cx="430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15" b="1">
                <a:solidFill>
                  <a:srgbClr val="003F6B"/>
                </a:solidFill>
              </a:defRPr>
            </a:pPr>
            <a:r>
              <a:rPr sz="1215" b="1">
                <a:solidFill>
                  <a:srgbClr val="003F6B"/>
                </a:solidFill>
              </a:rPr>
              <a:t>Ruhen der Approbation bei strafrechtlichen Vorwürfen</a:t>
            </a:r>
          </a:p>
        </p:txBody>
      </p:sp>
      <p:sp>
        <p:nvSpPr>
          <p:cNvPr id="23" name="">
            <a:extLst xmlns:a="http://schemas.openxmlformats.org/drawingml/2006/main">
              <a:ext uri="{FF2B5EF4-FFF2-40B4-BE49-F238E27FC236}">
                <a16:creationId xmlns:a16="http://schemas.microsoft.com/office/drawing/2014/main" id="{DDA3C57C-D14F-423F-AF2B-E6D4EE2B8580}"/>
              </a:ext>
            </a:extLst>
          </p:cNvPr>
          <p:cNvSpPr>
            <a:spLocks xmlns:a="http://schemas.openxmlformats.org/drawingml/2006/main" noGrp="1"/>
          </p:cNvSpPr>
          <p:nvPr/>
        </p:nvSpPr>
        <p:spPr>
          <a:xfrm xmlns:a="http://schemas.openxmlformats.org/drawingml/2006/main">
            <a:off x="6858000" y="29908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B2BB"/>
                </a:solidFill>
              </a:defRPr>
            </a:pPr>
            <a:r>
              <a:rPr sz="713" b="1">
                <a:solidFill>
                  <a:srgbClr val="00B2BB"/>
                </a:solidFill>
              </a:rPr>
              <a:t>TENOR / LEITSATZKERN</a:t>
            </a:r>
          </a:p>
        </p:txBody>
      </p:sp>
      <p:sp>
        <p:nvSpPr>
          <p:cNvPr id="24" name="">
            <a:extLst xmlns:a="http://schemas.openxmlformats.org/drawingml/2006/main">
              <a:ext uri="{FF2B5EF4-FFF2-40B4-BE49-F238E27FC236}">
                <a16:creationId xmlns:a16="http://schemas.microsoft.com/office/drawing/2014/main" id="{0F910A80-4124-49BD-AC31-DDC4904C2B9D}"/>
              </a:ext>
            </a:extLst>
          </p:cNvPr>
          <p:cNvSpPr>
            <a:spLocks xmlns:a="http://schemas.openxmlformats.org/drawingml/2006/main" noGrp="1"/>
          </p:cNvSpPr>
          <p:nvPr/>
        </p:nvSpPr>
        <p:spPr>
          <a:xfrm xmlns:a="http://schemas.openxmlformats.org/drawingml/2006/main">
            <a:off x="6858000" y="3181350"/>
            <a:ext cx="43053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55">
                <a:solidFill>
                  <a:srgbClr val="15232B"/>
                </a:solidFill>
              </a:defRPr>
            </a:pPr>
            <a:r>
              <a:rPr sz="855">
                <a:solidFill>
                  <a:srgbClr val="15232B"/>
                </a:solidFill>
              </a:rPr>
              <a:t>Eine Anklage führt nicht automatisch zum Ruhen der Approbation; die Behörde muss Tatgrundlage, Berufsbezug, Prognose und Verhältnismäßigkeit eigenständig prüfen.</a:t>
            </a:r>
          </a:p>
        </p:txBody>
      </p:sp>
      <p:sp>
        <p:nvSpPr>
          <p:cNvPr id="25" name="">
            <a:extLst xmlns:a="http://schemas.openxmlformats.org/drawingml/2006/main">
              <a:ext uri="{FF2B5EF4-FFF2-40B4-BE49-F238E27FC236}">
                <a16:creationId xmlns:a16="http://schemas.microsoft.com/office/drawing/2014/main" id="{D3462FE4-DEE8-43DE-80C9-B2207DAF5765}"/>
              </a:ext>
            </a:extLst>
          </p:cNvPr>
          <p:cNvSpPr>
            <a:spLocks xmlns:a="http://schemas.openxmlformats.org/drawingml/2006/main" noGrp="1"/>
          </p:cNvSpPr>
          <p:nvPr/>
        </p:nvSpPr>
        <p:spPr>
          <a:xfrm xmlns:a="http://schemas.openxmlformats.org/drawingml/2006/main">
            <a:off x="6858000" y="381000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3F6B"/>
                </a:solidFill>
              </a:defRPr>
            </a:pPr>
            <a:r>
              <a:rPr sz="713" b="1">
                <a:solidFill>
                  <a:srgbClr val="003F6B"/>
                </a:solidFill>
              </a:rPr>
              <a:t>TRAGENDE AUSSAGE</a:t>
            </a:r>
          </a:p>
        </p:txBody>
      </p:sp>
      <p:sp>
        <p:nvSpPr>
          <p:cNvPr id="26" name="">
            <a:extLst xmlns:a="http://schemas.openxmlformats.org/drawingml/2006/main">
              <a:ext uri="{FF2B5EF4-FFF2-40B4-BE49-F238E27FC236}">
                <a16:creationId xmlns:a16="http://schemas.microsoft.com/office/drawing/2014/main" id="{C1A24B45-FEBB-4E70-8C60-3D46C9D71507}"/>
              </a:ext>
            </a:extLst>
          </p:cNvPr>
          <p:cNvSpPr>
            <a:spLocks xmlns:a="http://schemas.openxmlformats.org/drawingml/2006/main" noGrp="1"/>
          </p:cNvSpPr>
          <p:nvPr/>
        </p:nvSpPr>
        <p:spPr>
          <a:xfrm xmlns:a="http://schemas.openxmlformats.org/drawingml/2006/main">
            <a:off x="6858000" y="4000500"/>
            <a:ext cx="43053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10">
                <a:solidFill>
                  <a:srgbClr val="15232B"/>
                </a:solidFill>
              </a:defRPr>
            </a:pPr>
            <a:r>
              <a:rPr sz="810">
                <a:solidFill>
                  <a:srgbClr val="15232B"/>
                </a:solidFill>
              </a:rPr>
              <a:t>Die vorläufige Gefahrenabwehr darf das Strafverfahren berücksichtigen, aber dessen bloße Existenz ersetzt keine eigene Sachverhalts- und Gefahrenbewertung.</a:t>
            </a:r>
          </a:p>
        </p:txBody>
      </p:sp>
      <p:sp>
        <p:nvSpPr>
          <p:cNvPr id="27" name="">
            <a:extLst xmlns:a="http://schemas.openxmlformats.org/drawingml/2006/main">
              <a:ext uri="{FF2B5EF4-FFF2-40B4-BE49-F238E27FC236}">
                <a16:creationId xmlns:a16="http://schemas.microsoft.com/office/drawing/2014/main" id="{B516DB3E-B33A-4604-9314-35881F28CD16}"/>
              </a:ext>
            </a:extLst>
          </p:cNvPr>
          <p:cNvSpPr>
            <a:spLocks xmlns:a="http://schemas.openxmlformats.org/drawingml/2006/main" noGrp="1"/>
          </p:cNvSpPr>
          <p:nvPr/>
        </p:nvSpPr>
        <p:spPr>
          <a:xfrm xmlns:a="http://schemas.openxmlformats.org/drawingml/2006/main">
            <a:off x="6858000" y="4572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B2BB"/>
                </a:solidFill>
              </a:defRPr>
            </a:pPr>
            <a:r>
              <a:rPr sz="713" b="1">
                <a:solidFill>
                  <a:srgbClr val="00B2BB"/>
                </a:solidFill>
              </a:rPr>
              <a:t>PRAXIS</a:t>
            </a:r>
          </a:p>
        </p:txBody>
      </p:sp>
      <p:sp>
        <p:nvSpPr>
          <p:cNvPr id="28" name="">
            <a:extLst xmlns:a="http://schemas.openxmlformats.org/drawingml/2006/main">
              <a:ext uri="{FF2B5EF4-FFF2-40B4-BE49-F238E27FC236}">
                <a16:creationId xmlns:a16="http://schemas.microsoft.com/office/drawing/2014/main" id="{658FD01B-5946-4304-9C04-6849DF3549C8}"/>
              </a:ext>
            </a:extLst>
          </p:cNvPr>
          <p:cNvSpPr>
            <a:spLocks xmlns:a="http://schemas.openxmlformats.org/drawingml/2006/main" noGrp="1"/>
          </p:cNvSpPr>
          <p:nvPr/>
        </p:nvSpPr>
        <p:spPr>
          <a:xfrm xmlns:a="http://schemas.openxmlformats.org/drawingml/2006/main">
            <a:off x="7467600" y="4552950"/>
            <a:ext cx="3695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765">
                <a:solidFill>
                  <a:srgbClr val="15232B"/>
                </a:solidFill>
              </a:defRPr>
            </a:pPr>
            <a:r>
              <a:rPr sz="765">
                <a:solidFill>
                  <a:srgbClr val="15232B"/>
                </a:solidFill>
              </a:rPr>
              <a:t>Strafverteidigung, Berufsrecht, Arbeitsverhältnis und Approbationsverfahren früh koordinieren; Akteneinsicht und Stellungnahmefristen sichern.</a:t>
            </a:r>
          </a:p>
        </p:txBody>
      </p:sp>
      <p:sp>
        <p:nvSpPr>
          <p:cNvPr id="29" name="">
            <a:extLst xmlns:a="http://schemas.openxmlformats.org/drawingml/2006/main">
              <a:ext uri="{FF2B5EF4-FFF2-40B4-BE49-F238E27FC236}">
                <a16:creationId xmlns:a16="http://schemas.microsoft.com/office/drawing/2014/main" id="{7A59CAB6-15D5-4B9C-87C3-58A0BFBBF455}"/>
              </a:ext>
            </a:extLst>
          </p:cNvPr>
          <p:cNvSpPr>
            <a:spLocks xmlns:a="http://schemas.openxmlformats.org/drawingml/2006/main" noGrp="1"/>
          </p:cNvSpPr>
          <p:nvPr/>
        </p:nvSpPr>
        <p:spPr>
          <a:xfrm xmlns:a="http://schemas.openxmlformats.org/drawingml/2006/main">
            <a:off x="6858000" y="4962525"/>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615">
                <a:solidFill>
                  <a:srgbClr val="667680"/>
                </a:solidFill>
              </a:defRPr>
            </a:pPr>
            <a:r>
              <a:rPr sz="615">
                <a:solidFill>
                  <a:srgbClr val="667680"/>
                </a:solidFill>
              </a:rPr>
              <a:t>37. Leitentscheidung zu § 6 Abs. 1 Nr. 1 BÄO.</a:t>
            </a:r>
          </a:p>
        </p:txBody>
      </p:sp>
      <p:sp>
        <p:nvSpPr>
          <p:cNvPr id="30" name="">
            <a:extLst xmlns:a="http://schemas.openxmlformats.org/drawingml/2006/main">
              <a:ext uri="{FF2B5EF4-FFF2-40B4-BE49-F238E27FC236}">
                <a16:creationId xmlns:a16="http://schemas.microsoft.com/office/drawing/2014/main" id="{9542721F-B791-429F-9379-10E873B3F81A}"/>
              </a:ext>
            </a:extLst>
          </p:cNvPr>
          <p:cNvSpPr>
            <a:spLocks xmlns:a="http://schemas.openxmlformats.org/drawingml/2006/main" noGrp="1"/>
          </p:cNvSpPr>
          <p:nvPr/>
        </p:nvSpPr>
        <p:spPr>
          <a:xfrm xmlns:a="http://schemas.openxmlformats.org/drawingml/2006/main">
            <a:off x="1809750" y="5314950"/>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600">
                <a:solidFill>
                  <a:srgbClr val="667680"/>
                </a:solidFill>
              </a:defRPr>
            </a:pPr>
            <a:r>
              <a:rPr sz="600">
                <a:solidFill>
                  <a:srgbClr val="667680"/>
                </a:solidFill>
              </a:rPr>
              <a:t>Originalquellen: https://juris.bundesgerichtshof.de/cgi-bin/rechtsprechung/document.py?Art=pm&amp;Blank=1&amp;Datum=2018-8&amp;Gericht=bgh&amp;file=dokument.pdf&amp;linked=urt&amp;nr=92766 · https://www.bverwg.de/100920U3C13.19.0</a:t>
            </a:r>
          </a:p>
        </p:txBody>
      </p:sp>
    </p:spTree>
    <p:extLst>
      <p:ext uri="{BB962C8B-B14F-4D97-AF65-F5344CB8AC3E}">
        <p14:creationId xmlns:p14="http://schemas.microsoft.com/office/powerpoint/2010/main" val="43637646"/>
      </p:ext>
    </p:extLst>
  </p:cSld>
</p:sld>
</file>

<file path=ppt/slides/slide446.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Grenzfall &amp; Verfahrensrecht · Leistungsrecht &amp; neue Methoden</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LEITENTSCHEIDUNGEN · 20/20</a:t>
            </a:r>
            <a:endParaRPr/>
          </a:p>
        </p:txBody>
      </p:sp>
      <p:sp>
        <p:nvSpPr>
          <p:cNvPr id="4" name="">
            <a:extLst xmlns:a="http://schemas.openxmlformats.org/drawingml/2006/main">
              <a:ext uri="{FF2B5EF4-FFF2-40B4-BE49-F238E27FC236}">
                <a16:creationId xmlns:a16="http://schemas.microsoft.com/office/drawing/2014/main" id="{98C5B7B1-D684-414B-B57A-A0EA85D1BCAC}"/>
              </a:ext>
            </a:extLst>
          </p:cNvPr>
          <p:cNvSpPr>
            <a:spLocks xmlns:a="http://schemas.openxmlformats.org/drawingml/2006/main" noGrp="1"/>
          </p:cNvSpPr>
          <p:nvPr/>
        </p:nvSpPr>
        <p:spPr>
          <a:xfrm xmlns:a="http://schemas.openxmlformats.org/drawingml/2006/main">
            <a:off x="1809750" y="1943100"/>
            <a:ext cx="4648200" cy="3238500"/>
          </a:xfrm>
          <a:prstGeom xmlns:a="http://schemas.openxmlformats.org/drawingml/2006/main" prst="roundRect">
            <a:avLst>
              <a:gd name="adj" fmla="val 2353"/>
            </a:avLst>
          </a:prstGeom>
          <a:solidFill xmlns:a="http://schemas.openxmlformats.org/drawingml/2006/main">
            <a:srgbClr val="FFFFFF"/>
          </a:solidFill>
          <a:ln xmlns:a="http://schemas.openxmlformats.org/drawingml/2006/main" w="10478">
            <a:solidFill>
              <a:srgbClr val="B9CAD2"/>
            </a:solidFill>
            <a:prstDash val="solid"/>
          </a:ln>
        </p:spPr>
      </p:sp>
      <p:sp>
        <p:nvSpPr>
          <p:cNvPr id="5" name="">
            <a:extLst xmlns:a="http://schemas.openxmlformats.org/drawingml/2006/main">
              <a:ext uri="{FF2B5EF4-FFF2-40B4-BE49-F238E27FC236}">
                <a16:creationId xmlns:a16="http://schemas.microsoft.com/office/drawing/2014/main" id="{432CFAA8-0BBC-48E8-9644-175E2758C7D6}"/>
              </a:ext>
            </a:extLst>
          </p:cNvPr>
          <p:cNvSpPr>
            <a:spLocks xmlns:a="http://schemas.openxmlformats.org/drawingml/2006/main" noGrp="1"/>
          </p:cNvSpPr>
          <p:nvPr/>
        </p:nvSpPr>
        <p:spPr>
          <a:xfrm xmlns:a="http://schemas.openxmlformats.org/drawingml/2006/main">
            <a:off x="1809750" y="1943100"/>
            <a:ext cx="4648200" cy="85725"/>
          </a:xfrm>
          <a:prstGeom xmlns:a="http://schemas.openxmlformats.org/drawingml/2006/main" prst="rect">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98824459-8CAE-4AFE-AA07-6443C8F31DEA}"/>
              </a:ext>
            </a:extLst>
          </p:cNvPr>
          <p:cNvSpPr>
            <a:spLocks xmlns:a="http://schemas.openxmlformats.org/drawingml/2006/main" noGrp="1"/>
          </p:cNvSpPr>
          <p:nvPr/>
        </p:nvSpPr>
        <p:spPr>
          <a:xfrm xmlns:a="http://schemas.openxmlformats.org/drawingml/2006/main">
            <a:off x="1962150" y="2133600"/>
            <a:ext cx="1066800" cy="266700"/>
          </a:xfrm>
          <a:prstGeom xmlns:a="http://schemas.openxmlformats.org/drawingml/2006/main" prst="roundRect">
            <a:avLst>
              <a:gd name="adj" fmla="val 28571"/>
            </a:avLst>
          </a:prstGeom>
          <a:solidFill xmlns:a="http://schemas.openxmlformats.org/drawingml/2006/main">
            <a:srgbClr val="00B2BB"/>
          </a:solidFill>
          <a:ln xmlns:a="http://schemas.openxmlformats.org/drawingml/2006/main" w="0">
            <a:solidFill>
              <a:srgbClr val="00B2BB"/>
            </a:solidFill>
            <a:prstDash val="solid"/>
          </a:ln>
        </p:spPr>
      </p:sp>
      <p:sp>
        <p:nvSpPr>
          <p:cNvPr id="7" name="">
            <a:extLst xmlns:a="http://schemas.openxmlformats.org/drawingml/2006/main">
              <a:ext uri="{FF2B5EF4-FFF2-40B4-BE49-F238E27FC236}">
                <a16:creationId xmlns:a16="http://schemas.microsoft.com/office/drawing/2014/main" id="{CABD44F3-DEA1-4B45-86E1-EA32AD1D753A}"/>
              </a:ext>
            </a:extLst>
          </p:cNvPr>
          <p:cNvSpPr>
            <a:spLocks xmlns:a="http://schemas.openxmlformats.org/drawingml/2006/main" noGrp="1"/>
          </p:cNvSpPr>
          <p:nvPr/>
        </p:nvSpPr>
        <p:spPr>
          <a:xfrm xmlns:a="http://schemas.openxmlformats.org/drawingml/2006/main">
            <a:off x="1962150" y="21336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40" b="1">
                <a:solidFill>
                  <a:srgbClr val="FFFFFF"/>
                </a:solidFill>
              </a:defRPr>
            </a:pPr>
            <a:r>
              <a:rPr sz="840" b="1">
                <a:solidFill>
                  <a:srgbClr val="FFFFFF"/>
                </a:solidFill>
              </a:rPr>
              <a:t>KERNBESTAND</a:t>
            </a:r>
          </a:p>
        </p:txBody>
      </p:sp>
      <p:sp>
        <p:nvSpPr>
          <p:cNvPr id="8" name="">
            <a:extLst xmlns:a="http://schemas.openxmlformats.org/drawingml/2006/main">
              <a:ext uri="{FF2B5EF4-FFF2-40B4-BE49-F238E27FC236}">
                <a16:creationId xmlns:a16="http://schemas.microsoft.com/office/drawing/2014/main" id="{31E2DC3F-8741-48AD-B2D0-1C0FE5D95521}"/>
              </a:ext>
            </a:extLst>
          </p:cNvPr>
          <p:cNvSpPr>
            <a:spLocks xmlns:a="http://schemas.openxmlformats.org/drawingml/2006/main" noGrp="1"/>
          </p:cNvSpPr>
          <p:nvPr/>
        </p:nvSpPr>
        <p:spPr>
          <a:xfrm xmlns:a="http://schemas.openxmlformats.org/drawingml/2006/main">
            <a:off x="3143250" y="2133600"/>
            <a:ext cx="3162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35" b="1">
                <a:solidFill>
                  <a:srgbClr val="003F6B"/>
                </a:solidFill>
              </a:defRPr>
            </a:pPr>
            <a:r>
              <a:rPr sz="735" b="1">
                <a:solidFill>
                  <a:srgbClr val="003F6B"/>
                </a:solidFill>
              </a:rPr>
              <a:t>AG Hersbruck · 16.10.1992 · XVII 1556/92 A</a:t>
            </a:r>
          </a:p>
        </p:txBody>
      </p:sp>
      <p:sp>
        <p:nvSpPr>
          <p:cNvPr id="9" name="">
            <a:extLst xmlns:a="http://schemas.openxmlformats.org/drawingml/2006/main">
              <a:ext uri="{FF2B5EF4-FFF2-40B4-BE49-F238E27FC236}">
                <a16:creationId xmlns:a16="http://schemas.microsoft.com/office/drawing/2014/main" id="{080433EB-3467-46A5-8D3D-6EB1A46738F2}"/>
              </a:ext>
            </a:extLst>
          </p:cNvPr>
          <p:cNvSpPr>
            <a:spLocks xmlns:a="http://schemas.openxmlformats.org/drawingml/2006/main" noGrp="1"/>
          </p:cNvSpPr>
          <p:nvPr/>
        </p:nvSpPr>
        <p:spPr>
          <a:xfrm xmlns:a="http://schemas.openxmlformats.org/drawingml/2006/main">
            <a:off x="1981200" y="2476500"/>
            <a:ext cx="430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15" b="1">
                <a:solidFill>
                  <a:srgbClr val="003F6B"/>
                </a:solidFill>
              </a:defRPr>
            </a:pPr>
            <a:r>
              <a:rPr sz="1215" b="1">
                <a:solidFill>
                  <a:srgbClr val="003F6B"/>
                </a:solidFill>
              </a:rPr>
              <a:t>Erlanger Baby: Abwägung im betreuungsgerichtlichen Eilverfahren</a:t>
            </a:r>
          </a:p>
        </p:txBody>
      </p:sp>
      <p:sp>
        <p:nvSpPr>
          <p:cNvPr id="10" name="">
            <a:extLst xmlns:a="http://schemas.openxmlformats.org/drawingml/2006/main">
              <a:ext uri="{FF2B5EF4-FFF2-40B4-BE49-F238E27FC236}">
                <a16:creationId xmlns:a16="http://schemas.microsoft.com/office/drawing/2014/main" id="{6E23FAD7-5A02-434E-A039-1C736A5BFB77}"/>
              </a:ext>
            </a:extLst>
          </p:cNvPr>
          <p:cNvSpPr>
            <a:spLocks xmlns:a="http://schemas.openxmlformats.org/drawingml/2006/main" noGrp="1"/>
          </p:cNvSpPr>
          <p:nvPr/>
        </p:nvSpPr>
        <p:spPr>
          <a:xfrm xmlns:a="http://schemas.openxmlformats.org/drawingml/2006/main">
            <a:off x="1981200" y="29908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B2BB"/>
                </a:solidFill>
              </a:defRPr>
            </a:pPr>
            <a:r>
              <a:rPr sz="713" b="1">
                <a:solidFill>
                  <a:srgbClr val="00B2BB"/>
                </a:solidFill>
              </a:rPr>
              <a:t>TENOR / LEITSATZKERN</a:t>
            </a:r>
          </a:p>
        </p:txBody>
      </p:sp>
      <p:sp>
        <p:nvSpPr>
          <p:cNvPr id="11" name="">
            <a:extLst xmlns:a="http://schemas.openxmlformats.org/drawingml/2006/main">
              <a:ext uri="{FF2B5EF4-FFF2-40B4-BE49-F238E27FC236}">
                <a16:creationId xmlns:a16="http://schemas.microsoft.com/office/drawing/2014/main" id="{50695F11-AD78-47B9-9AA3-905E8C4EEF37}"/>
              </a:ext>
            </a:extLst>
          </p:cNvPr>
          <p:cNvSpPr>
            <a:spLocks xmlns:a="http://schemas.openxmlformats.org/drawingml/2006/main" noGrp="1"/>
          </p:cNvSpPr>
          <p:nvPr/>
        </p:nvSpPr>
        <p:spPr>
          <a:xfrm xmlns:a="http://schemas.openxmlformats.org/drawingml/2006/main">
            <a:off x="1981200" y="3181350"/>
            <a:ext cx="43053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55">
                <a:solidFill>
                  <a:srgbClr val="15232B"/>
                </a:solidFill>
              </a:defRPr>
            </a:pPr>
            <a:r>
              <a:rPr sz="855">
                <a:solidFill>
                  <a:srgbClr val="15232B"/>
                </a:solidFill>
              </a:rPr>
              <a:t>Die gerichtliche Entscheidung erschöpfte sich nicht in der Betreuerbestellung: Schutz ungeborenen Lebens, fortwirkender Achtungsanspruch, mutmaßlicher Wille und medizinische Prognose waren unter Zeitdruck abzuwägen.</a:t>
            </a:r>
          </a:p>
        </p:txBody>
      </p:sp>
      <p:sp>
        <p:nvSpPr>
          <p:cNvPr id="12" name="">
            <a:extLst xmlns:a="http://schemas.openxmlformats.org/drawingml/2006/main">
              <a:ext uri="{FF2B5EF4-FFF2-40B4-BE49-F238E27FC236}">
                <a16:creationId xmlns:a16="http://schemas.microsoft.com/office/drawing/2014/main" id="{5461F5F4-523A-4185-B8A4-BC399F666A89}"/>
              </a:ext>
            </a:extLst>
          </p:cNvPr>
          <p:cNvSpPr>
            <a:spLocks xmlns:a="http://schemas.openxmlformats.org/drawingml/2006/main" noGrp="1"/>
          </p:cNvSpPr>
          <p:nvPr/>
        </p:nvSpPr>
        <p:spPr>
          <a:xfrm xmlns:a="http://schemas.openxmlformats.org/drawingml/2006/main">
            <a:off x="1981200" y="381000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3F6B"/>
                </a:solidFill>
              </a:defRPr>
            </a:pPr>
            <a:r>
              <a:rPr sz="713" b="1">
                <a:solidFill>
                  <a:srgbClr val="003F6B"/>
                </a:solidFill>
              </a:rPr>
              <a:t>TRAGENDE AUSSAGE</a:t>
            </a:r>
          </a:p>
        </p:txBody>
      </p:sp>
      <p:sp>
        <p:nvSpPr>
          <p:cNvPr id="13" name="">
            <a:extLst xmlns:a="http://schemas.openxmlformats.org/drawingml/2006/main">
              <a:ext uri="{FF2B5EF4-FFF2-40B4-BE49-F238E27FC236}">
                <a16:creationId xmlns:a16="http://schemas.microsoft.com/office/drawing/2014/main" id="{B2B51C49-375D-45A8-A6AC-FEB2B38AEEFB}"/>
              </a:ext>
            </a:extLst>
          </p:cNvPr>
          <p:cNvSpPr>
            <a:spLocks xmlns:a="http://schemas.openxmlformats.org/drawingml/2006/main" noGrp="1"/>
          </p:cNvSpPr>
          <p:nvPr/>
        </p:nvSpPr>
        <p:spPr>
          <a:xfrm xmlns:a="http://schemas.openxmlformats.org/drawingml/2006/main">
            <a:off x="1981200" y="4000500"/>
            <a:ext cx="43053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10">
                <a:solidFill>
                  <a:srgbClr val="15232B"/>
                </a:solidFill>
              </a:defRPr>
            </a:pPr>
            <a:r>
              <a:rPr sz="810">
                <a:solidFill>
                  <a:srgbClr val="15232B"/>
                </a:solidFill>
              </a:rPr>
              <a:t>Der Fall zeigt, dass Verfahrenszuständigkeit und Beteiligtenstellung darüber entscheiden, welche Rechtspositionen überhaupt wirksam zur Geltung kommen.</a:t>
            </a:r>
          </a:p>
        </p:txBody>
      </p:sp>
      <p:sp>
        <p:nvSpPr>
          <p:cNvPr id="14" name="">
            <a:extLst xmlns:a="http://schemas.openxmlformats.org/drawingml/2006/main">
              <a:ext uri="{FF2B5EF4-FFF2-40B4-BE49-F238E27FC236}">
                <a16:creationId xmlns:a16="http://schemas.microsoft.com/office/drawing/2014/main" id="{F40F8647-8C47-425F-860B-06AA7FB50118}"/>
              </a:ext>
            </a:extLst>
          </p:cNvPr>
          <p:cNvSpPr>
            <a:spLocks xmlns:a="http://schemas.openxmlformats.org/drawingml/2006/main" noGrp="1"/>
          </p:cNvSpPr>
          <p:nvPr/>
        </p:nvSpPr>
        <p:spPr>
          <a:xfrm xmlns:a="http://schemas.openxmlformats.org/drawingml/2006/main">
            <a:off x="1981200" y="4572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B2BB"/>
                </a:solidFill>
              </a:defRPr>
            </a:pPr>
            <a:r>
              <a:rPr sz="713" b="1">
                <a:solidFill>
                  <a:srgbClr val="00B2BB"/>
                </a:solidFill>
              </a:rPr>
              <a:t>PRAXIS</a:t>
            </a:r>
          </a:p>
        </p:txBody>
      </p:sp>
      <p:sp>
        <p:nvSpPr>
          <p:cNvPr id="15" name="">
            <a:extLst xmlns:a="http://schemas.openxmlformats.org/drawingml/2006/main">
              <a:ext uri="{FF2B5EF4-FFF2-40B4-BE49-F238E27FC236}">
                <a16:creationId xmlns:a16="http://schemas.microsoft.com/office/drawing/2014/main" id="{ACE0C947-F67D-46EE-8ED6-AA9AEF95E07A}"/>
              </a:ext>
            </a:extLst>
          </p:cNvPr>
          <p:cNvSpPr>
            <a:spLocks xmlns:a="http://schemas.openxmlformats.org/drawingml/2006/main" noGrp="1"/>
          </p:cNvSpPr>
          <p:nvPr/>
        </p:nvSpPr>
        <p:spPr>
          <a:xfrm xmlns:a="http://schemas.openxmlformats.org/drawingml/2006/main">
            <a:off x="2590800" y="4552950"/>
            <a:ext cx="3695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765">
                <a:solidFill>
                  <a:srgbClr val="15232B"/>
                </a:solidFill>
              </a:defRPr>
            </a:pPr>
            <a:r>
              <a:rPr sz="765">
                <a:solidFill>
                  <a:srgbClr val="15232B"/>
                </a:solidFill>
              </a:rPr>
              <a:t>In Grenzfällen zuerst Akteure, Vertretungsmacht, Entscheidungsgegenstand, Zeitfenster und Tatsachenbasis klären; erst danach materielle Schlagworte gegeneinander abwägen.</a:t>
            </a:r>
          </a:p>
        </p:txBody>
      </p:sp>
      <p:sp>
        <p:nvSpPr>
          <p:cNvPr id="16" name="">
            <a:extLst xmlns:a="http://schemas.openxmlformats.org/drawingml/2006/main">
              <a:ext uri="{FF2B5EF4-FFF2-40B4-BE49-F238E27FC236}">
                <a16:creationId xmlns:a16="http://schemas.microsoft.com/office/drawing/2014/main" id="{2A3F2415-BFF7-48C3-9135-E72B2AA45E6D}"/>
              </a:ext>
            </a:extLst>
          </p:cNvPr>
          <p:cNvSpPr>
            <a:spLocks xmlns:a="http://schemas.openxmlformats.org/drawingml/2006/main" noGrp="1"/>
          </p:cNvSpPr>
          <p:nvPr/>
        </p:nvSpPr>
        <p:spPr>
          <a:xfrm xmlns:a="http://schemas.openxmlformats.org/drawingml/2006/main">
            <a:off x="1981200" y="4962525"/>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615">
                <a:solidFill>
                  <a:srgbClr val="667680"/>
                </a:solidFill>
              </a:defRPr>
            </a:pPr>
            <a:r>
              <a:rPr sz="615">
                <a:solidFill>
                  <a:srgbClr val="667680"/>
                </a:solidFill>
              </a:rPr>
              <a:t>38. Amtsgerichtliche, aber medizinrechtlich prägende Grenzfallentscheidung; Volltextzugang teilweise beschränkt.</a:t>
            </a:r>
          </a:p>
        </p:txBody>
      </p:sp>
      <p:sp>
        <p:nvSpPr>
          <p:cNvPr id="17" name="">
            <a:extLst xmlns:a="http://schemas.openxmlformats.org/drawingml/2006/main">
              <a:ext uri="{FF2B5EF4-FFF2-40B4-BE49-F238E27FC236}">
                <a16:creationId xmlns:a16="http://schemas.microsoft.com/office/drawing/2014/main" id="{063D25BD-01E2-4727-88D1-4DF78343297C}"/>
              </a:ext>
            </a:extLst>
          </p:cNvPr>
          <p:cNvSpPr>
            <a:spLocks xmlns:a="http://schemas.openxmlformats.org/drawingml/2006/main" noGrp="1"/>
          </p:cNvSpPr>
          <p:nvPr/>
        </p:nvSpPr>
        <p:spPr>
          <a:xfrm xmlns:a="http://schemas.openxmlformats.org/drawingml/2006/main">
            <a:off x="6686550" y="1943100"/>
            <a:ext cx="4648200" cy="3238500"/>
          </a:xfrm>
          <a:prstGeom xmlns:a="http://schemas.openxmlformats.org/drawingml/2006/main" prst="roundRect">
            <a:avLst>
              <a:gd name="adj" fmla="val 2353"/>
            </a:avLst>
          </a:prstGeom>
          <a:solidFill xmlns:a="http://schemas.openxmlformats.org/drawingml/2006/main">
            <a:srgbClr val="FFFFFF"/>
          </a:solidFill>
          <a:ln xmlns:a="http://schemas.openxmlformats.org/drawingml/2006/main" w="10478">
            <a:solidFill>
              <a:srgbClr val="B9CAD2"/>
            </a:solidFill>
            <a:prstDash val="solid"/>
          </a:ln>
        </p:spPr>
      </p:sp>
      <p:sp>
        <p:nvSpPr>
          <p:cNvPr id="18" name="">
            <a:extLst xmlns:a="http://schemas.openxmlformats.org/drawingml/2006/main">
              <a:ext uri="{FF2B5EF4-FFF2-40B4-BE49-F238E27FC236}">
                <a16:creationId xmlns:a16="http://schemas.microsoft.com/office/drawing/2014/main" id="{2830F1B8-6931-4A81-B281-0B9BDB5599CA}"/>
              </a:ext>
            </a:extLst>
          </p:cNvPr>
          <p:cNvSpPr>
            <a:spLocks xmlns:a="http://schemas.openxmlformats.org/drawingml/2006/main" noGrp="1"/>
          </p:cNvSpPr>
          <p:nvPr/>
        </p:nvSpPr>
        <p:spPr>
          <a:xfrm xmlns:a="http://schemas.openxmlformats.org/drawingml/2006/main">
            <a:off x="6686550" y="1943100"/>
            <a:ext cx="4648200" cy="85725"/>
          </a:xfrm>
          <a:prstGeom xmlns:a="http://schemas.openxmlformats.org/drawingml/2006/main" prst="rect">
            <a:avLst/>
          </a:prstGeom>
          <a:solidFill xmlns:a="http://schemas.openxmlformats.org/drawingml/2006/main">
            <a:srgbClr val="003F6B"/>
          </a:solidFill>
          <a:ln xmlns:a="http://schemas.openxmlformats.org/drawingml/2006/main" w="0">
            <a:solidFill>
              <a:srgbClr val="003F6B"/>
            </a:solidFill>
            <a:prstDash val="solid"/>
          </a:ln>
        </p:spPr>
      </p:sp>
      <p:sp>
        <p:nvSpPr>
          <p:cNvPr id="19" name="">
            <a:extLst xmlns:a="http://schemas.openxmlformats.org/drawingml/2006/main">
              <a:ext uri="{FF2B5EF4-FFF2-40B4-BE49-F238E27FC236}">
                <a16:creationId xmlns:a16="http://schemas.microsoft.com/office/drawing/2014/main" id="{DCFA92BF-8D1F-49EC-B7EF-71637D10CED8}"/>
              </a:ext>
            </a:extLst>
          </p:cNvPr>
          <p:cNvSpPr>
            <a:spLocks xmlns:a="http://schemas.openxmlformats.org/drawingml/2006/main" noGrp="1"/>
          </p:cNvSpPr>
          <p:nvPr/>
        </p:nvSpPr>
        <p:spPr>
          <a:xfrm xmlns:a="http://schemas.openxmlformats.org/drawingml/2006/main">
            <a:off x="6838950" y="2133600"/>
            <a:ext cx="1066800" cy="266700"/>
          </a:xfrm>
          <a:prstGeom xmlns:a="http://schemas.openxmlformats.org/drawingml/2006/main" prst="roundRect">
            <a:avLst>
              <a:gd name="adj" fmla="val 28571"/>
            </a:avLst>
          </a:prstGeom>
          <a:solidFill xmlns:a="http://schemas.openxmlformats.org/drawingml/2006/main">
            <a:srgbClr val="003F6B"/>
          </a:solidFill>
          <a:ln xmlns:a="http://schemas.openxmlformats.org/drawingml/2006/main" w="0">
            <a:solidFill>
              <a:srgbClr val="003F6B"/>
            </a:solidFill>
            <a:prstDash val="solid"/>
          </a:ln>
        </p:spPr>
      </p:sp>
      <p:sp>
        <p:nvSpPr>
          <p:cNvPr id="20" name="">
            <a:extLst xmlns:a="http://schemas.openxmlformats.org/drawingml/2006/main">
              <a:ext uri="{FF2B5EF4-FFF2-40B4-BE49-F238E27FC236}">
                <a16:creationId xmlns:a16="http://schemas.microsoft.com/office/drawing/2014/main" id="{F3900EA9-FBAC-4DDA-A81D-A469DD3F8DCA}"/>
              </a:ext>
            </a:extLst>
          </p:cNvPr>
          <p:cNvSpPr>
            <a:spLocks xmlns:a="http://schemas.openxmlformats.org/drawingml/2006/main" noGrp="1"/>
          </p:cNvSpPr>
          <p:nvPr/>
        </p:nvSpPr>
        <p:spPr>
          <a:xfrm xmlns:a="http://schemas.openxmlformats.org/drawingml/2006/main">
            <a:off x="6838950" y="2133600"/>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40" b="1">
                <a:solidFill>
                  <a:srgbClr val="FFFFFF"/>
                </a:solidFill>
              </a:defRPr>
            </a:pPr>
            <a:r>
              <a:rPr sz="840" b="1">
                <a:solidFill>
                  <a:srgbClr val="FFFFFF"/>
                </a:solidFill>
              </a:rPr>
              <a:t>VERTIEFUNG</a:t>
            </a:r>
          </a:p>
        </p:txBody>
      </p:sp>
      <p:sp>
        <p:nvSpPr>
          <p:cNvPr id="21" name="">
            <a:extLst xmlns:a="http://schemas.openxmlformats.org/drawingml/2006/main">
              <a:ext uri="{FF2B5EF4-FFF2-40B4-BE49-F238E27FC236}">
                <a16:creationId xmlns:a16="http://schemas.microsoft.com/office/drawing/2014/main" id="{F1C3717F-C1F5-4AA5-8E34-5C3FCCA117B1}"/>
              </a:ext>
            </a:extLst>
          </p:cNvPr>
          <p:cNvSpPr>
            <a:spLocks xmlns:a="http://schemas.openxmlformats.org/drawingml/2006/main" noGrp="1"/>
          </p:cNvSpPr>
          <p:nvPr/>
        </p:nvSpPr>
        <p:spPr>
          <a:xfrm xmlns:a="http://schemas.openxmlformats.org/drawingml/2006/main">
            <a:off x="8020050" y="2133600"/>
            <a:ext cx="3162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35" b="1">
                <a:solidFill>
                  <a:srgbClr val="003F6B"/>
                </a:solidFill>
              </a:defRPr>
            </a:pPr>
            <a:r>
              <a:rPr sz="735" b="1">
                <a:solidFill>
                  <a:srgbClr val="003F6B"/>
                </a:solidFill>
              </a:rPr>
              <a:t>BVerfG · 06.12.2005 · 1 BvR 347/98</a:t>
            </a:r>
          </a:p>
        </p:txBody>
      </p:sp>
      <p:sp>
        <p:nvSpPr>
          <p:cNvPr id="22" name="">
            <a:extLst xmlns:a="http://schemas.openxmlformats.org/drawingml/2006/main">
              <a:ext uri="{FF2B5EF4-FFF2-40B4-BE49-F238E27FC236}">
                <a16:creationId xmlns:a16="http://schemas.microsoft.com/office/drawing/2014/main" id="{71D33AD7-52B2-43B8-BA0A-ACDA2B1B9E20}"/>
              </a:ext>
            </a:extLst>
          </p:cNvPr>
          <p:cNvSpPr>
            <a:spLocks xmlns:a="http://schemas.openxmlformats.org/drawingml/2006/main" noGrp="1"/>
          </p:cNvSpPr>
          <p:nvPr/>
        </p:nvSpPr>
        <p:spPr>
          <a:xfrm xmlns:a="http://schemas.openxmlformats.org/drawingml/2006/main">
            <a:off x="6858000" y="2476500"/>
            <a:ext cx="430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15" b="1">
                <a:solidFill>
                  <a:srgbClr val="003F6B"/>
                </a:solidFill>
              </a:defRPr>
            </a:pPr>
            <a:r>
              <a:rPr sz="1215" b="1">
                <a:solidFill>
                  <a:srgbClr val="003F6B"/>
                </a:solidFill>
              </a:rPr>
              <a:t>Nikolausbeschluss: neue Methode bei lebensbedrohlicher Erkrankung</a:t>
            </a:r>
          </a:p>
        </p:txBody>
      </p:sp>
      <p:sp>
        <p:nvSpPr>
          <p:cNvPr id="23" name="">
            <a:extLst xmlns:a="http://schemas.openxmlformats.org/drawingml/2006/main">
              <a:ext uri="{FF2B5EF4-FFF2-40B4-BE49-F238E27FC236}">
                <a16:creationId xmlns:a16="http://schemas.microsoft.com/office/drawing/2014/main" id="{32D3508D-E10F-4CF4-B3D5-3BE248D8D3B5}"/>
              </a:ext>
            </a:extLst>
          </p:cNvPr>
          <p:cNvSpPr>
            <a:spLocks xmlns:a="http://schemas.openxmlformats.org/drawingml/2006/main" noGrp="1"/>
          </p:cNvSpPr>
          <p:nvPr/>
        </p:nvSpPr>
        <p:spPr>
          <a:xfrm xmlns:a="http://schemas.openxmlformats.org/drawingml/2006/main">
            <a:off x="6858000" y="29908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3F6B"/>
                </a:solidFill>
              </a:defRPr>
            </a:pPr>
            <a:r>
              <a:rPr sz="713" b="1">
                <a:solidFill>
                  <a:srgbClr val="003F6B"/>
                </a:solidFill>
              </a:rPr>
              <a:t>TENOR / LEITSATZKERN</a:t>
            </a:r>
          </a:p>
        </p:txBody>
      </p:sp>
      <p:sp>
        <p:nvSpPr>
          <p:cNvPr id="24" name="">
            <a:extLst xmlns:a="http://schemas.openxmlformats.org/drawingml/2006/main">
              <a:ext uri="{FF2B5EF4-FFF2-40B4-BE49-F238E27FC236}">
                <a16:creationId xmlns:a16="http://schemas.microsoft.com/office/drawing/2014/main" id="{6F75BFF5-19A0-4B20-AE31-8BADCD9A8739}"/>
              </a:ext>
            </a:extLst>
          </p:cNvPr>
          <p:cNvSpPr>
            <a:spLocks xmlns:a="http://schemas.openxmlformats.org/drawingml/2006/main" noGrp="1"/>
          </p:cNvSpPr>
          <p:nvPr/>
        </p:nvSpPr>
        <p:spPr>
          <a:xfrm xmlns:a="http://schemas.openxmlformats.org/drawingml/2006/main">
            <a:off x="6858000" y="3181350"/>
            <a:ext cx="43053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55">
                <a:solidFill>
                  <a:srgbClr val="15232B"/>
                </a:solidFill>
              </a:defRPr>
            </a:pPr>
            <a:r>
              <a:rPr sz="855">
                <a:solidFill>
                  <a:srgbClr val="15232B"/>
                </a:solidFill>
              </a:rPr>
              <a:t>Bei lebensbedrohlicher oder regelmäßig tödlicher Erkrankung ohne anerkannte Standardtherapie darf eine nicht ganz fernliegende Aussicht auf Besserung nicht schematisch vom GKV-Leistungsanspruch ausgeschlossen werden.</a:t>
            </a:r>
          </a:p>
        </p:txBody>
      </p:sp>
      <p:sp>
        <p:nvSpPr>
          <p:cNvPr id="25" name="">
            <a:extLst xmlns:a="http://schemas.openxmlformats.org/drawingml/2006/main">
              <a:ext uri="{FF2B5EF4-FFF2-40B4-BE49-F238E27FC236}">
                <a16:creationId xmlns:a16="http://schemas.microsoft.com/office/drawing/2014/main" id="{5FC7E68F-9C2F-4002-956D-E445504A3DE9}"/>
              </a:ext>
            </a:extLst>
          </p:cNvPr>
          <p:cNvSpPr>
            <a:spLocks xmlns:a="http://schemas.openxmlformats.org/drawingml/2006/main" noGrp="1"/>
          </p:cNvSpPr>
          <p:nvPr/>
        </p:nvSpPr>
        <p:spPr>
          <a:xfrm xmlns:a="http://schemas.openxmlformats.org/drawingml/2006/main">
            <a:off x="6858000" y="381000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3F6B"/>
                </a:solidFill>
              </a:defRPr>
            </a:pPr>
            <a:r>
              <a:rPr sz="713" b="1">
                <a:solidFill>
                  <a:srgbClr val="003F6B"/>
                </a:solidFill>
              </a:rPr>
              <a:t>TRAGENDE AUSSAGE</a:t>
            </a:r>
          </a:p>
        </p:txBody>
      </p:sp>
      <p:sp>
        <p:nvSpPr>
          <p:cNvPr id="26" name="">
            <a:extLst xmlns:a="http://schemas.openxmlformats.org/drawingml/2006/main">
              <a:ext uri="{FF2B5EF4-FFF2-40B4-BE49-F238E27FC236}">
                <a16:creationId xmlns:a16="http://schemas.microsoft.com/office/drawing/2014/main" id="{E9CADB3E-044A-4DEF-9977-1891614138B4}"/>
              </a:ext>
            </a:extLst>
          </p:cNvPr>
          <p:cNvSpPr>
            <a:spLocks xmlns:a="http://schemas.openxmlformats.org/drawingml/2006/main" noGrp="1"/>
          </p:cNvSpPr>
          <p:nvPr/>
        </p:nvSpPr>
        <p:spPr>
          <a:xfrm xmlns:a="http://schemas.openxmlformats.org/drawingml/2006/main">
            <a:off x="6858000" y="4000500"/>
            <a:ext cx="43053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10">
                <a:solidFill>
                  <a:srgbClr val="15232B"/>
                </a:solidFill>
              </a:defRPr>
            </a:pPr>
            <a:r>
              <a:rPr sz="810">
                <a:solidFill>
                  <a:srgbClr val="15232B"/>
                </a:solidFill>
              </a:rPr>
              <a:t>Grundrechtsschutz wirkt auf die Auslegung des Leistungsrechts ein, ersetzt aber weder jede Evidenzprüfung noch die Grenzen des gesetzlich ausgestalteten Versorgungssystems.</a:t>
            </a:r>
          </a:p>
        </p:txBody>
      </p:sp>
      <p:sp>
        <p:nvSpPr>
          <p:cNvPr id="27" name="">
            <a:extLst xmlns:a="http://schemas.openxmlformats.org/drawingml/2006/main">
              <a:ext uri="{FF2B5EF4-FFF2-40B4-BE49-F238E27FC236}">
                <a16:creationId xmlns:a16="http://schemas.microsoft.com/office/drawing/2014/main" id="{D66F34C4-7743-43E4-B036-8E18DCDDA8FC}"/>
              </a:ext>
            </a:extLst>
          </p:cNvPr>
          <p:cNvSpPr>
            <a:spLocks xmlns:a="http://schemas.openxmlformats.org/drawingml/2006/main" noGrp="1"/>
          </p:cNvSpPr>
          <p:nvPr/>
        </p:nvSpPr>
        <p:spPr>
          <a:xfrm xmlns:a="http://schemas.openxmlformats.org/drawingml/2006/main">
            <a:off x="6858000" y="4572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713" b="1">
                <a:solidFill>
                  <a:srgbClr val="003F6B"/>
                </a:solidFill>
              </a:defRPr>
            </a:pPr>
            <a:r>
              <a:rPr sz="713" b="1">
                <a:solidFill>
                  <a:srgbClr val="003F6B"/>
                </a:solidFill>
              </a:rPr>
              <a:t>PRAXIS</a:t>
            </a:r>
          </a:p>
        </p:txBody>
      </p:sp>
      <p:sp>
        <p:nvSpPr>
          <p:cNvPr id="28" name="">
            <a:extLst xmlns:a="http://schemas.openxmlformats.org/drawingml/2006/main">
              <a:ext uri="{FF2B5EF4-FFF2-40B4-BE49-F238E27FC236}">
                <a16:creationId xmlns:a16="http://schemas.microsoft.com/office/drawing/2014/main" id="{D84D72AA-3F21-426E-8EFB-64B5F236CDA6}"/>
              </a:ext>
            </a:extLst>
          </p:cNvPr>
          <p:cNvSpPr>
            <a:spLocks xmlns:a="http://schemas.openxmlformats.org/drawingml/2006/main" noGrp="1"/>
          </p:cNvSpPr>
          <p:nvPr/>
        </p:nvSpPr>
        <p:spPr>
          <a:xfrm xmlns:a="http://schemas.openxmlformats.org/drawingml/2006/main">
            <a:off x="7467600" y="4552950"/>
            <a:ext cx="3695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765">
                <a:solidFill>
                  <a:srgbClr val="15232B"/>
                </a:solidFill>
              </a:defRPr>
            </a:pPr>
            <a:r>
              <a:rPr sz="765">
                <a:solidFill>
                  <a:srgbClr val="15232B"/>
                </a:solidFill>
              </a:rPr>
              <a:t>Indikation, fehlende Standardalternative, Schweregrad und belastbare Erfolgsaussicht getrennt belegen; keine Gleichsetzung mit freier Methodenwahl.</a:t>
            </a:r>
          </a:p>
        </p:txBody>
      </p:sp>
      <p:sp>
        <p:nvSpPr>
          <p:cNvPr id="29" name="">
            <a:extLst xmlns:a="http://schemas.openxmlformats.org/drawingml/2006/main">
              <a:ext uri="{FF2B5EF4-FFF2-40B4-BE49-F238E27FC236}">
                <a16:creationId xmlns:a16="http://schemas.microsoft.com/office/drawing/2014/main" id="{FE2D764A-EB07-4E9F-A0C5-5C18CE44D44D}"/>
              </a:ext>
            </a:extLst>
          </p:cNvPr>
          <p:cNvSpPr>
            <a:spLocks xmlns:a="http://schemas.openxmlformats.org/drawingml/2006/main" noGrp="1"/>
          </p:cNvSpPr>
          <p:nvPr/>
        </p:nvSpPr>
        <p:spPr>
          <a:xfrm xmlns:a="http://schemas.openxmlformats.org/drawingml/2006/main">
            <a:off x="6858000" y="4962525"/>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615">
                <a:solidFill>
                  <a:srgbClr val="667680"/>
                </a:solidFill>
              </a:defRPr>
            </a:pPr>
            <a:r>
              <a:rPr sz="615">
                <a:solidFill>
                  <a:srgbClr val="667680"/>
                </a:solidFill>
              </a:rPr>
              <a:t>39. BVerfGE 115, 25; gesetzlich in § 2 Abs. 1a SGB V aufgegriffen.</a:t>
            </a:r>
          </a:p>
        </p:txBody>
      </p:sp>
      <p:sp>
        <p:nvSpPr>
          <p:cNvPr id="30" name="">
            <a:extLst xmlns:a="http://schemas.openxmlformats.org/drawingml/2006/main">
              <a:ext uri="{FF2B5EF4-FFF2-40B4-BE49-F238E27FC236}">
                <a16:creationId xmlns:a16="http://schemas.microsoft.com/office/drawing/2014/main" id="{02333516-E31A-4BE5-8DC9-5FFD11796492}"/>
              </a:ext>
            </a:extLst>
          </p:cNvPr>
          <p:cNvSpPr>
            <a:spLocks xmlns:a="http://schemas.openxmlformats.org/drawingml/2006/main" noGrp="1"/>
          </p:cNvSpPr>
          <p:nvPr/>
        </p:nvSpPr>
        <p:spPr>
          <a:xfrm xmlns:a="http://schemas.openxmlformats.org/drawingml/2006/main">
            <a:off x="1809750" y="5314950"/>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675">
                <a:solidFill>
                  <a:srgbClr val="667680"/>
                </a:solidFill>
              </a:defRPr>
            </a:pPr>
            <a:r>
              <a:rPr sz="675">
                <a:solidFill>
                  <a:srgbClr val="667680"/>
                </a:solidFill>
              </a:rPr>
              <a:t>Originalquellen: https://dejure.org/1992,4493 · https://www.bundesverfassungsgericht.de/SharedDocs/Entscheidungen/DE/2005/12/rs20051206_1bvr034798.html</a:t>
            </a:r>
          </a:p>
        </p:txBody>
      </p:sp>
    </p:spTree>
    <p:extLst>
      <p:ext uri="{BB962C8B-B14F-4D97-AF65-F5344CB8AC3E}">
        <p14:creationId xmlns:p14="http://schemas.microsoft.com/office/powerpoint/2010/main" val="43637646"/>
      </p:ext>
    </p:extLst>
  </p:cSld>
</p:sld>
</file>

<file path=ppt/slides/slide447.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Die acht Fragen vor dem Beruf auf ein Urteil</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SUMMA · LEITENTSCHEIDUNGEN ALS PRAXISWERKZEUG</a:t>
            </a:r>
            <a:endParaRPr/>
          </a:p>
        </p:txBody>
      </p:sp>
      <p:sp>
        <p:nvSpPr>
          <p:cNvPr id="4" name="">
            <a:extLst xmlns:a="http://schemas.openxmlformats.org/drawingml/2006/main">
              <a:ext uri="{FF2B5EF4-FFF2-40B4-BE49-F238E27FC236}">
                <a16:creationId xmlns:a16="http://schemas.microsoft.com/office/drawing/2014/main" id="{8296A3D7-3DC1-4880-ABC1-8EC219B42253}"/>
              </a:ext>
            </a:extLst>
          </p:cNvPr>
          <p:cNvSpPr>
            <a:spLocks xmlns:a="http://schemas.openxmlformats.org/drawingml/2006/main" noGrp="1"/>
          </p:cNvSpPr>
          <p:nvPr/>
        </p:nvSpPr>
        <p:spPr>
          <a:xfrm xmlns:a="http://schemas.openxmlformats.org/drawingml/2006/main">
            <a:off x="1809750" y="2019300"/>
            <a:ext cx="4648200" cy="600075"/>
          </a:xfrm>
          <a:prstGeom xmlns:a="http://schemas.openxmlformats.org/drawingml/2006/main" prst="roundRect">
            <a:avLst>
              <a:gd name="adj" fmla="val 12698"/>
            </a:avLst>
          </a:prstGeom>
          <a:solidFill xmlns:a="http://schemas.openxmlformats.org/drawingml/2006/main">
            <a:srgbClr val="F3F7F9"/>
          </a:solidFill>
          <a:ln xmlns:a="http://schemas.openxmlformats.org/drawingml/2006/main" w="9525">
            <a:solidFill>
              <a:srgbClr val="003F6B"/>
            </a:solidFill>
            <a:prstDash val="solid"/>
          </a:ln>
        </p:spPr>
      </p:sp>
      <p:sp>
        <p:nvSpPr>
          <p:cNvPr id="5" name="">
            <a:extLst xmlns:a="http://schemas.openxmlformats.org/drawingml/2006/main">
              <a:ext uri="{FF2B5EF4-FFF2-40B4-BE49-F238E27FC236}">
                <a16:creationId xmlns:a16="http://schemas.microsoft.com/office/drawing/2014/main" id="{7E968A4D-15EE-4BB3-8D16-8A95AB56E5CD}"/>
              </a:ext>
            </a:extLst>
          </p:cNvPr>
          <p:cNvSpPr>
            <a:spLocks xmlns:a="http://schemas.openxmlformats.org/drawingml/2006/main" noGrp="1"/>
          </p:cNvSpPr>
          <p:nvPr/>
        </p:nvSpPr>
        <p:spPr>
          <a:xfrm xmlns:a="http://schemas.openxmlformats.org/drawingml/2006/main">
            <a:off x="1943100" y="2114550"/>
            <a:ext cx="45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003F6B"/>
                </a:solidFill>
              </a:defRPr>
            </a:pPr>
            <a:r>
              <a:rPr sz="1500" b="1">
                <a:solidFill>
                  <a:srgbClr val="003F6B"/>
                </a:solidFill>
              </a:rPr>
              <a:t>01</a:t>
            </a:r>
          </a:p>
        </p:txBody>
      </p:sp>
      <p:sp>
        <p:nvSpPr>
          <p:cNvPr id="6" name="">
            <a:extLst xmlns:a="http://schemas.openxmlformats.org/drawingml/2006/main">
              <a:ext uri="{FF2B5EF4-FFF2-40B4-BE49-F238E27FC236}">
                <a16:creationId xmlns:a16="http://schemas.microsoft.com/office/drawing/2014/main" id="{387F360E-09CE-46F3-A93E-0C0696392445}"/>
              </a:ext>
            </a:extLst>
          </p:cNvPr>
          <p:cNvSpPr>
            <a:spLocks xmlns:a="http://schemas.openxmlformats.org/drawingml/2006/main" noGrp="1"/>
          </p:cNvSpPr>
          <p:nvPr/>
        </p:nvSpPr>
        <p:spPr>
          <a:xfrm xmlns:a="http://schemas.openxmlformats.org/drawingml/2006/main">
            <a:off x="2476500" y="2095500"/>
            <a:ext cx="3810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990" b="1">
                <a:solidFill>
                  <a:srgbClr val="15232B"/>
                </a:solidFill>
              </a:defRPr>
            </a:pPr>
            <a:r>
              <a:rPr sz="990" b="1">
                <a:solidFill>
                  <a:srgbClr val="15232B"/>
                </a:solidFill>
              </a:rPr>
              <a:t>Ist das Aktenzeichen korrekt und der Volltext verifiziert?</a:t>
            </a:r>
          </a:p>
        </p:txBody>
      </p:sp>
      <p:sp>
        <p:nvSpPr>
          <p:cNvPr id="7" name="">
            <a:extLst xmlns:a="http://schemas.openxmlformats.org/drawingml/2006/main">
              <a:ext uri="{FF2B5EF4-FFF2-40B4-BE49-F238E27FC236}">
                <a16:creationId xmlns:a16="http://schemas.microsoft.com/office/drawing/2014/main" id="{1FE87858-1136-40C4-879F-FA5B125D17D1}"/>
              </a:ext>
            </a:extLst>
          </p:cNvPr>
          <p:cNvSpPr>
            <a:spLocks xmlns:a="http://schemas.openxmlformats.org/drawingml/2006/main" noGrp="1"/>
          </p:cNvSpPr>
          <p:nvPr/>
        </p:nvSpPr>
        <p:spPr>
          <a:xfrm xmlns:a="http://schemas.openxmlformats.org/drawingml/2006/main">
            <a:off x="6686550" y="2019300"/>
            <a:ext cx="4648200" cy="600075"/>
          </a:xfrm>
          <a:prstGeom xmlns:a="http://schemas.openxmlformats.org/drawingml/2006/main" prst="roundRect">
            <a:avLst>
              <a:gd name="adj" fmla="val 12698"/>
            </a:avLst>
          </a:prstGeom>
          <a:solidFill xmlns:a="http://schemas.openxmlformats.org/drawingml/2006/main">
            <a:srgbClr val="DDF5F6"/>
          </a:solidFill>
          <a:ln xmlns:a="http://schemas.openxmlformats.org/drawingml/2006/main" w="9525">
            <a:solidFill>
              <a:srgbClr val="00B2BB"/>
            </a:solidFill>
            <a:prstDash val="solid"/>
          </a:ln>
        </p:spPr>
      </p:sp>
      <p:sp>
        <p:nvSpPr>
          <p:cNvPr id="8" name="">
            <a:extLst xmlns:a="http://schemas.openxmlformats.org/drawingml/2006/main">
              <a:ext uri="{FF2B5EF4-FFF2-40B4-BE49-F238E27FC236}">
                <a16:creationId xmlns:a16="http://schemas.microsoft.com/office/drawing/2014/main" id="{B4351E24-594B-428B-8458-005395603EAA}"/>
              </a:ext>
            </a:extLst>
          </p:cNvPr>
          <p:cNvSpPr>
            <a:spLocks xmlns:a="http://schemas.openxmlformats.org/drawingml/2006/main" noGrp="1"/>
          </p:cNvSpPr>
          <p:nvPr/>
        </p:nvSpPr>
        <p:spPr>
          <a:xfrm xmlns:a="http://schemas.openxmlformats.org/drawingml/2006/main">
            <a:off x="6819900" y="2114550"/>
            <a:ext cx="45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00B2BB"/>
                </a:solidFill>
              </a:defRPr>
            </a:pPr>
            <a:r>
              <a:rPr sz="1500" b="1">
                <a:solidFill>
                  <a:srgbClr val="00B2BB"/>
                </a:solidFill>
              </a:rPr>
              <a:t>02</a:t>
            </a:r>
          </a:p>
        </p:txBody>
      </p:sp>
      <p:sp>
        <p:nvSpPr>
          <p:cNvPr id="9" name="">
            <a:extLst xmlns:a="http://schemas.openxmlformats.org/drawingml/2006/main">
              <a:ext uri="{FF2B5EF4-FFF2-40B4-BE49-F238E27FC236}">
                <a16:creationId xmlns:a16="http://schemas.microsoft.com/office/drawing/2014/main" id="{C14D3BF2-E1E4-4DBC-A717-DE54D622DE73}"/>
              </a:ext>
            </a:extLst>
          </p:cNvPr>
          <p:cNvSpPr>
            <a:spLocks xmlns:a="http://schemas.openxmlformats.org/drawingml/2006/main" noGrp="1"/>
          </p:cNvSpPr>
          <p:nvPr/>
        </p:nvSpPr>
        <p:spPr>
          <a:xfrm xmlns:a="http://schemas.openxmlformats.org/drawingml/2006/main">
            <a:off x="7353300" y="2095500"/>
            <a:ext cx="3810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990" b="1">
                <a:solidFill>
                  <a:srgbClr val="15232B"/>
                </a:solidFill>
              </a:defRPr>
            </a:pPr>
            <a:r>
              <a:rPr sz="990" b="1">
                <a:solidFill>
                  <a:srgbClr val="15232B"/>
                </a:solidFill>
              </a:rPr>
              <a:t>Was steht tatsächlich im Tenor?</a:t>
            </a:r>
          </a:p>
        </p:txBody>
      </p:sp>
      <p:sp>
        <p:nvSpPr>
          <p:cNvPr id="10" name="">
            <a:extLst xmlns:a="http://schemas.openxmlformats.org/drawingml/2006/main">
              <a:ext uri="{FF2B5EF4-FFF2-40B4-BE49-F238E27FC236}">
                <a16:creationId xmlns:a16="http://schemas.microsoft.com/office/drawing/2014/main" id="{AB881398-56CA-454B-87FE-5D2991A26F63}"/>
              </a:ext>
            </a:extLst>
          </p:cNvPr>
          <p:cNvSpPr>
            <a:spLocks xmlns:a="http://schemas.openxmlformats.org/drawingml/2006/main" noGrp="1"/>
          </p:cNvSpPr>
          <p:nvPr/>
        </p:nvSpPr>
        <p:spPr>
          <a:xfrm xmlns:a="http://schemas.openxmlformats.org/drawingml/2006/main">
            <a:off x="1809750" y="2771775"/>
            <a:ext cx="4648200" cy="600075"/>
          </a:xfrm>
          <a:prstGeom xmlns:a="http://schemas.openxmlformats.org/drawingml/2006/main" prst="roundRect">
            <a:avLst>
              <a:gd name="adj" fmla="val 12698"/>
            </a:avLst>
          </a:prstGeom>
          <a:solidFill xmlns:a="http://schemas.openxmlformats.org/drawingml/2006/main">
            <a:srgbClr val="F3F7F9"/>
          </a:solidFill>
          <a:ln xmlns:a="http://schemas.openxmlformats.org/drawingml/2006/main" w="9525">
            <a:solidFill>
              <a:srgbClr val="003F6B"/>
            </a:solidFill>
            <a:prstDash val="solid"/>
          </a:ln>
        </p:spPr>
      </p:sp>
      <p:sp>
        <p:nvSpPr>
          <p:cNvPr id="11" name="">
            <a:extLst xmlns:a="http://schemas.openxmlformats.org/drawingml/2006/main">
              <a:ext uri="{FF2B5EF4-FFF2-40B4-BE49-F238E27FC236}">
                <a16:creationId xmlns:a16="http://schemas.microsoft.com/office/drawing/2014/main" id="{513BEDBA-2AA1-461C-910C-09695B129EF0}"/>
              </a:ext>
            </a:extLst>
          </p:cNvPr>
          <p:cNvSpPr>
            <a:spLocks xmlns:a="http://schemas.openxmlformats.org/drawingml/2006/main" noGrp="1"/>
          </p:cNvSpPr>
          <p:nvPr/>
        </p:nvSpPr>
        <p:spPr>
          <a:xfrm xmlns:a="http://schemas.openxmlformats.org/drawingml/2006/main">
            <a:off x="1943100" y="2867025"/>
            <a:ext cx="45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003F6B"/>
                </a:solidFill>
              </a:defRPr>
            </a:pPr>
            <a:r>
              <a:rPr sz="1500" b="1">
                <a:solidFill>
                  <a:srgbClr val="003F6B"/>
                </a:solidFill>
              </a:rPr>
              <a:t>03</a:t>
            </a:r>
          </a:p>
        </p:txBody>
      </p:sp>
      <p:sp>
        <p:nvSpPr>
          <p:cNvPr id="12" name="">
            <a:extLst xmlns:a="http://schemas.openxmlformats.org/drawingml/2006/main">
              <a:ext uri="{FF2B5EF4-FFF2-40B4-BE49-F238E27FC236}">
                <a16:creationId xmlns:a16="http://schemas.microsoft.com/office/drawing/2014/main" id="{1662E16A-CB55-4D94-AA0C-720F238C9665}"/>
              </a:ext>
            </a:extLst>
          </p:cNvPr>
          <p:cNvSpPr>
            <a:spLocks xmlns:a="http://schemas.openxmlformats.org/drawingml/2006/main" noGrp="1"/>
          </p:cNvSpPr>
          <p:nvPr/>
        </p:nvSpPr>
        <p:spPr>
          <a:xfrm xmlns:a="http://schemas.openxmlformats.org/drawingml/2006/main">
            <a:off x="2476500" y="2847975"/>
            <a:ext cx="3810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990" b="1">
                <a:solidFill>
                  <a:srgbClr val="15232B"/>
                </a:solidFill>
              </a:defRPr>
            </a:pPr>
            <a:r>
              <a:rPr sz="990" b="1">
                <a:solidFill>
                  <a:srgbClr val="15232B"/>
                </a:solidFill>
              </a:rPr>
              <a:t>Ist der zitierte Satz tragend oder nur ergänzend?</a:t>
            </a:r>
          </a:p>
        </p:txBody>
      </p:sp>
      <p:sp>
        <p:nvSpPr>
          <p:cNvPr id="13" name="">
            <a:extLst xmlns:a="http://schemas.openxmlformats.org/drawingml/2006/main">
              <a:ext uri="{FF2B5EF4-FFF2-40B4-BE49-F238E27FC236}">
                <a16:creationId xmlns:a16="http://schemas.microsoft.com/office/drawing/2014/main" id="{F95D2760-4242-4978-8D14-77FBF9E06DA7}"/>
              </a:ext>
            </a:extLst>
          </p:cNvPr>
          <p:cNvSpPr>
            <a:spLocks xmlns:a="http://schemas.openxmlformats.org/drawingml/2006/main" noGrp="1"/>
          </p:cNvSpPr>
          <p:nvPr/>
        </p:nvSpPr>
        <p:spPr>
          <a:xfrm xmlns:a="http://schemas.openxmlformats.org/drawingml/2006/main">
            <a:off x="6686550" y="2771775"/>
            <a:ext cx="4648200" cy="600075"/>
          </a:xfrm>
          <a:prstGeom xmlns:a="http://schemas.openxmlformats.org/drawingml/2006/main" prst="roundRect">
            <a:avLst>
              <a:gd name="adj" fmla="val 12698"/>
            </a:avLst>
          </a:prstGeom>
          <a:solidFill xmlns:a="http://schemas.openxmlformats.org/drawingml/2006/main">
            <a:srgbClr val="DDF5F6"/>
          </a:solidFill>
          <a:ln xmlns:a="http://schemas.openxmlformats.org/drawingml/2006/main" w="9525">
            <a:solidFill>
              <a:srgbClr val="00B2BB"/>
            </a:solidFill>
            <a:prstDash val="solid"/>
          </a:ln>
        </p:spPr>
      </p:sp>
      <p:sp>
        <p:nvSpPr>
          <p:cNvPr id="14" name="">
            <a:extLst xmlns:a="http://schemas.openxmlformats.org/drawingml/2006/main">
              <a:ext uri="{FF2B5EF4-FFF2-40B4-BE49-F238E27FC236}">
                <a16:creationId xmlns:a16="http://schemas.microsoft.com/office/drawing/2014/main" id="{7B077AE5-CEF2-47F5-9597-7C8FEF34F71E}"/>
              </a:ext>
            </a:extLst>
          </p:cNvPr>
          <p:cNvSpPr>
            <a:spLocks xmlns:a="http://schemas.openxmlformats.org/drawingml/2006/main" noGrp="1"/>
          </p:cNvSpPr>
          <p:nvPr/>
        </p:nvSpPr>
        <p:spPr>
          <a:xfrm xmlns:a="http://schemas.openxmlformats.org/drawingml/2006/main">
            <a:off x="6819900" y="2867025"/>
            <a:ext cx="45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00B2BB"/>
                </a:solidFill>
              </a:defRPr>
            </a:pPr>
            <a:r>
              <a:rPr sz="1500" b="1">
                <a:solidFill>
                  <a:srgbClr val="00B2BB"/>
                </a:solidFill>
              </a:rPr>
              <a:t>04</a:t>
            </a:r>
          </a:p>
        </p:txBody>
      </p:sp>
      <p:sp>
        <p:nvSpPr>
          <p:cNvPr id="15" name="">
            <a:extLst xmlns:a="http://schemas.openxmlformats.org/drawingml/2006/main">
              <a:ext uri="{FF2B5EF4-FFF2-40B4-BE49-F238E27FC236}">
                <a16:creationId xmlns:a16="http://schemas.microsoft.com/office/drawing/2014/main" id="{4882FCA4-B973-4086-9CD6-77FCB342ED04}"/>
              </a:ext>
            </a:extLst>
          </p:cNvPr>
          <p:cNvSpPr>
            <a:spLocks xmlns:a="http://schemas.openxmlformats.org/drawingml/2006/main" noGrp="1"/>
          </p:cNvSpPr>
          <p:nvPr/>
        </p:nvSpPr>
        <p:spPr>
          <a:xfrm xmlns:a="http://schemas.openxmlformats.org/drawingml/2006/main">
            <a:off x="7353300" y="2847975"/>
            <a:ext cx="3810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990" b="1">
                <a:solidFill>
                  <a:srgbClr val="15232B"/>
                </a:solidFill>
              </a:defRPr>
            </a:pPr>
            <a:r>
              <a:rPr sz="990" b="1">
                <a:solidFill>
                  <a:srgbClr val="15232B"/>
                </a:solidFill>
              </a:rPr>
              <a:t>Ist der Sachverhalt mit dem eigenen Fall vergleichbar?</a:t>
            </a:r>
          </a:p>
        </p:txBody>
      </p:sp>
      <p:sp>
        <p:nvSpPr>
          <p:cNvPr id="16" name="">
            <a:extLst xmlns:a="http://schemas.openxmlformats.org/drawingml/2006/main">
              <a:ext uri="{FF2B5EF4-FFF2-40B4-BE49-F238E27FC236}">
                <a16:creationId xmlns:a16="http://schemas.microsoft.com/office/drawing/2014/main" id="{10F480B8-0E8C-43CC-8E19-FE1CDBFEE01D}"/>
              </a:ext>
            </a:extLst>
          </p:cNvPr>
          <p:cNvSpPr>
            <a:spLocks xmlns:a="http://schemas.openxmlformats.org/drawingml/2006/main" noGrp="1"/>
          </p:cNvSpPr>
          <p:nvPr/>
        </p:nvSpPr>
        <p:spPr>
          <a:xfrm xmlns:a="http://schemas.openxmlformats.org/drawingml/2006/main">
            <a:off x="1809750" y="3524250"/>
            <a:ext cx="4648200" cy="600075"/>
          </a:xfrm>
          <a:prstGeom xmlns:a="http://schemas.openxmlformats.org/drawingml/2006/main" prst="roundRect">
            <a:avLst>
              <a:gd name="adj" fmla="val 12698"/>
            </a:avLst>
          </a:prstGeom>
          <a:solidFill xmlns:a="http://schemas.openxmlformats.org/drawingml/2006/main">
            <a:srgbClr val="F3F7F9"/>
          </a:solidFill>
          <a:ln xmlns:a="http://schemas.openxmlformats.org/drawingml/2006/main" w="9525">
            <a:solidFill>
              <a:srgbClr val="003F6B"/>
            </a:solidFill>
            <a:prstDash val="solid"/>
          </a:ln>
        </p:spPr>
      </p:sp>
      <p:sp>
        <p:nvSpPr>
          <p:cNvPr id="17" name="">
            <a:extLst xmlns:a="http://schemas.openxmlformats.org/drawingml/2006/main">
              <a:ext uri="{FF2B5EF4-FFF2-40B4-BE49-F238E27FC236}">
                <a16:creationId xmlns:a16="http://schemas.microsoft.com/office/drawing/2014/main" id="{DC9B9A0F-4414-4BB3-8DBE-55F70124A515}"/>
              </a:ext>
            </a:extLst>
          </p:cNvPr>
          <p:cNvSpPr>
            <a:spLocks xmlns:a="http://schemas.openxmlformats.org/drawingml/2006/main" noGrp="1"/>
          </p:cNvSpPr>
          <p:nvPr/>
        </p:nvSpPr>
        <p:spPr>
          <a:xfrm xmlns:a="http://schemas.openxmlformats.org/drawingml/2006/main">
            <a:off x="1943100" y="3619500"/>
            <a:ext cx="45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003F6B"/>
                </a:solidFill>
              </a:defRPr>
            </a:pPr>
            <a:r>
              <a:rPr sz="1500" b="1">
                <a:solidFill>
                  <a:srgbClr val="003F6B"/>
                </a:solidFill>
              </a:rPr>
              <a:t>05</a:t>
            </a:r>
          </a:p>
        </p:txBody>
      </p:sp>
      <p:sp>
        <p:nvSpPr>
          <p:cNvPr id="18" name="">
            <a:extLst xmlns:a="http://schemas.openxmlformats.org/drawingml/2006/main">
              <a:ext uri="{FF2B5EF4-FFF2-40B4-BE49-F238E27FC236}">
                <a16:creationId xmlns:a16="http://schemas.microsoft.com/office/drawing/2014/main" id="{7558FFC4-8925-4123-8AFD-6AD89582FB80}"/>
              </a:ext>
            </a:extLst>
          </p:cNvPr>
          <p:cNvSpPr>
            <a:spLocks xmlns:a="http://schemas.openxmlformats.org/drawingml/2006/main" noGrp="1"/>
          </p:cNvSpPr>
          <p:nvPr/>
        </p:nvSpPr>
        <p:spPr>
          <a:xfrm xmlns:a="http://schemas.openxmlformats.org/drawingml/2006/main">
            <a:off x="2476500" y="3600450"/>
            <a:ext cx="3810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990" b="1">
                <a:solidFill>
                  <a:srgbClr val="15232B"/>
                </a:solidFill>
              </a:defRPr>
            </a:pPr>
            <a:r>
              <a:rPr sz="990" b="1">
                <a:solidFill>
                  <a:srgbClr val="15232B"/>
                </a:solidFill>
              </a:rPr>
              <a:t>Welche Norm galt damals – und welche gilt heute?</a:t>
            </a:r>
          </a:p>
        </p:txBody>
      </p:sp>
      <p:sp>
        <p:nvSpPr>
          <p:cNvPr id="19" name="">
            <a:extLst xmlns:a="http://schemas.openxmlformats.org/drawingml/2006/main">
              <a:ext uri="{FF2B5EF4-FFF2-40B4-BE49-F238E27FC236}">
                <a16:creationId xmlns:a16="http://schemas.microsoft.com/office/drawing/2014/main" id="{3E7F3978-240E-458F-B070-37DA434F6CC8}"/>
              </a:ext>
            </a:extLst>
          </p:cNvPr>
          <p:cNvSpPr>
            <a:spLocks xmlns:a="http://schemas.openxmlformats.org/drawingml/2006/main" noGrp="1"/>
          </p:cNvSpPr>
          <p:nvPr/>
        </p:nvSpPr>
        <p:spPr>
          <a:xfrm xmlns:a="http://schemas.openxmlformats.org/drawingml/2006/main">
            <a:off x="6686550" y="3524250"/>
            <a:ext cx="4648200" cy="600075"/>
          </a:xfrm>
          <a:prstGeom xmlns:a="http://schemas.openxmlformats.org/drawingml/2006/main" prst="roundRect">
            <a:avLst>
              <a:gd name="adj" fmla="val 12698"/>
            </a:avLst>
          </a:prstGeom>
          <a:solidFill xmlns:a="http://schemas.openxmlformats.org/drawingml/2006/main">
            <a:srgbClr val="DDF5F6"/>
          </a:solidFill>
          <a:ln xmlns:a="http://schemas.openxmlformats.org/drawingml/2006/main" w="9525">
            <a:solidFill>
              <a:srgbClr val="00B2BB"/>
            </a:solidFill>
            <a:prstDash val="solid"/>
          </a:ln>
        </p:spPr>
      </p:sp>
      <p:sp>
        <p:nvSpPr>
          <p:cNvPr id="20" name="">
            <a:extLst xmlns:a="http://schemas.openxmlformats.org/drawingml/2006/main">
              <a:ext uri="{FF2B5EF4-FFF2-40B4-BE49-F238E27FC236}">
                <a16:creationId xmlns:a16="http://schemas.microsoft.com/office/drawing/2014/main" id="{186952BA-C79A-4D92-93A9-808D4E636751}"/>
              </a:ext>
            </a:extLst>
          </p:cNvPr>
          <p:cNvSpPr>
            <a:spLocks xmlns:a="http://schemas.openxmlformats.org/drawingml/2006/main" noGrp="1"/>
          </p:cNvSpPr>
          <p:nvPr/>
        </p:nvSpPr>
        <p:spPr>
          <a:xfrm xmlns:a="http://schemas.openxmlformats.org/drawingml/2006/main">
            <a:off x="6819900" y="3619500"/>
            <a:ext cx="45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00B2BB"/>
                </a:solidFill>
              </a:defRPr>
            </a:pPr>
            <a:r>
              <a:rPr sz="1500" b="1">
                <a:solidFill>
                  <a:srgbClr val="00B2BB"/>
                </a:solidFill>
              </a:rPr>
              <a:t>06</a:t>
            </a:r>
          </a:p>
        </p:txBody>
      </p:sp>
      <p:sp>
        <p:nvSpPr>
          <p:cNvPr id="21" name="">
            <a:extLst xmlns:a="http://schemas.openxmlformats.org/drawingml/2006/main">
              <a:ext uri="{FF2B5EF4-FFF2-40B4-BE49-F238E27FC236}">
                <a16:creationId xmlns:a16="http://schemas.microsoft.com/office/drawing/2014/main" id="{280CAAD4-C11D-4AB5-8D80-71F43B538202}"/>
              </a:ext>
            </a:extLst>
          </p:cNvPr>
          <p:cNvSpPr>
            <a:spLocks xmlns:a="http://schemas.openxmlformats.org/drawingml/2006/main" noGrp="1"/>
          </p:cNvSpPr>
          <p:nvPr/>
        </p:nvSpPr>
        <p:spPr>
          <a:xfrm xmlns:a="http://schemas.openxmlformats.org/drawingml/2006/main">
            <a:off x="7353300" y="3600450"/>
            <a:ext cx="3810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990" b="1">
                <a:solidFill>
                  <a:srgbClr val="15232B"/>
                </a:solidFill>
              </a:defRPr>
            </a:pPr>
            <a:r>
              <a:rPr sz="990" b="1">
                <a:solidFill>
                  <a:srgbClr val="15232B"/>
                </a:solidFill>
              </a:rPr>
              <a:t>Gibt es spätere Fortentwicklung oder Aufhebung?</a:t>
            </a:r>
          </a:p>
        </p:txBody>
      </p:sp>
      <p:sp>
        <p:nvSpPr>
          <p:cNvPr id="22" name="">
            <a:extLst xmlns:a="http://schemas.openxmlformats.org/drawingml/2006/main">
              <a:ext uri="{FF2B5EF4-FFF2-40B4-BE49-F238E27FC236}">
                <a16:creationId xmlns:a16="http://schemas.microsoft.com/office/drawing/2014/main" id="{8435CEA1-0248-4545-BFCB-4B5533E0A040}"/>
              </a:ext>
            </a:extLst>
          </p:cNvPr>
          <p:cNvSpPr>
            <a:spLocks xmlns:a="http://schemas.openxmlformats.org/drawingml/2006/main" noGrp="1"/>
          </p:cNvSpPr>
          <p:nvPr/>
        </p:nvSpPr>
        <p:spPr>
          <a:xfrm xmlns:a="http://schemas.openxmlformats.org/drawingml/2006/main">
            <a:off x="1809750" y="4276725"/>
            <a:ext cx="4648200" cy="600075"/>
          </a:xfrm>
          <a:prstGeom xmlns:a="http://schemas.openxmlformats.org/drawingml/2006/main" prst="roundRect">
            <a:avLst>
              <a:gd name="adj" fmla="val 12698"/>
            </a:avLst>
          </a:prstGeom>
          <a:solidFill xmlns:a="http://schemas.openxmlformats.org/drawingml/2006/main">
            <a:srgbClr val="F3F7F9"/>
          </a:solidFill>
          <a:ln xmlns:a="http://schemas.openxmlformats.org/drawingml/2006/main" w="9525">
            <a:solidFill>
              <a:srgbClr val="003F6B"/>
            </a:solidFill>
            <a:prstDash val="solid"/>
          </a:ln>
        </p:spPr>
      </p:sp>
      <p:sp>
        <p:nvSpPr>
          <p:cNvPr id="23" name="">
            <a:extLst xmlns:a="http://schemas.openxmlformats.org/drawingml/2006/main">
              <a:ext uri="{FF2B5EF4-FFF2-40B4-BE49-F238E27FC236}">
                <a16:creationId xmlns:a16="http://schemas.microsoft.com/office/drawing/2014/main" id="{B14936B0-AED5-4DA9-A187-AE0055371A2C}"/>
              </a:ext>
            </a:extLst>
          </p:cNvPr>
          <p:cNvSpPr>
            <a:spLocks xmlns:a="http://schemas.openxmlformats.org/drawingml/2006/main" noGrp="1"/>
          </p:cNvSpPr>
          <p:nvPr/>
        </p:nvSpPr>
        <p:spPr>
          <a:xfrm xmlns:a="http://schemas.openxmlformats.org/drawingml/2006/main">
            <a:off x="1943100" y="4371975"/>
            <a:ext cx="45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003F6B"/>
                </a:solidFill>
              </a:defRPr>
            </a:pPr>
            <a:r>
              <a:rPr sz="1500" b="1">
                <a:solidFill>
                  <a:srgbClr val="003F6B"/>
                </a:solidFill>
              </a:rPr>
              <a:t>07</a:t>
            </a:r>
          </a:p>
        </p:txBody>
      </p:sp>
      <p:sp>
        <p:nvSpPr>
          <p:cNvPr id="24" name="">
            <a:extLst xmlns:a="http://schemas.openxmlformats.org/drawingml/2006/main">
              <a:ext uri="{FF2B5EF4-FFF2-40B4-BE49-F238E27FC236}">
                <a16:creationId xmlns:a16="http://schemas.microsoft.com/office/drawing/2014/main" id="{2C5DA82C-697D-47CC-ACC2-59E540AEA13E}"/>
              </a:ext>
            </a:extLst>
          </p:cNvPr>
          <p:cNvSpPr>
            <a:spLocks xmlns:a="http://schemas.openxmlformats.org/drawingml/2006/main" noGrp="1"/>
          </p:cNvSpPr>
          <p:nvPr/>
        </p:nvSpPr>
        <p:spPr>
          <a:xfrm xmlns:a="http://schemas.openxmlformats.org/drawingml/2006/main">
            <a:off x="2476500" y="4352925"/>
            <a:ext cx="3810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990" b="1">
                <a:solidFill>
                  <a:srgbClr val="15232B"/>
                </a:solidFill>
              </a:defRPr>
            </a:pPr>
            <a:r>
              <a:rPr sz="990" b="1">
                <a:solidFill>
                  <a:srgbClr val="15232B"/>
                </a:solidFill>
              </a:rPr>
              <a:t>Welche Dokumentation und welches Verfahren folgen praktisch?</a:t>
            </a:r>
          </a:p>
        </p:txBody>
      </p:sp>
      <p:sp>
        <p:nvSpPr>
          <p:cNvPr id="25" name="">
            <a:extLst xmlns:a="http://schemas.openxmlformats.org/drawingml/2006/main">
              <a:ext uri="{FF2B5EF4-FFF2-40B4-BE49-F238E27FC236}">
                <a16:creationId xmlns:a16="http://schemas.microsoft.com/office/drawing/2014/main" id="{EB6223AD-A95D-483E-8445-CEDFDE821412}"/>
              </a:ext>
            </a:extLst>
          </p:cNvPr>
          <p:cNvSpPr>
            <a:spLocks xmlns:a="http://schemas.openxmlformats.org/drawingml/2006/main" noGrp="1"/>
          </p:cNvSpPr>
          <p:nvPr/>
        </p:nvSpPr>
        <p:spPr>
          <a:xfrm xmlns:a="http://schemas.openxmlformats.org/drawingml/2006/main">
            <a:off x="6686550" y="4276725"/>
            <a:ext cx="4648200" cy="600075"/>
          </a:xfrm>
          <a:prstGeom xmlns:a="http://schemas.openxmlformats.org/drawingml/2006/main" prst="roundRect">
            <a:avLst>
              <a:gd name="adj" fmla="val 12698"/>
            </a:avLst>
          </a:prstGeom>
          <a:solidFill xmlns:a="http://schemas.openxmlformats.org/drawingml/2006/main">
            <a:srgbClr val="DDF5F6"/>
          </a:solidFill>
          <a:ln xmlns:a="http://schemas.openxmlformats.org/drawingml/2006/main" w="9525">
            <a:solidFill>
              <a:srgbClr val="00B2BB"/>
            </a:solidFill>
            <a:prstDash val="solid"/>
          </a:ln>
        </p:spPr>
      </p:sp>
      <p:sp>
        <p:nvSpPr>
          <p:cNvPr id="26" name="">
            <a:extLst xmlns:a="http://schemas.openxmlformats.org/drawingml/2006/main">
              <a:ext uri="{FF2B5EF4-FFF2-40B4-BE49-F238E27FC236}">
                <a16:creationId xmlns:a16="http://schemas.microsoft.com/office/drawing/2014/main" id="{CDE9FB1A-70AB-4EC1-A411-16357D41383A}"/>
              </a:ext>
            </a:extLst>
          </p:cNvPr>
          <p:cNvSpPr>
            <a:spLocks xmlns:a="http://schemas.openxmlformats.org/drawingml/2006/main" noGrp="1"/>
          </p:cNvSpPr>
          <p:nvPr/>
        </p:nvSpPr>
        <p:spPr>
          <a:xfrm xmlns:a="http://schemas.openxmlformats.org/drawingml/2006/main">
            <a:off x="6819900" y="4371975"/>
            <a:ext cx="45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00B2BB"/>
                </a:solidFill>
              </a:defRPr>
            </a:pPr>
            <a:r>
              <a:rPr sz="1500" b="1">
                <a:solidFill>
                  <a:srgbClr val="00B2BB"/>
                </a:solidFill>
              </a:rPr>
              <a:t>08</a:t>
            </a:r>
          </a:p>
        </p:txBody>
      </p:sp>
      <p:sp>
        <p:nvSpPr>
          <p:cNvPr id="27" name="">
            <a:extLst xmlns:a="http://schemas.openxmlformats.org/drawingml/2006/main">
              <a:ext uri="{FF2B5EF4-FFF2-40B4-BE49-F238E27FC236}">
                <a16:creationId xmlns:a16="http://schemas.microsoft.com/office/drawing/2014/main" id="{04AFB059-3834-4591-A987-043AC5D4902F}"/>
              </a:ext>
            </a:extLst>
          </p:cNvPr>
          <p:cNvSpPr>
            <a:spLocks xmlns:a="http://schemas.openxmlformats.org/drawingml/2006/main" noGrp="1"/>
          </p:cNvSpPr>
          <p:nvPr/>
        </p:nvSpPr>
        <p:spPr>
          <a:xfrm xmlns:a="http://schemas.openxmlformats.org/drawingml/2006/main">
            <a:off x="7353300" y="4352925"/>
            <a:ext cx="3810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990" b="1">
                <a:solidFill>
                  <a:srgbClr val="15232B"/>
                </a:solidFill>
              </a:defRPr>
            </a:pPr>
            <a:r>
              <a:rPr sz="990" b="1">
                <a:solidFill>
                  <a:srgbClr val="15232B"/>
                </a:solidFill>
              </a:rPr>
              <a:t>Welche Unsicherheit muss transparent benannt werden?</a:t>
            </a:r>
          </a:p>
        </p:txBody>
      </p:sp>
      <p:sp>
        <p:nvSpPr>
          <p:cNvPr id="28" name="">
            <a:extLst xmlns:a="http://schemas.openxmlformats.org/drawingml/2006/main">
              <a:ext uri="{FF2B5EF4-FFF2-40B4-BE49-F238E27FC236}">
                <a16:creationId xmlns:a16="http://schemas.microsoft.com/office/drawing/2014/main" id="{BD197A2E-A259-40CC-994C-AFEF8E4F573C}"/>
              </a:ext>
            </a:extLst>
          </p:cNvPr>
          <p:cNvSpPr>
            <a:spLocks xmlns:a="http://schemas.openxmlformats.org/drawingml/2006/main" noGrp="1"/>
          </p:cNvSpPr>
          <p:nvPr/>
        </p:nvSpPr>
        <p:spPr>
          <a:xfrm xmlns:a="http://schemas.openxmlformats.org/drawingml/2006/main">
            <a:off x="2667000" y="5105400"/>
            <a:ext cx="7810500" cy="476250"/>
          </a:xfrm>
          <a:prstGeom xmlns:a="http://schemas.openxmlformats.org/drawingml/2006/main" prst="roundRect">
            <a:avLst>
              <a:gd name="adj" fmla="val 16000"/>
            </a:avLst>
          </a:prstGeom>
          <a:solidFill xmlns:a="http://schemas.openxmlformats.org/drawingml/2006/main">
            <a:srgbClr val="003F6B"/>
          </a:solidFill>
          <a:ln xmlns:a="http://schemas.openxmlformats.org/drawingml/2006/main" w="0">
            <a:solidFill>
              <a:srgbClr val="003F6B"/>
            </a:solidFill>
            <a:prstDash val="solid"/>
          </a:ln>
        </p:spPr>
      </p:sp>
      <p:sp>
        <p:nvSpPr>
          <p:cNvPr id="29" name="">
            <a:extLst xmlns:a="http://schemas.openxmlformats.org/drawingml/2006/main">
              <a:ext uri="{FF2B5EF4-FFF2-40B4-BE49-F238E27FC236}">
                <a16:creationId xmlns:a16="http://schemas.microsoft.com/office/drawing/2014/main" id="{1147A88F-B97A-42C9-9696-CA1CC40FBF8E}"/>
              </a:ext>
            </a:extLst>
          </p:cNvPr>
          <p:cNvSpPr>
            <a:spLocks xmlns:a="http://schemas.openxmlformats.org/drawingml/2006/main" noGrp="1"/>
          </p:cNvSpPr>
          <p:nvPr/>
        </p:nvSpPr>
        <p:spPr>
          <a:xfrm xmlns:a="http://schemas.openxmlformats.org/drawingml/2006/main">
            <a:off x="2857500" y="5181600"/>
            <a:ext cx="7429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63" b="1">
                <a:solidFill>
                  <a:srgbClr val="FFFFFF"/>
                </a:solidFill>
              </a:defRPr>
            </a:pPr>
            <a:r>
              <a:rPr sz="1163" b="1">
                <a:solidFill>
                  <a:srgbClr val="FFFFFF"/>
                </a:solidFill>
              </a:rPr>
              <a:t>Recht bekommen beginnt mit sauberer Subsumtion – und endet erst bei der praktischen Umsetzung.</a:t>
            </a:r>
          </a:p>
        </p:txBody>
      </p:sp>
    </p:spTree>
    <p:extLst>
      <p:ext uri="{BB962C8B-B14F-4D97-AF65-F5344CB8AC3E}">
        <p14:creationId xmlns:p14="http://schemas.microsoft.com/office/powerpoint/2010/main" val="43637646"/>
      </p:ext>
    </p:extLst>
  </p:cSld>
</p:sld>
</file>

<file path=ppt/slides/slide448.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Recht bekommen beginnt vor dem Gerichtssaal</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SCHLUSS</a:t>
            </a:r>
            <a:endParaRPr/>
          </a:p>
        </p:txBody>
      </p:sp>
      <p:sp>
        <p:nvSpPr>
          <p:cNvPr id="4" name="">
            <a:extLst xmlns:a="http://schemas.openxmlformats.org/drawingml/2006/main">
              <a:ext uri="{FF2B5EF4-FFF2-40B4-BE49-F238E27FC236}">
                <a16:creationId xmlns:a16="http://schemas.microsoft.com/office/drawing/2014/main" id="{8C94CD1C-4ABA-4EB2-81FB-E401EF2ED803}"/>
              </a:ext>
            </a:extLst>
          </p:cNvPr>
          <p:cNvSpPr>
            <a:spLocks xmlns:a="http://schemas.openxmlformats.org/drawingml/2006/main" noGrp="1"/>
          </p:cNvSpPr>
          <p:nvPr/>
        </p:nvSpPr>
        <p:spPr>
          <a:xfrm xmlns:a="http://schemas.openxmlformats.org/drawingml/2006/main">
            <a:off x="2286000" y="2238375"/>
            <a:ext cx="8572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003F6B"/>
                </a:solidFill>
              </a:defRPr>
            </a:pPr>
            <a:r>
              <a:rPr sz="2550" b="1">
                <a:solidFill>
                  <a:srgbClr val="003F6B"/>
                </a:solidFill>
              </a:rPr>
              <a:t>„Gute Medizin. Wahrhaftige Dokumentation. Klare Rollen. Faire Verfahren.“</a:t>
            </a:r>
          </a:p>
        </p:txBody>
      </p:sp>
      <p:sp>
        <p:nvSpPr>
          <p:cNvPr id="5" name="">
            <a:extLst xmlns:a="http://schemas.openxmlformats.org/drawingml/2006/main">
              <a:ext uri="{FF2B5EF4-FFF2-40B4-BE49-F238E27FC236}">
                <a16:creationId xmlns:a16="http://schemas.microsoft.com/office/drawing/2014/main" id="{81415DF4-F7BE-4E51-941E-AB3DD4116EF1}"/>
              </a:ext>
            </a:extLst>
          </p:cNvPr>
          <p:cNvSpPr>
            <a:spLocks xmlns:a="http://schemas.openxmlformats.org/drawingml/2006/main" noGrp="1"/>
          </p:cNvSpPr>
          <p:nvPr/>
        </p:nvSpPr>
        <p:spPr>
          <a:xfrm xmlns:a="http://schemas.openxmlformats.org/drawingml/2006/main">
            <a:off x="4381500" y="3562350"/>
            <a:ext cx="4381500" cy="0"/>
          </a:xfrm>
          <a:prstGeom xmlns:a="http://schemas.openxmlformats.org/drawingml/2006/main" prst="line">
            <a:avLst/>
          </a:prstGeom>
          <a:noFill xmlns:a="http://schemas.openxmlformats.org/drawingml/2006/main"/>
          <a:ln xmlns:a="http://schemas.openxmlformats.org/drawingml/2006/main" w="47625">
            <a:solidFill>
              <a:srgbClr val="00B2BB"/>
            </a:solidFill>
            <a:prstDash val="solid"/>
          </a:ln>
        </p:spPr>
      </p:sp>
      <p:sp>
        <p:nvSpPr>
          <p:cNvPr id="6" name="">
            <a:extLst xmlns:a="http://schemas.openxmlformats.org/drawingml/2006/main">
              <a:ext uri="{FF2B5EF4-FFF2-40B4-BE49-F238E27FC236}">
                <a16:creationId xmlns:a16="http://schemas.microsoft.com/office/drawing/2014/main" id="{BCB8E9F1-54F7-47E8-81B7-D2D2D696B507}"/>
              </a:ext>
            </a:extLst>
          </p:cNvPr>
          <p:cNvSpPr>
            <a:spLocks xmlns:a="http://schemas.openxmlformats.org/drawingml/2006/main" noGrp="1"/>
          </p:cNvSpPr>
          <p:nvPr/>
        </p:nvSpPr>
        <p:spPr>
          <a:xfrm xmlns:a="http://schemas.openxmlformats.org/drawingml/2006/main">
            <a:off x="2762250" y="3781425"/>
            <a:ext cx="7620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a:solidFill>
                  <a:srgbClr val="667680"/>
                </a:solidFill>
              </a:defRPr>
            </a:pPr>
            <a:r>
              <a:rPr sz="1500">
                <a:solidFill>
                  <a:srgbClr val="667680"/>
                </a:solidFill>
              </a:rPr>
              <a:t>Dann wird Recht nicht zum Angstprotokoll, sondern zur Struktur für Patientensicherheit und verantwortliches Handeln.</a:t>
            </a:r>
          </a:p>
        </p:txBody>
      </p:sp>
    </p:spTree>
    <p:extLst>
      <p:ext uri="{BB962C8B-B14F-4D97-AF65-F5344CB8AC3E}">
        <p14:creationId xmlns:p14="http://schemas.microsoft.com/office/powerpoint/2010/main" val="43637646"/>
      </p:ext>
    </p:extLst>
  </p:cSld>
</p:sld>
</file>

<file path=ppt/slides/slide449.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Summa summarum I: Das rechtliche Handwerkszeug</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GESAMTCHECK · AM ENDE DES MODULS</a:t>
            </a:r>
            <a:endParaRPr/>
          </a:p>
        </p:txBody>
      </p:sp>
      <p:sp>
        <p:nvSpPr>
          <p:cNvPr id="4" name="">
            <a:extLst xmlns:a="http://schemas.openxmlformats.org/drawingml/2006/main">
              <a:ext uri="{FF2B5EF4-FFF2-40B4-BE49-F238E27FC236}">
                <a16:creationId xmlns:a16="http://schemas.microsoft.com/office/drawing/2014/main" id="{DE107EB3-C02F-4416-8BC7-21FE78A4688F}"/>
              </a:ext>
            </a:extLst>
          </p:cNvPr>
          <p:cNvSpPr>
            <a:spLocks xmlns:a="http://schemas.openxmlformats.org/drawingml/2006/main" noGrp="1"/>
          </p:cNvSpPr>
          <p:nvPr/>
        </p:nvSpPr>
        <p:spPr>
          <a:xfrm xmlns:a="http://schemas.openxmlformats.org/drawingml/2006/main">
            <a:off x="1809750" y="198120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B2BB"/>
            </a:solidFill>
            <a:prstDash val="solid"/>
          </a:ln>
        </p:spPr>
      </p:sp>
      <p:sp>
        <p:nvSpPr>
          <p:cNvPr id="5" name="">
            <a:extLst xmlns:a="http://schemas.openxmlformats.org/drawingml/2006/main">
              <a:ext uri="{FF2B5EF4-FFF2-40B4-BE49-F238E27FC236}">
                <a16:creationId xmlns:a16="http://schemas.microsoft.com/office/drawing/2014/main" id="{23F31057-819C-4D97-A17E-0E778DB70518}"/>
              </a:ext>
            </a:extLst>
          </p:cNvPr>
          <p:cNvSpPr>
            <a:spLocks xmlns:a="http://schemas.openxmlformats.org/drawingml/2006/main" noGrp="1"/>
          </p:cNvSpPr>
          <p:nvPr/>
        </p:nvSpPr>
        <p:spPr>
          <a:xfrm xmlns:a="http://schemas.openxmlformats.org/drawingml/2006/main">
            <a:off x="1943100" y="2124075"/>
            <a:ext cx="40005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6AFC0B16-E7F0-4336-9F27-440FDFDC71BA}"/>
              </a:ext>
            </a:extLst>
          </p:cNvPr>
          <p:cNvSpPr>
            <a:spLocks xmlns:a="http://schemas.openxmlformats.org/drawingml/2006/main" noGrp="1"/>
          </p:cNvSpPr>
          <p:nvPr/>
        </p:nvSpPr>
        <p:spPr>
          <a:xfrm xmlns:a="http://schemas.openxmlformats.org/drawingml/2006/main">
            <a:off x="1943100" y="21050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7" name="">
            <a:extLst xmlns:a="http://schemas.openxmlformats.org/drawingml/2006/main">
              <a:ext uri="{FF2B5EF4-FFF2-40B4-BE49-F238E27FC236}">
                <a16:creationId xmlns:a16="http://schemas.microsoft.com/office/drawing/2014/main" id="{48696A3B-40B2-4028-B32B-9A232BC7048B}"/>
              </a:ext>
            </a:extLst>
          </p:cNvPr>
          <p:cNvSpPr>
            <a:spLocks xmlns:a="http://schemas.openxmlformats.org/drawingml/2006/main" noGrp="1"/>
          </p:cNvSpPr>
          <p:nvPr/>
        </p:nvSpPr>
        <p:spPr>
          <a:xfrm xmlns:a="http://schemas.openxmlformats.org/drawingml/2006/main">
            <a:off x="2476500" y="207645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Anspruchsprüfung: Vertrag/Delikt – Pflicht – Schaden – Kausalität – Verschulden.</a:t>
            </a:r>
          </a:p>
        </p:txBody>
      </p:sp>
      <p:sp>
        <p:nvSpPr>
          <p:cNvPr id="8" name="">
            <a:extLst xmlns:a="http://schemas.openxmlformats.org/drawingml/2006/main">
              <a:ext uri="{FF2B5EF4-FFF2-40B4-BE49-F238E27FC236}">
                <a16:creationId xmlns:a16="http://schemas.microsoft.com/office/drawing/2014/main" id="{D35B40F4-2AF9-4BF6-9D29-E5BCA091E757}"/>
              </a:ext>
            </a:extLst>
          </p:cNvPr>
          <p:cNvSpPr>
            <a:spLocks xmlns:a="http://schemas.openxmlformats.org/drawingml/2006/main" noGrp="1"/>
          </p:cNvSpPr>
          <p:nvPr/>
        </p:nvSpPr>
        <p:spPr>
          <a:xfrm xmlns:a="http://schemas.openxmlformats.org/drawingml/2006/main">
            <a:off x="6696075" y="198120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3F6B"/>
            </a:solidFill>
            <a:prstDash val="solid"/>
          </a:ln>
        </p:spPr>
      </p:sp>
      <p:sp>
        <p:nvSpPr>
          <p:cNvPr id="9" name="">
            <a:extLst xmlns:a="http://schemas.openxmlformats.org/drawingml/2006/main">
              <a:ext uri="{FF2B5EF4-FFF2-40B4-BE49-F238E27FC236}">
                <a16:creationId xmlns:a16="http://schemas.microsoft.com/office/drawing/2014/main" id="{9FD550FE-AD3C-42FA-8006-86134A135663}"/>
              </a:ext>
            </a:extLst>
          </p:cNvPr>
          <p:cNvSpPr>
            <a:spLocks xmlns:a="http://schemas.openxmlformats.org/drawingml/2006/main" noGrp="1"/>
          </p:cNvSpPr>
          <p:nvPr/>
        </p:nvSpPr>
        <p:spPr>
          <a:xfrm xmlns:a="http://schemas.openxmlformats.org/drawingml/2006/main">
            <a:off x="6829425" y="2124075"/>
            <a:ext cx="4000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FA31E0AC-02B9-465B-9E9C-A2427A639078}"/>
              </a:ext>
            </a:extLst>
          </p:cNvPr>
          <p:cNvSpPr>
            <a:spLocks xmlns:a="http://schemas.openxmlformats.org/drawingml/2006/main" noGrp="1"/>
          </p:cNvSpPr>
          <p:nvPr/>
        </p:nvSpPr>
        <p:spPr>
          <a:xfrm xmlns:a="http://schemas.openxmlformats.org/drawingml/2006/main">
            <a:off x="6829425" y="21050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11" name="">
            <a:extLst xmlns:a="http://schemas.openxmlformats.org/drawingml/2006/main">
              <a:ext uri="{FF2B5EF4-FFF2-40B4-BE49-F238E27FC236}">
                <a16:creationId xmlns:a16="http://schemas.microsoft.com/office/drawing/2014/main" id="{18256B40-E42B-4690-B047-49C8F9E6160B}"/>
              </a:ext>
            </a:extLst>
          </p:cNvPr>
          <p:cNvSpPr>
            <a:spLocks xmlns:a="http://schemas.openxmlformats.org/drawingml/2006/main" noGrp="1"/>
          </p:cNvSpPr>
          <p:nvPr/>
        </p:nvSpPr>
        <p:spPr>
          <a:xfrm xmlns:a="http://schemas.openxmlformats.org/drawingml/2006/main">
            <a:off x="7362825" y="207645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Patientenrechte: Standard, Information, Einwilligung, Aufklärung, Akte, Beweislast.</a:t>
            </a:r>
          </a:p>
        </p:txBody>
      </p:sp>
      <p:sp>
        <p:nvSpPr>
          <p:cNvPr id="12" name="">
            <a:extLst xmlns:a="http://schemas.openxmlformats.org/drawingml/2006/main">
              <a:ext uri="{FF2B5EF4-FFF2-40B4-BE49-F238E27FC236}">
                <a16:creationId xmlns:a16="http://schemas.microsoft.com/office/drawing/2014/main" id="{A12F8461-815E-4DB7-9494-97A0BC544BA4}"/>
              </a:ext>
            </a:extLst>
          </p:cNvPr>
          <p:cNvSpPr>
            <a:spLocks xmlns:a="http://schemas.openxmlformats.org/drawingml/2006/main" noGrp="1"/>
          </p:cNvSpPr>
          <p:nvPr/>
        </p:nvSpPr>
        <p:spPr>
          <a:xfrm xmlns:a="http://schemas.openxmlformats.org/drawingml/2006/main">
            <a:off x="1809750" y="316865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B2BB"/>
            </a:solidFill>
            <a:prstDash val="solid"/>
          </a:ln>
        </p:spPr>
      </p:sp>
      <p:sp>
        <p:nvSpPr>
          <p:cNvPr id="13" name="">
            <a:extLst xmlns:a="http://schemas.openxmlformats.org/drawingml/2006/main">
              <a:ext uri="{FF2B5EF4-FFF2-40B4-BE49-F238E27FC236}">
                <a16:creationId xmlns:a16="http://schemas.microsoft.com/office/drawing/2014/main" id="{A11DC95B-F0B6-4FBA-BBF9-E97F86011DB2}"/>
              </a:ext>
            </a:extLst>
          </p:cNvPr>
          <p:cNvSpPr>
            <a:spLocks xmlns:a="http://schemas.openxmlformats.org/drawingml/2006/main" noGrp="1"/>
          </p:cNvSpPr>
          <p:nvPr/>
        </p:nvSpPr>
        <p:spPr>
          <a:xfrm xmlns:a="http://schemas.openxmlformats.org/drawingml/2006/main">
            <a:off x="1943100" y="3311525"/>
            <a:ext cx="40005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64DBC0F9-B895-495E-89B8-E0875782FB16}"/>
              </a:ext>
            </a:extLst>
          </p:cNvPr>
          <p:cNvSpPr>
            <a:spLocks xmlns:a="http://schemas.openxmlformats.org/drawingml/2006/main" noGrp="1"/>
          </p:cNvSpPr>
          <p:nvPr/>
        </p:nvSpPr>
        <p:spPr>
          <a:xfrm xmlns:a="http://schemas.openxmlformats.org/drawingml/2006/main">
            <a:off x="1943100" y="32924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15" name="">
            <a:extLst xmlns:a="http://schemas.openxmlformats.org/drawingml/2006/main">
              <a:ext uri="{FF2B5EF4-FFF2-40B4-BE49-F238E27FC236}">
                <a16:creationId xmlns:a16="http://schemas.microsoft.com/office/drawing/2014/main" id="{D844747D-BEF9-4BDA-8D08-B417A8A62A17}"/>
              </a:ext>
            </a:extLst>
          </p:cNvPr>
          <p:cNvSpPr>
            <a:spLocks xmlns:a="http://schemas.openxmlformats.org/drawingml/2006/main" noGrp="1"/>
          </p:cNvSpPr>
          <p:nvPr/>
        </p:nvSpPr>
        <p:spPr>
          <a:xfrm xmlns:a="http://schemas.openxmlformats.org/drawingml/2006/main">
            <a:off x="2476500" y="326390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ZPO: Behaupten, Bestreiten, Beweisangebot, § 286/§ 287, Gutachten, Urteil/Vergleich.</a:t>
            </a:r>
          </a:p>
        </p:txBody>
      </p:sp>
      <p:sp>
        <p:nvSpPr>
          <p:cNvPr id="16" name="">
            <a:extLst xmlns:a="http://schemas.openxmlformats.org/drawingml/2006/main">
              <a:ext uri="{FF2B5EF4-FFF2-40B4-BE49-F238E27FC236}">
                <a16:creationId xmlns:a16="http://schemas.microsoft.com/office/drawing/2014/main" id="{649C4ED2-DF1A-4A88-89B1-9018A5B02E55}"/>
              </a:ext>
            </a:extLst>
          </p:cNvPr>
          <p:cNvSpPr>
            <a:spLocks xmlns:a="http://schemas.openxmlformats.org/drawingml/2006/main" noGrp="1"/>
          </p:cNvSpPr>
          <p:nvPr/>
        </p:nvSpPr>
        <p:spPr>
          <a:xfrm xmlns:a="http://schemas.openxmlformats.org/drawingml/2006/main">
            <a:off x="6696075" y="316865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3F6B"/>
            </a:solidFill>
            <a:prstDash val="solid"/>
          </a:ln>
        </p:spPr>
      </p:sp>
      <p:sp>
        <p:nvSpPr>
          <p:cNvPr id="17" name="">
            <a:extLst xmlns:a="http://schemas.openxmlformats.org/drawingml/2006/main">
              <a:ext uri="{FF2B5EF4-FFF2-40B4-BE49-F238E27FC236}">
                <a16:creationId xmlns:a16="http://schemas.microsoft.com/office/drawing/2014/main" id="{E6688293-8BEC-49A8-9D8B-73E2334CBD93}"/>
              </a:ext>
            </a:extLst>
          </p:cNvPr>
          <p:cNvSpPr>
            <a:spLocks xmlns:a="http://schemas.openxmlformats.org/drawingml/2006/main" noGrp="1"/>
          </p:cNvSpPr>
          <p:nvPr/>
        </p:nvSpPr>
        <p:spPr>
          <a:xfrm xmlns:a="http://schemas.openxmlformats.org/drawingml/2006/main">
            <a:off x="6829425" y="3311525"/>
            <a:ext cx="4000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233E4141-5C5E-4C6A-AC76-81AB29EDA9AF}"/>
              </a:ext>
            </a:extLst>
          </p:cNvPr>
          <p:cNvSpPr>
            <a:spLocks xmlns:a="http://schemas.openxmlformats.org/drawingml/2006/main" noGrp="1"/>
          </p:cNvSpPr>
          <p:nvPr/>
        </p:nvSpPr>
        <p:spPr>
          <a:xfrm xmlns:a="http://schemas.openxmlformats.org/drawingml/2006/main">
            <a:off x="6829425" y="32924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19" name="">
            <a:extLst xmlns:a="http://schemas.openxmlformats.org/drawingml/2006/main">
              <a:ext uri="{FF2B5EF4-FFF2-40B4-BE49-F238E27FC236}">
                <a16:creationId xmlns:a16="http://schemas.microsoft.com/office/drawing/2014/main" id="{C1AAC719-3C46-4748-AC1B-ED1F92260F0F}"/>
              </a:ext>
            </a:extLst>
          </p:cNvPr>
          <p:cNvSpPr>
            <a:spLocks xmlns:a="http://schemas.openxmlformats.org/drawingml/2006/main" noGrp="1"/>
          </p:cNvSpPr>
          <p:nvPr/>
        </p:nvSpPr>
        <p:spPr>
          <a:xfrm xmlns:a="http://schemas.openxmlformats.org/drawingml/2006/main">
            <a:off x="7362825" y="326390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StGB/StPO: Tatbestand, Rechtswidrigkeit, Schuld; Ermittlung, Verteidigung, Hauptverhandlung.</a:t>
            </a:r>
          </a:p>
        </p:txBody>
      </p:sp>
      <p:sp>
        <p:nvSpPr>
          <p:cNvPr id="20" name="">
            <a:extLst xmlns:a="http://schemas.openxmlformats.org/drawingml/2006/main">
              <a:ext uri="{FF2B5EF4-FFF2-40B4-BE49-F238E27FC236}">
                <a16:creationId xmlns:a16="http://schemas.microsoft.com/office/drawing/2014/main" id="{B42A6116-4AC0-4635-82B7-A8A768620775}"/>
              </a:ext>
            </a:extLst>
          </p:cNvPr>
          <p:cNvSpPr>
            <a:spLocks xmlns:a="http://schemas.openxmlformats.org/drawingml/2006/main" noGrp="1"/>
          </p:cNvSpPr>
          <p:nvPr/>
        </p:nvSpPr>
        <p:spPr>
          <a:xfrm xmlns:a="http://schemas.openxmlformats.org/drawingml/2006/main">
            <a:off x="1809750" y="435610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B2BB"/>
            </a:solidFill>
            <a:prstDash val="solid"/>
          </a:ln>
        </p:spPr>
      </p:sp>
      <p:sp>
        <p:nvSpPr>
          <p:cNvPr id="21" name="">
            <a:extLst xmlns:a="http://schemas.openxmlformats.org/drawingml/2006/main">
              <a:ext uri="{FF2B5EF4-FFF2-40B4-BE49-F238E27FC236}">
                <a16:creationId xmlns:a16="http://schemas.microsoft.com/office/drawing/2014/main" id="{7D6CA9E7-87DD-470C-8439-D0F9D7B7EDC3}"/>
              </a:ext>
            </a:extLst>
          </p:cNvPr>
          <p:cNvSpPr>
            <a:spLocks xmlns:a="http://schemas.openxmlformats.org/drawingml/2006/main" noGrp="1"/>
          </p:cNvSpPr>
          <p:nvPr/>
        </p:nvSpPr>
        <p:spPr>
          <a:xfrm xmlns:a="http://schemas.openxmlformats.org/drawingml/2006/main">
            <a:off x="1943100" y="4498975"/>
            <a:ext cx="40005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2" name="">
            <a:extLst xmlns:a="http://schemas.openxmlformats.org/drawingml/2006/main">
              <a:ext uri="{FF2B5EF4-FFF2-40B4-BE49-F238E27FC236}">
                <a16:creationId xmlns:a16="http://schemas.microsoft.com/office/drawing/2014/main" id="{746073A3-6C35-4C69-9BE6-48D3073CA5D4}"/>
              </a:ext>
            </a:extLst>
          </p:cNvPr>
          <p:cNvSpPr>
            <a:spLocks xmlns:a="http://schemas.openxmlformats.org/drawingml/2006/main" noGrp="1"/>
          </p:cNvSpPr>
          <p:nvPr/>
        </p:nvSpPr>
        <p:spPr>
          <a:xfrm xmlns:a="http://schemas.openxmlformats.org/drawingml/2006/main">
            <a:off x="1943100" y="44799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23" name="">
            <a:extLst xmlns:a="http://schemas.openxmlformats.org/drawingml/2006/main">
              <a:ext uri="{FF2B5EF4-FFF2-40B4-BE49-F238E27FC236}">
                <a16:creationId xmlns:a16="http://schemas.microsoft.com/office/drawing/2014/main" id="{9A5FD07C-18BB-4F6C-9ACA-911D4901AE91}"/>
              </a:ext>
            </a:extLst>
          </p:cNvPr>
          <p:cNvSpPr>
            <a:spLocks xmlns:a="http://schemas.openxmlformats.org/drawingml/2006/main" noGrp="1"/>
          </p:cNvSpPr>
          <p:nvPr/>
        </p:nvSpPr>
        <p:spPr>
          <a:xfrm xmlns:a="http://schemas.openxmlformats.org/drawingml/2006/main">
            <a:off x="2476500" y="445135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Berufs- und Approbationsrecht: Kammer, Berufsgericht, BÄO, Verwaltungsakt, Klage und Eilrechtsschutz.</a:t>
            </a:r>
          </a:p>
        </p:txBody>
      </p:sp>
      <p:sp>
        <p:nvSpPr>
          <p:cNvPr id="24" name="">
            <a:extLst xmlns:a="http://schemas.openxmlformats.org/drawingml/2006/main">
              <a:ext uri="{FF2B5EF4-FFF2-40B4-BE49-F238E27FC236}">
                <a16:creationId xmlns:a16="http://schemas.microsoft.com/office/drawing/2014/main" id="{DA5A3C0D-716D-4793-AD9A-8A29817D1C11}"/>
              </a:ext>
            </a:extLst>
          </p:cNvPr>
          <p:cNvSpPr>
            <a:spLocks xmlns:a="http://schemas.openxmlformats.org/drawingml/2006/main" noGrp="1"/>
          </p:cNvSpPr>
          <p:nvPr/>
        </p:nvSpPr>
        <p:spPr>
          <a:xfrm xmlns:a="http://schemas.openxmlformats.org/drawingml/2006/main">
            <a:off x="6696075" y="435610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3F6B"/>
            </a:solidFill>
            <a:prstDash val="solid"/>
          </a:ln>
        </p:spPr>
      </p:sp>
      <p:sp>
        <p:nvSpPr>
          <p:cNvPr id="25" name="">
            <a:extLst xmlns:a="http://schemas.openxmlformats.org/drawingml/2006/main">
              <a:ext uri="{FF2B5EF4-FFF2-40B4-BE49-F238E27FC236}">
                <a16:creationId xmlns:a16="http://schemas.microsoft.com/office/drawing/2014/main" id="{6A193444-38F8-4C99-A8F2-5442E86DA879}"/>
              </a:ext>
            </a:extLst>
          </p:cNvPr>
          <p:cNvSpPr>
            <a:spLocks xmlns:a="http://schemas.openxmlformats.org/drawingml/2006/main" noGrp="1"/>
          </p:cNvSpPr>
          <p:nvPr/>
        </p:nvSpPr>
        <p:spPr>
          <a:xfrm xmlns:a="http://schemas.openxmlformats.org/drawingml/2006/main">
            <a:off x="6829425" y="4498975"/>
            <a:ext cx="4000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26" name="">
            <a:extLst xmlns:a="http://schemas.openxmlformats.org/drawingml/2006/main">
              <a:ext uri="{FF2B5EF4-FFF2-40B4-BE49-F238E27FC236}">
                <a16:creationId xmlns:a16="http://schemas.microsoft.com/office/drawing/2014/main" id="{8B1222F4-CFB1-4FA5-8792-343DB1D31AD7}"/>
              </a:ext>
            </a:extLst>
          </p:cNvPr>
          <p:cNvSpPr>
            <a:spLocks xmlns:a="http://schemas.openxmlformats.org/drawingml/2006/main" noGrp="1"/>
          </p:cNvSpPr>
          <p:nvPr/>
        </p:nvSpPr>
        <p:spPr>
          <a:xfrm xmlns:a="http://schemas.openxmlformats.org/drawingml/2006/main">
            <a:off x="6829425" y="44799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27" name="">
            <a:extLst xmlns:a="http://schemas.openxmlformats.org/drawingml/2006/main">
              <a:ext uri="{FF2B5EF4-FFF2-40B4-BE49-F238E27FC236}">
                <a16:creationId xmlns:a16="http://schemas.microsoft.com/office/drawing/2014/main" id="{B256A1B5-F31E-4D52-849D-EB62FE26C602}"/>
              </a:ext>
            </a:extLst>
          </p:cNvPr>
          <p:cNvSpPr>
            <a:spLocks xmlns:a="http://schemas.openxmlformats.org/drawingml/2006/main" noGrp="1"/>
          </p:cNvSpPr>
          <p:nvPr/>
        </p:nvSpPr>
        <p:spPr>
          <a:xfrm xmlns:a="http://schemas.openxmlformats.org/drawingml/2006/main">
            <a:off x="7362825" y="445135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Parallelität: Ein Ereignis kann mehrere Akten und unterschiedliche Beweisfragen erzeugen.</a:t>
            </a:r>
          </a:p>
        </p:txBody>
      </p:sp>
    </p:spTree>
    <p:extLst>
      <p:ext uri="{BB962C8B-B14F-4D97-AF65-F5344CB8AC3E}">
        <p14:creationId xmlns:p14="http://schemas.microsoft.com/office/powerpoint/2010/main" val="43637646"/>
      </p:ext>
    </p:extLst>
  </p:cSld>
</p:sld>
</file>

<file path=ppt/slides/slide450.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Summa summarum II: So handeln Sie praktisch</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GESAMTCHECK · KLINIKALLTAG</a:t>
            </a:r>
            <a:endParaRPr/>
          </a:p>
        </p:txBody>
      </p:sp>
      <p:sp>
        <p:nvSpPr>
          <p:cNvPr id="4" name="">
            <a:extLst xmlns:a="http://schemas.openxmlformats.org/drawingml/2006/main">
              <a:ext uri="{FF2B5EF4-FFF2-40B4-BE49-F238E27FC236}">
                <a16:creationId xmlns:a16="http://schemas.microsoft.com/office/drawing/2014/main" id="{B4A299AA-2714-4705-ADBF-D9CAF23B7708}"/>
              </a:ext>
            </a:extLst>
          </p:cNvPr>
          <p:cNvSpPr>
            <a:spLocks xmlns:a="http://schemas.openxmlformats.org/drawingml/2006/main" noGrp="1"/>
          </p:cNvSpPr>
          <p:nvPr/>
        </p:nvSpPr>
        <p:spPr>
          <a:xfrm xmlns:a="http://schemas.openxmlformats.org/drawingml/2006/main">
            <a:off x="1809750" y="198120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B2BB"/>
            </a:solidFill>
            <a:prstDash val="solid"/>
          </a:ln>
        </p:spPr>
      </p:sp>
      <p:sp>
        <p:nvSpPr>
          <p:cNvPr id="5" name="">
            <a:extLst xmlns:a="http://schemas.openxmlformats.org/drawingml/2006/main">
              <a:ext uri="{FF2B5EF4-FFF2-40B4-BE49-F238E27FC236}">
                <a16:creationId xmlns:a16="http://schemas.microsoft.com/office/drawing/2014/main" id="{6DCB042A-8B29-4BCB-A6C6-B0F7F137264F}"/>
              </a:ext>
            </a:extLst>
          </p:cNvPr>
          <p:cNvSpPr>
            <a:spLocks xmlns:a="http://schemas.openxmlformats.org/drawingml/2006/main" noGrp="1"/>
          </p:cNvSpPr>
          <p:nvPr/>
        </p:nvSpPr>
        <p:spPr>
          <a:xfrm xmlns:a="http://schemas.openxmlformats.org/drawingml/2006/main">
            <a:off x="1943100" y="2124075"/>
            <a:ext cx="40005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6" name="">
            <a:extLst xmlns:a="http://schemas.openxmlformats.org/drawingml/2006/main">
              <a:ext uri="{FF2B5EF4-FFF2-40B4-BE49-F238E27FC236}">
                <a16:creationId xmlns:a16="http://schemas.microsoft.com/office/drawing/2014/main" id="{BED6EA07-ECA9-44E2-A4A1-0E028F29B7DA}"/>
              </a:ext>
            </a:extLst>
          </p:cNvPr>
          <p:cNvSpPr>
            <a:spLocks xmlns:a="http://schemas.openxmlformats.org/drawingml/2006/main" noGrp="1"/>
          </p:cNvSpPr>
          <p:nvPr/>
        </p:nvSpPr>
        <p:spPr>
          <a:xfrm xmlns:a="http://schemas.openxmlformats.org/drawingml/2006/main">
            <a:off x="1943100" y="21050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7" name="">
            <a:extLst xmlns:a="http://schemas.openxmlformats.org/drawingml/2006/main">
              <a:ext uri="{FF2B5EF4-FFF2-40B4-BE49-F238E27FC236}">
                <a16:creationId xmlns:a16="http://schemas.microsoft.com/office/drawing/2014/main" id="{2FA9E999-A943-4BB2-B35F-189D6E82C8CE}"/>
              </a:ext>
            </a:extLst>
          </p:cNvPr>
          <p:cNvSpPr>
            <a:spLocks xmlns:a="http://schemas.openxmlformats.org/drawingml/2006/main" noGrp="1"/>
          </p:cNvSpPr>
          <p:nvPr/>
        </p:nvSpPr>
        <p:spPr>
          <a:xfrm xmlns:a="http://schemas.openxmlformats.org/drawingml/2006/main">
            <a:off x="2476500" y="207645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Patient schützen und notwendige Folgebehandlung organisieren.</a:t>
            </a:r>
          </a:p>
        </p:txBody>
      </p:sp>
      <p:sp>
        <p:nvSpPr>
          <p:cNvPr id="8" name="">
            <a:extLst xmlns:a="http://schemas.openxmlformats.org/drawingml/2006/main">
              <a:ext uri="{FF2B5EF4-FFF2-40B4-BE49-F238E27FC236}">
                <a16:creationId xmlns:a16="http://schemas.microsoft.com/office/drawing/2014/main" id="{F6EA223A-8724-4D4D-9454-C9DDB769179A}"/>
              </a:ext>
            </a:extLst>
          </p:cNvPr>
          <p:cNvSpPr>
            <a:spLocks xmlns:a="http://schemas.openxmlformats.org/drawingml/2006/main" noGrp="1"/>
          </p:cNvSpPr>
          <p:nvPr/>
        </p:nvSpPr>
        <p:spPr>
          <a:xfrm xmlns:a="http://schemas.openxmlformats.org/drawingml/2006/main">
            <a:off x="6696075" y="198120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3F6B"/>
            </a:solidFill>
            <a:prstDash val="solid"/>
          </a:ln>
        </p:spPr>
      </p:sp>
      <p:sp>
        <p:nvSpPr>
          <p:cNvPr id="9" name="">
            <a:extLst xmlns:a="http://schemas.openxmlformats.org/drawingml/2006/main">
              <a:ext uri="{FF2B5EF4-FFF2-40B4-BE49-F238E27FC236}">
                <a16:creationId xmlns:a16="http://schemas.microsoft.com/office/drawing/2014/main" id="{F445364D-EE0E-45F7-BEC8-41C0F76F49B1}"/>
              </a:ext>
            </a:extLst>
          </p:cNvPr>
          <p:cNvSpPr>
            <a:spLocks xmlns:a="http://schemas.openxmlformats.org/drawingml/2006/main" noGrp="1"/>
          </p:cNvSpPr>
          <p:nvPr/>
        </p:nvSpPr>
        <p:spPr>
          <a:xfrm xmlns:a="http://schemas.openxmlformats.org/drawingml/2006/main">
            <a:off x="6829425" y="2124075"/>
            <a:ext cx="4000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0" name="">
            <a:extLst xmlns:a="http://schemas.openxmlformats.org/drawingml/2006/main">
              <a:ext uri="{FF2B5EF4-FFF2-40B4-BE49-F238E27FC236}">
                <a16:creationId xmlns:a16="http://schemas.microsoft.com/office/drawing/2014/main" id="{117163C3-7CC0-44C0-9B36-535B8F9B9936}"/>
              </a:ext>
            </a:extLst>
          </p:cNvPr>
          <p:cNvSpPr>
            <a:spLocks xmlns:a="http://schemas.openxmlformats.org/drawingml/2006/main" noGrp="1"/>
          </p:cNvSpPr>
          <p:nvPr/>
        </p:nvSpPr>
        <p:spPr>
          <a:xfrm xmlns:a="http://schemas.openxmlformats.org/drawingml/2006/main">
            <a:off x="6829425" y="21050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11" name="">
            <a:extLst xmlns:a="http://schemas.openxmlformats.org/drawingml/2006/main">
              <a:ext uri="{FF2B5EF4-FFF2-40B4-BE49-F238E27FC236}">
                <a16:creationId xmlns:a16="http://schemas.microsoft.com/office/drawing/2014/main" id="{45FDDB57-4D23-451F-A54A-874122902DB4}"/>
              </a:ext>
            </a:extLst>
          </p:cNvPr>
          <p:cNvSpPr>
            <a:spLocks xmlns:a="http://schemas.openxmlformats.org/drawingml/2006/main" noGrp="1"/>
          </p:cNvSpPr>
          <p:nvPr/>
        </p:nvSpPr>
        <p:spPr>
          <a:xfrm xmlns:a="http://schemas.openxmlformats.org/drawingml/2006/main">
            <a:off x="7362825" y="207645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Fakten, Zeitpunkte, Befunde, Unsicherheit und Plan wahrheitsgemäß dokumentieren.</a:t>
            </a:r>
          </a:p>
        </p:txBody>
      </p:sp>
      <p:sp>
        <p:nvSpPr>
          <p:cNvPr id="12" name="">
            <a:extLst xmlns:a="http://schemas.openxmlformats.org/drawingml/2006/main">
              <a:ext uri="{FF2B5EF4-FFF2-40B4-BE49-F238E27FC236}">
                <a16:creationId xmlns:a16="http://schemas.microsoft.com/office/drawing/2014/main" id="{F7CB0B16-BED8-4F6E-9556-8E95D61F8C05}"/>
              </a:ext>
            </a:extLst>
          </p:cNvPr>
          <p:cNvSpPr>
            <a:spLocks xmlns:a="http://schemas.openxmlformats.org/drawingml/2006/main" noGrp="1"/>
          </p:cNvSpPr>
          <p:nvPr/>
        </p:nvSpPr>
        <p:spPr>
          <a:xfrm xmlns:a="http://schemas.openxmlformats.org/drawingml/2006/main">
            <a:off x="1809750" y="316865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B2BB"/>
            </a:solidFill>
            <a:prstDash val="solid"/>
          </a:ln>
        </p:spPr>
      </p:sp>
      <p:sp>
        <p:nvSpPr>
          <p:cNvPr id="13" name="">
            <a:extLst xmlns:a="http://schemas.openxmlformats.org/drawingml/2006/main">
              <a:ext uri="{FF2B5EF4-FFF2-40B4-BE49-F238E27FC236}">
                <a16:creationId xmlns:a16="http://schemas.microsoft.com/office/drawing/2014/main" id="{D704026C-C496-4255-B61E-BF739A80B9FB}"/>
              </a:ext>
            </a:extLst>
          </p:cNvPr>
          <p:cNvSpPr>
            <a:spLocks xmlns:a="http://schemas.openxmlformats.org/drawingml/2006/main" noGrp="1"/>
          </p:cNvSpPr>
          <p:nvPr/>
        </p:nvSpPr>
        <p:spPr>
          <a:xfrm xmlns:a="http://schemas.openxmlformats.org/drawingml/2006/main">
            <a:off x="1943100" y="3311525"/>
            <a:ext cx="40005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14" name="">
            <a:extLst xmlns:a="http://schemas.openxmlformats.org/drawingml/2006/main">
              <a:ext uri="{FF2B5EF4-FFF2-40B4-BE49-F238E27FC236}">
                <a16:creationId xmlns:a16="http://schemas.microsoft.com/office/drawing/2014/main" id="{73A35127-671E-4B99-AB41-0B96B9F94982}"/>
              </a:ext>
            </a:extLst>
          </p:cNvPr>
          <p:cNvSpPr>
            <a:spLocks xmlns:a="http://schemas.openxmlformats.org/drawingml/2006/main" noGrp="1"/>
          </p:cNvSpPr>
          <p:nvPr/>
        </p:nvSpPr>
        <p:spPr>
          <a:xfrm xmlns:a="http://schemas.openxmlformats.org/drawingml/2006/main">
            <a:off x="1943100" y="32924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15" name="">
            <a:extLst xmlns:a="http://schemas.openxmlformats.org/drawingml/2006/main">
              <a:ext uri="{FF2B5EF4-FFF2-40B4-BE49-F238E27FC236}">
                <a16:creationId xmlns:a16="http://schemas.microsoft.com/office/drawing/2014/main" id="{07875B06-5304-443E-A557-8ECCAAA9D9D8}"/>
              </a:ext>
            </a:extLst>
          </p:cNvPr>
          <p:cNvSpPr>
            <a:spLocks xmlns:a="http://schemas.openxmlformats.org/drawingml/2006/main" noGrp="1"/>
          </p:cNvSpPr>
          <p:nvPr/>
        </p:nvSpPr>
        <p:spPr>
          <a:xfrm xmlns:a="http://schemas.openxmlformats.org/drawingml/2006/main">
            <a:off x="2476500" y="326390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offen kommunizieren, ohne ungesicherte Schuld- oder Kausalitätsurteile.</a:t>
            </a:r>
          </a:p>
        </p:txBody>
      </p:sp>
      <p:sp>
        <p:nvSpPr>
          <p:cNvPr id="16" name="">
            <a:extLst xmlns:a="http://schemas.openxmlformats.org/drawingml/2006/main">
              <a:ext uri="{FF2B5EF4-FFF2-40B4-BE49-F238E27FC236}">
                <a16:creationId xmlns:a16="http://schemas.microsoft.com/office/drawing/2014/main" id="{AC2D8116-6EA3-4946-B154-F472C856C4AE}"/>
              </a:ext>
            </a:extLst>
          </p:cNvPr>
          <p:cNvSpPr>
            <a:spLocks xmlns:a="http://schemas.openxmlformats.org/drawingml/2006/main" noGrp="1"/>
          </p:cNvSpPr>
          <p:nvPr/>
        </p:nvSpPr>
        <p:spPr>
          <a:xfrm xmlns:a="http://schemas.openxmlformats.org/drawingml/2006/main">
            <a:off x="6696075" y="316865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3F6B"/>
            </a:solidFill>
            <a:prstDash val="solid"/>
          </a:ln>
        </p:spPr>
      </p:sp>
      <p:sp>
        <p:nvSpPr>
          <p:cNvPr id="17" name="">
            <a:extLst xmlns:a="http://schemas.openxmlformats.org/drawingml/2006/main">
              <a:ext uri="{FF2B5EF4-FFF2-40B4-BE49-F238E27FC236}">
                <a16:creationId xmlns:a16="http://schemas.microsoft.com/office/drawing/2014/main" id="{E32315F6-99A5-4F40-AF74-70CA91731ACC}"/>
              </a:ext>
            </a:extLst>
          </p:cNvPr>
          <p:cNvSpPr>
            <a:spLocks xmlns:a="http://schemas.openxmlformats.org/drawingml/2006/main" noGrp="1"/>
          </p:cNvSpPr>
          <p:nvPr/>
        </p:nvSpPr>
        <p:spPr>
          <a:xfrm xmlns:a="http://schemas.openxmlformats.org/drawingml/2006/main">
            <a:off x="6829425" y="3311525"/>
            <a:ext cx="4000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18" name="">
            <a:extLst xmlns:a="http://schemas.openxmlformats.org/drawingml/2006/main">
              <a:ext uri="{FF2B5EF4-FFF2-40B4-BE49-F238E27FC236}">
                <a16:creationId xmlns:a16="http://schemas.microsoft.com/office/drawing/2014/main" id="{F8907C50-88F2-4935-A1C6-063AA94BAC46}"/>
              </a:ext>
            </a:extLst>
          </p:cNvPr>
          <p:cNvSpPr>
            <a:spLocks xmlns:a="http://schemas.openxmlformats.org/drawingml/2006/main" noGrp="1"/>
          </p:cNvSpPr>
          <p:nvPr/>
        </p:nvSpPr>
        <p:spPr>
          <a:xfrm xmlns:a="http://schemas.openxmlformats.org/drawingml/2006/main">
            <a:off x="6829425" y="329247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19" name="">
            <a:extLst xmlns:a="http://schemas.openxmlformats.org/drawingml/2006/main">
              <a:ext uri="{FF2B5EF4-FFF2-40B4-BE49-F238E27FC236}">
                <a16:creationId xmlns:a16="http://schemas.microsoft.com/office/drawing/2014/main" id="{5E8A03F2-CFF4-43F9-BC2E-B3526DF66D49}"/>
              </a:ext>
            </a:extLst>
          </p:cNvPr>
          <p:cNvSpPr>
            <a:spLocks xmlns:a="http://schemas.openxmlformats.org/drawingml/2006/main" noGrp="1"/>
          </p:cNvSpPr>
          <p:nvPr/>
        </p:nvSpPr>
        <p:spPr>
          <a:xfrm xmlns:a="http://schemas.openxmlformats.org/drawingml/2006/main">
            <a:off x="7362825" y="326390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Rolle klären: Behandelnde Person, Zeuge, Beschuldigter, Sachverständiger.</a:t>
            </a:r>
          </a:p>
        </p:txBody>
      </p:sp>
      <p:sp>
        <p:nvSpPr>
          <p:cNvPr id="20" name="">
            <a:extLst xmlns:a="http://schemas.openxmlformats.org/drawingml/2006/main">
              <a:ext uri="{FF2B5EF4-FFF2-40B4-BE49-F238E27FC236}">
                <a16:creationId xmlns:a16="http://schemas.microsoft.com/office/drawing/2014/main" id="{3DB15E24-1086-4C2F-B7AF-3F3B31E1838A}"/>
              </a:ext>
            </a:extLst>
          </p:cNvPr>
          <p:cNvSpPr>
            <a:spLocks xmlns:a="http://schemas.openxmlformats.org/drawingml/2006/main" noGrp="1"/>
          </p:cNvSpPr>
          <p:nvPr/>
        </p:nvSpPr>
        <p:spPr>
          <a:xfrm xmlns:a="http://schemas.openxmlformats.org/drawingml/2006/main">
            <a:off x="1809750" y="435610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B2BB"/>
            </a:solidFill>
            <a:prstDash val="solid"/>
          </a:ln>
        </p:spPr>
      </p:sp>
      <p:sp>
        <p:nvSpPr>
          <p:cNvPr id="21" name="">
            <a:extLst xmlns:a="http://schemas.openxmlformats.org/drawingml/2006/main">
              <a:ext uri="{FF2B5EF4-FFF2-40B4-BE49-F238E27FC236}">
                <a16:creationId xmlns:a16="http://schemas.microsoft.com/office/drawing/2014/main" id="{3332E0EE-EC74-491A-8B26-18BC0EADD3EE}"/>
              </a:ext>
            </a:extLst>
          </p:cNvPr>
          <p:cNvSpPr>
            <a:spLocks xmlns:a="http://schemas.openxmlformats.org/drawingml/2006/main" noGrp="1"/>
          </p:cNvSpPr>
          <p:nvPr/>
        </p:nvSpPr>
        <p:spPr>
          <a:xfrm xmlns:a="http://schemas.openxmlformats.org/drawingml/2006/main">
            <a:off x="1943100" y="4498975"/>
            <a:ext cx="400050" cy="400050"/>
          </a:xfrm>
          <a:prstGeom xmlns:a="http://schemas.openxmlformats.org/drawingml/2006/main" prst="roundRect">
            <a:avLst>
              <a:gd name="adj" fmla="val 19048"/>
            </a:avLst>
          </a:prstGeom>
          <a:solidFill xmlns:a="http://schemas.openxmlformats.org/drawingml/2006/main">
            <a:srgbClr val="00B2BB"/>
          </a:solidFill>
          <a:ln xmlns:a="http://schemas.openxmlformats.org/drawingml/2006/main" w="0">
            <a:solidFill>
              <a:srgbClr val="00B2BB"/>
            </a:solidFill>
            <a:prstDash val="solid"/>
          </a:ln>
        </p:spPr>
      </p:sp>
      <p:sp>
        <p:nvSpPr>
          <p:cNvPr id="22" name="">
            <a:extLst xmlns:a="http://schemas.openxmlformats.org/drawingml/2006/main">
              <a:ext uri="{FF2B5EF4-FFF2-40B4-BE49-F238E27FC236}">
                <a16:creationId xmlns:a16="http://schemas.microsoft.com/office/drawing/2014/main" id="{C9904D42-D890-470F-B91A-FF601AA35A54}"/>
              </a:ext>
            </a:extLst>
          </p:cNvPr>
          <p:cNvSpPr>
            <a:spLocks xmlns:a="http://schemas.openxmlformats.org/drawingml/2006/main" noGrp="1"/>
          </p:cNvSpPr>
          <p:nvPr/>
        </p:nvSpPr>
        <p:spPr>
          <a:xfrm xmlns:a="http://schemas.openxmlformats.org/drawingml/2006/main">
            <a:off x="1943100" y="44799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23" name="">
            <a:extLst xmlns:a="http://schemas.openxmlformats.org/drawingml/2006/main">
              <a:ext uri="{FF2B5EF4-FFF2-40B4-BE49-F238E27FC236}">
                <a16:creationId xmlns:a16="http://schemas.microsoft.com/office/drawing/2014/main" id="{262D9B92-B5BE-463A-9D0D-D3B71451F845}"/>
              </a:ext>
            </a:extLst>
          </p:cNvPr>
          <p:cNvSpPr>
            <a:spLocks xmlns:a="http://schemas.openxmlformats.org/drawingml/2006/main" noGrp="1"/>
          </p:cNvSpPr>
          <p:nvPr/>
        </p:nvSpPr>
        <p:spPr>
          <a:xfrm xmlns:a="http://schemas.openxmlformats.org/drawingml/2006/main">
            <a:off x="2476500" y="445135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früh koordinieren: Vorgesetzte, Risiko, Versicherer, Verteidigung – je nach Lage.</a:t>
            </a:r>
          </a:p>
        </p:txBody>
      </p:sp>
      <p:sp>
        <p:nvSpPr>
          <p:cNvPr id="24" name="">
            <a:extLst xmlns:a="http://schemas.openxmlformats.org/drawingml/2006/main">
              <a:ext uri="{FF2B5EF4-FFF2-40B4-BE49-F238E27FC236}">
                <a16:creationId xmlns:a16="http://schemas.microsoft.com/office/drawing/2014/main" id="{4A046C04-A38E-4B6A-B360-4C65903F3942}"/>
              </a:ext>
            </a:extLst>
          </p:cNvPr>
          <p:cNvSpPr>
            <a:spLocks xmlns:a="http://schemas.openxmlformats.org/drawingml/2006/main" noGrp="1"/>
          </p:cNvSpPr>
          <p:nvPr/>
        </p:nvSpPr>
        <p:spPr>
          <a:xfrm xmlns:a="http://schemas.openxmlformats.org/drawingml/2006/main">
            <a:off x="6696075" y="4356100"/>
            <a:ext cx="4638675" cy="1073150"/>
          </a:xfrm>
          <a:prstGeom xmlns:a="http://schemas.openxmlformats.org/drawingml/2006/main" prst="roundRect">
            <a:avLst>
              <a:gd name="adj" fmla="val 7101"/>
            </a:avLst>
          </a:prstGeom>
          <a:noFill xmlns:a="http://schemas.openxmlformats.org/drawingml/2006/main"/>
          <a:ln xmlns:a="http://schemas.openxmlformats.org/drawingml/2006/main" w="11430">
            <a:solidFill>
              <a:srgbClr val="003F6B"/>
            </a:solidFill>
            <a:prstDash val="solid"/>
          </a:ln>
        </p:spPr>
      </p:sp>
      <p:sp>
        <p:nvSpPr>
          <p:cNvPr id="25" name="">
            <a:extLst xmlns:a="http://schemas.openxmlformats.org/drawingml/2006/main">
              <a:ext uri="{FF2B5EF4-FFF2-40B4-BE49-F238E27FC236}">
                <a16:creationId xmlns:a16="http://schemas.microsoft.com/office/drawing/2014/main" id="{724C2677-D70E-4804-AA3B-10F66683103A}"/>
              </a:ext>
            </a:extLst>
          </p:cNvPr>
          <p:cNvSpPr>
            <a:spLocks xmlns:a="http://schemas.openxmlformats.org/drawingml/2006/main" noGrp="1"/>
          </p:cNvSpPr>
          <p:nvPr/>
        </p:nvSpPr>
        <p:spPr>
          <a:xfrm xmlns:a="http://schemas.openxmlformats.org/drawingml/2006/main">
            <a:off x="6829425" y="4498975"/>
            <a:ext cx="400050" cy="400050"/>
          </a:xfrm>
          <a:prstGeom xmlns:a="http://schemas.openxmlformats.org/drawingml/2006/main" prst="roundRect">
            <a:avLst>
              <a:gd name="adj" fmla="val 19048"/>
            </a:avLst>
          </a:prstGeom>
          <a:solidFill xmlns:a="http://schemas.openxmlformats.org/drawingml/2006/main">
            <a:srgbClr val="003F6B"/>
          </a:solidFill>
          <a:ln xmlns:a="http://schemas.openxmlformats.org/drawingml/2006/main" w="0">
            <a:solidFill>
              <a:srgbClr val="003F6B"/>
            </a:solidFill>
            <a:prstDash val="solid"/>
          </a:ln>
        </p:spPr>
      </p:sp>
      <p:sp>
        <p:nvSpPr>
          <p:cNvPr id="26" name="">
            <a:extLst xmlns:a="http://schemas.openxmlformats.org/drawingml/2006/main">
              <a:ext uri="{FF2B5EF4-FFF2-40B4-BE49-F238E27FC236}">
                <a16:creationId xmlns:a16="http://schemas.microsoft.com/office/drawing/2014/main" id="{249DF259-55D4-4BA8-A5B9-4D771A97E8D8}"/>
              </a:ext>
            </a:extLst>
          </p:cNvPr>
          <p:cNvSpPr>
            <a:spLocks xmlns:a="http://schemas.openxmlformats.org/drawingml/2006/main" noGrp="1"/>
          </p:cNvSpPr>
          <p:nvPr/>
        </p:nvSpPr>
        <p:spPr>
          <a:xfrm xmlns:a="http://schemas.openxmlformats.org/drawingml/2006/main">
            <a:off x="6829425" y="44799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FFFFFF"/>
                </a:solidFill>
              </a:defRPr>
            </a:pPr>
            <a:r>
              <a:rPr sz="1575" b="1">
                <a:solidFill>
                  <a:srgbClr val="FFFFFF"/>
                </a:solidFill>
              </a:rPr>
              <a:t>☐</a:t>
            </a:r>
          </a:p>
        </p:txBody>
      </p:sp>
      <p:sp>
        <p:nvSpPr>
          <p:cNvPr id="27" name="">
            <a:extLst xmlns:a="http://schemas.openxmlformats.org/drawingml/2006/main">
              <a:ext uri="{FF2B5EF4-FFF2-40B4-BE49-F238E27FC236}">
                <a16:creationId xmlns:a16="http://schemas.microsoft.com/office/drawing/2014/main" id="{8A0853CA-CC59-4342-8E61-49002750442F}"/>
              </a:ext>
            </a:extLst>
          </p:cNvPr>
          <p:cNvSpPr>
            <a:spLocks xmlns:a="http://schemas.openxmlformats.org/drawingml/2006/main" noGrp="1"/>
          </p:cNvSpPr>
          <p:nvPr/>
        </p:nvSpPr>
        <p:spPr>
          <a:xfrm xmlns:a="http://schemas.openxmlformats.org/drawingml/2006/main">
            <a:off x="7362825" y="4451350"/>
            <a:ext cx="3819525" cy="88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185">
                <a:solidFill>
                  <a:srgbClr val="15232B"/>
                </a:solidFill>
              </a:defRPr>
            </a:pPr>
            <a:r>
              <a:rPr sz="1185">
                <a:solidFill>
                  <a:srgbClr val="15232B"/>
                </a:solidFill>
              </a:rPr>
              <a:t>medizinische Indikation nicht durch Angst, Formalismus oder Überdiagnostik ersetzen.</a:t>
            </a:r>
          </a:p>
        </p:txBody>
      </p:sp>
    </p:spTree>
    <p:extLst>
      <p:ext uri="{BB962C8B-B14F-4D97-AF65-F5344CB8AC3E}">
        <p14:creationId xmlns:p14="http://schemas.microsoft.com/office/powerpoint/2010/main" val="43637646"/>
      </p:ext>
    </p:extLst>
  </p:cSld>
</p:sld>
</file>

<file path=ppt/slides/slide451.xml><?xml version="1.0" encoding="utf-8"?>
<p:sld xmlns:p="http://schemas.openxmlformats.org/presentationml/2006/main">
  <p:cSld>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C5AD7519-7811-46FE-8E34-FADED4DF6D77}"/>
              </a:ext>
            </a:extLst>
          </p:cNvPr>
          <p:cNvSpPr>
            <a:spLocks xmlns:a="http://schemas.openxmlformats.org/drawingml/2006/main" noGrp="1"/>
          </p:cNvSpPr>
          <p:nvPr>
            <p:ph type="title" idx="0"/>
          </p:nvPr>
        </p:nvSpPr>
        <p:spPr>
          <a:xfrm xmlns:a="http://schemas.openxmlformats.org/drawingml/2006/main">
            <a:off x="1809750" y="704850"/>
            <a:ext cx="9525000" cy="628650"/>
          </a:xfrm>
        </p:spPr>
        <p:txBody>
          <a:bodyPr xmlns:a="http://schemas.openxmlformats.org/drawingml/2006/main"/>
          <a:lstStyle xmlns:a="http://schemas.openxmlformats.org/drawingml/2006/main"/>
          <a:p xmlns:a="http://schemas.openxmlformats.org/drawingml/2006/main">
            <a:r>
              <a:t>Der letzte Satz</a:t>
            </a:r>
            <a:endParaRPr/>
          </a:p>
        </p:txBody>
      </p:sp>
      <p:sp>
        <p:nvSpPr>
          <p:cNvPr id="3" name="Inhaltsplatzhalter 2">
            <a:extLst xmlns:a="http://schemas.openxmlformats.org/drawingml/2006/main">
              <a:ext uri="{FF2B5EF4-FFF2-40B4-BE49-F238E27FC236}">
                <a16:creationId xmlns:a16="http://schemas.microsoft.com/office/drawing/2014/main" id="{ABA5FFBB-6552-479A-AED0-3F46A2C4F69B}"/>
              </a:ext>
            </a:extLst>
          </p:cNvPr>
          <p:cNvSpPr>
            <a:spLocks xmlns:a="http://schemas.openxmlformats.org/drawingml/2006/main" noGrp="1"/>
          </p:cNvSpPr>
          <p:nvPr>
            <p:ph idx="1"/>
          </p:nvPr>
        </p:nvSpPr>
        <p:spPr>
          <a:xfrm xmlns:a="http://schemas.openxmlformats.org/drawingml/2006/main">
            <a:off x="1809750" y="1409700"/>
            <a:ext cx="9525000" cy="285750"/>
          </a:xfrm>
        </p:spPr>
        <p:txBody>
          <a:bodyPr xmlns:a="http://schemas.openxmlformats.org/drawingml/2006/main"/>
          <a:lstStyle xmlns:a="http://schemas.openxmlformats.org/drawingml/2006/main"/>
          <a:p xmlns:a="http://schemas.openxmlformats.org/drawingml/2006/main">
            <a:r>
              <a:t>RECHT HABEN · RECHT BEKOMMEN</a:t>
            </a:r>
            <a:endParaRPr/>
          </a:p>
        </p:txBody>
      </p:sp>
      <p:sp>
        <p:nvSpPr>
          <p:cNvPr id="4" name="">
            <a:extLst xmlns:a="http://schemas.openxmlformats.org/drawingml/2006/main">
              <a:ext uri="{FF2B5EF4-FFF2-40B4-BE49-F238E27FC236}">
                <a16:creationId xmlns:a16="http://schemas.microsoft.com/office/drawing/2014/main" id="{079C8B25-DB94-43B5-9FD1-C804BE3FCBC7}"/>
              </a:ext>
            </a:extLst>
          </p:cNvPr>
          <p:cNvSpPr>
            <a:spLocks xmlns:a="http://schemas.openxmlformats.org/drawingml/2006/main" noGrp="1"/>
          </p:cNvSpPr>
          <p:nvPr/>
        </p:nvSpPr>
        <p:spPr>
          <a:xfrm xmlns:a="http://schemas.openxmlformats.org/drawingml/2006/main">
            <a:off x="2286000" y="2238375"/>
            <a:ext cx="8572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003F6B"/>
                </a:solidFill>
              </a:defRPr>
            </a:pPr>
            <a:r>
              <a:rPr sz="2550" b="1">
                <a:solidFill>
                  <a:srgbClr val="003F6B"/>
                </a:solidFill>
              </a:rPr>
              <a:t>„Gute Medizin, nachvollziehbare Entscheidungen und ein fairer Prozess gehören zusammen.“</a:t>
            </a:r>
          </a:p>
        </p:txBody>
      </p:sp>
      <p:sp>
        <p:nvSpPr>
          <p:cNvPr id="5" name="">
            <a:extLst xmlns:a="http://schemas.openxmlformats.org/drawingml/2006/main">
              <a:ext uri="{FF2B5EF4-FFF2-40B4-BE49-F238E27FC236}">
                <a16:creationId xmlns:a16="http://schemas.microsoft.com/office/drawing/2014/main" id="{6DB1C219-7640-4BDD-9557-95E4A06D29FD}"/>
              </a:ext>
            </a:extLst>
          </p:cNvPr>
          <p:cNvSpPr>
            <a:spLocks xmlns:a="http://schemas.openxmlformats.org/drawingml/2006/main" noGrp="1"/>
          </p:cNvSpPr>
          <p:nvPr/>
        </p:nvSpPr>
        <p:spPr>
          <a:xfrm xmlns:a="http://schemas.openxmlformats.org/drawingml/2006/main">
            <a:off x="4381500" y="3562350"/>
            <a:ext cx="4381500" cy="0"/>
          </a:xfrm>
          <a:prstGeom xmlns:a="http://schemas.openxmlformats.org/drawingml/2006/main" prst="line">
            <a:avLst/>
          </a:prstGeom>
          <a:noFill xmlns:a="http://schemas.openxmlformats.org/drawingml/2006/main"/>
          <a:ln xmlns:a="http://schemas.openxmlformats.org/drawingml/2006/main" w="47625">
            <a:solidFill>
              <a:srgbClr val="00B2BB"/>
            </a:solidFill>
            <a:prstDash val="solid"/>
          </a:ln>
        </p:spPr>
      </p:sp>
      <p:sp>
        <p:nvSpPr>
          <p:cNvPr id="6" name="">
            <a:extLst xmlns:a="http://schemas.openxmlformats.org/drawingml/2006/main">
              <a:ext uri="{FF2B5EF4-FFF2-40B4-BE49-F238E27FC236}">
                <a16:creationId xmlns:a16="http://schemas.microsoft.com/office/drawing/2014/main" id="{94165B80-8C3F-424D-B25C-0AE4C3005558}"/>
              </a:ext>
            </a:extLst>
          </p:cNvPr>
          <p:cNvSpPr>
            <a:spLocks xmlns:a="http://schemas.openxmlformats.org/drawingml/2006/main" noGrp="1"/>
          </p:cNvSpPr>
          <p:nvPr/>
        </p:nvSpPr>
        <p:spPr>
          <a:xfrm xmlns:a="http://schemas.openxmlformats.org/drawingml/2006/main">
            <a:off x="2762250" y="3781425"/>
            <a:ext cx="7620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a:solidFill>
                  <a:srgbClr val="667680"/>
                </a:solidFill>
              </a:defRPr>
            </a:pPr>
            <a:r>
              <a:rPr sz="1500">
                <a:solidFill>
                  <a:srgbClr val="667680"/>
                </a:solidFill>
              </a:rPr>
              <a:t>Recht bekommen beginnt selten im Gerichtssaal – sondern bei der klinischen Entscheidung, der Dokumentation und dem Umgang miteinander.</a:t>
            </a:r>
          </a:p>
        </p:txBody>
      </p:sp>
      <p:sp>
        <p:nvSpPr>
          <p:cNvPr id="7" name="">
            <a:extLst xmlns:a="http://schemas.openxmlformats.org/drawingml/2006/main">
              <a:ext uri="{FF2B5EF4-FFF2-40B4-BE49-F238E27FC236}">
                <a16:creationId xmlns:a16="http://schemas.microsoft.com/office/drawing/2014/main" id="{CDA60FFC-595C-47A9-B4D7-DED81A909D27}"/>
              </a:ext>
            </a:extLst>
          </p:cNvPr>
          <p:cNvSpPr>
            <a:spLocks xmlns:a="http://schemas.openxmlformats.org/drawingml/2006/main" noGrp="1"/>
          </p:cNvSpPr>
          <p:nvPr/>
        </p:nvSpPr>
        <p:spPr>
          <a:xfrm xmlns:a="http://schemas.openxmlformats.org/drawingml/2006/main">
            <a:off x="1809750" y="5581650"/>
            <a:ext cx="9525000" cy="476250"/>
          </a:xfrm>
          <a:prstGeom xmlns:a="http://schemas.openxmlformats.org/drawingml/2006/main" prst="roundRect">
            <a:avLst>
              <a:gd name="adj" fmla="val 16000"/>
            </a:avLst>
          </a:prstGeom>
          <a:noFill xmlns:a="http://schemas.openxmlformats.org/drawingml/2006/main"/>
          <a:ln xmlns:a="http://schemas.openxmlformats.org/drawingml/2006/main" w="12383">
            <a:solidFill>
              <a:srgbClr val="00B2BB"/>
            </a:solidFill>
            <a:prstDash val="solid"/>
          </a:ln>
        </p:spPr>
      </p:sp>
      <p:sp>
        <p:nvSpPr>
          <p:cNvPr id="8" name="">
            <a:extLst xmlns:a="http://schemas.openxmlformats.org/drawingml/2006/main">
              <a:ext uri="{FF2B5EF4-FFF2-40B4-BE49-F238E27FC236}">
                <a16:creationId xmlns:a16="http://schemas.microsoft.com/office/drawing/2014/main" id="{DB600D47-6DD7-4A27-8F95-3B351CFB3AC6}"/>
              </a:ext>
            </a:extLst>
          </p:cNvPr>
          <p:cNvSpPr>
            <a:spLocks xmlns:a="http://schemas.openxmlformats.org/drawingml/2006/main" noGrp="1"/>
          </p:cNvSpPr>
          <p:nvPr/>
        </p:nvSpPr>
        <p:spPr>
          <a:xfrm xmlns:a="http://schemas.openxmlformats.org/drawingml/2006/main">
            <a:off x="1981200" y="5619750"/>
            <a:ext cx="9182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77" b="1">
                <a:solidFill>
                  <a:srgbClr val="003F6B"/>
                </a:solidFill>
              </a:defRPr>
            </a:pPr>
            <a:r>
              <a:rPr sz="1177" b="1">
                <a:solidFill>
                  <a:srgbClr val="003F6B"/>
                </a:solidFill>
              </a:rPr>
              <a:t>Für jeden neuen Fall: Patient · Fakten · Norm · Beweis · Verfahren · Kommunikation.</a:t>
            </a:r>
          </a:p>
        </p:txBody>
      </p:sp>
    </p:spTree>
    <p:extLst>
      <p:ext uri="{BB962C8B-B14F-4D97-AF65-F5344CB8AC3E}">
        <p14:creationId xmlns:p14="http://schemas.microsoft.com/office/powerpoint/2010/main" val="43637646"/>
      </p:ext>
    </p:extLst>
  </p:cSld>
</p:sld>
</file>

<file path=ppt/theme/theme1.xml><?xml version="1.0" encoding="utf-8"?>
<a:theme xmlns:a="http://schemas.openxmlformats.org/drawingml/2006/main" name="UOL">
  <a:themeElements>
    <a:clrScheme name="Benutzerdefiniert 6">
      <a:dk1>
        <a:sysClr val="windowText" lastClr="000000"/>
      </a:dk1>
      <a:lt1>
        <a:sysClr val="window" lastClr="FFFFFF"/>
      </a:lt1>
      <a:dk2>
        <a:srgbClr val="003F6B"/>
      </a:dk2>
      <a:lt2>
        <a:srgbClr val="A5A5A5"/>
      </a:lt2>
      <a:accent1>
        <a:srgbClr val="004F9F"/>
      </a:accent1>
      <a:accent2>
        <a:srgbClr val="00ABDA"/>
      </a:accent2>
      <a:accent3>
        <a:srgbClr val="5BC5F2"/>
      </a:accent3>
      <a:accent4>
        <a:srgbClr val="A1DAF8"/>
      </a:accent4>
      <a:accent5>
        <a:srgbClr val="00786B"/>
      </a:accent5>
      <a:accent6>
        <a:srgbClr val="D53D0E"/>
      </a:accent6>
      <a:hlink>
        <a:srgbClr val="000000"/>
      </a:hlink>
      <a:folHlink>
        <a:srgbClr val="00000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nutzerdefiniert 6">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2026-08-26T20:02:19.9850000Z</dcterms:created>
  <dcterms:modified xsi:type="dcterms:W3CDTF">2026-08-26T20:02:19.9850000Z</dcterms:modified>
</coreProperties>
</file>